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99" r:id="rId6"/>
    <p:sldId id="339" r:id="rId7"/>
    <p:sldId id="277" r:id="rId8"/>
    <p:sldId id="289" r:id="rId9"/>
    <p:sldId id="300" r:id="rId10"/>
    <p:sldId id="301" r:id="rId11"/>
    <p:sldId id="302" r:id="rId12"/>
    <p:sldId id="290" r:id="rId13"/>
    <p:sldId id="292" r:id="rId14"/>
    <p:sldId id="303" r:id="rId15"/>
    <p:sldId id="293" r:id="rId16"/>
    <p:sldId id="294" r:id="rId17"/>
    <p:sldId id="304" r:id="rId18"/>
    <p:sldId id="305" r:id="rId19"/>
    <p:sldId id="295" r:id="rId20"/>
    <p:sldId id="340" r:id="rId21"/>
    <p:sldId id="341" r:id="rId22"/>
    <p:sldId id="342" r:id="rId23"/>
    <p:sldId id="343" r:id="rId24"/>
    <p:sldId id="296" r:id="rId25"/>
    <p:sldId id="307" r:id="rId26"/>
    <p:sldId id="344" r:id="rId27"/>
    <p:sldId id="338" r:id="rId28"/>
    <p:sldId id="275" r:id="rId29"/>
    <p:sldId id="276" r:id="rId30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32"/>
      <p:bold r:id="rId33"/>
    </p:embeddedFont>
    <p:embeddedFont>
      <p:font typeface="IBM Plex Sans Arabic Medium" panose="020B0603050203000203" pitchFamily="34" charset="-78"/>
      <p:regular r:id="rId34"/>
      <p:bold r:id="rId35"/>
    </p:embeddedFont>
    <p:embeddedFont>
      <p:font typeface="IBM Plex Sans Arabic SemiBold" panose="020B0603050203000203" pitchFamily="34" charset="-78"/>
      <p:regular r:id="rId36"/>
      <p:bold r:id="rId37"/>
    </p:embeddedFont>
    <p:embeddedFont>
      <p:font typeface="Inter" panose="02000503000000020004" pitchFamily="2" charset="0"/>
      <p:regular r:id="rId38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  <p:embeddedFont>
      <p:font typeface="Tajawal" pitchFamily="2" charset="-78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1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8"/>
    <p:restoredTop sz="94650"/>
  </p:normalViewPr>
  <p:slideViewPr>
    <p:cSldViewPr snapToGrid="0">
      <p:cViewPr varScale="1">
        <p:scale>
          <a:sx n="161" d="100"/>
          <a:sy n="161" d="100"/>
        </p:scale>
        <p:origin x="192" y="984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82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8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836A9D2-F727-48C1-2B4F-3D006CA3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0F4FDA0-A74C-B2D6-FB9D-29FD88415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96E665B-753A-DACD-AB73-99EAA3F64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0846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93E30B6-7CD5-3C3F-6413-5839E7ED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64625E1-BC7D-41F8-F913-E3581FE10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5286A2F-5959-060A-FC28-9FEADBE08D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7453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1AD9250-5886-DD78-0A4D-058B017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D27D27-4545-5FFB-CF85-99C5F401B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0680113-8711-039C-65A5-F03BF541D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588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1DBEC0B-5F2A-7641-990B-7CC5539F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402806A-E72C-CA47-7DBC-D48ED6665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ECD1969-C2F0-1AA4-C75D-4C753BCC2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235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669A4EE-6BE4-4C0F-E86F-9C4E273C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BD6569C-8356-3F99-CF10-BC0883C25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6AF4047-73E4-1FE6-0CAE-B8868D1B7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8907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E5D1805-A9C4-36E9-2B82-78959FA0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6F8FEC4E-EF6B-83FD-1759-9D642169F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2AA0DFF-3136-BE8A-0B2D-54671A396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5321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3EAA022-EA89-4C79-6692-7EE8DD88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F03D8D7-67BA-D272-D0CF-EB157CBC1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FAA1A2B-F509-E940-12CB-EF2370299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0248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91726B7-23FF-F33D-FA07-A2EF62B3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87963C2-AE5E-755C-1B3A-F2CD431C1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5CC53A0-350B-25BD-06F8-F1087A62E5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820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FE6666D-8EE1-6110-AFB1-0516F060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C30710A-BFF4-B125-4A8D-5E01E454A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42232D4-513F-6D5A-CB09-BC012AF85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136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FD2091B-77BA-30D0-A5EB-4CE87BE2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466FDEF-30DF-73BF-2306-FF58B7934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1C87C80-4293-ABB6-57D6-C66E13EDB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9522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5DE8F6E-5741-C5B5-83EA-AE6242AE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7EFCAB5-C44C-3B41-2585-E9358A43E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5232BD7-C278-A1AD-D009-B518CFDCF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4951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BC83116-D751-11DA-7355-0796A5EB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4643209-7F38-1651-9758-68A83F6D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BDB60B7-FF39-07D6-346B-7F054B76A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3967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BA78129-8966-FE7E-BE5D-27923E8F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3EB0725-AD5E-7BF7-78C2-13128EF02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D2B99F6-215F-ACDD-8B3D-E71BFB174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75166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BED2656-247A-AD2C-A158-B355F295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956D2D5-0B72-1478-EB97-9C5A00C6D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5CBF574-F92F-6FBB-2708-CDA4BE8B74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2146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097927D-4CD9-105E-7435-81999263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3BBE530-C2EA-89F9-3E55-27ED7591B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F1B29B2-4B16-0032-4B23-68D526E1F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3413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DF6AE89-03EA-090D-DA6A-8FEFDD7A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EF47E63-504A-B3B2-7560-DC351E352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463DAF3-5B32-13FA-10BC-F68234095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406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1D03704-82F0-D303-CF8F-1C1DA6AE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3B1639E-FEDB-0FAB-EEB2-279467D124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2A9AC00-880F-13CB-4BDC-946B69C4A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7547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4617A7F-24EA-D895-2EC2-30318E68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2355EB1-C8EC-5F98-13DF-DAE782C4F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4877E9F-92E0-B2BE-E62C-BF79165554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0035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698B942-BF7E-06A9-034C-8ED2DDBA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6C666660-4A8C-A031-90F6-EB0BB8B22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A8B2D60-4146-E9BB-70DA-3BA4A35FE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1557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EDC3B78-7912-2E75-6558-8A6D45B2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A2E64C8-CDAE-9FAF-8E15-3542D9A66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ECFBFD9-BFBA-28FF-211A-42E4C0A54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8863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A2901F5-4AE8-71CD-36F1-1FA8142F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113D3B8-B078-AC10-25FA-004800821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FDC8B5A-90E3-31EF-8AE5-4D4B76690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8492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9C712CB-CEE5-82F6-1B54-6E3AF5BE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EC96FA2-3B48-222A-E3A5-B534A28A8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18FFA20-2E22-3C83-C856-4578BCD90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7162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EF3BB1E-A59C-157E-4C83-A6DD3E76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0C82AF9-78EE-2F5B-88CA-2514B54DD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552CE50-2C76-0DEE-3FBF-8368D8C1E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23755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frontiersin.org/articles/10.3389/frobt.2017.00012/ful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srMt-wQYqho_nNg9pxqLz6JhMh42n0l/view?usp=share_lin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mllib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1057469"/>
            <a:ext cx="8520600" cy="173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100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Distributed ML with Spark </a:t>
            </a:r>
            <a:r>
              <a:rPr lang="en-GB" sz="3100" i="0" u="none" strike="noStrike" dirty="0" err="1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MLlib</a:t>
            </a: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268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dirty="0"/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Understand the fundamentals of distributed computing</a:t>
            </a: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Gain hands-on experience with Spark </a:t>
            </a:r>
            <a:r>
              <a:rPr lang="en-GB" sz="1600" b="1" dirty="0" err="1"/>
              <a:t>MLlib</a:t>
            </a:r>
            <a:r>
              <a:rPr lang="en-GB" sz="1600" dirty="0"/>
              <a:t>,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Explore and implement supervised and unsupervised machine learning algorithms</a:t>
            </a:r>
            <a:r>
              <a:rPr lang="en-GB" sz="1600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/>
              <a:t>Learn </a:t>
            </a:r>
            <a:r>
              <a:rPr lang="en-GB" sz="1600" b="1" dirty="0"/>
              <a:t>how to build, tune, and evaluate ML models</a:t>
            </a:r>
            <a:r>
              <a:rPr lang="en-GB" sz="1600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Develop the ability to optimize performance and resource</a:t>
            </a:r>
            <a:endParaRPr lang="en-GB"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Introduction to Distributed Machine Learning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6A7B2FB-F1D0-B703-37E3-F7BCF1634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339E2-582F-95EA-2F60-4D6D9E923ECD}"/>
              </a:ext>
            </a:extLst>
          </p:cNvPr>
          <p:cNvSpPr txBox="1"/>
          <p:nvPr/>
        </p:nvSpPr>
        <p:spPr>
          <a:xfrm>
            <a:off x="174929" y="802035"/>
            <a:ext cx="53830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What is Distributed Machine Learning?</a:t>
            </a:r>
          </a:p>
          <a:p>
            <a:pPr>
              <a:buNone/>
            </a:pPr>
            <a:r>
              <a:rPr lang="en-GB" sz="1600" dirty="0"/>
              <a:t>Distributed Machine Learning (Distributed ML) is a technique where the training and processing of machine learning models are spread across multiple computers (also called nodes or machines) instead of relying on just one machine.</a:t>
            </a:r>
          </a:p>
          <a:p>
            <a:pPr>
              <a:buNone/>
            </a:pPr>
            <a:endParaRPr lang="en-GB" sz="1600" dirty="0"/>
          </a:p>
          <a:p>
            <a:r>
              <a:rPr lang="en-GB" sz="1600" b="1" dirty="0"/>
              <a:t>Simple Analogy</a:t>
            </a:r>
            <a:r>
              <a:rPr lang="en-GB" sz="1600" dirty="0"/>
              <a:t>: Imagine trying to build a Lego city. If one person does all the work, it takes a long time. But if 10 people build different sections at the same time, the city is completed much faster. Distributed ML works the same way—with machines instead of people.</a:t>
            </a:r>
          </a:p>
        </p:txBody>
      </p:sp>
      <p:pic>
        <p:nvPicPr>
          <p:cNvPr id="6" name="Picture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CB0DEA1D-6D53-FC6B-AC7E-3A40BD389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0785"/>
          <a:stretch/>
        </p:blipFill>
        <p:spPr>
          <a:xfrm>
            <a:off x="5804453" y="1561934"/>
            <a:ext cx="2777142" cy="24683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854220-6F8F-AC6D-3846-86ABD12F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E48F435-0CDD-2E7D-A42B-40550AA59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0155" y="86064"/>
            <a:ext cx="7876669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Why Use Distributed ML?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B703276-5F47-36B1-D8E7-D99D6E583E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80FA3-C1DD-7CC8-94FA-A168FF85A7ED}"/>
              </a:ext>
            </a:extLst>
          </p:cNvPr>
          <p:cNvSpPr txBox="1"/>
          <p:nvPr/>
        </p:nvSpPr>
        <p:spPr>
          <a:xfrm>
            <a:off x="469397" y="941519"/>
            <a:ext cx="712477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/>
              <a:t>In today's world, machine learning models often deal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Massive datasets</a:t>
            </a:r>
            <a:r>
              <a:rPr lang="en-GB" sz="2000" dirty="0"/>
              <a:t> (like millions of images or billions of rows of user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Complex models</a:t>
            </a:r>
            <a:r>
              <a:rPr lang="en-GB" sz="2000" dirty="0"/>
              <a:t> (like deep neural networks with millions of parameters).</a:t>
            </a:r>
          </a:p>
          <a:p>
            <a:pPr>
              <a:buNone/>
            </a:pPr>
            <a:r>
              <a:rPr lang="en-GB" sz="2000" dirty="0"/>
              <a:t>Trying to process these on a single machine would: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Be </a:t>
            </a:r>
            <a:r>
              <a:rPr lang="en-GB" sz="2000" b="1" dirty="0"/>
              <a:t>extremely slow</a:t>
            </a:r>
            <a:r>
              <a:rPr lang="en-GB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Require </a:t>
            </a:r>
            <a:r>
              <a:rPr lang="en-GB" sz="2000" b="1" dirty="0"/>
              <a:t>more memory and power</a:t>
            </a:r>
            <a:r>
              <a:rPr lang="en-GB" sz="2000" dirty="0"/>
              <a:t> than the machine has.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Risk data loss</a:t>
            </a:r>
            <a:r>
              <a:rPr lang="en-GB" sz="2000" dirty="0"/>
              <a:t> if the machine fails.</a:t>
            </a:r>
          </a:p>
          <a:p>
            <a:r>
              <a:rPr lang="en-GB" sz="2000" dirty="0"/>
              <a:t>That’s why we </a:t>
            </a:r>
            <a:r>
              <a:rPr lang="en-GB" sz="2000" b="1" dirty="0"/>
              <a:t>distribute the work across many machines</a:t>
            </a:r>
            <a:r>
              <a:rPr lang="en-GB" sz="2000" dirty="0"/>
              <a:t>, enabling efficient training and processing.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14196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C1C2A63-BBEE-FF08-A3C4-79E66216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0D82C48-6CB2-5954-3D34-F914A2EEB3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0155" y="86064"/>
            <a:ext cx="7876669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Key Benefits of Distributed ML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1D918AAD-C3F4-4B8C-9BF5-517FB218F3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2939D7-B9A2-78BC-9189-D1C00B270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57178"/>
              </p:ext>
            </p:extLst>
          </p:nvPr>
        </p:nvGraphicFramePr>
        <p:xfrm>
          <a:off x="469397" y="1383030"/>
          <a:ext cx="8521700" cy="2895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537224223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2600460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63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🔄 </a:t>
                      </a:r>
                      <a:r>
                        <a:rPr lang="en-GB" sz="1600" b="1"/>
                        <a:t>Scalability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Easily handle growing datasets or model sizes by adding more machines.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580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⚡ </a:t>
                      </a:r>
                      <a:r>
                        <a:rPr lang="en-GB" sz="1600" b="1"/>
                        <a:t>Faster Processing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Multiple machines work </a:t>
                      </a:r>
                      <a:r>
                        <a:rPr lang="en-GB" sz="1600" b="1"/>
                        <a:t>in parallel</a:t>
                      </a:r>
                      <a:r>
                        <a:rPr lang="en-GB" sz="1600"/>
                        <a:t>, greatly reducing training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2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🛠️ </a:t>
                      </a:r>
                      <a:r>
                        <a:rPr lang="en-GB" sz="1600" b="1"/>
                        <a:t>Fault Tolerance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If one machine fails, others can take over without crashing the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49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⚙️ </a:t>
                      </a:r>
                      <a:r>
                        <a:rPr lang="en-GB" sz="1600" b="1"/>
                        <a:t>Parallelism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Different parts of the task (like data batches or model layers) are processed simultaneously.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36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69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9321C5F-5887-88FC-5A55-2EB85D26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9B0603-80F6-6813-A911-33AD170E7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How Does It Work?</a:t>
            </a:r>
            <a:br>
              <a:rPr lang="en-GB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5B800-0452-D4E7-94DA-A754DC2D1E77}"/>
              </a:ext>
            </a:extLst>
          </p:cNvPr>
          <p:cNvSpPr txBox="1"/>
          <p:nvPr/>
        </p:nvSpPr>
        <p:spPr>
          <a:xfrm>
            <a:off x="278295" y="1143418"/>
            <a:ext cx="45147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Distributed ML typically uses:</a:t>
            </a:r>
          </a:p>
          <a:p>
            <a:pPr>
              <a:buNone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b="1" dirty="0"/>
              <a:t>Data Parallelism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Each machine trains on a different portion of the data using the same model, then synchronizes the results (like weights).</a:t>
            </a:r>
          </a:p>
          <a:p>
            <a:pPr>
              <a:buFont typeface="+mj-lt"/>
              <a:buAutoNum type="arabicPeriod"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b="1" dirty="0"/>
              <a:t>Model Parallelism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A single large model is split across machines; each machine trains a part of the model.</a:t>
            </a:r>
          </a:p>
          <a:p>
            <a:pPr>
              <a:buFont typeface="+mj-lt"/>
              <a:buAutoNum type="arabicPeriod"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b="1" dirty="0"/>
              <a:t>Hybrid Parallelism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Combination of both data and model parallelism.</a:t>
            </a:r>
          </a:p>
        </p:txBody>
      </p:sp>
      <p:pic>
        <p:nvPicPr>
          <p:cNvPr id="6" name="Picture 5" descr="A graph of a pencil with text&#10;&#10;AI-generated content may be incorrect.">
            <a:extLst>
              <a:ext uri="{FF2B5EF4-FFF2-40B4-BE49-F238E27FC236}">
                <a16:creationId xmlns:a16="http://schemas.microsoft.com/office/drawing/2014/main" id="{0571484B-2CB7-3F49-B846-46FBBFBCB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228" y="938254"/>
            <a:ext cx="4514772" cy="417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91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9B3FE5F-B39D-9AA9-B708-409963FC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B024A57-E0FF-FEC8-BFB5-7A6B8D0497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Popular Tools &amp; Frameworks</a:t>
            </a:r>
            <a:br>
              <a:rPr lang="en-GB" b="1" dirty="0"/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E61795-0ADA-C881-7338-88E74D8F9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418789"/>
              </p:ext>
            </p:extLst>
          </p:nvPr>
        </p:nvGraphicFramePr>
        <p:xfrm>
          <a:off x="152733" y="1440573"/>
          <a:ext cx="8521700" cy="24079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1841739579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62641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193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TensorFlow Distributed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Distributed training for neural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152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 dirty="0" err="1"/>
                        <a:t>PyTorch</a:t>
                      </a:r>
                      <a:r>
                        <a:rPr lang="en-GB" sz="1600" b="1" dirty="0"/>
                        <a:t> Distributed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Flexible distributed computing for research and production.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40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Apache Spark MLlib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Scalable ML on big data with cluster computing.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344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Horovod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Distributed deep learning framework originally built by Uber.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347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002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D37B9B1-E294-D0AD-4480-DCFD0960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7304733-719D-D234-756D-D23ACE355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Real-World Examples</a:t>
            </a:r>
            <a:br>
              <a:rPr lang="en-GB" b="1" dirty="0"/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C60EE-328B-EEB9-867B-89E1CF23454C}"/>
              </a:ext>
            </a:extLst>
          </p:cNvPr>
          <p:cNvSpPr txBox="1"/>
          <p:nvPr/>
        </p:nvSpPr>
        <p:spPr>
          <a:xfrm>
            <a:off x="542440" y="929289"/>
            <a:ext cx="68443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800" b="1" dirty="0"/>
              <a:t>Google Translate</a:t>
            </a:r>
            <a:r>
              <a:rPr lang="en-GB" sz="1800" dirty="0"/>
              <a:t>: Trained across thousands of machines using data from multiple languages.</a:t>
            </a:r>
          </a:p>
          <a:p>
            <a:pPr marL="342900" indent="-342900">
              <a:buFont typeface="+mj-lt"/>
              <a:buAutoNum type="arabicPeriod"/>
            </a:pPr>
            <a:endParaRPr lang="en-GB" sz="1800" dirty="0"/>
          </a:p>
          <a:p>
            <a:pPr marL="342900" indent="-342900">
              <a:buFont typeface="+mj-lt"/>
              <a:buAutoNum type="arabicPeriod"/>
            </a:pPr>
            <a:r>
              <a:rPr lang="en-GB" sz="1800" b="1" dirty="0"/>
              <a:t>Self-Driving Cars</a:t>
            </a:r>
            <a:r>
              <a:rPr lang="en-GB" sz="1800" dirty="0"/>
              <a:t>: Models trained with distributed frameworks using video feeds from millions of driving hours.</a:t>
            </a:r>
          </a:p>
          <a:p>
            <a:pPr marL="342900" indent="-342900">
              <a:buFont typeface="+mj-lt"/>
              <a:buAutoNum type="arabicPeriod"/>
            </a:pPr>
            <a:endParaRPr lang="en-GB" sz="1800" dirty="0"/>
          </a:p>
          <a:p>
            <a:pPr marL="342900" indent="-342900">
              <a:buFont typeface="+mj-lt"/>
              <a:buAutoNum type="arabicPeriod"/>
            </a:pPr>
            <a:r>
              <a:rPr lang="en-GB" sz="1800" b="1" dirty="0"/>
              <a:t>Amazon &amp; Netflix</a:t>
            </a:r>
            <a:r>
              <a:rPr lang="en-GB" sz="1800" dirty="0"/>
              <a:t>: Distributed recommendation systems trained using huge datasets of user preferences.</a:t>
            </a:r>
          </a:p>
        </p:txBody>
      </p:sp>
    </p:spTree>
    <p:extLst>
      <p:ext uri="{BB962C8B-B14F-4D97-AF65-F5344CB8AC3E}">
        <p14:creationId xmlns:p14="http://schemas.microsoft.com/office/powerpoint/2010/main" val="975289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E45F085-A7E9-A7FA-8998-ABC8F87A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625F131-5412-011A-D42C-D98B81DF92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Introduction to Apache Spark</a:t>
            </a:r>
            <a:br>
              <a:rPr lang="en-GB" b="1" dirty="0"/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7CCEB-F6C1-5032-F04B-A086F9114FD0}"/>
              </a:ext>
            </a:extLst>
          </p:cNvPr>
          <p:cNvSpPr txBox="1"/>
          <p:nvPr/>
        </p:nvSpPr>
        <p:spPr>
          <a:xfrm>
            <a:off x="699714" y="587088"/>
            <a:ext cx="67268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 What is Apache Spark?</a:t>
            </a:r>
          </a:p>
          <a:p>
            <a:pPr>
              <a:buNone/>
            </a:pPr>
            <a:r>
              <a:rPr lang="en-GB" sz="1600" b="1" dirty="0"/>
              <a:t>Apache Spark is an open-source, distributed computing system designed for fast and scalable data processing. It provides a unified engine that supports both batch and real-time analytics over large datasets, making it a go-to solution for Big Data processing and machine learning pipelines.</a:t>
            </a:r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r>
              <a:rPr lang="en-GB" sz="1600" b="1" dirty="0"/>
              <a:t> 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High-Speed Processing</a:t>
            </a:r>
            <a:r>
              <a:rPr lang="en-GB" sz="1600" dirty="0"/>
              <a:t>: Performs </a:t>
            </a:r>
            <a:r>
              <a:rPr lang="en-GB" sz="1600" b="1" dirty="0"/>
              <a:t>in-memory computations</a:t>
            </a:r>
            <a:r>
              <a:rPr lang="en-GB" sz="1600" dirty="0"/>
              <a:t> (RAM instead of disk), which makes it up to </a:t>
            </a:r>
            <a:r>
              <a:rPr lang="en-GB" sz="1600" b="1" dirty="0"/>
              <a:t>100x faster</a:t>
            </a:r>
            <a:r>
              <a:rPr lang="en-GB" sz="1600" dirty="0"/>
              <a:t> than traditional big data systems like Hadoop MapReduce.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Ease of Use</a:t>
            </a:r>
            <a:r>
              <a:rPr lang="en-GB" sz="1600" dirty="0"/>
              <a:t>: Offers APIs in </a:t>
            </a:r>
            <a:r>
              <a:rPr lang="en-GB" sz="1600" b="1" dirty="0"/>
              <a:t>Python (</a:t>
            </a:r>
            <a:r>
              <a:rPr lang="en-GB" sz="1600" b="1" dirty="0" err="1"/>
              <a:t>PySpark</a:t>
            </a:r>
            <a:r>
              <a:rPr lang="en-GB" sz="1600" b="1" dirty="0"/>
              <a:t>)</a:t>
            </a:r>
            <a:r>
              <a:rPr lang="en-GB" sz="1600" dirty="0"/>
              <a:t>, </a:t>
            </a:r>
            <a:r>
              <a:rPr lang="en-GB" sz="1600" b="1" dirty="0"/>
              <a:t>Java</a:t>
            </a:r>
            <a:r>
              <a:rPr lang="en-GB" sz="1600" dirty="0"/>
              <a:t>, </a:t>
            </a:r>
            <a:r>
              <a:rPr lang="en-GB" sz="1600" b="1" dirty="0"/>
              <a:t>Scala</a:t>
            </a:r>
            <a:r>
              <a:rPr lang="en-GB" sz="1600" dirty="0"/>
              <a:t>, and </a:t>
            </a:r>
            <a:r>
              <a:rPr lang="en-GB" sz="1600" b="1" dirty="0"/>
              <a:t>R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Versatility</a:t>
            </a:r>
            <a:r>
              <a:rPr lang="en-GB" sz="1600" dirty="0"/>
              <a:t>: Supports diverse workloads – ETL, streaming, graph processing, SQL, and machine learning – all within one framework.</a:t>
            </a:r>
          </a:p>
        </p:txBody>
      </p:sp>
    </p:spTree>
    <p:extLst>
      <p:ext uri="{BB962C8B-B14F-4D97-AF65-F5344CB8AC3E}">
        <p14:creationId xmlns:p14="http://schemas.microsoft.com/office/powerpoint/2010/main" val="389773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D2F3937-80AF-36BE-6695-D7BF2BBC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82DC042-14D6-6638-0329-8DE12AA12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800" dirty="0"/>
              <a:t>Core Components of Apache Spark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GB" sz="28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GB" sz="2800" b="1" i="0" u="none" strike="noStrike" dirty="0">
              <a:solidFill>
                <a:srgbClr val="7030A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D11D89-D7C8-35CA-E60E-E6DDE3B21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267686"/>
              </p:ext>
            </p:extLst>
          </p:nvPr>
        </p:nvGraphicFramePr>
        <p:xfrm>
          <a:off x="667909" y="743741"/>
          <a:ext cx="7601448" cy="427120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75576">
                  <a:extLst>
                    <a:ext uri="{9D8B030D-6E8A-4147-A177-3AD203B41FA5}">
                      <a16:colId xmlns:a16="http://schemas.microsoft.com/office/drawing/2014/main" val="4070974245"/>
                    </a:ext>
                  </a:extLst>
                </a:gridCol>
                <a:gridCol w="6225872">
                  <a:extLst>
                    <a:ext uri="{9D8B030D-6E8A-4147-A177-3AD203B41FA5}">
                      <a16:colId xmlns:a16="http://schemas.microsoft.com/office/drawing/2014/main" val="3720688660"/>
                    </a:ext>
                  </a:extLst>
                </a:gridCol>
              </a:tblGrid>
              <a:tr h="255604">
                <a:tc>
                  <a:txBody>
                    <a:bodyPr/>
                    <a:lstStyle/>
                    <a:p>
                      <a:r>
                        <a:rPr lang="en-GB" sz="1400" b="1"/>
                        <a:t>Component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Description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67115201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r>
                        <a:rPr lang="en-GB" sz="1400" b="1" dirty="0"/>
                        <a:t>Spark Core</a:t>
                      </a:r>
                      <a:endParaRPr lang="en-GB" sz="1400" dirty="0"/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The base engine that provides </a:t>
                      </a:r>
                      <a:r>
                        <a:rPr lang="en-GB" sz="1400" b="1" dirty="0"/>
                        <a:t>task scheduling</a:t>
                      </a:r>
                      <a:r>
                        <a:rPr lang="en-GB" sz="1400" dirty="0"/>
                        <a:t>, </a:t>
                      </a:r>
                      <a:r>
                        <a:rPr lang="en-GB" sz="1400" b="1" dirty="0"/>
                        <a:t>memory management</a:t>
                      </a:r>
                      <a:r>
                        <a:rPr lang="en-GB" sz="1400" dirty="0"/>
                        <a:t>, </a:t>
                      </a:r>
                      <a:r>
                        <a:rPr lang="en-GB" sz="1400" b="1" dirty="0"/>
                        <a:t>fault recovery</a:t>
                      </a:r>
                      <a:r>
                        <a:rPr lang="en-GB" sz="1400" dirty="0"/>
                        <a:t>, </a:t>
                      </a:r>
                      <a:r>
                        <a:rPr lang="en-GB" sz="1400" b="1" dirty="0"/>
                        <a:t>I/O operations</a:t>
                      </a:r>
                      <a:r>
                        <a:rPr lang="en-GB" sz="1400" dirty="0"/>
                        <a:t>, and interaction with storage systems like HDFS or S3. All other components are built on top of Spark Core.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519896108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r>
                        <a:rPr lang="en-GB" sz="1400" b="1" dirty="0"/>
                        <a:t>Spark SQL</a:t>
                      </a:r>
                      <a:endParaRPr lang="en-GB" sz="1400" dirty="0"/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Module for </a:t>
                      </a:r>
                      <a:r>
                        <a:rPr lang="en-GB" sz="1400" b="1" dirty="0"/>
                        <a:t>structured data processing</a:t>
                      </a:r>
                      <a:r>
                        <a:rPr lang="en-GB" sz="1400" dirty="0"/>
                        <a:t>. Supports running </a:t>
                      </a:r>
                      <a:r>
                        <a:rPr lang="en-GB" sz="1400" b="1" dirty="0"/>
                        <a:t>SQL queries</a:t>
                      </a:r>
                      <a:r>
                        <a:rPr lang="en-GB" sz="1400" dirty="0"/>
                        <a:t>, as well as reading from/writing to different file formats (CSV, Parquet, ORC, JSON). It allows seamless integration with BI tools.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028799690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r>
                        <a:rPr lang="en-GB" sz="1400" b="1" dirty="0"/>
                        <a:t>Spark Streaming</a:t>
                      </a:r>
                      <a:endParaRPr lang="en-GB" sz="1400" dirty="0"/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Enables </a:t>
                      </a:r>
                      <a:r>
                        <a:rPr lang="en-GB" sz="1400" b="1"/>
                        <a:t>real-time processing</a:t>
                      </a:r>
                      <a:r>
                        <a:rPr lang="en-GB" sz="1400"/>
                        <a:t> of live data streams (e.g., from Kafka, Flume, or TCP sockets). It processes data in </a:t>
                      </a:r>
                      <a:r>
                        <a:rPr lang="en-GB" sz="1400" b="1"/>
                        <a:t>small micro-batches</a:t>
                      </a:r>
                      <a:r>
                        <a:rPr lang="en-GB" sz="1400"/>
                        <a:t>, providing near real-time analytics.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634565731"/>
                  </a:ext>
                </a:extLst>
              </a:tr>
              <a:tr h="763457">
                <a:tc>
                  <a:txBody>
                    <a:bodyPr/>
                    <a:lstStyle/>
                    <a:p>
                      <a:r>
                        <a:rPr lang="en-GB" sz="1400" b="1" dirty="0"/>
                        <a:t>Spark </a:t>
                      </a:r>
                      <a:r>
                        <a:rPr lang="en-GB" sz="1400" b="1" dirty="0" err="1"/>
                        <a:t>MLlib</a:t>
                      </a:r>
                      <a:endParaRPr lang="en-GB" sz="1400" dirty="0"/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 scalable </a:t>
                      </a:r>
                      <a:r>
                        <a:rPr lang="en-GB" sz="1400" b="1"/>
                        <a:t>Machine Learning library</a:t>
                      </a:r>
                      <a:r>
                        <a:rPr lang="en-GB" sz="1400"/>
                        <a:t> offering a wide range of algorithms for classification, regression, clustering, and collaborative filtering, along with tools for feature extraction and model evaluation.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427733209"/>
                  </a:ext>
                </a:extLst>
              </a:tr>
              <a:tr h="1153742">
                <a:tc>
                  <a:txBody>
                    <a:bodyPr/>
                    <a:lstStyle/>
                    <a:p>
                      <a:r>
                        <a:rPr lang="en-GB" sz="1400" b="1" dirty="0" err="1"/>
                        <a:t>GraphX</a:t>
                      </a:r>
                      <a:endParaRPr lang="en-GB" sz="1400" dirty="0"/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Spark’s </a:t>
                      </a:r>
                      <a:r>
                        <a:rPr lang="en-GB" sz="1400" b="1" dirty="0"/>
                        <a:t>graph computation engine</a:t>
                      </a:r>
                      <a:r>
                        <a:rPr lang="en-GB" sz="1400" dirty="0"/>
                        <a:t>, used for </a:t>
                      </a:r>
                      <a:r>
                        <a:rPr lang="en-GB" sz="1400" b="1" dirty="0"/>
                        <a:t>graph-parallel operations</a:t>
                      </a:r>
                      <a:r>
                        <a:rPr lang="en-GB" sz="1400" dirty="0"/>
                        <a:t> and algorithms (e.g., PageRank, shortest path). Useful in </a:t>
                      </a:r>
                      <a:r>
                        <a:rPr lang="en-GB" sz="1400" dirty="0" err="1"/>
                        <a:t>analyzing</a:t>
                      </a:r>
                      <a:r>
                        <a:rPr lang="en-GB" sz="1400" dirty="0"/>
                        <a:t> social networks or network structures.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74768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01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3550D99-4626-981D-4F3C-9F53C5F6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D883667-EDD7-9945-1BCB-8AC983CF4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Why Use Apache Spark?</a:t>
            </a: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E4D36-8574-43C8-63D2-45778653A337}"/>
              </a:ext>
            </a:extLst>
          </p:cNvPr>
          <p:cNvSpPr txBox="1"/>
          <p:nvPr/>
        </p:nvSpPr>
        <p:spPr>
          <a:xfrm>
            <a:off x="496012" y="930696"/>
            <a:ext cx="716109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GB" sz="2000" dirty="0"/>
              <a:t>Designed for </a:t>
            </a:r>
            <a:r>
              <a:rPr lang="en-GB" sz="2000" b="1" dirty="0"/>
              <a:t>high-volume data workloads</a:t>
            </a:r>
            <a:r>
              <a:rPr lang="en-GB" sz="2000" dirty="0"/>
              <a:t>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000" dirty="0"/>
              <a:t>Works with multiple cluster managers: </a:t>
            </a:r>
            <a:r>
              <a:rPr lang="en-GB" sz="2000" b="1" dirty="0"/>
              <a:t>Hadoop YARN</a:t>
            </a:r>
            <a:r>
              <a:rPr lang="en-GB" sz="2000" dirty="0"/>
              <a:t>, </a:t>
            </a:r>
            <a:r>
              <a:rPr lang="en-GB" sz="2000" b="1" dirty="0"/>
              <a:t>Apache Mesos</a:t>
            </a:r>
            <a:r>
              <a:rPr lang="en-GB" sz="2000" dirty="0"/>
              <a:t>, </a:t>
            </a:r>
            <a:r>
              <a:rPr lang="en-GB" sz="2000" b="1" dirty="0"/>
              <a:t>Kubernetes</a:t>
            </a:r>
            <a:r>
              <a:rPr lang="en-GB" sz="2000" dirty="0"/>
              <a:t>, or </a:t>
            </a:r>
            <a:r>
              <a:rPr lang="en-GB" sz="2000" b="1" dirty="0"/>
              <a:t>standalone</a:t>
            </a:r>
            <a:r>
              <a:rPr lang="en-GB" sz="2000" dirty="0"/>
              <a:t>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000" dirty="0"/>
              <a:t>Integrates with </a:t>
            </a:r>
            <a:r>
              <a:rPr lang="en-GB" sz="2000" b="1" dirty="0"/>
              <a:t>data lakes</a:t>
            </a:r>
            <a:r>
              <a:rPr lang="en-GB" sz="2000" dirty="0"/>
              <a:t>, </a:t>
            </a:r>
            <a:r>
              <a:rPr lang="en-GB" sz="2000" b="1" dirty="0"/>
              <a:t>databases</a:t>
            </a:r>
            <a:r>
              <a:rPr lang="en-GB" sz="2000" dirty="0"/>
              <a:t>, </a:t>
            </a:r>
            <a:r>
              <a:rPr lang="en-GB" sz="2000" b="1" dirty="0"/>
              <a:t>cloud storage</a:t>
            </a:r>
            <a:r>
              <a:rPr lang="en-GB" sz="2000" dirty="0"/>
              <a:t>, and </a:t>
            </a:r>
            <a:r>
              <a:rPr lang="en-GB" sz="2000" b="1" dirty="0"/>
              <a:t>streaming platforms</a:t>
            </a:r>
            <a:r>
              <a:rPr lang="en-GB" sz="2000" dirty="0"/>
              <a:t>.</a:t>
            </a:r>
          </a:p>
          <a:p>
            <a:pPr>
              <a:buNone/>
            </a:pPr>
            <a:r>
              <a:rPr lang="en-GB" sz="2000" b="1" dirty="0"/>
              <a:t>Example Use Case:</a:t>
            </a:r>
          </a:p>
          <a:p>
            <a:pPr>
              <a:buNone/>
            </a:pPr>
            <a:r>
              <a:rPr lang="en-GB" sz="2000" b="1" dirty="0"/>
              <a:t>Scenario</a:t>
            </a:r>
            <a:r>
              <a:rPr lang="en-GB" sz="2000" dirty="0"/>
              <a:t>: A bank wants to detect fraudulent transactions in real-time.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/>
              <a:t>Use </a:t>
            </a:r>
            <a:r>
              <a:rPr lang="en-GB" sz="2000" b="1" dirty="0"/>
              <a:t>Spark Streaming</a:t>
            </a:r>
            <a:r>
              <a:rPr lang="en-GB" sz="2000" dirty="0"/>
              <a:t> to ingest transaction data from Kafka.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/>
              <a:t>Apply </a:t>
            </a:r>
            <a:r>
              <a:rPr lang="en-GB" sz="2000" b="1" dirty="0"/>
              <a:t>Spark </a:t>
            </a:r>
            <a:r>
              <a:rPr lang="en-GB" sz="2000" b="1" dirty="0" err="1"/>
              <a:t>MLlib</a:t>
            </a:r>
            <a:r>
              <a:rPr lang="en-GB" sz="2000" dirty="0"/>
              <a:t> to classify transactions using a trained fraud detection model.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 dirty="0"/>
              <a:t>Store and query results using </a:t>
            </a:r>
            <a:r>
              <a:rPr lang="en-GB" sz="2000" b="1" dirty="0"/>
              <a:t>Spark SQL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634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A5663D4-950F-9DF3-2F11-460FFCAA7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BF18489D-BBEE-0A3E-1714-05C3FC443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Spark </a:t>
            </a:r>
            <a:r>
              <a:rPr lang="en-GB" b="1" dirty="0" err="1"/>
              <a:t>MLlib</a:t>
            </a:r>
            <a:r>
              <a:rPr lang="en-GB" b="1" dirty="0"/>
              <a:t> Overview</a:t>
            </a: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B633E-5D1E-CDE3-8DD8-DBAB1D43B6A2}"/>
              </a:ext>
            </a:extLst>
          </p:cNvPr>
          <p:cNvSpPr txBox="1"/>
          <p:nvPr/>
        </p:nvSpPr>
        <p:spPr>
          <a:xfrm>
            <a:off x="340963" y="640374"/>
            <a:ext cx="8609308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What is </a:t>
            </a:r>
            <a:r>
              <a:rPr lang="en-GB" b="1" dirty="0" err="1"/>
              <a:t>MLlib</a:t>
            </a:r>
            <a:r>
              <a:rPr lang="en-GB" b="1" dirty="0"/>
              <a:t>?</a:t>
            </a:r>
          </a:p>
          <a:p>
            <a:pPr>
              <a:buNone/>
            </a:pPr>
            <a:r>
              <a:rPr lang="en-GB" b="1" dirty="0" err="1"/>
              <a:t>MLlib</a:t>
            </a:r>
            <a:r>
              <a:rPr lang="en-GB" dirty="0"/>
              <a:t> (Machine Learning Library) is Apache Spark’s scalable machine learning library. It provides a wide range of machine learning algorithms and utilities that are distributed across clusters, making it highly efficient for handling large datasets.</a:t>
            </a:r>
          </a:p>
          <a:p>
            <a:r>
              <a:rPr lang="en-GB" dirty="0" err="1"/>
              <a:t>MLlib</a:t>
            </a:r>
            <a:r>
              <a:rPr lang="en-GB" dirty="0"/>
              <a:t> is designed to scale easily with big data, enabling developers and data scientists to build and deploy models on massive datasets without managing distributed systems manually.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Built on 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Spark Core (RDDs/</a:t>
            </a:r>
            <a:r>
              <a:rPr lang="en-GB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DataFrames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).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Ø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Supports: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Classification, Regression, Clustering (e.g., Logistic Regression, K-Means).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Feature Engineering (PCA, Tokenization).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Pipelines (end-to-end ML workflows).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457200" lvl="1" algn="l">
              <a:spcBef>
                <a:spcPts val="300"/>
              </a:spcBef>
            </a:pPr>
            <a:r>
              <a:rPr lang="en-GB" b="1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MLlib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 vs. Other Libraries</a:t>
            </a: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FB6CDE-8D5E-2E6D-B56B-41EE595B8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189523"/>
              </p:ext>
            </p:extLst>
          </p:nvPr>
        </p:nvGraphicFramePr>
        <p:xfrm>
          <a:off x="281337" y="3815494"/>
          <a:ext cx="8521700" cy="1127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3769756260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862691948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883454715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243172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Spark MLlib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TensorFlow/PyTorch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827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Scalability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Distributed (100s of nodes)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Single-node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Multi-GPU/TPU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872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Ecosystem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Spark (ETL + ML)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Standalone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Deep Learning 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40041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BAABBA3-AF77-9A63-3BE1-935774FB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63" y="34580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56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0AA276C-2189-76D1-521A-87967B29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93CE9C5-E3F5-4C70-4512-F365CA401F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What Can You Do with </a:t>
            </a:r>
            <a:r>
              <a:rPr lang="en-GB" b="1" dirty="0" err="1"/>
              <a:t>MLlib</a:t>
            </a:r>
            <a:r>
              <a:rPr lang="en-GB" b="1" dirty="0"/>
              <a:t>?</a:t>
            </a: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DD30E1-DC8D-00DB-5D46-7DD1CC48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744960"/>
              </p:ext>
            </p:extLst>
          </p:nvPr>
        </p:nvGraphicFramePr>
        <p:xfrm>
          <a:off x="497466" y="1114042"/>
          <a:ext cx="8305570" cy="3700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52785">
                  <a:extLst>
                    <a:ext uri="{9D8B030D-6E8A-4147-A177-3AD203B41FA5}">
                      <a16:colId xmlns:a16="http://schemas.microsoft.com/office/drawing/2014/main" val="1121614423"/>
                    </a:ext>
                  </a:extLst>
                </a:gridCol>
                <a:gridCol w="4152785">
                  <a:extLst>
                    <a:ext uri="{9D8B030D-6E8A-4147-A177-3AD203B41FA5}">
                      <a16:colId xmlns:a16="http://schemas.microsoft.com/office/drawing/2014/main" val="2139330961"/>
                    </a:ext>
                  </a:extLst>
                </a:gridCol>
              </a:tblGrid>
              <a:tr h="297070">
                <a:tc>
                  <a:txBody>
                    <a:bodyPr/>
                    <a:lstStyle/>
                    <a:p>
                      <a:r>
                        <a:rPr lang="en-GB" sz="1400" b="1"/>
                        <a:t>Category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Algorithms / Techniques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4271693110"/>
                  </a:ext>
                </a:extLst>
              </a:tr>
              <a:tr h="505018">
                <a:tc>
                  <a:txBody>
                    <a:bodyPr/>
                    <a:lstStyle/>
                    <a:p>
                      <a:r>
                        <a:rPr lang="en-GB" sz="1400" b="1" dirty="0"/>
                        <a:t>Classification</a:t>
                      </a:r>
                      <a:endParaRPr lang="en-GB" sz="1400" dirty="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Logistic Regression, Random Forest, Decision Trees, Naive Bayes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61290807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r>
                        <a:rPr lang="en-GB" sz="1400" b="1"/>
                        <a:t>Regression</a:t>
                      </a:r>
                      <a:endParaRPr lang="en-GB" sz="140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Linear Regression, Generalized Linear Regression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1587885317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r>
                        <a:rPr lang="en-GB" sz="1400" b="1"/>
                        <a:t>Clustering</a:t>
                      </a:r>
                      <a:endParaRPr lang="en-GB" sz="140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K-means, Gaussian Mixture Models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2785878890"/>
                  </a:ext>
                </a:extLst>
              </a:tr>
              <a:tr h="505018">
                <a:tc>
                  <a:txBody>
                    <a:bodyPr/>
                    <a:lstStyle/>
                    <a:p>
                      <a:r>
                        <a:rPr lang="en-GB" sz="1400" b="1"/>
                        <a:t>Collaborative Filtering</a:t>
                      </a:r>
                      <a:endParaRPr lang="en-GB" sz="140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ALS (Alternating Least Squares) for recommendation systems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1974153440"/>
                  </a:ext>
                </a:extLst>
              </a:tr>
              <a:tr h="505018">
                <a:tc>
                  <a:txBody>
                    <a:bodyPr/>
                    <a:lstStyle/>
                    <a:p>
                      <a:r>
                        <a:rPr lang="en-GB" sz="1400" b="1"/>
                        <a:t>Dimensionality Reduction</a:t>
                      </a:r>
                      <a:endParaRPr lang="en-GB" sz="140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PCA (Principal Component Analysis), SVD (Singular Value Decomposition)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697514547"/>
                  </a:ext>
                </a:extLst>
              </a:tr>
              <a:tr h="505018">
                <a:tc>
                  <a:txBody>
                    <a:bodyPr/>
                    <a:lstStyle/>
                    <a:p>
                      <a:r>
                        <a:rPr lang="en-GB" sz="1400" b="1"/>
                        <a:t>Feature Extraction &amp; Transformation</a:t>
                      </a:r>
                      <a:endParaRPr lang="en-GB" sz="140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Tokenizer, Word2Vec, StandardScaler, StringIndexer, OneHotEncoder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2298514150"/>
                  </a:ext>
                </a:extLst>
              </a:tr>
              <a:tr h="505018">
                <a:tc>
                  <a:txBody>
                    <a:bodyPr/>
                    <a:lstStyle/>
                    <a:p>
                      <a:r>
                        <a:rPr lang="en-GB" sz="1400" b="1"/>
                        <a:t>Model Evaluation</a:t>
                      </a:r>
                      <a:endParaRPr lang="en-GB" sz="140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Cross-validation, Train-validation split, Evaluation metrics like accuracy, RMSE, precision</a:t>
                      </a:r>
                    </a:p>
                  </a:txBody>
                  <a:tcPr marL="89121" marR="89121" marT="44560" marB="44560" anchor="ctr"/>
                </a:tc>
                <a:extLst>
                  <a:ext uri="{0D108BD9-81ED-4DB2-BD59-A6C34878D82A}">
                    <a16:rowId xmlns:a16="http://schemas.microsoft.com/office/drawing/2014/main" val="12156416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17F65C9-D818-AFF4-E41D-76D21A6A2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66" y="7437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157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17C7867-EAB1-263C-DE4C-C695D965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3904CB1-D980-7D06-0521-E63CE68AA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Supported Languages</a:t>
            </a:r>
            <a:br>
              <a:rPr lang="en-GB" sz="2800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9B5B33-03AB-ACF5-D75F-34E7FAB94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82" y="1204200"/>
            <a:ext cx="909640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800" dirty="0"/>
              <a:t>You can use </a:t>
            </a:r>
            <a:r>
              <a:rPr lang="en-GB" sz="1800" dirty="0" err="1"/>
              <a:t>MLlib</a:t>
            </a:r>
            <a:r>
              <a:rPr lang="en-GB" sz="1800" dirty="0"/>
              <a:t> with multiple languages:</a:t>
            </a:r>
          </a:p>
          <a:p>
            <a:pPr>
              <a:buNone/>
            </a:pP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Scala</a:t>
            </a:r>
            <a:r>
              <a:rPr lang="en-GB" sz="1800" dirty="0"/>
              <a:t> – Native and most optimized.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Python (</a:t>
            </a:r>
            <a:r>
              <a:rPr lang="en-GB" sz="1800" b="1" dirty="0" err="1"/>
              <a:t>PySpark</a:t>
            </a:r>
            <a:r>
              <a:rPr lang="en-GB" sz="1800" b="1" dirty="0"/>
              <a:t>)</a:t>
            </a:r>
            <a:r>
              <a:rPr lang="en-GB" sz="1800" dirty="0"/>
              <a:t> – Popular among data scientists and Python developers.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Java</a:t>
            </a:r>
            <a:r>
              <a:rPr lang="en-GB" sz="1800" dirty="0"/>
              <a:t> – For enterprise-grade applications.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R</a:t>
            </a:r>
            <a:r>
              <a:rPr lang="en-GB" sz="1800" dirty="0"/>
              <a:t> – For statistical computing and analysis (via </a:t>
            </a:r>
            <a:r>
              <a:rPr lang="en-GB" sz="1800" dirty="0" err="1"/>
              <a:t>SparkR</a:t>
            </a:r>
            <a:r>
              <a:rPr lang="en-GB" sz="1800" dirty="0"/>
              <a:t> or </a:t>
            </a:r>
            <a:r>
              <a:rPr lang="en-GB" sz="1800" dirty="0" err="1"/>
              <a:t>Sparklyr</a:t>
            </a:r>
            <a:r>
              <a:rPr lang="en-GB" sz="1800" dirty="0"/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523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144780B-CEAC-5C02-0966-7392E627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82847EF-830F-7ACE-15EA-6ADAD98DE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Key Features of </a:t>
            </a:r>
            <a:r>
              <a:rPr lang="en-GB" b="1" dirty="0" err="1"/>
              <a:t>MLlib</a:t>
            </a: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CA045-FBE6-00A7-96FD-9AB0A1C4881B}"/>
              </a:ext>
            </a:extLst>
          </p:cNvPr>
          <p:cNvSpPr txBox="1"/>
          <p:nvPr/>
        </p:nvSpPr>
        <p:spPr>
          <a:xfrm>
            <a:off x="143123" y="619185"/>
            <a:ext cx="844005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1. Scalable and Distributed Algorithms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All algorithms are </a:t>
            </a:r>
            <a:r>
              <a:rPr lang="en-GB" sz="1600" b="1" dirty="0"/>
              <a:t>parallelized across clusters</a:t>
            </a:r>
            <a:r>
              <a:rPr lang="en-GB" sz="1600" dirty="0"/>
              <a:t> using Spark’s distributed processing engine.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Allows training models on </a:t>
            </a:r>
            <a:r>
              <a:rPr lang="en-GB" sz="1600" b="1" dirty="0"/>
              <a:t>terabytes of data</a:t>
            </a:r>
            <a:r>
              <a:rPr lang="en-GB" sz="1600" dirty="0"/>
              <a:t> without running into memory issues.</a:t>
            </a:r>
          </a:p>
          <a:p>
            <a:pPr>
              <a:buNone/>
            </a:pPr>
            <a:r>
              <a:rPr lang="en-GB" sz="1600" b="1" dirty="0"/>
              <a:t>2. ML Pipelines (Inspired by Scikit-learn)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/>
              <a:t>MLlib</a:t>
            </a:r>
            <a:r>
              <a:rPr lang="en-GB" sz="1600" dirty="0"/>
              <a:t> uses a high-level Pipeline API to create machine learning workflows.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Components include: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sz="1600" dirty="0"/>
              <a:t>Transformers (e.g., </a:t>
            </a:r>
            <a:r>
              <a:rPr lang="en-GB" sz="1600" dirty="0" err="1"/>
              <a:t>StandardScaler</a:t>
            </a:r>
            <a:r>
              <a:rPr lang="en-GB" sz="1600" dirty="0"/>
              <a:t>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sz="1600" dirty="0"/>
              <a:t>Estimators (e.g., </a:t>
            </a:r>
            <a:r>
              <a:rPr lang="en-GB" sz="1600" dirty="0" err="1"/>
              <a:t>LogisticRegression</a:t>
            </a:r>
            <a:r>
              <a:rPr lang="en-GB" sz="1600" dirty="0"/>
              <a:t>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sz="1600" dirty="0"/>
              <a:t>Evaluators (e.g., </a:t>
            </a:r>
            <a:r>
              <a:rPr lang="en-GB" sz="1600" dirty="0" err="1"/>
              <a:t>BinaryClassificationEvaluator</a:t>
            </a:r>
            <a:r>
              <a:rPr lang="en-GB" sz="1600" dirty="0"/>
              <a:t>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Enables chaining together multiple stages: preprocessing → training → evaluation → tuning.</a:t>
            </a:r>
          </a:p>
          <a:p>
            <a:pPr>
              <a:buNone/>
            </a:pPr>
            <a:r>
              <a:rPr lang="en-GB" sz="1600" b="1" dirty="0"/>
              <a:t>3. Tight Integration with Spark SQL and </a:t>
            </a:r>
            <a:r>
              <a:rPr lang="en-GB" sz="1600" b="1" dirty="0" err="1"/>
              <a:t>DataFrames</a:t>
            </a:r>
            <a:endParaRPr lang="en-GB" sz="1600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/>
              <a:t>MLlib</a:t>
            </a:r>
            <a:r>
              <a:rPr lang="en-GB" sz="1600" dirty="0"/>
              <a:t> supports </a:t>
            </a:r>
            <a:r>
              <a:rPr lang="en-GB" sz="1600" dirty="0" err="1"/>
              <a:t>DataFrame</a:t>
            </a:r>
            <a:r>
              <a:rPr lang="en-GB" sz="1600" dirty="0"/>
              <a:t>-based APIs, making it easier to preprocess structured data.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You can perform SQL queries, data wrangling, and ML model training within the same environment.</a:t>
            </a:r>
          </a:p>
          <a:p>
            <a:pPr algn="l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02036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2E6C21-1D75-040F-2797-E3653BB4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4CDCC50-9E5E-16D2-3DC2-061591AC6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Advantages of </a:t>
            </a:r>
            <a:r>
              <a:rPr lang="en-GB" b="1" dirty="0" err="1"/>
              <a:t>MLlib</a:t>
            </a: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D3C2C-8496-E559-9202-DB3D8954ABF1}"/>
              </a:ext>
            </a:extLst>
          </p:cNvPr>
          <p:cNvSpPr txBox="1"/>
          <p:nvPr/>
        </p:nvSpPr>
        <p:spPr>
          <a:xfrm>
            <a:off x="324970" y="743741"/>
            <a:ext cx="81760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b="1" dirty="0"/>
              <a:t>Handles Big Data Efficiently</a:t>
            </a:r>
            <a:r>
              <a:rPr lang="en-GB" sz="1600" dirty="0"/>
              <a:t> – Can process data that wouldn’t fit into memory on a single machine.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b="1" dirty="0"/>
              <a:t>Unified Stack</a:t>
            </a:r>
            <a:r>
              <a:rPr lang="en-GB" sz="1600" dirty="0"/>
              <a:t> – Integrates well with other Spark components like Spark SQL and Streaming.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b="1" dirty="0"/>
              <a:t>Easy to Scale</a:t>
            </a:r>
            <a:r>
              <a:rPr lang="en-GB" sz="1600" dirty="0"/>
              <a:t> – Just add more nodes to the cluster to improve performance.</a:t>
            </a:r>
          </a:p>
          <a:p>
            <a:pPr algn="l"/>
            <a:endParaRPr lang="en-GB" sz="1600" b="1" dirty="0">
              <a:solidFill>
                <a:srgbClr val="543198"/>
              </a:solidFill>
              <a:latin typeface="IBM Plex Sans Arabic Medium"/>
              <a:cs typeface="IBM Plex Sans Arabic Medium"/>
              <a:sym typeface="IBM Plex Sans Arabic Medium"/>
            </a:endParaRPr>
          </a:p>
          <a:p>
            <a:pPr>
              <a:buNone/>
            </a:pPr>
            <a:r>
              <a:rPr lang="en-GB" sz="1600" b="1" dirty="0">
                <a:solidFill>
                  <a:srgbClr val="543198"/>
                </a:solidFill>
                <a:latin typeface="IBM Plex Sans Arabic Medium"/>
                <a:cs typeface="IBM Plex Sans Arabic Medium"/>
                <a:sym typeface="IBM Plex Sans Arabic Medium"/>
              </a:rPr>
              <a:t>When to Use </a:t>
            </a:r>
            <a:r>
              <a:rPr lang="en-GB" sz="1600" b="1" dirty="0" err="1">
                <a:solidFill>
                  <a:srgbClr val="543198"/>
                </a:solidFill>
                <a:latin typeface="IBM Plex Sans Arabic Medium"/>
                <a:cs typeface="IBM Plex Sans Arabic Medium"/>
                <a:sym typeface="IBM Plex Sans Arabic Medium"/>
              </a:rPr>
              <a:t>MLlib</a:t>
            </a:r>
            <a:r>
              <a:rPr lang="en-GB" sz="1600" b="1" dirty="0">
                <a:solidFill>
                  <a:srgbClr val="543198"/>
                </a:solidFill>
                <a:latin typeface="IBM Plex Sans Arabic Medium"/>
                <a:cs typeface="IBM Plex Sans Arabic Medium"/>
                <a:sym typeface="IBM Plex Sans Arabic Medium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dirty="0"/>
              <a:t>You need to apply </a:t>
            </a:r>
            <a:r>
              <a:rPr lang="en-GB" sz="1600" b="1" dirty="0"/>
              <a:t>machine learning on big datasets</a:t>
            </a:r>
            <a:r>
              <a:rPr lang="en-GB" sz="1600" dirty="0"/>
              <a:t> (millions of records).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dirty="0"/>
              <a:t>You want </a:t>
            </a:r>
            <a:r>
              <a:rPr lang="en-GB" sz="1600" b="1" dirty="0"/>
              <a:t>end-to-end pipelines</a:t>
            </a:r>
            <a:r>
              <a:rPr lang="en-GB" sz="1600" dirty="0"/>
              <a:t> for data ingestion, transformation, </a:t>
            </a:r>
            <a:r>
              <a:rPr lang="en-GB" sz="1600" dirty="0" err="1"/>
              <a:t>modeling</a:t>
            </a:r>
            <a:r>
              <a:rPr lang="en-GB" sz="1600" dirty="0"/>
              <a:t>, and evaluation.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dirty="0"/>
              <a:t>You need </a:t>
            </a:r>
            <a:r>
              <a:rPr lang="en-GB" sz="1600" b="1" dirty="0"/>
              <a:t>scalability and distributed computing</a:t>
            </a:r>
            <a:r>
              <a:rPr lang="en-GB" sz="1600" dirty="0"/>
              <a:t> without managing the complexity of setting it up yourself.</a:t>
            </a:r>
          </a:p>
          <a:p>
            <a:pPr algn="l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39302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4CEB988-6B39-AE69-3CC2-EF52FED3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0C7546B-2863-B5CF-79A6-63CFED353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 err="1"/>
              <a:t>MLlib</a:t>
            </a:r>
            <a:r>
              <a:rPr lang="en-GB" b="1" dirty="0"/>
              <a:t> Architecture – A Deep Dive</a:t>
            </a: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EC0A2-39D7-11CF-A66A-30D045522363}"/>
              </a:ext>
            </a:extLst>
          </p:cNvPr>
          <p:cNvSpPr txBox="1"/>
          <p:nvPr/>
        </p:nvSpPr>
        <p:spPr>
          <a:xfrm>
            <a:off x="229555" y="671217"/>
            <a:ext cx="85217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/>
              <a:t>Apache Spark </a:t>
            </a:r>
            <a:r>
              <a:rPr lang="en-GB" sz="1500" dirty="0" err="1"/>
              <a:t>MLlib</a:t>
            </a:r>
            <a:r>
              <a:rPr lang="en-GB" sz="1500" dirty="0"/>
              <a:t> is built to streamline the </a:t>
            </a:r>
            <a:r>
              <a:rPr lang="en-GB" sz="1500" b="1" dirty="0"/>
              <a:t>end-to-end machine learning pipeline</a:t>
            </a:r>
            <a:r>
              <a:rPr lang="en-GB" sz="1500" dirty="0"/>
              <a:t> in a distributed, scalable, and high-performance environment.</a:t>
            </a:r>
          </a:p>
          <a:p>
            <a:endParaRPr lang="en-GB" sz="1500" dirty="0"/>
          </a:p>
          <a:p>
            <a:r>
              <a:rPr lang="en-GB" sz="1500" b="1" i="1" dirty="0">
                <a:solidFill>
                  <a:schemeClr val="accent5">
                    <a:lumMod val="75000"/>
                  </a:schemeClr>
                </a:solidFill>
              </a:rPr>
              <a:t>Raw Data → </a:t>
            </a:r>
            <a:r>
              <a:rPr lang="en-GB" sz="1500" b="1" i="1" dirty="0" err="1">
                <a:solidFill>
                  <a:schemeClr val="accent5">
                    <a:lumMod val="75000"/>
                  </a:schemeClr>
                </a:solidFill>
              </a:rPr>
              <a:t>DataFrame</a:t>
            </a:r>
            <a:r>
              <a:rPr lang="en-GB" sz="1500" b="1" i="1" dirty="0">
                <a:solidFill>
                  <a:schemeClr val="accent5">
                    <a:lumMod val="75000"/>
                  </a:schemeClr>
                </a:solidFill>
              </a:rPr>
              <a:t> → Feature Transformation → ML Model → Evaluation → Prediction</a:t>
            </a:r>
          </a:p>
          <a:p>
            <a:endParaRPr lang="en-GB" sz="1500" dirty="0"/>
          </a:p>
          <a:p>
            <a:pPr algn="ctr"/>
            <a:endParaRPr lang="en-GB" sz="1500" i="1" dirty="0">
              <a:solidFill>
                <a:srgbClr val="FF0000"/>
              </a:solidFill>
            </a:endParaRPr>
          </a:p>
          <a:p>
            <a:pPr algn="l"/>
            <a:endParaRPr lang="en-GB" sz="15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C7C1EF-7911-361A-4B05-12CA965CB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403775"/>
              </p:ext>
            </p:extLst>
          </p:nvPr>
        </p:nvGraphicFramePr>
        <p:xfrm>
          <a:off x="311150" y="2253979"/>
          <a:ext cx="8521700" cy="27736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3249495937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428638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46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/>
                        <a:t>Raw Data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Input collected from various sources (CSV, JSON, Hive,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57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 err="1"/>
                        <a:t>DataFrame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Structured, tabular representation of data (like a table in a database)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767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/>
                        <a:t>Feature Transformation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Preprocessing features using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884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ML Model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Training model using classification, regression, clustering,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8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Evaluation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Assessing model accuracy and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57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Prediction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Using the model to infer outcomes on unseen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55458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7B6A4D8-B402-23F4-220A-15413F117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026" y="1677070"/>
            <a:ext cx="87382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500" dirty="0"/>
              <a:t>This pipeline resembles a real-world machine learning workflow and consists of the following stages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92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050241C-F3DC-B231-4C58-58E5E920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157C226-F9F2-F837-8DE7-0D913511C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Main Components of </a:t>
            </a:r>
            <a:r>
              <a:rPr lang="en-GB" b="1" dirty="0" err="1"/>
              <a:t>MLlib</a:t>
            </a:r>
            <a:r>
              <a:rPr lang="en-GB" b="1" dirty="0"/>
              <a:t> Architecture</a:t>
            </a: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CE6FC3-46B3-4152-4121-FEB533A9F492}"/>
              </a:ext>
            </a:extLst>
          </p:cNvPr>
          <p:cNvSpPr txBox="1"/>
          <p:nvPr/>
        </p:nvSpPr>
        <p:spPr>
          <a:xfrm>
            <a:off x="1010222" y="879013"/>
            <a:ext cx="58517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1600" b="1" dirty="0" err="1"/>
              <a:t>DataFrames</a:t>
            </a:r>
            <a:r>
              <a:rPr lang="en-GB" sz="1600" b="1" dirty="0"/>
              <a:t> &amp; Pipelines</a:t>
            </a:r>
          </a:p>
          <a:p>
            <a:pPr marL="342900" indent="-342900">
              <a:buAutoNum type="arabicPeriod"/>
            </a:pPr>
            <a:endParaRPr lang="en-GB" sz="1600" b="1" dirty="0"/>
          </a:p>
          <a:p>
            <a:r>
              <a:rPr lang="en-GB" sz="1600" b="1" dirty="0" err="1"/>
              <a:t>DataFrames</a:t>
            </a:r>
            <a:r>
              <a:rPr lang="en-GB" sz="1600" dirty="0"/>
              <a:t>: Core data structure in Spark (like Pandas </a:t>
            </a:r>
            <a:r>
              <a:rPr lang="en-GB" sz="1600" dirty="0" err="1"/>
              <a:t>DataFrame</a:t>
            </a:r>
            <a:r>
              <a:rPr lang="en-GB" sz="1600" dirty="0"/>
              <a:t> but distributed).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600" dirty="0"/>
              <a:t>Enables efficient, distributed computations.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600" dirty="0"/>
              <a:t>Supports schema, data types, and SQL-like querying.</a:t>
            </a:r>
          </a:p>
          <a:p>
            <a:r>
              <a:rPr lang="en-GB" sz="1600" b="1" dirty="0"/>
              <a:t>Pipeline API</a:t>
            </a:r>
            <a:r>
              <a:rPr lang="en-GB" sz="1600" dirty="0"/>
              <a:t>: Allows chaining multiple stages (like Scikit-learn):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600" dirty="0"/>
              <a:t>Pipeline(stages=[Stage1, Stage2, ..., </a:t>
            </a:r>
            <a:r>
              <a:rPr lang="en-GB" sz="1600" dirty="0" err="1"/>
              <a:t>StageN</a:t>
            </a:r>
            <a:r>
              <a:rPr lang="en-GB" sz="1600" dirty="0"/>
              <a:t>])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600" dirty="0"/>
              <a:t>Manages both data preprocessing and model training in a unified structure.</a:t>
            </a:r>
          </a:p>
          <a:p>
            <a:pPr algn="ctr"/>
            <a:endParaRPr lang="en-GB" sz="1600" i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5675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E278EEF-2125-4679-4DAD-067A8A19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1688ACC-6081-7A34-C463-09361796A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37522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Main Components of </a:t>
            </a:r>
            <a:r>
              <a:rPr lang="en-GB" b="1" dirty="0" err="1"/>
              <a:t>MLlib</a:t>
            </a:r>
            <a:r>
              <a:rPr lang="en-GB" b="1" dirty="0"/>
              <a:t> Architecture</a:t>
            </a: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65065-A9FB-6633-B4F6-D7D62737CFCF}"/>
              </a:ext>
            </a:extLst>
          </p:cNvPr>
          <p:cNvSpPr txBox="1"/>
          <p:nvPr/>
        </p:nvSpPr>
        <p:spPr>
          <a:xfrm>
            <a:off x="1010222" y="879013"/>
            <a:ext cx="58517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1600" i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347C1F-7DC0-DD0E-6CB3-549F8FA7A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81415"/>
              </p:ext>
            </p:extLst>
          </p:nvPr>
        </p:nvGraphicFramePr>
        <p:xfrm>
          <a:off x="311150" y="1107769"/>
          <a:ext cx="8521701" cy="31089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15032081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42111155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68653776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83797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GB" sz="1400" dirty="0" err="1"/>
                        <a:t>VectorAssembler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Combines multiple feature columns into a single vector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Required for feeding features into ML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84479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StringIndexer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Converts string labels into numerical indices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Used for categorical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32258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OneHotEncoder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Converts indexed categories into binary vectors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Useful for nominal categorical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6149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StandardScaler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Standardizes features (zero mean, unit variance)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Normalization before ML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2299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MinMaxScaler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Scales values between 0 and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Useful for neural networks or logistic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18794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BB6B78-BD4B-250E-180C-D2CD1C7CC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49" y="476443"/>
            <a:ext cx="782262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Feature Transformers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 convert raw data into features usable by ML algorithms: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40D67-BB06-32C4-7408-E3A5FA843A81}"/>
              </a:ext>
            </a:extLst>
          </p:cNvPr>
          <p:cNvSpPr txBox="1"/>
          <p:nvPr/>
        </p:nvSpPr>
        <p:spPr>
          <a:xfrm>
            <a:off x="911300" y="4445485"/>
            <a:ext cx="66223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assembler = </a:t>
            </a:r>
            <a:r>
              <a:rPr lang="en-US" dirty="0" err="1">
                <a:solidFill>
                  <a:srgbClr val="C00000"/>
                </a:solidFill>
              </a:rPr>
              <a:t>VectorAssembler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inputCols</a:t>
            </a:r>
            <a:r>
              <a:rPr lang="en-US" dirty="0">
                <a:solidFill>
                  <a:srgbClr val="C00000"/>
                </a:solidFill>
              </a:rPr>
              <a:t>=["age", "income"], </a:t>
            </a:r>
            <a:r>
              <a:rPr lang="en-US" dirty="0" err="1">
                <a:solidFill>
                  <a:srgbClr val="C00000"/>
                </a:solidFill>
              </a:rPr>
              <a:t>outputCol</a:t>
            </a:r>
            <a:r>
              <a:rPr lang="en-US" dirty="0">
                <a:solidFill>
                  <a:srgbClr val="C00000"/>
                </a:solidFill>
              </a:rPr>
              <a:t>="features")</a:t>
            </a:r>
          </a:p>
          <a:p>
            <a:r>
              <a:rPr lang="en-US" dirty="0">
                <a:solidFill>
                  <a:srgbClr val="C00000"/>
                </a:solidFill>
              </a:rPr>
              <a:t>indexer = </a:t>
            </a:r>
            <a:r>
              <a:rPr lang="en-US" dirty="0" err="1">
                <a:solidFill>
                  <a:srgbClr val="C00000"/>
                </a:solidFill>
              </a:rPr>
              <a:t>StringIndexer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inputCol</a:t>
            </a:r>
            <a:r>
              <a:rPr lang="en-US" dirty="0">
                <a:solidFill>
                  <a:srgbClr val="C00000"/>
                </a:solidFill>
              </a:rPr>
              <a:t>="gender", </a:t>
            </a:r>
            <a:r>
              <a:rPr lang="en-US" dirty="0" err="1">
                <a:solidFill>
                  <a:srgbClr val="C00000"/>
                </a:solidFill>
              </a:rPr>
              <a:t>outputCol</a:t>
            </a:r>
            <a:r>
              <a:rPr lang="en-US" dirty="0">
                <a:solidFill>
                  <a:srgbClr val="C00000"/>
                </a:solidFill>
              </a:rPr>
              <a:t>="</a:t>
            </a:r>
            <a:r>
              <a:rPr lang="en-US" dirty="0" err="1">
                <a:solidFill>
                  <a:srgbClr val="C00000"/>
                </a:solidFill>
              </a:rPr>
              <a:t>gender_index</a:t>
            </a:r>
            <a:r>
              <a:rPr lang="en-US" dirty="0">
                <a:solidFill>
                  <a:srgbClr val="C00000"/>
                </a:solidFill>
              </a:rPr>
              <a:t>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735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CA3AAA9-BED6-ADC6-F25F-EEB8535B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952504D-234B-785B-2179-7A668D9B6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37522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Main Components of </a:t>
            </a:r>
            <a:r>
              <a:rPr lang="en-GB" b="1" dirty="0" err="1"/>
              <a:t>MLlib</a:t>
            </a:r>
            <a:r>
              <a:rPr lang="en-GB" b="1" dirty="0"/>
              <a:t> Architecture</a:t>
            </a: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B0D75-3B52-A614-909A-3EA0202EF200}"/>
              </a:ext>
            </a:extLst>
          </p:cNvPr>
          <p:cNvSpPr txBox="1"/>
          <p:nvPr/>
        </p:nvSpPr>
        <p:spPr>
          <a:xfrm>
            <a:off x="1010222" y="879013"/>
            <a:ext cx="58517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1600" i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967E3-6E35-C5ED-BDD0-11DB624312EB}"/>
              </a:ext>
            </a:extLst>
          </p:cNvPr>
          <p:cNvSpPr txBox="1"/>
          <p:nvPr/>
        </p:nvSpPr>
        <p:spPr>
          <a:xfrm>
            <a:off x="911300" y="4445485"/>
            <a:ext cx="527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from </a:t>
            </a:r>
            <a:r>
              <a:rPr lang="en-US" dirty="0" err="1">
                <a:solidFill>
                  <a:srgbClr val="C00000"/>
                </a:solidFill>
              </a:rPr>
              <a:t>pyspark.ml.classification</a:t>
            </a:r>
            <a:r>
              <a:rPr lang="en-US" dirty="0">
                <a:solidFill>
                  <a:srgbClr val="C00000"/>
                </a:solidFill>
              </a:rPr>
              <a:t> import </a:t>
            </a:r>
            <a:r>
              <a:rPr lang="en-US" dirty="0" err="1">
                <a:solidFill>
                  <a:srgbClr val="C00000"/>
                </a:solidFill>
              </a:rPr>
              <a:t>LogisticRegression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 err="1">
                <a:solidFill>
                  <a:srgbClr val="C00000"/>
                </a:solidFill>
              </a:rPr>
              <a:t>lr</a:t>
            </a:r>
            <a:r>
              <a:rPr lang="en-US" dirty="0">
                <a:solidFill>
                  <a:srgbClr val="C00000"/>
                </a:solidFill>
              </a:rPr>
              <a:t> = </a:t>
            </a:r>
            <a:r>
              <a:rPr lang="en-US" dirty="0" err="1">
                <a:solidFill>
                  <a:srgbClr val="C00000"/>
                </a:solidFill>
              </a:rPr>
              <a:t>LogisticRegression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featuresCol</a:t>
            </a:r>
            <a:r>
              <a:rPr lang="en-US" dirty="0">
                <a:solidFill>
                  <a:srgbClr val="C00000"/>
                </a:solidFill>
              </a:rPr>
              <a:t>="features", </a:t>
            </a:r>
            <a:r>
              <a:rPr lang="en-US" dirty="0" err="1">
                <a:solidFill>
                  <a:srgbClr val="C00000"/>
                </a:solidFill>
              </a:rPr>
              <a:t>labelCol</a:t>
            </a:r>
            <a:r>
              <a:rPr lang="en-US" dirty="0">
                <a:solidFill>
                  <a:srgbClr val="C00000"/>
                </a:solidFill>
              </a:rPr>
              <a:t>="label")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1C1472-8598-7FD4-8823-1F4F3D8FF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318482"/>
              </p:ext>
            </p:extLst>
          </p:nvPr>
        </p:nvGraphicFramePr>
        <p:xfrm>
          <a:off x="311149" y="1123950"/>
          <a:ext cx="8521701" cy="28956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80491097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23018035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80169315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87919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GB" sz="140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LogisticRegression, DecisionTreeClassifier, RandomForestClassifier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Spam detection, sentiment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70275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LinearRegression, GBTRegressor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Price prediction, demand forecasting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30724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KMeans</a:t>
                      </a:r>
                      <a:r>
                        <a:rPr lang="en-GB" sz="1400" dirty="0"/>
                        <a:t>, </a:t>
                      </a:r>
                      <a:r>
                        <a:rPr lang="en-GB" sz="1400" dirty="0" err="1"/>
                        <a:t>BisectingKMeans</a:t>
                      </a:r>
                      <a:r>
                        <a:rPr lang="en-GB" sz="1400" dirty="0"/>
                        <a:t>, </a:t>
                      </a:r>
                      <a:r>
                        <a:rPr lang="en-GB" sz="1400" dirty="0" err="1"/>
                        <a:t>GaussianMixture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Customer segmentation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4816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/>
                        <a:t>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ALS (Alternating Least Squares)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Product or movie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59936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Dimensionality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PCA, SVD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Feature selection,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69574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62553097-F9C0-E058-B03B-9CCDFA54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75" y="465708"/>
            <a:ext cx="527099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Machine Learning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a wide variety of scalable ML algorithms: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464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C18E183-D1FC-73AD-2949-35338D30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FFC8187-FEB6-152E-51B5-7E5DEB806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37522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Main Components of </a:t>
            </a:r>
            <a:r>
              <a:rPr lang="en-GB" b="1" dirty="0" err="1"/>
              <a:t>MLlib</a:t>
            </a:r>
            <a:r>
              <a:rPr lang="en-GB" b="1" dirty="0"/>
              <a:t> Architecture</a:t>
            </a: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27E3D-66BD-9654-4ECE-59FF5A47243A}"/>
              </a:ext>
            </a:extLst>
          </p:cNvPr>
          <p:cNvSpPr txBox="1"/>
          <p:nvPr/>
        </p:nvSpPr>
        <p:spPr>
          <a:xfrm>
            <a:off x="1010222" y="879013"/>
            <a:ext cx="58517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1600" i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0022E-C9C0-EFD6-EF3B-EFEF0070BB3E}"/>
              </a:ext>
            </a:extLst>
          </p:cNvPr>
          <p:cNvSpPr txBox="1"/>
          <p:nvPr/>
        </p:nvSpPr>
        <p:spPr>
          <a:xfrm>
            <a:off x="911300" y="4445485"/>
            <a:ext cx="73629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from </a:t>
            </a:r>
            <a:r>
              <a:rPr lang="en-US" dirty="0" err="1">
                <a:solidFill>
                  <a:srgbClr val="C00000"/>
                </a:solidFill>
              </a:rPr>
              <a:t>pyspark.ml.evaluation</a:t>
            </a:r>
            <a:r>
              <a:rPr lang="en-US" dirty="0">
                <a:solidFill>
                  <a:srgbClr val="C00000"/>
                </a:solidFill>
              </a:rPr>
              <a:t> import </a:t>
            </a:r>
            <a:r>
              <a:rPr lang="en-US" dirty="0" err="1">
                <a:solidFill>
                  <a:srgbClr val="C00000"/>
                </a:solidFill>
              </a:rPr>
              <a:t>BinaryClassificationEvaluator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evaluator = </a:t>
            </a:r>
            <a:r>
              <a:rPr lang="en-US" dirty="0" err="1">
                <a:solidFill>
                  <a:srgbClr val="C00000"/>
                </a:solidFill>
              </a:rPr>
              <a:t>BinaryClassificationEvaluator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labelCol</a:t>
            </a:r>
            <a:r>
              <a:rPr lang="en-US" dirty="0">
                <a:solidFill>
                  <a:srgbClr val="C00000"/>
                </a:solidFill>
              </a:rPr>
              <a:t>="label", </a:t>
            </a:r>
            <a:r>
              <a:rPr lang="en-US" dirty="0" err="1">
                <a:solidFill>
                  <a:srgbClr val="C00000"/>
                </a:solidFill>
              </a:rPr>
              <a:t>metricName</a:t>
            </a:r>
            <a:r>
              <a:rPr lang="en-US" dirty="0">
                <a:solidFill>
                  <a:srgbClr val="C00000"/>
                </a:solidFill>
              </a:rPr>
              <a:t>="</a:t>
            </a:r>
            <a:r>
              <a:rPr lang="en-US" dirty="0" err="1">
                <a:solidFill>
                  <a:srgbClr val="C00000"/>
                </a:solidFill>
              </a:rPr>
              <a:t>areaUnderROC</a:t>
            </a:r>
            <a:r>
              <a:rPr lang="en-US" dirty="0">
                <a:solidFill>
                  <a:srgbClr val="C00000"/>
                </a:solidFill>
              </a:rPr>
              <a:t>")</a:t>
            </a:r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CD5B33-F098-66C7-BB6F-49895B5CF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28674"/>
              </p:ext>
            </p:extLst>
          </p:nvPr>
        </p:nvGraphicFramePr>
        <p:xfrm>
          <a:off x="311149" y="1534191"/>
          <a:ext cx="8521701" cy="1828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2718162303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55068441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51071197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600" b="1"/>
                        <a:t>Evaluator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/>
                        <a:t>Suitable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95739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600"/>
                        <a:t>BinaryClassificationEvaluator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Area Under ROC, Area Under 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9786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600"/>
                        <a:t>MulticlassClassificationEvaluator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Multi-class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Accuracy, F1 Score, Precision,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06908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600"/>
                        <a:t>RegressionEvaluator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Regression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RMSE, MAE, 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50561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2D8E1C8-3EAA-1D10-077F-4E608C1D4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37" y="684308"/>
            <a:ext cx="36070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Evaluators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evaluate model performance: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410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AFC0597-87E4-B44E-BFDB-21FAB0EB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5249CB3-E816-D640-377C-8034C31DA4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37522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 </a:t>
            </a:r>
            <a:r>
              <a:rPr lang="en-GB" b="1" dirty="0" err="1"/>
              <a:t>MLlib</a:t>
            </a:r>
            <a:r>
              <a:rPr lang="en-GB" b="1" dirty="0"/>
              <a:t> Architecture</a:t>
            </a:r>
            <a:br>
              <a:rPr lang="en-GB" b="1" dirty="0"/>
            </a:br>
            <a:br>
              <a:rPr lang="en-GB" b="1" dirty="0"/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pic>
        <p:nvPicPr>
          <p:cNvPr id="7" name="Picture 6" descr="A diagram of a data flow&#10;&#10;AI-generated content may be incorrect.">
            <a:extLst>
              <a:ext uri="{FF2B5EF4-FFF2-40B4-BE49-F238E27FC236}">
                <a16:creationId xmlns:a16="http://schemas.microsoft.com/office/drawing/2014/main" id="{C4F7CF31-45D3-E774-27A0-269CC546D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27" y="127221"/>
            <a:ext cx="65995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90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295D7D7-B865-B03A-DE38-A97A2EF2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B650C4F-3678-FB0B-C8D8-8330EAC1A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GB" b="1" dirty="0"/>
              <a:t>Commonly Used Algorithms in </a:t>
            </a:r>
            <a:r>
              <a:rPr lang="en-GB" b="1" dirty="0" err="1"/>
              <a:t>MLlib</a:t>
            </a: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D84924-7ED9-F9E4-2E10-E0D147DF4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866311"/>
              </p:ext>
            </p:extLst>
          </p:nvPr>
        </p:nvGraphicFramePr>
        <p:xfrm>
          <a:off x="302149" y="829663"/>
          <a:ext cx="8329650" cy="419799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3443295683"/>
                    </a:ext>
                  </a:extLst>
                </a:gridCol>
                <a:gridCol w="6135090">
                  <a:extLst>
                    <a:ext uri="{9D8B030D-6E8A-4147-A177-3AD203B41FA5}">
                      <a16:colId xmlns:a16="http://schemas.microsoft.com/office/drawing/2014/main" val="1315098516"/>
                    </a:ext>
                  </a:extLst>
                </a:gridCol>
              </a:tblGrid>
              <a:tr h="198622">
                <a:tc>
                  <a:txBody>
                    <a:bodyPr/>
                    <a:lstStyle/>
                    <a:p>
                      <a:r>
                        <a:rPr lang="en-GB" sz="1400" b="1"/>
                        <a:t>Task</a:t>
                      </a:r>
                      <a:endParaRPr lang="en-GB" sz="1400"/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Algorithms</a:t>
                      </a:r>
                      <a:endParaRPr lang="en-GB" sz="1400"/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1725303632"/>
                  </a:ext>
                </a:extLst>
              </a:tr>
              <a:tr h="893799">
                <a:tc>
                  <a:txBody>
                    <a:bodyPr/>
                    <a:lstStyle/>
                    <a:p>
                      <a:r>
                        <a:rPr lang="en-GB" sz="1400" b="1"/>
                        <a:t>Classification</a:t>
                      </a:r>
                      <a:endParaRPr lang="en-GB" sz="1400"/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 </a:t>
                      </a:r>
                      <a:r>
                        <a:rPr lang="en-GB" sz="1400" b="1"/>
                        <a:t>Logistic Regression</a:t>
                      </a:r>
                      <a:r>
                        <a:rPr lang="en-GB" sz="1400"/>
                        <a:t>: Ideal for binary classification tasks.</a:t>
                      </a:r>
                      <a:br>
                        <a:rPr lang="en-GB" sz="1400"/>
                      </a:br>
                      <a:r>
                        <a:rPr lang="en-GB" sz="1400"/>
                        <a:t>- </a:t>
                      </a:r>
                      <a:r>
                        <a:rPr lang="en-GB" sz="1400" b="1"/>
                        <a:t>Decision Tree</a:t>
                      </a:r>
                      <a:r>
                        <a:rPr lang="en-GB" sz="1400"/>
                        <a:t>: Handles both categorical and numerical features.</a:t>
                      </a:r>
                      <a:br>
                        <a:rPr lang="en-GB" sz="1400"/>
                      </a:br>
                      <a:r>
                        <a:rPr lang="en-GB" sz="1400"/>
                        <a:t>- </a:t>
                      </a:r>
                      <a:r>
                        <a:rPr lang="en-GB" sz="1400" b="1"/>
                        <a:t>Random Forest</a:t>
                      </a:r>
                      <a:r>
                        <a:rPr lang="en-GB" sz="1400"/>
                        <a:t>: Ensemble method for better accuracy and less overfitting.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1651846009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r>
                        <a:rPr lang="en-GB" sz="1400" b="1"/>
                        <a:t>Regression</a:t>
                      </a:r>
                      <a:endParaRPr lang="en-GB" sz="1400"/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 </a:t>
                      </a:r>
                      <a:r>
                        <a:rPr lang="en-GB" sz="1400" b="1"/>
                        <a:t>Linear Regression</a:t>
                      </a:r>
                      <a:r>
                        <a:rPr lang="en-GB" sz="1400"/>
                        <a:t>: Predicts continuous outcomes using a linear relationship.</a:t>
                      </a:r>
                      <a:br>
                        <a:rPr lang="en-GB" sz="1400"/>
                      </a:br>
                      <a:r>
                        <a:rPr lang="en-GB" sz="1400"/>
                        <a:t>- </a:t>
                      </a:r>
                      <a:r>
                        <a:rPr lang="en-GB" sz="1400" b="1"/>
                        <a:t>Decision Tree Regression</a:t>
                      </a:r>
                      <a:r>
                        <a:rPr lang="en-GB" sz="1400"/>
                        <a:t>: Non-linear modeling that can capture complex patterns in the data.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2931493393"/>
                  </a:ext>
                </a:extLst>
              </a:tr>
              <a:tr h="337658">
                <a:tc>
                  <a:txBody>
                    <a:bodyPr/>
                    <a:lstStyle/>
                    <a:p>
                      <a:r>
                        <a:rPr lang="en-GB" sz="1400" b="1"/>
                        <a:t>Clustering</a:t>
                      </a:r>
                      <a:endParaRPr lang="en-GB" sz="1400"/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 </a:t>
                      </a:r>
                      <a:r>
                        <a:rPr lang="en-GB" sz="1400" b="1"/>
                        <a:t>K-Means</a:t>
                      </a:r>
                      <a:r>
                        <a:rPr lang="en-GB" sz="1400"/>
                        <a:t>: Unsupervised learning algorithm to group data into k clusters based on similarity.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2555198793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r>
                        <a:rPr lang="en-GB" sz="1400" b="1"/>
                        <a:t>Recommendation</a:t>
                      </a:r>
                      <a:endParaRPr lang="en-GB" sz="1400"/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- </a:t>
                      </a:r>
                      <a:r>
                        <a:rPr lang="en-GB" sz="1400" b="1"/>
                        <a:t>ALS (Alternating Least Squares)</a:t>
                      </a:r>
                      <a:r>
                        <a:rPr lang="en-GB" sz="1400"/>
                        <a:t>: Matrix factorization-based collaborative filtering for recommendation systems (e.g., movie or product recommendations).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754900564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r>
                        <a:rPr lang="en-GB" sz="1400" b="1"/>
                        <a:t>Feature Engineering</a:t>
                      </a:r>
                      <a:endParaRPr lang="en-GB" sz="1400"/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- </a:t>
                      </a:r>
                      <a:r>
                        <a:rPr lang="en-GB" sz="1400" b="1" dirty="0"/>
                        <a:t>PCA (Principal Component Analysis)</a:t>
                      </a:r>
                      <a:r>
                        <a:rPr lang="en-GB" sz="1400" dirty="0"/>
                        <a:t>: Dimensionality reduction by extracting principal components.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- </a:t>
                      </a:r>
                      <a:r>
                        <a:rPr lang="en-GB" sz="1400" b="1" dirty="0" err="1"/>
                        <a:t>ChiSqSelector</a:t>
                      </a:r>
                      <a:r>
                        <a:rPr lang="en-GB" sz="1400" dirty="0"/>
                        <a:t>: Selects top features based on chi-square statistical test for categorical labels.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1656927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952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F1BC78F-80EA-0D43-C7CE-BAD26BDE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2FFA730-5CD0-47CD-E337-FE3EF2866C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Hands-on </a:t>
            </a:r>
            <a:r>
              <a:rPr lang="en-GB" b="1" dirty="0" err="1"/>
              <a:t>Example:MLlib</a:t>
            </a:r>
            <a:r>
              <a:rPr lang="en-GB" b="1" dirty="0"/>
              <a:t> Taxi: Scalable Trip Time Forecasting</a:t>
            </a: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r>
              <a:rPr lang="en-GB" b="1" dirty="0"/>
              <a:t>Click here for the lab</a:t>
            </a: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r>
              <a:rPr lang="en-GB" b="1" i="0" u="none" strike="noStrike" dirty="0">
                <a:solidFill>
                  <a:srgbClr val="7030A0"/>
                </a:solidFill>
                <a:effectLst/>
                <a:hlinkClick r:id="rId3"/>
              </a:rPr>
              <a:t>https://drive.google.com/file/d/1nsrMt-wQYqho_nNg9pxqLz6JhMh42n0l/view?usp=share_link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16214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BBECF7B-C240-3941-9609-42E0F97E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A784DC6-1F40-2455-914A-022D6F525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65E9B8-A4EC-BECC-25A2-FA6785692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876397"/>
              </p:ext>
            </p:extLst>
          </p:nvPr>
        </p:nvGraphicFramePr>
        <p:xfrm>
          <a:off x="470176" y="1352550"/>
          <a:ext cx="8521700" cy="134112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2153768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Key Takeaways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178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GB" sz="1600" dirty="0"/>
                        <a:t>Spark </a:t>
                      </a:r>
                      <a:r>
                        <a:rPr lang="en-GB" sz="1600" dirty="0" err="1"/>
                        <a:t>MLlib</a:t>
                      </a:r>
                      <a:r>
                        <a:rPr lang="en-GB" sz="1600" dirty="0"/>
                        <a:t> is scalable, distributed, and fast for ML tasks on big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485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GB" sz="1600"/>
                        <a:t>Provides APIs for feature engineering, model training, and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73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GB" sz="1600" dirty="0"/>
                        <a:t>Great alternative to Scikit-learn for large-scale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499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988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CC4C207-91AB-90C3-A9BA-51FB7865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0211CF9-29D8-6FF6-32E6-70A5E3B32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104061"/>
            <a:ext cx="7640664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Academic References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3200" b="1" dirty="0"/>
            </a:b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2800" b="1" kern="0" dirty="0">
                <a:solidFill>
                  <a:srgbClr val="7030A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GB" b="1" dirty="0"/>
            </a:br>
            <a:br>
              <a:rPr lang="en-GB" b="1" dirty="0"/>
            </a:br>
            <a:br>
              <a:rPr lang="en-GB" sz="1200" b="1" dirty="0"/>
            </a:br>
            <a:br>
              <a:rPr lang="en-GB" sz="1200" dirty="0"/>
            </a:br>
            <a:br>
              <a:rPr lang="en-GB" sz="1600" b="0" dirty="0">
                <a:solidFill>
                  <a:schemeClr val="tx1"/>
                </a:solidFill>
                <a:latin typeface="+mj-lt"/>
              </a:rPr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</a:b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F04DC-DA86-8B89-0FBB-B21E140CD690}"/>
              </a:ext>
            </a:extLst>
          </p:cNvPr>
          <p:cNvSpPr txBox="1"/>
          <p:nvPr/>
        </p:nvSpPr>
        <p:spPr>
          <a:xfrm>
            <a:off x="224726" y="1177919"/>
            <a:ext cx="6850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hlinkClick r:id="rId3"/>
              </a:rPr>
              <a:t>MLlib Official Documentation</a:t>
            </a:r>
            <a:endParaRPr lang="en-GB" sz="2000" dirty="0"/>
          </a:p>
          <a:p>
            <a:pPr>
              <a:buNone/>
            </a:pPr>
            <a:r>
              <a:rPr lang="en-GB" sz="2000" dirty="0"/>
              <a:t>Databricks Learning Resources</a:t>
            </a:r>
          </a:p>
          <a:p>
            <a:pPr>
              <a:buNone/>
            </a:pPr>
            <a:r>
              <a:rPr lang="en-GB" sz="2000" dirty="0"/>
              <a:t>[Book] </a:t>
            </a:r>
            <a:r>
              <a:rPr lang="en-GB" sz="2000" i="1" dirty="0"/>
              <a:t>Advanced Analytics with Spark</a:t>
            </a:r>
            <a:r>
              <a:rPr lang="en-GB" sz="2000" dirty="0"/>
              <a:t> – O’Reilly</a:t>
            </a:r>
          </a:p>
          <a:p>
            <a:r>
              <a:rPr lang="en-GB" sz="2000" dirty="0" err="1"/>
              <a:t>PySpark</a:t>
            </a:r>
            <a:r>
              <a:rPr lang="en-GB" sz="2000" dirty="0"/>
              <a:t> Examples GitHub Repo</a:t>
            </a:r>
          </a:p>
          <a:p>
            <a:pPr algn="l">
              <a:buNone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37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4333</TotalTime>
  <Words>2308</Words>
  <Application>Microsoft Macintosh PowerPoint</Application>
  <PresentationFormat>On-screen Show (16:9)</PresentationFormat>
  <Paragraphs>292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IBM Plex Sans Arabic Medium</vt:lpstr>
      <vt:lpstr>Tajawal</vt:lpstr>
      <vt:lpstr>Inter</vt:lpstr>
      <vt:lpstr>Calibri</vt:lpstr>
      <vt:lpstr>IBM Plex Sans Arabic</vt:lpstr>
      <vt:lpstr>Roboto</vt:lpstr>
      <vt:lpstr>IBM Plex Sans Arabic SemiBold</vt:lpstr>
      <vt:lpstr>Segoe UI</vt:lpstr>
      <vt:lpstr>Wingdings</vt:lpstr>
      <vt:lpstr>Aptos</vt:lpstr>
      <vt:lpstr>Arial</vt:lpstr>
      <vt:lpstr>Simple Light</vt:lpstr>
      <vt:lpstr>أكـــــاديميــــة طــــويـــق</vt:lpstr>
      <vt:lpstr>  Distributed ML with Spark MLlib  </vt:lpstr>
      <vt:lpstr>PowerPoint Presentation</vt:lpstr>
      <vt:lpstr>Introduction to Distributed Machine Learning    </vt:lpstr>
      <vt:lpstr>Why Use Distributed ML?    </vt:lpstr>
      <vt:lpstr>Key Benefits of Distributed ML     </vt:lpstr>
      <vt:lpstr>How Does It Work?  </vt:lpstr>
      <vt:lpstr>Popular Tools &amp; Frameworks   </vt:lpstr>
      <vt:lpstr>Real-World Examples   </vt:lpstr>
      <vt:lpstr>Introduction to Apache Spark   </vt:lpstr>
      <vt:lpstr>Core Components of Apache Spark   </vt:lpstr>
      <vt:lpstr>Why Use Apache Spark?    </vt:lpstr>
      <vt:lpstr>Spark MLlib Overview      </vt:lpstr>
      <vt:lpstr>What Can You Do with MLlib?     </vt:lpstr>
      <vt:lpstr>Supported Languages      </vt:lpstr>
      <vt:lpstr>Key Features of MLlib      </vt:lpstr>
      <vt:lpstr>Advantages of MLlib       </vt:lpstr>
      <vt:lpstr>MLlib Architecture – A Deep Dive       </vt:lpstr>
      <vt:lpstr>Main Components of MLlib Architecture      </vt:lpstr>
      <vt:lpstr>Main Components of MLlib Architecture      </vt:lpstr>
      <vt:lpstr>Main Components of MLlib Architecture      </vt:lpstr>
      <vt:lpstr>Main Components of MLlib Architecture      </vt:lpstr>
      <vt:lpstr> MLlib Architecture      </vt:lpstr>
      <vt:lpstr>Commonly Used Algorithms in MLlib        </vt:lpstr>
      <vt:lpstr>Hands-on Example:MLlib Taxi: Scalable Trip Time Forecasting   Click here for the lab   https://drive.google.com/file/d/1nsrMt-wQYqho_nNg9pxqLz6JhMh42n0l/view?usp=share_link  </vt:lpstr>
      <vt:lpstr>Summary:         </vt:lpstr>
      <vt:lpstr>Academic References                 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35</cp:revision>
  <dcterms:modified xsi:type="dcterms:W3CDTF">2025-04-04T00:06:44Z</dcterms:modified>
</cp:coreProperties>
</file>