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IBM Plex Sans Arabic Medium"/>
      <p:regular r:id="rId37"/>
      <p:bold r:id="rId38"/>
    </p:embeddedFont>
    <p:embeddedFont>
      <p:font typeface="IBM Plex Sans Arabic"/>
      <p:regular r:id="rId39"/>
      <p:bold r:id="rId40"/>
    </p:embeddedFont>
    <p:embeddedFont>
      <p:font typeface="Proxima Nova"/>
      <p:regular r:id="rId41"/>
      <p:bold r:id="rId42"/>
      <p:italic r:id="rId43"/>
      <p:boldItalic r:id="rId44"/>
    </p:embeddedFont>
    <p:embeddedFont>
      <p:font typeface="Roboto"/>
      <p:regular r:id="rId45"/>
      <p:bold r:id="rId46"/>
      <p:italic r:id="rId47"/>
      <p:boldItalic r:id="rId48"/>
    </p:embeddedFont>
    <p:embeddedFont>
      <p:font typeface="Inter"/>
      <p:regular r:id="rId49"/>
      <p:bold r:id="rId50"/>
      <p:italic r:id="rId51"/>
      <p:boldItalic r:id="rId52"/>
    </p:embeddedFont>
    <p:embeddedFont>
      <p:font typeface="IBM Plex Sans Arabic SemiBold"/>
      <p:regular r:id="rId53"/>
      <p:bold r:id="rId54"/>
    </p:embeddedFont>
    <p:embeddedFont>
      <p:font typeface="IBM Plex Sans Medium"/>
      <p:regular r:id="rId55"/>
      <p:bold r:id="rId56"/>
      <p:italic r:id="rId57"/>
      <p:boldItalic r:id="rId58"/>
    </p:embeddedFont>
    <p:embeddedFont>
      <p:font typeface="Tajawal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r:id="rId61" roundtripDataSignature="AMtx7mi7mpLXVmB9o9rGPJoQE1KcbgXS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24" orient="horz"/>
        <p:guide pos="2560" orient="horz"/>
        <p:guide pos="2880"/>
        <p:guide pos="759" orient="horz"/>
        <p:guide pos="2428" orient="horz"/>
        <p:guide pos="5325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Arabic-bold.fntdata"/><Relationship Id="rId42" Type="http://schemas.openxmlformats.org/officeDocument/2006/relationships/font" Target="fonts/ProximaNova-bold.fntdata"/><Relationship Id="rId41" Type="http://schemas.openxmlformats.org/officeDocument/2006/relationships/font" Target="fonts/ProximaNova-regular.fntdata"/><Relationship Id="rId44" Type="http://schemas.openxmlformats.org/officeDocument/2006/relationships/font" Target="fonts/ProximaNova-boldItalic.fntdata"/><Relationship Id="rId43" Type="http://schemas.openxmlformats.org/officeDocument/2006/relationships/font" Target="fonts/ProximaNova-italic.fntdata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IBMPlexSansArabicMedium-regular.fntdata"/><Relationship Id="rId36" Type="http://schemas.openxmlformats.org/officeDocument/2006/relationships/slide" Target="slides/slide31.xml"/><Relationship Id="rId39" Type="http://schemas.openxmlformats.org/officeDocument/2006/relationships/font" Target="fonts/IBMPlexSansArabic-regular.fntdata"/><Relationship Id="rId38" Type="http://schemas.openxmlformats.org/officeDocument/2006/relationships/font" Target="fonts/IBMPlexSansArabicMedium-bold.fntdata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Tajawal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-italic.fntdata"/><Relationship Id="rId50" Type="http://schemas.openxmlformats.org/officeDocument/2006/relationships/font" Target="fonts/Inter-bold.fntdata"/><Relationship Id="rId53" Type="http://schemas.openxmlformats.org/officeDocument/2006/relationships/font" Target="fonts/IBMPlexSansArabicSemiBold-regular.fntdata"/><Relationship Id="rId52" Type="http://schemas.openxmlformats.org/officeDocument/2006/relationships/font" Target="fonts/Inter-boldItalic.fntdata"/><Relationship Id="rId11" Type="http://schemas.openxmlformats.org/officeDocument/2006/relationships/slide" Target="slides/slide6.xml"/><Relationship Id="rId55" Type="http://schemas.openxmlformats.org/officeDocument/2006/relationships/font" Target="fonts/IBMPlexSansMedium-regular.fntdata"/><Relationship Id="rId10" Type="http://schemas.openxmlformats.org/officeDocument/2006/relationships/slide" Target="slides/slide5.xml"/><Relationship Id="rId54" Type="http://schemas.openxmlformats.org/officeDocument/2006/relationships/font" Target="fonts/IBMPlexSansArabicSemiBold-bold.fntdata"/><Relationship Id="rId13" Type="http://schemas.openxmlformats.org/officeDocument/2006/relationships/slide" Target="slides/slide8.xml"/><Relationship Id="rId57" Type="http://schemas.openxmlformats.org/officeDocument/2006/relationships/font" Target="fonts/IBMPlexSansMedium-italic.fntdata"/><Relationship Id="rId12" Type="http://schemas.openxmlformats.org/officeDocument/2006/relationships/slide" Target="slides/slide7.xml"/><Relationship Id="rId56" Type="http://schemas.openxmlformats.org/officeDocument/2006/relationships/font" Target="fonts/IBMPlexSansMedium-bold.fntdata"/><Relationship Id="rId15" Type="http://schemas.openxmlformats.org/officeDocument/2006/relationships/slide" Target="slides/slide10.xml"/><Relationship Id="rId59" Type="http://schemas.openxmlformats.org/officeDocument/2006/relationships/font" Target="fonts/Tajawal-regular.fntdata"/><Relationship Id="rId14" Type="http://schemas.openxmlformats.org/officeDocument/2006/relationships/slide" Target="slides/slide9.xml"/><Relationship Id="rId58" Type="http://schemas.openxmlformats.org/officeDocument/2006/relationships/font" Target="fonts/IBMPlexSans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b="1" sz="43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/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0" name="Google Shape;20;p25"/>
          <p:cNvSpPr txBox="1"/>
          <p:nvPr>
            <p:ph idx="1" type="body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/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/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" name="Google Shape;36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" name="Google Shape;37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b="0" i="0" sz="2500" u="none" cap="none" strike="noStrik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b="0" i="0" sz="18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indent="-317500" lvl="1" marL="914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indent="-317500" lvl="2" marL="1371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indent="-317500" lvl="3" marL="1828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indent="-317500" lvl="4" marL="22860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indent="-317500" lvl="5" marL="2743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indent="-317500" lvl="6" marL="3200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indent="-317500" lvl="7" marL="3657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indent="-317500" lvl="8" marL="4114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hyperlink" Target="https://data.rapids.ai/datasets/nyc_parking/nyc_parking_violations_2022.parquet" TargetMode="External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3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3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3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3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43.png"/><Relationship Id="rId5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3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olab.research.google.com/drive/181ZkihY2teKeVrr7cASyh5h2KeWoIHr2" TargetMode="External"/><Relationship Id="rId4" Type="http://schemas.openxmlformats.org/officeDocument/2006/relationships/image" Target="../media/image49.jpg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53.png"/><Relationship Id="rId13" Type="http://schemas.openxmlformats.org/officeDocument/2006/relationships/image" Target="../media/image45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5" Type="http://schemas.openxmlformats.org/officeDocument/2006/relationships/image" Target="../media/image54.png"/><Relationship Id="rId14" Type="http://schemas.openxmlformats.org/officeDocument/2006/relationships/image" Target="../media/image48.png"/><Relationship Id="rId17" Type="http://schemas.openxmlformats.org/officeDocument/2006/relationships/image" Target="../media/image44.png"/><Relationship Id="rId16" Type="http://schemas.openxmlformats.org/officeDocument/2006/relationships/image" Target="../media/image56.png"/><Relationship Id="rId5" Type="http://schemas.openxmlformats.org/officeDocument/2006/relationships/image" Target="../media/image55.png"/><Relationship Id="rId19" Type="http://schemas.openxmlformats.org/officeDocument/2006/relationships/image" Target="../media/image52.png"/><Relationship Id="rId6" Type="http://schemas.openxmlformats.org/officeDocument/2006/relationships/image" Target="../media/image36.png"/><Relationship Id="rId18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/>
          <p:nvPr>
            <p:ph idx="4294967295" type="body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444"/>
              <a:buFont typeface="Tajawal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cuDF: GPU-accelerated Data Manipulation</a:t>
            </a:r>
            <a:br>
              <a:rPr lang="en-US" sz="4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50" name="Google Shape;5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Overview and Comparison with Pandas</a:t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524409" y="1010881"/>
            <a:ext cx="7231058" cy="4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course aims to equip learners with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GPU-accelerated data analysis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skills using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cuDF, Pandas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Students will learn how to efficiently manipulate, clean, and analyze large datasets</a:t>
            </a:r>
            <a:endParaRPr/>
          </a:p>
          <a:p>
            <a:pPr indent="0" lvl="0" marL="0" marR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Learning Outcomes:</a:t>
            </a:r>
            <a:endParaRPr b="0" i="0" sz="2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Understand GPU-accelerated computing and how cuDF differs from Pandas for big data processing.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Perform efficient data analysis using cuDF, including data cleaning, aggregation, and transformation.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>
            <p:ph type="title"/>
          </p:nvPr>
        </p:nvSpPr>
        <p:spPr>
          <a:xfrm>
            <a:off x="457200" y="445025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i="0" lang="en-US" u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Introduction to cuDF</a:t>
            </a:r>
            <a:endParaRPr b="1" i="0" u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592668" y="1197103"/>
            <a:ext cx="5853288" cy="3785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What is cuDF?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cuDF is </a:t>
            </a:r>
            <a:r>
              <a:rPr b="0" i="0" lang="en-US" sz="2000" u="none" cap="none" strike="noStrike">
                <a:solidFill>
                  <a:srgbClr val="040C28"/>
                </a:solidFill>
                <a:latin typeface="Arial"/>
                <a:ea typeface="Arial"/>
                <a:cs typeface="Arial"/>
                <a:sym typeface="Arial"/>
              </a:rPr>
              <a:t>a GPU DataFrame library for loading, joining, aggregating, filtering, and otherwise manipulating data</a:t>
            </a:r>
            <a:r>
              <a:rPr b="0" i="0" lang="en-US" sz="20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GPU-accelerated library for data manipulation.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Part of the RAPIDS ecosystem.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Why use cuDF?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Leverage GPU power for faster data processing.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Designed for large datasets.</a:t>
            </a:r>
            <a:endParaRPr/>
          </a:p>
        </p:txBody>
      </p:sp>
      <p:pic>
        <p:nvPicPr>
          <p:cNvPr descr="GPUDirect Storage and RAPIDS cuDF ..."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8890" y="3215727"/>
            <a:ext cx="2810932" cy="189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 txBox="1"/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i="0" lang="en-US" sz="3200" u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Key Features of cuDF</a:t>
            </a:r>
            <a:endParaRPr b="1" i="0" sz="3200" u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316865" y="895370"/>
            <a:ext cx="4159986" cy="3465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GPU-accelerated DataFrame operations.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Similar API to Pandas for ease of use.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Seamless integration with other RAPIDS libraries (cuML, cuGraph).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Support for CSV, Parquet, and ORC file formats.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VIDIA RAPIDS cuDF Pandas - Large Data ..." id="71" name="Google Shape;71;p5"/>
          <p:cNvPicPr preferRelativeResize="0"/>
          <p:nvPr/>
        </p:nvPicPr>
        <p:blipFill rotWithShape="1">
          <a:blip r:embed="rId4">
            <a:alphaModFix/>
          </a:blip>
          <a:srcRect b="30311" l="49382" r="0" t="0"/>
          <a:stretch/>
        </p:blipFill>
        <p:spPr>
          <a:xfrm>
            <a:off x="5834906" y="2616807"/>
            <a:ext cx="3118742" cy="240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 txBox="1"/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cuDF vs Pandas</a:t>
            </a:r>
            <a:br>
              <a:rPr b="1" i="0" lang="en-US" sz="1600" u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</a:br>
            <a:endParaRPr sz="3200"/>
          </a:p>
        </p:txBody>
      </p:sp>
      <p:sp>
        <p:nvSpPr>
          <p:cNvPr id="78" name="Google Shape;78;p6"/>
          <p:cNvSpPr txBox="1"/>
          <p:nvPr/>
        </p:nvSpPr>
        <p:spPr>
          <a:xfrm>
            <a:off x="190353" y="797442"/>
            <a:ext cx="5544403" cy="4538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Performance Comparison</a:t>
            </a: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cuDF is faster for large datasets due to GPU acceleration.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Pandas is better for small datasets (CPU overhead).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API Similarity</a:t>
            </a: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cuDF mimics Pandas API for easy adoption.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Memory Management</a:t>
            </a: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  <a:t>cuDF uses GPU memory; Pandas uses CPU memory.</a:t>
            </a:r>
            <a:endParaRPr/>
          </a:p>
          <a:p>
            <a:pPr indent="0" lvl="0" marL="4572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yellow progress bars&#10;&#10;AI-generated content may be incorrect." id="79" name="Google Shape;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669" y="3273778"/>
            <a:ext cx="3079978" cy="1792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y CuDF over Pandas? - YouTube" id="80" name="Google Shape;80;p6"/>
          <p:cNvPicPr preferRelativeResize="0"/>
          <p:nvPr/>
        </p:nvPicPr>
        <p:blipFill rotWithShape="1">
          <a:blip r:embed="rId5">
            <a:alphaModFix/>
          </a:blip>
          <a:srcRect b="31688" l="0" r="0" t="0"/>
          <a:stretch/>
        </p:blipFill>
        <p:spPr>
          <a:xfrm>
            <a:off x="5987119" y="1199492"/>
            <a:ext cx="3186462" cy="1973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 txBox="1"/>
          <p:nvPr>
            <p:ph type="title"/>
          </p:nvPr>
        </p:nvSpPr>
        <p:spPr>
          <a:xfrm>
            <a:off x="872949" y="122160"/>
            <a:ext cx="7142161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b="0" i="0" lang="en-US" sz="3200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Set Up:Running with an NVIDIA GPU</a:t>
            </a:r>
            <a:endParaRPr sz="3200">
              <a:solidFill>
                <a:srgbClr val="7030A0"/>
              </a:solidFill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190352" y="797442"/>
            <a:ext cx="8763297" cy="44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613" y="797462"/>
            <a:ext cx="5250215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 txBox="1"/>
          <p:nvPr/>
        </p:nvSpPr>
        <p:spPr>
          <a:xfrm>
            <a:off x="6637867" y="2043289"/>
            <a:ext cx="2315781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®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T4 GPU accelerates diverse cloud workloads, including high-performance computing, deep learning training and inference, machine learning, data analytics, and graphics.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 txBox="1"/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Data Analysis Using Pandas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sp>
        <p:nvSpPr>
          <p:cNvPr id="96" name="Google Shape;96;p8"/>
          <p:cNvSpPr txBox="1"/>
          <p:nvPr/>
        </p:nvSpPr>
        <p:spPr>
          <a:xfrm>
            <a:off x="0" y="871870"/>
            <a:ext cx="8953648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used: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https://data.rapids.ai/datasets/nyc_parking/nyc_parking_violations_2022.parquet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353" y="1485900"/>
            <a:ext cx="8653610" cy="261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1"/>
          <p:cNvSpPr txBox="1"/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Data Analysis Using Pandas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pic>
        <p:nvPicPr>
          <p:cNvPr id="104" name="Google Shape;1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7" y="795337"/>
            <a:ext cx="869632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2"/>
          <p:cNvSpPr txBox="1"/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Data Analysis Using Pandas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sp>
        <p:nvSpPr>
          <p:cNvPr id="111" name="Google Shape;111;p32"/>
          <p:cNvSpPr txBox="1"/>
          <p:nvPr/>
        </p:nvSpPr>
        <p:spPr>
          <a:xfrm>
            <a:off x="293511" y="1049867"/>
            <a:ext cx="8128000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find the most common parking violation per U.S. state, based on vehicle registration, we used Pandas. We analyzed a dataset with state and violation data, using GroupBy and value_counts to determine the top offense for each state.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57375"/>
            <a:ext cx="6684581" cy="251647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2"/>
          <p:cNvSpPr txBox="1"/>
          <p:nvPr/>
        </p:nvSpPr>
        <p:spPr>
          <a:xfrm>
            <a:off x="6874933" y="2278518"/>
            <a:ext cx="226906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Method chaining is used  to combine a series of operations into a single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32"/>
          <p:cNvCxnSpPr/>
          <p:nvPr/>
        </p:nvCxnSpPr>
        <p:spPr>
          <a:xfrm flipH="1" rot="10800000">
            <a:off x="1286933" y="2415800"/>
            <a:ext cx="5691300" cy="1343400"/>
          </a:xfrm>
          <a:prstGeom prst="bentConnector3">
            <a:avLst>
              <a:gd fmla="val 92248" name="adj1"/>
            </a:avLst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3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3"/>
          <p:cNvSpPr txBox="1"/>
          <p:nvPr>
            <p:ph type="title"/>
          </p:nvPr>
        </p:nvSpPr>
        <p:spPr>
          <a:xfrm>
            <a:off x="190352" y="122159"/>
            <a:ext cx="8128000" cy="7809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Most common parking violation per U.S. state, based on vehicle registration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sp>
        <p:nvSpPr>
          <p:cNvPr id="121" name="Google Shape;121;p33"/>
          <p:cNvSpPr txBox="1"/>
          <p:nvPr/>
        </p:nvSpPr>
        <p:spPr>
          <a:xfrm>
            <a:off x="293511" y="1049867"/>
            <a:ext cx="81280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074" y="1069875"/>
            <a:ext cx="5629275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4"/>
          <p:cNvSpPr txBox="1"/>
          <p:nvPr>
            <p:ph type="title"/>
          </p:nvPr>
        </p:nvSpPr>
        <p:spPr>
          <a:xfrm>
            <a:off x="190352" y="122159"/>
            <a:ext cx="8128000" cy="7809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1800"/>
              <a:t>Identifying the vehicle body types that most commonly receive parking violations is a key area of analysis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sp>
        <p:nvSpPr>
          <p:cNvPr id="129" name="Google Shape;129;p34"/>
          <p:cNvSpPr txBox="1"/>
          <p:nvPr/>
        </p:nvSpPr>
        <p:spPr>
          <a:xfrm>
            <a:off x="293511" y="1049867"/>
            <a:ext cx="81280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511" y="1647684"/>
            <a:ext cx="3624940" cy="2226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2277" y="1011316"/>
            <a:ext cx="2886075" cy="4010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34"/>
          <p:cNvCxnSpPr/>
          <p:nvPr/>
        </p:nvCxnSpPr>
        <p:spPr>
          <a:xfrm>
            <a:off x="3951111" y="2788356"/>
            <a:ext cx="1481166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33" name="Google Shape;133;p34"/>
          <p:cNvSpPr txBox="1"/>
          <p:nvPr/>
        </p:nvSpPr>
        <p:spPr>
          <a:xfrm>
            <a:off x="4202347" y="2512329"/>
            <a:ext cx="7697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5"/>
          <p:cNvSpPr txBox="1"/>
          <p:nvPr>
            <p:ph type="title"/>
          </p:nvPr>
        </p:nvSpPr>
        <p:spPr>
          <a:xfrm>
            <a:off x="190352" y="122159"/>
            <a:ext cx="8128000" cy="7809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000"/>
              <a:t>To find out the parking violation across the day of the week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sp>
        <p:nvSpPr>
          <p:cNvPr id="140" name="Google Shape;140;p35"/>
          <p:cNvSpPr txBox="1"/>
          <p:nvPr/>
        </p:nvSpPr>
        <p:spPr>
          <a:xfrm>
            <a:off x="327378" y="1003513"/>
            <a:ext cx="81280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58" y="643467"/>
            <a:ext cx="5619750" cy="329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5"/>
          <p:cNvSpPr txBox="1"/>
          <p:nvPr/>
        </p:nvSpPr>
        <p:spPr>
          <a:xfrm>
            <a:off x="5894638" y="1264356"/>
            <a:ext cx="305901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dictionary is created to map numerical weekday values (0-6) to their corresponding names.</a:t>
            </a:r>
            <a:endParaRPr/>
          </a:p>
        </p:txBody>
      </p:sp>
      <p:sp>
        <p:nvSpPr>
          <p:cNvPr id="143" name="Google Shape;143;p35"/>
          <p:cNvSpPr txBox="1"/>
          <p:nvPr/>
        </p:nvSpPr>
        <p:spPr>
          <a:xfrm>
            <a:off x="5947128" y="2003020"/>
            <a:ext cx="319687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"Issue Date" column is converted to a datetime format (datetime64[ms]), enabling date-based operations.</a:t>
            </a:r>
            <a:endParaRPr/>
          </a:p>
        </p:txBody>
      </p:sp>
      <p:sp>
        <p:nvSpPr>
          <p:cNvPr id="144" name="Google Shape;144;p35"/>
          <p:cNvSpPr txBox="1"/>
          <p:nvPr/>
        </p:nvSpPr>
        <p:spPr>
          <a:xfrm>
            <a:off x="5722408" y="2987323"/>
            <a:ext cx="331893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.dt.weekday extracts the day of the week as an integer (0-6).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.map(weekday_names) converts this integer into the corresponding weekday name (e.g., 0 -&gt; "Monday").</a:t>
            </a:r>
            <a:endParaRPr/>
          </a:p>
        </p:txBody>
      </p:sp>
      <p:sp>
        <p:nvSpPr>
          <p:cNvPr id="145" name="Google Shape;145;p35"/>
          <p:cNvSpPr txBox="1"/>
          <p:nvPr/>
        </p:nvSpPr>
        <p:spPr>
          <a:xfrm>
            <a:off x="102658" y="3879614"/>
            <a:ext cx="5160581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 is grouped by "issue_weekday" (day of the week).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number of violations ("Summons Number") is counted for each weekday.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.sort_values() sorts the results in ascending order to show which day had the fewest to the most violations.</a:t>
            </a:r>
            <a:endParaRPr/>
          </a:p>
        </p:txBody>
      </p:sp>
      <p:cxnSp>
        <p:nvCxnSpPr>
          <p:cNvPr id="146" name="Google Shape;146;p35"/>
          <p:cNvCxnSpPr/>
          <p:nvPr/>
        </p:nvCxnSpPr>
        <p:spPr>
          <a:xfrm flipH="1" rot="10800000">
            <a:off x="1727200" y="1512711"/>
            <a:ext cx="4167438" cy="216012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47" name="Google Shape;147;p35"/>
          <p:cNvCxnSpPr/>
          <p:nvPr/>
        </p:nvCxnSpPr>
        <p:spPr>
          <a:xfrm flipH="1" rot="10800000">
            <a:off x="4683051" y="2237921"/>
            <a:ext cx="1264077" cy="749701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48" name="Google Shape;148;p35"/>
          <p:cNvCxnSpPr/>
          <p:nvPr/>
        </p:nvCxnSpPr>
        <p:spPr>
          <a:xfrm flipH="1" rot="10800000">
            <a:off x="5254309" y="3247315"/>
            <a:ext cx="559469" cy="16732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149" name="Google Shape;149;p35"/>
          <p:cNvCxnSpPr/>
          <p:nvPr/>
        </p:nvCxnSpPr>
        <p:spPr>
          <a:xfrm flipH="1">
            <a:off x="327378" y="3725563"/>
            <a:ext cx="271851" cy="183923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OUTPUT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pic>
        <p:nvPicPr>
          <p:cNvPr id="156" name="Google Shape;1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056" y="1303131"/>
            <a:ext cx="5091289" cy="36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5994400" y="1986844"/>
            <a:ext cx="249484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noticeable decrease in parking violations occurs during weekends, likely due to reduced weekday traffic in New York City.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9"/>
          <p:cNvCxnSpPr/>
          <p:nvPr/>
        </p:nvCxnSpPr>
        <p:spPr>
          <a:xfrm flipH="1" rot="10800000">
            <a:off x="4666396" y="2190044"/>
            <a:ext cx="1328004" cy="144413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p9"/>
          <p:cNvSpPr/>
          <p:nvPr/>
        </p:nvSpPr>
        <p:spPr>
          <a:xfrm>
            <a:off x="4267200" y="2088444"/>
            <a:ext cx="304800" cy="48330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2862052" y="278511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 txBox="1"/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Starting with  cuDF.Pandas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sp>
        <p:nvSpPr>
          <p:cNvPr id="166" name="Google Shape;166;p10"/>
          <p:cNvSpPr txBox="1"/>
          <p:nvPr/>
        </p:nvSpPr>
        <p:spPr>
          <a:xfrm>
            <a:off x="6695870" y="1340643"/>
            <a:ext cx="2257778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demonstrate the performance benefits of cudf.pandas, we will re-execute the previously used Pandas code.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accurately simulate a typical workflow, where cudf.pandas is loaded at the beginning, we have restarted the kernel prior to this execution.</a:t>
            </a:r>
            <a:endParaRPr/>
          </a:p>
        </p:txBody>
      </p:sp>
      <p:pic>
        <p:nvPicPr>
          <p:cNvPr id="167" name="Google Shape;16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23" y="814870"/>
            <a:ext cx="6344355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2862052" y="278511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6"/>
          <p:cNvSpPr txBox="1"/>
          <p:nvPr>
            <p:ph type="title"/>
          </p:nvPr>
        </p:nvSpPr>
        <p:spPr>
          <a:xfrm>
            <a:off x="2581770" y="122160"/>
            <a:ext cx="527569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Pandas Vs  cuDF.Pandas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pic>
        <p:nvPicPr>
          <p:cNvPr id="174" name="Google Shape;174;p36"/>
          <p:cNvPicPr preferRelativeResize="0"/>
          <p:nvPr/>
        </p:nvPicPr>
        <p:blipFill rotWithShape="1">
          <a:blip r:embed="rId4">
            <a:alphaModFix/>
          </a:blip>
          <a:srcRect b="0" l="1" r="40711" t="0"/>
          <a:stretch/>
        </p:blipFill>
        <p:spPr>
          <a:xfrm>
            <a:off x="52741" y="773039"/>
            <a:ext cx="4238976" cy="3221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956" y="920513"/>
            <a:ext cx="4730044" cy="322179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6"/>
          <p:cNvSpPr txBox="1"/>
          <p:nvPr/>
        </p:nvSpPr>
        <p:spPr>
          <a:xfrm>
            <a:off x="451556" y="4289778"/>
            <a:ext cx="80941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clear that Pandas has taken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7.01 seconds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same task while cuDF Pandas has taken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1.3 seconds  </a:t>
            </a:r>
            <a:endParaRPr/>
          </a:p>
        </p:txBody>
      </p:sp>
      <p:cxnSp>
        <p:nvCxnSpPr>
          <p:cNvPr id="177" name="Google Shape;177;p36"/>
          <p:cNvCxnSpPr/>
          <p:nvPr/>
        </p:nvCxnSpPr>
        <p:spPr>
          <a:xfrm>
            <a:off x="2427114" y="3854453"/>
            <a:ext cx="130950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36"/>
          <p:cNvCxnSpPr/>
          <p:nvPr/>
        </p:nvCxnSpPr>
        <p:spPr>
          <a:xfrm>
            <a:off x="7095066" y="3994830"/>
            <a:ext cx="1309512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2862052" y="278511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7"/>
          <p:cNvSpPr txBox="1"/>
          <p:nvPr>
            <p:ph type="title"/>
          </p:nvPr>
        </p:nvSpPr>
        <p:spPr>
          <a:xfrm>
            <a:off x="2581770" y="122160"/>
            <a:ext cx="527569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Pandas Vs  cuDF.Pandas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sp>
        <p:nvSpPr>
          <p:cNvPr id="185" name="Google Shape;185;p37"/>
          <p:cNvSpPr txBox="1"/>
          <p:nvPr/>
        </p:nvSpPr>
        <p:spPr>
          <a:xfrm>
            <a:off x="451556" y="4289778"/>
            <a:ext cx="80941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clear that Pandas has taken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884 milli-seconds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same task while cuDF Pandas has taken only 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27.2milli-seconds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" y="1001195"/>
            <a:ext cx="4363156" cy="281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956" y="1038684"/>
            <a:ext cx="4737277" cy="2776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37"/>
          <p:cNvCxnSpPr/>
          <p:nvPr/>
        </p:nvCxnSpPr>
        <p:spPr>
          <a:xfrm>
            <a:off x="7699022" y="3454401"/>
            <a:ext cx="1309512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37"/>
          <p:cNvCxnSpPr/>
          <p:nvPr/>
        </p:nvCxnSpPr>
        <p:spPr>
          <a:xfrm>
            <a:off x="2862052" y="3571221"/>
            <a:ext cx="1309512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8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2862052" y="278511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8"/>
          <p:cNvSpPr txBox="1"/>
          <p:nvPr>
            <p:ph type="title"/>
          </p:nvPr>
        </p:nvSpPr>
        <p:spPr>
          <a:xfrm>
            <a:off x="2581770" y="122160"/>
            <a:ext cx="5275690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Pandas Vs  cuDF.Pandas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3200"/>
          </a:p>
        </p:txBody>
      </p:sp>
      <p:sp>
        <p:nvSpPr>
          <p:cNvPr id="196" name="Google Shape;196;p38"/>
          <p:cNvSpPr txBox="1"/>
          <p:nvPr/>
        </p:nvSpPr>
        <p:spPr>
          <a:xfrm>
            <a:off x="451556" y="4289778"/>
            <a:ext cx="80941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clear that Pandas has taken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8.51 seconds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same task while cuDF Pandas has taken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297 milli-seconds  </a:t>
            </a:r>
            <a:endParaRPr/>
          </a:p>
        </p:txBody>
      </p:sp>
      <p:pic>
        <p:nvPicPr>
          <p:cNvPr id="197" name="Google Shape;19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73039"/>
            <a:ext cx="4456816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773039"/>
            <a:ext cx="4347634" cy="3343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38"/>
          <p:cNvCxnSpPr/>
          <p:nvPr/>
        </p:nvCxnSpPr>
        <p:spPr>
          <a:xfrm>
            <a:off x="6961538" y="3853443"/>
            <a:ext cx="895922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38"/>
          <p:cNvCxnSpPr/>
          <p:nvPr/>
        </p:nvCxnSpPr>
        <p:spPr>
          <a:xfrm>
            <a:off x="2581770" y="3983265"/>
            <a:ext cx="714586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9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9"/>
          <p:cNvSpPr txBox="1"/>
          <p:nvPr>
            <p:ph type="title"/>
          </p:nvPr>
        </p:nvSpPr>
        <p:spPr>
          <a:xfrm>
            <a:off x="190351" y="122160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Analyze Violations by Day of the Week and Vehicle Type</a:t>
            </a:r>
            <a:br>
              <a:rPr b="0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200"/>
          </a:p>
        </p:txBody>
      </p:sp>
      <p:pic>
        <p:nvPicPr>
          <p:cNvPr id="207" name="Google Shape;20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7337" y="1881490"/>
            <a:ext cx="3048000" cy="221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 txBox="1"/>
          <p:nvPr>
            <p:ph type="title"/>
          </p:nvPr>
        </p:nvSpPr>
        <p:spPr>
          <a:xfrm>
            <a:off x="190351" y="122160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Time- Solution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Analyze Violations by Day of the Week and Vehicle Type</a:t>
            </a:r>
            <a:br>
              <a:rPr b="0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200"/>
          </a:p>
        </p:txBody>
      </p:sp>
      <p:pic>
        <p:nvPicPr>
          <p:cNvPr id="214" name="Google Shape;2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02984"/>
            <a:ext cx="4829175" cy="2749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2925" y="1147812"/>
            <a:ext cx="3390900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0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0"/>
          <p:cNvSpPr txBox="1"/>
          <p:nvPr>
            <p:ph type="title"/>
          </p:nvPr>
        </p:nvSpPr>
        <p:spPr>
          <a:xfrm>
            <a:off x="190351" y="122160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2. Find the Top 5 Most Common Parking Violations</a:t>
            </a:r>
            <a:b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2" name="Google Shape;22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7337" y="1881490"/>
            <a:ext cx="3048000" cy="221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1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1"/>
          <p:cNvSpPr txBox="1"/>
          <p:nvPr>
            <p:ph type="title"/>
          </p:nvPr>
        </p:nvSpPr>
        <p:spPr>
          <a:xfrm>
            <a:off x="190352" y="-13307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Time- Solution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2. Find the Top 5 Most Common Parking Violations</a:t>
            </a:r>
            <a:br>
              <a:rPr b="0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200"/>
          </a:p>
        </p:txBody>
      </p:sp>
      <p:pic>
        <p:nvPicPr>
          <p:cNvPr id="229" name="Google Shape;22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3434" y="794588"/>
            <a:ext cx="5729288" cy="434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2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2767337" y="369424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2"/>
          <p:cNvSpPr txBox="1"/>
          <p:nvPr>
            <p:ph type="title"/>
          </p:nvPr>
        </p:nvSpPr>
        <p:spPr>
          <a:xfrm>
            <a:off x="190351" y="122160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3. Identify States with the Highest Number of Violations</a:t>
            </a:r>
            <a:b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0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6" name="Google Shape;23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7337" y="1881490"/>
            <a:ext cx="3048000" cy="221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3"/>
          <p:cNvSpPr txBox="1"/>
          <p:nvPr>
            <p:ph type="title"/>
          </p:nvPr>
        </p:nvSpPr>
        <p:spPr>
          <a:xfrm>
            <a:off x="190351" y="122160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br>
              <a:rPr b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4. Find the Monthly Trend of Parking Violations</a:t>
            </a:r>
            <a:br>
              <a:rPr b="0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200"/>
          </a:p>
        </p:txBody>
      </p:sp>
      <p:pic>
        <p:nvPicPr>
          <p:cNvPr id="243" name="Google Shape;24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7337" y="1881490"/>
            <a:ext cx="3048000" cy="221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4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4"/>
          <p:cNvSpPr txBox="1"/>
          <p:nvPr>
            <p:ph type="title"/>
          </p:nvPr>
        </p:nvSpPr>
        <p:spPr>
          <a:xfrm>
            <a:off x="190352" y="-13307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Time- Solution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4. Find the Monthly Trend of Parking Violations</a:t>
            </a:r>
            <a:br>
              <a:rPr b="0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200"/>
          </a:p>
        </p:txBody>
      </p:sp>
      <p:pic>
        <p:nvPicPr>
          <p:cNvPr id="250" name="Google Shape;25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91142"/>
            <a:ext cx="42957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8227" y="822225"/>
            <a:ext cx="3317578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5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5"/>
          <p:cNvSpPr txBox="1"/>
          <p:nvPr>
            <p:ph type="title"/>
          </p:nvPr>
        </p:nvSpPr>
        <p:spPr>
          <a:xfrm>
            <a:off x="190351" y="122160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5.Find the </a:t>
            </a:r>
            <a:r>
              <a:rPr b="1" i="0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Common Violation for Each Vehicle Type</a:t>
            </a:r>
            <a:br>
              <a:rPr b="0" i="0" lang="en-US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200"/>
          </a:p>
        </p:txBody>
      </p:sp>
      <p:pic>
        <p:nvPicPr>
          <p:cNvPr id="258" name="Google Shape;25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7337" y="1881490"/>
            <a:ext cx="3048000" cy="221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6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6"/>
          <p:cNvSpPr txBox="1"/>
          <p:nvPr>
            <p:ph type="title"/>
          </p:nvPr>
        </p:nvSpPr>
        <p:spPr>
          <a:xfrm>
            <a:off x="190352" y="-13307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Quiz Time- Solution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5.Find the </a:t>
            </a:r>
            <a:r>
              <a:rPr b="1" i="0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Common Violation for Each Vehicle Type</a:t>
            </a:r>
            <a:br>
              <a:rPr b="0" i="0" lang="en-US" sz="20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200"/>
          </a:p>
        </p:txBody>
      </p:sp>
      <p:pic>
        <p:nvPicPr>
          <p:cNvPr id="265" name="Google Shape;26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53" y="831469"/>
            <a:ext cx="4162425" cy="367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8079" y="943842"/>
            <a:ext cx="4965922" cy="4021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7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7"/>
          <p:cNvSpPr txBox="1"/>
          <p:nvPr>
            <p:ph type="title"/>
          </p:nvPr>
        </p:nvSpPr>
        <p:spPr>
          <a:xfrm>
            <a:off x="190352" y="-13307"/>
            <a:ext cx="7975453" cy="4945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RECAP</a:t>
            </a:r>
            <a:br>
              <a:rPr b="1" lang="en-US" sz="2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3200"/>
          </a:p>
        </p:txBody>
      </p:sp>
      <p:sp>
        <p:nvSpPr>
          <p:cNvPr id="273" name="Google Shape;273;p47"/>
          <p:cNvSpPr txBox="1"/>
          <p:nvPr/>
        </p:nvSpPr>
        <p:spPr>
          <a:xfrm>
            <a:off x="869244" y="914400"/>
            <a:ext cx="663786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GPU-Accelerated DataFrames – cuDF is a Pandas-like DataFrame library that runs on NVIDIA GPUs, enabling high-speed data processing.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Pandas-Compatible API – cuDF supports most Pandas functions (read_parquet(), groupby(), merge(), etc.), making it easy to transition from CPU-based Pandas workflows.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Efficient Large-Scale Data Processing – cuDF is optimized for millions to billions of rows, outperforming Pandas in data manipulation, filtering, and aggregation.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Use Cases for cuDF – Ideal for big data processing, ETL (Extract, Transform, Load) tasks, and data preparation before feeding into deep learning models.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/>
          <p:nvPr>
            <p:ph type="title"/>
          </p:nvPr>
        </p:nvSpPr>
        <p:spPr>
          <a:xfrm>
            <a:off x="2385150" y="435437"/>
            <a:ext cx="4810448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/>
              <a:t>Practical Implementation</a:t>
            </a:r>
            <a:endParaRPr/>
          </a:p>
        </p:txBody>
      </p:sp>
      <p:sp>
        <p:nvSpPr>
          <p:cNvPr id="279" name="Google Shape;279;p19"/>
          <p:cNvSpPr txBox="1"/>
          <p:nvPr>
            <p:ph idx="1" type="body"/>
          </p:nvPr>
        </p:nvSpPr>
        <p:spPr>
          <a:xfrm>
            <a:off x="3035096" y="1198743"/>
            <a:ext cx="3748476" cy="541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Go To Google Colab</a:t>
            </a:r>
            <a:endParaRPr/>
          </a:p>
        </p:txBody>
      </p:sp>
      <p:pic>
        <p:nvPicPr>
          <p:cNvPr id="280" name="Google Shape;2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1085" y="1875776"/>
            <a:ext cx="30480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0"/>
          <p:cNvPicPr preferRelativeResize="0"/>
          <p:nvPr/>
        </p:nvPicPr>
        <p:blipFill rotWithShape="1">
          <a:blip r:embed="rId3">
            <a:alphaModFix/>
          </a:blip>
          <a:srcRect b="0" l="8508" r="0" t="0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0"/>
          <p:cNvPicPr preferRelativeResize="0"/>
          <p:nvPr/>
        </p:nvPicPr>
        <p:blipFill rotWithShape="1">
          <a:blip r:embed="rId6">
            <a:alphaModFix/>
          </a:blip>
          <a:srcRect b="22522" l="11047" r="11047" t="22524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0"/>
          <p:cNvPicPr preferRelativeResize="0"/>
          <p:nvPr/>
        </p:nvPicPr>
        <p:blipFill rotWithShape="1">
          <a:blip r:embed="rId8">
            <a:alphaModFix/>
          </a:blip>
          <a:srcRect b="19777" l="2114" r="0" t="19775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low confidence" id="292" name="Google Shape;29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black sign&#10;&#10;Description automatically generated with low confidence" id="293" name="Google Shape;29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clipart, vector graphics&#10;&#10;Description automatically generated" id="294" name="Google Shape;29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/>
          <p:cNvPicPr preferRelativeResize="0"/>
          <p:nvPr/>
        </p:nvPicPr>
        <p:blipFill rotWithShape="1">
          <a:blip r:embed="rId13">
            <a:alphaModFix/>
          </a:blip>
          <a:srcRect b="18915" l="0" r="0" t="0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/>
          <p:cNvPicPr preferRelativeResize="0"/>
          <p:nvPr/>
        </p:nvPicPr>
        <p:blipFill rotWithShape="1">
          <a:blip r:embed="rId14">
            <a:alphaModFix/>
          </a:blip>
          <a:srcRect b="12261" l="12270" r="12261" t="12270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0"/>
          <p:cNvPicPr preferRelativeResize="0"/>
          <p:nvPr/>
        </p:nvPicPr>
        <p:blipFill rotWithShape="1">
          <a:blip r:embed="rId16">
            <a:alphaModFix/>
          </a:blip>
          <a:srcRect b="18903" l="0" r="0" t="18905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0"/>
          <p:cNvPicPr preferRelativeResize="0"/>
          <p:nvPr/>
        </p:nvPicPr>
        <p:blipFill rotWithShape="1">
          <a:blip r:embed="rId17">
            <a:alphaModFix/>
          </a:blip>
          <a:srcRect b="28892" l="2114" r="0" t="28897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 txBox="1"/>
          <p:nvPr>
            <p:ph idx="4294967295" type="title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/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b="1" lang="en-US" sz="400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b="1" sz="400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308" name="Google Shape;308;p21"/>
          <p:cNvSpPr txBox="1"/>
          <p:nvPr>
            <p:ph idx="4294967295" type="ctrTitle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b="1" i="0" sz="2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</cp:coreProperties>
</file>