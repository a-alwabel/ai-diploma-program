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314" r:id="rId6"/>
    <p:sldId id="299" r:id="rId7"/>
    <p:sldId id="315" r:id="rId8"/>
    <p:sldId id="298" r:id="rId9"/>
    <p:sldId id="316" r:id="rId10"/>
    <p:sldId id="317" r:id="rId11"/>
    <p:sldId id="300" r:id="rId12"/>
    <p:sldId id="318" r:id="rId13"/>
    <p:sldId id="319" r:id="rId14"/>
    <p:sldId id="277" r:id="rId15"/>
    <p:sldId id="320" r:id="rId16"/>
    <p:sldId id="321" r:id="rId17"/>
    <p:sldId id="322" r:id="rId18"/>
    <p:sldId id="323" r:id="rId19"/>
    <p:sldId id="324" r:id="rId20"/>
    <p:sldId id="325" r:id="rId21"/>
    <p:sldId id="262" r:id="rId22"/>
    <p:sldId id="274" r:id="rId23"/>
    <p:sldId id="275" r:id="rId24"/>
    <p:sldId id="276" r:id="rId25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27"/>
      <p:bold r:id="rId28"/>
    </p:embeddedFont>
    <p:embeddedFont>
      <p:font typeface="IBM Plex Sans Arabic Medium" panose="020B0603050203000203" pitchFamily="34" charset="-78"/>
      <p:regular r:id="rId29"/>
      <p:bold r:id="rId30"/>
    </p:embeddedFont>
    <p:embeddedFont>
      <p:font typeface="IBM Plex Sans Arabic SemiBold" panose="020B0603050203000203" pitchFamily="34" charset="-78"/>
      <p:regular r:id="rId31"/>
      <p:bold r:id="rId32"/>
    </p:embeddedFont>
    <p:embeddedFont>
      <p:font typeface="Tajawal" pitchFamily="2" charset="-78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3"/>
    <p:restoredTop sz="94650"/>
  </p:normalViewPr>
  <p:slideViewPr>
    <p:cSldViewPr snapToGrid="0">
      <p:cViewPr varScale="1">
        <p:scale>
          <a:sx n="205" d="100"/>
          <a:sy n="205" d="100"/>
        </p:scale>
        <p:origin x="208" y="264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2B6FD84-4FAE-DC40-4121-1E57D698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2188935-740B-6632-EB61-175EBAA1F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EE2DE00-FA4D-CEC3-5D4F-127A1A5DC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0787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637B0AB-FAC1-CE4B-2AB0-673A7F6A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039BCFC-841E-5BEF-AE97-5475A7EEB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3E761D2-81B2-7BBF-F25E-6A4D2E207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5523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3A09396-1B04-CBA3-353D-A5D536343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72245D9-4112-61CE-F18A-B073ED665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D15C7F1-7E4F-EAA7-76D8-2A88E28EB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3034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DB35AF8-8956-81E8-94B6-6AC29C9F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0ED14FC-9A2C-2AB7-D39E-4065650E7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56AFF83-9201-ADBC-15A3-3B2FB746A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370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ABF60A8-B418-8A5B-F5BD-89102082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79F935D-A890-5CC5-16DB-90141F211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12DCC70-6E48-6EE9-BBB9-3CDCFD75C2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4051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F56C232-F3C5-46D8-1DB2-427F5526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E5E4004-9BA6-8808-E735-E129AF196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60EF8CB-9C78-4C3A-973C-90AA1F781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974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5725877-9123-42B9-8C42-96BA0A78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FB89C96-F9E2-A5C5-00DF-6BE03BFF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FF211A3-C27E-4497-6D11-B9D62F29FF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6330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3A811B1-5A1A-A244-54E0-DB470F0C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3C3DAC9-FCD1-8E30-61BB-0C08F8FC0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82F2AD2-8A68-77FD-151E-35D850F68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9395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9236E9F-E7E6-2DA9-4955-1584E698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24DF763-0B0B-4699-2458-5381534A6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53B3358-6C1A-1595-0FC7-E1CBCA6BF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009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1AD9250-5886-DD78-0A4D-058B017C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7D27D27-4545-5FFB-CF85-99C5F401B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0680113-8711-039C-65A5-F03BF541D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588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A3B1AAD-D78D-CF90-6085-25472E71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81FCFA3-8A9D-8943-64B2-2FFF7BA7A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2A5C768-569F-BC0F-7FA8-B43355E5A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77820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A261CD1-59A2-B2EE-89E8-1B6E7D4C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EBA69B9-3220-60E5-B5F1-2947F71E5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0829ABA-7993-55E8-38CF-B85D8FB70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4865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71F7BF3-DB91-6238-7D8E-C9853EE5A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CC7289D-BA5E-3D38-1F2A-FB5E99042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65BCFEB-740C-3C05-5D8B-F8A4169ED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7952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D250AD2-C595-7E30-16F5-6FFFA8AD4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FA49362-79CE-0D90-34DA-7805E3C637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BDE557A-B7DC-97DB-4251-A5CC690E1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0163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0445FED-1547-6CE8-09D8-156EA257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9B70BB5-B5CB-5E92-4D3E-B863EDF2B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A5A0BA4-289E-CAB6-D415-0E02B7737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4797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DE66CD3-3724-EFC3-D948-FB5AB8B7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64CCBE5E-400E-B44A-B5A8-32E449048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9C976CE-0265-66D3-0EA6-106F3885CF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52735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lambda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earn.microsoft.com/en-us/azure/logic-apps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Automated Workflows in the Cloud</a:t>
            </a: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</a:pP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dirty="0"/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effectLst/>
              </a:rPr>
              <a:t>Define cloud automation and its key components.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effectLst/>
              </a:rPr>
              <a:t>Design workflows using serverless architectures (e.g., AWS Step Functions, Azure Logic Apps).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effectLst/>
              </a:rPr>
              <a:t>Implement CI/CD pipelines for ML models in the cloud.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effectLst/>
              </a:rPr>
              <a:t>Automate data processing with cloud-native tools (e.g., Airflow, Lambda).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effectLst/>
              </a:rPr>
              <a:t>Evaluate cost/performance </a:t>
            </a:r>
            <a:r>
              <a:rPr lang="en-GB" sz="2000" dirty="0" err="1">
                <a:effectLst/>
              </a:rPr>
              <a:t>tradeoffs</a:t>
            </a:r>
            <a:r>
              <a:rPr lang="en-GB" sz="2000" dirty="0">
                <a:effectLst/>
              </a:rPr>
              <a:t> in workflow automation.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Introduction to Automation in the Cloud</a:t>
            </a: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6A7B2FB-F1D0-B703-37E3-F7BCF1634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339E2-582F-95EA-2F60-4D6D9E923ECD}"/>
              </a:ext>
            </a:extLst>
          </p:cNvPr>
          <p:cNvSpPr txBox="1"/>
          <p:nvPr/>
        </p:nvSpPr>
        <p:spPr>
          <a:xfrm>
            <a:off x="119270" y="688659"/>
            <a:ext cx="845223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What are Automated Workflows?</a:t>
            </a:r>
            <a:endParaRPr lang="en-GB" sz="16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Automated workflows are sequences of tasks and processes that are triggered and executed automatically using predefined rules or events in cloud environments.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They eliminate the need for manual intervention and enhance efficiency, scalability, and reliability.</a:t>
            </a:r>
          </a:p>
          <a:p>
            <a:pPr>
              <a:buNone/>
            </a:pPr>
            <a:r>
              <a:rPr lang="en-GB" sz="1600" dirty="0"/>
              <a:t>Cloud Automation refers to the use of technology (scripts, tools, or services) to perform tasks in cloud environments automatically, with minimal or no human involvement.</a:t>
            </a:r>
          </a:p>
          <a:p>
            <a:pPr>
              <a:buNone/>
            </a:pPr>
            <a:r>
              <a:rPr lang="en-GB" sz="1600" b="1" dirty="0"/>
              <a:t>Purpose of Cloud Automation: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Reduce Human Error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Automated systems follow exact instructions every time eliminating mistakes that can happen with manual tasks.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Save Time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Tasks like server setup, deployments, or monitoring can be completed in seconds or scheduled regularly.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Improve Scalability &amp; Response Time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Automatically adjust resources (like adding more servers) based on demand, ensuring smooth performance.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1600" dirty="0"/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FE56E61-2DE5-57A3-B6F4-27AAE270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57EBCAD-C9B2-2980-8DC6-470FBCC176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Common Examples:</a:t>
            </a:r>
            <a:b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B1271CA9-1168-422C-0F1A-E79BBC1174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7386E-5B2B-101F-60AF-B329DFCAD873}"/>
              </a:ext>
            </a:extLst>
          </p:cNvPr>
          <p:cNvSpPr txBox="1"/>
          <p:nvPr/>
        </p:nvSpPr>
        <p:spPr>
          <a:xfrm>
            <a:off x="119270" y="688659"/>
            <a:ext cx="84522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endParaRPr lang="en-GB" sz="1600" dirty="0"/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C2DFAF-B1B0-DAC9-D1F9-576E8BE4E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34609"/>
              </p:ext>
            </p:extLst>
          </p:nvPr>
        </p:nvGraphicFramePr>
        <p:xfrm>
          <a:off x="311150" y="883702"/>
          <a:ext cx="8521700" cy="25603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624746">
                  <a:extLst>
                    <a:ext uri="{9D8B030D-6E8A-4147-A177-3AD203B41FA5}">
                      <a16:colId xmlns:a16="http://schemas.microsoft.com/office/drawing/2014/main" val="1143977687"/>
                    </a:ext>
                  </a:extLst>
                </a:gridCol>
                <a:gridCol w="4896954">
                  <a:extLst>
                    <a:ext uri="{9D8B030D-6E8A-4147-A177-3AD203B41FA5}">
                      <a16:colId xmlns:a16="http://schemas.microsoft.com/office/drawing/2014/main" val="1161734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Automation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378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Auto-Scaling Infrastructure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Cloud platforms automatically add or remove computing resources (e.g., VMs or containers) based on load.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197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Scheduled Backups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Backups of data are taken at set intervals without manual effort, ensuring data safety.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986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Deployment Notifications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When code is deployed or updated, automated messages (via email, Slack, etc.) notify teams immediately.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288196"/>
                  </a:ext>
                </a:extLst>
              </a:tr>
            </a:tbl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A180683F-FEB3-97BE-F9A9-C34355ED8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70" y="3870066"/>
            <a:ext cx="887133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like AWS CloudFormation, Terraform, Ansible,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CI/CD pipelines (Jenkins, GitHub Actions) play key roles in automating cloud environments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191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FF1D527-E7E5-7C53-3FC0-24DDBCB63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24D78D8-5DF9-CAB8-2CFB-4D9A1E20E9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Key Components of Cloud Automation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D700557-7691-B18E-9CD8-1891445195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86660-D31A-98AA-3093-81532570CEFD}"/>
              </a:ext>
            </a:extLst>
          </p:cNvPr>
          <p:cNvSpPr txBox="1"/>
          <p:nvPr/>
        </p:nvSpPr>
        <p:spPr>
          <a:xfrm>
            <a:off x="407175" y="917193"/>
            <a:ext cx="77127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These components work together to automate tasks in a cloud environment  like an intelligent to-do list that runs itself based on events and conditions.</a:t>
            </a:r>
          </a:p>
          <a:p>
            <a:pPr>
              <a:buNone/>
            </a:pPr>
            <a:endParaRPr lang="en-GB" sz="1600" dirty="0"/>
          </a:p>
          <a:p>
            <a:r>
              <a:rPr lang="en-GB" sz="1600" b="1" dirty="0"/>
              <a:t>1. Triggers: </a:t>
            </a:r>
            <a:r>
              <a:rPr lang="en-GB" sz="1600" dirty="0"/>
              <a:t>Events that </a:t>
            </a:r>
            <a:r>
              <a:rPr lang="en-GB" sz="1600" b="1" dirty="0"/>
              <a:t>start</a:t>
            </a:r>
            <a:r>
              <a:rPr lang="en-GB" sz="1600" dirty="0"/>
              <a:t> an automated workflow.</a:t>
            </a:r>
          </a:p>
          <a:p>
            <a:r>
              <a:rPr lang="en-GB" sz="1600" b="1" dirty="0"/>
              <a:t>Example: </a:t>
            </a:r>
            <a:r>
              <a:rPr lang="en-GB" sz="1600" dirty="0"/>
              <a:t>A new file uploaded to cloud storage (like Google Drive or AWS S3) could trigger a workflow to process it.</a:t>
            </a:r>
          </a:p>
          <a:p>
            <a:endParaRPr lang="en-GB" sz="1600" dirty="0"/>
          </a:p>
          <a:p>
            <a:pPr>
              <a:buNone/>
            </a:pPr>
            <a:r>
              <a:rPr lang="en-GB" sz="1600" b="1" dirty="0"/>
              <a:t>2. Actions: </a:t>
            </a:r>
            <a:r>
              <a:rPr lang="en-GB" sz="1600" dirty="0"/>
              <a:t>The specific </a:t>
            </a:r>
            <a:r>
              <a:rPr lang="en-GB" sz="1600" b="1" dirty="0"/>
              <a:t>tasks</a:t>
            </a:r>
            <a:r>
              <a:rPr lang="en-GB" sz="1600" dirty="0"/>
              <a:t> performed automatically when a trigger occurs.</a:t>
            </a:r>
          </a:p>
          <a:p>
            <a:r>
              <a:rPr lang="en-GB" sz="1600" b="1" dirty="0"/>
              <a:t>Example: </a:t>
            </a:r>
            <a:r>
              <a:rPr lang="en-GB" sz="1600" dirty="0"/>
              <a:t>After a file is uploaded, an email is sent or a backup is created.</a:t>
            </a:r>
          </a:p>
          <a:p>
            <a:endParaRPr lang="en-GB" sz="1600" dirty="0"/>
          </a:p>
          <a:p>
            <a:pPr>
              <a:buNone/>
            </a:pPr>
            <a:r>
              <a:rPr lang="en-GB" sz="1600" b="1" dirty="0"/>
              <a:t>3. Conditions: </a:t>
            </a:r>
            <a:r>
              <a:rPr lang="en-GB" sz="1600" dirty="0"/>
              <a:t>Logic or </a:t>
            </a:r>
            <a:r>
              <a:rPr lang="en-GB" sz="1600" b="1" dirty="0"/>
              <a:t>rules</a:t>
            </a:r>
            <a:r>
              <a:rPr lang="en-GB" sz="1600" dirty="0"/>
              <a:t> that determine whether certain actions should be executed.</a:t>
            </a:r>
          </a:p>
          <a:p>
            <a:r>
              <a:rPr lang="en-GB" sz="1600" b="1" dirty="0"/>
              <a:t>Example: </a:t>
            </a:r>
            <a:r>
              <a:rPr lang="en-GB" sz="1600" i="1" dirty="0"/>
              <a:t>If</a:t>
            </a:r>
            <a:r>
              <a:rPr lang="en-GB" sz="1600" dirty="0"/>
              <a:t> the uploaded file is a PDF, then process it; otherwise, ignore it.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359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8F0F8BD-D96B-25DE-165A-7733B6C1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9AC39341-040F-BA23-7E3B-F04809A64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Key Components of Cloud Automation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BC0DAFC6-EB4B-BC78-583C-0EB8A7CFAB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46351-5BD1-CB14-0B38-630DCAF4EB67}"/>
              </a:ext>
            </a:extLst>
          </p:cNvPr>
          <p:cNvSpPr txBox="1"/>
          <p:nvPr/>
        </p:nvSpPr>
        <p:spPr>
          <a:xfrm>
            <a:off x="119270" y="688659"/>
            <a:ext cx="845223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4. APIs &amp; Connectors: </a:t>
            </a:r>
            <a:r>
              <a:rPr lang="en-GB" sz="1600" dirty="0"/>
              <a:t>Interfaces that connect different services and tools.</a:t>
            </a:r>
          </a:p>
          <a:p>
            <a:r>
              <a:rPr lang="en-GB" sz="1600" b="1" dirty="0"/>
              <a:t>Example: </a:t>
            </a:r>
            <a:r>
              <a:rPr lang="en-GB" sz="1600" dirty="0"/>
              <a:t>Connecting Google Sheets to Slack or AWS to GitHub using REST APIs, webhooks, or prebuilt connectors.</a:t>
            </a:r>
          </a:p>
          <a:p>
            <a:pPr>
              <a:buNone/>
            </a:pPr>
            <a:r>
              <a:rPr lang="en-GB" sz="1600" b="1" dirty="0"/>
              <a:t>5. Orchestration: </a:t>
            </a:r>
            <a:r>
              <a:rPr lang="en-GB" sz="1600" dirty="0"/>
              <a:t>The coordination of multiple actions across different systems in a defined sequence.</a:t>
            </a:r>
          </a:p>
          <a:p>
            <a:r>
              <a:rPr lang="en-GB" sz="1600" b="1" dirty="0"/>
              <a:t>Example:</a:t>
            </a:r>
            <a:br>
              <a:rPr lang="en-GB" sz="1600" dirty="0"/>
            </a:br>
            <a:r>
              <a:rPr lang="en-GB" sz="1600" dirty="0"/>
              <a:t>After code is committed → test the code → deploy it → notify the team.</a:t>
            </a:r>
          </a:p>
          <a:p>
            <a:pPr>
              <a:buNone/>
            </a:pPr>
            <a:r>
              <a:rPr lang="en-GB" sz="1600" b="1" dirty="0"/>
              <a:t>Putting It All Together:</a:t>
            </a:r>
          </a:p>
          <a:p>
            <a:pPr>
              <a:buNone/>
            </a:pPr>
            <a:r>
              <a:rPr lang="en-GB" sz="1600" dirty="0"/>
              <a:t>Imagine this automated workflow: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600" b="1" dirty="0"/>
              <a:t>Trigger:</a:t>
            </a:r>
            <a:r>
              <a:rPr lang="en-GB" sz="1600" dirty="0"/>
              <a:t> New file uploaded to Dropbox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600" b="1" dirty="0"/>
              <a:t>Condition:</a:t>
            </a:r>
            <a:r>
              <a:rPr lang="en-GB" sz="1600" dirty="0"/>
              <a:t> File is a .csv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600" b="1" dirty="0"/>
              <a:t>Action 1:</a:t>
            </a:r>
            <a:r>
              <a:rPr lang="en-GB" sz="1600" dirty="0"/>
              <a:t> Parse and </a:t>
            </a:r>
            <a:r>
              <a:rPr lang="en-GB" sz="1600" dirty="0" err="1"/>
              <a:t>analyze</a:t>
            </a:r>
            <a:r>
              <a:rPr lang="en-GB" sz="1600" dirty="0"/>
              <a:t> the file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600" b="1" dirty="0"/>
              <a:t>Action 2:</a:t>
            </a:r>
            <a:r>
              <a:rPr lang="en-GB" sz="1600" dirty="0"/>
              <a:t> Upload results to Google Sheets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600" b="1" dirty="0"/>
              <a:t>Action 3:</a:t>
            </a:r>
            <a:r>
              <a:rPr lang="en-GB" sz="1600" dirty="0"/>
              <a:t> Send summary via email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600" b="1" dirty="0"/>
              <a:t>All coordinated through orchestration</a:t>
            </a:r>
            <a:endParaRPr lang="en-GB" sz="1600" dirty="0"/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7572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6CF8C1F-5298-A133-9417-14B09DB30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54A5862-A724-465D-1191-19DB261A88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Tools for Automating Workflows in the Cloud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787E9589-DC11-0122-5326-0672E39DC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7AA00-6CDC-A689-69DA-0D40D5E74CB6}"/>
              </a:ext>
            </a:extLst>
          </p:cNvPr>
          <p:cNvSpPr txBox="1"/>
          <p:nvPr/>
        </p:nvSpPr>
        <p:spPr>
          <a:xfrm>
            <a:off x="383290" y="713964"/>
            <a:ext cx="79178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Cloud providers like AWS, Azure, and GCP offer a variety of tools to automate tasks, respond to events, and orchestrate services all without manual intervention.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C2036D-38F2-2DBE-E150-D1E0E84EF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341468"/>
              </p:ext>
            </p:extLst>
          </p:nvPr>
        </p:nvGraphicFramePr>
        <p:xfrm>
          <a:off x="311150" y="1655417"/>
          <a:ext cx="8521700" cy="26517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036349">
                  <a:extLst>
                    <a:ext uri="{9D8B030D-6E8A-4147-A177-3AD203B41FA5}">
                      <a16:colId xmlns:a16="http://schemas.microsoft.com/office/drawing/2014/main" val="2070125853"/>
                    </a:ext>
                  </a:extLst>
                </a:gridCol>
                <a:gridCol w="5485351">
                  <a:extLst>
                    <a:ext uri="{9D8B030D-6E8A-4147-A177-3AD203B41FA5}">
                      <a16:colId xmlns:a16="http://schemas.microsoft.com/office/drawing/2014/main" val="2638702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634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AWS Lambda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Run small bits of code in response to events (like a file upload or API call). No server setup needed.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17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AWS Step Functions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Coordinate multiple AWS services in a sequence or workflow, like Lego blocks for automation.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645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Amazon EventBridge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Acts as a central event bus to connect applications and services based on real-time events.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32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AWS CloudWatch Events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Used to schedule automated jobs (like </a:t>
                      </a:r>
                      <a:r>
                        <a:rPr lang="en-GB" sz="1600" b="0" dirty="0" err="1"/>
                        <a:t>cron</a:t>
                      </a:r>
                      <a:r>
                        <a:rPr lang="en-GB" sz="1600" b="0" dirty="0"/>
                        <a:t> jobs) or respond to system events (e.g., CPU spikes).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92169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CD7F8EA-6675-081F-20D0-824F16315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253648"/>
            <a:ext cx="30460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Web Services (AWS)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270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FE5FDCB-FBB9-FEBE-2202-0B941874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1214818-F0F8-0D5A-625F-B0C8CE4D4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Tools for Automating Workflows in the Cloud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8D070A0F-0590-FE54-3C03-15611BC9E6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20A1CD-52E8-B232-810B-E3F10D59B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999117"/>
              </p:ext>
            </p:extLst>
          </p:nvPr>
        </p:nvGraphicFramePr>
        <p:xfrm>
          <a:off x="311150" y="1717675"/>
          <a:ext cx="8521700" cy="20726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336634">
                  <a:extLst>
                    <a:ext uri="{9D8B030D-6E8A-4147-A177-3AD203B41FA5}">
                      <a16:colId xmlns:a16="http://schemas.microsoft.com/office/drawing/2014/main" val="2084274161"/>
                    </a:ext>
                  </a:extLst>
                </a:gridCol>
                <a:gridCol w="6185066">
                  <a:extLst>
                    <a:ext uri="{9D8B030D-6E8A-4147-A177-3AD203B41FA5}">
                      <a16:colId xmlns:a16="http://schemas.microsoft.com/office/drawing/2014/main" val="3117979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772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Azure Logic Apps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Design workflows visually drag and drop components to build automation workflows across services.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367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Azure Functions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Event-driven serverless code runs when triggered (by a file upload, API call, timer,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057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Azure Automation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Automate repetitive tasks across Azure (and even non-Azure) environments like updating systems or starting/stopping VMs.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39186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9120A4EB-4636-0D88-6EFE-943975FA9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014131"/>
            <a:ext cx="19287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Azure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18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322D508-378B-F463-5B85-75213672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6297697-0354-06FC-96A7-D7CF4C4DE7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Tools for Automating Workflows in the Cloud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812E40E0-5C47-654C-E68B-F470E8D119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B5CD2A-246F-8E3B-5E0F-E75AEF257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904789"/>
              </p:ext>
            </p:extLst>
          </p:nvPr>
        </p:nvGraphicFramePr>
        <p:xfrm>
          <a:off x="311150" y="1931035"/>
          <a:ext cx="8521700" cy="20726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416147">
                  <a:extLst>
                    <a:ext uri="{9D8B030D-6E8A-4147-A177-3AD203B41FA5}">
                      <a16:colId xmlns:a16="http://schemas.microsoft.com/office/drawing/2014/main" val="3259500571"/>
                    </a:ext>
                  </a:extLst>
                </a:gridCol>
                <a:gridCol w="6105553">
                  <a:extLst>
                    <a:ext uri="{9D8B030D-6E8A-4147-A177-3AD203B41FA5}">
                      <a16:colId xmlns:a16="http://schemas.microsoft.com/office/drawing/2014/main" val="2326803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00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Cloud Functions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Lightweight, event-based serverless functions. Useful for quick tasks triggered by cloud events.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50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Cloud Workflows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Helps orchestrate sequences of Google Cloud services using YAML or JSON-based workflows.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516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Cloud Scheduler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Cron job service to schedule recurring tasks like sending emails, triggering pipelines,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43795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D13988C-6C6C-535E-2EB9-8C125CC46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983147"/>
            <a:ext cx="377218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Cloud Platform (GCP)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433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FBB193C-88A1-2801-ACAB-18E37858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56C78E0-7DFF-83A4-4850-830AEA508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Real-World Examples of Cloud Automation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21B0C967-EE4D-CC50-3052-3202EE1694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E566ACE-2FA9-3D33-B242-49C2FB996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75" y="867673"/>
            <a:ext cx="818963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600" dirty="0"/>
              <a:t>These examples show how cloud automation can simplify repetitive or time-sensitive tasks across different platforms.</a:t>
            </a:r>
          </a:p>
          <a:p>
            <a:pPr>
              <a:buNone/>
            </a:pPr>
            <a:r>
              <a:rPr lang="en-GB" sz="1600" b="1" dirty="0"/>
              <a:t>Example 1: Daily File Backup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Trigger:</a:t>
            </a:r>
            <a:br>
              <a:rPr lang="en-GB" sz="1600" dirty="0"/>
            </a:br>
            <a:r>
              <a:rPr lang="en-GB" sz="1600" dirty="0"/>
              <a:t>Time-based — scheduled </a:t>
            </a:r>
            <a:r>
              <a:rPr lang="en-GB" sz="1600" b="1" dirty="0"/>
              <a:t>every day at 8 PM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Action:</a:t>
            </a:r>
            <a:br>
              <a:rPr lang="en-GB" sz="1600" dirty="0"/>
            </a:br>
            <a:r>
              <a:rPr lang="en-GB" sz="1600" dirty="0"/>
              <a:t>Automatically </a:t>
            </a:r>
            <a:r>
              <a:rPr lang="en-GB" sz="1600" b="1" dirty="0"/>
              <a:t>copy a file or database</a:t>
            </a:r>
            <a:r>
              <a:rPr lang="en-GB" sz="1600" dirty="0"/>
              <a:t> from the production environment to a backup storage location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Tools Used: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AWS Lambda</a:t>
            </a:r>
            <a:r>
              <a:rPr lang="en-GB" sz="1600" dirty="0"/>
              <a:t> – Executes the backup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S3</a:t>
            </a:r>
            <a:r>
              <a:rPr lang="en-GB" sz="1600" dirty="0"/>
              <a:t> – Stores the backup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CloudWatch</a:t>
            </a:r>
            <a:r>
              <a:rPr lang="en-GB" sz="1600" dirty="0"/>
              <a:t> – Triggers Lambda on a schedule</a:t>
            </a:r>
          </a:p>
          <a:p>
            <a:r>
              <a:rPr lang="en-GB" sz="1600" dirty="0"/>
              <a:t> This helps ensure that data is regularly backed up without needing a person to do it manually.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86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F76B795-6DEA-6600-BE7F-377AE363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F5EF992-1364-B496-80BC-A97B7405DA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Real-World Examples of Cloud Automation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E6A364CE-97B4-0069-6365-5ED03F49B1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9A72128-26ED-3434-11DC-B7A6A2179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75" y="620400"/>
            <a:ext cx="760774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600" b="1" dirty="0"/>
              <a:t>Example 2: Slack Notification for New GitHub Issue</a:t>
            </a:r>
          </a:p>
          <a:p>
            <a:pPr>
              <a:buNone/>
            </a:pPr>
            <a:endParaRPr lang="en-GB" sz="1600" b="1" dirty="0"/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Trigger:</a:t>
            </a:r>
            <a:br>
              <a:rPr lang="en-GB" sz="1600" dirty="0"/>
            </a:br>
            <a:r>
              <a:rPr lang="en-GB" sz="1600" dirty="0"/>
              <a:t>A new issue is opened on a GitHub repository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Action:</a:t>
            </a:r>
            <a:br>
              <a:rPr lang="en-GB" sz="1600" dirty="0"/>
            </a:br>
            <a:r>
              <a:rPr lang="en-GB" sz="1600" dirty="0"/>
              <a:t>Automatically send a message to a specific Slack channel with details of the new issue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 Tools Used: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Zapier (no-code)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Or Azure Logic Apps (workflow builder)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Or GCP Workflows for developers</a:t>
            </a:r>
          </a:p>
          <a:p>
            <a:r>
              <a:rPr lang="en-GB" sz="1600" dirty="0"/>
              <a:t> This keeps your team in the loop in real time without constantly checking GitHub.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51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63A6D69-17B8-2174-BF0F-8A00929F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6B24A0B4-7A35-04DC-FDF5-B2D972CBC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Real-World Examples of Cloud Automation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0A27156C-96E3-3F3C-C027-28B7FE7838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EE464D9-DD93-759D-2606-1E602160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75" y="558845"/>
            <a:ext cx="76077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800" b="1" dirty="0"/>
              <a:t>Example 3: Auto-Scaling EC2 Instances</a:t>
            </a:r>
          </a:p>
          <a:p>
            <a:pPr>
              <a:buNone/>
            </a:pPr>
            <a:endParaRPr lang="en-GB" sz="1800" b="1" dirty="0"/>
          </a:p>
          <a:p>
            <a:pPr marL="342900" indent="-342900">
              <a:buFont typeface="+mj-lt"/>
              <a:buAutoNum type="arabicPeriod"/>
            </a:pPr>
            <a:r>
              <a:rPr lang="en-GB" sz="1800" b="1" dirty="0"/>
              <a:t>Trigger:</a:t>
            </a:r>
            <a:br>
              <a:rPr lang="en-GB" sz="1800" dirty="0"/>
            </a:br>
            <a:r>
              <a:rPr lang="en-GB" sz="1800" dirty="0"/>
              <a:t>When CPU usage &gt; 80% on current EC2 instances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b="1" dirty="0"/>
              <a:t>Action:</a:t>
            </a:r>
            <a:br>
              <a:rPr lang="en-GB" sz="1800" dirty="0"/>
            </a:br>
            <a:r>
              <a:rPr lang="en-GB" sz="1800" dirty="0"/>
              <a:t>Automatically launch a new EC2 instance to handle the load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b="1" dirty="0"/>
              <a:t>Tools Used: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AWS Auto Scaling</a:t>
            </a:r>
            <a:r>
              <a:rPr lang="en-GB" sz="1800" dirty="0"/>
              <a:t> – Adjusts the number of instances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CloudWatch Alarms</a:t>
            </a:r>
            <a:r>
              <a:rPr lang="en-GB" sz="1800" dirty="0"/>
              <a:t> – Monitors CPU usage and triggers scaling</a:t>
            </a:r>
          </a:p>
          <a:p>
            <a:r>
              <a:rPr lang="en-GB" sz="1800" dirty="0"/>
              <a:t>This ensures performance under heavy load while saving costs when usage drops.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830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9321C5F-5887-88FC-5A55-2EB85D26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39B0603-80F6-6813-A911-33AD170E7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5841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2000" b="1" dirty="0"/>
              <a:t>Hands-On Exercise: Notify via Email When a File is Uploaded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F1C77-9C5B-EF4B-F2AB-E3C6B67E23BB}"/>
              </a:ext>
            </a:extLst>
          </p:cNvPr>
          <p:cNvSpPr txBox="1"/>
          <p:nvPr/>
        </p:nvSpPr>
        <p:spPr>
          <a:xfrm>
            <a:off x="246965" y="648798"/>
            <a:ext cx="824289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Platform: AWS</a:t>
            </a:r>
          </a:p>
          <a:p>
            <a:pPr>
              <a:buNone/>
            </a:pPr>
            <a:r>
              <a:rPr lang="en-GB" sz="1600" b="1" dirty="0"/>
              <a:t>Scenario Flow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File Upload</a:t>
            </a:r>
            <a:br>
              <a:rPr lang="en-GB" sz="1600" dirty="0"/>
            </a:br>
            <a:r>
              <a:rPr lang="en-GB" sz="1600" dirty="0"/>
              <a:t>A user uploads a file to an Amazon S3 bucket.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Trigger Lambda</a:t>
            </a:r>
            <a:br>
              <a:rPr lang="en-GB" sz="1600" dirty="0"/>
            </a:br>
            <a:r>
              <a:rPr lang="en-GB" sz="1600" dirty="0"/>
              <a:t>The file upload triggers an AWS Lambda function through an S3 event.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Send Email Notification</a:t>
            </a:r>
            <a:br>
              <a:rPr lang="en-GB" sz="1600" dirty="0"/>
            </a:br>
            <a:r>
              <a:rPr lang="en-GB" sz="1600" dirty="0"/>
              <a:t>The Lambda function uses AWS SNS (Simple Notification Service) to send an email alert.</a:t>
            </a:r>
          </a:p>
          <a:p>
            <a:endParaRPr lang="en-GB" sz="1600" b="1" dirty="0"/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DD316-3A13-8AF9-283B-D72AD6E8A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9" t="6434" r="5393"/>
          <a:stretch/>
        </p:blipFill>
        <p:spPr>
          <a:xfrm>
            <a:off x="889518" y="2693437"/>
            <a:ext cx="6021355" cy="264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91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343B9DE-88C4-75C2-0CFD-517B4F5B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57A8B46-0008-C5A2-CCC2-BD7AA897E2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5841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2000" b="1" dirty="0"/>
              <a:t>Hands-On Exercise: Notify via Email When a File is Uploaded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C0479-8348-AA13-F548-6AAA543FA867}"/>
              </a:ext>
            </a:extLst>
          </p:cNvPr>
          <p:cNvSpPr txBox="1"/>
          <p:nvPr/>
        </p:nvSpPr>
        <p:spPr>
          <a:xfrm>
            <a:off x="165510" y="680604"/>
            <a:ext cx="8242893" cy="4401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import </a:t>
            </a:r>
            <a:r>
              <a:rPr lang="en-GB" dirty="0" err="1"/>
              <a:t>json</a:t>
            </a:r>
            <a:endParaRPr lang="en-GB" dirty="0"/>
          </a:p>
          <a:p>
            <a:r>
              <a:rPr lang="en-GB" dirty="0"/>
              <a:t>import boto3</a:t>
            </a:r>
          </a:p>
          <a:p>
            <a:r>
              <a:rPr lang="en-GB" dirty="0"/>
              <a:t>def </a:t>
            </a:r>
            <a:r>
              <a:rPr lang="en-GB" dirty="0" err="1"/>
              <a:t>lambda_handler</a:t>
            </a:r>
            <a:r>
              <a:rPr lang="en-GB" dirty="0"/>
              <a:t>(event, context):</a:t>
            </a:r>
          </a:p>
          <a:p>
            <a:r>
              <a:rPr lang="en-GB" dirty="0"/>
              <a:t>    # Get uploaded file name from the S3 event</a:t>
            </a:r>
          </a:p>
          <a:p>
            <a:r>
              <a:rPr lang="en-GB" dirty="0"/>
              <a:t>    s3_info = event['Records'][0]['s3']['object']['key']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# Create an SNS client</a:t>
            </a:r>
          </a:p>
          <a:p>
            <a:r>
              <a:rPr lang="en-GB" dirty="0"/>
              <a:t>    </a:t>
            </a:r>
            <a:r>
              <a:rPr lang="en-GB" dirty="0" err="1"/>
              <a:t>sns</a:t>
            </a:r>
            <a:r>
              <a:rPr lang="en-GB" dirty="0"/>
              <a:t> = boto3.client('</a:t>
            </a:r>
            <a:r>
              <a:rPr lang="en-GB" dirty="0" err="1"/>
              <a:t>sns</a:t>
            </a:r>
            <a:r>
              <a:rPr lang="en-GB" dirty="0"/>
              <a:t>')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# Send an email via SNS</a:t>
            </a:r>
          </a:p>
          <a:p>
            <a:r>
              <a:rPr lang="en-GB" dirty="0"/>
              <a:t>    </a:t>
            </a:r>
            <a:r>
              <a:rPr lang="en-GB" dirty="0" err="1"/>
              <a:t>sns.publish</a:t>
            </a:r>
            <a:r>
              <a:rPr lang="en-GB" dirty="0"/>
              <a:t>(</a:t>
            </a:r>
          </a:p>
          <a:p>
            <a:r>
              <a:rPr lang="en-GB" dirty="0"/>
              <a:t>        </a:t>
            </a:r>
            <a:r>
              <a:rPr lang="en-GB" dirty="0" err="1"/>
              <a:t>TopicArn</a:t>
            </a:r>
            <a:r>
              <a:rPr lang="en-GB" dirty="0"/>
              <a:t>='</a:t>
            </a:r>
            <a:r>
              <a:rPr lang="en-GB" dirty="0" err="1"/>
              <a:t>arn:aws:sns:region:acct-id:topic</a:t>
            </a:r>
            <a:r>
              <a:rPr lang="en-GB" dirty="0"/>
              <a:t>',  # Replace with your SNS topic ARN</a:t>
            </a:r>
          </a:p>
          <a:p>
            <a:r>
              <a:rPr lang="en-GB" dirty="0"/>
              <a:t>        Message=</a:t>
            </a:r>
            <a:r>
              <a:rPr lang="en-GB" dirty="0" err="1"/>
              <a:t>f'New</a:t>
            </a:r>
            <a:r>
              <a:rPr lang="en-GB" dirty="0"/>
              <a:t> file uploaded: {s3_info}',</a:t>
            </a:r>
          </a:p>
          <a:p>
            <a:r>
              <a:rPr lang="en-GB" dirty="0"/>
              <a:t>        Subject='Upload Notification'</a:t>
            </a:r>
          </a:p>
          <a:p>
            <a:r>
              <a:rPr lang="en-GB" dirty="0"/>
              <a:t>    )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return {</a:t>
            </a:r>
          </a:p>
          <a:p>
            <a:r>
              <a:rPr lang="en-GB" dirty="0"/>
              <a:t>        '</a:t>
            </a:r>
            <a:r>
              <a:rPr lang="en-GB" dirty="0" err="1"/>
              <a:t>statusCode</a:t>
            </a:r>
            <a:r>
              <a:rPr lang="en-GB" dirty="0"/>
              <a:t>': 200,</a:t>
            </a:r>
          </a:p>
          <a:p>
            <a:r>
              <a:rPr lang="en-GB" dirty="0"/>
              <a:t>        'body': </a:t>
            </a:r>
            <a:r>
              <a:rPr lang="en-GB" dirty="0" err="1"/>
              <a:t>json.dumps</a:t>
            </a:r>
            <a:r>
              <a:rPr lang="en-GB" dirty="0"/>
              <a:t>('Notification sent!')</a:t>
            </a:r>
          </a:p>
          <a:p>
            <a:r>
              <a:rPr lang="en-GB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236192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FE4CDF5-2145-8897-3178-56E0ACEA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F6EED79-4444-BD3B-6EA8-6D46E6E8FD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5841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2000" b="1" dirty="0"/>
              <a:t>Hands-On Exercise: Notify via Email When a File is Uploaded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E9CA41-0382-2EF7-CE30-6E83EA0F9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453828"/>
              </p:ext>
            </p:extLst>
          </p:nvPr>
        </p:nvGraphicFramePr>
        <p:xfrm>
          <a:off x="207783" y="1664954"/>
          <a:ext cx="8521700" cy="21640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672453">
                  <a:extLst>
                    <a:ext uri="{9D8B030D-6E8A-4147-A177-3AD203B41FA5}">
                      <a16:colId xmlns:a16="http://schemas.microsoft.com/office/drawing/2014/main" val="1738525116"/>
                    </a:ext>
                  </a:extLst>
                </a:gridCol>
                <a:gridCol w="4849247">
                  <a:extLst>
                    <a:ext uri="{9D8B030D-6E8A-4147-A177-3AD203B41FA5}">
                      <a16:colId xmlns:a16="http://schemas.microsoft.com/office/drawing/2014/main" val="890063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06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event['Records'][0]['s3']['object']['key']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Extracts the filename from the upload event.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72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boto3.client('sns')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Initializes the SNS client.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69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sns.publish(...)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Sends a message to the specified SNS topic, which then sends the email.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267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TopicArn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unique identifier for the SNS topic connected to email subscribers.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01641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CC5B9043-60ED-584D-8A81-2A052E8E2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783" y="881182"/>
            <a:ext cx="29033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 of Key Parts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72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A6E4661-389D-5C05-93FB-0454152F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F0E1D2E-CEAB-30C4-2F05-F4B8E02BE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5841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1800" b="1" dirty="0"/>
              <a:t>Best Practices for Automated Workflows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0964DF-F851-EB77-10E3-97FAF7BC5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" y="555815"/>
            <a:ext cx="709748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600" dirty="0"/>
              <a:t>These practices ensure your automated workflows are secure, maintainable, and reliable.</a:t>
            </a:r>
          </a:p>
          <a:p>
            <a:pPr marL="342900" indent="-342900">
              <a:buAutoNum type="arabicPeriod"/>
            </a:pPr>
            <a:r>
              <a:rPr lang="en-GB" sz="1600" b="1" dirty="0"/>
              <a:t>Use Environment Variables</a:t>
            </a:r>
          </a:p>
          <a:p>
            <a:endParaRPr lang="en-GB" sz="1600" b="1" dirty="0"/>
          </a:p>
          <a:p>
            <a:pPr marL="342900" indent="-342900">
              <a:buFont typeface="+mj-lt"/>
              <a:buAutoNum type="alphaUcPeriod"/>
            </a:pPr>
            <a:r>
              <a:rPr lang="en-GB" sz="1600" b="1" dirty="0"/>
              <a:t>What it means</a:t>
            </a:r>
            <a:r>
              <a:rPr lang="en-GB" sz="1600" dirty="0"/>
              <a:t>: Instead of hardcoding sensitive data (like API keys, database URIs, file paths), use environment variables.</a:t>
            </a:r>
          </a:p>
          <a:p>
            <a:endParaRPr lang="en-GB" sz="1600" dirty="0"/>
          </a:p>
          <a:p>
            <a:r>
              <a:rPr lang="en-GB" sz="1600" b="1" dirty="0"/>
              <a:t>B. Why it matters</a:t>
            </a:r>
            <a:r>
              <a:rPr lang="en-GB" sz="1600" dirty="0"/>
              <a:t>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Keeps your code cleaner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Makes deployments more flexible across dev, staging, and production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Enhances security by avoiding hardcoded secrets</a:t>
            </a:r>
          </a:p>
          <a:p>
            <a:pPr marL="742950" lvl="1" indent="-285750">
              <a:buFont typeface="Wingdings" pitchFamily="2" charset="2"/>
              <a:buChar char="ü"/>
            </a:pPr>
            <a:endParaRPr lang="en-GB" sz="1600" dirty="0"/>
          </a:p>
          <a:p>
            <a:r>
              <a:rPr lang="en-GB" sz="1600" i="1" dirty="0"/>
              <a:t>Example:</a:t>
            </a:r>
            <a:r>
              <a:rPr lang="en-GB" sz="1600" dirty="0"/>
              <a:t> Instead of writing </a:t>
            </a:r>
            <a:r>
              <a:rPr lang="en-GB" sz="1600" dirty="0" err="1"/>
              <a:t>db_password</a:t>
            </a:r>
            <a:r>
              <a:rPr lang="en-GB" sz="1600" dirty="0"/>
              <a:t> = 'abc123', store it in </a:t>
            </a:r>
            <a:r>
              <a:rPr lang="en-GB" sz="1600" dirty="0" err="1"/>
              <a:t>os.environ</a:t>
            </a:r>
            <a:r>
              <a:rPr lang="en-GB" sz="1600" dirty="0"/>
              <a:t>['DB_PASSWORD'].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293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FBE7E06-5773-2481-3881-79077CCB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0BAA7585-DA0A-B912-C9D7-08455AC1C4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5841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1800" b="1" dirty="0"/>
              <a:t>Best Practices for Automated Workflows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51F421-FD0D-B7CC-E9A7-D5339833D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05" y="583679"/>
            <a:ext cx="807409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500" b="1" dirty="0"/>
              <a:t>2. Limit Permissions (Least-Privilege Principle)</a:t>
            </a:r>
          </a:p>
          <a:p>
            <a:pPr marL="342900" indent="-342900">
              <a:buFont typeface="+mj-lt"/>
              <a:buAutoNum type="alphaUcPeriod"/>
            </a:pPr>
            <a:r>
              <a:rPr lang="en-GB" sz="1500" b="1" dirty="0"/>
              <a:t>What it means</a:t>
            </a:r>
            <a:r>
              <a:rPr lang="en-GB" sz="1500" dirty="0"/>
              <a:t>: Give your automation only the </a:t>
            </a:r>
            <a:r>
              <a:rPr lang="en-GB" sz="1500" b="1" dirty="0"/>
              <a:t>minimum permissions it needs</a:t>
            </a:r>
            <a:r>
              <a:rPr lang="en-GB" sz="1500" dirty="0"/>
              <a:t> to function.</a:t>
            </a:r>
          </a:p>
          <a:p>
            <a:pPr marL="342900" indent="-342900">
              <a:buFont typeface="+mj-lt"/>
              <a:buAutoNum type="alphaUcPeriod"/>
            </a:pPr>
            <a:r>
              <a:rPr lang="en-GB" sz="1500" b="1" dirty="0"/>
              <a:t>Why it matters</a:t>
            </a:r>
            <a:r>
              <a:rPr lang="en-GB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Reduces risk if a service or script is compromised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Prevents accidental changes to critical resources</a:t>
            </a:r>
          </a:p>
          <a:p>
            <a:pPr>
              <a:buNone/>
            </a:pPr>
            <a:r>
              <a:rPr lang="en-GB" sz="1500" i="1" dirty="0"/>
              <a:t>Example:</a:t>
            </a:r>
            <a:r>
              <a:rPr lang="en-GB" sz="1500" dirty="0"/>
              <a:t> A Lambda function that only reads from S3 should not have write or delete permissions.</a:t>
            </a:r>
          </a:p>
          <a:p>
            <a:pPr>
              <a:buNone/>
            </a:pPr>
            <a:endParaRPr lang="en-GB" sz="1500" dirty="0"/>
          </a:p>
          <a:p>
            <a:pPr>
              <a:buNone/>
            </a:pPr>
            <a:r>
              <a:rPr lang="en-GB" sz="1500" b="1" dirty="0"/>
              <a:t>3. Monitor &amp; Log All Actions</a:t>
            </a:r>
          </a:p>
          <a:p>
            <a:pPr marL="342900" indent="-342900">
              <a:buFont typeface="+mj-lt"/>
              <a:buAutoNum type="alphaUcPeriod"/>
            </a:pPr>
            <a:r>
              <a:rPr lang="en-GB" sz="1500" b="1" dirty="0"/>
              <a:t>What it means</a:t>
            </a:r>
            <a:r>
              <a:rPr lang="en-GB" sz="1500" dirty="0"/>
              <a:t>: Track workflow actions and issues through logging and monitoring services.</a:t>
            </a:r>
          </a:p>
          <a:p>
            <a:pPr marL="342900" indent="-342900">
              <a:buFont typeface="+mj-lt"/>
              <a:buAutoNum type="alphaUcPeriod"/>
            </a:pPr>
            <a:r>
              <a:rPr lang="en-GB" sz="1500" b="1" dirty="0"/>
              <a:t>Why it matters</a:t>
            </a:r>
            <a:r>
              <a:rPr lang="en-GB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Helps in debugging and auditing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Ensures visibility into system health and workflow status</a:t>
            </a:r>
          </a:p>
          <a:p>
            <a:pPr>
              <a:buNone/>
            </a:pPr>
            <a:r>
              <a:rPr lang="en-GB" sz="1500" i="1" dirty="0"/>
              <a:t>Tools:</a:t>
            </a:r>
            <a:endParaRPr lang="en-GB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>AWS</a:t>
            </a:r>
            <a:r>
              <a:rPr lang="en-GB" sz="1500" dirty="0"/>
              <a:t>: CloudWatch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>GCP</a:t>
            </a:r>
            <a:r>
              <a:rPr lang="en-GB" sz="1500" dirty="0"/>
              <a:t>: </a:t>
            </a:r>
            <a:r>
              <a:rPr lang="en-GB" sz="1500" dirty="0" err="1"/>
              <a:t>Stackdriver</a:t>
            </a:r>
            <a:endParaRPr lang="en-GB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>Azure</a:t>
            </a:r>
            <a:r>
              <a:rPr lang="en-GB" sz="1500" dirty="0"/>
              <a:t>: Application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990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0F2E4D6-6B5B-02BE-12BD-296A0F86F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36D92E0-F475-932D-60BC-4C49E2642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5841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1800" b="1" dirty="0"/>
              <a:t>Best Practices for Automated Workflows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1726DF-6A36-7EC1-98C2-1C5EEA706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27" y="687155"/>
            <a:ext cx="8074091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600" b="1" dirty="0"/>
              <a:t>4. Integrate Error Handling</a:t>
            </a:r>
          </a:p>
          <a:p>
            <a:pPr marL="342900" indent="-342900">
              <a:buFont typeface="+mj-lt"/>
              <a:buAutoNum type="alphaUcPeriod"/>
            </a:pPr>
            <a:r>
              <a:rPr lang="en-GB" sz="1600" b="1" dirty="0"/>
              <a:t>What it means</a:t>
            </a:r>
            <a:r>
              <a:rPr lang="en-GB" sz="1600" dirty="0"/>
              <a:t>: Plan for failures by writing code that can catch and handle errors gracefully.</a:t>
            </a:r>
          </a:p>
          <a:p>
            <a:pPr marL="342900" indent="-342900">
              <a:buFont typeface="+mj-lt"/>
              <a:buAutoNum type="alphaUcPeriod"/>
            </a:pPr>
            <a:r>
              <a:rPr lang="en-GB" sz="1600" b="1" dirty="0"/>
              <a:t>Why it matters</a:t>
            </a:r>
            <a:r>
              <a:rPr lang="en-GB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Avoids broken workflows and silent failures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Enables retries or alerts when something goes wrong</a:t>
            </a:r>
          </a:p>
          <a:p>
            <a:pPr>
              <a:buNone/>
            </a:pPr>
            <a:r>
              <a:rPr lang="en-GB" sz="1600" i="1" dirty="0"/>
              <a:t>Example:</a:t>
            </a:r>
            <a:r>
              <a:rPr lang="en-GB" sz="1600" dirty="0"/>
              <a:t> Use try-except blocks in Python Lambda functions to catch API failures and log them or trigger alerts.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5. Modularize Logic</a:t>
            </a:r>
          </a:p>
          <a:p>
            <a:pPr marL="342900" indent="-342900">
              <a:buFont typeface="+mj-lt"/>
              <a:buAutoNum type="alphaUcPeriod"/>
            </a:pPr>
            <a:r>
              <a:rPr lang="en-GB" sz="1600" b="1" dirty="0"/>
              <a:t>What it means</a:t>
            </a:r>
            <a:r>
              <a:rPr lang="en-GB" sz="1600" dirty="0"/>
              <a:t>: Break your workflows into small, reusable modules or steps.</a:t>
            </a:r>
          </a:p>
          <a:p>
            <a:pPr marL="342900" indent="-342900">
              <a:buFont typeface="+mj-lt"/>
              <a:buAutoNum type="alphaUcPeriod"/>
            </a:pPr>
            <a:r>
              <a:rPr lang="en-GB" sz="1600" b="1" dirty="0"/>
              <a:t>Why it matters</a:t>
            </a:r>
            <a:r>
              <a:rPr lang="en-GB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Easier to </a:t>
            </a:r>
            <a:r>
              <a:rPr lang="en-GB" sz="1600" b="1" dirty="0"/>
              <a:t>debug</a:t>
            </a:r>
            <a:r>
              <a:rPr lang="en-GB" sz="1600" dirty="0"/>
              <a:t>, </a:t>
            </a:r>
            <a:r>
              <a:rPr lang="en-GB" sz="1600" b="1" dirty="0"/>
              <a:t>test</a:t>
            </a:r>
            <a:r>
              <a:rPr lang="en-GB" sz="1600" dirty="0"/>
              <a:t>, and </a:t>
            </a:r>
            <a:r>
              <a:rPr lang="en-GB" sz="1600" b="1" dirty="0"/>
              <a:t>maintain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Encourages </a:t>
            </a:r>
            <a:r>
              <a:rPr lang="en-GB" sz="1600" b="1" dirty="0"/>
              <a:t>reusability</a:t>
            </a:r>
            <a:r>
              <a:rPr lang="en-GB" sz="1600" dirty="0"/>
              <a:t> of logic across multiple workflows</a:t>
            </a:r>
          </a:p>
          <a:p>
            <a:r>
              <a:rPr lang="en-GB" sz="1600" i="1" dirty="0"/>
              <a:t>Example:</a:t>
            </a:r>
            <a:r>
              <a:rPr lang="en-GB" sz="1600" dirty="0"/>
              <a:t> Instead of one large function, have separate ones for validation, transformation, and sending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106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FFA0F21-E13F-93FB-AC69-B3C64B4E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ED0919D-0D4E-AD01-68C8-D193D3BE60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5841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1800" b="1" dirty="0"/>
              <a:t>Best Practices for Automated Workflows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CCD9E1-223A-FF68-D89E-84B621E9E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863537"/>
              </p:ext>
            </p:extLst>
          </p:nvPr>
        </p:nvGraphicFramePr>
        <p:xfrm>
          <a:off x="261386" y="1480735"/>
          <a:ext cx="8030418" cy="20116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651778">
                  <a:extLst>
                    <a:ext uri="{9D8B030D-6E8A-4147-A177-3AD203B41FA5}">
                      <a16:colId xmlns:a16="http://schemas.microsoft.com/office/drawing/2014/main" val="1997925296"/>
                    </a:ext>
                  </a:extLst>
                </a:gridCol>
                <a:gridCol w="4378640">
                  <a:extLst>
                    <a:ext uri="{9D8B030D-6E8A-4147-A177-3AD203B41FA5}">
                      <a16:colId xmlns:a16="http://schemas.microsoft.com/office/drawing/2014/main" val="1715684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249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Environment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Flexibility &amp;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50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dirty="0"/>
                        <a:t>Least Privilege Permissions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Better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345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Monitoring &amp; Logging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Debugging, Auditing, Transparency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67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Error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Reliability &amp; Workflow Continuity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400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Modular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Maintainability &amp; Reusability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11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495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99514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Summary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73E6D-D3F1-0629-AF2D-4FF513C589FF}"/>
              </a:ext>
            </a:extLst>
          </p:cNvPr>
          <p:cNvSpPr txBox="1"/>
          <p:nvPr/>
        </p:nvSpPr>
        <p:spPr>
          <a:xfrm>
            <a:off x="656106" y="860335"/>
            <a:ext cx="6707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dirty="0"/>
              <a:t>Cloud-based automated workflows help execute tasks like backups, notifications, and deployments without manual intervention.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Triggers (e.g., file upload, scheduled time) initiate actions such as sending emails or scaling infrastructure.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Common cloud services for automation include AWS Lambda, Azure Logic Apps, and Google Cloud Functions.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These workflows can connect multiple cloud services using APIs or orchestration tools like AWS Step Functions or GCP Workflows.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Automation improves efficiency, reduces human error, and ensures consistency across processes.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Best practices include setting up monitoring, logging, error handling, and using the principle of least privilege for security.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Tools like Zapier and IFTTT offer no-code automation for connecting third-party services easily.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title"/>
          </p:nvPr>
        </p:nvSpPr>
        <p:spPr>
          <a:xfrm>
            <a:off x="1366268" y="451340"/>
            <a:ext cx="4810448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rtl="0"/>
            <a:r>
              <a:rPr lang="en-GB" b="1" dirty="0"/>
              <a:t>Reading and Resources</a:t>
            </a:r>
            <a:br>
              <a:rPr lang="en-GB" b="1" dirty="0"/>
            </a:b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372FF-9A85-594D-0C92-E05C7E59CDA1}"/>
              </a:ext>
            </a:extLst>
          </p:cNvPr>
          <p:cNvSpPr txBox="1"/>
          <p:nvPr/>
        </p:nvSpPr>
        <p:spPr>
          <a:xfrm>
            <a:off x="1087341" y="1325997"/>
            <a:ext cx="55519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dirty="0"/>
              <a:t>AWS Docs: </a:t>
            </a:r>
            <a:r>
              <a:rPr lang="en-GB" sz="1600" dirty="0">
                <a:hlinkClick r:id="rId3"/>
              </a:rPr>
              <a:t>https://docs.aws.amazon.com/lambda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Azure Logic Apps: </a:t>
            </a:r>
            <a:r>
              <a:rPr lang="en-GB" sz="1600" dirty="0">
                <a:hlinkClick r:id="rId4"/>
              </a:rPr>
              <a:t>https://learn.microsoft.com/en-us/azure/logic-apps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GCP Workflows: https://</a:t>
            </a:r>
            <a:r>
              <a:rPr lang="en-GB" sz="1600" dirty="0" err="1"/>
              <a:t>cloud.google.com</a:t>
            </a:r>
            <a:r>
              <a:rPr lang="en-GB" sz="1600" dirty="0"/>
              <a:t>/workflows/docs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 err="1"/>
              <a:t>Automate.io</a:t>
            </a:r>
            <a:r>
              <a:rPr lang="en-GB" sz="1600" dirty="0"/>
              <a:t> and Zapier (No-code tools)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"Cloud Automation Cookbook" by Nikit Swaraj (</a:t>
            </a:r>
            <a:r>
              <a:rPr lang="en-GB" sz="1600" dirty="0" err="1"/>
              <a:t>Packt</a:t>
            </a:r>
            <a:r>
              <a:rPr lang="en-GB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YouTube: Cloud Academy, AWS Tutorials, Microsoft Learn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2036</Words>
  <Application>Microsoft Macintosh PowerPoint</Application>
  <PresentationFormat>On-screen Show (16:9)</PresentationFormat>
  <Paragraphs>232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IBM Plex Sans Arabic Medium</vt:lpstr>
      <vt:lpstr>Tajawal</vt:lpstr>
      <vt:lpstr>Calibri</vt:lpstr>
      <vt:lpstr>IBM Plex Sans Arabic</vt:lpstr>
      <vt:lpstr>IBM Plex Sans Arabic SemiBold</vt:lpstr>
      <vt:lpstr>Wingdings</vt:lpstr>
      <vt:lpstr>Arial</vt:lpstr>
      <vt:lpstr>Simple Light</vt:lpstr>
      <vt:lpstr>أكـــــاديميــــة طــــويـــق</vt:lpstr>
      <vt:lpstr>Automated Workflows in the Cloud </vt:lpstr>
      <vt:lpstr>PowerPoint Presentation</vt:lpstr>
      <vt:lpstr>Introduction to Automation in the Cloud   </vt:lpstr>
      <vt:lpstr>Common Examples:    </vt:lpstr>
      <vt:lpstr>Key Components of Cloud Automation     </vt:lpstr>
      <vt:lpstr>Key Components of Cloud Automation     </vt:lpstr>
      <vt:lpstr>Tools for Automating Workflows in the Cloud      </vt:lpstr>
      <vt:lpstr>Tools for Automating Workflows in the Cloud      </vt:lpstr>
      <vt:lpstr>Tools for Automating Workflows in the Cloud      </vt:lpstr>
      <vt:lpstr>Real-World Examples of Cloud Automation      </vt:lpstr>
      <vt:lpstr>Real-World Examples of Cloud Automation      </vt:lpstr>
      <vt:lpstr>Real-World Examples of Cloud Automation      </vt:lpstr>
      <vt:lpstr>Hands-On Exercise: Notify via Email When a File is Uploaded</vt:lpstr>
      <vt:lpstr>Hands-On Exercise: Notify via Email When a File is Uploaded</vt:lpstr>
      <vt:lpstr>Hands-On Exercise: Notify via Email When a File is Uploaded</vt:lpstr>
      <vt:lpstr>Best Practices for Automated Workflows</vt:lpstr>
      <vt:lpstr>Best Practices for Automated Workflows</vt:lpstr>
      <vt:lpstr>Best Practices for Automated Workflows</vt:lpstr>
      <vt:lpstr>Best Practices for Automated Workflows</vt:lpstr>
      <vt:lpstr>Summary </vt:lpstr>
      <vt:lpstr>Reading and Resources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25</cp:revision>
  <dcterms:modified xsi:type="dcterms:W3CDTF">2025-04-23T12:40:20Z</dcterms:modified>
</cp:coreProperties>
</file>