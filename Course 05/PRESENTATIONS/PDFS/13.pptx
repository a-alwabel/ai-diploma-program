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7" r:id="rId6"/>
    <p:sldId id="288" r:id="rId7"/>
    <p:sldId id="278" r:id="rId8"/>
    <p:sldId id="260" r:id="rId9"/>
    <p:sldId id="280" r:id="rId10"/>
    <p:sldId id="261" r:id="rId11"/>
    <p:sldId id="262" r:id="rId12"/>
    <p:sldId id="274" r:id="rId13"/>
    <p:sldId id="275" r:id="rId14"/>
    <p:sldId id="276" r:id="rId15"/>
  </p:sldIdLst>
  <p:sldSz cx="9144000" cy="5143500" type="screen16x9"/>
  <p:notesSz cx="6858000" cy="9144000"/>
  <p:embeddedFontLst>
    <p:embeddedFont>
      <p:font typeface="IBM Plex Sans Arabic" panose="020B0603050203000203" pitchFamily="34" charset="-78"/>
      <p:regular r:id="rId17"/>
      <p:bold r:id="rId18"/>
    </p:embeddedFont>
    <p:embeddedFont>
      <p:font typeface="IBM Plex Sans Arabic Medium" panose="020B0603050203000203" pitchFamily="34" charset="-78"/>
      <p:regular r:id="rId19"/>
      <p:bold r:id="rId20"/>
    </p:embeddedFont>
    <p:embeddedFont>
      <p:font typeface="IBM Plex Sans Arabic SemiBold" panose="020B0603050203000203" pitchFamily="34" charset="-78"/>
      <p:regular r:id="rId21"/>
      <p:bold r:id="rId22"/>
    </p:embeddedFont>
    <p:embeddedFont>
      <p:font typeface="Proxima Nova" panose="02000506030000020004" pitchFamily="2" charset="0"/>
      <p:regular r:id="rId23"/>
      <p:bold r:id="rId24"/>
      <p:italic r:id="rId25"/>
      <p:boldItalic r:id="rId26"/>
    </p:embeddedFont>
    <p:embeddedFont>
      <p:font typeface="Tajawal" pitchFamily="2" charset="-78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KcFO/Xev719AjEfE5iQO6xfjK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41E1F5B-7058-4A9B-AF8C-0847D0C7EE07}">
  <a:tblStyle styleId="{541E1F5B-7058-4A9B-AF8C-0847D0C7EE0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33"/>
    <p:restoredTop sz="94658"/>
  </p:normalViewPr>
  <p:slideViewPr>
    <p:cSldViewPr snapToGrid="0">
      <p:cViewPr varScale="1">
        <p:scale>
          <a:sx n="140" d="100"/>
          <a:sy n="140" d="100"/>
        </p:scale>
        <p:origin x="208" y="512"/>
      </p:cViewPr>
      <p:guideLst>
        <p:guide orient="horz" pos="524"/>
        <p:guide orient="horz" pos="2560"/>
        <p:guide pos="2880"/>
        <p:guide orient="horz" pos="759"/>
        <p:guide orient="horz" pos="2428"/>
        <p:guide pos="5325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344661-ABA2-8549-B7C4-8491031C0BB3}" type="doc">
      <dgm:prSet loTypeId="urn:microsoft.com/office/officeart/2005/8/layout/target3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67B93732-690B-CA4F-AD62-D6376D8B030F}">
      <dgm:prSet phldrT="[Text]"/>
      <dgm:spPr/>
      <dgm:t>
        <a:bodyPr/>
        <a:lstStyle/>
        <a:p>
          <a:r>
            <a:rPr lang="en-GB" dirty="0"/>
            <a:t>Speed</a:t>
          </a:r>
        </a:p>
      </dgm:t>
    </dgm:pt>
    <dgm:pt modelId="{01BAD183-7490-7C4B-A3E7-85757E1B71F9}" type="parTrans" cxnId="{0337A8C9-D6FC-4148-8A78-AEE7C076B11A}">
      <dgm:prSet/>
      <dgm:spPr/>
      <dgm:t>
        <a:bodyPr/>
        <a:lstStyle/>
        <a:p>
          <a:endParaRPr lang="en-GB"/>
        </a:p>
      </dgm:t>
    </dgm:pt>
    <dgm:pt modelId="{1D17DB82-2465-1C40-B290-3C5622E86417}" type="sibTrans" cxnId="{0337A8C9-D6FC-4148-8A78-AEE7C076B11A}">
      <dgm:prSet/>
      <dgm:spPr/>
      <dgm:t>
        <a:bodyPr/>
        <a:lstStyle/>
        <a:p>
          <a:endParaRPr lang="en-GB"/>
        </a:p>
      </dgm:t>
    </dgm:pt>
    <dgm:pt modelId="{409F7C04-0178-1144-84B8-22BB8D977366}">
      <dgm:prSet phldrT="[Text]"/>
      <dgm:spPr/>
      <dgm:t>
        <a:bodyPr/>
        <a:lstStyle/>
        <a:p>
          <a:pPr rtl="0"/>
          <a:r>
            <a:rPr lang="en-GB" dirty="0"/>
            <a:t>Simplicity</a:t>
          </a:r>
        </a:p>
      </dgm:t>
    </dgm:pt>
    <dgm:pt modelId="{84A3D9BC-764D-F149-BED7-782F9766F416}" type="parTrans" cxnId="{029DC174-66EC-B542-A024-662F52C7C51B}">
      <dgm:prSet/>
      <dgm:spPr/>
      <dgm:t>
        <a:bodyPr/>
        <a:lstStyle/>
        <a:p>
          <a:endParaRPr lang="en-GB"/>
        </a:p>
      </dgm:t>
    </dgm:pt>
    <dgm:pt modelId="{51E8F53B-3EBE-7B46-B0A6-2E3DC7B80201}" type="sibTrans" cxnId="{029DC174-66EC-B542-A024-662F52C7C51B}">
      <dgm:prSet/>
      <dgm:spPr/>
      <dgm:t>
        <a:bodyPr/>
        <a:lstStyle/>
        <a:p>
          <a:endParaRPr lang="en-GB"/>
        </a:p>
      </dgm:t>
    </dgm:pt>
    <dgm:pt modelId="{6E8B1D4E-212F-E54E-8851-35287AAE8A92}">
      <dgm:prSet phldrT="[Text]"/>
      <dgm:spPr/>
      <dgm:t>
        <a:bodyPr/>
        <a:lstStyle/>
        <a:p>
          <a:pPr rtl="0"/>
          <a:r>
            <a:rPr lang="en-GB" dirty="0"/>
            <a:t>Flexibility</a:t>
          </a:r>
        </a:p>
      </dgm:t>
    </dgm:pt>
    <dgm:pt modelId="{57342070-1568-BE44-BA45-BE2D85E7154A}" type="parTrans" cxnId="{95E28271-5427-3C43-8448-A267F6082D3D}">
      <dgm:prSet/>
      <dgm:spPr/>
      <dgm:t>
        <a:bodyPr/>
        <a:lstStyle/>
        <a:p>
          <a:endParaRPr lang="en-GB"/>
        </a:p>
      </dgm:t>
    </dgm:pt>
    <dgm:pt modelId="{C249E160-EFEC-CF41-BCD7-1C725AC60265}" type="sibTrans" cxnId="{95E28271-5427-3C43-8448-A267F6082D3D}">
      <dgm:prSet/>
      <dgm:spPr/>
      <dgm:t>
        <a:bodyPr/>
        <a:lstStyle/>
        <a:p>
          <a:endParaRPr lang="en-GB"/>
        </a:p>
      </dgm:t>
    </dgm:pt>
    <dgm:pt modelId="{D6606FD3-7EF5-6049-9EF8-DA85DCFB56F0}" type="pres">
      <dgm:prSet presAssocID="{3B344661-ABA2-8549-B7C4-8491031C0BB3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4D28CB32-C3F3-0C44-AAD4-CD2C0E0FF043}" type="pres">
      <dgm:prSet presAssocID="{67B93732-690B-CA4F-AD62-D6376D8B030F}" presName="circle1" presStyleLbl="node1" presStyleIdx="0" presStyleCnt="3" custLinFactNeighborY="2206"/>
      <dgm:spPr/>
    </dgm:pt>
    <dgm:pt modelId="{1479A04A-6B44-474B-AE57-DE51CE3B9187}" type="pres">
      <dgm:prSet presAssocID="{67B93732-690B-CA4F-AD62-D6376D8B030F}" presName="space" presStyleCnt="0"/>
      <dgm:spPr/>
    </dgm:pt>
    <dgm:pt modelId="{D45EDE53-506D-494E-AD97-408C49AD6F7C}" type="pres">
      <dgm:prSet presAssocID="{67B93732-690B-CA4F-AD62-D6376D8B030F}" presName="rect1" presStyleLbl="alignAcc1" presStyleIdx="0" presStyleCnt="3" custScaleY="95781" custLinFactNeighborX="15441" custLinFactNeighborY="1360"/>
      <dgm:spPr/>
    </dgm:pt>
    <dgm:pt modelId="{A928ADEB-87D0-DA4C-B8FD-FEFE5392E9C0}" type="pres">
      <dgm:prSet presAssocID="{409F7C04-0178-1144-84B8-22BB8D977366}" presName="vertSpace2" presStyleLbl="node1" presStyleIdx="0" presStyleCnt="3"/>
      <dgm:spPr/>
    </dgm:pt>
    <dgm:pt modelId="{B6F3D9F7-4CC0-914D-B559-0F249B1982FB}" type="pres">
      <dgm:prSet presAssocID="{409F7C04-0178-1144-84B8-22BB8D977366}" presName="circle2" presStyleLbl="node1" presStyleIdx="1" presStyleCnt="3" custLinFactNeighborY="912"/>
      <dgm:spPr/>
    </dgm:pt>
    <dgm:pt modelId="{8BA929A8-E70E-AE40-9C98-ACD2505EDC50}" type="pres">
      <dgm:prSet presAssocID="{409F7C04-0178-1144-84B8-22BB8D977366}" presName="rect2" presStyleLbl="alignAcc1" presStyleIdx="1" presStyleCnt="3" custScaleX="99370" custScaleY="107423"/>
      <dgm:spPr/>
    </dgm:pt>
    <dgm:pt modelId="{4990F574-1E56-734F-9F27-386196EE27B6}" type="pres">
      <dgm:prSet presAssocID="{6E8B1D4E-212F-E54E-8851-35287AAE8A92}" presName="vertSpace3" presStyleLbl="node1" presStyleIdx="1" presStyleCnt="3"/>
      <dgm:spPr/>
    </dgm:pt>
    <dgm:pt modelId="{FC2FE173-1759-EC40-BC05-6EDE1B2BA614}" type="pres">
      <dgm:prSet presAssocID="{6E8B1D4E-212F-E54E-8851-35287AAE8A92}" presName="circle3" presStyleLbl="node1" presStyleIdx="2" presStyleCnt="3"/>
      <dgm:spPr/>
    </dgm:pt>
    <dgm:pt modelId="{83512210-DA7E-0F49-8BA6-9EE9F10AA255}" type="pres">
      <dgm:prSet presAssocID="{6E8B1D4E-212F-E54E-8851-35287AAE8A92}" presName="rect3" presStyleLbl="alignAcc1" presStyleIdx="2" presStyleCnt="3"/>
      <dgm:spPr/>
    </dgm:pt>
    <dgm:pt modelId="{729C48F3-ED4C-4242-BD6D-6216EE4C5C17}" type="pres">
      <dgm:prSet presAssocID="{67B93732-690B-CA4F-AD62-D6376D8B030F}" presName="rect1ParTxNoCh" presStyleLbl="alignAcc1" presStyleIdx="2" presStyleCnt="3">
        <dgm:presLayoutVars>
          <dgm:chMax val="1"/>
          <dgm:bulletEnabled val="1"/>
        </dgm:presLayoutVars>
      </dgm:prSet>
      <dgm:spPr/>
    </dgm:pt>
    <dgm:pt modelId="{F9BCE659-5FD9-7A41-BF96-EE12F269F045}" type="pres">
      <dgm:prSet presAssocID="{409F7C04-0178-1144-84B8-22BB8D977366}" presName="rect2ParTxNoCh" presStyleLbl="alignAcc1" presStyleIdx="2" presStyleCnt="3">
        <dgm:presLayoutVars>
          <dgm:chMax val="1"/>
          <dgm:bulletEnabled val="1"/>
        </dgm:presLayoutVars>
      </dgm:prSet>
      <dgm:spPr/>
    </dgm:pt>
    <dgm:pt modelId="{22C95C15-CF17-ED48-A192-83A789AF4EA1}" type="pres">
      <dgm:prSet presAssocID="{6E8B1D4E-212F-E54E-8851-35287AAE8A92}" presName="rect3ParTxNoCh" presStyleLbl="alignAcc1" presStyleIdx="2" presStyleCnt="3">
        <dgm:presLayoutVars>
          <dgm:chMax val="1"/>
          <dgm:bulletEnabled val="1"/>
        </dgm:presLayoutVars>
      </dgm:prSet>
      <dgm:spPr/>
    </dgm:pt>
  </dgm:ptLst>
  <dgm:cxnLst>
    <dgm:cxn modelId="{24A9FE1D-5AA4-3248-8F75-6F54E354E2E6}" type="presOf" srcId="{409F7C04-0178-1144-84B8-22BB8D977366}" destId="{8BA929A8-E70E-AE40-9C98-ACD2505EDC50}" srcOrd="0" destOrd="0" presId="urn:microsoft.com/office/officeart/2005/8/layout/target3"/>
    <dgm:cxn modelId="{83238E4A-6682-A842-8C6D-93E8E796020D}" type="presOf" srcId="{6E8B1D4E-212F-E54E-8851-35287AAE8A92}" destId="{22C95C15-CF17-ED48-A192-83A789AF4EA1}" srcOrd="1" destOrd="0" presId="urn:microsoft.com/office/officeart/2005/8/layout/target3"/>
    <dgm:cxn modelId="{1B964A4D-8AE9-974A-B92F-CDFEF3151E30}" type="presOf" srcId="{67B93732-690B-CA4F-AD62-D6376D8B030F}" destId="{729C48F3-ED4C-4242-BD6D-6216EE4C5C17}" srcOrd="1" destOrd="0" presId="urn:microsoft.com/office/officeart/2005/8/layout/target3"/>
    <dgm:cxn modelId="{F244E46A-F1C8-AB4F-9B4C-234CCF9B2378}" type="presOf" srcId="{6E8B1D4E-212F-E54E-8851-35287AAE8A92}" destId="{83512210-DA7E-0F49-8BA6-9EE9F10AA255}" srcOrd="0" destOrd="0" presId="urn:microsoft.com/office/officeart/2005/8/layout/target3"/>
    <dgm:cxn modelId="{95E28271-5427-3C43-8448-A267F6082D3D}" srcId="{3B344661-ABA2-8549-B7C4-8491031C0BB3}" destId="{6E8B1D4E-212F-E54E-8851-35287AAE8A92}" srcOrd="2" destOrd="0" parTransId="{57342070-1568-BE44-BA45-BE2D85E7154A}" sibTransId="{C249E160-EFEC-CF41-BCD7-1C725AC60265}"/>
    <dgm:cxn modelId="{029DC174-66EC-B542-A024-662F52C7C51B}" srcId="{3B344661-ABA2-8549-B7C4-8491031C0BB3}" destId="{409F7C04-0178-1144-84B8-22BB8D977366}" srcOrd="1" destOrd="0" parTransId="{84A3D9BC-764D-F149-BED7-782F9766F416}" sibTransId="{51E8F53B-3EBE-7B46-B0A6-2E3DC7B80201}"/>
    <dgm:cxn modelId="{0337A8C9-D6FC-4148-8A78-AEE7C076B11A}" srcId="{3B344661-ABA2-8549-B7C4-8491031C0BB3}" destId="{67B93732-690B-CA4F-AD62-D6376D8B030F}" srcOrd="0" destOrd="0" parTransId="{01BAD183-7490-7C4B-A3E7-85757E1B71F9}" sibTransId="{1D17DB82-2465-1C40-B290-3C5622E86417}"/>
    <dgm:cxn modelId="{94C283EC-FD28-2046-84C3-C5215FDCE2A5}" type="presOf" srcId="{409F7C04-0178-1144-84B8-22BB8D977366}" destId="{F9BCE659-5FD9-7A41-BF96-EE12F269F045}" srcOrd="1" destOrd="0" presId="urn:microsoft.com/office/officeart/2005/8/layout/target3"/>
    <dgm:cxn modelId="{356310EE-6CE2-B14A-908A-924D18CCCC05}" type="presOf" srcId="{67B93732-690B-CA4F-AD62-D6376D8B030F}" destId="{D45EDE53-506D-494E-AD97-408C49AD6F7C}" srcOrd="0" destOrd="0" presId="urn:microsoft.com/office/officeart/2005/8/layout/target3"/>
    <dgm:cxn modelId="{8BA2C8F2-C708-1A4A-B9D4-BE453C8B0782}" type="presOf" srcId="{3B344661-ABA2-8549-B7C4-8491031C0BB3}" destId="{D6606FD3-7EF5-6049-9EF8-DA85DCFB56F0}" srcOrd="0" destOrd="0" presId="urn:microsoft.com/office/officeart/2005/8/layout/target3"/>
    <dgm:cxn modelId="{25A350E3-ECBE-9249-97C6-58547A276141}" type="presParOf" srcId="{D6606FD3-7EF5-6049-9EF8-DA85DCFB56F0}" destId="{4D28CB32-C3F3-0C44-AAD4-CD2C0E0FF043}" srcOrd="0" destOrd="0" presId="urn:microsoft.com/office/officeart/2005/8/layout/target3"/>
    <dgm:cxn modelId="{13F4EBEF-358C-0448-B7DC-7A07A9CB7F8C}" type="presParOf" srcId="{D6606FD3-7EF5-6049-9EF8-DA85DCFB56F0}" destId="{1479A04A-6B44-474B-AE57-DE51CE3B9187}" srcOrd="1" destOrd="0" presId="urn:microsoft.com/office/officeart/2005/8/layout/target3"/>
    <dgm:cxn modelId="{E94A8EDD-E932-E34A-ACFC-E18D40E8320F}" type="presParOf" srcId="{D6606FD3-7EF5-6049-9EF8-DA85DCFB56F0}" destId="{D45EDE53-506D-494E-AD97-408C49AD6F7C}" srcOrd="2" destOrd="0" presId="urn:microsoft.com/office/officeart/2005/8/layout/target3"/>
    <dgm:cxn modelId="{D1E6261C-3502-6244-A475-0B2A854D7A07}" type="presParOf" srcId="{D6606FD3-7EF5-6049-9EF8-DA85DCFB56F0}" destId="{A928ADEB-87D0-DA4C-B8FD-FEFE5392E9C0}" srcOrd="3" destOrd="0" presId="urn:microsoft.com/office/officeart/2005/8/layout/target3"/>
    <dgm:cxn modelId="{33C4A7C5-E3BF-CC47-A438-994D3EAB8DEA}" type="presParOf" srcId="{D6606FD3-7EF5-6049-9EF8-DA85DCFB56F0}" destId="{B6F3D9F7-4CC0-914D-B559-0F249B1982FB}" srcOrd="4" destOrd="0" presId="urn:microsoft.com/office/officeart/2005/8/layout/target3"/>
    <dgm:cxn modelId="{9ED09503-3B31-2245-B7DA-8515F18D631C}" type="presParOf" srcId="{D6606FD3-7EF5-6049-9EF8-DA85DCFB56F0}" destId="{8BA929A8-E70E-AE40-9C98-ACD2505EDC50}" srcOrd="5" destOrd="0" presId="urn:microsoft.com/office/officeart/2005/8/layout/target3"/>
    <dgm:cxn modelId="{0743D913-68B7-5C46-B35C-E7063C9181F6}" type="presParOf" srcId="{D6606FD3-7EF5-6049-9EF8-DA85DCFB56F0}" destId="{4990F574-1E56-734F-9F27-386196EE27B6}" srcOrd="6" destOrd="0" presId="urn:microsoft.com/office/officeart/2005/8/layout/target3"/>
    <dgm:cxn modelId="{0EB69756-747C-9C42-AAD3-239128D3D7F1}" type="presParOf" srcId="{D6606FD3-7EF5-6049-9EF8-DA85DCFB56F0}" destId="{FC2FE173-1759-EC40-BC05-6EDE1B2BA614}" srcOrd="7" destOrd="0" presId="urn:microsoft.com/office/officeart/2005/8/layout/target3"/>
    <dgm:cxn modelId="{0072C5E8-6C78-204E-B812-8BE49DD3C18F}" type="presParOf" srcId="{D6606FD3-7EF5-6049-9EF8-DA85DCFB56F0}" destId="{83512210-DA7E-0F49-8BA6-9EE9F10AA255}" srcOrd="8" destOrd="0" presId="urn:microsoft.com/office/officeart/2005/8/layout/target3"/>
    <dgm:cxn modelId="{1054D6CC-C938-CE4D-862B-7D23EAA89FBD}" type="presParOf" srcId="{D6606FD3-7EF5-6049-9EF8-DA85DCFB56F0}" destId="{729C48F3-ED4C-4242-BD6D-6216EE4C5C17}" srcOrd="9" destOrd="0" presId="urn:microsoft.com/office/officeart/2005/8/layout/target3"/>
    <dgm:cxn modelId="{263E91A1-5476-8E43-9A50-622C1F13E502}" type="presParOf" srcId="{D6606FD3-7EF5-6049-9EF8-DA85DCFB56F0}" destId="{F9BCE659-5FD9-7A41-BF96-EE12F269F045}" srcOrd="10" destOrd="0" presId="urn:microsoft.com/office/officeart/2005/8/layout/target3"/>
    <dgm:cxn modelId="{022C0B28-A8CF-8041-9F1A-07B225507B98}" type="presParOf" srcId="{D6606FD3-7EF5-6049-9EF8-DA85DCFB56F0}" destId="{22C95C15-CF17-ED48-A192-83A789AF4EA1}" srcOrd="11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7BC68B-E671-4DF4-9B62-99E8860A34EF}" type="doc">
      <dgm:prSet loTypeId="urn:microsoft.com/office/officeart/2008/layout/LinedList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2C60EF9-6C2B-47FA-9CB6-AE9A7FD0179F}">
      <dgm:prSet/>
      <dgm:spPr/>
      <dgm:t>
        <a:bodyPr/>
        <a:lstStyle/>
        <a:p>
          <a:r>
            <a:rPr lang="en-GB" b="1" i="0"/>
            <a:t>Steps</a:t>
          </a:r>
          <a:r>
            <a:rPr lang="en-GB" b="0" i="0"/>
            <a:t>:</a:t>
          </a:r>
          <a:endParaRPr lang="en-US"/>
        </a:p>
      </dgm:t>
    </dgm:pt>
    <dgm:pt modelId="{27835C80-CBD8-4BC4-82A2-3A967ED4F307}" type="parTrans" cxnId="{DCA7A7D5-AA42-44AD-9EC0-FDCD659F3689}">
      <dgm:prSet/>
      <dgm:spPr/>
      <dgm:t>
        <a:bodyPr/>
        <a:lstStyle/>
        <a:p>
          <a:endParaRPr lang="en-US"/>
        </a:p>
      </dgm:t>
    </dgm:pt>
    <dgm:pt modelId="{37EA5EBB-2F6C-4727-989D-9CC83F31BD99}" type="sibTrans" cxnId="{DCA7A7D5-AA42-44AD-9EC0-FDCD659F3689}">
      <dgm:prSet/>
      <dgm:spPr/>
      <dgm:t>
        <a:bodyPr/>
        <a:lstStyle/>
        <a:p>
          <a:endParaRPr lang="en-US"/>
        </a:p>
      </dgm:t>
    </dgm:pt>
    <dgm:pt modelId="{56B8BF02-D3FB-4ECE-A63E-CBFC9DF83D80}">
      <dgm:prSet/>
      <dgm:spPr/>
      <dgm:t>
        <a:bodyPr/>
        <a:lstStyle/>
        <a:p>
          <a:r>
            <a:rPr lang="en-GB" b="0" i="0"/>
            <a:t>Decorate a Python function with @numba.jit.</a:t>
          </a:r>
          <a:endParaRPr lang="en-US"/>
        </a:p>
      </dgm:t>
    </dgm:pt>
    <dgm:pt modelId="{61648986-9A86-41E4-8D31-7278EA2334AF}" type="parTrans" cxnId="{6823F241-18AD-47B1-BE34-F93881FCC5B4}">
      <dgm:prSet/>
      <dgm:spPr/>
      <dgm:t>
        <a:bodyPr/>
        <a:lstStyle/>
        <a:p>
          <a:endParaRPr lang="en-US"/>
        </a:p>
      </dgm:t>
    </dgm:pt>
    <dgm:pt modelId="{7A1992F9-9AA0-4165-8A0B-84FEDFBB75BD}" type="sibTrans" cxnId="{6823F241-18AD-47B1-BE34-F93881FCC5B4}">
      <dgm:prSet/>
      <dgm:spPr/>
      <dgm:t>
        <a:bodyPr/>
        <a:lstStyle/>
        <a:p>
          <a:endParaRPr lang="en-US"/>
        </a:p>
      </dgm:t>
    </dgm:pt>
    <dgm:pt modelId="{54A44087-B177-453E-9DCB-D4D20855567A}">
      <dgm:prSet/>
      <dgm:spPr/>
      <dgm:t>
        <a:bodyPr/>
        <a:lstStyle/>
        <a:p>
          <a:r>
            <a:rPr lang="en-GB" b="0" i="0"/>
            <a:t>Numba compiles the function to machine code at runtime.</a:t>
          </a:r>
          <a:endParaRPr lang="en-US"/>
        </a:p>
      </dgm:t>
    </dgm:pt>
    <dgm:pt modelId="{093D972E-18EB-4258-8136-081664AD190C}" type="parTrans" cxnId="{8BFCC710-003C-42CA-A0FD-445FC1232AC9}">
      <dgm:prSet/>
      <dgm:spPr/>
      <dgm:t>
        <a:bodyPr/>
        <a:lstStyle/>
        <a:p>
          <a:endParaRPr lang="en-US"/>
        </a:p>
      </dgm:t>
    </dgm:pt>
    <dgm:pt modelId="{C14A10A7-A5FD-4344-8223-B68C71E34954}" type="sibTrans" cxnId="{8BFCC710-003C-42CA-A0FD-445FC1232AC9}">
      <dgm:prSet/>
      <dgm:spPr/>
      <dgm:t>
        <a:bodyPr/>
        <a:lstStyle/>
        <a:p>
          <a:endParaRPr lang="en-US"/>
        </a:p>
      </dgm:t>
    </dgm:pt>
    <dgm:pt modelId="{6AEBFE92-FAC8-4DD1-888F-CEE235E95197}">
      <dgm:prSet/>
      <dgm:spPr/>
      <dgm:t>
        <a:bodyPr/>
        <a:lstStyle/>
        <a:p>
          <a:r>
            <a:rPr lang="en-GB" b="0" i="0" dirty="0"/>
            <a:t>Executes the optimized code for faster performance.</a:t>
          </a:r>
          <a:endParaRPr lang="en-US" dirty="0"/>
        </a:p>
      </dgm:t>
    </dgm:pt>
    <dgm:pt modelId="{FEB6CE20-DDE7-4B28-9AF2-89282174F382}" type="parTrans" cxnId="{08C4832D-F53A-4407-834F-F40057208752}">
      <dgm:prSet/>
      <dgm:spPr/>
      <dgm:t>
        <a:bodyPr/>
        <a:lstStyle/>
        <a:p>
          <a:endParaRPr lang="en-US"/>
        </a:p>
      </dgm:t>
    </dgm:pt>
    <dgm:pt modelId="{1C601A47-E535-4B2E-B427-3E9B98BE89D3}" type="sibTrans" cxnId="{08C4832D-F53A-4407-834F-F40057208752}">
      <dgm:prSet/>
      <dgm:spPr/>
      <dgm:t>
        <a:bodyPr/>
        <a:lstStyle/>
        <a:p>
          <a:endParaRPr lang="en-US"/>
        </a:p>
      </dgm:t>
    </dgm:pt>
    <dgm:pt modelId="{001E77E1-9A49-694F-B60F-92DBD0A8E3F2}" type="pres">
      <dgm:prSet presAssocID="{8E7BC68B-E671-4DF4-9B62-99E8860A34EF}" presName="vert0" presStyleCnt="0">
        <dgm:presLayoutVars>
          <dgm:dir/>
          <dgm:animOne val="branch"/>
          <dgm:animLvl val="lvl"/>
        </dgm:presLayoutVars>
      </dgm:prSet>
      <dgm:spPr/>
    </dgm:pt>
    <dgm:pt modelId="{8A08B5EE-F4EB-C54D-90E2-59891E8A3B51}" type="pres">
      <dgm:prSet presAssocID="{F2C60EF9-6C2B-47FA-9CB6-AE9A7FD0179F}" presName="thickLine" presStyleLbl="alignNode1" presStyleIdx="0" presStyleCnt="4"/>
      <dgm:spPr/>
    </dgm:pt>
    <dgm:pt modelId="{9E427C2B-66F1-874D-9C6F-861658D5555F}" type="pres">
      <dgm:prSet presAssocID="{F2C60EF9-6C2B-47FA-9CB6-AE9A7FD0179F}" presName="horz1" presStyleCnt="0"/>
      <dgm:spPr/>
    </dgm:pt>
    <dgm:pt modelId="{11DD4F7F-E7BA-C743-84EC-91ED239AAD3F}" type="pres">
      <dgm:prSet presAssocID="{F2C60EF9-6C2B-47FA-9CB6-AE9A7FD0179F}" presName="tx1" presStyleLbl="revTx" presStyleIdx="0" presStyleCnt="4"/>
      <dgm:spPr/>
    </dgm:pt>
    <dgm:pt modelId="{327629EE-482B-B845-B993-C46C269C550B}" type="pres">
      <dgm:prSet presAssocID="{F2C60EF9-6C2B-47FA-9CB6-AE9A7FD0179F}" presName="vert1" presStyleCnt="0"/>
      <dgm:spPr/>
    </dgm:pt>
    <dgm:pt modelId="{2947578D-C84E-9744-A4D6-C6D50003C7CB}" type="pres">
      <dgm:prSet presAssocID="{56B8BF02-D3FB-4ECE-A63E-CBFC9DF83D80}" presName="thickLine" presStyleLbl="alignNode1" presStyleIdx="1" presStyleCnt="4"/>
      <dgm:spPr/>
    </dgm:pt>
    <dgm:pt modelId="{E3CC9CB7-6EB3-B64F-A7AE-7997B759A833}" type="pres">
      <dgm:prSet presAssocID="{56B8BF02-D3FB-4ECE-A63E-CBFC9DF83D80}" presName="horz1" presStyleCnt="0"/>
      <dgm:spPr/>
    </dgm:pt>
    <dgm:pt modelId="{236509EF-2684-4446-A822-0DA9584A9E89}" type="pres">
      <dgm:prSet presAssocID="{56B8BF02-D3FB-4ECE-A63E-CBFC9DF83D80}" presName="tx1" presStyleLbl="revTx" presStyleIdx="1" presStyleCnt="4"/>
      <dgm:spPr/>
    </dgm:pt>
    <dgm:pt modelId="{3C35872B-3440-804D-9280-7A051563B425}" type="pres">
      <dgm:prSet presAssocID="{56B8BF02-D3FB-4ECE-A63E-CBFC9DF83D80}" presName="vert1" presStyleCnt="0"/>
      <dgm:spPr/>
    </dgm:pt>
    <dgm:pt modelId="{AC5D3A6D-4A49-AC4D-BAB2-286402C77688}" type="pres">
      <dgm:prSet presAssocID="{54A44087-B177-453E-9DCB-D4D20855567A}" presName="thickLine" presStyleLbl="alignNode1" presStyleIdx="2" presStyleCnt="4"/>
      <dgm:spPr/>
    </dgm:pt>
    <dgm:pt modelId="{67731304-4F58-3B47-8A1A-18400AB18B3F}" type="pres">
      <dgm:prSet presAssocID="{54A44087-B177-453E-9DCB-D4D20855567A}" presName="horz1" presStyleCnt="0"/>
      <dgm:spPr/>
    </dgm:pt>
    <dgm:pt modelId="{3D9CE1EE-9838-4242-883F-AF671AF72DC8}" type="pres">
      <dgm:prSet presAssocID="{54A44087-B177-453E-9DCB-D4D20855567A}" presName="tx1" presStyleLbl="revTx" presStyleIdx="2" presStyleCnt="4"/>
      <dgm:spPr/>
    </dgm:pt>
    <dgm:pt modelId="{4E540D5E-8CD3-E546-80E7-6630B2136B16}" type="pres">
      <dgm:prSet presAssocID="{54A44087-B177-453E-9DCB-D4D20855567A}" presName="vert1" presStyleCnt="0"/>
      <dgm:spPr/>
    </dgm:pt>
    <dgm:pt modelId="{F8EF6B1C-60FD-ED44-A8A2-4CB613C8CB4F}" type="pres">
      <dgm:prSet presAssocID="{6AEBFE92-FAC8-4DD1-888F-CEE235E95197}" presName="thickLine" presStyleLbl="alignNode1" presStyleIdx="3" presStyleCnt="4"/>
      <dgm:spPr/>
    </dgm:pt>
    <dgm:pt modelId="{3DC1948E-1944-854B-80A9-197354A43090}" type="pres">
      <dgm:prSet presAssocID="{6AEBFE92-FAC8-4DD1-888F-CEE235E95197}" presName="horz1" presStyleCnt="0"/>
      <dgm:spPr/>
    </dgm:pt>
    <dgm:pt modelId="{0129D757-C809-DD43-8C31-B39DFED76C56}" type="pres">
      <dgm:prSet presAssocID="{6AEBFE92-FAC8-4DD1-888F-CEE235E95197}" presName="tx1" presStyleLbl="revTx" presStyleIdx="3" presStyleCnt="4"/>
      <dgm:spPr/>
    </dgm:pt>
    <dgm:pt modelId="{4B3D59C7-166D-CB48-ADBB-B67E27033F87}" type="pres">
      <dgm:prSet presAssocID="{6AEBFE92-FAC8-4DD1-888F-CEE235E95197}" presName="vert1" presStyleCnt="0"/>
      <dgm:spPr/>
    </dgm:pt>
  </dgm:ptLst>
  <dgm:cxnLst>
    <dgm:cxn modelId="{90780208-7F8A-984E-B594-280A646FF44C}" type="presOf" srcId="{6AEBFE92-FAC8-4DD1-888F-CEE235E95197}" destId="{0129D757-C809-DD43-8C31-B39DFED76C56}" srcOrd="0" destOrd="0" presId="urn:microsoft.com/office/officeart/2008/layout/LinedList"/>
    <dgm:cxn modelId="{FF0B030F-BD09-A44B-A27E-101863DDA43E}" type="presOf" srcId="{8E7BC68B-E671-4DF4-9B62-99E8860A34EF}" destId="{001E77E1-9A49-694F-B60F-92DBD0A8E3F2}" srcOrd="0" destOrd="0" presId="urn:microsoft.com/office/officeart/2008/layout/LinedList"/>
    <dgm:cxn modelId="{8BFCC710-003C-42CA-A0FD-445FC1232AC9}" srcId="{8E7BC68B-E671-4DF4-9B62-99E8860A34EF}" destId="{54A44087-B177-453E-9DCB-D4D20855567A}" srcOrd="2" destOrd="0" parTransId="{093D972E-18EB-4258-8136-081664AD190C}" sibTransId="{C14A10A7-A5FD-4344-8223-B68C71E34954}"/>
    <dgm:cxn modelId="{08C4832D-F53A-4407-834F-F40057208752}" srcId="{8E7BC68B-E671-4DF4-9B62-99E8860A34EF}" destId="{6AEBFE92-FAC8-4DD1-888F-CEE235E95197}" srcOrd="3" destOrd="0" parTransId="{FEB6CE20-DDE7-4B28-9AF2-89282174F382}" sibTransId="{1C601A47-E535-4B2E-B427-3E9B98BE89D3}"/>
    <dgm:cxn modelId="{6823F241-18AD-47B1-BE34-F93881FCC5B4}" srcId="{8E7BC68B-E671-4DF4-9B62-99E8860A34EF}" destId="{56B8BF02-D3FB-4ECE-A63E-CBFC9DF83D80}" srcOrd="1" destOrd="0" parTransId="{61648986-9A86-41E4-8D31-7278EA2334AF}" sibTransId="{7A1992F9-9AA0-4165-8A0B-84FEDFBB75BD}"/>
    <dgm:cxn modelId="{08C52256-3182-3D4E-B9F9-DF98C70DE8C8}" type="presOf" srcId="{56B8BF02-D3FB-4ECE-A63E-CBFC9DF83D80}" destId="{236509EF-2684-4446-A822-0DA9584A9E89}" srcOrd="0" destOrd="0" presId="urn:microsoft.com/office/officeart/2008/layout/LinedList"/>
    <dgm:cxn modelId="{D4B4EFA4-A76B-3540-8AC5-583541CBA6A0}" type="presOf" srcId="{F2C60EF9-6C2B-47FA-9CB6-AE9A7FD0179F}" destId="{11DD4F7F-E7BA-C743-84EC-91ED239AAD3F}" srcOrd="0" destOrd="0" presId="urn:microsoft.com/office/officeart/2008/layout/LinedList"/>
    <dgm:cxn modelId="{DCA7A7D5-AA42-44AD-9EC0-FDCD659F3689}" srcId="{8E7BC68B-E671-4DF4-9B62-99E8860A34EF}" destId="{F2C60EF9-6C2B-47FA-9CB6-AE9A7FD0179F}" srcOrd="0" destOrd="0" parTransId="{27835C80-CBD8-4BC4-82A2-3A967ED4F307}" sibTransId="{37EA5EBB-2F6C-4727-989D-9CC83F31BD99}"/>
    <dgm:cxn modelId="{B490F7F6-E9AA-E048-AA8F-7A91AE4C0245}" type="presOf" srcId="{54A44087-B177-453E-9DCB-D4D20855567A}" destId="{3D9CE1EE-9838-4242-883F-AF671AF72DC8}" srcOrd="0" destOrd="0" presId="urn:microsoft.com/office/officeart/2008/layout/LinedList"/>
    <dgm:cxn modelId="{493C13C4-77D6-4143-844E-499AF54930F7}" type="presParOf" srcId="{001E77E1-9A49-694F-B60F-92DBD0A8E3F2}" destId="{8A08B5EE-F4EB-C54D-90E2-59891E8A3B51}" srcOrd="0" destOrd="0" presId="urn:microsoft.com/office/officeart/2008/layout/LinedList"/>
    <dgm:cxn modelId="{2FA86BE6-6E33-C940-8783-AAF6124067AF}" type="presParOf" srcId="{001E77E1-9A49-694F-B60F-92DBD0A8E3F2}" destId="{9E427C2B-66F1-874D-9C6F-861658D5555F}" srcOrd="1" destOrd="0" presId="urn:microsoft.com/office/officeart/2008/layout/LinedList"/>
    <dgm:cxn modelId="{E21D4A0A-EC28-6340-82D5-3CF1EEAB5DB3}" type="presParOf" srcId="{9E427C2B-66F1-874D-9C6F-861658D5555F}" destId="{11DD4F7F-E7BA-C743-84EC-91ED239AAD3F}" srcOrd="0" destOrd="0" presId="urn:microsoft.com/office/officeart/2008/layout/LinedList"/>
    <dgm:cxn modelId="{62309D25-3935-D842-AE4C-ABD95C5B602D}" type="presParOf" srcId="{9E427C2B-66F1-874D-9C6F-861658D5555F}" destId="{327629EE-482B-B845-B993-C46C269C550B}" srcOrd="1" destOrd="0" presId="urn:microsoft.com/office/officeart/2008/layout/LinedList"/>
    <dgm:cxn modelId="{5FA15400-9A53-3F46-83B3-8695CAA382D3}" type="presParOf" srcId="{001E77E1-9A49-694F-B60F-92DBD0A8E3F2}" destId="{2947578D-C84E-9744-A4D6-C6D50003C7CB}" srcOrd="2" destOrd="0" presId="urn:microsoft.com/office/officeart/2008/layout/LinedList"/>
    <dgm:cxn modelId="{E05EA631-B0FE-394C-B589-4011B7598B27}" type="presParOf" srcId="{001E77E1-9A49-694F-B60F-92DBD0A8E3F2}" destId="{E3CC9CB7-6EB3-B64F-A7AE-7997B759A833}" srcOrd="3" destOrd="0" presId="urn:microsoft.com/office/officeart/2008/layout/LinedList"/>
    <dgm:cxn modelId="{C4E380A1-B3F2-514D-875C-C63FB59B8C96}" type="presParOf" srcId="{E3CC9CB7-6EB3-B64F-A7AE-7997B759A833}" destId="{236509EF-2684-4446-A822-0DA9584A9E89}" srcOrd="0" destOrd="0" presId="urn:microsoft.com/office/officeart/2008/layout/LinedList"/>
    <dgm:cxn modelId="{5156C806-FC25-3F49-B0B4-3550CD49837E}" type="presParOf" srcId="{E3CC9CB7-6EB3-B64F-A7AE-7997B759A833}" destId="{3C35872B-3440-804D-9280-7A051563B425}" srcOrd="1" destOrd="0" presId="urn:microsoft.com/office/officeart/2008/layout/LinedList"/>
    <dgm:cxn modelId="{2D827F14-E34F-2744-870A-54929C528018}" type="presParOf" srcId="{001E77E1-9A49-694F-B60F-92DBD0A8E3F2}" destId="{AC5D3A6D-4A49-AC4D-BAB2-286402C77688}" srcOrd="4" destOrd="0" presId="urn:microsoft.com/office/officeart/2008/layout/LinedList"/>
    <dgm:cxn modelId="{8386CA82-3DCE-B645-9400-9F19021C69FF}" type="presParOf" srcId="{001E77E1-9A49-694F-B60F-92DBD0A8E3F2}" destId="{67731304-4F58-3B47-8A1A-18400AB18B3F}" srcOrd="5" destOrd="0" presId="urn:microsoft.com/office/officeart/2008/layout/LinedList"/>
    <dgm:cxn modelId="{77913541-5C6E-9A49-866D-4793F9911D38}" type="presParOf" srcId="{67731304-4F58-3B47-8A1A-18400AB18B3F}" destId="{3D9CE1EE-9838-4242-883F-AF671AF72DC8}" srcOrd="0" destOrd="0" presId="urn:microsoft.com/office/officeart/2008/layout/LinedList"/>
    <dgm:cxn modelId="{CAB36081-78C9-214F-B47B-CCCFB3CA37C4}" type="presParOf" srcId="{67731304-4F58-3B47-8A1A-18400AB18B3F}" destId="{4E540D5E-8CD3-E546-80E7-6630B2136B16}" srcOrd="1" destOrd="0" presId="urn:microsoft.com/office/officeart/2008/layout/LinedList"/>
    <dgm:cxn modelId="{E69B74EC-CC2F-8B47-99E3-B47084B3705A}" type="presParOf" srcId="{001E77E1-9A49-694F-B60F-92DBD0A8E3F2}" destId="{F8EF6B1C-60FD-ED44-A8A2-4CB613C8CB4F}" srcOrd="6" destOrd="0" presId="urn:microsoft.com/office/officeart/2008/layout/LinedList"/>
    <dgm:cxn modelId="{F87C5D7A-9FB8-8C4C-B1FB-8E00F40C998D}" type="presParOf" srcId="{001E77E1-9A49-694F-B60F-92DBD0A8E3F2}" destId="{3DC1948E-1944-854B-80A9-197354A43090}" srcOrd="7" destOrd="0" presId="urn:microsoft.com/office/officeart/2008/layout/LinedList"/>
    <dgm:cxn modelId="{278A4EC5-E835-DE4A-A91D-8756FA143FE4}" type="presParOf" srcId="{3DC1948E-1944-854B-80A9-197354A43090}" destId="{0129D757-C809-DD43-8C31-B39DFED76C56}" srcOrd="0" destOrd="0" presId="urn:microsoft.com/office/officeart/2008/layout/LinedList"/>
    <dgm:cxn modelId="{73CC9408-45C7-2847-8663-57F11D127B62}" type="presParOf" srcId="{3DC1948E-1944-854B-80A9-197354A43090}" destId="{4B3D59C7-166D-CB48-ADBB-B67E27033F8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28CB32-C3F3-0C44-AAD4-CD2C0E0FF043}">
      <dsp:nvSpPr>
        <dsp:cNvPr id="0" name=""/>
        <dsp:cNvSpPr/>
      </dsp:nvSpPr>
      <dsp:spPr>
        <a:xfrm>
          <a:off x="0" y="395353"/>
          <a:ext cx="2487167" cy="2487167"/>
        </a:xfrm>
        <a:prstGeom prst="pie">
          <a:avLst>
            <a:gd name="adj1" fmla="val 5400000"/>
            <a:gd name="adj2" fmla="val 162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5EDE53-506D-494E-AD97-408C49AD6F7C}">
      <dsp:nvSpPr>
        <dsp:cNvPr id="0" name=""/>
        <dsp:cNvSpPr/>
      </dsp:nvSpPr>
      <dsp:spPr>
        <a:xfrm>
          <a:off x="1243583" y="426779"/>
          <a:ext cx="2901696" cy="238223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 dirty="0"/>
            <a:t>Speed</a:t>
          </a:r>
        </a:p>
      </dsp:txBody>
      <dsp:txXfrm>
        <a:off x="1243583" y="426779"/>
        <a:ext cx="2901696" cy="714671"/>
      </dsp:txXfrm>
    </dsp:sp>
    <dsp:sp modelId="{B6F3D9F7-4CC0-914D-B559-0F249B1982FB}">
      <dsp:nvSpPr>
        <dsp:cNvPr id="0" name=""/>
        <dsp:cNvSpPr/>
      </dsp:nvSpPr>
      <dsp:spPr>
        <a:xfrm>
          <a:off x="435255" y="1101382"/>
          <a:ext cx="1616657" cy="1616657"/>
        </a:xfrm>
        <a:prstGeom prst="pie">
          <a:avLst>
            <a:gd name="adj1" fmla="val 5400000"/>
            <a:gd name="adj2" fmla="val 16200000"/>
          </a:avLst>
        </a:prstGeom>
        <a:solidFill>
          <a:schemeClr val="accent2">
            <a:hueOff val="6000035"/>
            <a:satOff val="7693"/>
            <a:lumOff val="20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A929A8-E70E-AE40-9C98-ACD2505EDC50}">
      <dsp:nvSpPr>
        <dsp:cNvPr id="0" name=""/>
        <dsp:cNvSpPr/>
      </dsp:nvSpPr>
      <dsp:spPr>
        <a:xfrm>
          <a:off x="1252724" y="1026636"/>
          <a:ext cx="2883415" cy="17366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6000035"/>
              <a:satOff val="7693"/>
              <a:lumOff val="205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 dirty="0"/>
            <a:t>Simplicity</a:t>
          </a:r>
        </a:p>
      </dsp:txBody>
      <dsp:txXfrm>
        <a:off x="1252724" y="1026636"/>
        <a:ext cx="2883415" cy="801536"/>
      </dsp:txXfrm>
    </dsp:sp>
    <dsp:sp modelId="{FC2FE173-1759-EC40-BC05-6EDE1B2BA614}">
      <dsp:nvSpPr>
        <dsp:cNvPr id="0" name=""/>
        <dsp:cNvSpPr/>
      </dsp:nvSpPr>
      <dsp:spPr>
        <a:xfrm>
          <a:off x="870509" y="1832788"/>
          <a:ext cx="746149" cy="746149"/>
        </a:xfrm>
        <a:prstGeom prst="pie">
          <a:avLst>
            <a:gd name="adj1" fmla="val 5400000"/>
            <a:gd name="adj2" fmla="val 16200000"/>
          </a:avLst>
        </a:prstGeom>
        <a:solidFill>
          <a:schemeClr val="accent2">
            <a:hueOff val="12000070"/>
            <a:satOff val="15385"/>
            <a:lumOff val="411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512210-DA7E-0F49-8BA6-9EE9F10AA255}">
      <dsp:nvSpPr>
        <dsp:cNvPr id="0" name=""/>
        <dsp:cNvSpPr/>
      </dsp:nvSpPr>
      <dsp:spPr>
        <a:xfrm>
          <a:off x="1243583" y="1832788"/>
          <a:ext cx="2901696" cy="7461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12000070"/>
              <a:satOff val="15385"/>
              <a:lumOff val="411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 dirty="0"/>
            <a:t>Flexibility</a:t>
          </a:r>
        </a:p>
      </dsp:txBody>
      <dsp:txXfrm>
        <a:off x="1243583" y="1832788"/>
        <a:ext cx="2901696" cy="7461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08B5EE-F4EB-C54D-90E2-59891E8A3B51}">
      <dsp:nvSpPr>
        <dsp:cNvPr id="0" name=""/>
        <dsp:cNvSpPr/>
      </dsp:nvSpPr>
      <dsp:spPr>
        <a:xfrm>
          <a:off x="0" y="0"/>
          <a:ext cx="85206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1DD4F7F-E7BA-C743-84EC-91ED239AAD3F}">
      <dsp:nvSpPr>
        <dsp:cNvPr id="0" name=""/>
        <dsp:cNvSpPr/>
      </dsp:nvSpPr>
      <dsp:spPr>
        <a:xfrm>
          <a:off x="0" y="0"/>
          <a:ext cx="8520600" cy="4411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i="0" kern="1200"/>
            <a:t>Steps</a:t>
          </a:r>
          <a:r>
            <a:rPr lang="en-GB" sz="2100" b="0" i="0" kern="1200"/>
            <a:t>:</a:t>
          </a:r>
          <a:endParaRPr lang="en-US" sz="2100" kern="1200"/>
        </a:p>
      </dsp:txBody>
      <dsp:txXfrm>
        <a:off x="0" y="0"/>
        <a:ext cx="8520600" cy="441198"/>
      </dsp:txXfrm>
    </dsp:sp>
    <dsp:sp modelId="{2947578D-C84E-9744-A4D6-C6D50003C7CB}">
      <dsp:nvSpPr>
        <dsp:cNvPr id="0" name=""/>
        <dsp:cNvSpPr/>
      </dsp:nvSpPr>
      <dsp:spPr>
        <a:xfrm>
          <a:off x="0" y="441197"/>
          <a:ext cx="85206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36509EF-2684-4446-A822-0DA9584A9E89}">
      <dsp:nvSpPr>
        <dsp:cNvPr id="0" name=""/>
        <dsp:cNvSpPr/>
      </dsp:nvSpPr>
      <dsp:spPr>
        <a:xfrm>
          <a:off x="0" y="441198"/>
          <a:ext cx="8520600" cy="4411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0" i="0" kern="1200"/>
            <a:t>Decorate a Python function with @numba.jit.</a:t>
          </a:r>
          <a:endParaRPr lang="en-US" sz="2100" kern="1200"/>
        </a:p>
      </dsp:txBody>
      <dsp:txXfrm>
        <a:off x="0" y="441198"/>
        <a:ext cx="8520600" cy="441198"/>
      </dsp:txXfrm>
    </dsp:sp>
    <dsp:sp modelId="{AC5D3A6D-4A49-AC4D-BAB2-286402C77688}">
      <dsp:nvSpPr>
        <dsp:cNvPr id="0" name=""/>
        <dsp:cNvSpPr/>
      </dsp:nvSpPr>
      <dsp:spPr>
        <a:xfrm>
          <a:off x="0" y="882395"/>
          <a:ext cx="85206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D9CE1EE-9838-4242-883F-AF671AF72DC8}">
      <dsp:nvSpPr>
        <dsp:cNvPr id="0" name=""/>
        <dsp:cNvSpPr/>
      </dsp:nvSpPr>
      <dsp:spPr>
        <a:xfrm>
          <a:off x="0" y="882396"/>
          <a:ext cx="8520600" cy="4411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0" i="0" kern="1200"/>
            <a:t>Numba compiles the function to machine code at runtime.</a:t>
          </a:r>
          <a:endParaRPr lang="en-US" sz="2100" kern="1200"/>
        </a:p>
      </dsp:txBody>
      <dsp:txXfrm>
        <a:off x="0" y="882396"/>
        <a:ext cx="8520600" cy="441198"/>
      </dsp:txXfrm>
    </dsp:sp>
    <dsp:sp modelId="{F8EF6B1C-60FD-ED44-A8A2-4CB613C8CB4F}">
      <dsp:nvSpPr>
        <dsp:cNvPr id="0" name=""/>
        <dsp:cNvSpPr/>
      </dsp:nvSpPr>
      <dsp:spPr>
        <a:xfrm>
          <a:off x="0" y="1323594"/>
          <a:ext cx="85206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129D757-C809-DD43-8C31-B39DFED76C56}">
      <dsp:nvSpPr>
        <dsp:cNvPr id="0" name=""/>
        <dsp:cNvSpPr/>
      </dsp:nvSpPr>
      <dsp:spPr>
        <a:xfrm>
          <a:off x="0" y="1323594"/>
          <a:ext cx="8520600" cy="4411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0" i="0" kern="1200" dirty="0"/>
            <a:t>Executes the optimized code for faster performance.</a:t>
          </a:r>
          <a:endParaRPr lang="en-US" sz="2100" kern="1200" dirty="0"/>
        </a:p>
      </dsp:txBody>
      <dsp:txXfrm>
        <a:off x="0" y="1323594"/>
        <a:ext cx="8520600" cy="4411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F1AD9250-5886-DD78-0A4D-058B017C9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27D27D27-4545-5FFB-CF85-99C5F401BD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D0680113-8711-039C-65A5-F03BF541D2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8588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54C1B97-F404-7F98-97DD-20B004BA5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DAD009C0-3CF1-C94A-71E8-5758C43B35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5B8F8848-3B44-819A-9C45-AA278A7FDC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1581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6C722E46-76F9-170C-8C29-62BC99829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BBC9AFB5-1B72-A4D3-C327-2D0D4DB2FA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BBD622A0-4979-ACDD-AF4D-E3B382926F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65484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CFBFA624-C363-139B-AD55-9FC6189EC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:notes">
            <a:extLst>
              <a:ext uri="{FF2B5EF4-FFF2-40B4-BE49-F238E27FC236}">
                <a16:creationId xmlns:a16="http://schemas.microsoft.com/office/drawing/2014/main" id="{1E9CD27B-C79B-B040-2107-5D72560A08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5:notes">
            <a:extLst>
              <a:ext uri="{FF2B5EF4-FFF2-40B4-BE49-F238E27FC236}">
                <a16:creationId xmlns:a16="http://schemas.microsoft.com/office/drawing/2014/main" id="{50F2EDA4-618D-C2DC-274E-D540055DE5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14839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12" name="Google Shape;1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7371" y="317427"/>
            <a:ext cx="1356656" cy="2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sz="4300" b="1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title"/>
          </p:nvPr>
        </p:nvSpPr>
        <p:spPr>
          <a:xfrm>
            <a:off x="2079450" y="445025"/>
            <a:ext cx="67074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body" idx="1"/>
          </p:nvPr>
        </p:nvSpPr>
        <p:spPr>
          <a:xfrm>
            <a:off x="2758650" y="1334150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25" name="Google Shape;2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28"/>
          <p:cNvSpPr txBox="1">
            <a:spLocks noGrp="1"/>
          </p:cNvSpPr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8"/>
          <p:cNvSpPr txBox="1">
            <a:spLocks noGrp="1"/>
          </p:cNvSpPr>
          <p:nvPr>
            <p:ph type="body" idx="1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9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" name="Google Shape;33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59271" y="4703039"/>
            <a:ext cx="946580" cy="21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7" name="Google Shape;37;p3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sz="2500" b="0" i="0" u="none" strike="noStrike" cap="none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marR="0"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marR="0"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marR="0"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marR="0"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marR="0"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marR="0"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marR="0"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marR="0"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sz="18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marR="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marR="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marR="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marR="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marR="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marR="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marR="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marR="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2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030954" y="17475"/>
            <a:ext cx="1266092" cy="100790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fluiddyn.netlify.app/transonic-vision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thebluediamondgallery.com/handwriting/l/limitation.html" TargetMode="External"/><Relationship Id="rId4" Type="http://schemas.openxmlformats.org/officeDocument/2006/relationships/image" Target="../media/image1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colab.research.google.com/drive/1T_IhHxkapwa6vTlOompAo5oHzCYFXDmM#scrollTo=pyVNtGUhtFs5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>
            <a:spLocks noGrp="1"/>
          </p:cNvSpPr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US" sz="480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44" name="Google Shape;44;p1"/>
          <p:cNvSpPr txBox="1">
            <a:spLocks noGrp="1"/>
          </p:cNvSpPr>
          <p:nvPr>
            <p:ph type="body" idx="4294967295"/>
          </p:nvPr>
        </p:nvSpPr>
        <p:spPr>
          <a:xfrm>
            <a:off x="3902100" y="3253272"/>
            <a:ext cx="4447500" cy="1973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US" sz="3600" dirty="0">
                <a:solidFill>
                  <a:schemeClr val="lt1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Scalable Data Science</a:t>
            </a:r>
            <a:endParaRPr sz="3600" dirty="0">
              <a:solidFill>
                <a:schemeClr val="lt1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</a:pPr>
            <a:r>
              <a:rPr lang="en-US" sz="4000" dirty="0" err="1">
                <a:latin typeface="Calibri"/>
                <a:ea typeface="Calibri"/>
                <a:cs typeface="Calibri"/>
                <a:sym typeface="Calibri"/>
              </a:rPr>
              <a:t>cuDF</a:t>
            </a:r>
            <a:r>
              <a:rPr lang="en-US" sz="4000" dirty="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4000" dirty="0" err="1">
                <a:latin typeface="Calibri"/>
                <a:ea typeface="Calibri"/>
                <a:cs typeface="Calibri"/>
                <a:sym typeface="Calibri"/>
              </a:rPr>
              <a:t>Understsanding</a:t>
            </a:r>
            <a:r>
              <a:rPr lang="en-US" sz="4000" dirty="0">
                <a:latin typeface="Calibri"/>
                <a:ea typeface="Calibri"/>
                <a:cs typeface="Calibri"/>
                <a:sym typeface="Calibri"/>
              </a:rPr>
              <a:t> performance and visualization</a:t>
            </a:r>
            <a:br>
              <a:rPr lang="en-US" sz="4000" dirty="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dirty="0"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Analyzing Performance by profiling utilities</a:t>
            </a:r>
            <a:endParaRPr dirty="0"/>
          </a:p>
        </p:txBody>
      </p:sp>
      <p:sp>
        <p:nvSpPr>
          <p:cNvPr id="51" name="Google Shape;51;p2"/>
          <p:cNvSpPr txBox="1"/>
          <p:nvPr/>
        </p:nvSpPr>
        <p:spPr>
          <a:xfrm>
            <a:off x="3527778" y="4245036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By: Dr. Afshan Hashmi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/>
          <p:nvPr/>
        </p:nvSpPr>
        <p:spPr>
          <a:xfrm>
            <a:off x="655513" y="612177"/>
            <a:ext cx="6634716" cy="2769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Course Objectives:</a:t>
            </a:r>
            <a:endParaRPr dirty="0"/>
          </a:p>
          <a:p>
            <a:pPr marL="342900" marR="0" lvl="0" indent="-342900" algn="just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GB" dirty="0"/>
              <a:t>To introduce the fundamentals of </a:t>
            </a:r>
            <a:r>
              <a:rPr lang="en-GB" dirty="0" err="1"/>
              <a:t>cudf.pandas</a:t>
            </a:r>
            <a:r>
              <a:rPr lang="en-GB" dirty="0"/>
              <a:t> and its role in accelerating data processing using GPUs.</a:t>
            </a:r>
          </a:p>
          <a:p>
            <a:pPr marL="342900" marR="0" lvl="0" indent="-342900" algn="just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GB" dirty="0"/>
              <a:t>To equip learners with profiling techniques for optimizing performance and identifying GPU vs. CPU execution in data workflows.</a:t>
            </a:r>
          </a:p>
          <a:p>
            <a:pPr marL="342900" marR="0" lvl="0" indent="-342900" algn="just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GB" dirty="0"/>
              <a:t>To explore data visualization techniques using third-party libraries like </a:t>
            </a:r>
            <a:r>
              <a:rPr lang="en-GB" dirty="0" err="1"/>
              <a:t>Plotly</a:t>
            </a:r>
            <a:r>
              <a:rPr lang="en-GB" dirty="0"/>
              <a:t> with </a:t>
            </a:r>
            <a:r>
              <a:rPr lang="en-GB" dirty="0" err="1"/>
              <a:t>cudf.pandas</a:t>
            </a:r>
            <a:r>
              <a:rPr lang="en-GB" dirty="0"/>
              <a:t>.</a:t>
            </a:r>
            <a:endParaRPr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l"/>
            <a:r>
              <a:rPr lang="en-GB" b="1" i="0" u="none" strike="noStrike" dirty="0" err="1">
                <a:solidFill>
                  <a:srgbClr val="7030A0"/>
                </a:solidFill>
                <a:effectLst/>
              </a:rPr>
              <a:t>Numba</a:t>
            </a:r>
            <a:r>
              <a:rPr lang="en-GB" b="1" i="0" u="none" strike="noStrike" dirty="0">
                <a:solidFill>
                  <a:srgbClr val="7030A0"/>
                </a:solidFill>
                <a:effectLst/>
              </a:rPr>
              <a:t>: Just-In-Time (JIT) Compilation for Speeding Up Python Code</a:t>
            </a: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977179-6F4A-E563-2CCE-31B85B18DCA2}"/>
              </a:ext>
            </a:extLst>
          </p:cNvPr>
          <p:cNvSpPr txBox="1"/>
          <p:nvPr/>
        </p:nvSpPr>
        <p:spPr>
          <a:xfrm>
            <a:off x="620202" y="1113183"/>
            <a:ext cx="6112564" cy="4047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itchFamily="2" charset="2"/>
              <a:buChar char="Ø"/>
            </a:pPr>
            <a:r>
              <a:rPr lang="en-GB" b="1" i="0" u="none" strike="noStrike" dirty="0" err="1">
                <a:solidFill>
                  <a:srgbClr val="000000"/>
                </a:solidFill>
                <a:effectLst/>
              </a:rPr>
              <a:t>Numba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is a Python library that accelerates code execution using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JIT compilation.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Converts Python code into machine code at runtime for improved performance.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It is particularly useful for speeding up numerical computations without requiring extensive rewrites of Python code.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b="0" i="0" u="none" strike="noStrike" dirty="0" err="1">
                <a:solidFill>
                  <a:srgbClr val="000000"/>
                </a:solidFill>
                <a:effectLst/>
              </a:rPr>
              <a:t>Numba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 works well with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NumPy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, allowing array operations to be executed much faster.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GB" b="1" i="0" u="none" strike="noStrike" dirty="0">
                <a:solidFill>
                  <a:srgbClr val="404040"/>
                </a:solidFill>
                <a:effectLst/>
                <a:latin typeface="Inter"/>
              </a:rPr>
              <a:t>Key Features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/>
              </a:rPr>
              <a:t>Easy to use with minimal code changes.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/>
              </a:rPr>
              <a:t>Supports CPU and GPU acceleration.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/>
              </a:rPr>
              <a:t>Compatible with NumPy, SciPy, and other Python libraries.</a:t>
            </a:r>
          </a:p>
          <a:p>
            <a:pPr algn="l"/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96A7B2FB-F1D0-B703-37E3-F7BCF16345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A blue snake with lightning bolt&#10;&#10;AI-generated content may be incorrect.">
            <a:extLst>
              <a:ext uri="{FF2B5EF4-FFF2-40B4-BE49-F238E27FC236}">
                <a16:creationId xmlns:a16="http://schemas.microsoft.com/office/drawing/2014/main" id="{E984F97B-E8DE-2BDE-E997-19B56F9FAA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732766" y="1472098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9321C5F-5887-88FC-5A55-2EB85D26C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C39B0603-80F6-6813-A911-33AD170E76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/>
            <a:r>
              <a:rPr lang="en-GB" b="1" i="0" u="none" strike="noStrike" dirty="0">
                <a:solidFill>
                  <a:srgbClr val="404040"/>
                </a:solidFill>
                <a:effectLst/>
                <a:latin typeface="Inter"/>
              </a:rPr>
              <a:t>Why Use </a:t>
            </a:r>
            <a:r>
              <a:rPr lang="en-GB" b="1" i="0" u="none" strike="noStrike" dirty="0" err="1">
                <a:solidFill>
                  <a:srgbClr val="404040"/>
                </a:solidFill>
                <a:effectLst/>
                <a:latin typeface="Inter"/>
              </a:rPr>
              <a:t>Numba</a:t>
            </a:r>
            <a:r>
              <a:rPr lang="en-GB" b="1" i="0" u="none" strike="noStrike" dirty="0">
                <a:solidFill>
                  <a:srgbClr val="404040"/>
                </a:solidFill>
                <a:effectLst/>
                <a:latin typeface="Inter"/>
              </a:rPr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7D319B-789E-0696-87B5-F6D6FF6EC6D8}"/>
              </a:ext>
            </a:extLst>
          </p:cNvPr>
          <p:cNvSpPr txBox="1"/>
          <p:nvPr/>
        </p:nvSpPr>
        <p:spPr>
          <a:xfrm>
            <a:off x="91440" y="1209116"/>
            <a:ext cx="462686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1" i="0" u="none" strike="noStrike" dirty="0">
                <a:solidFill>
                  <a:srgbClr val="404040"/>
                </a:solidFill>
                <a:effectLst/>
                <a:latin typeface="Inter"/>
              </a:rPr>
              <a:t>Benefits</a:t>
            </a:r>
            <a:r>
              <a:rPr lang="en-GB" sz="1800" b="0" i="0" u="none" strike="noStrike" dirty="0">
                <a:solidFill>
                  <a:srgbClr val="404040"/>
                </a:solidFill>
                <a:effectLst/>
                <a:latin typeface="Inter"/>
              </a:rPr>
              <a:t>: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800" b="1" i="0" u="none" strike="noStrike" dirty="0">
                <a:solidFill>
                  <a:srgbClr val="404040"/>
                </a:solidFill>
                <a:effectLst/>
                <a:latin typeface="Inter"/>
              </a:rPr>
              <a:t>Speed</a:t>
            </a:r>
            <a:r>
              <a:rPr lang="en-GB" sz="1800" b="0" i="0" u="none" strike="noStrike" dirty="0">
                <a:solidFill>
                  <a:srgbClr val="404040"/>
                </a:solidFill>
                <a:effectLst/>
                <a:latin typeface="Inter"/>
              </a:rPr>
              <a:t>: Dramatically improves performance of numerical computations.</a:t>
            </a:r>
          </a:p>
          <a:p>
            <a:pPr marL="285750" indent="-285750" algn="l">
              <a:spcBef>
                <a:spcPts val="300"/>
              </a:spcBef>
              <a:buFont typeface="Wingdings" pitchFamily="2" charset="2"/>
              <a:buChar char="Ø"/>
            </a:pPr>
            <a:r>
              <a:rPr lang="en-GB" sz="1800" b="1" i="0" u="none" strike="noStrike" dirty="0">
                <a:solidFill>
                  <a:srgbClr val="404040"/>
                </a:solidFill>
                <a:effectLst/>
                <a:latin typeface="Inter"/>
              </a:rPr>
              <a:t>Simplicity</a:t>
            </a:r>
            <a:r>
              <a:rPr lang="en-GB" sz="1800" b="0" i="0" u="none" strike="noStrike" dirty="0">
                <a:solidFill>
                  <a:srgbClr val="404040"/>
                </a:solidFill>
                <a:effectLst/>
                <a:latin typeface="Inter"/>
              </a:rPr>
              <a:t>: Requires only a decorator to optimize functions.</a:t>
            </a:r>
          </a:p>
          <a:p>
            <a:pPr marL="285750" indent="-285750" algn="l">
              <a:spcBef>
                <a:spcPts val="300"/>
              </a:spcBef>
              <a:buFont typeface="Wingdings" pitchFamily="2" charset="2"/>
              <a:buChar char="Ø"/>
            </a:pPr>
            <a:r>
              <a:rPr lang="en-GB" sz="1800" b="1" i="0" u="none" strike="noStrike" dirty="0">
                <a:solidFill>
                  <a:srgbClr val="404040"/>
                </a:solidFill>
                <a:effectLst/>
                <a:latin typeface="Inter"/>
              </a:rPr>
              <a:t>Flexibility</a:t>
            </a:r>
            <a:r>
              <a:rPr lang="en-GB" sz="1800" b="0" i="0" u="none" strike="noStrike" dirty="0">
                <a:solidFill>
                  <a:srgbClr val="404040"/>
                </a:solidFill>
                <a:effectLst/>
                <a:latin typeface="Inter"/>
              </a:rPr>
              <a:t>: Works with existing Python code and libraries.</a:t>
            </a:r>
          </a:p>
          <a:p>
            <a:pPr algn="l"/>
            <a:r>
              <a:rPr lang="en-GB" sz="1800" b="1" i="0" u="none" strike="noStrike" dirty="0">
                <a:solidFill>
                  <a:srgbClr val="404040"/>
                </a:solidFill>
                <a:effectLst/>
                <a:latin typeface="Inter"/>
              </a:rPr>
              <a:t>Use Cases</a:t>
            </a:r>
            <a:r>
              <a:rPr lang="en-GB" sz="1800" b="0" i="0" u="none" strike="noStrike" dirty="0">
                <a:solidFill>
                  <a:srgbClr val="404040"/>
                </a:solidFill>
                <a:effectLst/>
                <a:latin typeface="Inter"/>
              </a:rPr>
              <a:t>: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800" b="0" i="0" u="none" strike="noStrike" dirty="0">
                <a:solidFill>
                  <a:srgbClr val="404040"/>
                </a:solidFill>
                <a:effectLst/>
                <a:latin typeface="Inter"/>
              </a:rPr>
              <a:t>Scientific computing.</a:t>
            </a:r>
          </a:p>
          <a:p>
            <a:pPr marL="285750" indent="-285750" algn="l">
              <a:spcBef>
                <a:spcPts val="300"/>
              </a:spcBef>
              <a:buFont typeface="Wingdings" pitchFamily="2" charset="2"/>
              <a:buChar char="Ø"/>
            </a:pPr>
            <a:r>
              <a:rPr lang="en-GB" sz="1800" b="0" i="0" u="none" strike="noStrike" dirty="0">
                <a:solidFill>
                  <a:srgbClr val="404040"/>
                </a:solidFill>
                <a:effectLst/>
                <a:latin typeface="Inter"/>
              </a:rPr>
              <a:t>Data analysis.</a:t>
            </a:r>
          </a:p>
          <a:p>
            <a:pPr marL="285750" indent="-285750" algn="l">
              <a:spcBef>
                <a:spcPts val="300"/>
              </a:spcBef>
              <a:buFont typeface="Wingdings" pitchFamily="2" charset="2"/>
              <a:buChar char="Ø"/>
            </a:pPr>
            <a:r>
              <a:rPr lang="en-GB" sz="1800" b="0" i="0" u="none" strike="noStrike" dirty="0">
                <a:solidFill>
                  <a:srgbClr val="404040"/>
                </a:solidFill>
                <a:effectLst/>
                <a:latin typeface="Inter"/>
              </a:rPr>
              <a:t>Machine learning and deep learning.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92C55A7-AD36-ABBB-1210-8709B2A487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0613721"/>
              </p:ext>
            </p:extLst>
          </p:nvPr>
        </p:nvGraphicFramePr>
        <p:xfrm>
          <a:off x="4718304" y="1470374"/>
          <a:ext cx="4145280" cy="31681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48591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04F1832-DFBB-34F7-0CB2-CB144A813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03FF7185-B63E-D2D8-C652-AABB88EA76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rtl="0"/>
            <a:r>
              <a:rPr lang="en-GB" b="1" i="0" u="none" strike="noStrike" dirty="0">
                <a:solidFill>
                  <a:srgbClr val="404040"/>
                </a:solidFill>
                <a:effectLst/>
                <a:latin typeface="Inter"/>
              </a:rPr>
              <a:t>How JIT Compilation Works</a:t>
            </a:r>
            <a:br>
              <a:rPr lang="en-GB" b="1" i="0" u="none" strike="noStrike" dirty="0">
                <a:solidFill>
                  <a:srgbClr val="404040"/>
                </a:solidFill>
                <a:effectLst/>
                <a:latin typeface="Inter"/>
              </a:rPr>
            </a:br>
            <a:endParaRPr lang="en-GB" b="1" i="0" u="none" strike="noStrike" dirty="0">
              <a:solidFill>
                <a:srgbClr val="404040"/>
              </a:solidFill>
              <a:effectLst/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9C119A-5C32-66D2-3FB8-C390AFB45FC4}"/>
              </a:ext>
            </a:extLst>
          </p:cNvPr>
          <p:cNvSpPr txBox="1"/>
          <p:nvPr/>
        </p:nvSpPr>
        <p:spPr>
          <a:xfrm>
            <a:off x="457200" y="1210902"/>
            <a:ext cx="464972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JIT Compilation Explained</a:t>
            </a: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Traditional Python code is interpreted line-by-line, causing slower execution.</a:t>
            </a:r>
          </a:p>
          <a:p>
            <a:pPr marL="742950" lvl="1" indent="-285750" algn="l">
              <a:buFont typeface="Wingdings" pitchFamily="2" charset="2"/>
              <a:buChar char="Ø"/>
            </a:pPr>
            <a:r>
              <a:rPr lang="en-GB" sz="1600" b="0" i="0" u="none" strike="noStrike" dirty="0" err="1">
                <a:solidFill>
                  <a:srgbClr val="000000"/>
                </a:solidFill>
                <a:effectLst/>
              </a:rPr>
              <a:t>Numba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 compiles functions into machine code just before execution, leading to significant speedups.</a:t>
            </a:r>
          </a:p>
          <a:p>
            <a:pPr marL="742950" lvl="1" indent="-285750" algn="l"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Uses LLVM (Low-Level Virtual Machine) for optimizing execution.</a:t>
            </a:r>
          </a:p>
        </p:txBody>
      </p:sp>
      <p:pic>
        <p:nvPicPr>
          <p:cNvPr id="2050" name="Picture 2" descr="Just in Time (JIT) Inventory: A ...">
            <a:extLst>
              <a:ext uri="{FF2B5EF4-FFF2-40B4-BE49-F238E27FC236}">
                <a16:creationId xmlns:a16="http://schemas.microsoft.com/office/drawing/2014/main" id="{DB885E7B-E18C-7589-C3E2-BCE8628B4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5912" y="1072925"/>
            <a:ext cx="2844800" cy="284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1083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EE58CAD2-0E07-966E-29B4-6838287B9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5D47E6D2-5F27-B079-670B-9CED707774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GB" b="1" i="0" u="none" strike="noStrike">
                <a:effectLst/>
              </a:rPr>
              <a:t>How </a:t>
            </a:r>
            <a:r>
              <a:rPr lang="en-GB" b="1" i="0" u="none" strike="noStrike" err="1">
                <a:effectLst/>
              </a:rPr>
              <a:t>Numba</a:t>
            </a:r>
            <a:r>
              <a:rPr lang="en-GB" b="1" i="0" u="none" strike="noStrike">
                <a:effectLst/>
              </a:rPr>
              <a:t> Works</a:t>
            </a:r>
          </a:p>
        </p:txBody>
      </p:sp>
      <p:graphicFrame>
        <p:nvGraphicFramePr>
          <p:cNvPr id="63" name="TextBox 2">
            <a:extLst>
              <a:ext uri="{FF2B5EF4-FFF2-40B4-BE49-F238E27FC236}">
                <a16:creationId xmlns:a16="http://schemas.microsoft.com/office/drawing/2014/main" id="{FCBF1547-A44D-D3CD-2C38-3F60404EA5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8714902"/>
              </p:ext>
            </p:extLst>
          </p:nvPr>
        </p:nvGraphicFramePr>
        <p:xfrm>
          <a:off x="311700" y="1060704"/>
          <a:ext cx="8520600" cy="1764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860A67C-3600-C6EA-1461-10EC7586EEE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557" t="16594" b="2443"/>
          <a:stretch/>
        </p:blipFill>
        <p:spPr>
          <a:xfrm>
            <a:off x="393192" y="2825496"/>
            <a:ext cx="7516368" cy="206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145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5"/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5"/>
          <p:cNvSpPr txBox="1">
            <a:spLocks noGrp="1"/>
          </p:cNvSpPr>
          <p:nvPr>
            <p:ph type="title"/>
          </p:nvPr>
        </p:nvSpPr>
        <p:spPr>
          <a:xfrm>
            <a:off x="872950" y="122160"/>
            <a:ext cx="699089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GB" sz="2400" dirty="0">
                <a:solidFill>
                  <a:srgbClr val="7030A0"/>
                </a:solidFill>
              </a:rPr>
              <a:t>Performance with &amp; without </a:t>
            </a:r>
            <a:r>
              <a:rPr lang="en-GB" sz="2400" dirty="0" err="1">
                <a:solidFill>
                  <a:srgbClr val="7030A0"/>
                </a:solidFill>
              </a:rPr>
              <a:t>numba</a:t>
            </a:r>
            <a:endParaRPr lang="en-GB" sz="2400" b="0" i="0" u="none" strike="noStrike" dirty="0">
              <a:solidFill>
                <a:srgbClr val="7030A0"/>
              </a:solidFill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D3FCFD-735B-C8E9-1978-7F0158136C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352" y="616688"/>
            <a:ext cx="4407723" cy="45268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DDB56F-E5DF-ED81-FF4E-CCFCBCC84E3C}"/>
              </a:ext>
            </a:extLst>
          </p:cNvPr>
          <p:cNvSpPr txBox="1"/>
          <p:nvPr/>
        </p:nvSpPr>
        <p:spPr>
          <a:xfrm>
            <a:off x="5157216" y="1402199"/>
            <a:ext cx="339860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GB" b="1" dirty="0">
                <a:effectLst/>
              </a:rPr>
            </a:br>
            <a:r>
              <a:rPr lang="en-GB" b="1" dirty="0">
                <a:effectLst/>
              </a:rPr>
              <a:t>Without </a:t>
            </a:r>
            <a:r>
              <a:rPr lang="en-GB" b="1" dirty="0" err="1">
                <a:effectLst/>
              </a:rPr>
              <a:t>Numba</a:t>
            </a:r>
            <a:r>
              <a:rPr lang="en-GB" dirty="0">
                <a:effectLst/>
              </a:rPr>
              <a:t>: The function runs in pure Python, which is slower due to interpreter overhead.</a:t>
            </a:r>
          </a:p>
          <a:p>
            <a:r>
              <a:rPr lang="en-GB" b="1" dirty="0">
                <a:effectLst/>
              </a:rPr>
              <a:t>With </a:t>
            </a:r>
            <a:r>
              <a:rPr lang="en-GB" b="1" dirty="0" err="1">
                <a:effectLst/>
              </a:rPr>
              <a:t>Numba</a:t>
            </a:r>
            <a:r>
              <a:rPr lang="en-GB" dirty="0">
                <a:effectLst/>
              </a:rPr>
              <a:t>: The function is compiled to machine code, resulting in significantly faster execution.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8804C5C-5FA6-F4E1-0EA6-7403E5243A81}"/>
              </a:ext>
            </a:extLst>
          </p:cNvPr>
          <p:cNvCxnSpPr/>
          <p:nvPr/>
        </p:nvCxnSpPr>
        <p:spPr>
          <a:xfrm flipV="1">
            <a:off x="2990088" y="3002637"/>
            <a:ext cx="2167128" cy="1962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66">
          <a:extLst>
            <a:ext uri="{FF2B5EF4-FFF2-40B4-BE49-F238E27FC236}">
              <a16:creationId xmlns:a16="http://schemas.microsoft.com/office/drawing/2014/main" id="{14BD9729-A656-180E-FBB4-91E9B027D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5">
            <a:extLst>
              <a:ext uri="{FF2B5EF4-FFF2-40B4-BE49-F238E27FC236}">
                <a16:creationId xmlns:a16="http://schemas.microsoft.com/office/drawing/2014/main" id="{C61A196A-757D-4BC0-2832-9978230C497C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2959434" y="49966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5">
            <a:extLst>
              <a:ext uri="{FF2B5EF4-FFF2-40B4-BE49-F238E27FC236}">
                <a16:creationId xmlns:a16="http://schemas.microsoft.com/office/drawing/2014/main" id="{A060FAFA-AFAD-055F-7164-B0A69C5F6A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2950" y="122160"/>
            <a:ext cx="699089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i="0" u="none" strike="noStrike" dirty="0" err="1">
                <a:solidFill>
                  <a:srgbClr val="7030A0"/>
                </a:solidFill>
                <a:effectLst/>
                <a:latin typeface="Inter"/>
              </a:rPr>
              <a:t>Numba</a:t>
            </a:r>
            <a:r>
              <a:rPr lang="en-GB" sz="2400" b="1" i="0" u="none" strike="noStrike" dirty="0">
                <a:solidFill>
                  <a:srgbClr val="7030A0"/>
                </a:solidFill>
                <a:effectLst/>
                <a:latin typeface="Inter"/>
              </a:rPr>
              <a:t> Modes</a:t>
            </a:r>
            <a:br>
              <a:rPr lang="en-GB" sz="2400" b="1" i="0" u="none" strike="noStrike" dirty="0">
                <a:solidFill>
                  <a:srgbClr val="7030A0"/>
                </a:solidFill>
                <a:effectLst/>
                <a:latin typeface="Inter"/>
              </a:rPr>
            </a:b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endParaRPr lang="en-GB" sz="2400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871764-AACC-B614-DE22-3EDF5CD46086}"/>
              </a:ext>
            </a:extLst>
          </p:cNvPr>
          <p:cNvSpPr txBox="1"/>
          <p:nvPr/>
        </p:nvSpPr>
        <p:spPr>
          <a:xfrm>
            <a:off x="368358" y="616688"/>
            <a:ext cx="3728154" cy="4355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1" i="0" u="none" strike="noStrike" dirty="0">
                <a:solidFill>
                  <a:srgbClr val="404040"/>
                </a:solidFill>
                <a:effectLst/>
                <a:latin typeface="Inter"/>
              </a:rPr>
              <a:t>1. </a:t>
            </a:r>
            <a:r>
              <a:rPr lang="en-GB" sz="1800" b="1" i="0" u="none" strike="noStrike" dirty="0" err="1">
                <a:solidFill>
                  <a:srgbClr val="404040"/>
                </a:solidFill>
                <a:effectLst/>
                <a:latin typeface="Inter"/>
              </a:rPr>
              <a:t>nopython</a:t>
            </a:r>
            <a:r>
              <a:rPr lang="en-GB" sz="1800" b="1" i="0" u="none" strike="noStrike" dirty="0">
                <a:solidFill>
                  <a:srgbClr val="404040"/>
                </a:solidFill>
                <a:effectLst/>
                <a:latin typeface="Inter"/>
              </a:rPr>
              <a:t> Mode</a:t>
            </a:r>
            <a:r>
              <a:rPr lang="en-GB" sz="1800" b="0" i="0" u="none" strike="noStrike" dirty="0">
                <a:solidFill>
                  <a:srgbClr val="404040"/>
                </a:solidFill>
                <a:effectLst/>
                <a:latin typeface="Inter"/>
              </a:rPr>
              <a:t>: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800" b="0" i="0" u="none" strike="noStrike" dirty="0">
                <a:solidFill>
                  <a:srgbClr val="404040"/>
                </a:solidFill>
                <a:effectLst/>
                <a:latin typeface="Inter"/>
              </a:rPr>
              <a:t>Ensures the function is fully compiled to machine code.</a:t>
            </a:r>
          </a:p>
          <a:p>
            <a:pPr marL="285750" indent="-285750" algn="l">
              <a:spcBef>
                <a:spcPts val="300"/>
              </a:spcBef>
              <a:buFont typeface="Wingdings" pitchFamily="2" charset="2"/>
              <a:buChar char="Ø"/>
            </a:pPr>
            <a:r>
              <a:rPr lang="en-GB" sz="1800" b="0" i="0" u="none" strike="noStrike" dirty="0">
                <a:solidFill>
                  <a:srgbClr val="404040"/>
                </a:solidFill>
                <a:effectLst/>
                <a:latin typeface="Inter"/>
              </a:rPr>
              <a:t>No Python objects are allowed.</a:t>
            </a:r>
          </a:p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Ø"/>
            </a:pPr>
            <a:r>
              <a:rPr lang="en-GB" sz="1800" b="0" i="0" u="none" strike="noStrike" dirty="0">
                <a:solidFill>
                  <a:srgbClr val="404040"/>
                </a:solidFill>
                <a:effectLst/>
                <a:latin typeface="Inter"/>
              </a:rPr>
              <a:t>Example:</a:t>
            </a:r>
          </a:p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Ø"/>
            </a:pPr>
            <a:endParaRPr lang="en-GB" sz="1800" dirty="0">
              <a:solidFill>
                <a:srgbClr val="404040"/>
              </a:solidFill>
              <a:latin typeface="Inter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lang="en-GB" sz="1800" b="0" i="0" u="none" strike="noStrike" dirty="0">
              <a:solidFill>
                <a:srgbClr val="FFFFFF"/>
              </a:solidFill>
              <a:effectLst/>
              <a:latin typeface="Inter"/>
            </a:endParaRPr>
          </a:p>
          <a:p>
            <a:pPr algn="l"/>
            <a:r>
              <a:rPr lang="en-GB" sz="1800" b="1" i="0" u="none" strike="noStrike" dirty="0">
                <a:solidFill>
                  <a:srgbClr val="404040"/>
                </a:solidFill>
                <a:effectLst/>
                <a:latin typeface="Inter"/>
              </a:rPr>
              <a:t>2. object Mode</a:t>
            </a:r>
            <a:r>
              <a:rPr lang="en-GB" sz="1800" b="0" i="0" u="none" strike="noStrike" dirty="0">
                <a:solidFill>
                  <a:srgbClr val="404040"/>
                </a:solidFill>
                <a:effectLst/>
                <a:latin typeface="Inter"/>
              </a:rPr>
              <a:t>: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800" b="0" i="0" u="none" strike="noStrike" dirty="0">
                <a:solidFill>
                  <a:srgbClr val="404040"/>
                </a:solidFill>
                <a:effectLst/>
                <a:latin typeface="Inter"/>
              </a:rPr>
              <a:t>Allows Python objects but is slower.</a:t>
            </a:r>
          </a:p>
          <a:p>
            <a:pPr marL="285750" indent="-285750" algn="l">
              <a:spcBef>
                <a:spcPts val="300"/>
              </a:spcBef>
              <a:buFont typeface="Wingdings" pitchFamily="2" charset="2"/>
              <a:buChar char="Ø"/>
            </a:pPr>
            <a:r>
              <a:rPr lang="en-GB" sz="1800" b="0" i="0" u="none" strike="noStrike" dirty="0">
                <a:solidFill>
                  <a:srgbClr val="404040"/>
                </a:solidFill>
                <a:effectLst/>
                <a:latin typeface="Inter"/>
              </a:rPr>
              <a:t>Used as a fallback when no python mode fails.</a:t>
            </a:r>
          </a:p>
          <a:p>
            <a:pPr marL="285750" indent="-285750" algn="l">
              <a:spcBef>
                <a:spcPts val="300"/>
              </a:spcBef>
              <a:buFont typeface="Wingdings" pitchFamily="2" charset="2"/>
              <a:buChar char="Ø"/>
            </a:pPr>
            <a:endParaRPr lang="en-GB" sz="1800" b="0" i="0" u="none" strike="noStrike" dirty="0">
              <a:solidFill>
                <a:srgbClr val="404040"/>
              </a:solidFill>
              <a:effectLst/>
              <a:latin typeface="Inter"/>
            </a:endParaRPr>
          </a:p>
          <a:p>
            <a:pPr marL="285750" indent="-285750" algn="l">
              <a:spcBef>
                <a:spcPts val="300"/>
              </a:spcBef>
              <a:buFont typeface="Wingdings" pitchFamily="2" charset="2"/>
              <a:buChar char="Ø"/>
            </a:pPr>
            <a:endParaRPr lang="en-GB" sz="1800" b="0" i="0" u="none" strike="noStrike" dirty="0">
              <a:solidFill>
                <a:srgbClr val="404040"/>
              </a:solidFill>
              <a:effectLst/>
              <a:latin typeface="Inter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2427C7-3B63-1EF0-80C2-2472348A46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6946" y="1125874"/>
            <a:ext cx="2832100" cy="1028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391556-84FB-398F-904D-3AA78AFBCC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6986" y="2794206"/>
            <a:ext cx="5039469" cy="217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790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6"/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2964204" y="217657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6"/>
          <p:cNvSpPr txBox="1">
            <a:spLocks noGrp="1"/>
          </p:cNvSpPr>
          <p:nvPr>
            <p:ph type="title"/>
          </p:nvPr>
        </p:nvSpPr>
        <p:spPr>
          <a:xfrm>
            <a:off x="872950" y="122160"/>
            <a:ext cx="670740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3200" b="1" i="0" u="none" strike="noStrike" dirty="0">
                <a:solidFill>
                  <a:srgbClr val="7030A0"/>
                </a:solidFill>
                <a:effectLst/>
                <a:latin typeface="Inter"/>
              </a:rPr>
              <a:t>Limitations of </a:t>
            </a:r>
            <a:r>
              <a:rPr lang="en-GB" sz="3200" b="1" i="0" u="none" strike="noStrike" dirty="0" err="1">
                <a:solidFill>
                  <a:srgbClr val="7030A0"/>
                </a:solidFill>
                <a:effectLst/>
                <a:latin typeface="Inter"/>
              </a:rPr>
              <a:t>Numba</a:t>
            </a: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Inter"/>
              </a:rPr>
            </a:br>
            <a:br>
              <a:rPr lang="en-GB" sz="1100" b="0" i="0" u="none" strike="noStrike" dirty="0">
                <a:solidFill>
                  <a:srgbClr val="000000"/>
                </a:solidFill>
                <a:effectLst/>
              </a:rPr>
            </a:br>
            <a:endParaRPr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939286-461A-8986-A44A-FD7AC0E36C00}"/>
              </a:ext>
            </a:extLst>
          </p:cNvPr>
          <p:cNvSpPr txBox="1"/>
          <p:nvPr/>
        </p:nvSpPr>
        <p:spPr>
          <a:xfrm>
            <a:off x="393946" y="977120"/>
            <a:ext cx="4647536" cy="2916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Inter"/>
              </a:rPr>
              <a:t> Challenges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Inter"/>
              </a:rPr>
              <a:t>:</a:t>
            </a:r>
          </a:p>
          <a:p>
            <a:pPr algn="l"/>
            <a:endParaRPr lang="en-GB" sz="1600" b="0" i="0" u="none" strike="noStrike" dirty="0">
              <a:solidFill>
                <a:srgbClr val="404040"/>
              </a:solidFill>
              <a:effectLst/>
              <a:latin typeface="Inter"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Inter"/>
              </a:rPr>
              <a:t>Works best with numerical computations.</a:t>
            </a:r>
          </a:p>
          <a:p>
            <a:pPr marL="285750" indent="-285750" algn="l">
              <a:spcBef>
                <a:spcPts val="300"/>
              </a:spcBef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Inter"/>
              </a:rPr>
              <a:t>Limited support for non-NumPy Python features.</a:t>
            </a:r>
          </a:p>
          <a:p>
            <a:pPr marL="285750" indent="-285750" algn="l">
              <a:spcBef>
                <a:spcPts val="300"/>
              </a:spcBef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Inter"/>
              </a:rPr>
              <a:t>Requires careful handling of data types.</a:t>
            </a:r>
          </a:p>
          <a:p>
            <a:pPr marL="285750" indent="-285750" algn="l">
              <a:spcBef>
                <a:spcPts val="300"/>
              </a:spcBef>
              <a:buFont typeface="Wingdings" pitchFamily="2" charset="2"/>
              <a:buChar char="Ø"/>
            </a:pPr>
            <a:endParaRPr lang="en-GB" sz="1600" b="0" i="0" u="none" strike="noStrike" dirty="0">
              <a:solidFill>
                <a:srgbClr val="404040"/>
              </a:solidFill>
              <a:effectLst/>
              <a:latin typeface="Inter"/>
            </a:endParaRPr>
          </a:p>
          <a:p>
            <a:pPr algn="l"/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Inter"/>
              </a:rPr>
              <a:t>When Not to Use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Inter"/>
              </a:rPr>
              <a:t>:</a:t>
            </a:r>
          </a:p>
          <a:p>
            <a:pPr algn="l"/>
            <a:endParaRPr lang="en-GB" sz="1600" b="0" i="0" u="none" strike="noStrike" dirty="0">
              <a:solidFill>
                <a:srgbClr val="404040"/>
              </a:solidFill>
              <a:effectLst/>
              <a:latin typeface="Inter"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Inter"/>
              </a:rPr>
              <a:t>For non-numerical or highly dynamic Python code.</a:t>
            </a:r>
          </a:p>
          <a:p>
            <a:br>
              <a:rPr lang="en-GB" sz="1600" dirty="0"/>
            </a:br>
            <a:endParaRPr lang="en-US" sz="1600" dirty="0"/>
          </a:p>
        </p:txBody>
      </p:sp>
      <p:pic>
        <p:nvPicPr>
          <p:cNvPr id="7" name="Picture 6" descr="A hand writing a word on a white board&#10;&#10;AI-generated content may be incorrect.">
            <a:extLst>
              <a:ext uri="{FF2B5EF4-FFF2-40B4-BE49-F238E27FC236}">
                <a16:creationId xmlns:a16="http://schemas.microsoft.com/office/drawing/2014/main" id="{60DA5A08-A833-EA19-050C-427DA84453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111495" y="1149336"/>
            <a:ext cx="3857625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/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99514" y="12216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/>
          <p:cNvSpPr txBox="1">
            <a:spLocks noGrp="1"/>
          </p:cNvSpPr>
          <p:nvPr>
            <p:ph type="title"/>
          </p:nvPr>
        </p:nvSpPr>
        <p:spPr>
          <a:xfrm>
            <a:off x="872950" y="122160"/>
            <a:ext cx="670740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/>
            <a:r>
              <a:rPr lang="en-GB" sz="3200" dirty="0"/>
              <a:t>Summary</a:t>
            </a:r>
            <a:br>
              <a:rPr lang="en-GB" sz="3200" dirty="0"/>
            </a:br>
            <a:endParaRPr lang="en-GB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18F542-E388-7579-9EB1-BFDFC8F150AC}"/>
              </a:ext>
            </a:extLst>
          </p:cNvPr>
          <p:cNvSpPr txBox="1"/>
          <p:nvPr/>
        </p:nvSpPr>
        <p:spPr>
          <a:xfrm>
            <a:off x="651510" y="1137750"/>
            <a:ext cx="4649724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itchFamily="2" charset="2"/>
              <a:buChar char="Ø"/>
            </a:pPr>
            <a:r>
              <a:rPr lang="en-GB" b="0" i="0" u="none" strike="noStrike" dirty="0" err="1">
                <a:solidFill>
                  <a:srgbClr val="000000"/>
                </a:solidFill>
                <a:effectLst/>
              </a:rPr>
              <a:t>Numba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accelerates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 Python code using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JIT compilation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Works best with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loops and numerical computations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NumPy operations are highly optimized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with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</a:rPr>
              <a:t>Numba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Simple to use: Just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add @</a:t>
            </a:r>
            <a:r>
              <a:rPr lang="en-GB" b="1" i="0" u="none" strike="noStrike" dirty="0" err="1">
                <a:solidFill>
                  <a:srgbClr val="000000"/>
                </a:solidFill>
                <a:effectLst/>
              </a:rPr>
              <a:t>jit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(</a:t>
            </a:r>
            <a:r>
              <a:rPr lang="en-GB" b="1" i="0" u="none" strike="noStrike" dirty="0" err="1">
                <a:solidFill>
                  <a:srgbClr val="000000"/>
                </a:solidFill>
                <a:effectLst/>
              </a:rPr>
              <a:t>nopython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=True) decorator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Helps in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high-performance computing, scientific computing, and machine learning workloads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>
            <a:spLocks noGrp="1"/>
          </p:cNvSpPr>
          <p:nvPr>
            <p:ph type="title"/>
          </p:nvPr>
        </p:nvSpPr>
        <p:spPr>
          <a:xfrm>
            <a:off x="2385150" y="435437"/>
            <a:ext cx="4810448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</a:pPr>
            <a:r>
              <a:rPr lang="en-US"/>
              <a:t>Practical Implementation</a:t>
            </a:r>
            <a:endParaRPr/>
          </a:p>
        </p:txBody>
      </p:sp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0595" y="1866632"/>
            <a:ext cx="3048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980CB3-F1A8-6BBB-2FC8-E0B61E97C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6268" y="1347355"/>
            <a:ext cx="6028200" cy="1757400"/>
          </a:xfrm>
        </p:spPr>
        <p:txBody>
          <a:bodyPr/>
          <a:lstStyle/>
          <a:p>
            <a:pPr marL="114300" marR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</a:pPr>
            <a:r>
              <a:rPr lang="en-US" dirty="0">
                <a:hlinkClick r:id="rId4"/>
              </a:rPr>
              <a:t>Click on the link below to go to Google COLAB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6B010A-1E59-642A-BD4F-9DA581040B10}"/>
              </a:ext>
            </a:extLst>
          </p:cNvPr>
          <p:cNvSpPr txBox="1"/>
          <p:nvPr/>
        </p:nvSpPr>
        <p:spPr>
          <a:xfrm>
            <a:off x="0" y="3796145"/>
            <a:ext cx="88617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colab.research.google.com</a:t>
            </a:r>
            <a:r>
              <a:rPr lang="en-US"/>
              <a:t>/drive/10_sbDJlV6zeSHAnHY_EWTf9t488Vn0Hz#scrollTo=210h8e44YxPQ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0"/>
          <p:cNvPicPr preferRelativeResize="0"/>
          <p:nvPr/>
        </p:nvPicPr>
        <p:blipFill rotWithShape="1">
          <a:blip r:embed="rId3">
            <a:alphaModFix/>
          </a:blip>
          <a:srcRect l="8508"/>
          <a:stretch/>
        </p:blipFill>
        <p:spPr>
          <a:xfrm>
            <a:off x="6248550" y="1551586"/>
            <a:ext cx="1357692" cy="509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7216" y="2992069"/>
            <a:ext cx="995950" cy="405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9974" y="3081645"/>
            <a:ext cx="1214843" cy="226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/>
          <p:cNvPicPr preferRelativeResize="0"/>
          <p:nvPr/>
        </p:nvPicPr>
        <p:blipFill rotWithShape="1">
          <a:blip r:embed="rId6">
            <a:alphaModFix/>
          </a:blip>
          <a:srcRect l="11047" t="22524" r="11047" b="22523"/>
          <a:stretch/>
        </p:blipFill>
        <p:spPr>
          <a:xfrm>
            <a:off x="3316327" y="2249012"/>
            <a:ext cx="688702" cy="395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60782" y="2325188"/>
            <a:ext cx="1133228" cy="243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/>
          <p:cNvPicPr preferRelativeResize="0"/>
          <p:nvPr/>
        </p:nvPicPr>
        <p:blipFill rotWithShape="1">
          <a:blip r:embed="rId8">
            <a:alphaModFix/>
          </a:blip>
          <a:srcRect l="2114" t="19776" b="19777"/>
          <a:stretch/>
        </p:blipFill>
        <p:spPr>
          <a:xfrm>
            <a:off x="3094065" y="1608499"/>
            <a:ext cx="1133226" cy="395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183573" y="3074674"/>
            <a:ext cx="954210" cy="240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Text&#10;&#10;Description automatically generated with low confidence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92620" y="3040838"/>
            <a:ext cx="750589" cy="308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A red and black sign&#10;&#10;Description automatically generated with low confidenc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183572" y="3696038"/>
            <a:ext cx="954213" cy="202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A picture containing text, clipart, vector graphics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18971" y="3677016"/>
            <a:ext cx="697888" cy="240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/>
          <p:cNvPicPr preferRelativeResize="0"/>
          <p:nvPr/>
        </p:nvPicPr>
        <p:blipFill rotWithShape="1">
          <a:blip r:embed="rId13">
            <a:alphaModFix/>
          </a:blip>
          <a:srcRect b="18915"/>
          <a:stretch/>
        </p:blipFill>
        <p:spPr>
          <a:xfrm>
            <a:off x="6450290" y="3643177"/>
            <a:ext cx="954212" cy="308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/>
          <p:cNvPicPr preferRelativeResize="0"/>
          <p:nvPr/>
        </p:nvPicPr>
        <p:blipFill rotWithShape="1">
          <a:blip r:embed="rId14">
            <a:alphaModFix/>
          </a:blip>
          <a:srcRect l="12270" t="12270" r="12262" b="12262"/>
          <a:stretch/>
        </p:blipFill>
        <p:spPr>
          <a:xfrm>
            <a:off x="3885746" y="4245539"/>
            <a:ext cx="1133228" cy="382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798086" y="3621493"/>
            <a:ext cx="694210" cy="351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/>
          <p:cNvPicPr preferRelativeResize="0"/>
          <p:nvPr/>
        </p:nvPicPr>
        <p:blipFill rotWithShape="1">
          <a:blip r:embed="rId16">
            <a:alphaModFix/>
          </a:blip>
          <a:srcRect t="18905" b="18904"/>
          <a:stretch/>
        </p:blipFill>
        <p:spPr>
          <a:xfrm>
            <a:off x="1537771" y="1614885"/>
            <a:ext cx="1214840" cy="382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/>
          <p:cNvPicPr preferRelativeResize="0"/>
          <p:nvPr/>
        </p:nvPicPr>
        <p:blipFill rotWithShape="1">
          <a:blip r:embed="rId17">
            <a:alphaModFix/>
          </a:blip>
          <a:srcRect l="2114" t="28897" b="28892"/>
          <a:stretch/>
        </p:blipFill>
        <p:spPr>
          <a:xfrm>
            <a:off x="4740627" y="1652095"/>
            <a:ext cx="1254574" cy="308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760495" y="2253777"/>
            <a:ext cx="1214839" cy="386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647215" y="2294778"/>
            <a:ext cx="995952" cy="30401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>
            <a:spLocks noGrp="1"/>
          </p:cNvSpPr>
          <p:nvPr>
            <p:ph type="title" idx="4294967295"/>
          </p:nvPr>
        </p:nvSpPr>
        <p:spPr>
          <a:xfrm>
            <a:off x="2079450" y="745725"/>
            <a:ext cx="6373800" cy="5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>
                <a:solidFill>
                  <a:srgbClr val="4F29B6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الشراكات العالمية</a:t>
            </a:r>
            <a:endParaRPr>
              <a:solidFill>
                <a:srgbClr val="4F29B6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 txBox="1">
            <a:spLocks noGrp="1"/>
          </p:cNvSpPr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33333"/>
              <a:buNone/>
            </a:pPr>
            <a:r>
              <a:rPr lang="en-US" sz="40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sz="40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17" name="Google Shape;217;p21"/>
          <p:cNvSpPr txBox="1">
            <a:spLocks noGrp="1"/>
          </p:cNvSpPr>
          <p:nvPr>
            <p:ph type="ctrTitle" idx="4294967295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990"/>
              <a:buFont typeface="IBM Plex Sans Arabic Medium"/>
              <a:buNone/>
            </a:pPr>
            <a:r>
              <a:rPr lang="en-US" sz="29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sz="29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535</Words>
  <Application>Microsoft Macintosh PowerPoint</Application>
  <PresentationFormat>On-screen Show (16:9)</PresentationFormat>
  <Paragraphs>80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Inter</vt:lpstr>
      <vt:lpstr>IBM Plex Sans Arabic Medium</vt:lpstr>
      <vt:lpstr>IBM Plex Sans Arabic SemiBold</vt:lpstr>
      <vt:lpstr>Calibri</vt:lpstr>
      <vt:lpstr>Proxima Nova</vt:lpstr>
      <vt:lpstr>Wingdings</vt:lpstr>
      <vt:lpstr>Tajawal</vt:lpstr>
      <vt:lpstr>IBM Plex Sans Arabic</vt:lpstr>
      <vt:lpstr>Simple Light</vt:lpstr>
      <vt:lpstr>أكـــــاديميــــة طــــويـــق</vt:lpstr>
      <vt:lpstr>cuDF: Understsanding performance and visualization  </vt:lpstr>
      <vt:lpstr>PowerPoint Presentation</vt:lpstr>
      <vt:lpstr>Numba: Just-In-Time (JIT) Compilation for Speeding Up Python Code </vt:lpstr>
      <vt:lpstr>Why Use Numba?</vt:lpstr>
      <vt:lpstr>How JIT Compilation Works </vt:lpstr>
      <vt:lpstr>How Numba Works</vt:lpstr>
      <vt:lpstr>Performance with &amp; without numba</vt:lpstr>
      <vt:lpstr>Numba Modes  </vt:lpstr>
      <vt:lpstr> Limitations of Numba  </vt:lpstr>
      <vt:lpstr>Summary </vt:lpstr>
      <vt:lpstr>Practical Implementation</vt:lpstr>
      <vt:lpstr>الشراكات العالمية</vt:lpstr>
      <vt:lpstr>شــــــكــــرًا لكــــــم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Afshan Hashmi</cp:lastModifiedBy>
  <cp:revision>9</cp:revision>
  <dcterms:modified xsi:type="dcterms:W3CDTF">2025-03-10T15:01:38Z</dcterms:modified>
</cp:coreProperties>
</file>