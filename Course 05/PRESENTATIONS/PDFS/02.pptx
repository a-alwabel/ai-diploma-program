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IBM Plex Sans Arabic Medium"/>
      <p:regular r:id="rId33"/>
      <p:bold r:id="rId34"/>
    </p:embeddedFont>
    <p:embeddedFont>
      <p:font typeface="IBM Plex Sans Arabic"/>
      <p:regular r:id="rId35"/>
      <p:bold r:id="rId36"/>
    </p:embeddedFont>
    <p:embeddedFont>
      <p:font typeface="IBM Plex Sans Arabic SemiBold"/>
      <p:regular r:id="rId37"/>
      <p:bold r:id="rId38"/>
    </p:embeddedFont>
    <p:embeddedFont>
      <p:font typeface="IBM Plex Sans Medium"/>
      <p:regular r:id="rId39"/>
      <p:bold r:id="rId40"/>
      <p:italic r:id="rId41"/>
      <p:boldItalic r:id="rId42"/>
    </p:embeddedFont>
    <p:embeddedFont>
      <p:font typeface="Tajawal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jtUGl8LKDEkRmVJAv4ie6vlWO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2118C3-9467-4BBA-9EF4-E2FAA7E8B497}">
  <a:tblStyle styleId="{FE2118C3-9467-4BBA-9EF4-E2FAA7E8B49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4" orient="horz"/>
        <p:guide pos="2560" orient="horz"/>
        <p:guide pos="2880"/>
        <p:guide pos="759" orient="horz"/>
        <p:guide pos="2428" orient="horz"/>
        <p:guide pos="5325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bold.fntdata"/><Relationship Id="rId20" Type="http://schemas.openxmlformats.org/officeDocument/2006/relationships/slide" Target="slides/slide14.xml"/><Relationship Id="rId42" Type="http://schemas.openxmlformats.org/officeDocument/2006/relationships/font" Target="fonts/IBMPlexSansMedium-boldItalic.fntdata"/><Relationship Id="rId41" Type="http://schemas.openxmlformats.org/officeDocument/2006/relationships/font" Target="fonts/IBMPlexSansMedium-italic.fntdata"/><Relationship Id="rId22" Type="http://schemas.openxmlformats.org/officeDocument/2006/relationships/slide" Target="slides/slide16.xml"/><Relationship Id="rId44" Type="http://schemas.openxmlformats.org/officeDocument/2006/relationships/font" Target="fonts/Tajawal-bold.fntdata"/><Relationship Id="rId21" Type="http://schemas.openxmlformats.org/officeDocument/2006/relationships/slide" Target="slides/slide15.xml"/><Relationship Id="rId43" Type="http://schemas.openxmlformats.org/officeDocument/2006/relationships/font" Target="fonts/Tajawal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BMPlexSansArabicMedium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BMPlexSansArabic-regular.fntdata"/><Relationship Id="rId12" Type="http://schemas.openxmlformats.org/officeDocument/2006/relationships/slide" Target="slides/slide6.xml"/><Relationship Id="rId34" Type="http://schemas.openxmlformats.org/officeDocument/2006/relationships/font" Target="fonts/IBMPlexSansArabicMedium-bold.fntdata"/><Relationship Id="rId15" Type="http://schemas.openxmlformats.org/officeDocument/2006/relationships/slide" Target="slides/slide9.xml"/><Relationship Id="rId37" Type="http://schemas.openxmlformats.org/officeDocument/2006/relationships/font" Target="fonts/IBMPlexSansArabic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IBMPlexSansArabic-bold.fntdata"/><Relationship Id="rId17" Type="http://schemas.openxmlformats.org/officeDocument/2006/relationships/slide" Target="slides/slide11.xml"/><Relationship Id="rId39" Type="http://schemas.openxmlformats.org/officeDocument/2006/relationships/font" Target="fonts/IBMPlexSansMedium-regular.fntdata"/><Relationship Id="rId16" Type="http://schemas.openxmlformats.org/officeDocument/2006/relationships/slide" Target="slides/slide10.xml"/><Relationship Id="rId38" Type="http://schemas.openxmlformats.org/officeDocument/2006/relationships/font" Target="fonts/IBMPlexSansArabic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b="1" sz="43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/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b="0" i="0" sz="2500" u="none" cap="none" strike="noStrik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b="0" i="0" sz="18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indent="-317500" lvl="1" marL="914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indent="-317500" lvl="2" marL="1371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indent="-317500" lvl="3" marL="1828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indent="-317500" lvl="4" marL="22860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indent="-317500" lvl="5" marL="2743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indent="-317500" lvl="6" marL="3200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indent="-317500" lvl="7" marL="3657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indent="-317500" lvl="8" marL="4114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orkspace.google.com/" TargetMode="External"/><Relationship Id="rId4" Type="http://schemas.openxmlformats.org/officeDocument/2006/relationships/hyperlink" Target="https://www.microsoft.com/microsoft-365" TargetMode="External"/><Relationship Id="rId5" Type="http://schemas.openxmlformats.org/officeDocument/2006/relationships/hyperlink" Target="https://trello.com/" TargetMode="External"/><Relationship Id="rId6" Type="http://schemas.openxmlformats.org/officeDocument/2006/relationships/hyperlink" Target="https://slack.com/" TargetMode="External"/><Relationship Id="rId7" Type="http://schemas.openxmlformats.org/officeDocument/2006/relationships/hyperlink" Target="https://www.notion.so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0" name="Google Shape;40;p1"/>
          <p:cNvSpPr txBox="1"/>
          <p:nvPr>
            <p:ph idx="4294967295" type="body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Cloud Collaboration Tools</a:t>
            </a:r>
            <a:br>
              <a:rPr lang="en-US" sz="40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46" name="Google Shape;4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655513" y="612177"/>
            <a:ext cx="6634716" cy="2739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what cloud collaboration tools are and why they are important.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popular cloud collaboration platforms and their core features.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different tools based on functionality, accessibility, and security.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 the use of common cloud collaboration tools through practical examples.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Introduction to Cloud Collaboration</a:t>
            </a: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0" i="0" u="none" strike="noStrike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58" name="Google Shape;58;p4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19270" y="688659"/>
            <a:ext cx="845223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Cloud Collaboration?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Collaboration refers to the practice of using cloud computing technologies that allow multiple people to: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together on documents, files, or projects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and edit content in real-time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anywhere with an internet connection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storing files on a local device, cloud collaboration platforms store them on remote servers (the cloud), making it easy for teams to collaborate even if they are not in the same location.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 of Cloud Collaboration: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Editing: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Multiple users can edit the same document at the same time.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 Saving &amp; Versioning: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Changes are saved automatically, and previous versions are often stored.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Access: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Files can be accessed anytime, anywhere.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Sharing: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Easy to share with teams or external stakeholders.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Communication: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Chat, comments, and video calls often integrated into the tools.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Why Use Cloud Collaboration Tools?</a:t>
            </a:r>
            <a:br>
              <a:rPr b="1" lang="en-US" sz="2800"/>
            </a:b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0" i="0" u="none" strike="noStrike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65" name="Google Shape;65;p31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1"/>
          <p:cNvSpPr txBox="1"/>
          <p:nvPr/>
        </p:nvSpPr>
        <p:spPr>
          <a:xfrm>
            <a:off x="119270" y="688659"/>
            <a:ext cx="8452236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Supports Remote and Hybrid Work Models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more people working from home or from different locations, cloud tools ensure everyone stays connected and productive.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Facilitates Teamwork Across Geographic Boundaries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Teams in different cities or countries can collaborate as if they were in the same room.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Enhances Productivity and Communication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 updates and seamless communication reduce misunderstandings and improve workflow.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 time no need to send files back and forth by email.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Cloud Collaboration Tools: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Workspace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(Docs, Sheets, Drive)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365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(Word Online, OneDrive, Teams)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Slack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file sharing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Trello / Asana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task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Zoom / Microsoft Teams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meetings and screen sharing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5354" y="2693638"/>
            <a:ext cx="2935095" cy="24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Key Features of Cloud Collaboration Tools</a:t>
            </a:r>
            <a:br>
              <a:rPr b="1" lang="en-US" sz="2800"/>
            </a:br>
            <a:br>
              <a:rPr b="1" lang="en-US" sz="2800"/>
            </a:b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0" i="0" u="none" strike="noStrike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73" name="Google Shape;73;p32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2"/>
          <p:cNvSpPr txBox="1"/>
          <p:nvPr/>
        </p:nvSpPr>
        <p:spPr>
          <a:xfrm>
            <a:off x="284589" y="998761"/>
            <a:ext cx="634947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Editing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users can edit the same document or file at the same time.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appear instantly for everyone.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Google Docs lets your team write, edit, and see updates live.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a history of all changes made to a document.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track who edited what and when.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to revert to previous versions if needed.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Sharing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 files securely with team members or external collaborators.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permissions: view-only, comment, or edit.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need to email attachments just share a link.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 Features Flat Concept Vector Icon ..." id="75" name="Google Shape;75;p32"/>
          <p:cNvPicPr preferRelativeResize="0"/>
          <p:nvPr/>
        </p:nvPicPr>
        <p:blipFill rotWithShape="1">
          <a:blip r:embed="rId3">
            <a:alphaModFix/>
          </a:blip>
          <a:srcRect b="5449" l="0" r="0" t="0"/>
          <a:stretch/>
        </p:blipFill>
        <p:spPr>
          <a:xfrm>
            <a:off x="6374514" y="1699226"/>
            <a:ext cx="2610865" cy="27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/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Key Features of Cloud Collaboration Tools</a:t>
            </a:r>
            <a:br>
              <a:rPr b="1" lang="en-US" sz="2800"/>
            </a:br>
            <a:br>
              <a:rPr b="1" lang="en-US" sz="2800"/>
            </a:b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0" i="0" u="none" strike="noStrike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81" name="Google Shape;81;p33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 txBox="1"/>
          <p:nvPr/>
        </p:nvSpPr>
        <p:spPr>
          <a:xfrm>
            <a:off x="187911" y="843466"/>
            <a:ext cx="5932971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Commenting &amp; Feedback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Leave inline comments directly on documents.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teammates using @mention to notify them.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feedback clear, organized, and action-oriented.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smoothly with other tools like: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Calendars (e.g., Google Calendar)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management (e.g., Trello, Asana)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apps (e.g., Slack, Microsoft Teams)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everything connected in one place.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protection through: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permissions (who can see or edit)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 (limit by team, device, or IP)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encryption (to keep content private and secure)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 Features Flat Concept Vector Icon ..." id="83" name="Google Shape;83;p33"/>
          <p:cNvPicPr preferRelativeResize="0"/>
          <p:nvPr/>
        </p:nvPicPr>
        <p:blipFill rotWithShape="1">
          <a:blip r:embed="rId3">
            <a:alphaModFix/>
          </a:blip>
          <a:srcRect b="5449" l="0" r="0" t="0"/>
          <a:stretch/>
        </p:blipFill>
        <p:spPr>
          <a:xfrm>
            <a:off x="6430498" y="2123863"/>
            <a:ext cx="2610865" cy="27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/>
              <a:t>Common Cloud Collaboration Tools</a:t>
            </a:r>
            <a:endParaRPr/>
          </a:p>
        </p:txBody>
      </p:sp>
      <p:sp>
        <p:nvSpPr>
          <p:cNvPr id="89" name="Google Shape;89;p34"/>
          <p:cNvSpPr txBox="1"/>
          <p:nvPr/>
        </p:nvSpPr>
        <p:spPr>
          <a:xfrm>
            <a:off x="332487" y="974803"/>
            <a:ext cx="8242893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collaboration tools help teams work together in real time, share files, manage tasks, and communicate effectively especially in remote or hybrid work environments.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are some of the most widely used tools categorized by function: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Document Creation &amp; File Sharing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Workspace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Google Docs, Sheets, Slides, and Drive.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editing, comments, version history.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for document collaboration and storage.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365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Word Online, Excel Online, PowerPoint, OneDrive.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with Microsoft Teams for smooth collaboration.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enterprise-level support.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Dropbox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storage and sharing platform.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with third-party apps for collaboration.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version control and file recovery.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5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/>
              <a:t>Common Cloud Collaboration Tools</a:t>
            </a:r>
            <a:endParaRPr/>
          </a:p>
        </p:txBody>
      </p:sp>
      <p:sp>
        <p:nvSpPr>
          <p:cNvPr id="95" name="Google Shape;95;p35"/>
          <p:cNvSpPr txBox="1"/>
          <p:nvPr/>
        </p:nvSpPr>
        <p:spPr>
          <a:xfrm>
            <a:off x="332487" y="974803"/>
            <a:ext cx="824289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&amp; Messaging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Slack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messaging app with channels and direct messages.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sharing and integration with tools like Google Drive and Trello.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collaboration and notification system.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Teams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chat, video calls, file sharing, and collaboration in one place.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Deeply integrated with Microsoft 365.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team meetings and document co-authoring.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conferencing and screen sharing.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online meetings, webinars, and virtual classes.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integrated with other collaboration tools.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/>
              <a:t>Common Cloud Collaboration Tools</a:t>
            </a:r>
            <a:endParaRPr/>
          </a:p>
        </p:txBody>
      </p:sp>
      <p:sp>
        <p:nvSpPr>
          <p:cNvPr id="101" name="Google Shape;101;p36"/>
          <p:cNvSpPr txBox="1"/>
          <p:nvPr/>
        </p:nvSpPr>
        <p:spPr>
          <a:xfrm>
            <a:off x="332487" y="974803"/>
            <a:ext cx="8242893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&amp; Task Management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Trello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task management using boards, lists, and cards.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 for small teams and simple project tracking.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drag-and-drop interface.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Asana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and project management tool.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Lets you assign tasks, set due dates, and track progress.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with email, Slack, Google Drive,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ClickUp / Monday.com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All-in-one workspaces for tasks, docs, goals, and timelines.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customizable workflows for teams.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7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/>
              <a:t>Common Cloud Collaboration Tools</a:t>
            </a:r>
            <a:endParaRPr/>
          </a:p>
        </p:txBody>
      </p:sp>
      <p:sp>
        <p:nvSpPr>
          <p:cNvPr id="107" name="Google Shape;107;p37"/>
          <p:cNvSpPr txBox="1"/>
          <p:nvPr/>
        </p:nvSpPr>
        <p:spPr>
          <a:xfrm>
            <a:off x="189364" y="871436"/>
            <a:ext cx="659309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Platforms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Notion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note-taking, docs, databases, and task tracking.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Customizable and great for team knowledge bases.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collaboration with rich media support.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Airtable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 a super-powered spreadsheet.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database features with a user-friendly interface.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for project planning and content calendars.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tion for Nonprofits" id="108" name="Google Shape;108;p37"/>
          <p:cNvPicPr preferRelativeResize="0"/>
          <p:nvPr/>
        </p:nvPicPr>
        <p:blipFill rotWithShape="1">
          <a:blip r:embed="rId3">
            <a:alphaModFix/>
          </a:blip>
          <a:srcRect b="18003" l="0" r="0" t="20392"/>
          <a:stretch/>
        </p:blipFill>
        <p:spPr>
          <a:xfrm>
            <a:off x="505958" y="3425981"/>
            <a:ext cx="3429000" cy="1463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s Partner Directory" id="109" name="Google Shape;109;p37"/>
          <p:cNvPicPr preferRelativeResize="0"/>
          <p:nvPr/>
        </p:nvPicPr>
        <p:blipFill rotWithShape="1">
          <a:blip r:embed="rId4">
            <a:alphaModFix/>
          </a:blip>
          <a:srcRect b="12507" l="0" r="0" t="15582"/>
          <a:stretch/>
        </p:blipFill>
        <p:spPr>
          <a:xfrm>
            <a:off x="4688342" y="3425981"/>
            <a:ext cx="3949700" cy="146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8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/>
              <a:t>Common Cloud Collaboration Tools</a:t>
            </a:r>
            <a:endParaRPr/>
          </a:p>
        </p:txBody>
      </p:sp>
      <p:graphicFrame>
        <p:nvGraphicFramePr>
          <p:cNvPr id="115" name="Google Shape;115;p38"/>
          <p:cNvGraphicFramePr/>
          <p:nvPr/>
        </p:nvGraphicFramePr>
        <p:xfrm>
          <a:off x="189364" y="736933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CE7F5"/>
                    </a:gs>
                    <a:gs pos="35000">
                      <a:srgbClr val="BBEAF6"/>
                    </a:gs>
                    <a:gs pos="100000">
                      <a:srgbClr val="E4F9FC"/>
                    </a:gs>
                  </a:gsLst>
                  <a:lin ang="16200000" scaled="0"/>
                </a:gradFill>
                <a:tableStyleId>{FE2118C3-9467-4BBA-9EF4-E2FAA7E8B497}</a:tableStyleId>
              </a:tblPr>
              <a:tblGrid>
                <a:gridCol w="2482475"/>
                <a:gridCol w="2780175"/>
                <a:gridCol w="2631325"/>
              </a:tblGrid>
              <a:tr h="2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Tool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Use Case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Key Features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Google Workspace</a:t>
                      </a:r>
                      <a:r>
                        <a:rPr lang="en-US" sz="1400" u="none" cap="none" strike="noStrike"/>
                        <a:t> (Docs, Sheets, Drive)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Document creation, editing, storage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Real-time editing, sharing, commenting, auto-save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Microsoft 365</a:t>
                      </a:r>
                      <a:r>
                        <a:rPr lang="en-US" sz="1400" u="none" cap="none" strike="noStrike"/>
                        <a:t> (Word, Excel, Teams)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Business suite, communication, docs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Desktop + web versions, Teams chat, OneDrive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Slack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Messaging and team communication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Channels, file sharing, app integrations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Trello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Task and project management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Boards, cards, checklists, calendar view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2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Asana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Task tracking and workflows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Projects, timelines, dependencies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Zoom</a:t>
                      </a:r>
                      <a:r>
                        <a:rPr lang="en-US" sz="1400" u="none" cap="none" strike="noStrike"/>
                        <a:t> / </a:t>
                      </a:r>
                      <a:r>
                        <a:rPr b="1" lang="en-US" sz="1400" u="none" cap="none" strike="noStrike"/>
                        <a:t>Google Meet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Video conferencing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Meetings, webinars, screen sharing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Notion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Notes, knowledge base, task tracking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All-in-one workspace, templates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  <a:tr h="41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Dropbox</a:t>
                      </a:r>
                      <a:endParaRPr sz="1400" u="none" cap="none" strike="noStrike"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File storage and sharing</a:t>
                      </a:r>
                      <a:endParaRPr/>
                    </a:p>
                  </a:txBody>
                  <a:tcPr marT="36875" marB="36875" marR="73725" marL="73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Syncing, version history, team folders</a:t>
                      </a:r>
                      <a:endParaRPr/>
                    </a:p>
                  </a:txBody>
                  <a:tcPr marT="36875" marB="36875" marR="73725" marL="73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Key Technologies Behind Cloud Collaboration</a:t>
            </a: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21" name="Google Shape;121;p39"/>
          <p:cNvSpPr txBox="1"/>
          <p:nvPr/>
        </p:nvSpPr>
        <p:spPr>
          <a:xfrm>
            <a:off x="208720" y="628516"/>
            <a:ext cx="7949317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the core technologies that make cloud collaboration fast, secure, and seamless.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A. Real-Time Sync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collaboration tools rely on real-time synchronization to ensure all users see the same version of a document instantly.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Operational Transformation (OT)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method used to resolve conflicts when multiple users are editing a document at the same time.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ensures that all changes are merged smoothly, so nothing is overwritten.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Google Docs uses OT to let multiple users type on the same document without issues.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WebSockets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communication protocol that keeps a constant connection between the user’s device and the server.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instant updates to be sent in both directions no need to refresh the page.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 live chats, collaborative editing, dashboards, etc.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Key Technologies Behind Cloud Collaboration</a:t>
            </a: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27" name="Google Shape;127;p40"/>
          <p:cNvSpPr txBox="1"/>
          <p:nvPr/>
        </p:nvSpPr>
        <p:spPr>
          <a:xfrm>
            <a:off x="81499" y="650991"/>
            <a:ext cx="8528105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Security &amp; Compliance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cloud collaboration involves storing and transferring sensitive data, security is critical.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Encryption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AES-256 (Advanced Encryption Standard) is used to protect data at rest (stored data).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TLS (Transport Layer Security) protects data in transit (data being transferred between devices and servers).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implement Role-Based Access Control (RBAC):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full control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can modify content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read-only access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only the right people can see or edit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 Standards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often follow global standards to protect user privacy and data: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GDPR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for data protection in the EU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HIPAA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for health-related data security in the U.S.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 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for service organization controls (audits, privacy, etc.)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Key Technologies Behind Cloud Collaboration</a:t>
            </a:r>
            <a:br>
              <a:rPr b="1" lang="en-US" sz="2800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33" name="Google Shape;133;p41"/>
          <p:cNvSpPr txBox="1"/>
          <p:nvPr/>
        </p:nvSpPr>
        <p:spPr>
          <a:xfrm>
            <a:off x="81499" y="650991"/>
            <a:ext cx="825941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APIs &amp; Integrations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 and integrations help cloud tools communicate with each other, improving efficiency and automation.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APIs (Representational State Transfer)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 external apps or systems to connect and exchange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Connect Slack with Google Calendar to get meeting reminders in Slack.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Webhooks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send real-time alerts between systems when certain events happen.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A new issue is created in GitHub → a message is sent to your Slack channel automatically.</a:t>
            </a:r>
            <a:endParaRPr/>
          </a:p>
        </p:txBody>
      </p:sp>
      <p:pic>
        <p:nvPicPr>
          <p:cNvPr id="134" name="Google Shape;134;p41"/>
          <p:cNvPicPr preferRelativeResize="0"/>
          <p:nvPr/>
        </p:nvPicPr>
        <p:blipFill rotWithShape="1">
          <a:blip r:embed="rId3">
            <a:alphaModFix/>
          </a:blip>
          <a:srcRect b="0" l="0" r="0" t="22116"/>
          <a:stretch/>
        </p:blipFill>
        <p:spPr>
          <a:xfrm>
            <a:off x="1804945" y="2926080"/>
            <a:ext cx="5153659" cy="246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2"/>
          <p:cNvSpPr txBox="1"/>
          <p:nvPr>
            <p:ph type="title"/>
          </p:nvPr>
        </p:nvSpPr>
        <p:spPr>
          <a:xfrm>
            <a:off x="0" y="51268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Challenges and Considerations in Cloud Collaboration</a:t>
            </a:r>
            <a:br>
              <a:rPr b="1" lang="en-US" sz="2800"/>
            </a:br>
            <a:br>
              <a:rPr b="1" lang="en-US"/>
            </a:br>
            <a:r>
              <a:rPr b="1" lang="en-US"/>
              <a:t> 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40" name="Google Shape;140;p42"/>
          <p:cNvSpPr txBox="1"/>
          <p:nvPr/>
        </p:nvSpPr>
        <p:spPr>
          <a:xfrm>
            <a:off x="144024" y="679168"/>
            <a:ext cx="790269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cloud collaboration tools offer many benefits, there are some challenges that teams and organizations must address: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Security Risks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is: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stored in the cloud can be vulnerable to unauthorized access, breaches, or leaks.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Sensitive company or customer information may be exposed if proper security measures (like encryption and access control) aren't in place.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Sharing a file with the wrong permissions can lead to accidental exposure.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Internet Dependency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is: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Cloud tools rely heavily on internet connectivity.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internet is slow or unavailable, users may lose access to critical documents or live collaboration features.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 a meeting, poor internet can disrupt file sharing or real-time updates.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"/>
          <p:cNvSpPr txBox="1"/>
          <p:nvPr>
            <p:ph type="title"/>
          </p:nvPr>
        </p:nvSpPr>
        <p:spPr>
          <a:xfrm>
            <a:off x="0" y="51268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99206"/>
              <a:buNone/>
            </a:pPr>
            <a:r>
              <a:rPr b="1" lang="en-US" sz="2800"/>
              <a:t>Challenges and Considerations in Cloud Collaboration</a:t>
            </a:r>
            <a:br>
              <a:rPr b="1" lang="en-US" sz="2800"/>
            </a:br>
            <a:br>
              <a:rPr b="1" lang="en-US"/>
            </a:br>
            <a:r>
              <a:rPr b="1" lang="en-US"/>
              <a:t> 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46" name="Google Shape;146;p43"/>
          <p:cNvSpPr txBox="1"/>
          <p:nvPr/>
        </p:nvSpPr>
        <p:spPr>
          <a:xfrm>
            <a:off x="144024" y="679168"/>
            <a:ext cx="790269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3. Compatibility Issues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is: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Different tools or file formats might not work well together.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may face difficulties when collaborating across platforms or with older file versions.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document made in Microsoft Word might lose formatting when opened in Google Docs.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User Training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is: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Employees may need to learn how to use new tools or adapt to cloud-based workflows.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proper training, productivity may drop, and users may resist adopting new systems.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team used to emailing files may take time to adjust to using shared online documents.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4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lang="en-US"/>
              <a:t>Best Practices for Effective Collaboration</a:t>
            </a:r>
            <a:br>
              <a:rPr b="1" lang="en-US"/>
            </a:br>
            <a:r>
              <a:rPr b="1" lang="en-US"/>
              <a:t> 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52" name="Google Shape;152;p44"/>
          <p:cNvSpPr txBox="1"/>
          <p:nvPr/>
        </p:nvSpPr>
        <p:spPr>
          <a:xfrm>
            <a:off x="144024" y="679168"/>
            <a:ext cx="7902696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collaboration using cloud tools requires not just the right platform, but also smart practices to ensure productivity, security, and alignment. Below are key best practices every team should follow: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Standardize Tools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too many tools creates confusion, duplicate work, and inefficiencies.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practice: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one tool per function (e.g., only Asana or Trello for project management).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 an official toolset for communication, file storage, task tracking, 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Google Workspace + Trello + Slack for your team, and ensure everyone sticks to them.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5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lang="en-US"/>
              <a:t>Best Practices for Effective Collaboration</a:t>
            </a:r>
            <a:br>
              <a:rPr b="1" lang="en-US"/>
            </a:br>
            <a:r>
              <a:rPr b="1" lang="en-US"/>
              <a:t> 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58" name="Google Shape;158;p45"/>
          <p:cNvSpPr txBox="1"/>
          <p:nvPr/>
        </p:nvSpPr>
        <p:spPr>
          <a:xfrm>
            <a:off x="144024" y="679168"/>
            <a:ext cx="7902696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Set Permissions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Accidental edits or unauthorized access to sensitive data can be costly.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practice: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view-only, comment, or edit permissions based on role and responsibility.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folder-level controls in tools like Google Drive or OneDrive.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Project plans can be editable by managers, while interns get view-only access.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Train Teams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powerful features go unused due to lack of knowledge.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practice: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hands-on training or short video tutorials.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Highlight features like:</a:t>
            </a:r>
            <a:endParaRPr/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@mentions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collaboration,</a:t>
            </a:r>
            <a:endParaRPr/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history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recover previous work,</a:t>
            </a:r>
            <a:endParaRPr/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Shortcuts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productivity.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Conduct a 15-minute weekly “Tool Tips” session.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6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lang="en-US"/>
              <a:t>Best Practices for Effective Collaboration</a:t>
            </a:r>
            <a:br>
              <a:rPr b="1" lang="en-US"/>
            </a:br>
            <a:r>
              <a:rPr b="1" lang="en-US"/>
              <a:t> 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64" name="Google Shape;164;p46"/>
          <p:cNvSpPr txBox="1"/>
          <p:nvPr/>
        </p:nvSpPr>
        <p:spPr>
          <a:xfrm>
            <a:off x="144024" y="679168"/>
            <a:ext cx="7902696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Automate Workflows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Manual tasks waste time and increase the risk of errors.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practice: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tools like Zapier, Make (Integromat), or Power Automate to connect platforms.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repetitive tasks, e.g.:</a:t>
            </a:r>
            <a:endParaRPr/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form submission → Create a Trello card.</a:t>
            </a:r>
            <a:endParaRPr/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Slack message → Add to Google Calendar.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Automatically send a daily standup reminder via Slack at 9:00 a.m.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Monitor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Helps in auditing, troubleshooting, and enforcing accountability.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practice: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built-in audit logs, usage dashboards, and activity history.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who accessed/edited files, and monitor logins and sharing patterns.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Google Workspace Admin Console, check Drive activity reports to ensure compliance.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Comparison </a:t>
            </a:r>
            <a:r>
              <a:rPr lang="en-US">
                <a:solidFill>
                  <a:srgbClr val="7030A0"/>
                </a:solidFill>
              </a:rPr>
              <a:t>table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graphicFrame>
        <p:nvGraphicFramePr>
          <p:cNvPr id="170" name="Google Shape;170;p47"/>
          <p:cNvGraphicFramePr/>
          <p:nvPr/>
        </p:nvGraphicFramePr>
        <p:xfrm>
          <a:off x="215125" y="1076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{FE2118C3-9467-4BBA-9EF4-E2FAA7E8B497}</a:tableStyleId>
              </a:tblPr>
              <a:tblGrid>
                <a:gridCol w="1704350"/>
                <a:gridCol w="1704350"/>
                <a:gridCol w="1704350"/>
                <a:gridCol w="1704350"/>
                <a:gridCol w="170435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Feature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Google Workspace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Microsoft 365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Slack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Trello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Real-time Editing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Chat Integration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File Storage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Limited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Task Management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Cross-device Access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✅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8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lang="en-US"/>
              <a:t>Case Studies in Cloud Collaboration</a:t>
            </a:r>
            <a:br>
              <a:rPr b="1" lang="en-US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76" name="Google Shape;176;p48"/>
          <p:cNvSpPr txBox="1"/>
          <p:nvPr/>
        </p:nvSpPr>
        <p:spPr>
          <a:xfrm>
            <a:off x="224295" y="743741"/>
            <a:ext cx="832965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examples help demonstrate how cloud collaboration tools solve specific challenges. Here are two case studies: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Remote Software 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GitHub + Slack + Zoom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 are working remotely across different time zones, making communication and coordination difficult.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p48"/>
          <p:cNvGraphicFramePr/>
          <p:nvPr/>
        </p:nvGraphicFramePr>
        <p:xfrm>
          <a:off x="224295" y="2528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{FE2118C3-9467-4BBA-9EF4-E2FAA7E8B497}</a:tableStyleId>
              </a:tblPr>
              <a:tblGrid>
                <a:gridCol w="1461375"/>
                <a:gridCol w="706032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Tool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Purpose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GitHub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Used for </a:t>
                      </a:r>
                      <a:r>
                        <a:rPr b="1" lang="en-US" sz="1400" u="none" cap="none" strike="noStrike"/>
                        <a:t>collaborative coding</a:t>
                      </a:r>
                      <a:r>
                        <a:rPr lang="en-US" sz="1400" u="none" cap="none" strike="noStrike"/>
                        <a:t>, version control, and pull requests. Developers work on code branches and merge changes efficiently.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Slack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Used for </a:t>
                      </a:r>
                      <a:r>
                        <a:rPr b="1" lang="en-US" sz="1400" u="none" cap="none" strike="noStrike"/>
                        <a:t>daily standups</a:t>
                      </a:r>
                      <a:r>
                        <a:rPr lang="en-US" sz="1400" u="none" cap="none" strike="noStrike"/>
                        <a:t>, quick team updates, asynchronous discussions, and integrations (e.g., GitHub notifications).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Zoom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Used for </a:t>
                      </a:r>
                      <a:r>
                        <a:rPr b="1" lang="en-US" sz="1400" u="none" cap="none" strike="noStrike"/>
                        <a:t>sprint retrospectives</a:t>
                      </a:r>
                      <a:r>
                        <a:rPr lang="en-US" sz="1400" u="none" cap="none" strike="noStrike"/>
                        <a:t>, virtual face-to-face meetings to discuss progress, challenges, and improvements.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8" name="Google Shape;178;p48"/>
          <p:cNvSpPr txBox="1"/>
          <p:nvPr/>
        </p:nvSpPr>
        <p:spPr>
          <a:xfrm>
            <a:off x="147928" y="4527061"/>
            <a:ext cx="88481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Smooth code development, clear communication, and stronger team alignment across time zones.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9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lang="en-US"/>
              <a:t>Case Studies in Cloud Collaboration</a:t>
            </a:r>
            <a:br>
              <a:rPr b="1" lang="en-US"/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84" name="Google Shape;184;p49"/>
          <p:cNvSpPr txBox="1"/>
          <p:nvPr/>
        </p:nvSpPr>
        <p:spPr>
          <a:xfrm>
            <a:off x="224295" y="743741"/>
            <a:ext cx="832965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Academic Research Group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Notion + Zotero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Researchers need to manage shared papers, deadlines, and citations for collaborative writing and publishing.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9"/>
          <p:cNvSpPr txBox="1"/>
          <p:nvPr/>
        </p:nvSpPr>
        <p:spPr>
          <a:xfrm>
            <a:off x="224295" y="4288995"/>
            <a:ext cx="88481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Organized workflow, centralized research materials,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efficient citation management for academic writing.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aphicFrame>
        <p:nvGraphicFramePr>
          <p:cNvPr id="186" name="Google Shape;186;p49"/>
          <p:cNvGraphicFramePr/>
          <p:nvPr/>
        </p:nvGraphicFramePr>
        <p:xfrm>
          <a:off x="215125" y="2583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{FE2118C3-9467-4BBA-9EF4-E2FAA7E8B497}</a:tableStyleId>
              </a:tblPr>
              <a:tblGrid>
                <a:gridCol w="2408200"/>
                <a:gridCol w="61135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Tool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Purpose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Notion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/>
                        <a:t>Used for task tracking, research planning, shared notes, and to-do lists for paper submissions.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Zotero Cloud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/>
                        <a:t>Used for reference management, organizing research papers, and sharing citations among the team.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99514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3200"/>
              <a:t>Summary</a:t>
            </a:r>
            <a:br>
              <a:rPr lang="en-US" sz="3200"/>
            </a:br>
            <a:endParaRPr sz="3200"/>
          </a:p>
        </p:txBody>
      </p:sp>
      <p:pic>
        <p:nvPicPr>
          <p:cNvPr descr="A clipboard with a white paper on it&#10;&#10;AI-generated content may be incorrect."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6984" y="907707"/>
            <a:ext cx="2589784" cy="233080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 txBox="1"/>
          <p:nvPr/>
        </p:nvSpPr>
        <p:spPr>
          <a:xfrm>
            <a:off x="749411" y="1438832"/>
            <a:ext cx="46475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collaboration tools revolutionize how teams work and communicate.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offer convenience, flexibility, and scalability.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Choosing the right tool depends on project needs, team size, and integration requirements.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1366268" y="451340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/>
              <a:t>Reading and Resources</a:t>
            </a:r>
            <a:br>
              <a:rPr b="1" lang="en-US"/>
            </a:br>
            <a:endParaRPr/>
          </a:p>
        </p:txBody>
      </p:sp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1366268" y="1347355"/>
            <a:ext cx="6473718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Google Workspace: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https://workspace.google.com/</a:t>
            </a:r>
            <a:endParaRPr/>
          </a:p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Microsoft 365: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https://www.microsoft.com/microsoft-365</a:t>
            </a:r>
            <a:endParaRPr/>
          </a:p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Trello: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https://trello.com/</a:t>
            </a:r>
            <a:endParaRPr/>
          </a:p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Slack: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https://slack.com/</a:t>
            </a:r>
            <a:endParaRPr/>
          </a:p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Notion: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https://www.notion.so/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b="1" lang="en-US" sz="40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sz="40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06" name="Google Shape;206;p21"/>
          <p:cNvSpPr txBox="1"/>
          <p:nvPr>
            <p:ph idx="4294967295" type="ctrTitle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2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</cp:coreProperties>
</file>