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IBM Plex Sans Arabic Medium"/>
      <p:regular r:id="rId20"/>
      <p:bold r:id="rId21"/>
    </p:embeddedFont>
    <p:embeddedFont>
      <p:font typeface="IBM Plex Sans Arabic"/>
      <p:regular r:id="rId22"/>
      <p:bold r:id="rId23"/>
    </p:embeddedFont>
    <p:embeddedFont>
      <p:font typeface="Proxima Nova"/>
      <p:regular r:id="rId24"/>
      <p:bold r:id="rId25"/>
      <p:italic r:id="rId26"/>
      <p:boldItalic r:id="rId27"/>
    </p:embeddedFont>
    <p:embeddedFont>
      <p:font typeface="IBM Plex Sans Arabic SemiBold"/>
      <p:regular r:id="rId28"/>
      <p:bold r:id="rId29"/>
    </p:embeddedFont>
    <p:embeddedFont>
      <p:font typeface="IBM Plex Sans Medium"/>
      <p:regular r:id="rId30"/>
      <p:bold r:id="rId31"/>
      <p:italic r:id="rId32"/>
      <p:boldItalic r:id="rId33"/>
    </p:embeddedFont>
    <p:embeddedFont>
      <p:font typeface="Tajawal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r:id="rId36" roundtripDataSignature="AMtx7mgbAaiKPkh7F4aj4b2EIIRz7UiD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24" orient="horz"/>
        <p:guide pos="2560" orient="horz"/>
        <p:guide pos="2880"/>
        <p:guide pos="759" orient="horz"/>
        <p:guide pos="2428" orient="horz"/>
        <p:guide pos="5325"/>
        <p:guide pos="9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ArabicMedium-regular.fntdata"/><Relationship Id="rId22" Type="http://schemas.openxmlformats.org/officeDocument/2006/relationships/font" Target="fonts/IBMPlexSansArabic-regular.fntdata"/><Relationship Id="rId21" Type="http://schemas.openxmlformats.org/officeDocument/2006/relationships/font" Target="fonts/IBMPlexSansArabicMedium-bold.fntdata"/><Relationship Id="rId24" Type="http://schemas.openxmlformats.org/officeDocument/2006/relationships/font" Target="fonts/ProximaNova-regular.fntdata"/><Relationship Id="rId23" Type="http://schemas.openxmlformats.org/officeDocument/2006/relationships/font" Target="fonts/IBMPlexSansArabic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8" Type="http://schemas.openxmlformats.org/officeDocument/2006/relationships/font" Target="fonts/IBMPlexSansArabicSemiBold-regular.fntdata"/><Relationship Id="rId27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BMPlexSansArabic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Medium-bold.fntdata"/><Relationship Id="rId30" Type="http://schemas.openxmlformats.org/officeDocument/2006/relationships/font" Target="fonts/IBMPlexSansMedium-regular.fntdata"/><Relationship Id="rId11" Type="http://schemas.openxmlformats.org/officeDocument/2006/relationships/slide" Target="slides/slide6.xml"/><Relationship Id="rId33" Type="http://schemas.openxmlformats.org/officeDocument/2006/relationships/font" Target="fonts/IBMPlexSans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IBMPlexSansMedium-italic.fntdata"/><Relationship Id="rId13" Type="http://schemas.openxmlformats.org/officeDocument/2006/relationships/slide" Target="slides/slide8.xml"/><Relationship Id="rId35" Type="http://schemas.openxmlformats.org/officeDocument/2006/relationships/font" Target="fonts/Tajawal-bold.fntdata"/><Relationship Id="rId12" Type="http://schemas.openxmlformats.org/officeDocument/2006/relationships/slide" Target="slides/slide7.xml"/><Relationship Id="rId34" Type="http://schemas.openxmlformats.org/officeDocument/2006/relationships/font" Target="fonts/Tajawal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b="1" sz="43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15" name="Google Shape;15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/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/>
        </p:txBody>
      </p:sp>
      <p:sp>
        <p:nvSpPr>
          <p:cNvPr id="20" name="Google Shape;20;p25"/>
          <p:cNvSpPr txBox="1"/>
          <p:nvPr>
            <p:ph idx="1" type="body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/>
        </p:txBody>
      </p:sp>
      <p:sp>
        <p:nvSpPr>
          <p:cNvPr id="25" name="Google Shape;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/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/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" name="Google Shape;36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" name="Google Shape;37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8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b="0" i="0" sz="2500" u="none" cap="none" strike="noStrik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b="0" i="0" sz="2800" u="none" cap="none" strike="noStrik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b="0" i="0" sz="18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indent="-317500" lvl="1" marL="9144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indent="-317500" lvl="2" marL="13716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indent="-317500" lvl="3" marL="18288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indent="-317500" lvl="4" marL="22860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indent="-317500" lvl="5" marL="27432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indent="-317500" lvl="6" marL="32004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indent="-317500" lvl="7" marL="36576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indent="-317500" lvl="8" marL="4114800" marR="0" rt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b="0" i="0" sz="1400" u="none" cap="none" strike="noStrik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/>
          <p:nvPr>
            <p:ph idx="4294967295" type="body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Scalable Data Science</a:t>
            </a:r>
            <a:endParaRPr sz="360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cuDF: Understsanding performance</a:t>
            </a:r>
            <a:br>
              <a:rPr lang="en-US" sz="40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50" name="Google Shape;5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Correct the code</a:t>
            </a: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655513" y="612177"/>
            <a:ext cx="6634716" cy="1564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Learners will be able to identify the performance issue</a:t>
            </a:r>
            <a:endParaRPr/>
          </a:p>
          <a:p>
            <a:pPr indent="-342900" lvl="0" marL="342900" marR="0" rtl="0" algn="just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Learners will be able to Fix the issue in the code</a:t>
            </a:r>
            <a:endParaRPr b="0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/>
          <p:nvPr/>
        </p:nvSpPr>
        <p:spPr>
          <a:xfrm>
            <a:off x="407175" y="1019532"/>
            <a:ext cx="80461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151075" y="214686"/>
            <a:ext cx="786384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b="1" i="0" lang="en-US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Avoiding Unnecessary to_pandas() Calls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 following code converts a cuDF DataFrame to Pandas unnecessarily, causing performance issues. Correct the code to improve performance.</a:t>
            </a: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407175" y="1234178"/>
            <a:ext cx="464753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cudf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 = cudf.DataFrame({'a': [1, 2, 3, 4], 'b': [5, 6, 7, 8]})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Inefficient approach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df_pandas = df.to_pandas()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df_pandas['c'] = df_pandas['a'] + df_pandas['b']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 = cudf.DataFrame.from_pandas(df_pandas)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print(df)</a:t>
            </a:r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407175" y="3780411"/>
            <a:ext cx="46475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Hint: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Perform operations directly on the cuDF DataFrame.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/>
        </p:nvSpPr>
        <p:spPr>
          <a:xfrm>
            <a:off x="407175" y="1019532"/>
            <a:ext cx="80461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1"/>
          <p:cNvSpPr txBox="1"/>
          <p:nvPr/>
        </p:nvSpPr>
        <p:spPr>
          <a:xfrm>
            <a:off x="103367" y="222638"/>
            <a:ext cx="78638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1. Avoiding Unnecessary to_pandas() Calls- Corrected code</a:t>
            </a:r>
            <a:endParaRPr/>
          </a:p>
        </p:txBody>
      </p:sp>
      <p:sp>
        <p:nvSpPr>
          <p:cNvPr id="71" name="Google Shape;71;p31"/>
          <p:cNvSpPr txBox="1"/>
          <p:nvPr/>
        </p:nvSpPr>
        <p:spPr>
          <a:xfrm>
            <a:off x="407174" y="3780411"/>
            <a:ext cx="67251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By performing the addition directly on the cuDF DataFrame, we avoid converting it to Pandas, thus improving performance.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1"/>
          <p:cNvSpPr txBox="1"/>
          <p:nvPr/>
        </p:nvSpPr>
        <p:spPr>
          <a:xfrm>
            <a:off x="690639" y="1327309"/>
            <a:ext cx="464753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cudf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 = cudf.DataFrame({'a': [1, 2, 3, 4], 'b': [5, 6, 7, 8]})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Correct approach: Perform operations directly on the cuDF DataFrame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df['c'] = df['a'] + df['b']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print(df)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2"/>
          <p:cNvSpPr txBox="1"/>
          <p:nvPr/>
        </p:nvSpPr>
        <p:spPr>
          <a:xfrm>
            <a:off x="407175" y="1019532"/>
            <a:ext cx="80461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2"/>
          <p:cNvSpPr txBox="1"/>
          <p:nvPr/>
        </p:nvSpPr>
        <p:spPr>
          <a:xfrm>
            <a:off x="151075" y="214686"/>
            <a:ext cx="786384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2. Replacing apply() with Vectorized Operations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 function applied in apply() is not GPU-optimized, forcing execution on the CPU. Modify the code to use vectorized operations.</a:t>
            </a:r>
            <a:endParaRPr/>
          </a:p>
        </p:txBody>
      </p:sp>
      <p:sp>
        <p:nvSpPr>
          <p:cNvPr id="79" name="Google Shape;79;p32"/>
          <p:cNvSpPr txBox="1"/>
          <p:nvPr/>
        </p:nvSpPr>
        <p:spPr>
          <a:xfrm>
            <a:off x="407174" y="3780411"/>
            <a:ext cx="67251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Hint: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Avoid apply() and use built-in cuDF vectorized operations.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2"/>
          <p:cNvSpPr txBox="1"/>
          <p:nvPr/>
        </p:nvSpPr>
        <p:spPr>
          <a:xfrm>
            <a:off x="701703" y="1529134"/>
            <a:ext cx="4647536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cudf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 = cudf.DataFrame({'a': [1, 2, 3, 4], 'b': [5, 6, 7, 8]})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Inefficient approach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df['c'] = df.apply(lambda row: row['a'] + row['b'], axis=1)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print(df)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3"/>
          <p:cNvSpPr txBox="1"/>
          <p:nvPr/>
        </p:nvSpPr>
        <p:spPr>
          <a:xfrm>
            <a:off x="407175" y="1019532"/>
            <a:ext cx="80461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 txBox="1"/>
          <p:nvPr/>
        </p:nvSpPr>
        <p:spPr>
          <a:xfrm>
            <a:off x="151075" y="214686"/>
            <a:ext cx="786384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2. Replacing apply() with Vectorized Operations- Corrected code</a:t>
            </a:r>
            <a:endParaRPr/>
          </a:p>
        </p:txBody>
      </p:sp>
      <p:sp>
        <p:nvSpPr>
          <p:cNvPr id="87" name="Google Shape;87;p33"/>
          <p:cNvSpPr txBox="1"/>
          <p:nvPr/>
        </p:nvSpPr>
        <p:spPr>
          <a:xfrm>
            <a:off x="407174" y="3780411"/>
            <a:ext cx="67251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approach avoids the use of apply() and leverages cuDF's built-in vectorized operations, which are much more efficient.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 txBox="1"/>
          <p:nvPr/>
        </p:nvSpPr>
        <p:spPr>
          <a:xfrm>
            <a:off x="510871" y="1458939"/>
            <a:ext cx="4647536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cudf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 = cudf.DataFrame({'a': [1, 2, 3, 4], 'b': [5, 6, 7, 8]})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Correct approach: Use vectorized operations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df['c'] = df['a'] + df['b']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print(df)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4"/>
          <p:cNvSpPr txBox="1"/>
          <p:nvPr/>
        </p:nvSpPr>
        <p:spPr>
          <a:xfrm>
            <a:off x="151075" y="214686"/>
            <a:ext cx="786384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3. Incorrect cuDF GroupBy Operation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 following code attempts to use a Pandas-style aggregation on a cuDF DataFrame but fails. Correct it to work efficiently with cuDF.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4"/>
          <p:cNvSpPr txBox="1"/>
          <p:nvPr/>
        </p:nvSpPr>
        <p:spPr>
          <a:xfrm>
            <a:off x="407174" y="3780411"/>
            <a:ext cx="67251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Hint: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apply() is not GPU-optimized for groupby. Use a built-in cuDF aggregation instead.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4"/>
          <p:cNvSpPr txBox="1"/>
          <p:nvPr/>
        </p:nvSpPr>
        <p:spPr>
          <a:xfrm>
            <a:off x="946205" y="1250081"/>
            <a:ext cx="5874025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cudf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 = cudf.DataFrame({'category': ['A', 'B', 'A', 'B'], 'values': [10, 20, 30, 40]})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Incorrect approach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df_grouped = df.groupby('category').apply(lambda x: x['values'].sum())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print(df_grouped)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/>
          <p:nvPr/>
        </p:nvSpPr>
        <p:spPr>
          <a:xfrm>
            <a:off x="151075" y="214686"/>
            <a:ext cx="78638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3. Incorrect cuDF GroupBy Operation-Corrected code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5"/>
          <p:cNvSpPr txBox="1"/>
          <p:nvPr/>
        </p:nvSpPr>
        <p:spPr>
          <a:xfrm>
            <a:off x="407174" y="3780411"/>
            <a:ext cx="672514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Instead of using apply(), which is not optimized for groupby operations, we use the built-in sum() method for grouping and aggregation in cuDF..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5"/>
          <p:cNvSpPr txBox="1"/>
          <p:nvPr/>
        </p:nvSpPr>
        <p:spPr>
          <a:xfrm>
            <a:off x="598336" y="1242129"/>
            <a:ext cx="464753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cudf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 = cudf.DataFrame({'category': ['A', 'B', 'A', 'B'], 'values': [10, 20, 30, 40]})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Correct approach: Use a cuDF aggregation instead of apply()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df_grouped = df.groupby('category')['values'].sum()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print(df_grouped)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6"/>
          <p:cNvSpPr txBox="1"/>
          <p:nvPr/>
        </p:nvSpPr>
        <p:spPr>
          <a:xfrm>
            <a:off x="151075" y="214686"/>
            <a:ext cx="786384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4. Fixing Third-Party Library Compatibility Issue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 following code tries to use Plotly directly with a cuDF DataFrame, which is not compatible. Modify it so that it works correctly.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6"/>
          <p:cNvSpPr txBox="1"/>
          <p:nvPr/>
        </p:nvSpPr>
        <p:spPr>
          <a:xfrm>
            <a:off x="598336" y="1168793"/>
            <a:ext cx="4647536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cudf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plotly.express as px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 = cudf.DataFrame({'x': [1, 2, 3, 4], 'y': [10, 20, 30, 40]})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Incorrect approach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 = px.scatter(df, x='x', y='y')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fig.show()</a:t>
            </a:r>
            <a:endParaRPr/>
          </a:p>
        </p:txBody>
      </p:sp>
      <p:sp>
        <p:nvSpPr>
          <p:cNvPr id="109" name="Google Shape;109;p36"/>
          <p:cNvSpPr txBox="1"/>
          <p:nvPr/>
        </p:nvSpPr>
        <p:spPr>
          <a:xfrm>
            <a:off x="598336" y="3336356"/>
            <a:ext cx="46475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Hint: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Convert cuDF DataFrame to Pandas before passing it to Plotly.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7"/>
          <p:cNvSpPr txBox="1"/>
          <p:nvPr/>
        </p:nvSpPr>
        <p:spPr>
          <a:xfrm>
            <a:off x="151075" y="214686"/>
            <a:ext cx="786384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4. Fixing Third-Party Library Compatibility Issue-Corrected Code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7"/>
          <p:cNvSpPr txBox="1"/>
          <p:nvPr/>
        </p:nvSpPr>
        <p:spPr>
          <a:xfrm>
            <a:off x="836875" y="1384237"/>
            <a:ext cx="464753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cudf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plotly.express as px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 = cudf.DataFrame({'x': [1, 2, 3, 4], 'y': [10, 20, 30, 40]})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Correct approach: Convert cuDF DataFrame to Pandas before passing to Plotly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df_pandas = df.to_pandas()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 = px.scatter(df_pandas, x='x', y='y')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fig.show()</a:t>
            </a:r>
            <a:endParaRPr/>
          </a:p>
        </p:txBody>
      </p:sp>
      <p:sp>
        <p:nvSpPr>
          <p:cNvPr id="116" name="Google Shape;116;p37"/>
          <p:cNvSpPr txBox="1"/>
          <p:nvPr/>
        </p:nvSpPr>
        <p:spPr>
          <a:xfrm>
            <a:off x="787178" y="3725969"/>
            <a:ext cx="739471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Plotly does not support cuDF DataFrames directly, we convert it to Pandas for visualization.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8"/>
          <p:cNvSpPr txBox="1"/>
          <p:nvPr/>
        </p:nvSpPr>
        <p:spPr>
          <a:xfrm>
            <a:off x="151075" y="214686"/>
            <a:ext cx="786384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5. Debugging Performance Issues in cuDF</a:t>
            </a:r>
            <a:endParaRPr b="1" i="0" sz="14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The following code processes a large cuDF DataFrame but runs unexpectedly slow. Identify and fix the performance issue.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8"/>
          <p:cNvSpPr txBox="1"/>
          <p:nvPr/>
        </p:nvSpPr>
        <p:spPr>
          <a:xfrm>
            <a:off x="787178" y="3725969"/>
            <a:ext cx="73947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Hint: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Identify which function is causing CPU execution and replace it with a GPU-optimized alternative.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8"/>
          <p:cNvSpPr txBox="1"/>
          <p:nvPr/>
        </p:nvSpPr>
        <p:spPr>
          <a:xfrm>
            <a:off x="787178" y="1170992"/>
            <a:ext cx="464753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cudf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 = cudf.DataFrame({'a': range(1, 1000001), 'b': range(1000001, 2000001)})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Inefficient approach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df['c'] = df.apply(lambda row: row['a'] * 2 + row['b'] * 3, axis=1)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print(df.head())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9"/>
          <p:cNvSpPr txBox="1"/>
          <p:nvPr/>
        </p:nvSpPr>
        <p:spPr>
          <a:xfrm>
            <a:off x="151075" y="214686"/>
            <a:ext cx="78638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5. Debugging Performance Issues in cuDF-Corrected Code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9"/>
          <p:cNvSpPr txBox="1"/>
          <p:nvPr/>
        </p:nvSpPr>
        <p:spPr>
          <a:xfrm>
            <a:off x="781216" y="1226226"/>
            <a:ext cx="464753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cudf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 = cudf.DataFrame({'a': range(1, 1000001), 'b': range(1000001, 2000001)})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 Correct approach: Use vectorized operations instead of apply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df['c'] = df['a'] * 2 + df['b'] * 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print(df.head())</a:t>
            </a:r>
            <a:endParaRPr/>
          </a:p>
        </p:txBody>
      </p:sp>
      <p:sp>
        <p:nvSpPr>
          <p:cNvPr id="130" name="Google Shape;130;p39"/>
          <p:cNvSpPr txBox="1"/>
          <p:nvPr/>
        </p:nvSpPr>
        <p:spPr>
          <a:xfrm>
            <a:off x="463163" y="3673906"/>
            <a:ext cx="464753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Here, we replace apply() with vectorized operations (df['a'] * 2 + df['b'] * 3), which are GPU-accelerated, ensuring that the operations run on the GPU for optimal performance.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b="1" lang="en-US" sz="4000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b="1" sz="4000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136" name="Google Shape;136;p21"/>
          <p:cNvSpPr txBox="1"/>
          <p:nvPr>
            <p:ph idx="4294967295" type="ctrTitle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b="1" i="0" lang="en-US" sz="2900" u="none" cap="none" strike="noStrik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b="1" i="0" sz="2900" u="none" cap="none" strike="noStrik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</cp:coreProperties>
</file>