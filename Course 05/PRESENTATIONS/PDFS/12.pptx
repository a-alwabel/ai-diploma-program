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77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278" r:id="rId22"/>
    <p:sldId id="304" r:id="rId23"/>
    <p:sldId id="305" r:id="rId24"/>
    <p:sldId id="306" r:id="rId25"/>
    <p:sldId id="307" r:id="rId26"/>
    <p:sldId id="308" r:id="rId27"/>
    <p:sldId id="310" r:id="rId28"/>
    <p:sldId id="309" r:id="rId29"/>
    <p:sldId id="262" r:id="rId30"/>
    <p:sldId id="274" r:id="rId31"/>
    <p:sldId id="275" r:id="rId32"/>
    <p:sldId id="276" r:id="rId33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35"/>
      <p:bold r:id="rId36"/>
    </p:embeddedFont>
    <p:embeddedFont>
      <p:font typeface="IBM Plex Sans Arabic Medium" panose="020B0603050203000203" pitchFamily="34" charset="-78"/>
      <p:regular r:id="rId37"/>
      <p:bold r:id="rId38"/>
    </p:embeddedFont>
    <p:embeddedFont>
      <p:font typeface="IBM Plex Sans Arabic SemiBold" panose="020B0603050203000203" pitchFamily="34" charset="-78"/>
      <p:regular r:id="rId39"/>
      <p:bold r:id="rId40"/>
    </p:embeddedFont>
    <p:embeddedFont>
      <p:font typeface="Inter" panose="02000503000000020004" pitchFamily="2" charset="0"/>
      <p:regular r:id="rId41"/>
      <p:bold r:id="rId42"/>
      <p:italic r:id="rId43"/>
      <p:boldItalic r:id="rId44"/>
    </p:embeddedFont>
    <p:embeddedFont>
      <p:font typeface="Tajawal" pitchFamily="2" charset="-78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5"/>
    <p:restoredTop sz="94650"/>
  </p:normalViewPr>
  <p:slideViewPr>
    <p:cSldViewPr snapToGrid="0">
      <p:cViewPr varScale="1">
        <p:scale>
          <a:sx n="166" d="100"/>
          <a:sy n="166" d="100"/>
        </p:scale>
        <p:origin x="200" y="896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1AD9250-5886-DD78-0A4D-058B017C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7D27D27-4545-5FFB-CF85-99C5F401B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0680113-8711-039C-65A5-F03BF541D2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8588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20217DD-CAF5-2C33-C370-C276E9AB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456D06D2-8BB1-78A2-B4AE-7A1C66825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2C7524B9-A132-25E5-1DDC-C48A6419F3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3746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ABE7003-BE60-750B-4130-D961782DF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16D19A54-D7B4-745C-EB9C-C66F17FC58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D719FF8-B914-34EB-3872-4F5E2C5768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6866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C8A87DD-210A-7E43-681F-41B3E7F1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BE95926D-646C-9AE9-BED1-236A56DC2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4CEBA45-559F-240B-FD50-845D5D012F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4087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584C2F9-37EA-C918-F390-1FFFBEF3C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1FC6C41C-A4FD-9D82-7ED0-184D2EF8D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F0A36E16-2113-E9CE-40DA-D993297B7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2001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3DF33AE-5FA7-2557-E051-8EE03E1D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1A920590-B250-2F44-096E-A5D48AA87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FB8BC1B3-1CA1-B6C6-3B9D-7752E4660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8418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560EA96-7A50-4691-E02A-9432F07E6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A3E2957B-760F-F4A9-E4BF-2D5EA2F5D9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F8A6AF1B-8B12-7C77-DF30-CD780C9898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6274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C34BFC7-3A40-A35A-696A-820E2E031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D55293FF-435C-7988-1846-E273267863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AADDEA4-BE80-8AC8-55DD-F0E8AC54E9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0166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5E36397-D900-DBE0-237C-D9D86C51E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58DF3AFC-BAB1-BBE1-6921-AAB475EB4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0EF7097F-A33D-01F8-9572-A10615529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37662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4077DEC2-CE1E-536E-C36B-06BA01331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47CACAAE-C514-0630-2D2C-932CA0B60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48DBAC75-B686-5455-BA3A-08B501F552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45124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D2AA582-AB69-33DD-0E61-075992DC0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BB8C0D4C-DE4C-697E-F364-E6CC53777A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7A9C8679-2427-AE17-59CC-4589AC0948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53937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1A05C6D-D456-5321-17D0-6EC870483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42E4E7C0-B61D-618B-C273-31ADA1F39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0030D862-C763-3640-80B8-9E3679871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5566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05EC613-A561-12A3-EDC5-CA1F3D2DE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1835051E-9406-3D2C-367F-DE76AB277F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50745C7-0A9D-E64C-B579-E42816EC71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0898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DB3476D-B214-A9B3-4D83-D0B71D6A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A8D65975-50AD-F15C-F078-4CEA3486FC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CA5300DC-550A-3F5F-6D5A-52653FC235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41749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0F7D2CB-438D-AE2E-3910-6266A8EBC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A77970B-0E17-7173-A224-BE8ADC8D08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C400ADE2-CD0A-61D7-005B-F216C63E4D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69160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9695135-9C69-2F70-4873-4B00FD1D5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A96964AF-0FEA-CC7B-65BC-E2C5814C37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65B5D91C-F1C7-51CE-8E03-F4278F5F19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80556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C722E46-76F9-170C-8C29-62BC99829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BBC9AFB5-1B72-A4D3-C327-2D0D4DB2FA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BBD622A0-4979-ACDD-AF4D-E3B382926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65484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BB8B16A-0DEB-E02F-4F2D-5D982B796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BD4067C3-0C34-2168-DBC9-C615F30E5F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FA71126-C183-13B5-AB23-89EA71EEB5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71261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331D4D7-BEA9-3061-E4E5-B1C24B27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EA1781F0-02F9-124B-74E8-A6D70FCAD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7CB984EF-272A-D41B-C695-06CEE9FAA5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12898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9999AAB-8113-A80A-EC42-07D8293A6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D0E367F5-A529-6BAD-9A26-9FBDDF5272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4F12724-F3D4-F7DF-2205-87EB3343E5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25154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F765ED0-E529-F1BA-2BD8-B23B2EE37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964425FF-1A90-3412-36B4-D9A4E52B25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CEF9E83-552E-B5B2-6D8B-87A6DD5EA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28426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D38B92A-2C64-4D23-F7FF-C9B2327E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FB050BEF-D437-179D-1776-6BCC79F75B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99F11A2-6AC1-5F0E-78A1-25FA8D461E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86930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49E2897-4794-470D-5DAA-C8570639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BCA9C446-FAAF-6BA5-AC74-0ADBBA56CB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8F4C18A3-B4D6-0E24-9F4C-9FF8B6AE91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45317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6FAF0C0-D6F5-F258-4089-CE9067E85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D98523CE-C6A4-828E-D689-BFDD9CA59C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39AD5F89-AC53-1CE7-2A25-FD22BC5CB0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02316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wallpaperflare.com/black-and-green-computer-system-unit-component-nvidia-pc-gaming-wallpaper-maog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ixabay.com/en/clipboard-chart-document-paper-312468/" TargetMode="Externa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pidsai/cu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park.apache.org/docs/latest/ml-guide.html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Scalable Data Science</a:t>
            </a:r>
            <a:endParaRPr sz="3600" dirty="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</a:pPr>
            <a:r>
              <a:rPr lang="en-GB" sz="2800" dirty="0"/>
              <a:t>Model Training on Large Datasets</a:t>
            </a:r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2500"/>
              <a:buFont typeface="Tajawal"/>
              <a:buNone/>
            </a:pPr>
            <a:endParaRPr dirty="0"/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655513" y="612177"/>
            <a:ext cx="6634716" cy="27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dirty="0"/>
          </a:p>
          <a:p>
            <a:pPr marL="342900" indent="-342900">
              <a:buFont typeface="+mj-lt"/>
              <a:buAutoNum type="arabicPeriod"/>
            </a:pPr>
            <a:r>
              <a:rPr lang="en-GB" sz="1800" dirty="0"/>
              <a:t>Understand the challenges of training models on large datasets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/>
              <a:t>Apply best practices for handling large data efficiently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/>
              <a:t>Choose the right tools and infrastructure (e.g., distributed computing, cloud-based ML, GPUs)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/>
              <a:t>Optimize training using batching, sampling, and efficient data loading techniques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Introduction to Large-Scale Model Training</a:t>
            </a:r>
            <a:b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77179-6F4A-E563-2CCE-31B85B18DCA2}"/>
              </a:ext>
            </a:extLst>
          </p:cNvPr>
          <p:cNvSpPr txBox="1"/>
          <p:nvPr/>
        </p:nvSpPr>
        <p:spPr>
          <a:xfrm>
            <a:off x="311150" y="686795"/>
            <a:ext cx="611256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Why Large-Scale Training Matters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Modern datasets exceed single-machine memory (e.g., TB-scale images, logs)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Need for faster iteration in production ML systems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Regulatory/compliance requirements for model reproducibility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96A7B2FB-F1D0-B703-37E3-F7BCF16345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9A78B6-7EC5-8AA9-2885-7E3FD8743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348724"/>
              </p:ext>
            </p:extLst>
          </p:nvPr>
        </p:nvGraphicFramePr>
        <p:xfrm>
          <a:off x="311150" y="2091413"/>
          <a:ext cx="8156989" cy="15240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929233">
                  <a:extLst>
                    <a:ext uri="{9D8B030D-6E8A-4147-A177-3AD203B41FA5}">
                      <a16:colId xmlns:a16="http://schemas.microsoft.com/office/drawing/2014/main" val="2265398665"/>
                    </a:ext>
                  </a:extLst>
                </a:gridCol>
                <a:gridCol w="5227756">
                  <a:extLst>
                    <a:ext uri="{9D8B030D-6E8A-4147-A177-3AD203B41FA5}">
                      <a16:colId xmlns:a16="http://schemas.microsoft.com/office/drawing/2014/main" val="1295219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</a:rPr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414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 dirty="0">
                          <a:effectLst/>
                        </a:rPr>
                        <a:t>Data Volume</a:t>
                      </a:r>
                      <a:endParaRPr lang="en-GB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Datasets too large for RAM (out-of-core processing needed)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002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 dirty="0">
                          <a:effectLst/>
                        </a:rPr>
                        <a:t>Compute Limits</a:t>
                      </a:r>
                      <a:endParaRPr lang="en-GB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Single-node training is too slow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07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Distributed Coordination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Synchronizing gradients/updates across workers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9371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Fault Tolerance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Handling node failures in long-running jobs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66401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3751A27-CDE4-6F4B-2463-4027428BB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1713598"/>
            <a:ext cx="145905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Key Challenges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7F6AB-3DEB-1637-2621-3400751082E6}"/>
              </a:ext>
            </a:extLst>
          </p:cNvPr>
          <p:cNvSpPr txBox="1"/>
          <p:nvPr/>
        </p:nvSpPr>
        <p:spPr>
          <a:xfrm>
            <a:off x="311150" y="3773536"/>
            <a:ext cx="4647536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When to Scale?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Dataset &gt; 10GB (in-memory limits)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Training time &gt; 4 hours on single machine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Need for frequent retraining (streaming data)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9321C5F-5887-88FC-5A55-2EB85D26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39B0603-80F6-6813-A911-33AD170E7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F1728C-78D6-690E-03E8-9A7F658F26B8}"/>
              </a:ext>
            </a:extLst>
          </p:cNvPr>
          <p:cNvSpPr txBox="1"/>
          <p:nvPr/>
        </p:nvSpPr>
        <p:spPr>
          <a:xfrm>
            <a:off x="155600" y="1072925"/>
            <a:ext cx="83296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1.Data Sampling and Mini-Batching</a:t>
            </a:r>
          </a:p>
          <a:p>
            <a:pPr>
              <a:buNone/>
            </a:pPr>
            <a:r>
              <a:rPr lang="en-GB" sz="1600" dirty="0"/>
              <a:t>These are </a:t>
            </a:r>
            <a:r>
              <a:rPr lang="en-GB" sz="1600" b="1" dirty="0"/>
              <a:t>techniques used to efficiently train machine learning models</a:t>
            </a:r>
            <a:r>
              <a:rPr lang="en-GB" sz="1600" dirty="0"/>
              <a:t>, especially when dealing with large datasets that can't fit into memory all at once.</a:t>
            </a:r>
          </a:p>
          <a:p>
            <a:pPr>
              <a:buNone/>
            </a:pPr>
            <a:r>
              <a:rPr lang="en-GB" sz="1600" b="1" dirty="0"/>
              <a:t>A. Train on mini-batches instead of full data</a:t>
            </a:r>
          </a:p>
          <a:p>
            <a:r>
              <a:rPr lang="en-GB" sz="1600" b="1" dirty="0"/>
              <a:t>Why?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Training on the </a:t>
            </a:r>
            <a:r>
              <a:rPr lang="en-GB" sz="1600" b="1" dirty="0"/>
              <a:t>entire dataset (full batch)</a:t>
            </a:r>
            <a:r>
              <a:rPr lang="en-GB" sz="1600" dirty="0"/>
              <a:t> at once consumes a lot of memory and can be very slow.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Instead, we split the dataset into </a:t>
            </a:r>
            <a:r>
              <a:rPr lang="en-GB" sz="1600" b="1" dirty="0"/>
              <a:t>mini-batches</a:t>
            </a:r>
            <a:r>
              <a:rPr lang="en-GB" sz="1600" dirty="0"/>
              <a:t> (small chunks of data) and feed one batch at a time to the model.</a:t>
            </a:r>
          </a:p>
          <a:p>
            <a:r>
              <a:rPr lang="en-GB" sz="1600" b="1" dirty="0"/>
              <a:t>Benefits: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Lower </a:t>
            </a:r>
            <a:r>
              <a:rPr lang="en-GB" sz="1600" b="1" dirty="0"/>
              <a:t>memory usage</a:t>
            </a:r>
            <a:r>
              <a:rPr lang="en-GB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More </a:t>
            </a:r>
            <a:r>
              <a:rPr lang="en-GB" sz="1600" b="1" dirty="0"/>
              <a:t>frequent updates</a:t>
            </a:r>
            <a:r>
              <a:rPr lang="en-GB" sz="1600" dirty="0"/>
              <a:t> to model weights → faster convergence.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Enables </a:t>
            </a:r>
            <a:r>
              <a:rPr lang="en-GB" sz="1600" b="1" dirty="0"/>
              <a:t>parallelization</a:t>
            </a:r>
            <a:r>
              <a:rPr lang="en-GB" sz="1600" dirty="0"/>
              <a:t> and efficient GPU usage.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4859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42D8F7E-BE7C-9CFF-C7BA-B2FAB4403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2BDC66B-09EA-E795-0A56-D7198E05D5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601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011DD8-E89D-F93A-7846-5B3ABAE9476F}"/>
              </a:ext>
            </a:extLst>
          </p:cNvPr>
          <p:cNvSpPr txBox="1"/>
          <p:nvPr/>
        </p:nvSpPr>
        <p:spPr>
          <a:xfrm>
            <a:off x="155601" y="492480"/>
            <a:ext cx="736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B. Use stratified sampling to maintain class balance</a:t>
            </a:r>
          </a:p>
          <a:p>
            <a:r>
              <a:rPr lang="en-GB" sz="1600" b="1" dirty="0"/>
              <a:t>What is it?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When creating mini-batches, </a:t>
            </a:r>
            <a:r>
              <a:rPr lang="en-GB" sz="1600" b="1" dirty="0"/>
              <a:t>stratified sampling</a:t>
            </a:r>
            <a:r>
              <a:rPr lang="en-GB" sz="1600" dirty="0"/>
              <a:t> ensures that each batch has the </a:t>
            </a:r>
            <a:r>
              <a:rPr lang="en-GB" sz="1600" b="1" dirty="0"/>
              <a:t>same class distribution</a:t>
            </a:r>
            <a:r>
              <a:rPr lang="en-GB" sz="1600" dirty="0"/>
              <a:t> as the overall dataset.</a:t>
            </a:r>
          </a:p>
          <a:p>
            <a:r>
              <a:rPr lang="en-GB" sz="1600" b="1" dirty="0"/>
              <a:t>Why is it important?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Prevents the model from being biased toward majority classes.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Ensures </a:t>
            </a:r>
            <a:r>
              <a:rPr lang="en-GB" sz="1600" b="1" dirty="0"/>
              <a:t>better generalization</a:t>
            </a:r>
            <a:r>
              <a:rPr lang="en-GB" sz="1600" dirty="0"/>
              <a:t> and more </a:t>
            </a:r>
            <a:r>
              <a:rPr lang="en-GB" sz="1600" b="1" dirty="0"/>
              <a:t>stable training</a:t>
            </a:r>
            <a:r>
              <a:rPr lang="en-GB" sz="1600" dirty="0"/>
              <a:t> especially in imbalanced datasets.</a:t>
            </a:r>
          </a:p>
          <a:p>
            <a:pPr>
              <a:buNone/>
            </a:pPr>
            <a:r>
              <a:rPr lang="en-GB" sz="1600" b="1" dirty="0"/>
              <a:t>C. Common in TensorFlow and </a:t>
            </a:r>
            <a:r>
              <a:rPr lang="en-GB" sz="1600" b="1" dirty="0" err="1"/>
              <a:t>PyTorch</a:t>
            </a:r>
            <a:r>
              <a:rPr lang="en-GB" sz="1600" b="1" dirty="0"/>
              <a:t>: </a:t>
            </a:r>
            <a:r>
              <a:rPr lang="en-GB" sz="1600" b="1" dirty="0" err="1"/>
              <a:t>batch_size</a:t>
            </a:r>
            <a:r>
              <a:rPr lang="en-GB" sz="1600" b="1" dirty="0"/>
              <a:t> in </a:t>
            </a:r>
            <a:r>
              <a:rPr lang="en-GB" sz="1600" b="1" dirty="0" err="1"/>
              <a:t>DataLoader</a:t>
            </a:r>
            <a:endParaRPr lang="en-GB" sz="1600" b="1" dirty="0"/>
          </a:p>
          <a:p>
            <a:r>
              <a:rPr lang="en-GB" sz="1600" dirty="0"/>
              <a:t>Both </a:t>
            </a:r>
            <a:r>
              <a:rPr lang="en-GB" sz="1600" b="1" dirty="0"/>
              <a:t>TensorFlow</a:t>
            </a:r>
            <a:r>
              <a:rPr lang="en-GB" sz="1600" dirty="0"/>
              <a:t> and </a:t>
            </a:r>
            <a:r>
              <a:rPr lang="en-GB" sz="1600" b="1" dirty="0" err="1"/>
              <a:t>PyTorch</a:t>
            </a:r>
            <a:r>
              <a:rPr lang="en-GB" sz="1600" dirty="0"/>
              <a:t> use the concept of mini-batches during training.</a:t>
            </a:r>
          </a:p>
          <a:p>
            <a:r>
              <a:rPr lang="en-GB" sz="1600" dirty="0"/>
              <a:t>You define the </a:t>
            </a:r>
            <a:r>
              <a:rPr lang="en-GB" sz="1600" b="1" dirty="0" err="1"/>
              <a:t>batch_size</a:t>
            </a:r>
            <a:r>
              <a:rPr lang="en-GB" sz="1600" dirty="0"/>
              <a:t> (number of samples per batch) when creating a data loader.</a:t>
            </a:r>
          </a:p>
          <a:p>
            <a:pPr marL="457200" lvl="1"/>
            <a:endParaRPr lang="en-GB" sz="1600" dirty="0"/>
          </a:p>
          <a:p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9EF50-02D0-CFA6-9E9D-5D5C5A53351F}"/>
              </a:ext>
            </a:extLst>
          </p:cNvPr>
          <p:cNvSpPr txBox="1"/>
          <p:nvPr/>
        </p:nvSpPr>
        <p:spPr>
          <a:xfrm>
            <a:off x="296186" y="3801078"/>
            <a:ext cx="70826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Efficient training strategies like </a:t>
            </a:r>
            <a:r>
              <a:rPr lang="en-GB" sz="1600" b="1" dirty="0"/>
              <a:t>mini-batching</a:t>
            </a:r>
            <a:r>
              <a:rPr lang="en-GB" sz="1600" dirty="0"/>
              <a:t> and </a:t>
            </a:r>
            <a:r>
              <a:rPr lang="en-GB" sz="1600" b="1" dirty="0"/>
              <a:t>stratified sampling</a:t>
            </a:r>
            <a:r>
              <a:rPr lang="en-GB" sz="1600" dirty="0"/>
              <a:t> help manage memory usage, speed up training, and improve model </a:t>
            </a:r>
            <a:r>
              <a:rPr lang="en-GB" sz="1600" dirty="0" err="1"/>
              <a:t>performance,especially</a:t>
            </a:r>
            <a:r>
              <a:rPr lang="en-GB" sz="1600" dirty="0"/>
              <a:t> when working with large or imbalanced datasets.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09273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CA87A75-DE0D-6326-3C70-4BB28154E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2B93E168-F403-A6F9-5479-0D8DD0B747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ED56E5-9657-546E-5EF1-2A1E769C0247}"/>
              </a:ext>
            </a:extLst>
          </p:cNvPr>
          <p:cNvSpPr txBox="1"/>
          <p:nvPr/>
        </p:nvSpPr>
        <p:spPr>
          <a:xfrm>
            <a:off x="155600" y="1072925"/>
            <a:ext cx="83296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2.Data Generators / Streaming</a:t>
            </a:r>
          </a:p>
          <a:p>
            <a:pPr>
              <a:buNone/>
            </a:pPr>
            <a:r>
              <a:rPr lang="en-GB" sz="1600" dirty="0"/>
              <a:t>This strategy is about </a:t>
            </a:r>
            <a:r>
              <a:rPr lang="en-GB" sz="1600" b="1" dirty="0"/>
              <a:t>loading only the data you need, when you need it</a:t>
            </a:r>
            <a:r>
              <a:rPr lang="en-GB" sz="1600" dirty="0"/>
              <a:t>, instead of loading everything into memory at once — perfect for large datasets.</a:t>
            </a:r>
          </a:p>
          <a:p>
            <a:pPr>
              <a:buNone/>
            </a:pPr>
            <a:r>
              <a:rPr lang="en-GB" sz="1600" b="1" dirty="0"/>
              <a:t>Why Use It?</a:t>
            </a:r>
          </a:p>
          <a:p>
            <a:pPr>
              <a:buNone/>
            </a:pPr>
            <a:r>
              <a:rPr lang="en-GB" sz="1600" dirty="0"/>
              <a:t>When your dataset is too large to fit into RAM, you: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Don’t load the whole dataset into memory.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Instead, stream data on the fly — this is called lazy loading.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This technique is commonly implemented through data generators or custom dataset loaders.</a:t>
            </a:r>
          </a:p>
          <a:p>
            <a:pPr>
              <a:buNone/>
            </a:pPr>
            <a:r>
              <a:rPr lang="en-GB" sz="1600" b="1" dirty="0"/>
              <a:t>How It Works:</a:t>
            </a:r>
          </a:p>
          <a:p>
            <a:pPr>
              <a:buNone/>
            </a:pPr>
            <a:r>
              <a:rPr lang="en-GB" sz="1600" dirty="0"/>
              <a:t>You write or use a </a:t>
            </a:r>
            <a:r>
              <a:rPr lang="en-GB" sz="1600" b="1" dirty="0"/>
              <a:t>generator function</a:t>
            </a:r>
            <a:r>
              <a:rPr lang="en-GB" sz="1600" dirty="0"/>
              <a:t> that:</a:t>
            </a:r>
          </a:p>
          <a:p>
            <a:pPr>
              <a:buFont typeface="+mj-lt"/>
              <a:buAutoNum type="arabicPeriod"/>
            </a:pPr>
            <a:r>
              <a:rPr lang="en-GB" sz="1600" dirty="0"/>
              <a:t>Loads a small piece of the data (e.g., an image or a batch of rows).</a:t>
            </a:r>
          </a:p>
          <a:p>
            <a:pPr>
              <a:buFont typeface="+mj-lt"/>
              <a:buAutoNum type="arabicPeriod"/>
            </a:pPr>
            <a:r>
              <a:rPr lang="en-GB" sz="1600" dirty="0"/>
              <a:t>Processes it (if needed).</a:t>
            </a:r>
          </a:p>
          <a:p>
            <a:pPr>
              <a:buFont typeface="+mj-lt"/>
              <a:buAutoNum type="arabicPeriod"/>
            </a:pPr>
            <a:r>
              <a:rPr lang="en-GB" sz="1600" dirty="0"/>
              <a:t>Yields it to the model for training or prediction.</a:t>
            </a:r>
          </a:p>
          <a:p>
            <a:pPr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2986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88C8B4C-71CF-442A-33F6-DFCD59BB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944BC56-DCF3-CF22-8CD6-6BECC51A11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9710D9-3431-A07C-FC20-B090ED63A805}"/>
              </a:ext>
            </a:extLst>
          </p:cNvPr>
          <p:cNvSpPr txBox="1"/>
          <p:nvPr/>
        </p:nvSpPr>
        <p:spPr>
          <a:xfrm>
            <a:off x="155600" y="1072925"/>
            <a:ext cx="83296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Popular Frameworks &amp; Tools</a:t>
            </a:r>
          </a:p>
          <a:p>
            <a:pPr>
              <a:buNone/>
            </a:pPr>
            <a:r>
              <a:rPr lang="en-GB" sz="1600" b="1" dirty="0"/>
              <a:t>TensorFlow – </a:t>
            </a:r>
            <a:r>
              <a:rPr lang="en-GB" sz="1600" b="1" dirty="0" err="1"/>
              <a:t>tf.data</a:t>
            </a:r>
            <a:r>
              <a:rPr lang="en-GB" sz="1600" b="1" dirty="0"/>
              <a:t> API</a:t>
            </a:r>
          </a:p>
          <a:p>
            <a:r>
              <a:rPr lang="en-GB" sz="1600" dirty="0" err="1"/>
              <a:t>tf.data.Dataset</a:t>
            </a:r>
            <a:r>
              <a:rPr lang="en-GB" sz="1600" dirty="0"/>
              <a:t> can load and preprocess data efficiently using generators, lazy loading, and pipelines.</a:t>
            </a:r>
          </a:p>
          <a:p>
            <a:r>
              <a:rPr lang="en-GB" sz="1600" b="1" dirty="0"/>
              <a:t>Example:</a:t>
            </a:r>
            <a:endParaRPr lang="en-GB" sz="1600" dirty="0"/>
          </a:p>
          <a:p>
            <a:pPr>
              <a:buNone/>
            </a:pP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3257B-DAB7-EE7B-88CB-AA4B521AA5DF}"/>
              </a:ext>
            </a:extLst>
          </p:cNvPr>
          <p:cNvSpPr txBox="1"/>
          <p:nvPr/>
        </p:nvSpPr>
        <p:spPr>
          <a:xfrm>
            <a:off x="1216046" y="2362544"/>
            <a:ext cx="5447147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tensorflow</a:t>
            </a:r>
            <a:r>
              <a:rPr lang="en-US" dirty="0"/>
              <a:t> as </a:t>
            </a:r>
            <a:r>
              <a:rPr lang="en-US" dirty="0" err="1"/>
              <a:t>tf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 generator():</a:t>
            </a:r>
          </a:p>
          <a:p>
            <a:r>
              <a:rPr lang="en-US" dirty="0"/>
              <a:t>    for file in </a:t>
            </a:r>
            <a:r>
              <a:rPr lang="en-US" dirty="0" err="1"/>
              <a:t>image_files</a:t>
            </a:r>
            <a:r>
              <a:rPr lang="en-US" dirty="0"/>
              <a:t>:</a:t>
            </a:r>
          </a:p>
          <a:p>
            <a:r>
              <a:rPr lang="en-US" dirty="0"/>
              <a:t>        yield </a:t>
            </a:r>
            <a:r>
              <a:rPr lang="en-US" dirty="0" err="1"/>
              <a:t>load_image</a:t>
            </a:r>
            <a:r>
              <a:rPr lang="en-US" dirty="0"/>
              <a:t>(file), </a:t>
            </a:r>
            <a:r>
              <a:rPr lang="en-US" dirty="0" err="1"/>
              <a:t>load_label</a:t>
            </a:r>
            <a:r>
              <a:rPr lang="en-US" dirty="0"/>
              <a:t>(file)</a:t>
            </a:r>
          </a:p>
          <a:p>
            <a:endParaRPr lang="en-US" dirty="0"/>
          </a:p>
          <a:p>
            <a:r>
              <a:rPr lang="en-US" dirty="0"/>
              <a:t>dataset = </a:t>
            </a:r>
            <a:r>
              <a:rPr lang="en-US" dirty="0" err="1"/>
              <a:t>tf.data.Dataset.from_generator</a:t>
            </a:r>
            <a:r>
              <a:rPr lang="en-US" dirty="0"/>
              <a:t>(generator)</a:t>
            </a:r>
          </a:p>
          <a:p>
            <a:r>
              <a:rPr lang="en-US" dirty="0"/>
              <a:t>dataset = </a:t>
            </a:r>
            <a:r>
              <a:rPr lang="en-US" dirty="0" err="1"/>
              <a:t>dataset.batch</a:t>
            </a:r>
            <a:r>
              <a:rPr lang="en-US" dirty="0"/>
              <a:t>(32).prefetch(</a:t>
            </a:r>
            <a:r>
              <a:rPr lang="en-US" dirty="0" err="1"/>
              <a:t>tf.data.AUTOTUNE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56549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AAD5D4D-A368-BFDC-9859-E95534EEF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B85D67F-C609-980A-9898-16BFC9A0CA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CD33B-2B93-EFDE-B523-FA9E7161443B}"/>
              </a:ext>
            </a:extLst>
          </p:cNvPr>
          <p:cNvSpPr txBox="1"/>
          <p:nvPr/>
        </p:nvSpPr>
        <p:spPr>
          <a:xfrm>
            <a:off x="298723" y="498147"/>
            <a:ext cx="8329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 err="1"/>
              <a:t>PyTorch</a:t>
            </a:r>
            <a:r>
              <a:rPr lang="en-GB" sz="1600" b="1" dirty="0"/>
              <a:t> – Dataset and </a:t>
            </a:r>
            <a:r>
              <a:rPr lang="en-GB" sz="1600" b="1" dirty="0" err="1"/>
              <a:t>DataLoader</a:t>
            </a:r>
            <a:endParaRPr lang="en-GB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Create a custom Dataset class with __</a:t>
            </a:r>
            <a:r>
              <a:rPr lang="en-GB" sz="1600" dirty="0" err="1"/>
              <a:t>getitem</a:t>
            </a:r>
            <a:r>
              <a:rPr lang="en-GB" sz="1600" dirty="0"/>
              <a:t>__ to load only one item at a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 err="1"/>
              <a:t>DataLoader</a:t>
            </a:r>
            <a:r>
              <a:rPr lang="en-GB" sz="1600" dirty="0"/>
              <a:t> then wraps this to handle mini-batches, shuffling, and multiprocessing.</a:t>
            </a:r>
          </a:p>
          <a:p>
            <a:pPr>
              <a:buNone/>
            </a:pP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90DE5-E26C-985E-B997-62E2C1755B1F}"/>
              </a:ext>
            </a:extLst>
          </p:cNvPr>
          <p:cNvSpPr txBox="1"/>
          <p:nvPr/>
        </p:nvSpPr>
        <p:spPr>
          <a:xfrm>
            <a:off x="1216046" y="1373730"/>
            <a:ext cx="6099154" cy="37548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torch.utils.data</a:t>
            </a:r>
            <a:r>
              <a:rPr lang="en-US" dirty="0"/>
              <a:t> import Dataset, </a:t>
            </a:r>
            <a:r>
              <a:rPr lang="en-US" dirty="0" err="1"/>
              <a:t>DataLoader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MyDataset</a:t>
            </a:r>
            <a:r>
              <a:rPr lang="en-US" dirty="0"/>
              <a:t>(Dataset):</a:t>
            </a:r>
          </a:p>
          <a:p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</a:t>
            </a:r>
            <a:r>
              <a:rPr lang="en-US" dirty="0" err="1"/>
              <a:t>file_paths</a:t>
            </a:r>
            <a:r>
              <a:rPr lang="en-US" dirty="0"/>
              <a:t>):</a:t>
            </a:r>
          </a:p>
          <a:p>
            <a:r>
              <a:rPr lang="en-US" dirty="0"/>
              <a:t>        </a:t>
            </a:r>
            <a:r>
              <a:rPr lang="en-US" dirty="0" err="1"/>
              <a:t>self.file_paths</a:t>
            </a:r>
            <a:r>
              <a:rPr lang="en-US" dirty="0"/>
              <a:t> = </a:t>
            </a:r>
            <a:r>
              <a:rPr lang="en-US" dirty="0" err="1"/>
              <a:t>file_paths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def __</a:t>
            </a:r>
            <a:r>
              <a:rPr lang="en-US" dirty="0" err="1"/>
              <a:t>len</a:t>
            </a:r>
            <a:r>
              <a:rPr lang="en-US" dirty="0"/>
              <a:t>__(self):</a:t>
            </a:r>
          </a:p>
          <a:p>
            <a:r>
              <a:rPr lang="en-US" dirty="0"/>
              <a:t>        return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self.file_paths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  def __</a:t>
            </a:r>
            <a:r>
              <a:rPr lang="en-US" dirty="0" err="1"/>
              <a:t>getitem</a:t>
            </a:r>
            <a:r>
              <a:rPr lang="en-US" dirty="0"/>
              <a:t>__(self, </a:t>
            </a:r>
            <a:r>
              <a:rPr lang="en-US" dirty="0" err="1"/>
              <a:t>idx</a:t>
            </a:r>
            <a:r>
              <a:rPr lang="en-US" dirty="0"/>
              <a:t>):</a:t>
            </a:r>
          </a:p>
          <a:p>
            <a:r>
              <a:rPr lang="en-US" dirty="0"/>
              <a:t>        data = </a:t>
            </a:r>
            <a:r>
              <a:rPr lang="en-US" dirty="0" err="1"/>
              <a:t>load_data</a:t>
            </a:r>
            <a:r>
              <a:rPr lang="en-US" dirty="0"/>
              <a:t>(</a:t>
            </a:r>
            <a:r>
              <a:rPr lang="en-US" dirty="0" err="1"/>
              <a:t>self.file_paths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])</a:t>
            </a:r>
          </a:p>
          <a:p>
            <a:r>
              <a:rPr lang="en-US" dirty="0"/>
              <a:t>        label = </a:t>
            </a:r>
            <a:r>
              <a:rPr lang="en-US" dirty="0" err="1"/>
              <a:t>load_label</a:t>
            </a:r>
            <a:r>
              <a:rPr lang="en-US" dirty="0"/>
              <a:t>(</a:t>
            </a:r>
            <a:r>
              <a:rPr lang="en-US" dirty="0" err="1"/>
              <a:t>self.file_paths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])</a:t>
            </a:r>
          </a:p>
          <a:p>
            <a:r>
              <a:rPr lang="en-US" dirty="0"/>
              <a:t>        return data, label</a:t>
            </a:r>
          </a:p>
          <a:p>
            <a:endParaRPr lang="en-US" dirty="0"/>
          </a:p>
          <a:p>
            <a:r>
              <a:rPr lang="en-US" dirty="0"/>
              <a:t>dataset = </a:t>
            </a:r>
            <a:r>
              <a:rPr lang="en-US" dirty="0" err="1"/>
              <a:t>MyDataset</a:t>
            </a:r>
            <a:r>
              <a:rPr lang="en-US" dirty="0"/>
              <a:t>(</a:t>
            </a:r>
            <a:r>
              <a:rPr lang="en-US" dirty="0" err="1"/>
              <a:t>file_paths</a:t>
            </a:r>
            <a:r>
              <a:rPr lang="en-US" dirty="0"/>
              <a:t>)</a:t>
            </a:r>
          </a:p>
          <a:p>
            <a:r>
              <a:rPr lang="en-US" dirty="0"/>
              <a:t>loader = </a:t>
            </a:r>
            <a:r>
              <a:rPr lang="en-US" dirty="0" err="1"/>
              <a:t>DataLoader</a:t>
            </a:r>
            <a:r>
              <a:rPr lang="en-US" dirty="0"/>
              <a:t>(dataset, </a:t>
            </a:r>
            <a:r>
              <a:rPr lang="en-US" dirty="0" err="1"/>
              <a:t>batch_size</a:t>
            </a:r>
            <a:r>
              <a:rPr lang="en-US" dirty="0"/>
              <a:t>=32, shuffle=True)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91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EE96E32-6D2B-0004-B330-F6B3C348C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533BE25B-0FB9-B4FA-694B-921DFE2A1B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89259-1055-9299-1515-BD5BC511584D}"/>
              </a:ext>
            </a:extLst>
          </p:cNvPr>
          <p:cNvSpPr txBox="1"/>
          <p:nvPr/>
        </p:nvSpPr>
        <p:spPr>
          <a:xfrm>
            <a:off x="330528" y="826427"/>
            <a:ext cx="83296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 err="1"/>
              <a:t>Dask</a:t>
            </a:r>
            <a:r>
              <a:rPr lang="en-GB" sz="1600" b="1" dirty="0"/>
              <a:t> – For Large Tabular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 err="1"/>
              <a:t>Dask</a:t>
            </a:r>
            <a:r>
              <a:rPr lang="en-GB" sz="1600" dirty="0"/>
              <a:t> </a:t>
            </a:r>
            <a:r>
              <a:rPr lang="en-GB" sz="1600" dirty="0" err="1"/>
              <a:t>DataFrames</a:t>
            </a:r>
            <a:r>
              <a:rPr lang="en-GB" sz="1600" dirty="0"/>
              <a:t> are like Pandas, but they load and process data in </a:t>
            </a:r>
            <a:r>
              <a:rPr lang="en-GB" sz="1600" b="1" dirty="0"/>
              <a:t>chunks (partitions)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Ideal for </a:t>
            </a:r>
            <a:r>
              <a:rPr lang="en-GB" sz="1600" b="1" dirty="0"/>
              <a:t>big tabular data</a:t>
            </a:r>
            <a:r>
              <a:rPr lang="en-GB" sz="1600" dirty="0"/>
              <a:t> that doesn’t fit into memory.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buNone/>
            </a:pP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F3D3BD-E6F2-5CEA-3ED0-33DE6CA85A4A}"/>
              </a:ext>
            </a:extLst>
          </p:cNvPr>
          <p:cNvSpPr txBox="1"/>
          <p:nvPr/>
        </p:nvSpPr>
        <p:spPr>
          <a:xfrm>
            <a:off x="407175" y="1974668"/>
            <a:ext cx="6099154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dask.dataframe</a:t>
            </a:r>
            <a:r>
              <a:rPr lang="en-US" dirty="0"/>
              <a:t> as dd</a:t>
            </a:r>
          </a:p>
          <a:p>
            <a:endParaRPr lang="en-US" dirty="0"/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dd.read_csv</a:t>
            </a:r>
            <a:r>
              <a:rPr lang="en-US" dirty="0"/>
              <a:t>('</a:t>
            </a:r>
            <a:r>
              <a:rPr lang="en-US" dirty="0" err="1"/>
              <a:t>large_dataset.csv</a:t>
            </a:r>
            <a:r>
              <a:rPr lang="en-US" dirty="0"/>
              <a:t>')</a:t>
            </a:r>
          </a:p>
          <a:p>
            <a:r>
              <a:rPr lang="en-US" dirty="0"/>
              <a:t>filtered =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 err="1"/>
              <a:t>df</a:t>
            </a:r>
            <a:r>
              <a:rPr lang="en-US" dirty="0"/>
              <a:t>['label'] == 1]</a:t>
            </a:r>
          </a:p>
          <a:p>
            <a:r>
              <a:rPr lang="en-US" dirty="0"/>
              <a:t>result = </a:t>
            </a:r>
            <a:r>
              <a:rPr lang="en-US" dirty="0" err="1"/>
              <a:t>filtered.compute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D8E5C-C253-6A56-D690-6EBA5C325D1A}"/>
              </a:ext>
            </a:extLst>
          </p:cNvPr>
          <p:cNvSpPr txBox="1"/>
          <p:nvPr/>
        </p:nvSpPr>
        <p:spPr>
          <a:xfrm>
            <a:off x="571991" y="3544328"/>
            <a:ext cx="50893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/>
              <a:t>Using </a:t>
            </a:r>
            <a:r>
              <a:rPr lang="en-GB" sz="1600" b="1" dirty="0"/>
              <a:t>generators or streaming</a:t>
            </a:r>
            <a:r>
              <a:rPr lang="en-GB" sz="1600" dirty="0"/>
              <a:t>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Saves memory by </a:t>
            </a:r>
            <a:r>
              <a:rPr lang="en-GB" sz="1600" b="1" dirty="0"/>
              <a:t>not loading the full dataset</a:t>
            </a:r>
            <a:r>
              <a:rPr lang="en-GB" sz="1600" dirty="0"/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Works great for large image/text/tabular datasets.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Frameworks like TensorFlow, </a:t>
            </a:r>
            <a:r>
              <a:rPr lang="en-GB" sz="1600" dirty="0" err="1"/>
              <a:t>PyTorch</a:t>
            </a:r>
            <a:r>
              <a:rPr lang="en-GB" sz="1600" dirty="0"/>
              <a:t>, and </a:t>
            </a:r>
            <a:r>
              <a:rPr lang="en-GB" sz="1600" dirty="0" err="1"/>
              <a:t>Dask</a:t>
            </a:r>
            <a:r>
              <a:rPr lang="en-GB" sz="1600" dirty="0"/>
              <a:t> provide </a:t>
            </a:r>
            <a:r>
              <a:rPr lang="en-GB" sz="1600" b="1" dirty="0"/>
              <a:t>built-in support</a:t>
            </a:r>
            <a:r>
              <a:rPr lang="en-GB" sz="1600" dirty="0"/>
              <a:t> for this.</a:t>
            </a:r>
          </a:p>
        </p:txBody>
      </p:sp>
    </p:spTree>
    <p:extLst>
      <p:ext uri="{BB962C8B-B14F-4D97-AF65-F5344CB8AC3E}">
        <p14:creationId xmlns:p14="http://schemas.microsoft.com/office/powerpoint/2010/main" val="527000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A24B9BB-80E7-F06A-1179-E90A6802D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5ADDB18A-FB27-C346-DEF6-A2B8C15560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73F456-2B76-28C1-028B-F10615CF7F88}"/>
              </a:ext>
            </a:extLst>
          </p:cNvPr>
          <p:cNvSpPr txBox="1"/>
          <p:nvPr/>
        </p:nvSpPr>
        <p:spPr>
          <a:xfrm>
            <a:off x="306674" y="484521"/>
            <a:ext cx="83296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3. Using Cloud &amp; Distributed Resources</a:t>
            </a:r>
          </a:p>
          <a:p>
            <a:pPr>
              <a:buNone/>
            </a:pPr>
            <a:r>
              <a:rPr lang="en-GB" sz="1600" dirty="0"/>
              <a:t>When your model or dataset is </a:t>
            </a:r>
            <a:r>
              <a:rPr lang="en-GB" sz="1600" b="1" dirty="0"/>
              <a:t>too large</a:t>
            </a:r>
            <a:r>
              <a:rPr lang="en-GB" sz="1600" dirty="0"/>
              <a:t> to train efficiently on a single machine (like your laptop), you can turn to </a:t>
            </a:r>
            <a:r>
              <a:rPr lang="en-GB" sz="1600" b="1" dirty="0"/>
              <a:t>cloud platforms</a:t>
            </a:r>
            <a:r>
              <a:rPr lang="en-GB" sz="1600" dirty="0"/>
              <a:t> and </a:t>
            </a:r>
            <a:r>
              <a:rPr lang="en-GB" sz="1600" b="1" dirty="0"/>
              <a:t>distributed computing</a:t>
            </a:r>
            <a:r>
              <a:rPr lang="en-GB" sz="1600" dirty="0"/>
              <a:t> to scale up training.</a:t>
            </a:r>
          </a:p>
          <a:p>
            <a:pPr>
              <a:buNone/>
            </a:pPr>
            <a:endParaRPr lang="en-GB" sz="1600" dirty="0"/>
          </a:p>
          <a:p>
            <a:pPr>
              <a:buNone/>
            </a:pPr>
            <a:r>
              <a:rPr lang="en-GB" sz="1600" b="1" dirty="0"/>
              <a:t>Why Use Cloud and Distributed Resources?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To </a:t>
            </a:r>
            <a:r>
              <a:rPr lang="en-GB" sz="1600" b="1" dirty="0"/>
              <a:t>train faster</a:t>
            </a:r>
            <a:r>
              <a:rPr lang="en-GB" sz="1600" dirty="0"/>
              <a:t> by using powerful cloud GPUs or TPUs.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To </a:t>
            </a:r>
            <a:r>
              <a:rPr lang="en-GB" sz="1600" b="1" dirty="0"/>
              <a:t>scale horizontally</a:t>
            </a:r>
            <a:r>
              <a:rPr lang="en-GB" sz="1600" dirty="0"/>
              <a:t> (i.e., use multiple machines) for very large datasets or deep learning models.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To </a:t>
            </a:r>
            <a:r>
              <a:rPr lang="en-GB" sz="1600" b="1" dirty="0"/>
              <a:t>save time</a:t>
            </a:r>
            <a:r>
              <a:rPr lang="en-GB" sz="1600" dirty="0"/>
              <a:t> and avoid limitations of local hardware.</a:t>
            </a:r>
          </a:p>
          <a:p>
            <a:pPr marL="285750" indent="-285750">
              <a:buFont typeface="Wingdings" pitchFamily="2" charset="2"/>
              <a:buChar char="ü"/>
            </a:pPr>
            <a:endParaRPr lang="en-GB" sz="1600" dirty="0"/>
          </a:p>
          <a:p>
            <a:pPr>
              <a:buNone/>
            </a:pPr>
            <a:r>
              <a:rPr lang="en-GB" sz="1600" b="1" dirty="0"/>
              <a:t>Popular Cloud Training Platforms</a:t>
            </a:r>
          </a:p>
          <a:p>
            <a:pPr>
              <a:buNone/>
            </a:pPr>
            <a:endParaRPr lang="en-GB" sz="1600" b="1" dirty="0"/>
          </a:p>
          <a:p>
            <a:pPr marL="342900" indent="-342900">
              <a:buFont typeface="+mj-lt"/>
              <a:buAutoNum type="alphaLcParenR"/>
            </a:pPr>
            <a:r>
              <a:rPr lang="en-GB" sz="1600" b="1" dirty="0"/>
              <a:t>Google Cloud AI Platform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Offers managed services for training ML models.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Supports TensorFlow, </a:t>
            </a:r>
            <a:r>
              <a:rPr lang="en-GB" sz="1600" dirty="0" err="1"/>
              <a:t>PyTorch</a:t>
            </a:r>
            <a:r>
              <a:rPr lang="en-GB" sz="1600" dirty="0"/>
              <a:t>, </a:t>
            </a:r>
            <a:r>
              <a:rPr lang="en-GB" sz="1600" dirty="0" err="1"/>
              <a:t>XGBoost</a:t>
            </a:r>
            <a:r>
              <a:rPr lang="en-GB" sz="1600" dirty="0"/>
              <a:t>, etc.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You can train using GPUs/TPUs on the cloud without managing infrastructure.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/>
          </a:p>
          <a:p>
            <a:pPr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70354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76EA6C1-9596-8865-045D-C6CB4C51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A60C9A1-236A-89D9-47FF-64F0FC8F7A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D144F-7208-22CC-F3C4-78D205E7F746}"/>
              </a:ext>
            </a:extLst>
          </p:cNvPr>
          <p:cNvSpPr txBox="1"/>
          <p:nvPr/>
        </p:nvSpPr>
        <p:spPr>
          <a:xfrm>
            <a:off x="306674" y="802035"/>
            <a:ext cx="83296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b). AWS </a:t>
            </a:r>
            <a:r>
              <a:rPr lang="en-GB" sz="1600" b="1" dirty="0" err="1"/>
              <a:t>SageMaker</a:t>
            </a:r>
            <a:endParaRPr lang="en-GB" sz="1600" b="1" dirty="0"/>
          </a:p>
          <a:p>
            <a:pPr marL="342900" indent="-342900">
              <a:buFont typeface="Wingdings" pitchFamily="2" charset="2"/>
              <a:buChar char="Ø"/>
            </a:pPr>
            <a:r>
              <a:rPr lang="en-GB" sz="1600" dirty="0"/>
              <a:t>End-to-end ML service on Amazon Cloud.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1600" dirty="0"/>
              <a:t>Train, tune, deploy, and monitor models.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1600" dirty="0"/>
              <a:t>Built-in support for distributed training and pre-built ML containers.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1600" dirty="0"/>
              <a:t>Key feature: "Bring Your Own Model" or use built-in algorithms.</a:t>
            </a:r>
          </a:p>
          <a:p>
            <a:pPr marL="342900" indent="-342900">
              <a:buFont typeface="Wingdings" pitchFamily="2" charset="2"/>
              <a:buChar char="Ø"/>
            </a:pPr>
            <a:endParaRPr lang="en-GB" sz="1600" dirty="0"/>
          </a:p>
          <a:p>
            <a:pPr marL="342900" indent="-342900">
              <a:buFont typeface="Wingdings" pitchFamily="2" charset="2"/>
              <a:buChar char="Ø"/>
            </a:pPr>
            <a:endParaRPr lang="en-GB" sz="1600" dirty="0"/>
          </a:p>
          <a:p>
            <a:pPr>
              <a:buNone/>
            </a:pPr>
            <a:r>
              <a:rPr lang="en-GB" sz="1600" b="1" dirty="0"/>
              <a:t>c). Databricks (with Spark + </a:t>
            </a:r>
            <a:r>
              <a:rPr lang="en-GB" sz="1600" b="1" dirty="0" err="1"/>
              <a:t>MLlib</a:t>
            </a:r>
            <a:r>
              <a:rPr lang="en-GB" sz="1600" b="1" dirty="0"/>
              <a:t>)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1600" dirty="0"/>
              <a:t>Ideal for big data + machine learning workflows.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1600" dirty="0"/>
              <a:t>Combines Apache Spark for distributed data processing with </a:t>
            </a:r>
            <a:r>
              <a:rPr lang="en-GB" sz="1600" dirty="0" err="1"/>
              <a:t>MLlib</a:t>
            </a:r>
            <a:r>
              <a:rPr lang="en-GB" sz="1600" dirty="0"/>
              <a:t> for scalable ML algorithms.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1600" dirty="0"/>
              <a:t>Great for tabular data, recommendation systems, etc.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/>
          </a:p>
          <a:p>
            <a:pPr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66953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30A3FB5-6165-5EE3-63BA-A66EC8D9A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27DAFE77-4016-BF0F-8199-6884E5589D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50536-39F0-8EDF-9474-3C9A8D243F1C}"/>
              </a:ext>
            </a:extLst>
          </p:cNvPr>
          <p:cNvSpPr txBox="1"/>
          <p:nvPr/>
        </p:nvSpPr>
        <p:spPr>
          <a:xfrm>
            <a:off x="139086" y="460129"/>
            <a:ext cx="832965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Distributed Training Frameworks</a:t>
            </a:r>
          </a:p>
          <a:p>
            <a:pPr>
              <a:buNone/>
            </a:pPr>
            <a:r>
              <a:rPr lang="en-GB" sz="1600" b="1" dirty="0"/>
              <a:t>a. </a:t>
            </a:r>
            <a:r>
              <a:rPr lang="en-GB" sz="1600" b="1" dirty="0" err="1"/>
              <a:t>Horovod</a:t>
            </a:r>
            <a:endParaRPr lang="en-GB" sz="1600" b="1" dirty="0"/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Open-source framework from Uber.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Allows </a:t>
            </a:r>
            <a:r>
              <a:rPr lang="en-GB" sz="1600" b="1" dirty="0"/>
              <a:t>distributed training</a:t>
            </a:r>
            <a:r>
              <a:rPr lang="en-GB" sz="1600" dirty="0"/>
              <a:t> across GPUs and nodes.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Works with TensorFlow, </a:t>
            </a:r>
            <a:r>
              <a:rPr lang="en-GB" sz="1600" dirty="0" err="1"/>
              <a:t>PyTorch</a:t>
            </a:r>
            <a:r>
              <a:rPr lang="en-GB" sz="1600" dirty="0"/>
              <a:t>, and </a:t>
            </a:r>
            <a:r>
              <a:rPr lang="en-GB" sz="1600" dirty="0" err="1"/>
              <a:t>MXNet</a:t>
            </a:r>
            <a:r>
              <a:rPr lang="en-GB" sz="1600" dirty="0"/>
              <a:t>.</a:t>
            </a:r>
          </a:p>
          <a:p>
            <a:pPr>
              <a:buNone/>
            </a:pPr>
            <a:r>
              <a:rPr lang="en-GB" sz="1600" b="1" dirty="0"/>
              <a:t>Use case:</a:t>
            </a:r>
            <a:r>
              <a:rPr lang="en-GB" sz="1600" dirty="0"/>
              <a:t> Train deep learning models across many GPUs/nodes in parallel.</a:t>
            </a:r>
          </a:p>
          <a:p>
            <a:pPr>
              <a:buNone/>
            </a:pPr>
            <a:r>
              <a:rPr lang="en-GB" sz="1600" b="1" dirty="0"/>
              <a:t>b.  </a:t>
            </a:r>
            <a:r>
              <a:rPr lang="en-GB" sz="1600" b="1" dirty="0" err="1"/>
              <a:t>PyTorch</a:t>
            </a:r>
            <a:r>
              <a:rPr lang="en-GB" sz="1600" b="1" dirty="0"/>
              <a:t> DDP (Distributed Data Parallel)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Native </a:t>
            </a:r>
            <a:r>
              <a:rPr lang="en-GB" sz="1600" dirty="0" err="1"/>
              <a:t>PyTorch</a:t>
            </a:r>
            <a:r>
              <a:rPr lang="en-GB" sz="1600" dirty="0"/>
              <a:t> module for distributed training.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Replicates your model across multiple GPUs/machines.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Each replica handles a portion of the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buNone/>
            </a:pPr>
            <a:endParaRPr lang="en-GB" sz="1600" dirty="0"/>
          </a:p>
          <a:p>
            <a:pPr>
              <a:buNone/>
            </a:pP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2463FB-2486-3FF7-0194-A4FD31A9DA13}"/>
              </a:ext>
            </a:extLst>
          </p:cNvPr>
          <p:cNvSpPr txBox="1"/>
          <p:nvPr/>
        </p:nvSpPr>
        <p:spPr>
          <a:xfrm>
            <a:off x="4359633" y="2709043"/>
            <a:ext cx="4647536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torch.nn.parallel.DistributedDataParallel</a:t>
            </a:r>
            <a:r>
              <a:rPr lang="en-US" dirty="0"/>
              <a:t>(model)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A0FBA4-3260-8923-ABA0-79B208C62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191244"/>
              </p:ext>
            </p:extLst>
          </p:nvPr>
        </p:nvGraphicFramePr>
        <p:xfrm>
          <a:off x="215124" y="3136089"/>
          <a:ext cx="8521701" cy="18592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313614781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603250185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81052183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Resource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Tools/Platforms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Use When...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37533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/>
                        <a:t>Cloud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Google AI Platform, AWS </a:t>
                      </a:r>
                      <a:r>
                        <a:rPr lang="en-GB" sz="1400" dirty="0" err="1"/>
                        <a:t>SageMaker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You need more compute or want managed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056921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/>
                        <a:t>Big Data +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Databricks + Spark MLlib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You're dealing with large tabular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4109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/>
                        <a:t>Distributed DL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Horovod, PyTorch DDP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You need to scale deep learning across GPUs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344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512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1A41B90-F54D-D38E-02A8-72E1154FC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FCFDCC19-A48C-AD3F-23FA-5BE672D2EB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CD706-7A80-AB4C-12B5-FF2B6D55F3B9}"/>
              </a:ext>
            </a:extLst>
          </p:cNvPr>
          <p:cNvSpPr txBox="1"/>
          <p:nvPr/>
        </p:nvSpPr>
        <p:spPr>
          <a:xfrm>
            <a:off x="139086" y="460129"/>
            <a:ext cx="832965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4. Model Checkpointing</a:t>
            </a:r>
          </a:p>
          <a:p>
            <a:pPr>
              <a:buNone/>
            </a:pPr>
            <a:r>
              <a:rPr lang="en-GB" sz="1600" dirty="0"/>
              <a:t>Checkpointing means saving your model’s progress (usually the learned weights) at different stages during training so you don’t lose all your work if something goes wrong (e.g., crash, power loss).</a:t>
            </a:r>
          </a:p>
          <a:p>
            <a:pPr>
              <a:buNone/>
            </a:pPr>
            <a:endParaRPr lang="en-GB" sz="1600" dirty="0"/>
          </a:p>
          <a:p>
            <a:pPr>
              <a:buNone/>
            </a:pPr>
            <a:r>
              <a:rPr lang="en-GB" sz="1600" b="1" dirty="0"/>
              <a:t>Why is it Important?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Avoids restarting from the beginning if training is interrupted.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Helps you resume training from the last saved point.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You can save the best version of your model (based on validation accuracy or loss).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Useful for long training jobs that can take hours or days.</a:t>
            </a:r>
          </a:p>
          <a:p>
            <a:pPr marL="285750" indent="-285750">
              <a:buFont typeface="Wingdings" pitchFamily="2" charset="2"/>
              <a:buChar char="ü"/>
            </a:pPr>
            <a:endParaRPr lang="en-GB" sz="1600" dirty="0"/>
          </a:p>
          <a:p>
            <a:pPr>
              <a:buNone/>
            </a:pPr>
            <a:r>
              <a:rPr lang="en-GB" sz="1600" b="1" dirty="0"/>
              <a:t>What Does a Checkpoint Store?</a:t>
            </a:r>
          </a:p>
          <a:p>
            <a:pPr>
              <a:buNone/>
            </a:pPr>
            <a:r>
              <a:rPr lang="en-GB" sz="1600" dirty="0"/>
              <a:t>Typically includes: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Model architecture (optional, if not already defined in code)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Weights/parameters (learned during training)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Optimizer state (so training resumes smoothly)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buNone/>
            </a:pPr>
            <a:endParaRPr lang="en-GB" sz="1600" dirty="0"/>
          </a:p>
          <a:p>
            <a:pPr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55292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463CF07-724A-FC26-C607-3745156C2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7085C6A6-4E9C-7F2A-86EE-835160FE46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53810-CE29-80A3-9BBA-B6085C262612}"/>
              </a:ext>
            </a:extLst>
          </p:cNvPr>
          <p:cNvSpPr txBox="1"/>
          <p:nvPr/>
        </p:nvSpPr>
        <p:spPr>
          <a:xfrm>
            <a:off x="139086" y="460129"/>
            <a:ext cx="83296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4. Model Checkpointing</a:t>
            </a:r>
          </a:p>
          <a:p>
            <a:pPr>
              <a:buNone/>
            </a:pPr>
            <a:r>
              <a:rPr lang="en-GB" sz="1600" b="1" dirty="0"/>
              <a:t>When to Save Checkpoints?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After every </a:t>
            </a:r>
            <a:r>
              <a:rPr lang="en-GB" sz="1600" b="1" dirty="0"/>
              <a:t>epoch</a:t>
            </a: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After every </a:t>
            </a:r>
            <a:r>
              <a:rPr lang="en-GB" sz="1600" b="1" dirty="0"/>
              <a:t>N batches</a:t>
            </a: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When </a:t>
            </a:r>
            <a:r>
              <a:rPr lang="en-GB" sz="1600" b="1" dirty="0"/>
              <a:t>validation loss improves</a:t>
            </a: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At </a:t>
            </a:r>
            <a:r>
              <a:rPr lang="en-GB" sz="1600" b="1" dirty="0"/>
              <a:t>fixed time intervals</a:t>
            </a:r>
            <a:endParaRPr lang="en-GB" sz="1600" dirty="0"/>
          </a:p>
          <a:p>
            <a:pPr>
              <a:buNone/>
            </a:pPr>
            <a:r>
              <a:rPr lang="en-GB" sz="1600" b="1" dirty="0"/>
              <a:t>Examples in Code</a:t>
            </a:r>
          </a:p>
          <a:p>
            <a:r>
              <a:rPr lang="en-GB" sz="1600" b="1" dirty="0"/>
              <a:t>TensorFlow / </a:t>
            </a:r>
            <a:r>
              <a:rPr lang="en-GB" sz="1600" b="1" dirty="0" err="1"/>
              <a:t>Keras</a:t>
            </a:r>
            <a:r>
              <a:rPr lang="en-GB" sz="1600" b="1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C49573-9F1C-367C-F160-AA297C01281F}"/>
              </a:ext>
            </a:extLst>
          </p:cNvPr>
          <p:cNvSpPr txBox="1"/>
          <p:nvPr/>
        </p:nvSpPr>
        <p:spPr>
          <a:xfrm>
            <a:off x="280284" y="2621269"/>
            <a:ext cx="4647536" cy="16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tensorflow.keras.callbacks</a:t>
            </a:r>
            <a:r>
              <a:rPr lang="en-US" dirty="0"/>
              <a:t> import </a:t>
            </a:r>
            <a:r>
              <a:rPr lang="en-US" dirty="0" err="1"/>
              <a:t>ModelCheckpoint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checkpoint_cb</a:t>
            </a:r>
            <a:r>
              <a:rPr lang="en-US" dirty="0"/>
              <a:t> = </a:t>
            </a:r>
            <a:r>
              <a:rPr lang="en-US" dirty="0" err="1"/>
              <a:t>ModelCheckpoint</a:t>
            </a:r>
            <a:r>
              <a:rPr lang="en-US" dirty="0"/>
              <a:t>("model_checkpoint.h5", </a:t>
            </a:r>
            <a:r>
              <a:rPr lang="en-US" dirty="0" err="1"/>
              <a:t>save_best_only</a:t>
            </a:r>
            <a:r>
              <a:rPr lang="en-US" dirty="0"/>
              <a:t>=True)</a:t>
            </a:r>
          </a:p>
          <a:p>
            <a:r>
              <a:rPr lang="en-US" dirty="0" err="1"/>
              <a:t>model.fit</a:t>
            </a:r>
            <a:r>
              <a:rPr lang="en-US" dirty="0"/>
              <a:t>(X_train, </a:t>
            </a:r>
            <a:r>
              <a:rPr lang="en-US" dirty="0" err="1"/>
              <a:t>y_train</a:t>
            </a:r>
            <a:r>
              <a:rPr lang="en-US" dirty="0"/>
              <a:t>, epochs=10, callbacks=[</a:t>
            </a:r>
            <a:r>
              <a:rPr lang="en-US" dirty="0" err="1"/>
              <a:t>checkpoint_cb</a:t>
            </a:r>
            <a:r>
              <a:rPr lang="en-US" dirty="0"/>
              <a:t>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05CF3-27EA-45EC-EBBD-4BAED35256D4}"/>
              </a:ext>
            </a:extLst>
          </p:cNvPr>
          <p:cNvSpPr txBox="1"/>
          <p:nvPr/>
        </p:nvSpPr>
        <p:spPr>
          <a:xfrm>
            <a:off x="407174" y="4325007"/>
            <a:ext cx="73612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C00000"/>
                </a:solidFill>
              </a:rPr>
              <a:t>save_best_only</a:t>
            </a:r>
            <a:r>
              <a:rPr lang="en-GB" dirty="0">
                <a:solidFill>
                  <a:srgbClr val="C00000"/>
                </a:solidFill>
              </a:rPr>
              <a:t>=True means it saves only when the model improves on validation set.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029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E384ED1-96AD-3B89-E0D1-DC5EA226C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3A8732F-0A20-685A-82DC-ED5E3F21A0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5236F-290F-2EF4-57EB-90DF7DE64417}"/>
              </a:ext>
            </a:extLst>
          </p:cNvPr>
          <p:cNvSpPr txBox="1"/>
          <p:nvPr/>
        </p:nvSpPr>
        <p:spPr>
          <a:xfrm>
            <a:off x="139086" y="460129"/>
            <a:ext cx="83296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4. Model Checkpointing</a:t>
            </a:r>
          </a:p>
          <a:p>
            <a:pPr>
              <a:buNone/>
            </a:pPr>
            <a:r>
              <a:rPr lang="en-GB" sz="1600" dirty="0" err="1"/>
              <a:t>PyTorch</a:t>
            </a:r>
            <a:r>
              <a:rPr lang="en-GB" sz="1600" dirty="0"/>
              <a:t>:</a:t>
            </a:r>
            <a:endParaRPr lang="en-GB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B33D7-8CB3-5B5C-A861-C91DAC83879B}"/>
              </a:ext>
            </a:extLst>
          </p:cNvPr>
          <p:cNvSpPr txBox="1"/>
          <p:nvPr/>
        </p:nvSpPr>
        <p:spPr>
          <a:xfrm>
            <a:off x="1401418" y="856079"/>
            <a:ext cx="6231834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torch.save</a:t>
            </a:r>
            <a:r>
              <a:rPr lang="en-US" dirty="0"/>
              <a:t>(</a:t>
            </a:r>
            <a:r>
              <a:rPr lang="en-US" dirty="0" err="1"/>
              <a:t>model.state_dict</a:t>
            </a:r>
            <a:r>
              <a:rPr lang="en-US" dirty="0"/>
              <a:t>(), '</a:t>
            </a:r>
            <a:r>
              <a:rPr lang="en-US" dirty="0" err="1"/>
              <a:t>model_checkpoint.pth</a:t>
            </a:r>
            <a:r>
              <a:rPr lang="en-US" dirty="0"/>
              <a:t>')  # </a:t>
            </a:r>
            <a:r>
              <a:rPr lang="en-US" i="1" dirty="0"/>
              <a:t>to save</a:t>
            </a:r>
          </a:p>
          <a:p>
            <a:endParaRPr lang="en-US" dirty="0"/>
          </a:p>
          <a:p>
            <a:r>
              <a:rPr lang="en-US" dirty="0" err="1"/>
              <a:t>model.load_state_dict</a:t>
            </a:r>
            <a:r>
              <a:rPr lang="en-US" dirty="0"/>
              <a:t>(</a:t>
            </a:r>
            <a:r>
              <a:rPr lang="en-US" dirty="0" err="1"/>
              <a:t>torch.load</a:t>
            </a:r>
            <a:r>
              <a:rPr lang="en-US" dirty="0"/>
              <a:t>('</a:t>
            </a:r>
            <a:r>
              <a:rPr lang="en-US" dirty="0" err="1"/>
              <a:t>model_checkpoint.pth</a:t>
            </a:r>
            <a:r>
              <a:rPr lang="en-US" dirty="0"/>
              <a:t>’)) # </a:t>
            </a:r>
            <a:r>
              <a:rPr lang="en-US" i="1" dirty="0"/>
              <a:t>to load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AAFB9-054E-520A-9D29-A8566B3A055B}"/>
              </a:ext>
            </a:extLst>
          </p:cNvPr>
          <p:cNvSpPr txBox="1"/>
          <p:nvPr/>
        </p:nvSpPr>
        <p:spPr>
          <a:xfrm>
            <a:off x="407174" y="2198939"/>
            <a:ext cx="65641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/>
              <a:t>You can wrap this in a condition like: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CE6D67-4719-1617-0ED8-75D20077EE32}"/>
              </a:ext>
            </a:extLst>
          </p:cNvPr>
          <p:cNvSpPr txBox="1"/>
          <p:nvPr/>
        </p:nvSpPr>
        <p:spPr>
          <a:xfrm>
            <a:off x="1695616" y="2606008"/>
            <a:ext cx="5118651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if epoch % 5 == 0:</a:t>
            </a:r>
          </a:p>
          <a:p>
            <a:r>
              <a:rPr lang="en-US" dirty="0"/>
              <a:t>    </a:t>
            </a:r>
            <a:r>
              <a:rPr lang="en-US" dirty="0" err="1"/>
              <a:t>torch.save</a:t>
            </a:r>
            <a:r>
              <a:rPr lang="en-US" dirty="0"/>
              <a:t>(</a:t>
            </a:r>
            <a:r>
              <a:rPr lang="en-US" dirty="0" err="1"/>
              <a:t>model.state_dict</a:t>
            </a:r>
            <a:r>
              <a:rPr lang="en-US" dirty="0"/>
              <a:t>(), </a:t>
            </a:r>
            <a:r>
              <a:rPr lang="en-US" dirty="0" err="1"/>
              <a:t>f'model_epoch</a:t>
            </a:r>
            <a:r>
              <a:rPr lang="en-US" dirty="0"/>
              <a:t>_{epoch}.</a:t>
            </a:r>
            <a:r>
              <a:rPr lang="en-US" dirty="0" err="1"/>
              <a:t>pth</a:t>
            </a:r>
            <a:r>
              <a:rPr lang="en-US" dirty="0"/>
              <a:t>')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39E25E7-D9DB-869D-FFD7-CF3EFB6D5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283705"/>
              </p:ext>
            </p:extLst>
          </p:nvPr>
        </p:nvGraphicFramePr>
        <p:xfrm>
          <a:off x="215125" y="3464171"/>
          <a:ext cx="8521700" cy="12496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1725273895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2504082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946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Crash Recovery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Resume training without starting over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4798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Best Model Saving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Keep best-performing version of the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5050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Efficient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Save time in long training jobs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164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3870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9F9F8DE-FA96-8BD5-BAA4-AB042FC6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61B0A7A6-00DA-87CA-60EF-2865E59D17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B1708-CC1B-B411-4282-8861A84A1E74}"/>
              </a:ext>
            </a:extLst>
          </p:cNvPr>
          <p:cNvSpPr txBox="1"/>
          <p:nvPr/>
        </p:nvSpPr>
        <p:spPr>
          <a:xfrm>
            <a:off x="139087" y="460129"/>
            <a:ext cx="502727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5. Using GPU/TPU Acceleration</a:t>
            </a:r>
          </a:p>
          <a:p>
            <a:pPr>
              <a:buNone/>
            </a:pPr>
            <a:endParaRPr lang="en-GB" sz="1600" dirty="0"/>
          </a:p>
          <a:p>
            <a:pPr>
              <a:buNone/>
            </a:pPr>
            <a:r>
              <a:rPr lang="en-GB" sz="1600" dirty="0"/>
              <a:t>Training machine learning (especially deep learning) models can be very slow on regular CPUs. GPUs and TPUs are specialized hardware that speed up training significantly by handling computations in parallel.</a:t>
            </a:r>
          </a:p>
          <a:p>
            <a:r>
              <a:rPr lang="en-GB" sz="1600" dirty="0"/>
              <a:t>What are GPUs and TPUs?</a:t>
            </a:r>
          </a:p>
          <a:p>
            <a:endParaRPr lang="en-GB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GPU (Graphics Processing Unit)</a:t>
            </a:r>
            <a:r>
              <a:rPr lang="en-GB" sz="1600" dirty="0"/>
              <a:t> – Designed to handle thousands of parallel computations. Great for deep learning, especially for tasks like matrix multiplication (used heavily in neural networks).</a:t>
            </a:r>
          </a:p>
          <a:p>
            <a:pPr marL="285750" indent="-285750">
              <a:buFont typeface="Wingdings" pitchFamily="2" charset="2"/>
              <a:buChar char="Ø"/>
            </a:pPr>
            <a:endParaRPr lang="en-GB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TPU (Tensor Processing Unit)</a:t>
            </a:r>
            <a:r>
              <a:rPr lang="en-GB" sz="1600" dirty="0"/>
              <a:t> – Custom hardware developed by Google for fast TensorFlow operations. Even faster for certain tasks like large-scale training and inference.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6C7ECD-3B1C-3F6B-D62F-476BE8BB0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629978" y="1602994"/>
            <a:ext cx="3106847" cy="193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433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A9C3BEC-87DA-9763-7718-314A8DB01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FBC318F6-3B5F-041B-FD1D-E33A8FA32B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4B3839-7A1B-8408-3171-23DBAEAC7B96}"/>
              </a:ext>
            </a:extLst>
          </p:cNvPr>
          <p:cNvSpPr txBox="1"/>
          <p:nvPr/>
        </p:nvSpPr>
        <p:spPr>
          <a:xfrm>
            <a:off x="139087" y="460129"/>
            <a:ext cx="71578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5. Using GPU/TPU Acceleration</a:t>
            </a:r>
          </a:p>
          <a:p>
            <a:pPr>
              <a:buNone/>
            </a:pPr>
            <a:r>
              <a:rPr lang="en-GB" sz="1600" b="1" dirty="0"/>
              <a:t>Popular Frameworks &amp; Tools for GPU/TPU Use</a:t>
            </a:r>
          </a:p>
          <a:p>
            <a:pPr>
              <a:buNone/>
            </a:pPr>
            <a:r>
              <a:rPr lang="en-GB" sz="1600" b="1" dirty="0" err="1"/>
              <a:t>cuML</a:t>
            </a:r>
            <a:r>
              <a:rPr lang="en-GB" sz="1600" b="1" dirty="0"/>
              <a:t> (from NVIDIA RAPIDS)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A GPU-accelerated ML library.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Offers </a:t>
            </a:r>
            <a:r>
              <a:rPr lang="en-GB" sz="1600" b="1" dirty="0"/>
              <a:t>scikit-learn-like API</a:t>
            </a:r>
            <a:r>
              <a:rPr lang="en-GB" sz="1600" dirty="0"/>
              <a:t> with much faster performance using CUDA.</a:t>
            </a:r>
          </a:p>
          <a:p>
            <a:r>
              <a:rPr lang="en-GB" sz="1600" dirty="0"/>
              <a:t>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5A4A21-4873-C285-1B0B-261B8D9545A5}"/>
              </a:ext>
            </a:extLst>
          </p:cNvPr>
          <p:cNvSpPr txBox="1"/>
          <p:nvPr/>
        </p:nvSpPr>
        <p:spPr>
          <a:xfrm>
            <a:off x="1584198" y="1797510"/>
            <a:ext cx="4649724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cuml.linear_model</a:t>
            </a:r>
            <a:r>
              <a:rPr lang="en-US" dirty="0"/>
              <a:t> import </a:t>
            </a:r>
            <a:r>
              <a:rPr lang="en-US" dirty="0" err="1"/>
              <a:t>LogisticRegression</a:t>
            </a:r>
            <a:endParaRPr lang="en-US" dirty="0"/>
          </a:p>
          <a:p>
            <a:r>
              <a:rPr lang="en-US" dirty="0"/>
              <a:t>model = </a:t>
            </a:r>
            <a:r>
              <a:rPr lang="en-US" dirty="0" err="1"/>
              <a:t>LogisticRegression</a:t>
            </a:r>
            <a:r>
              <a:rPr lang="en-US" dirty="0"/>
              <a:t>()</a:t>
            </a:r>
          </a:p>
          <a:p>
            <a:r>
              <a:rPr lang="en-US" dirty="0" err="1"/>
              <a:t>model.fit</a:t>
            </a:r>
            <a:r>
              <a:rPr lang="en-US" dirty="0"/>
              <a:t>(X_train,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8CFE9-154D-5424-20A5-5584D7702993}"/>
              </a:ext>
            </a:extLst>
          </p:cNvPr>
          <p:cNvSpPr txBox="1"/>
          <p:nvPr/>
        </p:nvSpPr>
        <p:spPr>
          <a:xfrm>
            <a:off x="407174" y="2678192"/>
            <a:ext cx="75846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sz="1600" b="1" dirty="0"/>
          </a:p>
          <a:p>
            <a:pPr>
              <a:buNone/>
            </a:pPr>
            <a:r>
              <a:rPr lang="en-GB" sz="1600" b="1" dirty="0"/>
              <a:t>TensorFlow / </a:t>
            </a:r>
            <a:r>
              <a:rPr lang="en-GB" sz="1600" b="1" dirty="0" err="1"/>
              <a:t>PyTorch</a:t>
            </a:r>
            <a:r>
              <a:rPr lang="en-GB" sz="1600" b="1" dirty="0"/>
              <a:t> with CUDA</a:t>
            </a:r>
          </a:p>
          <a:p>
            <a:r>
              <a:rPr lang="en-GB" sz="1600" dirty="0"/>
              <a:t>Both TensorFlow and </a:t>
            </a:r>
            <a:r>
              <a:rPr lang="en-GB" sz="1600" dirty="0" err="1"/>
              <a:t>PyTorch</a:t>
            </a:r>
            <a:r>
              <a:rPr lang="en-GB" sz="1600" dirty="0"/>
              <a:t> can </a:t>
            </a:r>
            <a:r>
              <a:rPr lang="en-GB" sz="1600" b="1" dirty="0"/>
              <a:t>automatically use the GPU</a:t>
            </a:r>
            <a:r>
              <a:rPr lang="en-GB" sz="1600" dirty="0"/>
              <a:t> if available.</a:t>
            </a:r>
          </a:p>
          <a:p>
            <a:r>
              <a:rPr lang="en-GB" sz="1600" b="1" dirty="0" err="1"/>
              <a:t>PyTorch</a:t>
            </a:r>
            <a:r>
              <a:rPr lang="en-GB" sz="1600" b="1" dirty="0"/>
              <a:t> example:</a:t>
            </a:r>
            <a:endParaRPr lang="en-GB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5E3EBF-10D8-CA62-3A68-71FC2BF87D45}"/>
              </a:ext>
            </a:extLst>
          </p:cNvPr>
          <p:cNvSpPr txBox="1"/>
          <p:nvPr/>
        </p:nvSpPr>
        <p:spPr>
          <a:xfrm>
            <a:off x="2379726" y="3516892"/>
            <a:ext cx="464972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device = "</a:t>
            </a:r>
            <a:r>
              <a:rPr lang="en-US" dirty="0" err="1"/>
              <a:t>cuda</a:t>
            </a:r>
            <a:r>
              <a:rPr lang="en-US" dirty="0"/>
              <a:t>" if </a:t>
            </a:r>
            <a:r>
              <a:rPr lang="en-US" dirty="0" err="1"/>
              <a:t>torch.cuda.is_available</a:t>
            </a:r>
            <a:r>
              <a:rPr lang="en-US" dirty="0"/>
              <a:t>() else "</a:t>
            </a:r>
            <a:r>
              <a:rPr lang="en-US" dirty="0" err="1"/>
              <a:t>cpu</a:t>
            </a:r>
            <a:r>
              <a:rPr lang="en-US" dirty="0"/>
              <a:t>"</a:t>
            </a:r>
          </a:p>
          <a:p>
            <a:r>
              <a:rPr lang="en-US" dirty="0"/>
              <a:t>model = </a:t>
            </a:r>
            <a:r>
              <a:rPr lang="en-US" dirty="0" err="1"/>
              <a:t>MyModel</a:t>
            </a:r>
            <a:r>
              <a:rPr lang="en-US" dirty="0"/>
              <a:t>().to(device)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CD9C38-3127-B5A6-5261-FD52DD7C0602}"/>
              </a:ext>
            </a:extLst>
          </p:cNvPr>
          <p:cNvSpPr txBox="1"/>
          <p:nvPr/>
        </p:nvSpPr>
        <p:spPr>
          <a:xfrm>
            <a:off x="407174" y="3820084"/>
            <a:ext cx="444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sz="1600" b="1" dirty="0"/>
          </a:p>
          <a:p>
            <a:pPr>
              <a:buNone/>
            </a:pPr>
            <a:r>
              <a:rPr lang="en-GB" sz="1600" b="1" dirty="0"/>
              <a:t>TensorFlow example:</a:t>
            </a:r>
            <a:endParaRPr lang="en-GB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BB9079-2D16-CBD2-156E-D2BC348D3E86}"/>
              </a:ext>
            </a:extLst>
          </p:cNvPr>
          <p:cNvSpPr txBox="1"/>
          <p:nvPr/>
        </p:nvSpPr>
        <p:spPr>
          <a:xfrm>
            <a:off x="2379726" y="4421761"/>
            <a:ext cx="464972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# Automatically uses GPU if available</a:t>
            </a:r>
          </a:p>
          <a:p>
            <a:r>
              <a:rPr lang="en-US" dirty="0" err="1"/>
              <a:t>model.fit</a:t>
            </a:r>
            <a:r>
              <a:rPr lang="en-US" dirty="0"/>
              <a:t>(X_train,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70052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D694EE8-F8B5-2493-F40A-4C8374EB7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EDC6BE63-7C40-6064-19F9-704DBE91B9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15797C-B178-6712-D020-4B4EF0B9E7E2}"/>
              </a:ext>
            </a:extLst>
          </p:cNvPr>
          <p:cNvSpPr txBox="1"/>
          <p:nvPr/>
        </p:nvSpPr>
        <p:spPr>
          <a:xfrm>
            <a:off x="139087" y="460129"/>
            <a:ext cx="71578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Additional Tricks to Speed Up Training</a:t>
            </a:r>
          </a:p>
          <a:p>
            <a:pPr>
              <a:buNone/>
            </a:pPr>
            <a:r>
              <a:rPr lang="en-GB" sz="1600" b="1" dirty="0"/>
              <a:t>6. Batch Normalization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Normalizes inputs to each layer, which </a:t>
            </a:r>
            <a:r>
              <a:rPr lang="en-GB" sz="1600" b="1" dirty="0"/>
              <a:t>stabilizes and accelerates training</a:t>
            </a:r>
            <a:r>
              <a:rPr lang="en-GB" sz="1600" dirty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Helps in faster convergence and can allow higher learning rates.</a:t>
            </a:r>
          </a:p>
          <a:p>
            <a:pPr>
              <a:buNone/>
            </a:pPr>
            <a:r>
              <a:rPr lang="en-GB" sz="1600" dirty="0"/>
              <a:t>Example (</a:t>
            </a:r>
            <a:r>
              <a:rPr lang="en-GB" sz="1600" dirty="0" err="1"/>
              <a:t>Keras</a:t>
            </a:r>
            <a:r>
              <a:rPr lang="en-GB" sz="1600" dirty="0"/>
              <a:t>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728D6-669E-43BC-75C5-17F9B80A8D44}"/>
              </a:ext>
            </a:extLst>
          </p:cNvPr>
          <p:cNvSpPr txBox="1"/>
          <p:nvPr/>
        </p:nvSpPr>
        <p:spPr>
          <a:xfrm>
            <a:off x="2068830" y="1829735"/>
            <a:ext cx="464972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tensorflow.keras.layers</a:t>
            </a:r>
            <a:r>
              <a:rPr lang="en-US" dirty="0"/>
              <a:t> import </a:t>
            </a:r>
            <a:r>
              <a:rPr lang="en-US" dirty="0" err="1"/>
              <a:t>BatchNormalization</a:t>
            </a:r>
            <a:endParaRPr lang="en-US" dirty="0"/>
          </a:p>
          <a:p>
            <a:r>
              <a:rPr lang="en-US" dirty="0" err="1"/>
              <a:t>model.add</a:t>
            </a:r>
            <a:r>
              <a:rPr lang="en-US" dirty="0"/>
              <a:t>(</a:t>
            </a:r>
            <a:r>
              <a:rPr lang="en-US" dirty="0" err="1"/>
              <a:t>BatchNormalization</a:t>
            </a:r>
            <a:r>
              <a:rPr lang="en-US" dirty="0"/>
              <a:t>())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CAFDD-7B94-31C7-69E7-7E39712482D1}"/>
              </a:ext>
            </a:extLst>
          </p:cNvPr>
          <p:cNvSpPr txBox="1"/>
          <p:nvPr/>
        </p:nvSpPr>
        <p:spPr>
          <a:xfrm>
            <a:off x="139087" y="2477572"/>
            <a:ext cx="79072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7. Mixed Precision Training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Uses </a:t>
            </a:r>
            <a:r>
              <a:rPr lang="en-GB" sz="1600" b="1" dirty="0"/>
              <a:t>16-bit (half) precision</a:t>
            </a:r>
            <a:r>
              <a:rPr lang="en-GB" sz="1600" dirty="0"/>
              <a:t> instead of 32-bit floats.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Speeds up training and </a:t>
            </a:r>
            <a:r>
              <a:rPr lang="en-GB" sz="1600" b="1" dirty="0"/>
              <a:t>reduces memory usage</a:t>
            </a:r>
            <a:r>
              <a:rPr lang="en-GB" sz="1600" dirty="0"/>
              <a:t> while maintaining accuracy.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Especially effective on </a:t>
            </a:r>
            <a:r>
              <a:rPr lang="en-GB" sz="1600" b="1" dirty="0"/>
              <a:t>NVIDIA GPUs with Tensor Cores</a:t>
            </a:r>
            <a:r>
              <a:rPr lang="en-GB" sz="1600" dirty="0"/>
              <a:t> or </a:t>
            </a:r>
            <a:r>
              <a:rPr lang="en-GB" sz="1600" b="1" dirty="0"/>
              <a:t>TPUs</a:t>
            </a:r>
            <a:r>
              <a:rPr lang="en-GB" sz="16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FB1CA7-16CF-848F-80CB-44EFB701C598}"/>
              </a:ext>
            </a:extLst>
          </p:cNvPr>
          <p:cNvSpPr txBox="1"/>
          <p:nvPr/>
        </p:nvSpPr>
        <p:spPr>
          <a:xfrm>
            <a:off x="2151126" y="3700642"/>
            <a:ext cx="464972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tensorflow.keras</a:t>
            </a:r>
            <a:r>
              <a:rPr lang="en-US" dirty="0"/>
              <a:t> import </a:t>
            </a:r>
            <a:r>
              <a:rPr lang="en-US" dirty="0" err="1"/>
              <a:t>mixed_precision</a:t>
            </a:r>
            <a:endParaRPr lang="en-US" dirty="0"/>
          </a:p>
          <a:p>
            <a:r>
              <a:rPr lang="en-US" dirty="0" err="1"/>
              <a:t>mixed_precision.set_global_policy</a:t>
            </a:r>
            <a:r>
              <a:rPr lang="en-US" dirty="0"/>
              <a:t>('mixed_float16')</a:t>
            </a:r>
          </a:p>
        </p:txBody>
      </p:sp>
    </p:spTree>
    <p:extLst>
      <p:ext uri="{BB962C8B-B14F-4D97-AF65-F5344CB8AC3E}">
        <p14:creationId xmlns:p14="http://schemas.microsoft.com/office/powerpoint/2010/main" val="3675790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28126B6-85D7-5A8A-D138-A44F677EB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770D48DB-B287-97A1-3281-0436625C2C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dirty="0"/>
              <a:t>Strategies for Efficient Training</a:t>
            </a: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8D05D-2728-9F75-23A7-41EE8FF9EDB1}"/>
              </a:ext>
            </a:extLst>
          </p:cNvPr>
          <p:cNvSpPr txBox="1"/>
          <p:nvPr/>
        </p:nvSpPr>
        <p:spPr>
          <a:xfrm>
            <a:off x="139087" y="460129"/>
            <a:ext cx="7157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Additional Tricks to Speed Up Training</a:t>
            </a:r>
          </a:p>
          <a:p>
            <a:pPr>
              <a:buNone/>
            </a:pPr>
            <a:r>
              <a:rPr lang="en-GB" sz="1600" dirty="0" err="1"/>
              <a:t>PyTorch</a:t>
            </a:r>
            <a:r>
              <a:rPr lang="en-GB" sz="1600" dirty="0"/>
              <a:t> Example:</a:t>
            </a:r>
            <a:endParaRPr lang="en-GB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1821B-FE55-DCC3-24E8-AE4F58FEFB53}"/>
              </a:ext>
            </a:extLst>
          </p:cNvPr>
          <p:cNvSpPr txBox="1"/>
          <p:nvPr/>
        </p:nvSpPr>
        <p:spPr>
          <a:xfrm>
            <a:off x="2032254" y="828860"/>
            <a:ext cx="5566410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torch.cuda.amp</a:t>
            </a:r>
            <a:r>
              <a:rPr lang="en-US" dirty="0"/>
              <a:t> import </a:t>
            </a:r>
            <a:r>
              <a:rPr lang="en-US" dirty="0" err="1"/>
              <a:t>GradScaler</a:t>
            </a:r>
            <a:r>
              <a:rPr lang="en-US" dirty="0"/>
              <a:t>, </a:t>
            </a:r>
            <a:r>
              <a:rPr lang="en-US" dirty="0" err="1"/>
              <a:t>autocast</a:t>
            </a:r>
            <a:endParaRPr lang="en-US" dirty="0"/>
          </a:p>
          <a:p>
            <a:r>
              <a:rPr lang="en-US" dirty="0"/>
              <a:t>scaler = </a:t>
            </a:r>
            <a:r>
              <a:rPr lang="en-US" dirty="0" err="1"/>
              <a:t>GradScaler</a:t>
            </a:r>
            <a:r>
              <a:rPr lang="en-US" dirty="0"/>
              <a:t>()</a:t>
            </a:r>
          </a:p>
          <a:p>
            <a:r>
              <a:rPr lang="en-US" dirty="0"/>
              <a:t>for data in </a:t>
            </a:r>
            <a:r>
              <a:rPr lang="en-US" dirty="0" err="1"/>
              <a:t>dataloader</a:t>
            </a:r>
            <a:r>
              <a:rPr lang="en-US" dirty="0"/>
              <a:t>:</a:t>
            </a:r>
          </a:p>
          <a:p>
            <a:r>
              <a:rPr lang="en-US" dirty="0"/>
              <a:t>    with </a:t>
            </a:r>
            <a:r>
              <a:rPr lang="en-US" dirty="0" err="1"/>
              <a:t>autocast</a:t>
            </a:r>
            <a:r>
              <a:rPr lang="en-US" dirty="0"/>
              <a:t>():</a:t>
            </a:r>
          </a:p>
          <a:p>
            <a:r>
              <a:rPr lang="en-US" dirty="0"/>
              <a:t>        outputs = model(inputs)</a:t>
            </a:r>
          </a:p>
          <a:p>
            <a:r>
              <a:rPr lang="en-US" dirty="0"/>
              <a:t>        loss = </a:t>
            </a:r>
            <a:r>
              <a:rPr lang="en-US" dirty="0" err="1"/>
              <a:t>loss_fn</a:t>
            </a:r>
            <a:r>
              <a:rPr lang="en-US" dirty="0"/>
              <a:t>(outputs, targets)</a:t>
            </a:r>
          </a:p>
          <a:p>
            <a:r>
              <a:rPr lang="en-US" dirty="0"/>
              <a:t>    </a:t>
            </a:r>
            <a:r>
              <a:rPr lang="en-US" dirty="0" err="1"/>
              <a:t>scaler.scale</a:t>
            </a:r>
            <a:r>
              <a:rPr lang="en-US" dirty="0"/>
              <a:t>(loss).backward()</a:t>
            </a:r>
          </a:p>
          <a:p>
            <a:r>
              <a:rPr lang="en-US" dirty="0"/>
              <a:t>    </a:t>
            </a:r>
            <a:r>
              <a:rPr lang="en-US" dirty="0" err="1"/>
              <a:t>scaler.step</a:t>
            </a:r>
            <a:r>
              <a:rPr lang="en-US" dirty="0"/>
              <a:t>(optimizer)</a:t>
            </a:r>
          </a:p>
          <a:p>
            <a:r>
              <a:rPr lang="en-US" dirty="0"/>
              <a:t>    </a:t>
            </a:r>
            <a:r>
              <a:rPr lang="en-US" dirty="0" err="1"/>
              <a:t>scaler.update</a:t>
            </a:r>
            <a:r>
              <a:rPr lang="en-US" dirty="0"/>
              <a:t>()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2FC3B6-6EF0-AF13-A66F-C66D652DA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62781"/>
              </p:ext>
            </p:extLst>
          </p:nvPr>
        </p:nvGraphicFramePr>
        <p:xfrm>
          <a:off x="215125" y="3289745"/>
          <a:ext cx="8521700" cy="15240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2987928154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22503112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6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Use GPUs/TPUs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Dramatically faster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946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cuML, CUDA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GPU-accelerated libraries for classical 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08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Batch Norm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Stabilizes learning, allows faster convergence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365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Mixed Precision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Faster training + lower memory 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361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934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E58CAD2-0E07-966E-29B4-6838287B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5D47E6D2-5F27-B079-670B-9CED707774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6146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buNone/>
            </a:pPr>
            <a:r>
              <a:rPr lang="en-GB" b="1" dirty="0"/>
              <a:t>Memory-Efficient Data Type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2CF26-0B6C-2ABA-D385-1F2B862A8450}"/>
              </a:ext>
            </a:extLst>
          </p:cNvPr>
          <p:cNvSpPr txBox="1"/>
          <p:nvPr/>
        </p:nvSpPr>
        <p:spPr>
          <a:xfrm>
            <a:off x="0" y="708846"/>
            <a:ext cx="80558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When working with large datasets, every byte matters. Using smaller data types can significantly reduce memory usage which speeds up processing and allows you to train models more efficiently.</a:t>
            </a:r>
          </a:p>
          <a:p>
            <a:pPr>
              <a:buNone/>
            </a:pPr>
            <a:r>
              <a:rPr lang="en-GB" sz="1600" b="1" dirty="0"/>
              <a:t>Why Optimize Data Types?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Lower memory usage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Faster data loading and processing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Less strain on RAM or GPU memory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Helps prevent "out of memory" errors</a:t>
            </a:r>
          </a:p>
          <a:p>
            <a:endParaRPr lang="en-GB" sz="1600" dirty="0"/>
          </a:p>
          <a:p>
            <a:r>
              <a:rPr lang="en-GB" sz="1600" b="1" dirty="0"/>
              <a:t>Common Optimizations:</a:t>
            </a:r>
            <a:endParaRPr lang="en-US" sz="1600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B8E16C-5EAB-9358-10EF-96458052F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49848"/>
              </p:ext>
            </p:extLst>
          </p:nvPr>
        </p:nvGraphicFramePr>
        <p:xfrm>
          <a:off x="183134" y="3263391"/>
          <a:ext cx="8521701" cy="16459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975076701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433866071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52346338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From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Use When...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26388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/>
                        <a:t>float64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float32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You don't need extreme 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867879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/>
                        <a:t>int64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int32 or int16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Your values are small (e.g., below 2 billion)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879101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/>
                        <a:t>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Categorical strings with few unique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571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145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32A20DE-5B33-5455-FBC7-F9B8EFA3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C956694-8A8C-C3C8-77FB-3CEB640ACF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6146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buNone/>
            </a:pPr>
            <a:r>
              <a:rPr lang="en-GB" b="1" dirty="0"/>
              <a:t>Memory-Efficient Data Type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9AC95-CA39-1A61-6184-F68E16C7E35C}"/>
              </a:ext>
            </a:extLst>
          </p:cNvPr>
          <p:cNvSpPr txBox="1"/>
          <p:nvPr/>
        </p:nvSpPr>
        <p:spPr>
          <a:xfrm>
            <a:off x="118872" y="645138"/>
            <a:ext cx="8055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Reducing Categorical Memory with category</a:t>
            </a:r>
            <a:endParaRPr lang="en-GB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CB883F-3BBC-0459-725E-6EF3A259242A}"/>
              </a:ext>
            </a:extLst>
          </p:cNvPr>
          <p:cNvSpPr txBox="1"/>
          <p:nvPr/>
        </p:nvSpPr>
        <p:spPr>
          <a:xfrm>
            <a:off x="640080" y="1127657"/>
            <a:ext cx="4681728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df</a:t>
            </a:r>
            <a:r>
              <a:rPr lang="en-US" dirty="0"/>
              <a:t>['color'] = </a:t>
            </a:r>
            <a:r>
              <a:rPr lang="en-US" dirty="0" err="1"/>
              <a:t>df</a:t>
            </a:r>
            <a:r>
              <a:rPr lang="en-US" dirty="0"/>
              <a:t>['color'].</a:t>
            </a:r>
            <a:r>
              <a:rPr lang="en-US" dirty="0" err="1"/>
              <a:t>astype</a:t>
            </a:r>
            <a:r>
              <a:rPr lang="en-US" dirty="0"/>
              <a:t>('category')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F937A5-5B5D-7339-5DC8-8B3A8687BE81}"/>
              </a:ext>
            </a:extLst>
          </p:cNvPr>
          <p:cNvSpPr txBox="1"/>
          <p:nvPr/>
        </p:nvSpPr>
        <p:spPr>
          <a:xfrm>
            <a:off x="192828" y="1565475"/>
            <a:ext cx="8520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If you have a column with many repeated string values (like "red", "blue", "green"), converting it to category can save tons of memory.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4E0BF7-A653-627E-5939-630ADABDCEE0}"/>
              </a:ext>
            </a:extLst>
          </p:cNvPr>
          <p:cNvSpPr txBox="1"/>
          <p:nvPr/>
        </p:nvSpPr>
        <p:spPr>
          <a:xfrm>
            <a:off x="0" y="2263973"/>
            <a:ext cx="3483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Example: Memory Comparison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AB6330-515B-7887-D22A-3F5ADDAF50D8}"/>
              </a:ext>
            </a:extLst>
          </p:cNvPr>
          <p:cNvSpPr txBox="1"/>
          <p:nvPr/>
        </p:nvSpPr>
        <p:spPr>
          <a:xfrm>
            <a:off x="3515868" y="2357309"/>
            <a:ext cx="4658868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# Before</a:t>
            </a:r>
          </a:p>
          <a:p>
            <a:r>
              <a:rPr lang="en-US" dirty="0" err="1"/>
              <a:t>df.memory_usage</a:t>
            </a:r>
            <a:r>
              <a:rPr lang="en-US" dirty="0"/>
              <a:t>(deep=True)</a:t>
            </a:r>
          </a:p>
          <a:p>
            <a:endParaRPr lang="en-US" dirty="0"/>
          </a:p>
          <a:p>
            <a:r>
              <a:rPr lang="en-US" dirty="0"/>
              <a:t># After </a:t>
            </a:r>
            <a:r>
              <a:rPr lang="en-US" dirty="0" err="1"/>
              <a:t>downcasting</a:t>
            </a:r>
            <a:endParaRPr lang="en-US" dirty="0"/>
          </a:p>
          <a:p>
            <a:r>
              <a:rPr lang="en-US" dirty="0" err="1"/>
              <a:t>df</a:t>
            </a:r>
            <a:r>
              <a:rPr lang="en-US" dirty="0"/>
              <a:t>['price'] = </a:t>
            </a:r>
            <a:r>
              <a:rPr lang="en-US" dirty="0" err="1"/>
              <a:t>pd.to_numeric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['price'], downcast='float')</a:t>
            </a:r>
          </a:p>
          <a:p>
            <a:r>
              <a:rPr lang="en-US" dirty="0" err="1"/>
              <a:t>df</a:t>
            </a:r>
            <a:r>
              <a:rPr lang="en-US" dirty="0"/>
              <a:t>['count'] = </a:t>
            </a:r>
            <a:r>
              <a:rPr lang="en-US" dirty="0" err="1"/>
              <a:t>pd.to_numeric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['count'], downcast='integer')</a:t>
            </a:r>
          </a:p>
          <a:p>
            <a:endParaRPr lang="en-US" dirty="0"/>
          </a:p>
          <a:p>
            <a:r>
              <a:rPr lang="en-US" dirty="0" err="1"/>
              <a:t>df.memory_usage</a:t>
            </a:r>
            <a:r>
              <a:rPr lang="en-US" dirty="0"/>
              <a:t>(deep=True)</a:t>
            </a:r>
          </a:p>
        </p:txBody>
      </p:sp>
    </p:spTree>
    <p:extLst>
      <p:ext uri="{BB962C8B-B14F-4D97-AF65-F5344CB8AC3E}">
        <p14:creationId xmlns:p14="http://schemas.microsoft.com/office/powerpoint/2010/main" val="4132302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3A9906F-F31C-2F56-DDD1-3917B8908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2A357FB4-5039-72F1-71DB-C142E166B0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6146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buNone/>
            </a:pPr>
            <a:r>
              <a:rPr lang="en-GB" b="1" dirty="0"/>
              <a:t>Memory-Efficient Data Type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10F4FF-DEA7-7698-58F1-65A8A398E1DB}"/>
              </a:ext>
            </a:extLst>
          </p:cNvPr>
          <p:cNvSpPr txBox="1"/>
          <p:nvPr/>
        </p:nvSpPr>
        <p:spPr>
          <a:xfrm>
            <a:off x="118872" y="645138"/>
            <a:ext cx="8055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Benefits of changing Data Type</a:t>
            </a:r>
            <a:endParaRPr lang="en-GB" sz="16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100227-8183-954E-4BC1-7E1A4C41C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822943"/>
              </p:ext>
            </p:extLst>
          </p:nvPr>
        </p:nvGraphicFramePr>
        <p:xfrm>
          <a:off x="118872" y="1486027"/>
          <a:ext cx="8521700" cy="19202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3961194258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1753882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Tip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936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Convert float64 → float32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Cuts float memory in half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621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Convert int64 → int32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Saves memory when large precision isn't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675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Use .astype()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Simple and effective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973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Use category for strings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Great for repeated string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463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793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4AB2778-2AEA-B115-B3B2-F0BEA439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0643A7F-DE02-7DFD-5E88-07D0415FD9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32429"/>
            <a:ext cx="8520600" cy="572700"/>
          </a:xfr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>
              <a:buNone/>
            </a:pPr>
            <a:r>
              <a:rPr lang="en-GB" b="1" dirty="0"/>
              <a:t>Toolkits and Libraries Overview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EB4D4E-9257-468A-0652-6C76B48E8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467899"/>
              </p:ext>
            </p:extLst>
          </p:nvPr>
        </p:nvGraphicFramePr>
        <p:xfrm>
          <a:off x="155850" y="1398270"/>
          <a:ext cx="8832300" cy="23469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256512">
                  <a:extLst>
                    <a:ext uri="{9D8B030D-6E8A-4147-A177-3AD203B41FA5}">
                      <a16:colId xmlns:a16="http://schemas.microsoft.com/office/drawing/2014/main" val="1860487437"/>
                    </a:ext>
                  </a:extLst>
                </a:gridCol>
                <a:gridCol w="6575788">
                  <a:extLst>
                    <a:ext uri="{9D8B030D-6E8A-4147-A177-3AD203B41FA5}">
                      <a16:colId xmlns:a16="http://schemas.microsoft.com/office/drawing/2014/main" val="24544189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Library / Tool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/>
                        <a:t>Best For</a:t>
                      </a:r>
                      <a:endParaRPr lang="en-GB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595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Dask / Joblib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Scalable tabular data &amp; scikit-learn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509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Spark MLlib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Distributed large-scale machine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787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cuML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GPU-accelerated classical 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4314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TFRecords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Streaming large image/text datasets in TensorFlow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669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PyTorch Lightning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Simplified PyTorch for large model training, logging, and checkpointing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809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Petastorm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Efficiently reading large datasets into </a:t>
                      </a:r>
                      <a:r>
                        <a:rPr lang="en-GB" sz="1600" dirty="0" err="1"/>
                        <a:t>PyTorch</a:t>
                      </a:r>
                      <a:r>
                        <a:rPr lang="en-GB" sz="1600" dirty="0"/>
                        <a:t>/Spark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881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181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74BA8B2-2F00-45B9-EB8A-5FF7DE3E0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57920B4-7645-02CB-A92F-1B0C3ABC10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32429"/>
            <a:ext cx="8520600" cy="572700"/>
          </a:xfr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GB" b="1" dirty="0"/>
              <a:t>Tool-by-Tool Explanation:</a:t>
            </a:r>
            <a:br>
              <a:rPr lang="en-GB" b="1" dirty="0"/>
            </a:br>
            <a:br>
              <a:rPr lang="en-GB" b="1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3F01B-3820-C52B-A2EF-27E649A3E886}"/>
              </a:ext>
            </a:extLst>
          </p:cNvPr>
          <p:cNvSpPr txBox="1"/>
          <p:nvPr/>
        </p:nvSpPr>
        <p:spPr>
          <a:xfrm>
            <a:off x="182880" y="548640"/>
            <a:ext cx="87782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50" b="1" dirty="0" err="1"/>
              <a:t>Dask</a:t>
            </a:r>
            <a:r>
              <a:rPr lang="en-GB" sz="1450" b="1" dirty="0"/>
              <a:t> / </a:t>
            </a:r>
            <a:r>
              <a:rPr lang="en-GB" sz="1450" b="1" dirty="0" err="1"/>
              <a:t>Joblib</a:t>
            </a:r>
            <a:endParaRPr lang="en-GB" sz="1450" b="1" dirty="0"/>
          </a:p>
          <a:p>
            <a:r>
              <a:rPr lang="en-GB" sz="1450" dirty="0" err="1"/>
              <a:t>Dask</a:t>
            </a:r>
            <a:r>
              <a:rPr lang="en-GB" sz="1450" dirty="0"/>
              <a:t>: Allows you to work with large tabular datasets by parallelizing operations across CPUs or clusters.</a:t>
            </a:r>
          </a:p>
          <a:p>
            <a:r>
              <a:rPr lang="en-GB" sz="1450" dirty="0" err="1"/>
              <a:t>Joblib</a:t>
            </a:r>
            <a:r>
              <a:rPr lang="en-GB" sz="1450" dirty="0"/>
              <a:t>: Commonly used to parallelize loops or cache functions in scikit-learn.</a:t>
            </a:r>
          </a:p>
          <a:p>
            <a:r>
              <a:rPr lang="en-GB" sz="1450" b="1" dirty="0"/>
              <a:t>Spark </a:t>
            </a:r>
            <a:r>
              <a:rPr lang="en-GB" sz="1450" b="1" dirty="0" err="1"/>
              <a:t>MLlib</a:t>
            </a:r>
            <a:endParaRPr lang="en-GB" sz="1450" b="1" dirty="0"/>
          </a:p>
          <a:p>
            <a:r>
              <a:rPr lang="en-GB" sz="1450" dirty="0"/>
              <a:t>Part of Apache Spark, designed for distributed ML.</a:t>
            </a:r>
          </a:p>
          <a:p>
            <a:r>
              <a:rPr lang="en-GB" sz="1450" dirty="0"/>
              <a:t>Ideal when working with very large datasets stored in Hadoop or data lakes.</a:t>
            </a:r>
          </a:p>
          <a:p>
            <a:r>
              <a:rPr lang="en-GB" sz="1450" b="1" dirty="0" err="1"/>
              <a:t>cuML</a:t>
            </a:r>
            <a:r>
              <a:rPr lang="en-GB" sz="1450" b="1" dirty="0"/>
              <a:t> (NVIDIA RAPIDS)</a:t>
            </a:r>
          </a:p>
          <a:p>
            <a:r>
              <a:rPr lang="en-GB" sz="1450" dirty="0"/>
              <a:t>GPU-powered version of scikit-learn APIs.</a:t>
            </a:r>
          </a:p>
          <a:p>
            <a:r>
              <a:rPr lang="en-GB" sz="1450" dirty="0"/>
              <a:t>Speeds up classical ML algorithms (e.g., k-means, PCA, logistic regression) using NVIDIA GPUs.</a:t>
            </a:r>
          </a:p>
          <a:p>
            <a:r>
              <a:rPr lang="en-GB" sz="1450" b="1" dirty="0" err="1"/>
              <a:t>TFRecords</a:t>
            </a:r>
            <a:r>
              <a:rPr lang="en-GB" sz="1450" b="1" dirty="0"/>
              <a:t> (TensorFlow)</a:t>
            </a:r>
          </a:p>
          <a:p>
            <a:r>
              <a:rPr lang="en-GB" sz="1450" dirty="0"/>
              <a:t>A binary file format for storing large datasets (e.g., images, text).</a:t>
            </a:r>
          </a:p>
          <a:p>
            <a:r>
              <a:rPr lang="en-GB" sz="1450" dirty="0"/>
              <a:t>Used with </a:t>
            </a:r>
            <a:r>
              <a:rPr lang="en-GB" sz="1450" dirty="0" err="1"/>
              <a:t>tf.data</a:t>
            </a:r>
            <a:r>
              <a:rPr lang="en-GB" sz="1450" dirty="0"/>
              <a:t> for efficient streaming during training.</a:t>
            </a:r>
          </a:p>
          <a:p>
            <a:r>
              <a:rPr lang="en-GB" sz="1450" b="1" dirty="0" err="1"/>
              <a:t>PyTorch</a:t>
            </a:r>
            <a:r>
              <a:rPr lang="en-GB" sz="1450" b="1" dirty="0"/>
              <a:t> Lightning</a:t>
            </a:r>
          </a:p>
          <a:p>
            <a:r>
              <a:rPr lang="en-GB" sz="1450" dirty="0"/>
              <a:t>High-level wrapper over </a:t>
            </a:r>
            <a:r>
              <a:rPr lang="en-GB" sz="1450" dirty="0" err="1"/>
              <a:t>PyTorch</a:t>
            </a:r>
            <a:r>
              <a:rPr lang="en-GB" sz="1450" dirty="0"/>
              <a:t>.</a:t>
            </a:r>
          </a:p>
          <a:p>
            <a:r>
              <a:rPr lang="en-GB" sz="1450" dirty="0"/>
              <a:t>Helps you structure your code for clean, scalable, and reproducible training.</a:t>
            </a:r>
          </a:p>
          <a:p>
            <a:r>
              <a:rPr lang="en-GB" sz="1450" dirty="0"/>
              <a:t>Handles logging, checkpointing, and training loops automatically.</a:t>
            </a:r>
          </a:p>
          <a:p>
            <a:r>
              <a:rPr lang="en-GB" sz="1450" b="1" dirty="0" err="1"/>
              <a:t>Petastorm</a:t>
            </a:r>
            <a:endParaRPr lang="en-GB" sz="1450" b="1" dirty="0"/>
          </a:p>
          <a:p>
            <a:r>
              <a:rPr lang="en-GB" sz="1450" dirty="0"/>
              <a:t>Developed by Uber.</a:t>
            </a:r>
          </a:p>
          <a:p>
            <a:r>
              <a:rPr lang="en-GB" sz="1450" dirty="0"/>
              <a:t>Lets you read large Parquet files efficiently into </a:t>
            </a:r>
            <a:r>
              <a:rPr lang="en-GB" sz="1450" dirty="0" err="1"/>
              <a:t>PyTorch</a:t>
            </a:r>
            <a:r>
              <a:rPr lang="en-GB" sz="1450" dirty="0"/>
              <a:t> or Spark.</a:t>
            </a:r>
          </a:p>
          <a:p>
            <a:r>
              <a:rPr lang="en-GB" sz="1450" dirty="0"/>
              <a:t>Supports streaming from remote storage like S3.</a:t>
            </a:r>
          </a:p>
          <a:p>
            <a:endParaRPr lang="en-GB" sz="1500" dirty="0"/>
          </a:p>
          <a:p>
            <a:pPr>
              <a:buFont typeface="Arial" panose="020B0604020202020204" pitchFamily="34" charset="0"/>
              <a:buChar char="•"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3009771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379AFB1-F11E-FF34-378D-18E26B613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95CBDA99-FC29-1604-20B6-EB16DFA6D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32429"/>
            <a:ext cx="8520600" cy="572700"/>
          </a:xfr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GB" b="1" dirty="0"/>
              <a:t>Tool-by-Tool Explanation:</a:t>
            </a:r>
            <a:br>
              <a:rPr lang="en-GB" b="1" dirty="0"/>
            </a:br>
            <a:br>
              <a:rPr lang="en-GB" b="1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0C7A3-86E6-5C39-BD22-B0114DADD4B0}"/>
              </a:ext>
            </a:extLst>
          </p:cNvPr>
          <p:cNvSpPr txBox="1"/>
          <p:nvPr/>
        </p:nvSpPr>
        <p:spPr>
          <a:xfrm>
            <a:off x="182880" y="548640"/>
            <a:ext cx="87782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50" b="1" dirty="0" err="1"/>
              <a:t>Dask</a:t>
            </a:r>
            <a:r>
              <a:rPr lang="en-GB" sz="1450" b="1" dirty="0"/>
              <a:t> / </a:t>
            </a:r>
            <a:r>
              <a:rPr lang="en-GB" sz="1450" b="1" dirty="0" err="1"/>
              <a:t>Joblib</a:t>
            </a:r>
            <a:endParaRPr lang="en-GB" sz="1450" b="1" dirty="0"/>
          </a:p>
          <a:p>
            <a:r>
              <a:rPr lang="en-GB" sz="1450" dirty="0" err="1"/>
              <a:t>Dask</a:t>
            </a:r>
            <a:r>
              <a:rPr lang="en-GB" sz="1450" dirty="0"/>
              <a:t>: Allows you to work with large tabular datasets by parallelizing operations across CPUs or clusters.</a:t>
            </a:r>
          </a:p>
          <a:p>
            <a:r>
              <a:rPr lang="en-GB" sz="1450" dirty="0" err="1"/>
              <a:t>Joblib</a:t>
            </a:r>
            <a:r>
              <a:rPr lang="en-GB" sz="1450" dirty="0"/>
              <a:t>: Commonly used to parallelize loops or cache functions in scikit-learn.</a:t>
            </a:r>
          </a:p>
          <a:p>
            <a:r>
              <a:rPr lang="en-GB" sz="1450" b="1" dirty="0"/>
              <a:t>Spark </a:t>
            </a:r>
            <a:r>
              <a:rPr lang="en-GB" sz="1450" b="1" dirty="0" err="1"/>
              <a:t>MLlib</a:t>
            </a:r>
            <a:endParaRPr lang="en-GB" sz="1450" b="1" dirty="0"/>
          </a:p>
          <a:p>
            <a:r>
              <a:rPr lang="en-GB" sz="1450" dirty="0"/>
              <a:t>Part of Apache Spark, designed for distributed ML.</a:t>
            </a:r>
          </a:p>
          <a:p>
            <a:r>
              <a:rPr lang="en-GB" sz="1450" dirty="0"/>
              <a:t>Ideal when working with very large datasets stored in Hadoop or data lakes.</a:t>
            </a:r>
          </a:p>
          <a:p>
            <a:r>
              <a:rPr lang="en-GB" sz="1450" b="1" dirty="0" err="1"/>
              <a:t>cuML</a:t>
            </a:r>
            <a:r>
              <a:rPr lang="en-GB" sz="1450" b="1" dirty="0"/>
              <a:t> (NVIDIA RAPIDS)</a:t>
            </a:r>
          </a:p>
          <a:p>
            <a:r>
              <a:rPr lang="en-GB" sz="1450" dirty="0"/>
              <a:t>GPU-powered version of scikit-learn APIs.</a:t>
            </a:r>
          </a:p>
          <a:p>
            <a:r>
              <a:rPr lang="en-GB" sz="1450" dirty="0"/>
              <a:t>Speeds up classical ML algorithms (e.g., k-means, PCA, logistic regression) using NVIDIA GPUs.</a:t>
            </a:r>
          </a:p>
          <a:p>
            <a:r>
              <a:rPr lang="en-GB" sz="1450" b="1" dirty="0" err="1"/>
              <a:t>TFRecords</a:t>
            </a:r>
            <a:r>
              <a:rPr lang="en-GB" sz="1450" b="1" dirty="0"/>
              <a:t> (TensorFlow)</a:t>
            </a:r>
          </a:p>
          <a:p>
            <a:r>
              <a:rPr lang="en-GB" sz="1450" dirty="0"/>
              <a:t>A binary file format for storing large datasets (e.g., images, text).</a:t>
            </a:r>
          </a:p>
          <a:p>
            <a:r>
              <a:rPr lang="en-GB" sz="1450" dirty="0"/>
              <a:t>Used with </a:t>
            </a:r>
            <a:r>
              <a:rPr lang="en-GB" sz="1450" dirty="0" err="1"/>
              <a:t>tf.data</a:t>
            </a:r>
            <a:r>
              <a:rPr lang="en-GB" sz="1450" dirty="0"/>
              <a:t> for efficient streaming during training.</a:t>
            </a:r>
          </a:p>
          <a:p>
            <a:r>
              <a:rPr lang="en-GB" sz="1450" b="1" dirty="0" err="1"/>
              <a:t>PyTorch</a:t>
            </a:r>
            <a:r>
              <a:rPr lang="en-GB" sz="1450" b="1" dirty="0"/>
              <a:t> Lightning</a:t>
            </a:r>
          </a:p>
          <a:p>
            <a:r>
              <a:rPr lang="en-GB" sz="1450" dirty="0"/>
              <a:t>High-level wrapper over </a:t>
            </a:r>
            <a:r>
              <a:rPr lang="en-GB" sz="1450" dirty="0" err="1"/>
              <a:t>PyTorch</a:t>
            </a:r>
            <a:r>
              <a:rPr lang="en-GB" sz="1450" dirty="0"/>
              <a:t>.</a:t>
            </a:r>
          </a:p>
          <a:p>
            <a:r>
              <a:rPr lang="en-GB" sz="1450" dirty="0"/>
              <a:t>Helps you structure your code for clean, scalable, and reproducible training.</a:t>
            </a:r>
          </a:p>
          <a:p>
            <a:r>
              <a:rPr lang="en-GB" sz="1450" dirty="0"/>
              <a:t>Handles logging, checkpointing, and training loops automatically.</a:t>
            </a:r>
          </a:p>
          <a:p>
            <a:r>
              <a:rPr lang="en-GB" sz="1450" b="1" dirty="0" err="1"/>
              <a:t>Petastorm</a:t>
            </a:r>
            <a:endParaRPr lang="en-GB" sz="1450" b="1" dirty="0"/>
          </a:p>
          <a:p>
            <a:r>
              <a:rPr lang="en-GB" sz="1450" dirty="0"/>
              <a:t>Developed by Uber.</a:t>
            </a:r>
          </a:p>
          <a:p>
            <a:r>
              <a:rPr lang="en-GB" sz="1450" dirty="0"/>
              <a:t>Lets you read large Parquet files efficiently into </a:t>
            </a:r>
            <a:r>
              <a:rPr lang="en-GB" sz="1450" dirty="0" err="1"/>
              <a:t>PyTorch</a:t>
            </a:r>
            <a:r>
              <a:rPr lang="en-GB" sz="1450" dirty="0"/>
              <a:t> or Spark.</a:t>
            </a:r>
          </a:p>
          <a:p>
            <a:r>
              <a:rPr lang="en-GB" sz="1450" dirty="0"/>
              <a:t>Supports streaming from remote storage like S3.</a:t>
            </a:r>
          </a:p>
          <a:p>
            <a:endParaRPr lang="en-GB" sz="1500" dirty="0"/>
          </a:p>
          <a:p>
            <a:pPr>
              <a:buFont typeface="Arial" panose="020B0604020202020204" pitchFamily="34" charset="0"/>
              <a:buChar char="•"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325821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508FA99-5AA3-8E6D-72C7-8378831C1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762A82E6-59C3-9A2E-7FA2-C48AFB79DA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32429"/>
            <a:ext cx="8520600" cy="572700"/>
          </a:xfr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GB" b="1" dirty="0"/>
              <a:t>Case Studies &amp; Benchmarks </a:t>
            </a:r>
            <a:br>
              <a:rPr lang="en-GB" b="1" dirty="0"/>
            </a:br>
            <a:br>
              <a:rPr lang="en-GB" b="1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5B698-FF39-ADEF-2FA8-8EA3C0BCC3C9}"/>
              </a:ext>
            </a:extLst>
          </p:cNvPr>
          <p:cNvSpPr txBox="1"/>
          <p:nvPr/>
        </p:nvSpPr>
        <p:spPr>
          <a:xfrm>
            <a:off x="182880" y="548640"/>
            <a:ext cx="8778240" cy="250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n-lt"/>
              </a:rPr>
              <a:t>Case Study 1: Recommendation Systems at Netflix</a:t>
            </a:r>
          </a:p>
          <a:p>
            <a:pPr algn="l"/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n-lt"/>
              </a:rPr>
              <a:t>Scale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n-lt"/>
              </a:rPr>
              <a:t>: 100TB+ user interaction data</a:t>
            </a:r>
          </a:p>
          <a:p>
            <a:pPr algn="l">
              <a:spcBef>
                <a:spcPts val="300"/>
              </a:spcBef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n-lt"/>
              </a:rPr>
              <a:t>Solution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n-lt"/>
              </a:rPr>
              <a:t>: Spark ALS with model sharding</a:t>
            </a:r>
          </a:p>
          <a:p>
            <a:pPr algn="l">
              <a:spcBef>
                <a:spcPts val="300"/>
              </a:spcBef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n-lt"/>
              </a:rPr>
              <a:t>Outcome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n-lt"/>
              </a:rPr>
              <a:t>: 8x faster training vs. single-node</a:t>
            </a:r>
          </a:p>
          <a:p>
            <a:pPr algn="l">
              <a:spcBef>
                <a:spcPts val="300"/>
              </a:spcBef>
            </a:pPr>
            <a:endParaRPr lang="en-GB" sz="1600" b="0" i="0" u="none" strike="noStrike" dirty="0">
              <a:solidFill>
                <a:srgbClr val="404040"/>
              </a:solidFill>
              <a:effectLst/>
              <a:latin typeface="+mn-lt"/>
            </a:endParaRP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n-lt"/>
              </a:rPr>
              <a:t>Case Study 2: Computer Vision at Tesla</a:t>
            </a:r>
          </a:p>
          <a:p>
            <a:pPr algn="l"/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n-lt"/>
              </a:rPr>
              <a:t>Scale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n-lt"/>
              </a:rPr>
              <a:t>: Millions of auto-</a:t>
            </a:r>
            <a:r>
              <a:rPr lang="en-GB" sz="1600" b="0" i="0" u="none" strike="noStrike" dirty="0" err="1">
                <a:solidFill>
                  <a:srgbClr val="404040"/>
                </a:solidFill>
                <a:effectLst/>
                <a:latin typeface="+mn-lt"/>
              </a:rPr>
              <a:t>labeled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n-lt"/>
              </a:rPr>
              <a:t> images</a:t>
            </a:r>
          </a:p>
          <a:p>
            <a:pPr algn="l">
              <a:spcBef>
                <a:spcPts val="300"/>
              </a:spcBef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n-lt"/>
              </a:rPr>
              <a:t>Solution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n-lt"/>
              </a:rPr>
              <a:t>: </a:t>
            </a:r>
            <a:r>
              <a:rPr lang="en-GB" sz="1600" b="0" i="0" u="none" strike="noStrike" dirty="0" err="1">
                <a:solidFill>
                  <a:srgbClr val="404040"/>
                </a:solidFill>
                <a:effectLst/>
                <a:latin typeface="+mn-lt"/>
              </a:rPr>
              <a:t>PyTorch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n-lt"/>
              </a:rPr>
              <a:t> + </a:t>
            </a:r>
            <a:r>
              <a:rPr lang="en-GB" sz="1600" b="0" i="0" u="none" strike="noStrike" dirty="0" err="1">
                <a:solidFill>
                  <a:srgbClr val="404040"/>
                </a:solidFill>
                <a:effectLst/>
                <a:latin typeface="+mn-lt"/>
              </a:rPr>
              <a:t>Horovod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n-lt"/>
              </a:rPr>
              <a:t> on GPU cluster</a:t>
            </a:r>
          </a:p>
          <a:p>
            <a:pPr algn="l">
              <a:spcBef>
                <a:spcPts val="300"/>
              </a:spcBef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n-lt"/>
              </a:rPr>
              <a:t>Trick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n-lt"/>
              </a:rPr>
              <a:t>: Gradient compression for cross-region sync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D5501A-11C1-E1D0-5381-8FCB8DF09975}"/>
              </a:ext>
            </a:extLst>
          </p:cNvPr>
          <p:cNvGraphicFramePr>
            <a:graphicFrameLocks noGrp="1"/>
          </p:cNvGraphicFramePr>
          <p:nvPr/>
        </p:nvGraphicFramePr>
        <p:xfrm>
          <a:off x="182880" y="3692455"/>
          <a:ext cx="7324344" cy="12192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540404">
                  <a:extLst>
                    <a:ext uri="{9D8B030D-6E8A-4147-A177-3AD203B41FA5}">
                      <a16:colId xmlns:a16="http://schemas.microsoft.com/office/drawing/2014/main" val="46700058"/>
                    </a:ext>
                  </a:extLst>
                </a:gridCol>
                <a:gridCol w="2404917">
                  <a:extLst>
                    <a:ext uri="{9D8B030D-6E8A-4147-A177-3AD203B41FA5}">
                      <a16:colId xmlns:a16="http://schemas.microsoft.com/office/drawing/2014/main" val="300741808"/>
                    </a:ext>
                  </a:extLst>
                </a:gridCol>
                <a:gridCol w="3379023">
                  <a:extLst>
                    <a:ext uri="{9D8B030D-6E8A-4147-A177-3AD203B41FA5}">
                      <a16:colId xmlns:a16="http://schemas.microsoft.com/office/drawing/2014/main" val="14534244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effectLst/>
                        </a:rPr>
                        <a:t>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effectLst/>
                        </a:rPr>
                        <a:t>100GB Dataset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effectLst/>
                        </a:rPr>
                        <a:t>Hardware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17549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Spark MLlib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</a:rPr>
                        <a:t>2.1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16 CPU nodes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82255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Dask-ML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1.8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32 CPU cores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150452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cuML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22 mins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</a:rPr>
                        <a:t>1x A100 GPU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662277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639FC688-D7BF-AAE4-0B28-5C0D56C6B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2980842"/>
            <a:ext cx="238078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Performance Benchmarks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045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C2EB0E8-1A0E-F880-CD2D-9290013F9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861A109-5EDA-82B2-957D-1A7EC8DC29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32429"/>
            <a:ext cx="8520600" cy="572700"/>
          </a:xfr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GB" b="1" dirty="0"/>
              <a:t>Challenges &amp; Future Trends </a:t>
            </a:r>
            <a:br>
              <a:rPr lang="en-GB" b="1" dirty="0"/>
            </a:br>
            <a:br>
              <a:rPr lang="en-GB" b="1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70C12-72D9-6540-FED6-391B855A376B}"/>
              </a:ext>
            </a:extLst>
          </p:cNvPr>
          <p:cNvSpPr txBox="1"/>
          <p:nvPr/>
        </p:nvSpPr>
        <p:spPr>
          <a:xfrm>
            <a:off x="182880" y="548640"/>
            <a:ext cx="7078532" cy="330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Current Challenges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Straggler Problem</a:t>
            </a: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Slow workers delay synchronization</a:t>
            </a:r>
          </a:p>
          <a:p>
            <a:pPr marL="342900" indent="-34290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Data Skew</a:t>
            </a: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Uneven partition sizes hurt parallelism</a:t>
            </a:r>
          </a:p>
          <a:p>
            <a:pPr marL="342900" indent="-34290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Debugging Complexity</a:t>
            </a: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Hard to trace distributed failures</a:t>
            </a:r>
          </a:p>
          <a:p>
            <a:pPr algn="l">
              <a:spcBef>
                <a:spcPts val="300"/>
              </a:spcBef>
            </a:pPr>
            <a:endParaRPr lang="en-GB" sz="2000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algn="l">
              <a:buNone/>
            </a:pP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Emerging Solutions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Zero Redundancy Optimizer (</a:t>
            </a:r>
            <a:r>
              <a:rPr lang="en-GB" sz="2000" b="1" i="0" u="none" strike="noStrike" dirty="0" err="1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ZeRO</a:t>
            </a: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)</a:t>
            </a: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Memory optimization</a:t>
            </a:r>
          </a:p>
          <a:p>
            <a:pPr marL="342900" indent="-34290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Serverless ML</a:t>
            </a: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AWS </a:t>
            </a:r>
            <a:r>
              <a:rPr lang="en-GB" sz="2000" b="0" i="0" u="none" strike="noStrike" dirty="0" err="1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SageMaker</a:t>
            </a: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, Google Vertex AI</a:t>
            </a:r>
          </a:p>
          <a:p>
            <a:pPr marL="342900" indent="-34290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Quantum ML</a:t>
            </a: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Early experiments with QPUs</a:t>
            </a:r>
          </a:p>
          <a:p>
            <a:pPr algn="l">
              <a:buNone/>
            </a:pPr>
            <a:endParaRPr lang="en-GB" sz="1600" b="0" i="0" u="none" strike="noStrike" dirty="0">
              <a:solidFill>
                <a:srgbClr val="404040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16578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99514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lang="en-GB" sz="3200" dirty="0"/>
              <a:t>Summary</a:t>
            </a:r>
            <a:br>
              <a:rPr lang="en-GB" sz="3200" dirty="0"/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8F542-E388-7579-9EB1-BFDFC8F150AC}"/>
              </a:ext>
            </a:extLst>
          </p:cNvPr>
          <p:cNvSpPr txBox="1"/>
          <p:nvPr/>
        </p:nvSpPr>
        <p:spPr>
          <a:xfrm>
            <a:off x="651510" y="1137750"/>
            <a:ext cx="46497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600" dirty="0"/>
              <a:t>Efficient training = </a:t>
            </a:r>
            <a:r>
              <a:rPr lang="en-GB" sz="1600" b="1" dirty="0"/>
              <a:t>smart data handling + parallelism + resource optimization</a:t>
            </a: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Tools like </a:t>
            </a:r>
            <a:r>
              <a:rPr lang="en-GB" sz="1600" b="1" dirty="0" err="1"/>
              <a:t>Dask</a:t>
            </a:r>
            <a:r>
              <a:rPr lang="en-GB" sz="1600" dirty="0"/>
              <a:t>, </a:t>
            </a:r>
            <a:r>
              <a:rPr lang="en-GB" sz="1600" b="1" dirty="0"/>
              <a:t>Spark</a:t>
            </a:r>
            <a:r>
              <a:rPr lang="en-GB" sz="1600" dirty="0"/>
              <a:t>, </a:t>
            </a:r>
            <a:r>
              <a:rPr lang="en-GB" sz="1600" b="1" dirty="0" err="1"/>
              <a:t>cuML</a:t>
            </a:r>
            <a:r>
              <a:rPr lang="en-GB" sz="1600" dirty="0"/>
              <a:t>, and </a:t>
            </a:r>
            <a:r>
              <a:rPr lang="en-GB" sz="1600" b="1" dirty="0"/>
              <a:t>cloud platforms</a:t>
            </a:r>
            <a:r>
              <a:rPr lang="en-GB" sz="1600" dirty="0"/>
              <a:t> are essential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Don’t load full data into memory—</a:t>
            </a:r>
            <a:r>
              <a:rPr lang="en-GB" sz="1600" b="1" dirty="0"/>
              <a:t>stream, batch, or partition it</a:t>
            </a: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Evaluate models iteratively with </a:t>
            </a:r>
            <a:r>
              <a:rPr lang="en-GB" sz="1600" b="1" dirty="0"/>
              <a:t>checkpoints and logging</a:t>
            </a:r>
            <a:endParaRPr lang="en-GB" sz="1600" dirty="0"/>
          </a:p>
        </p:txBody>
      </p:sp>
      <p:pic>
        <p:nvPicPr>
          <p:cNvPr id="5" name="Picture 4" descr="A clipboard with a white paper on it&#10;&#10;AI-generated content may be incorrect.">
            <a:extLst>
              <a:ext uri="{FF2B5EF4-FFF2-40B4-BE49-F238E27FC236}">
                <a16:creationId xmlns:a16="http://schemas.microsoft.com/office/drawing/2014/main" id="{0E18C5E0-932B-64BB-27C8-0FA868107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586984" y="907707"/>
            <a:ext cx="2589784" cy="233080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>
            <a:spLocks noGrp="1"/>
          </p:cNvSpPr>
          <p:nvPr>
            <p:ph type="title"/>
          </p:nvPr>
        </p:nvSpPr>
        <p:spPr>
          <a:xfrm>
            <a:off x="2385150" y="435437"/>
            <a:ext cx="4810448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b="1" dirty="0"/>
              <a:t>Resources &amp; Further Reading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80CB3-F1A8-6BBB-2FC8-E0B61E97C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6268" y="1347355"/>
            <a:ext cx="6028200" cy="1757400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GB" dirty="0" err="1"/>
              <a:t>Dask</a:t>
            </a:r>
            <a:r>
              <a:rPr lang="en-GB" dirty="0"/>
              <a:t> ML Docs</a:t>
            </a:r>
          </a:p>
          <a:p>
            <a:pPr marL="114300" indent="0">
              <a:buNone/>
            </a:pPr>
            <a:r>
              <a:rPr lang="en-GB" dirty="0">
                <a:hlinkClick r:id="rId3"/>
              </a:rPr>
              <a:t>cuML GitHub</a:t>
            </a:r>
            <a:endParaRPr lang="en-GB" dirty="0"/>
          </a:p>
          <a:p>
            <a:pPr marL="114300" indent="0">
              <a:buNone/>
            </a:pPr>
            <a:r>
              <a:rPr lang="en-GB" dirty="0">
                <a:hlinkClick r:id="rId4"/>
              </a:rPr>
              <a:t>Spark MLlib Guide</a:t>
            </a:r>
            <a:endParaRPr lang="en-GB" dirty="0"/>
          </a:p>
          <a:p>
            <a:pPr marL="114300" indent="0">
              <a:buNone/>
            </a:pPr>
            <a:r>
              <a:rPr lang="en-GB" dirty="0"/>
              <a:t>Efficient Data Loading with </a:t>
            </a:r>
            <a:r>
              <a:rPr lang="en-GB" dirty="0" err="1"/>
              <a:t>PyTorch</a:t>
            </a:r>
            <a:endParaRPr lang="en-GB" dirty="0"/>
          </a:p>
          <a:p>
            <a:pPr marL="114300" indent="0">
              <a:buNone/>
            </a:pPr>
            <a:br>
              <a:rPr lang="en-GB" dirty="0">
                <a:effectLst/>
              </a:rPr>
            </a:br>
            <a:r>
              <a:rPr lang="en-GB" dirty="0">
                <a:effectLst/>
              </a:rPr>
              <a:t>"Designing Machine Learning Systems" - Chip Huyen</a:t>
            </a:r>
          </a:p>
          <a:p>
            <a:pPr marL="114300" indent="0">
              <a:buNone/>
            </a:pPr>
            <a:r>
              <a:rPr lang="en-GB" dirty="0">
                <a:effectLst/>
              </a:rPr>
              <a:t>"Distributed Machine Learning Patterns" - Yuan Tang</a:t>
            </a:r>
          </a:p>
          <a:p>
            <a:pPr marL="114300" marR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2051</TotalTime>
  <Words>3065</Words>
  <Application>Microsoft Macintosh PowerPoint</Application>
  <PresentationFormat>On-screen Show (16:9)</PresentationFormat>
  <Paragraphs>426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IBM Plex Sans Arabic Medium</vt:lpstr>
      <vt:lpstr>Tajawal</vt:lpstr>
      <vt:lpstr>Inter</vt:lpstr>
      <vt:lpstr>Calibri</vt:lpstr>
      <vt:lpstr>IBM Plex Sans Arabic</vt:lpstr>
      <vt:lpstr>IBM Plex Sans Arabic SemiBold</vt:lpstr>
      <vt:lpstr>Wingdings</vt:lpstr>
      <vt:lpstr>Arial</vt:lpstr>
      <vt:lpstr>Simple Light</vt:lpstr>
      <vt:lpstr>أكـــــاديميــــة طــــويـــق</vt:lpstr>
      <vt:lpstr>Model Training on Large Datasets  </vt:lpstr>
      <vt:lpstr>PowerPoint Presentation</vt:lpstr>
      <vt:lpstr>Introduction to Large-Scale Model Training  </vt:lpstr>
      <vt:lpstr>Strategies for Efficient Training</vt:lpstr>
      <vt:lpstr>Strategies for Efficient Training</vt:lpstr>
      <vt:lpstr>Strategies for Efficient Training</vt:lpstr>
      <vt:lpstr>Strategies for Efficient Training</vt:lpstr>
      <vt:lpstr>Strategies for Efficient Training</vt:lpstr>
      <vt:lpstr>Strategies for Efficient Training</vt:lpstr>
      <vt:lpstr>Strategies for Efficient Training</vt:lpstr>
      <vt:lpstr>Strategies for Efficient Training</vt:lpstr>
      <vt:lpstr>Strategies for Efficient Training</vt:lpstr>
      <vt:lpstr>Strategies for Efficient Training</vt:lpstr>
      <vt:lpstr>Strategies for Efficient Training</vt:lpstr>
      <vt:lpstr>Strategies for Efficient Training</vt:lpstr>
      <vt:lpstr>Strategies for Efficient Training</vt:lpstr>
      <vt:lpstr>Strategies for Efficient Training</vt:lpstr>
      <vt:lpstr>Strategies for Efficient Training</vt:lpstr>
      <vt:lpstr>Strategies for Efficient Training</vt:lpstr>
      <vt:lpstr>Memory-Efficient Data Type</vt:lpstr>
      <vt:lpstr>Memory-Efficient Data Type</vt:lpstr>
      <vt:lpstr>Memory-Efficient Data Type</vt:lpstr>
      <vt:lpstr>Toolkits and Libraries Overview </vt:lpstr>
      <vt:lpstr>Tool-by-Tool Explanation:  </vt:lpstr>
      <vt:lpstr>Tool-by-Tool Explanation:  </vt:lpstr>
      <vt:lpstr>Case Studies &amp; Benchmarks   </vt:lpstr>
      <vt:lpstr>Challenges &amp; Future Trends   </vt:lpstr>
      <vt:lpstr>Summary </vt:lpstr>
      <vt:lpstr>Resources &amp; Further Reading</vt:lpstr>
      <vt:lpstr>الشراكات العالمية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Afshan Hashmi</cp:lastModifiedBy>
  <cp:revision>14</cp:revision>
  <dcterms:modified xsi:type="dcterms:W3CDTF">2025-04-04T21:40:29Z</dcterms:modified>
</cp:coreProperties>
</file>