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99" r:id="rId6"/>
    <p:sldId id="370" r:id="rId7"/>
    <p:sldId id="371" r:id="rId8"/>
    <p:sldId id="372" r:id="rId9"/>
    <p:sldId id="365" r:id="rId10"/>
    <p:sldId id="366" r:id="rId11"/>
    <p:sldId id="345" r:id="rId12"/>
    <p:sldId id="369" r:id="rId13"/>
    <p:sldId id="373" r:id="rId14"/>
    <p:sldId id="368" r:id="rId15"/>
    <p:sldId id="344" r:id="rId16"/>
    <p:sldId id="338" r:id="rId17"/>
    <p:sldId id="275" r:id="rId18"/>
    <p:sldId id="276" r:id="rId19"/>
  </p:sldIdLst>
  <p:sldSz cx="9144000" cy="5143500" type="screen16x9"/>
  <p:notesSz cx="6858000" cy="9144000"/>
  <p:embeddedFontLst>
    <p:embeddedFont>
      <p:font typeface="IBM Plex Sans Arabic" panose="020B0603050203000203" pitchFamily="34" charset="-78"/>
      <p:regular r:id="rId21"/>
      <p:bold r:id="rId22"/>
    </p:embeddedFont>
    <p:embeddedFont>
      <p:font typeface="IBM Plex Sans Arabic Medium" panose="020B0603050203000203" pitchFamily="34" charset="-78"/>
      <p:regular r:id="rId23"/>
      <p:bold r:id="rId24"/>
    </p:embeddedFont>
    <p:embeddedFont>
      <p:font typeface="IBM Plex Sans Arabic SemiBold" panose="020B0603050203000203" pitchFamily="34" charset="-78"/>
      <p:regular r:id="rId25"/>
      <p:bold r:id="rId26"/>
    </p:embeddedFont>
    <p:embeddedFont>
      <p:font typeface="Inter" panose="02000503000000020004"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
      <p:font typeface="Segoe UI" panose="020B0502040204020203" pitchFamily="34" charset="0"/>
      <p:regular r:id="rId35"/>
      <p:bold r:id="rId36"/>
      <p:italic r:id="rId37"/>
      <p:boldItalic r:id="rId38"/>
    </p:embeddedFont>
    <p:embeddedFont>
      <p:font typeface="Tajawal" pitchFamily="2" charset="-78"/>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1"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64"/>
    <p:restoredTop sz="94658"/>
  </p:normalViewPr>
  <p:slideViewPr>
    <p:cSldViewPr snapToGrid="0">
      <p:cViewPr varScale="1">
        <p:scale>
          <a:sx n="160" d="100"/>
          <a:sy n="160" d="100"/>
        </p:scale>
        <p:origin x="688" y="17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84"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82"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8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notesMaster" Target="notesMasters/notesMaster1.xml"/><Relationship Id="rId8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836A9D2-F727-48C1-2B4F-3D006CA3CEB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0F4FDA0-A74C-B2D6-FB9D-29FD884150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096E665B-753A-DACD-AB73-99EAA3F649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0846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F0B07E-B670-7B62-5316-79FC13C3B40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A1C9827-96B0-B867-4A63-290FECDF15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2E8203FD-8AD8-55B8-0CB2-FB53535B92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1873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1BAE20C-6488-61B3-710B-8194DB05691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82B198A-6A06-7FA6-FB71-83C8BD7A1F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A2546955-E4A2-20D7-7D6A-9CE60C00D8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9650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DD6322C-7614-2040-E5B0-BBD18F38E60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DB52E72-84AB-8EF9-ECA2-A9AA2B2B7C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3C4473B9-EE11-729A-E524-135853BA70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0639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AA4892D-FDCB-C8DD-4854-CCCF30115B9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6F1A1CB-F5CD-9E50-4669-680B1718DF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76FA8BB3-ABBF-1A1E-8196-95D6DC24AB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5223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433F9C9-7FF5-C23E-6ADE-FA88E8AD6BC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05A373C-41E6-9CED-AAC1-E18FE7508B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47026B5-618E-5D99-E5A4-78EB082094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519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85ADA9E-686C-D988-A15B-C5D0F6DFBC1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A58442D-5081-5964-1FEA-4BBAB35183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6D7F1E4-0173-4450-E654-EA0D583D08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797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558F54D-BCEC-964D-5D4C-357D9F39BF7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6F8510E-F8A7-4E6C-F6FA-CCC17C9412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2B4C5DAC-A7BD-0EF4-9C44-013AAC3C60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041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2B43359-7BB4-01D2-094F-D2E98C84F90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F72C505-2227-9EA3-6F62-2543239047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809BD970-146D-32AA-B13D-A4B6093656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630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8A9A87B-55D0-7F80-9BD0-DAEBCBF2969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4227E86-E3F1-54ED-591A-9BD24F763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E688B959-E019-7AAB-5A13-31F30B30C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2758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9C712CB-CEE5-82F6-1B54-6E3AF5BE8CE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C96FA2-3B48-222A-E3A5-B534A28A8D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718FFA20-2E22-3C83-C856-4578BCD90F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7162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EF3BB1E-A59C-157E-4C83-A6DD3E76AA0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0C82AF9-78EE-2F5B-88CA-2514B54DD4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A552CE50-2C76-0DEE-3FBF-8368D8C1EF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375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docs.aws.amazon.com/"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hyperlink" Target="https://learn.microsoft.com/en-us/azure/"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17.xml"/><Relationship Id="rId16"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Scalable Data Science</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057469"/>
            <a:ext cx="8520600" cy="1739706"/>
          </a:xfrm>
          <a:prstGeom prst="rect">
            <a:avLst/>
          </a:prstGeom>
          <a:noFill/>
          <a:ln>
            <a:noFill/>
          </a:ln>
        </p:spPr>
        <p:txBody>
          <a:bodyPr spcFirstLastPara="1" wrap="square" lIns="91425" tIns="91425" rIns="91425" bIns="91425" anchor="b" anchorCtr="0">
            <a:normAutofit fontScale="90000"/>
          </a:bodyPr>
          <a:lstStyle/>
          <a:p>
            <a:br>
              <a:rPr lang="en-US" sz="4000" dirty="0">
                <a:latin typeface="Calibri"/>
                <a:ea typeface="Calibri"/>
                <a:cs typeface="Calibri"/>
                <a:sym typeface="Calibri"/>
              </a:rPr>
            </a:br>
            <a:br>
              <a:rPr lang="en-US" sz="4000" dirty="0">
                <a:latin typeface="Calibri"/>
                <a:ea typeface="Calibri"/>
                <a:cs typeface="Calibri"/>
                <a:sym typeface="Calibri"/>
              </a:rPr>
            </a:br>
            <a:r>
              <a:rPr lang="en-GB" sz="3100" i="0" u="none" strike="noStrike" dirty="0">
                <a:solidFill>
                  <a:srgbClr val="7030A0"/>
                </a:solidFill>
                <a:effectLst/>
                <a:latin typeface="Inter" panose="02000503000000020004" pitchFamily="2" charset="0"/>
              </a:rPr>
              <a:t>Unit 5: Cloud Infrastructure &amp; Production Deployment</a:t>
            </a:r>
            <a:br>
              <a:rPr lang="en-GB" sz="3100" i="0" u="none" strike="noStrike" dirty="0">
                <a:solidFill>
                  <a:srgbClr val="7030A0"/>
                </a:solidFill>
                <a:effectLst/>
                <a:latin typeface="Inter" panose="02000503000000020004" pitchFamily="2" charset="0"/>
              </a:rPr>
            </a:br>
            <a:br>
              <a:rPr lang="en-US" sz="4000" dirty="0">
                <a:latin typeface="Calibri"/>
                <a:ea typeface="Calibri"/>
                <a:cs typeface="Calibri"/>
                <a:sym typeface="Calibri"/>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marR="0" lvl="0" indent="-342900" algn="ctr" rtl="0">
              <a:lnSpc>
                <a:spcPct val="100000"/>
              </a:lnSpc>
              <a:spcBef>
                <a:spcPts val="0"/>
              </a:spcBef>
              <a:spcAft>
                <a:spcPts val="0"/>
              </a:spcAft>
              <a:buClr>
                <a:srgbClr val="252526"/>
              </a:buClr>
              <a:buSzPts val="2500"/>
              <a:buFont typeface="Tajawal"/>
              <a:buNone/>
            </a:pPr>
            <a:r>
              <a:rPr lang="en-GB" sz="2800" i="0" u="none" strike="noStrike" dirty="0">
                <a:solidFill>
                  <a:srgbClr val="7030A0"/>
                </a:solidFill>
                <a:effectLst/>
                <a:latin typeface="Inter" panose="02000503000000020004" pitchFamily="2" charset="0"/>
              </a:rPr>
              <a:t>Introduction to Cloud Computing</a:t>
            </a: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55513" y="612177"/>
            <a:ext cx="6634716" cy="3975407"/>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marL="342900" marR="0" lvl="0" indent="-342900" algn="just" rtl="0">
              <a:lnSpc>
                <a:spcPct val="125000"/>
              </a:lnSpc>
              <a:spcBef>
                <a:spcPts val="1000"/>
              </a:spcBef>
              <a:spcAft>
                <a:spcPts val="0"/>
              </a:spcAft>
              <a:buFont typeface="Wingdings" pitchFamily="2" charset="2"/>
              <a:buChar char="Ø"/>
            </a:pPr>
            <a:endParaRPr lang="en-US" sz="1600" dirty="0"/>
          </a:p>
          <a:p>
            <a:pPr marL="457200" indent="-457200">
              <a:buFont typeface="+mj-lt"/>
              <a:buAutoNum type="arabicPeriod"/>
            </a:pPr>
            <a:r>
              <a:rPr lang="en-GB" sz="2000" dirty="0">
                <a:effectLst/>
              </a:rPr>
              <a:t>Define cloud computing and its key characteristics.</a:t>
            </a:r>
          </a:p>
          <a:p>
            <a:pPr marL="457200" indent="-457200">
              <a:buFont typeface="+mj-lt"/>
              <a:buAutoNum type="arabicPeriod"/>
            </a:pPr>
            <a:r>
              <a:rPr lang="en-GB" sz="2000" dirty="0">
                <a:effectLst/>
              </a:rPr>
              <a:t>Compare different cloud service models (IaaS, PaaS, SaaS).</a:t>
            </a:r>
          </a:p>
          <a:p>
            <a:pPr marL="457200" indent="-457200">
              <a:buFont typeface="+mj-lt"/>
              <a:buAutoNum type="arabicPeriod"/>
            </a:pPr>
            <a:r>
              <a:rPr lang="en-GB" sz="2000" dirty="0">
                <a:effectLst/>
              </a:rPr>
              <a:t>Explain the benefits and challenges of cloud computing.</a:t>
            </a:r>
          </a:p>
          <a:p>
            <a:pPr marL="457200" indent="-457200">
              <a:buFont typeface="+mj-lt"/>
              <a:buAutoNum type="arabicPeriod"/>
            </a:pPr>
            <a:r>
              <a:rPr lang="en-GB" sz="2000" dirty="0">
                <a:effectLst/>
              </a:rPr>
              <a:t>Identify major cloud providers (AWS, Azure, GCP) and their core services.</a:t>
            </a:r>
          </a:p>
          <a:p>
            <a:pPr marL="457200" indent="-457200">
              <a:buFont typeface="+mj-lt"/>
              <a:buAutoNum type="arabicPeriod"/>
            </a:pPr>
            <a:r>
              <a:rPr lang="en-GB" sz="2000" dirty="0">
                <a:effectLst/>
              </a:rPr>
              <a:t>Demonstrate setting up a basic cloud instance (e.g., AWS EC2, Google Compute Engine).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4"/>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Introduction to C</a:t>
            </a:r>
            <a:r>
              <a:rPr lang="en-GB" sz="2800" dirty="0"/>
              <a:t>loud Computing</a:t>
            </a:r>
            <a:r>
              <a:rPr lang="en-GB" sz="2800" b="1" dirty="0"/>
              <a:t> </a:t>
            </a:r>
            <a:br>
              <a:rPr lang="en-GB" sz="28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6A7B2FB-F1D0-B703-37E3-F7BCF16345E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C8339E2-582F-95EA-2F60-4D6D9E923ECD}"/>
              </a:ext>
            </a:extLst>
          </p:cNvPr>
          <p:cNvSpPr txBox="1"/>
          <p:nvPr/>
        </p:nvSpPr>
        <p:spPr>
          <a:xfrm>
            <a:off x="198781" y="713964"/>
            <a:ext cx="7601447" cy="4770537"/>
          </a:xfrm>
          <a:prstGeom prst="rect">
            <a:avLst/>
          </a:prstGeom>
          <a:noFill/>
        </p:spPr>
        <p:txBody>
          <a:bodyPr wrap="square">
            <a:spAutoFit/>
          </a:bodyPr>
          <a:lstStyle/>
          <a:p>
            <a:pPr>
              <a:buNone/>
            </a:pPr>
            <a:r>
              <a:rPr lang="en-GB" sz="1600" dirty="0"/>
              <a:t>Cloud computing is the delivery of computing services—such as servers, storage, databases, networking, software, analytics, and intelligence—over the Internet ("the cloud") to offer faster innovation, flexible resources, and economies of scale.</a:t>
            </a:r>
          </a:p>
          <a:p>
            <a:pPr>
              <a:buNone/>
            </a:pPr>
            <a:endParaRPr lang="en-GB" sz="1600" dirty="0"/>
          </a:p>
          <a:p>
            <a:pPr>
              <a:buNone/>
            </a:pPr>
            <a:r>
              <a:rPr lang="en-GB" sz="1600" b="1" dirty="0"/>
              <a:t>Key Characteristics:</a:t>
            </a:r>
          </a:p>
          <a:p>
            <a:pPr>
              <a:buFont typeface="+mj-lt"/>
              <a:buAutoNum type="arabicPeriod"/>
            </a:pPr>
            <a:r>
              <a:rPr lang="en-GB" sz="1600" b="1" dirty="0"/>
              <a:t>On-Demand Self-Service:</a:t>
            </a:r>
            <a:r>
              <a:rPr lang="en-GB" sz="1600" dirty="0"/>
              <a:t> Users can provision computing resources as needed without human intervention from the provider.</a:t>
            </a:r>
          </a:p>
          <a:p>
            <a:pPr>
              <a:buFont typeface="+mj-lt"/>
              <a:buAutoNum type="arabicPeriod"/>
            </a:pPr>
            <a:endParaRPr lang="en-GB" sz="1600" dirty="0"/>
          </a:p>
          <a:p>
            <a:pPr>
              <a:buFont typeface="+mj-lt"/>
              <a:buAutoNum type="arabicPeriod"/>
            </a:pPr>
            <a:r>
              <a:rPr lang="en-GB" sz="1600" b="1" dirty="0"/>
              <a:t>Broad Network Access:</a:t>
            </a:r>
            <a:r>
              <a:rPr lang="en-GB" sz="1600" dirty="0"/>
              <a:t> Available over the network and accessed through standard mechanisms (e.g., laptops, phones).</a:t>
            </a:r>
          </a:p>
          <a:p>
            <a:pPr>
              <a:buFont typeface="+mj-lt"/>
              <a:buAutoNum type="arabicPeriod"/>
            </a:pPr>
            <a:endParaRPr lang="en-GB" sz="1600" dirty="0"/>
          </a:p>
          <a:p>
            <a:pPr>
              <a:buFont typeface="+mj-lt"/>
              <a:buAutoNum type="arabicPeriod"/>
            </a:pPr>
            <a:r>
              <a:rPr lang="en-GB" sz="1600" b="1" dirty="0"/>
              <a:t>Resource Pooling:</a:t>
            </a:r>
            <a:r>
              <a:rPr lang="en-GB" sz="1600" dirty="0"/>
              <a:t> Multiple customers are served from the same physical resources, which are dynamically assigned.</a:t>
            </a:r>
          </a:p>
          <a:p>
            <a:pPr>
              <a:buFont typeface="+mj-lt"/>
              <a:buAutoNum type="arabicPeriod"/>
            </a:pPr>
            <a:endParaRPr lang="en-GB" sz="1600" dirty="0"/>
          </a:p>
          <a:p>
            <a:pPr>
              <a:buFont typeface="+mj-lt"/>
              <a:buAutoNum type="arabicPeriod"/>
            </a:pPr>
            <a:r>
              <a:rPr lang="en-GB" sz="1600" b="1" dirty="0"/>
              <a:t>Rapid Elasticity:</a:t>
            </a:r>
            <a:r>
              <a:rPr lang="en-GB" sz="1600" dirty="0"/>
              <a:t> Capabilities can scale up or down quickly.</a:t>
            </a:r>
          </a:p>
          <a:p>
            <a:pPr>
              <a:buFont typeface="+mj-lt"/>
              <a:buAutoNum type="arabicPeriod"/>
            </a:pPr>
            <a:endParaRPr lang="en-GB" sz="1600" dirty="0"/>
          </a:p>
          <a:p>
            <a:pPr>
              <a:buFont typeface="+mj-lt"/>
              <a:buAutoNum type="arabicPeriod"/>
            </a:pPr>
            <a:r>
              <a:rPr lang="en-GB" sz="1600" b="1" dirty="0"/>
              <a:t>Measured Service:</a:t>
            </a:r>
            <a:r>
              <a:rPr lang="en-GB" sz="1600" dirty="0"/>
              <a:t> Usage is monitored and billed based on consumption.</a:t>
            </a:r>
          </a:p>
          <a:p>
            <a:endParaRPr lang="en-GB" sz="1600" b="1" dirty="0"/>
          </a:p>
          <a:p>
            <a:pPr>
              <a:buNone/>
            </a:pPr>
            <a:endParaRPr lang="en-GB"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E854220-6F8F-AC6D-3846-86ABD12F9A6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E48F435-0CDD-2E7D-A42B-40550AA598A1}"/>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B703276-5F47-36B1-D8E7-D99D6E583E5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BF70E483-AF79-96DD-C71E-76F46692E127}"/>
              </a:ext>
            </a:extLst>
          </p:cNvPr>
          <p:cNvGraphicFramePr>
            <a:graphicFrameLocks noGrp="1"/>
          </p:cNvGraphicFramePr>
          <p:nvPr>
            <p:extLst>
              <p:ext uri="{D42A27DB-BD31-4B8C-83A1-F6EECF244321}">
                <p14:modId xmlns:p14="http://schemas.microsoft.com/office/powerpoint/2010/main" val="1653624501"/>
              </p:ext>
            </p:extLst>
          </p:nvPr>
        </p:nvGraphicFramePr>
        <p:xfrm>
          <a:off x="311149" y="1642110"/>
          <a:ext cx="8521701" cy="185928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2873101898"/>
                    </a:ext>
                  </a:extLst>
                </a:gridCol>
                <a:gridCol w="2840567">
                  <a:extLst>
                    <a:ext uri="{9D8B030D-6E8A-4147-A177-3AD203B41FA5}">
                      <a16:colId xmlns:a16="http://schemas.microsoft.com/office/drawing/2014/main" val="544640750"/>
                    </a:ext>
                  </a:extLst>
                </a:gridCol>
                <a:gridCol w="2840567">
                  <a:extLst>
                    <a:ext uri="{9D8B030D-6E8A-4147-A177-3AD203B41FA5}">
                      <a16:colId xmlns:a16="http://schemas.microsoft.com/office/drawing/2014/main" val="460537692"/>
                    </a:ext>
                  </a:extLst>
                </a:gridCol>
              </a:tblGrid>
              <a:tr h="304800">
                <a:tc>
                  <a:txBody>
                    <a:bodyPr/>
                    <a:lstStyle/>
                    <a:p>
                      <a:r>
                        <a:rPr lang="en-GB" sz="1400" b="1" dirty="0"/>
                        <a:t>Model</a:t>
                      </a:r>
                    </a:p>
                  </a:txBody>
                  <a:tcPr anchor="ctr"/>
                </a:tc>
                <a:tc>
                  <a:txBody>
                    <a:bodyPr/>
                    <a:lstStyle/>
                    <a:p>
                      <a:r>
                        <a:rPr lang="en-GB" sz="1400" b="1"/>
                        <a:t>Description</a:t>
                      </a:r>
                    </a:p>
                  </a:txBody>
                  <a:tcPr anchor="ctr"/>
                </a:tc>
                <a:tc>
                  <a:txBody>
                    <a:bodyPr/>
                    <a:lstStyle/>
                    <a:p>
                      <a:r>
                        <a:rPr lang="en-GB" sz="1400" b="1" dirty="0"/>
                        <a:t>Example</a:t>
                      </a:r>
                    </a:p>
                  </a:txBody>
                  <a:tcPr anchor="ctr"/>
                </a:tc>
                <a:extLst>
                  <a:ext uri="{0D108BD9-81ED-4DB2-BD59-A6C34878D82A}">
                    <a16:rowId xmlns:a16="http://schemas.microsoft.com/office/drawing/2014/main" val="3061051668"/>
                  </a:ext>
                </a:extLst>
              </a:tr>
              <a:tr h="518160">
                <a:tc>
                  <a:txBody>
                    <a:bodyPr/>
                    <a:lstStyle/>
                    <a:p>
                      <a:r>
                        <a:rPr lang="en-GB" sz="1400" b="1"/>
                        <a:t>IaaS</a:t>
                      </a:r>
                      <a:r>
                        <a:rPr lang="en-GB" sz="1400"/>
                        <a:t> (Infrastructure as a Service)</a:t>
                      </a:r>
                    </a:p>
                  </a:txBody>
                  <a:tcPr anchor="ctr"/>
                </a:tc>
                <a:tc>
                  <a:txBody>
                    <a:bodyPr/>
                    <a:lstStyle/>
                    <a:p>
                      <a:r>
                        <a:rPr lang="en-GB" sz="1400" dirty="0"/>
                        <a:t>Provides virtualized computing resources over the internet.</a:t>
                      </a:r>
                    </a:p>
                  </a:txBody>
                  <a:tcPr anchor="ctr"/>
                </a:tc>
                <a:tc>
                  <a:txBody>
                    <a:bodyPr/>
                    <a:lstStyle/>
                    <a:p>
                      <a:r>
                        <a:rPr lang="en-GB" sz="1400"/>
                        <a:t>AWS EC2, Google Compute Engine</a:t>
                      </a:r>
                    </a:p>
                  </a:txBody>
                  <a:tcPr anchor="ctr"/>
                </a:tc>
                <a:extLst>
                  <a:ext uri="{0D108BD9-81ED-4DB2-BD59-A6C34878D82A}">
                    <a16:rowId xmlns:a16="http://schemas.microsoft.com/office/drawing/2014/main" val="967686897"/>
                  </a:ext>
                </a:extLst>
              </a:tr>
              <a:tr h="518160">
                <a:tc>
                  <a:txBody>
                    <a:bodyPr/>
                    <a:lstStyle/>
                    <a:p>
                      <a:r>
                        <a:rPr lang="en-GB" sz="1400" b="1"/>
                        <a:t>PaaS</a:t>
                      </a:r>
                      <a:r>
                        <a:rPr lang="en-GB" sz="1400"/>
                        <a:t> (Platform as a Service)</a:t>
                      </a:r>
                    </a:p>
                  </a:txBody>
                  <a:tcPr anchor="ctr"/>
                </a:tc>
                <a:tc>
                  <a:txBody>
                    <a:bodyPr/>
                    <a:lstStyle/>
                    <a:p>
                      <a:r>
                        <a:rPr lang="en-GB" sz="1400"/>
                        <a:t>Offers hardware and software tools over the internet.</a:t>
                      </a:r>
                    </a:p>
                  </a:txBody>
                  <a:tcPr anchor="ctr"/>
                </a:tc>
                <a:tc>
                  <a:txBody>
                    <a:bodyPr/>
                    <a:lstStyle/>
                    <a:p>
                      <a:r>
                        <a:rPr lang="en-GB" sz="1400"/>
                        <a:t>Google App Engine, Heroku</a:t>
                      </a:r>
                    </a:p>
                  </a:txBody>
                  <a:tcPr anchor="ctr"/>
                </a:tc>
                <a:extLst>
                  <a:ext uri="{0D108BD9-81ED-4DB2-BD59-A6C34878D82A}">
                    <a16:rowId xmlns:a16="http://schemas.microsoft.com/office/drawing/2014/main" val="408542822"/>
                  </a:ext>
                </a:extLst>
              </a:tr>
              <a:tr h="518160">
                <a:tc>
                  <a:txBody>
                    <a:bodyPr/>
                    <a:lstStyle/>
                    <a:p>
                      <a:r>
                        <a:rPr lang="en-GB" sz="1400" b="1"/>
                        <a:t>SaaS</a:t>
                      </a:r>
                      <a:r>
                        <a:rPr lang="en-GB" sz="1400"/>
                        <a:t> (Software as a Service)</a:t>
                      </a:r>
                    </a:p>
                  </a:txBody>
                  <a:tcPr anchor="ctr"/>
                </a:tc>
                <a:tc>
                  <a:txBody>
                    <a:bodyPr/>
                    <a:lstStyle/>
                    <a:p>
                      <a:r>
                        <a:rPr lang="en-GB" sz="1400" dirty="0"/>
                        <a:t>Delivers software applications via a web browser.</a:t>
                      </a:r>
                    </a:p>
                  </a:txBody>
                  <a:tcPr anchor="ctr"/>
                </a:tc>
                <a:tc>
                  <a:txBody>
                    <a:bodyPr/>
                    <a:lstStyle/>
                    <a:p>
                      <a:r>
                        <a:rPr lang="en-GB" sz="1400" dirty="0"/>
                        <a:t>Google Workspace, Microsoft 365</a:t>
                      </a:r>
                    </a:p>
                  </a:txBody>
                  <a:tcPr anchor="ctr"/>
                </a:tc>
                <a:extLst>
                  <a:ext uri="{0D108BD9-81ED-4DB2-BD59-A6C34878D82A}">
                    <a16:rowId xmlns:a16="http://schemas.microsoft.com/office/drawing/2014/main" val="1581573268"/>
                  </a:ext>
                </a:extLst>
              </a:tr>
            </a:tbl>
          </a:graphicData>
        </a:graphic>
      </p:graphicFrame>
      <p:sp>
        <p:nvSpPr>
          <p:cNvPr id="3" name="Rectangle 1">
            <a:extLst>
              <a:ext uri="{FF2B5EF4-FFF2-40B4-BE49-F238E27FC236}">
                <a16:creationId xmlns:a16="http://schemas.microsoft.com/office/drawing/2014/main" id="{19330C74-57BD-9CA5-8966-B6A8D461B8E5}"/>
              </a:ext>
            </a:extLst>
          </p:cNvPr>
          <p:cNvSpPr>
            <a:spLocks noChangeArrowheads="1"/>
          </p:cNvSpPr>
          <p:nvPr/>
        </p:nvSpPr>
        <p:spPr bwMode="auto">
          <a:xfrm>
            <a:off x="311149" y="831405"/>
            <a:ext cx="293381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Cloud Service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41960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2EB1455-0A0D-5E7D-4201-69E5AF71CB2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012D518-CE63-9864-BE0E-5045B5C65D2C}"/>
              </a:ext>
            </a:extLst>
          </p:cNvPr>
          <p:cNvSpPr txBox="1">
            <a:spLocks noGrp="1"/>
          </p:cNvSpPr>
          <p:nvPr>
            <p:ph type="title"/>
          </p:nvPr>
        </p:nvSpPr>
        <p:spPr>
          <a:xfrm>
            <a:off x="0" y="149675"/>
            <a:ext cx="8386967" cy="627900"/>
          </a:xfrm>
          <a:prstGeom prst="rect">
            <a:avLst/>
          </a:prstGeom>
          <a:noFill/>
          <a:ln>
            <a:noFill/>
          </a:ln>
        </p:spPr>
        <p:txBody>
          <a:bodyPr spcFirstLastPara="1" wrap="square" lIns="91425" tIns="91425" rIns="91425" bIns="91425" anchor="t" anchorCtr="0">
            <a:normAutofit fontScale="90000"/>
          </a:bodyPr>
          <a:lstStyle/>
          <a:p>
            <a:r>
              <a:rPr lang="en-GB" sz="2800" b="1" dirty="0"/>
              <a:t>IaaS (Infrastructure as a Service)</a:t>
            </a:r>
            <a:br>
              <a:rPr lang="en-GB" sz="2800"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4F6DE76-3A81-EEAF-CD50-6A2AC2F21DD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1">
            <a:extLst>
              <a:ext uri="{FF2B5EF4-FFF2-40B4-BE49-F238E27FC236}">
                <a16:creationId xmlns:a16="http://schemas.microsoft.com/office/drawing/2014/main" id="{6D0326F1-318E-4314-47E2-D3AB7578B4CA}"/>
              </a:ext>
            </a:extLst>
          </p:cNvPr>
          <p:cNvSpPr>
            <a:spLocks noChangeArrowheads="1"/>
          </p:cNvSpPr>
          <p:nvPr/>
        </p:nvSpPr>
        <p:spPr bwMode="auto">
          <a:xfrm>
            <a:off x="56707" y="847851"/>
            <a:ext cx="909896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None/>
            </a:pPr>
            <a:r>
              <a:rPr lang="en-GB" sz="1600" dirty="0"/>
              <a:t>IaaS is one of the primary cloud computing service </a:t>
            </a:r>
            <a:r>
              <a:rPr lang="en-GB" sz="1600" dirty="0" err="1"/>
              <a:t>models.It</a:t>
            </a:r>
            <a:r>
              <a:rPr lang="en-GB" sz="1600" dirty="0"/>
              <a:t> provides virtualized computing </a:t>
            </a:r>
          </a:p>
          <a:p>
            <a:pPr>
              <a:buNone/>
            </a:pPr>
            <a:r>
              <a:rPr lang="en-GB" sz="1600" dirty="0"/>
              <a:t>resources over the internet, such as virtual machines (VMs), storage, and networking. With IaaS, </a:t>
            </a:r>
          </a:p>
          <a:p>
            <a:pPr>
              <a:buNone/>
            </a:pPr>
            <a:r>
              <a:rPr lang="en-GB" sz="1600" dirty="0"/>
              <a:t>users can rent infrastructure on demand instead of buying and maintaining physical servers.</a:t>
            </a:r>
          </a:p>
          <a:p>
            <a:pPr>
              <a:buNone/>
            </a:pPr>
            <a:r>
              <a:rPr lang="en-GB" sz="1600" b="1" dirty="0"/>
              <a:t>Key Features:</a:t>
            </a:r>
          </a:p>
          <a:p>
            <a:pPr marL="285750" indent="-285750">
              <a:buFont typeface="Wingdings" pitchFamily="2" charset="2"/>
              <a:buChar char="ü"/>
            </a:pPr>
            <a:r>
              <a:rPr lang="en-GB" sz="1600" dirty="0"/>
              <a:t>Users get complete control over the operating system and applications.</a:t>
            </a:r>
          </a:p>
          <a:p>
            <a:pPr marL="285750" indent="-285750">
              <a:buFont typeface="Wingdings" pitchFamily="2" charset="2"/>
              <a:buChar char="ü"/>
            </a:pPr>
            <a:r>
              <a:rPr lang="en-GB" sz="1600" dirty="0"/>
              <a:t>It is highly scalable and ideal for quickly growing businesses.</a:t>
            </a:r>
          </a:p>
          <a:p>
            <a:pPr marL="285750" indent="-285750">
              <a:buFont typeface="Wingdings" pitchFamily="2" charset="2"/>
              <a:buChar char="ü"/>
            </a:pPr>
            <a:r>
              <a:rPr lang="en-GB" sz="1600" dirty="0"/>
              <a:t>Pay-as-you-go pricing model—only pay for what you use.</a:t>
            </a:r>
          </a:p>
          <a:p>
            <a:pPr>
              <a:buNone/>
            </a:pPr>
            <a:r>
              <a:rPr lang="en-GB" sz="1600" b="1" dirty="0"/>
              <a:t>Examples:</a:t>
            </a:r>
          </a:p>
          <a:p>
            <a:pPr marL="285750" indent="-285750">
              <a:buFont typeface="Wingdings" pitchFamily="2" charset="2"/>
              <a:buChar char="Ø"/>
            </a:pPr>
            <a:r>
              <a:rPr lang="en-GB" sz="1600" b="1" dirty="0"/>
              <a:t>Amazon EC2 (Elastic Compute Cloud)</a:t>
            </a:r>
            <a:endParaRPr lang="en-GB" sz="1600" dirty="0"/>
          </a:p>
          <a:p>
            <a:pPr marL="285750" indent="-285750">
              <a:buFont typeface="Wingdings" pitchFamily="2" charset="2"/>
              <a:buChar char="Ø"/>
            </a:pPr>
            <a:r>
              <a:rPr lang="en-GB" sz="1600" b="1" dirty="0"/>
              <a:t>Google Compute Engine</a:t>
            </a:r>
            <a:endParaRPr lang="en-GB" sz="1600" dirty="0"/>
          </a:p>
          <a:p>
            <a:pPr marL="285750" indent="-285750">
              <a:buFont typeface="Wingdings" pitchFamily="2" charset="2"/>
              <a:buChar char="Ø"/>
            </a:pPr>
            <a:r>
              <a:rPr lang="en-GB" sz="1600" b="1" dirty="0"/>
              <a:t>Microsoft Azure Virtual Machines</a:t>
            </a:r>
            <a:endParaRPr lang="en-GB" sz="1600" dirty="0"/>
          </a:p>
          <a:p>
            <a:pPr>
              <a:buNone/>
            </a:pPr>
            <a:r>
              <a:rPr lang="en-GB" sz="1600" b="1" dirty="0"/>
              <a:t>Use Cases:</a:t>
            </a:r>
          </a:p>
          <a:p>
            <a:pPr>
              <a:buFont typeface="Arial" panose="020B0604020202020204" pitchFamily="34" charset="0"/>
              <a:buChar char="•"/>
            </a:pPr>
            <a:r>
              <a:rPr lang="en-GB" sz="1600" dirty="0"/>
              <a:t>Hosting websites and applications</a:t>
            </a:r>
          </a:p>
          <a:p>
            <a:pPr>
              <a:buFont typeface="Arial" panose="020B0604020202020204" pitchFamily="34" charset="0"/>
              <a:buChar char="•"/>
            </a:pPr>
            <a:r>
              <a:rPr lang="en-GB" sz="1600" dirty="0"/>
              <a:t>Test and development environments</a:t>
            </a:r>
          </a:p>
          <a:p>
            <a:pPr>
              <a:buFont typeface="Arial" panose="020B0604020202020204" pitchFamily="34" charset="0"/>
              <a:buChar char="•"/>
            </a:pPr>
            <a:r>
              <a:rPr lang="en-GB" sz="1600" dirty="0"/>
              <a:t>Data backup and recovery</a:t>
            </a:r>
          </a:p>
          <a:p>
            <a:pPr>
              <a:buFont typeface="Arial" panose="020B0604020202020204" pitchFamily="34" charset="0"/>
              <a:buChar char="•"/>
            </a:pPr>
            <a:r>
              <a:rPr lang="en-GB" sz="1600" dirty="0"/>
              <a:t>High-performance computing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4578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84017BA-2081-E126-1D7E-B9172ACD82E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9087069-3DBA-66D5-8387-104820CA156A}"/>
              </a:ext>
            </a:extLst>
          </p:cNvPr>
          <p:cNvSpPr txBox="1">
            <a:spLocks noGrp="1"/>
          </p:cNvSpPr>
          <p:nvPr>
            <p:ph type="title"/>
          </p:nvPr>
        </p:nvSpPr>
        <p:spPr>
          <a:xfrm>
            <a:off x="0" y="149675"/>
            <a:ext cx="8386967" cy="627900"/>
          </a:xfrm>
          <a:prstGeom prst="rect">
            <a:avLst/>
          </a:prstGeom>
          <a:noFill/>
          <a:ln>
            <a:noFill/>
          </a:ln>
        </p:spPr>
        <p:txBody>
          <a:bodyPr spcFirstLastPara="1" wrap="square" lIns="91425" tIns="91425" rIns="91425" bIns="91425" anchor="t" anchorCtr="0">
            <a:normAutofit fontScale="90000"/>
          </a:bodyPr>
          <a:lstStyle/>
          <a:p>
            <a:r>
              <a:rPr lang="en-GB" sz="2800" b="1" dirty="0"/>
              <a:t>PaaS (Platform as a Service)</a:t>
            </a:r>
            <a:br>
              <a:rPr lang="en-GB" sz="2800"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F071428-4D28-2AC1-B4C6-3C7AABDEE5E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1">
            <a:extLst>
              <a:ext uri="{FF2B5EF4-FFF2-40B4-BE49-F238E27FC236}">
                <a16:creationId xmlns:a16="http://schemas.microsoft.com/office/drawing/2014/main" id="{1F9494A8-B044-A4CF-948E-006D06F9FF08}"/>
              </a:ext>
            </a:extLst>
          </p:cNvPr>
          <p:cNvSpPr>
            <a:spLocks noChangeArrowheads="1"/>
          </p:cNvSpPr>
          <p:nvPr/>
        </p:nvSpPr>
        <p:spPr bwMode="auto">
          <a:xfrm>
            <a:off x="55659" y="777575"/>
            <a:ext cx="88259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b="1" dirty="0"/>
              <a:t>PaaS (Platform as a Service)</a:t>
            </a:r>
            <a:r>
              <a:rPr lang="en-GB" sz="1600" dirty="0"/>
              <a:t> is a category of cloud computing services that provides a platform allowing customers to develop, run, and manage applications without dealing with the complexity of building and maintaining the underlying infrastructure (like servers, storage, or networks).</a:t>
            </a:r>
          </a:p>
          <a:p>
            <a:pPr>
              <a:buNone/>
            </a:pPr>
            <a:r>
              <a:rPr lang="en-GB" sz="1600" b="1" dirty="0"/>
              <a:t>Key Features of PaaS:</a:t>
            </a:r>
          </a:p>
          <a:p>
            <a:pPr marL="285750" indent="-285750">
              <a:buFont typeface="Wingdings" pitchFamily="2" charset="2"/>
              <a:buChar char="ü"/>
            </a:pPr>
            <a:r>
              <a:rPr lang="en-GB" sz="1600" b="1" dirty="0"/>
              <a:t>Development Tools:</a:t>
            </a:r>
            <a:r>
              <a:rPr lang="en-GB" sz="1600" dirty="0"/>
              <a:t> Integrated development environments (IDEs), version control, and debugging tools.</a:t>
            </a:r>
          </a:p>
          <a:p>
            <a:pPr marL="285750" indent="-285750">
              <a:buFont typeface="Wingdings" pitchFamily="2" charset="2"/>
              <a:buChar char="ü"/>
            </a:pPr>
            <a:r>
              <a:rPr lang="en-GB" sz="1600" b="1" dirty="0"/>
              <a:t>Middleware:</a:t>
            </a:r>
            <a:r>
              <a:rPr lang="en-GB" sz="1600" dirty="0"/>
              <a:t> Pre-built components that enable communication between different parts of the application.</a:t>
            </a:r>
          </a:p>
          <a:p>
            <a:pPr marL="285750" indent="-285750">
              <a:buFont typeface="Wingdings" pitchFamily="2" charset="2"/>
              <a:buChar char="ü"/>
            </a:pPr>
            <a:r>
              <a:rPr lang="en-GB" sz="1600" b="1" dirty="0"/>
              <a:t>Database Management:</a:t>
            </a:r>
            <a:r>
              <a:rPr lang="en-GB" sz="1600" dirty="0"/>
              <a:t> Built-in database services for storage, queries, and analytics.</a:t>
            </a:r>
          </a:p>
          <a:p>
            <a:pPr marL="285750" indent="-285750">
              <a:buFont typeface="Wingdings" pitchFamily="2" charset="2"/>
              <a:buChar char="ü"/>
            </a:pPr>
            <a:r>
              <a:rPr lang="en-GB" sz="1600" b="1" dirty="0"/>
              <a:t>Scalability:</a:t>
            </a:r>
            <a:r>
              <a:rPr lang="en-GB" sz="1600" dirty="0"/>
              <a:t> Automatically scales applications based on demand.</a:t>
            </a:r>
          </a:p>
          <a:p>
            <a:pPr marL="285750" indent="-285750">
              <a:buFont typeface="Wingdings" pitchFamily="2" charset="2"/>
              <a:buChar char="ü"/>
            </a:pPr>
            <a:r>
              <a:rPr lang="en-GB" sz="1600" b="1" dirty="0"/>
              <a:t>Deployment Automation:</a:t>
            </a:r>
            <a:r>
              <a:rPr lang="en-GB" sz="1600" dirty="0"/>
              <a:t> Simplifies and speeds up app deployment and updates.</a:t>
            </a:r>
          </a:p>
          <a:p>
            <a:pPr>
              <a:buNone/>
            </a:pPr>
            <a:r>
              <a:rPr lang="en-GB" sz="1600" b="1" dirty="0"/>
              <a:t>Examples:</a:t>
            </a:r>
          </a:p>
          <a:p>
            <a:pPr marL="285750" indent="-285750">
              <a:buFont typeface="Wingdings" pitchFamily="2" charset="2"/>
              <a:buChar char="ü"/>
            </a:pPr>
            <a:r>
              <a:rPr lang="en-GB" sz="1600" b="1" dirty="0"/>
              <a:t>Google App Engine</a:t>
            </a:r>
            <a:r>
              <a:rPr lang="en-GB" sz="1600" dirty="0"/>
              <a:t> – Allows developers to build and host applications in Google-managed data </a:t>
            </a:r>
            <a:r>
              <a:rPr lang="en-GB" sz="1600" dirty="0" err="1"/>
              <a:t>centers</a:t>
            </a:r>
            <a:r>
              <a:rPr lang="en-GB" sz="1600" dirty="0"/>
              <a:t>.</a:t>
            </a:r>
          </a:p>
          <a:p>
            <a:pPr marL="285750" indent="-285750">
              <a:buFont typeface="Wingdings" pitchFamily="2" charset="2"/>
              <a:buChar char="ü"/>
            </a:pPr>
            <a:r>
              <a:rPr lang="en-GB" sz="1600" b="1" dirty="0"/>
              <a:t>Heroku</a:t>
            </a:r>
            <a:r>
              <a:rPr lang="en-GB" sz="1600" dirty="0"/>
              <a:t> – A platform that supports several programming languages and simplifies app deployment.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9870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6DB98C2-4A7F-CDE6-DBA6-D7497A3E92F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E0B49B9-AE8D-ADDE-A8C2-A9C53CCF4FAF}"/>
              </a:ext>
            </a:extLst>
          </p:cNvPr>
          <p:cNvSpPr txBox="1">
            <a:spLocks noGrp="1"/>
          </p:cNvSpPr>
          <p:nvPr>
            <p:ph type="title"/>
          </p:nvPr>
        </p:nvSpPr>
        <p:spPr>
          <a:xfrm>
            <a:off x="0" y="149675"/>
            <a:ext cx="8386967" cy="627900"/>
          </a:xfrm>
          <a:prstGeom prst="rect">
            <a:avLst/>
          </a:prstGeom>
          <a:noFill/>
          <a:ln>
            <a:noFill/>
          </a:ln>
        </p:spPr>
        <p:txBody>
          <a:bodyPr spcFirstLastPara="1" wrap="square" lIns="91425" tIns="91425" rIns="91425" bIns="91425" anchor="t" anchorCtr="0">
            <a:normAutofit fontScale="90000"/>
          </a:bodyPr>
          <a:lstStyle/>
          <a:p>
            <a:r>
              <a:rPr lang="en-GB" sz="2800" b="1" dirty="0"/>
              <a:t>SaaS (Software as a Service)</a:t>
            </a:r>
            <a:br>
              <a:rPr lang="en-GB" sz="2800"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ED007FD0-FCFD-F5FF-7E78-102A492B560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1">
            <a:extLst>
              <a:ext uri="{FF2B5EF4-FFF2-40B4-BE49-F238E27FC236}">
                <a16:creationId xmlns:a16="http://schemas.microsoft.com/office/drawing/2014/main" id="{33D324DF-DBFB-5857-D79A-61074847578B}"/>
              </a:ext>
            </a:extLst>
          </p:cNvPr>
          <p:cNvSpPr>
            <a:spLocks noChangeArrowheads="1"/>
          </p:cNvSpPr>
          <p:nvPr/>
        </p:nvSpPr>
        <p:spPr bwMode="auto">
          <a:xfrm>
            <a:off x="0" y="715731"/>
            <a:ext cx="8452237"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b="1" dirty="0"/>
              <a:t>SaaS (Software as a Service)</a:t>
            </a:r>
            <a:r>
              <a:rPr lang="en-GB" sz="1600" dirty="0"/>
              <a:t> is a cloud computing model in which software applications are delivered over the internet and accessed through a web browser, rather than being installed on individual devices. This means users don’t have to worry about infrastructure, platform management, or software updates everything is handled by the service provider.</a:t>
            </a:r>
          </a:p>
          <a:p>
            <a:pPr>
              <a:buNone/>
            </a:pPr>
            <a:endParaRPr lang="en-GB" sz="1600" dirty="0"/>
          </a:p>
          <a:p>
            <a:pPr>
              <a:buNone/>
            </a:pPr>
            <a:r>
              <a:rPr lang="en-GB" sz="1600" b="1" dirty="0"/>
              <a:t>Key Features of SaaS:</a:t>
            </a:r>
          </a:p>
          <a:p>
            <a:pPr marL="285750" indent="-285750">
              <a:buFont typeface="Wingdings" pitchFamily="2" charset="2"/>
              <a:buChar char="ü"/>
            </a:pPr>
            <a:r>
              <a:rPr lang="en-GB" sz="1600" b="1" dirty="0"/>
              <a:t>Accessible via browser:</a:t>
            </a:r>
            <a:r>
              <a:rPr lang="en-GB" sz="1600" dirty="0"/>
              <a:t> No installation needed; runs on any device with internet access.</a:t>
            </a:r>
          </a:p>
          <a:p>
            <a:pPr marL="285750" indent="-285750">
              <a:buFont typeface="Wingdings" pitchFamily="2" charset="2"/>
              <a:buChar char="ü"/>
            </a:pPr>
            <a:r>
              <a:rPr lang="en-GB" sz="1600" b="1" dirty="0"/>
              <a:t>Subscription-based:</a:t>
            </a:r>
            <a:r>
              <a:rPr lang="en-GB" sz="1600" dirty="0"/>
              <a:t> Typically paid monthly or annually.</a:t>
            </a:r>
          </a:p>
          <a:p>
            <a:pPr marL="285750" indent="-285750">
              <a:buFont typeface="Wingdings" pitchFamily="2" charset="2"/>
              <a:buChar char="ü"/>
            </a:pPr>
            <a:r>
              <a:rPr lang="en-GB" sz="1600" b="1" dirty="0"/>
              <a:t>Automatic updates:</a:t>
            </a:r>
            <a:r>
              <a:rPr lang="en-GB" sz="1600" dirty="0"/>
              <a:t> The provider manages upgrades and maintenance.</a:t>
            </a:r>
          </a:p>
          <a:p>
            <a:pPr marL="285750" indent="-285750">
              <a:buFont typeface="Wingdings" pitchFamily="2" charset="2"/>
              <a:buChar char="ü"/>
            </a:pPr>
            <a:r>
              <a:rPr lang="en-GB" sz="1600" b="1" dirty="0"/>
              <a:t>Scalable:</a:t>
            </a:r>
            <a:r>
              <a:rPr lang="en-GB" sz="1600" dirty="0"/>
              <a:t> Easily add or remove users as needed.</a:t>
            </a:r>
          </a:p>
          <a:p>
            <a:pPr marL="285750" indent="-285750">
              <a:buFont typeface="Wingdings" pitchFamily="2" charset="2"/>
              <a:buChar char="ü"/>
            </a:pPr>
            <a:endParaRPr lang="en-GB" sz="1600" dirty="0"/>
          </a:p>
          <a:p>
            <a:pPr>
              <a:buNone/>
            </a:pPr>
            <a:r>
              <a:rPr lang="en-GB" sz="1600" b="1" dirty="0"/>
              <a:t>Examples:</a:t>
            </a:r>
          </a:p>
          <a:p>
            <a:pPr marL="285750" indent="-285750">
              <a:buFont typeface="Wingdings" pitchFamily="2" charset="2"/>
              <a:buChar char="Ø"/>
            </a:pPr>
            <a:r>
              <a:rPr lang="en-GB" sz="1600" b="1" dirty="0"/>
              <a:t>Google Workspace:</a:t>
            </a:r>
            <a:r>
              <a:rPr lang="en-GB" sz="1600" dirty="0"/>
              <a:t> Gmail, Docs, Sheets, Drive—all available in-browser.</a:t>
            </a:r>
          </a:p>
          <a:p>
            <a:pPr marL="285750" indent="-285750">
              <a:buFont typeface="Wingdings" pitchFamily="2" charset="2"/>
              <a:buChar char="Ø"/>
            </a:pPr>
            <a:r>
              <a:rPr lang="en-GB" sz="1600" b="1" dirty="0"/>
              <a:t>Microsoft 365:</a:t>
            </a:r>
            <a:r>
              <a:rPr lang="en-GB" sz="1600" dirty="0"/>
              <a:t> Cloud versions of Word, Excel, PowerPoint.</a:t>
            </a:r>
          </a:p>
          <a:p>
            <a:pPr marL="285750" indent="-285750">
              <a:buFont typeface="Wingdings" pitchFamily="2" charset="2"/>
              <a:buChar char="Ø"/>
            </a:pPr>
            <a:r>
              <a:rPr lang="en-GB" sz="1600" b="1" dirty="0"/>
              <a:t>Salesforce:</a:t>
            </a:r>
            <a:r>
              <a:rPr lang="en-GB" sz="1600" dirty="0"/>
              <a:t> CRM software accessed over the web.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2697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9AA0507-43B5-2967-E42F-0A65A04F83D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B8A3305-7936-C5EB-A253-56A1FDE966B6}"/>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200" b="1" dirty="0"/>
              <a:t>Cloud Deployment Models</a:t>
            </a:r>
            <a:br>
              <a:rPr lang="en-GB" sz="22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AE248E5-3268-3AD3-B927-65883635265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1">
            <a:extLst>
              <a:ext uri="{FF2B5EF4-FFF2-40B4-BE49-F238E27FC236}">
                <a16:creationId xmlns:a16="http://schemas.microsoft.com/office/drawing/2014/main" id="{8771719B-3A79-29B1-412B-4B384C2523DF}"/>
              </a:ext>
            </a:extLst>
          </p:cNvPr>
          <p:cNvSpPr>
            <a:spLocks noChangeArrowheads="1"/>
          </p:cNvSpPr>
          <p:nvPr/>
        </p:nvSpPr>
        <p:spPr bwMode="auto">
          <a:xfrm>
            <a:off x="248149" y="400014"/>
            <a:ext cx="371160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dirty="0"/>
              <a:t>These define </a:t>
            </a:r>
            <a:r>
              <a:rPr lang="en-GB" sz="1600" b="1" dirty="0"/>
              <a:t>how cloud services are made available</a:t>
            </a:r>
            <a:r>
              <a:rPr lang="en-GB" sz="1600" dirty="0"/>
              <a:t> to users. There are three main types:</a:t>
            </a:r>
          </a:p>
          <a:p>
            <a:pPr>
              <a:buNone/>
            </a:pPr>
            <a:r>
              <a:rPr lang="en-GB" sz="1600" b="1" dirty="0"/>
              <a:t> 1. Public Cloud</a:t>
            </a:r>
          </a:p>
          <a:p>
            <a:pPr marL="285750" indent="-285750">
              <a:buFont typeface="Wingdings" pitchFamily="2" charset="2"/>
              <a:buChar char="Ø"/>
            </a:pPr>
            <a:r>
              <a:rPr lang="en-GB" sz="1600" dirty="0"/>
              <a:t>Services are </a:t>
            </a:r>
            <a:r>
              <a:rPr lang="en-GB" sz="1600" b="1" dirty="0"/>
              <a:t>provided over the public internet</a:t>
            </a:r>
            <a:r>
              <a:rPr lang="en-GB" sz="1600" dirty="0"/>
              <a:t>.</a:t>
            </a:r>
          </a:p>
          <a:p>
            <a:pPr marL="285750" indent="-285750">
              <a:buFont typeface="Wingdings" pitchFamily="2" charset="2"/>
              <a:buChar char="Ø"/>
            </a:pPr>
            <a:r>
              <a:rPr lang="en-GB" sz="1600" b="1" dirty="0"/>
              <a:t>Anyone</a:t>
            </a:r>
            <a:r>
              <a:rPr lang="en-GB" sz="1600" dirty="0"/>
              <a:t> can use them—individuals or organizations.</a:t>
            </a:r>
          </a:p>
          <a:p>
            <a:pPr marL="285750" indent="-285750">
              <a:buFont typeface="Wingdings" pitchFamily="2" charset="2"/>
              <a:buChar char="Ø"/>
            </a:pPr>
            <a:r>
              <a:rPr lang="en-GB" sz="1600" dirty="0"/>
              <a:t>Managed by third-party providers like:</a:t>
            </a:r>
          </a:p>
          <a:p>
            <a:pPr marL="742950" lvl="1" indent="-285750">
              <a:buFont typeface="Wingdings" pitchFamily="2" charset="2"/>
              <a:buChar char="Ø"/>
            </a:pPr>
            <a:r>
              <a:rPr lang="en-GB" sz="1600" b="1" dirty="0"/>
              <a:t>Amazon Web Services (AWS)</a:t>
            </a:r>
            <a:endParaRPr lang="en-GB" sz="1600" dirty="0"/>
          </a:p>
          <a:p>
            <a:pPr marL="742950" lvl="1" indent="-285750">
              <a:buFont typeface="Wingdings" pitchFamily="2" charset="2"/>
              <a:buChar char="Ø"/>
            </a:pPr>
            <a:r>
              <a:rPr lang="en-GB" sz="1600" b="1" dirty="0"/>
              <a:t>Microsoft Azure</a:t>
            </a:r>
            <a:endParaRPr lang="en-GB" sz="1600" dirty="0"/>
          </a:p>
          <a:p>
            <a:pPr marL="742950" lvl="1" indent="-285750">
              <a:buFont typeface="Wingdings" pitchFamily="2" charset="2"/>
              <a:buChar char="Ø"/>
            </a:pPr>
            <a:r>
              <a:rPr lang="en-GB" sz="1600" b="1" dirty="0"/>
              <a:t>Google Cloud Platform (GCP)</a:t>
            </a:r>
            <a:endParaRPr lang="en-GB" sz="1600" dirty="0"/>
          </a:p>
          <a:p>
            <a:r>
              <a:rPr lang="en-GB" sz="1600" b="1" dirty="0"/>
              <a:t>Example:</a:t>
            </a:r>
            <a:r>
              <a:rPr lang="en-GB" sz="1600" dirty="0"/>
              <a:t> Hosting a website on AWS that anyone can visit.</a:t>
            </a:r>
          </a:p>
          <a:p>
            <a:pPr>
              <a:buNone/>
            </a:pPr>
            <a:r>
              <a:rPr lang="en-GB" sz="1600"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2B078A6-8878-551D-040D-3B565E74118C}"/>
              </a:ext>
            </a:extLst>
          </p:cNvPr>
          <p:cNvPicPr>
            <a:picLocks noChangeAspect="1"/>
          </p:cNvPicPr>
          <p:nvPr/>
        </p:nvPicPr>
        <p:blipFill>
          <a:blip r:embed="rId3"/>
          <a:stretch>
            <a:fillRect/>
          </a:stretch>
        </p:blipFill>
        <p:spPr>
          <a:xfrm>
            <a:off x="3731761" y="1281139"/>
            <a:ext cx="5412239" cy="3776297"/>
          </a:xfrm>
          <a:prstGeom prst="rect">
            <a:avLst/>
          </a:prstGeom>
        </p:spPr>
      </p:pic>
    </p:spTree>
    <p:extLst>
      <p:ext uri="{BB962C8B-B14F-4D97-AF65-F5344CB8AC3E}">
        <p14:creationId xmlns:p14="http://schemas.microsoft.com/office/powerpoint/2010/main" val="2708513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53BD2DD-4289-3D91-512E-5362B784220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508C677-B964-FDCE-ADFD-01FA20D22C9B}"/>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200" b="1" dirty="0"/>
              <a:t>Cloud Deployment Models</a:t>
            </a:r>
            <a:br>
              <a:rPr lang="en-GB" sz="22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40A13FC-62BE-5551-0E9F-979E83ABD5F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1">
            <a:extLst>
              <a:ext uri="{FF2B5EF4-FFF2-40B4-BE49-F238E27FC236}">
                <a16:creationId xmlns:a16="http://schemas.microsoft.com/office/drawing/2014/main" id="{B2DAA3E6-7F51-D83B-900F-83D4DE875D39}"/>
              </a:ext>
            </a:extLst>
          </p:cNvPr>
          <p:cNvSpPr>
            <a:spLocks noChangeArrowheads="1"/>
          </p:cNvSpPr>
          <p:nvPr/>
        </p:nvSpPr>
        <p:spPr bwMode="auto">
          <a:xfrm>
            <a:off x="478738" y="513732"/>
            <a:ext cx="72346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b="1" dirty="0"/>
              <a:t>2. Private Cloud</a:t>
            </a:r>
          </a:p>
          <a:p>
            <a:pPr marL="285750" indent="-285750">
              <a:buFont typeface="Wingdings" pitchFamily="2" charset="2"/>
              <a:buChar char="Ø"/>
            </a:pPr>
            <a:r>
              <a:rPr lang="en-GB" sz="1600" dirty="0"/>
              <a:t>Used by a single organization only.</a:t>
            </a:r>
          </a:p>
          <a:p>
            <a:pPr marL="285750" indent="-285750">
              <a:buFont typeface="Wingdings" pitchFamily="2" charset="2"/>
              <a:buChar char="Ø"/>
            </a:pPr>
            <a:r>
              <a:rPr lang="en-GB" sz="1600" dirty="0"/>
              <a:t>Can be hosted on-premises or by a third party.</a:t>
            </a:r>
          </a:p>
          <a:p>
            <a:pPr marL="285750" indent="-285750">
              <a:buFont typeface="Wingdings" pitchFamily="2" charset="2"/>
              <a:buChar char="Ø"/>
            </a:pPr>
            <a:r>
              <a:rPr lang="en-GB" sz="1600" dirty="0"/>
              <a:t>Offers greater control and security.</a:t>
            </a:r>
          </a:p>
          <a:p>
            <a:pPr marL="285750" indent="-285750">
              <a:buFont typeface="Wingdings" pitchFamily="2" charset="2"/>
              <a:buChar char="Ø"/>
            </a:pPr>
            <a:r>
              <a:rPr lang="en-GB" sz="1600" dirty="0"/>
              <a:t>Best for organizations with strict regulatory or data privacy needs.</a:t>
            </a:r>
          </a:p>
          <a:p>
            <a:pPr marL="285750" indent="-285750">
              <a:buFont typeface="Wingdings" pitchFamily="2" charset="2"/>
              <a:buChar char="Ø"/>
            </a:pPr>
            <a:r>
              <a:rPr lang="en-GB" sz="1600" b="1" dirty="0"/>
              <a:t>Example:</a:t>
            </a:r>
            <a:r>
              <a:rPr lang="en-GB" sz="1600" dirty="0"/>
              <a:t> A bank using a private cloud to store customer data securely</a:t>
            </a:r>
          </a:p>
          <a:p>
            <a:endParaRPr lang="en-GB" sz="1600" b="1" dirty="0"/>
          </a:p>
          <a:p>
            <a:r>
              <a:rPr lang="en-GB" sz="1600" b="1" dirty="0"/>
              <a:t>3.Hybrid Cloud</a:t>
            </a:r>
          </a:p>
          <a:p>
            <a:r>
              <a:rPr lang="en-GB" sz="1600" dirty="0"/>
              <a:t>Combination of public and private clouds.</a:t>
            </a:r>
          </a:p>
          <a:p>
            <a:pPr marL="285750" indent="-285750">
              <a:buFont typeface="Wingdings" pitchFamily="2" charset="2"/>
              <a:buChar char="Ø"/>
            </a:pPr>
            <a:r>
              <a:rPr lang="en-GB" sz="1600" dirty="0"/>
              <a:t>Allows data and applications to move between the two environments.</a:t>
            </a:r>
          </a:p>
          <a:p>
            <a:pPr marL="285750" indent="-285750">
              <a:buFont typeface="Wingdings" pitchFamily="2" charset="2"/>
              <a:buChar char="Ø"/>
            </a:pPr>
            <a:r>
              <a:rPr lang="en-GB" sz="1600" dirty="0"/>
              <a:t>Offers flexibility:</a:t>
            </a:r>
          </a:p>
          <a:p>
            <a:pPr marL="742950" lvl="1" indent="-285750">
              <a:buFont typeface="Wingdings" pitchFamily="2" charset="2"/>
              <a:buChar char="Ø"/>
            </a:pPr>
            <a:r>
              <a:rPr lang="en-GB" sz="1600" dirty="0"/>
              <a:t>Keep sensitive data in the private cloud</a:t>
            </a:r>
          </a:p>
          <a:p>
            <a:pPr marL="742950" lvl="1" indent="-285750">
              <a:buFont typeface="Wingdings" pitchFamily="2" charset="2"/>
              <a:buChar char="Ø"/>
            </a:pPr>
            <a:r>
              <a:rPr lang="en-GB" sz="1600" dirty="0"/>
              <a:t>Use the public cloud for less sensitive tasks or to handle peak loads</a:t>
            </a:r>
          </a:p>
          <a:p>
            <a:r>
              <a:rPr lang="en-GB" sz="1600" b="1" dirty="0"/>
              <a:t>Example:</a:t>
            </a:r>
            <a:r>
              <a:rPr lang="en-GB" sz="1600" dirty="0"/>
              <a:t> A company runs payroll apps in a private cloud but uses public cloud resources to process reports during tax season.</a:t>
            </a:r>
          </a:p>
          <a:p>
            <a:r>
              <a:rPr lang="en-GB" sz="1600"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0831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A2BBBF0-169E-C4DD-51FE-423E355496F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E88CD6D-7BF9-D693-6850-ED5C759C29A7}"/>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800" b="1" dirty="0"/>
              <a:t>Benefits of Cloud Computing</a:t>
            </a:r>
            <a:br>
              <a:rPr lang="en-GB" sz="2800" b="1" dirty="0"/>
            </a:br>
            <a:br>
              <a:rPr lang="en-GB" sz="27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2A7293A-5277-BF4D-89C0-9C6AB104CC7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6EEE4A0-FE31-9AF0-B21A-DEC48DC91F18}"/>
              </a:ext>
            </a:extLst>
          </p:cNvPr>
          <p:cNvSpPr txBox="1"/>
          <p:nvPr/>
        </p:nvSpPr>
        <p:spPr>
          <a:xfrm>
            <a:off x="407176" y="562889"/>
            <a:ext cx="7569371" cy="5262979"/>
          </a:xfrm>
          <a:prstGeom prst="rect">
            <a:avLst/>
          </a:prstGeom>
          <a:noFill/>
        </p:spPr>
        <p:txBody>
          <a:bodyPr wrap="square">
            <a:spAutoFit/>
          </a:bodyPr>
          <a:lstStyle/>
          <a:p>
            <a:pPr>
              <a:buFont typeface="+mj-lt"/>
              <a:buAutoNum type="arabicPeriod"/>
            </a:pPr>
            <a:r>
              <a:rPr lang="en-GB" sz="1600" b="1" dirty="0"/>
              <a:t>Cost Efficiency</a:t>
            </a:r>
            <a:r>
              <a:rPr lang="en-GB" sz="1600" dirty="0"/>
              <a:t> – Cloud computing reduces the capital expense of buying hardware and software. You pay only for the services you use (pay-as-you-go), making it economical, especially for startups and small businesses.</a:t>
            </a:r>
          </a:p>
          <a:p>
            <a:pPr>
              <a:buFont typeface="+mj-lt"/>
              <a:buAutoNum type="arabicPeriod"/>
            </a:pPr>
            <a:endParaRPr lang="en-GB" sz="1600" dirty="0"/>
          </a:p>
          <a:p>
            <a:pPr>
              <a:buFont typeface="+mj-lt"/>
              <a:buAutoNum type="arabicPeriod"/>
            </a:pPr>
            <a:r>
              <a:rPr lang="en-GB" sz="1600" b="1" dirty="0"/>
              <a:t>Scalability</a:t>
            </a:r>
            <a:r>
              <a:rPr lang="en-GB" sz="1600" dirty="0"/>
              <a:t> – It allows businesses to scale resources up or down as needed. Whether you're running a small website or a large e-commerce platform, cloud services adjust to your demands instantly.</a:t>
            </a:r>
          </a:p>
          <a:p>
            <a:pPr>
              <a:buFont typeface="+mj-lt"/>
              <a:buAutoNum type="arabicPeriod"/>
            </a:pPr>
            <a:endParaRPr lang="en-GB" sz="1600" dirty="0"/>
          </a:p>
          <a:p>
            <a:pPr>
              <a:buFont typeface="+mj-lt"/>
              <a:buAutoNum type="arabicPeriod"/>
            </a:pPr>
            <a:r>
              <a:rPr lang="en-GB" sz="1600" b="1" dirty="0"/>
              <a:t>Flexibility and Mobility</a:t>
            </a:r>
            <a:r>
              <a:rPr lang="en-GB" sz="1600" dirty="0"/>
              <a:t> – Users can access data and applications from anywhere with internet access. This supports remote work, real-time collaboration, and increased productivity.</a:t>
            </a:r>
          </a:p>
          <a:p>
            <a:pPr>
              <a:buFont typeface="+mj-lt"/>
              <a:buAutoNum type="arabicPeriod"/>
            </a:pPr>
            <a:endParaRPr lang="en-GB" sz="1600" dirty="0"/>
          </a:p>
          <a:p>
            <a:pPr>
              <a:buFont typeface="+mj-lt"/>
              <a:buAutoNum type="arabicPeriod"/>
            </a:pPr>
            <a:r>
              <a:rPr lang="en-GB" sz="1600" b="1" dirty="0"/>
              <a:t>Disaster Recovery</a:t>
            </a:r>
            <a:r>
              <a:rPr lang="en-GB" sz="1600" dirty="0"/>
              <a:t> – Cloud providers typically offer built-in backup and disaster recovery solutions, reducing downtime and data loss in case of unexpected failures.</a:t>
            </a:r>
          </a:p>
          <a:p>
            <a:pPr>
              <a:buFont typeface="+mj-lt"/>
              <a:buAutoNum type="arabicPeriod"/>
            </a:pPr>
            <a:r>
              <a:rPr lang="en-GB" sz="1600" b="1" dirty="0"/>
              <a:t>Security and Compliance Options</a:t>
            </a:r>
            <a:r>
              <a:rPr lang="en-GB" sz="1600" dirty="0"/>
              <a:t> – Most cloud platforms offer robust security features such as encryption, identity access management, and compliance certifications (e.g., HIPAA, GDPR).</a:t>
            </a:r>
          </a:p>
          <a:p>
            <a:pPr>
              <a:buNone/>
            </a:pPr>
            <a:br>
              <a:rPr lang="en-GB" sz="1600" dirty="0">
                <a:effectLst/>
              </a:rPr>
            </a:br>
            <a:r>
              <a:rPr lang="en-GB" sz="1600" dirty="0"/>
              <a:t>.</a:t>
            </a:r>
          </a:p>
          <a:p>
            <a:pPr>
              <a:buFont typeface="Arial" panose="020B0604020202020204" pitchFamily="34" charset="0"/>
              <a:buChar char="•"/>
            </a:pPr>
            <a:endParaRPr lang="en-GB" sz="1600" dirty="0"/>
          </a:p>
        </p:txBody>
      </p:sp>
    </p:spTree>
    <p:extLst>
      <p:ext uri="{BB962C8B-B14F-4D97-AF65-F5344CB8AC3E}">
        <p14:creationId xmlns:p14="http://schemas.microsoft.com/office/powerpoint/2010/main" val="3020513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D21590D-C231-B9B6-71DF-81B9E4B5260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6736E24-992B-7CC4-4587-73DBBD03DCD5}"/>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800" b="1" dirty="0"/>
              <a:t>Why Use Cloud Computing?</a:t>
            </a:r>
            <a:br>
              <a:rPr lang="en-GB" sz="2800" b="1" dirty="0"/>
            </a:br>
            <a:br>
              <a:rPr lang="en-GB" sz="2800" b="1" dirty="0"/>
            </a:br>
            <a:br>
              <a:rPr lang="en-GB" sz="27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3965476-DCFC-E5A6-57E8-40EA819B0D2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B90C2826-2E7B-15D9-F3D3-FFD57332886C}"/>
              </a:ext>
            </a:extLst>
          </p:cNvPr>
          <p:cNvSpPr txBox="1"/>
          <p:nvPr/>
        </p:nvSpPr>
        <p:spPr>
          <a:xfrm>
            <a:off x="407176" y="562889"/>
            <a:ext cx="7569371" cy="4978286"/>
          </a:xfrm>
          <a:prstGeom prst="rect">
            <a:avLst/>
          </a:prstGeom>
          <a:noFill/>
        </p:spPr>
        <p:txBody>
          <a:bodyPr wrap="square">
            <a:spAutoFit/>
          </a:bodyPr>
          <a:lstStyle/>
          <a:p>
            <a:pPr algn="l">
              <a:buNone/>
            </a:pPr>
            <a:r>
              <a:rPr lang="en-GB" sz="2000" b="1" i="0" u="none" strike="noStrike" dirty="0">
                <a:solidFill>
                  <a:srgbClr val="404040"/>
                </a:solidFill>
                <a:effectLst/>
                <a:latin typeface="+mn-lt"/>
              </a:rPr>
              <a:t>Benefits</a:t>
            </a:r>
            <a:r>
              <a:rPr lang="en-GB" sz="2000" b="0" i="0" u="none" strike="noStrike" dirty="0">
                <a:solidFill>
                  <a:srgbClr val="404040"/>
                </a:solidFill>
                <a:effectLst/>
                <a:latin typeface="+mn-lt"/>
              </a:rPr>
              <a:t>:</a:t>
            </a:r>
          </a:p>
          <a:p>
            <a:pPr marL="342900" indent="-342900" algn="l">
              <a:buFont typeface="Wingdings" pitchFamily="2" charset="2"/>
              <a:buChar char="ü"/>
            </a:pPr>
            <a:r>
              <a:rPr lang="en-GB" sz="1600" b="1" i="0" u="none" strike="noStrike" dirty="0">
                <a:solidFill>
                  <a:srgbClr val="404040"/>
                </a:solidFill>
                <a:effectLst/>
                <a:latin typeface="+mn-lt"/>
              </a:rPr>
              <a:t>Cost Efficiency</a:t>
            </a:r>
            <a:r>
              <a:rPr lang="en-GB" sz="1600" b="0" i="0" u="none" strike="noStrike" dirty="0">
                <a:solidFill>
                  <a:srgbClr val="404040"/>
                </a:solidFill>
                <a:effectLst/>
                <a:latin typeface="+mn-lt"/>
              </a:rPr>
              <a:t>: No upfront hardware costs.</a:t>
            </a:r>
          </a:p>
          <a:p>
            <a:pPr marL="342900" indent="-342900" algn="l">
              <a:spcBef>
                <a:spcPts val="300"/>
              </a:spcBef>
              <a:buFont typeface="Wingdings" pitchFamily="2" charset="2"/>
              <a:buChar char="ü"/>
            </a:pPr>
            <a:r>
              <a:rPr lang="en-GB" sz="1600" b="1" i="0" u="none" strike="noStrike" dirty="0">
                <a:solidFill>
                  <a:srgbClr val="404040"/>
                </a:solidFill>
                <a:effectLst/>
                <a:latin typeface="+mn-lt"/>
              </a:rPr>
              <a:t>Scalability</a:t>
            </a:r>
            <a:r>
              <a:rPr lang="en-GB" sz="1600" b="0" i="0" u="none" strike="noStrike" dirty="0">
                <a:solidFill>
                  <a:srgbClr val="404040"/>
                </a:solidFill>
                <a:effectLst/>
                <a:latin typeface="+mn-lt"/>
              </a:rPr>
              <a:t>: Instantly handle traffic spikes (e.g., Black Friday sales).</a:t>
            </a:r>
          </a:p>
          <a:p>
            <a:pPr marL="342900" indent="-342900" algn="l">
              <a:spcBef>
                <a:spcPts val="300"/>
              </a:spcBef>
              <a:buFont typeface="Wingdings" pitchFamily="2" charset="2"/>
              <a:buChar char="ü"/>
            </a:pPr>
            <a:r>
              <a:rPr lang="en-GB" sz="1600" b="1" i="0" u="none" strike="noStrike" dirty="0">
                <a:solidFill>
                  <a:srgbClr val="404040"/>
                </a:solidFill>
                <a:effectLst/>
                <a:latin typeface="+mn-lt"/>
              </a:rPr>
              <a:t>Reliability</a:t>
            </a:r>
            <a:r>
              <a:rPr lang="en-GB" sz="1600" b="0" i="0" u="none" strike="noStrike" dirty="0">
                <a:solidFill>
                  <a:srgbClr val="404040"/>
                </a:solidFill>
                <a:effectLst/>
                <a:latin typeface="+mn-lt"/>
              </a:rPr>
              <a:t>: 99.9% uptime SLAs.</a:t>
            </a:r>
          </a:p>
          <a:p>
            <a:pPr marL="342900" indent="-342900" algn="l">
              <a:spcBef>
                <a:spcPts val="300"/>
              </a:spcBef>
              <a:buFont typeface="Wingdings" pitchFamily="2" charset="2"/>
              <a:buChar char="ü"/>
            </a:pPr>
            <a:r>
              <a:rPr lang="en-GB" sz="1600" b="1" i="0" u="none" strike="noStrike" dirty="0">
                <a:solidFill>
                  <a:srgbClr val="404040"/>
                </a:solidFill>
                <a:effectLst/>
                <a:latin typeface="+mn-lt"/>
              </a:rPr>
              <a:t>Global Reach</a:t>
            </a:r>
            <a:r>
              <a:rPr lang="en-GB" sz="1600" b="0" i="0" u="none" strike="noStrike" dirty="0">
                <a:solidFill>
                  <a:srgbClr val="404040"/>
                </a:solidFill>
                <a:effectLst/>
                <a:latin typeface="+mn-lt"/>
              </a:rPr>
              <a:t>: Deploy in multiple regions (e.g., AWS’s 25+ geographic regions).</a:t>
            </a:r>
          </a:p>
          <a:p>
            <a:pPr algn="l">
              <a:spcBef>
                <a:spcPts val="300"/>
              </a:spcBef>
            </a:pPr>
            <a:endParaRPr lang="en-GB" sz="1600" b="0" i="0" u="none" strike="noStrike" dirty="0">
              <a:solidFill>
                <a:srgbClr val="404040"/>
              </a:solidFill>
              <a:effectLst/>
              <a:latin typeface="+mn-lt"/>
            </a:endParaRPr>
          </a:p>
          <a:p>
            <a:pPr algn="l">
              <a:buNone/>
            </a:pPr>
            <a:r>
              <a:rPr lang="en-GB" sz="2000" b="1" i="0" u="none" strike="noStrike" dirty="0">
                <a:solidFill>
                  <a:srgbClr val="404040"/>
                </a:solidFill>
                <a:effectLst/>
                <a:latin typeface="+mn-lt"/>
              </a:rPr>
              <a:t>Challenges</a:t>
            </a:r>
            <a:r>
              <a:rPr lang="en-GB" sz="2000" b="0" i="0" u="none" strike="noStrike" dirty="0">
                <a:solidFill>
                  <a:srgbClr val="404040"/>
                </a:solidFill>
                <a:effectLst/>
                <a:latin typeface="+mn-lt"/>
              </a:rPr>
              <a:t>:</a:t>
            </a:r>
          </a:p>
          <a:p>
            <a:pPr marL="342900" indent="-342900" algn="l">
              <a:buFont typeface="Wingdings" pitchFamily="2" charset="2"/>
              <a:buChar char="Ø"/>
            </a:pPr>
            <a:r>
              <a:rPr lang="en-GB" sz="1600" b="0" i="0" u="none" strike="noStrike" dirty="0">
                <a:solidFill>
                  <a:srgbClr val="404040"/>
                </a:solidFill>
                <a:effectLst/>
                <a:latin typeface="+mn-lt"/>
              </a:rPr>
              <a:t>Security concerns (shared responsibility model).</a:t>
            </a:r>
          </a:p>
          <a:p>
            <a:pPr marL="342900" indent="-342900" algn="l">
              <a:spcBef>
                <a:spcPts val="300"/>
              </a:spcBef>
              <a:buFont typeface="Wingdings" pitchFamily="2" charset="2"/>
              <a:buChar char="Ø"/>
            </a:pPr>
            <a:r>
              <a:rPr lang="en-GB" sz="1600" b="0" i="0" u="none" strike="noStrike" dirty="0">
                <a:solidFill>
                  <a:srgbClr val="404040"/>
                </a:solidFill>
                <a:effectLst/>
                <a:latin typeface="+mn-lt"/>
              </a:rPr>
              <a:t>Vendor lock-in.</a:t>
            </a:r>
          </a:p>
          <a:p>
            <a:pPr marL="342900" indent="-342900" algn="l">
              <a:spcBef>
                <a:spcPts val="300"/>
              </a:spcBef>
              <a:buFont typeface="Wingdings" pitchFamily="2" charset="2"/>
              <a:buChar char="Ø"/>
            </a:pPr>
            <a:r>
              <a:rPr lang="en-GB" sz="1600" b="0" i="0" u="none" strike="noStrike" dirty="0">
                <a:solidFill>
                  <a:srgbClr val="404040"/>
                </a:solidFill>
                <a:effectLst/>
                <a:latin typeface="+mn-lt"/>
              </a:rPr>
              <a:t>Latency for real-time applications.</a:t>
            </a:r>
          </a:p>
          <a:p>
            <a:pPr algn="l">
              <a:spcBef>
                <a:spcPts val="300"/>
              </a:spcBef>
            </a:pPr>
            <a:endParaRPr lang="en-GB" sz="1600" b="0" i="0" u="none" strike="noStrike" dirty="0">
              <a:solidFill>
                <a:srgbClr val="404040"/>
              </a:solidFill>
              <a:effectLst/>
              <a:latin typeface="+mn-lt"/>
            </a:endParaRPr>
          </a:p>
          <a:p>
            <a:pPr algn="l">
              <a:buNone/>
            </a:pPr>
            <a:r>
              <a:rPr lang="en-GB" sz="2000" b="1" i="0" u="none" strike="noStrike" dirty="0">
                <a:solidFill>
                  <a:srgbClr val="404040"/>
                </a:solidFill>
                <a:effectLst/>
                <a:latin typeface="+mn-lt"/>
              </a:rPr>
              <a:t>Case Study</a:t>
            </a:r>
            <a:r>
              <a:rPr lang="en-GB" sz="2000" b="0" i="0" u="none" strike="noStrike" dirty="0">
                <a:solidFill>
                  <a:srgbClr val="404040"/>
                </a:solidFill>
                <a:effectLst/>
                <a:latin typeface="+mn-lt"/>
              </a:rPr>
              <a:t>:</a:t>
            </a:r>
          </a:p>
          <a:p>
            <a:pPr algn="l"/>
            <a:r>
              <a:rPr lang="en-GB" sz="1600" b="0" i="1" u="none" strike="noStrike" dirty="0">
                <a:solidFill>
                  <a:srgbClr val="404040"/>
                </a:solidFill>
                <a:effectLst/>
                <a:latin typeface="+mn-lt"/>
              </a:rPr>
              <a:t>How Airbnb scaled using AWS</a:t>
            </a:r>
            <a:r>
              <a:rPr lang="en-GB" sz="1600" b="0" i="0" u="none" strike="noStrike" dirty="0">
                <a:solidFill>
                  <a:srgbClr val="404040"/>
                </a:solidFill>
                <a:effectLst/>
                <a:latin typeface="+mn-lt"/>
              </a:rPr>
              <a:t>: Migrated from physical servers to cloud for global scalability.</a:t>
            </a:r>
          </a:p>
          <a:p>
            <a:pPr>
              <a:buNone/>
            </a:pPr>
            <a:br>
              <a:rPr lang="en-GB" sz="1600" dirty="0">
                <a:effectLst/>
                <a:latin typeface="+mn-lt"/>
              </a:rPr>
            </a:br>
            <a:r>
              <a:rPr lang="en-GB" sz="1600" dirty="0">
                <a:latin typeface="+mn-lt"/>
              </a:rPr>
              <a:t>.</a:t>
            </a:r>
          </a:p>
          <a:p>
            <a:pPr>
              <a:buFont typeface="Arial" panose="020B0604020202020204" pitchFamily="34" charset="0"/>
              <a:buChar char="•"/>
            </a:pPr>
            <a:endParaRPr lang="en-GB" sz="1600" dirty="0">
              <a:latin typeface="+mn-lt"/>
            </a:endParaRPr>
          </a:p>
        </p:txBody>
      </p:sp>
    </p:spTree>
    <p:extLst>
      <p:ext uri="{BB962C8B-B14F-4D97-AF65-F5344CB8AC3E}">
        <p14:creationId xmlns:p14="http://schemas.microsoft.com/office/powerpoint/2010/main" val="241184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5DAFC41-65C7-7C47-0EC3-FAD46391581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6CABB06-568F-C5FD-F11D-00CBEE63B6E2}"/>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800" b="1" dirty="0"/>
              <a:t>Major Cloud Providers Details</a:t>
            </a:r>
            <a:br>
              <a:rPr lang="en-GB" sz="2800" b="1" dirty="0"/>
            </a:br>
            <a:br>
              <a:rPr lang="en-GB" sz="2800" b="1" dirty="0"/>
            </a:br>
            <a:br>
              <a:rPr lang="en-GB" sz="2800" b="1" dirty="0"/>
            </a:br>
            <a:br>
              <a:rPr lang="en-GB" sz="27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E695EED-8D7E-E404-6FE2-4DCC5531E21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A9F8E61-B2E8-FC87-3156-AC6A594503E1}"/>
              </a:ext>
            </a:extLst>
          </p:cNvPr>
          <p:cNvSpPr txBox="1"/>
          <p:nvPr/>
        </p:nvSpPr>
        <p:spPr>
          <a:xfrm>
            <a:off x="407176" y="562889"/>
            <a:ext cx="7569371" cy="830997"/>
          </a:xfrm>
          <a:prstGeom prst="rect">
            <a:avLst/>
          </a:prstGeom>
          <a:noFill/>
        </p:spPr>
        <p:txBody>
          <a:bodyPr wrap="square">
            <a:spAutoFit/>
          </a:bodyPr>
          <a:lstStyle/>
          <a:p>
            <a:pPr>
              <a:buNone/>
            </a:pPr>
            <a:br>
              <a:rPr lang="en-GB" sz="1600" dirty="0">
                <a:effectLst/>
                <a:latin typeface="+mn-lt"/>
              </a:rPr>
            </a:br>
            <a:r>
              <a:rPr lang="en-GB" sz="1600" dirty="0">
                <a:latin typeface="+mn-lt"/>
              </a:rPr>
              <a:t>.</a:t>
            </a:r>
          </a:p>
          <a:p>
            <a:pPr>
              <a:buFont typeface="Arial" panose="020B0604020202020204" pitchFamily="34" charset="0"/>
              <a:buChar char="•"/>
            </a:pPr>
            <a:endParaRPr lang="en-GB" sz="1600" dirty="0">
              <a:latin typeface="+mn-lt"/>
            </a:endParaRPr>
          </a:p>
        </p:txBody>
      </p:sp>
      <p:graphicFrame>
        <p:nvGraphicFramePr>
          <p:cNvPr id="2" name="Table 1">
            <a:extLst>
              <a:ext uri="{FF2B5EF4-FFF2-40B4-BE49-F238E27FC236}">
                <a16:creationId xmlns:a16="http://schemas.microsoft.com/office/drawing/2014/main" id="{260ACBDF-E4F4-971F-DB47-0279051AAAC3}"/>
              </a:ext>
            </a:extLst>
          </p:cNvPr>
          <p:cNvGraphicFramePr>
            <a:graphicFrameLocks noGrp="1"/>
          </p:cNvGraphicFramePr>
          <p:nvPr>
            <p:extLst>
              <p:ext uri="{D42A27DB-BD31-4B8C-83A1-F6EECF244321}">
                <p14:modId xmlns:p14="http://schemas.microsoft.com/office/powerpoint/2010/main" val="2555919004"/>
              </p:ext>
            </p:extLst>
          </p:nvPr>
        </p:nvGraphicFramePr>
        <p:xfrm>
          <a:off x="311149" y="1634326"/>
          <a:ext cx="8521701" cy="158496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497493413"/>
                    </a:ext>
                  </a:extLst>
                </a:gridCol>
                <a:gridCol w="2840567">
                  <a:extLst>
                    <a:ext uri="{9D8B030D-6E8A-4147-A177-3AD203B41FA5}">
                      <a16:colId xmlns:a16="http://schemas.microsoft.com/office/drawing/2014/main" val="2894395224"/>
                    </a:ext>
                  </a:extLst>
                </a:gridCol>
                <a:gridCol w="2840567">
                  <a:extLst>
                    <a:ext uri="{9D8B030D-6E8A-4147-A177-3AD203B41FA5}">
                      <a16:colId xmlns:a16="http://schemas.microsoft.com/office/drawing/2014/main" val="1038736530"/>
                    </a:ext>
                  </a:extLst>
                </a:gridCol>
              </a:tblGrid>
              <a:tr h="304800">
                <a:tc>
                  <a:txBody>
                    <a:bodyPr/>
                    <a:lstStyle/>
                    <a:p>
                      <a:pPr algn="l"/>
                      <a:r>
                        <a:rPr lang="en-GB" sz="1600" b="1">
                          <a:effectLst/>
                        </a:rPr>
                        <a:t>Provider</a:t>
                      </a:r>
                    </a:p>
                  </a:txBody>
                  <a:tcPr anchor="ctr"/>
                </a:tc>
                <a:tc>
                  <a:txBody>
                    <a:bodyPr/>
                    <a:lstStyle/>
                    <a:p>
                      <a:pPr algn="l"/>
                      <a:r>
                        <a:rPr lang="en-GB" sz="1600" b="1">
                          <a:effectLst/>
                        </a:rPr>
                        <a:t>Market Share</a:t>
                      </a:r>
                    </a:p>
                  </a:txBody>
                  <a:tcPr anchor="ctr"/>
                </a:tc>
                <a:tc>
                  <a:txBody>
                    <a:bodyPr/>
                    <a:lstStyle/>
                    <a:p>
                      <a:pPr algn="l"/>
                      <a:r>
                        <a:rPr lang="en-GB" sz="1600" b="1">
                          <a:effectLst/>
                        </a:rPr>
                        <a:t>Key Services</a:t>
                      </a:r>
                    </a:p>
                  </a:txBody>
                  <a:tcPr anchor="ctr"/>
                </a:tc>
                <a:extLst>
                  <a:ext uri="{0D108BD9-81ED-4DB2-BD59-A6C34878D82A}">
                    <a16:rowId xmlns:a16="http://schemas.microsoft.com/office/drawing/2014/main" val="2422772035"/>
                  </a:ext>
                </a:extLst>
              </a:tr>
              <a:tr h="304800">
                <a:tc>
                  <a:txBody>
                    <a:bodyPr/>
                    <a:lstStyle/>
                    <a:p>
                      <a:r>
                        <a:rPr lang="en-GB" sz="1600" b="1" dirty="0">
                          <a:effectLst/>
                        </a:rPr>
                        <a:t>AWS</a:t>
                      </a:r>
                      <a:endParaRPr lang="en-GB" sz="1600" dirty="0">
                        <a:effectLst/>
                      </a:endParaRPr>
                    </a:p>
                  </a:txBody>
                  <a:tcPr anchor="ctr"/>
                </a:tc>
                <a:tc>
                  <a:txBody>
                    <a:bodyPr/>
                    <a:lstStyle/>
                    <a:p>
                      <a:r>
                        <a:rPr lang="en-GB" sz="1600">
                          <a:effectLst/>
                        </a:rPr>
                        <a:t>33%</a:t>
                      </a:r>
                    </a:p>
                  </a:txBody>
                  <a:tcPr anchor="ctr"/>
                </a:tc>
                <a:tc>
                  <a:txBody>
                    <a:bodyPr/>
                    <a:lstStyle/>
                    <a:p>
                      <a:r>
                        <a:rPr lang="en-GB" sz="1600">
                          <a:effectLst/>
                        </a:rPr>
                        <a:t>EC2, S3, Lambda</a:t>
                      </a:r>
                    </a:p>
                  </a:txBody>
                  <a:tcPr anchor="ctr"/>
                </a:tc>
                <a:extLst>
                  <a:ext uri="{0D108BD9-81ED-4DB2-BD59-A6C34878D82A}">
                    <a16:rowId xmlns:a16="http://schemas.microsoft.com/office/drawing/2014/main" val="3679215627"/>
                  </a:ext>
                </a:extLst>
              </a:tr>
              <a:tr h="518160">
                <a:tc>
                  <a:txBody>
                    <a:bodyPr/>
                    <a:lstStyle/>
                    <a:p>
                      <a:r>
                        <a:rPr lang="en-GB" sz="1600" b="1">
                          <a:effectLst/>
                        </a:rPr>
                        <a:t>Azure</a:t>
                      </a:r>
                      <a:endParaRPr lang="en-GB" sz="1600">
                        <a:effectLst/>
                      </a:endParaRPr>
                    </a:p>
                  </a:txBody>
                  <a:tcPr anchor="ctr"/>
                </a:tc>
                <a:tc>
                  <a:txBody>
                    <a:bodyPr/>
                    <a:lstStyle/>
                    <a:p>
                      <a:r>
                        <a:rPr lang="en-GB" sz="1600">
                          <a:effectLst/>
                        </a:rPr>
                        <a:t>22%</a:t>
                      </a:r>
                    </a:p>
                  </a:txBody>
                  <a:tcPr anchor="ctr"/>
                </a:tc>
                <a:tc>
                  <a:txBody>
                    <a:bodyPr/>
                    <a:lstStyle/>
                    <a:p>
                      <a:r>
                        <a:rPr lang="en-GB" sz="1600">
                          <a:effectLst/>
                        </a:rPr>
                        <a:t>Virtual Machines, Azure Functions</a:t>
                      </a:r>
                    </a:p>
                  </a:txBody>
                  <a:tcPr anchor="ctr"/>
                </a:tc>
                <a:extLst>
                  <a:ext uri="{0D108BD9-81ED-4DB2-BD59-A6C34878D82A}">
                    <a16:rowId xmlns:a16="http://schemas.microsoft.com/office/drawing/2014/main" val="2484575016"/>
                  </a:ext>
                </a:extLst>
              </a:tr>
              <a:tr h="304800">
                <a:tc>
                  <a:txBody>
                    <a:bodyPr/>
                    <a:lstStyle/>
                    <a:p>
                      <a:r>
                        <a:rPr lang="en-GB" sz="1600" b="1">
                          <a:effectLst/>
                        </a:rPr>
                        <a:t>Google Cloud</a:t>
                      </a:r>
                      <a:endParaRPr lang="en-GB" sz="1600">
                        <a:effectLst/>
                      </a:endParaRPr>
                    </a:p>
                  </a:txBody>
                  <a:tcPr anchor="ctr"/>
                </a:tc>
                <a:tc>
                  <a:txBody>
                    <a:bodyPr/>
                    <a:lstStyle/>
                    <a:p>
                      <a:r>
                        <a:rPr lang="en-GB" sz="1600" dirty="0">
                          <a:effectLst/>
                        </a:rPr>
                        <a:t>9%</a:t>
                      </a:r>
                    </a:p>
                  </a:txBody>
                  <a:tcPr anchor="ctr"/>
                </a:tc>
                <a:tc>
                  <a:txBody>
                    <a:bodyPr/>
                    <a:lstStyle/>
                    <a:p>
                      <a:r>
                        <a:rPr lang="en-GB" sz="1600" dirty="0">
                          <a:effectLst/>
                        </a:rPr>
                        <a:t>Compute Engine, </a:t>
                      </a:r>
                      <a:r>
                        <a:rPr lang="en-GB" sz="1600" dirty="0" err="1">
                          <a:effectLst/>
                        </a:rPr>
                        <a:t>BigQuery</a:t>
                      </a:r>
                      <a:endParaRPr lang="en-GB" sz="1600" dirty="0">
                        <a:effectLst/>
                      </a:endParaRPr>
                    </a:p>
                  </a:txBody>
                  <a:tcPr anchor="ctr"/>
                </a:tc>
                <a:extLst>
                  <a:ext uri="{0D108BD9-81ED-4DB2-BD59-A6C34878D82A}">
                    <a16:rowId xmlns:a16="http://schemas.microsoft.com/office/drawing/2014/main" val="205306395"/>
                  </a:ext>
                </a:extLst>
              </a:tr>
            </a:tbl>
          </a:graphicData>
        </a:graphic>
      </p:graphicFrame>
    </p:spTree>
    <p:extLst>
      <p:ext uri="{BB962C8B-B14F-4D97-AF65-F5344CB8AC3E}">
        <p14:creationId xmlns:p14="http://schemas.microsoft.com/office/powerpoint/2010/main" val="456570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0B9784A-5366-9D25-B8BE-F4EC0E692E4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8A0FB4D-8742-CC84-BBBD-A5C659A7BD28}"/>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800" b="1" dirty="0"/>
              <a:t>Real-World Use Cases</a:t>
            </a:r>
            <a:br>
              <a:rPr lang="en-GB" sz="2800" b="1" dirty="0"/>
            </a:br>
            <a:br>
              <a:rPr lang="en-GB" sz="2800" b="1" dirty="0"/>
            </a:br>
            <a:br>
              <a:rPr lang="en-GB" sz="27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C5EA31B-8D5E-29E0-C2CE-6306A7BBAC9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42FBCF5-0549-F868-204B-6DA7CE72FA41}"/>
              </a:ext>
            </a:extLst>
          </p:cNvPr>
          <p:cNvSpPr txBox="1"/>
          <p:nvPr/>
        </p:nvSpPr>
        <p:spPr>
          <a:xfrm>
            <a:off x="327663" y="802035"/>
            <a:ext cx="7569371" cy="4893647"/>
          </a:xfrm>
          <a:prstGeom prst="rect">
            <a:avLst/>
          </a:prstGeom>
          <a:noFill/>
        </p:spPr>
        <p:txBody>
          <a:bodyPr wrap="square">
            <a:spAutoFit/>
          </a:bodyPr>
          <a:lstStyle/>
          <a:p>
            <a:pPr marL="342900" indent="-342900">
              <a:lnSpc>
                <a:spcPct val="150000"/>
              </a:lnSpc>
              <a:buFont typeface="Wingdings" pitchFamily="2" charset="2"/>
              <a:buChar char="Ø"/>
            </a:pPr>
            <a:r>
              <a:rPr lang="en-GB" sz="1600" b="1" dirty="0"/>
              <a:t>Hosting Websites and Apps:</a:t>
            </a:r>
            <a:r>
              <a:rPr lang="en-GB" sz="1600" dirty="0"/>
              <a:t> Platforms like AWS and Azure host millions of web applications for scalability and availability.</a:t>
            </a:r>
          </a:p>
          <a:p>
            <a:pPr marL="342900" indent="-342900">
              <a:lnSpc>
                <a:spcPct val="150000"/>
              </a:lnSpc>
              <a:buFont typeface="Wingdings" pitchFamily="2" charset="2"/>
              <a:buChar char="Ø"/>
            </a:pPr>
            <a:r>
              <a:rPr lang="en-GB" sz="1600" b="1" dirty="0"/>
              <a:t>Data Storage and Backup:</a:t>
            </a:r>
            <a:r>
              <a:rPr lang="en-GB" sz="1600" dirty="0"/>
              <a:t> Services like Google Drive, Dropbox, or AWS S3 provide safe, scalable cloud storage.</a:t>
            </a:r>
          </a:p>
          <a:p>
            <a:pPr marL="342900" indent="-342900">
              <a:lnSpc>
                <a:spcPct val="150000"/>
              </a:lnSpc>
              <a:buFont typeface="Wingdings" pitchFamily="2" charset="2"/>
              <a:buChar char="Ø"/>
            </a:pPr>
            <a:r>
              <a:rPr lang="en-GB" sz="1600" b="1" dirty="0"/>
              <a:t>Big Data Analytics:</a:t>
            </a:r>
            <a:r>
              <a:rPr lang="en-GB" sz="1600" dirty="0"/>
              <a:t> Companies use cloud tools (e.g., Google </a:t>
            </a:r>
            <a:r>
              <a:rPr lang="en-GB" sz="1600" dirty="0" err="1"/>
              <a:t>BigQuery</a:t>
            </a:r>
            <a:r>
              <a:rPr lang="en-GB" sz="1600" dirty="0"/>
              <a:t>, AWS Redshift) to </a:t>
            </a:r>
            <a:r>
              <a:rPr lang="en-GB" sz="1600" dirty="0" err="1"/>
              <a:t>analyze</a:t>
            </a:r>
            <a:r>
              <a:rPr lang="en-GB" sz="1600" dirty="0"/>
              <a:t> vast amounts of data efficiently.</a:t>
            </a:r>
          </a:p>
          <a:p>
            <a:pPr marL="342900" indent="-342900">
              <a:lnSpc>
                <a:spcPct val="150000"/>
              </a:lnSpc>
              <a:buFont typeface="Wingdings" pitchFamily="2" charset="2"/>
              <a:buChar char="Ø"/>
            </a:pPr>
            <a:r>
              <a:rPr lang="en-GB" sz="1600" b="1" dirty="0"/>
              <a:t>AI and Machine Learning Deployment:</a:t>
            </a:r>
            <a:r>
              <a:rPr lang="en-GB" sz="1600" dirty="0"/>
              <a:t> Cloud platforms enable training, deployment, and scaling of ML models (e.g., Google Vertex AI, Azure ML).</a:t>
            </a:r>
          </a:p>
          <a:p>
            <a:pPr marL="342900" indent="-342900">
              <a:lnSpc>
                <a:spcPct val="150000"/>
              </a:lnSpc>
              <a:buFont typeface="Wingdings" pitchFamily="2" charset="2"/>
              <a:buChar char="Ø"/>
            </a:pPr>
            <a:r>
              <a:rPr lang="en-GB" sz="1600" b="1" dirty="0"/>
              <a:t>Content Delivery:</a:t>
            </a:r>
            <a:r>
              <a:rPr lang="en-GB" sz="1600" dirty="0"/>
              <a:t> Streaming platforms like Netflix and YouTube use Content Delivery Networks (CDNs) in the cloud to deliver content smoothly to global users.</a:t>
            </a:r>
          </a:p>
          <a:p>
            <a:pPr>
              <a:buNone/>
            </a:pPr>
            <a:br>
              <a:rPr lang="en-GB" sz="1600" dirty="0">
                <a:effectLst/>
              </a:rPr>
            </a:br>
            <a:r>
              <a:rPr lang="en-GB" sz="1600" dirty="0"/>
              <a:t>.</a:t>
            </a:r>
          </a:p>
          <a:p>
            <a:pPr>
              <a:buFont typeface="Arial" panose="020B0604020202020204" pitchFamily="34" charset="0"/>
              <a:buChar char="•"/>
            </a:pPr>
            <a:endParaRPr lang="en-GB" sz="1600" dirty="0"/>
          </a:p>
        </p:txBody>
      </p:sp>
    </p:spTree>
    <p:extLst>
      <p:ext uri="{BB962C8B-B14F-4D97-AF65-F5344CB8AC3E}">
        <p14:creationId xmlns:p14="http://schemas.microsoft.com/office/powerpoint/2010/main" val="3091444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BBECF7B-C240-3941-9609-42E0F97EE43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A784DC6-1F40-2455-914A-022D6F52557D}"/>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chemeClr val="tx1"/>
                </a:solidFill>
                <a:effectLst/>
                <a:latin typeface="Arial" panose="020B0604020202020204" pitchFamily="34" charset="0"/>
              </a:rPr>
              <a:t>Summary:</a:t>
            </a:r>
            <a:br>
              <a:rPr kumimoji="0" lang="en-US" altLang="en-US" sz="2800" b="1" i="0" u="none" strike="noStrike" cap="none" normalizeH="0" baseline="0" dirty="0">
                <a:ln>
                  <a:noFill/>
                </a:ln>
                <a:solidFill>
                  <a:schemeClr val="tx1"/>
                </a:solidFill>
                <a:effectLst/>
                <a:latin typeface="Arial" panose="020B0604020202020204" pitchFamily="34" charset="0"/>
              </a:rPr>
            </a:br>
            <a:br>
              <a:rPr lang="en-GB" b="1" dirty="0"/>
            </a:br>
            <a:br>
              <a:rPr lang="en-GB" b="1" dirty="0"/>
            </a:br>
            <a:br>
              <a:rPr lang="en-GB" b="1" dirty="0"/>
            </a:br>
            <a:br>
              <a:rPr lang="en-GB" b="1" i="0" u="none" strike="noStrike" dirty="0">
                <a:solidFill>
                  <a:srgbClr val="000000"/>
                </a:solidFill>
                <a:effectLst/>
              </a:rPr>
            </a:br>
            <a:br>
              <a:rPr lang="en-GB" b="0" i="0" u="none" strike="noStrike" dirty="0">
                <a:solidFill>
                  <a:srgbClr val="1F1F1F"/>
                </a:solidFill>
                <a:effectLst/>
                <a:latin typeface="Roboto" panose="02000000000000000000" pitchFamily="2" charset="0"/>
              </a:rPr>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E70D699E-E9FA-B771-627F-1D736BE0EE43}"/>
              </a:ext>
            </a:extLst>
          </p:cNvPr>
          <p:cNvSpPr txBox="1"/>
          <p:nvPr/>
        </p:nvSpPr>
        <p:spPr>
          <a:xfrm>
            <a:off x="259798" y="743741"/>
            <a:ext cx="7580188" cy="3970318"/>
          </a:xfrm>
          <a:prstGeom prst="rect">
            <a:avLst/>
          </a:prstGeom>
          <a:noFill/>
        </p:spPr>
        <p:txBody>
          <a:bodyPr wrap="square">
            <a:spAutoFit/>
          </a:bodyPr>
          <a:lstStyle/>
          <a:p>
            <a:pPr marL="342900" indent="-342900">
              <a:buFont typeface="+mj-lt"/>
              <a:buAutoNum type="arabicPeriod"/>
            </a:pPr>
            <a:r>
              <a:rPr lang="en-GB" dirty="0"/>
              <a:t>Cloud computing delivers computing services (e.g., storage, servers, software) over the internet to enable scalability, flexibility, and cost-efficiency.</a:t>
            </a:r>
          </a:p>
          <a:p>
            <a:pPr marL="342900" indent="-342900">
              <a:buFont typeface="+mj-lt"/>
              <a:buAutoNum type="arabicPeriod"/>
            </a:pPr>
            <a:r>
              <a:rPr lang="en-GB" dirty="0"/>
              <a:t>It features on-demand self-service, broad network access, resource pooling, rapid elasticity, and measured service.</a:t>
            </a:r>
          </a:p>
          <a:p>
            <a:pPr marL="342900" indent="-342900">
              <a:buFont typeface="+mj-lt"/>
              <a:buAutoNum type="arabicPeriod"/>
            </a:pPr>
            <a:r>
              <a:rPr lang="en-GB" dirty="0"/>
              <a:t>Service models include:</a:t>
            </a:r>
          </a:p>
          <a:p>
            <a:pPr marL="342900" indent="-342900">
              <a:buFont typeface="+mj-lt"/>
              <a:buAutoNum type="arabicPeriod"/>
            </a:pPr>
            <a:r>
              <a:rPr lang="en-GB" dirty="0"/>
              <a:t>IaaS (Infrastructure as a Service): Offers virtual machines and storage (e.g., AWS EC2).</a:t>
            </a:r>
          </a:p>
          <a:p>
            <a:pPr marL="342900" indent="-342900">
              <a:buFont typeface="+mj-lt"/>
              <a:buAutoNum type="arabicPeriod"/>
            </a:pPr>
            <a:r>
              <a:rPr lang="en-GB" dirty="0"/>
              <a:t>PaaS (Platform as a Service): Provides development tools and frameworks (e.g., Heroku).</a:t>
            </a:r>
          </a:p>
          <a:p>
            <a:pPr marL="342900" indent="-342900">
              <a:buFont typeface="+mj-lt"/>
              <a:buAutoNum type="arabicPeriod"/>
            </a:pPr>
            <a:r>
              <a:rPr lang="en-GB" dirty="0"/>
              <a:t>SaaS (Software as a Service): Delivers software via web browsers (e.g., Google Workspace).</a:t>
            </a:r>
          </a:p>
          <a:p>
            <a:pPr marL="342900" indent="-342900">
              <a:buFont typeface="+mj-lt"/>
              <a:buAutoNum type="arabicPeriod"/>
            </a:pPr>
            <a:r>
              <a:rPr lang="en-GB" dirty="0"/>
              <a:t>Deployment models are:</a:t>
            </a:r>
          </a:p>
          <a:p>
            <a:pPr marL="342900" indent="-342900">
              <a:buFont typeface="+mj-lt"/>
              <a:buAutoNum type="arabicPeriod"/>
            </a:pPr>
            <a:r>
              <a:rPr lang="en-GB" dirty="0"/>
              <a:t>Public cloud (shared across multiple users),</a:t>
            </a:r>
          </a:p>
          <a:p>
            <a:pPr marL="342900" indent="-342900">
              <a:buFont typeface="+mj-lt"/>
              <a:buAutoNum type="arabicPeriod"/>
            </a:pPr>
            <a:r>
              <a:rPr lang="en-GB" dirty="0"/>
              <a:t>Private cloud (exclusive to one organization),</a:t>
            </a:r>
          </a:p>
          <a:p>
            <a:pPr marL="342900" indent="-342900">
              <a:buFont typeface="+mj-lt"/>
              <a:buAutoNum type="arabicPeriod"/>
            </a:pPr>
            <a:r>
              <a:rPr lang="en-GB" dirty="0"/>
              <a:t>Hybrid cloud (mix of public and private).</a:t>
            </a:r>
          </a:p>
          <a:p>
            <a:pPr marL="342900" indent="-342900">
              <a:buFont typeface="+mj-lt"/>
              <a:buAutoNum type="arabicPeriod"/>
            </a:pPr>
            <a:r>
              <a:rPr lang="en-GB" dirty="0"/>
              <a:t>Benefits include cost savings, ease of scalability, remote access, disaster recovery, and strong security options.</a:t>
            </a:r>
          </a:p>
          <a:p>
            <a:pPr marL="342900" indent="-342900">
              <a:buFont typeface="+mj-lt"/>
              <a:buAutoNum type="arabicPeriod"/>
            </a:pPr>
            <a:r>
              <a:rPr lang="en-GB" dirty="0"/>
              <a:t>Common use cases include hosting websites, storing and </a:t>
            </a:r>
            <a:r>
              <a:rPr lang="en-GB" dirty="0" err="1"/>
              <a:t>analyzing</a:t>
            </a:r>
            <a:r>
              <a:rPr lang="en-GB" dirty="0"/>
              <a:t> big data, deploying AI/ML models, and streaming content.</a:t>
            </a:r>
          </a:p>
        </p:txBody>
      </p:sp>
    </p:spTree>
    <p:extLst>
      <p:ext uri="{BB962C8B-B14F-4D97-AF65-F5344CB8AC3E}">
        <p14:creationId xmlns:p14="http://schemas.microsoft.com/office/powerpoint/2010/main" val="1462988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CC4C207-91AB-90C3-A9BA-51FB78653CE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0211CF9-29D8-6FF6-32E6-70A5E3B3223F}"/>
              </a:ext>
            </a:extLst>
          </p:cNvPr>
          <p:cNvSpPr txBox="1">
            <a:spLocks noGrp="1"/>
          </p:cNvSpPr>
          <p:nvPr>
            <p:ph type="title"/>
          </p:nvPr>
        </p:nvSpPr>
        <p:spPr>
          <a:xfrm>
            <a:off x="503695" y="104061"/>
            <a:ext cx="7640664" cy="627900"/>
          </a:xfrm>
          <a:prstGeom prst="rect">
            <a:avLst/>
          </a:prstGeom>
          <a:noFill/>
          <a:ln>
            <a:noFill/>
          </a:ln>
        </p:spPr>
        <p:txBody>
          <a:bodyPr spcFirstLastPara="1" wrap="square" lIns="91425" tIns="91425" rIns="91425" bIns="91425" anchor="t" anchorCtr="0">
            <a:normAutofit fontScale="90000"/>
          </a:bodyPr>
          <a:lstStyle/>
          <a:p>
            <a:r>
              <a:rPr lang="en-GB" sz="2800" b="1" dirty="0"/>
              <a:t>Resources &amp; Further Reading</a:t>
            </a:r>
            <a:br>
              <a:rPr lang="en-GB" sz="2800" b="1" dirty="0"/>
            </a:br>
            <a:br>
              <a:rPr lang="en-GB" sz="2800" b="1" dirty="0"/>
            </a:br>
            <a:br>
              <a:rPr lang="en-GB" sz="2800" b="1" dirty="0"/>
            </a:br>
            <a:br>
              <a:rPr lang="en-GB" sz="2800" b="1" dirty="0"/>
            </a:br>
            <a:br>
              <a:rPr lang="en-GB" sz="2800" b="1" dirty="0"/>
            </a:b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sz="2800" b="1" kern="0" dirty="0">
                <a:solidFill>
                  <a:srgbClr val="7030A0"/>
                </a:solidFill>
                <a:effectLst/>
                <a:latin typeface="Segoe UI" panose="020B0502040204020203" pitchFamily="34" charset="0"/>
                <a:ea typeface="Times New Roman" panose="02020603050405020304" pitchFamily="18" charset="0"/>
                <a:cs typeface="Arial" panose="020B0604020202020204" pitchFamily="34" charset="0"/>
              </a:rPr>
            </a:br>
            <a:br>
              <a:rPr lang="en-GB" sz="1800" kern="100" dirty="0">
                <a:effectLst/>
                <a:latin typeface="Aptos" panose="020B0004020202020204" pitchFamily="34" charset="0"/>
                <a:ea typeface="Aptos" panose="020B0004020202020204" pitchFamily="34" charset="0"/>
                <a:cs typeface="Arial" panose="020B0604020202020204" pitchFamily="34" charset="0"/>
              </a:rPr>
            </a:br>
            <a:br>
              <a:rPr lang="en-GB" b="1" dirty="0"/>
            </a:br>
            <a:br>
              <a:rPr lang="en-GB" b="1" dirty="0"/>
            </a:br>
            <a:br>
              <a:rPr lang="en-GB" sz="1200" b="1" dirty="0"/>
            </a:br>
            <a:br>
              <a:rPr lang="en-GB" sz="1200" dirty="0"/>
            </a:br>
            <a:br>
              <a:rPr lang="en-GB" sz="1600" b="0" dirty="0">
                <a:solidFill>
                  <a:schemeClr val="tx1"/>
                </a:solidFill>
                <a:latin typeface="+mj-lt"/>
              </a:rPr>
            </a:br>
            <a:br>
              <a:rPr lang="en-GB" b="1" dirty="0"/>
            </a:br>
            <a:br>
              <a:rPr lang="en-GB" b="1" i="0" u="none" strike="noStrike" dirty="0">
                <a:solidFill>
                  <a:srgbClr val="000000"/>
                </a:solidFill>
                <a:effectLst/>
              </a:rPr>
            </a:br>
            <a:br>
              <a:rPr lang="en-GB" b="1" i="0" u="none" strike="noStrike" dirty="0">
                <a:solidFill>
                  <a:srgbClr val="404040"/>
                </a:solidFill>
                <a:effectLst/>
                <a:latin typeface="Inter"/>
              </a:rPr>
            </a:br>
            <a:endParaRPr lang="en-GB" b="1" i="0" u="none" strike="noStrike" dirty="0">
              <a:solidFill>
                <a:srgbClr val="404040"/>
              </a:solidFill>
              <a:effectLst/>
              <a:latin typeface="Inter"/>
            </a:endParaRPr>
          </a:p>
        </p:txBody>
      </p:sp>
      <p:sp>
        <p:nvSpPr>
          <p:cNvPr id="5" name="TextBox 4">
            <a:extLst>
              <a:ext uri="{FF2B5EF4-FFF2-40B4-BE49-F238E27FC236}">
                <a16:creationId xmlns:a16="http://schemas.microsoft.com/office/drawing/2014/main" id="{70AF04DC-DA86-8B89-0FBB-B21E140CD690}"/>
              </a:ext>
            </a:extLst>
          </p:cNvPr>
          <p:cNvSpPr txBox="1"/>
          <p:nvPr/>
        </p:nvSpPr>
        <p:spPr>
          <a:xfrm>
            <a:off x="351946" y="761345"/>
            <a:ext cx="6850250" cy="4278094"/>
          </a:xfrm>
          <a:prstGeom prst="rect">
            <a:avLst/>
          </a:prstGeom>
          <a:noFill/>
        </p:spPr>
        <p:txBody>
          <a:bodyPr wrap="square">
            <a:spAutoFit/>
          </a:bodyPr>
          <a:lstStyle/>
          <a:p>
            <a:pPr>
              <a:buNone/>
            </a:pPr>
            <a:endParaRPr lang="en-GB" sz="1600" b="1" dirty="0"/>
          </a:p>
          <a:p>
            <a:pPr>
              <a:buFont typeface="+mj-lt"/>
              <a:buAutoNum type="arabicPeriod"/>
            </a:pPr>
            <a:r>
              <a:rPr lang="en-GB" sz="1600" b="1" dirty="0"/>
              <a:t>Cloud Computing: Concepts, Technology &amp; Architecture</a:t>
            </a:r>
            <a:r>
              <a:rPr lang="en-GB" sz="1600" dirty="0"/>
              <a:t> by </a:t>
            </a:r>
            <a:r>
              <a:rPr lang="en-GB" sz="1600" i="1" dirty="0"/>
              <a:t>Thomas Erl</a:t>
            </a:r>
            <a:endParaRPr lang="en-GB" sz="1600" dirty="0"/>
          </a:p>
          <a:p>
            <a:pPr marL="742950" lvl="1" indent="-285750">
              <a:buFont typeface="+mj-lt"/>
              <a:buAutoNum type="arabicPeriod"/>
            </a:pPr>
            <a:r>
              <a:rPr lang="en-GB" sz="1600" dirty="0"/>
              <a:t>A foundational book explaining core cloud concepts, service models, and architectures.</a:t>
            </a:r>
          </a:p>
          <a:p>
            <a:pPr>
              <a:buFont typeface="+mj-lt"/>
              <a:buAutoNum type="arabicPeriod"/>
            </a:pPr>
            <a:r>
              <a:rPr lang="en-GB" sz="1600" b="1" dirty="0"/>
              <a:t>Cloud Computing: Principles and Paradigms </a:t>
            </a:r>
            <a:r>
              <a:rPr lang="en-GB" sz="1600" dirty="0"/>
              <a:t>by </a:t>
            </a:r>
            <a:r>
              <a:rPr lang="en-GB" sz="1600" i="1" dirty="0"/>
              <a:t>Rajkumar </a:t>
            </a:r>
            <a:r>
              <a:rPr lang="en-GB" sz="1600" i="1" dirty="0" err="1"/>
              <a:t>Buyya</a:t>
            </a:r>
            <a:r>
              <a:rPr lang="en-GB" sz="1600" i="1" dirty="0"/>
              <a:t> et al.</a:t>
            </a:r>
            <a:endParaRPr lang="en-GB" sz="1600" dirty="0"/>
          </a:p>
          <a:p>
            <a:pPr marL="742950" lvl="1" indent="-285750">
              <a:buFont typeface="+mj-lt"/>
              <a:buAutoNum type="arabicPeriod"/>
            </a:pPr>
            <a:r>
              <a:rPr lang="en-GB" sz="1600" dirty="0"/>
              <a:t>Covers academic and practical perspectives on cloud deployment models, services, and research trends.</a:t>
            </a:r>
          </a:p>
          <a:p>
            <a:pPr>
              <a:buFont typeface="+mj-lt"/>
              <a:buAutoNum type="arabicPeriod"/>
            </a:pPr>
            <a:r>
              <a:rPr lang="en-GB" sz="1600" b="1" dirty="0"/>
              <a:t>AWS, Azure &amp; Google Cloud Official Documentation</a:t>
            </a:r>
            <a:endParaRPr lang="en-GB" sz="1600" dirty="0"/>
          </a:p>
          <a:p>
            <a:pPr marL="742950" lvl="1" indent="-285750">
              <a:buFont typeface="+mj-lt"/>
              <a:buAutoNum type="arabicPeriod"/>
            </a:pPr>
            <a:r>
              <a:rPr lang="en-GB" sz="1600" dirty="0"/>
              <a:t>Authoritative, real-world references for learning IaaS, PaaS, SaaS implementations.</a:t>
            </a:r>
          </a:p>
          <a:p>
            <a:pPr marL="742950" lvl="1" indent="-285750">
              <a:buFont typeface="+mj-lt"/>
              <a:buAutoNum type="arabicPeriod"/>
            </a:pPr>
            <a:r>
              <a:rPr lang="en-GB" sz="1600" dirty="0">
                <a:hlinkClick r:id="rId3"/>
              </a:rPr>
              <a:t>AWS</a:t>
            </a:r>
            <a:r>
              <a:rPr lang="en-GB" sz="1600" dirty="0"/>
              <a:t> | </a:t>
            </a:r>
            <a:r>
              <a:rPr lang="en-GB" sz="1600" dirty="0">
                <a:hlinkClick r:id="rId4"/>
              </a:rPr>
              <a:t>Azure</a:t>
            </a:r>
            <a:r>
              <a:rPr lang="en-GB" sz="1600" dirty="0"/>
              <a:t> | GCP</a:t>
            </a:r>
          </a:p>
          <a:p>
            <a:pPr>
              <a:buFont typeface="+mj-lt"/>
              <a:buAutoNum type="arabicPeriod"/>
            </a:pPr>
            <a:r>
              <a:rPr lang="en-GB" sz="1600" b="1" dirty="0"/>
              <a:t>Architecting the Cloud </a:t>
            </a:r>
            <a:r>
              <a:rPr lang="en-GB" sz="1600" dirty="0"/>
              <a:t>by </a:t>
            </a:r>
            <a:r>
              <a:rPr lang="en-GB" sz="1600" i="1" dirty="0"/>
              <a:t>Michael J. Kavis</a:t>
            </a:r>
            <a:endParaRPr lang="en-GB" sz="1600" dirty="0"/>
          </a:p>
          <a:p>
            <a:pPr marL="742950" lvl="1" indent="-285750">
              <a:buFont typeface="+mj-lt"/>
              <a:buAutoNum type="arabicPeriod"/>
            </a:pPr>
            <a:r>
              <a:rPr lang="en-GB" sz="1600" dirty="0"/>
              <a:t>A hands-on guide for IT professionals designing and deploying scalable cloud architectures.</a:t>
            </a:r>
          </a:p>
          <a:p>
            <a:pPr algn="l"/>
            <a:endParaRPr lang="en-GB" sz="1600" b="0" i="0" u="none" strike="noStrike" dirty="0">
              <a:solidFill>
                <a:srgbClr val="404040"/>
              </a:solidFill>
              <a:effectLst/>
              <a:latin typeface="Inter" panose="02000503000000020004" pitchFamily="2" charset="0"/>
            </a:endParaRPr>
          </a:p>
        </p:txBody>
      </p:sp>
    </p:spTree>
    <p:extLst>
      <p:ext uri="{BB962C8B-B14F-4D97-AF65-F5344CB8AC3E}">
        <p14:creationId xmlns:p14="http://schemas.microsoft.com/office/powerpoint/2010/main" val="940337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4730</TotalTime>
  <Words>1735</Words>
  <Application>Microsoft Macintosh PowerPoint</Application>
  <PresentationFormat>On-screen Show (16:9)</PresentationFormat>
  <Paragraphs>180</Paragraphs>
  <Slides>18</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IBM Plex Sans Arabic Medium</vt:lpstr>
      <vt:lpstr>Tajawal</vt:lpstr>
      <vt:lpstr>Inter</vt:lpstr>
      <vt:lpstr>Calibri</vt:lpstr>
      <vt:lpstr>IBM Plex Sans Arabic</vt:lpstr>
      <vt:lpstr>Roboto</vt:lpstr>
      <vt:lpstr>IBM Plex Sans Arabic SemiBold</vt:lpstr>
      <vt:lpstr>Segoe UI</vt:lpstr>
      <vt:lpstr>Wingdings</vt:lpstr>
      <vt:lpstr>Aptos</vt:lpstr>
      <vt:lpstr>Arial</vt:lpstr>
      <vt:lpstr>Simple Light</vt:lpstr>
      <vt:lpstr>أكـــــاديميــــة طــــويـــق</vt:lpstr>
      <vt:lpstr>  Unit 5: Cloud Infrastructure &amp; Production Deployment   </vt:lpstr>
      <vt:lpstr>PowerPoint Presentation</vt:lpstr>
      <vt:lpstr>Introduction to Cloud Computing      </vt:lpstr>
      <vt:lpstr>   </vt:lpstr>
      <vt:lpstr>IaaS (Infrastructure as a Service)     </vt:lpstr>
      <vt:lpstr>PaaS (Platform as a Service)     </vt:lpstr>
      <vt:lpstr>SaaS (Software as a Service)     </vt:lpstr>
      <vt:lpstr>Cloud Deployment Models     </vt:lpstr>
      <vt:lpstr>Cloud Deployment Models     </vt:lpstr>
      <vt:lpstr>Benefits of Cloud Computing      </vt:lpstr>
      <vt:lpstr>Why Use Cloud Computing?       </vt:lpstr>
      <vt:lpstr>Major Cloud Providers Details        </vt:lpstr>
      <vt:lpstr>Real-World Use Cases       </vt:lpstr>
      <vt:lpstr>Summary:         </vt:lpstr>
      <vt:lpstr>Resources &amp; Further Reading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40</cp:revision>
  <dcterms:modified xsi:type="dcterms:W3CDTF">2025-04-05T17:38:02Z</dcterms:modified>
</cp:coreProperties>
</file>