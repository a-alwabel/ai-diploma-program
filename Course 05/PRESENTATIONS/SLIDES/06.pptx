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BM Plex Sans Arabic Medium"/>
      <p:regular r:id="rId24"/>
      <p:bold r:id="rId25"/>
    </p:embeddedFont>
    <p:embeddedFont>
      <p:font typeface="IBM Plex Sans Arabic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BM Plex Sans Arabic SemiBold"/>
      <p:regular r:id="rId36"/>
      <p:bold r:id="rId37"/>
    </p:embeddedFont>
    <p:embeddedFont>
      <p:font typeface="IBM Plex Sans Medium"/>
      <p:regular r:id="rId38"/>
      <p:bold r:id="rId39"/>
      <p:italic r:id="rId40"/>
      <p:boldItalic r:id="rId41"/>
    </p:embeddedFont>
    <p:embeddedFont>
      <p:font typeface="Tajawal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gntK0AyHNZKtkMgSI0LohASBco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5B802-4C30-4A78-954B-8187281FDA17}">
  <a:tblStyle styleId="{0BF5B802-4C30-4A78-954B-8187281FDA1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fill>
          <a:solidFill>
            <a:srgbClr val="CDD8FB"/>
          </a:solidFill>
        </a:fill>
      </a:tcStyle>
    </a:band1H>
    <a:band2H>
      <a:tcTxStyle/>
    </a:band2H>
    <a:band1V>
      <a:tcTxStyle/>
      <a:tcStyle>
        <a:fill>
          <a:solidFill>
            <a:srgbClr val="CDD8FB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DF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4" orient="horz"/>
        <p:guide pos="2560" orient="horz"/>
        <p:guide pos="2880"/>
        <p:guide pos="759" orient="horz"/>
        <p:guide pos="2428" orient="horz"/>
        <p:guide pos="5325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Medium-italic.fntdata"/><Relationship Id="rId20" Type="http://schemas.openxmlformats.org/officeDocument/2006/relationships/slide" Target="slides/slide14.xml"/><Relationship Id="rId42" Type="http://schemas.openxmlformats.org/officeDocument/2006/relationships/font" Target="fonts/Tajawal-regular.fntdata"/><Relationship Id="rId41" Type="http://schemas.openxmlformats.org/officeDocument/2006/relationships/font" Target="fonts/IBMPlexSansMedium-boldItalic.fntdata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font" Target="fonts/Tajawal-bold.fntdata"/><Relationship Id="rId24" Type="http://schemas.openxmlformats.org/officeDocument/2006/relationships/font" Target="fonts/IBMPlexSansArabic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SansArabic-regular.fntdata"/><Relationship Id="rId25" Type="http://schemas.openxmlformats.org/officeDocument/2006/relationships/font" Target="fonts/IBMPlexSansArabicMedium-bold.fntdata"/><Relationship Id="rId28" Type="http://schemas.openxmlformats.org/officeDocument/2006/relationships/font" Target="fonts/Roboto-regular.fntdata"/><Relationship Id="rId27" Type="http://schemas.openxmlformats.org/officeDocument/2006/relationships/font" Target="fonts/IBMPlexSansArab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IBMPlexSansArabicSemiBold-bold.fntdata"/><Relationship Id="rId14" Type="http://schemas.openxmlformats.org/officeDocument/2006/relationships/slide" Target="slides/slide8.xml"/><Relationship Id="rId36" Type="http://schemas.openxmlformats.org/officeDocument/2006/relationships/font" Target="fonts/IBMPlexSansArabic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IBMPlexSansMedium-bold.fntdata"/><Relationship Id="rId16" Type="http://schemas.openxmlformats.org/officeDocument/2006/relationships/slide" Target="slides/slide10.xml"/><Relationship Id="rId38" Type="http://schemas.openxmlformats.org/officeDocument/2006/relationships/font" Target="fonts/IBMPlexSans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b="1" sz="43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/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b="0" i="0" sz="2500" u="none" cap="none" strike="noStrik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b="0" i="0" sz="18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indent="-317500" lvl="1" marL="914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indent="-317500" lvl="2" marL="1371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indent="-317500" lvl="3" marL="1828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indent="-317500" lvl="4" marL="22860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indent="-317500" lvl="5" marL="2743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indent="-317500" lvl="6" marL="3200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indent="-317500" lvl="7" marL="3657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indent="-317500" lvl="8" marL="4114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6.jpg"/><Relationship Id="rId6" Type="http://schemas.openxmlformats.org/officeDocument/2006/relationships/image" Target="../media/image24.png"/><Relationship Id="rId7" Type="http://schemas.openxmlformats.org/officeDocument/2006/relationships/hyperlink" Target="https://www.bauer-power.net/2018/12/brace-yourselves-for-upcoming.html" TargetMode="External"/><Relationship Id="rId8" Type="http://schemas.openxmlformats.org/officeDocument/2006/relationships/hyperlink" Target="https://creativecommons.org/licenses/by-nc-sa/3.0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colab.research.google.com/drive/19QVeV2F-x8L4RTfg_s-V2eW24l-klSCa#scrollTo=UOLImRNUSKdQ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hyperlink" Target="https://colab.research.google.com/drive/1T_IhHxkapwa6vTlOompAo5oHzCYFXDmM#scrollTo=pyVNtGUhtFs5" TargetMode="External"/><Relationship Id="rId5" Type="http://schemas.openxmlformats.org/officeDocument/2006/relationships/hyperlink" Target="https://colab.research.google.com/drive/19QVeV2F-x8L4RTfg_s-V2eW24l-klSCa#scrollTo=UOLImRNUSKdQ" TargetMode="External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0.png"/><Relationship Id="rId13" Type="http://schemas.openxmlformats.org/officeDocument/2006/relationships/image" Target="../media/image22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7" Type="http://schemas.openxmlformats.org/officeDocument/2006/relationships/image" Target="../media/image25.png"/><Relationship Id="rId16" Type="http://schemas.openxmlformats.org/officeDocument/2006/relationships/image" Target="../media/image33.png"/><Relationship Id="rId5" Type="http://schemas.openxmlformats.org/officeDocument/2006/relationships/image" Target="../media/image15.png"/><Relationship Id="rId19" Type="http://schemas.openxmlformats.org/officeDocument/2006/relationships/image" Target="../media/image28.png"/><Relationship Id="rId6" Type="http://schemas.openxmlformats.org/officeDocument/2006/relationships/image" Target="../media/image21.png"/><Relationship Id="rId18" Type="http://schemas.openxmlformats.org/officeDocument/2006/relationships/image" Target="../media/image29.png"/><Relationship Id="rId7" Type="http://schemas.openxmlformats.org/officeDocument/2006/relationships/image" Target="../media/image19.png"/><Relationship Id="rId8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0" name="Google Shape;40;p1"/>
          <p:cNvSpPr txBox="1"/>
          <p:nvPr>
            <p:ph idx="4294967295" type="body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ctrTitle"/>
          </p:nvPr>
        </p:nvSpPr>
        <p:spPr>
          <a:xfrm>
            <a:off x="136779" y="1345439"/>
            <a:ext cx="8520600" cy="259044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444"/>
              <a:buFont typeface="Tajawal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cuML: open-source GPU-accelerated machine learning library </a:t>
            </a:r>
            <a:br>
              <a:rPr lang="en-US" sz="4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4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46" name="Google Shape;46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655513" y="612177"/>
            <a:ext cx="6634716" cy="3354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GPU-Accelerated Machine Learning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Learn how to leverage RAPIDS cuML for high-performance machine learning on large datasets, comparing it with traditional CPU-based approaches.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Efficient ML Models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Develop and optimize machine learning models using cuML, including regression, classification, and clustering, to achieve faster training and inference times.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cuML to Real-World Problems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– Gain hands-on experience in applying GPU-accelerated ML techniques to practical use cases such as financial modeling, image recognition, and natural language processing.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Introduction to cuML(RAPIDS Machine Learning Library)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0" i="0" u="none" strike="noStrike">
              <a:solidFill>
                <a:srgbClr val="7030A0"/>
              </a:solidFill>
            </a:endParaRPr>
          </a:p>
        </p:txBody>
      </p:sp>
      <p:sp>
        <p:nvSpPr>
          <p:cNvPr descr="Optimized Python with Numba library" id="58" name="Google Shape;58;p4"/>
          <p:cNvSpPr/>
          <p:nvPr/>
        </p:nvSpPr>
        <p:spPr>
          <a:xfrm>
            <a:off x="2960866" y="1871317"/>
            <a:ext cx="37719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174929" y="802035"/>
            <a:ext cx="5693225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cuML?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cuML is an open-source GPU-accelerated machine learning library developed by NVIDIA as part of the RAPIDS AI framework. It provides highly optimized implementations of common machine learning algorithms using CUDA.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Use cuML?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Computation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Leverages GPUs for parallel execution, significantly reducing training time.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Compatible with scikit-learn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a similar API, making it easy to transition from CPU-based models.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Seamless Integration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Works well with cuDF (GPU-accelerated pandas) and other RAPIDS libraries.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304132" y="1783246"/>
            <a:ext cx="3771900" cy="1904286"/>
          </a:xfrm>
          <a:prstGeom prst="ellipse">
            <a:avLst/>
          </a:prstGeom>
          <a:solidFill>
            <a:srgbClr val="17171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cuML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Rapids Machine Learning Library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1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cuML-Supported Algorithms</a:t>
            </a:r>
            <a:endParaRPr/>
          </a:p>
        </p:txBody>
      </p:sp>
      <p:sp>
        <p:nvSpPr>
          <p:cNvPr id="66" name="Google Shape;66;p31"/>
          <p:cNvSpPr txBox="1"/>
          <p:nvPr/>
        </p:nvSpPr>
        <p:spPr>
          <a:xfrm>
            <a:off x="332487" y="974803"/>
            <a:ext cx="8242893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cuML provides GPU-accelerated implementations of various machine learning algorithms, including: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Models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Linear Regression, Ridge Regression, Lasso Regression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K-Means, DBSCAN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PCA, t-SNE, Truncated SVD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Tree-based Models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Random Forest, Decision Trees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Models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Nearest Neighbors, Support Vector Machines, Gaussian Mixture Models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Real-World Applications of cuML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72" name="Google Shape;72;p32"/>
          <p:cNvSpPr txBox="1"/>
          <p:nvPr/>
        </p:nvSpPr>
        <p:spPr>
          <a:xfrm>
            <a:off x="137160" y="1024128"/>
            <a:ext cx="683742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Risk modeling, fraud detection, stock price prediction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Genomic analysis, patient diagnosis predictions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Retail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Customer segmentation, demand forecasting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Cybersecurity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Anomaly detection in network traffic</a:t>
            </a:r>
            <a:endParaRPr/>
          </a:p>
        </p:txBody>
      </p:sp>
      <p:grpSp>
        <p:nvGrpSpPr>
          <p:cNvPr id="73" name="Google Shape;73;p32"/>
          <p:cNvGrpSpPr/>
          <p:nvPr/>
        </p:nvGrpSpPr>
        <p:grpSpPr>
          <a:xfrm>
            <a:off x="79513" y="3005593"/>
            <a:ext cx="8860447" cy="1948213"/>
            <a:chOff x="13208" y="3241802"/>
            <a:chExt cx="9117583" cy="1942592"/>
          </a:xfrm>
        </p:grpSpPr>
        <p:pic>
          <p:nvPicPr>
            <p:cNvPr descr="A group of men standing next to a stack of money&#10;&#10;AI-generated content may be incorrect." id="74" name="Google Shape;7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208" y="3241802"/>
              <a:ext cx="1942592" cy="1942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doctor holding a stethoscope&#10;&#10;AI-generated content may be incorrect." id="75" name="Google Shape;75;p32"/>
            <p:cNvPicPr preferRelativeResize="0"/>
            <p:nvPr/>
          </p:nvPicPr>
          <p:blipFill rotWithShape="1">
            <a:blip r:embed="rId4">
              <a:alphaModFix/>
            </a:blip>
            <a:srcRect b="0" l="23534" r="0" t="0"/>
            <a:stretch/>
          </p:blipFill>
          <p:spPr>
            <a:xfrm>
              <a:off x="1955800" y="3241802"/>
              <a:ext cx="2391664" cy="1942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hopping cart in front of a store&#10;&#10;AI-generated content may be incorrect." id="76" name="Google Shape;76;p32"/>
            <p:cNvPicPr preferRelativeResize="0"/>
            <p:nvPr/>
          </p:nvPicPr>
          <p:blipFill rotWithShape="1">
            <a:blip r:embed="rId5">
              <a:alphaModFix/>
            </a:blip>
            <a:srcRect b="0" l="16543" r="0" t="0"/>
            <a:stretch/>
          </p:blipFill>
          <p:spPr>
            <a:xfrm>
              <a:off x="4347465" y="3241802"/>
              <a:ext cx="2483104" cy="19425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-up of a keyboard&#10;&#10;AI-generated content may be incorrect." id="77" name="Google Shape;77;p32"/>
            <p:cNvPicPr preferRelativeResize="0"/>
            <p:nvPr/>
          </p:nvPicPr>
          <p:blipFill rotWithShape="1">
            <a:blip r:embed="rId6">
              <a:alphaModFix/>
            </a:blip>
            <a:srcRect b="0" l="5332" r="0" t="0"/>
            <a:stretch/>
          </p:blipFill>
          <p:spPr>
            <a:xfrm>
              <a:off x="6830568" y="3241802"/>
              <a:ext cx="2300223" cy="19425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32"/>
          <p:cNvSpPr txBox="1"/>
          <p:nvPr/>
        </p:nvSpPr>
        <p:spPr>
          <a:xfrm>
            <a:off x="7461504" y="5111750"/>
            <a:ext cx="26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Photo</a:t>
            </a: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Unknown Author is licensed under </a:t>
            </a:r>
            <a:r>
              <a:rPr b="0" i="0" lang="en-US" sz="9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BY-SA-NC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Importing cuML and Dependencies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84" name="Google Shape;84;p33"/>
          <p:cNvSpPr txBox="1"/>
          <p:nvPr/>
        </p:nvSpPr>
        <p:spPr>
          <a:xfrm>
            <a:off x="88366" y="909756"/>
            <a:ext cx="464884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cudf: A GPU-accelerated DataFrame library similar to pandas, optimized for NVIDIA GPUs.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cuml.linear_model.LinearRegression: GPU-accelerated linear regression model.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cuml.cluster.KMeans: GPU-accelerated K-Means clustering algorithm.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 and pandas: Used for handling arrays and data processing before converting them into GPU-optimized structures.</a:t>
            </a:r>
            <a:endParaRPr/>
          </a:p>
        </p:txBody>
      </p:sp>
      <p:pic>
        <p:nvPicPr>
          <p:cNvPr id="85" name="Google Shape;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98212"/>
            <a:ext cx="4581399" cy="178904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3"/>
          <p:cNvSpPr txBox="1"/>
          <p:nvPr/>
        </p:nvSpPr>
        <p:spPr>
          <a:xfrm>
            <a:off x="0" y="3650648"/>
            <a:ext cx="9144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This setup ensures that machine learning workflows leverage GPU acceleration instead of CPU-based operations.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cuML vs. Scikit-Learn Speed Comparison</a:t>
            </a:r>
            <a:br>
              <a:rPr b="0" i="0" lang="en-US" u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pic>
        <p:nvPicPr>
          <p:cNvPr id="92" name="Google Shape;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833" y="1062186"/>
            <a:ext cx="4434167" cy="362795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4"/>
          <p:cNvSpPr txBox="1"/>
          <p:nvPr/>
        </p:nvSpPr>
        <p:spPr>
          <a:xfrm>
            <a:off x="4641156" y="2075944"/>
            <a:ext cx="464884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 cudf.DataFrame and cudf.Series to transfer data to the GPU.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Measures and prints the execution time for both implementations.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Demonstrates the potential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speedup of cuML over scikit-learn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for large datasets.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GPU-Accelerated K-Means Clustering</a:t>
            </a:r>
            <a:br>
              <a:rPr b="0" i="0" lang="en-US" u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99" name="Google Shape;99;p35"/>
          <p:cNvSpPr txBox="1"/>
          <p:nvPr/>
        </p:nvSpPr>
        <p:spPr>
          <a:xfrm>
            <a:off x="4940834" y="1198293"/>
            <a:ext cx="4126325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Implements GPU-based K-Means clustering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is significantly faster than CPU-based implementations.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 cudf.DataFrame to store data in a GPU-compatible format.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Computes cluster centers efficiently using GPU-accelerated processing.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in segmentation tasks, such as customer grouping in retail or anomaly detection.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36650"/>
            <a:ext cx="4940834" cy="28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GPU-Accelerated </a:t>
            </a:r>
            <a:r>
              <a:rPr b="1" lang="en-US"/>
              <a:t>Principal Component Analysis</a:t>
            </a:r>
            <a:br>
              <a:rPr b="0" i="0" lang="en-US" u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06" name="Google Shape;106;p36"/>
          <p:cNvSpPr txBox="1"/>
          <p:nvPr/>
        </p:nvSpPr>
        <p:spPr>
          <a:xfrm>
            <a:off x="4940835" y="1337061"/>
            <a:ext cx="4126325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GPU-accelerated PCA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which reduces dimensionality faster than traditional PCA methods.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 cudf.DataFrame for efficient GPU memory handling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in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extraction and compression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in large datasets.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Essential for preprocessing high-dimensional datasets in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vision, bioinformatics, and NLP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615495"/>
            <a:ext cx="4940834" cy="21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  <a:latin typeface="Roboto"/>
                <a:ea typeface="Roboto"/>
                <a:cs typeface="Roboto"/>
                <a:sym typeface="Roboto"/>
              </a:rPr>
              <a:t>Integrating cuML with Deep Learning (TensorFlow/PyTorch)</a:t>
            </a:r>
            <a:br>
              <a:rPr b="0" i="0" lang="en-US" u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pic>
        <p:nvPicPr>
          <p:cNvPr id="113" name="Google Shape;1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7033"/>
            <a:ext cx="4902415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7"/>
          <p:cNvSpPr txBox="1"/>
          <p:nvPr/>
        </p:nvSpPr>
        <p:spPr>
          <a:xfrm>
            <a:off x="5071462" y="1556087"/>
            <a:ext cx="3884277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cuML can work alongside deep learning frameworks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like PyTorch.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Moves data to GPU using .cuda(), but transfers it to CPU (.cpu().numpy()) before using cuML (since cuML does not support PyTorch tensors directly).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Enables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machine learning and deep learning workflows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useful in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reinforcement learning, AI-powered security, and fraud detection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Project : Predicting House Prices using cuML</a:t>
            </a:r>
            <a:br>
              <a:rPr b="1" i="0" lang="en-US" u="none" strike="noStrike">
                <a:solidFill>
                  <a:srgbClr val="000000"/>
                </a:solidFill>
              </a:rPr>
            </a:br>
            <a:br>
              <a:rPr b="0" i="0" lang="en-US" u="none" strike="noStrike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sp>
        <p:nvSpPr>
          <p:cNvPr id="120" name="Google Shape;120;p38"/>
          <p:cNvSpPr txBox="1"/>
          <p:nvPr/>
        </p:nvSpPr>
        <p:spPr>
          <a:xfrm>
            <a:off x="272783" y="1448365"/>
            <a:ext cx="46488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the dataset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(California housing dataset from sklearn).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Preprocess the data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and move it to cuDF for GPU processing.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a Linear Regression model using cuML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performance with Scikit-learn (CPU-based)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model's performance (MSE &amp; Training Time).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1623" y="1670049"/>
            <a:ext cx="4114801" cy="18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8"/>
          <p:cNvSpPr txBox="1"/>
          <p:nvPr/>
        </p:nvSpPr>
        <p:spPr>
          <a:xfrm>
            <a:off x="3657600" y="3832529"/>
            <a:ext cx="208422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Full code click here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 txBox="1"/>
          <p:nvPr>
            <p:ph type="title"/>
          </p:nvPr>
        </p:nvSpPr>
        <p:spPr>
          <a:xfrm>
            <a:off x="457200" y="445025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6837"/>
              <a:buNone/>
            </a:pPr>
            <a:r>
              <a:rPr lang="en-US" sz="2600">
                <a:solidFill>
                  <a:srgbClr val="7030A0"/>
                </a:solidFill>
              </a:rPr>
              <a:t>Advantages and Limitations of cuML</a:t>
            </a:r>
            <a:br>
              <a:rPr b="1" i="0" lang="en-US" u="none" strike="noStrike">
                <a:solidFill>
                  <a:srgbClr val="000000"/>
                </a:solidFill>
              </a:rPr>
            </a:br>
            <a:br>
              <a:rPr b="1" i="0" lang="en-US" u="none" strike="noStrike">
                <a:solidFill>
                  <a:srgbClr val="404040"/>
                </a:solidFill>
                <a:latin typeface="Inter"/>
                <a:ea typeface="Inter"/>
                <a:cs typeface="Inter"/>
                <a:sym typeface="Inter"/>
              </a:rPr>
            </a:br>
            <a:endParaRPr b="1" i="0" u="none" strike="noStrike">
              <a:solidFill>
                <a:srgbClr val="4040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39"/>
          <p:cNvSpPr txBox="1"/>
          <p:nvPr/>
        </p:nvSpPr>
        <p:spPr>
          <a:xfrm>
            <a:off x="457200" y="1019765"/>
            <a:ext cx="694944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Massively Parallel Computation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Ideal for large datasets.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Transition from scikit-learn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Similar API.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Optimized for NVIDIA GPUs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Provides huge speedups.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NVIDIA GPU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Not useful for CPU-only environments.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Constraints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GPU memory is limited compared to CPU RAM.</a:t>
            </a:r>
            <a:endParaRPr/>
          </a:p>
          <a:p>
            <a:pPr indent="-1841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Algorithm Support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Some ML models are not yet implemented in cuML.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0"/>
          <p:cNvSpPr txBox="1"/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ct val="111111"/>
              <a:buNone/>
            </a:pPr>
            <a:r>
              <a:rPr b="1" i="0" lang="en-US" u="none" strike="noStrike">
                <a:solidFill>
                  <a:srgbClr val="7030A0"/>
                </a:solidFill>
              </a:rPr>
              <a:t>Comparison of cuML with Scikit-learn</a:t>
            </a:r>
            <a:br>
              <a:rPr b="1" i="0" lang="en-US" u="none" strike="noStrike">
                <a:solidFill>
                  <a:srgbClr val="7030A0"/>
                </a:solidFill>
              </a:rPr>
            </a:br>
            <a:br>
              <a:rPr b="1" i="0" lang="en-US" u="none" strike="noStrike">
                <a:solidFill>
                  <a:srgbClr val="7030A0"/>
                </a:solidFill>
              </a:rPr>
            </a:br>
            <a:endParaRPr b="1" i="0" u="none" strike="noStrike">
              <a:solidFill>
                <a:srgbClr val="7030A0"/>
              </a:solidFill>
            </a:endParaRPr>
          </a:p>
        </p:txBody>
      </p:sp>
      <p:graphicFrame>
        <p:nvGraphicFramePr>
          <p:cNvPr id="134" name="Google Shape;134;p40"/>
          <p:cNvGraphicFramePr/>
          <p:nvPr/>
        </p:nvGraphicFramePr>
        <p:xfrm>
          <a:off x="311150" y="1401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{0BF5B802-4C30-4A78-954B-8187281FDA17}</a:tableStyleId>
              </a:tblPr>
              <a:tblGrid>
                <a:gridCol w="2840575"/>
                <a:gridCol w="2840575"/>
                <a:gridCol w="28405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Aspect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Scikit-learn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cuML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Hardware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CPU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GPU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Speed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Slower for large datasets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Faster due to GPU acceleration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Scalability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Limited by CPU memory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Handles larger datasets efficiently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Ease of Use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Beginner-friendly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Requires GPU knowledge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Algorithm Coverage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Extensive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Limited but growing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385150" y="435437"/>
            <a:ext cx="4810448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/>
              <a:t>Practical Implementation</a:t>
            </a:r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0595" y="1866632"/>
            <a:ext cx="3048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idx="1" type="body"/>
          </p:nvPr>
        </p:nvSpPr>
        <p:spPr>
          <a:xfrm>
            <a:off x="1366268" y="134735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Click on the link below to go to Google COLAB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3447974" y="3906932"/>
            <a:ext cx="112402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8508" r="0" t="0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 rotWithShape="1">
          <a:blip r:embed="rId6">
            <a:alphaModFix/>
          </a:blip>
          <a:srcRect b="22522" l="11047" r="11047" t="22524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0"/>
          <p:cNvPicPr preferRelativeResize="0"/>
          <p:nvPr/>
        </p:nvPicPr>
        <p:blipFill rotWithShape="1">
          <a:blip r:embed="rId8">
            <a:alphaModFix/>
          </a:blip>
          <a:srcRect b="19777" l="2114" r="0" t="19775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low confidence" id="154" name="Google Shape;15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and black sign&#10;&#10;Description automatically generated with low confidence" id="155" name="Google Shape;15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clipart, vector graphics&#10;&#10;Description automatically generated" id="156" name="Google Shape;156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13">
            <a:alphaModFix/>
          </a:blip>
          <a:srcRect b="18915" l="0" r="0" t="0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14">
            <a:alphaModFix/>
          </a:blip>
          <a:srcRect b="12261" l="12270" r="12261" t="12270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16">
            <a:alphaModFix/>
          </a:blip>
          <a:srcRect b="18903" l="0" r="0" t="18905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17">
            <a:alphaModFix/>
          </a:blip>
          <a:srcRect b="28892" l="2114" r="0" t="28897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idx="4294967295" type="title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b="1" lang="en-US" sz="40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sz="40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70" name="Google Shape;170;p21"/>
          <p:cNvSpPr txBox="1"/>
          <p:nvPr>
            <p:ph idx="4294967295" type="ctrTitle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2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</cp:coreProperties>
</file>