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97" r:id="rId6"/>
    <p:sldId id="298" r:id="rId7"/>
    <p:sldId id="299" r:id="rId8"/>
    <p:sldId id="300" r:id="rId9"/>
    <p:sldId id="277" r:id="rId10"/>
    <p:sldId id="301" r:id="rId11"/>
    <p:sldId id="289" r:id="rId12"/>
    <p:sldId id="290" r:id="rId13"/>
    <p:sldId id="292" r:id="rId14"/>
    <p:sldId id="293" r:id="rId15"/>
    <p:sldId id="294" r:id="rId16"/>
    <p:sldId id="295" r:id="rId17"/>
    <p:sldId id="296" r:id="rId18"/>
    <p:sldId id="302" r:id="rId19"/>
    <p:sldId id="288" r:id="rId20"/>
    <p:sldId id="291" r:id="rId21"/>
    <p:sldId id="303" r:id="rId22"/>
    <p:sldId id="274" r:id="rId23"/>
    <p:sldId id="275" r:id="rId24"/>
    <p:sldId id="276" r:id="rId25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7"/>
      <p:bold r:id="rId28"/>
    </p:embeddedFont>
    <p:embeddedFont>
      <p:font typeface="IBM Plex Sans Arabic Medium" panose="020B0603050203000203" pitchFamily="34" charset="-78"/>
      <p:regular r:id="rId29"/>
      <p:bold r:id="rId30"/>
    </p:embeddedFont>
    <p:embeddedFont>
      <p:font typeface="IBM Plex Sans Arabic SemiBold" panose="020B0603050203000203" pitchFamily="34" charset="-78"/>
      <p:regular r:id="rId31"/>
      <p:bold r:id="rId32"/>
    </p:embeddedFont>
    <p:embeddedFont>
      <p:font typeface="Inter" panose="02000503000000020004" pitchFamily="2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Tajawal" pitchFamily="2" charset="-78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58"/>
  </p:normalViewPr>
  <p:slideViewPr>
    <p:cSldViewPr snapToGrid="0">
      <p:cViewPr varScale="1">
        <p:scale>
          <a:sx n="160" d="100"/>
          <a:sy n="160" d="100"/>
        </p:scale>
        <p:origin x="720" y="176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617F40F-AF82-EFE5-A87A-CAC5AF7E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D3F16CA-7A4C-BE0A-3D5B-AD856DAC5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B276B1D-E839-9482-BF34-A77EA7CAC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2895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31B254B-F2A1-0E3C-3DB1-13765A8C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32A29DD-449B-7CED-7C4C-330F027F6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E8535DA7-76A5-9B23-685C-07E7491BE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5159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BDE6F03-E925-3FC4-D55D-24580716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CE4907DA-5C7E-4223-067E-9375674A3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C6D1CB0-AB7A-ADFB-97BF-A4C289630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7468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0BDDA7F-A675-20F9-0BAC-DD40C89E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6B88EB3D-522A-77E1-E55B-F02C4E546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155BDCD-B833-888B-986C-3B4DE902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5841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1AD9250-5886-DD78-0A4D-058B017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D27D27-4545-5FFB-CF85-99C5F401B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0680113-8711-039C-65A5-F03BF541D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8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F584436-53DD-E044-771C-5A8D2F74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9CAC955-AFF3-D259-C407-078BF5C20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38A93A8-8F7A-0599-0914-BDC2A70A7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986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1DBEC0B-5F2A-7641-990B-7CC5539F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402806A-E72C-CA47-7DBC-D48ED6665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ECD1969-C2F0-1AA4-C75D-4C753BCC2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235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91726B7-23FF-F33D-FA07-A2EF62B3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87963C2-AE5E-755C-1B3A-F2CD431C1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5CC53A0-350B-25BD-06F8-F1087A62E5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820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FE6666D-8EE1-6110-AFB1-0516F060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C30710A-BFF4-B125-4A8D-5E01E454A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42232D4-513F-6D5A-CB09-BC012AF85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136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5DE8F6E-5741-C5B5-83EA-AE6242AE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7EFCAB5-C44C-3B41-2585-E9358A43E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5232BD7-C278-A1AD-D009-B518CFDCF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4951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BC83116-D751-11DA-7355-0796A5EB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4643209-7F38-1651-9758-68A83F6D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BDB60B7-FF39-07D6-346B-7F054B76A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967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097927D-4CD9-105E-7435-81999263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3BBE530-C2EA-89F9-3E55-27ED7591B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F1B29B2-4B16-0032-4B23-68D526E1F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3413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EDC3B78-7912-2E75-6558-8A6D45B2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A2E64C8-CDAE-9FAF-8E15-3542D9A6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ECFBFD9-BFBA-28FF-211A-42E4C0A54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863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08EA396-5E0E-BEC0-2280-A92C52F0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8C778A5-4BA4-5F76-CF0C-91819F8E8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D3673F6-5843-8CF2-EC4E-669B2DD26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6444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54C1B97-F404-7F98-97DD-20B004BA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AD009C0-3CF1-C94A-71E8-5758C43B3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B8F8848-3B44-819A-9C45-AA278A7FD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1581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51A278B-4A9F-2C33-BFCE-C2481CA18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B94E063-8018-BC4A-E3C8-F6433C28B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9E46E2A-B957-69E7-78C1-E099E0A3F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40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9A236C7-9487-222C-4D9C-5B02BC51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9225C7-81FE-4AFF-4490-84C8497B6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7D9C1FD-7C07-2F7F-B339-FB965F6A5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4176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ourses.lumenlearning.com/wmopen-retailmanagement/chapter/retailing/" TargetMode="External"/><Relationship Id="rId3" Type="http://schemas.openxmlformats.org/officeDocument/2006/relationships/image" Target="../media/image7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searchleap.com/role-service-quality-patients-customer-satisfaction-public-healthcare-institutions-ghana/" TargetMode="External"/><Relationship Id="rId11" Type="http://schemas.openxmlformats.org/officeDocument/2006/relationships/hyperlink" Target="https://creativecommons.org/licenses/by-nc-sa/3.0/" TargetMode="External"/><Relationship Id="rId5" Type="http://schemas.openxmlformats.org/officeDocument/2006/relationships/image" Target="../media/image8.jpg"/><Relationship Id="rId10" Type="http://schemas.openxmlformats.org/officeDocument/2006/relationships/hyperlink" Target="https://www.bauer-power.net/2018/12/brace-yourselves-for-upcoming.html" TargetMode="External"/><Relationship Id="rId4" Type="http://schemas.openxmlformats.org/officeDocument/2006/relationships/hyperlink" Target="https://pixabay.com/en/money-businessmen-silhuette-man-1078268/" TargetMode="Externa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lab.research.google.com/drive/19QVeV2F-x8L4RTfg_s-V2eW24l-klSCa#scrollTo=UOLImRNUSKdQ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olab.research.google.com/drive/19QVeV2F-x8L4RTfg_s-V2eW24l-klSCa#scrollTo=UOLImRNUSKdQ" TargetMode="External"/><Relationship Id="rId4" Type="http://schemas.openxmlformats.org/officeDocument/2006/relationships/hyperlink" Target="https://colab.research.google.com/drive/1T_IhHxkapwa6vTlOompAo5oHzCYFXDmM#scrollTo=pyVNtGUhtFs5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36779" y="1345439"/>
            <a:ext cx="8520600" cy="259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GB" sz="2400" b="0" i="0" u="none" strike="noStrike" dirty="0" err="1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cuML</a:t>
            </a:r>
            <a:r>
              <a:rPr lang="en-GB" sz="2400" b="0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 for GPU-accelerated machine learning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335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Understand GPU-Accelerated Machine Learning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Learn how to leverage RAPIDS cuML for high-performance machine learning on large datasets, comparing it with traditional CPU-based approaches.</a:t>
            </a:r>
          </a:p>
          <a:p>
            <a:pPr algn="l">
              <a:buFont typeface="+mj-lt"/>
              <a:buAutoNum type="arabicPeriod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Implement Efficient ML Models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Develop and optimize machine learning models using cuML, including regression, classification, and clustering, to achieve faster training and inference times.</a:t>
            </a:r>
          </a:p>
          <a:p>
            <a:pPr algn="l">
              <a:buFont typeface="+mj-lt"/>
              <a:buAutoNum type="arabicPeriod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Apply cuML to Real-World Problems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Gain hands-on experience in applying GPU-accelerated ML techniques to practical use cases such as financial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modeling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image recognition, and natural language processing.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Introduction to cuML(RAPIDS Machine Learning Library)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339E2-582F-95EA-2F60-4D6D9E923ECD}"/>
              </a:ext>
            </a:extLst>
          </p:cNvPr>
          <p:cNvSpPr txBox="1"/>
          <p:nvPr/>
        </p:nvSpPr>
        <p:spPr>
          <a:xfrm>
            <a:off x="174929" y="802035"/>
            <a:ext cx="569322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What is cuML?</a:t>
            </a: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cuML is an open-source GPU-accelerated machine learning library developed by NVIDIA as part of the RAPIDS AI framework. It provides highly optimized implementations of common machine learning algorithms using CUDA.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Why Use cuML?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Faster Computation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Leverages GPUs for parallel execution, significantly reducing training time.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Compatible with scikit-learn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Provides a similar API, making it easy to transition from CPU-based models.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Seamless Integration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Works well with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cuDF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(GPU-accelerated pandas) and other RAPIDS libraries.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87AEB1-D29F-9061-339A-BE71BCBB0E26}"/>
              </a:ext>
            </a:extLst>
          </p:cNvPr>
          <p:cNvSpPr/>
          <p:nvPr/>
        </p:nvSpPr>
        <p:spPr>
          <a:xfrm>
            <a:off x="5304132" y="1783246"/>
            <a:ext cx="3771900" cy="1904286"/>
          </a:xfrm>
          <a:prstGeom prst="ellipse">
            <a:avLst/>
          </a:prstGeom>
          <a:solidFill>
            <a:schemeClr val="tx2">
              <a:lumMod val="1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cuML</a:t>
            </a:r>
          </a:p>
          <a:p>
            <a:pPr algn="ctr"/>
            <a:r>
              <a:rPr lang="en-GB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Rapids Machine Learning Library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27A6DD8-5316-BBB9-EA57-1472B721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290BA3E-45CA-6C1C-3283-BCF887229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 err="1">
                <a:solidFill>
                  <a:srgbClr val="7030A0"/>
                </a:solidFill>
                <a:effectLst/>
              </a:rPr>
              <a:t>cuML</a:t>
            </a:r>
            <a:r>
              <a:rPr lang="en-GB" dirty="0">
                <a:solidFill>
                  <a:srgbClr val="7030A0"/>
                </a:solidFill>
              </a:rPr>
              <a:t> overview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47D0DFD-5836-0A64-85CE-D5FF59EF18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DAEBA-8BD5-BBA8-2112-71AC2473E59C}"/>
              </a:ext>
            </a:extLst>
          </p:cNvPr>
          <p:cNvSpPr txBox="1"/>
          <p:nvPr/>
        </p:nvSpPr>
        <p:spPr>
          <a:xfrm>
            <a:off x="174929" y="802035"/>
            <a:ext cx="77445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600" b="1" dirty="0" err="1"/>
              <a:t>cuML</a:t>
            </a:r>
            <a:r>
              <a:rPr lang="en-GB" sz="1600" dirty="0"/>
              <a:t> is a machine learning library developed by NVIDIA as part of the RAPIDS ecosystem.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Its </a:t>
            </a:r>
            <a:r>
              <a:rPr lang="en-GB" sz="1600" b="1" dirty="0"/>
              <a:t>main goal</a:t>
            </a:r>
            <a:r>
              <a:rPr lang="en-GB" sz="1600" dirty="0"/>
              <a:t> is to accelerate traditional machine learning algorithms using </a:t>
            </a:r>
            <a:r>
              <a:rPr lang="en-GB" sz="1600" b="1" dirty="0"/>
              <a:t>GPU computing</a:t>
            </a:r>
            <a:r>
              <a:rPr lang="en-GB" sz="16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/>
              <a:t>cuML</a:t>
            </a:r>
            <a:r>
              <a:rPr lang="en-GB" sz="1600" dirty="0"/>
              <a:t> offers </a:t>
            </a:r>
            <a:r>
              <a:rPr lang="en-GB" sz="1600" b="1" dirty="0"/>
              <a:t>GPU-accelerated versions</a:t>
            </a:r>
            <a:r>
              <a:rPr lang="en-GB" sz="1600" dirty="0"/>
              <a:t> of many popular algorithms found in </a:t>
            </a:r>
            <a:r>
              <a:rPr lang="en-GB" sz="1600" b="1" dirty="0"/>
              <a:t>scikit-learn</a:t>
            </a:r>
            <a:r>
              <a:rPr lang="en-GB" sz="1600" dirty="0"/>
              <a:t>, such as linear regression, k-means clustering, and random forests.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It is especially useful for </a:t>
            </a:r>
            <a:r>
              <a:rPr lang="en-GB" sz="1600" b="1" dirty="0"/>
              <a:t>large datasets</a:t>
            </a:r>
            <a:r>
              <a:rPr lang="en-GB" sz="1600" dirty="0"/>
              <a:t> and </a:t>
            </a:r>
            <a:r>
              <a:rPr lang="en-GB" sz="1600" b="1" dirty="0"/>
              <a:t>real-time applications</a:t>
            </a:r>
            <a:r>
              <a:rPr lang="en-GB" sz="1600" dirty="0"/>
              <a:t>, where traditional CPU-based libraries may become slow or inefficient.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It uses </a:t>
            </a:r>
            <a:r>
              <a:rPr lang="en-GB" sz="1600" b="1" dirty="0"/>
              <a:t>CUDA</a:t>
            </a:r>
            <a:r>
              <a:rPr lang="en-GB" sz="1600" dirty="0"/>
              <a:t>, NVIDIA’s parallel computing platform, to achieve high performance.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A major advantage is its </a:t>
            </a:r>
            <a:r>
              <a:rPr lang="en-GB" sz="1600" b="1" dirty="0"/>
              <a:t>API similarity to scikit-learn</a:t>
            </a:r>
            <a:r>
              <a:rPr lang="en-GB" sz="1600" dirty="0"/>
              <a:t>, making it easy for developers to switch with minimal code changes.</a:t>
            </a:r>
          </a:p>
        </p:txBody>
      </p:sp>
    </p:spTree>
    <p:extLst>
      <p:ext uri="{BB962C8B-B14F-4D97-AF65-F5344CB8AC3E}">
        <p14:creationId xmlns:p14="http://schemas.microsoft.com/office/powerpoint/2010/main" val="288910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9069CDC-E37E-78AC-DB53-9A04D5A4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D9C0086-B41C-3CEC-2CBD-7D9F264371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Significance of </a:t>
            </a:r>
            <a:r>
              <a:rPr lang="en-GB" b="1" i="0" u="none" strike="noStrike" dirty="0" err="1">
                <a:solidFill>
                  <a:srgbClr val="7030A0"/>
                </a:solidFill>
                <a:effectLst/>
              </a:rPr>
              <a:t>cuML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73BEEE2-0284-C347-B6FD-B17C5A3C35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BFE17-E4E7-5A09-EBE6-9C08BD433926}"/>
              </a:ext>
            </a:extLst>
          </p:cNvPr>
          <p:cNvSpPr txBox="1"/>
          <p:nvPr/>
        </p:nvSpPr>
        <p:spPr>
          <a:xfrm>
            <a:off x="174929" y="802035"/>
            <a:ext cx="774457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Traditional ML tools like </a:t>
            </a:r>
            <a:r>
              <a:rPr lang="en-GB" sz="1800" b="1" dirty="0"/>
              <a:t>scikit-learn</a:t>
            </a:r>
            <a:r>
              <a:rPr lang="en-GB" sz="1800" dirty="0"/>
              <a:t> use CPUs, which can be </a:t>
            </a:r>
            <a:r>
              <a:rPr lang="en-GB" sz="1800" b="1" dirty="0"/>
              <a:t>slow and inefficient</a:t>
            </a:r>
            <a:r>
              <a:rPr lang="en-GB" sz="1800" dirty="0"/>
              <a:t> for very large datasets.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b="1" dirty="0" err="1"/>
              <a:t>cuML</a:t>
            </a:r>
            <a:r>
              <a:rPr lang="en-GB" sz="1800" dirty="0"/>
              <a:t> solves this issue by using </a:t>
            </a:r>
            <a:r>
              <a:rPr lang="en-GB" sz="1800" b="1" dirty="0"/>
              <a:t>GPU acceleration</a:t>
            </a:r>
            <a:r>
              <a:rPr lang="en-GB" sz="1800" dirty="0"/>
              <a:t> via NVIDIA CUDA, leading to </a:t>
            </a:r>
            <a:r>
              <a:rPr lang="en-GB" sz="1800" b="1" dirty="0"/>
              <a:t>much faster training and inference</a:t>
            </a:r>
            <a:r>
              <a:rPr lang="en-GB" sz="18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It's especially helpful in situations where </a:t>
            </a:r>
            <a:r>
              <a:rPr lang="en-GB" sz="1800" b="1" dirty="0"/>
              <a:t>real-time</a:t>
            </a:r>
            <a:r>
              <a:rPr lang="en-GB" sz="1800" dirty="0"/>
              <a:t> processing or </a:t>
            </a:r>
            <a:r>
              <a:rPr lang="en-GB" sz="1800" b="1" dirty="0"/>
              <a:t>big data</a:t>
            </a:r>
            <a:r>
              <a:rPr lang="en-GB" sz="1800" dirty="0"/>
              <a:t> is involved (e.g., streaming data or massive logs).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 err="1"/>
              <a:t>cuML</a:t>
            </a:r>
            <a:r>
              <a:rPr lang="en-GB" sz="1800" dirty="0"/>
              <a:t> can scale ML workflows that would otherwise be limited by </a:t>
            </a:r>
            <a:r>
              <a:rPr lang="en-GB" sz="1800" b="1" dirty="0"/>
              <a:t>CPU memory and speed</a:t>
            </a:r>
            <a:r>
              <a:rPr lang="en-GB" sz="18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It is particularly useful for </a:t>
            </a:r>
            <a:r>
              <a:rPr lang="en-GB" sz="1800" b="1" dirty="0"/>
              <a:t>data scientists and engineers</a:t>
            </a:r>
            <a:r>
              <a:rPr lang="en-GB" sz="1800" dirty="0"/>
              <a:t> who want faster experimentation and deployment cycles without changing much code.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5331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78D1784-76FB-2299-CF23-FF97152E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F89E961-AAA8-47FB-039B-B3F00564A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Installation of </a:t>
            </a:r>
            <a:r>
              <a:rPr lang="en-GB" sz="2800" b="1" dirty="0" err="1"/>
              <a:t>cuML</a:t>
            </a: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50A71FD-2057-4AA2-051E-AA7CBC840C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2E224-4D7E-94A1-3C9D-A48C4741B96F}"/>
              </a:ext>
            </a:extLst>
          </p:cNvPr>
          <p:cNvSpPr txBox="1"/>
          <p:nvPr/>
        </p:nvSpPr>
        <p:spPr>
          <a:xfrm>
            <a:off x="174929" y="802035"/>
            <a:ext cx="77445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600" b="1" dirty="0" err="1"/>
              <a:t>cuML</a:t>
            </a:r>
            <a:r>
              <a:rPr lang="en-GB" sz="1600" dirty="0"/>
              <a:t> is part of the RAPIDS ecosystem developed by NVIDIA, and it depends on specific GPU drivers and CUDA versions.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Recommended installation method</a:t>
            </a:r>
            <a:r>
              <a:rPr lang="en-GB" sz="1600" dirty="0"/>
              <a:t> is through </a:t>
            </a:r>
            <a:r>
              <a:rPr lang="en-GB" sz="1600" b="1" dirty="0"/>
              <a:t>Conda</a:t>
            </a:r>
            <a:r>
              <a:rPr lang="en-GB" sz="1600" dirty="0"/>
              <a:t> because it handles all the dependencies (like </a:t>
            </a:r>
            <a:r>
              <a:rPr lang="en-GB" sz="1600" dirty="0" err="1"/>
              <a:t>cudatoolkit</a:t>
            </a:r>
            <a:r>
              <a:rPr lang="en-GB" sz="1600" dirty="0"/>
              <a:t>) more smoothly.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8081A3-B3F8-CE1C-32B6-EBAAD92F65E1}"/>
              </a:ext>
            </a:extLst>
          </p:cNvPr>
          <p:cNvSpPr txBox="1"/>
          <p:nvPr/>
        </p:nvSpPr>
        <p:spPr>
          <a:xfrm>
            <a:off x="540688" y="2020203"/>
            <a:ext cx="539893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conda</a:t>
            </a:r>
            <a:r>
              <a:rPr lang="en-US" dirty="0"/>
              <a:t> install -c </a:t>
            </a:r>
            <a:r>
              <a:rPr lang="en-US" dirty="0" err="1"/>
              <a:t>rapidsai</a:t>
            </a:r>
            <a:r>
              <a:rPr lang="en-US" dirty="0"/>
              <a:t> -c </a:t>
            </a:r>
            <a:r>
              <a:rPr lang="en-US" dirty="0" err="1"/>
              <a:t>nvidia</a:t>
            </a:r>
            <a:r>
              <a:rPr lang="en-US" dirty="0"/>
              <a:t> -c </a:t>
            </a:r>
            <a:r>
              <a:rPr lang="en-US" dirty="0" err="1"/>
              <a:t>conda</a:t>
            </a:r>
            <a:r>
              <a:rPr lang="en-US" dirty="0"/>
              <a:t>-forge \</a:t>
            </a:r>
          </a:p>
          <a:p>
            <a:r>
              <a:rPr lang="en-US" dirty="0"/>
              <a:t>    </a:t>
            </a:r>
            <a:r>
              <a:rPr lang="en-US" dirty="0" err="1"/>
              <a:t>cuml</a:t>
            </a:r>
            <a:r>
              <a:rPr lang="en-US" dirty="0"/>
              <a:t>=24.02 python=3.10 </a:t>
            </a:r>
            <a:r>
              <a:rPr lang="en-US" dirty="0" err="1"/>
              <a:t>cudatoolkit</a:t>
            </a:r>
            <a:r>
              <a:rPr lang="en-US" dirty="0"/>
              <a:t>=11.8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7B35E-9EAE-F34E-3C49-E3A5C3761300}"/>
              </a:ext>
            </a:extLst>
          </p:cNvPr>
          <p:cNvSpPr txBox="1"/>
          <p:nvPr/>
        </p:nvSpPr>
        <p:spPr>
          <a:xfrm>
            <a:off x="375446" y="2692309"/>
            <a:ext cx="754405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GB" dirty="0"/>
              <a:t>-c </a:t>
            </a:r>
            <a:r>
              <a:rPr lang="en-GB" dirty="0" err="1"/>
              <a:t>rapidsai</a:t>
            </a:r>
            <a:r>
              <a:rPr lang="en-GB" dirty="0"/>
              <a:t>, -c </a:t>
            </a:r>
            <a:r>
              <a:rPr lang="en-GB" dirty="0" err="1"/>
              <a:t>nvidia</a:t>
            </a:r>
            <a:r>
              <a:rPr lang="en-GB" dirty="0"/>
              <a:t>, and -c </a:t>
            </a:r>
            <a:r>
              <a:rPr lang="en-GB" dirty="0" err="1"/>
              <a:t>conda</a:t>
            </a:r>
            <a:r>
              <a:rPr lang="en-GB" dirty="0"/>
              <a:t>-forge specify the channels to search for the packages.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dirty="0" err="1"/>
              <a:t>cuml</a:t>
            </a:r>
            <a:r>
              <a:rPr lang="en-GB" dirty="0"/>
              <a:t>=24.02 specifies the version of </a:t>
            </a:r>
            <a:r>
              <a:rPr lang="en-GB" dirty="0" err="1"/>
              <a:t>cuML</a:t>
            </a:r>
            <a:r>
              <a:rPr lang="en-GB" dirty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dirty="0"/>
              <a:t>python=3.10 ensures compatibility with that Python version.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dirty="0" err="1"/>
              <a:t>cudatoolkit</a:t>
            </a:r>
            <a:r>
              <a:rPr lang="en-GB" dirty="0"/>
              <a:t>=11.8 tells Conda to install the CUDA runtime compatible with your GPU.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038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3B61611-4FCE-071C-07F0-448919D3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7041A08-07C9-18C3-9A2B-26ECEA858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Installation of </a:t>
            </a:r>
            <a:r>
              <a:rPr lang="en-GB" sz="2800" b="1" dirty="0" err="1"/>
              <a:t>cuML</a:t>
            </a: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0999BB0-F87A-7AD3-0C7D-8A5D20E25A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AE24B-7985-7FE6-0692-E5788DE7C4DB}"/>
              </a:ext>
            </a:extLst>
          </p:cNvPr>
          <p:cNvSpPr txBox="1"/>
          <p:nvPr/>
        </p:nvSpPr>
        <p:spPr>
          <a:xfrm>
            <a:off x="174929" y="802035"/>
            <a:ext cx="7744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Pip installation</a:t>
            </a:r>
            <a:r>
              <a:rPr lang="en-GB" sz="1600" dirty="0"/>
              <a:t> is available but has </a:t>
            </a:r>
            <a:r>
              <a:rPr lang="en-GB" sz="1600" b="1" dirty="0"/>
              <a:t>limited support</a:t>
            </a:r>
            <a:r>
              <a:rPr lang="en-GB" sz="1600" dirty="0"/>
              <a:t>, especially regarding complex dependencies: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AE4AB1-F4FF-509F-85B8-34550EA110C5}"/>
              </a:ext>
            </a:extLst>
          </p:cNvPr>
          <p:cNvSpPr txBox="1"/>
          <p:nvPr/>
        </p:nvSpPr>
        <p:spPr>
          <a:xfrm>
            <a:off x="540688" y="2020203"/>
            <a:ext cx="53989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pip install cuml-cu11 --extra-index-</a:t>
            </a:r>
            <a:r>
              <a:rPr lang="en-US" dirty="0" err="1"/>
              <a:t>url</a:t>
            </a:r>
            <a:r>
              <a:rPr lang="en-US" dirty="0"/>
              <a:t>=https://</a:t>
            </a:r>
            <a:r>
              <a:rPr lang="en-US" dirty="0" err="1"/>
              <a:t>pypi.nvidia.com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40CD5-B0B2-299D-B3FF-9E1FED4B1A14}"/>
              </a:ext>
            </a:extLst>
          </p:cNvPr>
          <p:cNvSpPr txBox="1"/>
          <p:nvPr/>
        </p:nvSpPr>
        <p:spPr>
          <a:xfrm>
            <a:off x="375446" y="2692309"/>
            <a:ext cx="86212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sz="1600" b="1" dirty="0"/>
              <a:t>Before installation: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Ensure your system has an </a:t>
            </a:r>
            <a:r>
              <a:rPr lang="en-GB" sz="1600" b="1" dirty="0"/>
              <a:t>NVIDIA GPU</a:t>
            </a:r>
            <a:r>
              <a:rPr lang="en-GB" sz="1600" dirty="0"/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CUDA drivers should be properly installed.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Best to test in </a:t>
            </a:r>
            <a:r>
              <a:rPr lang="en-GB" sz="1600" b="1" dirty="0"/>
              <a:t>Google </a:t>
            </a:r>
            <a:r>
              <a:rPr lang="en-GB" sz="1600" b="1" dirty="0" err="1"/>
              <a:t>Colab</a:t>
            </a:r>
            <a:r>
              <a:rPr lang="en-GB" sz="1600" dirty="0"/>
              <a:t> or a </a:t>
            </a:r>
            <a:r>
              <a:rPr lang="en-GB" sz="1600" b="1" dirty="0"/>
              <a:t>Docker container</a:t>
            </a:r>
            <a:r>
              <a:rPr lang="en-GB" sz="1600" dirty="0"/>
              <a:t> if unsure about system compatibility.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883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321C5F-5887-88FC-5A55-2EB85D26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9B0603-80F6-6813-A911-33AD170E7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cuML-Supported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F1C77-9C5B-EF4B-F2AB-E3C6B67E23BB}"/>
              </a:ext>
            </a:extLst>
          </p:cNvPr>
          <p:cNvSpPr txBox="1"/>
          <p:nvPr/>
        </p:nvSpPr>
        <p:spPr>
          <a:xfrm>
            <a:off x="332487" y="974803"/>
            <a:ext cx="824289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cuML provides GPU-accelerated implementations of various machine learning algorithms, including:</a:t>
            </a:r>
          </a:p>
          <a:p>
            <a:pPr algn="l"/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Linear Models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Linear Regression, Ridge Regression, Lasso Regression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Clustering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K-Means, DBSCAN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Dimensionality Reduction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PCA, t-SNE, Truncated SVD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Tree-based Models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Random Forest, Decision Trees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Other Models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Nearest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</a:rPr>
              <a:t>Neighbors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, Support Vector Machines, Gaussian Mixture Models</a:t>
            </a:r>
          </a:p>
        </p:txBody>
      </p:sp>
    </p:spTree>
    <p:extLst>
      <p:ext uri="{BB962C8B-B14F-4D97-AF65-F5344CB8AC3E}">
        <p14:creationId xmlns:p14="http://schemas.microsoft.com/office/powerpoint/2010/main" val="214859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FD3B802-6798-B86F-6EFC-1E78978D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F051EF2-4853-6FBE-BE24-39DC90559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2800" b="1" dirty="0"/>
              <a:t>Using </a:t>
            </a:r>
            <a:r>
              <a:rPr lang="en-GB" sz="2800" b="1" dirty="0" err="1"/>
              <a:t>cuML's</a:t>
            </a:r>
            <a:r>
              <a:rPr lang="en-GB" sz="2800" b="1" dirty="0"/>
              <a:t> Linear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F6950-CB78-0D37-732F-0B7984DBF18C}"/>
              </a:ext>
            </a:extLst>
          </p:cNvPr>
          <p:cNvSpPr txBox="1"/>
          <p:nvPr/>
        </p:nvSpPr>
        <p:spPr>
          <a:xfrm>
            <a:off x="117801" y="648800"/>
            <a:ext cx="8242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This is a simple demonstration of how to use </a:t>
            </a:r>
            <a:r>
              <a:rPr lang="en-GB" sz="1600" dirty="0" err="1"/>
              <a:t>cuML</a:t>
            </a:r>
            <a:r>
              <a:rPr lang="en-GB" sz="1600" dirty="0"/>
              <a:t> to train and predict using Linear Regression, leveraging the GPU for computation: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AB01C-8158-C85F-D95A-FA4EB7EDC149}"/>
              </a:ext>
            </a:extLst>
          </p:cNvPr>
          <p:cNvSpPr txBox="1"/>
          <p:nvPr/>
        </p:nvSpPr>
        <p:spPr>
          <a:xfrm>
            <a:off x="196153" y="1407381"/>
            <a:ext cx="3946477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cuml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cuml.linear_model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cupy</a:t>
            </a:r>
            <a:r>
              <a:rPr lang="en-US" dirty="0"/>
              <a:t> as cp</a:t>
            </a:r>
          </a:p>
          <a:p>
            <a:endParaRPr lang="en-US" dirty="0"/>
          </a:p>
          <a:p>
            <a:r>
              <a:rPr lang="en-US" dirty="0"/>
              <a:t># Generate sample data</a:t>
            </a:r>
          </a:p>
          <a:p>
            <a:r>
              <a:rPr lang="en-US" dirty="0"/>
              <a:t>X = </a:t>
            </a:r>
            <a:r>
              <a:rPr lang="en-US" dirty="0" err="1"/>
              <a:t>cp.random.rand</a:t>
            </a:r>
            <a:r>
              <a:rPr lang="en-US" dirty="0"/>
              <a:t>(1000, 3)</a:t>
            </a:r>
          </a:p>
          <a:p>
            <a:r>
              <a:rPr lang="en-US" dirty="0"/>
              <a:t>y = </a:t>
            </a:r>
            <a:r>
              <a:rPr lang="en-US" dirty="0" err="1"/>
              <a:t>cp.dot</a:t>
            </a:r>
            <a:r>
              <a:rPr lang="en-US" dirty="0"/>
              <a:t>(X, </a:t>
            </a:r>
            <a:r>
              <a:rPr lang="en-US" dirty="0" err="1"/>
              <a:t>cp.array</a:t>
            </a:r>
            <a:r>
              <a:rPr lang="en-US" dirty="0"/>
              <a:t>([3.5, 2.0, 6.7])) + 1.2</a:t>
            </a:r>
          </a:p>
          <a:p>
            <a:endParaRPr lang="en-US" dirty="0"/>
          </a:p>
          <a:p>
            <a:r>
              <a:rPr lang="en-US" dirty="0"/>
              <a:t># Create and train model</a:t>
            </a:r>
          </a:p>
          <a:p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r>
              <a:rPr lang="en-US" dirty="0" err="1"/>
              <a:t>model.fit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/>
              <a:t># Predict</a:t>
            </a:r>
          </a:p>
          <a:p>
            <a:r>
              <a:rPr lang="en-US" dirty="0"/>
              <a:t>preds = </a:t>
            </a:r>
            <a:r>
              <a:rPr lang="en-US" dirty="0" err="1"/>
              <a:t>model.predict</a:t>
            </a:r>
            <a:r>
              <a:rPr lang="en-US" dirty="0"/>
              <a:t>(X)</a:t>
            </a:r>
          </a:p>
          <a:p>
            <a:r>
              <a:rPr lang="en-US" dirty="0"/>
              <a:t>print(preds[:5])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6FFB2-DDBB-85A1-CBDE-822C3C364F3C}"/>
              </a:ext>
            </a:extLst>
          </p:cNvPr>
          <p:cNvSpPr txBox="1"/>
          <p:nvPr/>
        </p:nvSpPr>
        <p:spPr>
          <a:xfrm>
            <a:off x="4142631" y="1415419"/>
            <a:ext cx="50570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Imports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cuml.linear_model.LinearRegression</a:t>
            </a:r>
            <a:r>
              <a:rPr lang="en-GB" dirty="0"/>
              <a:t>: </a:t>
            </a:r>
            <a:r>
              <a:rPr lang="en-GB" dirty="0" err="1"/>
              <a:t>cuML's</a:t>
            </a:r>
            <a:r>
              <a:rPr lang="en-GB" dirty="0"/>
              <a:t> version of </a:t>
            </a:r>
          </a:p>
          <a:p>
            <a:r>
              <a:rPr lang="en-GB" dirty="0"/>
              <a:t>scikit-</a:t>
            </a:r>
            <a:r>
              <a:rPr lang="en-GB" dirty="0" err="1"/>
              <a:t>learn's</a:t>
            </a:r>
            <a:r>
              <a:rPr lang="en-GB" dirty="0"/>
              <a:t> </a:t>
            </a:r>
            <a:r>
              <a:rPr lang="en-GB" dirty="0" err="1"/>
              <a:t>LinearRegression</a:t>
            </a:r>
            <a:r>
              <a:rPr lang="en-GB" dirty="0"/>
              <a:t>, GPU-accelerated.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cupy</a:t>
            </a:r>
            <a:r>
              <a:rPr lang="en-GB" dirty="0"/>
              <a:t>: Like NumPy but for GPU arrays.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Generates 1000 rows and 3 feature columns of random </a:t>
            </a:r>
          </a:p>
          <a:p>
            <a:r>
              <a:rPr lang="en-GB" dirty="0"/>
              <a:t>data on the </a:t>
            </a:r>
            <a:r>
              <a:rPr lang="en-GB" b="1" dirty="0"/>
              <a:t>GPU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Creates a target variable y using a linear equation. Basically:</a:t>
            </a:r>
            <a:br>
              <a:rPr lang="en-GB" dirty="0"/>
            </a:br>
            <a:r>
              <a:rPr lang="en-GB" dirty="0"/>
              <a:t>y = 3.5*x1 + 2.0*x2 + 6.7*x3 + 1.2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Creates and fits a linear regression model using GPU arrays.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Makes predictions and prints the first 5 results.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2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9B3FE5F-B39D-9AA9-B708-409963FC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B024A57-E0FF-FEC8-BFB5-7A6B8D049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Real-World Applications of cuML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C7E5D-21A2-CB49-8E6C-276C2D0EBF76}"/>
              </a:ext>
            </a:extLst>
          </p:cNvPr>
          <p:cNvSpPr txBox="1"/>
          <p:nvPr/>
        </p:nvSpPr>
        <p:spPr>
          <a:xfrm>
            <a:off x="137160" y="1024128"/>
            <a:ext cx="6837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Finance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Risk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</a:rPr>
              <a:t>modeling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, fraud detection, stock price prediction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Healthcare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Genomic analysis, patient diagnosis predictions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Retail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Customer segmentation, demand forecasting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Cybersecurity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: Anomaly detection in network traffic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203D28-A9A4-05EF-51A6-6BE690BD07EE}"/>
              </a:ext>
            </a:extLst>
          </p:cNvPr>
          <p:cNvGrpSpPr/>
          <p:nvPr/>
        </p:nvGrpSpPr>
        <p:grpSpPr>
          <a:xfrm>
            <a:off x="79513" y="3005593"/>
            <a:ext cx="8860447" cy="1948213"/>
            <a:chOff x="13208" y="3241802"/>
            <a:chExt cx="9117583" cy="1942592"/>
          </a:xfrm>
        </p:grpSpPr>
        <p:pic>
          <p:nvPicPr>
            <p:cNvPr id="6" name="Picture 5" descr="A group of men standing next to a stack of money&#10;&#10;AI-generated content may be incorrect.">
              <a:extLst>
                <a:ext uri="{FF2B5EF4-FFF2-40B4-BE49-F238E27FC236}">
                  <a16:creationId xmlns:a16="http://schemas.microsoft.com/office/drawing/2014/main" id="{CDDB0C99-9110-4C51-745B-10EEC9987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3208" y="3241802"/>
              <a:ext cx="1942592" cy="1942592"/>
            </a:xfrm>
            <a:prstGeom prst="rect">
              <a:avLst/>
            </a:prstGeom>
          </p:spPr>
        </p:pic>
        <p:pic>
          <p:nvPicPr>
            <p:cNvPr id="8" name="Picture 7" descr="A doctor holding a stethoscope&#10;&#10;AI-generated content may be incorrect.">
              <a:extLst>
                <a:ext uri="{FF2B5EF4-FFF2-40B4-BE49-F238E27FC236}">
                  <a16:creationId xmlns:a16="http://schemas.microsoft.com/office/drawing/2014/main" id="{551A6608-2A8A-F686-8C38-0CA81BB1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23535"/>
            <a:stretch/>
          </p:blipFill>
          <p:spPr>
            <a:xfrm>
              <a:off x="1955800" y="3241802"/>
              <a:ext cx="2391664" cy="1942592"/>
            </a:xfrm>
            <a:prstGeom prst="rect">
              <a:avLst/>
            </a:prstGeom>
          </p:spPr>
        </p:pic>
        <p:pic>
          <p:nvPicPr>
            <p:cNvPr id="11" name="Picture 10" descr="A shopping cart in front of a store&#10;&#10;AI-generated content may be incorrect.">
              <a:extLst>
                <a:ext uri="{FF2B5EF4-FFF2-40B4-BE49-F238E27FC236}">
                  <a16:creationId xmlns:a16="http://schemas.microsoft.com/office/drawing/2014/main" id="{CA3520D5-8D51-C522-013E-D08DB7296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rcRect l="16543"/>
            <a:stretch/>
          </p:blipFill>
          <p:spPr>
            <a:xfrm>
              <a:off x="4347465" y="3241802"/>
              <a:ext cx="2483104" cy="1942592"/>
            </a:xfrm>
            <a:prstGeom prst="rect">
              <a:avLst/>
            </a:prstGeom>
          </p:spPr>
        </p:pic>
        <p:pic>
          <p:nvPicPr>
            <p:cNvPr id="14" name="Picture 13" descr="A close-up of a keyboard&#10;&#10;AI-generated content may be incorrect.">
              <a:extLst>
                <a:ext uri="{FF2B5EF4-FFF2-40B4-BE49-F238E27FC236}">
                  <a16:creationId xmlns:a16="http://schemas.microsoft.com/office/drawing/2014/main" id="{72EBDE1A-C2DC-9FA6-6776-ECE090891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5332"/>
            <a:stretch/>
          </p:blipFill>
          <p:spPr>
            <a:xfrm>
              <a:off x="6830568" y="3241802"/>
              <a:ext cx="2300223" cy="194259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D303E45-7271-F913-3B1C-6E9CC5CA8010}"/>
              </a:ext>
            </a:extLst>
          </p:cNvPr>
          <p:cNvSpPr txBox="1"/>
          <p:nvPr/>
        </p:nvSpPr>
        <p:spPr>
          <a:xfrm>
            <a:off x="7461504" y="5111750"/>
            <a:ext cx="26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10" tooltip="https://www.bauer-power.net/2018/12/brace-yourselves-for-upcoming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11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81002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3550D99-4626-981D-4F3C-9F53C5F6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D883667-EDD7-9945-1BCB-8AC983CF4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Importing cuML and Dependencies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D5455-4E7E-68EB-7653-39ED42C2B1EF}"/>
              </a:ext>
            </a:extLst>
          </p:cNvPr>
          <p:cNvSpPr txBox="1"/>
          <p:nvPr/>
        </p:nvSpPr>
        <p:spPr>
          <a:xfrm>
            <a:off x="88366" y="909756"/>
            <a:ext cx="46488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pPr rtl="0"/>
            <a:endParaRPr lang="en-GB" dirty="0"/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cudf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A GPU-accelerated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library similar to pandas, optimized for NVIDIA GPUs.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cuml.linear_model.LinearRegression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GPU-accelerated linear regression model.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cuml.cluster.KMeans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GPU-accelerated K-Means clustering algorithm.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numpy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and pandas: Used for handling arrays and data processing before converting them into GPU-optimized structures.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4B3CED-3697-B32D-3461-26485220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98212"/>
            <a:ext cx="4581399" cy="17890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0E01EA-6705-04BB-8A6A-03B8F4745494}"/>
              </a:ext>
            </a:extLst>
          </p:cNvPr>
          <p:cNvSpPr txBox="1"/>
          <p:nvPr/>
        </p:nvSpPr>
        <p:spPr>
          <a:xfrm>
            <a:off x="0" y="3650648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C00000"/>
                </a:solidFill>
                <a:effectLst/>
              </a:rPr>
              <a:t>This setup ensures that machine learning workflows leverage GPU acceleration instead of CPU-based operations.</a:t>
            </a:r>
          </a:p>
        </p:txBody>
      </p:sp>
    </p:spTree>
    <p:extLst>
      <p:ext uri="{BB962C8B-B14F-4D97-AF65-F5344CB8AC3E}">
        <p14:creationId xmlns:p14="http://schemas.microsoft.com/office/powerpoint/2010/main" val="4233634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A5663D4-950F-9DF3-2F11-460FFCAA7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BF18489D-BBEE-0A3E-1714-05C3FC443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cuML vs. Scikit-Learn Speed Comparison</a:t>
            </a: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7E1DCE-1E5B-FF08-35AA-750F8DFB0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33" y="1062186"/>
            <a:ext cx="4434167" cy="3627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AB633E-5D1E-CDE3-8DD8-DBAB1D43B6A2}"/>
              </a:ext>
            </a:extLst>
          </p:cNvPr>
          <p:cNvSpPr txBox="1"/>
          <p:nvPr/>
        </p:nvSpPr>
        <p:spPr>
          <a:xfrm>
            <a:off x="4641156" y="2075944"/>
            <a:ext cx="464884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Uses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cudf.DataFrame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cudf.Series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to transfer data to the GPU.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Measures and prints the execution time for both implementations.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dirty="0"/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Demonstrates the potential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speedup of cuML over scikit-learn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255756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17C7867-EAB1-263C-DE4C-C695D965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3904CB1-D980-7D06-0521-E63CE68AA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GPU-Accelerated K-Means Clustering</a:t>
            </a: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C2E52-3705-D1CF-9D6A-C88E61A7DCE8}"/>
              </a:ext>
            </a:extLst>
          </p:cNvPr>
          <p:cNvSpPr txBox="1"/>
          <p:nvPr/>
        </p:nvSpPr>
        <p:spPr>
          <a:xfrm>
            <a:off x="4940834" y="1198293"/>
            <a:ext cx="412632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Implements GPU-based K-Means clustering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which is significantly faster than CPU-based implementations.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Uses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cudf.DataFrame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to store data in a GPU-compatible format.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Computes cluster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centers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efficiently using GPU-accelerated processing.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Helps in segmentation tasks, such as customer grouping in retail or anomaly detection.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4A31E-4AB8-BF56-BC73-2039276FE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6650"/>
            <a:ext cx="4940834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23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144780B-CEAC-5C02-0966-7392E627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82847EF-830F-7ACE-15EA-6ADAD98DE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GPU-Accelerated </a:t>
            </a:r>
            <a:r>
              <a:rPr lang="en-GB" b="1" dirty="0"/>
              <a:t>Principal Component Analysis</a:t>
            </a: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CA045-FBE6-00A7-96FD-9AB0A1C4881B}"/>
              </a:ext>
            </a:extLst>
          </p:cNvPr>
          <p:cNvSpPr txBox="1"/>
          <p:nvPr/>
        </p:nvSpPr>
        <p:spPr>
          <a:xfrm>
            <a:off x="4940835" y="1337061"/>
            <a:ext cx="412632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dirty="0"/>
              <a:t>Implements </a:t>
            </a:r>
            <a:r>
              <a:rPr lang="en-GB" b="1" dirty="0"/>
              <a:t>GPU-accelerated PCA</a:t>
            </a:r>
            <a:r>
              <a:rPr lang="en-GB" dirty="0"/>
              <a:t>, which reduces dimensionality faster than traditional PCA methods.</a:t>
            </a:r>
          </a:p>
          <a:p>
            <a:pPr algn="l"/>
            <a:endParaRPr lang="en-GB" dirty="0"/>
          </a:p>
          <a:p>
            <a:pPr marL="285750" indent="-285750" algn="l">
              <a:buFont typeface="Wingdings" pitchFamily="2" charset="2"/>
              <a:buChar char="Ø"/>
            </a:pPr>
            <a:r>
              <a:rPr lang="en-GB" dirty="0"/>
              <a:t>Uses </a:t>
            </a:r>
            <a:r>
              <a:rPr lang="en-GB" dirty="0" err="1"/>
              <a:t>cudf.DataFrame</a:t>
            </a:r>
            <a:r>
              <a:rPr lang="en-GB" dirty="0"/>
              <a:t> for efficient GPU memory handling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dirty="0"/>
              <a:t>Helps in </a:t>
            </a:r>
            <a:r>
              <a:rPr lang="en-GB" b="1" dirty="0"/>
              <a:t>feature extraction and compression</a:t>
            </a:r>
            <a:r>
              <a:rPr lang="en-GB" dirty="0"/>
              <a:t> in large datasets.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dirty="0"/>
          </a:p>
          <a:p>
            <a:pPr marL="285750" indent="-285750" algn="l">
              <a:buFont typeface="Wingdings" pitchFamily="2" charset="2"/>
              <a:buChar char="Ø"/>
            </a:pPr>
            <a:r>
              <a:rPr lang="en-GB" dirty="0"/>
              <a:t>Essential for preprocessing high-dimensional datasets in </a:t>
            </a:r>
            <a:r>
              <a:rPr lang="en-GB" b="1" dirty="0"/>
              <a:t>computer vision, bioinformatics, and NLP</a:t>
            </a:r>
            <a:r>
              <a:rPr lang="en-GB" dirty="0"/>
              <a:t>.</a:t>
            </a:r>
            <a:endParaRPr lang="en-GB" b="1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E3F86D-D9DC-9C50-DCE2-E6A47058C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615495"/>
            <a:ext cx="4940834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36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050241C-F3DC-B231-4C58-58E5E920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157C226-F9F2-F837-8DE7-0D913511C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Integrating cuML with Deep Learning (TensorFlow/</a:t>
            </a:r>
            <a:r>
              <a:rPr lang="en-GB" b="1" i="0" u="none" strike="noStrike" dirty="0" err="1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PyTorch</a:t>
            </a:r>
            <a:r>
              <a:rPr lang="en-GB" b="1" i="0" u="none" strike="noStrike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)</a:t>
            </a: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252E3-0D6D-FA77-3A14-0229985A7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7033"/>
            <a:ext cx="4902415" cy="288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CE6FC3-46B3-4152-4121-FEB533A9F492}"/>
              </a:ext>
            </a:extLst>
          </p:cNvPr>
          <p:cNvSpPr txBox="1"/>
          <p:nvPr/>
        </p:nvSpPr>
        <p:spPr>
          <a:xfrm>
            <a:off x="5071462" y="1556087"/>
            <a:ext cx="388427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Shows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how cuML can work alongside deep learning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like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PyTorch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Moves data to GPU using .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cuda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(), but transfers it to CPU (.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cpu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().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numpy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()) before using cuML (since cuML does not support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PyTorch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tensors directly).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Enables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hybrid machine learning and deep learning workflows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useful in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reinforcement learning, AI-powered security, and fraud detection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5675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295D7D7-B865-B03A-DE38-A97A2EF2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B650C4F-3678-FB0B-C8D8-8330EAC1A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Project : Predicting House Prices using cuML</a:t>
            </a: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C4720-AC9C-08F6-3732-F51EDFB6A8E6}"/>
              </a:ext>
            </a:extLst>
          </p:cNvPr>
          <p:cNvSpPr txBox="1"/>
          <p:nvPr/>
        </p:nvSpPr>
        <p:spPr>
          <a:xfrm>
            <a:off x="272783" y="1448365"/>
            <a:ext cx="4648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Steps: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Load the dataset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(California housing dataset from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sklearn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Preprocess the data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and move it to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cuDF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for GPU processing.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Train a Linear Regression model using cuML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Compare performance with Scikit-learn (CPU-based)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Evaluate the model's performance (MSE &amp; Training Time).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8CF7C-39C3-0009-E9D7-DE97E4A64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623" y="1670049"/>
            <a:ext cx="4114801" cy="1803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1BD1CF-908F-D1C6-CDD4-CCA72DCA440C}"/>
              </a:ext>
            </a:extLst>
          </p:cNvPr>
          <p:cNvSpPr txBox="1"/>
          <p:nvPr/>
        </p:nvSpPr>
        <p:spPr>
          <a:xfrm>
            <a:off x="3657600" y="3832529"/>
            <a:ext cx="2084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For Full code click here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52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2603FA2-2E17-A8DB-C231-93582580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C28F6DF-2D30-1406-7C67-EEFDA9B29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613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Performance Tips in </a:t>
            </a:r>
            <a:r>
              <a:rPr lang="en-GB" b="1" dirty="0" err="1"/>
              <a:t>cuML</a:t>
            </a:r>
            <a:br>
              <a:rPr lang="en-GB" b="1" dirty="0"/>
            </a:b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B67DCB-30F1-CF49-BC1B-E91935ECD8F7}"/>
              </a:ext>
            </a:extLst>
          </p:cNvPr>
          <p:cNvSpPr txBox="1"/>
          <p:nvPr/>
        </p:nvSpPr>
        <p:spPr>
          <a:xfrm>
            <a:off x="335613" y="429791"/>
            <a:ext cx="761455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/>
              <a:t>To get the most out of </a:t>
            </a:r>
            <a:r>
              <a:rPr lang="en-GB" sz="1600" b="1" dirty="0" err="1"/>
              <a:t>cuML's</a:t>
            </a:r>
            <a:r>
              <a:rPr lang="en-GB" sz="1600" b="1" dirty="0"/>
              <a:t> GPU acceleration.</a:t>
            </a:r>
          </a:p>
          <a:p>
            <a:pPr>
              <a:buNone/>
            </a:pPr>
            <a:r>
              <a:rPr lang="en-GB" sz="1600" dirty="0"/>
              <a:t> Since the whole idea behind </a:t>
            </a:r>
            <a:r>
              <a:rPr lang="en-GB" sz="1600" dirty="0" err="1"/>
              <a:t>cuML</a:t>
            </a:r>
            <a:r>
              <a:rPr lang="en-GB" sz="1600" dirty="0"/>
              <a:t> is faster ML on GPUs, following these tips ensures maximum efficiency:</a:t>
            </a:r>
          </a:p>
          <a:p>
            <a:r>
              <a:rPr lang="en-GB" sz="1600" b="1" dirty="0"/>
              <a:t>Keep data in GPU memory</a:t>
            </a:r>
            <a:r>
              <a:rPr lang="en-GB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Use </a:t>
            </a:r>
            <a:r>
              <a:rPr lang="en-GB" sz="1600" dirty="0" err="1"/>
              <a:t>cupy</a:t>
            </a:r>
            <a:r>
              <a:rPr lang="en-GB" sz="1600" dirty="0"/>
              <a:t> (for arrays) or </a:t>
            </a:r>
            <a:r>
              <a:rPr lang="en-GB" sz="1600" dirty="0" err="1"/>
              <a:t>cuDF</a:t>
            </a:r>
            <a:r>
              <a:rPr lang="en-GB" sz="1600" dirty="0"/>
              <a:t> (for </a:t>
            </a:r>
            <a:r>
              <a:rPr lang="en-GB" sz="1600" dirty="0" err="1"/>
              <a:t>DataFrames</a:t>
            </a:r>
            <a:r>
              <a:rPr lang="en-GB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Transferring data back and forth between CPU and GPU slows down performance.</a:t>
            </a:r>
          </a:p>
          <a:p>
            <a:r>
              <a:rPr lang="en-GB" sz="1600" b="1" dirty="0"/>
              <a:t>Avoid frequent CPU-GPU transfers</a:t>
            </a:r>
            <a:r>
              <a:rPr lang="en-GB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Minimize operations like </a:t>
            </a:r>
            <a:r>
              <a:rPr lang="en-GB" sz="1600" dirty="0" err="1"/>
              <a:t>to_pandas</a:t>
            </a:r>
            <a:r>
              <a:rPr lang="en-GB" sz="1600" dirty="0"/>
              <a:t>() or </a:t>
            </a:r>
            <a:r>
              <a:rPr lang="en-GB" sz="1600" dirty="0" err="1"/>
              <a:t>cp.asnumpy</a:t>
            </a:r>
            <a:r>
              <a:rPr lang="en-GB" sz="1600" dirty="0"/>
              <a:t>(), which move data off the GPU.</a:t>
            </a:r>
          </a:p>
          <a:p>
            <a:r>
              <a:rPr lang="en-GB" sz="1600" b="1" dirty="0"/>
              <a:t>Use RAPIDS Memory Manager</a:t>
            </a:r>
            <a:r>
              <a:rPr lang="en-GB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For large-scale ML tasks, this helps manage GPU memory efficiently and avoid memory overflows.</a:t>
            </a:r>
          </a:p>
          <a:p>
            <a:r>
              <a:rPr lang="en-GB" sz="1600" b="1" dirty="0"/>
              <a:t>Monitor GPU usage with </a:t>
            </a:r>
            <a:r>
              <a:rPr lang="en-GB" sz="1600" b="1" dirty="0" err="1"/>
              <a:t>nvidia-smi</a:t>
            </a:r>
            <a:r>
              <a:rPr lang="en-GB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This command-line tool helps you track memory usage, running processes, and GPU load in real time.</a:t>
            </a:r>
          </a:p>
          <a:p>
            <a:r>
              <a:rPr lang="en-GB" sz="1600" dirty="0"/>
              <a:t>These tips are essential for building high-performance machine learning pipelines using </a:t>
            </a:r>
            <a:r>
              <a:rPr lang="en-GB" sz="1600" dirty="0" err="1"/>
              <a:t>cuML</a:t>
            </a:r>
            <a:r>
              <a:rPr lang="en-GB" sz="1600" dirty="0"/>
              <a:t>, especially with large datasets or real-time applications.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1352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04F1832-DFBB-34F7-0CB2-CB144A81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3FF7185-B63E-D2D8-C652-AABB88EA7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rtl="0"/>
            <a:r>
              <a:rPr lang="en-GB" sz="2600" dirty="0">
                <a:solidFill>
                  <a:srgbClr val="7030A0"/>
                </a:solidFill>
              </a:rPr>
              <a:t>Advantages and Limitations of cuML</a:t>
            </a: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</a:b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0AD86-8B88-7324-B362-E9D71FF98505}"/>
              </a:ext>
            </a:extLst>
          </p:cNvPr>
          <p:cNvSpPr txBox="1"/>
          <p:nvPr/>
        </p:nvSpPr>
        <p:spPr>
          <a:xfrm>
            <a:off x="457200" y="1019765"/>
            <a:ext cx="69494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Advantages:</a:t>
            </a:r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Massively Parallel Computation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Ideal for large datasets.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Easy Transition from scikit-learn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Similar API.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Optimized for NVIDIA GPUs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Provides huge speedups.</a:t>
            </a:r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Limitations: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Requires NVIDIA GPU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Not useful for CPU-only environments.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Memory Constraints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GPU memory is limited compared to CPU RAM.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Limited Algorithm Support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Some ML models are not yet implemented in cuML.</a:t>
            </a:r>
          </a:p>
        </p:txBody>
      </p:sp>
    </p:spTree>
    <p:extLst>
      <p:ext uri="{BB962C8B-B14F-4D97-AF65-F5344CB8AC3E}">
        <p14:creationId xmlns:p14="http://schemas.microsoft.com/office/powerpoint/2010/main" val="1431083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9DBEB7C-B117-3ED9-40B2-140627D55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4AD301A-A132-A99E-2761-3FDBF565EE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i="0" u="none" strike="noStrike" dirty="0">
                <a:solidFill>
                  <a:srgbClr val="7030A0"/>
                </a:solidFill>
                <a:effectLst/>
              </a:rPr>
              <a:t>Comparison of cuML with Scikit-learn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E7F2EE-3958-051F-6C20-336006139FF4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1401605"/>
          <a:ext cx="8521701" cy="210312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227773163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50049434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84231774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effectLst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1">
                          <a:effectLst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effectLst/>
                        </a:rPr>
                        <a:t>cuML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9476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Hardware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8013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Speed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Slower for 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Faster due to GPU acceleration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2202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 dirty="0">
                          <a:effectLst/>
                        </a:rPr>
                        <a:t>Scalability</a:t>
                      </a:r>
                      <a:endParaRPr lang="en-GB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Limited by CPU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Handles larger datasets efficiently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2632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Ease of Use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Beginner-friendly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Requires GPU knowledge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305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Algorithm Coverage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Extensive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</a:rPr>
                        <a:t>Limited but growing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805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75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85C0174-8537-5AA2-8A23-8BC1429C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EBB241A-BEC4-944E-A8A4-3CAB5B6F2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dirty="0">
                <a:solidFill>
                  <a:srgbClr val="7030A0"/>
                </a:solidFill>
              </a:rPr>
              <a:t>Recap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577DB-F5A5-FBB5-3FF8-EB7F2B841A3B}"/>
              </a:ext>
            </a:extLst>
          </p:cNvPr>
          <p:cNvSpPr txBox="1"/>
          <p:nvPr/>
        </p:nvSpPr>
        <p:spPr>
          <a:xfrm>
            <a:off x="208722" y="925145"/>
            <a:ext cx="537309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GB" sz="1600" b="1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 err="1"/>
              <a:t>cuML</a:t>
            </a:r>
            <a:r>
              <a:rPr lang="en-GB" sz="1600" dirty="0"/>
              <a:t> provides GPU-accelerated versions of popular machine learning algorithms.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It offers significant performance improvements over traditional CPU-based libraries like scikit-learn.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The API is designed to be familiar to scikit-learn users, allowing for easy transition.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err="1"/>
              <a:t>cuML</a:t>
            </a:r>
            <a:r>
              <a:rPr lang="en-GB" sz="1600" dirty="0"/>
              <a:t> is part of the RAPIDS ecosystem, enabling seamless integration with </a:t>
            </a:r>
            <a:r>
              <a:rPr lang="en-GB" sz="1600" dirty="0" err="1"/>
              <a:t>cuDF</a:t>
            </a:r>
            <a:r>
              <a:rPr lang="en-GB" sz="1600" dirty="0"/>
              <a:t> and other GPU tools.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Ideal for big data and real-time ML applications that demand speed and scalability.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 valuable tool for data scientists aiming to harness the power of NVIDIA GPUs for ML workloads.</a:t>
            </a:r>
          </a:p>
        </p:txBody>
      </p:sp>
    </p:spTree>
    <p:extLst>
      <p:ext uri="{BB962C8B-B14F-4D97-AF65-F5344CB8AC3E}">
        <p14:creationId xmlns:p14="http://schemas.microsoft.com/office/powerpoint/2010/main" val="2491530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2385150" y="435437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/>
              <a:t>Practical Implementation</a:t>
            </a:r>
            <a:endParaRPr/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0595" y="1866632"/>
            <a:ext cx="3048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80CB3-F1A8-6BBB-2FC8-E0B61E97C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6268" y="1347355"/>
            <a:ext cx="6028200" cy="1757400"/>
          </a:xfrm>
        </p:spPr>
        <p:txBody>
          <a:bodyPr/>
          <a:lstStyle/>
          <a:p>
            <a:pPr marL="11430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</a:pPr>
            <a:r>
              <a:rPr lang="en-US" dirty="0">
                <a:hlinkClick r:id="rId4"/>
              </a:rPr>
              <a:t>Click on the link below to go to Google COLAB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99367-3530-6C49-2C28-9724371E3CCD}"/>
              </a:ext>
            </a:extLst>
          </p:cNvPr>
          <p:cNvSpPr txBox="1"/>
          <p:nvPr/>
        </p:nvSpPr>
        <p:spPr>
          <a:xfrm>
            <a:off x="3447974" y="3906932"/>
            <a:ext cx="112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Click HERE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1699</Words>
  <Application>Microsoft Macintosh PowerPoint</Application>
  <PresentationFormat>On-screen Show (16:9)</PresentationFormat>
  <Paragraphs>212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IBM Plex Sans Arabic Medium</vt:lpstr>
      <vt:lpstr>Tajawal</vt:lpstr>
      <vt:lpstr>Inter</vt:lpstr>
      <vt:lpstr>Calibri</vt:lpstr>
      <vt:lpstr>IBM Plex Sans Arabic</vt:lpstr>
      <vt:lpstr>Roboto</vt:lpstr>
      <vt:lpstr>IBM Plex Sans Arabic SemiBold</vt:lpstr>
      <vt:lpstr>Wingdings</vt:lpstr>
      <vt:lpstr>Arial</vt:lpstr>
      <vt:lpstr>Simple Light</vt:lpstr>
      <vt:lpstr>أكـــــاديميــــة طــــويـــق</vt:lpstr>
      <vt:lpstr>cuML for GPU-accelerated machine learning   </vt:lpstr>
      <vt:lpstr>PowerPoint Presentation</vt:lpstr>
      <vt:lpstr>Introduction to cuML(RAPIDS Machine Learning Library)  </vt:lpstr>
      <vt:lpstr>cuML overview  </vt:lpstr>
      <vt:lpstr>Significance of cuML </vt:lpstr>
      <vt:lpstr>Installation of cuML  </vt:lpstr>
      <vt:lpstr>Installation of cuML  </vt:lpstr>
      <vt:lpstr>cuML-Supported Algorithms</vt:lpstr>
      <vt:lpstr>Using cuML's Linear Regression</vt:lpstr>
      <vt:lpstr>Real-World Applications of cuML </vt:lpstr>
      <vt:lpstr>Importing cuML and Dependencies   </vt:lpstr>
      <vt:lpstr>cuML vs. Scikit-Learn Speed Comparison    </vt:lpstr>
      <vt:lpstr>GPU-Accelerated K-Means Clustering    </vt:lpstr>
      <vt:lpstr>GPU-Accelerated Principal Component Analysis    </vt:lpstr>
      <vt:lpstr>Integrating cuML with Deep Learning (TensorFlow/PyTorch)    </vt:lpstr>
      <vt:lpstr>Project : Predicting House Prices using cuML     </vt:lpstr>
      <vt:lpstr>Performance Tips in cuML      </vt:lpstr>
      <vt:lpstr>Advantages and Limitations of cuML  </vt:lpstr>
      <vt:lpstr>Comparison of cuML with Scikit-learn  </vt:lpstr>
      <vt:lpstr>Recap  </vt:lpstr>
      <vt:lpstr>Practical Implementation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27</cp:revision>
  <dcterms:modified xsi:type="dcterms:W3CDTF">2025-04-04T09:08:53Z</dcterms:modified>
</cp:coreProperties>
</file>