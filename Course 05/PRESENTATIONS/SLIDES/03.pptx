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374" r:id="rId6"/>
    <p:sldId id="375" r:id="rId7"/>
    <p:sldId id="376" r:id="rId8"/>
    <p:sldId id="378" r:id="rId9"/>
    <p:sldId id="379" r:id="rId10"/>
    <p:sldId id="377" r:id="rId11"/>
    <p:sldId id="370" r:id="rId12"/>
    <p:sldId id="380" r:id="rId13"/>
    <p:sldId id="371" r:id="rId14"/>
    <p:sldId id="372" r:id="rId15"/>
    <p:sldId id="381" r:id="rId16"/>
    <p:sldId id="382" r:id="rId17"/>
    <p:sldId id="383" r:id="rId18"/>
    <p:sldId id="384" r:id="rId19"/>
    <p:sldId id="385" r:id="rId20"/>
    <p:sldId id="344" r:id="rId21"/>
    <p:sldId id="338" r:id="rId22"/>
    <p:sldId id="275" r:id="rId23"/>
    <p:sldId id="276" r:id="rId24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6"/>
      <p:bold r:id="rId27"/>
    </p:embeddedFont>
    <p:embeddedFont>
      <p:font typeface="IBM Plex Sans Arabic Medium" panose="020B0603050203000203" pitchFamily="34" charset="-78"/>
      <p:regular r:id="rId28"/>
      <p:bold r:id="rId29"/>
    </p:embeddedFont>
    <p:embeddedFont>
      <p:font typeface="IBM Plex Sans Arabic SemiBold" panose="020B0603050203000203" pitchFamily="34" charset="-78"/>
      <p:regular r:id="rId30"/>
      <p:bold r:id="rId31"/>
    </p:embeddedFont>
    <p:embeddedFont>
      <p:font typeface="Inter" panose="02000503000000020004" pitchFamily="2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  <p:embeddedFont>
      <p:font typeface="Tajawal" pitchFamily="2" charset="-78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1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/>
    <p:restoredTop sz="94658"/>
  </p:normalViewPr>
  <p:slideViewPr>
    <p:cSldViewPr snapToGrid="0">
      <p:cViewPr varScale="1">
        <p:scale>
          <a:sx n="160" d="100"/>
          <a:sy n="160" d="100"/>
        </p:scale>
        <p:origin x="688" y="176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8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8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8" Type="http://schemas.openxmlformats.org/officeDocument/2006/relationships/slide" Target="slides/slide7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2845CB3-76DC-BAA1-83AE-B827545A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1458642-8BA4-2690-4D31-0B1CBC4BF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B0981B1-CEAE-A505-B30D-1A53E3D6B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290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20B1B88-4754-12AE-7CFB-C846E7DB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C5D90306-C758-E6DF-FE1B-FF886116C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7FC8587-2EBE-F765-B61C-ECBD15F87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9428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328F7D5-756A-587E-2E12-34742ABC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269BFFC-0013-A0D2-2A64-638299F5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C99FD5F-7B38-FC94-8AFD-34AA9BFE6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0118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8EF74BD-5777-9B84-C1C0-F44214BE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4E8AB39-D500-F539-5DF4-FDB6067B0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22ABE86-7C99-96CE-2790-9299A9201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324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7649891-9CD7-9C4D-B458-4B265206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13990B2-6275-FA0A-766C-08B95707C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331E1D0-0E2A-3205-F2C6-B172673B0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941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D1F65D-3C73-8B89-7925-F7853810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240B16F-6029-5CC9-F495-303B8AF2E6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5C9DFAFF-93D1-08CC-476C-FA96E1397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699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1F0B07E-B670-7B62-5316-79FC13C3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A1C9827-96B0-B867-4A63-290FECDF1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2E8203FD-8AD8-55B8-0CB2-FB53535B9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873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9F11EDE-D5A2-26A5-53F7-3859F22D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C5F7B02-C3EB-56F2-ED31-1EE7657C3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5345E27-6F90-0B91-A2B3-5BF4C4939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2651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1BAE20C-6488-61B3-710B-8194DB05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82B198A-6A06-7FA6-FB71-83C8BD7A1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2546955-E4A2-20D7-7D6A-9CE60C00D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9650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DD6322C-7614-2040-E5B0-BBD18F38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DB52E72-84AB-8EF9-ECA2-A9AA2B2B7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C4473B9-EE11-729A-E524-135853BA7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0639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D8CB0C7-8E9C-F2F6-8AC5-0DA8AF33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6A2967A6-5FC5-C0EE-1110-57F7F4D06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211835C-859F-89B7-10A8-A2C04CCD7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781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E1B0D9C-1BE1-AABF-7075-6808DB0D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FEEBE93-8AB8-A614-3ADE-E1018CCC0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06EF294-9123-88B7-E817-7851A71BF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864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07F9621-0099-09B0-FA0F-0F368941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FDC0ED5-BE23-7BB2-8C97-28540BD20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598839B-F6A9-449A-28DD-91F45409C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5494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38CBEB0-0B01-4E1A-E346-65386BC3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E508619-7A85-7A66-C889-296156749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9AB2A21-58E9-1D19-F97B-B4B637C8B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237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0295ACB-1FD0-254F-F456-BBCFEC04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BECA334-DE62-1314-2A35-24F6E244E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1928A84-0C9F-A76D-7A83-C6CECAF49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6496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9C712CB-CEE5-82F6-1B54-6E3AF5BE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EC96FA2-3B48-222A-E3A5-B534A28A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18FFA20-2E22-3C83-C856-4578BCD90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71626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EF3BB1E-A59C-157E-4C83-A6DD3E76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0C82AF9-78EE-2F5B-88CA-2514B54DD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552CE50-2C76-0DEE-3FBF-8368D8C1E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375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1057469"/>
            <a:ext cx="8520600" cy="173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100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Unit 5: Cloud Infrastructure &amp; Production Deployment</a:t>
            </a:r>
            <a:br>
              <a:rPr lang="en-GB" sz="3100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rtl="0"/>
            <a:r>
              <a:rPr lang="en-GB" sz="2800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Cloud Storage Fundamentals &amp; Running Your First Cloud Analysis</a:t>
            </a:r>
          </a:p>
          <a:p>
            <a:pPr rtl="0"/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417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sz="2000" dirty="0"/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1600" dirty="0"/>
          </a:p>
          <a:p>
            <a:pPr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Define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cloud storage and its core components.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Compare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different cloud storage types (object, block, file).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Explain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key cloud storage features (durability, availability, scalability).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Evaluate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use cases for AWS S3, Azure Blob Storage, and Google Cloud Storage.</a:t>
            </a:r>
          </a:p>
          <a:p>
            <a:pPr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Set up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a cloud-based analysis environment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Execute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a basic data analysis workflow in the cloud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Compare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cloud vs. local analysis performance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Optimize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cloud resources for cost-effective analysis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Interpret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 and visualize cloud analysis results</a:t>
            </a:r>
          </a:p>
          <a:p>
            <a:pPr algn="l">
              <a:spcBef>
                <a:spcPts val="300"/>
              </a:spcBef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Introduction to C</a:t>
            </a:r>
            <a:r>
              <a:rPr lang="en-GB" sz="2800" dirty="0"/>
              <a:t>loud Storage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339E2-582F-95EA-2F60-4D6D9E923ECD}"/>
              </a:ext>
            </a:extLst>
          </p:cNvPr>
          <p:cNvSpPr txBox="1"/>
          <p:nvPr/>
        </p:nvSpPr>
        <p:spPr>
          <a:xfrm>
            <a:off x="198781" y="713964"/>
            <a:ext cx="7601447" cy="414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What is Cloud Storage?</a:t>
            </a:r>
          </a:p>
          <a:p>
            <a:pPr>
              <a:buNone/>
            </a:pPr>
            <a:br>
              <a:rPr lang="en-GB" sz="1600" dirty="0"/>
            </a:br>
            <a:r>
              <a:rPr lang="en-GB" sz="1600" dirty="0"/>
              <a:t>Cloud storage is a service model in which data is maintained, managed, backed up remotely, and made available to users over a network (typically the internet).</a:t>
            </a:r>
          </a:p>
          <a:p>
            <a:r>
              <a:rPr lang="en-GB" sz="1600" b="1" dirty="0"/>
              <a:t>Explanation in simple terms:</a:t>
            </a:r>
            <a:br>
              <a:rPr lang="en-GB" sz="1600" dirty="0"/>
            </a:br>
            <a:r>
              <a:rPr lang="en-GB" sz="1600" dirty="0"/>
              <a:t>Instead of saving your files on a USB stick or your computer's hard drive, you save them on the internet, where they’re stored on remote servers and accessed via the web.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Key Characteristics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Scalability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 Grow storage on demand.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Durability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 Data redundancy (e.g., 99.999999999% durability in AWS S3).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Accessibility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 Available globally via APIs or web interfaces.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Pay-as-you-go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 Only pay for what you use.</a:t>
            </a:r>
          </a:p>
          <a:p>
            <a:pPr algn="l">
              <a:buNone/>
            </a:pPr>
            <a:r>
              <a:rPr lang="en-GB" sz="1600" b="1" i="0" u="none" strike="noStrike" dirty="0" err="1">
                <a:solidFill>
                  <a:srgbClr val="404040"/>
                </a:solidFill>
                <a:effectLst/>
                <a:latin typeface="DeepSeek-CJK-patch"/>
              </a:rPr>
              <a:t>Analogy</a:t>
            </a:r>
            <a:r>
              <a:rPr lang="en-GB" sz="1600" b="0" i="0" u="none" strike="noStrike" dirty="0" err="1">
                <a:solidFill>
                  <a:srgbClr val="404040"/>
                </a:solidFill>
                <a:effectLst/>
                <a:latin typeface="DeepSeek-CJK-patch"/>
              </a:rPr>
              <a:t>:</a:t>
            </a:r>
            <a:r>
              <a:rPr lang="en-GB" sz="1600" b="0" i="1" u="none" strike="noStrike" dirty="0" err="1">
                <a:solidFill>
                  <a:srgbClr val="404040"/>
                </a:solidFill>
                <a:effectLst/>
                <a:latin typeface="DeepSeek-CJK-patch"/>
              </a:rPr>
              <a:t>"Like</a:t>
            </a:r>
            <a:r>
              <a:rPr lang="en-GB" sz="1600" b="0" i="1" u="none" strike="noStrike" dirty="0">
                <a:solidFill>
                  <a:srgbClr val="404040"/>
                </a:solidFill>
                <a:effectLst/>
                <a:latin typeface="DeepSeek-CJK-patch"/>
              </a:rPr>
              <a:t> a virtual hard drive accessible from anywhere."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en-GB" sz="1600" dirty="0"/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B7932CA-AE3F-5CEE-885C-625003FD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F619F4F-E7EE-0ADF-3D8B-1C2AB6AC6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How Does Cloud Storage Work?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D3AB9966-A399-E882-8AE6-B784BD2738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7D046-3CF0-E872-3B7F-5979A15EBF21}"/>
              </a:ext>
            </a:extLst>
          </p:cNvPr>
          <p:cNvSpPr txBox="1"/>
          <p:nvPr/>
        </p:nvSpPr>
        <p:spPr>
          <a:xfrm>
            <a:off x="198781" y="713964"/>
            <a:ext cx="873053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sz="1500" b="1" dirty="0"/>
              <a:t>Data is Sent to Data </a:t>
            </a:r>
            <a:r>
              <a:rPr lang="en-GB" sz="1500" b="1" dirty="0" err="1"/>
              <a:t>Centers</a:t>
            </a:r>
            <a:r>
              <a:rPr lang="en-GB" sz="1500" b="1" dirty="0"/>
              <a:t> Using the Internet</a:t>
            </a:r>
            <a:br>
              <a:rPr lang="en-GB" sz="1500" dirty="0"/>
            </a:br>
            <a:r>
              <a:rPr lang="en-GB" sz="1500" dirty="0"/>
              <a:t>When you upload a file (like a photo or document), it travels through the internet to a remote server (computer) located in a data </a:t>
            </a:r>
            <a:r>
              <a:rPr lang="en-GB" sz="1500" dirty="0" err="1"/>
              <a:t>center</a:t>
            </a:r>
            <a:r>
              <a:rPr lang="en-GB" sz="1500" dirty="0"/>
              <a:t>  a secure facility filled with powerful servers and storage systems.</a:t>
            </a:r>
          </a:p>
          <a:p>
            <a:pPr>
              <a:buFont typeface="+mj-lt"/>
              <a:buAutoNum type="arabicPeriod"/>
            </a:pPr>
            <a:endParaRPr lang="en-GB" sz="1500" dirty="0"/>
          </a:p>
          <a:p>
            <a:pPr>
              <a:buFont typeface="+mj-lt"/>
              <a:buAutoNum type="arabicPeriod"/>
            </a:pPr>
            <a:r>
              <a:rPr lang="en-GB" sz="1500" b="1" dirty="0"/>
              <a:t>Stored in Virtualized Pools of Storage</a:t>
            </a:r>
            <a:br>
              <a:rPr lang="en-GB" sz="1500" dirty="0"/>
            </a:br>
            <a:r>
              <a:rPr lang="en-GB" sz="1500" dirty="0"/>
              <a:t>Once it arrives, your data is stored in what’s called a "virtualized storage pool" which means it's stored across many physical machines, but you see it as one unified storage space. Think of it like a virtual hard drive spread across many computers.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Accessed Using Web Interfaces, APIs, or Apps</a:t>
            </a:r>
            <a:br>
              <a:rPr lang="en-GB" sz="1500" dirty="0"/>
            </a:br>
            <a:r>
              <a:rPr lang="en-GB" sz="1500" dirty="0"/>
              <a:t>You can access your data through: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500" b="1" dirty="0"/>
              <a:t>Web interfaces</a:t>
            </a:r>
            <a:r>
              <a:rPr lang="en-GB" sz="1500" dirty="0"/>
              <a:t> (like Google Drive or Dropbox on a browser)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500" b="1" dirty="0"/>
              <a:t>Mobile or desktop apps</a:t>
            </a:r>
            <a:endParaRPr lang="en-GB" sz="15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1500" b="1" dirty="0"/>
              <a:t>APIs (Application Programming Interfaces)</a:t>
            </a:r>
            <a:r>
              <a:rPr lang="en-GB" sz="1500" dirty="0"/>
              <a:t> if you're integrating it with other software systems or applications.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Managed and Maintained by Cloud Service Providers</a:t>
            </a:r>
            <a:br>
              <a:rPr lang="en-GB" sz="1500" dirty="0"/>
            </a:br>
            <a:r>
              <a:rPr lang="en-GB" sz="1500" dirty="0"/>
              <a:t>The infrastructure servers, security, backups, updates  is handled by companies like </a:t>
            </a:r>
            <a:r>
              <a:rPr lang="en-GB" sz="1500" b="1" dirty="0"/>
              <a:t>Amazon Web Services (AWS)</a:t>
            </a:r>
            <a:r>
              <a:rPr lang="en-GB" sz="1500" dirty="0"/>
              <a:t>, </a:t>
            </a:r>
            <a:r>
              <a:rPr lang="en-GB" sz="1500" b="1" dirty="0"/>
              <a:t>Microsoft Azure</a:t>
            </a:r>
            <a:r>
              <a:rPr lang="en-GB" sz="1500" dirty="0"/>
              <a:t>, or </a:t>
            </a:r>
            <a:r>
              <a:rPr lang="en-GB" sz="1500" b="1" dirty="0"/>
              <a:t>Google Cloud</a:t>
            </a:r>
            <a:r>
              <a:rPr lang="en-GB" sz="1500" dirty="0"/>
              <a:t>.</a:t>
            </a:r>
            <a:br>
              <a:rPr lang="en-GB" sz="1500" dirty="0"/>
            </a:br>
            <a:r>
              <a:rPr lang="en-GB" sz="1500" dirty="0"/>
              <a:t>You don’t need to worry about hardware failures, power, or maintenance they take care of all that.</a:t>
            </a:r>
          </a:p>
          <a:p>
            <a:endParaRPr lang="en-GB" sz="1500" dirty="0"/>
          </a:p>
          <a:p>
            <a:pPr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62481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F077CE0-09B4-8BF6-B5F3-51A11513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8E365A6-2392-D32A-1164-0BFE7E1F9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Types of Cloud Storage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4C5EDF7-C58A-5CB6-E68C-D32E4032DA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31C7A-DBC5-DD4D-7E4F-E059F95D7A78}"/>
              </a:ext>
            </a:extLst>
          </p:cNvPr>
          <p:cNvSpPr txBox="1"/>
          <p:nvPr/>
        </p:nvSpPr>
        <p:spPr>
          <a:xfrm>
            <a:off x="198781" y="713964"/>
            <a:ext cx="87305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500" dirty="0"/>
          </a:p>
          <a:p>
            <a:pPr>
              <a:buNone/>
            </a:pPr>
            <a:endParaRPr lang="en-GB" sz="15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B3DC7A-CEBF-3C86-F503-C753A04B2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76285"/>
              </p:ext>
            </p:extLst>
          </p:nvPr>
        </p:nvGraphicFramePr>
        <p:xfrm>
          <a:off x="407175" y="1113183"/>
          <a:ext cx="8521701" cy="2286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15701">
                  <a:extLst>
                    <a:ext uri="{9D8B030D-6E8A-4147-A177-3AD203B41FA5}">
                      <a16:colId xmlns:a16="http://schemas.microsoft.com/office/drawing/2014/main" val="2618273747"/>
                    </a:ext>
                  </a:extLst>
                </a:gridCol>
                <a:gridCol w="2072526">
                  <a:extLst>
                    <a:ext uri="{9D8B030D-6E8A-4147-A177-3AD203B41FA5}">
                      <a16:colId xmlns:a16="http://schemas.microsoft.com/office/drawing/2014/main" val="369506567"/>
                    </a:ext>
                  </a:extLst>
                </a:gridCol>
                <a:gridCol w="2566737">
                  <a:extLst>
                    <a:ext uri="{9D8B030D-6E8A-4147-A177-3AD203B41FA5}">
                      <a16:colId xmlns:a16="http://schemas.microsoft.com/office/drawing/2014/main" val="369786045"/>
                    </a:ext>
                  </a:extLst>
                </a:gridCol>
                <a:gridCol w="2566737">
                  <a:extLst>
                    <a:ext uri="{9D8B030D-6E8A-4147-A177-3AD203B41FA5}">
                      <a16:colId xmlns:a16="http://schemas.microsoft.com/office/drawing/2014/main" val="17117606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Use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78048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/>
                        <a:t>Object Storage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Stores data as objects, good for unstructured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Amazon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Backup, media storage, static websites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8313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/>
                        <a:t>File Storage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Data stored in files/folders, like traditional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Dropbox, Google Drive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Databases, VMs, high-performance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1534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/>
                        <a:t>Block Storage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Breaks data into blocks, suitable for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AWS EBS, Azure Disk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Shared file systems, enterprise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90969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C7E92C0-01C2-F541-DD8F-0B0BB8E60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75" y="3507478"/>
            <a:ext cx="630172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Analogy: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warehouse (you store items with tags).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filing cabinet.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Lego blocks (fast and flexible).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37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AD0B86D-2716-106F-49CF-42DD29FF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8A7EDBB-A469-4200-C055-888C2B71B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Benefits of Cloud Storage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29EE5D2-6714-A4E0-179E-E2B71913A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84EEC-4C3B-01E5-8D2C-4732A00D5B19}"/>
              </a:ext>
            </a:extLst>
          </p:cNvPr>
          <p:cNvSpPr txBox="1"/>
          <p:nvPr/>
        </p:nvSpPr>
        <p:spPr>
          <a:xfrm>
            <a:off x="198781" y="713964"/>
            <a:ext cx="8730534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sz="1500" b="1" dirty="0"/>
              <a:t>Accessibility – Access Files from Anywhere</a:t>
            </a:r>
            <a:endParaRPr lang="en-GB" sz="15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As long as you have an internet connection, you can access your files from any device, anywhere in the world.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Example: You can open your Google Docs or Dropbox files from your laptop, tablet, or phone  even while traveling.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Scalability – Easily Increase Storage as Needed</a:t>
            </a:r>
            <a:endParaRPr lang="en-GB" sz="15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Need more space? Just click a few buttons  no need to buy hardware.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Cloud storage grows with you, making it ideal for both individuals and large businesses.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Durability &amp; Redundancy – Data is Often Replicated Across Locations</a:t>
            </a:r>
            <a:endParaRPr lang="en-GB" sz="15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Cloud providers copy your data across multiple data </a:t>
            </a:r>
            <a:r>
              <a:rPr lang="en-GB" sz="1500" dirty="0" err="1"/>
              <a:t>centers</a:t>
            </a:r>
            <a:r>
              <a:rPr lang="en-GB" sz="1500" dirty="0"/>
              <a:t> to prevent loss.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Even if one server crashes or there’s a natural disaster in one area, your data remains safe and available.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Cost-Effective – Pay Only for What You Use</a:t>
            </a:r>
            <a:endParaRPr lang="en-GB" sz="15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No need to buy expensive hard drives upfront.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You pay monthly or yearly based on your actual usage  storage space, bandwidth, etc.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Automatic Backups – Data is Regularly Backed Up by the Provider</a:t>
            </a:r>
            <a:endParaRPr lang="en-GB" sz="15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Most providers automatically back up your files behind the scenes.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sz="1500" dirty="0"/>
              <a:t>This reduces the risk of losing important documents due to accidental deletion or system failure.</a:t>
            </a:r>
          </a:p>
          <a:p>
            <a:endParaRPr lang="en-GB" sz="1500" dirty="0"/>
          </a:p>
          <a:p>
            <a:pPr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6453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DF7CD2-8FCA-A809-317C-3A7BCB69D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9654630E-7CDD-4355-AE5A-D22556210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Core Features of Cloud Storage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A8A2EE2-3580-8DC5-7060-1D1E2998D0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7C5B3-F9BC-7889-6223-1A3414575A3D}"/>
              </a:ext>
            </a:extLst>
          </p:cNvPr>
          <p:cNvSpPr txBox="1"/>
          <p:nvPr/>
        </p:nvSpPr>
        <p:spPr>
          <a:xfrm>
            <a:off x="198781" y="713964"/>
            <a:ext cx="873053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1. Durability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b="1" dirty="0"/>
              <a:t>Durability</a:t>
            </a:r>
            <a:r>
              <a:rPr lang="en-GB" sz="1600" dirty="0"/>
              <a:t> means how well your data is protected from being lost or corrupted.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Cloud storage providers (like AWS, Google Cloud) use multiple copies across multiple data </a:t>
            </a:r>
            <a:r>
              <a:rPr lang="en-GB" sz="1600" dirty="0" err="1"/>
              <a:t>centers</a:t>
            </a:r>
            <a:r>
              <a:rPr lang="en-GB" sz="1600" dirty="0"/>
              <a:t> to make sure your files are safe.</a:t>
            </a:r>
          </a:p>
          <a:p>
            <a:pPr marL="285750" indent="-285750">
              <a:buFont typeface="Wingdings" pitchFamily="2" charset="2"/>
              <a:buChar char="ü"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Example: </a:t>
            </a:r>
            <a:r>
              <a:rPr lang="en-GB" sz="1600" dirty="0"/>
              <a:t>AWS S3 offers 99.999999999% durability (called “11 nines”)</a:t>
            </a:r>
            <a:br>
              <a:rPr lang="en-GB" sz="1600" dirty="0"/>
            </a:br>
            <a:r>
              <a:rPr lang="en-GB" sz="1600" dirty="0"/>
              <a:t>That’s like losing only 1 file every 10 million stored for 10,000 years!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2. Availability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b="1" dirty="0"/>
              <a:t>Availability</a:t>
            </a:r>
            <a:r>
              <a:rPr lang="en-GB" sz="1600" dirty="0"/>
              <a:t> refers to how often the cloud service is accessible and running without interruption.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It’s measured as a percentage of uptime per year.</a:t>
            </a:r>
          </a:p>
          <a:p>
            <a:pPr>
              <a:buNone/>
            </a:pPr>
            <a:r>
              <a:rPr lang="en-GB" sz="1600" dirty="0"/>
              <a:t>Example: AWS S3 Standard offers 99.99% availability,</a:t>
            </a:r>
            <a:br>
              <a:rPr lang="en-GB" sz="1600" dirty="0"/>
            </a:br>
            <a:r>
              <a:rPr lang="en-GB" sz="1600" dirty="0"/>
              <a:t>which means less than 1 hour of downtime per year (~53 minutes).</a:t>
            </a:r>
          </a:p>
          <a:p>
            <a:endParaRPr lang="en-GB" sz="1600" dirty="0"/>
          </a:p>
          <a:p>
            <a:pPr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54853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FB0F1E1-E244-5B31-25EF-3EAFB197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2AC6ED0-B5B6-1255-0D7F-6A20841F2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Core Features of Cloud Storage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D6340DA9-9854-5B34-0558-91B63020BF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C4520-76BD-6133-0E31-118BBD88F255}"/>
              </a:ext>
            </a:extLst>
          </p:cNvPr>
          <p:cNvSpPr txBox="1"/>
          <p:nvPr/>
        </p:nvSpPr>
        <p:spPr>
          <a:xfrm>
            <a:off x="110268" y="562889"/>
            <a:ext cx="87305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500" b="1" dirty="0"/>
              <a:t>3. Storage Classes</a:t>
            </a:r>
          </a:p>
          <a:p>
            <a:r>
              <a:rPr lang="en-GB" sz="1500" dirty="0"/>
              <a:t>Cloud providers offer </a:t>
            </a:r>
            <a:r>
              <a:rPr lang="en-GB" sz="1500" b="1" dirty="0"/>
              <a:t>different classes of storage</a:t>
            </a:r>
            <a:r>
              <a:rPr lang="en-GB" sz="1500" dirty="0"/>
              <a:t> depending on how often you need to access your data:</a:t>
            </a:r>
          </a:p>
          <a:p>
            <a:endParaRPr lang="en-GB" sz="1500" dirty="0"/>
          </a:p>
          <a:p>
            <a:endParaRPr lang="en-GB" sz="1500" dirty="0"/>
          </a:p>
          <a:p>
            <a:pPr>
              <a:buNone/>
            </a:pPr>
            <a:endParaRPr lang="en-GB" sz="15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FCD4A5-C940-1720-CF96-5021C52D2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823531"/>
              </p:ext>
            </p:extLst>
          </p:nvPr>
        </p:nvGraphicFramePr>
        <p:xfrm>
          <a:off x="303198" y="1427424"/>
          <a:ext cx="8521700" cy="18592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1049313507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49106453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21376873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611263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Storage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Speed of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85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Hot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Frequently accessed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Fast (instant access)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24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Cold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Rarely accessed backups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Slight delay (hours)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12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Archive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Long-term storage (e.g. logs)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Cheapest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Delay (can take days)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1021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3BF8CD-A7B3-EC3C-7046-89E7312F2123}"/>
              </a:ext>
            </a:extLst>
          </p:cNvPr>
          <p:cNvSpPr txBox="1"/>
          <p:nvPr/>
        </p:nvSpPr>
        <p:spPr>
          <a:xfrm>
            <a:off x="637098" y="3415388"/>
            <a:ext cx="46475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In </a:t>
            </a:r>
            <a:r>
              <a:rPr lang="en-GB" b="1" dirty="0"/>
              <a:t>AWS S3</a:t>
            </a:r>
            <a:r>
              <a:rPr lang="en-GB" dirty="0"/>
              <a:t>, this is like: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S3 Standard (Hot)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S3 Standard-IA (Cold)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S3 Glacier / Glacier Deep Archive (Archive)</a:t>
            </a:r>
          </a:p>
        </p:txBody>
      </p:sp>
    </p:spTree>
    <p:extLst>
      <p:ext uri="{BB962C8B-B14F-4D97-AF65-F5344CB8AC3E}">
        <p14:creationId xmlns:p14="http://schemas.microsoft.com/office/powerpoint/2010/main" val="3455163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686D77C-4928-491D-740E-726E431A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76440E7-7B0E-6F8D-9388-F4408F927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Limitations of Cloud Storage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0050253B-AA95-848C-1E31-9EDDB41593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D581A-637D-16BF-3463-8AB9FDB4E68E}"/>
              </a:ext>
            </a:extLst>
          </p:cNvPr>
          <p:cNvSpPr txBox="1"/>
          <p:nvPr/>
        </p:nvSpPr>
        <p:spPr>
          <a:xfrm>
            <a:off x="198781" y="713964"/>
            <a:ext cx="8730534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Requires Internet – No Access Without a Stable Connection</a:t>
            </a:r>
            <a:endParaRPr lang="en-GB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Cloud storage depends on an internet connection.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If you're in an area with poor or no internet (like during a power outage or while traveling in remote regions), you may not be able to access your files.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Ongoing Costs – Subscription or Pay-as-You-Go Model</a:t>
            </a:r>
            <a:endParaRPr lang="en-GB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Unlike buying a physical hard drive once, cloud storage typically follows a monthly or annual subscription model.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Costs can add up over time, especially for large storage needs or frequent access to data.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Security Concerns – Risk of Data Breaches</a:t>
            </a:r>
            <a:endParaRPr lang="en-GB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If not properly secured, cloud-stored data can be vulnerable to hacking, unauthorized access, or data leaks.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Users must rely on the provider’s security protocols and also take steps like enabling multi-factor authentication and using strong passwords.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 Latency – Slower Access for Large Files Compared to Local Storage</a:t>
            </a:r>
            <a:endParaRPr lang="en-GB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Uploading or downloading large files from the cloud can be slower than accessing files saved directly on your device.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GB" dirty="0"/>
              <a:t>This is especially noticeable when working with high-resolution videos, large datasets, or 3D files.</a:t>
            </a:r>
          </a:p>
          <a:p>
            <a:endParaRPr lang="en-GB" sz="1500" dirty="0"/>
          </a:p>
          <a:p>
            <a:pPr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53125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2EB1455-0A0D-5E7D-4201-69E5AF71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012D518-CE63-9864-BE0E-5045B5C65D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Real-World Use Cases of Cloud Storage</a:t>
            </a: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64F6DE76-3A81-EEAF-CD50-6A2AC2F21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D0326F1-318E-4314-47E2-D3AB7578B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40" y="654465"/>
            <a:ext cx="831031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600" b="1" dirty="0"/>
              <a:t>Personal Use: Google Drive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What it is:</a:t>
            </a:r>
            <a:r>
              <a:rPr lang="en-GB" sz="1600" dirty="0"/>
              <a:t> A cloud-based storage service by Google.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How it's used:</a:t>
            </a:r>
            <a:r>
              <a:rPr lang="en-GB" sz="1600" dirty="0"/>
              <a:t> People use Google Drive to save documents, photos, videos, and other files.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Why it's useful:</a:t>
            </a:r>
            <a:r>
              <a:rPr lang="en-GB" sz="1600" dirty="0"/>
              <a:t> Files can be accessed from any device (phone, tablet, laptop) with internet access. It also allows for easy sharing and collaboration on documents in real time.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r>
              <a:rPr lang="en-GB" sz="1600" b="1" dirty="0"/>
              <a:t>Business Use: Dropbox Business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What it is:</a:t>
            </a:r>
            <a:r>
              <a:rPr lang="en-GB" sz="1600" dirty="0"/>
              <a:t> A cloud storage solution tailored for teams and companies.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How it's used:</a:t>
            </a:r>
            <a:r>
              <a:rPr lang="en-GB" sz="1600" dirty="0"/>
              <a:t> Teams can share and manage files across different departments and locations.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Why it's useful:</a:t>
            </a:r>
            <a:r>
              <a:rPr lang="en-GB" sz="1600" dirty="0"/>
              <a:t> It offers advanced features like admin controls, file versioning, and integrations with other productivity tools, improving collaboration and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57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1D4783-C062-C0BA-4F1C-9088732C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A4E5C832-6A53-0F97-C559-4055A1E82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Real-World Use Cases of Cloud Storage</a:t>
            </a: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5CB843E-1EA3-3ADC-8D73-15512BF7DB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7CDBAD-628F-FB3A-DBCD-431E591C1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19" y="921086"/>
            <a:ext cx="8111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GB" sz="1600" b="1" dirty="0"/>
              <a:t>Backup &amp; Recovery: iCloud for iPhones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What it is:</a:t>
            </a:r>
            <a:r>
              <a:rPr lang="en-GB" sz="1600" dirty="0"/>
              <a:t> Apple’s cloud backup service.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How it's used:</a:t>
            </a:r>
            <a:r>
              <a:rPr lang="en-GB" sz="1600" dirty="0"/>
              <a:t> Automatically backs up iPhone data such as contacts, messages, app data, and photos.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Why it's useful:</a:t>
            </a:r>
            <a:r>
              <a:rPr lang="en-GB" sz="1600" dirty="0"/>
              <a:t> In case the phone is lost, damaged, or replaced, users can quickly restore all their data on a new device.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Web Hosting: Amazon S3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What it is:</a:t>
            </a:r>
            <a:r>
              <a:rPr lang="en-GB" sz="1600" dirty="0"/>
              <a:t> Amazon Simple Storage Service (S3), a part of AWS.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How it's used:</a:t>
            </a:r>
            <a:r>
              <a:rPr lang="en-GB" sz="1600" dirty="0"/>
              <a:t> Used by developers and companies to store and serve website assets like images, videos, scripts, and other static files.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Why it's useful:</a:t>
            </a:r>
            <a:r>
              <a:rPr lang="en-GB" sz="1600" dirty="0"/>
              <a:t> It's highly durable, scalable, and integrates easily with websites and applications. Plus, it allows files to be accessed globally with low latency.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2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84017BA-2081-E126-1D7E-B9172ACD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9087069-3DBA-66D5-8387-104820CA1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Key Cloud Storage Providers</a:t>
            </a: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F071428-4D28-2AC1-B4C6-3C7AABDEE5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D37831-FB1F-1688-1A2B-809DEEECE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593719"/>
              </p:ext>
            </p:extLst>
          </p:nvPr>
        </p:nvGraphicFramePr>
        <p:xfrm>
          <a:off x="207782" y="1380209"/>
          <a:ext cx="8521701" cy="18592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235056266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055968339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41694021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600" b="1"/>
                        <a:t>Provider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Storage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Highlight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9803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Amazon S3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Scalable storage for web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6874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 dirty="0"/>
                        <a:t>Google Drive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Personal &amp; collaboration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7401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Microsoft OneDrive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Integrated with Microsoft 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1758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Dropbox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Easy sharing and syncing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0665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Azure Blob Storage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Microsoft’s cloud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34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87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6DB98C2-4A7F-CDE6-DBA6-D7497A3E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E0B49B9-AE8D-ADDE-A8C2-A9C53CCF4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Cloud vs. Traditional Storage (Comparison Table)</a:t>
            </a: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ED007FD0-FCFD-F5FF-7E78-102A492B56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72EA43-EED4-681D-2910-BE93B1B1E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90099"/>
              </p:ext>
            </p:extLst>
          </p:nvPr>
        </p:nvGraphicFramePr>
        <p:xfrm>
          <a:off x="311149" y="1657350"/>
          <a:ext cx="8521701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17719709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01599765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78348328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Cloud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Traditional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837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Accessibility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Anywhere with 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Limited to physical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5549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Pay-as-you-go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 upfront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8158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Automatic &amp; remote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Manual or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2506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Easily scalable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Limited by hardware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1717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dirty="0"/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Handled by provider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Handled by user or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324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697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932E7E8-A932-E2B3-9F1E-4795A5DC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68AC56C-4EF4-5184-58C3-34B10C80C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  <a:t>Introduction to Cloud Analysis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2033BEEB-E8FB-297A-43AF-EE747EB4BF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04B24-0E7E-241F-3E33-7385BDC60A38}"/>
              </a:ext>
            </a:extLst>
          </p:cNvPr>
          <p:cNvSpPr txBox="1"/>
          <p:nvPr/>
        </p:nvSpPr>
        <p:spPr>
          <a:xfrm>
            <a:off x="620202" y="725588"/>
            <a:ext cx="632526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Definition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: Performing data processing and analytics using cloud-based resources instead of local machines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Why Cloud Analysis?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Scalability: Handle datasets too large for local machines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Flexibility: Access specialized hardware (GPUs, TPUs)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Collaboration: Share results and environments easily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Common Use Cases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Big data processing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Machine learning model training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Business intelligence dashboards</a:t>
            </a:r>
          </a:p>
          <a:p>
            <a:pPr marL="285750" indent="-285750" algn="l">
              <a:spcBef>
                <a:spcPts val="300"/>
              </a:spcBef>
              <a:buFont typeface="Wingdings" pitchFamily="2" charset="2"/>
              <a:buChar char="Ø"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Demo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: Show a real-world example (e.g., COVID-19 data analysis in the cloud)</a:t>
            </a: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713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A7F34EB-1681-8987-2FD2-6561A53B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8F86186-E235-E57B-86F3-DC510BC53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  <a:t>Setting Up Your Cloud Environment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1094D6B3-301B-BE2F-EF1E-3338FAC41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11E3D-C917-CC97-F448-4217B4DE9787}"/>
              </a:ext>
            </a:extLst>
          </p:cNvPr>
          <p:cNvSpPr txBox="1"/>
          <p:nvPr/>
        </p:nvSpPr>
        <p:spPr>
          <a:xfrm>
            <a:off x="620202" y="725588"/>
            <a:ext cx="63252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Option 1: Cloud Notebooks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Google </a:t>
            </a:r>
            <a:r>
              <a:rPr lang="en-GB" sz="1600" b="1" i="0" u="none" strike="noStrike" dirty="0" err="1">
                <a:solidFill>
                  <a:srgbClr val="404040"/>
                </a:solidFill>
                <a:effectLst/>
                <a:latin typeface="+mj-lt"/>
              </a:rPr>
              <a:t>Colab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Free GPU access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Collaborative features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AWS </a:t>
            </a:r>
            <a:r>
              <a:rPr lang="en-GB" sz="1600" b="1" i="0" u="none" strike="noStrike" dirty="0" err="1">
                <a:solidFill>
                  <a:srgbClr val="404040"/>
                </a:solidFill>
                <a:effectLst/>
                <a:latin typeface="+mj-lt"/>
              </a:rPr>
              <a:t>SageMaker</a:t>
            </a: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 Notebooks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Integrated with AWS services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Enterprise-grade security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Option 2: Virtual Machines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AWS EC2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Choose instance types (CPU vs. GPU optimized)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Google Compute Engine</a:t>
            </a:r>
            <a:endParaRPr lang="en-GB" sz="1600" b="0" i="0" u="none" strike="noStrike" dirty="0">
              <a:solidFill>
                <a:srgbClr val="404040"/>
              </a:solidFill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Pre-configured data science VMs</a:t>
            </a:r>
          </a:p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+mj-lt"/>
              </a:rPr>
              <a:t>Activity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: Students create a free-tier cloud notebook</a:t>
            </a:r>
          </a:p>
          <a:p>
            <a:pPr>
              <a:buNone/>
            </a:pPr>
            <a:br>
              <a:rPr lang="en-GB" sz="1600" dirty="0">
                <a:latin typeface="+mj-lt"/>
              </a:rPr>
            </a:b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549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D94F44D-4EB2-28D4-1BE0-4C788441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6F15F4D-4E21-7B34-62AF-95C17EBEC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Running Your First Analysis</a:t>
            </a:r>
            <a:br>
              <a:rPr lang="en-GB" sz="32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93489BD-94B1-7774-6A2C-9957006ADA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B3A2E-FA9F-58A6-4F22-A3C74767A6E7}"/>
              </a:ext>
            </a:extLst>
          </p:cNvPr>
          <p:cNvSpPr txBox="1"/>
          <p:nvPr/>
        </p:nvSpPr>
        <p:spPr>
          <a:xfrm>
            <a:off x="620202" y="725588"/>
            <a:ext cx="6325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Sample Workflow: COVID-19 Data Analysis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Data Ingestion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6BC90-8020-BEE6-A055-652FF99A4C81}"/>
              </a:ext>
            </a:extLst>
          </p:cNvPr>
          <p:cNvSpPr txBox="1"/>
          <p:nvPr/>
        </p:nvSpPr>
        <p:spPr>
          <a:xfrm>
            <a:off x="2071315" y="1030752"/>
            <a:ext cx="518027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 err="1"/>
              <a:t>url</a:t>
            </a:r>
            <a:r>
              <a:rPr lang="en-US" dirty="0"/>
              <a:t> = "https://</a:t>
            </a:r>
            <a:r>
              <a:rPr lang="en-US" dirty="0" err="1"/>
              <a:t>covid.ourworldindata.org</a:t>
            </a:r>
            <a:r>
              <a:rPr lang="en-US" dirty="0"/>
              <a:t>/data/</a:t>
            </a:r>
            <a:r>
              <a:rPr lang="en-US" dirty="0" err="1"/>
              <a:t>owid</a:t>
            </a:r>
            <a:r>
              <a:rPr lang="en-US" dirty="0"/>
              <a:t>-covid-</a:t>
            </a:r>
            <a:r>
              <a:rPr lang="en-US" dirty="0" err="1"/>
              <a:t>data.csv</a:t>
            </a:r>
            <a:r>
              <a:rPr lang="en-US" dirty="0"/>
              <a:t>"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2F05A-B0C5-2F00-58F0-71225091302A}"/>
              </a:ext>
            </a:extLst>
          </p:cNvPr>
          <p:cNvSpPr txBox="1"/>
          <p:nvPr/>
        </p:nvSpPr>
        <p:spPr>
          <a:xfrm>
            <a:off x="620202" y="2022593"/>
            <a:ext cx="4715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2. Data Processing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FBD08-FDDB-E51F-BEE5-4CB56C23D64A}"/>
              </a:ext>
            </a:extLst>
          </p:cNvPr>
          <p:cNvSpPr txBox="1"/>
          <p:nvPr/>
        </p:nvSpPr>
        <p:spPr>
          <a:xfrm>
            <a:off x="2222390" y="2112314"/>
            <a:ext cx="5029199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# Filter and aggregate data</a:t>
            </a:r>
          </a:p>
          <a:p>
            <a:r>
              <a:rPr lang="en-US" dirty="0"/>
              <a:t>latest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['date'] == </a:t>
            </a:r>
            <a:r>
              <a:rPr lang="en-US" dirty="0" err="1"/>
              <a:t>df</a:t>
            </a:r>
            <a:r>
              <a:rPr lang="en-US" dirty="0"/>
              <a:t>['date'].max()]</a:t>
            </a:r>
          </a:p>
          <a:p>
            <a:r>
              <a:rPr lang="en-US" dirty="0"/>
              <a:t>summary = </a:t>
            </a:r>
            <a:r>
              <a:rPr lang="en-US" dirty="0" err="1"/>
              <a:t>latest.groupby</a:t>
            </a:r>
            <a:r>
              <a:rPr lang="en-US" dirty="0"/>
              <a:t>('continent')['</a:t>
            </a:r>
            <a:r>
              <a:rPr lang="en-US" dirty="0" err="1"/>
              <a:t>total_cases</a:t>
            </a:r>
            <a:r>
              <a:rPr lang="en-US" dirty="0"/>
              <a:t>'].sum()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EB668-6621-31F9-435E-D6C8979ED076}"/>
              </a:ext>
            </a:extLst>
          </p:cNvPr>
          <p:cNvSpPr txBox="1"/>
          <p:nvPr/>
        </p:nvSpPr>
        <p:spPr>
          <a:xfrm>
            <a:off x="620202" y="2950817"/>
            <a:ext cx="4715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3. Visualization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B79D2-A668-6D2E-3C59-DE6B6C5524BA}"/>
              </a:ext>
            </a:extLst>
          </p:cNvPr>
          <p:cNvSpPr txBox="1"/>
          <p:nvPr/>
        </p:nvSpPr>
        <p:spPr>
          <a:xfrm>
            <a:off x="2071315" y="3014090"/>
            <a:ext cx="471512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 err="1"/>
              <a:t>summary.plot</a:t>
            </a:r>
            <a:r>
              <a:rPr lang="en-US" dirty="0"/>
              <a:t>(kind='bar')</a:t>
            </a:r>
          </a:p>
          <a:p>
            <a:r>
              <a:rPr lang="en-US" dirty="0" err="1"/>
              <a:t>plt.title</a:t>
            </a:r>
            <a:r>
              <a:rPr lang="en-US" dirty="0"/>
              <a:t>('Total COVID Cases by Continent')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7667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74E60EE-4E03-9537-D160-A055C2B0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3AA4AD3-3A15-FF8D-4120-E7318C9CA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  <a:t>Performance Benchmarking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6461A143-5498-7DC8-7730-B576C15E5A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2CF7D-C5C6-5476-0858-DCD017F15E3D}"/>
              </a:ext>
            </a:extLst>
          </p:cNvPr>
          <p:cNvSpPr txBox="1"/>
          <p:nvPr/>
        </p:nvSpPr>
        <p:spPr>
          <a:xfrm>
            <a:off x="620202" y="725588"/>
            <a:ext cx="6325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sz="1600" dirty="0"/>
            </a:br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CAD989-9ADA-13A7-BAB0-9281FD189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128946"/>
              </p:ext>
            </p:extLst>
          </p:nvPr>
        </p:nvGraphicFramePr>
        <p:xfrm>
          <a:off x="255491" y="2571750"/>
          <a:ext cx="8521700" cy="12115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06950">
                  <a:extLst>
                    <a:ext uri="{9D8B030D-6E8A-4147-A177-3AD203B41FA5}">
                      <a16:colId xmlns:a16="http://schemas.microsoft.com/office/drawing/2014/main" val="2004685487"/>
                    </a:ext>
                  </a:extLst>
                </a:gridCol>
                <a:gridCol w="2857375">
                  <a:extLst>
                    <a:ext uri="{9D8B030D-6E8A-4147-A177-3AD203B41FA5}">
                      <a16:colId xmlns:a16="http://schemas.microsoft.com/office/drawing/2014/main" val="187708696"/>
                    </a:ext>
                  </a:extLst>
                </a:gridCol>
                <a:gridCol w="2857375">
                  <a:extLst>
                    <a:ext uri="{9D8B030D-6E8A-4147-A177-3AD203B41FA5}">
                      <a16:colId xmlns:a16="http://schemas.microsoft.com/office/drawing/2014/main" val="273423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Dataset Size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Local Time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>
                          <a:effectLst/>
                        </a:rPr>
                        <a:t>Cloud Time (GPU)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427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1GB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5 min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45 sec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569758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10GB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Fails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3 min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08688753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53239B0-4FB6-9E42-DA78-E741798E6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928517"/>
            <a:ext cx="3940181" cy="1775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47591" rIns="0" bIns="14759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Exercise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: Compare local vs. cloud runtime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Run analysis on local machine (time 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Run same analysis in cloud notebook (time 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Compare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DeepSeek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Sample Results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F971B-C293-D862-D065-0F8173CC7A0F}"/>
              </a:ext>
            </a:extLst>
          </p:cNvPr>
          <p:cNvSpPr txBox="1"/>
          <p:nvPr/>
        </p:nvSpPr>
        <p:spPr>
          <a:xfrm>
            <a:off x="1123121" y="4110135"/>
            <a:ext cx="4711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Discussion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: When does cloud analysis make sense?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9829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8A0E911-5D68-2C00-202E-DD4C7B3E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8AC595C-5EA2-657D-65ED-ADEF9091C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675"/>
            <a:ext cx="8386967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  <a:t>Cost Optimization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sz="2800" b="1" dirty="0"/>
            </a:br>
            <a:br>
              <a:rPr lang="en-GB" sz="2800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E866814-D594-E28B-794A-C4BFD1EB2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2CC9D-8F3D-2698-D51E-B76F8B571A7A}"/>
              </a:ext>
            </a:extLst>
          </p:cNvPr>
          <p:cNvSpPr txBox="1"/>
          <p:nvPr/>
        </p:nvSpPr>
        <p:spPr>
          <a:xfrm>
            <a:off x="620202" y="725588"/>
            <a:ext cx="6325262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Cloud Cost Factors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Compute time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Storage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Data transfer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endParaRPr lang="en-GB" sz="2000" b="0" i="0" u="none" strike="noStrike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buNone/>
            </a:pPr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Money-Saving Tips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Use spot instances</a:t>
            </a:r>
          </a:p>
          <a:p>
            <a:pPr marL="342900" indent="-34290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Auto-shutdown unused resources</a:t>
            </a:r>
          </a:p>
          <a:p>
            <a:pPr marL="342900" indent="-342900" algn="l">
              <a:spcBef>
                <a:spcPts val="300"/>
              </a:spcBef>
              <a:buFont typeface="Wingdings" pitchFamily="2" charset="2"/>
              <a:buChar char="ü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Right-size instances</a:t>
            </a:r>
          </a:p>
          <a:p>
            <a:pPr algn="l">
              <a:spcBef>
                <a:spcPts val="300"/>
              </a:spcBef>
            </a:pPr>
            <a:endParaRPr lang="en-GB" sz="2000" b="0" i="0" u="none" strike="noStrike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/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Activity</a:t>
            </a: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: Estimate costs using AWS/GCP pricing calculators</a:t>
            </a:r>
          </a:p>
          <a:p>
            <a:pPr>
              <a:buNone/>
            </a:pPr>
            <a:br>
              <a:rPr lang="en-GB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925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BBECF7B-C240-3941-9609-42E0F97E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A784DC6-1F40-2455-914A-022D6F525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D699E-E9FA-B771-627F-1D736BE0EE43}"/>
              </a:ext>
            </a:extLst>
          </p:cNvPr>
          <p:cNvSpPr txBox="1"/>
          <p:nvPr/>
        </p:nvSpPr>
        <p:spPr>
          <a:xfrm>
            <a:off x="243895" y="1053842"/>
            <a:ext cx="75801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+mj-lt"/>
              </a:rPr>
              <a:t>Cloud storage lets users store and access data over the internet.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+mj-lt"/>
              </a:rPr>
              <a:t>Comes in object, file, and block storage types.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+mj-lt"/>
              </a:rPr>
              <a:t>Offers flexibility, cost savings, and ease of use but needs internet and security awareness.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+mj-lt"/>
              </a:rPr>
              <a:t>Commonly used in personal, academic, and business settings.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Cloud analysis enables </a:t>
            </a:r>
            <a:r>
              <a:rPr lang="en-GB" sz="1600" i="0" u="none" strike="noStrike" dirty="0">
                <a:solidFill>
                  <a:srgbClr val="404040"/>
                </a:solidFill>
                <a:effectLst/>
                <a:latin typeface="+mj-lt"/>
              </a:rPr>
              <a:t>scalable processing 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of large datasets using remote resources (GPUs/TPUs), overcoming local hardware limitations.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+mj-lt"/>
              </a:rPr>
              <a:t>Performance benchmarks show 10x+ speedups for big data tasks.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+mj-lt"/>
              </a:rPr>
              <a:t>Monitor resources to avoid over-spending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latin typeface="+mj-lt"/>
              </a:rPr>
              <a:t>Use spot instances for 60-90% cost savings</a:t>
            </a:r>
          </a:p>
        </p:txBody>
      </p:sp>
    </p:spTree>
    <p:extLst>
      <p:ext uri="{BB962C8B-B14F-4D97-AF65-F5344CB8AC3E}">
        <p14:creationId xmlns:p14="http://schemas.microsoft.com/office/powerpoint/2010/main" val="1462988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CC4C207-91AB-90C3-A9BA-51FB7865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0211CF9-29D8-6FF6-32E6-70A5E3B32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104061"/>
            <a:ext cx="764066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Resources &amp; Further Reading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2800" b="1" dirty="0"/>
            </a:br>
            <a:br>
              <a:rPr lang="en-GB" sz="3200" b="1" dirty="0"/>
            </a:b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2800" b="1" kern="0" dirty="0">
                <a:solidFill>
                  <a:srgbClr val="7030A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GB" b="1" dirty="0"/>
            </a:br>
            <a:br>
              <a:rPr lang="en-GB" b="1" dirty="0"/>
            </a:br>
            <a:br>
              <a:rPr lang="en-GB" sz="1200" b="1" dirty="0"/>
            </a:br>
            <a:br>
              <a:rPr lang="en-GB" sz="1200" dirty="0"/>
            </a:br>
            <a:br>
              <a:rPr lang="en-GB" sz="1600" b="0" dirty="0">
                <a:solidFill>
                  <a:schemeClr val="tx1"/>
                </a:solidFill>
                <a:latin typeface="+mj-lt"/>
              </a:rPr>
            </a:br>
            <a:br>
              <a:rPr lang="en-GB" b="1" dirty="0"/>
            </a:br>
            <a:br>
              <a:rPr lang="en-GB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1" i="0" u="none" strike="noStrike" dirty="0">
                <a:solidFill>
                  <a:srgbClr val="404040"/>
                </a:solidFill>
                <a:effectLst/>
                <a:latin typeface="Inter"/>
              </a:rPr>
            </a:br>
            <a:endParaRPr lang="en-GB" b="1" i="0" u="none" strike="noStrike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F04DC-DA86-8B89-0FBB-B21E140CD690}"/>
              </a:ext>
            </a:extLst>
          </p:cNvPr>
          <p:cNvSpPr txBox="1"/>
          <p:nvPr/>
        </p:nvSpPr>
        <p:spPr>
          <a:xfrm>
            <a:off x="304238" y="731961"/>
            <a:ext cx="6850250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1600" b="1" dirty="0"/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Free Cloud Credits: AWS Educate, Google Cloud Free Tier</a:t>
            </a:r>
          </a:p>
          <a:p>
            <a:pPr marL="342900" indent="-342900" algn="l">
              <a:spcBef>
                <a:spcPts val="300"/>
              </a:spcBef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  <a:t>Datasets: Google Cloud Public Datasets, AWS Open Data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</a:pPr>
            <a:r>
              <a:rPr lang="en-GB" sz="1600" b="1" dirty="0">
                <a:solidFill>
                  <a:srgbClr val="404040"/>
                </a:solidFill>
                <a:latin typeface="DeepSeek-CJK-patch"/>
              </a:rPr>
              <a:t>Data Science on AWS” Authors: Chris </a:t>
            </a:r>
            <a:r>
              <a:rPr lang="en-GB" sz="1600" b="1" dirty="0" err="1">
                <a:solidFill>
                  <a:srgbClr val="404040"/>
                </a:solidFill>
                <a:latin typeface="DeepSeek-CJK-patch"/>
              </a:rPr>
              <a:t>Fregly</a:t>
            </a:r>
            <a:r>
              <a:rPr lang="en-GB" sz="1600" b="1" dirty="0">
                <a:solidFill>
                  <a:srgbClr val="404040"/>
                </a:solidFill>
                <a:latin typeface="DeepSeek-CJK-patch"/>
              </a:rPr>
              <a:t> &amp; Antje Barth Publisher: O'Reilly (2021)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</a:pPr>
            <a:r>
              <a:rPr lang="en-GB" sz="1600" b="1" dirty="0">
                <a:solidFill>
                  <a:srgbClr val="404040"/>
                </a:solidFill>
                <a:latin typeface="DeepSeek-CJK-patch"/>
              </a:rPr>
              <a:t>Google Cloud for Data Science Authors: </a:t>
            </a:r>
            <a:r>
              <a:rPr lang="en-GB" sz="1600" b="1" dirty="0" err="1">
                <a:solidFill>
                  <a:srgbClr val="404040"/>
                </a:solidFill>
                <a:latin typeface="DeepSeek-CJK-patch"/>
              </a:rPr>
              <a:t>Valliappa</a:t>
            </a:r>
            <a:r>
              <a:rPr lang="en-GB" sz="1600" b="1" dirty="0">
                <a:solidFill>
                  <a:srgbClr val="404040"/>
                </a:solidFill>
                <a:latin typeface="DeepSeek-CJK-patch"/>
              </a:rPr>
              <a:t> Lakshmanan &amp; Jordan Tigani, Publisher: O'Reilly (2022)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</a:pPr>
            <a:endParaRPr lang="en-GB" sz="1600" b="1" dirty="0">
              <a:solidFill>
                <a:srgbClr val="404040"/>
              </a:solidFill>
              <a:latin typeface="DeepSeek-CJK-patch"/>
            </a:endParaRPr>
          </a:p>
          <a:p>
            <a:pPr marL="342900" indent="-342900" algn="l">
              <a:spcBef>
                <a:spcPts val="300"/>
              </a:spcBef>
              <a:buFont typeface="+mj-lt"/>
              <a:buAutoNum type="arabicPeriod"/>
            </a:pPr>
            <a:endParaRPr lang="en-GB" sz="1600" b="0" i="0" u="none" strike="noStrike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/>
            <a:endParaRPr lang="en-GB" sz="16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3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2250</Words>
  <Application>Microsoft Macintosh PowerPoint</Application>
  <PresentationFormat>On-screen Show (16:9)</PresentationFormat>
  <Paragraphs>273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Roboto</vt:lpstr>
      <vt:lpstr>Segoe UI</vt:lpstr>
      <vt:lpstr>Inter</vt:lpstr>
      <vt:lpstr>DeepSeek-CJK-patch</vt:lpstr>
      <vt:lpstr>Tajawal</vt:lpstr>
      <vt:lpstr>IBM Plex Sans Arabic</vt:lpstr>
      <vt:lpstr>Calibri</vt:lpstr>
      <vt:lpstr>Wingdings</vt:lpstr>
      <vt:lpstr>IBM Plex Sans Arabic SemiBold</vt:lpstr>
      <vt:lpstr>Aptos</vt:lpstr>
      <vt:lpstr>IBM Plex Sans Arabic Medium</vt:lpstr>
      <vt:lpstr>Arial</vt:lpstr>
      <vt:lpstr>Simple Light</vt:lpstr>
      <vt:lpstr>أكـــــاديميــــة طــــويـــق</vt:lpstr>
      <vt:lpstr>  Unit 5: Cloud Infrastructure &amp; Production Deployment  </vt:lpstr>
      <vt:lpstr>PowerPoint Presentation</vt:lpstr>
      <vt:lpstr>Introduction to Cloud Storage     </vt:lpstr>
      <vt:lpstr>How Does Cloud Storage Work?      </vt:lpstr>
      <vt:lpstr>Types of Cloud Storage       </vt:lpstr>
      <vt:lpstr>Benefits of Cloud Storage       </vt:lpstr>
      <vt:lpstr>Core Features of Cloud Storage        </vt:lpstr>
      <vt:lpstr>Core Features of Cloud Storage        </vt:lpstr>
      <vt:lpstr>Limitations of Cloud Storage        </vt:lpstr>
      <vt:lpstr>Real-World Use Cases of Cloud Storage      </vt:lpstr>
      <vt:lpstr>Real-World Use Cases of Cloud Storage      </vt:lpstr>
      <vt:lpstr>Key Cloud Storage Providers      </vt:lpstr>
      <vt:lpstr>Cloud vs. Traditional Storage (Comparison Table)      </vt:lpstr>
      <vt:lpstr>Introduction to Cloud Analysis       </vt:lpstr>
      <vt:lpstr>Setting Up Your Cloud Environment        </vt:lpstr>
      <vt:lpstr>Running Your First Analysis         </vt:lpstr>
      <vt:lpstr>Performance Benchmarking         </vt:lpstr>
      <vt:lpstr>Cost Optimization         </vt:lpstr>
      <vt:lpstr>Summary:         </vt:lpstr>
      <vt:lpstr>Resources &amp; Further Reading                 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44</cp:revision>
  <dcterms:modified xsi:type="dcterms:W3CDTF">2025-04-06T00:52:56Z</dcterms:modified>
</cp:coreProperties>
</file>