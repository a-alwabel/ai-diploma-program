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99" r:id="rId6"/>
    <p:sldId id="345" r:id="rId7"/>
    <p:sldId id="346" r:id="rId8"/>
    <p:sldId id="339" r:id="rId9"/>
    <p:sldId id="277" r:id="rId10"/>
    <p:sldId id="289" r:id="rId11"/>
    <p:sldId id="347" r:id="rId12"/>
    <p:sldId id="300" r:id="rId13"/>
    <p:sldId id="301" r:id="rId14"/>
    <p:sldId id="302" r:id="rId15"/>
    <p:sldId id="349" r:id="rId16"/>
    <p:sldId id="350" r:id="rId17"/>
    <p:sldId id="290" r:id="rId18"/>
    <p:sldId id="348" r:id="rId19"/>
    <p:sldId id="352" r:id="rId20"/>
    <p:sldId id="351" r:id="rId21"/>
    <p:sldId id="353" r:id="rId22"/>
    <p:sldId id="354" r:id="rId23"/>
    <p:sldId id="355" r:id="rId24"/>
    <p:sldId id="356" r:id="rId25"/>
    <p:sldId id="344" r:id="rId26"/>
    <p:sldId id="338" r:id="rId27"/>
    <p:sldId id="275" r:id="rId28"/>
    <p:sldId id="276" r:id="rId29"/>
  </p:sldIdLst>
  <p:sldSz cx="9144000" cy="5143500" type="screen16x9"/>
  <p:notesSz cx="6858000" cy="9144000"/>
  <p:embeddedFontLs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00503000000020004" pitchFamily="2"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Segoe UI" panose="020B0502040204020203" pitchFamily="34" charset="0"/>
      <p:regular r:id="rId45"/>
      <p:bold r:id="rId46"/>
      <p:italic r:id="rId47"/>
      <p:boldItalic r:id="rId48"/>
    </p:embeddedFont>
    <p:embeddedFont>
      <p:font typeface="Tajawal" pitchFamily="2" charset="-78"/>
      <p:regular r:id="rId49"/>
      <p:bold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1"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5"/>
    <p:restoredTop sz="94650"/>
  </p:normalViewPr>
  <p:slideViewPr>
    <p:cSldViewPr snapToGrid="0">
      <p:cViewPr>
        <p:scale>
          <a:sx n="160" d="100"/>
          <a:sy n="160" d="100"/>
        </p:scale>
        <p:origin x="1408" y="984"/>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84"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82"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8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7.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836A9D2-F727-48C1-2B4F-3D006CA3CEB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F4FDA0-A74C-B2D6-FB9D-29FD884150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096E665B-753A-DACD-AB73-99EAA3F64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0846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1048635-2A24-8E8B-656B-B74D7FBD03A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90C47B0-2774-F6AE-2A99-470213B8C6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B92A0113-159F-C770-63E3-CE25C4ACD4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723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81BCA04-E513-4D6B-C5C1-7DBEBC97E22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FCF15E6-15C6-9D5C-462B-AA18B031A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8DB36474-9500-E8AC-BFC1-E37A51649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3649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93E30B6-7CD5-3C3F-6413-5839E7ED3F6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64625E1-BC7D-41F8-F913-E3581FE105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B5286A2F-5959-060A-FC28-9FEADBE08D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7453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1AD9250-5886-DD78-0A4D-058B017C90D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7D27D27-4545-5FFB-CF85-99C5F401BD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D0680113-8711-039C-65A5-F03BF541D2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8588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1DBEC0B-5F2A-7641-990B-7CC5539F5FF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402806A-E72C-CA47-7DBC-D48ED6665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4ECD1969-C2F0-1AA4-C75D-4C753BCC2D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235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0E78AE8-0731-FD7D-1831-4E5C941B0D4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559608D-C542-B1D6-8D3F-14C1F02060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3FD30DFB-B5A8-3644-E098-7C3C72C630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8947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669A4EE-6BE4-4C0F-E86F-9C4E273C52B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BD6569C-8356-3F99-CF10-BC0883C25B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6AF4047-73E4-1FE6-0CAE-B8868D1B79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8907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E5D1805-A9C4-36E9-2B82-78959FA0BBA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F8FEC4E-EF6B-83FD-1759-9D642169F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B2AA0DFF-3136-BE8A-0B2D-54671A3965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321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3EAA022-EA89-4C79-6692-7EE8DD88DDF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F03D8D7-67BA-D272-D0CF-EB157CBC1E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5FAA1A2B-F509-E940-12CB-EF23702997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0248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F77CB96-A183-3FE9-94F4-D43B00AF4CE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69A1D83-B51E-483F-77C2-554EBB9AC7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BF0B0925-E0F9-8AF6-592D-851B1D7C9F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6575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D49B8AD-34D4-B257-B926-8C5F27EFD3C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CD30475-1E3B-BB65-C85B-A86AA8954D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53E42F7-896E-4119-8334-03C7179DC5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670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91726B7-23FF-F33D-FA07-A2EF62B3E50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87963C2-AE5E-755C-1B3A-F2CD431C13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65CC53A0-350B-25BD-06F8-F1087A62E5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9820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EA17AB0-1A95-FB21-2695-6E5E8D881C4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316A8D7-2A8C-CDF5-45D2-B24898BE66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AD5A52A9-050D-E444-A6C5-661AD04D5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877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1277661-3FF3-B4E6-F4F4-4A03ABB1A1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8EAACEE-EE45-5059-156E-0E43F1AD18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1DDB872-591C-55B5-BD93-E82F7C6522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03746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A4718B5-F838-BAA6-E59E-49DECD9F04A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618AF3F-AEBA-4B3E-6304-063C986AA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1EFBF9E2-EB2C-CD81-0257-D45246074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830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B199FD5-B841-2E9D-B26A-C3380CAE90D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7349A76-8117-B218-F42F-7FBCDA6FED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2073737A-A015-4895-7B42-94EFF15A2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7388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A850DFD-B6D9-A4D5-B7F1-59594007BD2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7365C81-23D6-2629-4652-107F5005E9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B27AA2C1-D474-EB05-9DE5-44D6ABD5BC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5629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37C0E0E-DDDD-6338-289E-E4E74DE89DE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8718C84-2312-E5E8-2701-6D1A879F24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05C0FDBB-3F0D-7FB1-8A00-5FB4882506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87239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B10BDD3-E521-5378-02AE-395A259A641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0848B66-0C57-3B38-8DF8-236A95FA84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4E9E77C8-AFC7-AE05-9352-BF81263E86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6154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C712CB-CEE5-82F6-1B54-6E3AF5BE8CE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C96FA2-3B48-222A-E3A5-B534A28A8D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718FFA20-2E22-3C83-C856-4578BCD90F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71626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EF3BB1E-A59C-157E-4C83-A6DD3E76AA0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0C82AF9-78EE-2F5B-88CA-2514B54DD4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p4:notes">
            <a:extLst>
              <a:ext uri="{FF2B5EF4-FFF2-40B4-BE49-F238E27FC236}">
                <a16:creationId xmlns:a16="http://schemas.microsoft.com/office/drawing/2014/main" id="{A552CE50-2C76-0DEE-3FBF-8368D8C1EF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23755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joblib.readthedocs.io/" TargetMode="External"/><Relationship Id="rId7" Type="http://schemas.openxmlformats.org/officeDocument/2006/relationships/hyperlink" Target="https://realpython.com/python-parallel-processing/" TargetMode="External"/><Relationship Id="rId2" Type="http://schemas.openxmlformats.org/officeDocument/2006/relationships/notesSlide" Target="../notesSlides/notesSlide26.xml"/><Relationship Id="rId1" Type="http://schemas.openxmlformats.org/officeDocument/2006/relationships/slideLayout" Target="../slideLayouts/slideLayout3.xml"/><Relationship Id="rId6" Type="http://schemas.openxmlformats.org/officeDocument/2006/relationships/hyperlink" Target="https://blog.dask.org/2019/01/08/learn-scikit" TargetMode="External"/><Relationship Id="rId5" Type="http://schemas.openxmlformats.org/officeDocument/2006/relationships/hyperlink" Target="https://ml.dask.org/" TargetMode="External"/><Relationship Id="rId4" Type="http://schemas.openxmlformats.org/officeDocument/2006/relationships/hyperlink" Target="https://docs.dask.org/"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27.xml"/><Relationship Id="rId16" Type="http://schemas.openxmlformats.org/officeDocument/2006/relationships/image" Target="../media/image21.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Scalable Data Science</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8" y="1057469"/>
            <a:ext cx="8520600" cy="1739706"/>
          </a:xfrm>
          <a:prstGeom prst="rect">
            <a:avLst/>
          </a:prstGeom>
          <a:noFill/>
          <a:ln>
            <a:noFill/>
          </a:ln>
        </p:spPr>
        <p:txBody>
          <a:bodyPr spcFirstLastPara="1" wrap="square" lIns="91425" tIns="91425" rIns="91425" bIns="91425" anchor="b" anchorCtr="0">
            <a:normAutofit fontScale="90000"/>
          </a:bodyPr>
          <a:lstStyle/>
          <a:p>
            <a:br>
              <a:rPr lang="en-US" sz="4000" dirty="0">
                <a:latin typeface="Calibri"/>
                <a:ea typeface="Calibri"/>
                <a:cs typeface="Calibri"/>
                <a:sym typeface="Calibri"/>
              </a:rPr>
            </a:br>
            <a:br>
              <a:rPr lang="en-US" sz="4000" dirty="0">
                <a:latin typeface="Calibri"/>
                <a:ea typeface="Calibri"/>
                <a:cs typeface="Calibri"/>
                <a:sym typeface="Calibri"/>
              </a:rPr>
            </a:br>
            <a:r>
              <a:rPr lang="en-GB" sz="3100" i="0" u="none" strike="noStrike" dirty="0">
                <a:solidFill>
                  <a:srgbClr val="7030A0"/>
                </a:solidFill>
                <a:effectLst/>
                <a:latin typeface="Inter" panose="02000503000000020004" pitchFamily="2" charset="0"/>
              </a:rPr>
              <a:t>Scaling Scikit-learn with </a:t>
            </a:r>
            <a:r>
              <a:rPr lang="en-GB" sz="3100" i="0" u="none" strike="noStrike" dirty="0" err="1">
                <a:solidFill>
                  <a:srgbClr val="7030A0"/>
                </a:solidFill>
                <a:effectLst/>
                <a:latin typeface="Inter" panose="02000503000000020004" pitchFamily="2" charset="0"/>
              </a:rPr>
              <a:t>Joblib</a:t>
            </a:r>
            <a:r>
              <a:rPr lang="en-GB" sz="3100" i="0" u="none" strike="noStrike" dirty="0">
                <a:solidFill>
                  <a:srgbClr val="7030A0"/>
                </a:solidFill>
                <a:effectLst/>
                <a:latin typeface="Inter" panose="02000503000000020004" pitchFamily="2" charset="0"/>
              </a:rPr>
              <a:t> and </a:t>
            </a:r>
            <a:r>
              <a:rPr lang="en-GB" sz="3100" i="0" u="none" strike="noStrike" dirty="0" err="1">
                <a:solidFill>
                  <a:srgbClr val="7030A0"/>
                </a:solidFill>
                <a:effectLst/>
                <a:latin typeface="Inter" panose="02000503000000020004" pitchFamily="2" charset="0"/>
              </a:rPr>
              <a:t>Dask</a:t>
            </a:r>
            <a:br>
              <a:rPr lang="en-US" sz="4000" dirty="0">
                <a:latin typeface="Calibri"/>
                <a:ea typeface="Calibri"/>
                <a:cs typeface="Calibri"/>
                <a:sym typeface="Calibri"/>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lvl="0" indent="-342900" algn="ctr" rtl="1">
              <a:lnSpc>
                <a:spcPct val="100000"/>
              </a:lnSpc>
              <a:spcBef>
                <a:spcPts val="0"/>
              </a:spcBef>
              <a:spcAft>
                <a:spcPts val="0"/>
              </a:spcAft>
              <a:buSzPts val="2500"/>
              <a:buFont typeface="Tajawal"/>
              <a:buNone/>
            </a:pP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4406294"/>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endParaRPr dirty="0"/>
          </a:p>
          <a:p>
            <a:pPr marL="342900" marR="0" lvl="0" indent="-342900" algn="just" rtl="0">
              <a:lnSpc>
                <a:spcPct val="125000"/>
              </a:lnSpc>
              <a:spcBef>
                <a:spcPts val="1000"/>
              </a:spcBef>
              <a:spcAft>
                <a:spcPts val="0"/>
              </a:spcAft>
              <a:buFont typeface="Wingdings" pitchFamily="2" charset="2"/>
              <a:buChar char="Ø"/>
            </a:pPr>
            <a:endParaRPr lang="en-US" sz="1600" dirty="0"/>
          </a:p>
          <a:p>
            <a:pPr marL="342900" indent="-342900">
              <a:buFont typeface="+mj-lt"/>
              <a:buAutoNum type="arabicPeriod"/>
            </a:pPr>
            <a:r>
              <a:rPr lang="en-GB" sz="1600" dirty="0"/>
              <a:t>Understand the limitations of scikit-learn when working with large datasets or complex pipelines.</a:t>
            </a:r>
          </a:p>
          <a:p>
            <a:pPr marL="342900" indent="-342900">
              <a:buFont typeface="+mj-lt"/>
              <a:buAutoNum type="arabicPeriod"/>
            </a:pPr>
            <a:r>
              <a:rPr lang="en-GB" sz="1600" dirty="0"/>
              <a:t>Learn how to implement parallel computing in scikit-learn using </a:t>
            </a:r>
            <a:r>
              <a:rPr lang="en-GB" sz="1600" b="1" dirty="0" err="1"/>
              <a:t>Joblib</a:t>
            </a:r>
            <a:r>
              <a:rPr lang="en-GB" sz="1600" dirty="0"/>
              <a:t> for efficient local computation.</a:t>
            </a:r>
          </a:p>
          <a:p>
            <a:pPr marL="342900" indent="-342900">
              <a:buFont typeface="+mj-lt"/>
              <a:buAutoNum type="arabicPeriod"/>
            </a:pPr>
            <a:r>
              <a:rPr lang="en-GB" sz="1600" dirty="0"/>
              <a:t>Explore the capabilities of </a:t>
            </a:r>
            <a:r>
              <a:rPr lang="en-GB" sz="1600" b="1" dirty="0" err="1"/>
              <a:t>Dask</a:t>
            </a:r>
            <a:r>
              <a:rPr lang="en-GB" sz="1600" dirty="0"/>
              <a:t> for distributed computing and scaling machine learning workflows beyond a single machine.</a:t>
            </a:r>
          </a:p>
          <a:p>
            <a:pPr marL="342900" indent="-342900">
              <a:buFont typeface="+mj-lt"/>
              <a:buAutoNum type="arabicPeriod"/>
            </a:pPr>
            <a:r>
              <a:rPr lang="en-GB" sz="1600" dirty="0"/>
              <a:t>Apply parallel and distributed techniques to real-world machine learning tasks such as </a:t>
            </a:r>
            <a:r>
              <a:rPr lang="en-GB" sz="1600" b="1" dirty="0"/>
              <a:t>cross-validation</a:t>
            </a:r>
            <a:r>
              <a:rPr lang="en-GB" sz="1600" dirty="0"/>
              <a:t> and </a:t>
            </a:r>
            <a:r>
              <a:rPr lang="en-GB" sz="1600" b="1" dirty="0"/>
              <a:t>hyperparameter tuning</a:t>
            </a:r>
            <a:r>
              <a:rPr lang="en-GB" sz="1600" dirty="0"/>
              <a:t>.</a:t>
            </a:r>
          </a:p>
          <a:p>
            <a:pPr marL="342900" indent="-342900">
              <a:buFont typeface="+mj-lt"/>
              <a:buAutoNum type="arabicPeriod"/>
            </a:pPr>
            <a:r>
              <a:rPr lang="en-GB" sz="1600" dirty="0"/>
              <a:t>Compare and contrast the features, use cases, and performance of </a:t>
            </a:r>
            <a:r>
              <a:rPr lang="en-GB" sz="1600" b="1" dirty="0" err="1"/>
              <a:t>Joblib</a:t>
            </a:r>
            <a:r>
              <a:rPr lang="en-GB" sz="1600" dirty="0"/>
              <a:t> and </a:t>
            </a:r>
            <a:r>
              <a:rPr lang="en-GB" sz="1600" b="1" dirty="0" err="1"/>
              <a:t>Dask</a:t>
            </a:r>
            <a:r>
              <a:rPr lang="en-GB" sz="1600" dirty="0"/>
              <a:t> in different scenarios.</a:t>
            </a:r>
          </a:p>
          <a:p>
            <a:pPr marL="342900" indent="-342900">
              <a:buFont typeface="+mj-lt"/>
              <a:buAutoNum type="arabicPeriod"/>
            </a:pPr>
            <a:r>
              <a:rPr lang="en-GB" sz="1600" dirty="0"/>
              <a:t>Develop best practices for profiling, optimizing, and monitoring machine learning workflows using </a:t>
            </a:r>
            <a:r>
              <a:rPr lang="en-GB" sz="1600" dirty="0" err="1"/>
              <a:t>Joblib</a:t>
            </a:r>
            <a:r>
              <a:rPr lang="en-GB" sz="1600" dirty="0"/>
              <a:t> and </a:t>
            </a:r>
            <a:r>
              <a:rPr lang="en-GB" sz="1600" dirty="0" err="1"/>
              <a:t>Dask</a:t>
            </a:r>
            <a:r>
              <a:rPr lang="en-GB" sz="1600" dirty="0"/>
              <a: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4"/>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Introduction</a:t>
            </a:r>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6A7B2FB-F1D0-B703-37E3-F7BCF16345E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C8339E2-582F-95EA-2F60-4D6D9E923ECD}"/>
              </a:ext>
            </a:extLst>
          </p:cNvPr>
          <p:cNvSpPr txBox="1"/>
          <p:nvPr/>
        </p:nvSpPr>
        <p:spPr>
          <a:xfrm>
            <a:off x="174929" y="802035"/>
            <a:ext cx="4667415" cy="3170099"/>
          </a:xfrm>
          <a:prstGeom prst="rect">
            <a:avLst/>
          </a:prstGeom>
          <a:noFill/>
        </p:spPr>
        <p:txBody>
          <a:bodyPr wrap="square">
            <a:spAutoFit/>
          </a:bodyPr>
          <a:lstStyle/>
          <a:p>
            <a:r>
              <a:rPr lang="en-GB" sz="2000" dirty="0"/>
              <a:t>Scikit-learn is one of the most widely used machine learning libraries in Python, offering simple and efficient tools for data mining and analysis. However, when working with large datasets or computationally intensive models, the need arises to scale scikit-</a:t>
            </a:r>
            <a:r>
              <a:rPr lang="en-GB" sz="2000" dirty="0" err="1"/>
              <a:t>learn’s</a:t>
            </a:r>
            <a:r>
              <a:rPr lang="en-GB" sz="2000" dirty="0"/>
              <a:t> operations. Two popular tools for parallelizing and scaling scikit-learn workflows are </a:t>
            </a:r>
            <a:r>
              <a:rPr lang="en-GB" sz="2000" b="1" dirty="0" err="1"/>
              <a:t>Joblib</a:t>
            </a:r>
            <a:r>
              <a:rPr lang="en-GB" sz="2000" dirty="0"/>
              <a:t> and </a:t>
            </a:r>
            <a:r>
              <a:rPr lang="en-GB" sz="2000" b="1" dirty="0" err="1"/>
              <a:t>Dask</a:t>
            </a:r>
            <a:r>
              <a:rPr lang="en-GB" sz="2000" dirty="0"/>
              <a:t>.</a:t>
            </a:r>
          </a:p>
        </p:txBody>
      </p:sp>
      <p:pic>
        <p:nvPicPr>
          <p:cNvPr id="15362" name="Picture 2" descr="scikit-learn - Wikipedia">
            <a:extLst>
              <a:ext uri="{FF2B5EF4-FFF2-40B4-BE49-F238E27FC236}">
                <a16:creationId xmlns:a16="http://schemas.microsoft.com/office/drawing/2014/main" id="{83C53DFA-73A9-33A7-1269-16EB2169B4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3601" y="1339334"/>
            <a:ext cx="3886200" cy="2095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854220-6F8F-AC6D-3846-86ABD12F9A6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E48F435-0CDD-2E7D-A42B-40550AA598A1}"/>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Why Scaling is Needed in Scikit-learn</a:t>
            </a:r>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B703276-5F47-36B1-D8E7-D99D6E583E5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F080FA3-C1DD-7CC8-94FA-A168FF85A7ED}"/>
              </a:ext>
            </a:extLst>
          </p:cNvPr>
          <p:cNvSpPr txBox="1"/>
          <p:nvPr/>
        </p:nvSpPr>
        <p:spPr>
          <a:xfrm>
            <a:off x="469397" y="941519"/>
            <a:ext cx="7124773" cy="3293209"/>
          </a:xfrm>
          <a:prstGeom prst="rect">
            <a:avLst/>
          </a:prstGeom>
          <a:noFill/>
        </p:spPr>
        <p:txBody>
          <a:bodyPr wrap="square">
            <a:spAutoFit/>
          </a:bodyPr>
          <a:lstStyle/>
          <a:p>
            <a:pPr marL="342900" indent="-342900">
              <a:buFont typeface="+mj-lt"/>
              <a:buAutoNum type="arabicPeriod"/>
            </a:pPr>
            <a:r>
              <a:rPr lang="en-GB" sz="1600" b="1" dirty="0"/>
              <a:t>Limited Scope for Big Data</a:t>
            </a:r>
            <a:r>
              <a:rPr lang="en-GB" sz="1600" dirty="0"/>
              <a:t>: Scikit-learn is optimized for small to medium datasets; it can struggle with memory and computation when working with large-scale data.</a:t>
            </a:r>
          </a:p>
          <a:p>
            <a:pPr marL="342900" indent="-342900">
              <a:buFont typeface="+mj-lt"/>
              <a:buAutoNum type="arabicPeriod"/>
            </a:pPr>
            <a:r>
              <a:rPr lang="en-GB" sz="1600" b="1" dirty="0"/>
              <a:t>Lack of Built-in Parallelism</a:t>
            </a:r>
            <a:r>
              <a:rPr lang="en-GB" sz="1600" dirty="0"/>
              <a:t>: Most machine learning algorithms in scikit-learn are not parallelized by default, so they may not fully utilize multi-core processors.</a:t>
            </a:r>
          </a:p>
          <a:p>
            <a:pPr marL="342900" indent="-342900">
              <a:buFont typeface="+mj-lt"/>
              <a:buAutoNum type="arabicPeriod"/>
            </a:pPr>
            <a:r>
              <a:rPr lang="en-GB" sz="1600" b="1" dirty="0"/>
              <a:t>Intensive Tasks</a:t>
            </a:r>
            <a:r>
              <a:rPr lang="en-GB" sz="1600" dirty="0"/>
              <a:t>: Operations such as grid search for hyperparameter tuning, cross-validation, and complex pipelines require significant computation, which slows down with growing data.</a:t>
            </a:r>
          </a:p>
          <a:p>
            <a:pPr marL="342900" indent="-342900">
              <a:buFont typeface="+mj-lt"/>
              <a:buAutoNum type="arabicPeriod"/>
            </a:pPr>
            <a:r>
              <a:rPr lang="en-GB" sz="1600" b="1" dirty="0"/>
              <a:t>Need for External Tools</a:t>
            </a:r>
            <a:r>
              <a:rPr lang="en-GB" sz="1600" dirty="0"/>
              <a:t>: To overcome these limitations, external libraries like </a:t>
            </a:r>
            <a:r>
              <a:rPr lang="en-GB" sz="1600" b="1" dirty="0" err="1"/>
              <a:t>Joblib</a:t>
            </a:r>
            <a:r>
              <a:rPr lang="en-GB" sz="1600" dirty="0"/>
              <a:t> (for parallel processing) and </a:t>
            </a:r>
            <a:r>
              <a:rPr lang="en-GB" sz="1600" b="1" dirty="0" err="1"/>
              <a:t>Dask</a:t>
            </a:r>
            <a:r>
              <a:rPr lang="en-GB" sz="1600" dirty="0"/>
              <a:t> (for distributed computing) are used.</a:t>
            </a:r>
          </a:p>
          <a:p>
            <a:pPr marL="342900" indent="-342900">
              <a:buFont typeface="+mj-lt"/>
              <a:buAutoNum type="arabicPeriod"/>
            </a:pPr>
            <a:endParaRPr lang="en-GB" sz="1600" dirty="0"/>
          </a:p>
        </p:txBody>
      </p:sp>
    </p:spTree>
    <p:extLst>
      <p:ext uri="{BB962C8B-B14F-4D97-AF65-F5344CB8AC3E}">
        <p14:creationId xmlns:p14="http://schemas.microsoft.com/office/powerpoint/2010/main" val="3141960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3CB918A-4C99-DDD2-0F6C-40390265BA4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532C2C-D865-01CC-C2D1-334D6ADF35B2}"/>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r>
              <a:rPr lang="en-GB" sz="2800" b="1" dirty="0"/>
              <a:t>2. Parallel Processing with </a:t>
            </a:r>
            <a:r>
              <a:rPr lang="en-GB" sz="2800" b="1" dirty="0" err="1"/>
              <a:t>Joblib</a:t>
            </a:r>
            <a:br>
              <a:rPr lang="en-GB" sz="2800" b="1" dirty="0"/>
            </a:br>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62A924-02FC-5FAE-A624-5A330BBD65D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C97EB18-DCF8-045C-6E12-C3377F09259F}"/>
              </a:ext>
            </a:extLst>
          </p:cNvPr>
          <p:cNvSpPr txBox="1"/>
          <p:nvPr/>
        </p:nvSpPr>
        <p:spPr>
          <a:xfrm>
            <a:off x="469397" y="941519"/>
            <a:ext cx="7712495" cy="3785652"/>
          </a:xfrm>
          <a:prstGeom prst="rect">
            <a:avLst/>
          </a:prstGeom>
          <a:noFill/>
        </p:spPr>
        <p:txBody>
          <a:bodyPr wrap="square">
            <a:spAutoFit/>
          </a:bodyPr>
          <a:lstStyle/>
          <a:p>
            <a:r>
              <a:rPr lang="en-GB" sz="1600" b="1" dirty="0" err="1"/>
              <a:t>Joblib</a:t>
            </a:r>
            <a:r>
              <a:rPr lang="en-GB" sz="1600" b="1" dirty="0"/>
              <a:t> is a library used by scikit-learn under the hood for parallel execution, especially during tasks like cross-validation and hyperparameter tuning.</a:t>
            </a:r>
            <a:endParaRPr lang="en-GB" sz="1600" dirty="0"/>
          </a:p>
          <a:p>
            <a:r>
              <a:rPr lang="en-GB" sz="1600" b="1" dirty="0"/>
              <a:t>Explanation:</a:t>
            </a:r>
          </a:p>
          <a:p>
            <a:pPr marL="285750" indent="-285750">
              <a:buFont typeface="Wingdings" pitchFamily="2" charset="2"/>
              <a:buChar char="Ø"/>
            </a:pPr>
            <a:r>
              <a:rPr lang="en-GB" sz="1600" b="1" dirty="0" err="1"/>
              <a:t>Joblib</a:t>
            </a:r>
            <a:r>
              <a:rPr lang="en-GB" sz="1600" dirty="0"/>
              <a:t> is a Python library that enables parallel computing by running tasks across multiple CPU cores.</a:t>
            </a:r>
          </a:p>
          <a:p>
            <a:pPr marL="285750" indent="-285750">
              <a:buFont typeface="Wingdings" pitchFamily="2" charset="2"/>
              <a:buChar char="Ø"/>
            </a:pPr>
            <a:r>
              <a:rPr lang="en-GB" sz="1600" dirty="0"/>
              <a:t>In </a:t>
            </a:r>
            <a:r>
              <a:rPr lang="en-GB" sz="1600" b="1" dirty="0"/>
              <a:t>scikit-learn</a:t>
            </a:r>
            <a:r>
              <a:rPr lang="en-GB" sz="1600" dirty="0"/>
              <a:t>, many operations (like </a:t>
            </a:r>
            <a:r>
              <a:rPr lang="en-GB" sz="1600" dirty="0" err="1"/>
              <a:t>GridSearchCV</a:t>
            </a:r>
            <a:r>
              <a:rPr lang="en-GB" sz="1600" dirty="0"/>
              <a:t>, </a:t>
            </a:r>
            <a:r>
              <a:rPr lang="en-GB" sz="1600" dirty="0" err="1"/>
              <a:t>cross_val_score</a:t>
            </a:r>
            <a:r>
              <a:rPr lang="en-GB" sz="1600" dirty="0"/>
              <a:t>, and some model training) use </a:t>
            </a:r>
            <a:r>
              <a:rPr lang="en-GB" sz="1600" b="1" dirty="0" err="1"/>
              <a:t>Joblib</a:t>
            </a:r>
            <a:r>
              <a:rPr lang="en-GB" sz="1600" dirty="0"/>
              <a:t> internally.</a:t>
            </a:r>
          </a:p>
          <a:p>
            <a:r>
              <a:rPr lang="en-GB" sz="1600" dirty="0"/>
              <a:t>When you see a parameter like </a:t>
            </a:r>
            <a:r>
              <a:rPr lang="en-GB" sz="1600" dirty="0" err="1"/>
              <a:t>n_jobs</a:t>
            </a:r>
            <a:r>
              <a:rPr lang="en-GB" sz="1600" dirty="0"/>
              <a:t> in scikit-learn, that's where </a:t>
            </a:r>
            <a:r>
              <a:rPr lang="en-GB" sz="1600" b="1" dirty="0" err="1"/>
              <a:t>Joblib</a:t>
            </a:r>
            <a:r>
              <a:rPr lang="en-GB" sz="1600" dirty="0"/>
              <a:t> often comes into play:</a:t>
            </a:r>
          </a:p>
          <a:p>
            <a:pPr marL="800100" lvl="1" indent="-342900">
              <a:buFont typeface="+mj-lt"/>
              <a:buAutoNum type="arabicPeriod"/>
            </a:pPr>
            <a:r>
              <a:rPr lang="en-GB" sz="1600" dirty="0" err="1"/>
              <a:t>n_jobs</a:t>
            </a:r>
            <a:r>
              <a:rPr lang="en-GB" sz="1600" dirty="0"/>
              <a:t>=1: runs on a single core.</a:t>
            </a:r>
          </a:p>
          <a:p>
            <a:pPr marL="800100" lvl="1" indent="-342900">
              <a:buFont typeface="+mj-lt"/>
              <a:buAutoNum type="arabicPeriod"/>
            </a:pPr>
            <a:r>
              <a:rPr lang="en-GB" sz="1600" dirty="0" err="1"/>
              <a:t>n_jobs</a:t>
            </a:r>
            <a:r>
              <a:rPr lang="en-GB" sz="1600" dirty="0"/>
              <a:t>=-1: uses all available cores for parallel processing.</a:t>
            </a:r>
          </a:p>
          <a:p>
            <a:r>
              <a:rPr lang="en-GB" sz="1600" dirty="0"/>
              <a:t>This parallelism is especially useful in </a:t>
            </a:r>
            <a:r>
              <a:rPr lang="en-GB" sz="1600" b="1" dirty="0"/>
              <a:t>computationally intensive tasks</a:t>
            </a:r>
            <a:r>
              <a:rPr lang="en-GB" sz="1600" dirty="0"/>
              <a:t> like:</a:t>
            </a:r>
          </a:p>
          <a:p>
            <a:pPr marL="800100" lvl="1" indent="-342900">
              <a:buFont typeface="+mj-lt"/>
              <a:buAutoNum type="arabicPeriod"/>
            </a:pPr>
            <a:r>
              <a:rPr lang="en-GB" sz="1600" dirty="0"/>
              <a:t>Cross-validation (splitting data multiple times and training models)</a:t>
            </a:r>
          </a:p>
          <a:p>
            <a:pPr marL="800100" lvl="1" indent="-342900">
              <a:buFont typeface="+mj-lt"/>
              <a:buAutoNum type="arabicPeriod"/>
            </a:pPr>
            <a:r>
              <a:rPr lang="en-GB" sz="1600" dirty="0"/>
              <a:t>Hyperparameter tuning (testing multiple combinations of parameters)</a:t>
            </a:r>
          </a:p>
          <a:p>
            <a:endParaRPr lang="en-GB" sz="1600" dirty="0"/>
          </a:p>
        </p:txBody>
      </p:sp>
    </p:spTree>
    <p:extLst>
      <p:ext uri="{BB962C8B-B14F-4D97-AF65-F5344CB8AC3E}">
        <p14:creationId xmlns:p14="http://schemas.microsoft.com/office/powerpoint/2010/main" val="1019907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C38665-1931-5CB8-DA18-9CA7A49B432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886F30B-2839-9E42-5A5B-50646F0A980A}"/>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8EB9BB4-DA79-6D59-3541-08453584C25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4F4453D-CD94-41CE-FE73-665E925B953A}"/>
              </a:ext>
            </a:extLst>
          </p:cNvPr>
          <p:cNvSpPr txBox="1"/>
          <p:nvPr/>
        </p:nvSpPr>
        <p:spPr>
          <a:xfrm>
            <a:off x="556591" y="1074863"/>
            <a:ext cx="4647536" cy="1384995"/>
          </a:xfrm>
          <a:prstGeom prst="rect">
            <a:avLst/>
          </a:prstGeom>
          <a:solidFill>
            <a:schemeClr val="accent1">
              <a:lumMod val="40000"/>
              <a:lumOff val="60000"/>
            </a:schemeClr>
          </a:solidFill>
        </p:spPr>
        <p:txBody>
          <a:bodyPr wrap="square">
            <a:spAutoFit/>
          </a:bodyPr>
          <a:lstStyle/>
          <a:p>
            <a:r>
              <a:rPr lang="en-US" dirty="0"/>
              <a:t>from </a:t>
            </a:r>
            <a:r>
              <a:rPr lang="en-US" dirty="0" err="1"/>
              <a:t>joblib</a:t>
            </a:r>
            <a:r>
              <a:rPr lang="en-US" dirty="0"/>
              <a:t> import Parallel, delayed</a:t>
            </a:r>
          </a:p>
          <a:p>
            <a:r>
              <a:rPr lang="en-US" dirty="0"/>
              <a:t>import math</a:t>
            </a:r>
          </a:p>
          <a:p>
            <a:endParaRPr lang="en-US" dirty="0"/>
          </a:p>
          <a:p>
            <a:r>
              <a:rPr lang="en-US" dirty="0"/>
              <a:t>results = Parallel(</a:t>
            </a:r>
            <a:r>
              <a:rPr lang="en-US" dirty="0" err="1"/>
              <a:t>n_jobs</a:t>
            </a:r>
            <a:r>
              <a:rPr lang="en-US" dirty="0"/>
              <a:t>=4)(delayed(</a:t>
            </a:r>
            <a:r>
              <a:rPr lang="en-US" dirty="0" err="1"/>
              <a:t>math.sqrt</a:t>
            </a:r>
            <a:r>
              <a:rPr lang="en-US" dirty="0"/>
              <a:t>)(</a:t>
            </a:r>
            <a:r>
              <a:rPr lang="en-US" dirty="0" err="1"/>
              <a:t>i</a:t>
            </a:r>
            <a:r>
              <a:rPr lang="en-US" dirty="0"/>
              <a:t>) for </a:t>
            </a:r>
            <a:r>
              <a:rPr lang="en-US" dirty="0" err="1"/>
              <a:t>i</a:t>
            </a:r>
            <a:r>
              <a:rPr lang="en-US" dirty="0"/>
              <a:t> in range(10))</a:t>
            </a:r>
          </a:p>
          <a:p>
            <a:r>
              <a:rPr lang="en-US" dirty="0"/>
              <a:t>print(results)</a:t>
            </a:r>
          </a:p>
        </p:txBody>
      </p:sp>
      <p:sp>
        <p:nvSpPr>
          <p:cNvPr id="8" name="TextBox 7">
            <a:extLst>
              <a:ext uri="{FF2B5EF4-FFF2-40B4-BE49-F238E27FC236}">
                <a16:creationId xmlns:a16="http://schemas.microsoft.com/office/drawing/2014/main" id="{941087A9-0DC9-6B75-BAC0-11980DB7C2C7}"/>
              </a:ext>
            </a:extLst>
          </p:cNvPr>
          <p:cNvSpPr txBox="1"/>
          <p:nvPr/>
        </p:nvSpPr>
        <p:spPr>
          <a:xfrm>
            <a:off x="556591" y="551643"/>
            <a:ext cx="5556329" cy="523220"/>
          </a:xfrm>
          <a:prstGeom prst="rect">
            <a:avLst/>
          </a:prstGeom>
          <a:noFill/>
        </p:spPr>
        <p:txBody>
          <a:bodyPr wrap="none" rtlCol="0">
            <a:spAutoFit/>
          </a:bodyPr>
          <a:lstStyle/>
          <a:p>
            <a:r>
              <a:rPr lang="en-US" b="1" dirty="0"/>
              <a:t>a. Basic Usage </a:t>
            </a:r>
            <a:r>
              <a:rPr lang="en-US" dirty="0"/>
              <a:t>:Using </a:t>
            </a:r>
            <a:r>
              <a:rPr lang="en-US" dirty="0" err="1"/>
              <a:t>Joblib</a:t>
            </a:r>
            <a:r>
              <a:rPr lang="en-US" dirty="0"/>
              <a:t> to parallelize square root computation</a:t>
            </a:r>
          </a:p>
          <a:p>
            <a:r>
              <a:rPr lang="en-US" dirty="0"/>
              <a:t> </a:t>
            </a:r>
          </a:p>
        </p:txBody>
      </p:sp>
      <p:sp>
        <p:nvSpPr>
          <p:cNvPr id="10" name="TextBox 9">
            <a:extLst>
              <a:ext uri="{FF2B5EF4-FFF2-40B4-BE49-F238E27FC236}">
                <a16:creationId xmlns:a16="http://schemas.microsoft.com/office/drawing/2014/main" id="{C3629549-7870-EE51-03D4-935E1F820486}"/>
              </a:ext>
            </a:extLst>
          </p:cNvPr>
          <p:cNvSpPr txBox="1"/>
          <p:nvPr/>
        </p:nvSpPr>
        <p:spPr>
          <a:xfrm>
            <a:off x="556591" y="2473660"/>
            <a:ext cx="7876668" cy="307777"/>
          </a:xfrm>
          <a:prstGeom prst="rect">
            <a:avLst/>
          </a:prstGeom>
          <a:noFill/>
        </p:spPr>
        <p:txBody>
          <a:bodyPr wrap="square">
            <a:spAutoFit/>
          </a:bodyPr>
          <a:lstStyle/>
          <a:p>
            <a:pPr>
              <a:buNone/>
            </a:pPr>
            <a:r>
              <a:rPr lang="en-GB" b="1" dirty="0"/>
              <a:t>b. Integration with Scikit-learn: </a:t>
            </a:r>
            <a:r>
              <a:rPr lang="en-GB" dirty="0"/>
              <a:t>Many scikit-learn functions use </a:t>
            </a:r>
            <a:r>
              <a:rPr lang="en-GB" dirty="0" err="1"/>
              <a:t>Joblib</a:t>
            </a:r>
            <a:r>
              <a:rPr lang="en-GB" dirty="0"/>
              <a:t> via the </a:t>
            </a:r>
            <a:r>
              <a:rPr lang="en-GB" dirty="0" err="1"/>
              <a:t>n_jobs</a:t>
            </a:r>
            <a:r>
              <a:rPr lang="en-GB" dirty="0"/>
              <a:t> parameter:</a:t>
            </a:r>
          </a:p>
        </p:txBody>
      </p:sp>
      <p:sp>
        <p:nvSpPr>
          <p:cNvPr id="12" name="TextBox 11">
            <a:extLst>
              <a:ext uri="{FF2B5EF4-FFF2-40B4-BE49-F238E27FC236}">
                <a16:creationId xmlns:a16="http://schemas.microsoft.com/office/drawing/2014/main" id="{46CB0096-725F-1429-1743-F60FCF81F66D}"/>
              </a:ext>
            </a:extLst>
          </p:cNvPr>
          <p:cNvSpPr txBox="1"/>
          <p:nvPr/>
        </p:nvSpPr>
        <p:spPr>
          <a:xfrm>
            <a:off x="637098" y="2984683"/>
            <a:ext cx="4647536" cy="954107"/>
          </a:xfrm>
          <a:prstGeom prst="rect">
            <a:avLst/>
          </a:prstGeom>
          <a:solidFill>
            <a:schemeClr val="accent1">
              <a:lumMod val="40000"/>
              <a:lumOff val="60000"/>
            </a:schemeClr>
          </a:solidFill>
        </p:spPr>
        <p:txBody>
          <a:bodyPr wrap="square">
            <a:spAutoFit/>
          </a:bodyPr>
          <a:lstStyle/>
          <a:p>
            <a:r>
              <a:rPr lang="en-US" dirty="0"/>
              <a:t>from </a:t>
            </a:r>
            <a:r>
              <a:rPr lang="en-US" dirty="0" err="1"/>
              <a:t>sklearn.ensemble</a:t>
            </a:r>
            <a:r>
              <a:rPr lang="en-US" dirty="0"/>
              <a:t> import </a:t>
            </a:r>
            <a:r>
              <a:rPr lang="en-US" dirty="0" err="1"/>
              <a:t>RandomForestClassifier</a:t>
            </a:r>
            <a:endParaRPr lang="en-US" dirty="0"/>
          </a:p>
          <a:p>
            <a:endParaRPr lang="en-US" dirty="0"/>
          </a:p>
          <a:p>
            <a:r>
              <a:rPr lang="en-US" dirty="0"/>
              <a:t># Create a random forest classifier using 4 cores</a:t>
            </a:r>
          </a:p>
          <a:p>
            <a:r>
              <a:rPr lang="en-US" dirty="0"/>
              <a:t>model = </a:t>
            </a:r>
            <a:r>
              <a:rPr lang="en-US" dirty="0" err="1"/>
              <a:t>RandomForestClassifier</a:t>
            </a:r>
            <a:r>
              <a:rPr lang="en-US" dirty="0"/>
              <a:t>(</a:t>
            </a:r>
            <a:r>
              <a:rPr lang="en-US" dirty="0" err="1"/>
              <a:t>n_jobs</a:t>
            </a:r>
            <a:r>
              <a:rPr lang="en-US" dirty="0"/>
              <a:t>=4)</a:t>
            </a:r>
          </a:p>
        </p:txBody>
      </p:sp>
    </p:spTree>
    <p:extLst>
      <p:ext uri="{BB962C8B-B14F-4D97-AF65-F5344CB8AC3E}">
        <p14:creationId xmlns:p14="http://schemas.microsoft.com/office/powerpoint/2010/main" val="424748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C1C2A63-BBEE-FF08-A3C4-79E66216BEE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0D82C48-6CB2-5954-3D34-F914A2EEB38B}"/>
              </a:ext>
            </a:extLst>
          </p:cNvPr>
          <p:cNvSpPr txBox="1">
            <a:spLocks noGrp="1"/>
          </p:cNvSpPr>
          <p:nvPr>
            <p:ph type="title"/>
          </p:nvPr>
        </p:nvSpPr>
        <p:spPr>
          <a:xfrm>
            <a:off x="860155" y="86064"/>
            <a:ext cx="7876669" cy="627900"/>
          </a:xfrm>
          <a:prstGeom prst="rect">
            <a:avLst/>
          </a:prstGeom>
          <a:noFill/>
          <a:ln>
            <a:noFill/>
          </a:ln>
        </p:spPr>
        <p:txBody>
          <a:bodyPr spcFirstLastPara="1" wrap="square" lIns="91425" tIns="91425" rIns="91425" bIns="91425" anchor="t" anchorCtr="0">
            <a:normAutofit fontScale="90000"/>
          </a:bodyPr>
          <a:lstStyle/>
          <a:p>
            <a:br>
              <a:rPr lang="en-GB" sz="2800" b="1" dirty="0"/>
            </a:br>
            <a:br>
              <a:rPr lang="en-GB" sz="2800" b="1" dirty="0"/>
            </a:br>
            <a:br>
              <a:rPr lang="en-GB" sz="2800" b="1" dirty="0"/>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D918AAD-C3F4-4B8C-9BF5-517FB218F35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3DD84632-D682-6A77-3AF9-EC689DB610FD}"/>
              </a:ext>
            </a:extLst>
          </p:cNvPr>
          <p:cNvSpPr txBox="1"/>
          <p:nvPr/>
        </p:nvSpPr>
        <p:spPr>
          <a:xfrm>
            <a:off x="556591" y="1074863"/>
            <a:ext cx="5287618" cy="2031325"/>
          </a:xfrm>
          <a:prstGeom prst="rect">
            <a:avLst/>
          </a:prstGeom>
          <a:solidFill>
            <a:schemeClr val="accent1">
              <a:lumMod val="40000"/>
              <a:lumOff val="60000"/>
            </a:schemeClr>
          </a:solidFill>
        </p:spPr>
        <p:txBody>
          <a:bodyPr wrap="square">
            <a:spAutoFit/>
          </a:bodyPr>
          <a:lstStyle/>
          <a:p>
            <a:r>
              <a:rPr lang="en-US" dirty="0"/>
              <a:t>from </a:t>
            </a:r>
            <a:r>
              <a:rPr lang="en-US" dirty="0" err="1"/>
              <a:t>sklearn.model_selection</a:t>
            </a:r>
            <a:r>
              <a:rPr lang="en-US" dirty="0"/>
              <a:t> import </a:t>
            </a:r>
            <a:r>
              <a:rPr lang="en-US" dirty="0" err="1"/>
              <a:t>GridSearchCV</a:t>
            </a:r>
            <a:endParaRPr lang="en-US" dirty="0"/>
          </a:p>
          <a:p>
            <a:r>
              <a:rPr lang="en-US" dirty="0"/>
              <a:t>from </a:t>
            </a:r>
            <a:r>
              <a:rPr lang="en-US" dirty="0" err="1"/>
              <a:t>sklearn.ensemble</a:t>
            </a:r>
            <a:r>
              <a:rPr lang="en-US" dirty="0"/>
              <a:t> import </a:t>
            </a:r>
            <a:r>
              <a:rPr lang="en-US" dirty="0" err="1"/>
              <a:t>RandomForestClassifier</a:t>
            </a:r>
            <a:endParaRPr lang="en-US" dirty="0"/>
          </a:p>
          <a:p>
            <a:endParaRPr lang="en-US" dirty="0"/>
          </a:p>
          <a:p>
            <a:r>
              <a:rPr lang="en-US" dirty="0"/>
              <a:t>model = </a:t>
            </a:r>
            <a:r>
              <a:rPr lang="en-US" dirty="0" err="1"/>
              <a:t>RandomForestClassifier</a:t>
            </a:r>
            <a:r>
              <a:rPr lang="en-US" dirty="0"/>
              <a:t>()</a:t>
            </a:r>
          </a:p>
          <a:p>
            <a:r>
              <a:rPr lang="en-US" dirty="0" err="1"/>
              <a:t>param_grid</a:t>
            </a:r>
            <a:r>
              <a:rPr lang="en-US" dirty="0"/>
              <a:t> = {'</a:t>
            </a:r>
            <a:r>
              <a:rPr lang="en-US" dirty="0" err="1"/>
              <a:t>n_estimators</a:t>
            </a:r>
            <a:r>
              <a:rPr lang="en-US" dirty="0"/>
              <a:t>': [100, 200], '</a:t>
            </a:r>
            <a:r>
              <a:rPr lang="en-US" dirty="0" err="1"/>
              <a:t>max_depth</a:t>
            </a:r>
            <a:r>
              <a:rPr lang="en-US" dirty="0"/>
              <a:t>': [10, 20]}</a:t>
            </a:r>
          </a:p>
          <a:p>
            <a:endParaRPr lang="en-US" dirty="0"/>
          </a:p>
          <a:p>
            <a:r>
              <a:rPr lang="en-US" dirty="0"/>
              <a:t># </a:t>
            </a:r>
            <a:r>
              <a:rPr lang="en-US" dirty="0" err="1"/>
              <a:t>GridSearchCV</a:t>
            </a:r>
            <a:r>
              <a:rPr lang="en-US" dirty="0"/>
              <a:t> with all cores utilized for parallelism</a:t>
            </a:r>
          </a:p>
          <a:p>
            <a:r>
              <a:rPr lang="en-US" dirty="0"/>
              <a:t>grid = </a:t>
            </a:r>
            <a:r>
              <a:rPr lang="en-US" dirty="0" err="1"/>
              <a:t>GridSearchCV</a:t>
            </a:r>
            <a:r>
              <a:rPr lang="en-US" dirty="0"/>
              <a:t>(model, </a:t>
            </a:r>
            <a:r>
              <a:rPr lang="en-US" dirty="0" err="1"/>
              <a:t>param_grid</a:t>
            </a:r>
            <a:r>
              <a:rPr lang="en-US" dirty="0"/>
              <a:t>, cv=5, </a:t>
            </a:r>
            <a:r>
              <a:rPr lang="en-US" dirty="0" err="1"/>
              <a:t>n_jobs</a:t>
            </a:r>
            <a:r>
              <a:rPr lang="en-US" dirty="0"/>
              <a:t>=-1)</a:t>
            </a:r>
          </a:p>
          <a:p>
            <a:r>
              <a:rPr lang="en-US" dirty="0" err="1"/>
              <a:t>grid.fit</a:t>
            </a:r>
            <a:r>
              <a:rPr lang="en-US" dirty="0"/>
              <a:t>(X, y)</a:t>
            </a:r>
          </a:p>
        </p:txBody>
      </p:sp>
      <p:sp>
        <p:nvSpPr>
          <p:cNvPr id="8" name="TextBox 7">
            <a:extLst>
              <a:ext uri="{FF2B5EF4-FFF2-40B4-BE49-F238E27FC236}">
                <a16:creationId xmlns:a16="http://schemas.microsoft.com/office/drawing/2014/main" id="{156A219A-938E-CCFE-2D83-99B0B2A287EA}"/>
              </a:ext>
            </a:extLst>
          </p:cNvPr>
          <p:cNvSpPr txBox="1"/>
          <p:nvPr/>
        </p:nvSpPr>
        <p:spPr>
          <a:xfrm>
            <a:off x="556591" y="551643"/>
            <a:ext cx="2186817" cy="523220"/>
          </a:xfrm>
          <a:prstGeom prst="rect">
            <a:avLst/>
          </a:prstGeom>
          <a:noFill/>
        </p:spPr>
        <p:txBody>
          <a:bodyPr wrap="none" rtlCol="0">
            <a:spAutoFit/>
          </a:bodyPr>
          <a:lstStyle/>
          <a:p>
            <a:r>
              <a:rPr lang="en-GB" b="1" dirty="0"/>
              <a:t>c. Grid Search Example</a:t>
            </a:r>
          </a:p>
          <a:p>
            <a:r>
              <a:rPr lang="en-US" dirty="0"/>
              <a:t> </a:t>
            </a:r>
          </a:p>
        </p:txBody>
      </p:sp>
    </p:spTree>
    <p:extLst>
      <p:ext uri="{BB962C8B-B14F-4D97-AF65-F5344CB8AC3E}">
        <p14:creationId xmlns:p14="http://schemas.microsoft.com/office/powerpoint/2010/main" val="4178697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321C5F-5887-88FC-5A55-2EB85D26CD1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39B0603-80F6-6813-A911-33AD170E76AB}"/>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Benefits of Using </a:t>
            </a:r>
            <a:r>
              <a:rPr lang="en-GB" sz="2800" b="1" dirty="0" err="1"/>
              <a:t>Joblib</a:t>
            </a:r>
            <a:r>
              <a:rPr lang="en-GB" sz="2800" b="1" dirty="0"/>
              <a:t> with Scikit-learn</a:t>
            </a:r>
            <a:br>
              <a:rPr lang="en-GB" sz="2800" b="1" dirty="0"/>
            </a:br>
            <a:br>
              <a:rPr lang="en-GB" b="1" dirty="0"/>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4395B800-0452-D4E7-94DA-A754DC2D1E77}"/>
              </a:ext>
            </a:extLst>
          </p:cNvPr>
          <p:cNvSpPr txBox="1"/>
          <p:nvPr/>
        </p:nvSpPr>
        <p:spPr>
          <a:xfrm>
            <a:off x="278295" y="1143418"/>
            <a:ext cx="7275444" cy="3416320"/>
          </a:xfrm>
          <a:prstGeom prst="rect">
            <a:avLst/>
          </a:prstGeom>
          <a:noFill/>
        </p:spPr>
        <p:txBody>
          <a:bodyPr wrap="square">
            <a:spAutoFit/>
          </a:bodyPr>
          <a:lstStyle/>
          <a:p>
            <a:pPr marL="342900" indent="-342900">
              <a:buFont typeface="+mj-lt"/>
              <a:buAutoNum type="arabicPeriod"/>
            </a:pPr>
            <a:r>
              <a:rPr lang="en-GB" sz="1800" b="1" dirty="0"/>
              <a:t>Easy to Use</a:t>
            </a:r>
            <a:r>
              <a:rPr lang="en-GB" sz="1800" dirty="0"/>
              <a:t>:</a:t>
            </a:r>
            <a:br>
              <a:rPr lang="en-GB" sz="1800" dirty="0"/>
            </a:br>
            <a:r>
              <a:rPr lang="en-GB" sz="1800" dirty="0" err="1"/>
              <a:t>Joblib</a:t>
            </a:r>
            <a:r>
              <a:rPr lang="en-GB" sz="1800" dirty="0"/>
              <a:t> integrates seamlessly with scikit-learn. In most cases, you simply need to add a parameter like </a:t>
            </a:r>
            <a:r>
              <a:rPr lang="en-GB" sz="1800" dirty="0" err="1"/>
              <a:t>n_jobs</a:t>
            </a:r>
            <a:r>
              <a:rPr lang="en-GB" sz="1800" dirty="0"/>
              <a:t>=-1 to enable parallel processing.</a:t>
            </a:r>
          </a:p>
          <a:p>
            <a:pPr marL="342900" indent="-342900">
              <a:buFont typeface="+mj-lt"/>
              <a:buAutoNum type="arabicPeriod"/>
            </a:pPr>
            <a:r>
              <a:rPr lang="en-GB" sz="1800" b="1" dirty="0"/>
              <a:t>Efficient on Local Machines</a:t>
            </a:r>
            <a:r>
              <a:rPr lang="en-GB" sz="1800" dirty="0"/>
              <a:t>:</a:t>
            </a:r>
            <a:br>
              <a:rPr lang="en-GB" sz="1800" dirty="0"/>
            </a:br>
            <a:r>
              <a:rPr lang="en-GB" sz="1800" dirty="0"/>
              <a:t>It’s optimized for multi-core CPUs, making it perfect for shared-memory systems (like your laptop or workstation) without requiring any complex setup.</a:t>
            </a:r>
          </a:p>
          <a:p>
            <a:pPr marL="342900" indent="-342900">
              <a:buFont typeface="+mj-lt"/>
              <a:buAutoNum type="arabicPeriod"/>
            </a:pPr>
            <a:r>
              <a:rPr lang="en-GB" sz="1800" b="1" dirty="0"/>
              <a:t>Scikit-learn Native Support</a:t>
            </a:r>
            <a:r>
              <a:rPr lang="en-GB" sz="1800" dirty="0"/>
              <a:t>:</a:t>
            </a:r>
            <a:br>
              <a:rPr lang="en-GB" sz="1800" dirty="0"/>
            </a:br>
            <a:r>
              <a:rPr lang="en-GB" sz="1800" dirty="0"/>
              <a:t>Most scikit-learn estimators, including </a:t>
            </a:r>
            <a:r>
              <a:rPr lang="en-GB" sz="1800" dirty="0" err="1"/>
              <a:t>RandomForestClassifier</a:t>
            </a:r>
            <a:r>
              <a:rPr lang="en-GB" sz="1800" dirty="0"/>
              <a:t>, </a:t>
            </a:r>
            <a:r>
              <a:rPr lang="en-GB" sz="1800" dirty="0" err="1"/>
              <a:t>GridSearchCV</a:t>
            </a:r>
            <a:r>
              <a:rPr lang="en-GB" sz="1800" dirty="0"/>
              <a:t>, and </a:t>
            </a:r>
            <a:r>
              <a:rPr lang="en-GB" sz="1800" dirty="0" err="1"/>
              <a:t>cross_val_score</a:t>
            </a:r>
            <a:r>
              <a:rPr lang="en-GB" sz="1800" dirty="0"/>
              <a:t>, natively support </a:t>
            </a:r>
            <a:r>
              <a:rPr lang="en-GB" sz="1800" dirty="0" err="1"/>
              <a:t>Joblib</a:t>
            </a:r>
            <a:r>
              <a:rPr lang="en-GB" sz="1800" dirty="0"/>
              <a:t>. That means no extra work is needed to enable parallelism.</a:t>
            </a:r>
          </a:p>
        </p:txBody>
      </p:sp>
    </p:spTree>
    <p:extLst>
      <p:ext uri="{BB962C8B-B14F-4D97-AF65-F5344CB8AC3E}">
        <p14:creationId xmlns:p14="http://schemas.microsoft.com/office/powerpoint/2010/main" val="2148591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9B3FE5F-B39D-9AA9-B708-409963FC6E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B024A57-E0FF-FEC8-BFB5-7A6B8D049715}"/>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b="1" dirty="0"/>
              <a:t>Distributed Computing with </a:t>
            </a:r>
            <a:r>
              <a:rPr lang="en-GB" b="1" dirty="0" err="1"/>
              <a:t>Dask</a:t>
            </a:r>
            <a:br>
              <a:rPr lang="en-GB" b="1" dirty="0"/>
            </a:br>
            <a:br>
              <a:rPr lang="en-GB" b="1" dirty="0"/>
            </a:br>
            <a:br>
              <a:rPr lang="en-GB" b="1" dirty="0"/>
            </a:br>
            <a:br>
              <a:rPr lang="en-GB" b="1" i="0" u="none" strike="noStrike" dirty="0">
                <a:solidFill>
                  <a:srgbClr val="7030A0"/>
                </a:solidFill>
                <a:effectLst/>
              </a:rPr>
            </a:br>
            <a:endParaRPr lang="en-GB" b="1" i="0" u="none" strike="noStrike" dirty="0">
              <a:solidFill>
                <a:srgbClr val="7030A0"/>
              </a:solidFill>
              <a:effectLst/>
            </a:endParaRPr>
          </a:p>
        </p:txBody>
      </p:sp>
      <p:sp>
        <p:nvSpPr>
          <p:cNvPr id="6" name="TextBox 5">
            <a:extLst>
              <a:ext uri="{FF2B5EF4-FFF2-40B4-BE49-F238E27FC236}">
                <a16:creationId xmlns:a16="http://schemas.microsoft.com/office/drawing/2014/main" id="{A03F142C-3933-1022-6ACB-BF9C47888A41}"/>
              </a:ext>
            </a:extLst>
          </p:cNvPr>
          <p:cNvSpPr txBox="1"/>
          <p:nvPr/>
        </p:nvSpPr>
        <p:spPr>
          <a:xfrm>
            <a:off x="1321904" y="743741"/>
            <a:ext cx="6518081" cy="4278094"/>
          </a:xfrm>
          <a:prstGeom prst="rect">
            <a:avLst/>
          </a:prstGeom>
          <a:noFill/>
        </p:spPr>
        <p:txBody>
          <a:bodyPr wrap="square">
            <a:spAutoFit/>
          </a:bodyPr>
          <a:lstStyle/>
          <a:p>
            <a:r>
              <a:rPr lang="en-GB" sz="1600" dirty="0" err="1"/>
              <a:t>Dask</a:t>
            </a:r>
            <a:r>
              <a:rPr lang="en-GB" sz="1600" dirty="0"/>
              <a:t> is a powerful Python library designed to handle large computations across multiple cores, CPUs, or even clusters of machines.</a:t>
            </a:r>
          </a:p>
          <a:p>
            <a:r>
              <a:rPr lang="en-GB" sz="1600" dirty="0"/>
              <a:t>Here’s a breakdown:</a:t>
            </a:r>
          </a:p>
          <a:p>
            <a:pPr marL="285750" indent="-285750">
              <a:buFont typeface="Wingdings" pitchFamily="2" charset="2"/>
              <a:buChar char="Ø"/>
            </a:pPr>
            <a:r>
              <a:rPr lang="en-GB" sz="1600" dirty="0" err="1"/>
              <a:t>Dask</a:t>
            </a:r>
            <a:r>
              <a:rPr lang="en-GB" sz="1600" dirty="0"/>
              <a:t> vs </a:t>
            </a:r>
            <a:r>
              <a:rPr lang="en-GB" sz="1600" dirty="0" err="1"/>
              <a:t>Joblib</a:t>
            </a:r>
            <a:r>
              <a:rPr lang="en-GB" sz="1600" dirty="0"/>
              <a:t>: While </a:t>
            </a:r>
            <a:r>
              <a:rPr lang="en-GB" sz="1600" dirty="0" err="1"/>
              <a:t>Joblib</a:t>
            </a:r>
            <a:r>
              <a:rPr lang="en-GB" sz="1600" dirty="0"/>
              <a:t> runs tasks in parallel on your local machine, </a:t>
            </a:r>
            <a:r>
              <a:rPr lang="en-GB" sz="1600" dirty="0" err="1"/>
              <a:t>Dask</a:t>
            </a:r>
            <a:r>
              <a:rPr lang="en-GB" sz="1600" dirty="0"/>
              <a:t> can distribute those tasks across multiple machines or clusters—making it more suitable for very large datasets or heavy tasks.</a:t>
            </a:r>
          </a:p>
          <a:p>
            <a:pPr marL="285750" indent="-285750">
              <a:buFont typeface="Wingdings" pitchFamily="2" charset="2"/>
              <a:buChar char="Ø"/>
            </a:pPr>
            <a:r>
              <a:rPr lang="en-GB" sz="1600" dirty="0"/>
              <a:t>Lazy Evaluation: </a:t>
            </a:r>
            <a:r>
              <a:rPr lang="en-GB" sz="1600" dirty="0" err="1"/>
              <a:t>Dask</a:t>
            </a:r>
            <a:r>
              <a:rPr lang="en-GB" sz="1600" dirty="0"/>
              <a:t> does not execute operations immediately. It builds a task graph and only runs it when needed—this saves memory and allows for optimization.</a:t>
            </a:r>
          </a:p>
          <a:p>
            <a:pPr marL="285750" indent="-285750">
              <a:buFont typeface="Wingdings" pitchFamily="2" charset="2"/>
              <a:buChar char="Ø"/>
            </a:pPr>
            <a:r>
              <a:rPr lang="en-GB" sz="1600" dirty="0"/>
              <a:t>Task Scheduling: </a:t>
            </a:r>
            <a:r>
              <a:rPr lang="en-GB" sz="1600" dirty="0" err="1"/>
              <a:t>Dask</a:t>
            </a:r>
            <a:r>
              <a:rPr lang="en-GB" sz="1600" dirty="0"/>
              <a:t> manages complex chains of operations and efficiently decides what task to run next using a smart scheduler.</a:t>
            </a:r>
          </a:p>
          <a:p>
            <a:pPr marL="285750" indent="-285750">
              <a:buFont typeface="Wingdings" pitchFamily="2" charset="2"/>
              <a:buChar char="Ø"/>
            </a:pPr>
            <a:r>
              <a:rPr lang="en-GB" sz="1600" dirty="0"/>
              <a:t>Out-of-Core Computation: </a:t>
            </a:r>
            <a:r>
              <a:rPr lang="en-GB" sz="1600" dirty="0" err="1"/>
              <a:t>Dask</a:t>
            </a:r>
            <a:r>
              <a:rPr lang="en-GB" sz="1600" dirty="0"/>
              <a:t> can handle data that doesn't fit into RAM by processing chunks of data at a time.</a:t>
            </a:r>
          </a:p>
          <a:p>
            <a:pPr marL="285750" indent="-285750">
              <a:buFont typeface="Wingdings" pitchFamily="2" charset="2"/>
              <a:buChar char="Ø"/>
            </a:pPr>
            <a:endParaRPr lang="en-GB" sz="1600" dirty="0"/>
          </a:p>
        </p:txBody>
      </p:sp>
    </p:spTree>
    <p:extLst>
      <p:ext uri="{BB962C8B-B14F-4D97-AF65-F5344CB8AC3E}">
        <p14:creationId xmlns:p14="http://schemas.microsoft.com/office/powerpoint/2010/main" val="581002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CDDBFEF-6C0B-A5ED-A035-54A7543DACF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B50961E-3CC5-0F0B-B007-525CFF49A623}"/>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Integration with Scikit-learn</a:t>
            </a:r>
            <a:r>
              <a:rPr lang="en-GB" sz="2800" dirty="0"/>
              <a:t>:</a:t>
            </a:r>
            <a:br>
              <a:rPr lang="en-GB" sz="2800" dirty="0"/>
            </a:br>
            <a:br>
              <a:rPr lang="en-GB" b="1" dirty="0"/>
            </a:br>
            <a:br>
              <a:rPr lang="en-GB" b="1" dirty="0"/>
            </a:br>
            <a:br>
              <a:rPr lang="en-GB" b="1" dirty="0"/>
            </a:br>
            <a:br>
              <a:rPr lang="en-GB" b="1" i="0" u="none" strike="noStrike" dirty="0">
                <a:solidFill>
                  <a:srgbClr val="7030A0"/>
                </a:solidFill>
                <a:effectLst/>
              </a:rPr>
            </a:br>
            <a:endParaRPr lang="en-GB" b="1" i="0" u="none" strike="noStrike" dirty="0">
              <a:solidFill>
                <a:srgbClr val="7030A0"/>
              </a:solidFill>
              <a:effectLst/>
            </a:endParaRPr>
          </a:p>
        </p:txBody>
      </p:sp>
      <p:sp>
        <p:nvSpPr>
          <p:cNvPr id="6" name="TextBox 5">
            <a:extLst>
              <a:ext uri="{FF2B5EF4-FFF2-40B4-BE49-F238E27FC236}">
                <a16:creationId xmlns:a16="http://schemas.microsoft.com/office/drawing/2014/main" id="{4EA4C839-0B2A-F3FA-2D34-7E27A466B2CC}"/>
              </a:ext>
            </a:extLst>
          </p:cNvPr>
          <p:cNvSpPr txBox="1"/>
          <p:nvPr/>
        </p:nvSpPr>
        <p:spPr>
          <a:xfrm>
            <a:off x="1321904" y="743741"/>
            <a:ext cx="6518081" cy="2616101"/>
          </a:xfrm>
          <a:prstGeom prst="rect">
            <a:avLst/>
          </a:prstGeom>
          <a:noFill/>
        </p:spPr>
        <p:txBody>
          <a:bodyPr wrap="square">
            <a:spAutoFit/>
          </a:bodyPr>
          <a:lstStyle/>
          <a:p>
            <a:pPr marL="285750" indent="-285750">
              <a:buFont typeface="Wingdings" pitchFamily="2" charset="2"/>
              <a:buChar char="Ø"/>
            </a:pPr>
            <a:r>
              <a:rPr lang="en-GB" sz="1600" dirty="0"/>
              <a:t>You can swap out </a:t>
            </a:r>
            <a:r>
              <a:rPr lang="en-GB" sz="1600" dirty="0" err="1"/>
              <a:t>Joblib’s</a:t>
            </a:r>
            <a:r>
              <a:rPr lang="en-GB" sz="1600" dirty="0"/>
              <a:t> backend to </a:t>
            </a:r>
            <a:r>
              <a:rPr lang="en-GB" sz="1600" dirty="0" err="1"/>
              <a:t>Dask</a:t>
            </a:r>
            <a:r>
              <a:rPr lang="en-GB" sz="1600" dirty="0"/>
              <a:t> with a single line of code (with </a:t>
            </a:r>
            <a:r>
              <a:rPr lang="en-GB" sz="1600" dirty="0" err="1"/>
              <a:t>joblib.parallel_backend</a:t>
            </a:r>
            <a:r>
              <a:rPr lang="en-GB" sz="1600" dirty="0"/>
              <a:t>('</a:t>
            </a:r>
            <a:r>
              <a:rPr lang="en-GB" sz="1600" dirty="0" err="1"/>
              <a:t>dask</a:t>
            </a:r>
            <a:r>
              <a:rPr lang="en-GB" sz="1600" dirty="0"/>
              <a:t>'):), allowing tools like </a:t>
            </a:r>
            <a:r>
              <a:rPr lang="en-GB" sz="1600" dirty="0" err="1"/>
              <a:t>GridSearchCV</a:t>
            </a:r>
            <a:r>
              <a:rPr lang="en-GB" sz="1600" dirty="0"/>
              <a:t> and </a:t>
            </a:r>
            <a:r>
              <a:rPr lang="en-GB" sz="1600" dirty="0" err="1"/>
              <a:t>cross_val_score</a:t>
            </a:r>
            <a:r>
              <a:rPr lang="en-GB" sz="1600" dirty="0"/>
              <a:t> to run in a distributed environment.</a:t>
            </a:r>
          </a:p>
          <a:p>
            <a:pPr marL="285750" indent="-285750">
              <a:buFont typeface="Wingdings" pitchFamily="2" charset="2"/>
              <a:buChar char="Ø"/>
            </a:pPr>
            <a:r>
              <a:rPr lang="en-GB" sz="1600" dirty="0" err="1"/>
              <a:t>Dask</a:t>
            </a:r>
            <a:r>
              <a:rPr lang="en-GB" sz="1600" dirty="0"/>
              <a:t>-ML extends this even further, offering scalable versions of ML tools like </a:t>
            </a:r>
            <a:r>
              <a:rPr lang="en-GB" sz="1600" dirty="0" err="1"/>
              <a:t>GridSearchCV</a:t>
            </a:r>
            <a:r>
              <a:rPr lang="en-GB" sz="1600" dirty="0"/>
              <a:t>.</a:t>
            </a:r>
          </a:p>
          <a:p>
            <a:pPr marL="285750" indent="-285750">
              <a:buFont typeface="Wingdings" pitchFamily="2" charset="2"/>
              <a:buChar char="Ø"/>
            </a:pPr>
            <a:endParaRPr lang="en-GB" sz="1600" dirty="0"/>
          </a:p>
          <a:p>
            <a:r>
              <a:rPr lang="en-GB" sz="2000" b="1" dirty="0"/>
              <a:t>Installing </a:t>
            </a:r>
            <a:r>
              <a:rPr lang="en-GB" sz="2000" b="1" dirty="0" err="1"/>
              <a:t>Dask</a:t>
            </a:r>
            <a:endParaRPr lang="en-GB" sz="2000" b="1" dirty="0"/>
          </a:p>
          <a:p>
            <a:endParaRPr lang="en-GB" sz="1600" dirty="0"/>
          </a:p>
          <a:p>
            <a:pPr marL="285750" indent="-285750">
              <a:buFont typeface="Wingdings" pitchFamily="2" charset="2"/>
              <a:buChar char="Ø"/>
            </a:pPr>
            <a:endParaRPr lang="en-GB" sz="1600" dirty="0"/>
          </a:p>
        </p:txBody>
      </p:sp>
      <p:sp>
        <p:nvSpPr>
          <p:cNvPr id="3" name="TextBox 2">
            <a:extLst>
              <a:ext uri="{FF2B5EF4-FFF2-40B4-BE49-F238E27FC236}">
                <a16:creationId xmlns:a16="http://schemas.microsoft.com/office/drawing/2014/main" id="{F03AC27A-4154-D183-1556-33B859C9126E}"/>
              </a:ext>
            </a:extLst>
          </p:cNvPr>
          <p:cNvSpPr txBox="1"/>
          <p:nvPr/>
        </p:nvSpPr>
        <p:spPr>
          <a:xfrm>
            <a:off x="1385515" y="3136293"/>
            <a:ext cx="4647536" cy="307777"/>
          </a:xfrm>
          <a:prstGeom prst="rect">
            <a:avLst/>
          </a:prstGeom>
          <a:solidFill>
            <a:schemeClr val="accent1">
              <a:lumMod val="40000"/>
              <a:lumOff val="60000"/>
            </a:schemeClr>
          </a:solidFill>
        </p:spPr>
        <p:txBody>
          <a:bodyPr wrap="square">
            <a:spAutoFit/>
          </a:bodyPr>
          <a:lstStyle/>
          <a:p>
            <a:r>
              <a:rPr lang="en-US" dirty="0"/>
              <a:t>pip install </a:t>
            </a:r>
            <a:r>
              <a:rPr lang="en-US" dirty="0" err="1"/>
              <a:t>dask</a:t>
            </a:r>
            <a:r>
              <a:rPr lang="en-US" dirty="0"/>
              <a:t>[complete] </a:t>
            </a:r>
            <a:r>
              <a:rPr lang="en-US" dirty="0" err="1"/>
              <a:t>dask</a:t>
            </a:r>
            <a:r>
              <a:rPr lang="en-US" dirty="0"/>
              <a:t>-ml</a:t>
            </a:r>
          </a:p>
        </p:txBody>
      </p:sp>
    </p:spTree>
    <p:extLst>
      <p:ext uri="{BB962C8B-B14F-4D97-AF65-F5344CB8AC3E}">
        <p14:creationId xmlns:p14="http://schemas.microsoft.com/office/powerpoint/2010/main" val="384709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D37B9B1-E294-D0AD-4480-DCFD09606B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03C60EE-328B-EEB9-867B-89E1CF23454C}"/>
              </a:ext>
            </a:extLst>
          </p:cNvPr>
          <p:cNvSpPr txBox="1"/>
          <p:nvPr/>
        </p:nvSpPr>
        <p:spPr>
          <a:xfrm>
            <a:off x="368387" y="156201"/>
            <a:ext cx="7527258" cy="830997"/>
          </a:xfrm>
          <a:prstGeom prst="rect">
            <a:avLst/>
          </a:prstGeom>
          <a:noFill/>
        </p:spPr>
        <p:txBody>
          <a:bodyPr wrap="square">
            <a:spAutoFit/>
          </a:bodyPr>
          <a:lstStyle/>
          <a:p>
            <a:pPr>
              <a:buNone/>
            </a:pPr>
            <a:r>
              <a:rPr lang="en-GB" sz="1600" b="1" dirty="0"/>
              <a:t>c. Using </a:t>
            </a:r>
            <a:r>
              <a:rPr lang="en-GB" sz="1600" b="1" dirty="0" err="1"/>
              <a:t>Dask</a:t>
            </a:r>
            <a:r>
              <a:rPr lang="en-GB" sz="1600" b="1" dirty="0"/>
              <a:t> with Scikit-learn</a:t>
            </a:r>
          </a:p>
          <a:p>
            <a:r>
              <a:rPr lang="en-GB" sz="1600" dirty="0" err="1"/>
              <a:t>Dask</a:t>
            </a:r>
            <a:r>
              <a:rPr lang="en-GB" sz="1600" dirty="0"/>
              <a:t> provides a drop-in replacement for </a:t>
            </a:r>
            <a:r>
              <a:rPr lang="en-GB" sz="1600" dirty="0" err="1"/>
              <a:t>joblib</a:t>
            </a:r>
            <a:r>
              <a:rPr lang="en-GB" sz="1600" dirty="0"/>
              <a:t> to allow distributed execution:</a:t>
            </a:r>
          </a:p>
          <a:p>
            <a:pPr marL="342900" indent="-342900">
              <a:buFont typeface="+mj-lt"/>
              <a:buAutoNum type="arabicPeriod"/>
            </a:pPr>
            <a:endParaRPr lang="en-GB" sz="1600" dirty="0"/>
          </a:p>
        </p:txBody>
      </p:sp>
      <p:sp>
        <p:nvSpPr>
          <p:cNvPr id="6" name="TextBox 5">
            <a:extLst>
              <a:ext uri="{FF2B5EF4-FFF2-40B4-BE49-F238E27FC236}">
                <a16:creationId xmlns:a16="http://schemas.microsoft.com/office/drawing/2014/main" id="{8D912FEC-4B61-722F-4587-13B4DC361D24}"/>
              </a:ext>
            </a:extLst>
          </p:cNvPr>
          <p:cNvSpPr txBox="1"/>
          <p:nvPr/>
        </p:nvSpPr>
        <p:spPr>
          <a:xfrm>
            <a:off x="421738" y="790012"/>
            <a:ext cx="7420556" cy="2246769"/>
          </a:xfrm>
          <a:prstGeom prst="rect">
            <a:avLst/>
          </a:prstGeom>
          <a:solidFill>
            <a:schemeClr val="accent1">
              <a:lumMod val="40000"/>
              <a:lumOff val="60000"/>
            </a:schemeClr>
          </a:solidFill>
        </p:spPr>
        <p:txBody>
          <a:bodyPr wrap="square">
            <a:spAutoFit/>
          </a:bodyPr>
          <a:lstStyle/>
          <a:p>
            <a:r>
              <a:rPr lang="en-US" dirty="0"/>
              <a:t>import </a:t>
            </a:r>
            <a:r>
              <a:rPr lang="en-US" dirty="0" err="1"/>
              <a:t>joblib</a:t>
            </a:r>
            <a:endParaRPr lang="en-US" dirty="0"/>
          </a:p>
          <a:p>
            <a:r>
              <a:rPr lang="en-US" dirty="0"/>
              <a:t>from </a:t>
            </a:r>
            <a:r>
              <a:rPr lang="en-US" dirty="0" err="1"/>
              <a:t>dask.distributed</a:t>
            </a:r>
            <a:r>
              <a:rPr lang="en-US" dirty="0"/>
              <a:t> import Client</a:t>
            </a:r>
          </a:p>
          <a:p>
            <a:r>
              <a:rPr lang="en-US" dirty="0"/>
              <a:t>from </a:t>
            </a:r>
            <a:r>
              <a:rPr lang="en-US" dirty="0" err="1"/>
              <a:t>sklearn.model_selection</a:t>
            </a:r>
            <a:r>
              <a:rPr lang="en-US" dirty="0"/>
              <a:t> import </a:t>
            </a:r>
            <a:r>
              <a:rPr lang="en-US" dirty="0" err="1"/>
              <a:t>cross_val_score</a:t>
            </a:r>
            <a:endParaRPr lang="en-US" dirty="0"/>
          </a:p>
          <a:p>
            <a:r>
              <a:rPr lang="en-US" dirty="0"/>
              <a:t>from </a:t>
            </a:r>
            <a:r>
              <a:rPr lang="en-US" dirty="0" err="1"/>
              <a:t>sklearn.ensemble</a:t>
            </a:r>
            <a:r>
              <a:rPr lang="en-US" dirty="0"/>
              <a:t> import </a:t>
            </a:r>
            <a:r>
              <a:rPr lang="en-US" dirty="0" err="1"/>
              <a:t>RandomForestClassifier</a:t>
            </a:r>
            <a:endParaRPr lang="en-US" dirty="0"/>
          </a:p>
          <a:p>
            <a:endParaRPr lang="en-US" dirty="0"/>
          </a:p>
          <a:p>
            <a:r>
              <a:rPr lang="en-US" dirty="0"/>
              <a:t>client = Client()</a:t>
            </a:r>
          </a:p>
          <a:p>
            <a:endParaRPr lang="en-US" dirty="0"/>
          </a:p>
          <a:p>
            <a:r>
              <a:rPr lang="en-US" dirty="0"/>
              <a:t>with </a:t>
            </a:r>
            <a:r>
              <a:rPr lang="en-US" dirty="0" err="1"/>
              <a:t>joblib.parallel_backend</a:t>
            </a:r>
            <a:r>
              <a:rPr lang="en-US" dirty="0"/>
              <a:t>('</a:t>
            </a:r>
            <a:r>
              <a:rPr lang="en-US" dirty="0" err="1"/>
              <a:t>dask</a:t>
            </a:r>
            <a:r>
              <a:rPr lang="en-US" dirty="0"/>
              <a:t>'):</a:t>
            </a:r>
          </a:p>
          <a:p>
            <a:r>
              <a:rPr lang="en-US" dirty="0"/>
              <a:t>    scores = </a:t>
            </a:r>
            <a:r>
              <a:rPr lang="en-US" dirty="0" err="1"/>
              <a:t>cross_val_score</a:t>
            </a:r>
            <a:r>
              <a:rPr lang="en-US" dirty="0"/>
              <a:t>(</a:t>
            </a:r>
            <a:r>
              <a:rPr lang="en-US" dirty="0" err="1"/>
              <a:t>RandomForestClassifier</a:t>
            </a:r>
            <a:r>
              <a:rPr lang="en-US" dirty="0"/>
              <a:t>(), X, y, cv=5)</a:t>
            </a:r>
          </a:p>
          <a:p>
            <a:r>
              <a:rPr lang="en-US" dirty="0"/>
              <a:t>print(scores)</a:t>
            </a:r>
          </a:p>
        </p:txBody>
      </p:sp>
      <p:sp>
        <p:nvSpPr>
          <p:cNvPr id="8" name="TextBox 7">
            <a:extLst>
              <a:ext uri="{FF2B5EF4-FFF2-40B4-BE49-F238E27FC236}">
                <a16:creationId xmlns:a16="http://schemas.microsoft.com/office/drawing/2014/main" id="{9B432F68-D2E2-6356-48B2-6B637DBB80C3}"/>
              </a:ext>
            </a:extLst>
          </p:cNvPr>
          <p:cNvSpPr txBox="1"/>
          <p:nvPr/>
        </p:nvSpPr>
        <p:spPr>
          <a:xfrm>
            <a:off x="368387" y="3036781"/>
            <a:ext cx="7161498" cy="523220"/>
          </a:xfrm>
          <a:prstGeom prst="rect">
            <a:avLst/>
          </a:prstGeom>
          <a:noFill/>
        </p:spPr>
        <p:txBody>
          <a:bodyPr wrap="square">
            <a:spAutoFit/>
          </a:bodyPr>
          <a:lstStyle/>
          <a:p>
            <a:pPr>
              <a:buNone/>
            </a:pPr>
            <a:r>
              <a:rPr lang="en-GB" b="1" dirty="0"/>
              <a:t>d. </a:t>
            </a:r>
            <a:r>
              <a:rPr lang="en-GB" b="1" dirty="0" err="1"/>
              <a:t>Dask</a:t>
            </a:r>
            <a:r>
              <a:rPr lang="en-GB" b="1" dirty="0"/>
              <a:t>-ML Integration</a:t>
            </a:r>
          </a:p>
          <a:p>
            <a:r>
              <a:rPr lang="en-GB" dirty="0" err="1"/>
              <a:t>Dask</a:t>
            </a:r>
            <a:r>
              <a:rPr lang="en-GB" dirty="0"/>
              <a:t>-ML is a scalable machine learning library that complements scikit-learn.</a:t>
            </a:r>
          </a:p>
        </p:txBody>
      </p:sp>
      <p:sp>
        <p:nvSpPr>
          <p:cNvPr id="10" name="TextBox 9">
            <a:extLst>
              <a:ext uri="{FF2B5EF4-FFF2-40B4-BE49-F238E27FC236}">
                <a16:creationId xmlns:a16="http://schemas.microsoft.com/office/drawing/2014/main" id="{193F052A-BA62-BD17-FCDD-A044E8339B53}"/>
              </a:ext>
            </a:extLst>
          </p:cNvPr>
          <p:cNvSpPr txBox="1"/>
          <p:nvPr/>
        </p:nvSpPr>
        <p:spPr>
          <a:xfrm>
            <a:off x="421738" y="3581672"/>
            <a:ext cx="7420556" cy="1169551"/>
          </a:xfrm>
          <a:prstGeom prst="rect">
            <a:avLst/>
          </a:prstGeom>
          <a:solidFill>
            <a:schemeClr val="accent1">
              <a:lumMod val="40000"/>
              <a:lumOff val="60000"/>
            </a:schemeClr>
          </a:solidFill>
        </p:spPr>
        <p:txBody>
          <a:bodyPr wrap="square">
            <a:spAutoFit/>
          </a:bodyPr>
          <a:lstStyle/>
          <a:p>
            <a:r>
              <a:rPr lang="en-US" dirty="0"/>
              <a:t>from </a:t>
            </a:r>
            <a:r>
              <a:rPr lang="en-US" dirty="0" err="1"/>
              <a:t>dask_ml.model_selection</a:t>
            </a:r>
            <a:r>
              <a:rPr lang="en-US" dirty="0"/>
              <a:t> import </a:t>
            </a:r>
            <a:r>
              <a:rPr lang="en-US" dirty="0" err="1"/>
              <a:t>GridSearchCV</a:t>
            </a:r>
            <a:endParaRPr lang="en-US" dirty="0"/>
          </a:p>
          <a:p>
            <a:r>
              <a:rPr lang="en-US" dirty="0"/>
              <a:t>from </a:t>
            </a:r>
            <a:r>
              <a:rPr lang="en-US" dirty="0" err="1"/>
              <a:t>sklearn.ensemble</a:t>
            </a:r>
            <a:r>
              <a:rPr lang="en-US" dirty="0"/>
              <a:t> import </a:t>
            </a:r>
            <a:r>
              <a:rPr lang="en-US" dirty="0" err="1"/>
              <a:t>GradientBoostingClassifier</a:t>
            </a:r>
            <a:endParaRPr lang="en-US" dirty="0"/>
          </a:p>
          <a:p>
            <a:endParaRPr lang="en-US" dirty="0"/>
          </a:p>
          <a:p>
            <a:r>
              <a:rPr lang="en-US" dirty="0"/>
              <a:t>search = </a:t>
            </a:r>
            <a:r>
              <a:rPr lang="en-US" dirty="0" err="1"/>
              <a:t>GridSearchCV</a:t>
            </a:r>
            <a:r>
              <a:rPr lang="en-US" dirty="0"/>
              <a:t>(</a:t>
            </a:r>
            <a:r>
              <a:rPr lang="en-US" dirty="0" err="1"/>
              <a:t>GradientBoostingClassifier</a:t>
            </a:r>
            <a:r>
              <a:rPr lang="en-US" dirty="0"/>
              <a:t>(), {'</a:t>
            </a:r>
            <a:r>
              <a:rPr lang="en-US" dirty="0" err="1"/>
              <a:t>n_estimators</a:t>
            </a:r>
            <a:r>
              <a:rPr lang="en-US" dirty="0"/>
              <a:t>': [100, 200]}, cv=5)</a:t>
            </a:r>
          </a:p>
          <a:p>
            <a:r>
              <a:rPr lang="en-US" dirty="0" err="1"/>
              <a:t>search.fit</a:t>
            </a:r>
            <a:r>
              <a:rPr lang="en-US" dirty="0"/>
              <a:t>(X, y)</a:t>
            </a:r>
          </a:p>
        </p:txBody>
      </p:sp>
    </p:spTree>
    <p:extLst>
      <p:ext uri="{BB962C8B-B14F-4D97-AF65-F5344CB8AC3E}">
        <p14:creationId xmlns:p14="http://schemas.microsoft.com/office/powerpoint/2010/main" val="97528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E45F085-A7E9-A7FA-8998-ABC8F87A220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625F131-5412-011A-D42C-D98B81DF9253}"/>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lang="en-GB" sz="2800" b="1" dirty="0"/>
              <a:t>Benefits of Using </a:t>
            </a:r>
            <a:r>
              <a:rPr lang="en-GB" sz="2800" b="1" dirty="0" err="1"/>
              <a:t>Dask</a:t>
            </a:r>
            <a:r>
              <a:rPr lang="en-GB" sz="2800" b="1" dirty="0"/>
              <a:t> with Scikit-learn</a:t>
            </a:r>
            <a:br>
              <a:rPr lang="en-GB" sz="2800" b="1" dirty="0"/>
            </a:br>
            <a:br>
              <a:rPr lang="en-GB" b="1" dirty="0"/>
            </a:br>
            <a:br>
              <a:rPr lang="en-GB" b="1" dirty="0"/>
            </a:br>
            <a:br>
              <a:rPr lang="en-GB" b="1" i="0" u="none" strike="noStrike" dirty="0">
                <a:solidFill>
                  <a:srgbClr val="7030A0"/>
                </a:solidFill>
                <a:effectLst/>
              </a:rPr>
            </a:br>
            <a:endParaRPr lang="en-GB" b="1" i="0" u="none" strike="noStrike" dirty="0">
              <a:solidFill>
                <a:srgbClr val="7030A0"/>
              </a:solidFill>
              <a:effectLst/>
            </a:endParaRPr>
          </a:p>
        </p:txBody>
      </p:sp>
      <p:sp>
        <p:nvSpPr>
          <p:cNvPr id="4" name="TextBox 3">
            <a:extLst>
              <a:ext uri="{FF2B5EF4-FFF2-40B4-BE49-F238E27FC236}">
                <a16:creationId xmlns:a16="http://schemas.microsoft.com/office/drawing/2014/main" id="{B117CCEB-F6C1-5032-F04B-A086F9114FD0}"/>
              </a:ext>
            </a:extLst>
          </p:cNvPr>
          <p:cNvSpPr txBox="1"/>
          <p:nvPr/>
        </p:nvSpPr>
        <p:spPr>
          <a:xfrm>
            <a:off x="699714" y="743741"/>
            <a:ext cx="6726803" cy="3785652"/>
          </a:xfrm>
          <a:prstGeom prst="rect">
            <a:avLst/>
          </a:prstGeom>
          <a:noFill/>
        </p:spPr>
        <p:txBody>
          <a:bodyPr wrap="square">
            <a:spAutoFit/>
          </a:bodyPr>
          <a:lstStyle/>
          <a:p>
            <a:pPr marL="342900" indent="-342900">
              <a:buFont typeface="+mj-lt"/>
              <a:buAutoNum type="arabicPeriod"/>
            </a:pPr>
            <a:r>
              <a:rPr lang="en-GB" sz="1600" b="1" dirty="0"/>
              <a:t>Works on Distributed Clusters</a:t>
            </a:r>
            <a:r>
              <a:rPr lang="en-GB" sz="1600" dirty="0"/>
              <a:t>: Unlike </a:t>
            </a:r>
            <a:r>
              <a:rPr lang="en-GB" sz="1600" dirty="0" err="1"/>
              <a:t>Joblib</a:t>
            </a:r>
            <a:r>
              <a:rPr lang="en-GB" sz="1600" dirty="0"/>
              <a:t>, which is limited to a single machine, </a:t>
            </a:r>
            <a:r>
              <a:rPr lang="en-GB" sz="1600" dirty="0" err="1"/>
              <a:t>Dask</a:t>
            </a:r>
            <a:r>
              <a:rPr lang="en-GB" sz="1600" dirty="0"/>
              <a:t> allows you to run your ML tasks across multiple machines or a cloud cluster—this is ideal for big data environments.</a:t>
            </a:r>
          </a:p>
          <a:p>
            <a:pPr marL="342900" indent="-342900">
              <a:buFont typeface="+mj-lt"/>
              <a:buAutoNum type="arabicPeriod"/>
            </a:pPr>
            <a:r>
              <a:rPr lang="en-GB" sz="1600" b="1" dirty="0"/>
              <a:t>Handles Larger-than-Memory Datasets</a:t>
            </a:r>
            <a:r>
              <a:rPr lang="en-GB" sz="1600" dirty="0"/>
              <a:t>: With </a:t>
            </a:r>
            <a:r>
              <a:rPr lang="en-GB" sz="1600" dirty="0" err="1"/>
              <a:t>Dask's</a:t>
            </a:r>
            <a:r>
              <a:rPr lang="en-GB" sz="1600" dirty="0"/>
              <a:t> support for out-of-core computations, you can work with datasets that don’t fit into your system’s RAM. This is a game-changer when dealing with massive datasets in production.</a:t>
            </a:r>
          </a:p>
          <a:p>
            <a:pPr marL="342900" indent="-342900">
              <a:buFont typeface="+mj-lt"/>
              <a:buAutoNum type="arabicPeriod"/>
            </a:pPr>
            <a:r>
              <a:rPr lang="en-GB" sz="1600" b="1" dirty="0"/>
              <a:t>Provides Better Control Over Computation</a:t>
            </a:r>
            <a:r>
              <a:rPr lang="en-GB" sz="1600" dirty="0"/>
              <a:t>: </a:t>
            </a:r>
            <a:r>
              <a:rPr lang="en-GB" sz="1600" dirty="0" err="1"/>
              <a:t>Dask</a:t>
            </a:r>
            <a:r>
              <a:rPr lang="en-GB" sz="1600" dirty="0"/>
              <a:t> builds and executes task graphs, offering detailed insights into each step of the computation. This makes performance monitoring, optimization, and debugging more effective—especially using the </a:t>
            </a:r>
            <a:r>
              <a:rPr lang="en-GB" sz="1600" b="1" dirty="0" err="1"/>
              <a:t>Dask</a:t>
            </a:r>
            <a:r>
              <a:rPr lang="en-GB" sz="1600" b="1" dirty="0"/>
              <a:t> dashboard</a:t>
            </a:r>
            <a:r>
              <a:rPr lang="en-GB" sz="1600" dirty="0"/>
              <a:t>.</a:t>
            </a:r>
          </a:p>
          <a:p>
            <a:r>
              <a:rPr lang="en-GB" sz="1600" dirty="0"/>
              <a:t>These benefits make </a:t>
            </a:r>
            <a:r>
              <a:rPr lang="en-GB" sz="1600" dirty="0" err="1"/>
              <a:t>Dask</a:t>
            </a:r>
            <a:r>
              <a:rPr lang="en-GB" sz="1600" dirty="0"/>
              <a:t> a strong companion for scaling and distributing your scikit-learn models.</a:t>
            </a:r>
          </a:p>
          <a:p>
            <a:pPr marL="342900" indent="-342900">
              <a:buFont typeface="+mj-lt"/>
              <a:buAutoNum type="arabicPeriod"/>
            </a:pPr>
            <a:endParaRPr lang="en-GB" sz="1600" dirty="0"/>
          </a:p>
        </p:txBody>
      </p:sp>
    </p:spTree>
    <p:extLst>
      <p:ext uri="{BB962C8B-B14F-4D97-AF65-F5344CB8AC3E}">
        <p14:creationId xmlns:p14="http://schemas.microsoft.com/office/powerpoint/2010/main" val="3897738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D2F3937-80AF-36BE-6695-D7BF2BBCDB8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82DC042-14D6-6638-0329-8DE12AA127BD}"/>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800" dirty="0"/>
              <a:t>Comparison Table: </a:t>
            </a:r>
            <a:r>
              <a:rPr lang="en-GB" sz="2800" dirty="0" err="1"/>
              <a:t>Joblib</a:t>
            </a:r>
            <a:r>
              <a:rPr lang="en-GB" sz="2800" dirty="0"/>
              <a:t> vs </a:t>
            </a:r>
            <a:r>
              <a:rPr lang="en-GB" sz="2800" dirty="0" err="1"/>
              <a:t>Dask</a:t>
            </a:r>
            <a:br>
              <a:rPr lang="en-GB" sz="2800" dirty="0"/>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dirty="0"/>
            </a:br>
            <a:br>
              <a:rPr lang="en-GB" sz="2800" b="1" i="0" u="none" strike="noStrike" dirty="0">
                <a:solidFill>
                  <a:srgbClr val="7030A0"/>
                </a:solidFill>
                <a:effectLst/>
              </a:rPr>
            </a:br>
            <a:endParaRPr lang="en-GB" sz="2800" b="1" i="0" u="none" strike="noStrike" dirty="0">
              <a:solidFill>
                <a:srgbClr val="7030A0"/>
              </a:solidFill>
              <a:effectLst/>
            </a:endParaRPr>
          </a:p>
        </p:txBody>
      </p:sp>
      <p:graphicFrame>
        <p:nvGraphicFramePr>
          <p:cNvPr id="3" name="Table 2">
            <a:extLst>
              <a:ext uri="{FF2B5EF4-FFF2-40B4-BE49-F238E27FC236}">
                <a16:creationId xmlns:a16="http://schemas.microsoft.com/office/drawing/2014/main" id="{E2D677AF-E96F-1531-4064-FE62A428AE5D}"/>
              </a:ext>
            </a:extLst>
          </p:cNvPr>
          <p:cNvGraphicFramePr>
            <a:graphicFrameLocks noGrp="1"/>
          </p:cNvGraphicFramePr>
          <p:nvPr>
            <p:extLst>
              <p:ext uri="{D42A27DB-BD31-4B8C-83A1-F6EECF244321}">
                <p14:modId xmlns:p14="http://schemas.microsoft.com/office/powerpoint/2010/main" val="2978177707"/>
              </p:ext>
            </p:extLst>
          </p:nvPr>
        </p:nvGraphicFramePr>
        <p:xfrm>
          <a:off x="215124" y="1334734"/>
          <a:ext cx="8521701" cy="21945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497097971"/>
                    </a:ext>
                  </a:extLst>
                </a:gridCol>
                <a:gridCol w="2840567">
                  <a:extLst>
                    <a:ext uri="{9D8B030D-6E8A-4147-A177-3AD203B41FA5}">
                      <a16:colId xmlns:a16="http://schemas.microsoft.com/office/drawing/2014/main" val="118213418"/>
                    </a:ext>
                  </a:extLst>
                </a:gridCol>
                <a:gridCol w="2840567">
                  <a:extLst>
                    <a:ext uri="{9D8B030D-6E8A-4147-A177-3AD203B41FA5}">
                      <a16:colId xmlns:a16="http://schemas.microsoft.com/office/drawing/2014/main" val="670877640"/>
                    </a:ext>
                  </a:extLst>
                </a:gridCol>
              </a:tblGrid>
              <a:tr h="304800">
                <a:tc>
                  <a:txBody>
                    <a:bodyPr/>
                    <a:lstStyle/>
                    <a:p>
                      <a:r>
                        <a:rPr lang="en-GB" sz="1800" b="1" dirty="0"/>
                        <a:t>Feature</a:t>
                      </a:r>
                    </a:p>
                  </a:txBody>
                  <a:tcPr anchor="ctr"/>
                </a:tc>
                <a:tc>
                  <a:txBody>
                    <a:bodyPr/>
                    <a:lstStyle/>
                    <a:p>
                      <a:r>
                        <a:rPr lang="en-GB" sz="1800" b="1"/>
                        <a:t>Joblib</a:t>
                      </a:r>
                    </a:p>
                  </a:txBody>
                  <a:tcPr anchor="ctr"/>
                </a:tc>
                <a:tc>
                  <a:txBody>
                    <a:bodyPr/>
                    <a:lstStyle/>
                    <a:p>
                      <a:r>
                        <a:rPr lang="en-GB" sz="1800" b="1" dirty="0" err="1"/>
                        <a:t>Dask</a:t>
                      </a:r>
                      <a:endParaRPr lang="en-GB" sz="1800" b="1" dirty="0"/>
                    </a:p>
                  </a:txBody>
                  <a:tcPr anchor="ctr"/>
                </a:tc>
                <a:extLst>
                  <a:ext uri="{0D108BD9-81ED-4DB2-BD59-A6C34878D82A}">
                    <a16:rowId xmlns:a16="http://schemas.microsoft.com/office/drawing/2014/main" val="2234759575"/>
                  </a:ext>
                </a:extLst>
              </a:tr>
              <a:tr h="304800">
                <a:tc>
                  <a:txBody>
                    <a:bodyPr/>
                    <a:lstStyle/>
                    <a:p>
                      <a:r>
                        <a:rPr lang="en-GB" sz="1800"/>
                        <a:t>Execution Type</a:t>
                      </a:r>
                    </a:p>
                  </a:txBody>
                  <a:tcPr anchor="ctr"/>
                </a:tc>
                <a:tc>
                  <a:txBody>
                    <a:bodyPr/>
                    <a:lstStyle/>
                    <a:p>
                      <a:r>
                        <a:rPr lang="en-GB" sz="1800"/>
                        <a:t>Parallel (local)</a:t>
                      </a:r>
                    </a:p>
                  </a:txBody>
                  <a:tcPr anchor="ctr"/>
                </a:tc>
                <a:tc>
                  <a:txBody>
                    <a:bodyPr/>
                    <a:lstStyle/>
                    <a:p>
                      <a:r>
                        <a:rPr lang="en-GB" sz="1800"/>
                        <a:t>Distributed/Parallel</a:t>
                      </a:r>
                    </a:p>
                  </a:txBody>
                  <a:tcPr anchor="ctr"/>
                </a:tc>
                <a:extLst>
                  <a:ext uri="{0D108BD9-81ED-4DB2-BD59-A6C34878D82A}">
                    <a16:rowId xmlns:a16="http://schemas.microsoft.com/office/drawing/2014/main" val="4175136596"/>
                  </a:ext>
                </a:extLst>
              </a:tr>
              <a:tr h="304800">
                <a:tc>
                  <a:txBody>
                    <a:bodyPr/>
                    <a:lstStyle/>
                    <a:p>
                      <a:r>
                        <a:rPr lang="en-GB" sz="1800"/>
                        <a:t>Dataset Size</a:t>
                      </a:r>
                    </a:p>
                  </a:txBody>
                  <a:tcPr anchor="ctr"/>
                </a:tc>
                <a:tc>
                  <a:txBody>
                    <a:bodyPr/>
                    <a:lstStyle/>
                    <a:p>
                      <a:r>
                        <a:rPr lang="en-GB" sz="1800" dirty="0"/>
                        <a:t>In-memory only</a:t>
                      </a:r>
                    </a:p>
                  </a:txBody>
                  <a:tcPr anchor="ctr"/>
                </a:tc>
                <a:tc>
                  <a:txBody>
                    <a:bodyPr/>
                    <a:lstStyle/>
                    <a:p>
                      <a:r>
                        <a:rPr lang="en-GB" sz="1800"/>
                        <a:t>Out-of-core support</a:t>
                      </a:r>
                    </a:p>
                  </a:txBody>
                  <a:tcPr anchor="ctr"/>
                </a:tc>
                <a:extLst>
                  <a:ext uri="{0D108BD9-81ED-4DB2-BD59-A6C34878D82A}">
                    <a16:rowId xmlns:a16="http://schemas.microsoft.com/office/drawing/2014/main" val="3969214312"/>
                  </a:ext>
                </a:extLst>
              </a:tr>
              <a:tr h="304800">
                <a:tc>
                  <a:txBody>
                    <a:bodyPr/>
                    <a:lstStyle/>
                    <a:p>
                      <a:r>
                        <a:rPr lang="en-GB" sz="1800"/>
                        <a:t>Cluster Support</a:t>
                      </a:r>
                    </a:p>
                  </a:txBody>
                  <a:tcPr anchor="ctr"/>
                </a:tc>
                <a:tc>
                  <a:txBody>
                    <a:bodyPr/>
                    <a:lstStyle/>
                    <a:p>
                      <a:r>
                        <a:rPr lang="en-GB" sz="1800"/>
                        <a:t>No</a:t>
                      </a:r>
                    </a:p>
                  </a:txBody>
                  <a:tcPr anchor="ctr"/>
                </a:tc>
                <a:tc>
                  <a:txBody>
                    <a:bodyPr/>
                    <a:lstStyle/>
                    <a:p>
                      <a:r>
                        <a:rPr lang="en-GB" sz="1800"/>
                        <a:t>Yes</a:t>
                      </a:r>
                    </a:p>
                  </a:txBody>
                  <a:tcPr anchor="ctr"/>
                </a:tc>
                <a:extLst>
                  <a:ext uri="{0D108BD9-81ED-4DB2-BD59-A6C34878D82A}">
                    <a16:rowId xmlns:a16="http://schemas.microsoft.com/office/drawing/2014/main" val="196900553"/>
                  </a:ext>
                </a:extLst>
              </a:tr>
              <a:tr h="304800">
                <a:tc>
                  <a:txBody>
                    <a:bodyPr/>
                    <a:lstStyle/>
                    <a:p>
                      <a:r>
                        <a:rPr lang="en-GB" sz="1800"/>
                        <a:t>Complexity</a:t>
                      </a:r>
                    </a:p>
                  </a:txBody>
                  <a:tcPr anchor="ctr"/>
                </a:tc>
                <a:tc>
                  <a:txBody>
                    <a:bodyPr/>
                    <a:lstStyle/>
                    <a:p>
                      <a:r>
                        <a:rPr lang="en-GB" sz="1800"/>
                        <a:t>Low</a:t>
                      </a:r>
                    </a:p>
                  </a:txBody>
                  <a:tcPr anchor="ctr"/>
                </a:tc>
                <a:tc>
                  <a:txBody>
                    <a:bodyPr/>
                    <a:lstStyle/>
                    <a:p>
                      <a:r>
                        <a:rPr lang="en-GB" sz="1800"/>
                        <a:t>Medium</a:t>
                      </a:r>
                    </a:p>
                  </a:txBody>
                  <a:tcPr anchor="ctr"/>
                </a:tc>
                <a:extLst>
                  <a:ext uri="{0D108BD9-81ED-4DB2-BD59-A6C34878D82A}">
                    <a16:rowId xmlns:a16="http://schemas.microsoft.com/office/drawing/2014/main" val="1796124224"/>
                  </a:ext>
                </a:extLst>
              </a:tr>
              <a:tr h="304800">
                <a:tc>
                  <a:txBody>
                    <a:bodyPr/>
                    <a:lstStyle/>
                    <a:p>
                      <a:r>
                        <a:rPr lang="en-GB" sz="1800"/>
                        <a:t>Scikit-learn Integration</a:t>
                      </a:r>
                    </a:p>
                  </a:txBody>
                  <a:tcPr anchor="ctr"/>
                </a:tc>
                <a:tc>
                  <a:txBody>
                    <a:bodyPr/>
                    <a:lstStyle/>
                    <a:p>
                      <a:r>
                        <a:rPr lang="en-GB" sz="1800"/>
                        <a:t>Native</a:t>
                      </a:r>
                    </a:p>
                  </a:txBody>
                  <a:tcPr anchor="ctr"/>
                </a:tc>
                <a:tc>
                  <a:txBody>
                    <a:bodyPr/>
                    <a:lstStyle/>
                    <a:p>
                      <a:r>
                        <a:rPr lang="en-GB" sz="1800" dirty="0"/>
                        <a:t>With backend or </a:t>
                      </a:r>
                      <a:r>
                        <a:rPr lang="en-GB" sz="1800" dirty="0" err="1"/>
                        <a:t>dask</a:t>
                      </a:r>
                      <a:r>
                        <a:rPr lang="en-GB" sz="1800" dirty="0"/>
                        <a:t>-ml</a:t>
                      </a:r>
                    </a:p>
                  </a:txBody>
                  <a:tcPr anchor="ctr"/>
                </a:tc>
                <a:extLst>
                  <a:ext uri="{0D108BD9-81ED-4DB2-BD59-A6C34878D82A}">
                    <a16:rowId xmlns:a16="http://schemas.microsoft.com/office/drawing/2014/main" val="1659272769"/>
                  </a:ext>
                </a:extLst>
              </a:tr>
            </a:tbl>
          </a:graphicData>
        </a:graphic>
      </p:graphicFrame>
      <p:sp>
        <p:nvSpPr>
          <p:cNvPr id="4" name="Rectangle 1">
            <a:extLst>
              <a:ext uri="{FF2B5EF4-FFF2-40B4-BE49-F238E27FC236}">
                <a16:creationId xmlns:a16="http://schemas.microsoft.com/office/drawing/2014/main" id="{A9679D18-32FB-7A81-D1F3-C9920037EC7C}"/>
              </a:ext>
            </a:extLst>
          </p:cNvPr>
          <p:cNvSpPr>
            <a:spLocks noChangeArrowheads="1"/>
          </p:cNvSpPr>
          <p:nvPr/>
        </p:nvSpPr>
        <p:spPr bwMode="auto">
          <a:xfrm>
            <a:off x="470176" y="124487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80114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6C694DC-4709-391B-4019-5B6E5954C1E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EB4BC9F-F305-98E2-49FF-04FD87311E5E}"/>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Performance Optimization Techniques</a:t>
            </a:r>
            <a:br>
              <a:rPr lang="en-GB" sz="2000" b="1" dirty="0"/>
            </a:br>
            <a:br>
              <a:rPr lang="en-GB" sz="2000" b="1" dirty="0"/>
            </a:br>
            <a:r>
              <a:rPr kumimoji="0" lang="en-US" altLang="en-US" sz="2000" b="1" i="0" u="none" strike="noStrike" cap="none" normalizeH="0" baseline="0" dirty="0">
                <a:ln>
                  <a:noFill/>
                </a:ln>
                <a:solidFill>
                  <a:srgbClr val="404040"/>
                </a:solidFill>
                <a:effectLst/>
                <a:latin typeface="Inter" panose="02000503000000020004" pitchFamily="2" charset="0"/>
              </a:rPr>
              <a:t>Choosing the Right Approach</a:t>
            </a:r>
            <a:br>
              <a:rPr kumimoji="0" lang="en-US" altLang="en-US" sz="2000" b="1" i="0" u="none" strike="noStrike" cap="none" normalizeH="0" baseline="0" dirty="0">
                <a:ln>
                  <a:noFill/>
                </a:ln>
                <a:solidFill>
                  <a:srgbClr val="404040"/>
                </a:solidFill>
                <a:effectLst/>
                <a:latin typeface="Inter" panose="02000503000000020004" pitchFamily="2" charset="0"/>
              </a:rPr>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graphicFrame>
        <p:nvGraphicFramePr>
          <p:cNvPr id="7" name="Table 6">
            <a:extLst>
              <a:ext uri="{FF2B5EF4-FFF2-40B4-BE49-F238E27FC236}">
                <a16:creationId xmlns:a16="http://schemas.microsoft.com/office/drawing/2014/main" id="{C10BA8B8-DF97-30EA-41A5-6C0CBF76F04C}"/>
              </a:ext>
            </a:extLst>
          </p:cNvPr>
          <p:cNvGraphicFramePr>
            <a:graphicFrameLocks noGrp="1"/>
          </p:cNvGraphicFramePr>
          <p:nvPr>
            <p:extLst>
              <p:ext uri="{D42A27DB-BD31-4B8C-83A1-F6EECF244321}">
                <p14:modId xmlns:p14="http://schemas.microsoft.com/office/powerpoint/2010/main" val="3375921529"/>
              </p:ext>
            </p:extLst>
          </p:nvPr>
        </p:nvGraphicFramePr>
        <p:xfrm>
          <a:off x="311150" y="1263608"/>
          <a:ext cx="8521700" cy="1219200"/>
        </p:xfrm>
        <a:graphic>
          <a:graphicData uri="http://schemas.openxmlformats.org/drawingml/2006/table">
            <a:tbl>
              <a:tblPr>
                <a:tableStyleId>{35758FB7-9AC5-4552-8A53-C91805E547FA}</a:tableStyleId>
              </a:tblPr>
              <a:tblGrid>
                <a:gridCol w="4260850">
                  <a:extLst>
                    <a:ext uri="{9D8B030D-6E8A-4147-A177-3AD203B41FA5}">
                      <a16:colId xmlns:a16="http://schemas.microsoft.com/office/drawing/2014/main" val="3018463077"/>
                    </a:ext>
                  </a:extLst>
                </a:gridCol>
                <a:gridCol w="4260850">
                  <a:extLst>
                    <a:ext uri="{9D8B030D-6E8A-4147-A177-3AD203B41FA5}">
                      <a16:colId xmlns:a16="http://schemas.microsoft.com/office/drawing/2014/main" val="4118498354"/>
                    </a:ext>
                  </a:extLst>
                </a:gridCol>
              </a:tblGrid>
              <a:tr h="0">
                <a:tc>
                  <a:txBody>
                    <a:bodyPr/>
                    <a:lstStyle/>
                    <a:p>
                      <a:pPr algn="l"/>
                      <a:r>
                        <a:rPr lang="en-GB" b="1">
                          <a:effectLst/>
                        </a:rPr>
                        <a:t>Scenario</a:t>
                      </a:r>
                    </a:p>
                  </a:txBody>
                  <a:tcPr anchor="ctr"/>
                </a:tc>
                <a:tc>
                  <a:txBody>
                    <a:bodyPr/>
                    <a:lstStyle/>
                    <a:p>
                      <a:pPr algn="l"/>
                      <a:r>
                        <a:rPr lang="en-GB" b="1">
                          <a:effectLst/>
                        </a:rPr>
                        <a:t>Recommended Approach</a:t>
                      </a:r>
                    </a:p>
                  </a:txBody>
                  <a:tcPr anchor="ctr"/>
                </a:tc>
                <a:extLst>
                  <a:ext uri="{0D108BD9-81ED-4DB2-BD59-A6C34878D82A}">
                    <a16:rowId xmlns:a16="http://schemas.microsoft.com/office/drawing/2014/main" val="4170994660"/>
                  </a:ext>
                </a:extLst>
              </a:tr>
              <a:tr h="0">
                <a:tc>
                  <a:txBody>
                    <a:bodyPr/>
                    <a:lstStyle/>
                    <a:p>
                      <a:r>
                        <a:rPr lang="en-GB">
                          <a:effectLst/>
                        </a:rPr>
                        <a:t>Small data, single machine</a:t>
                      </a:r>
                    </a:p>
                  </a:txBody>
                  <a:tcPr anchor="ctr"/>
                </a:tc>
                <a:tc>
                  <a:txBody>
                    <a:bodyPr/>
                    <a:lstStyle/>
                    <a:p>
                      <a:r>
                        <a:rPr lang="en-GB">
                          <a:effectLst/>
                        </a:rPr>
                        <a:t>scikit-learn with joblib</a:t>
                      </a:r>
                    </a:p>
                  </a:txBody>
                  <a:tcPr anchor="ctr"/>
                </a:tc>
                <a:extLst>
                  <a:ext uri="{0D108BD9-81ED-4DB2-BD59-A6C34878D82A}">
                    <a16:rowId xmlns:a16="http://schemas.microsoft.com/office/drawing/2014/main" val="437424653"/>
                  </a:ext>
                </a:extLst>
              </a:tr>
              <a:tr h="0">
                <a:tc>
                  <a:txBody>
                    <a:bodyPr/>
                    <a:lstStyle/>
                    <a:p>
                      <a:r>
                        <a:rPr lang="en-GB">
                          <a:effectLst/>
                        </a:rPr>
                        <a:t>Medium data, single machine</a:t>
                      </a:r>
                    </a:p>
                  </a:txBody>
                  <a:tcPr anchor="ctr"/>
                </a:tc>
                <a:tc>
                  <a:txBody>
                    <a:bodyPr/>
                    <a:lstStyle/>
                    <a:p>
                      <a:r>
                        <a:rPr lang="en-GB">
                          <a:effectLst/>
                        </a:rPr>
                        <a:t>scikit-learn with Dask backend</a:t>
                      </a:r>
                    </a:p>
                  </a:txBody>
                  <a:tcPr anchor="ctr"/>
                </a:tc>
                <a:extLst>
                  <a:ext uri="{0D108BD9-81ED-4DB2-BD59-A6C34878D82A}">
                    <a16:rowId xmlns:a16="http://schemas.microsoft.com/office/drawing/2014/main" val="4061361069"/>
                  </a:ext>
                </a:extLst>
              </a:tr>
              <a:tr h="0">
                <a:tc>
                  <a:txBody>
                    <a:bodyPr/>
                    <a:lstStyle/>
                    <a:p>
                      <a:r>
                        <a:rPr lang="en-GB">
                          <a:effectLst/>
                        </a:rPr>
                        <a:t>Large data, distributed</a:t>
                      </a:r>
                    </a:p>
                  </a:txBody>
                  <a:tcPr anchor="ctr"/>
                </a:tc>
                <a:tc>
                  <a:txBody>
                    <a:bodyPr/>
                    <a:lstStyle/>
                    <a:p>
                      <a:r>
                        <a:rPr lang="en-GB" dirty="0" err="1">
                          <a:effectLst/>
                        </a:rPr>
                        <a:t>Dask</a:t>
                      </a:r>
                      <a:r>
                        <a:rPr lang="en-GB" dirty="0">
                          <a:effectLst/>
                        </a:rPr>
                        <a:t>-ML</a:t>
                      </a:r>
                    </a:p>
                  </a:txBody>
                  <a:tcPr anchor="ctr"/>
                </a:tc>
                <a:extLst>
                  <a:ext uri="{0D108BD9-81ED-4DB2-BD59-A6C34878D82A}">
                    <a16:rowId xmlns:a16="http://schemas.microsoft.com/office/drawing/2014/main" val="439509756"/>
                  </a:ext>
                </a:extLst>
              </a:tr>
            </a:tbl>
          </a:graphicData>
        </a:graphic>
      </p:graphicFrame>
      <p:sp>
        <p:nvSpPr>
          <p:cNvPr id="10" name="TextBox 9">
            <a:extLst>
              <a:ext uri="{FF2B5EF4-FFF2-40B4-BE49-F238E27FC236}">
                <a16:creationId xmlns:a16="http://schemas.microsoft.com/office/drawing/2014/main" id="{951EA59B-B46D-1377-524D-8F5AC2BAEAD3}"/>
              </a:ext>
            </a:extLst>
          </p:cNvPr>
          <p:cNvSpPr txBox="1"/>
          <p:nvPr/>
        </p:nvSpPr>
        <p:spPr>
          <a:xfrm>
            <a:off x="550629" y="2865443"/>
            <a:ext cx="4647536"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404040"/>
              </a:solidFill>
              <a:effectLst/>
              <a:latin typeface="Inter" panose="02000503000000020004"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404040"/>
                </a:solidFill>
                <a:effectLst/>
                <a:latin typeface="Inter" panose="02000503000000020004" pitchFamily="2" charset="0"/>
              </a:rPr>
              <a:t>Memory Management</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600" b="0" i="0" u="none" strike="noStrike" cap="none" normalizeH="0" baseline="0" dirty="0">
                <a:ln>
                  <a:noFill/>
                </a:ln>
                <a:solidFill>
                  <a:srgbClr val="404040"/>
                </a:solidFill>
                <a:effectLst/>
                <a:latin typeface="Inter" panose="02000503000000020004" pitchFamily="2" charset="0"/>
              </a:rPr>
              <a:t>Use </a:t>
            </a:r>
            <a:r>
              <a:rPr kumimoji="0" lang="en-US" altLang="en-US" sz="1600" b="0" i="0" u="none" strike="noStrike" cap="none" normalizeH="0" baseline="0" dirty="0" err="1">
                <a:ln>
                  <a:noFill/>
                </a:ln>
                <a:solidFill>
                  <a:srgbClr val="404040"/>
                </a:solidFill>
                <a:effectLst/>
                <a:latin typeface="Inter" panose="02000503000000020004" pitchFamily="2" charset="0"/>
              </a:rPr>
              <a:t>Dask</a:t>
            </a:r>
            <a:r>
              <a:rPr kumimoji="0" lang="en-US" altLang="en-US" sz="1600" b="0" i="0" u="none" strike="noStrike" cap="none" normalizeH="0" baseline="0" dirty="0">
                <a:ln>
                  <a:noFill/>
                </a:ln>
                <a:solidFill>
                  <a:srgbClr val="404040"/>
                </a:solidFill>
                <a:effectLst/>
                <a:latin typeface="Inter" panose="02000503000000020004" pitchFamily="2" charset="0"/>
              </a:rPr>
              <a:t> arrays/</a:t>
            </a:r>
            <a:r>
              <a:rPr kumimoji="0" lang="en-US" altLang="en-US" sz="1600" b="0" i="0" u="none" strike="noStrike" cap="none" normalizeH="0" baseline="0" dirty="0" err="1">
                <a:ln>
                  <a:noFill/>
                </a:ln>
                <a:solidFill>
                  <a:srgbClr val="404040"/>
                </a:solidFill>
                <a:effectLst/>
                <a:latin typeface="Inter" panose="02000503000000020004" pitchFamily="2" charset="0"/>
              </a:rPr>
              <a:t>dataframes</a:t>
            </a:r>
            <a:r>
              <a:rPr kumimoji="0" lang="en-US" altLang="en-US" sz="1600" b="0" i="0" u="none" strike="noStrike" cap="none" normalizeH="0" baseline="0" dirty="0">
                <a:ln>
                  <a:noFill/>
                </a:ln>
                <a:solidFill>
                  <a:srgbClr val="404040"/>
                </a:solidFill>
                <a:effectLst/>
                <a:latin typeface="Inter" panose="02000503000000020004" pitchFamily="2" charset="0"/>
              </a:rPr>
              <a:t> for out-of-core computation</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ü"/>
              <a:tabLst/>
            </a:pPr>
            <a:r>
              <a:rPr kumimoji="0" lang="en-US" altLang="en-US" sz="1600" b="0" i="0" u="none" strike="noStrike" cap="none" normalizeH="0" baseline="0" dirty="0">
                <a:ln>
                  <a:noFill/>
                </a:ln>
                <a:solidFill>
                  <a:srgbClr val="404040"/>
                </a:solidFill>
                <a:effectLst/>
                <a:latin typeface="Inter" panose="02000503000000020004" pitchFamily="2" charset="0"/>
              </a:rPr>
              <a:t>Persist frequently used data in memory</a:t>
            </a:r>
          </a:p>
        </p:txBody>
      </p:sp>
    </p:spTree>
    <p:extLst>
      <p:ext uri="{BB962C8B-B14F-4D97-AF65-F5344CB8AC3E}">
        <p14:creationId xmlns:p14="http://schemas.microsoft.com/office/powerpoint/2010/main" val="162470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8336F9D-86D7-E3E0-90F6-8005C2A1CEB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3FC2508-F184-1DD1-FE44-F8E8F2250127}"/>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Performance Optimization Techniques</a:t>
            </a:r>
            <a:br>
              <a:rPr lang="en-GB" sz="2000" b="1" dirty="0"/>
            </a:br>
            <a:br>
              <a:rPr lang="en-GB" sz="2000" b="1" dirty="0"/>
            </a:br>
            <a:br>
              <a:rPr kumimoji="0" lang="en-US" altLang="en-US" sz="2000" b="1" i="0" u="none" strike="noStrike" cap="none" normalizeH="0" baseline="0" dirty="0">
                <a:ln>
                  <a:noFill/>
                </a:ln>
                <a:solidFill>
                  <a:srgbClr val="404040"/>
                </a:solidFill>
                <a:effectLst/>
                <a:latin typeface="Inter" panose="02000503000000020004" pitchFamily="2" charset="0"/>
              </a:rPr>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10" name="TextBox 9">
            <a:extLst>
              <a:ext uri="{FF2B5EF4-FFF2-40B4-BE49-F238E27FC236}">
                <a16:creationId xmlns:a16="http://schemas.microsoft.com/office/drawing/2014/main" id="{52007A60-E6E5-CDF8-C919-FB9E293013CB}"/>
              </a:ext>
            </a:extLst>
          </p:cNvPr>
          <p:cNvSpPr txBox="1"/>
          <p:nvPr/>
        </p:nvSpPr>
        <p:spPr>
          <a:xfrm>
            <a:off x="518823" y="737474"/>
            <a:ext cx="5945586" cy="21082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404040"/>
              </a:solidFill>
              <a:effectLst/>
              <a:latin typeface="Inter" panose="02000503000000020004" pitchFamily="2" charset="0"/>
            </a:endParaRPr>
          </a:p>
          <a:p>
            <a:pPr algn="l">
              <a:buNone/>
            </a:pPr>
            <a:r>
              <a:rPr lang="en-GB" sz="1800" b="1" i="0" u="none" strike="noStrike" dirty="0">
                <a:solidFill>
                  <a:srgbClr val="404040"/>
                </a:solidFill>
                <a:effectLst/>
                <a:latin typeface="Inter" panose="02000503000000020004" pitchFamily="2" charset="0"/>
              </a:rPr>
              <a:t>Data Locality</a:t>
            </a:r>
          </a:p>
          <a:p>
            <a:pPr marL="342900" indent="-342900" algn="l">
              <a:buFont typeface="Wingdings" pitchFamily="2" charset="2"/>
              <a:buChar char="ü"/>
            </a:pPr>
            <a:r>
              <a:rPr lang="en-GB" sz="1800" b="0" i="0" u="none" strike="noStrike" dirty="0">
                <a:solidFill>
                  <a:srgbClr val="404040"/>
                </a:solidFill>
                <a:effectLst/>
                <a:latin typeface="Inter" panose="02000503000000020004" pitchFamily="2" charset="0"/>
              </a:rPr>
              <a:t>Co-locate computation with data</a:t>
            </a:r>
          </a:p>
          <a:p>
            <a:pPr marL="342900" indent="-342900" algn="l">
              <a:spcBef>
                <a:spcPts val="300"/>
              </a:spcBef>
              <a:buFont typeface="Wingdings" pitchFamily="2" charset="2"/>
              <a:buChar char="ü"/>
            </a:pPr>
            <a:r>
              <a:rPr lang="en-GB" sz="1800" b="0" i="0" u="none" strike="noStrike" dirty="0">
                <a:solidFill>
                  <a:srgbClr val="404040"/>
                </a:solidFill>
                <a:effectLst/>
                <a:latin typeface="Inter" panose="02000503000000020004" pitchFamily="2" charset="0"/>
              </a:rPr>
              <a:t>Minimize data transfer between workers</a:t>
            </a:r>
          </a:p>
          <a:p>
            <a:pPr algn="l">
              <a:buNone/>
            </a:pPr>
            <a:r>
              <a:rPr lang="en-GB" sz="1800" b="1" i="0" u="none" strike="noStrike" dirty="0">
                <a:solidFill>
                  <a:srgbClr val="404040"/>
                </a:solidFill>
                <a:effectLst/>
                <a:latin typeface="Inter" panose="02000503000000020004" pitchFamily="2" charset="0"/>
              </a:rPr>
              <a:t>Batch Size Tuning</a:t>
            </a:r>
          </a:p>
          <a:p>
            <a:pPr marL="457200" indent="-457200" algn="l">
              <a:buFont typeface="Wingdings" pitchFamily="2" charset="2"/>
              <a:buChar char="ü"/>
            </a:pPr>
            <a:r>
              <a:rPr lang="en-GB" sz="1800" b="0" i="0" u="none" strike="noStrike" dirty="0">
                <a:solidFill>
                  <a:srgbClr val="404040"/>
                </a:solidFill>
                <a:effectLst/>
                <a:latin typeface="Inter" panose="02000503000000020004" pitchFamily="2" charset="0"/>
              </a:rPr>
              <a:t>Balance between parallelism and overhead</a:t>
            </a:r>
          </a:p>
          <a:p>
            <a:pPr marL="457200" indent="-457200" algn="l">
              <a:spcBef>
                <a:spcPts val="300"/>
              </a:spcBef>
              <a:buFont typeface="Wingdings" pitchFamily="2" charset="2"/>
              <a:buChar char="ü"/>
            </a:pPr>
            <a:r>
              <a:rPr lang="en-GB" sz="1800" b="0" i="0" u="none" strike="noStrike" dirty="0">
                <a:solidFill>
                  <a:srgbClr val="404040"/>
                </a:solidFill>
                <a:effectLst/>
                <a:latin typeface="Inter" panose="02000503000000020004" pitchFamily="2" charset="0"/>
              </a:rPr>
              <a:t>Experiment with chunks parameter in </a:t>
            </a:r>
            <a:r>
              <a:rPr lang="en-GB" sz="1800" b="0" i="0" u="none" strike="noStrike" dirty="0" err="1">
                <a:solidFill>
                  <a:srgbClr val="404040"/>
                </a:solidFill>
                <a:effectLst/>
                <a:latin typeface="Inter" panose="02000503000000020004" pitchFamily="2" charset="0"/>
              </a:rPr>
              <a:t>Dask</a:t>
            </a:r>
            <a:endParaRPr lang="en-GB" sz="1800" b="0" i="0" u="none" strike="noStrike" dirty="0">
              <a:solidFill>
                <a:srgbClr val="404040"/>
              </a:solidFill>
              <a:effectLst/>
              <a:latin typeface="Inter" panose="02000503000000020004" pitchFamily="2" charset="0"/>
            </a:endParaRPr>
          </a:p>
        </p:txBody>
      </p:sp>
      <p:sp>
        <p:nvSpPr>
          <p:cNvPr id="3" name="TextBox 2">
            <a:extLst>
              <a:ext uri="{FF2B5EF4-FFF2-40B4-BE49-F238E27FC236}">
                <a16:creationId xmlns:a16="http://schemas.microsoft.com/office/drawing/2014/main" id="{4EA07544-F59E-B96E-80ED-8CEF56C344ED}"/>
              </a:ext>
            </a:extLst>
          </p:cNvPr>
          <p:cNvSpPr txBox="1"/>
          <p:nvPr/>
        </p:nvSpPr>
        <p:spPr>
          <a:xfrm>
            <a:off x="407175" y="3389115"/>
            <a:ext cx="6907695" cy="1600438"/>
          </a:xfrm>
          <a:prstGeom prst="rect">
            <a:avLst/>
          </a:prstGeom>
          <a:solidFill>
            <a:schemeClr val="accent1">
              <a:lumMod val="40000"/>
              <a:lumOff val="60000"/>
            </a:schemeClr>
          </a:solidFill>
        </p:spPr>
        <p:txBody>
          <a:bodyPr wrap="square">
            <a:spAutoFit/>
          </a:bodyPr>
          <a:lstStyle/>
          <a:p>
            <a:r>
              <a:rPr lang="en-US" dirty="0"/>
              <a:t>from </a:t>
            </a:r>
            <a:r>
              <a:rPr lang="en-US" dirty="0" err="1"/>
              <a:t>dask.diagnostics</a:t>
            </a:r>
            <a:r>
              <a:rPr lang="en-US" dirty="0"/>
              <a:t> import Profiler, </a:t>
            </a:r>
            <a:r>
              <a:rPr lang="en-US" dirty="0" err="1"/>
              <a:t>ResourceProfiler</a:t>
            </a:r>
            <a:r>
              <a:rPr lang="en-US" dirty="0"/>
              <a:t>, visualize</a:t>
            </a:r>
          </a:p>
          <a:p>
            <a:endParaRPr lang="en-US" dirty="0"/>
          </a:p>
          <a:p>
            <a:r>
              <a:rPr lang="en-US" dirty="0"/>
              <a:t>with Profiler() as prof, </a:t>
            </a:r>
            <a:r>
              <a:rPr lang="en-US" dirty="0" err="1"/>
              <a:t>ResourceProfiler</a:t>
            </a:r>
            <a:r>
              <a:rPr lang="en-US" dirty="0"/>
              <a:t>() as res:</a:t>
            </a:r>
          </a:p>
          <a:p>
            <a:r>
              <a:rPr lang="en-US" dirty="0"/>
              <a:t>    # Your computation here</a:t>
            </a:r>
          </a:p>
          <a:p>
            <a:r>
              <a:rPr lang="en-US" dirty="0"/>
              <a:t>    pass</a:t>
            </a:r>
          </a:p>
          <a:p>
            <a:endParaRPr lang="en-US" dirty="0"/>
          </a:p>
          <a:p>
            <a:r>
              <a:rPr lang="en-US" dirty="0"/>
              <a:t>visualize([prof, res])</a:t>
            </a:r>
          </a:p>
        </p:txBody>
      </p:sp>
      <p:sp>
        <p:nvSpPr>
          <p:cNvPr id="5" name="TextBox 4">
            <a:extLst>
              <a:ext uri="{FF2B5EF4-FFF2-40B4-BE49-F238E27FC236}">
                <a16:creationId xmlns:a16="http://schemas.microsoft.com/office/drawing/2014/main" id="{6162BCFD-D574-9073-F826-0B35C82F1195}"/>
              </a:ext>
            </a:extLst>
          </p:cNvPr>
          <p:cNvSpPr txBox="1"/>
          <p:nvPr/>
        </p:nvSpPr>
        <p:spPr>
          <a:xfrm>
            <a:off x="629313" y="2967170"/>
            <a:ext cx="4647536" cy="369332"/>
          </a:xfrm>
          <a:prstGeom prst="rect">
            <a:avLst/>
          </a:prstGeom>
          <a:noFill/>
        </p:spPr>
        <p:txBody>
          <a:bodyPr wrap="square">
            <a:spAutoFit/>
          </a:bodyPr>
          <a:lstStyle/>
          <a:p>
            <a:pPr algn="l"/>
            <a:r>
              <a:rPr lang="en-GB" sz="1800" b="1" i="0" u="none" strike="noStrike" dirty="0">
                <a:solidFill>
                  <a:srgbClr val="404040"/>
                </a:solidFill>
                <a:effectLst/>
                <a:latin typeface="Inter" panose="02000503000000020004" pitchFamily="2" charset="0"/>
              </a:rPr>
              <a:t>Monitoring Performance</a:t>
            </a:r>
          </a:p>
        </p:txBody>
      </p:sp>
    </p:spTree>
    <p:extLst>
      <p:ext uri="{BB962C8B-B14F-4D97-AF65-F5344CB8AC3E}">
        <p14:creationId xmlns:p14="http://schemas.microsoft.com/office/powerpoint/2010/main" val="2337972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3550D99-4626-981D-4F3C-9F53C5F6110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D883667-EDD7-9945-1BCB-8AC983CF4D08}"/>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Best Practices for Scaling Scikit-learn with </a:t>
            </a:r>
            <a:r>
              <a:rPr lang="en-GB" sz="2000" b="1" dirty="0" err="1"/>
              <a:t>Joblib</a:t>
            </a:r>
            <a:r>
              <a:rPr lang="en-GB" sz="2000" b="1" dirty="0"/>
              <a:t> and </a:t>
            </a:r>
            <a:r>
              <a:rPr lang="en-GB" sz="2000" b="1" dirty="0" err="1"/>
              <a:t>Dask</a:t>
            </a: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3" name="TextBox 2">
            <a:extLst>
              <a:ext uri="{FF2B5EF4-FFF2-40B4-BE49-F238E27FC236}">
                <a16:creationId xmlns:a16="http://schemas.microsoft.com/office/drawing/2014/main" id="{49CE4D36-8574-43C8-63D2-45778653A337}"/>
              </a:ext>
            </a:extLst>
          </p:cNvPr>
          <p:cNvSpPr txBox="1"/>
          <p:nvPr/>
        </p:nvSpPr>
        <p:spPr>
          <a:xfrm>
            <a:off x="496012" y="930696"/>
            <a:ext cx="7598416" cy="4031873"/>
          </a:xfrm>
          <a:prstGeom prst="rect">
            <a:avLst/>
          </a:prstGeom>
          <a:noFill/>
        </p:spPr>
        <p:txBody>
          <a:bodyPr wrap="square">
            <a:spAutoFit/>
          </a:bodyPr>
          <a:lstStyle/>
          <a:p>
            <a:pPr>
              <a:buNone/>
            </a:pPr>
            <a:r>
              <a:rPr lang="en-GB" sz="1600" dirty="0"/>
              <a:t>The </a:t>
            </a:r>
            <a:r>
              <a:rPr lang="en-GB" sz="1600" b="1" dirty="0"/>
              <a:t>Best Practices</a:t>
            </a:r>
            <a:r>
              <a:rPr lang="en-GB" sz="1600" dirty="0"/>
              <a:t> section provides recommendations to ensure efficient and optimal use of </a:t>
            </a:r>
            <a:r>
              <a:rPr lang="en-GB" sz="1600" b="1" dirty="0" err="1"/>
              <a:t>Joblib</a:t>
            </a:r>
            <a:r>
              <a:rPr lang="en-GB" sz="1600" dirty="0"/>
              <a:t> and </a:t>
            </a:r>
            <a:r>
              <a:rPr lang="en-GB" sz="1600" b="1" dirty="0" err="1"/>
              <a:t>Dask</a:t>
            </a:r>
            <a:r>
              <a:rPr lang="en-GB" sz="1600" dirty="0"/>
              <a:t> for parallelizing and distributing scikit-learn tasks.</a:t>
            </a:r>
          </a:p>
          <a:p>
            <a:pPr>
              <a:buFont typeface="+mj-lt"/>
              <a:buAutoNum type="arabicPeriod"/>
            </a:pPr>
            <a:r>
              <a:rPr lang="en-GB" sz="1600" b="1" dirty="0"/>
              <a:t>Use </a:t>
            </a:r>
            <a:r>
              <a:rPr lang="en-GB" sz="1600" b="1" dirty="0" err="1"/>
              <a:t>n_jobs</a:t>
            </a:r>
            <a:r>
              <a:rPr lang="en-GB" sz="1600" b="1" dirty="0"/>
              <a:t>=-1 to Utilize All Cores with </a:t>
            </a:r>
            <a:r>
              <a:rPr lang="en-GB" sz="1600" b="1" dirty="0" err="1"/>
              <a:t>Joblib</a:t>
            </a:r>
            <a:r>
              <a:rPr lang="en-GB" sz="1600" dirty="0"/>
              <a:t>:</a:t>
            </a:r>
          </a:p>
          <a:p>
            <a:pPr marL="742950" lvl="1" indent="-285750">
              <a:buFont typeface="+mj-lt"/>
              <a:buAutoNum type="arabicPeriod"/>
            </a:pPr>
            <a:r>
              <a:rPr lang="en-GB" sz="1600" dirty="0"/>
              <a:t>When using </a:t>
            </a:r>
            <a:r>
              <a:rPr lang="en-GB" sz="1600" b="1" dirty="0" err="1"/>
              <a:t>Joblib</a:t>
            </a:r>
            <a:r>
              <a:rPr lang="en-GB" sz="1600" dirty="0"/>
              <a:t> for parallelization, setting </a:t>
            </a:r>
            <a:r>
              <a:rPr lang="en-GB" sz="1600" dirty="0" err="1"/>
              <a:t>n_jobs</a:t>
            </a:r>
            <a:r>
              <a:rPr lang="en-GB" sz="1600" dirty="0"/>
              <a:t>=-1 will use all available cores on your local machine, speeding up tasks like training models or performing cross-validation.</a:t>
            </a:r>
          </a:p>
          <a:p>
            <a:pPr marL="742950" lvl="1" indent="-285750">
              <a:buFont typeface="+mj-lt"/>
              <a:buAutoNum type="arabicPeriod"/>
            </a:pPr>
            <a:r>
              <a:rPr lang="en-GB" sz="1600" dirty="0"/>
              <a:t>Example: If you're working with </a:t>
            </a:r>
            <a:r>
              <a:rPr lang="en-GB" sz="1600" b="1" dirty="0" err="1"/>
              <a:t>GridSearchCV</a:t>
            </a:r>
            <a:r>
              <a:rPr lang="en-GB" sz="1600" dirty="0"/>
              <a:t> or a large </a:t>
            </a:r>
            <a:r>
              <a:rPr lang="en-GB" sz="1600" b="1" dirty="0" err="1"/>
              <a:t>RandomForest</a:t>
            </a:r>
            <a:r>
              <a:rPr lang="en-GB" sz="1600" dirty="0"/>
              <a:t>, this ensures you're fully utilizing your CPU resources.</a:t>
            </a:r>
          </a:p>
          <a:p>
            <a:pPr>
              <a:buFont typeface="+mj-lt"/>
              <a:buAutoNum type="arabicPeriod"/>
            </a:pPr>
            <a:r>
              <a:rPr lang="en-GB" sz="1600" b="1" dirty="0"/>
              <a:t>Monitor Resource Usage When Using </a:t>
            </a:r>
            <a:r>
              <a:rPr lang="en-GB" sz="1600" b="1" dirty="0" err="1"/>
              <a:t>Dask</a:t>
            </a:r>
            <a:r>
              <a:rPr lang="en-GB" sz="1600" dirty="0"/>
              <a:t>:</a:t>
            </a:r>
          </a:p>
          <a:p>
            <a:pPr marL="742950" lvl="1" indent="-285750">
              <a:buFont typeface="+mj-lt"/>
              <a:buAutoNum type="arabicPeriod"/>
            </a:pPr>
            <a:r>
              <a:rPr lang="en-GB" sz="1600" b="1" dirty="0" err="1"/>
              <a:t>Dask</a:t>
            </a:r>
            <a:r>
              <a:rPr lang="en-GB" sz="1600" dirty="0"/>
              <a:t> can use distributed systems, which may consume a lot of </a:t>
            </a:r>
            <a:r>
              <a:rPr lang="en-GB" sz="1600" b="1" dirty="0"/>
              <a:t>CPU</a:t>
            </a:r>
            <a:r>
              <a:rPr lang="en-GB" sz="1600" dirty="0"/>
              <a:t> and </a:t>
            </a:r>
            <a:r>
              <a:rPr lang="en-GB" sz="1600" b="1" dirty="0"/>
              <a:t>memory</a:t>
            </a:r>
            <a:r>
              <a:rPr lang="en-GB" sz="1600" dirty="0"/>
              <a:t>. Monitoring these resources ensures you don’t overload your machine or cluster, potentially causing issues like slow performance or crashes.</a:t>
            </a:r>
          </a:p>
          <a:p>
            <a:pPr marL="742950" lvl="1" indent="-285750">
              <a:buFont typeface="+mj-lt"/>
              <a:buAutoNum type="arabicPeriod"/>
            </a:pPr>
            <a:r>
              <a:rPr lang="en-GB" sz="1600" b="1" dirty="0" err="1"/>
              <a:t>Dask's</a:t>
            </a:r>
            <a:r>
              <a:rPr lang="en-GB" sz="1600" b="1" dirty="0"/>
              <a:t> dashboard</a:t>
            </a:r>
            <a:r>
              <a:rPr lang="en-GB" sz="1600" dirty="0"/>
              <a:t> helps visualize these metrics and track resource usage in real time.</a:t>
            </a:r>
          </a:p>
          <a:p>
            <a:pPr marL="342900" indent="-342900">
              <a:buFont typeface="Wingdings" pitchFamily="2" charset="2"/>
              <a:buChar char="ü"/>
            </a:pPr>
            <a:endParaRPr lang="en-GB" sz="1600" dirty="0"/>
          </a:p>
        </p:txBody>
      </p:sp>
    </p:spTree>
    <p:extLst>
      <p:ext uri="{BB962C8B-B14F-4D97-AF65-F5344CB8AC3E}">
        <p14:creationId xmlns:p14="http://schemas.microsoft.com/office/powerpoint/2010/main" val="42336348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7F92D1B-B8D8-118F-F6FB-1D70C52B022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3872E55-07FF-6D26-6B7C-EDF1D5FFF656}"/>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Best Practices for Scaling Scikit-learn with </a:t>
            </a:r>
            <a:r>
              <a:rPr lang="en-GB" sz="2000" b="1" dirty="0" err="1"/>
              <a:t>Joblib</a:t>
            </a:r>
            <a:r>
              <a:rPr lang="en-GB" sz="2000" b="1" dirty="0"/>
              <a:t> and </a:t>
            </a:r>
            <a:r>
              <a:rPr lang="en-GB" sz="2000" b="1" dirty="0" err="1"/>
              <a:t>Dask</a:t>
            </a: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3" name="TextBox 2">
            <a:extLst>
              <a:ext uri="{FF2B5EF4-FFF2-40B4-BE49-F238E27FC236}">
                <a16:creationId xmlns:a16="http://schemas.microsoft.com/office/drawing/2014/main" id="{EF7F20BF-7320-B2B7-727B-45A336EC53C4}"/>
              </a:ext>
            </a:extLst>
          </p:cNvPr>
          <p:cNvSpPr txBox="1"/>
          <p:nvPr/>
        </p:nvSpPr>
        <p:spPr>
          <a:xfrm>
            <a:off x="198784" y="930696"/>
            <a:ext cx="8158038" cy="4247317"/>
          </a:xfrm>
          <a:prstGeom prst="rect">
            <a:avLst/>
          </a:prstGeom>
          <a:noFill/>
        </p:spPr>
        <p:txBody>
          <a:bodyPr wrap="square">
            <a:spAutoFit/>
          </a:bodyPr>
          <a:lstStyle/>
          <a:p>
            <a:pPr marL="342900" indent="-342900">
              <a:buFont typeface="+mj-lt"/>
              <a:buAutoNum type="arabicPeriod" startAt="3"/>
            </a:pPr>
            <a:r>
              <a:rPr lang="en-GB" sz="1500" b="1" dirty="0"/>
              <a:t>Profile Small Datasets Locally Before Moving to Distributed Systems</a:t>
            </a:r>
            <a:r>
              <a:rPr lang="en-GB" sz="1500" dirty="0"/>
              <a:t>:</a:t>
            </a:r>
          </a:p>
          <a:p>
            <a:pPr marL="742950" lvl="1" indent="-285750">
              <a:buFont typeface="+mj-lt"/>
              <a:buAutoNum type="arabicPeriod"/>
            </a:pPr>
            <a:r>
              <a:rPr lang="en-GB" sz="1500" dirty="0"/>
              <a:t>Before scaling to a distributed environment with </a:t>
            </a:r>
            <a:r>
              <a:rPr lang="en-GB" sz="1500" b="1" dirty="0" err="1"/>
              <a:t>Dask</a:t>
            </a:r>
            <a:r>
              <a:rPr lang="en-GB" sz="1500" dirty="0"/>
              <a:t>, it’s a good practice to test on smaller datasets. This helps you optimize your code and identify any performance bottlenecks without dealing with the complexities of a distributed system.</a:t>
            </a:r>
          </a:p>
          <a:p>
            <a:pPr marL="742950" lvl="1" indent="-285750">
              <a:buFont typeface="+mj-lt"/>
              <a:buAutoNum type="arabicPeriod"/>
            </a:pPr>
            <a:r>
              <a:rPr lang="en-GB" sz="1500" dirty="0"/>
              <a:t>Start with </a:t>
            </a:r>
            <a:r>
              <a:rPr lang="en-GB" sz="1500" b="1" dirty="0"/>
              <a:t>local parallelism</a:t>
            </a:r>
            <a:r>
              <a:rPr lang="en-GB" sz="1500" dirty="0"/>
              <a:t> using </a:t>
            </a:r>
            <a:r>
              <a:rPr lang="en-GB" sz="1500" b="1" dirty="0" err="1"/>
              <a:t>Joblib</a:t>
            </a:r>
            <a:r>
              <a:rPr lang="en-GB" sz="1500" dirty="0"/>
              <a:t>, then scale up to </a:t>
            </a:r>
            <a:r>
              <a:rPr lang="en-GB" sz="1500" b="1" dirty="0" err="1"/>
              <a:t>Dask</a:t>
            </a:r>
            <a:r>
              <a:rPr lang="en-GB" sz="1500" dirty="0"/>
              <a:t> when needed.</a:t>
            </a:r>
          </a:p>
          <a:p>
            <a:pPr>
              <a:buFont typeface="+mj-lt"/>
              <a:buAutoNum type="arabicPeriod" startAt="3"/>
            </a:pPr>
            <a:r>
              <a:rPr lang="en-GB" sz="1500" b="1" dirty="0"/>
              <a:t>Use </a:t>
            </a:r>
            <a:r>
              <a:rPr lang="en-GB" sz="1500" b="1" dirty="0" err="1"/>
              <a:t>Dask’s</a:t>
            </a:r>
            <a:r>
              <a:rPr lang="en-GB" sz="1500" b="1" dirty="0"/>
              <a:t> Dashboard for Debugging and Performance Monitoring</a:t>
            </a:r>
            <a:r>
              <a:rPr lang="en-GB" sz="1500" dirty="0"/>
              <a:t>:</a:t>
            </a:r>
          </a:p>
          <a:p>
            <a:pPr marL="742950" lvl="1" indent="-285750">
              <a:buFont typeface="+mj-lt"/>
              <a:buAutoNum type="arabicPeriod"/>
            </a:pPr>
            <a:r>
              <a:rPr lang="en-GB" sz="1500" dirty="0" err="1"/>
              <a:t>Dask</a:t>
            </a:r>
            <a:r>
              <a:rPr lang="en-GB" sz="1500" dirty="0"/>
              <a:t> provides a </a:t>
            </a:r>
            <a:r>
              <a:rPr lang="en-GB" sz="1500" b="1" dirty="0"/>
              <a:t>dashboard</a:t>
            </a:r>
            <a:r>
              <a:rPr lang="en-GB" sz="1500" dirty="0"/>
              <a:t> that is a great tool for monitoring computations, checking for issues in task scheduling, and observing resource usage.</a:t>
            </a:r>
          </a:p>
          <a:p>
            <a:pPr marL="742950" lvl="1" indent="-285750">
              <a:buFont typeface="+mj-lt"/>
              <a:buAutoNum type="arabicPeriod"/>
            </a:pPr>
            <a:r>
              <a:rPr lang="en-GB" sz="1500" dirty="0"/>
              <a:t>It offers a visual way to identify inefficiencies in your distributed computations, ensuring that you can fine-tune the performance and handle large datasets more efficiently.</a:t>
            </a:r>
          </a:p>
          <a:p>
            <a:pPr>
              <a:buFont typeface="+mj-lt"/>
              <a:buAutoNum type="arabicPeriod" startAt="3"/>
            </a:pPr>
            <a:r>
              <a:rPr lang="en-GB" sz="1500" b="1" dirty="0"/>
              <a:t>Combine Both Tools When Needed</a:t>
            </a:r>
            <a:r>
              <a:rPr lang="en-GB" sz="1500" dirty="0"/>
              <a:t>:</a:t>
            </a:r>
          </a:p>
          <a:p>
            <a:pPr marL="742950" lvl="1" indent="-285750">
              <a:buFont typeface="+mj-lt"/>
              <a:buAutoNum type="arabicPeriod"/>
            </a:pPr>
            <a:r>
              <a:rPr lang="en-GB" sz="1500" dirty="0"/>
              <a:t>In some cases, using both </a:t>
            </a:r>
            <a:r>
              <a:rPr lang="en-GB" sz="1500" b="1" dirty="0" err="1"/>
              <a:t>Joblib</a:t>
            </a:r>
            <a:r>
              <a:rPr lang="en-GB" sz="1500" dirty="0"/>
              <a:t> and </a:t>
            </a:r>
            <a:r>
              <a:rPr lang="en-GB" sz="1500" b="1" dirty="0" err="1"/>
              <a:t>Dask</a:t>
            </a:r>
            <a:r>
              <a:rPr lang="en-GB" sz="1500" dirty="0"/>
              <a:t> together may provide the best solution. For instance:</a:t>
            </a:r>
          </a:p>
          <a:p>
            <a:pPr marL="1143000" lvl="2" indent="-228600">
              <a:buFont typeface="+mj-lt"/>
              <a:buAutoNum type="arabicPeriod"/>
            </a:pPr>
            <a:r>
              <a:rPr lang="en-GB" sz="1500" dirty="0"/>
              <a:t>Use </a:t>
            </a:r>
            <a:r>
              <a:rPr lang="en-GB" sz="1500" b="1" dirty="0" err="1"/>
              <a:t>Joblib</a:t>
            </a:r>
            <a:r>
              <a:rPr lang="en-GB" sz="1500" dirty="0"/>
              <a:t> for parallelism in small to medium-sized tasks that fit into memory.</a:t>
            </a:r>
          </a:p>
          <a:p>
            <a:pPr marL="1143000" lvl="2" indent="-228600">
              <a:buFont typeface="+mj-lt"/>
              <a:buAutoNum type="arabicPeriod"/>
            </a:pPr>
            <a:r>
              <a:rPr lang="en-GB" sz="1500" dirty="0"/>
              <a:t>Use </a:t>
            </a:r>
            <a:r>
              <a:rPr lang="en-GB" sz="1500" b="1" dirty="0" err="1"/>
              <a:t>Dask</a:t>
            </a:r>
            <a:r>
              <a:rPr lang="en-GB" sz="1500" dirty="0"/>
              <a:t> for larger-than-memory tasks, especially when scaling to distributed clusters.</a:t>
            </a:r>
          </a:p>
          <a:p>
            <a:pPr marL="342900" indent="-342900">
              <a:buFont typeface="Wingdings" pitchFamily="2" charset="2"/>
              <a:buChar char="ü"/>
            </a:pPr>
            <a:endParaRPr lang="en-GB" sz="1500" dirty="0"/>
          </a:p>
        </p:txBody>
      </p:sp>
    </p:spTree>
    <p:extLst>
      <p:ext uri="{BB962C8B-B14F-4D97-AF65-F5344CB8AC3E}">
        <p14:creationId xmlns:p14="http://schemas.microsoft.com/office/powerpoint/2010/main" val="1619585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03DC85-AE7C-2263-BE76-348348EBEDF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8371C73-09BC-DD57-016A-D79070260A47}"/>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Common Pitfalls in Distributed Computing</a:t>
            </a: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3" name="TextBox 2">
            <a:extLst>
              <a:ext uri="{FF2B5EF4-FFF2-40B4-BE49-F238E27FC236}">
                <a16:creationId xmlns:a16="http://schemas.microsoft.com/office/drawing/2014/main" id="{B1C03AA5-CBCD-B42D-B452-2DEA0B933CFD}"/>
              </a:ext>
            </a:extLst>
          </p:cNvPr>
          <p:cNvSpPr txBox="1"/>
          <p:nvPr/>
        </p:nvSpPr>
        <p:spPr>
          <a:xfrm>
            <a:off x="659960" y="1002089"/>
            <a:ext cx="8158038" cy="3416320"/>
          </a:xfrm>
          <a:prstGeom prst="rect">
            <a:avLst/>
          </a:prstGeom>
          <a:noFill/>
        </p:spPr>
        <p:txBody>
          <a:bodyPr wrap="square">
            <a:spAutoFit/>
          </a:bodyPr>
          <a:lstStyle/>
          <a:p>
            <a:pPr>
              <a:buNone/>
            </a:pPr>
            <a:r>
              <a:rPr lang="en-GB" sz="1800" b="1" dirty="0"/>
              <a:t>1. Over-parallelization</a:t>
            </a:r>
          </a:p>
          <a:p>
            <a:r>
              <a:rPr lang="en-GB" sz="1800" i="1" dirty="0"/>
              <a:t>More workers doesn’t always mean better performance!</a:t>
            </a:r>
            <a:endParaRPr lang="en-GB" sz="1800" dirty="0"/>
          </a:p>
          <a:p>
            <a:pPr marL="342900" indent="-342900">
              <a:buFont typeface="+mj-lt"/>
              <a:buAutoNum type="alphaLcPeriod"/>
            </a:pPr>
            <a:r>
              <a:rPr lang="en-GB" sz="1800" dirty="0"/>
              <a:t>Too many workers can lead to </a:t>
            </a:r>
            <a:r>
              <a:rPr lang="en-GB" sz="1800" b="1" dirty="0"/>
              <a:t>communication overhead</a:t>
            </a:r>
            <a:r>
              <a:rPr lang="en-GB" sz="1800" dirty="0"/>
              <a:t>.</a:t>
            </a:r>
          </a:p>
          <a:p>
            <a:pPr marL="342900" indent="-342900">
              <a:buFont typeface="+mj-lt"/>
              <a:buAutoNum type="alphaLcPeriod"/>
            </a:pPr>
            <a:r>
              <a:rPr lang="en-GB" sz="1800" dirty="0"/>
              <a:t>Example: 100 workers fighting over a small task can slow things down.</a:t>
            </a:r>
          </a:p>
          <a:p>
            <a:r>
              <a:rPr lang="en-GB" sz="1800" b="1" dirty="0"/>
              <a:t>Best practice</a:t>
            </a:r>
            <a:r>
              <a:rPr lang="en-GB" sz="1800" dirty="0"/>
              <a:t>: Match the number of workers to your task size and hardware.</a:t>
            </a:r>
          </a:p>
          <a:p>
            <a:endParaRPr lang="en-GB" sz="1800" dirty="0"/>
          </a:p>
          <a:p>
            <a:pPr>
              <a:buNone/>
            </a:pPr>
            <a:r>
              <a:rPr lang="en-GB" sz="1800" b="1" dirty="0"/>
              <a:t>2. Small Chunks = High Scheduling Overhead</a:t>
            </a:r>
          </a:p>
          <a:p>
            <a:r>
              <a:rPr lang="en-GB" sz="1800" dirty="0"/>
              <a:t>Breaking data into too many tiny pieces can </a:t>
            </a:r>
            <a:r>
              <a:rPr lang="en-GB" sz="1800" b="1" dirty="0"/>
              <a:t>overload the scheduler</a:t>
            </a:r>
            <a:r>
              <a:rPr lang="en-GB" sz="1800" dirty="0"/>
              <a:t>.</a:t>
            </a:r>
          </a:p>
          <a:p>
            <a:pPr marL="342900" indent="-342900">
              <a:buFont typeface="+mj-lt"/>
              <a:buAutoNum type="arabicPeriod"/>
            </a:pPr>
            <a:r>
              <a:rPr lang="en-GB" sz="1800" dirty="0"/>
              <a:t>Each task has scheduling and communication cost.</a:t>
            </a:r>
          </a:p>
          <a:p>
            <a:pPr marL="342900" indent="-342900">
              <a:buFont typeface="+mj-lt"/>
              <a:buAutoNum type="arabicPeriod"/>
            </a:pPr>
            <a:r>
              <a:rPr lang="en-GB" sz="1800" dirty="0"/>
              <a:t>Thousands of micro-tasks can bottleneck the system.</a:t>
            </a:r>
          </a:p>
          <a:p>
            <a:r>
              <a:rPr lang="en-GB" sz="1800" b="1" dirty="0"/>
              <a:t>Best practice</a:t>
            </a:r>
            <a:r>
              <a:rPr lang="en-GB" sz="1800" dirty="0"/>
              <a:t>: Use </a:t>
            </a:r>
            <a:r>
              <a:rPr lang="en-GB" sz="1800" b="1" dirty="0"/>
              <a:t>moderately sized partitions</a:t>
            </a:r>
            <a:r>
              <a:rPr lang="en-GB" sz="1800" dirty="0"/>
              <a:t>.</a:t>
            </a:r>
          </a:p>
          <a:p>
            <a:pPr marL="342900" indent="-342900">
              <a:buFont typeface="Wingdings" pitchFamily="2" charset="2"/>
              <a:buChar char="ü"/>
            </a:pPr>
            <a:endParaRPr lang="en-GB" sz="1800" dirty="0"/>
          </a:p>
        </p:txBody>
      </p:sp>
    </p:spTree>
    <p:extLst>
      <p:ext uri="{BB962C8B-B14F-4D97-AF65-F5344CB8AC3E}">
        <p14:creationId xmlns:p14="http://schemas.microsoft.com/office/powerpoint/2010/main" val="3560103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F32155-6138-FB6C-1FBD-6394B2924DD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373FA3A-3E2C-F57B-47A3-9386DEE70A20}"/>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Autofit/>
          </a:bodyPr>
          <a:lstStyle/>
          <a:p>
            <a:r>
              <a:rPr lang="en-GB" sz="2000" b="1" dirty="0"/>
              <a:t>Common Pitfalls in Distributed Computing</a:t>
            </a: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3" name="TextBox 2">
            <a:extLst>
              <a:ext uri="{FF2B5EF4-FFF2-40B4-BE49-F238E27FC236}">
                <a16:creationId xmlns:a16="http://schemas.microsoft.com/office/drawing/2014/main" id="{C673A519-F481-B59B-FE9F-0B8A8ECA2F2E}"/>
              </a:ext>
            </a:extLst>
          </p:cNvPr>
          <p:cNvSpPr txBox="1"/>
          <p:nvPr/>
        </p:nvSpPr>
        <p:spPr>
          <a:xfrm>
            <a:off x="198784" y="930696"/>
            <a:ext cx="8158038" cy="3539430"/>
          </a:xfrm>
          <a:prstGeom prst="rect">
            <a:avLst/>
          </a:prstGeom>
          <a:noFill/>
        </p:spPr>
        <p:txBody>
          <a:bodyPr wrap="square">
            <a:spAutoFit/>
          </a:bodyPr>
          <a:lstStyle/>
          <a:p>
            <a:pPr>
              <a:buNone/>
            </a:pPr>
            <a:r>
              <a:rPr lang="en-GB" sz="1600" b="1" dirty="0"/>
              <a:t>3. Large Chunks = Memory Issues</a:t>
            </a:r>
          </a:p>
          <a:p>
            <a:pPr marL="342900" indent="-342900">
              <a:buFont typeface="+mj-lt"/>
              <a:buAutoNum type="alphaLcPeriod"/>
            </a:pPr>
            <a:r>
              <a:rPr lang="en-GB" sz="1600" dirty="0"/>
              <a:t>Huge data chunks may </a:t>
            </a:r>
            <a:r>
              <a:rPr lang="en-GB" sz="1600" b="1" dirty="0"/>
              <a:t>not fit in memory</a:t>
            </a:r>
            <a:r>
              <a:rPr lang="en-GB" sz="1600" dirty="0"/>
              <a:t>, causing crashes or slowdowns.</a:t>
            </a:r>
          </a:p>
          <a:p>
            <a:pPr marL="342900" indent="-342900">
              <a:buFont typeface="+mj-lt"/>
              <a:buAutoNum type="alphaLcPeriod"/>
            </a:pPr>
            <a:r>
              <a:rPr lang="en-GB" sz="1600" dirty="0"/>
              <a:t>You might see out-of-memory (OOM) errors.</a:t>
            </a:r>
          </a:p>
          <a:p>
            <a:r>
              <a:rPr lang="en-GB" sz="1600" b="1" dirty="0"/>
              <a:t>Best practice</a:t>
            </a:r>
            <a:r>
              <a:rPr lang="en-GB" sz="1600" dirty="0"/>
              <a:t>: Split your dataset into </a:t>
            </a:r>
            <a:r>
              <a:rPr lang="en-GB" sz="1600" b="1" dirty="0"/>
              <a:t>manageable chunks</a:t>
            </a:r>
            <a:r>
              <a:rPr lang="en-GB" sz="1600" dirty="0"/>
              <a:t> based on your RAM.</a:t>
            </a:r>
          </a:p>
          <a:p>
            <a:pPr>
              <a:buNone/>
            </a:pPr>
            <a:r>
              <a:rPr lang="en-GB" sz="1600" b="1" dirty="0"/>
              <a:t>4. Ignoring Data Locality</a:t>
            </a:r>
          </a:p>
          <a:p>
            <a:pPr marL="342900" indent="-342900">
              <a:buFont typeface="+mj-lt"/>
              <a:buAutoNum type="alphaLcPeriod"/>
            </a:pPr>
            <a:r>
              <a:rPr lang="en-GB" sz="1600" dirty="0"/>
              <a:t>Moving data between workers unnecessarily wastes time.</a:t>
            </a:r>
          </a:p>
          <a:p>
            <a:pPr marL="342900" indent="-342900">
              <a:buFont typeface="+mj-lt"/>
              <a:buAutoNum type="alphaLcPeriod"/>
            </a:pPr>
            <a:r>
              <a:rPr lang="en-GB" sz="1600" dirty="0"/>
              <a:t>Operations should happen </a:t>
            </a:r>
            <a:r>
              <a:rPr lang="en-GB" sz="1600" b="1" dirty="0"/>
              <a:t>where the data lives</a:t>
            </a:r>
            <a:r>
              <a:rPr lang="en-GB" sz="1600" dirty="0"/>
              <a:t>.</a:t>
            </a:r>
          </a:p>
          <a:p>
            <a:pPr marL="342900" indent="-342900">
              <a:buFont typeface="+mj-lt"/>
              <a:buAutoNum type="alphaLcPeriod"/>
            </a:pPr>
            <a:r>
              <a:rPr lang="en-GB" sz="1600" dirty="0"/>
              <a:t>If you ignore locality, you'll pay in network transfer time.</a:t>
            </a:r>
          </a:p>
          <a:p>
            <a:r>
              <a:rPr lang="en-GB" sz="1600" b="1" dirty="0"/>
              <a:t>Best practice</a:t>
            </a:r>
            <a:r>
              <a:rPr lang="en-GB" sz="1600" dirty="0"/>
              <a:t>: Let the framework optimize for locality or use persist() intelligently.</a:t>
            </a:r>
          </a:p>
          <a:p>
            <a:pPr>
              <a:buNone/>
            </a:pPr>
            <a:r>
              <a:rPr lang="en-GB" sz="1600" b="1" dirty="0"/>
              <a:t>5. Not Persisting Data</a:t>
            </a:r>
          </a:p>
          <a:p>
            <a:pPr marL="342900" indent="-342900">
              <a:buFont typeface="+mj-lt"/>
              <a:buAutoNum type="alphaLcPeriod"/>
            </a:pPr>
            <a:r>
              <a:rPr lang="en-GB" sz="1600" dirty="0"/>
              <a:t>Recomputing the same results repeatedly = wasted computation.</a:t>
            </a:r>
          </a:p>
          <a:p>
            <a:pPr marL="342900" indent="-342900">
              <a:buFont typeface="+mj-lt"/>
              <a:buAutoNum type="alphaLcPeriod"/>
            </a:pPr>
            <a:r>
              <a:rPr lang="en-GB" sz="1600" dirty="0"/>
              <a:t>If you don't cache intermediate results, Spark/</a:t>
            </a:r>
            <a:r>
              <a:rPr lang="en-GB" sz="1600" dirty="0" err="1"/>
              <a:t>Dask</a:t>
            </a:r>
            <a:r>
              <a:rPr lang="en-GB" sz="1600" dirty="0"/>
              <a:t> will recompute every time.</a:t>
            </a:r>
          </a:p>
          <a:p>
            <a:r>
              <a:rPr lang="en-GB" sz="1600" b="1" dirty="0"/>
              <a:t>Best practice</a:t>
            </a:r>
            <a:r>
              <a:rPr lang="en-GB" sz="1600" dirty="0"/>
              <a:t>: Use .persist() or .cache() after expensive computations.</a:t>
            </a:r>
          </a:p>
          <a:p>
            <a:pPr marL="342900" indent="-342900">
              <a:buFont typeface="Wingdings" pitchFamily="2" charset="2"/>
              <a:buChar char="ü"/>
            </a:pPr>
            <a:endParaRPr lang="en-GB" sz="1600" dirty="0"/>
          </a:p>
        </p:txBody>
      </p:sp>
    </p:spTree>
    <p:extLst>
      <p:ext uri="{BB962C8B-B14F-4D97-AF65-F5344CB8AC3E}">
        <p14:creationId xmlns:p14="http://schemas.microsoft.com/office/powerpoint/2010/main" val="2717844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15E10FD-C06C-817B-51CC-E9A6ABC4555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9FD81F6-8697-77F2-0828-A6754FF729EE}"/>
              </a:ext>
            </a:extLst>
          </p:cNvPr>
          <p:cNvSpPr txBox="1">
            <a:spLocks noGrp="1"/>
          </p:cNvSpPr>
          <p:nvPr>
            <p:ph type="title"/>
          </p:nvPr>
        </p:nvSpPr>
        <p:spPr>
          <a:xfrm>
            <a:off x="407175" y="1"/>
            <a:ext cx="8329650" cy="485030"/>
          </a:xfrm>
          <a:prstGeom prst="rect">
            <a:avLst/>
          </a:prstGeom>
          <a:noFill/>
          <a:ln>
            <a:noFill/>
          </a:ln>
        </p:spPr>
        <p:txBody>
          <a:bodyPr spcFirstLastPara="1" wrap="square" lIns="91425" tIns="91425" rIns="91425" bIns="91425" anchor="t" anchorCtr="0">
            <a:noAutofit/>
          </a:bodyPr>
          <a:lstStyle/>
          <a:p>
            <a:r>
              <a:rPr lang="en-GB" sz="2400" b="1" dirty="0"/>
              <a:t>Debugging Tips</a:t>
            </a:r>
            <a:br>
              <a:rPr lang="en-GB" sz="24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3" name="TextBox 2">
            <a:extLst>
              <a:ext uri="{FF2B5EF4-FFF2-40B4-BE49-F238E27FC236}">
                <a16:creationId xmlns:a16="http://schemas.microsoft.com/office/drawing/2014/main" id="{757AC746-531A-808F-56BD-B73D7B05AD1F}"/>
              </a:ext>
            </a:extLst>
          </p:cNvPr>
          <p:cNvSpPr txBox="1"/>
          <p:nvPr/>
        </p:nvSpPr>
        <p:spPr>
          <a:xfrm>
            <a:off x="407174" y="555813"/>
            <a:ext cx="8158038" cy="4031873"/>
          </a:xfrm>
          <a:prstGeom prst="rect">
            <a:avLst/>
          </a:prstGeom>
          <a:noFill/>
        </p:spPr>
        <p:txBody>
          <a:bodyPr wrap="square">
            <a:spAutoFit/>
          </a:bodyPr>
          <a:lstStyle/>
          <a:p>
            <a:pPr>
              <a:buNone/>
            </a:pPr>
            <a:r>
              <a:rPr lang="en-GB" sz="1600" b="1" dirty="0" err="1"/>
              <a:t>client.get_worker_logs</a:t>
            </a:r>
            <a:r>
              <a:rPr lang="en-GB" sz="1600" b="1" dirty="0"/>
              <a:t>()</a:t>
            </a:r>
          </a:p>
          <a:p>
            <a:pPr marL="342900" indent="-342900">
              <a:buFont typeface="+mj-lt"/>
              <a:buAutoNum type="alphaLcPeriod"/>
            </a:pPr>
            <a:r>
              <a:rPr lang="en-GB" sz="1600" dirty="0"/>
              <a:t>View logs from each worker to debug what went wrong.</a:t>
            </a:r>
          </a:p>
          <a:p>
            <a:pPr marL="342900" indent="-342900">
              <a:buFont typeface="+mj-lt"/>
              <a:buAutoNum type="alphaLcPeriod"/>
            </a:pPr>
            <a:r>
              <a:rPr lang="en-GB" sz="1600" dirty="0"/>
              <a:t>Helps identify errors on specific nodes.</a:t>
            </a:r>
          </a:p>
          <a:p>
            <a:pPr marL="342900" indent="-342900">
              <a:buFont typeface="+mj-lt"/>
              <a:buAutoNum type="alphaLcPeriod"/>
            </a:pPr>
            <a:r>
              <a:rPr lang="en-GB" sz="1600" dirty="0" err="1"/>
              <a:t>Dask</a:t>
            </a:r>
            <a:r>
              <a:rPr lang="en-GB" sz="1600" dirty="0"/>
              <a:t> Dashboard</a:t>
            </a:r>
          </a:p>
          <a:p>
            <a:pPr marL="342900" indent="-342900">
              <a:buFont typeface="+mj-lt"/>
              <a:buAutoNum type="alphaLcPeriod"/>
            </a:pPr>
            <a:r>
              <a:rPr lang="en-GB" sz="1600" dirty="0"/>
              <a:t>Real-time visual tool to monitor:</a:t>
            </a:r>
          </a:p>
          <a:p>
            <a:pPr marL="800100" lvl="1" indent="-342900">
              <a:buFont typeface="Wingdings" pitchFamily="2" charset="2"/>
              <a:buChar char="ü"/>
            </a:pPr>
            <a:r>
              <a:rPr lang="en-GB" sz="1600" dirty="0"/>
              <a:t>Tasks</a:t>
            </a:r>
          </a:p>
          <a:p>
            <a:pPr marL="800100" lvl="1" indent="-342900">
              <a:buFont typeface="Wingdings" pitchFamily="2" charset="2"/>
              <a:buChar char="ü"/>
            </a:pPr>
            <a:r>
              <a:rPr lang="en-GB" sz="1600" dirty="0"/>
              <a:t>Memory usage</a:t>
            </a:r>
          </a:p>
          <a:p>
            <a:pPr marL="800100" lvl="1" indent="-342900">
              <a:buFont typeface="Wingdings" pitchFamily="2" charset="2"/>
              <a:buChar char="ü"/>
            </a:pPr>
            <a:r>
              <a:rPr lang="en-GB" sz="1600" dirty="0"/>
              <a:t>CPU usage</a:t>
            </a:r>
          </a:p>
          <a:p>
            <a:pPr marL="342900" indent="-342900">
              <a:buFont typeface="+mj-lt"/>
              <a:buAutoNum type="alphaLcPeriod"/>
            </a:pPr>
            <a:r>
              <a:rPr lang="en-GB" sz="1600" dirty="0"/>
              <a:t>Helps pinpoint bottlenecks.</a:t>
            </a:r>
          </a:p>
          <a:p>
            <a:pPr>
              <a:buNone/>
            </a:pPr>
            <a:r>
              <a:rPr lang="en-GB" sz="1600" b="1" dirty="0"/>
              <a:t>Start with a Small Subset</a:t>
            </a:r>
          </a:p>
          <a:p>
            <a:pPr marL="342900" indent="-342900">
              <a:buFont typeface="+mj-lt"/>
              <a:buAutoNum type="alphaLcPeriod"/>
            </a:pPr>
            <a:r>
              <a:rPr lang="en-GB" sz="1600" dirty="0"/>
              <a:t>Always test logic on a tiny sample of data first.</a:t>
            </a:r>
          </a:p>
          <a:p>
            <a:pPr marL="342900" indent="-342900">
              <a:buFont typeface="+mj-lt"/>
              <a:buAutoNum type="alphaLcPeriod"/>
            </a:pPr>
            <a:r>
              <a:rPr lang="en-GB" sz="1600" dirty="0"/>
              <a:t>Reduces complexity and makes errors easier to track.</a:t>
            </a:r>
          </a:p>
          <a:p>
            <a:pPr marL="342900" indent="-342900">
              <a:buFont typeface="+mj-lt"/>
              <a:buAutoNum type="alphaLcPeriod"/>
            </a:pPr>
            <a:r>
              <a:rPr lang="en-GB" sz="1600" dirty="0"/>
              <a:t>Use compute(scheduler='single-threaded')</a:t>
            </a:r>
          </a:p>
          <a:p>
            <a:pPr marL="342900" indent="-342900">
              <a:buFont typeface="+mj-lt"/>
              <a:buAutoNum type="alphaLcPeriod"/>
            </a:pPr>
            <a:r>
              <a:rPr lang="en-GB" sz="1600" dirty="0"/>
              <a:t>Forces </a:t>
            </a:r>
            <a:r>
              <a:rPr lang="en-GB" sz="1600" dirty="0" err="1"/>
              <a:t>Dask</a:t>
            </a:r>
            <a:r>
              <a:rPr lang="en-GB" sz="1600" dirty="0"/>
              <a:t> to run in serial (non-parallel) mode.</a:t>
            </a:r>
          </a:p>
          <a:p>
            <a:pPr marL="342900" indent="-342900">
              <a:buFont typeface="+mj-lt"/>
              <a:buAutoNum type="alphaLcPeriod"/>
            </a:pPr>
            <a:r>
              <a:rPr lang="en-GB" sz="1600" dirty="0"/>
              <a:t>Easier to debug step-by-step like regular Python code.</a:t>
            </a:r>
          </a:p>
          <a:p>
            <a:pPr marL="342900" indent="-342900">
              <a:buFont typeface="Wingdings" pitchFamily="2" charset="2"/>
              <a:buChar char="ü"/>
            </a:pPr>
            <a:endParaRPr lang="en-GB" sz="1600" dirty="0"/>
          </a:p>
        </p:txBody>
      </p:sp>
      <p:sp>
        <p:nvSpPr>
          <p:cNvPr id="4" name="TextBox 3">
            <a:extLst>
              <a:ext uri="{FF2B5EF4-FFF2-40B4-BE49-F238E27FC236}">
                <a16:creationId xmlns:a16="http://schemas.microsoft.com/office/drawing/2014/main" id="{9836E8CB-1F0F-1DAD-0FA0-AA4DA8410407}"/>
              </a:ext>
            </a:extLst>
          </p:cNvPr>
          <p:cNvSpPr txBox="1"/>
          <p:nvPr/>
        </p:nvSpPr>
        <p:spPr>
          <a:xfrm>
            <a:off x="407174" y="4345171"/>
            <a:ext cx="5285959" cy="523220"/>
          </a:xfrm>
          <a:prstGeom prst="rect">
            <a:avLst/>
          </a:prstGeom>
          <a:solidFill>
            <a:schemeClr val="accent1">
              <a:lumMod val="40000"/>
              <a:lumOff val="60000"/>
            </a:schemeClr>
          </a:solidFill>
        </p:spPr>
        <p:txBody>
          <a:bodyPr wrap="square">
            <a:spAutoFit/>
          </a:bodyPr>
          <a:lstStyle/>
          <a:p>
            <a:r>
              <a:rPr lang="en-US" dirty="0"/>
              <a:t># Example for debugging</a:t>
            </a:r>
          </a:p>
          <a:p>
            <a:r>
              <a:rPr lang="en-US" dirty="0"/>
              <a:t>result = </a:t>
            </a:r>
            <a:r>
              <a:rPr lang="en-US" dirty="0" err="1"/>
              <a:t>dask_df.sum</a:t>
            </a:r>
            <a:r>
              <a:rPr lang="en-US" dirty="0"/>
              <a:t>().compute(scheduler='single-threaded')</a:t>
            </a:r>
          </a:p>
        </p:txBody>
      </p:sp>
    </p:spTree>
    <p:extLst>
      <p:ext uri="{BB962C8B-B14F-4D97-AF65-F5344CB8AC3E}">
        <p14:creationId xmlns:p14="http://schemas.microsoft.com/office/powerpoint/2010/main" val="760015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138F9FB-7838-3A91-E9B7-D5D305BB4A5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C3707EE-7F59-87B7-B147-847774188D00}"/>
              </a:ext>
            </a:extLst>
          </p:cNvPr>
          <p:cNvSpPr txBox="1">
            <a:spLocks noGrp="1"/>
          </p:cNvSpPr>
          <p:nvPr>
            <p:ph type="title"/>
          </p:nvPr>
        </p:nvSpPr>
        <p:spPr>
          <a:xfrm>
            <a:off x="407175" y="1"/>
            <a:ext cx="8329650" cy="485030"/>
          </a:xfrm>
          <a:prstGeom prst="rect">
            <a:avLst/>
          </a:prstGeom>
          <a:noFill/>
          <a:ln>
            <a:noFill/>
          </a:ln>
        </p:spPr>
        <p:txBody>
          <a:bodyPr spcFirstLastPara="1" wrap="square" lIns="91425" tIns="91425" rIns="91425" bIns="91425" anchor="t" anchorCtr="0">
            <a:noAutofit/>
          </a:bodyPr>
          <a:lstStyle/>
          <a:p>
            <a:r>
              <a:rPr lang="en-GB" sz="2400" b="1" dirty="0"/>
              <a:t>Practical Examples and Code Snippets</a:t>
            </a:r>
            <a:br>
              <a:rPr lang="en-GB" sz="2400" b="1" dirty="0"/>
            </a:br>
            <a:r>
              <a:rPr lang="en-GB" sz="1600" b="1" i="0" u="none" strike="noStrike" dirty="0">
                <a:solidFill>
                  <a:srgbClr val="404040"/>
                </a:solidFill>
                <a:effectLst/>
                <a:latin typeface="Inter" panose="02000503000000020004" pitchFamily="2" charset="0"/>
              </a:rPr>
              <a:t>Example 1: Parallel Grid Search</a:t>
            </a:r>
            <a:br>
              <a:rPr lang="en-GB" sz="1600" b="1" i="0" u="none" strike="noStrike" dirty="0">
                <a:solidFill>
                  <a:srgbClr val="404040"/>
                </a:solidFill>
                <a:effectLst/>
                <a:latin typeface="Inter" panose="02000503000000020004" pitchFamily="2" charset="0"/>
              </a:rPr>
            </a:br>
            <a:br>
              <a:rPr lang="en-GB" sz="24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4" name="TextBox 3">
            <a:extLst>
              <a:ext uri="{FF2B5EF4-FFF2-40B4-BE49-F238E27FC236}">
                <a16:creationId xmlns:a16="http://schemas.microsoft.com/office/drawing/2014/main" id="{2291F372-23EC-F569-2667-1C727890725D}"/>
              </a:ext>
            </a:extLst>
          </p:cNvPr>
          <p:cNvSpPr txBox="1"/>
          <p:nvPr/>
        </p:nvSpPr>
        <p:spPr>
          <a:xfrm>
            <a:off x="526443" y="1132844"/>
            <a:ext cx="5285959" cy="3108543"/>
          </a:xfrm>
          <a:prstGeom prst="rect">
            <a:avLst/>
          </a:prstGeom>
          <a:solidFill>
            <a:schemeClr val="accent1">
              <a:lumMod val="40000"/>
              <a:lumOff val="60000"/>
            </a:schemeClr>
          </a:solidFill>
        </p:spPr>
        <p:txBody>
          <a:bodyPr wrap="square">
            <a:spAutoFit/>
          </a:bodyPr>
          <a:lstStyle/>
          <a:p>
            <a:r>
              <a:rPr lang="en-US" dirty="0"/>
              <a:t>from </a:t>
            </a:r>
            <a:r>
              <a:rPr lang="en-US" dirty="0" err="1"/>
              <a:t>sklearn</a:t>
            </a:r>
            <a:r>
              <a:rPr lang="en-US" dirty="0"/>
              <a:t> import datasets</a:t>
            </a:r>
          </a:p>
          <a:p>
            <a:r>
              <a:rPr lang="en-US" dirty="0"/>
              <a:t>from </a:t>
            </a:r>
            <a:r>
              <a:rPr lang="en-US" dirty="0" err="1"/>
              <a:t>sklearn.svm</a:t>
            </a:r>
            <a:r>
              <a:rPr lang="en-US" dirty="0"/>
              <a:t> import SVC</a:t>
            </a:r>
          </a:p>
          <a:p>
            <a:r>
              <a:rPr lang="en-US" dirty="0"/>
              <a:t>from </a:t>
            </a:r>
            <a:r>
              <a:rPr lang="en-US" dirty="0" err="1"/>
              <a:t>sklearn.model_selection</a:t>
            </a:r>
            <a:r>
              <a:rPr lang="en-US" dirty="0"/>
              <a:t> import </a:t>
            </a:r>
            <a:r>
              <a:rPr lang="en-US" dirty="0" err="1"/>
              <a:t>GridSearchCV</a:t>
            </a:r>
            <a:endParaRPr lang="en-US" dirty="0"/>
          </a:p>
          <a:p>
            <a:r>
              <a:rPr lang="en-US" dirty="0"/>
              <a:t>from </a:t>
            </a:r>
            <a:r>
              <a:rPr lang="en-US" dirty="0" err="1"/>
              <a:t>dask.distributed</a:t>
            </a:r>
            <a:r>
              <a:rPr lang="en-US" dirty="0"/>
              <a:t> import Client</a:t>
            </a:r>
          </a:p>
          <a:p>
            <a:r>
              <a:rPr lang="en-US" dirty="0"/>
              <a:t>from </a:t>
            </a:r>
            <a:r>
              <a:rPr lang="en-US" dirty="0" err="1"/>
              <a:t>sklearn.externals.joblib</a:t>
            </a:r>
            <a:r>
              <a:rPr lang="en-US" dirty="0"/>
              <a:t> import </a:t>
            </a:r>
            <a:r>
              <a:rPr lang="en-US" dirty="0" err="1"/>
              <a:t>parallel_backend</a:t>
            </a:r>
            <a:endParaRPr lang="en-US" dirty="0"/>
          </a:p>
          <a:p>
            <a:endParaRPr lang="en-US" dirty="0"/>
          </a:p>
          <a:p>
            <a:r>
              <a:rPr lang="en-US" dirty="0"/>
              <a:t>client = Client()</a:t>
            </a:r>
          </a:p>
          <a:p>
            <a:endParaRPr lang="en-US" dirty="0"/>
          </a:p>
          <a:p>
            <a:r>
              <a:rPr lang="en-US" dirty="0"/>
              <a:t>iris = </a:t>
            </a:r>
            <a:r>
              <a:rPr lang="en-US" dirty="0" err="1"/>
              <a:t>datasets.load_iris</a:t>
            </a:r>
            <a:r>
              <a:rPr lang="en-US" dirty="0"/>
              <a:t>()</a:t>
            </a:r>
          </a:p>
          <a:p>
            <a:r>
              <a:rPr lang="en-US" dirty="0"/>
              <a:t>parameters = {'kernel': ('linear', '</a:t>
            </a:r>
            <a:r>
              <a:rPr lang="en-US" dirty="0" err="1"/>
              <a:t>rbf</a:t>
            </a:r>
            <a:r>
              <a:rPr lang="en-US" dirty="0"/>
              <a:t>'), 'C': [1, 10]}</a:t>
            </a:r>
          </a:p>
          <a:p>
            <a:endParaRPr lang="en-US" dirty="0"/>
          </a:p>
          <a:p>
            <a:r>
              <a:rPr lang="en-US" dirty="0"/>
              <a:t>with </a:t>
            </a:r>
            <a:r>
              <a:rPr lang="en-US" dirty="0" err="1"/>
              <a:t>parallel_backend</a:t>
            </a:r>
            <a:r>
              <a:rPr lang="en-US" dirty="0"/>
              <a:t>('</a:t>
            </a:r>
            <a:r>
              <a:rPr lang="en-US" dirty="0" err="1"/>
              <a:t>dask</a:t>
            </a:r>
            <a:r>
              <a:rPr lang="en-US" dirty="0"/>
              <a:t>'):</a:t>
            </a:r>
          </a:p>
          <a:p>
            <a:r>
              <a:rPr lang="en-US" dirty="0"/>
              <a:t>    </a:t>
            </a:r>
            <a:r>
              <a:rPr lang="en-US" dirty="0" err="1"/>
              <a:t>clf</a:t>
            </a:r>
            <a:r>
              <a:rPr lang="en-US" dirty="0"/>
              <a:t> = </a:t>
            </a:r>
            <a:r>
              <a:rPr lang="en-US" dirty="0" err="1"/>
              <a:t>GridSearchCV</a:t>
            </a:r>
            <a:r>
              <a:rPr lang="en-US" dirty="0"/>
              <a:t>(SVC(), parameters, </a:t>
            </a:r>
            <a:r>
              <a:rPr lang="en-US" dirty="0" err="1"/>
              <a:t>n_jobs</a:t>
            </a:r>
            <a:r>
              <a:rPr lang="en-US" dirty="0"/>
              <a:t>=-1)</a:t>
            </a:r>
          </a:p>
          <a:p>
            <a:r>
              <a:rPr lang="en-US" dirty="0"/>
              <a:t>    </a:t>
            </a:r>
            <a:r>
              <a:rPr lang="en-US" dirty="0" err="1"/>
              <a:t>clf.fit</a:t>
            </a:r>
            <a:r>
              <a:rPr lang="en-US" dirty="0"/>
              <a:t>(</a:t>
            </a:r>
            <a:r>
              <a:rPr lang="en-US" dirty="0" err="1"/>
              <a:t>iris.data</a:t>
            </a:r>
            <a:r>
              <a:rPr lang="en-US" dirty="0"/>
              <a:t>, </a:t>
            </a:r>
            <a:r>
              <a:rPr lang="en-US" dirty="0" err="1"/>
              <a:t>iris.target</a:t>
            </a:r>
            <a:r>
              <a:rPr lang="en-US" dirty="0"/>
              <a:t>)</a:t>
            </a:r>
          </a:p>
        </p:txBody>
      </p:sp>
    </p:spTree>
    <p:extLst>
      <p:ext uri="{BB962C8B-B14F-4D97-AF65-F5344CB8AC3E}">
        <p14:creationId xmlns:p14="http://schemas.microsoft.com/office/powerpoint/2010/main" val="1482069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AD9F0D-0708-D606-C8BD-E7CB7CC5343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1E7F39C-CE02-5B2F-83B1-6E1A0937ADE6}"/>
              </a:ext>
            </a:extLst>
          </p:cNvPr>
          <p:cNvSpPr txBox="1">
            <a:spLocks noGrp="1"/>
          </p:cNvSpPr>
          <p:nvPr>
            <p:ph type="title"/>
          </p:nvPr>
        </p:nvSpPr>
        <p:spPr>
          <a:xfrm>
            <a:off x="407175" y="1"/>
            <a:ext cx="8329650" cy="485030"/>
          </a:xfrm>
          <a:prstGeom prst="rect">
            <a:avLst/>
          </a:prstGeom>
          <a:noFill/>
          <a:ln>
            <a:noFill/>
          </a:ln>
        </p:spPr>
        <p:txBody>
          <a:bodyPr spcFirstLastPara="1" wrap="square" lIns="91425" tIns="91425" rIns="91425" bIns="91425" anchor="t" anchorCtr="0">
            <a:noAutofit/>
          </a:bodyPr>
          <a:lstStyle/>
          <a:p>
            <a:r>
              <a:rPr lang="en-GB" sz="2400" b="1" dirty="0"/>
              <a:t>Practical Examples and Code Snippets</a:t>
            </a:r>
            <a:br>
              <a:rPr lang="en-GB" sz="2400" b="1" dirty="0"/>
            </a:br>
            <a:r>
              <a:rPr lang="en-GB" sz="1600" b="1" i="0" u="none" strike="noStrike" dirty="0">
                <a:solidFill>
                  <a:srgbClr val="404040"/>
                </a:solidFill>
                <a:effectLst/>
                <a:latin typeface="Inter" panose="02000503000000020004" pitchFamily="2" charset="0"/>
              </a:rPr>
              <a:t>Example 2: Out-of-Core Random Forest</a:t>
            </a:r>
            <a:br>
              <a:rPr lang="en-GB" sz="1600" b="1" i="0" u="none" strike="noStrike" dirty="0">
                <a:solidFill>
                  <a:srgbClr val="404040"/>
                </a:solidFill>
                <a:effectLst/>
                <a:latin typeface="Inter" panose="02000503000000020004" pitchFamily="2" charset="0"/>
              </a:rPr>
            </a:br>
            <a:br>
              <a:rPr lang="en-GB" sz="1600" b="1" i="0" u="none" strike="noStrike" dirty="0">
                <a:solidFill>
                  <a:srgbClr val="404040"/>
                </a:solidFill>
                <a:effectLst/>
                <a:latin typeface="Inter" panose="02000503000000020004" pitchFamily="2" charset="0"/>
              </a:rPr>
            </a:br>
            <a:br>
              <a:rPr lang="en-GB" sz="24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4" name="TextBox 3">
            <a:extLst>
              <a:ext uri="{FF2B5EF4-FFF2-40B4-BE49-F238E27FC236}">
                <a16:creationId xmlns:a16="http://schemas.microsoft.com/office/drawing/2014/main" id="{938761C3-7E27-0BBC-DB76-EADA79F0781E}"/>
              </a:ext>
            </a:extLst>
          </p:cNvPr>
          <p:cNvSpPr txBox="1"/>
          <p:nvPr/>
        </p:nvSpPr>
        <p:spPr>
          <a:xfrm>
            <a:off x="526443" y="1132844"/>
            <a:ext cx="5285959" cy="2031325"/>
          </a:xfrm>
          <a:prstGeom prst="rect">
            <a:avLst/>
          </a:prstGeom>
          <a:solidFill>
            <a:schemeClr val="accent1">
              <a:lumMod val="40000"/>
              <a:lumOff val="60000"/>
            </a:schemeClr>
          </a:solidFill>
        </p:spPr>
        <p:txBody>
          <a:bodyPr wrap="square">
            <a:spAutoFit/>
          </a:bodyPr>
          <a:lstStyle/>
          <a:p>
            <a:r>
              <a:rPr lang="en-US" dirty="0"/>
              <a:t>import </a:t>
            </a:r>
            <a:r>
              <a:rPr lang="en-US" dirty="0" err="1"/>
              <a:t>dask.array</a:t>
            </a:r>
            <a:r>
              <a:rPr lang="en-US" dirty="0"/>
              <a:t> as da</a:t>
            </a:r>
          </a:p>
          <a:p>
            <a:r>
              <a:rPr lang="en-US" dirty="0"/>
              <a:t>from </a:t>
            </a:r>
            <a:r>
              <a:rPr lang="en-US" dirty="0" err="1"/>
              <a:t>dask_ml.ensemble</a:t>
            </a:r>
            <a:r>
              <a:rPr lang="en-US" dirty="0"/>
              <a:t> import </a:t>
            </a:r>
            <a:r>
              <a:rPr lang="en-US" dirty="0" err="1"/>
              <a:t>RandomForestClassifier</a:t>
            </a:r>
            <a:endParaRPr lang="en-US" dirty="0"/>
          </a:p>
          <a:p>
            <a:endParaRPr lang="en-US" dirty="0"/>
          </a:p>
          <a:p>
            <a:r>
              <a:rPr lang="en-US" dirty="0"/>
              <a:t># Create or load large dataset</a:t>
            </a:r>
          </a:p>
          <a:p>
            <a:r>
              <a:rPr lang="en-US" dirty="0"/>
              <a:t>X = </a:t>
            </a:r>
            <a:r>
              <a:rPr lang="en-US" dirty="0" err="1"/>
              <a:t>da.random.random</a:t>
            </a:r>
            <a:r>
              <a:rPr lang="en-US" dirty="0"/>
              <a:t>((1e6, 100), chunks=(1000, 100))</a:t>
            </a:r>
          </a:p>
          <a:p>
            <a:r>
              <a:rPr lang="en-US" dirty="0"/>
              <a:t>y = </a:t>
            </a:r>
            <a:r>
              <a:rPr lang="en-US" dirty="0" err="1"/>
              <a:t>da.random.randint</a:t>
            </a:r>
            <a:r>
              <a:rPr lang="en-US" dirty="0"/>
              <a:t>(0, 2, size=1e6, chunks=1000)</a:t>
            </a:r>
          </a:p>
          <a:p>
            <a:endParaRPr lang="en-US" dirty="0"/>
          </a:p>
          <a:p>
            <a:r>
              <a:rPr lang="en-US" dirty="0"/>
              <a:t>model = </a:t>
            </a:r>
            <a:r>
              <a:rPr lang="en-US" dirty="0" err="1"/>
              <a:t>RandomForestClassifier</a:t>
            </a:r>
            <a:r>
              <a:rPr lang="en-US" dirty="0"/>
              <a:t>(</a:t>
            </a:r>
            <a:r>
              <a:rPr lang="en-US" dirty="0" err="1"/>
              <a:t>n_estimators</a:t>
            </a:r>
            <a:r>
              <a:rPr lang="en-US" dirty="0"/>
              <a:t>=100)</a:t>
            </a:r>
          </a:p>
          <a:p>
            <a:r>
              <a:rPr lang="en-US" dirty="0" err="1"/>
              <a:t>model.fit</a:t>
            </a:r>
            <a:r>
              <a:rPr lang="en-US" dirty="0"/>
              <a:t>(X, y)</a:t>
            </a:r>
          </a:p>
        </p:txBody>
      </p:sp>
    </p:spTree>
    <p:extLst>
      <p:ext uri="{BB962C8B-B14F-4D97-AF65-F5344CB8AC3E}">
        <p14:creationId xmlns:p14="http://schemas.microsoft.com/office/powerpoint/2010/main" val="1623973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92AB85D-AD16-A979-E313-36C7F4FCA22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457B5112-66BD-6BDB-9D03-0D8A6A66255C}"/>
              </a:ext>
            </a:extLst>
          </p:cNvPr>
          <p:cNvSpPr txBox="1">
            <a:spLocks noGrp="1"/>
          </p:cNvSpPr>
          <p:nvPr>
            <p:ph type="title"/>
          </p:nvPr>
        </p:nvSpPr>
        <p:spPr>
          <a:xfrm>
            <a:off x="407175" y="1"/>
            <a:ext cx="8329650" cy="485030"/>
          </a:xfrm>
          <a:prstGeom prst="rect">
            <a:avLst/>
          </a:prstGeom>
          <a:noFill/>
          <a:ln>
            <a:noFill/>
          </a:ln>
        </p:spPr>
        <p:txBody>
          <a:bodyPr spcFirstLastPara="1" wrap="square" lIns="91425" tIns="91425" rIns="91425" bIns="91425" anchor="t" anchorCtr="0">
            <a:noAutofit/>
          </a:bodyPr>
          <a:lstStyle/>
          <a:p>
            <a:r>
              <a:rPr lang="en-GB" sz="2400" b="1" dirty="0"/>
              <a:t>Practical Examples and Code Snippets</a:t>
            </a:r>
            <a:br>
              <a:rPr lang="en-GB" sz="2400" b="1" dirty="0"/>
            </a:br>
            <a:r>
              <a:rPr lang="en-GB" sz="1600" b="1" i="0" u="none" strike="noStrike" dirty="0">
                <a:solidFill>
                  <a:srgbClr val="404040"/>
                </a:solidFill>
                <a:effectLst/>
                <a:latin typeface="Inter" panose="02000503000000020004" pitchFamily="2" charset="0"/>
              </a:rPr>
              <a:t>Example 3: Custom Parallel Function</a:t>
            </a:r>
            <a:br>
              <a:rPr lang="en-GB" sz="1600" b="1" i="0" u="none" strike="noStrike" dirty="0">
                <a:solidFill>
                  <a:srgbClr val="404040"/>
                </a:solidFill>
                <a:effectLst/>
                <a:latin typeface="Inter" panose="02000503000000020004" pitchFamily="2" charset="0"/>
              </a:rPr>
            </a:br>
            <a:br>
              <a:rPr lang="en-GB" sz="1600" b="1" i="0" u="none" strike="noStrike" dirty="0">
                <a:solidFill>
                  <a:srgbClr val="404040"/>
                </a:solidFill>
                <a:effectLst/>
                <a:latin typeface="Inter" panose="02000503000000020004" pitchFamily="2" charset="0"/>
              </a:rPr>
            </a:br>
            <a:br>
              <a:rPr lang="en-GB" sz="1600" b="1" i="0" u="none" strike="noStrike" dirty="0">
                <a:solidFill>
                  <a:srgbClr val="404040"/>
                </a:solidFill>
                <a:effectLst/>
                <a:latin typeface="Inter" panose="02000503000000020004" pitchFamily="2" charset="0"/>
              </a:rPr>
            </a:br>
            <a:br>
              <a:rPr lang="en-GB" sz="2400" b="1" dirty="0"/>
            </a:br>
            <a:br>
              <a:rPr lang="en-GB" sz="2000" b="1" dirty="0"/>
            </a:br>
            <a:br>
              <a:rPr lang="en-GB" sz="2000" b="1" dirty="0"/>
            </a:br>
            <a:br>
              <a:rPr lang="en-GB" sz="2000" b="1" dirty="0"/>
            </a:br>
            <a:br>
              <a:rPr lang="en-GB" sz="2000" b="1" i="0" u="none" strike="noStrike" dirty="0">
                <a:solidFill>
                  <a:srgbClr val="7030A0"/>
                </a:solidFill>
                <a:effectLst/>
              </a:rPr>
            </a:br>
            <a:br>
              <a:rPr lang="en-GB" sz="2000" b="1" i="0" u="none" strike="noStrike" dirty="0">
                <a:solidFill>
                  <a:srgbClr val="7030A0"/>
                </a:solidFill>
                <a:effectLst/>
              </a:rPr>
            </a:br>
            <a:br>
              <a:rPr lang="en-GB" sz="2000" b="1" i="0" u="none" strike="noStrike" dirty="0">
                <a:solidFill>
                  <a:srgbClr val="7030A0"/>
                </a:solidFill>
                <a:effectLst/>
              </a:rPr>
            </a:br>
            <a:endParaRPr lang="en-GB" sz="2000" b="1" i="0" u="none" strike="noStrike" dirty="0">
              <a:solidFill>
                <a:srgbClr val="7030A0"/>
              </a:solidFill>
              <a:effectLst/>
            </a:endParaRPr>
          </a:p>
        </p:txBody>
      </p:sp>
      <p:sp>
        <p:nvSpPr>
          <p:cNvPr id="4" name="TextBox 3">
            <a:extLst>
              <a:ext uri="{FF2B5EF4-FFF2-40B4-BE49-F238E27FC236}">
                <a16:creationId xmlns:a16="http://schemas.microsoft.com/office/drawing/2014/main" id="{6ED498C0-91FA-0D43-FC0D-E9B91436D9F9}"/>
              </a:ext>
            </a:extLst>
          </p:cNvPr>
          <p:cNvSpPr txBox="1"/>
          <p:nvPr/>
        </p:nvSpPr>
        <p:spPr>
          <a:xfrm>
            <a:off x="526443" y="1132844"/>
            <a:ext cx="7059101" cy="3323987"/>
          </a:xfrm>
          <a:prstGeom prst="rect">
            <a:avLst/>
          </a:prstGeom>
          <a:solidFill>
            <a:schemeClr val="accent1">
              <a:lumMod val="40000"/>
              <a:lumOff val="60000"/>
            </a:schemeClr>
          </a:solidFill>
        </p:spPr>
        <p:txBody>
          <a:bodyPr wrap="square">
            <a:spAutoFit/>
          </a:bodyPr>
          <a:lstStyle/>
          <a:p>
            <a:r>
              <a:rPr lang="en-US" dirty="0"/>
              <a:t>from </a:t>
            </a:r>
            <a:r>
              <a:rPr lang="en-US" dirty="0" err="1"/>
              <a:t>joblib</a:t>
            </a:r>
            <a:r>
              <a:rPr lang="en-US" dirty="0"/>
              <a:t> import Parallel, delayed</a:t>
            </a:r>
          </a:p>
          <a:p>
            <a:r>
              <a:rPr lang="en-US" dirty="0"/>
              <a:t>from </a:t>
            </a:r>
            <a:r>
              <a:rPr lang="en-US" dirty="0" err="1"/>
              <a:t>dask.distributed</a:t>
            </a:r>
            <a:r>
              <a:rPr lang="en-US" dirty="0"/>
              <a:t> import Client</a:t>
            </a:r>
          </a:p>
          <a:p>
            <a:endParaRPr lang="en-US" dirty="0"/>
          </a:p>
          <a:p>
            <a:r>
              <a:rPr lang="en-US" dirty="0"/>
              <a:t>def </a:t>
            </a:r>
            <a:r>
              <a:rPr lang="en-US" dirty="0" err="1"/>
              <a:t>process_chunk</a:t>
            </a:r>
            <a:r>
              <a:rPr lang="en-US" dirty="0"/>
              <a:t>(chunk):</a:t>
            </a:r>
          </a:p>
          <a:p>
            <a:r>
              <a:rPr lang="en-US" dirty="0"/>
              <a:t>    # Process each chunk</a:t>
            </a:r>
          </a:p>
          <a:p>
            <a:r>
              <a:rPr lang="en-US" dirty="0"/>
              <a:t>    return </a:t>
            </a:r>
            <a:r>
              <a:rPr lang="en-US" dirty="0" err="1"/>
              <a:t>chunk.mean</a:t>
            </a:r>
            <a:r>
              <a:rPr lang="en-US" dirty="0"/>
              <a:t>()</a:t>
            </a:r>
          </a:p>
          <a:p>
            <a:endParaRPr lang="en-US" dirty="0"/>
          </a:p>
          <a:p>
            <a:r>
              <a:rPr lang="en-US" dirty="0"/>
              <a:t>client = Client()</a:t>
            </a:r>
          </a:p>
          <a:p>
            <a:endParaRPr lang="en-US" dirty="0"/>
          </a:p>
          <a:p>
            <a:r>
              <a:rPr lang="en-US" dirty="0"/>
              <a:t># Large array</a:t>
            </a:r>
          </a:p>
          <a:p>
            <a:r>
              <a:rPr lang="en-US" dirty="0"/>
              <a:t>data = </a:t>
            </a:r>
            <a:r>
              <a:rPr lang="en-US" dirty="0" err="1"/>
              <a:t>da.random.random</a:t>
            </a:r>
            <a:r>
              <a:rPr lang="en-US" dirty="0"/>
              <a:t>((1e6,), chunks=1e5)</a:t>
            </a:r>
          </a:p>
          <a:p>
            <a:endParaRPr lang="en-US" dirty="0"/>
          </a:p>
          <a:p>
            <a:r>
              <a:rPr lang="en-US" dirty="0"/>
              <a:t># Process in parallel</a:t>
            </a:r>
          </a:p>
          <a:p>
            <a:r>
              <a:rPr lang="en-US" dirty="0"/>
              <a:t>results = Parallel(</a:t>
            </a:r>
            <a:r>
              <a:rPr lang="en-US" dirty="0" err="1"/>
              <a:t>n_jobs</a:t>
            </a:r>
            <a:r>
              <a:rPr lang="en-US" dirty="0"/>
              <a:t>=-1)(delayed(</a:t>
            </a:r>
            <a:r>
              <a:rPr lang="en-US" dirty="0" err="1"/>
              <a:t>process_chunk</a:t>
            </a:r>
            <a:r>
              <a:rPr lang="en-US" dirty="0"/>
              <a:t>)(chunk) </a:t>
            </a:r>
          </a:p>
          <a:p>
            <a:r>
              <a:rPr lang="en-US" dirty="0"/>
              <a:t>                             for chunk in </a:t>
            </a:r>
            <a:r>
              <a:rPr lang="en-US" dirty="0" err="1"/>
              <a:t>data.to_delayed</a:t>
            </a:r>
            <a:r>
              <a:rPr lang="en-US" dirty="0"/>
              <a:t>())</a:t>
            </a:r>
          </a:p>
        </p:txBody>
      </p:sp>
    </p:spTree>
    <p:extLst>
      <p:ext uri="{BB962C8B-B14F-4D97-AF65-F5344CB8AC3E}">
        <p14:creationId xmlns:p14="http://schemas.microsoft.com/office/powerpoint/2010/main" val="2971547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BBECF7B-C240-3941-9609-42E0F97EE43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784DC6-1F40-2455-914A-022D6F52557D}"/>
              </a:ext>
            </a:extLst>
          </p:cNvPr>
          <p:cNvSpPr txBox="1">
            <a:spLocks noGrp="1"/>
          </p:cNvSpPr>
          <p:nvPr>
            <p:ph type="title"/>
          </p:nvPr>
        </p:nvSpPr>
        <p:spPr>
          <a:xfrm>
            <a:off x="407175" y="115841"/>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chemeClr val="tx1"/>
                </a:solidFill>
                <a:effectLst/>
                <a:latin typeface="Arial" panose="020B0604020202020204" pitchFamily="34" charset="0"/>
              </a:rPr>
              <a:t>Summary:</a:t>
            </a:r>
            <a:br>
              <a:rPr kumimoji="0" lang="en-US" altLang="en-US" sz="2800" b="1" i="0" u="none" strike="noStrike" cap="none" normalizeH="0" baseline="0" dirty="0">
                <a:ln>
                  <a:noFill/>
                </a:ln>
                <a:solidFill>
                  <a:schemeClr val="tx1"/>
                </a:solidFill>
                <a:effectLst/>
                <a:latin typeface="Arial" panose="020B0604020202020204" pitchFamily="34" charset="0"/>
              </a:rPr>
            </a:br>
            <a:br>
              <a:rPr lang="en-GB" b="1" dirty="0"/>
            </a:br>
            <a:br>
              <a:rPr lang="en-GB" b="1" dirty="0"/>
            </a:br>
            <a:br>
              <a:rPr lang="en-GB" b="1" dirty="0"/>
            </a:br>
            <a:br>
              <a:rPr lang="en-GB" b="1" i="0" u="none" strike="noStrike" dirty="0">
                <a:solidFill>
                  <a:srgbClr val="000000"/>
                </a:solidFill>
                <a:effectLst/>
              </a:rPr>
            </a:br>
            <a:br>
              <a:rPr lang="en-GB" b="0" i="0" u="none" strike="noStrike" dirty="0">
                <a:solidFill>
                  <a:srgbClr val="1F1F1F"/>
                </a:solidFill>
                <a:effectLst/>
                <a:latin typeface="Roboto" panose="02000000000000000000" pitchFamily="2" charset="0"/>
              </a:rPr>
            </a:br>
            <a:br>
              <a:rPr lang="en-GB" b="1" i="0" u="none" strike="noStrike" dirty="0">
                <a:solidFill>
                  <a:srgbClr val="7030A0"/>
                </a:solidFill>
                <a:effectLst/>
              </a:rPr>
            </a:br>
            <a:br>
              <a:rPr lang="en-GB" b="1" i="0" u="none" strike="noStrike" dirty="0">
                <a:solidFill>
                  <a:srgbClr val="7030A0"/>
                </a:solidFill>
                <a:effectLst/>
              </a:rPr>
            </a:br>
            <a:br>
              <a:rPr lang="en-GB" b="1" i="0" u="none" strike="noStrike" dirty="0">
                <a:solidFill>
                  <a:srgbClr val="7030A0"/>
                </a:solidFill>
                <a:effectLst/>
              </a:rPr>
            </a:br>
            <a:endParaRPr lang="en-GB" b="1" i="0" u="none" strike="noStrike" dirty="0">
              <a:solidFill>
                <a:srgbClr val="7030A0"/>
              </a:solidFill>
              <a:effectLst/>
            </a:endParaRPr>
          </a:p>
        </p:txBody>
      </p:sp>
      <p:graphicFrame>
        <p:nvGraphicFramePr>
          <p:cNvPr id="2" name="Table 1">
            <a:extLst>
              <a:ext uri="{FF2B5EF4-FFF2-40B4-BE49-F238E27FC236}">
                <a16:creationId xmlns:a16="http://schemas.microsoft.com/office/drawing/2014/main" id="{C165E9B8-A4EC-BECC-25A2-FA6785692901}"/>
              </a:ext>
            </a:extLst>
          </p:cNvPr>
          <p:cNvGraphicFramePr>
            <a:graphicFrameLocks noGrp="1"/>
          </p:cNvGraphicFramePr>
          <p:nvPr>
            <p:extLst>
              <p:ext uri="{D42A27DB-BD31-4B8C-83A1-F6EECF244321}">
                <p14:modId xmlns:p14="http://schemas.microsoft.com/office/powerpoint/2010/main" val="4020534321"/>
              </p:ext>
            </p:extLst>
          </p:nvPr>
        </p:nvGraphicFramePr>
        <p:xfrm>
          <a:off x="470176" y="1352550"/>
          <a:ext cx="8521700" cy="2804160"/>
        </p:xfrm>
        <a:graphic>
          <a:graphicData uri="http://schemas.openxmlformats.org/drawingml/2006/table">
            <a:tbl>
              <a:tblPr/>
              <a:tblGrid>
                <a:gridCol w="8521700">
                  <a:extLst>
                    <a:ext uri="{9D8B030D-6E8A-4147-A177-3AD203B41FA5}">
                      <a16:colId xmlns:a16="http://schemas.microsoft.com/office/drawing/2014/main" val="2153768031"/>
                    </a:ext>
                  </a:extLst>
                </a:gridCol>
              </a:tblGrid>
              <a:tr h="0">
                <a:tc>
                  <a:txBody>
                    <a:bodyPr/>
                    <a:lstStyle/>
                    <a:p>
                      <a:r>
                        <a:rPr lang="en-GB" sz="1600"/>
                        <a:t>Key Takeaways</a:t>
                      </a:r>
                    </a:p>
                  </a:txBody>
                  <a:tcPr anchor="ctr">
                    <a:lnL>
                      <a:noFill/>
                    </a:lnL>
                    <a:lnR>
                      <a:noFill/>
                    </a:lnR>
                    <a:lnT>
                      <a:noFill/>
                    </a:lnT>
                    <a:lnB>
                      <a:noFill/>
                    </a:lnB>
                    <a:noFill/>
                  </a:tcPr>
                </a:tc>
                <a:extLst>
                  <a:ext uri="{0D108BD9-81ED-4DB2-BD59-A6C34878D82A}">
                    <a16:rowId xmlns:a16="http://schemas.microsoft.com/office/drawing/2014/main" val="3057178278"/>
                  </a:ext>
                </a:extLst>
              </a:tr>
              <a:tr h="0">
                <a:tc>
                  <a:txBody>
                    <a:bodyPr/>
                    <a:lstStyle/>
                    <a:p>
                      <a:pPr marL="342900" indent="-342900">
                        <a:buFont typeface="+mj-lt"/>
                        <a:buAutoNum type="arabicPeriod"/>
                      </a:pPr>
                      <a:r>
                        <a:rPr lang="en-GB" sz="1600" dirty="0"/>
                        <a:t>Scaling scikit-learn workflows with </a:t>
                      </a:r>
                      <a:r>
                        <a:rPr lang="en-GB" sz="1600" dirty="0" err="1"/>
                        <a:t>Joblib</a:t>
                      </a:r>
                      <a:r>
                        <a:rPr lang="en-GB" sz="1600" dirty="0"/>
                        <a:t> and </a:t>
                      </a:r>
                      <a:r>
                        <a:rPr lang="en-GB" sz="1600" dirty="0" err="1"/>
                        <a:t>Dask</a:t>
                      </a:r>
                      <a:r>
                        <a:rPr lang="en-GB" sz="1600" dirty="0"/>
                        <a:t> enables data scientists to work with larger datasets.</a:t>
                      </a:r>
                    </a:p>
                    <a:p>
                      <a:pPr marL="342900" indent="-342900">
                        <a:buFont typeface="+mj-lt"/>
                        <a:buAutoNum type="arabicPeriod"/>
                      </a:pPr>
                      <a:endParaRPr lang="en-GB" sz="1600" dirty="0"/>
                    </a:p>
                    <a:p>
                      <a:pPr marL="342900" indent="-342900">
                        <a:buFont typeface="+mj-lt"/>
                        <a:buAutoNum type="arabicPeriod"/>
                      </a:pPr>
                      <a:r>
                        <a:rPr lang="en-GB" sz="1600" dirty="0"/>
                        <a:t>Speed up model training, and utilize available computational resources more effectively.</a:t>
                      </a:r>
                    </a:p>
                    <a:p>
                      <a:pPr marL="342900" indent="-342900">
                        <a:buFont typeface="+mj-lt"/>
                        <a:buAutoNum type="arabicPeriod"/>
                      </a:pPr>
                      <a:endParaRPr lang="en-GB" sz="1600" dirty="0"/>
                    </a:p>
                    <a:p>
                      <a:pPr marL="342900" indent="-342900">
                        <a:buFont typeface="+mj-lt"/>
                        <a:buAutoNum type="arabicPeriod"/>
                      </a:pPr>
                      <a:r>
                        <a:rPr lang="en-GB" sz="1600" dirty="0"/>
                        <a:t>Choosing the right tool depends on the scale of the data, the infrastructure available, and the complexity of the pipeline.</a:t>
                      </a:r>
                    </a:p>
                  </a:txBody>
                  <a:tcPr anchor="ctr">
                    <a:lnL>
                      <a:noFill/>
                    </a:lnL>
                    <a:lnR>
                      <a:noFill/>
                    </a:lnR>
                    <a:lnT>
                      <a:noFill/>
                    </a:lnT>
                    <a:lnB>
                      <a:noFill/>
                    </a:lnB>
                    <a:noFill/>
                  </a:tcPr>
                </a:tc>
                <a:extLst>
                  <a:ext uri="{0D108BD9-81ED-4DB2-BD59-A6C34878D82A}">
                    <a16:rowId xmlns:a16="http://schemas.microsoft.com/office/drawing/2014/main" val="2405485011"/>
                  </a:ext>
                </a:extLst>
              </a:tr>
              <a:tr h="0">
                <a:tc>
                  <a:txBody>
                    <a:bodyPr/>
                    <a:lstStyle/>
                    <a:p>
                      <a:pPr marL="285750" indent="-285750">
                        <a:buFont typeface="Wingdings" pitchFamily="2" charset="2"/>
                        <a:buChar char="Ø"/>
                      </a:pPr>
                      <a:endParaRPr lang="en-GB" sz="1600"/>
                    </a:p>
                  </a:txBody>
                  <a:tcPr anchor="ctr">
                    <a:lnL>
                      <a:noFill/>
                    </a:lnL>
                    <a:lnR>
                      <a:noFill/>
                    </a:lnR>
                    <a:lnT>
                      <a:noFill/>
                    </a:lnT>
                    <a:lnB>
                      <a:noFill/>
                    </a:lnB>
                    <a:noFill/>
                  </a:tcPr>
                </a:tc>
                <a:extLst>
                  <a:ext uri="{0D108BD9-81ED-4DB2-BD59-A6C34878D82A}">
                    <a16:rowId xmlns:a16="http://schemas.microsoft.com/office/drawing/2014/main" val="3096739881"/>
                  </a:ext>
                </a:extLst>
              </a:tr>
              <a:tr h="0">
                <a:tc>
                  <a:txBody>
                    <a:bodyPr/>
                    <a:lstStyle/>
                    <a:p>
                      <a:pPr marL="285750" indent="-285750">
                        <a:buFont typeface="Wingdings" pitchFamily="2" charset="2"/>
                        <a:buChar char="Ø"/>
                      </a:pPr>
                      <a:endParaRPr lang="en-GB" sz="1600" dirty="0"/>
                    </a:p>
                  </a:txBody>
                  <a:tcPr anchor="ctr">
                    <a:lnL>
                      <a:noFill/>
                    </a:lnL>
                    <a:lnR>
                      <a:noFill/>
                    </a:lnR>
                    <a:lnT>
                      <a:noFill/>
                    </a:lnT>
                    <a:lnB>
                      <a:noFill/>
                    </a:lnB>
                    <a:noFill/>
                  </a:tcPr>
                </a:tc>
                <a:extLst>
                  <a:ext uri="{0D108BD9-81ED-4DB2-BD59-A6C34878D82A}">
                    <a16:rowId xmlns:a16="http://schemas.microsoft.com/office/drawing/2014/main" val="3293499157"/>
                  </a:ext>
                </a:extLst>
              </a:tr>
            </a:tbl>
          </a:graphicData>
        </a:graphic>
      </p:graphicFrame>
    </p:spTree>
    <p:extLst>
      <p:ext uri="{BB962C8B-B14F-4D97-AF65-F5344CB8AC3E}">
        <p14:creationId xmlns:p14="http://schemas.microsoft.com/office/powerpoint/2010/main" val="1462988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CC4C207-91AB-90C3-A9BA-51FB78653CE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0211CF9-29D8-6FF6-32E6-70A5E3B3223F}"/>
              </a:ext>
            </a:extLst>
          </p:cNvPr>
          <p:cNvSpPr txBox="1">
            <a:spLocks noGrp="1"/>
          </p:cNvSpPr>
          <p:nvPr>
            <p:ph type="title"/>
          </p:nvPr>
        </p:nvSpPr>
        <p:spPr>
          <a:xfrm>
            <a:off x="503695" y="104061"/>
            <a:ext cx="7640664" cy="627900"/>
          </a:xfrm>
          <a:prstGeom prst="rect">
            <a:avLst/>
          </a:prstGeom>
          <a:noFill/>
          <a:ln>
            <a:noFill/>
          </a:ln>
        </p:spPr>
        <p:txBody>
          <a:bodyPr spcFirstLastPara="1" wrap="square" lIns="91425" tIns="91425" rIns="91425" bIns="91425" anchor="t" anchorCtr="0">
            <a:normAutofit fontScale="90000"/>
          </a:bodyPr>
          <a:lstStyle/>
          <a:p>
            <a:r>
              <a:rPr lang="en-GB" sz="2800" b="1" dirty="0"/>
              <a:t>Academic References</a:t>
            </a:r>
            <a:br>
              <a:rPr lang="en-GB" sz="2800" b="1" dirty="0"/>
            </a:br>
            <a:br>
              <a:rPr lang="en-GB" sz="2800" b="1" dirty="0"/>
            </a:br>
            <a:br>
              <a:rPr lang="en-GB" sz="2800" b="1" dirty="0"/>
            </a:br>
            <a:br>
              <a:rPr lang="en-GB" sz="2800" b="1" dirty="0"/>
            </a:br>
            <a:br>
              <a:rPr lang="en-GB" sz="2800" b="1" dirty="0"/>
            </a:br>
            <a:br>
              <a:rPr lang="en-GB" sz="3200" b="1" dirty="0"/>
            </a:br>
            <a:br>
              <a:rPr lang="en-GB" sz="3200" b="1" dirty="0"/>
            </a:br>
            <a:br>
              <a:rPr lang="en-GB" sz="3100" b="1" i="0" u="none" strike="noStrike" dirty="0">
                <a:solidFill>
                  <a:srgbClr val="7030A0"/>
                </a:solidFill>
                <a:effectLst/>
                <a:latin typeface="Inter" panose="02000503000000020004" pitchFamily="2" charset="0"/>
              </a:rPr>
            </a:br>
            <a:br>
              <a:rPr lang="en-GB" sz="2800" b="1" kern="0" dirty="0">
                <a:solidFill>
                  <a:srgbClr val="7030A0"/>
                </a:solidFill>
                <a:effectLst/>
                <a:latin typeface="Segoe UI" panose="020B0502040204020203" pitchFamily="34" charset="0"/>
                <a:ea typeface="Times New Roman" panose="02020603050405020304" pitchFamily="18" charset="0"/>
                <a:cs typeface="Arial" panose="020B0604020202020204" pitchFamily="34" charset="0"/>
              </a:rPr>
            </a:br>
            <a:br>
              <a:rPr lang="en-GB" sz="1800" kern="100" dirty="0">
                <a:effectLst/>
                <a:latin typeface="Aptos" panose="020B0004020202020204" pitchFamily="34" charset="0"/>
                <a:ea typeface="Aptos" panose="020B0004020202020204" pitchFamily="34" charset="0"/>
                <a:cs typeface="Arial" panose="020B0604020202020204" pitchFamily="34" charset="0"/>
              </a:rPr>
            </a:br>
            <a:br>
              <a:rPr lang="en-GB" b="1" dirty="0"/>
            </a:br>
            <a:br>
              <a:rPr lang="en-GB" b="1" dirty="0"/>
            </a:br>
            <a:br>
              <a:rPr lang="en-GB" sz="1200" b="1" dirty="0"/>
            </a:br>
            <a:br>
              <a:rPr lang="en-GB" sz="1200" dirty="0"/>
            </a:br>
            <a:br>
              <a:rPr lang="en-GB" sz="1600" b="0" dirty="0">
                <a:solidFill>
                  <a:schemeClr val="tx1"/>
                </a:solidFill>
                <a:latin typeface="+mj-lt"/>
              </a:rPr>
            </a:br>
            <a:br>
              <a:rPr lang="en-GB" b="1" dirty="0"/>
            </a:br>
            <a:br>
              <a:rPr lang="en-GB" b="1" i="0" u="none" strike="noStrike" dirty="0">
                <a:solidFill>
                  <a:srgbClr val="000000"/>
                </a:solidFill>
                <a:effectLst/>
              </a:rPr>
            </a:br>
            <a:br>
              <a:rPr lang="en-GB" b="1" i="0" u="none" strike="noStrike" dirty="0">
                <a:solidFill>
                  <a:srgbClr val="404040"/>
                </a:solidFill>
                <a:effectLst/>
                <a:latin typeface="Inter"/>
              </a:rPr>
            </a:br>
            <a:endParaRPr lang="en-GB" b="1" i="0" u="none" strike="noStrike" dirty="0">
              <a:solidFill>
                <a:srgbClr val="404040"/>
              </a:solidFill>
              <a:effectLst/>
              <a:latin typeface="Inter"/>
            </a:endParaRPr>
          </a:p>
        </p:txBody>
      </p:sp>
      <p:sp>
        <p:nvSpPr>
          <p:cNvPr id="5" name="TextBox 4">
            <a:extLst>
              <a:ext uri="{FF2B5EF4-FFF2-40B4-BE49-F238E27FC236}">
                <a16:creationId xmlns:a16="http://schemas.microsoft.com/office/drawing/2014/main" id="{70AF04DC-DA86-8B89-0FBB-B21E140CD690}"/>
              </a:ext>
            </a:extLst>
          </p:cNvPr>
          <p:cNvSpPr txBox="1"/>
          <p:nvPr/>
        </p:nvSpPr>
        <p:spPr>
          <a:xfrm>
            <a:off x="224725" y="1177919"/>
            <a:ext cx="8513757" cy="3877985"/>
          </a:xfrm>
          <a:prstGeom prst="rect">
            <a:avLst/>
          </a:prstGeom>
          <a:noFill/>
        </p:spPr>
        <p:txBody>
          <a:bodyPr wrap="square">
            <a:spAutoFit/>
          </a:bodyPr>
          <a:lstStyle/>
          <a:p>
            <a:pPr algn="l">
              <a:buNone/>
            </a:pPr>
            <a:br>
              <a:rPr lang="en-GB" sz="2000" b="1" i="0" u="none" strike="noStrike" dirty="0">
                <a:solidFill>
                  <a:srgbClr val="404040"/>
                </a:solidFill>
                <a:effectLst/>
                <a:latin typeface="Inter" panose="02000503000000020004" pitchFamily="2" charset="0"/>
              </a:rPr>
            </a:br>
            <a:r>
              <a:rPr lang="en-GB" sz="2000" b="1" i="0" u="none" strike="noStrike" dirty="0">
                <a:solidFill>
                  <a:srgbClr val="404040"/>
                </a:solidFill>
                <a:effectLst/>
                <a:latin typeface="Inter" panose="02000503000000020004" pitchFamily="2" charset="0"/>
              </a:rPr>
              <a:t>Official Documentation</a:t>
            </a:r>
          </a:p>
          <a:p>
            <a:pPr algn="l">
              <a:buFont typeface="Arial" panose="020B0604020202020204" pitchFamily="34" charset="0"/>
              <a:buChar char="•"/>
            </a:pPr>
            <a:r>
              <a:rPr lang="en-GB" sz="2000" b="0" i="0" u="none" strike="noStrike" dirty="0">
                <a:solidFill>
                  <a:srgbClr val="404040"/>
                </a:solidFill>
                <a:effectLst/>
                <a:latin typeface="Inter" panose="02000503000000020004" pitchFamily="2" charset="0"/>
                <a:hlinkClick r:id="rId3"/>
              </a:rPr>
              <a:t>joblib documentation</a:t>
            </a:r>
            <a:endParaRPr lang="en-GB" sz="2000" b="0" i="0" u="none" strike="noStrike" dirty="0">
              <a:solidFill>
                <a:srgbClr val="404040"/>
              </a:solidFill>
              <a:effectLst/>
              <a:latin typeface="Inter" panose="02000503000000020004" pitchFamily="2" charset="0"/>
            </a:endParaRPr>
          </a:p>
          <a:p>
            <a:pPr algn="l">
              <a:spcBef>
                <a:spcPts val="300"/>
              </a:spcBef>
              <a:buFont typeface="Arial" panose="020B0604020202020204" pitchFamily="34" charset="0"/>
              <a:buChar char="•"/>
            </a:pPr>
            <a:r>
              <a:rPr lang="en-GB" sz="2000" b="0" i="0" u="none" strike="noStrike" dirty="0">
                <a:solidFill>
                  <a:srgbClr val="404040"/>
                </a:solidFill>
                <a:effectLst/>
                <a:latin typeface="Inter" panose="02000503000000020004" pitchFamily="2" charset="0"/>
                <a:hlinkClick r:id="rId4"/>
              </a:rPr>
              <a:t>Dask documentation</a:t>
            </a:r>
            <a:endParaRPr lang="en-GB" sz="2000" b="0" i="0" u="none" strike="noStrike" dirty="0">
              <a:solidFill>
                <a:srgbClr val="404040"/>
              </a:solidFill>
              <a:effectLst/>
              <a:latin typeface="Inter" panose="02000503000000020004" pitchFamily="2" charset="0"/>
            </a:endParaRPr>
          </a:p>
          <a:p>
            <a:pPr algn="l">
              <a:spcBef>
                <a:spcPts val="300"/>
              </a:spcBef>
              <a:buFont typeface="Arial" panose="020B0604020202020204" pitchFamily="34" charset="0"/>
              <a:buChar char="•"/>
            </a:pPr>
            <a:r>
              <a:rPr lang="en-GB" sz="2000" b="0" i="0" u="none" strike="noStrike" dirty="0">
                <a:solidFill>
                  <a:srgbClr val="404040"/>
                </a:solidFill>
                <a:effectLst/>
                <a:latin typeface="Inter" panose="02000503000000020004" pitchFamily="2" charset="0"/>
                <a:hlinkClick r:id="rId5"/>
              </a:rPr>
              <a:t>Dask-ML documentation</a:t>
            </a:r>
            <a:endParaRPr lang="en-GB" sz="2000" b="0" i="0" u="none" strike="noStrike" dirty="0">
              <a:solidFill>
                <a:srgbClr val="404040"/>
              </a:solidFill>
              <a:effectLst/>
              <a:latin typeface="Inter" panose="02000503000000020004" pitchFamily="2" charset="0"/>
            </a:endParaRPr>
          </a:p>
          <a:p>
            <a:pPr algn="l">
              <a:buNone/>
            </a:pPr>
            <a:r>
              <a:rPr lang="en-GB" sz="2000" b="1" i="0" u="none" strike="noStrike" dirty="0">
                <a:solidFill>
                  <a:srgbClr val="404040"/>
                </a:solidFill>
                <a:effectLst/>
                <a:latin typeface="Inter" panose="02000503000000020004" pitchFamily="2" charset="0"/>
              </a:rPr>
              <a:t>Tutorials and Guides</a:t>
            </a:r>
          </a:p>
          <a:p>
            <a:pPr algn="l">
              <a:buFont typeface="Arial" panose="020B0604020202020204" pitchFamily="34" charset="0"/>
              <a:buChar char="•"/>
            </a:pPr>
            <a:r>
              <a:rPr lang="en-GB" sz="2000" b="0" i="0" u="none" strike="noStrike" dirty="0">
                <a:solidFill>
                  <a:srgbClr val="404040"/>
                </a:solidFill>
                <a:effectLst/>
                <a:latin typeface="Inter" panose="02000503000000020004" pitchFamily="2" charset="0"/>
                <a:hlinkClick r:id="rId6"/>
              </a:rPr>
              <a:t>Scaling scikit-learn with Dask</a:t>
            </a:r>
            <a:endParaRPr lang="en-GB" sz="2000" b="0" i="0" u="none" strike="noStrike" dirty="0">
              <a:solidFill>
                <a:srgbClr val="404040"/>
              </a:solidFill>
              <a:effectLst/>
              <a:latin typeface="Inter" panose="02000503000000020004" pitchFamily="2" charset="0"/>
            </a:endParaRPr>
          </a:p>
          <a:p>
            <a:pPr algn="l">
              <a:spcBef>
                <a:spcPts val="300"/>
              </a:spcBef>
              <a:buFont typeface="Arial" panose="020B0604020202020204" pitchFamily="34" charset="0"/>
              <a:buChar char="•"/>
            </a:pPr>
            <a:r>
              <a:rPr lang="en-GB" sz="2000" b="0" i="0" u="none" strike="noStrike" dirty="0">
                <a:solidFill>
                  <a:srgbClr val="404040"/>
                </a:solidFill>
                <a:effectLst/>
                <a:latin typeface="Inter" panose="02000503000000020004" pitchFamily="2" charset="0"/>
                <a:hlinkClick r:id="rId7"/>
              </a:rPr>
              <a:t>Parallel Processing in Python</a:t>
            </a:r>
            <a:endParaRPr lang="en-GB" sz="2000" b="0" i="0" u="none" strike="noStrike" dirty="0">
              <a:solidFill>
                <a:srgbClr val="404040"/>
              </a:solidFill>
              <a:effectLst/>
              <a:latin typeface="Inter" panose="02000503000000020004" pitchFamily="2" charset="0"/>
            </a:endParaRPr>
          </a:p>
          <a:p>
            <a:pPr algn="l">
              <a:buNone/>
            </a:pPr>
            <a:r>
              <a:rPr lang="en-GB" sz="2000" b="1" i="0" u="none" strike="noStrike" dirty="0">
                <a:solidFill>
                  <a:srgbClr val="404040"/>
                </a:solidFill>
                <a:effectLst/>
                <a:latin typeface="Inter" panose="02000503000000020004" pitchFamily="2" charset="0"/>
              </a:rPr>
              <a:t>Books</a:t>
            </a:r>
          </a:p>
          <a:p>
            <a:pPr algn="l">
              <a:buFont typeface="Arial" panose="020B0604020202020204" pitchFamily="34" charset="0"/>
              <a:buChar char="•"/>
            </a:pPr>
            <a:r>
              <a:rPr lang="en-GB" sz="2000" b="0" i="0" u="none" strike="noStrike" dirty="0">
                <a:solidFill>
                  <a:srgbClr val="404040"/>
                </a:solidFill>
                <a:effectLst/>
                <a:latin typeface="Inter" panose="02000503000000020004" pitchFamily="2" charset="0"/>
              </a:rPr>
              <a:t>"Python for Data Analysis" by Wes McKinney (creator of pandas)</a:t>
            </a:r>
          </a:p>
          <a:p>
            <a:pPr algn="l">
              <a:spcBef>
                <a:spcPts val="300"/>
              </a:spcBef>
              <a:buFont typeface="Arial" panose="020B0604020202020204" pitchFamily="34" charset="0"/>
              <a:buChar char="•"/>
            </a:pPr>
            <a:r>
              <a:rPr lang="en-GB" sz="2000" b="0" i="0" u="none" strike="noStrike" dirty="0">
                <a:solidFill>
                  <a:srgbClr val="404040"/>
                </a:solidFill>
                <a:effectLst/>
                <a:latin typeface="Inter" panose="02000503000000020004" pitchFamily="2" charset="0"/>
              </a:rPr>
              <a:t>"High Performance Python" by Micha Gorelick and Ian </a:t>
            </a:r>
            <a:r>
              <a:rPr lang="en-GB" sz="2000" b="0" i="0" u="none" strike="noStrike" dirty="0" err="1">
                <a:solidFill>
                  <a:srgbClr val="404040"/>
                </a:solidFill>
                <a:effectLst/>
                <a:latin typeface="Inter" panose="02000503000000020004" pitchFamily="2" charset="0"/>
              </a:rPr>
              <a:t>Ozsvald</a:t>
            </a:r>
            <a:endParaRPr lang="en-GB" sz="2000" b="0" i="0" u="none" strike="noStrike" dirty="0">
              <a:solidFill>
                <a:srgbClr val="404040"/>
              </a:solidFill>
              <a:effectLst/>
              <a:latin typeface="Inter" panose="02000503000000020004" pitchFamily="2" charset="0"/>
            </a:endParaRPr>
          </a:p>
          <a:p>
            <a:pPr algn="l">
              <a:buNone/>
            </a:pPr>
            <a:endParaRPr lang="en-GB" sz="1600" b="0" i="0" u="none" strike="noStrike" dirty="0">
              <a:solidFill>
                <a:srgbClr val="404040"/>
              </a:solidFill>
              <a:effectLst/>
              <a:latin typeface="Inter" panose="02000503000000020004" pitchFamily="2" charset="0"/>
            </a:endParaRPr>
          </a:p>
        </p:txBody>
      </p:sp>
    </p:spTree>
    <p:extLst>
      <p:ext uri="{BB962C8B-B14F-4D97-AF65-F5344CB8AC3E}">
        <p14:creationId xmlns:p14="http://schemas.microsoft.com/office/powerpoint/2010/main" val="940337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4764</TotalTime>
  <Words>2613</Words>
  <Application>Microsoft Macintosh PowerPoint</Application>
  <PresentationFormat>On-screen Show (16:9)</PresentationFormat>
  <Paragraphs>269</Paragraphs>
  <Slides>28</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28</vt:i4>
      </vt:variant>
    </vt:vector>
  </HeadingPairs>
  <TitlesOfParts>
    <vt:vector size="40" baseType="lpstr">
      <vt:lpstr>IBM Plex Sans Arabic Medium</vt:lpstr>
      <vt:lpstr>Tajawal</vt:lpstr>
      <vt:lpstr>Inter</vt:lpstr>
      <vt:lpstr>Calibri</vt:lpstr>
      <vt:lpstr>IBM Plex Sans Arabic</vt:lpstr>
      <vt:lpstr>Roboto</vt:lpstr>
      <vt:lpstr>IBM Plex Sans Arabic SemiBold</vt:lpstr>
      <vt:lpstr>Segoe UI</vt:lpstr>
      <vt:lpstr>Wingdings</vt:lpstr>
      <vt:lpstr>Aptos</vt:lpstr>
      <vt:lpstr>Arial</vt:lpstr>
      <vt:lpstr>Simple Light</vt:lpstr>
      <vt:lpstr>أكـــــاديميــــة طــــويـــق</vt:lpstr>
      <vt:lpstr>  Scaling Scikit-learn with Joblib and Dask  </vt:lpstr>
      <vt:lpstr>PowerPoint Presentation</vt:lpstr>
      <vt:lpstr>Introduction     </vt:lpstr>
      <vt:lpstr>Why Scaling is Needed in Scikit-learn     </vt:lpstr>
      <vt:lpstr>2. Parallel Processing with Joblib      </vt:lpstr>
      <vt:lpstr>     </vt:lpstr>
      <vt:lpstr>     </vt:lpstr>
      <vt:lpstr>Benefits of Using Joblib with Scikit-learn   </vt:lpstr>
      <vt:lpstr>Distributed Computing with Dask    </vt:lpstr>
      <vt:lpstr>Integration with Scikit-learn:     </vt:lpstr>
      <vt:lpstr>PowerPoint Presentation</vt:lpstr>
      <vt:lpstr>Benefits of Using Dask with Scikit-learn    </vt:lpstr>
      <vt:lpstr>Comparison Table: Joblib vs Dask    </vt:lpstr>
      <vt:lpstr>Performance Optimization Techniques  Choosing the Right Approach     </vt:lpstr>
      <vt:lpstr>Performance Optimization Techniques       </vt:lpstr>
      <vt:lpstr>Best Practices for Scaling Scikit-learn with Joblib and Dask     </vt:lpstr>
      <vt:lpstr>Best Practices for Scaling Scikit-learn with Joblib and Dask     </vt:lpstr>
      <vt:lpstr>Common Pitfalls in Distributed Computing      </vt:lpstr>
      <vt:lpstr>Common Pitfalls in Distributed Computing      </vt:lpstr>
      <vt:lpstr>Debugging Tips       </vt:lpstr>
      <vt:lpstr>Practical Examples and Code Snippets Example 1: Parallel Grid Search        </vt:lpstr>
      <vt:lpstr>Practical Examples and Code Snippets Example 2: Out-of-Core Random Forest         </vt:lpstr>
      <vt:lpstr>Practical Examples and Code Snippets Example 3: Custom Parallel Function          </vt:lpstr>
      <vt:lpstr>Summary:         </vt:lpstr>
      <vt:lpstr>Academic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40</cp:revision>
  <dcterms:modified xsi:type="dcterms:W3CDTF">2025-04-04T07:17:37Z</dcterms:modified>
</cp:coreProperties>
</file>