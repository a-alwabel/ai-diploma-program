
<file path=[Content_Types].xml><?xml version="1.0" encoding="utf-8"?>
<Types xmlns="http://schemas.openxmlformats.org/package/2006/content-types">
  <Default Extension="1" ContentType="image/jpeg"/>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256" r:id="rId2"/>
    <p:sldId id="282" r:id="rId3"/>
    <p:sldId id="302" r:id="rId4"/>
    <p:sldId id="301" r:id="rId5"/>
    <p:sldId id="259" r:id="rId6"/>
    <p:sldId id="303" r:id="rId7"/>
    <p:sldId id="304" r:id="rId8"/>
    <p:sldId id="319" r:id="rId9"/>
    <p:sldId id="320" r:id="rId10"/>
    <p:sldId id="321" r:id="rId11"/>
    <p:sldId id="322" r:id="rId12"/>
    <p:sldId id="323" r:id="rId13"/>
    <p:sldId id="325" r:id="rId14"/>
    <p:sldId id="324" r:id="rId15"/>
    <p:sldId id="326" r:id="rId16"/>
    <p:sldId id="327" r:id="rId17"/>
    <p:sldId id="328" r:id="rId18"/>
    <p:sldId id="329" r:id="rId19"/>
    <p:sldId id="330" r:id="rId20"/>
    <p:sldId id="331" r:id="rId21"/>
    <p:sldId id="275" r:id="rId22"/>
    <p:sldId id="281" r:id="rId23"/>
  </p:sldIdLst>
  <p:sldSz cx="9144000" cy="5143500" type="screen16x9"/>
  <p:notesSz cx="6858000" cy="9144000"/>
  <p:embeddedFontLst>
    <p:embeddedFont>
      <p:font typeface="IBM Plex Sans Arabic" panose="020B0604020202020204" charset="-78"/>
      <p:regular r:id="rId25"/>
      <p:bold r:id="rId26"/>
    </p:embeddedFont>
    <p:embeddedFont>
      <p:font typeface="IBM Plex Sans Arabic Medium" panose="020B0604020202020204" charset="-78"/>
      <p:regular r:id="rId27"/>
      <p:bold r:id="rId28"/>
    </p:embeddedFont>
    <p:embeddedFont>
      <p:font typeface="IBM Plex Sans Arabic SemiBold" panose="020B0604020202020204" charset="-78"/>
      <p:regular r:id="rId29"/>
      <p:bold r:id="rId30"/>
    </p:embeddedFont>
    <p:embeddedFont>
      <p:font typeface="Tajawal" panose="020B0604020202020204" charset="-78"/>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C7666B-862D-4F7F-BA0C-E88144764012}">
  <a:tblStyle styleId="{62C7666B-862D-4F7F-BA0C-E88144764012}"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90" d="100"/>
          <a:sy n="90" d="100"/>
        </p:scale>
        <p:origin x="840" y="84"/>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1a09276e835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1a09276e835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F8DB0BC6-8B92-B14C-DE49-46B70133CE10}"/>
            </a:ext>
          </a:extLst>
        </p:cNvPr>
        <p:cNvGrpSpPr/>
        <p:nvPr/>
      </p:nvGrpSpPr>
      <p:grpSpPr>
        <a:xfrm>
          <a:off x="0" y="0"/>
          <a:ext cx="0" cy="0"/>
          <a:chOff x="0" y="0"/>
          <a:chExt cx="0" cy="0"/>
        </a:xfrm>
      </p:grpSpPr>
      <p:sp>
        <p:nvSpPr>
          <p:cNvPr id="82" name="Google Shape;82;g1a09276e835_1_10:notes">
            <a:extLst>
              <a:ext uri="{FF2B5EF4-FFF2-40B4-BE49-F238E27FC236}">
                <a16:creationId xmlns:a16="http://schemas.microsoft.com/office/drawing/2014/main" id="{8A55069F-EE30-D70F-AF32-E2CB663A76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1a09276e835_1_10:notes">
            <a:extLst>
              <a:ext uri="{FF2B5EF4-FFF2-40B4-BE49-F238E27FC236}">
                <a16:creationId xmlns:a16="http://schemas.microsoft.com/office/drawing/2014/main" id="{0A5AD216-0839-5678-64D8-33E68A97C0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5707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2B1E6315-CB21-F07C-94F1-BDEB577BB0BD}"/>
            </a:ext>
          </a:extLst>
        </p:cNvPr>
        <p:cNvGrpSpPr/>
        <p:nvPr/>
      </p:nvGrpSpPr>
      <p:grpSpPr>
        <a:xfrm>
          <a:off x="0" y="0"/>
          <a:ext cx="0" cy="0"/>
          <a:chOff x="0" y="0"/>
          <a:chExt cx="0" cy="0"/>
        </a:xfrm>
      </p:grpSpPr>
      <p:sp>
        <p:nvSpPr>
          <p:cNvPr id="82" name="Google Shape;82;g1a09276e835_1_10:notes">
            <a:extLst>
              <a:ext uri="{FF2B5EF4-FFF2-40B4-BE49-F238E27FC236}">
                <a16:creationId xmlns:a16="http://schemas.microsoft.com/office/drawing/2014/main" id="{9F9CA886-4853-0FB7-1678-89899A6131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1a09276e835_1_10:notes">
            <a:extLst>
              <a:ext uri="{FF2B5EF4-FFF2-40B4-BE49-F238E27FC236}">
                <a16:creationId xmlns:a16="http://schemas.microsoft.com/office/drawing/2014/main" id="{D0B19028-C4AC-6DD8-96CA-50532F9F1B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765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502586bf7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2502586bf7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1a09276e835_1_9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1a09276e835_1_9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300"/>
              <a:buFont typeface="Tajawal"/>
              <a:buNone/>
              <a:defRPr sz="4300" b="1">
                <a:latin typeface="Tajawal"/>
                <a:ea typeface="Tajawal"/>
                <a:cs typeface="Tajawal"/>
                <a:sym typeface="Tajawal"/>
              </a:defRPr>
            </a:lvl1pPr>
            <a:lvl2pPr lvl="1" algn="ctr">
              <a:spcBef>
                <a:spcPts val="0"/>
              </a:spcBef>
              <a:spcAft>
                <a:spcPts val="0"/>
              </a:spcAft>
              <a:buSzPts val="4900"/>
              <a:buFont typeface="Tajawal"/>
              <a:buNone/>
              <a:defRPr sz="4900">
                <a:latin typeface="Tajawal"/>
                <a:ea typeface="Tajawal"/>
                <a:cs typeface="Tajawal"/>
                <a:sym typeface="Tajawal"/>
              </a:defRPr>
            </a:lvl2pPr>
            <a:lvl3pPr lvl="2" algn="ctr">
              <a:spcBef>
                <a:spcPts val="0"/>
              </a:spcBef>
              <a:spcAft>
                <a:spcPts val="0"/>
              </a:spcAft>
              <a:buSzPts val="4900"/>
              <a:buFont typeface="Tajawal"/>
              <a:buNone/>
              <a:defRPr sz="4900">
                <a:latin typeface="Tajawal"/>
                <a:ea typeface="Tajawal"/>
                <a:cs typeface="Tajawal"/>
                <a:sym typeface="Tajawal"/>
              </a:defRPr>
            </a:lvl3pPr>
            <a:lvl4pPr lvl="3" algn="ctr">
              <a:spcBef>
                <a:spcPts val="0"/>
              </a:spcBef>
              <a:spcAft>
                <a:spcPts val="0"/>
              </a:spcAft>
              <a:buSzPts val="4900"/>
              <a:buFont typeface="Tajawal"/>
              <a:buNone/>
              <a:defRPr sz="4900">
                <a:latin typeface="Tajawal"/>
                <a:ea typeface="Tajawal"/>
                <a:cs typeface="Tajawal"/>
                <a:sym typeface="Tajawal"/>
              </a:defRPr>
            </a:lvl4pPr>
            <a:lvl5pPr lvl="4" algn="ctr">
              <a:spcBef>
                <a:spcPts val="0"/>
              </a:spcBef>
              <a:spcAft>
                <a:spcPts val="0"/>
              </a:spcAft>
              <a:buSzPts val="4900"/>
              <a:buFont typeface="Tajawal"/>
              <a:buNone/>
              <a:defRPr sz="4900">
                <a:latin typeface="Tajawal"/>
                <a:ea typeface="Tajawal"/>
                <a:cs typeface="Tajawal"/>
                <a:sym typeface="Tajawal"/>
              </a:defRPr>
            </a:lvl5pPr>
            <a:lvl6pPr lvl="5" algn="ctr">
              <a:spcBef>
                <a:spcPts val="0"/>
              </a:spcBef>
              <a:spcAft>
                <a:spcPts val="0"/>
              </a:spcAft>
              <a:buSzPts val="4900"/>
              <a:buFont typeface="Tajawal"/>
              <a:buNone/>
              <a:defRPr sz="4900">
                <a:latin typeface="Tajawal"/>
                <a:ea typeface="Tajawal"/>
                <a:cs typeface="Tajawal"/>
                <a:sym typeface="Tajawal"/>
              </a:defRPr>
            </a:lvl6pPr>
            <a:lvl7pPr lvl="6" algn="ctr">
              <a:spcBef>
                <a:spcPts val="0"/>
              </a:spcBef>
              <a:spcAft>
                <a:spcPts val="0"/>
              </a:spcAft>
              <a:buSzPts val="4900"/>
              <a:buFont typeface="Tajawal"/>
              <a:buNone/>
              <a:defRPr sz="4900">
                <a:latin typeface="Tajawal"/>
                <a:ea typeface="Tajawal"/>
                <a:cs typeface="Tajawal"/>
                <a:sym typeface="Tajawal"/>
              </a:defRPr>
            </a:lvl7pPr>
            <a:lvl8pPr lvl="7" algn="ctr">
              <a:spcBef>
                <a:spcPts val="0"/>
              </a:spcBef>
              <a:spcAft>
                <a:spcPts val="0"/>
              </a:spcAft>
              <a:buSzPts val="4900"/>
              <a:buFont typeface="Tajawal"/>
              <a:buNone/>
              <a:defRPr sz="4900">
                <a:latin typeface="Tajawal"/>
                <a:ea typeface="Tajawal"/>
                <a:cs typeface="Tajawal"/>
                <a:sym typeface="Tajawal"/>
              </a:defRPr>
            </a:lvl8pPr>
            <a:lvl9pPr lvl="8" algn="ctr">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500"/>
              <a:buFont typeface="Tajawal"/>
              <a:buNone/>
              <a:defRPr sz="2500">
                <a:latin typeface="Tajawal"/>
                <a:ea typeface="Tajawal"/>
                <a:cs typeface="Tajawal"/>
                <a:sym typeface="Tajawal"/>
              </a:defRPr>
            </a:lvl1pPr>
            <a:lvl2pPr lvl="1" algn="ctr">
              <a:lnSpc>
                <a:spcPct val="100000"/>
              </a:lnSpc>
              <a:spcBef>
                <a:spcPts val="0"/>
              </a:spcBef>
              <a:spcAft>
                <a:spcPts val="0"/>
              </a:spcAft>
              <a:buSzPts val="2500"/>
              <a:buFont typeface="Tajawal"/>
              <a:buNone/>
              <a:defRPr sz="2500">
                <a:latin typeface="Tajawal"/>
                <a:ea typeface="Tajawal"/>
                <a:cs typeface="Tajawal"/>
                <a:sym typeface="Tajawal"/>
              </a:defRPr>
            </a:lvl2pPr>
            <a:lvl3pPr lvl="2" algn="ctr">
              <a:lnSpc>
                <a:spcPct val="100000"/>
              </a:lnSpc>
              <a:spcBef>
                <a:spcPts val="0"/>
              </a:spcBef>
              <a:spcAft>
                <a:spcPts val="0"/>
              </a:spcAft>
              <a:buSzPts val="2500"/>
              <a:buFont typeface="Tajawal"/>
              <a:buNone/>
              <a:defRPr sz="2500">
                <a:latin typeface="Tajawal"/>
                <a:ea typeface="Tajawal"/>
                <a:cs typeface="Tajawal"/>
                <a:sym typeface="Tajawal"/>
              </a:defRPr>
            </a:lvl3pPr>
            <a:lvl4pPr lvl="3" algn="ctr">
              <a:lnSpc>
                <a:spcPct val="100000"/>
              </a:lnSpc>
              <a:spcBef>
                <a:spcPts val="0"/>
              </a:spcBef>
              <a:spcAft>
                <a:spcPts val="0"/>
              </a:spcAft>
              <a:buSzPts val="2500"/>
              <a:buFont typeface="Tajawal"/>
              <a:buNone/>
              <a:defRPr sz="2500">
                <a:latin typeface="Tajawal"/>
                <a:ea typeface="Tajawal"/>
                <a:cs typeface="Tajawal"/>
                <a:sym typeface="Tajawal"/>
              </a:defRPr>
            </a:lvl4pPr>
            <a:lvl5pPr lvl="4" algn="ctr">
              <a:lnSpc>
                <a:spcPct val="100000"/>
              </a:lnSpc>
              <a:spcBef>
                <a:spcPts val="0"/>
              </a:spcBef>
              <a:spcAft>
                <a:spcPts val="0"/>
              </a:spcAft>
              <a:buSzPts val="2500"/>
              <a:buFont typeface="Tajawal"/>
              <a:buNone/>
              <a:defRPr sz="2500">
                <a:latin typeface="Tajawal"/>
                <a:ea typeface="Tajawal"/>
                <a:cs typeface="Tajawal"/>
                <a:sym typeface="Tajawal"/>
              </a:defRPr>
            </a:lvl5pPr>
            <a:lvl6pPr lvl="5" algn="ctr">
              <a:lnSpc>
                <a:spcPct val="100000"/>
              </a:lnSpc>
              <a:spcBef>
                <a:spcPts val="0"/>
              </a:spcBef>
              <a:spcAft>
                <a:spcPts val="0"/>
              </a:spcAft>
              <a:buSzPts val="2500"/>
              <a:buFont typeface="Tajawal"/>
              <a:buNone/>
              <a:defRPr sz="2500">
                <a:latin typeface="Tajawal"/>
                <a:ea typeface="Tajawal"/>
                <a:cs typeface="Tajawal"/>
                <a:sym typeface="Tajawal"/>
              </a:defRPr>
            </a:lvl6pPr>
            <a:lvl7pPr lvl="6" algn="ctr">
              <a:lnSpc>
                <a:spcPct val="100000"/>
              </a:lnSpc>
              <a:spcBef>
                <a:spcPts val="0"/>
              </a:spcBef>
              <a:spcAft>
                <a:spcPts val="0"/>
              </a:spcAft>
              <a:buSzPts val="2500"/>
              <a:buFont typeface="Tajawal"/>
              <a:buNone/>
              <a:defRPr sz="2500">
                <a:latin typeface="Tajawal"/>
                <a:ea typeface="Tajawal"/>
                <a:cs typeface="Tajawal"/>
                <a:sym typeface="Tajawal"/>
              </a:defRPr>
            </a:lvl7pPr>
            <a:lvl8pPr lvl="7" algn="ctr">
              <a:lnSpc>
                <a:spcPct val="100000"/>
              </a:lnSpc>
              <a:spcBef>
                <a:spcPts val="0"/>
              </a:spcBef>
              <a:spcAft>
                <a:spcPts val="0"/>
              </a:spcAft>
              <a:buSzPts val="2500"/>
              <a:buFont typeface="Tajawal"/>
              <a:buNone/>
              <a:defRPr sz="2500">
                <a:latin typeface="Tajawal"/>
                <a:ea typeface="Tajawal"/>
                <a:cs typeface="Tajawal"/>
                <a:sym typeface="Tajawal"/>
              </a:defRPr>
            </a:lvl8pPr>
            <a:lvl9pPr lvl="8" algn="ctr">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1">
              <a:spcBef>
                <a:spcPts val="0"/>
              </a:spcBef>
              <a:spcAft>
                <a:spcPts val="0"/>
              </a:spcAft>
              <a:buSzPts val="3600"/>
              <a:buFont typeface="Tajawal"/>
              <a:buNone/>
              <a:defRPr sz="3600">
                <a:latin typeface="Tajawal"/>
                <a:ea typeface="Tajawal"/>
                <a:cs typeface="Tajawal"/>
                <a:sym typeface="Tajawal"/>
              </a:defRPr>
            </a:lvl1pPr>
            <a:lvl2pPr lvl="1" algn="ctr">
              <a:spcBef>
                <a:spcPts val="0"/>
              </a:spcBef>
              <a:spcAft>
                <a:spcPts val="0"/>
              </a:spcAft>
              <a:buSzPts val="3600"/>
              <a:buFont typeface="Tajawal"/>
              <a:buNone/>
              <a:defRPr sz="3600">
                <a:latin typeface="Tajawal"/>
                <a:ea typeface="Tajawal"/>
                <a:cs typeface="Tajawal"/>
                <a:sym typeface="Tajawal"/>
              </a:defRPr>
            </a:lvl2pPr>
            <a:lvl3pPr lvl="2" algn="ctr">
              <a:spcBef>
                <a:spcPts val="0"/>
              </a:spcBef>
              <a:spcAft>
                <a:spcPts val="0"/>
              </a:spcAft>
              <a:buSzPts val="3600"/>
              <a:buFont typeface="Tajawal"/>
              <a:buNone/>
              <a:defRPr sz="3600">
                <a:latin typeface="Tajawal"/>
                <a:ea typeface="Tajawal"/>
                <a:cs typeface="Tajawal"/>
                <a:sym typeface="Tajawal"/>
              </a:defRPr>
            </a:lvl3pPr>
            <a:lvl4pPr lvl="3" algn="ctr">
              <a:spcBef>
                <a:spcPts val="0"/>
              </a:spcBef>
              <a:spcAft>
                <a:spcPts val="0"/>
              </a:spcAft>
              <a:buSzPts val="3600"/>
              <a:buFont typeface="Tajawal"/>
              <a:buNone/>
              <a:defRPr sz="3600">
                <a:latin typeface="Tajawal"/>
                <a:ea typeface="Tajawal"/>
                <a:cs typeface="Tajawal"/>
                <a:sym typeface="Tajawal"/>
              </a:defRPr>
            </a:lvl4pPr>
            <a:lvl5pPr lvl="4" algn="ctr">
              <a:spcBef>
                <a:spcPts val="0"/>
              </a:spcBef>
              <a:spcAft>
                <a:spcPts val="0"/>
              </a:spcAft>
              <a:buSzPts val="3600"/>
              <a:buFont typeface="Tajawal"/>
              <a:buNone/>
              <a:defRPr sz="3600">
                <a:latin typeface="Tajawal"/>
                <a:ea typeface="Tajawal"/>
                <a:cs typeface="Tajawal"/>
                <a:sym typeface="Tajawal"/>
              </a:defRPr>
            </a:lvl5pPr>
            <a:lvl6pPr lvl="5" algn="ctr">
              <a:spcBef>
                <a:spcPts val="0"/>
              </a:spcBef>
              <a:spcAft>
                <a:spcPts val="0"/>
              </a:spcAft>
              <a:buSzPts val="3600"/>
              <a:buFont typeface="Tajawal"/>
              <a:buNone/>
              <a:defRPr sz="3600">
                <a:latin typeface="Tajawal"/>
                <a:ea typeface="Tajawal"/>
                <a:cs typeface="Tajawal"/>
                <a:sym typeface="Tajawal"/>
              </a:defRPr>
            </a:lvl6pPr>
            <a:lvl7pPr lvl="6" algn="ctr">
              <a:spcBef>
                <a:spcPts val="0"/>
              </a:spcBef>
              <a:spcAft>
                <a:spcPts val="0"/>
              </a:spcAft>
              <a:buSzPts val="3600"/>
              <a:buFont typeface="Tajawal"/>
              <a:buNone/>
              <a:defRPr sz="3600">
                <a:latin typeface="Tajawal"/>
                <a:ea typeface="Tajawal"/>
                <a:cs typeface="Tajawal"/>
                <a:sym typeface="Tajawal"/>
              </a:defRPr>
            </a:lvl7pPr>
            <a:lvl8pPr lvl="7" algn="ctr">
              <a:spcBef>
                <a:spcPts val="0"/>
              </a:spcBef>
              <a:spcAft>
                <a:spcPts val="0"/>
              </a:spcAft>
              <a:buSzPts val="3600"/>
              <a:buFont typeface="Tajawal"/>
              <a:buNone/>
              <a:defRPr sz="3600">
                <a:latin typeface="Tajawal"/>
                <a:ea typeface="Tajawal"/>
                <a:cs typeface="Tajawal"/>
                <a:sym typeface="Tajawal"/>
              </a:defRPr>
            </a:lvl8pPr>
            <a:lvl9pPr lvl="8" algn="ctr">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8" name="Google Shape;18;p4"/>
          <p:cNvSpPr txBox="1">
            <a:spLocks noGrp="1"/>
          </p:cNvSpPr>
          <p:nvPr>
            <p:ph type="title"/>
          </p:nvPr>
        </p:nvSpPr>
        <p:spPr>
          <a:xfrm>
            <a:off x="2079450" y="445025"/>
            <a:ext cx="6707400" cy="627900"/>
          </a:xfrm>
          <a:prstGeom prst="rect">
            <a:avLst/>
          </a:prstGeom>
        </p:spPr>
        <p:txBody>
          <a:bodyPr spcFirstLastPara="1" wrap="square" lIns="91425" tIns="91425" rIns="91425" bIns="91425" anchor="t" anchorCtr="0">
            <a:normAutofit/>
          </a:bodyPr>
          <a:lstStyle>
            <a:lvl1pPr lvl="0" rtl="1">
              <a:spcBef>
                <a:spcPts val="0"/>
              </a:spcBef>
              <a:spcAft>
                <a:spcPts val="0"/>
              </a:spcAft>
              <a:buClr>
                <a:srgbClr val="543198"/>
              </a:buClr>
              <a:buSzPts val="2500"/>
              <a:buNone/>
              <a:defRPr b="1">
                <a:solidFill>
                  <a:srgbClr val="543198"/>
                </a:solidFill>
              </a:defRPr>
            </a:lvl1pPr>
            <a:lvl2pPr lvl="1">
              <a:spcBef>
                <a:spcPts val="0"/>
              </a:spcBef>
              <a:spcAft>
                <a:spcPts val="0"/>
              </a:spcAft>
              <a:buClr>
                <a:srgbClr val="543198"/>
              </a:buClr>
              <a:buSzPts val="2800"/>
              <a:buNone/>
              <a:defRPr b="1">
                <a:solidFill>
                  <a:srgbClr val="543198"/>
                </a:solidFill>
              </a:defRPr>
            </a:lvl2pPr>
            <a:lvl3pPr lvl="2">
              <a:spcBef>
                <a:spcPts val="0"/>
              </a:spcBef>
              <a:spcAft>
                <a:spcPts val="0"/>
              </a:spcAft>
              <a:buClr>
                <a:srgbClr val="543198"/>
              </a:buClr>
              <a:buSzPts val="2800"/>
              <a:buNone/>
              <a:defRPr b="1">
                <a:solidFill>
                  <a:srgbClr val="543198"/>
                </a:solidFill>
              </a:defRPr>
            </a:lvl3pPr>
            <a:lvl4pPr lvl="3">
              <a:spcBef>
                <a:spcPts val="0"/>
              </a:spcBef>
              <a:spcAft>
                <a:spcPts val="0"/>
              </a:spcAft>
              <a:buClr>
                <a:srgbClr val="543198"/>
              </a:buClr>
              <a:buSzPts val="2800"/>
              <a:buNone/>
              <a:defRPr b="1">
                <a:solidFill>
                  <a:srgbClr val="543198"/>
                </a:solidFill>
              </a:defRPr>
            </a:lvl4pPr>
            <a:lvl5pPr lvl="4">
              <a:spcBef>
                <a:spcPts val="0"/>
              </a:spcBef>
              <a:spcAft>
                <a:spcPts val="0"/>
              </a:spcAft>
              <a:buClr>
                <a:srgbClr val="543198"/>
              </a:buClr>
              <a:buSzPts val="2800"/>
              <a:buNone/>
              <a:defRPr b="1">
                <a:solidFill>
                  <a:srgbClr val="543198"/>
                </a:solidFill>
              </a:defRPr>
            </a:lvl5pPr>
            <a:lvl6pPr lvl="5">
              <a:spcBef>
                <a:spcPts val="0"/>
              </a:spcBef>
              <a:spcAft>
                <a:spcPts val="0"/>
              </a:spcAft>
              <a:buClr>
                <a:srgbClr val="543198"/>
              </a:buClr>
              <a:buSzPts val="2800"/>
              <a:buNone/>
              <a:defRPr b="1">
                <a:solidFill>
                  <a:srgbClr val="543198"/>
                </a:solidFill>
              </a:defRPr>
            </a:lvl6pPr>
            <a:lvl7pPr lvl="6">
              <a:spcBef>
                <a:spcPts val="0"/>
              </a:spcBef>
              <a:spcAft>
                <a:spcPts val="0"/>
              </a:spcAft>
              <a:buClr>
                <a:srgbClr val="543198"/>
              </a:buClr>
              <a:buSzPts val="2800"/>
              <a:buNone/>
              <a:defRPr b="1">
                <a:solidFill>
                  <a:srgbClr val="543198"/>
                </a:solidFill>
              </a:defRPr>
            </a:lvl7pPr>
            <a:lvl8pPr lvl="7">
              <a:spcBef>
                <a:spcPts val="0"/>
              </a:spcBef>
              <a:spcAft>
                <a:spcPts val="0"/>
              </a:spcAft>
              <a:buClr>
                <a:srgbClr val="543198"/>
              </a:buClr>
              <a:buSzPts val="2800"/>
              <a:buNone/>
              <a:defRPr b="1">
                <a:solidFill>
                  <a:srgbClr val="543198"/>
                </a:solidFill>
              </a:defRPr>
            </a:lvl8pPr>
            <a:lvl9pPr lvl="8">
              <a:spcBef>
                <a:spcPts val="0"/>
              </a:spcBef>
              <a:spcAft>
                <a:spcPts val="0"/>
              </a:spcAft>
              <a:buClr>
                <a:srgbClr val="543198"/>
              </a:buClr>
              <a:buSzPts val="2800"/>
              <a:buNone/>
              <a:defRPr b="1">
                <a:solidFill>
                  <a:srgbClr val="543198"/>
                </a:solidFill>
              </a:defRPr>
            </a:lvl9pPr>
          </a:lstStyle>
          <a:p>
            <a:endParaRPr dirty="0"/>
          </a:p>
        </p:txBody>
      </p:sp>
      <p:sp>
        <p:nvSpPr>
          <p:cNvPr id="19" name="Google Shape;19;p4"/>
          <p:cNvSpPr txBox="1">
            <a:spLocks noGrp="1"/>
          </p:cNvSpPr>
          <p:nvPr>
            <p:ph type="body" idx="1"/>
          </p:nvPr>
        </p:nvSpPr>
        <p:spPr>
          <a:xfrm>
            <a:off x="2758650" y="1334150"/>
            <a:ext cx="6028200" cy="1757400"/>
          </a:xfrm>
          <a:prstGeom prst="rect">
            <a:avLst/>
          </a:prstGeom>
        </p:spPr>
        <p:txBody>
          <a:bodyPr spcFirstLastPara="1" wrap="square" lIns="91425" tIns="91425" rIns="91425" bIns="91425" anchor="t" anchorCtr="0">
            <a:normAutofit/>
          </a:bodyPr>
          <a:lstStyle>
            <a:lvl1pPr marL="457200" lvl="0" indent="-342900" rtl="1">
              <a:spcBef>
                <a:spcPts val="0"/>
              </a:spcBef>
              <a:spcAft>
                <a:spcPts val="0"/>
              </a:spcAft>
              <a:buClr>
                <a:srgbClr val="424242"/>
              </a:buClr>
              <a:buSzPts val="1800"/>
              <a:buChar char="●"/>
              <a:defRPr>
                <a:solidFill>
                  <a:srgbClr val="424242"/>
                </a:solidFill>
              </a:defRPr>
            </a:lvl1pPr>
            <a:lvl2pPr marL="914400" lvl="1" indent="-317500" rtl="1">
              <a:spcBef>
                <a:spcPts val="0"/>
              </a:spcBef>
              <a:spcAft>
                <a:spcPts val="0"/>
              </a:spcAft>
              <a:buClr>
                <a:srgbClr val="424242"/>
              </a:buClr>
              <a:buSzPts val="1400"/>
              <a:buChar char="○"/>
              <a:defRPr>
                <a:solidFill>
                  <a:srgbClr val="424242"/>
                </a:solidFill>
              </a:defRPr>
            </a:lvl2pPr>
            <a:lvl3pPr marL="1371600" lvl="2" indent="-317500" rtl="1">
              <a:spcBef>
                <a:spcPts val="0"/>
              </a:spcBef>
              <a:spcAft>
                <a:spcPts val="0"/>
              </a:spcAft>
              <a:buClr>
                <a:srgbClr val="424242"/>
              </a:buClr>
              <a:buSzPts val="1400"/>
              <a:buChar char="■"/>
              <a:defRPr>
                <a:solidFill>
                  <a:srgbClr val="424242"/>
                </a:solidFill>
              </a:defRPr>
            </a:lvl3pPr>
            <a:lvl4pPr marL="1828800" lvl="3" indent="-317500" rtl="1">
              <a:spcBef>
                <a:spcPts val="0"/>
              </a:spcBef>
              <a:spcAft>
                <a:spcPts val="0"/>
              </a:spcAft>
              <a:buClr>
                <a:srgbClr val="424242"/>
              </a:buClr>
              <a:buSzPts val="1400"/>
              <a:buChar char="●"/>
              <a:defRPr>
                <a:solidFill>
                  <a:srgbClr val="424242"/>
                </a:solidFill>
              </a:defRPr>
            </a:lvl4pPr>
            <a:lvl5pPr marL="2286000" lvl="4" indent="-317500" rtl="1">
              <a:spcBef>
                <a:spcPts val="0"/>
              </a:spcBef>
              <a:spcAft>
                <a:spcPts val="0"/>
              </a:spcAft>
              <a:buClr>
                <a:srgbClr val="424242"/>
              </a:buClr>
              <a:buSzPts val="1400"/>
              <a:buChar char="○"/>
              <a:defRPr>
                <a:solidFill>
                  <a:srgbClr val="424242"/>
                </a:solidFill>
              </a:defRPr>
            </a:lvl5pPr>
            <a:lvl6pPr marL="2743200" lvl="5" indent="-317500" rtl="1">
              <a:spcBef>
                <a:spcPts val="0"/>
              </a:spcBef>
              <a:spcAft>
                <a:spcPts val="0"/>
              </a:spcAft>
              <a:buClr>
                <a:srgbClr val="424242"/>
              </a:buClr>
              <a:buSzPts val="1400"/>
              <a:buChar char="■"/>
              <a:defRPr>
                <a:solidFill>
                  <a:srgbClr val="424242"/>
                </a:solidFill>
              </a:defRPr>
            </a:lvl6pPr>
            <a:lvl7pPr marL="3200400" lvl="6" indent="-317500" rtl="1">
              <a:spcBef>
                <a:spcPts val="0"/>
              </a:spcBef>
              <a:spcAft>
                <a:spcPts val="0"/>
              </a:spcAft>
              <a:buClr>
                <a:srgbClr val="424242"/>
              </a:buClr>
              <a:buSzPts val="1400"/>
              <a:buChar char="●"/>
              <a:defRPr>
                <a:solidFill>
                  <a:srgbClr val="424242"/>
                </a:solidFill>
              </a:defRPr>
            </a:lvl7pPr>
            <a:lvl8pPr marL="3657600" lvl="7" indent="-317500" rtl="1">
              <a:spcBef>
                <a:spcPts val="0"/>
              </a:spcBef>
              <a:spcAft>
                <a:spcPts val="0"/>
              </a:spcAft>
              <a:buClr>
                <a:srgbClr val="424242"/>
              </a:buClr>
              <a:buSzPts val="1400"/>
              <a:buChar char="○"/>
              <a:defRPr>
                <a:solidFill>
                  <a:srgbClr val="424242"/>
                </a:solidFill>
              </a:defRPr>
            </a:lvl8pPr>
            <a:lvl9pPr marL="4114800" lvl="8" indent="-317500" rtl="1">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5"/>
          <p:cNvSpPr txBox="1">
            <a:spLocks noGrp="1"/>
          </p:cNvSpPr>
          <p:nvPr>
            <p:ph type="title"/>
          </p:nvPr>
        </p:nvSpPr>
        <p:spPr>
          <a:xfrm>
            <a:off x="2079450" y="714175"/>
            <a:ext cx="6707400" cy="777300"/>
          </a:xfrm>
          <a:prstGeom prst="rect">
            <a:avLst/>
          </a:prstGeom>
        </p:spPr>
        <p:txBody>
          <a:bodyPr spcFirstLastPara="1" wrap="square" lIns="91425" tIns="91425" rIns="91425" bIns="91425" anchor="t" anchorCtr="0">
            <a:normAutofit/>
          </a:bodyPr>
          <a:lstStyle>
            <a:lvl1pPr lvl="0" rtl="1">
              <a:spcBef>
                <a:spcPts val="0"/>
              </a:spcBef>
              <a:spcAft>
                <a:spcPts val="0"/>
              </a:spcAft>
              <a:buClr>
                <a:srgbClr val="543198"/>
              </a:buClr>
              <a:buSzPts val="2500"/>
              <a:buNone/>
              <a:defRPr b="1">
                <a:solidFill>
                  <a:srgbClr val="543198"/>
                </a:solidFill>
              </a:defRPr>
            </a:lvl1pPr>
            <a:lvl2pPr lvl="1" rtl="0">
              <a:spcBef>
                <a:spcPts val="0"/>
              </a:spcBef>
              <a:spcAft>
                <a:spcPts val="0"/>
              </a:spcAft>
              <a:buClr>
                <a:srgbClr val="543198"/>
              </a:buClr>
              <a:buSzPts val="2800"/>
              <a:buNone/>
              <a:defRPr b="1">
                <a:solidFill>
                  <a:srgbClr val="543198"/>
                </a:solidFill>
              </a:defRPr>
            </a:lvl2pPr>
            <a:lvl3pPr lvl="2" rtl="0">
              <a:spcBef>
                <a:spcPts val="0"/>
              </a:spcBef>
              <a:spcAft>
                <a:spcPts val="0"/>
              </a:spcAft>
              <a:buClr>
                <a:srgbClr val="543198"/>
              </a:buClr>
              <a:buSzPts val="2800"/>
              <a:buNone/>
              <a:defRPr b="1">
                <a:solidFill>
                  <a:srgbClr val="543198"/>
                </a:solidFill>
              </a:defRPr>
            </a:lvl3pPr>
            <a:lvl4pPr lvl="3" rtl="0">
              <a:spcBef>
                <a:spcPts val="0"/>
              </a:spcBef>
              <a:spcAft>
                <a:spcPts val="0"/>
              </a:spcAft>
              <a:buClr>
                <a:srgbClr val="543198"/>
              </a:buClr>
              <a:buSzPts val="2800"/>
              <a:buNone/>
              <a:defRPr b="1">
                <a:solidFill>
                  <a:srgbClr val="543198"/>
                </a:solidFill>
              </a:defRPr>
            </a:lvl4pPr>
            <a:lvl5pPr lvl="4" rtl="0">
              <a:spcBef>
                <a:spcPts val="0"/>
              </a:spcBef>
              <a:spcAft>
                <a:spcPts val="0"/>
              </a:spcAft>
              <a:buClr>
                <a:srgbClr val="543198"/>
              </a:buClr>
              <a:buSzPts val="2800"/>
              <a:buNone/>
              <a:defRPr b="1">
                <a:solidFill>
                  <a:srgbClr val="543198"/>
                </a:solidFill>
              </a:defRPr>
            </a:lvl5pPr>
            <a:lvl6pPr lvl="5" rtl="0">
              <a:spcBef>
                <a:spcPts val="0"/>
              </a:spcBef>
              <a:spcAft>
                <a:spcPts val="0"/>
              </a:spcAft>
              <a:buClr>
                <a:srgbClr val="543198"/>
              </a:buClr>
              <a:buSzPts val="2800"/>
              <a:buNone/>
              <a:defRPr b="1">
                <a:solidFill>
                  <a:srgbClr val="543198"/>
                </a:solidFill>
              </a:defRPr>
            </a:lvl6pPr>
            <a:lvl7pPr lvl="6" rtl="0">
              <a:spcBef>
                <a:spcPts val="0"/>
              </a:spcBef>
              <a:spcAft>
                <a:spcPts val="0"/>
              </a:spcAft>
              <a:buClr>
                <a:srgbClr val="543198"/>
              </a:buClr>
              <a:buSzPts val="2800"/>
              <a:buNone/>
              <a:defRPr b="1">
                <a:solidFill>
                  <a:srgbClr val="543198"/>
                </a:solidFill>
              </a:defRPr>
            </a:lvl7pPr>
            <a:lvl8pPr lvl="7" rtl="0">
              <a:spcBef>
                <a:spcPts val="0"/>
              </a:spcBef>
              <a:spcAft>
                <a:spcPts val="0"/>
              </a:spcAft>
              <a:buClr>
                <a:srgbClr val="543198"/>
              </a:buClr>
              <a:buSzPts val="2800"/>
              <a:buNone/>
              <a:defRPr b="1">
                <a:solidFill>
                  <a:srgbClr val="543198"/>
                </a:solidFill>
              </a:defRPr>
            </a:lvl8pPr>
            <a:lvl9pPr lvl="8" rtl="0">
              <a:spcBef>
                <a:spcPts val="0"/>
              </a:spcBef>
              <a:spcAft>
                <a:spcPts val="0"/>
              </a:spcAft>
              <a:buClr>
                <a:srgbClr val="543198"/>
              </a:buClr>
              <a:buSzPts val="2800"/>
              <a:buNone/>
              <a:defRPr b="1">
                <a:solidFill>
                  <a:srgbClr val="543198"/>
                </a:solidFill>
              </a:defRPr>
            </a:lvl9pPr>
          </a:lstStyle>
          <a:p>
            <a:endParaRPr/>
          </a:p>
        </p:txBody>
      </p:sp>
      <p:sp>
        <p:nvSpPr>
          <p:cNvPr id="23" name="Google Shape;23;p5"/>
          <p:cNvSpPr txBox="1">
            <a:spLocks noGrp="1"/>
          </p:cNvSpPr>
          <p:nvPr>
            <p:ph type="body" idx="1"/>
          </p:nvPr>
        </p:nvSpPr>
        <p:spPr>
          <a:xfrm>
            <a:off x="2758650" y="1526325"/>
            <a:ext cx="6028200" cy="1757400"/>
          </a:xfrm>
          <a:prstGeom prst="rect">
            <a:avLst/>
          </a:prstGeom>
        </p:spPr>
        <p:txBody>
          <a:bodyPr spcFirstLastPara="1" wrap="square" lIns="91425" tIns="91425" rIns="91425" bIns="91425" anchor="t" anchorCtr="0">
            <a:normAutofit/>
          </a:bodyPr>
          <a:lstStyle>
            <a:lvl1pPr marL="457200" lvl="0" indent="-342900" rtl="1">
              <a:spcBef>
                <a:spcPts val="0"/>
              </a:spcBef>
              <a:spcAft>
                <a:spcPts val="0"/>
              </a:spcAft>
              <a:buClr>
                <a:srgbClr val="424242"/>
              </a:buClr>
              <a:buSzPts val="1800"/>
              <a:buChar char="●"/>
              <a:defRPr>
                <a:solidFill>
                  <a:srgbClr val="424242"/>
                </a:solidFill>
              </a:defRPr>
            </a:lvl1pPr>
            <a:lvl2pPr marL="914400" lvl="1" indent="-317500" rtl="1">
              <a:spcBef>
                <a:spcPts val="0"/>
              </a:spcBef>
              <a:spcAft>
                <a:spcPts val="0"/>
              </a:spcAft>
              <a:buClr>
                <a:srgbClr val="424242"/>
              </a:buClr>
              <a:buSzPts val="1400"/>
              <a:buChar char="○"/>
              <a:defRPr>
                <a:solidFill>
                  <a:srgbClr val="424242"/>
                </a:solidFill>
              </a:defRPr>
            </a:lvl2pPr>
            <a:lvl3pPr marL="1371600" lvl="2" indent="-317500" rtl="1">
              <a:spcBef>
                <a:spcPts val="0"/>
              </a:spcBef>
              <a:spcAft>
                <a:spcPts val="0"/>
              </a:spcAft>
              <a:buClr>
                <a:srgbClr val="424242"/>
              </a:buClr>
              <a:buSzPts val="1400"/>
              <a:buChar char="■"/>
              <a:defRPr>
                <a:solidFill>
                  <a:srgbClr val="424242"/>
                </a:solidFill>
              </a:defRPr>
            </a:lvl3pPr>
            <a:lvl4pPr marL="1828800" lvl="3" indent="-317500" rtl="1">
              <a:spcBef>
                <a:spcPts val="0"/>
              </a:spcBef>
              <a:spcAft>
                <a:spcPts val="0"/>
              </a:spcAft>
              <a:buClr>
                <a:srgbClr val="424242"/>
              </a:buClr>
              <a:buSzPts val="1400"/>
              <a:buChar char="●"/>
              <a:defRPr>
                <a:solidFill>
                  <a:srgbClr val="424242"/>
                </a:solidFill>
              </a:defRPr>
            </a:lvl4pPr>
            <a:lvl5pPr marL="2286000" lvl="4" indent="-317500" rtl="1">
              <a:spcBef>
                <a:spcPts val="0"/>
              </a:spcBef>
              <a:spcAft>
                <a:spcPts val="0"/>
              </a:spcAft>
              <a:buClr>
                <a:srgbClr val="424242"/>
              </a:buClr>
              <a:buSzPts val="1400"/>
              <a:buChar char="○"/>
              <a:defRPr>
                <a:solidFill>
                  <a:srgbClr val="424242"/>
                </a:solidFill>
              </a:defRPr>
            </a:lvl5pPr>
            <a:lvl6pPr marL="2743200" lvl="5" indent="-317500" rtl="1">
              <a:spcBef>
                <a:spcPts val="0"/>
              </a:spcBef>
              <a:spcAft>
                <a:spcPts val="0"/>
              </a:spcAft>
              <a:buClr>
                <a:srgbClr val="424242"/>
              </a:buClr>
              <a:buSzPts val="1400"/>
              <a:buChar char="■"/>
              <a:defRPr>
                <a:solidFill>
                  <a:srgbClr val="424242"/>
                </a:solidFill>
              </a:defRPr>
            </a:lvl6pPr>
            <a:lvl7pPr marL="3200400" lvl="6" indent="-317500" rtl="1">
              <a:spcBef>
                <a:spcPts val="0"/>
              </a:spcBef>
              <a:spcAft>
                <a:spcPts val="0"/>
              </a:spcAft>
              <a:buClr>
                <a:srgbClr val="424242"/>
              </a:buClr>
              <a:buSzPts val="1400"/>
              <a:buChar char="●"/>
              <a:defRPr>
                <a:solidFill>
                  <a:srgbClr val="424242"/>
                </a:solidFill>
              </a:defRPr>
            </a:lvl7pPr>
            <a:lvl8pPr marL="3657600" lvl="7" indent="-317500" rtl="1">
              <a:spcBef>
                <a:spcPts val="0"/>
              </a:spcBef>
              <a:spcAft>
                <a:spcPts val="0"/>
              </a:spcAft>
              <a:buClr>
                <a:srgbClr val="424242"/>
              </a:buClr>
              <a:buSzPts val="1400"/>
              <a:buChar char="○"/>
              <a:defRPr>
                <a:solidFill>
                  <a:srgbClr val="424242"/>
                </a:solidFill>
              </a:defRPr>
            </a:lvl8pPr>
            <a:lvl9pPr marL="4114800" lvl="8" indent="-317500" rtl="1">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282450"/>
            <a:ext cx="8520600" cy="572700"/>
          </a:xfrm>
          <a:prstGeom prst="rect">
            <a:avLst/>
          </a:prstGeom>
        </p:spPr>
        <p:txBody>
          <a:bodyPr spcFirstLastPara="1" wrap="square" lIns="91425" tIns="91425" rIns="91425" bIns="91425" anchor="t" anchorCtr="0">
            <a:normAutofit/>
          </a:bodyPr>
          <a:lstStyle>
            <a:lvl1pPr lvl="0" rtl="1">
              <a:spcBef>
                <a:spcPts val="0"/>
              </a:spcBef>
              <a:spcAft>
                <a:spcPts val="0"/>
              </a:spcAft>
              <a:buSzPts val="2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7" name="Google Shape;27;p6"/>
          <p:cNvPicPr preferRelativeResize="0"/>
          <p:nvPr/>
        </p:nvPicPr>
        <p:blipFill>
          <a:blip r:embed="rId2">
            <a:alphaModFix/>
          </a:blip>
          <a:stretch>
            <a:fillRect/>
          </a:stretch>
        </p:blipFill>
        <p:spPr>
          <a:xfrm>
            <a:off x="7959271" y="4703039"/>
            <a:ext cx="946580" cy="21398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4200"/>
              <a:buNone/>
              <a:defRPr sz="4200"/>
            </a:lvl1pPr>
            <a:lvl2pPr lvl="1" algn="ctr" rtl="1">
              <a:spcBef>
                <a:spcPts val="0"/>
              </a:spcBef>
              <a:spcAft>
                <a:spcPts val="0"/>
              </a:spcAft>
              <a:buSzPts val="4200"/>
              <a:buNone/>
              <a:defRPr sz="4200"/>
            </a:lvl2pPr>
            <a:lvl3pPr lvl="2" algn="ctr" rtl="1">
              <a:spcBef>
                <a:spcPts val="0"/>
              </a:spcBef>
              <a:spcAft>
                <a:spcPts val="0"/>
              </a:spcAft>
              <a:buSzPts val="4200"/>
              <a:buNone/>
              <a:defRPr sz="4200"/>
            </a:lvl3pPr>
            <a:lvl4pPr lvl="3" algn="ctr" rtl="1">
              <a:spcBef>
                <a:spcPts val="0"/>
              </a:spcBef>
              <a:spcAft>
                <a:spcPts val="0"/>
              </a:spcAft>
              <a:buSzPts val="4200"/>
              <a:buNone/>
              <a:defRPr sz="4200"/>
            </a:lvl4pPr>
            <a:lvl5pPr lvl="4" algn="ctr" rtl="1">
              <a:spcBef>
                <a:spcPts val="0"/>
              </a:spcBef>
              <a:spcAft>
                <a:spcPts val="0"/>
              </a:spcAft>
              <a:buSzPts val="4200"/>
              <a:buNone/>
              <a:defRPr sz="4200"/>
            </a:lvl5pPr>
            <a:lvl6pPr lvl="5" algn="ctr" rtl="1">
              <a:spcBef>
                <a:spcPts val="0"/>
              </a:spcBef>
              <a:spcAft>
                <a:spcPts val="0"/>
              </a:spcAft>
              <a:buSzPts val="4200"/>
              <a:buNone/>
              <a:defRPr sz="4200"/>
            </a:lvl6pPr>
            <a:lvl7pPr lvl="6" algn="ctr" rtl="1">
              <a:spcBef>
                <a:spcPts val="0"/>
              </a:spcBef>
              <a:spcAft>
                <a:spcPts val="0"/>
              </a:spcAft>
              <a:buSzPts val="4200"/>
              <a:buNone/>
              <a:defRPr sz="4200"/>
            </a:lvl7pPr>
            <a:lvl8pPr lvl="7" algn="ctr" rtl="1">
              <a:spcBef>
                <a:spcPts val="0"/>
              </a:spcBef>
              <a:spcAft>
                <a:spcPts val="0"/>
              </a:spcAft>
              <a:buSzPts val="4200"/>
              <a:buNone/>
              <a:defRPr sz="4200"/>
            </a:lvl8pPr>
            <a:lvl9pPr lvl="8" algn="ctr" rtl="1">
              <a:spcBef>
                <a:spcPts val="0"/>
              </a:spcBef>
              <a:spcAft>
                <a:spcPts val="0"/>
              </a:spcAft>
              <a:buSzPts val="4200"/>
              <a:buNone/>
              <a:defRPr sz="4200"/>
            </a:lvl9pPr>
          </a:lstStyle>
          <a:p>
            <a:endParaRPr/>
          </a:p>
        </p:txBody>
      </p:sp>
      <p:sp>
        <p:nvSpPr>
          <p:cNvPr id="37" name="Google Shape;3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8" name="Google Shape;38;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9" name="Google Shape;3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12000"/>
              <a:buNone/>
              <a:defRPr sz="12000"/>
            </a:lvl1pPr>
            <a:lvl2pPr lvl="1" algn="ctr" rtl="1">
              <a:spcBef>
                <a:spcPts val="0"/>
              </a:spcBef>
              <a:spcAft>
                <a:spcPts val="0"/>
              </a:spcAft>
              <a:buSzPts val="12000"/>
              <a:buNone/>
              <a:defRPr sz="12000"/>
            </a:lvl2pPr>
            <a:lvl3pPr lvl="2" algn="ctr" rtl="1">
              <a:spcBef>
                <a:spcPts val="0"/>
              </a:spcBef>
              <a:spcAft>
                <a:spcPts val="0"/>
              </a:spcAft>
              <a:buSzPts val="12000"/>
              <a:buNone/>
              <a:defRPr sz="12000"/>
            </a:lvl3pPr>
            <a:lvl4pPr lvl="3" algn="ctr" rtl="1">
              <a:spcBef>
                <a:spcPts val="0"/>
              </a:spcBef>
              <a:spcAft>
                <a:spcPts val="0"/>
              </a:spcAft>
              <a:buSzPts val="12000"/>
              <a:buNone/>
              <a:defRPr sz="12000"/>
            </a:lvl4pPr>
            <a:lvl5pPr lvl="4" algn="ctr" rtl="1">
              <a:spcBef>
                <a:spcPts val="0"/>
              </a:spcBef>
              <a:spcAft>
                <a:spcPts val="0"/>
              </a:spcAft>
              <a:buSzPts val="12000"/>
              <a:buNone/>
              <a:defRPr sz="12000"/>
            </a:lvl5pPr>
            <a:lvl6pPr lvl="5" algn="ctr" rtl="1">
              <a:spcBef>
                <a:spcPts val="0"/>
              </a:spcBef>
              <a:spcAft>
                <a:spcPts val="0"/>
              </a:spcAft>
              <a:buSzPts val="12000"/>
              <a:buNone/>
              <a:defRPr sz="12000"/>
            </a:lvl6pPr>
            <a:lvl7pPr lvl="6" algn="ctr" rtl="1">
              <a:spcBef>
                <a:spcPts val="0"/>
              </a:spcBef>
              <a:spcAft>
                <a:spcPts val="0"/>
              </a:spcAft>
              <a:buSzPts val="12000"/>
              <a:buNone/>
              <a:defRPr sz="12000"/>
            </a:lvl7pPr>
            <a:lvl8pPr lvl="7" algn="ctr" rtl="1">
              <a:spcBef>
                <a:spcPts val="0"/>
              </a:spcBef>
              <a:spcAft>
                <a:spcPts val="0"/>
              </a:spcAft>
              <a:buSzPts val="12000"/>
              <a:buNone/>
              <a:defRPr sz="12000"/>
            </a:lvl8pPr>
            <a:lvl9pPr lvl="8" algn="ctr" rtl="1">
              <a:spcBef>
                <a:spcPts val="0"/>
              </a:spcBef>
              <a:spcAft>
                <a:spcPts val="0"/>
              </a:spcAft>
              <a:buSzPts val="12000"/>
              <a:buNone/>
              <a:defRPr sz="12000"/>
            </a:lvl9pPr>
          </a:lstStyle>
          <a:p>
            <a:r>
              <a:t>xx%</a:t>
            </a:r>
          </a:p>
        </p:txBody>
      </p:sp>
      <p:pic>
        <p:nvPicPr>
          <p:cNvPr id="43" name="Google Shape;43;p11"/>
          <p:cNvPicPr preferRelativeResize="0"/>
          <p:nvPr/>
        </p:nvPicPr>
        <p:blipFill>
          <a:blip r:embed="rId3">
            <a:alphaModFix/>
          </a:blip>
          <a:stretch>
            <a:fillRect/>
          </a:stretch>
        </p:blipFill>
        <p:spPr>
          <a:xfrm>
            <a:off x="7527371" y="317427"/>
            <a:ext cx="1356656" cy="2658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lvl="0" rtl="1">
              <a:spcBef>
                <a:spcPts val="0"/>
              </a:spcBef>
              <a:spcAft>
                <a:spcPts val="0"/>
              </a:spcAft>
              <a:buClr>
                <a:srgbClr val="4F29B7"/>
              </a:buClr>
              <a:buSzPts val="2500"/>
              <a:buFont typeface="IBM Plex Sans Arabic Medium"/>
              <a:buNone/>
              <a:defRPr sz="2500">
                <a:solidFill>
                  <a:srgbClr val="4F29B7"/>
                </a:solidFill>
                <a:latin typeface="IBM Plex Sans Arabic Medium"/>
                <a:ea typeface="IBM Plex Sans Arabic Medium"/>
                <a:cs typeface="IBM Plex Sans Arabic Medium"/>
                <a:sym typeface="IBM Plex Sans Arabic Medium"/>
              </a:defRPr>
            </a:lvl1pPr>
            <a:lvl2pPr lvl="1"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2pPr>
            <a:lvl3pPr lvl="2"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3pPr>
            <a:lvl4pPr lvl="3"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4pPr>
            <a:lvl5pPr lvl="4"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5pPr>
            <a:lvl6pPr lvl="5"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6pPr>
            <a:lvl7pPr lvl="6"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7pPr>
            <a:lvl8pPr lvl="7"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8pPr>
            <a:lvl9pPr lvl="8"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1">
              <a:lnSpc>
                <a:spcPct val="115000"/>
              </a:lnSpc>
              <a:spcBef>
                <a:spcPts val="0"/>
              </a:spcBef>
              <a:spcAft>
                <a:spcPts val="0"/>
              </a:spcAft>
              <a:buClr>
                <a:srgbClr val="252526"/>
              </a:buClr>
              <a:buSzPts val="1800"/>
              <a:buFont typeface="IBM Plex Sans Arabic"/>
              <a:buChar char="●"/>
              <a:defRPr sz="1800">
                <a:solidFill>
                  <a:srgbClr val="252526"/>
                </a:solidFill>
                <a:latin typeface="IBM Plex Sans Arabic"/>
                <a:ea typeface="IBM Plex Sans Arabic"/>
                <a:cs typeface="IBM Plex Sans Arabic"/>
                <a:sym typeface="IBM Plex Sans Arabic"/>
              </a:defRPr>
            </a:lvl1pPr>
            <a:lvl2pPr marL="914400" lvl="1"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2pPr>
            <a:lvl3pPr marL="1371600" lvl="2"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3pPr>
            <a:lvl4pPr marL="1828800" lvl="3"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4pPr>
            <a:lvl5pPr marL="2286000" lvl="4"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5pPr>
            <a:lvl6pPr marL="2743200" lvl="5"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6pPr>
            <a:lvl7pPr marL="3200400" lvl="6"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7pPr>
            <a:lvl8pPr marL="3657600" lvl="7"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8pPr>
            <a:lvl9pPr marL="4114800" lvl="8"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8C08F5A3-CFF5-D176-4DE9-155BA882C01F}"/>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8030954" y="17475"/>
            <a:ext cx="1266092" cy="1007909"/>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5" r:id="rId6"/>
    <p:sldLayoutId id="2147483657" r:id="rId7"/>
    <p:sldLayoutId id="214748365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www.pxfuel.com/en/free-photo-jrzhd/download" TargetMode="External"/><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pixabay.com/en/puzzle-cooperation-together-1020425/" TargetMode="External"/><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1"/><Relationship Id="rId2" Type="http://schemas.openxmlformats.org/officeDocument/2006/relationships/hyperlink" Target="https://drive.google.com/file/d/15wEXaRgyMmpoVlKDTe8jAmCe3oggvM1Y/view?usp=drive_link" TargetMode="External"/><Relationship Id="rId1" Type="http://schemas.openxmlformats.org/officeDocument/2006/relationships/slideLayout" Target="../slideLayouts/slideLayout3.xml"/><Relationship Id="rId4" Type="http://schemas.openxmlformats.org/officeDocument/2006/relationships/hyperlink" Target="https://www.rawpixel.com/search/programming"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notesSlide" Target="../notesSlides/notesSlide5.xml"/><Relationship Id="rId16" Type="http://schemas.openxmlformats.org/officeDocument/2006/relationships/image" Target="../media/image34.png"/><Relationship Id="rId1" Type="http://schemas.openxmlformats.org/officeDocument/2006/relationships/slideLayout" Target="../slideLayouts/slideLayout8.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png"/><Relationship Id="rId19" Type="http://schemas.openxmlformats.org/officeDocument/2006/relationships/image" Target="../media/image37.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5435226" y="867625"/>
            <a:ext cx="2974200" cy="2262000"/>
          </a:xfrm>
          <a:prstGeom prst="rect">
            <a:avLst/>
          </a:prstGeom>
        </p:spPr>
        <p:txBody>
          <a:bodyPr spcFirstLastPara="1" wrap="square" lIns="91425" tIns="91425" rIns="91425" bIns="91425" anchor="b" anchorCtr="0">
            <a:normAutofit/>
          </a:bodyPr>
          <a:lstStyle/>
          <a:p>
            <a:pPr marL="0" lvl="0" indent="0" algn="r" rtl="0">
              <a:spcBef>
                <a:spcPts val="0"/>
              </a:spcBef>
              <a:spcAft>
                <a:spcPts val="0"/>
              </a:spcAft>
              <a:buNone/>
            </a:pPr>
            <a:r>
              <a:rPr lang="en"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51" name="Google Shape;51;p13"/>
          <p:cNvSpPr txBox="1">
            <a:spLocks noGrp="1"/>
          </p:cNvSpPr>
          <p:nvPr>
            <p:ph type="body" idx="4294967295"/>
          </p:nvPr>
        </p:nvSpPr>
        <p:spPr>
          <a:xfrm>
            <a:off x="3902100" y="3253272"/>
            <a:ext cx="4447500" cy="1973484"/>
          </a:xfrm>
          <a:prstGeom prst="rect">
            <a:avLst/>
          </a:prstGeom>
        </p:spPr>
        <p:txBody>
          <a:bodyPr spcFirstLastPara="1" wrap="square" lIns="91425" tIns="91425" rIns="91425" bIns="91425" anchor="t" anchorCtr="0">
            <a:noAutofit/>
          </a:bodyPr>
          <a:lstStyle/>
          <a:p>
            <a:pPr marL="0" lvl="0" indent="0" algn="r" rtl="0">
              <a:spcBef>
                <a:spcPts val="0"/>
              </a:spcBef>
              <a:spcAft>
                <a:spcPts val="1200"/>
              </a:spcAft>
              <a:buNone/>
            </a:pPr>
            <a:r>
              <a:rPr lang="en-US" sz="3600" dirty="0">
                <a:solidFill>
                  <a:schemeClr val="lt1"/>
                </a:solidFill>
                <a:latin typeface="IBM Plex Sans Arabic Medium"/>
                <a:ea typeface="IBM Plex Sans Arabic Medium"/>
                <a:cs typeface="IBM Plex Sans Arabic Medium"/>
                <a:sym typeface="IBM Plex Sans Arabic Medium"/>
              </a:rPr>
              <a:t>Linear Algebra for Machine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1845E-322C-0341-D722-D8D1E675E97E}"/>
              </a:ext>
            </a:extLst>
          </p:cNvPr>
          <p:cNvSpPr>
            <a:spLocks noGrp="1"/>
          </p:cNvSpPr>
          <p:nvPr>
            <p:ph type="ctrTitle"/>
          </p:nvPr>
        </p:nvSpPr>
        <p:spPr/>
        <p:txBody>
          <a:bodyPr/>
          <a:lstStyle/>
          <a:p>
            <a:r>
              <a:rPr lang="en-US" sz="4000" dirty="0">
                <a:effectLst/>
                <a:latin typeface="Calibri" panose="020F0502020204030204" pitchFamily="34" charset="0"/>
                <a:ea typeface="Calibri" panose="020F0502020204030204" pitchFamily="34" charset="0"/>
                <a:cs typeface="Times New Roman" panose="02020603050405020304" pitchFamily="18" charset="0"/>
              </a:rPr>
              <a:t>Introduction to </a:t>
            </a:r>
            <a:r>
              <a:rPr lang="en-US" sz="4000" dirty="0">
                <a:latin typeface="Calibri" panose="020F0502020204030204" pitchFamily="34" charset="0"/>
                <a:ea typeface="Calibri" panose="020F0502020204030204" pitchFamily="34" charset="0"/>
                <a:cs typeface="Times New Roman" panose="02020603050405020304" pitchFamily="18" charset="0"/>
              </a:rPr>
              <a:t>Linear Algebra</a:t>
            </a:r>
            <a:br>
              <a:rPr lang="en-US" sz="4000" dirty="0">
                <a:effectLst/>
                <a:latin typeface="Calibri" panose="020F0502020204030204" pitchFamily="34" charset="0"/>
                <a:ea typeface="Calibri" panose="020F0502020204030204" pitchFamily="34" charset="0"/>
                <a:cs typeface="Times New Roman" panose="02020603050405020304" pitchFamily="18" charset="0"/>
              </a:rPr>
            </a:b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Subtitle 2">
            <a:extLst>
              <a:ext uri="{FF2B5EF4-FFF2-40B4-BE49-F238E27FC236}">
                <a16:creationId xmlns:a16="http://schemas.microsoft.com/office/drawing/2014/main" id="{C1477DBD-A1FD-E741-A79E-A775AD5158F8}"/>
              </a:ext>
            </a:extLst>
          </p:cNvPr>
          <p:cNvSpPr>
            <a:spLocks noGrp="1"/>
          </p:cNvSpPr>
          <p:nvPr>
            <p:ph type="subTitle" idx="1"/>
          </p:nvPr>
        </p:nvSpPr>
        <p:spPr/>
        <p:txBody>
          <a:bodyPr/>
          <a:lstStyle/>
          <a:p>
            <a:r>
              <a:rPr lang="en-US" sz="2800" dirty="0">
                <a:effectLst/>
                <a:latin typeface="Calibri" panose="020F0502020204030204" pitchFamily="34" charset="0"/>
                <a:ea typeface="Calibri" panose="020F0502020204030204" pitchFamily="34" charset="0"/>
                <a:cs typeface="Times New Roman" panose="02020603050405020304" pitchFamily="18" charset="0"/>
              </a:rPr>
              <a:t>Fundamentals and Applications</a:t>
            </a:r>
            <a:endParaRPr lang="en-US" dirty="0"/>
          </a:p>
        </p:txBody>
      </p:sp>
      <p:sp>
        <p:nvSpPr>
          <p:cNvPr id="5" name="TextBox 4">
            <a:extLst>
              <a:ext uri="{FF2B5EF4-FFF2-40B4-BE49-F238E27FC236}">
                <a16:creationId xmlns:a16="http://schemas.microsoft.com/office/drawing/2014/main" id="{AB056EFB-F281-DC54-0824-BF87C198BB1B}"/>
              </a:ext>
            </a:extLst>
          </p:cNvPr>
          <p:cNvSpPr txBox="1"/>
          <p:nvPr/>
        </p:nvSpPr>
        <p:spPr>
          <a:xfrm>
            <a:off x="3527778" y="4245036"/>
            <a:ext cx="4572000" cy="307777"/>
          </a:xfrm>
          <a:prstGeom prst="rect">
            <a:avLst/>
          </a:prstGeom>
          <a:noFill/>
        </p:spPr>
        <p:txBody>
          <a:bodyPr wrap="square">
            <a:spAutoFit/>
          </a:bodyPr>
          <a:lstStyle/>
          <a:p>
            <a:r>
              <a:rPr lang="en-US" sz="1400" b="1" dirty="0">
                <a:effectLst/>
                <a:latin typeface="Calibri" panose="020F0502020204030204" pitchFamily="34" charset="0"/>
                <a:ea typeface="Calibri" panose="020F0502020204030204" pitchFamily="34" charset="0"/>
                <a:cs typeface="Times New Roman" panose="02020603050405020304" pitchFamily="18" charset="0"/>
              </a:rPr>
              <a:t>By: </a:t>
            </a:r>
            <a:r>
              <a:rPr lang="en-US" b="1" dirty="0">
                <a:latin typeface="Calibri" panose="020F0502020204030204" pitchFamily="34" charset="0"/>
                <a:ea typeface="Calibri" panose="020F0502020204030204" pitchFamily="34" charset="0"/>
                <a:cs typeface="Times New Roman" panose="02020603050405020304" pitchFamily="18" charset="0"/>
              </a:rPr>
              <a:t>Dr. Afshan Hashmi</a:t>
            </a:r>
            <a:endParaRPr lang="en-US" b="1" dirty="0"/>
          </a:p>
        </p:txBody>
      </p:sp>
    </p:spTree>
    <p:extLst>
      <p:ext uri="{BB962C8B-B14F-4D97-AF65-F5344CB8AC3E}">
        <p14:creationId xmlns:p14="http://schemas.microsoft.com/office/powerpoint/2010/main" val="3866406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031721A-243E-F9AC-F3FB-349AADC89865}"/>
              </a:ext>
            </a:extLst>
          </p:cNvPr>
          <p:cNvSpPr txBox="1"/>
          <p:nvPr/>
        </p:nvSpPr>
        <p:spPr>
          <a:xfrm>
            <a:off x="648586" y="1180214"/>
            <a:ext cx="7931888" cy="4167808"/>
          </a:xfrm>
          <a:prstGeom prst="rect">
            <a:avLst/>
          </a:prstGeom>
          <a:noFill/>
        </p:spPr>
        <p:txBody>
          <a:bodyPr wrap="square" rtlCol="0">
            <a:spAutoFit/>
          </a:bodyPr>
          <a:lstStyle/>
          <a:p>
            <a:pPr marL="0" marR="0" algn="just">
              <a:lnSpc>
                <a:spcPct val="125000"/>
              </a:lnSpc>
              <a:spcBef>
                <a:spcPts val="1000"/>
              </a:spcBef>
            </a:pPr>
            <a:r>
              <a:rPr lang="en-US" sz="2400" b="1" dirty="0">
                <a:solidFill>
                  <a:srgbClr val="7030A0"/>
                </a:solidFill>
                <a:effectLst/>
                <a:latin typeface="+mn-lt"/>
                <a:ea typeface="Proxima Nova"/>
                <a:cs typeface="Proxima Nova"/>
              </a:rPr>
              <a:t>Course Objectives:</a:t>
            </a:r>
          </a:p>
          <a:p>
            <a:pPr marR="0" lvl="0" algn="just">
              <a:lnSpc>
                <a:spcPct val="125000"/>
              </a:lnSpc>
              <a:spcBef>
                <a:spcPts val="1000"/>
              </a:spcBef>
            </a:pPr>
            <a:r>
              <a:rPr lang="en-US" sz="1800" dirty="0">
                <a:effectLst/>
                <a:latin typeface="+mn-lt"/>
                <a:ea typeface="Proxima Nova"/>
                <a:cs typeface="Proxima Nova"/>
              </a:rPr>
              <a:t>Recall and explain the relationship between machine learning concepts and mathematical constructs like vectors and matrices.</a:t>
            </a:r>
          </a:p>
          <a:p>
            <a:pPr marL="0" marR="0" algn="just">
              <a:lnSpc>
                <a:spcPct val="125000"/>
              </a:lnSpc>
              <a:spcBef>
                <a:spcPts val="1000"/>
              </a:spcBef>
            </a:pPr>
            <a:r>
              <a:rPr lang="en-US" sz="2400" b="1" dirty="0">
                <a:solidFill>
                  <a:srgbClr val="7030A0"/>
                </a:solidFill>
                <a:effectLst/>
                <a:latin typeface="+mn-lt"/>
                <a:ea typeface="Proxima Nova"/>
                <a:cs typeface="Proxima Nova"/>
              </a:rPr>
              <a:t>Course Learning Outcomes:</a:t>
            </a:r>
            <a:endParaRPr lang="en-US" sz="2400" dirty="0">
              <a:solidFill>
                <a:srgbClr val="7030A0"/>
              </a:solidFill>
              <a:effectLst/>
              <a:latin typeface="+mn-lt"/>
              <a:ea typeface="Proxima Nova"/>
              <a:cs typeface="Proxima Nova"/>
            </a:endParaRPr>
          </a:p>
          <a:p>
            <a:pPr marL="342900" marR="0" lvl="0" indent="-342900" algn="just">
              <a:lnSpc>
                <a:spcPct val="125000"/>
              </a:lnSpc>
              <a:spcBef>
                <a:spcPts val="1000"/>
              </a:spcBef>
              <a:buFont typeface="+mj-lt"/>
              <a:buAutoNum type="arabicPeriod"/>
            </a:pPr>
            <a:r>
              <a:rPr lang="en-US" sz="1800" dirty="0">
                <a:effectLst/>
                <a:latin typeface="Times New Roman" panose="02020603050405020304" pitchFamily="18" charset="0"/>
                <a:ea typeface="Proxima Nova"/>
                <a:cs typeface="Proxima Nova"/>
              </a:rPr>
              <a:t>Recognize that variations in the model parameters are vectors on the response surface - that vectors are a generic concept not limited to a physical real space</a:t>
            </a:r>
            <a:endParaRPr lang="en-US" sz="1800" dirty="0">
              <a:effectLst/>
              <a:latin typeface="Proxima Nova"/>
              <a:ea typeface="Proxima Nova"/>
              <a:cs typeface="Proxima Nova"/>
            </a:endParaRPr>
          </a:p>
          <a:p>
            <a:pPr marL="342900" marR="0" lvl="0" indent="-342900" algn="just">
              <a:lnSpc>
                <a:spcPct val="125000"/>
              </a:lnSpc>
              <a:buFont typeface="+mj-lt"/>
              <a:buAutoNum type="arabicPeriod"/>
            </a:pPr>
            <a:r>
              <a:rPr lang="en-US" sz="1800" dirty="0">
                <a:effectLst/>
                <a:latin typeface="Times New Roman" panose="02020603050405020304" pitchFamily="18" charset="0"/>
                <a:ea typeface="Proxima Nova"/>
                <a:cs typeface="Proxima Nova"/>
              </a:rPr>
              <a:t>Use substitution / elimination to solve a fairly easy linear algebra problem</a:t>
            </a:r>
            <a:endParaRPr lang="en-US" sz="1800" dirty="0">
              <a:effectLst/>
              <a:latin typeface="Proxima Nova"/>
              <a:ea typeface="Proxima Nova"/>
              <a:cs typeface="Proxima Nova"/>
            </a:endParaRPr>
          </a:p>
          <a:p>
            <a:pPr marL="342900" marR="0" lvl="0" indent="-342900" algn="just">
              <a:lnSpc>
                <a:spcPct val="125000"/>
              </a:lnSpc>
              <a:buFont typeface="+mj-lt"/>
              <a:buAutoNum type="arabicPeriod"/>
            </a:pPr>
            <a:r>
              <a:rPr lang="en-US" sz="1800" dirty="0">
                <a:effectLst/>
                <a:latin typeface="Times New Roman" panose="02020603050405020304" pitchFamily="18" charset="0"/>
                <a:ea typeface="Proxima Nova"/>
                <a:cs typeface="Proxima Nova"/>
              </a:rPr>
              <a:t>Understand how to add vectors and multiply by a scalar number</a:t>
            </a:r>
            <a:endParaRPr lang="en-US" sz="1800" dirty="0">
              <a:effectLst/>
              <a:latin typeface="Proxima Nova"/>
              <a:ea typeface="Proxima Nova"/>
              <a:cs typeface="Proxima Nova"/>
            </a:endParaRPr>
          </a:p>
          <a:p>
            <a:pPr marR="0" lvl="0" algn="just">
              <a:lnSpc>
                <a:spcPct val="125000"/>
              </a:lnSpc>
              <a:spcBef>
                <a:spcPts val="1000"/>
              </a:spcBef>
            </a:pPr>
            <a:endParaRPr lang="en-US" sz="1800" dirty="0">
              <a:effectLst/>
              <a:latin typeface="Proxima Nova"/>
              <a:ea typeface="Proxima Nova"/>
              <a:cs typeface="Proxima Nova"/>
            </a:endParaRPr>
          </a:p>
          <a:p>
            <a:endParaRPr lang="en-US" dirty="0"/>
          </a:p>
        </p:txBody>
      </p:sp>
    </p:spTree>
    <p:extLst>
      <p:ext uri="{BB962C8B-B14F-4D97-AF65-F5344CB8AC3E}">
        <p14:creationId xmlns:p14="http://schemas.microsoft.com/office/powerpoint/2010/main" val="2084838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6C38EE6-766E-C750-77E2-F6AC8F39E958}"/>
              </a:ext>
            </a:extLst>
          </p:cNvPr>
          <p:cNvSpPr>
            <a:spLocks noGrp="1"/>
          </p:cNvSpPr>
          <p:nvPr>
            <p:ph type="title"/>
          </p:nvPr>
        </p:nvSpPr>
        <p:spPr>
          <a:xfrm>
            <a:off x="457200" y="445024"/>
            <a:ext cx="8329650" cy="969105"/>
          </a:xfrm>
        </p:spPr>
        <p:txBody>
          <a:bodyPr>
            <a:normAutofit/>
          </a:bodyPr>
          <a:lstStyle/>
          <a:p>
            <a:r>
              <a:rPr lang="en-US" dirty="0"/>
              <a:t>Recognizing Variations in Model Parameters as Vectors on the Response Surface</a:t>
            </a:r>
          </a:p>
        </p:txBody>
      </p:sp>
      <p:sp>
        <p:nvSpPr>
          <p:cNvPr id="6" name="TextBox 5">
            <a:extLst>
              <a:ext uri="{FF2B5EF4-FFF2-40B4-BE49-F238E27FC236}">
                <a16:creationId xmlns:a16="http://schemas.microsoft.com/office/drawing/2014/main" id="{61897766-4CAD-85A1-C4BC-2584D7C4EBB8}"/>
              </a:ext>
            </a:extLst>
          </p:cNvPr>
          <p:cNvSpPr txBox="1"/>
          <p:nvPr/>
        </p:nvSpPr>
        <p:spPr>
          <a:xfrm>
            <a:off x="457201" y="1986974"/>
            <a:ext cx="8329649" cy="1292662"/>
          </a:xfrm>
          <a:prstGeom prst="rect">
            <a:avLst/>
          </a:prstGeom>
          <a:noFill/>
        </p:spPr>
        <p:txBody>
          <a:bodyPr wrap="square" rtlCol="0">
            <a:spAutoFit/>
          </a:bodyPr>
          <a:lstStyle/>
          <a:p>
            <a:r>
              <a:rPr lang="en-US" sz="1600" b="1" dirty="0"/>
              <a:t>Learning Objectives</a:t>
            </a:r>
          </a:p>
          <a:p>
            <a:pPr marL="342900" indent="-342900">
              <a:buFont typeface="+mj-lt"/>
              <a:buAutoNum type="arabicPeriod"/>
            </a:pPr>
            <a:r>
              <a:rPr lang="en-US" sz="1600" dirty="0"/>
              <a:t>Understand the concept of a response surface.</a:t>
            </a:r>
          </a:p>
          <a:p>
            <a:pPr marL="342900" indent="-342900">
              <a:buFont typeface="+mj-lt"/>
              <a:buAutoNum type="arabicPeriod"/>
            </a:pPr>
            <a:r>
              <a:rPr lang="en-US" sz="1600" dirty="0"/>
              <a:t>Recognize how changes in model parameters form vectors in parameter space.</a:t>
            </a:r>
          </a:p>
          <a:p>
            <a:pPr marL="342900" indent="-342900">
              <a:buFont typeface="+mj-lt"/>
              <a:buAutoNum type="arabicPeriod"/>
            </a:pPr>
            <a:r>
              <a:rPr lang="en-US" sz="1600" dirty="0"/>
              <a:t>Learn that vectors are an abstract concept beyond physical space.</a:t>
            </a:r>
          </a:p>
          <a:p>
            <a:endParaRPr lang="en-US" dirty="0"/>
          </a:p>
        </p:txBody>
      </p:sp>
    </p:spTree>
    <p:extLst>
      <p:ext uri="{BB962C8B-B14F-4D97-AF65-F5344CB8AC3E}">
        <p14:creationId xmlns:p14="http://schemas.microsoft.com/office/powerpoint/2010/main" val="3097841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4"/>
        <p:cNvGrpSpPr/>
        <p:nvPr/>
      </p:nvGrpSpPr>
      <p:grpSpPr>
        <a:xfrm>
          <a:off x="0" y="0"/>
          <a:ext cx="0" cy="0"/>
          <a:chOff x="0" y="0"/>
          <a:chExt cx="0" cy="0"/>
        </a:xfrm>
      </p:grpSpPr>
      <p:pic>
        <p:nvPicPr>
          <p:cNvPr id="85" name="Google Shape;85;p16"/>
          <p:cNvPicPr preferRelativeResize="0"/>
          <p:nvPr/>
        </p:nvPicPr>
        <p:blipFill>
          <a:blip r:embed="rId3">
            <a:alphaModFix amt="60000"/>
          </a:blip>
          <a:stretch>
            <a:fillRect/>
          </a:stretch>
        </p:blipFill>
        <p:spPr>
          <a:xfrm>
            <a:off x="3544650" y="177900"/>
            <a:ext cx="5408998" cy="2939569"/>
          </a:xfrm>
          <a:prstGeom prst="rect">
            <a:avLst/>
          </a:prstGeom>
          <a:noFill/>
          <a:ln>
            <a:noFill/>
          </a:ln>
        </p:spPr>
      </p:pic>
      <p:sp>
        <p:nvSpPr>
          <p:cNvPr id="4" name="Title 3">
            <a:extLst>
              <a:ext uri="{FF2B5EF4-FFF2-40B4-BE49-F238E27FC236}">
                <a16:creationId xmlns:a16="http://schemas.microsoft.com/office/drawing/2014/main" id="{6D0BC45C-E1B5-2E59-CF69-C2A4D6B7A9A1}"/>
              </a:ext>
            </a:extLst>
          </p:cNvPr>
          <p:cNvSpPr>
            <a:spLocks noGrp="1"/>
          </p:cNvSpPr>
          <p:nvPr>
            <p:ph type="title"/>
          </p:nvPr>
        </p:nvSpPr>
        <p:spPr>
          <a:xfrm>
            <a:off x="437016" y="60942"/>
            <a:ext cx="6707400" cy="494528"/>
          </a:xfrm>
        </p:spPr>
        <p:txBody>
          <a:bodyPr>
            <a:noAutofit/>
          </a:bodyPr>
          <a:lstStyle/>
          <a:p>
            <a:r>
              <a:rPr lang="en-US" sz="2000" dirty="0"/>
              <a:t>What is a Response Surface?</a:t>
            </a:r>
          </a:p>
        </p:txBody>
      </p:sp>
      <p:sp>
        <p:nvSpPr>
          <p:cNvPr id="6" name="TextBox 5">
            <a:extLst>
              <a:ext uri="{FF2B5EF4-FFF2-40B4-BE49-F238E27FC236}">
                <a16:creationId xmlns:a16="http://schemas.microsoft.com/office/drawing/2014/main" id="{0FD2CC64-D9F3-B5D1-2850-84EBCF05D4F0}"/>
              </a:ext>
            </a:extLst>
          </p:cNvPr>
          <p:cNvSpPr txBox="1"/>
          <p:nvPr/>
        </p:nvSpPr>
        <p:spPr>
          <a:xfrm>
            <a:off x="293882" y="555470"/>
            <a:ext cx="7499783" cy="4038606"/>
          </a:xfrm>
          <a:prstGeom prst="rect">
            <a:avLst/>
          </a:prstGeom>
          <a:noFill/>
        </p:spPr>
        <p:txBody>
          <a:bodyPr wrap="square" rtlCol="0">
            <a:spAutoFit/>
          </a:bodyPr>
          <a:lstStyle/>
          <a:p>
            <a:r>
              <a:rPr lang="en-US" dirty="0"/>
              <a:t>A response surface represents how an objective function (e.g., loss function) varies with model parameters.</a:t>
            </a:r>
          </a:p>
          <a:p>
            <a:r>
              <a:rPr lang="en-US" dirty="0"/>
              <a:t>Common in optimization, machine learning, and statistics.</a:t>
            </a:r>
          </a:p>
          <a:p>
            <a:r>
              <a:rPr lang="en-US" dirty="0"/>
              <a:t>Example: Loss function in neural network training.</a:t>
            </a:r>
          </a:p>
          <a:p>
            <a:r>
              <a:rPr lang="en-US" b="1" dirty="0"/>
              <a:t>Response Variable (Z-axis): </a:t>
            </a:r>
            <a:r>
              <a:rPr lang="en-US" dirty="0"/>
              <a:t>This is the thing you're trying to optimize (minimize or maximize).  In machine learning, this is often the loss function – a measure of how poorly your model is performing.  Other examples could be the accuracy of your model</a:t>
            </a:r>
          </a:p>
          <a:p>
            <a:r>
              <a:rPr lang="en-US" dirty="0"/>
              <a:t>    </a:t>
            </a:r>
          </a:p>
          <a:p>
            <a:r>
              <a:rPr lang="en-US" b="1" dirty="0"/>
              <a:t>Predictor Variables (X and Y axes): </a:t>
            </a:r>
            <a:r>
              <a:rPr lang="en-US" dirty="0"/>
              <a:t>These are the variables you can control that influence the response variable. In machine learning, these are the parameters of your model (e.g., the weights and biases in a neural network).  </a:t>
            </a:r>
          </a:p>
          <a:p>
            <a:r>
              <a:rPr lang="en-US" dirty="0"/>
              <a:t>.     </a:t>
            </a:r>
          </a:p>
          <a:p>
            <a:r>
              <a:rPr lang="en-US" b="1" dirty="0"/>
              <a:t>The Surface Itself: </a:t>
            </a:r>
            <a:r>
              <a:rPr lang="en-US" dirty="0"/>
              <a:t>The surface itself represents the relationship between the predictor variables and the response variable.  The shape of the surface tells you how changing the parameters affects the loss.  Valleys in the surface represent areas of low loss (good performance), while peaks represent areas of high loss (poor performance). </a:t>
            </a:r>
          </a:p>
          <a:p>
            <a:pPr marL="457200">
              <a:lnSpc>
                <a:spcPct val="107000"/>
              </a:lnSpc>
              <a:spcAft>
                <a:spcPts val="800"/>
              </a:spcAft>
              <a:buSzPts val="1000"/>
              <a:tabLst>
                <a:tab pos="914400" algn="l"/>
              </a:tabLst>
            </a:pP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4">
          <a:extLst>
            <a:ext uri="{FF2B5EF4-FFF2-40B4-BE49-F238E27FC236}">
              <a16:creationId xmlns:a16="http://schemas.microsoft.com/office/drawing/2014/main" id="{3DF6019C-6B65-D655-1BD6-64B0382130B0}"/>
            </a:ext>
          </a:extLst>
        </p:cNvPr>
        <p:cNvGrpSpPr/>
        <p:nvPr/>
      </p:nvGrpSpPr>
      <p:grpSpPr>
        <a:xfrm>
          <a:off x="0" y="0"/>
          <a:ext cx="0" cy="0"/>
          <a:chOff x="0" y="0"/>
          <a:chExt cx="0" cy="0"/>
        </a:xfrm>
      </p:grpSpPr>
      <p:pic>
        <p:nvPicPr>
          <p:cNvPr id="85" name="Google Shape;85;p16">
            <a:extLst>
              <a:ext uri="{FF2B5EF4-FFF2-40B4-BE49-F238E27FC236}">
                <a16:creationId xmlns:a16="http://schemas.microsoft.com/office/drawing/2014/main" id="{A76C1B8B-307B-9B9E-A3FD-0F7528A75431}"/>
              </a:ext>
            </a:extLst>
          </p:cNvPr>
          <p:cNvPicPr preferRelativeResize="0"/>
          <p:nvPr/>
        </p:nvPicPr>
        <p:blipFill>
          <a:blip r:embed="rId3">
            <a:alphaModFix amt="60000"/>
          </a:blip>
          <a:stretch>
            <a:fillRect/>
          </a:stretch>
        </p:blipFill>
        <p:spPr>
          <a:xfrm>
            <a:off x="3544650" y="177900"/>
            <a:ext cx="5408998" cy="2939569"/>
          </a:xfrm>
          <a:prstGeom prst="rect">
            <a:avLst/>
          </a:prstGeom>
          <a:noFill/>
          <a:ln>
            <a:noFill/>
          </a:ln>
        </p:spPr>
      </p:pic>
      <p:sp>
        <p:nvSpPr>
          <p:cNvPr id="4" name="Title 3">
            <a:extLst>
              <a:ext uri="{FF2B5EF4-FFF2-40B4-BE49-F238E27FC236}">
                <a16:creationId xmlns:a16="http://schemas.microsoft.com/office/drawing/2014/main" id="{44F43928-4075-6140-247A-206F35A09D8A}"/>
              </a:ext>
            </a:extLst>
          </p:cNvPr>
          <p:cNvSpPr>
            <a:spLocks noGrp="1"/>
          </p:cNvSpPr>
          <p:nvPr>
            <p:ph type="title"/>
          </p:nvPr>
        </p:nvSpPr>
        <p:spPr>
          <a:xfrm>
            <a:off x="872950" y="122160"/>
            <a:ext cx="6707400" cy="494528"/>
          </a:xfrm>
        </p:spPr>
        <p:txBody>
          <a:bodyPr>
            <a:noAutofit/>
          </a:bodyPr>
          <a:lstStyle/>
          <a:p>
            <a:r>
              <a:rPr lang="en-US" sz="2400" dirty="0">
                <a:latin typeface="Arial" panose="020B0604020202020204" pitchFamily="34" charset="0"/>
                <a:cs typeface="Arial" panose="020B0604020202020204" pitchFamily="34" charset="0"/>
              </a:rPr>
              <a:t>Why are Response Surfaces Important?</a:t>
            </a:r>
          </a:p>
        </p:txBody>
      </p:sp>
      <p:sp>
        <p:nvSpPr>
          <p:cNvPr id="11" name="TextBox 10">
            <a:extLst>
              <a:ext uri="{FF2B5EF4-FFF2-40B4-BE49-F238E27FC236}">
                <a16:creationId xmlns:a16="http://schemas.microsoft.com/office/drawing/2014/main" id="{3703702D-948A-2994-5505-0CD6916B14A7}"/>
              </a:ext>
            </a:extLst>
          </p:cNvPr>
          <p:cNvSpPr txBox="1"/>
          <p:nvPr/>
        </p:nvSpPr>
        <p:spPr>
          <a:xfrm>
            <a:off x="478465" y="1084521"/>
            <a:ext cx="5805377" cy="4401205"/>
          </a:xfrm>
          <a:prstGeom prst="rect">
            <a:avLst/>
          </a:prstGeom>
          <a:noFill/>
        </p:spPr>
        <p:txBody>
          <a:bodyPr wrap="square" rtlCol="0">
            <a:spAutoFit/>
          </a:bodyPr>
          <a:lstStyle/>
          <a:p>
            <a:endParaRPr lang="en-US" dirty="0"/>
          </a:p>
          <a:p>
            <a:r>
              <a:rPr lang="en-US" dirty="0"/>
              <a:t>Response surfaces are crucial for understanding and optimizing complex systems, including machine learning models:   </a:t>
            </a:r>
          </a:p>
          <a:p>
            <a:endParaRPr lang="en-US" dirty="0"/>
          </a:p>
          <a:p>
            <a:r>
              <a:rPr lang="en-US" dirty="0"/>
              <a:t>  </a:t>
            </a:r>
            <a:r>
              <a:rPr lang="en-US" b="1" dirty="0"/>
              <a:t>Visualization: </a:t>
            </a:r>
            <a:r>
              <a:rPr lang="en-US" dirty="0"/>
              <a:t>They provide a visual representation of the relationship between parameters and the objective function, making it easier to understand how changes in parameters affect performance. </a:t>
            </a:r>
          </a:p>
          <a:p>
            <a:endParaRPr lang="en-US" dirty="0"/>
          </a:p>
          <a:p>
            <a:r>
              <a:rPr lang="en-US" dirty="0"/>
              <a:t>  </a:t>
            </a:r>
            <a:r>
              <a:rPr lang="en-US" b="1" dirty="0"/>
              <a:t>Optimization:  </a:t>
            </a:r>
            <a:r>
              <a:rPr lang="en-US" dirty="0"/>
              <a:t>By analyzing the response surface, you can identify the "best" settings for your parameters </a:t>
            </a:r>
          </a:p>
          <a:p>
            <a:r>
              <a:rPr lang="en-US" dirty="0"/>
              <a:t>This is what optimization algorithms like gradient descent do in machine learning.   </a:t>
            </a:r>
          </a:p>
          <a:p>
            <a:endParaRPr lang="en-US" dirty="0"/>
          </a:p>
          <a:p>
            <a:r>
              <a:rPr lang="en-US" b="1" dirty="0"/>
              <a:t>Understanding Interactions: </a:t>
            </a:r>
            <a:r>
              <a:rPr lang="en-US" dirty="0"/>
              <a:t>Response surfaces can reveal how different parameters interact with each other.  For example, changing one parameter might have a different effect depending on the value of another parameter.</a:t>
            </a:r>
          </a:p>
          <a:p>
            <a:endParaRPr lang="en-US" dirty="0"/>
          </a:p>
          <a:p>
            <a:endParaRPr lang="en-US" dirty="0"/>
          </a:p>
          <a:p>
            <a:endParaRPr lang="en-US" dirty="0"/>
          </a:p>
        </p:txBody>
      </p:sp>
      <p:pic>
        <p:nvPicPr>
          <p:cNvPr id="13" name="Picture 12">
            <a:extLst>
              <a:ext uri="{FF2B5EF4-FFF2-40B4-BE49-F238E27FC236}">
                <a16:creationId xmlns:a16="http://schemas.microsoft.com/office/drawing/2014/main" id="{5228D352-3D34-490A-A103-B354279290C5}"/>
              </a:ext>
            </a:extLst>
          </p:cNvPr>
          <p:cNvPicPr>
            <a:picLocks noChangeAspect="1"/>
          </p:cNvPicPr>
          <p:nvPr/>
        </p:nvPicPr>
        <p:blipFill>
          <a:blip r:embed="rId4"/>
          <a:srcRect l="6985" r="10646"/>
          <a:stretch/>
        </p:blipFill>
        <p:spPr>
          <a:xfrm>
            <a:off x="6249149" y="1951660"/>
            <a:ext cx="2346642" cy="2443097"/>
          </a:xfrm>
          <a:prstGeom prst="rect">
            <a:avLst/>
          </a:prstGeom>
        </p:spPr>
      </p:pic>
      <p:sp>
        <p:nvSpPr>
          <p:cNvPr id="14" name="TextBox 13">
            <a:extLst>
              <a:ext uri="{FF2B5EF4-FFF2-40B4-BE49-F238E27FC236}">
                <a16:creationId xmlns:a16="http://schemas.microsoft.com/office/drawing/2014/main" id="{B65F83C2-7B5C-D3C9-5FB1-C83D7457A53C}"/>
              </a:ext>
            </a:extLst>
          </p:cNvPr>
          <p:cNvSpPr txBox="1"/>
          <p:nvPr/>
        </p:nvSpPr>
        <p:spPr>
          <a:xfrm>
            <a:off x="8499678" y="3117469"/>
            <a:ext cx="453970" cy="230832"/>
          </a:xfrm>
          <a:prstGeom prst="rect">
            <a:avLst/>
          </a:prstGeom>
          <a:noFill/>
        </p:spPr>
        <p:txBody>
          <a:bodyPr wrap="none" rtlCol="0">
            <a:spAutoFit/>
          </a:bodyPr>
          <a:lstStyle/>
          <a:p>
            <a:r>
              <a:rPr lang="en-US" sz="900" b="1" dirty="0"/>
              <a:t>Loss</a:t>
            </a:r>
          </a:p>
        </p:txBody>
      </p:sp>
    </p:spTree>
    <p:extLst>
      <p:ext uri="{BB962C8B-B14F-4D97-AF65-F5344CB8AC3E}">
        <p14:creationId xmlns:p14="http://schemas.microsoft.com/office/powerpoint/2010/main" val="2685572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4">
          <a:extLst>
            <a:ext uri="{FF2B5EF4-FFF2-40B4-BE49-F238E27FC236}">
              <a16:creationId xmlns:a16="http://schemas.microsoft.com/office/drawing/2014/main" id="{2AA5540C-A43E-2B73-6BC2-85AF7B508A90}"/>
            </a:ext>
          </a:extLst>
        </p:cNvPr>
        <p:cNvGrpSpPr/>
        <p:nvPr/>
      </p:nvGrpSpPr>
      <p:grpSpPr>
        <a:xfrm>
          <a:off x="0" y="0"/>
          <a:ext cx="0" cy="0"/>
          <a:chOff x="0" y="0"/>
          <a:chExt cx="0" cy="0"/>
        </a:xfrm>
      </p:grpSpPr>
      <p:pic>
        <p:nvPicPr>
          <p:cNvPr id="85" name="Google Shape;85;p16">
            <a:extLst>
              <a:ext uri="{FF2B5EF4-FFF2-40B4-BE49-F238E27FC236}">
                <a16:creationId xmlns:a16="http://schemas.microsoft.com/office/drawing/2014/main" id="{79D18F41-A041-93D9-3F74-33D29DF9E8A7}"/>
              </a:ext>
            </a:extLst>
          </p:cNvPr>
          <p:cNvPicPr preferRelativeResize="0"/>
          <p:nvPr/>
        </p:nvPicPr>
        <p:blipFill>
          <a:blip r:embed="rId3">
            <a:alphaModFix amt="60000"/>
          </a:blip>
          <a:stretch>
            <a:fillRect/>
          </a:stretch>
        </p:blipFill>
        <p:spPr>
          <a:xfrm>
            <a:off x="3544650" y="177900"/>
            <a:ext cx="5408998" cy="2939569"/>
          </a:xfrm>
          <a:prstGeom prst="rect">
            <a:avLst/>
          </a:prstGeom>
          <a:noFill/>
          <a:ln>
            <a:noFill/>
          </a:ln>
        </p:spPr>
      </p:pic>
      <p:sp>
        <p:nvSpPr>
          <p:cNvPr id="4" name="Title 3">
            <a:extLst>
              <a:ext uri="{FF2B5EF4-FFF2-40B4-BE49-F238E27FC236}">
                <a16:creationId xmlns:a16="http://schemas.microsoft.com/office/drawing/2014/main" id="{CCE54145-C138-19B7-32D7-3E242DE96A5D}"/>
              </a:ext>
            </a:extLst>
          </p:cNvPr>
          <p:cNvSpPr>
            <a:spLocks noGrp="1"/>
          </p:cNvSpPr>
          <p:nvPr>
            <p:ph type="title"/>
          </p:nvPr>
        </p:nvSpPr>
        <p:spPr>
          <a:xfrm>
            <a:off x="872950" y="122160"/>
            <a:ext cx="6707400" cy="494528"/>
          </a:xfrm>
        </p:spPr>
        <p:txBody>
          <a:bodyPr>
            <a:noAutofit/>
          </a:bodyPr>
          <a:lstStyle/>
          <a:p>
            <a:r>
              <a:rPr lang="en-US" sz="3200" b="1" dirty="0">
                <a:latin typeface="+mn-lt"/>
              </a:rPr>
              <a:t>Vectors in Generic Spaces</a:t>
            </a:r>
            <a:endParaRPr lang="en-US" sz="3200" dirty="0">
              <a:latin typeface="+mn-lt"/>
            </a:endParaRPr>
          </a:p>
        </p:txBody>
      </p:sp>
      <p:sp>
        <p:nvSpPr>
          <p:cNvPr id="6" name="TextBox 5">
            <a:extLst>
              <a:ext uri="{FF2B5EF4-FFF2-40B4-BE49-F238E27FC236}">
                <a16:creationId xmlns:a16="http://schemas.microsoft.com/office/drawing/2014/main" id="{A0B84781-A0DC-65EC-A72B-B02919A39FFB}"/>
              </a:ext>
            </a:extLst>
          </p:cNvPr>
          <p:cNvSpPr txBox="1"/>
          <p:nvPr/>
        </p:nvSpPr>
        <p:spPr>
          <a:xfrm>
            <a:off x="190352" y="797442"/>
            <a:ext cx="8763297" cy="4247317"/>
          </a:xfrm>
          <a:prstGeom prst="rect">
            <a:avLst/>
          </a:prstGeom>
          <a:noFill/>
        </p:spPr>
        <p:txBody>
          <a:bodyPr wrap="square" rtlCol="0">
            <a:spAutoFit/>
          </a:bodyPr>
          <a:lstStyle/>
          <a:p>
            <a:pPr marL="342900" indent="-342900">
              <a:buFont typeface="Arial" panose="020B0604020202020204" pitchFamily="34" charset="0"/>
              <a:buChar char="•"/>
            </a:pPr>
            <a:r>
              <a:rPr lang="en-US" sz="2000" dirty="0"/>
              <a:t>Vectors are not limited to the familiar 2D and 3D physical space. </a:t>
            </a:r>
          </a:p>
          <a:p>
            <a:pPr marL="342900" indent="-342900">
              <a:buFont typeface="Arial" panose="020B0604020202020204" pitchFamily="34" charset="0"/>
              <a:buChar char="•"/>
            </a:pPr>
            <a:r>
              <a:rPr lang="en-US" sz="2000" dirty="0"/>
              <a:t>Vectors exist in any space: physical, abstract (e.g., probability distributions, function spaces).</a:t>
            </a:r>
          </a:p>
          <a:p>
            <a:pPr marL="342900" indent="-342900">
              <a:buFont typeface="Arial" panose="020B0604020202020204" pitchFamily="34" charset="0"/>
              <a:buChar char="•"/>
            </a:pPr>
            <a:r>
              <a:rPr lang="en-US" sz="2000" dirty="0"/>
              <a:t>The same rules (addition, scalar multiplication) apply.</a:t>
            </a:r>
          </a:p>
          <a:p>
            <a:pPr marL="342900" indent="-342900">
              <a:buFont typeface="Arial" panose="020B0604020202020204" pitchFamily="34" charset="0"/>
              <a:buChar char="•"/>
            </a:pPr>
            <a:r>
              <a:rPr lang="en-US" sz="2000" dirty="0"/>
              <a:t>Example: A vector in high-dimensional machine learning models represents adjustments to weights.</a:t>
            </a:r>
          </a:p>
          <a:p>
            <a:endParaRPr lang="en-US" sz="2000" dirty="0"/>
          </a:p>
          <a:p>
            <a:r>
              <a:rPr lang="en-US" sz="1800" i="1" dirty="0"/>
              <a:t>In machine learning, a model's weights are adjusted during training to improve its performance. These adjustments can be represented as a vector in a high-dimensional space where each dimension corresponds to a weight. The direction of the vector indicates how each weight should be changed, and the magnitude of the vector indicates the size of the adjustment.</a:t>
            </a:r>
          </a:p>
          <a:p>
            <a:pPr marL="342900" indent="-342900">
              <a:buFont typeface="Arial" panose="020B0604020202020204" pitchFamily="34" charset="0"/>
              <a:buChar char="•"/>
            </a:pPr>
            <a:endParaRPr lang="en-US" sz="2400" dirty="0"/>
          </a:p>
          <a:p>
            <a:endParaRPr lang="en-US" sz="1600" dirty="0">
              <a:latin typeface="+mn-lt"/>
            </a:endParaRPr>
          </a:p>
        </p:txBody>
      </p:sp>
    </p:spTree>
    <p:extLst>
      <p:ext uri="{BB962C8B-B14F-4D97-AF65-F5344CB8AC3E}">
        <p14:creationId xmlns:p14="http://schemas.microsoft.com/office/powerpoint/2010/main" val="1734881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3223B-336D-5A4B-299A-6D5377903FB9}"/>
              </a:ext>
            </a:extLst>
          </p:cNvPr>
          <p:cNvSpPr>
            <a:spLocks noGrp="1"/>
          </p:cNvSpPr>
          <p:nvPr>
            <p:ph type="title"/>
          </p:nvPr>
        </p:nvSpPr>
        <p:spPr>
          <a:xfrm>
            <a:off x="425302" y="445025"/>
            <a:ext cx="8361548" cy="627900"/>
          </a:xfrm>
        </p:spPr>
        <p:txBody>
          <a:bodyPr>
            <a:normAutofit/>
          </a:bodyPr>
          <a:lstStyle/>
          <a:p>
            <a:r>
              <a:rPr lang="en-US" dirty="0"/>
              <a:t>Solving Linear Equations: The Substitution Method</a:t>
            </a:r>
          </a:p>
        </p:txBody>
      </p:sp>
      <p:sp>
        <p:nvSpPr>
          <p:cNvPr id="4" name="TextBox 3">
            <a:extLst>
              <a:ext uri="{FF2B5EF4-FFF2-40B4-BE49-F238E27FC236}">
                <a16:creationId xmlns:a16="http://schemas.microsoft.com/office/drawing/2014/main" id="{22879A2E-7FA4-0939-5A67-26DA4CA476E4}"/>
              </a:ext>
            </a:extLst>
          </p:cNvPr>
          <p:cNvSpPr txBox="1"/>
          <p:nvPr/>
        </p:nvSpPr>
        <p:spPr>
          <a:xfrm>
            <a:off x="563527" y="1169581"/>
            <a:ext cx="4093534" cy="2923877"/>
          </a:xfrm>
          <a:prstGeom prst="rect">
            <a:avLst/>
          </a:prstGeom>
          <a:noFill/>
        </p:spPr>
        <p:txBody>
          <a:bodyPr wrap="square" rtlCol="0">
            <a:spAutoFit/>
          </a:bodyPr>
          <a:lstStyle/>
          <a:p>
            <a:r>
              <a:rPr lang="en-US" sz="1600" b="1" dirty="0"/>
              <a:t>What is Substitution?</a:t>
            </a:r>
          </a:p>
          <a:p>
            <a:r>
              <a:rPr lang="en-US" dirty="0"/>
              <a:t>Substitution is a technique for solving systems of equations by expressing one variable in terms of the others and then replacing that variable in another </a:t>
            </a:r>
            <a:r>
              <a:rPr lang="en-US" dirty="0" err="1"/>
              <a:t>equation.This</a:t>
            </a:r>
            <a:r>
              <a:rPr lang="en-US" dirty="0"/>
              <a:t> reduces the problem to a simpler equation with fewer </a:t>
            </a:r>
            <a:r>
              <a:rPr lang="en-US" dirty="0" err="1"/>
              <a:t>variables.It's</a:t>
            </a:r>
            <a:r>
              <a:rPr lang="en-US" dirty="0"/>
              <a:t> like replacing a part in a machine with an equivalent part to make it easier to work with.</a:t>
            </a:r>
          </a:p>
          <a:p>
            <a:endParaRPr lang="en-US" dirty="0"/>
          </a:p>
          <a:p>
            <a:r>
              <a:rPr lang="en-US" dirty="0"/>
              <a:t>Consider the following system of equations:</a:t>
            </a:r>
          </a:p>
          <a:p>
            <a:r>
              <a:rPr lang="en-US" dirty="0"/>
              <a:t>2x + 3y = 13 ...(Equation 1)</a:t>
            </a:r>
          </a:p>
          <a:p>
            <a:r>
              <a:rPr lang="en-US" dirty="0"/>
              <a:t>x - 2y = -4 ...(Equation 2)</a:t>
            </a:r>
          </a:p>
          <a:p>
            <a:endParaRPr lang="en-US" dirty="0"/>
          </a:p>
        </p:txBody>
      </p:sp>
      <p:pic>
        <p:nvPicPr>
          <p:cNvPr id="8" name="Picture 7">
            <a:extLst>
              <a:ext uri="{FF2B5EF4-FFF2-40B4-BE49-F238E27FC236}">
                <a16:creationId xmlns:a16="http://schemas.microsoft.com/office/drawing/2014/main" id="{5165DD62-6FCF-61F0-80C6-6C3CFAA0BE18}"/>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689746" y="1391536"/>
            <a:ext cx="2890727" cy="2890727"/>
          </a:xfrm>
          <a:prstGeom prst="rect">
            <a:avLst/>
          </a:prstGeom>
        </p:spPr>
      </p:pic>
    </p:spTree>
    <p:extLst>
      <p:ext uri="{BB962C8B-B14F-4D97-AF65-F5344CB8AC3E}">
        <p14:creationId xmlns:p14="http://schemas.microsoft.com/office/powerpoint/2010/main" val="139674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01DFE-BB02-8D23-242F-4602DA17F0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F778F-E733-8CD4-880E-CF86A2F81135}"/>
              </a:ext>
            </a:extLst>
          </p:cNvPr>
          <p:cNvSpPr>
            <a:spLocks noGrp="1"/>
          </p:cNvSpPr>
          <p:nvPr>
            <p:ph type="title"/>
          </p:nvPr>
        </p:nvSpPr>
        <p:spPr>
          <a:xfrm>
            <a:off x="425302" y="445025"/>
            <a:ext cx="8361548" cy="627900"/>
          </a:xfrm>
        </p:spPr>
        <p:txBody>
          <a:bodyPr>
            <a:normAutofit/>
          </a:bodyPr>
          <a:lstStyle/>
          <a:p>
            <a:r>
              <a:rPr lang="en-US" dirty="0"/>
              <a:t>Solving Linear Equations: The Substitution Method</a:t>
            </a:r>
          </a:p>
        </p:txBody>
      </p:sp>
      <p:sp>
        <p:nvSpPr>
          <p:cNvPr id="4" name="TextBox 3">
            <a:extLst>
              <a:ext uri="{FF2B5EF4-FFF2-40B4-BE49-F238E27FC236}">
                <a16:creationId xmlns:a16="http://schemas.microsoft.com/office/drawing/2014/main" id="{370962BC-550B-A1DF-76AD-F68BA3716E9D}"/>
              </a:ext>
            </a:extLst>
          </p:cNvPr>
          <p:cNvSpPr txBox="1"/>
          <p:nvPr/>
        </p:nvSpPr>
        <p:spPr>
          <a:xfrm>
            <a:off x="563527" y="1169581"/>
            <a:ext cx="4093534" cy="3354765"/>
          </a:xfrm>
          <a:prstGeom prst="rect">
            <a:avLst/>
          </a:prstGeom>
          <a:noFill/>
        </p:spPr>
        <p:txBody>
          <a:bodyPr wrap="square" rtlCol="0">
            <a:spAutoFit/>
          </a:bodyPr>
          <a:lstStyle/>
          <a:p>
            <a:r>
              <a:rPr lang="en-US" sz="1600" b="1" dirty="0"/>
              <a:t>Step 1: Isolate a Variable</a:t>
            </a:r>
          </a:p>
          <a:p>
            <a:pPr marL="285750" indent="-285750">
              <a:buFont typeface="Arial" panose="020B0604020202020204" pitchFamily="34" charset="0"/>
              <a:buChar char="•"/>
            </a:pPr>
            <a:r>
              <a:rPr lang="en-US" dirty="0"/>
              <a:t>Choose one equation and solve it for one variable.</a:t>
            </a:r>
          </a:p>
          <a:p>
            <a:pPr marL="285750" indent="-285750">
              <a:buFont typeface="Arial" panose="020B0604020202020204" pitchFamily="34" charset="0"/>
              <a:buChar char="•"/>
            </a:pPr>
            <a:r>
              <a:rPr lang="en-US" dirty="0"/>
              <a:t> It's often easiest to pick an equation where a variable already has a coefficient of 1 (or -1).</a:t>
            </a:r>
          </a:p>
          <a:p>
            <a:pPr marL="285750" indent="-285750">
              <a:buFont typeface="Arial" panose="020B0604020202020204" pitchFamily="34" charset="0"/>
              <a:buChar char="•"/>
            </a:pPr>
            <a:r>
              <a:rPr lang="en-US" dirty="0"/>
              <a:t>In our example, Equation 2 is easiest. Solving for x:</a:t>
            </a:r>
          </a:p>
          <a:p>
            <a:r>
              <a:rPr lang="en-US" dirty="0"/>
              <a:t>	x = 2y - 4 ...(Equation 3)</a:t>
            </a:r>
          </a:p>
          <a:p>
            <a:r>
              <a:rPr lang="en-US" sz="1600" b="1" dirty="0"/>
              <a:t>Step 2: Substitute</a:t>
            </a:r>
          </a:p>
          <a:p>
            <a:pPr marL="285750" indent="-285750">
              <a:buFont typeface="Arial" panose="020B0604020202020204" pitchFamily="34" charset="0"/>
              <a:buChar char="•"/>
            </a:pPr>
            <a:r>
              <a:rPr lang="en-US" dirty="0"/>
              <a:t>Substitute the expression you found (Equation 3) into the other equation (Equation 1). </a:t>
            </a:r>
          </a:p>
          <a:p>
            <a:pPr marL="285750" indent="-285750">
              <a:buFont typeface="Arial" panose="020B0604020202020204" pitchFamily="34" charset="0"/>
              <a:buChar char="•"/>
            </a:pPr>
            <a:r>
              <a:rPr lang="en-US" dirty="0"/>
              <a:t>This will give you an equation with only one variable (y).</a:t>
            </a:r>
          </a:p>
          <a:p>
            <a:pPr marL="285750" indent="-285750">
              <a:buFont typeface="Arial" panose="020B0604020202020204" pitchFamily="34" charset="0"/>
              <a:buChar char="•"/>
            </a:pPr>
            <a:r>
              <a:rPr lang="en-US" dirty="0"/>
              <a:t>2(2y - 4) + 3y = 13</a:t>
            </a:r>
          </a:p>
        </p:txBody>
      </p:sp>
      <p:sp>
        <p:nvSpPr>
          <p:cNvPr id="9" name="TextBox 8">
            <a:extLst>
              <a:ext uri="{FF2B5EF4-FFF2-40B4-BE49-F238E27FC236}">
                <a16:creationId xmlns:a16="http://schemas.microsoft.com/office/drawing/2014/main" id="{5931A0D0-6CB2-0E03-3848-DD90E0E01273}"/>
              </a:ext>
            </a:extLst>
          </p:cNvPr>
          <p:cNvSpPr txBox="1"/>
          <p:nvPr/>
        </p:nvSpPr>
        <p:spPr>
          <a:xfrm>
            <a:off x="4816549" y="1212112"/>
            <a:ext cx="4061637" cy="3170099"/>
          </a:xfrm>
          <a:prstGeom prst="rect">
            <a:avLst/>
          </a:prstGeom>
          <a:noFill/>
        </p:spPr>
        <p:txBody>
          <a:bodyPr wrap="square" rtlCol="0">
            <a:spAutoFit/>
          </a:bodyPr>
          <a:lstStyle/>
          <a:p>
            <a:r>
              <a:rPr lang="en-US" sz="1600" b="1" dirty="0"/>
              <a:t>Step 3: Solve</a:t>
            </a:r>
          </a:p>
          <a:p>
            <a:r>
              <a:rPr lang="en-US" dirty="0"/>
              <a:t>Simplify and solve the resulting equation for the remaining variable.</a:t>
            </a:r>
          </a:p>
          <a:p>
            <a:r>
              <a:rPr lang="en-US" dirty="0"/>
              <a:t>4y - 8 + 3y = 13</a:t>
            </a:r>
          </a:p>
          <a:p>
            <a:r>
              <a:rPr lang="en-US" dirty="0"/>
              <a:t>7y - 8 = 13</a:t>
            </a:r>
          </a:p>
          <a:p>
            <a:r>
              <a:rPr lang="en-US" dirty="0"/>
              <a:t>7y = 21</a:t>
            </a:r>
          </a:p>
          <a:p>
            <a:r>
              <a:rPr lang="en-US" dirty="0"/>
              <a:t>y = 3</a:t>
            </a:r>
          </a:p>
          <a:p>
            <a:r>
              <a:rPr lang="en-US" dirty="0"/>
              <a:t> </a:t>
            </a:r>
            <a:r>
              <a:rPr lang="en-US" sz="1600" b="1" dirty="0"/>
              <a:t>Step 4: Back-Substitute</a:t>
            </a:r>
          </a:p>
          <a:p>
            <a:r>
              <a:rPr lang="en-US" dirty="0"/>
              <a:t>Substitute the value you found (y = 3) back into any of the original equations (or Equation 3). Equation 3 is often the easiest:</a:t>
            </a:r>
          </a:p>
          <a:p>
            <a:r>
              <a:rPr lang="en-US" dirty="0"/>
              <a:t>x = 2(3) – 4</a:t>
            </a:r>
          </a:p>
          <a:p>
            <a:r>
              <a:rPr lang="en-US" dirty="0"/>
              <a:t>x = 6 – 4</a:t>
            </a:r>
          </a:p>
          <a:p>
            <a:r>
              <a:rPr lang="en-US" dirty="0"/>
              <a:t>x = 2</a:t>
            </a:r>
          </a:p>
        </p:txBody>
      </p:sp>
    </p:spTree>
    <p:extLst>
      <p:ext uri="{BB962C8B-B14F-4D97-AF65-F5344CB8AC3E}">
        <p14:creationId xmlns:p14="http://schemas.microsoft.com/office/powerpoint/2010/main" val="424017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97B11-EBC7-2386-DE9A-14D8E9AAA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DC885-2B41-3361-F41F-80252007F399}"/>
              </a:ext>
            </a:extLst>
          </p:cNvPr>
          <p:cNvSpPr>
            <a:spLocks noGrp="1"/>
          </p:cNvSpPr>
          <p:nvPr>
            <p:ph type="title"/>
          </p:nvPr>
        </p:nvSpPr>
        <p:spPr>
          <a:xfrm>
            <a:off x="425302" y="445025"/>
            <a:ext cx="8361548" cy="627900"/>
          </a:xfrm>
        </p:spPr>
        <p:txBody>
          <a:bodyPr>
            <a:normAutofit/>
          </a:bodyPr>
          <a:lstStyle/>
          <a:p>
            <a:r>
              <a:rPr lang="en-US" dirty="0"/>
              <a:t>Solving Linear Equations: The Elimination Method</a:t>
            </a:r>
          </a:p>
        </p:txBody>
      </p:sp>
      <p:sp>
        <p:nvSpPr>
          <p:cNvPr id="4" name="TextBox 3">
            <a:extLst>
              <a:ext uri="{FF2B5EF4-FFF2-40B4-BE49-F238E27FC236}">
                <a16:creationId xmlns:a16="http://schemas.microsoft.com/office/drawing/2014/main" id="{EEBF2555-135E-46D7-0878-5D6B671DC010}"/>
              </a:ext>
            </a:extLst>
          </p:cNvPr>
          <p:cNvSpPr txBox="1"/>
          <p:nvPr/>
        </p:nvSpPr>
        <p:spPr>
          <a:xfrm>
            <a:off x="563527" y="1169581"/>
            <a:ext cx="4093534" cy="3847207"/>
          </a:xfrm>
          <a:prstGeom prst="rect">
            <a:avLst/>
          </a:prstGeom>
          <a:noFill/>
        </p:spPr>
        <p:txBody>
          <a:bodyPr wrap="square" rtlCol="0">
            <a:spAutoFit/>
          </a:bodyPr>
          <a:lstStyle/>
          <a:p>
            <a:r>
              <a:rPr lang="en-US" sz="2000" b="1" dirty="0"/>
              <a:t>What is Elimination? </a:t>
            </a:r>
          </a:p>
          <a:p>
            <a:r>
              <a:rPr lang="en-US" dirty="0"/>
              <a:t>Elimination involves manipulating equations so that when they are added or subtracted, one variable cancels </a:t>
            </a:r>
            <a:r>
              <a:rPr lang="en-US" dirty="0" err="1"/>
              <a:t>out.This</a:t>
            </a:r>
            <a:r>
              <a:rPr lang="en-US" dirty="0"/>
              <a:t> simplifies the system, allowing us to solve for the remaining </a:t>
            </a:r>
            <a:r>
              <a:rPr lang="en-US" dirty="0" err="1"/>
              <a:t>variable.Think</a:t>
            </a:r>
            <a:r>
              <a:rPr lang="en-US" dirty="0"/>
              <a:t> of it like strategically canceling terms in an algebraic expression to make it simpler.</a:t>
            </a:r>
          </a:p>
          <a:p>
            <a:r>
              <a:rPr lang="en-US" b="1" dirty="0"/>
              <a:t>Consider the system:</a:t>
            </a:r>
          </a:p>
          <a:p>
            <a:endParaRPr lang="en-US" b="1" dirty="0"/>
          </a:p>
          <a:p>
            <a:r>
              <a:rPr lang="en-US" dirty="0"/>
              <a:t>2x + 7y = 10 ...(Equation 1)</a:t>
            </a:r>
          </a:p>
          <a:p>
            <a:r>
              <a:rPr lang="en-US" dirty="0"/>
              <a:t>3x + y = 6 ...(Equation 2)</a:t>
            </a:r>
          </a:p>
          <a:p>
            <a:endParaRPr lang="en-US" dirty="0"/>
          </a:p>
          <a:p>
            <a:r>
              <a:rPr lang="en-US" i="1" dirty="0"/>
              <a:t>Notice that the y term in Equation 2 has a coefficient of 1. This makes it easy to eliminate</a:t>
            </a:r>
            <a:r>
              <a:rPr lang="en-US" dirty="0"/>
              <a:t>.</a:t>
            </a:r>
          </a:p>
          <a:p>
            <a:endParaRPr lang="en-US" dirty="0"/>
          </a:p>
          <a:p>
            <a:endParaRPr lang="en-US" dirty="0"/>
          </a:p>
        </p:txBody>
      </p:sp>
      <p:pic>
        <p:nvPicPr>
          <p:cNvPr id="12" name="Picture 11">
            <a:extLst>
              <a:ext uri="{FF2B5EF4-FFF2-40B4-BE49-F238E27FC236}">
                <a16:creationId xmlns:a16="http://schemas.microsoft.com/office/drawing/2014/main" id="{4C5C24A1-AE59-2715-25E7-473735EFD3B0}"/>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5825312" y="1169581"/>
            <a:ext cx="3115340" cy="3115340"/>
          </a:xfrm>
          <a:prstGeom prst="rect">
            <a:avLst/>
          </a:prstGeom>
        </p:spPr>
      </p:pic>
    </p:spTree>
    <p:extLst>
      <p:ext uri="{BB962C8B-B14F-4D97-AF65-F5344CB8AC3E}">
        <p14:creationId xmlns:p14="http://schemas.microsoft.com/office/powerpoint/2010/main" val="1572190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F6ACF-0F73-DF7E-0F78-6F7EA2C322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64558-9910-9D9D-622C-19B56EBB98D0}"/>
              </a:ext>
            </a:extLst>
          </p:cNvPr>
          <p:cNvSpPr>
            <a:spLocks noGrp="1"/>
          </p:cNvSpPr>
          <p:nvPr>
            <p:ph type="title"/>
          </p:nvPr>
        </p:nvSpPr>
        <p:spPr>
          <a:xfrm>
            <a:off x="425302" y="445025"/>
            <a:ext cx="8361548" cy="627900"/>
          </a:xfrm>
        </p:spPr>
        <p:txBody>
          <a:bodyPr>
            <a:normAutofit/>
          </a:bodyPr>
          <a:lstStyle/>
          <a:p>
            <a:r>
              <a:rPr lang="en-US" dirty="0"/>
              <a:t>Solving Linear Equations: The Elimination Method</a:t>
            </a:r>
          </a:p>
        </p:txBody>
      </p:sp>
      <p:sp>
        <p:nvSpPr>
          <p:cNvPr id="4" name="TextBox 3">
            <a:extLst>
              <a:ext uri="{FF2B5EF4-FFF2-40B4-BE49-F238E27FC236}">
                <a16:creationId xmlns:a16="http://schemas.microsoft.com/office/drawing/2014/main" id="{47EABF85-3E01-7D65-3C64-2F00AEE3E6F0}"/>
              </a:ext>
            </a:extLst>
          </p:cNvPr>
          <p:cNvSpPr txBox="1"/>
          <p:nvPr/>
        </p:nvSpPr>
        <p:spPr>
          <a:xfrm>
            <a:off x="563527" y="1169581"/>
            <a:ext cx="6475226" cy="2893100"/>
          </a:xfrm>
          <a:prstGeom prst="rect">
            <a:avLst/>
          </a:prstGeom>
          <a:noFill/>
        </p:spPr>
        <p:txBody>
          <a:bodyPr wrap="square" rtlCol="0">
            <a:spAutoFit/>
          </a:bodyPr>
          <a:lstStyle/>
          <a:p>
            <a:r>
              <a:rPr lang="en-US" b="1" dirty="0"/>
              <a:t>Step 1: Prepare for Elimination</a:t>
            </a:r>
          </a:p>
          <a:p>
            <a:r>
              <a:rPr lang="en-US" dirty="0"/>
              <a:t>Multiply one or both equations by constants so that the coefficients of one variable are opposites (or the same). </a:t>
            </a:r>
          </a:p>
          <a:p>
            <a:r>
              <a:rPr lang="en-US" dirty="0"/>
              <a:t>Our goal is to make the coefficients of either x or y the same so we can add or subtract the equations to eliminate that variable.</a:t>
            </a:r>
          </a:p>
          <a:p>
            <a:r>
              <a:rPr lang="en-US" dirty="0"/>
              <a:t>Multiply Equation 2 by -7:</a:t>
            </a:r>
          </a:p>
          <a:p>
            <a:r>
              <a:rPr lang="en-US" dirty="0"/>
              <a:t>-21x - 7y = -42 ...(Equation 3)</a:t>
            </a:r>
          </a:p>
          <a:p>
            <a:r>
              <a:rPr lang="en-US" b="1" dirty="0"/>
              <a:t>Step 2: Eliminate</a:t>
            </a:r>
          </a:p>
          <a:p>
            <a:endParaRPr lang="en-US" b="1" dirty="0"/>
          </a:p>
          <a:p>
            <a:r>
              <a:rPr lang="en-US" dirty="0"/>
              <a:t>Add Equation 1 and Equation 3. </a:t>
            </a:r>
          </a:p>
          <a:p>
            <a:r>
              <a:rPr lang="en-US" dirty="0"/>
              <a:t>Notice the y terms will cancel out.</a:t>
            </a:r>
          </a:p>
          <a:p>
            <a:r>
              <a:rPr lang="en-US" dirty="0"/>
              <a:t>(2x + 7y) + (-21x - 7y) = 10 + (-42)</a:t>
            </a:r>
          </a:p>
          <a:p>
            <a:r>
              <a:rPr lang="en-US" dirty="0"/>
              <a:t>-19x = -32</a:t>
            </a:r>
          </a:p>
        </p:txBody>
      </p:sp>
    </p:spTree>
    <p:extLst>
      <p:ext uri="{BB962C8B-B14F-4D97-AF65-F5344CB8AC3E}">
        <p14:creationId xmlns:p14="http://schemas.microsoft.com/office/powerpoint/2010/main" val="2864445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E323F-C5A2-45C6-BE97-51F6E3255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9F98D-A873-0D9B-A0A1-8A73588EDEEE}"/>
              </a:ext>
            </a:extLst>
          </p:cNvPr>
          <p:cNvSpPr>
            <a:spLocks noGrp="1"/>
          </p:cNvSpPr>
          <p:nvPr>
            <p:ph type="title"/>
          </p:nvPr>
        </p:nvSpPr>
        <p:spPr>
          <a:xfrm>
            <a:off x="425302" y="445025"/>
            <a:ext cx="8361548" cy="627900"/>
          </a:xfrm>
        </p:spPr>
        <p:txBody>
          <a:bodyPr>
            <a:normAutofit/>
          </a:bodyPr>
          <a:lstStyle/>
          <a:p>
            <a:r>
              <a:rPr lang="en-US" dirty="0"/>
              <a:t>Solving Linear Equations: The Elimination Method</a:t>
            </a:r>
          </a:p>
        </p:txBody>
      </p:sp>
      <p:sp>
        <p:nvSpPr>
          <p:cNvPr id="4" name="TextBox 3">
            <a:extLst>
              <a:ext uri="{FF2B5EF4-FFF2-40B4-BE49-F238E27FC236}">
                <a16:creationId xmlns:a16="http://schemas.microsoft.com/office/drawing/2014/main" id="{72FF99B8-C134-69F9-523D-3F8A6D21B4C2}"/>
              </a:ext>
            </a:extLst>
          </p:cNvPr>
          <p:cNvSpPr txBox="1"/>
          <p:nvPr/>
        </p:nvSpPr>
        <p:spPr>
          <a:xfrm>
            <a:off x="563527" y="1169581"/>
            <a:ext cx="6475226" cy="3754874"/>
          </a:xfrm>
          <a:prstGeom prst="rect">
            <a:avLst/>
          </a:prstGeom>
          <a:noFill/>
        </p:spPr>
        <p:txBody>
          <a:bodyPr wrap="square" rtlCol="0">
            <a:spAutoFit/>
          </a:bodyPr>
          <a:lstStyle/>
          <a:p>
            <a:r>
              <a:rPr lang="en-US" b="1" dirty="0"/>
              <a:t>Step 3: Solve</a:t>
            </a:r>
          </a:p>
          <a:p>
            <a:endParaRPr lang="en-US" b="1" dirty="0"/>
          </a:p>
          <a:p>
            <a:r>
              <a:rPr lang="en-US" dirty="0"/>
              <a:t>Solve the resulting equation for the remaining variable:</a:t>
            </a:r>
          </a:p>
          <a:p>
            <a:r>
              <a:rPr lang="en-US" dirty="0"/>
              <a:t>x = 32/19</a:t>
            </a:r>
          </a:p>
          <a:p>
            <a:r>
              <a:rPr lang="en-US" b="1" dirty="0"/>
              <a:t>Step 4: Back-Substitute</a:t>
            </a:r>
          </a:p>
          <a:p>
            <a:endParaRPr lang="en-US" b="1" dirty="0"/>
          </a:p>
          <a:p>
            <a:r>
              <a:rPr lang="en-US" dirty="0"/>
              <a:t>Substitute the value of x back into any of the original equations (Equation 1 or Equation 2) to solve for y. </a:t>
            </a:r>
          </a:p>
          <a:p>
            <a:r>
              <a:rPr lang="en-US" dirty="0"/>
              <a:t>Equation 2 is often the easiest:</a:t>
            </a:r>
          </a:p>
          <a:p>
            <a:r>
              <a:rPr lang="en-US" dirty="0"/>
              <a:t>3(32/19) + y = 6</a:t>
            </a:r>
          </a:p>
          <a:p>
            <a:r>
              <a:rPr lang="en-US" dirty="0"/>
              <a:t>y = 6 - 96/19</a:t>
            </a:r>
          </a:p>
          <a:p>
            <a:r>
              <a:rPr lang="en-US" dirty="0"/>
              <a:t>y = 18/19</a:t>
            </a:r>
          </a:p>
          <a:p>
            <a:r>
              <a:rPr lang="en-US" b="1" dirty="0"/>
              <a:t>Solution</a:t>
            </a:r>
          </a:p>
          <a:p>
            <a:r>
              <a:rPr lang="en-US" dirty="0"/>
              <a:t>The solution is:</a:t>
            </a:r>
          </a:p>
          <a:p>
            <a:r>
              <a:rPr lang="en-US" dirty="0"/>
              <a:t>x = 32/19</a:t>
            </a:r>
          </a:p>
          <a:p>
            <a:r>
              <a:rPr lang="en-US" dirty="0"/>
              <a:t>y = 18/19</a:t>
            </a:r>
          </a:p>
          <a:p>
            <a:r>
              <a:rPr lang="en-US" i="1" dirty="0"/>
              <a:t>Always check your solution by substituting it back into the original equations!</a:t>
            </a:r>
          </a:p>
        </p:txBody>
      </p:sp>
    </p:spTree>
    <p:extLst>
      <p:ext uri="{BB962C8B-B14F-4D97-AF65-F5344CB8AC3E}">
        <p14:creationId xmlns:p14="http://schemas.microsoft.com/office/powerpoint/2010/main" val="3202820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FA8C2-62C3-A984-3DCA-AE76396818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B3346-A905-7A01-2B18-7C5F86C2747E}"/>
              </a:ext>
            </a:extLst>
          </p:cNvPr>
          <p:cNvSpPr>
            <a:spLocks noGrp="1"/>
          </p:cNvSpPr>
          <p:nvPr>
            <p:ph type="title"/>
          </p:nvPr>
        </p:nvSpPr>
        <p:spPr>
          <a:xfrm>
            <a:off x="425302" y="445025"/>
            <a:ext cx="8361548" cy="627900"/>
          </a:xfrm>
        </p:spPr>
        <p:txBody>
          <a:bodyPr>
            <a:normAutofit/>
          </a:bodyPr>
          <a:lstStyle/>
          <a:p>
            <a:r>
              <a:rPr lang="en-US" dirty="0"/>
              <a:t>Solving Linear Equations: The Elimination Method</a:t>
            </a:r>
          </a:p>
        </p:txBody>
      </p:sp>
      <p:sp>
        <p:nvSpPr>
          <p:cNvPr id="4" name="TextBox 3">
            <a:extLst>
              <a:ext uri="{FF2B5EF4-FFF2-40B4-BE49-F238E27FC236}">
                <a16:creationId xmlns:a16="http://schemas.microsoft.com/office/drawing/2014/main" id="{F3F828A5-BE99-63B8-7E2F-CBE7CB742E7B}"/>
              </a:ext>
            </a:extLst>
          </p:cNvPr>
          <p:cNvSpPr txBox="1"/>
          <p:nvPr/>
        </p:nvSpPr>
        <p:spPr>
          <a:xfrm>
            <a:off x="563527" y="1169581"/>
            <a:ext cx="6475226" cy="3754874"/>
          </a:xfrm>
          <a:prstGeom prst="rect">
            <a:avLst/>
          </a:prstGeom>
          <a:noFill/>
        </p:spPr>
        <p:txBody>
          <a:bodyPr wrap="square" rtlCol="0">
            <a:spAutoFit/>
          </a:bodyPr>
          <a:lstStyle/>
          <a:p>
            <a:r>
              <a:rPr lang="en-US" b="1" dirty="0"/>
              <a:t>Step 3: Solve</a:t>
            </a:r>
          </a:p>
          <a:p>
            <a:endParaRPr lang="en-US" b="1" dirty="0"/>
          </a:p>
          <a:p>
            <a:r>
              <a:rPr lang="en-US" dirty="0"/>
              <a:t>Solve the resulting equation for the remaining variable:</a:t>
            </a:r>
          </a:p>
          <a:p>
            <a:r>
              <a:rPr lang="en-US" dirty="0"/>
              <a:t>x = 32/19</a:t>
            </a:r>
          </a:p>
          <a:p>
            <a:r>
              <a:rPr lang="en-US" b="1" dirty="0"/>
              <a:t>Step 4: Back-Substitute</a:t>
            </a:r>
          </a:p>
          <a:p>
            <a:endParaRPr lang="en-US" b="1" dirty="0"/>
          </a:p>
          <a:p>
            <a:r>
              <a:rPr lang="en-US" dirty="0"/>
              <a:t>Substitute the value of x back into any of the original equations (Equation 1 or Equation 2) to solve for y. </a:t>
            </a:r>
          </a:p>
          <a:p>
            <a:r>
              <a:rPr lang="en-US" dirty="0"/>
              <a:t>Equation 2 is often the easiest:</a:t>
            </a:r>
          </a:p>
          <a:p>
            <a:r>
              <a:rPr lang="en-US" dirty="0"/>
              <a:t>3(32/19) + y = 6</a:t>
            </a:r>
          </a:p>
          <a:p>
            <a:r>
              <a:rPr lang="en-US" dirty="0"/>
              <a:t>y = 6 - 96/19</a:t>
            </a:r>
          </a:p>
          <a:p>
            <a:r>
              <a:rPr lang="en-US" dirty="0"/>
              <a:t>y = 18/19</a:t>
            </a:r>
          </a:p>
          <a:p>
            <a:r>
              <a:rPr lang="en-US" b="1" dirty="0"/>
              <a:t>Solution</a:t>
            </a:r>
          </a:p>
          <a:p>
            <a:r>
              <a:rPr lang="en-US" dirty="0"/>
              <a:t>The solution is:</a:t>
            </a:r>
          </a:p>
          <a:p>
            <a:r>
              <a:rPr lang="en-US" dirty="0"/>
              <a:t>x = 32/19</a:t>
            </a:r>
          </a:p>
          <a:p>
            <a:r>
              <a:rPr lang="en-US" dirty="0"/>
              <a:t>y = 18/19</a:t>
            </a:r>
          </a:p>
          <a:p>
            <a:r>
              <a:rPr lang="en-US" i="1" dirty="0"/>
              <a:t>Always check your solution by substituting it back into the original equations!</a:t>
            </a:r>
          </a:p>
        </p:txBody>
      </p:sp>
    </p:spTree>
    <p:extLst>
      <p:ext uri="{BB962C8B-B14F-4D97-AF65-F5344CB8AC3E}">
        <p14:creationId xmlns:p14="http://schemas.microsoft.com/office/powerpoint/2010/main" val="326041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BF526-01CB-04F4-4E17-151CFC1BB284}"/>
              </a:ext>
            </a:extLst>
          </p:cNvPr>
          <p:cNvSpPr>
            <a:spLocks noGrp="1"/>
          </p:cNvSpPr>
          <p:nvPr>
            <p:ph type="title"/>
          </p:nvPr>
        </p:nvSpPr>
        <p:spPr>
          <a:xfrm>
            <a:off x="946298" y="445024"/>
            <a:ext cx="7840552" cy="889125"/>
          </a:xfrm>
        </p:spPr>
        <p:txBody>
          <a:bodyPr>
            <a:normAutofit fontScale="90000"/>
          </a:bodyPr>
          <a:lstStyle/>
          <a:p>
            <a:r>
              <a:rPr lang="en-US" dirty="0"/>
              <a:t>Understanding Vector Addition and Scalar Multiplication</a:t>
            </a:r>
          </a:p>
        </p:txBody>
      </p:sp>
      <p:sp>
        <p:nvSpPr>
          <p:cNvPr id="9" name="TextBox 8">
            <a:extLst>
              <a:ext uri="{FF2B5EF4-FFF2-40B4-BE49-F238E27FC236}">
                <a16:creationId xmlns:a16="http://schemas.microsoft.com/office/drawing/2014/main" id="{1C6F0D27-38C8-092C-8C7A-7A2B774FC227}"/>
              </a:ext>
            </a:extLst>
          </p:cNvPr>
          <p:cNvSpPr txBox="1"/>
          <p:nvPr/>
        </p:nvSpPr>
        <p:spPr>
          <a:xfrm>
            <a:off x="1073888" y="1334149"/>
            <a:ext cx="6847368" cy="2154436"/>
          </a:xfrm>
          <a:prstGeom prst="rect">
            <a:avLst/>
          </a:prstGeom>
          <a:noFill/>
        </p:spPr>
        <p:txBody>
          <a:bodyPr wrap="square" rtlCol="0">
            <a:spAutoFit/>
          </a:bodyPr>
          <a:lstStyle/>
          <a:p>
            <a:r>
              <a:rPr lang="en-US" sz="2000" b="1" dirty="0"/>
              <a:t>Learning Objectives:</a:t>
            </a:r>
          </a:p>
          <a:p>
            <a:pPr marL="342900" indent="-342900">
              <a:buFont typeface="Arial" panose="020B0604020202020204" pitchFamily="34" charset="0"/>
              <a:buChar char="•"/>
            </a:pPr>
            <a:r>
              <a:rPr lang="en-US" sz="2000" dirty="0"/>
              <a:t>Understand how to add vectors graphically and algebraically.</a:t>
            </a:r>
          </a:p>
          <a:p>
            <a:pPr marL="342900" indent="-342900">
              <a:buFont typeface="Arial" panose="020B0604020202020204" pitchFamily="34" charset="0"/>
              <a:buChar char="•"/>
            </a:pPr>
            <a:r>
              <a:rPr lang="en-US" sz="2000" dirty="0"/>
              <a:t>Learn the concept of scalar multiplication and how it scales a vector.</a:t>
            </a:r>
          </a:p>
          <a:p>
            <a:pPr marL="342900" indent="-342900">
              <a:buFont typeface="Arial" panose="020B0604020202020204" pitchFamily="34" charset="0"/>
              <a:buChar char="•"/>
            </a:pPr>
            <a:r>
              <a:rPr lang="en-US" sz="2000" dirty="0"/>
              <a:t>Visualize vector operations using Python.</a:t>
            </a:r>
          </a:p>
          <a:p>
            <a:endParaRPr lang="en-US" dirty="0"/>
          </a:p>
        </p:txBody>
      </p:sp>
    </p:spTree>
    <p:extLst>
      <p:ext uri="{BB962C8B-B14F-4D97-AF65-F5344CB8AC3E}">
        <p14:creationId xmlns:p14="http://schemas.microsoft.com/office/powerpoint/2010/main" val="2783134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38F91-CCE8-A289-35F5-1D6F10D5D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6A385-E07C-5426-2D56-20EF16BB63F4}"/>
              </a:ext>
            </a:extLst>
          </p:cNvPr>
          <p:cNvSpPr>
            <a:spLocks noGrp="1"/>
          </p:cNvSpPr>
          <p:nvPr>
            <p:ph type="title"/>
          </p:nvPr>
        </p:nvSpPr>
        <p:spPr>
          <a:xfrm>
            <a:off x="946298" y="445024"/>
            <a:ext cx="7840552" cy="889125"/>
          </a:xfrm>
        </p:spPr>
        <p:txBody>
          <a:bodyPr>
            <a:normAutofit fontScale="90000"/>
          </a:bodyPr>
          <a:lstStyle/>
          <a:p>
            <a:r>
              <a:rPr lang="en-US" b="1" dirty="0"/>
              <a:t>What is a Vector?</a:t>
            </a:r>
            <a:br>
              <a:rPr lang="en-US" b="1" dirty="0"/>
            </a:br>
            <a:endParaRPr lang="en-US" dirty="0"/>
          </a:p>
        </p:txBody>
      </p:sp>
      <p:sp>
        <p:nvSpPr>
          <p:cNvPr id="9" name="TextBox 8">
            <a:extLst>
              <a:ext uri="{FF2B5EF4-FFF2-40B4-BE49-F238E27FC236}">
                <a16:creationId xmlns:a16="http://schemas.microsoft.com/office/drawing/2014/main" id="{6167F132-E935-A306-424D-F865D85B8E29}"/>
              </a:ext>
            </a:extLst>
          </p:cNvPr>
          <p:cNvSpPr txBox="1"/>
          <p:nvPr/>
        </p:nvSpPr>
        <p:spPr>
          <a:xfrm>
            <a:off x="1073888" y="1334149"/>
            <a:ext cx="6847368" cy="615553"/>
          </a:xfrm>
          <a:prstGeom prst="rect">
            <a:avLst/>
          </a:prstGeom>
          <a:noFill/>
        </p:spPr>
        <p:txBody>
          <a:bodyPr wrap="square" rtlCol="0">
            <a:spAutoFit/>
          </a:bodyPr>
          <a:lstStyle/>
          <a:p>
            <a:endParaRPr lang="en-US" sz="2000" b="1" dirty="0"/>
          </a:p>
          <a:p>
            <a:endParaRPr lang="en-US" dirty="0"/>
          </a:p>
        </p:txBody>
      </p:sp>
      <p:sp>
        <p:nvSpPr>
          <p:cNvPr id="3" name="TextBox 2">
            <a:extLst>
              <a:ext uri="{FF2B5EF4-FFF2-40B4-BE49-F238E27FC236}">
                <a16:creationId xmlns:a16="http://schemas.microsoft.com/office/drawing/2014/main" id="{5977DFF4-75DF-F55F-6DCA-AE910BE10666}"/>
              </a:ext>
            </a:extLst>
          </p:cNvPr>
          <p:cNvSpPr txBox="1"/>
          <p:nvPr/>
        </p:nvSpPr>
        <p:spPr>
          <a:xfrm>
            <a:off x="818707" y="1641925"/>
            <a:ext cx="4712955" cy="2462213"/>
          </a:xfrm>
          <a:prstGeom prst="rect">
            <a:avLst/>
          </a:prstGeom>
          <a:noFill/>
        </p:spPr>
        <p:txBody>
          <a:bodyPr wrap="square" rtlCol="0">
            <a:spAutoFit/>
          </a:bodyPr>
          <a:lstStyle/>
          <a:p>
            <a:pPr marL="285750" indent="-285750">
              <a:buFont typeface="Wingdings" panose="05000000000000000000" pitchFamily="2" charset="2"/>
              <a:buChar char="Ø"/>
            </a:pPr>
            <a:r>
              <a:rPr lang="en-US" sz="1800" dirty="0"/>
              <a:t>A vector is a quantity that has both magnitude and direction.</a:t>
            </a:r>
          </a:p>
          <a:p>
            <a:endParaRPr lang="en-US" sz="1800" dirty="0"/>
          </a:p>
          <a:p>
            <a:pPr marL="285750" indent="-285750">
              <a:buFont typeface="Wingdings" panose="05000000000000000000" pitchFamily="2" charset="2"/>
              <a:buChar char="Ø"/>
            </a:pPr>
            <a:r>
              <a:rPr lang="en-US" sz="1800" dirty="0"/>
              <a:t>Represented as in 2D or in 3D</a:t>
            </a:r>
          </a:p>
          <a:p>
            <a:endParaRPr lang="en-US" sz="1800" dirty="0"/>
          </a:p>
          <a:p>
            <a:pPr marL="285750" indent="-285750">
              <a:buFont typeface="Wingdings" panose="05000000000000000000" pitchFamily="2" charset="2"/>
              <a:buChar char="Ø"/>
            </a:pPr>
            <a:r>
              <a:rPr lang="en-US" sz="1800" dirty="0"/>
              <a:t>Used in physics, engineering, and computer graphics.</a:t>
            </a:r>
            <a:br>
              <a:rPr lang="en-US" dirty="0"/>
            </a:br>
            <a:br>
              <a:rPr lang="en-US" dirty="0"/>
            </a:br>
            <a:endParaRPr lang="en-US" dirty="0"/>
          </a:p>
        </p:txBody>
      </p:sp>
      <p:pic>
        <p:nvPicPr>
          <p:cNvPr id="5" name="Picture 4">
            <a:extLst>
              <a:ext uri="{FF2B5EF4-FFF2-40B4-BE49-F238E27FC236}">
                <a16:creationId xmlns:a16="http://schemas.microsoft.com/office/drawing/2014/main" id="{8AE068D6-304E-5EA5-671C-B8547D310F57}"/>
              </a:ext>
            </a:extLst>
          </p:cNvPr>
          <p:cNvPicPr>
            <a:picLocks noChangeAspect="1"/>
          </p:cNvPicPr>
          <p:nvPr/>
        </p:nvPicPr>
        <p:blipFill>
          <a:blip r:embed="rId2"/>
          <a:stretch>
            <a:fillRect/>
          </a:stretch>
        </p:blipFill>
        <p:spPr>
          <a:xfrm>
            <a:off x="5531663" y="1949702"/>
            <a:ext cx="3474114" cy="1859650"/>
          </a:xfrm>
          <a:prstGeom prst="rect">
            <a:avLst/>
          </a:prstGeom>
        </p:spPr>
      </p:pic>
    </p:spTree>
    <p:extLst>
      <p:ext uri="{BB962C8B-B14F-4D97-AF65-F5344CB8AC3E}">
        <p14:creationId xmlns:p14="http://schemas.microsoft.com/office/powerpoint/2010/main" val="2295283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AD939-C4D5-0F3A-C1B6-69C0C06867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E3A9D-25EF-3947-1AB9-647BC20DF851}"/>
              </a:ext>
            </a:extLst>
          </p:cNvPr>
          <p:cNvSpPr>
            <a:spLocks noGrp="1"/>
          </p:cNvSpPr>
          <p:nvPr>
            <p:ph type="title"/>
          </p:nvPr>
        </p:nvSpPr>
        <p:spPr>
          <a:xfrm>
            <a:off x="818707" y="91081"/>
            <a:ext cx="7840552" cy="523221"/>
          </a:xfrm>
        </p:spPr>
        <p:txBody>
          <a:bodyPr>
            <a:normAutofit fontScale="90000"/>
          </a:bodyPr>
          <a:lstStyle/>
          <a:p>
            <a:r>
              <a:rPr lang="en-US" sz="3100" i="0" u="none" strike="noStrike" baseline="0" dirty="0">
                <a:latin typeface="+mn-lt"/>
              </a:rPr>
              <a:t>Vector Addition</a:t>
            </a:r>
            <a:br>
              <a:rPr lang="en-US" b="1" dirty="0"/>
            </a:br>
            <a:endParaRPr lang="en-US" dirty="0"/>
          </a:p>
        </p:txBody>
      </p:sp>
      <p:sp>
        <p:nvSpPr>
          <p:cNvPr id="9" name="TextBox 8">
            <a:extLst>
              <a:ext uri="{FF2B5EF4-FFF2-40B4-BE49-F238E27FC236}">
                <a16:creationId xmlns:a16="http://schemas.microsoft.com/office/drawing/2014/main" id="{321AAD34-16DC-4EC6-9132-A0BFBB940C65}"/>
              </a:ext>
            </a:extLst>
          </p:cNvPr>
          <p:cNvSpPr txBox="1"/>
          <p:nvPr/>
        </p:nvSpPr>
        <p:spPr>
          <a:xfrm>
            <a:off x="138222" y="909756"/>
            <a:ext cx="7740503" cy="2308324"/>
          </a:xfrm>
          <a:prstGeom prst="rect">
            <a:avLst/>
          </a:prstGeom>
          <a:noFill/>
        </p:spPr>
        <p:txBody>
          <a:bodyPr wrap="square" rtlCol="0">
            <a:spAutoFit/>
          </a:bodyPr>
          <a:lstStyle/>
          <a:p>
            <a:r>
              <a:rPr lang="en-US" sz="1800" dirty="0"/>
              <a:t>When adding two vectors of the same dimension, we combine their corresponding components. </a:t>
            </a:r>
          </a:p>
          <a:p>
            <a:r>
              <a:rPr lang="en-US" sz="1800" dirty="0"/>
              <a:t>This can be visualized geometrically as placing the tail of the second vector at the head of the first vector; the resultant vector stretches from the tail of the first to the head of the second.</a:t>
            </a:r>
          </a:p>
          <a:p>
            <a:r>
              <a:rPr lang="en-US" sz="1800" dirty="0"/>
              <a:t>Mathematically:</a:t>
            </a:r>
          </a:p>
          <a:p>
            <a:r>
              <a:rPr lang="en-US" sz="1800" dirty="0"/>
              <a:t>u + v = [u₁, u₂, ..., uₙ] + [v₁, v₂, ..., vₙ] = [u₁+v₁, u₂+v₂, ..., uₙ+vₙ]</a:t>
            </a:r>
          </a:p>
          <a:p>
            <a:endParaRPr lang="en-US" sz="1800" dirty="0"/>
          </a:p>
        </p:txBody>
      </p:sp>
      <p:pic>
        <p:nvPicPr>
          <p:cNvPr id="7" name="Picture 6">
            <a:extLst>
              <a:ext uri="{FF2B5EF4-FFF2-40B4-BE49-F238E27FC236}">
                <a16:creationId xmlns:a16="http://schemas.microsoft.com/office/drawing/2014/main" id="{0743633A-D69D-A5A7-1697-D9C93D58DDD8}"/>
              </a:ext>
            </a:extLst>
          </p:cNvPr>
          <p:cNvPicPr>
            <a:picLocks noChangeAspect="1"/>
          </p:cNvPicPr>
          <p:nvPr/>
        </p:nvPicPr>
        <p:blipFill>
          <a:blip r:embed="rId2"/>
          <a:stretch>
            <a:fillRect/>
          </a:stretch>
        </p:blipFill>
        <p:spPr>
          <a:xfrm>
            <a:off x="2104803" y="3080744"/>
            <a:ext cx="3467100" cy="1971675"/>
          </a:xfrm>
          <a:prstGeom prst="rect">
            <a:avLst/>
          </a:prstGeom>
        </p:spPr>
      </p:pic>
    </p:spTree>
    <p:extLst>
      <p:ext uri="{BB962C8B-B14F-4D97-AF65-F5344CB8AC3E}">
        <p14:creationId xmlns:p14="http://schemas.microsoft.com/office/powerpoint/2010/main" val="1310630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FC174-04E7-8167-5FFE-2B6D13028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5B72D5-6DD7-57A9-C7FC-53D71294E694}"/>
              </a:ext>
            </a:extLst>
          </p:cNvPr>
          <p:cNvSpPr>
            <a:spLocks noGrp="1"/>
          </p:cNvSpPr>
          <p:nvPr>
            <p:ph type="title"/>
          </p:nvPr>
        </p:nvSpPr>
        <p:spPr>
          <a:xfrm>
            <a:off x="818707" y="91081"/>
            <a:ext cx="7840552" cy="523221"/>
          </a:xfrm>
        </p:spPr>
        <p:txBody>
          <a:bodyPr>
            <a:normAutofit fontScale="90000"/>
          </a:bodyPr>
          <a:lstStyle/>
          <a:p>
            <a:r>
              <a:rPr lang="en-US" sz="3100" i="0" u="none" strike="noStrike" baseline="0" dirty="0">
                <a:latin typeface="+mn-lt"/>
              </a:rPr>
              <a:t>Vector Addition</a:t>
            </a:r>
            <a:br>
              <a:rPr lang="en-US" b="1" dirty="0"/>
            </a:br>
            <a:endParaRPr lang="en-US" dirty="0"/>
          </a:p>
        </p:txBody>
      </p:sp>
      <p:sp>
        <p:nvSpPr>
          <p:cNvPr id="3" name="TextBox 2">
            <a:extLst>
              <a:ext uri="{FF2B5EF4-FFF2-40B4-BE49-F238E27FC236}">
                <a16:creationId xmlns:a16="http://schemas.microsoft.com/office/drawing/2014/main" id="{3C88E978-62A0-F312-6367-E25EA16D289F}"/>
              </a:ext>
            </a:extLst>
          </p:cNvPr>
          <p:cNvSpPr txBox="1"/>
          <p:nvPr/>
        </p:nvSpPr>
        <p:spPr>
          <a:xfrm>
            <a:off x="818707" y="1180214"/>
            <a:ext cx="7506586" cy="307777"/>
          </a:xfrm>
          <a:prstGeom prst="rect">
            <a:avLst/>
          </a:prstGeom>
          <a:noFill/>
        </p:spPr>
        <p:txBody>
          <a:bodyPr wrap="square" rtlCol="0">
            <a:spAutoFit/>
          </a:bodyPr>
          <a:lstStyle/>
          <a:p>
            <a:endParaRPr lang="en-US" dirty="0"/>
          </a:p>
        </p:txBody>
      </p:sp>
      <p:pic>
        <p:nvPicPr>
          <p:cNvPr id="5" name="Picture 4">
            <a:extLst>
              <a:ext uri="{FF2B5EF4-FFF2-40B4-BE49-F238E27FC236}">
                <a16:creationId xmlns:a16="http://schemas.microsoft.com/office/drawing/2014/main" id="{E446E43E-F992-2249-A1B6-17F996A5811B}"/>
              </a:ext>
            </a:extLst>
          </p:cNvPr>
          <p:cNvPicPr>
            <a:picLocks noChangeAspect="1"/>
          </p:cNvPicPr>
          <p:nvPr/>
        </p:nvPicPr>
        <p:blipFill>
          <a:blip r:embed="rId2"/>
          <a:srcRect l="10423" r="1208" b="60282"/>
          <a:stretch/>
        </p:blipFill>
        <p:spPr>
          <a:xfrm>
            <a:off x="1116418" y="810511"/>
            <a:ext cx="6220047" cy="1252205"/>
          </a:xfrm>
          <a:prstGeom prst="rect">
            <a:avLst/>
          </a:prstGeom>
        </p:spPr>
      </p:pic>
      <p:sp>
        <p:nvSpPr>
          <p:cNvPr id="6" name="TextBox 5">
            <a:extLst>
              <a:ext uri="{FF2B5EF4-FFF2-40B4-BE49-F238E27FC236}">
                <a16:creationId xmlns:a16="http://schemas.microsoft.com/office/drawing/2014/main" id="{A35E1254-D451-51EA-5D74-829495F9DAB6}"/>
              </a:ext>
            </a:extLst>
          </p:cNvPr>
          <p:cNvSpPr txBox="1"/>
          <p:nvPr/>
        </p:nvSpPr>
        <p:spPr>
          <a:xfrm>
            <a:off x="1116418" y="2180801"/>
            <a:ext cx="2020186" cy="338554"/>
          </a:xfrm>
          <a:prstGeom prst="rect">
            <a:avLst/>
          </a:prstGeom>
          <a:noFill/>
        </p:spPr>
        <p:txBody>
          <a:bodyPr wrap="square" rtlCol="0">
            <a:spAutoFit/>
          </a:bodyPr>
          <a:lstStyle/>
          <a:p>
            <a:r>
              <a:rPr lang="en-US" sz="1600" b="1" dirty="0"/>
              <a:t>Implementation:</a:t>
            </a:r>
          </a:p>
        </p:txBody>
      </p:sp>
      <p:pic>
        <p:nvPicPr>
          <p:cNvPr id="10" name="Picture 9">
            <a:extLst>
              <a:ext uri="{FF2B5EF4-FFF2-40B4-BE49-F238E27FC236}">
                <a16:creationId xmlns:a16="http://schemas.microsoft.com/office/drawing/2014/main" id="{4195109D-4740-88C7-4878-68ED65E65CD5}"/>
              </a:ext>
            </a:extLst>
          </p:cNvPr>
          <p:cNvPicPr>
            <a:picLocks noChangeAspect="1"/>
          </p:cNvPicPr>
          <p:nvPr/>
        </p:nvPicPr>
        <p:blipFill>
          <a:blip r:embed="rId3"/>
          <a:stretch>
            <a:fillRect/>
          </a:stretch>
        </p:blipFill>
        <p:spPr>
          <a:xfrm>
            <a:off x="2961628" y="2156705"/>
            <a:ext cx="3853841" cy="2421979"/>
          </a:xfrm>
          <a:prstGeom prst="rect">
            <a:avLst/>
          </a:prstGeom>
        </p:spPr>
      </p:pic>
    </p:spTree>
    <p:extLst>
      <p:ext uri="{BB962C8B-B14F-4D97-AF65-F5344CB8AC3E}">
        <p14:creationId xmlns:p14="http://schemas.microsoft.com/office/powerpoint/2010/main" val="709017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84540-61EE-9932-CA9F-F61ED0F12F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52C2C-C0ED-52E9-1790-CC5CF26A19E2}"/>
              </a:ext>
            </a:extLst>
          </p:cNvPr>
          <p:cNvSpPr>
            <a:spLocks noGrp="1"/>
          </p:cNvSpPr>
          <p:nvPr>
            <p:ph type="title"/>
          </p:nvPr>
        </p:nvSpPr>
        <p:spPr>
          <a:xfrm>
            <a:off x="818707" y="91081"/>
            <a:ext cx="7840552" cy="523221"/>
          </a:xfrm>
        </p:spPr>
        <p:txBody>
          <a:bodyPr>
            <a:normAutofit fontScale="90000"/>
          </a:bodyPr>
          <a:lstStyle/>
          <a:p>
            <a:r>
              <a:rPr lang="en-US" sz="3200" dirty="0"/>
              <a:t>Scalar Multiplication</a:t>
            </a:r>
            <a:br>
              <a:rPr lang="en-US" b="1" dirty="0"/>
            </a:br>
            <a:endParaRPr lang="en-US" dirty="0"/>
          </a:p>
        </p:txBody>
      </p:sp>
      <p:sp>
        <p:nvSpPr>
          <p:cNvPr id="3" name="TextBox 2">
            <a:extLst>
              <a:ext uri="{FF2B5EF4-FFF2-40B4-BE49-F238E27FC236}">
                <a16:creationId xmlns:a16="http://schemas.microsoft.com/office/drawing/2014/main" id="{6AA6E4B5-50B6-23D3-8CFB-712478C62362}"/>
              </a:ext>
            </a:extLst>
          </p:cNvPr>
          <p:cNvSpPr txBox="1"/>
          <p:nvPr/>
        </p:nvSpPr>
        <p:spPr>
          <a:xfrm>
            <a:off x="818707" y="1180214"/>
            <a:ext cx="7506586" cy="307777"/>
          </a:xfrm>
          <a:prstGeom prst="rect">
            <a:avLst/>
          </a:prstGeom>
          <a:noFill/>
        </p:spPr>
        <p:txBody>
          <a:bodyPr wrap="square" rtlCol="0">
            <a:spAutoFit/>
          </a:bodyPr>
          <a:lstStyle/>
          <a:p>
            <a:endParaRPr lang="en-US" dirty="0"/>
          </a:p>
        </p:txBody>
      </p:sp>
      <p:sp>
        <p:nvSpPr>
          <p:cNvPr id="4" name="TextBox 3">
            <a:extLst>
              <a:ext uri="{FF2B5EF4-FFF2-40B4-BE49-F238E27FC236}">
                <a16:creationId xmlns:a16="http://schemas.microsoft.com/office/drawing/2014/main" id="{67795AB2-6021-233D-7CE0-75FA886E07EC}"/>
              </a:ext>
            </a:extLst>
          </p:cNvPr>
          <p:cNvSpPr txBox="1"/>
          <p:nvPr/>
        </p:nvSpPr>
        <p:spPr>
          <a:xfrm>
            <a:off x="520995" y="1105786"/>
            <a:ext cx="7506586" cy="1692771"/>
          </a:xfrm>
          <a:prstGeom prst="rect">
            <a:avLst/>
          </a:prstGeom>
          <a:noFill/>
        </p:spPr>
        <p:txBody>
          <a:bodyPr wrap="square" rtlCol="0">
            <a:spAutoFit/>
          </a:bodyPr>
          <a:lstStyle/>
          <a:p>
            <a:r>
              <a:rPr lang="en-US" sz="1800" dirty="0"/>
              <a:t>Scalar multiplication involves multiplying a vector by a single number (a scalar).  This has the effect of scaling the vector's magnitude (length).  If the scalar is positive, the direction remains the same; if negative, the direction is reversed.</a:t>
            </a:r>
          </a:p>
          <a:p>
            <a:r>
              <a:rPr lang="en-US" sz="1600" b="1" i="1" dirty="0"/>
              <a:t>Mathematically:</a:t>
            </a:r>
            <a:r>
              <a:rPr lang="en-US" b="1" i="1" dirty="0"/>
              <a:t> </a:t>
            </a:r>
            <a:r>
              <a:rPr lang="en-US" sz="1800" dirty="0"/>
              <a:t>αv = α[v₁, v₂, ..., vₙ] = [αv₁, αv₂, ..., αvₙ]</a:t>
            </a:r>
          </a:p>
          <a:p>
            <a:endParaRPr lang="en-US" dirty="0"/>
          </a:p>
        </p:txBody>
      </p:sp>
      <p:pic>
        <p:nvPicPr>
          <p:cNvPr id="9" name="Picture 8">
            <a:extLst>
              <a:ext uri="{FF2B5EF4-FFF2-40B4-BE49-F238E27FC236}">
                <a16:creationId xmlns:a16="http://schemas.microsoft.com/office/drawing/2014/main" id="{932AAC66-84A8-BEDD-3374-1F8D36AED8FA}"/>
              </a:ext>
            </a:extLst>
          </p:cNvPr>
          <p:cNvPicPr>
            <a:picLocks noChangeAspect="1"/>
          </p:cNvPicPr>
          <p:nvPr/>
        </p:nvPicPr>
        <p:blipFill>
          <a:blip r:embed="rId2"/>
          <a:stretch>
            <a:fillRect/>
          </a:stretch>
        </p:blipFill>
        <p:spPr>
          <a:xfrm>
            <a:off x="520995" y="2569321"/>
            <a:ext cx="3339620" cy="1590295"/>
          </a:xfrm>
          <a:prstGeom prst="rect">
            <a:avLst/>
          </a:prstGeom>
        </p:spPr>
      </p:pic>
      <p:sp>
        <p:nvSpPr>
          <p:cNvPr id="11" name="TextBox 10">
            <a:extLst>
              <a:ext uri="{FF2B5EF4-FFF2-40B4-BE49-F238E27FC236}">
                <a16:creationId xmlns:a16="http://schemas.microsoft.com/office/drawing/2014/main" id="{22AE970A-A4BE-2D1C-939A-AA306B8A7D74}"/>
              </a:ext>
            </a:extLst>
          </p:cNvPr>
          <p:cNvSpPr txBox="1"/>
          <p:nvPr/>
        </p:nvSpPr>
        <p:spPr>
          <a:xfrm>
            <a:off x="3860615" y="3115286"/>
            <a:ext cx="2020186" cy="338554"/>
          </a:xfrm>
          <a:prstGeom prst="rect">
            <a:avLst/>
          </a:prstGeom>
          <a:noFill/>
        </p:spPr>
        <p:txBody>
          <a:bodyPr wrap="square" rtlCol="0">
            <a:spAutoFit/>
          </a:bodyPr>
          <a:lstStyle/>
          <a:p>
            <a:r>
              <a:rPr lang="en-US" sz="1600" b="1" dirty="0"/>
              <a:t>Implementation:</a:t>
            </a:r>
          </a:p>
        </p:txBody>
      </p:sp>
      <p:pic>
        <p:nvPicPr>
          <p:cNvPr id="15" name="Picture 14">
            <a:extLst>
              <a:ext uri="{FF2B5EF4-FFF2-40B4-BE49-F238E27FC236}">
                <a16:creationId xmlns:a16="http://schemas.microsoft.com/office/drawing/2014/main" id="{7888FF7A-B217-5B80-31FE-2CF3B5CD22D0}"/>
              </a:ext>
            </a:extLst>
          </p:cNvPr>
          <p:cNvPicPr>
            <a:picLocks noChangeAspect="1"/>
          </p:cNvPicPr>
          <p:nvPr/>
        </p:nvPicPr>
        <p:blipFill>
          <a:blip r:embed="rId3"/>
          <a:stretch>
            <a:fillRect/>
          </a:stretch>
        </p:blipFill>
        <p:spPr>
          <a:xfrm>
            <a:off x="5611317" y="2569321"/>
            <a:ext cx="3237710" cy="1960332"/>
          </a:xfrm>
          <a:prstGeom prst="rect">
            <a:avLst/>
          </a:prstGeom>
        </p:spPr>
      </p:pic>
    </p:spTree>
    <p:extLst>
      <p:ext uri="{BB962C8B-B14F-4D97-AF65-F5344CB8AC3E}">
        <p14:creationId xmlns:p14="http://schemas.microsoft.com/office/powerpoint/2010/main" val="112414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F4BBE-328F-6BA0-0931-0BC9D044AA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1BD93-2D60-8143-E676-2409464DF418}"/>
              </a:ext>
            </a:extLst>
          </p:cNvPr>
          <p:cNvSpPr>
            <a:spLocks noGrp="1"/>
          </p:cNvSpPr>
          <p:nvPr>
            <p:ph type="title"/>
          </p:nvPr>
        </p:nvSpPr>
        <p:spPr>
          <a:xfrm>
            <a:off x="818707" y="91081"/>
            <a:ext cx="7840552" cy="523221"/>
          </a:xfrm>
        </p:spPr>
        <p:txBody>
          <a:bodyPr>
            <a:normAutofit fontScale="90000"/>
          </a:bodyPr>
          <a:lstStyle/>
          <a:p>
            <a:r>
              <a:rPr lang="en-US" sz="3200" dirty="0"/>
              <a:t>Visualization with Python</a:t>
            </a:r>
            <a:endParaRPr lang="en-US" dirty="0"/>
          </a:p>
        </p:txBody>
      </p:sp>
      <p:sp>
        <p:nvSpPr>
          <p:cNvPr id="3" name="TextBox 2">
            <a:extLst>
              <a:ext uri="{FF2B5EF4-FFF2-40B4-BE49-F238E27FC236}">
                <a16:creationId xmlns:a16="http://schemas.microsoft.com/office/drawing/2014/main" id="{0184CD9D-AAC2-C010-3D8C-D1471BABD7CB}"/>
              </a:ext>
            </a:extLst>
          </p:cNvPr>
          <p:cNvSpPr txBox="1"/>
          <p:nvPr/>
        </p:nvSpPr>
        <p:spPr>
          <a:xfrm>
            <a:off x="818707" y="1180214"/>
            <a:ext cx="7506586" cy="307777"/>
          </a:xfrm>
          <a:prstGeom prst="rect">
            <a:avLst/>
          </a:prstGeom>
          <a:noFill/>
        </p:spPr>
        <p:txBody>
          <a:bodyPr wrap="square" rtlCol="0">
            <a:spAutoFit/>
          </a:bodyPr>
          <a:lstStyle/>
          <a:p>
            <a:endParaRPr lang="en-US" dirty="0"/>
          </a:p>
        </p:txBody>
      </p:sp>
      <p:graphicFrame>
        <p:nvGraphicFramePr>
          <p:cNvPr id="5" name="Table 4">
            <a:extLst>
              <a:ext uri="{FF2B5EF4-FFF2-40B4-BE49-F238E27FC236}">
                <a16:creationId xmlns:a16="http://schemas.microsoft.com/office/drawing/2014/main" id="{911ABF5E-3F19-7F9F-E066-F52C1F6D37FB}"/>
              </a:ext>
            </a:extLst>
          </p:cNvPr>
          <p:cNvGraphicFramePr>
            <a:graphicFrameLocks noGrp="1"/>
          </p:cNvGraphicFramePr>
          <p:nvPr>
            <p:extLst>
              <p:ext uri="{D42A27DB-BD31-4B8C-83A1-F6EECF244321}">
                <p14:modId xmlns:p14="http://schemas.microsoft.com/office/powerpoint/2010/main" val="1172999475"/>
              </p:ext>
            </p:extLst>
          </p:nvPr>
        </p:nvGraphicFramePr>
        <p:xfrm>
          <a:off x="0" y="539750"/>
          <a:ext cx="9144000" cy="4693979"/>
        </p:xfrm>
        <a:graphic>
          <a:graphicData uri="http://schemas.openxmlformats.org/drawingml/2006/table">
            <a:tbl>
              <a:tblPr firstRow="1" bandRow="1">
                <a:tableStyleId>{62C7666B-862D-4F7F-BA0C-E88144764012}</a:tableStyleId>
              </a:tblPr>
              <a:tblGrid>
                <a:gridCol w="4572000">
                  <a:extLst>
                    <a:ext uri="{9D8B030D-6E8A-4147-A177-3AD203B41FA5}">
                      <a16:colId xmlns:a16="http://schemas.microsoft.com/office/drawing/2014/main" val="3806175346"/>
                    </a:ext>
                  </a:extLst>
                </a:gridCol>
                <a:gridCol w="4572000">
                  <a:extLst>
                    <a:ext uri="{9D8B030D-6E8A-4147-A177-3AD203B41FA5}">
                      <a16:colId xmlns:a16="http://schemas.microsoft.com/office/drawing/2014/main" val="2843210251"/>
                    </a:ext>
                  </a:extLst>
                </a:gridCol>
              </a:tblGrid>
              <a:tr h="502241">
                <a:tc>
                  <a:txBody>
                    <a:bodyPr/>
                    <a:lstStyle/>
                    <a:p>
                      <a:r>
                        <a:rPr lang="en-US" dirty="0"/>
                        <a:t>Vector Addition</a:t>
                      </a:r>
                    </a:p>
                  </a:txBody>
                  <a:tcPr/>
                </a:tc>
                <a:tc>
                  <a:txBody>
                    <a:bodyPr/>
                    <a:lstStyle/>
                    <a:p>
                      <a:r>
                        <a:rPr lang="en-US" dirty="0"/>
                        <a:t>Scalar Multiplication</a:t>
                      </a:r>
                    </a:p>
                  </a:txBody>
                  <a:tcPr/>
                </a:tc>
                <a:extLst>
                  <a:ext uri="{0D108BD9-81ED-4DB2-BD59-A6C34878D82A}">
                    <a16:rowId xmlns:a16="http://schemas.microsoft.com/office/drawing/2014/main" val="2521849343"/>
                  </a:ext>
                </a:extLst>
              </a:tr>
              <a:tr h="4191738">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378766024"/>
                  </a:ext>
                </a:extLst>
              </a:tr>
            </a:tbl>
          </a:graphicData>
        </a:graphic>
      </p:graphicFrame>
      <p:pic>
        <p:nvPicPr>
          <p:cNvPr id="7" name="Picture 6">
            <a:extLst>
              <a:ext uri="{FF2B5EF4-FFF2-40B4-BE49-F238E27FC236}">
                <a16:creationId xmlns:a16="http://schemas.microsoft.com/office/drawing/2014/main" id="{D3BBD90B-B425-B488-7F06-9B44BDB5456F}"/>
              </a:ext>
            </a:extLst>
          </p:cNvPr>
          <p:cNvPicPr>
            <a:picLocks noChangeAspect="1"/>
          </p:cNvPicPr>
          <p:nvPr/>
        </p:nvPicPr>
        <p:blipFill>
          <a:blip r:embed="rId2"/>
          <a:stretch>
            <a:fillRect/>
          </a:stretch>
        </p:blipFill>
        <p:spPr>
          <a:xfrm>
            <a:off x="85060" y="1051919"/>
            <a:ext cx="4391247" cy="4000500"/>
          </a:xfrm>
          <a:prstGeom prst="rect">
            <a:avLst/>
          </a:prstGeom>
        </p:spPr>
      </p:pic>
      <p:pic>
        <p:nvPicPr>
          <p:cNvPr id="10" name="Picture 9">
            <a:extLst>
              <a:ext uri="{FF2B5EF4-FFF2-40B4-BE49-F238E27FC236}">
                <a16:creationId xmlns:a16="http://schemas.microsoft.com/office/drawing/2014/main" id="{992A43EE-D4B1-51B9-5E67-E3E7ABF92C79}"/>
              </a:ext>
            </a:extLst>
          </p:cNvPr>
          <p:cNvPicPr>
            <a:picLocks noChangeAspect="1"/>
          </p:cNvPicPr>
          <p:nvPr/>
        </p:nvPicPr>
        <p:blipFill>
          <a:blip r:embed="rId3"/>
          <a:stretch>
            <a:fillRect/>
          </a:stretch>
        </p:blipFill>
        <p:spPr>
          <a:xfrm>
            <a:off x="4643879" y="1109069"/>
            <a:ext cx="4391247" cy="3943350"/>
          </a:xfrm>
          <a:prstGeom prst="rect">
            <a:avLst/>
          </a:prstGeom>
        </p:spPr>
      </p:pic>
    </p:spTree>
    <p:extLst>
      <p:ext uri="{BB962C8B-B14F-4D97-AF65-F5344CB8AC3E}">
        <p14:creationId xmlns:p14="http://schemas.microsoft.com/office/powerpoint/2010/main" val="2985255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8922C-41D1-3374-BBB6-8FA77A9C92E4}"/>
              </a:ext>
            </a:extLst>
          </p:cNvPr>
          <p:cNvSpPr>
            <a:spLocks noGrp="1"/>
          </p:cNvSpPr>
          <p:nvPr>
            <p:ph type="title"/>
          </p:nvPr>
        </p:nvSpPr>
        <p:spPr>
          <a:xfrm>
            <a:off x="2385150" y="435437"/>
            <a:ext cx="4810448" cy="627900"/>
          </a:xfrm>
        </p:spPr>
        <p:txBody>
          <a:bodyPr/>
          <a:lstStyle/>
          <a:p>
            <a:r>
              <a:rPr lang="en-US" dirty="0"/>
              <a:t>Practical Implementation</a:t>
            </a:r>
          </a:p>
        </p:txBody>
      </p:sp>
      <p:sp>
        <p:nvSpPr>
          <p:cNvPr id="3" name="Text Placeholder 2">
            <a:extLst>
              <a:ext uri="{FF2B5EF4-FFF2-40B4-BE49-F238E27FC236}">
                <a16:creationId xmlns:a16="http://schemas.microsoft.com/office/drawing/2014/main" id="{122014C1-FD45-642D-B46F-66E97EF74FDD}"/>
              </a:ext>
            </a:extLst>
          </p:cNvPr>
          <p:cNvSpPr>
            <a:spLocks noGrp="1"/>
          </p:cNvSpPr>
          <p:nvPr>
            <p:ph type="body" idx="1"/>
          </p:nvPr>
        </p:nvSpPr>
        <p:spPr>
          <a:xfrm>
            <a:off x="3035096" y="1198743"/>
            <a:ext cx="3748476" cy="541627"/>
          </a:xfrm>
        </p:spPr>
        <p:txBody>
          <a:bodyPr/>
          <a:lstStyle/>
          <a:p>
            <a:pPr marL="114300" indent="0">
              <a:buNone/>
            </a:pPr>
            <a:r>
              <a:rPr lang="en-US" dirty="0">
                <a:hlinkClick r:id="rId2"/>
              </a:rPr>
              <a:t>Click here for the Code</a:t>
            </a:r>
            <a:endParaRPr lang="en-US" dirty="0"/>
          </a:p>
        </p:txBody>
      </p:sp>
      <p:pic>
        <p:nvPicPr>
          <p:cNvPr id="4" name="Picture 3">
            <a:extLst>
              <a:ext uri="{FF2B5EF4-FFF2-40B4-BE49-F238E27FC236}">
                <a16:creationId xmlns:a16="http://schemas.microsoft.com/office/drawing/2014/main" id="{F952DD2F-F699-2D42-E2CA-8D66AA6C75E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2821085" y="1875776"/>
            <a:ext cx="3048000" cy="1828800"/>
          </a:xfrm>
          <a:prstGeom prst="rect">
            <a:avLst/>
          </a:prstGeom>
        </p:spPr>
      </p:pic>
    </p:spTree>
    <p:extLst>
      <p:ext uri="{BB962C8B-B14F-4D97-AF65-F5344CB8AC3E}">
        <p14:creationId xmlns:p14="http://schemas.microsoft.com/office/powerpoint/2010/main" val="1869487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405"/>
        <p:cNvGrpSpPr/>
        <p:nvPr/>
      </p:nvGrpSpPr>
      <p:grpSpPr>
        <a:xfrm>
          <a:off x="0" y="0"/>
          <a:ext cx="0" cy="0"/>
          <a:chOff x="0" y="0"/>
          <a:chExt cx="0" cy="0"/>
        </a:xfrm>
      </p:grpSpPr>
      <p:pic>
        <p:nvPicPr>
          <p:cNvPr id="406" name="Google Shape;406;p32"/>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407" name="Google Shape;407;p32"/>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408" name="Google Shape;408;p32"/>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409" name="Google Shape;409;p32"/>
          <p:cNvPicPr preferRelativeResize="0"/>
          <p:nvPr/>
        </p:nvPicPr>
        <p:blipFill rotWithShape="1">
          <a:blip r:embed="rId6">
            <a:alphaModFix/>
          </a:blip>
          <a:srcRect l="11047" t="22524" r="11047" b="22524"/>
          <a:stretch/>
        </p:blipFill>
        <p:spPr>
          <a:xfrm>
            <a:off x="3316327" y="2249012"/>
            <a:ext cx="688702" cy="395541"/>
          </a:xfrm>
          <a:prstGeom prst="rect">
            <a:avLst/>
          </a:prstGeom>
          <a:noFill/>
          <a:ln>
            <a:noFill/>
          </a:ln>
        </p:spPr>
      </p:pic>
      <p:pic>
        <p:nvPicPr>
          <p:cNvPr id="410" name="Google Shape;410;p32"/>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411" name="Google Shape;411;p32"/>
          <p:cNvPicPr preferRelativeResize="0"/>
          <p:nvPr/>
        </p:nvPicPr>
        <p:blipFill rotWithShape="1">
          <a:blip r:embed="rId8">
            <a:alphaModFix/>
          </a:blip>
          <a:srcRect l="2114" t="19777" b="19777"/>
          <a:stretch/>
        </p:blipFill>
        <p:spPr>
          <a:xfrm>
            <a:off x="3094065" y="1608499"/>
            <a:ext cx="1133226" cy="395540"/>
          </a:xfrm>
          <a:prstGeom prst="rect">
            <a:avLst/>
          </a:prstGeom>
          <a:noFill/>
          <a:ln>
            <a:noFill/>
          </a:ln>
        </p:spPr>
      </p:pic>
      <p:pic>
        <p:nvPicPr>
          <p:cNvPr id="412" name="Google Shape;412;p32"/>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413" name="Google Shape;413;p32"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414" name="Google Shape;414;p32"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415" name="Google Shape;415;p32"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416" name="Google Shape;416;p32"/>
          <p:cNvPicPr preferRelativeResize="0"/>
          <p:nvPr/>
        </p:nvPicPr>
        <p:blipFill rotWithShape="1">
          <a:blip r:embed="rId13">
            <a:alphaModFix/>
          </a:blip>
          <a:srcRect b="18916"/>
          <a:stretch/>
        </p:blipFill>
        <p:spPr>
          <a:xfrm>
            <a:off x="6450290" y="3643177"/>
            <a:ext cx="954212" cy="308352"/>
          </a:xfrm>
          <a:prstGeom prst="rect">
            <a:avLst/>
          </a:prstGeom>
          <a:noFill/>
          <a:ln>
            <a:noFill/>
          </a:ln>
        </p:spPr>
      </p:pic>
      <p:pic>
        <p:nvPicPr>
          <p:cNvPr id="417" name="Google Shape;417;p32"/>
          <p:cNvPicPr preferRelativeResize="0"/>
          <p:nvPr/>
        </p:nvPicPr>
        <p:blipFill rotWithShape="1">
          <a:blip r:embed="rId14">
            <a:alphaModFix/>
          </a:blip>
          <a:srcRect l="12270" t="12270" r="12263" b="12263"/>
          <a:stretch/>
        </p:blipFill>
        <p:spPr>
          <a:xfrm>
            <a:off x="3885746" y="4245539"/>
            <a:ext cx="1133228" cy="382770"/>
          </a:xfrm>
          <a:prstGeom prst="rect">
            <a:avLst/>
          </a:prstGeom>
          <a:noFill/>
          <a:ln>
            <a:noFill/>
          </a:ln>
        </p:spPr>
      </p:pic>
      <p:pic>
        <p:nvPicPr>
          <p:cNvPr id="418" name="Google Shape;418;p32"/>
          <p:cNvPicPr preferRelativeResize="0"/>
          <p:nvPr/>
        </p:nvPicPr>
        <p:blipFill>
          <a:blip r:embed="rId15">
            <a:alphaModFix/>
          </a:blip>
          <a:stretch>
            <a:fillRect/>
          </a:stretch>
        </p:blipFill>
        <p:spPr>
          <a:xfrm>
            <a:off x="1798086" y="3621493"/>
            <a:ext cx="694210" cy="351721"/>
          </a:xfrm>
          <a:prstGeom prst="rect">
            <a:avLst/>
          </a:prstGeom>
          <a:noFill/>
          <a:ln>
            <a:noFill/>
          </a:ln>
        </p:spPr>
      </p:pic>
      <p:pic>
        <p:nvPicPr>
          <p:cNvPr id="419" name="Google Shape;419;p32"/>
          <p:cNvPicPr preferRelativeResize="0"/>
          <p:nvPr/>
        </p:nvPicPr>
        <p:blipFill rotWithShape="1">
          <a:blip r:embed="rId16">
            <a:alphaModFix/>
          </a:blip>
          <a:srcRect t="18905" b="18905"/>
          <a:stretch/>
        </p:blipFill>
        <p:spPr>
          <a:xfrm>
            <a:off x="1537771" y="1614885"/>
            <a:ext cx="1214840" cy="382767"/>
          </a:xfrm>
          <a:prstGeom prst="rect">
            <a:avLst/>
          </a:prstGeom>
          <a:noFill/>
          <a:ln>
            <a:noFill/>
          </a:ln>
        </p:spPr>
      </p:pic>
      <p:pic>
        <p:nvPicPr>
          <p:cNvPr id="420" name="Google Shape;420;p32"/>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421" name="Google Shape;421;p32"/>
          <p:cNvPicPr preferRelativeResize="0"/>
          <p:nvPr/>
        </p:nvPicPr>
        <p:blipFill>
          <a:blip r:embed="rId18">
            <a:alphaModFix/>
          </a:blip>
          <a:stretch>
            <a:fillRect/>
          </a:stretch>
        </p:blipFill>
        <p:spPr>
          <a:xfrm>
            <a:off x="4760495" y="2253777"/>
            <a:ext cx="1214839" cy="386012"/>
          </a:xfrm>
          <a:prstGeom prst="rect">
            <a:avLst/>
          </a:prstGeom>
          <a:noFill/>
          <a:ln>
            <a:noFill/>
          </a:ln>
        </p:spPr>
      </p:pic>
      <p:pic>
        <p:nvPicPr>
          <p:cNvPr id="422" name="Google Shape;422;p32"/>
          <p:cNvPicPr preferRelativeResize="0"/>
          <p:nvPr/>
        </p:nvPicPr>
        <p:blipFill>
          <a:blip r:embed="rId19">
            <a:alphaModFix/>
          </a:blip>
          <a:stretch>
            <a:fillRect/>
          </a:stretch>
        </p:blipFill>
        <p:spPr>
          <a:xfrm>
            <a:off x="1647215" y="2294778"/>
            <a:ext cx="995952" cy="304010"/>
          </a:xfrm>
          <a:prstGeom prst="rect">
            <a:avLst/>
          </a:prstGeom>
          <a:noFill/>
          <a:ln>
            <a:noFill/>
          </a:ln>
        </p:spPr>
      </p:pic>
      <p:sp>
        <p:nvSpPr>
          <p:cNvPr id="423" name="Google Shape;423;p32"/>
          <p:cNvSpPr txBox="1">
            <a:spLocks noGrp="1"/>
          </p:cNvSpPr>
          <p:nvPr>
            <p:ph type="title" idx="4294967295"/>
          </p:nvPr>
        </p:nvSpPr>
        <p:spPr>
          <a:xfrm>
            <a:off x="2079450" y="745725"/>
            <a:ext cx="6373800" cy="511500"/>
          </a:xfrm>
          <a:prstGeom prst="rect">
            <a:avLst/>
          </a:prstGeom>
        </p:spPr>
        <p:txBody>
          <a:bodyPr spcFirstLastPara="1" wrap="square" lIns="91425" tIns="91425" rIns="91425" bIns="91425" anchor="t" anchorCtr="0">
            <a:noAutofit/>
          </a:bodyPr>
          <a:lstStyle/>
          <a:p>
            <a:pPr marL="0" lvl="0" indent="0" algn="r" rtl="1">
              <a:spcBef>
                <a:spcPts val="0"/>
              </a:spcBef>
              <a:spcAft>
                <a:spcPts val="0"/>
              </a:spcAft>
              <a:buSzPts val="990"/>
              <a:buNone/>
            </a:pPr>
            <a:r>
              <a:rPr lang="en">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38"/>
          <p:cNvSpPr txBox="1">
            <a:spLocks noGrp="1"/>
          </p:cNvSpPr>
          <p:nvPr>
            <p:ph type="title"/>
          </p:nvPr>
        </p:nvSpPr>
        <p:spPr>
          <a:xfrm>
            <a:off x="5548225" y="2230950"/>
            <a:ext cx="3062100" cy="681600"/>
          </a:xfrm>
          <a:prstGeom prst="rect">
            <a:avLst/>
          </a:prstGeom>
        </p:spPr>
        <p:txBody>
          <a:bodyPr spcFirstLastPara="1" wrap="square" lIns="91425" tIns="91425" rIns="91425" bIns="91425" anchor="b" anchorCtr="0">
            <a:normAutofit fontScale="90000"/>
          </a:bodyPr>
          <a:lstStyle/>
          <a:p>
            <a:pPr marL="0" lvl="0" indent="0" algn="r" rtl="0">
              <a:spcBef>
                <a:spcPts val="0"/>
              </a:spcBef>
              <a:spcAft>
                <a:spcPts val="0"/>
              </a:spcAft>
              <a:buNone/>
            </a:pPr>
            <a:r>
              <a:rPr lang="en"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585" name="Google Shape;585;p38"/>
          <p:cNvSpPr txBox="1">
            <a:spLocks noGrp="1"/>
          </p:cNvSpPr>
          <p:nvPr>
            <p:ph type="ctrTitle" idx="4294967295"/>
          </p:nvPr>
        </p:nvSpPr>
        <p:spPr>
          <a:xfrm>
            <a:off x="4166050" y="2870075"/>
            <a:ext cx="4444200" cy="576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SzPts val="990"/>
              <a:buNone/>
            </a:pPr>
            <a:r>
              <a:rPr lang="en" sz="2900" b="1">
                <a:solidFill>
                  <a:schemeClr val="lt1"/>
                </a:solidFill>
                <a:latin typeface="IBM Plex Sans Arabic"/>
                <a:ea typeface="IBM Plex Sans Arabic"/>
                <a:cs typeface="IBM Plex Sans Arabic"/>
                <a:sym typeface="IBM Plex Sans Arabic"/>
              </a:rPr>
              <a:t>THANK YOU</a:t>
            </a:r>
            <a:endParaRPr sz="2900" b="1">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11447</TotalTime>
  <Words>1569</Words>
  <Application>Microsoft Office PowerPoint</Application>
  <PresentationFormat>On-screen Show (16:9)</PresentationFormat>
  <Paragraphs>157</Paragraphs>
  <Slides>22</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Proxima Nova</vt:lpstr>
      <vt:lpstr>IBM Plex Sans Arabic SemiBold</vt:lpstr>
      <vt:lpstr>Times New Roman</vt:lpstr>
      <vt:lpstr>Tajawal</vt:lpstr>
      <vt:lpstr>IBM Plex Sans Arabic Medium</vt:lpstr>
      <vt:lpstr>Wingdings</vt:lpstr>
      <vt:lpstr>IBM Plex Sans Arabic</vt:lpstr>
      <vt:lpstr>Calibri</vt:lpstr>
      <vt:lpstr>Arial</vt:lpstr>
      <vt:lpstr>Simple Light</vt:lpstr>
      <vt:lpstr>أكـــــاديميــــة طــــويـــق</vt:lpstr>
      <vt:lpstr>Introduction to Linear Algebra  </vt:lpstr>
      <vt:lpstr>PowerPoint Presentation</vt:lpstr>
      <vt:lpstr>Recognizing Variations in Model Parameters as Vectors on the Response Surface</vt:lpstr>
      <vt:lpstr>What is a Response Surface?</vt:lpstr>
      <vt:lpstr>Why are Response Surfaces Important?</vt:lpstr>
      <vt:lpstr>Vectors in Generic Spaces</vt:lpstr>
      <vt:lpstr>Solving Linear Equations: The Substitution Method</vt:lpstr>
      <vt:lpstr>Solving Linear Equations: The Substitution Method</vt:lpstr>
      <vt:lpstr>Solving Linear Equations: The Elimination Method</vt:lpstr>
      <vt:lpstr>Solving Linear Equations: The Elimination Method</vt:lpstr>
      <vt:lpstr>Solving Linear Equations: The Elimination Method</vt:lpstr>
      <vt:lpstr>Solving Linear Equations: The Elimination Method</vt:lpstr>
      <vt:lpstr>Understanding Vector Addition and Scalar Multiplication</vt:lpstr>
      <vt:lpstr>What is a Vector? </vt:lpstr>
      <vt:lpstr>Vector Addition </vt:lpstr>
      <vt:lpstr>Vector Addition </vt:lpstr>
      <vt:lpstr>Scalar Multiplication </vt:lpstr>
      <vt:lpstr>Visualization with Python</vt:lpstr>
      <vt:lpstr>Practical Implementation</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asus</cp:lastModifiedBy>
  <cp:revision>24</cp:revision>
  <dcterms:modified xsi:type="dcterms:W3CDTF">2025-02-01T21:35:36Z</dcterms:modified>
</cp:coreProperties>
</file>