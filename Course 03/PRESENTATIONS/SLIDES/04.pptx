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82" r:id="rId3"/>
    <p:sldId id="302" r:id="rId4"/>
    <p:sldId id="301" r:id="rId5"/>
    <p:sldId id="259" r:id="rId6"/>
    <p:sldId id="321" r:id="rId7"/>
    <p:sldId id="322" r:id="rId8"/>
    <p:sldId id="323" r:id="rId9"/>
    <p:sldId id="324" r:id="rId10"/>
    <p:sldId id="325" r:id="rId11"/>
    <p:sldId id="326" r:id="rId12"/>
    <p:sldId id="327" r:id="rId13"/>
    <p:sldId id="329" r:id="rId14"/>
    <p:sldId id="328" r:id="rId15"/>
    <p:sldId id="330" r:id="rId16"/>
    <p:sldId id="331" r:id="rId17"/>
    <p:sldId id="333" r:id="rId18"/>
    <p:sldId id="334" r:id="rId19"/>
    <p:sldId id="332" r:id="rId20"/>
    <p:sldId id="275" r:id="rId21"/>
    <p:sldId id="281" r:id="rId2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IBM Plex Sans Arabic" panose="020B0604020202020204" charset="-78"/>
      <p:regular r:id="rId25"/>
      <p:bold r:id="rId26"/>
    </p:embeddedFont>
    <p:embeddedFont>
      <p:font typeface="IBM Plex Sans Arabic Medium" panose="020B0604020202020204" charset="-78"/>
      <p:regular r:id="rId27"/>
      <p:bold r:id="rId28"/>
    </p:embeddedFont>
    <p:embeddedFont>
      <p:font typeface="IBM Plex Sans Arabic SemiBold" panose="020B0604020202020204" charset="-78"/>
      <p:regular r:id="rId29"/>
      <p:bold r:id="rId30"/>
    </p:embeddedFont>
    <p:embeddedFont>
      <p:font typeface="Tajawal" panose="020B0604020202020204" charset="-78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C7666B-862D-4F7F-BA0C-E88144764012}">
  <a:tblStyle styleId="{62C7666B-862D-4F7F-BA0C-E8814476401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0" y="84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a09276e83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a09276e835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502586bf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502586bf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08F5A3-CFF5-D176-4DE9-155BA882C01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4" y="17475"/>
            <a:ext cx="1266092" cy="100790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ressbooks.nscc.ca/algebratrigonometryopenstax/chapter/solving-systems-with-cramers-rule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Linear Algebra for Machine Learning</a:t>
            </a:r>
            <a:endParaRPr sz="3600" dirty="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845E-322C-0341-D722-D8D1E675E9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Algebra</a:t>
            </a:r>
            <a:b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77DBD-A1FD-E741-A79E-A775AD5158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Fundamentals and Applications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56EFB-F281-DC54-0824-BF87C198BB1B}"/>
              </a:ext>
            </a:extLst>
          </p:cNvPr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By: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Dr. Afshan Hashmi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6640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31721A-243E-F9AC-F3FB-349AADC89865}"/>
              </a:ext>
            </a:extLst>
          </p:cNvPr>
          <p:cNvSpPr txBox="1"/>
          <p:nvPr/>
        </p:nvSpPr>
        <p:spPr>
          <a:xfrm>
            <a:off x="648586" y="1180214"/>
            <a:ext cx="6634716" cy="4167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2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7030A0"/>
                </a:solidFill>
                <a:effectLst/>
                <a:latin typeface="+mn-lt"/>
                <a:ea typeface="Proxima Nova"/>
                <a:cs typeface="Proxima Nova"/>
              </a:rPr>
              <a:t>Course Objectives:</a:t>
            </a:r>
          </a:p>
          <a:p>
            <a:pPr marR="0" lvl="0" algn="just">
              <a:lnSpc>
                <a:spcPct val="125000"/>
              </a:lnSpc>
              <a:spcBef>
                <a:spcPts val="1000"/>
              </a:spcBef>
            </a:pPr>
            <a:r>
              <a:rPr lang="en-US" sz="1800" dirty="0">
                <a:effectLst/>
                <a:latin typeface="+mn-lt"/>
                <a:ea typeface="Proxima Nova"/>
                <a:cs typeface="Proxima Nova"/>
              </a:rPr>
              <a:t>Recall and explain the relationship between machine learning concepts and mathematical constructs like vectors and matrices.</a:t>
            </a:r>
          </a:p>
          <a:p>
            <a:pPr marL="0" marR="0" algn="just">
              <a:lnSpc>
                <a:spcPct val="12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7030A0"/>
                </a:solidFill>
                <a:effectLst/>
                <a:latin typeface="+mn-lt"/>
                <a:ea typeface="Proxima Nova"/>
                <a:cs typeface="Proxima Nova"/>
              </a:rPr>
              <a:t>Course Learning Outcomes:</a:t>
            </a:r>
            <a:endParaRPr lang="en-US" sz="2400" dirty="0">
              <a:solidFill>
                <a:srgbClr val="7030A0"/>
              </a:solidFill>
              <a:effectLst/>
              <a:latin typeface="+mn-lt"/>
              <a:ea typeface="Proxima Nova"/>
              <a:cs typeface="Proxima Nova"/>
            </a:endParaRPr>
          </a:p>
          <a:p>
            <a:pPr marR="0" lvl="0" algn="just">
              <a:lnSpc>
                <a:spcPct val="125000"/>
              </a:lnSpc>
              <a:spcBef>
                <a:spcPts val="1000"/>
              </a:spcBef>
            </a:pPr>
            <a:r>
              <a:rPr lang="en-US" sz="1800" dirty="0">
                <a:effectLst/>
                <a:latin typeface="+mn-lt"/>
                <a:ea typeface="Proxima Nova"/>
                <a:cs typeface="Proxima Nova"/>
              </a:rPr>
              <a:t>Demonstrate a comprehensive understanding of key mathematical concepts, including linear algebra and probability, and their applications in AI and machine learning.</a:t>
            </a:r>
          </a:p>
          <a:p>
            <a:pPr marR="0" lvl="0" algn="just">
              <a:lnSpc>
                <a:spcPct val="125000"/>
              </a:lnSpc>
              <a:spcBef>
                <a:spcPts val="1000"/>
              </a:spcBef>
            </a:pPr>
            <a:endParaRPr lang="en-US" sz="1800" dirty="0">
              <a:effectLst/>
              <a:latin typeface="Proxima Nova"/>
              <a:ea typeface="Proxima Nova"/>
              <a:cs typeface="Proxima Nov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38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C38EE6-766E-C750-77E2-F6AC8F39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5024"/>
            <a:ext cx="8329650" cy="969105"/>
          </a:xfrm>
        </p:spPr>
        <p:txBody>
          <a:bodyPr>
            <a:normAutofit/>
          </a:bodyPr>
          <a:lstStyle/>
          <a:p>
            <a:r>
              <a:rPr lang="en-US" dirty="0"/>
              <a:t>Understanding Matrices and Their Role in Transformations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897766-4CAD-85A1-C4BC-2584D7C4EBB8}"/>
              </a:ext>
            </a:extLst>
          </p:cNvPr>
          <p:cNvSpPr txBox="1"/>
          <p:nvPr/>
        </p:nvSpPr>
        <p:spPr>
          <a:xfrm>
            <a:off x="407175" y="1731329"/>
            <a:ext cx="832964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Learning Objectives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Define what a matrix is.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Understand how matrices represent transformations.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Explore different types of transformations using matrices.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Visualize matrix operations with examples.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Implement matrix transformations in Python.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7B7F6-5100-4C29-3482-798D795454A6}"/>
              </a:ext>
            </a:extLst>
          </p:cNvPr>
          <p:cNvSpPr txBox="1"/>
          <p:nvPr/>
        </p:nvSpPr>
        <p:spPr>
          <a:xfrm>
            <a:off x="956930" y="3279636"/>
            <a:ext cx="4444410" cy="686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84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0BC45C-E1B5-2E59-CF69-C2A4D6B7A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016" y="60942"/>
            <a:ext cx="6707400" cy="49452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+mn-lt"/>
              </a:rPr>
              <a:t>What is a Matrix?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D2CC64-D9F3-B5D1-2850-84EBCF05D4F0}"/>
                  </a:ext>
                </a:extLst>
              </p:cNvPr>
              <p:cNvSpPr txBox="1"/>
              <p:nvPr/>
            </p:nvSpPr>
            <p:spPr>
              <a:xfrm>
                <a:off x="293882" y="555470"/>
                <a:ext cx="7499783" cy="3601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600" b="0" i="0" u="none" strike="noStrike" baseline="0" dirty="0">
                    <a:latin typeface="+mj-lt"/>
                  </a:rPr>
                  <a:t>Matrices(plural form of matrix) play a central role in linear algebra. They can be used to compactly represent systems of linear equations, but they also represent linear Functions.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A matrix is a rectangular array of numbers arranged in rows and columns.</a:t>
                </a:r>
              </a:p>
              <a:p>
                <a:pPr algn="l"/>
                <a:r>
                  <a:rPr lang="en-US" sz="1600" dirty="0">
                    <a:latin typeface="+mj-lt"/>
                  </a:rPr>
                  <a:t>Represented as: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+mj-lt"/>
                        </a:rPr>
                        <m:t>𝐴</m:t>
                      </m:r>
                      <m:r>
                        <a:rPr lang="en-US" sz="1600" i="1" dirty="0" smtClean="0">
                          <a:latin typeface="+mj-lt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 smtClean="0">
                              <a:latin typeface="+mj-lt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+mj-lt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 dirty="0" smtClean="0">
                                  <a:latin typeface="+mj-lt"/>
                                </a:rPr>
                              </m:ctrlPr>
                            </m:dPr>
                            <m:e>
                              <m:r>
                                <a:rPr lang="en-US" sz="1600" i="1" dirty="0" smtClean="0">
                                  <a:latin typeface="+mj-lt"/>
                                </a:rPr>
                                <m:t>𝑎</m:t>
                              </m:r>
                              <m:r>
                                <a:rPr lang="en-US" sz="1600" i="1" dirty="0" smtClean="0">
                                  <a:latin typeface="+mj-lt"/>
                                </a:rPr>
                                <m:t>11</m:t>
                              </m:r>
                              <m:r>
                                <a:rPr lang="en-US" sz="1600" i="1" dirty="0" smtClean="0">
                                  <a:latin typeface="+mj-lt"/>
                                </a:rPr>
                                <m:t>, </m:t>
                              </m:r>
                              <m:r>
                                <a:rPr lang="en-US" sz="1600" i="1" dirty="0" smtClean="0">
                                  <a:latin typeface="+mj-lt"/>
                                </a:rPr>
                                <m:t>𝑎</m:t>
                              </m:r>
                              <m:r>
                                <a:rPr lang="en-US" sz="1600" i="1" dirty="0" smtClean="0">
                                  <a:latin typeface="+mj-lt"/>
                                </a:rPr>
                                <m:t>12</m:t>
                              </m:r>
                            </m:e>
                          </m:d>
                          <m:r>
                            <a:rPr lang="en-US" sz="1600" i="1" dirty="0" smtClean="0">
                              <a:latin typeface="+mj-lt"/>
                            </a:rPr>
                            <m:t>,      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 dirty="0" smtClean="0">
                                  <a:latin typeface="+mj-lt"/>
                                </a:rPr>
                              </m:ctrlPr>
                            </m:dPr>
                            <m:e>
                              <m:r>
                                <a:rPr lang="en-US" sz="1600" i="1" dirty="0" smtClean="0">
                                  <a:latin typeface="+mj-lt"/>
                                </a:rPr>
                                <m:t>𝑎</m:t>
                              </m:r>
                              <m:r>
                                <a:rPr lang="en-US" sz="1600" i="1" dirty="0" smtClean="0">
                                  <a:latin typeface="+mj-lt"/>
                                </a:rPr>
                                <m:t>21</m:t>
                              </m:r>
                              <m:r>
                                <a:rPr lang="en-US" sz="1600" i="1" dirty="0" smtClean="0">
                                  <a:latin typeface="+mj-lt"/>
                                </a:rPr>
                                <m:t>, </m:t>
                              </m:r>
                              <m:r>
                                <a:rPr lang="en-US" sz="1600" i="1" dirty="0" smtClean="0">
                                  <a:latin typeface="+mj-lt"/>
                                </a:rPr>
                                <m:t>𝑎</m:t>
                              </m:r>
                              <m:r>
                                <a:rPr lang="en-US" sz="1600" i="1" dirty="0" smtClean="0">
                                  <a:latin typeface="+mj-lt"/>
                                </a:rPr>
                                <m:t>22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latin typeface="+mj-lt"/>
                </a:endParaRPr>
              </a:p>
              <a:p>
                <a:pPr algn="l"/>
                <a:r>
                  <a:rPr lang="en-US" sz="1600" dirty="0">
                    <a:latin typeface="+mj-lt"/>
                  </a:rPr>
                  <a:t>Used to store data, solve systems of equations, and perform transformations.</a:t>
                </a:r>
              </a:p>
              <a:p>
                <a:pPr algn="l"/>
                <a:endParaRPr lang="en-US" sz="1600" kern="100" dirty="0"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dirty="0"/>
                  <a:t>Rows and columns define the size of a matrix.</a:t>
                </a:r>
              </a:p>
              <a:p>
                <a:endParaRPr lang="en-US" dirty="0"/>
              </a:p>
              <a:p>
                <a:r>
                  <a:rPr lang="en-US" dirty="0"/>
                  <a:t>Notation: </a:t>
                </a:r>
                <a:r>
                  <a:rPr lang="en-US" dirty="0" err="1"/>
                  <a:t>m×n</a:t>
                </a:r>
                <a:r>
                  <a:rPr lang="en-US" dirty="0"/>
                  <a:t> (m rows, n columns).</a:t>
                </a:r>
              </a:p>
              <a:p>
                <a:endParaRPr lang="en-US" dirty="0"/>
              </a:p>
              <a:p>
                <a:r>
                  <a:rPr lang="en-US" dirty="0"/>
                  <a:t>Example: A 2x3 matrix has 2 rows and 3 columns.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D2CC64-D9F3-B5D1-2850-84EBCF05D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82" y="555470"/>
                <a:ext cx="7499783" cy="3601948"/>
              </a:xfrm>
              <a:prstGeom prst="rect">
                <a:avLst/>
              </a:prstGeom>
              <a:blipFill>
                <a:blip r:embed="rId4"/>
                <a:stretch>
                  <a:fillRect l="-407" t="-508" r="-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AA77-2767-47BA-A075-218D262B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45" y="66531"/>
            <a:ext cx="7957510" cy="6279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latin typeface="+mn-lt"/>
              </a:rPr>
              <a:t>Matrices as Transformations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B124C028-24F7-EE63-E737-4FEC712FB604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 bwMode="auto">
              <a:xfrm>
                <a:off x="0" y="853368"/>
                <a:ext cx="5534823" cy="37646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 transformation (or mapping, or function) takes a vector as input and produces another vector as output. 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We're interested in </a:t>
                </a:r>
                <a:r>
                  <a:rPr kumimoji="0" lang="en-US" altLang="en-US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linear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transformations, which preserve vector addition and scalar multiplication. 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Examples: Rotation, scaling, reflection, projection.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Example 1: Scaling Matrix: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Consider the matrix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Multiplying S by a vector v scales v by a factor of 2.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∗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B124C028-24F7-EE63-E737-4FEC712FB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 bwMode="auto">
              <a:xfrm>
                <a:off x="0" y="853368"/>
                <a:ext cx="5534823" cy="3764620"/>
              </a:xfrm>
              <a:prstGeom prst="rect">
                <a:avLst/>
              </a:prstGeom>
              <a:blipFill>
                <a:blip r:embed="rId2"/>
                <a:stretch>
                  <a:fillRect l="-881" r="-176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C453F024-D96F-CCAE-5BA9-78517064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823" y="1756477"/>
            <a:ext cx="3419897" cy="254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82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5BED-4494-A838-EC37-4B297072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F077-A86A-9D7A-C9A2-F58AE3B90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45" y="66531"/>
            <a:ext cx="7957510" cy="6279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latin typeface="+mn-lt"/>
              </a:rPr>
              <a:t>Transformations of </a:t>
            </a:r>
            <a:r>
              <a:rPr lang="en-US" sz="2800" b="1" dirty="0">
                <a:latin typeface="+mn-lt"/>
              </a:rPr>
              <a:t>Matrices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990A38F-5C6E-817C-8140-A246DD4E74F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 bwMode="auto">
              <a:xfrm>
                <a:off x="0" y="1248432"/>
                <a:ext cx="5720315" cy="21026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Example 2: Rotation: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The matrix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kumimoji="0" lang="en-US" altLang="en-US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0" lang="en-US" altLang="en-US" sz="1800" b="0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kumimoji="0" lang="en-US" altLang="en-US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l-GR" altLang="en-US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func>
                            <m:r>
                              <a:rPr kumimoji="0" lang="el-GR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−</m:t>
                            </m:r>
                            <m:func>
                              <m:funcPr>
                                <m:ctrlPr>
                                  <a:rPr kumimoji="0" lang="en-US" altLang="en-US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0" lang="en-US" altLang="en-US" sz="1800" b="0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kumimoji="0" lang="en-US" altLang="en-US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l-GR" altLang="en-US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  <m:r>
                          <a:rPr kumimoji="0" lang="el-GR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el-GR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kumimoji="0" lang="en-US" altLang="en-US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0" lang="en-US" altLang="en-US" sz="1800" b="0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kumimoji="0" lang="en-US" altLang="en-US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l-GR" altLang="en-US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func>
                            <m:r>
                              <a:rPr kumimoji="0" lang="el-GR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func>
                              <m:funcPr>
                                <m:ctrlPr>
                                  <a:rPr kumimoji="0" lang="en-US" altLang="en-US" sz="18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0" lang="en-US" altLang="en-US" sz="1800" b="0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kumimoji="0" lang="en-US" altLang="en-US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l-GR" altLang="en-US" sz="18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d>
                  </m:oMath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rotates a vector counterclockwise by an angle </a:t>
                </a:r>
                <a:r>
                  <a:rPr kumimoji="0" lang="el-GR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θ.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kumimoji="0" lang="en-US" altLang="en-US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altLang="en-US" sz="1800" b="0" i="0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en-US" altLang="en-US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l-GR" altLang="en-US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kumimoji="0" lang="el-GR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−</m:t>
                              </m:r>
                              <m:func>
                                <m:funcPr>
                                  <m:ctrlPr>
                                    <a:rPr kumimoji="0" lang="en-US" altLang="en-US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altLang="en-US" sz="1800" b="0" i="0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en-US" altLang="en-US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l-GR" altLang="en-US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kumimoji="0" lang="el-GR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el-GR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kumimoji="0" lang="en-US" altLang="en-US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altLang="en-US" sz="1800" b="0" i="0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en-US" altLang="en-US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l-GR" altLang="en-US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kumimoji="0" lang="el-GR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unc>
                                <m:funcPr>
                                  <m:ctrlPr>
                                    <a:rPr kumimoji="0" lang="en-US" altLang="en-US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altLang="en-US" sz="1800" b="0" i="0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en-US" altLang="en-US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l-GR" altLang="en-US" sz="18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d>
                      <m:r>
                        <a:rPr kumimoji="0" lang="el-GR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∗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l-GR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en-US" sz="1800" b="0" i="0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en-US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l-GR" altLang="en-US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kumimoji="0" lang="el-GR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en-US" sz="1800" b="0" i="0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en-US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l-GR" altLang="en-US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kumimoji="0" lang="el-GR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en-US" sz="1800" b="0" i="0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en-US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l-GR" altLang="en-US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kumimoji="0" lang="el-GR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en-US" sz="1800" b="0" i="0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en-US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l-GR" altLang="en-US" sz="18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990A38F-5C6E-817C-8140-A246DD4E74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 bwMode="auto">
              <a:xfrm>
                <a:off x="0" y="1248432"/>
                <a:ext cx="5720315" cy="2102627"/>
              </a:xfrm>
              <a:prstGeom prst="rect">
                <a:avLst/>
              </a:prstGeom>
              <a:blipFill>
                <a:blip r:embed="rId2"/>
                <a:stretch>
                  <a:fillRect l="-853" b="-115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4B7E85B-C66D-C72B-43EC-BBF65844E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254" y="1004887"/>
            <a:ext cx="3385251" cy="355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26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D5A5A-E74C-5D90-9CC0-ADCFCE607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8E516-B21C-0DA5-B1F3-4A1E6C9EF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45" y="66531"/>
            <a:ext cx="7957510" cy="6279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latin typeface="+mn-lt"/>
              </a:rPr>
              <a:t>Transformations of </a:t>
            </a:r>
            <a:r>
              <a:rPr lang="en-US" sz="2800" b="1" dirty="0">
                <a:latin typeface="+mn-lt"/>
              </a:rPr>
              <a:t>Matrices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F355466-7FBF-DCDE-3DCE-171F92B1BD10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 bwMode="auto">
              <a:xfrm>
                <a:off x="24521" y="518453"/>
                <a:ext cx="5332804" cy="15486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285750" indent="-28575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Example 3: Shear: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The matrix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shears a vector horizontally.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0" lang="en-US" altLang="en-US" sz="18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∗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kumimoji="0" lang="en-US" altLang="en-US" sz="18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𝑘𝑦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F355466-7FBF-DCDE-3DCE-171F92B1BD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 bwMode="auto">
              <a:xfrm>
                <a:off x="24521" y="518453"/>
                <a:ext cx="5332804" cy="1548629"/>
              </a:xfrm>
              <a:prstGeom prst="rect">
                <a:avLst/>
              </a:prstGeom>
              <a:blipFill>
                <a:blip r:embed="rId2"/>
                <a:stretch>
                  <a:fillRect l="-914" b="-236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4744478-1E8A-3DD5-1790-533CCBF61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563" y="2067082"/>
            <a:ext cx="3854878" cy="2982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80B0B9-70C0-EF56-0CCB-6E67C2A7A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8" y="2094926"/>
            <a:ext cx="3985437" cy="300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8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24864-33BA-BFBE-13FF-85FEA3D4D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9129B-3BA6-514E-8EF4-46D53F276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45" y="66531"/>
            <a:ext cx="7957510" cy="6279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latin typeface="+mn-lt"/>
              </a:rPr>
              <a:t>Applications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42348B-D5E1-9D9B-FCC0-709E9801B4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3245" y="1232922"/>
            <a:ext cx="620615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are Transformations Used?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graphics (games, movies)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Robotics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processing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Physics (e.g., changes of coordinates)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(e.g., PCA)</a:t>
            </a:r>
          </a:p>
        </p:txBody>
      </p:sp>
    </p:spTree>
    <p:extLst>
      <p:ext uri="{BB962C8B-B14F-4D97-AF65-F5344CB8AC3E}">
        <p14:creationId xmlns:p14="http://schemas.microsoft.com/office/powerpoint/2010/main" val="248769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EB0E-E1DC-5537-B51B-9B9D0AD02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098" y="445025"/>
            <a:ext cx="8297752" cy="6279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Understanding Inverse and Determinant of Matrices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E2757-0DCE-F746-2E88-C3F27962B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6420" y="1334150"/>
            <a:ext cx="6071190" cy="2280920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sz="2200" dirty="0"/>
              <a:t>Matrices play a crucial role in linear algebra, engineering, physics, and computer science. </a:t>
            </a:r>
          </a:p>
          <a:p>
            <a:pPr marL="114300" indent="0">
              <a:buNone/>
            </a:pPr>
            <a:r>
              <a:rPr lang="en-US" sz="2200" dirty="0"/>
              <a:t>Two important operations associated with matrices are the </a:t>
            </a:r>
            <a:r>
              <a:rPr lang="en-US" sz="2200" b="1" dirty="0"/>
              <a:t>determinant</a:t>
            </a:r>
            <a:r>
              <a:rPr lang="en-US" sz="2200" dirty="0"/>
              <a:t> and the </a:t>
            </a:r>
            <a:r>
              <a:rPr lang="en-US" sz="2200" b="1" dirty="0"/>
              <a:t>inverse</a:t>
            </a:r>
            <a:r>
              <a:rPr lang="en-US" sz="2200" dirty="0"/>
              <a:t> of a matrix. These properties help solve systems of linear equations, perform transformations, and analyze mathematical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811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87987-6C0F-B777-5F29-0E4E812B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44F28-A845-57B0-097C-50E4B34A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098" y="445025"/>
            <a:ext cx="8297752" cy="6279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Determinant of a Matrix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86E89-DC86-CAD2-BBC6-AB32CCEC7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484" y="1072925"/>
            <a:ext cx="6709143" cy="3422567"/>
          </a:xfrm>
        </p:spPr>
        <p:txBody>
          <a:bodyPr>
            <a:normAutofit fontScale="40000" lnSpcReduction="20000"/>
          </a:bodyPr>
          <a:lstStyle/>
          <a:p>
            <a:pPr marL="114300" indent="0">
              <a:buNone/>
            </a:pPr>
            <a:r>
              <a:rPr lang="en-US" sz="4900" b="1" dirty="0">
                <a:latin typeface="+mn-lt"/>
              </a:rPr>
              <a:t>Definition:</a:t>
            </a:r>
          </a:p>
          <a:p>
            <a:pPr marL="114300" indent="0">
              <a:buNone/>
            </a:pPr>
            <a:r>
              <a:rPr lang="en-US" sz="4900" dirty="0">
                <a:latin typeface="+mn-lt"/>
              </a:rPr>
              <a:t>The determinant is a scalar value derived from a square matrix that provides important insights into the properties of the matrix.</a:t>
            </a:r>
          </a:p>
          <a:p>
            <a:pPr marL="114300" indent="0">
              <a:buNone/>
            </a:pPr>
            <a:r>
              <a:rPr lang="en-US" sz="4900" b="1" dirty="0">
                <a:latin typeface="+mn-lt"/>
              </a:rPr>
              <a:t>Key Properties:</a:t>
            </a:r>
          </a:p>
          <a:p>
            <a:pPr marL="114300" indent="0">
              <a:buNone/>
            </a:pPr>
            <a:r>
              <a:rPr lang="en-US" sz="4900" dirty="0">
                <a:latin typeface="+mn-lt"/>
              </a:rPr>
              <a:t>* A matrix with a determinant of </a:t>
            </a:r>
            <a:r>
              <a:rPr lang="en-US" sz="4900" b="1" dirty="0">
                <a:latin typeface="+mn-lt"/>
              </a:rPr>
              <a:t>zero</a:t>
            </a:r>
            <a:r>
              <a:rPr lang="en-US" sz="4900" dirty="0">
                <a:latin typeface="+mn-lt"/>
              </a:rPr>
              <a:t> is </a:t>
            </a:r>
            <a:r>
              <a:rPr lang="en-US" sz="4900" b="1" dirty="0">
                <a:latin typeface="+mn-lt"/>
              </a:rPr>
              <a:t>singular</a:t>
            </a:r>
            <a:r>
              <a:rPr lang="en-US" sz="4900" dirty="0">
                <a:latin typeface="+mn-lt"/>
              </a:rPr>
              <a:t> and does not have an inverse.</a:t>
            </a:r>
          </a:p>
          <a:p>
            <a:pPr marL="114300" indent="0">
              <a:buNone/>
            </a:pPr>
            <a:r>
              <a:rPr lang="en-US" sz="4900" dirty="0">
                <a:latin typeface="+mn-lt"/>
              </a:rPr>
              <a:t>* The determinant can be used to determine if a system of linear equations has a unique solution.</a:t>
            </a:r>
          </a:p>
          <a:p>
            <a:pPr marL="114300" indent="0">
              <a:buNone/>
            </a:pPr>
            <a:r>
              <a:rPr lang="en-US" sz="4900" dirty="0">
                <a:latin typeface="+mn-lt"/>
              </a:rPr>
              <a:t>* Determinants help in computing eigenvalues, volume scaling, and transformations.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75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43CC-4119-7AB8-5FD9-DE3B81098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15" y="285536"/>
            <a:ext cx="6707400" cy="627900"/>
          </a:xfrm>
        </p:spPr>
        <p:txBody>
          <a:bodyPr>
            <a:normAutofit fontScale="90000"/>
          </a:bodyPr>
          <a:lstStyle/>
          <a:p>
            <a:r>
              <a:rPr lang="en-US" dirty="0"/>
              <a:t>Formula for 2×2 and 3×3 Matrices: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7499282B-CA32-5544-D05A-3151811B7DC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 bwMode="auto">
              <a:xfrm>
                <a:off x="729115" y="1217370"/>
                <a:ext cx="5613991" cy="28979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For a 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2×2 matrix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en-US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en-US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altLang="en-US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en-US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0" lang="en-US" altLang="en-US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0" lang="en-US" altLang="en-US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kumimoji="0" lang="en-US" altLang="en-US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altLang="en-US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en-US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kumimoji="0" lang="en-US" altLang="en-US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0" lang="en-US" altLang="en-US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The determinant is calculated as: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dirty="0">
                  <a:solidFill>
                    <a:schemeClr val="tx1"/>
                  </a:solidFill>
                  <a:latin typeface="+mn-lt"/>
                </a:endParaRPr>
              </a:p>
              <a:p>
                <a:pPr marL="0" indent="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en-US" dirty="0"/>
                  <a:t>For a </a:t>
                </a:r>
                <a:r>
                  <a:rPr lang="en-US" b="1" dirty="0"/>
                  <a:t>3×3 matrix</a:t>
                </a:r>
                <a:r>
                  <a:rPr lang="en-US" dirty="0"/>
                  <a:t>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= [ [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],      [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],      [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0" lang="pt-BR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] ]</m:t>
                      </m:r>
                    </m:oMath>
                  </m:oMathPara>
                </a14:m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marL="0" indent="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</a:rPr>
                  <a:t>The determinant is calculated as: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altLang="en-US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𝑒𝑖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kumimoji="0" lang="en-US" altLang="en-US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0" lang="en-US" altLang="en-US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𝑑𝑖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kumimoji="0" lang="en-US" altLang="en-US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𝑓𝑔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kumimoji="0" lang="en-US" altLang="en-US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𝑒𝑔</m:t>
                      </m:r>
                      <m:r>
                        <a:rPr kumimoji="0" lang="en-US" altLang="en-US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7499282B-CA32-5544-D05A-3151811B7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 bwMode="auto">
              <a:xfrm>
                <a:off x="729115" y="1217370"/>
                <a:ext cx="5613991" cy="2897973"/>
              </a:xfrm>
              <a:prstGeom prst="rect">
                <a:avLst/>
              </a:prstGeom>
              <a:blipFill>
                <a:blip r:embed="rId2"/>
                <a:stretch>
                  <a:fillRect l="-977" t="-1263" b="-147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4ABF517-203D-9105-4D40-84330BD6D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305646" y="1550616"/>
            <a:ext cx="3704487" cy="102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11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E462A-79A4-4A64-08D3-608E702B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A793-CF68-41A2-D5A7-AB6921385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15" y="285536"/>
            <a:ext cx="6707400" cy="627900"/>
          </a:xfrm>
        </p:spPr>
        <p:txBody>
          <a:bodyPr>
            <a:normAutofit fontScale="90000"/>
          </a:bodyPr>
          <a:lstStyle/>
          <a:p>
            <a:r>
              <a:rPr lang="en-US" dirty="0"/>
              <a:t>Determinant for 2×2 Matrices in Python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E714BF-BCA6-69D6-BD16-30778BFCE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131"/>
          <a:stretch/>
        </p:blipFill>
        <p:spPr>
          <a:xfrm>
            <a:off x="105882" y="1334150"/>
            <a:ext cx="4466118" cy="25892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E81E89-0FE0-AE71-5E24-915F06DB81B3}"/>
              </a:ext>
            </a:extLst>
          </p:cNvPr>
          <p:cNvSpPr txBox="1"/>
          <p:nvPr/>
        </p:nvSpPr>
        <p:spPr>
          <a:xfrm>
            <a:off x="4715761" y="1419211"/>
            <a:ext cx="41785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line creates a 2 X2 NumPy array named A.</a:t>
            </a:r>
          </a:p>
          <a:p>
            <a:r>
              <a:rPr lang="en-US" dirty="0"/>
              <a:t>This line creates a 3 X3 NumPy array named B.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0BF314-CCA5-DA8B-C1EF-BBFEF4A2207B}"/>
              </a:ext>
            </a:extLst>
          </p:cNvPr>
          <p:cNvSpPr txBox="1"/>
          <p:nvPr/>
        </p:nvSpPr>
        <p:spPr>
          <a:xfrm>
            <a:off x="2817628" y="2054103"/>
            <a:ext cx="62204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</a:rPr>
              <a:t>np.linalg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is a submodule within NumPy that provides linear algebra functions. </a:t>
            </a:r>
          </a:p>
          <a:p>
            <a:r>
              <a:rPr lang="en-US" dirty="0">
                <a:highlight>
                  <a:srgbClr val="FFFF00"/>
                </a:highlight>
              </a:rPr>
              <a:t>det() </a:t>
            </a:r>
            <a:r>
              <a:rPr lang="en-US" dirty="0"/>
              <a:t>is the function specifically for calculating determinants.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439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71C34-F8DD-DA65-D238-805C3D790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615F-3824-1CA7-C6CE-03700C2EB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15" y="285536"/>
            <a:ext cx="6707400" cy="6279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Inverse of a Matrix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4199A6-2AB8-40CC-13F0-3E4147518B9B}"/>
                  </a:ext>
                </a:extLst>
              </p:cNvPr>
              <p:cNvSpPr txBox="1"/>
              <p:nvPr/>
            </p:nvSpPr>
            <p:spPr>
              <a:xfrm>
                <a:off x="729115" y="1116419"/>
                <a:ext cx="6873164" cy="2944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/>
                  <a:t>Definition:</a:t>
                </a:r>
              </a:p>
              <a:p>
                <a:r>
                  <a:rPr lang="en-US" sz="1600" dirty="0"/>
                  <a:t>The inverse of a square matrix is another matrix that, when multiplied with the original matrix, results in the identity matrix: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 ∗ </m:t>
                      </m:r>
                      <m:sSup>
                        <m:sSup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d>
                            <m:dPr>
                              <m:begChr m:val="{"/>
                              <m:endChr m:val="}"/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1600" dirty="0"/>
              </a:p>
              <a:p>
                <a:pPr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Inter"/>
                  </a:rPr>
                  <a:t>The inverse of a matrix </a:t>
                </a: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KaTeX_Main"/>
                  </a:rPr>
                  <a:t>A</a:t>
                </a: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Inter"/>
                  </a:rPr>
                  <a:t>, denoted 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{"/>
                            <m:endChr m:val="}"/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Inter"/>
                  </a:rPr>
                  <a:t>, is a matrix such that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Inter"/>
                  </a:rPr>
                  <a:t> 		</a:t>
                </a: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KaTeX_Main"/>
                  </a:rPr>
                  <a:t>A⋅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{"/>
                            <m:endChr m:val="}"/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KaTeX_Main"/>
                  </a:rPr>
                  <a:t>=I </a:t>
                </a: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Inter"/>
                  </a:rPr>
                  <a:t>, where </a:t>
                </a: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KaTeX_Main"/>
                  </a:rPr>
                  <a:t>I</a:t>
                </a: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Inter"/>
                  </a:rPr>
                  <a:t> is the identity matrix.</a:t>
                </a:r>
              </a:p>
              <a:p>
                <a:pPr algn="l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Inter"/>
                  </a:rPr>
                  <a:t>Analogy: Like division for numbers, the inverse "undoes" the effect of a matrix.</a:t>
                </a:r>
              </a:p>
              <a:p>
                <a:pPr algn="l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Inter"/>
                  </a:rPr>
                  <a:t>Not all matrices have inverses (only square matrices with non-zero determinants).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4199A6-2AB8-40CC-13F0-3E4147518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15" y="1116419"/>
                <a:ext cx="6873164" cy="2944076"/>
              </a:xfrm>
              <a:prstGeom prst="rect">
                <a:avLst/>
              </a:prstGeom>
              <a:blipFill>
                <a:blip r:embed="rId2"/>
                <a:stretch>
                  <a:fillRect l="-532" t="-621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8471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1E294-2EE1-7124-BA2B-0B2E3487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09FDD-6373-EF64-7464-7F72D3F1E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15" y="285536"/>
            <a:ext cx="6707400" cy="6279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Identity Matrix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0C3DFC81-6ABB-7CD8-DB37-67A0AC45411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12105" y="901839"/>
            <a:ext cx="670740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identity matrix is a special square matrix (a matrix with the same number of rows and columns) that has the following properties: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Ones on the Diagonal: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the elements on the main diagonal (from the top-left corner to the bottom-right corner) are 1. 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Zeros Elsewhere: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the other elements (not on the main diagonal) are 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786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6888-1757-8337-9CB1-528BBA9A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Calculating the Inverse of a 2x2 Matrix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77E567-4BBD-0D59-8ADE-499A447C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196" y="1072925"/>
            <a:ext cx="6827874" cy="389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00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770B03D-C53E-3F88-B96A-60E4B373E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7371"/>
            <a:ext cx="4896292" cy="31087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55DBDF-F95B-4C9B-FAF8-41DEF8A4D099}"/>
              </a:ext>
            </a:extLst>
          </p:cNvPr>
          <p:cNvSpPr txBox="1"/>
          <p:nvPr/>
        </p:nvSpPr>
        <p:spPr>
          <a:xfrm>
            <a:off x="959590" y="297995"/>
            <a:ext cx="489629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>
                <a:solidFill>
                  <a:srgbClr val="543198"/>
                </a:solidFill>
                <a:latin typeface="IBM Plex Sans Arabic Medium"/>
                <a:cs typeface="IBM Plex Sans Arabic Medium"/>
                <a:sym typeface="IBM Plex Sans Arabic Medium"/>
              </a:rPr>
              <a:t>Inverse for 2×2 Matrices in Python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CCAC83-DABF-8853-C916-7E0F36857B75}"/>
              </a:ext>
            </a:extLst>
          </p:cNvPr>
          <p:cNvSpPr txBox="1"/>
          <p:nvPr/>
        </p:nvSpPr>
        <p:spPr>
          <a:xfrm>
            <a:off x="3646967" y="1335300"/>
            <a:ext cx="5497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chemeClr val="tx1"/>
                </a:solidFill>
                <a:latin typeface="Arial Unicode MS"/>
              </a:rPr>
              <a:t>This line creates a 2x2 NumPy array (matrix) named A with the given values.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ACAF71-D896-ABAE-540A-57D4F996E289}"/>
              </a:ext>
            </a:extLst>
          </p:cNvPr>
          <p:cNvSpPr txBox="1"/>
          <p:nvPr/>
        </p:nvSpPr>
        <p:spPr>
          <a:xfrm>
            <a:off x="2838894" y="1830089"/>
            <a:ext cx="64858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chemeClr val="tx1"/>
                </a:solidFill>
                <a:latin typeface="Arial Unicode MS"/>
              </a:rPr>
              <a:t>This line calculates the determinant of matrix A using </a:t>
            </a:r>
            <a:r>
              <a:rPr lang="en-US" altLang="en-US" sz="1400" dirty="0" err="1">
                <a:solidFill>
                  <a:schemeClr val="tx1"/>
                </a:solidFill>
                <a:latin typeface="Arial Unicode MS"/>
              </a:rPr>
              <a:t>np.linalg.det</a:t>
            </a:r>
            <a:r>
              <a:rPr lang="en-US" altLang="en-US" sz="1400" dirty="0">
                <a:solidFill>
                  <a:schemeClr val="tx1"/>
                </a:solidFill>
                <a:latin typeface="Arial Unicode MS"/>
              </a:rPr>
              <a:t>(A). The determinant is a scalar value that provides information about the matrix. A non-zero determinant is a crucial condition for a matrix to be invertible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C1C501-0EFD-FC13-A73E-ED28ADEAFAA8}"/>
              </a:ext>
            </a:extLst>
          </p:cNvPr>
          <p:cNvSpPr txBox="1"/>
          <p:nvPr/>
        </p:nvSpPr>
        <p:spPr>
          <a:xfrm>
            <a:off x="2977116" y="2668772"/>
            <a:ext cx="5592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chemeClr val="tx1"/>
                </a:solidFill>
                <a:latin typeface="Arial Unicode MS"/>
              </a:rPr>
              <a:t>this line calculates the inverse of matrix A using </a:t>
            </a:r>
            <a:r>
              <a:rPr lang="en-US" altLang="en-US" sz="1400" dirty="0" err="1">
                <a:solidFill>
                  <a:schemeClr val="tx1"/>
                </a:solidFill>
                <a:latin typeface="Arial Unicode MS"/>
              </a:rPr>
              <a:t>np.linalg.inv</a:t>
            </a:r>
            <a:r>
              <a:rPr lang="en-US" altLang="en-US" sz="1400" dirty="0">
                <a:solidFill>
                  <a:schemeClr val="tx1"/>
                </a:solidFill>
                <a:latin typeface="Arial Unicode MS"/>
              </a:rPr>
              <a:t>(A)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257F9F-8077-C5F1-0A4C-0C0B65250229}"/>
              </a:ext>
            </a:extLst>
          </p:cNvPr>
          <p:cNvCxnSpPr>
            <a:cxnSpLocks/>
          </p:cNvCxnSpPr>
          <p:nvPr/>
        </p:nvCxnSpPr>
        <p:spPr>
          <a:xfrm flipH="1">
            <a:off x="2573079" y="1488792"/>
            <a:ext cx="1148316" cy="159255"/>
          </a:xfrm>
          <a:prstGeom prst="straightConnector1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2BC5EA-2DAD-F821-C602-131A335C6E42}"/>
              </a:ext>
            </a:extLst>
          </p:cNvPr>
          <p:cNvCxnSpPr>
            <a:cxnSpLocks/>
          </p:cNvCxnSpPr>
          <p:nvPr/>
        </p:nvCxnSpPr>
        <p:spPr>
          <a:xfrm flipH="1" flipV="1">
            <a:off x="2349795" y="2317898"/>
            <a:ext cx="635295" cy="504762"/>
          </a:xfrm>
          <a:prstGeom prst="straightConnector1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2F8CA6-9763-240D-2487-72944381B78D}"/>
              </a:ext>
            </a:extLst>
          </p:cNvPr>
          <p:cNvCxnSpPr>
            <a:cxnSpLocks/>
          </p:cNvCxnSpPr>
          <p:nvPr/>
        </p:nvCxnSpPr>
        <p:spPr>
          <a:xfrm flipH="1">
            <a:off x="2197615" y="2011349"/>
            <a:ext cx="681815" cy="66898"/>
          </a:xfrm>
          <a:prstGeom prst="straightConnector1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571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4E95-435C-4A48-A340-6C67EFEF9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037" y="316320"/>
            <a:ext cx="6707400" cy="6279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Goes Wrong When Finding Inverses?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8D376-9A3B-7EF9-8482-2B829CC51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4548" y="1025805"/>
            <a:ext cx="8382813" cy="3493031"/>
          </a:xfrm>
        </p:spPr>
        <p:txBody>
          <a:bodyPr>
            <a:normAutofit fontScale="32500" lnSpcReduction="20000"/>
          </a:bodyPr>
          <a:lstStyle/>
          <a:p>
            <a:pPr marL="114300" indent="0">
              <a:buNone/>
            </a:pPr>
            <a:endParaRPr lang="en-US" sz="6400" b="1" dirty="0">
              <a:latin typeface="+mn-lt"/>
            </a:endParaRPr>
          </a:p>
          <a:p>
            <a:pPr marL="114300" indent="0">
              <a:buNone/>
            </a:pPr>
            <a:r>
              <a:rPr lang="en-US" sz="5500" b="1" dirty="0">
                <a:latin typeface="+mn-lt"/>
              </a:rPr>
              <a:t>Non-Square Matrices: </a:t>
            </a:r>
            <a:r>
              <a:rPr lang="en-US" sz="5500" dirty="0">
                <a:latin typeface="+mn-lt"/>
              </a:rPr>
              <a:t>Only square matrices can have inverses.</a:t>
            </a:r>
          </a:p>
          <a:p>
            <a:pPr marL="114300" indent="0">
              <a:buNone/>
            </a:pPr>
            <a:endParaRPr lang="en-US" sz="5500" dirty="0">
              <a:latin typeface="+mn-lt"/>
            </a:endParaRPr>
          </a:p>
          <a:p>
            <a:pPr marL="114300" indent="0">
              <a:buNone/>
            </a:pPr>
            <a:r>
              <a:rPr lang="en-US" sz="5500" b="1" dirty="0">
                <a:latin typeface="+mn-lt"/>
              </a:rPr>
              <a:t>Zero Determinant: </a:t>
            </a:r>
            <a:r>
              <a:rPr lang="en-US" sz="5500" dirty="0">
                <a:latin typeface="+mn-lt"/>
              </a:rPr>
              <a:t>If det(A)=0, the matrix is singular (no inverse).</a:t>
            </a:r>
          </a:p>
          <a:p>
            <a:pPr marL="114300" indent="0">
              <a:buNone/>
            </a:pPr>
            <a:endParaRPr lang="en-US" sz="5500" dirty="0">
              <a:latin typeface="+mn-lt"/>
            </a:endParaRPr>
          </a:p>
          <a:p>
            <a:pPr marL="114300" indent="0">
              <a:buNone/>
            </a:pPr>
            <a:r>
              <a:rPr lang="en-US" sz="5500" b="1" dirty="0">
                <a:latin typeface="+mn-lt"/>
              </a:rPr>
              <a:t>Numerical </a:t>
            </a:r>
            <a:r>
              <a:rPr lang="en-US" sz="5500" b="1" dirty="0" err="1">
                <a:latin typeface="+mn-lt"/>
              </a:rPr>
              <a:t>Instability:</a:t>
            </a:r>
            <a:r>
              <a:rPr lang="en-US" sz="5500" dirty="0" err="1">
                <a:latin typeface="+mn-lt"/>
              </a:rPr>
              <a:t>Near-singular</a:t>
            </a:r>
            <a:r>
              <a:rPr lang="en-US" sz="5500" dirty="0">
                <a:latin typeface="+mn-lt"/>
              </a:rPr>
              <a:t> matrices (very small determinants) can lead to inaccurate results.</a:t>
            </a:r>
          </a:p>
          <a:p>
            <a:pPr marL="114300" indent="0">
              <a:buNone/>
            </a:pPr>
            <a:endParaRPr lang="en-US" sz="5500" dirty="0">
              <a:latin typeface="+mn-lt"/>
            </a:endParaRPr>
          </a:p>
          <a:p>
            <a:pPr marL="114300" indent="0">
              <a:buNone/>
            </a:pPr>
            <a:r>
              <a:rPr lang="en-US" sz="5500" b="1" dirty="0">
                <a:latin typeface="+mn-lt"/>
              </a:rPr>
              <a:t>Computational </a:t>
            </a:r>
            <a:r>
              <a:rPr lang="en-US" sz="5500" b="1" dirty="0" err="1">
                <a:latin typeface="+mn-lt"/>
              </a:rPr>
              <a:t>Errors:</a:t>
            </a:r>
            <a:r>
              <a:rPr lang="en-US" sz="5500" dirty="0" err="1">
                <a:latin typeface="+mn-lt"/>
              </a:rPr>
              <a:t>Rounding</a:t>
            </a:r>
            <a:r>
              <a:rPr lang="en-US" sz="5500" dirty="0">
                <a:latin typeface="+mn-lt"/>
              </a:rPr>
              <a:t> errors in floating-point arithmetic.</a:t>
            </a:r>
          </a:p>
          <a:p>
            <a:pPr marL="114300" indent="0">
              <a:buNone/>
            </a:pPr>
            <a:endParaRPr lang="en-US" sz="6400" dirty="0">
              <a:latin typeface="+mn-lt"/>
            </a:endParaRPr>
          </a:p>
          <a:p>
            <a:pPr marL="114300" indent="0">
              <a:buNone/>
            </a:pPr>
            <a:endParaRPr lang="en-US" sz="6400" dirty="0">
              <a:latin typeface="+mn-lt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852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B892A-369A-3EBD-682F-1DC7F3F55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0DEA-6268-4E8A-4434-942651541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13" y="413127"/>
            <a:ext cx="6707400" cy="627900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Applications of Determinants and Inverses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6027D-061D-8456-E64A-1F42D4B83A19}"/>
              </a:ext>
            </a:extLst>
          </p:cNvPr>
          <p:cNvSpPr txBox="1"/>
          <p:nvPr/>
        </p:nvSpPr>
        <p:spPr>
          <a:xfrm>
            <a:off x="1095153" y="1557417"/>
            <a:ext cx="587448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800" b="1" dirty="0"/>
              <a:t>Solving Linear Systems</a:t>
            </a:r>
            <a:r>
              <a:rPr lang="en-US" sz="1800" dirty="0"/>
              <a:t>: Used to solve equations using Cramer's rule and matrix inversion.</a:t>
            </a:r>
          </a:p>
          <a:p>
            <a:pPr>
              <a:buFont typeface="+mj-lt"/>
              <a:buAutoNum type="arabicPeriod"/>
            </a:pP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1800" b="1" dirty="0"/>
              <a:t>Computer Graphics</a:t>
            </a:r>
            <a:r>
              <a:rPr lang="en-US" sz="1800" dirty="0"/>
              <a:t>: Used in transformations like scaling, rotation, and perspective projection.</a:t>
            </a:r>
          </a:p>
          <a:p>
            <a:pPr>
              <a:buFont typeface="+mj-lt"/>
              <a:buAutoNum type="arabicPeriod"/>
            </a:pP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1800" b="1" dirty="0"/>
              <a:t>Cryptography</a:t>
            </a:r>
            <a:r>
              <a:rPr lang="en-US" sz="1800" dirty="0"/>
              <a:t>: Inverses of matrices play a role in encoding and decoding messages.</a:t>
            </a:r>
          </a:p>
          <a:p>
            <a:pPr>
              <a:buFont typeface="+mj-lt"/>
              <a:buAutoNum type="arabicPeriod"/>
            </a:pP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1800" b="1" dirty="0"/>
              <a:t>Physics &amp; Engineering</a:t>
            </a:r>
            <a:r>
              <a:rPr lang="en-US" sz="1800" dirty="0"/>
              <a:t>: Used in simulations, robotics, and structural analysis.</a:t>
            </a:r>
          </a:p>
        </p:txBody>
      </p:sp>
    </p:spTree>
    <p:extLst>
      <p:ext uri="{BB962C8B-B14F-4D97-AF65-F5344CB8AC3E}">
        <p14:creationId xmlns:p14="http://schemas.microsoft.com/office/powerpoint/2010/main" val="217379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2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2"/>
          <p:cNvPicPr preferRelativeResize="0"/>
          <p:nvPr/>
        </p:nvPicPr>
        <p:blipFill rotWithShape="1">
          <a:blip r:embed="rId6">
            <a:alphaModFix/>
          </a:blip>
          <a:srcRect l="11047" t="22524" r="11047" b="22524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2"/>
          <p:cNvPicPr preferRelativeResize="0"/>
          <p:nvPr/>
        </p:nvPicPr>
        <p:blipFill rotWithShape="1">
          <a:blip r:embed="rId8">
            <a:alphaModFix/>
          </a:blip>
          <a:srcRect l="2114" t="19777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2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2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2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2"/>
          <p:cNvPicPr preferRelativeResize="0"/>
          <p:nvPr/>
        </p:nvPicPr>
        <p:blipFill rotWithShape="1">
          <a:blip r:embed="rId13">
            <a:alphaModFix/>
          </a:blip>
          <a:srcRect b="18916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2"/>
          <p:cNvPicPr preferRelativeResize="0"/>
          <p:nvPr/>
        </p:nvPicPr>
        <p:blipFill rotWithShape="1">
          <a:blip r:embed="rId14">
            <a:alphaModFix/>
          </a:blip>
          <a:srcRect l="12270" t="12270" r="12263" b="12263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2"/>
          <p:cNvPicPr preferRelativeResize="0"/>
          <p:nvPr/>
        </p:nvPicPr>
        <p:blipFill rotWithShape="1">
          <a:blip r:embed="rId16">
            <a:alphaModFix/>
          </a:blip>
          <a:srcRect t="18905" b="18905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2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2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2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2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5" name="Google Shape;585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14231</TotalTime>
  <Words>1090</Words>
  <Application>Microsoft Office PowerPoint</Application>
  <PresentationFormat>On-screen Show (16:9)</PresentationFormat>
  <Paragraphs>123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Calibri</vt:lpstr>
      <vt:lpstr>Proxima Nova</vt:lpstr>
      <vt:lpstr>Inter</vt:lpstr>
      <vt:lpstr>Cambria Math</vt:lpstr>
      <vt:lpstr>IBM Plex Sans Arabic Medium</vt:lpstr>
      <vt:lpstr>IBM Plex Sans Arabic SemiBold</vt:lpstr>
      <vt:lpstr>KaTeX_Main</vt:lpstr>
      <vt:lpstr>Tajawal</vt:lpstr>
      <vt:lpstr>Wingdings</vt:lpstr>
      <vt:lpstr>Arial Unicode MS</vt:lpstr>
      <vt:lpstr>IBM Plex Sans Arabic</vt:lpstr>
      <vt:lpstr>Arial</vt:lpstr>
      <vt:lpstr>Simple Light</vt:lpstr>
      <vt:lpstr>أكـــــاديميــــة طــــويـــق</vt:lpstr>
      <vt:lpstr>Introduction to Linear Algebra  </vt:lpstr>
      <vt:lpstr>PowerPoint Presentation</vt:lpstr>
      <vt:lpstr>Understanding Matrices and Their Role in Transformations</vt:lpstr>
      <vt:lpstr>What is a Matrix?</vt:lpstr>
      <vt:lpstr>Matrices as Transformations </vt:lpstr>
      <vt:lpstr>Transformations of Matrices </vt:lpstr>
      <vt:lpstr>Transformations of Matrices </vt:lpstr>
      <vt:lpstr>Applications </vt:lpstr>
      <vt:lpstr>Understanding Inverse and Determinant of Matrices </vt:lpstr>
      <vt:lpstr>Determinant of a Matrix  </vt:lpstr>
      <vt:lpstr>Formula for 2×2 and 3×3 Matrices: </vt:lpstr>
      <vt:lpstr>Determinant for 2×2 Matrices in Python </vt:lpstr>
      <vt:lpstr>Inverse of a Matrix  </vt:lpstr>
      <vt:lpstr>Identity Matrix   </vt:lpstr>
      <vt:lpstr>Calculating the Inverse of a 2x2 Matrix </vt:lpstr>
      <vt:lpstr>PowerPoint Presentation</vt:lpstr>
      <vt:lpstr>What Goes Wrong When Finding Inverses? </vt:lpstr>
      <vt:lpstr>Applications of Determinants and Inverses  </vt:lpstr>
      <vt:lpstr>الشراكات العالمية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asus</cp:lastModifiedBy>
  <cp:revision>30</cp:revision>
  <dcterms:modified xsi:type="dcterms:W3CDTF">2025-02-03T19:47:52Z</dcterms:modified>
</cp:coreProperties>
</file>