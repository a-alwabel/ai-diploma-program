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82" r:id="rId3"/>
    <p:sldId id="302" r:id="rId4"/>
    <p:sldId id="301" r:id="rId5"/>
    <p:sldId id="259" r:id="rId6"/>
    <p:sldId id="321" r:id="rId7"/>
    <p:sldId id="335" r:id="rId8"/>
    <p:sldId id="336" r:id="rId9"/>
    <p:sldId id="337" r:id="rId10"/>
    <p:sldId id="338" r:id="rId11"/>
    <p:sldId id="322" r:id="rId12"/>
    <p:sldId id="339" r:id="rId13"/>
    <p:sldId id="332" r:id="rId14"/>
    <p:sldId id="275" r:id="rId15"/>
    <p:sldId id="281" r:id="rId16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8"/>
    </p:embeddedFont>
    <p:embeddedFont>
      <p:font typeface="IBM Plex Sans Arabic" panose="020B0604020202020204" charset="-78"/>
      <p:regular r:id="rId19"/>
      <p:bold r:id="rId20"/>
    </p:embeddedFont>
    <p:embeddedFont>
      <p:font typeface="IBM Plex Sans Arabic Medium" panose="020B0604020202020204" charset="-78"/>
      <p:regular r:id="rId21"/>
      <p:bold r:id="rId22"/>
    </p:embeddedFont>
    <p:embeddedFont>
      <p:font typeface="IBM Plex Sans Arabic SemiBold" panose="020B0604020202020204" charset="-78"/>
      <p:regular r:id="rId23"/>
      <p:bold r:id="rId24"/>
    </p:embeddedFont>
    <p:embeddedFont>
      <p:font typeface="Tajawal" panose="020B0604020202020204" charset="-78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2C7666B-862D-4F7F-BA0C-E88144764012}">
  <a:tblStyle styleId="{62C7666B-862D-4F7F-BA0C-E8814476401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990" y="78"/>
      </p:cViewPr>
      <p:guideLst>
        <p:guide orient="horz" pos="524"/>
        <p:guide orient="horz" pos="2560"/>
        <p:guide pos="2880"/>
        <p:guide orient="horz" pos="759"/>
        <p:guide orient="horz" pos="2428"/>
        <p:guide pos="5325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a09276e835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a09276e835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502586bf7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502586bf7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1a09276e835_1_9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1a09276e835_1_9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sz="4300" b="1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2079450" y="445025"/>
            <a:ext cx="6707400" cy="6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2758650" y="1334150"/>
            <a:ext cx="6028200" cy="17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" name="Google Shape;2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59271" y="4703039"/>
            <a:ext cx="946580" cy="21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43" name="Google Shape;4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7371" y="317427"/>
            <a:ext cx="1356656" cy="2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sz="2500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lvl="1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sz="1800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lvl="1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lvl="2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lvl="3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lvl="4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lvl="5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lvl="6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lvl="7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lvl="8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08F5A3-CFF5-D176-4DE9-155BA882C01F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954" y="17475"/>
            <a:ext cx="1266092" cy="1007909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5" r:id="rId6"/>
    <p:sldLayoutId id="2147483657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stable/contents.html" TargetMode="External"/><Relationship Id="rId2" Type="http://schemas.openxmlformats.org/officeDocument/2006/relationships/hyperlink" Target="https://numpy.org/doc/" TargetMode="Externa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5435226" y="867625"/>
            <a:ext cx="2974200" cy="22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أكـــــاديميــــة طــــويـــق</a:t>
            </a:r>
            <a:endParaRPr sz="4800">
              <a:solidFill>
                <a:srgbClr val="58E3D8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4294967295"/>
          </p:nvPr>
        </p:nvSpPr>
        <p:spPr>
          <a:xfrm>
            <a:off x="3902100" y="3253272"/>
            <a:ext cx="4447500" cy="19734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600" dirty="0">
                <a:solidFill>
                  <a:schemeClr val="lt1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Linear Algebra for Machine Learning</a:t>
            </a:r>
            <a:endParaRPr sz="3600" dirty="0">
              <a:solidFill>
                <a:schemeClr val="lt1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1845E-322C-0341-D722-D8D1E675E9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Linear Algebra</a:t>
            </a:r>
            <a:br>
              <a:rPr lang="en-US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477DBD-A1FD-E741-A79E-A775AD5158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Fundamentals and Applications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056EFB-F281-DC54-0824-BF87C198BB1B}"/>
              </a:ext>
            </a:extLst>
          </p:cNvPr>
          <p:cNvSpPr txBox="1"/>
          <p:nvPr/>
        </p:nvSpPr>
        <p:spPr>
          <a:xfrm>
            <a:off x="3527778" y="424503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By: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Dr. Afshan Hashmi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66406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031721A-243E-F9AC-F3FB-349AADC89865}"/>
              </a:ext>
            </a:extLst>
          </p:cNvPr>
          <p:cNvSpPr txBox="1"/>
          <p:nvPr/>
        </p:nvSpPr>
        <p:spPr>
          <a:xfrm>
            <a:off x="648586" y="1180214"/>
            <a:ext cx="6634716" cy="4167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lnSpc>
                <a:spcPct val="125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7030A0"/>
                </a:solidFill>
                <a:effectLst/>
                <a:latin typeface="+mn-lt"/>
                <a:ea typeface="Proxima Nova"/>
                <a:cs typeface="Proxima Nova"/>
              </a:rPr>
              <a:t>Course Objectives:</a:t>
            </a:r>
          </a:p>
          <a:p>
            <a:pPr marR="0" lvl="0" algn="just">
              <a:lnSpc>
                <a:spcPct val="125000"/>
              </a:lnSpc>
              <a:spcBef>
                <a:spcPts val="1000"/>
              </a:spcBef>
            </a:pPr>
            <a:r>
              <a:rPr lang="en-US" sz="1800" dirty="0">
                <a:effectLst/>
                <a:latin typeface="+mn-lt"/>
                <a:ea typeface="Proxima Nova"/>
                <a:cs typeface="Proxima Nova"/>
              </a:rPr>
              <a:t>Recall and explain the relationship between machine learning concepts and mathematical constructs like vectors and matrices.</a:t>
            </a:r>
          </a:p>
          <a:p>
            <a:pPr marL="0" marR="0" algn="just">
              <a:lnSpc>
                <a:spcPct val="125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7030A0"/>
                </a:solidFill>
                <a:effectLst/>
                <a:latin typeface="+mn-lt"/>
                <a:ea typeface="Proxima Nova"/>
                <a:cs typeface="Proxima Nova"/>
              </a:rPr>
              <a:t>Course Learning Outcomes:</a:t>
            </a:r>
            <a:endParaRPr lang="en-US" sz="2400" dirty="0">
              <a:solidFill>
                <a:srgbClr val="7030A0"/>
              </a:solidFill>
              <a:effectLst/>
              <a:latin typeface="+mn-lt"/>
              <a:ea typeface="Proxima Nova"/>
              <a:cs typeface="Proxima Nova"/>
            </a:endParaRPr>
          </a:p>
          <a:p>
            <a:pPr marR="0" lvl="0" algn="just">
              <a:lnSpc>
                <a:spcPct val="125000"/>
              </a:lnSpc>
              <a:spcBef>
                <a:spcPts val="1000"/>
              </a:spcBef>
            </a:pPr>
            <a:r>
              <a:rPr lang="en-US" sz="1800" dirty="0">
                <a:effectLst/>
                <a:latin typeface="+mn-lt"/>
                <a:ea typeface="Proxima Nova"/>
                <a:cs typeface="Proxima Nova"/>
              </a:rPr>
              <a:t>Demonstrate a comprehensive understanding of key mathematical concepts, including linear algebra and probability, and their applications in AI and machine learning.</a:t>
            </a:r>
          </a:p>
          <a:p>
            <a:pPr marR="0" lvl="0" algn="just">
              <a:lnSpc>
                <a:spcPct val="125000"/>
              </a:lnSpc>
              <a:spcBef>
                <a:spcPts val="1000"/>
              </a:spcBef>
            </a:pPr>
            <a:endParaRPr lang="en-US" sz="1800" dirty="0">
              <a:effectLst/>
              <a:latin typeface="Proxima Nova"/>
              <a:ea typeface="Proxima Nova"/>
              <a:cs typeface="Proxima Nov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838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6C38EE6-766E-C750-77E2-F6AC8F39E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5024"/>
            <a:ext cx="8329650" cy="969105"/>
          </a:xfrm>
        </p:spPr>
        <p:txBody>
          <a:bodyPr>
            <a:normAutofit/>
          </a:bodyPr>
          <a:lstStyle/>
          <a:p>
            <a:r>
              <a:rPr lang="en-US" sz="2800" b="1" dirty="0"/>
              <a:t>Learning 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897766-4CAD-85A1-C4BC-2584D7C4EBB8}"/>
              </a:ext>
            </a:extLst>
          </p:cNvPr>
          <p:cNvSpPr txBox="1"/>
          <p:nvPr/>
        </p:nvSpPr>
        <p:spPr>
          <a:xfrm>
            <a:off x="407175" y="1731329"/>
            <a:ext cx="8329649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>
              <a:lnSpc>
                <a:spcPct val="125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Proxima Nova"/>
                <a:cs typeface="Proxima Nova"/>
              </a:rPr>
              <a:t>Identify matrices as operators</a:t>
            </a:r>
            <a:endParaRPr lang="en-US" sz="1800" dirty="0">
              <a:effectLst/>
              <a:latin typeface="Proxima Nova"/>
              <a:ea typeface="Proxima Nova"/>
              <a:cs typeface="Proxima Nova"/>
            </a:endParaRPr>
          </a:p>
          <a:p>
            <a:pPr marL="342900" marR="0" lvl="0" indent="-342900" algn="just">
              <a:lnSpc>
                <a:spcPct val="12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Proxima Nova"/>
                <a:cs typeface="Proxima Nova"/>
              </a:rPr>
              <a:t>Relate the transformation matrix to a set of new basis vectors</a:t>
            </a:r>
            <a:endParaRPr lang="en-US" sz="1800" dirty="0">
              <a:effectLst/>
              <a:latin typeface="Proxima Nova"/>
              <a:ea typeface="Proxima Nova"/>
              <a:cs typeface="Proxima Nova"/>
            </a:endParaRPr>
          </a:p>
          <a:p>
            <a:pPr marL="342900" marR="0" lvl="0" indent="-342900" algn="just">
              <a:lnSpc>
                <a:spcPct val="12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Proxima Nova"/>
                <a:cs typeface="Proxima Nova"/>
              </a:rPr>
              <a:t>Formulate code for mappings based on these transformation matrices</a:t>
            </a:r>
            <a:endParaRPr lang="en-US" sz="1800" dirty="0">
              <a:effectLst/>
              <a:latin typeface="Proxima Nova"/>
              <a:ea typeface="Proxima Nova"/>
              <a:cs typeface="Proxima Nova"/>
            </a:endParaRPr>
          </a:p>
          <a:p>
            <a:pPr marL="342900" marR="0" lvl="0" indent="-342900" algn="just">
              <a:lnSpc>
                <a:spcPct val="12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Proxima Nova"/>
                <a:cs typeface="Proxima Nova"/>
              </a:rPr>
              <a:t>Write code to find an orthonormal basis set computationally</a:t>
            </a:r>
            <a:endParaRPr lang="en-US" sz="1800" dirty="0">
              <a:effectLst/>
              <a:latin typeface="Proxima Nova"/>
              <a:ea typeface="Proxima Nova"/>
              <a:cs typeface="Proxima Nova"/>
            </a:endParaRP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7B7F6-5100-4C29-3482-798D795454A6}"/>
              </a:ext>
            </a:extLst>
          </p:cNvPr>
          <p:cNvSpPr txBox="1"/>
          <p:nvPr/>
        </p:nvSpPr>
        <p:spPr>
          <a:xfrm>
            <a:off x="956930" y="3279636"/>
            <a:ext cx="4444410" cy="686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841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6"/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0BC45C-E1B5-2E59-CF69-C2A4D6B7A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016" y="60942"/>
            <a:ext cx="6707400" cy="494528"/>
          </a:xfrm>
        </p:spPr>
        <p:txBody>
          <a:bodyPr>
            <a:noAutofit/>
          </a:bodyPr>
          <a:lstStyle/>
          <a:p>
            <a:r>
              <a:rPr lang="en-US" sz="2000" b="1" dirty="0"/>
              <a:t>Understanding Matrices as Operators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4">
                <a:extLst>
                  <a:ext uri="{FF2B5EF4-FFF2-40B4-BE49-F238E27FC236}">
                    <a16:creationId xmlns:a16="http://schemas.microsoft.com/office/drawing/2014/main" id="{947BC1CF-4813-307F-BE8F-4D3F2C6F0C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016" y="633880"/>
                <a:ext cx="7516841" cy="45243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Matrices are not just arrays of numbers; they serve as powerful mathematical operators that transform vectors and spaces. Understanding matrices as operators helps in fields such as physics, computer graphics, and engineering.</a:t>
                </a:r>
              </a:p>
              <a:p>
                <a:r>
                  <a:rPr lang="en-US" sz="1600" b="1" dirty="0"/>
                  <a:t>1. What are Matrices as Operators?</a:t>
                </a:r>
              </a:p>
              <a:p>
                <a:r>
                  <a:rPr lang="en-US" sz="1600" dirty="0"/>
                  <a:t>A matrix can be viewed as an operator that </a:t>
                </a:r>
                <a:r>
                  <a:rPr lang="en-US" sz="1600" b="1" dirty="0"/>
                  <a:t>maps</a:t>
                </a:r>
                <a:r>
                  <a:rPr lang="en-US" sz="1600" dirty="0"/>
                  <a:t> an input vector to an output vector via multiplication. This transformation can involve: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600" dirty="0"/>
                  <a:t>Scaling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600" dirty="0"/>
                  <a:t>Rotation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600" dirty="0"/>
                  <a:t>Reflection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600" dirty="0"/>
                  <a:t>Shearing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600" dirty="0"/>
                  <a:t>Projection</a:t>
                </a:r>
              </a:p>
              <a:p>
                <a:r>
                  <a:rPr lang="en-US" sz="1600" dirty="0"/>
                  <a:t>For a given matrix A and vector v :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 ∗ 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sz="1600" dirty="0"/>
              </a:p>
              <a:p>
                <a:r>
                  <a:rPr lang="en-US" sz="1800" i="1" dirty="0"/>
                  <a:t>Where is the transformed vector.</a:t>
                </a:r>
              </a:p>
              <a:p>
                <a:endParaRPr lang="en-US" sz="160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Rectangle 4">
                <a:extLst>
                  <a:ext uri="{FF2B5EF4-FFF2-40B4-BE49-F238E27FC236}">
                    <a16:creationId xmlns:a16="http://schemas.microsoft.com/office/drawing/2014/main" id="{947BC1CF-4813-307F-BE8F-4D3F2C6F0C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7016" y="633880"/>
                <a:ext cx="7516841" cy="4524315"/>
              </a:xfrm>
              <a:prstGeom prst="rect">
                <a:avLst/>
              </a:prstGeom>
              <a:blipFill>
                <a:blip r:embed="rId4"/>
                <a:stretch>
                  <a:fillRect l="-73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6">
            <a:extLst>
              <a:ext uri="{FF2B5EF4-FFF2-40B4-BE49-F238E27FC236}">
                <a16:creationId xmlns:a16="http://schemas.microsoft.com/office/drawing/2014/main" id="{EB8BF45A-938E-F894-15DD-74269941D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90353" y="2540024"/>
            <a:ext cx="751684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AAA77-2767-47BA-A075-218D262BE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245" y="66531"/>
            <a:ext cx="7957510" cy="627900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latin typeface="+mn-lt"/>
              </a:rPr>
              <a:t>Matrices as Transformations</a:t>
            </a:r>
            <a:br>
              <a:rPr lang="en-US" b="1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57DC0D-7604-1DBD-EEF8-6663AA7B2108}"/>
                  </a:ext>
                </a:extLst>
              </p:cNvPr>
              <p:cNvSpPr txBox="1"/>
              <p:nvPr/>
            </p:nvSpPr>
            <p:spPr>
              <a:xfrm>
                <a:off x="883801" y="996623"/>
                <a:ext cx="4651022" cy="12180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Different Types of Matrix Operators</a:t>
                </a:r>
              </a:p>
              <a:p>
                <a:r>
                  <a:rPr lang="en-US" b="1" dirty="0"/>
                  <a:t>(a) Scaling Operators:</a:t>
                </a:r>
              </a:p>
              <a:p>
                <a:r>
                  <a:rPr lang="en-US" dirty="0"/>
                  <a:t>A matrix that scales a vector by a factor: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 err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 err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i="1" dirty="0" err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,     </m:t>
                              </m:r>
                            </m:e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i="1" dirty="0" err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 err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i="1" dirty="0" err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57DC0D-7604-1DBD-EEF8-6663AA7B21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801" y="996623"/>
                <a:ext cx="4651022" cy="1218090"/>
              </a:xfrm>
              <a:prstGeom prst="rect">
                <a:avLst/>
              </a:prstGeom>
              <a:blipFill>
                <a:blip r:embed="rId2"/>
                <a:stretch>
                  <a:fillRect l="-393" t="-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FF5A37-9B9D-A9D2-0C07-82981BC9956F}"/>
                  </a:ext>
                </a:extLst>
              </p:cNvPr>
              <p:cNvSpPr txBox="1"/>
              <p:nvPr/>
            </p:nvSpPr>
            <p:spPr>
              <a:xfrm>
                <a:off x="883801" y="2255295"/>
                <a:ext cx="4651022" cy="9410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(b) Rotation Operators:</a:t>
                </a:r>
              </a:p>
              <a:p>
                <a:r>
                  <a:rPr lang="en-US" dirty="0"/>
                  <a:t>A matrix that rotates vectors by an angle 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s-E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s-ES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E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s-E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s-ES" i="0" dirty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s-ES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ES" i="1" dirty="0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a:rPr lang="es-ES" i="1" dirty="0" smtClean="0">
                                      <a:latin typeface="Cambria Math" panose="02040503050406030204" pitchFamily="18" charset="0"/>
                                    </a:rPr>
                                    <m:t>, −</m:t>
                                  </m:r>
                                  <m:func>
                                    <m:funcPr>
                                      <m:ctrlPr>
                                        <a:rPr lang="es-E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s-ES" i="0" dirty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s-ES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ES" i="1" dirty="0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  <m:r>
                                <a:rPr lang="es-ES" i="1" dirty="0" smtClean="0">
                                  <a:latin typeface="Cambria Math" panose="02040503050406030204" pitchFamily="18" charset="0"/>
                                </a:rPr>
                                <m:t>,    </m:t>
                              </m:r>
                            </m:e>
                            <m:e>
                              <m:r>
                                <a:rPr lang="es-ES" i="1" dirty="0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E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s-E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s-ES" i="0" dirty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s-ES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ES" i="1" dirty="0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a:rPr lang="es-ES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func>
                                    <m:funcPr>
                                      <m:ctrlPr>
                                        <a:rPr lang="es-E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s-ES" i="0" dirty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s-ES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ES" i="1" dirty="0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FF5A37-9B9D-A9D2-0C07-82981BC99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801" y="2255295"/>
                <a:ext cx="4651022" cy="941091"/>
              </a:xfrm>
              <a:prstGeom prst="rect">
                <a:avLst/>
              </a:prstGeom>
              <a:blipFill>
                <a:blip r:embed="rId3"/>
                <a:stretch>
                  <a:fillRect l="-393" t="-1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773FA1-2EAC-3689-DF5B-E277CCEFA502}"/>
                  </a:ext>
                </a:extLst>
              </p:cNvPr>
              <p:cNvSpPr txBox="1"/>
              <p:nvPr/>
            </p:nvSpPr>
            <p:spPr>
              <a:xfrm>
                <a:off x="883801" y="3395990"/>
                <a:ext cx="4651022" cy="14259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(c) Shear Operators:</a:t>
                </a:r>
              </a:p>
              <a:p>
                <a:r>
                  <a:rPr lang="en-US" dirty="0"/>
                  <a:t>A matrix that skews a vector: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i="1" dirty="0" err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sSub>
                                    <m:sSubPr>
                                      <m:ctrlPr>
                                        <a:rPr lang="en-US" i="1" dirty="0" err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 err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i="1" dirty="0" err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</m:e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      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       </m:t>
                              </m:r>
                            </m:e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 err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sSub>
                                    <m:sSubPr>
                                      <m:ctrlPr>
                                        <a:rPr lang="en-US" i="1" dirty="0" err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 err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i="1" dirty="0" err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773FA1-2EAC-3689-DF5B-E277CCEFA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801" y="3395990"/>
                <a:ext cx="4651022" cy="1425968"/>
              </a:xfrm>
              <a:prstGeom prst="rect">
                <a:avLst/>
              </a:prstGeom>
              <a:blipFill>
                <a:blip r:embed="rId4"/>
                <a:stretch>
                  <a:fillRect l="-393" t="-8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0582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BA3D5-7B1F-9939-5DF2-5CCEE24C3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FE852-5654-79E1-3407-E1780724A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245" y="66531"/>
            <a:ext cx="7957510" cy="627900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latin typeface="+mn-lt"/>
              </a:rPr>
              <a:t>Matrices as Transformations</a:t>
            </a:r>
            <a:br>
              <a:rPr lang="en-US" b="1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7CA2021-A29C-A405-5677-647256D7BEB1}"/>
                  </a:ext>
                </a:extLst>
              </p:cNvPr>
              <p:cNvSpPr txBox="1"/>
              <p:nvPr/>
            </p:nvSpPr>
            <p:spPr>
              <a:xfrm>
                <a:off x="883800" y="996623"/>
                <a:ext cx="6815221" cy="20326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(d) Reflection Operators:</a:t>
                </a:r>
              </a:p>
              <a:p>
                <a:r>
                  <a:rPr lang="en-US" sz="1600" dirty="0"/>
                  <a:t>A matrix that flips vectors over a line:</a:t>
                </a:r>
              </a:p>
              <a:p>
                <a:r>
                  <a:rPr lang="en-US" sz="1600" dirty="0"/>
                  <a:t>Reflection across x-axis: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,       </m:t>
                              </m:r>
                            </m:e>
                            <m:e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, −</m:t>
                                  </m:r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1600" dirty="0"/>
              </a:p>
              <a:p>
                <a:r>
                  <a:rPr lang="en-US" sz="1600" dirty="0"/>
                  <a:t>Reflection across y-axis: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,   </m:t>
                              </m:r>
                            </m:e>
                            <m:e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7CA2021-A29C-A405-5677-647256D7B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800" y="996623"/>
                <a:ext cx="6815221" cy="2032608"/>
              </a:xfrm>
              <a:prstGeom prst="rect">
                <a:avLst/>
              </a:prstGeom>
              <a:blipFill>
                <a:blip r:embed="rId2"/>
                <a:stretch>
                  <a:fillRect l="-537" t="-8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E72FB6C-D65B-ED28-ECE9-CD35FCF8FC4E}"/>
                  </a:ext>
                </a:extLst>
              </p:cNvPr>
              <p:cNvSpPr txBox="1"/>
              <p:nvPr/>
            </p:nvSpPr>
            <p:spPr>
              <a:xfrm>
                <a:off x="883801" y="2977326"/>
                <a:ext cx="4651022" cy="17863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(e) </a:t>
                </a:r>
                <a:r>
                  <a:rPr lang="en-US" sz="1600" b="1" dirty="0"/>
                  <a:t>Projection Operators:</a:t>
                </a:r>
              </a:p>
              <a:p>
                <a:r>
                  <a:rPr lang="en-US" sz="1600" dirty="0"/>
                  <a:t>A matrix that projects a vector onto a given axis:</a:t>
                </a:r>
              </a:p>
              <a:p>
                <a:endParaRPr lang="en-US" sz="16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,   </m:t>
                              </m:r>
                            </m:e>
                            <m:e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16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</m:e>
                            <m:e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E72FB6C-D65B-ED28-ECE9-CD35FCF8F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801" y="2977326"/>
                <a:ext cx="4651022" cy="1786386"/>
              </a:xfrm>
              <a:prstGeom prst="rect">
                <a:avLst/>
              </a:prstGeom>
              <a:blipFill>
                <a:blip r:embed="rId3"/>
                <a:stretch>
                  <a:fillRect l="-786" t="-10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8154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5EF51-6B0A-D227-CB7B-FD8C04570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978" y="456314"/>
            <a:ext cx="6707400" cy="627900"/>
          </a:xfrm>
        </p:spPr>
        <p:txBody>
          <a:bodyPr>
            <a:normAutofit fontScale="90000"/>
          </a:bodyPr>
          <a:lstStyle/>
          <a:p>
            <a:r>
              <a:rPr lang="en-US" sz="3100" dirty="0">
                <a:latin typeface="+mn-lt"/>
              </a:rPr>
              <a:t>Practice Problems</a:t>
            </a:r>
            <a:br>
              <a:rPr lang="en-US" b="1" i="0" dirty="0">
                <a:solidFill>
                  <a:srgbClr val="404040"/>
                </a:solidFill>
                <a:effectLst/>
                <a:latin typeface="Inter"/>
              </a:rPr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D629BD7-C9D1-D666-0765-EB74FDA7BC8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28978" y="1334149"/>
                <a:ext cx="8357872" cy="3599095"/>
              </a:xfrm>
            </p:spPr>
            <p:txBody>
              <a:bodyPr>
                <a:normAutofit fontScale="70000" lnSpcReduction="20000"/>
              </a:bodyPr>
              <a:lstStyle/>
              <a:p>
                <a:pPr marL="114300" indent="0" algn="l">
                  <a:buNone/>
                </a:pPr>
                <a:r>
                  <a:rPr lang="en-US" sz="2300" b="1" i="0" dirty="0">
                    <a:solidFill>
                      <a:srgbClr val="404040"/>
                    </a:solidFill>
                    <a:effectLst/>
                    <a:latin typeface="Inter"/>
                  </a:rPr>
                  <a:t>Problem 1</a:t>
                </a:r>
              </a:p>
              <a:p>
                <a:pPr marL="114300" indent="0" algn="l">
                  <a:buNone/>
                </a:pPr>
                <a:r>
                  <a:rPr lang="en-US" sz="2300" b="1" i="0" dirty="0">
                    <a:solidFill>
                      <a:srgbClr val="404040"/>
                    </a:solidFill>
                    <a:effectLst/>
                    <a:latin typeface="Inter"/>
                  </a:rPr>
                  <a:t>Given</a:t>
                </a:r>
                <a:r>
                  <a:rPr lang="en-US" sz="2300" b="0" i="0" dirty="0">
                    <a:solidFill>
                      <a:srgbClr val="404040"/>
                    </a:solidFill>
                    <a:effectLst/>
                    <a:latin typeface="Inter"/>
                  </a:rPr>
                  <a:t>:</a:t>
                </a:r>
                <a:br>
                  <a:rPr lang="en-US" sz="2300" b="0" i="0" dirty="0">
                    <a:solidFill>
                      <a:srgbClr val="404040"/>
                    </a:solidFill>
                    <a:effectLst/>
                    <a:latin typeface="Inter"/>
                  </a:rPr>
                </a:br>
                <a:r>
                  <a:rPr lang="en-US" sz="2300" b="0" i="0" dirty="0">
                    <a:solidFill>
                      <a:srgbClr val="404040"/>
                    </a:solidFill>
                    <a:effectLst/>
                    <a:latin typeface="Inter"/>
                  </a:rPr>
                  <a:t>Matrix </a:t>
                </a:r>
                <a14:m>
                  <m:oMath xmlns:m="http://schemas.openxmlformats.org/officeDocument/2006/math">
                    <m:r>
                      <a:rPr lang="en-US" sz="2300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300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300" b="0" i="1" dirty="0" smtClean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300" b="0" i="1" dirty="0" smtClean="0">
                                <a:solidFill>
                                  <a:srgbClr val="40404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300" b="0" i="1" dirty="0" smtClean="0">
                                    <a:solidFill>
                                      <a:srgbClr val="40404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300" b="0" i="1" dirty="0" smtClean="0">
                                    <a:solidFill>
                                      <a:srgbClr val="40404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300" b="0" i="1" dirty="0" smtClean="0">
                                    <a:solidFill>
                                      <a:srgbClr val="40404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300" b="0" i="1" dirty="0" smtClean="0">
                                    <a:solidFill>
                                      <a:srgbClr val="40404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sz="2300" b="0" i="1" dirty="0" smtClean="0">
                                <a:solidFill>
                                  <a:srgbClr val="40404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300" b="0" i="1" dirty="0" smtClean="0">
                                    <a:solidFill>
                                      <a:srgbClr val="40404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300" b="0" i="1" dirty="0" smtClean="0">
                                    <a:solidFill>
                                      <a:srgbClr val="40404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300" b="0" i="1" dirty="0" smtClean="0">
                                    <a:solidFill>
                                      <a:srgbClr val="40404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300" b="0" i="1" dirty="0" smtClean="0">
                                    <a:solidFill>
                                      <a:srgbClr val="40404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d>
                          </m:e>
                        </m:eqArr>
                      </m:e>
                    </m:d>
                    <m:r>
                      <a:rPr lang="en-US" sz="2300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300" b="0" i="0" dirty="0">
                    <a:solidFill>
                      <a:srgbClr val="404040"/>
                    </a:solidFill>
                    <a:effectLst/>
                    <a:latin typeface="Inter"/>
                  </a:rPr>
                  <a:t>and vector</a:t>
                </a:r>
                <a14:m>
                  <m:oMath xmlns:m="http://schemas.openxmlformats.org/officeDocument/2006/math">
                    <m:r>
                      <a:rPr lang="en-US" sz="2300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300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300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300" b="0" i="1" dirty="0" smtClean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300" b="0" i="1" dirty="0" smtClean="0">
                                <a:solidFill>
                                  <a:srgbClr val="40404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300" b="0" i="1" dirty="0" smtClean="0">
                                    <a:solidFill>
                                      <a:srgbClr val="40404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300" b="0" i="1" dirty="0" smtClean="0">
                                    <a:solidFill>
                                      <a:srgbClr val="40404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en-US" sz="2300" b="0" i="1" dirty="0" smtClean="0">
                                <a:solidFill>
                                  <a:srgbClr val="40404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300" b="0" i="1" dirty="0" smtClean="0">
                                    <a:solidFill>
                                      <a:srgbClr val="40404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300" b="0" i="1" dirty="0" smtClean="0">
                                    <a:solidFill>
                                      <a:srgbClr val="40404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e>
                        </m:eqArr>
                      </m:e>
                    </m:d>
                  </m:oMath>
                </a14:m>
                <a:br>
                  <a:rPr lang="en-US" sz="2300" b="0" i="0" dirty="0">
                    <a:solidFill>
                      <a:srgbClr val="404040"/>
                    </a:solidFill>
                    <a:effectLst/>
                    <a:latin typeface="Inter"/>
                  </a:rPr>
                </a:br>
                <a:r>
                  <a:rPr lang="en-US" sz="2300" b="1" i="0" dirty="0">
                    <a:solidFill>
                      <a:srgbClr val="404040"/>
                    </a:solidFill>
                    <a:effectLst/>
                    <a:latin typeface="Inter"/>
                  </a:rPr>
                  <a:t>Task</a:t>
                </a:r>
                <a:r>
                  <a:rPr lang="en-US" sz="2300" b="0" i="0" dirty="0">
                    <a:solidFill>
                      <a:srgbClr val="404040"/>
                    </a:solidFill>
                    <a:effectLst/>
                    <a:latin typeface="Inter"/>
                  </a:rPr>
                  <a:t>: Compute </a:t>
                </a:r>
                <a:r>
                  <a:rPr lang="en-US" sz="2300" b="0" i="0" dirty="0">
                    <a:solidFill>
                      <a:srgbClr val="404040"/>
                    </a:solidFill>
                    <a:effectLst/>
                    <a:latin typeface="KaTeX_Main"/>
                  </a:rPr>
                  <a:t>Av</a:t>
                </a:r>
                <a:r>
                  <a:rPr lang="en-US" sz="2300" b="0" i="0" dirty="0">
                    <a:solidFill>
                      <a:srgbClr val="404040"/>
                    </a:solidFill>
                    <a:effectLst/>
                    <a:latin typeface="Inter"/>
                  </a:rPr>
                  <a:t> and describe the transformation.</a:t>
                </a:r>
              </a:p>
              <a:p>
                <a:pPr marL="114300" indent="0" algn="l">
                  <a:buNone/>
                </a:pPr>
                <a:r>
                  <a:rPr lang="en-US" sz="2300" b="1" i="0" dirty="0">
                    <a:solidFill>
                      <a:srgbClr val="404040"/>
                    </a:solidFill>
                    <a:effectLst/>
                    <a:latin typeface="Inter"/>
                  </a:rPr>
                  <a:t>Solution</a:t>
                </a:r>
                <a:r>
                  <a:rPr lang="en-US" sz="2300" b="0" i="0" dirty="0">
                    <a:solidFill>
                      <a:srgbClr val="404040"/>
                    </a:solidFill>
                    <a:effectLst/>
                    <a:latin typeface="Inter"/>
                  </a:rPr>
                  <a:t>:</a:t>
                </a:r>
              </a:p>
              <a:p>
                <a:pPr marL="114300" indent="0">
                  <a:spcAft>
                    <a:spcPts val="300"/>
                  </a:spcAft>
                  <a:buNone/>
                </a:pPr>
                <a:r>
                  <a:rPr lang="en-US" sz="2300" b="0" i="0" dirty="0">
                    <a:solidFill>
                      <a:srgbClr val="404040"/>
                    </a:solidFill>
                    <a:effectLst/>
                    <a:latin typeface="Inter"/>
                  </a:rPr>
                  <a:t>Multiply </a:t>
                </a:r>
                <a:r>
                  <a:rPr lang="en-US" sz="2300" b="0" i="1" dirty="0">
                    <a:solidFill>
                      <a:srgbClr val="404040"/>
                    </a:solidFill>
                    <a:effectLst/>
                    <a:latin typeface="KaTeX_Math"/>
                  </a:rPr>
                  <a:t>A</a:t>
                </a:r>
                <a:r>
                  <a:rPr lang="en-US" sz="2300" b="0" i="0" dirty="0">
                    <a:solidFill>
                      <a:srgbClr val="404040"/>
                    </a:solidFill>
                    <a:effectLst/>
                    <a:latin typeface="Inter"/>
                  </a:rPr>
                  <a:t> by </a:t>
                </a:r>
                <a:r>
                  <a:rPr lang="en-US" sz="2300" b="0" i="1" dirty="0">
                    <a:solidFill>
                      <a:srgbClr val="404040"/>
                    </a:solidFill>
                    <a:effectLst/>
                    <a:latin typeface="KaTeX_Math"/>
                  </a:rPr>
                  <a:t>v</a:t>
                </a:r>
                <a:r>
                  <a:rPr lang="en-US" sz="2300" b="0" i="0" dirty="0">
                    <a:solidFill>
                      <a:srgbClr val="404040"/>
                    </a:solidFill>
                    <a:effectLst/>
                    <a:latin typeface="Inter"/>
                  </a:rPr>
                  <a:t>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𝐴𝑣</m:t>
                      </m:r>
                      <m:r>
                        <a:rPr lang="en-US" sz="23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300" b="0" i="1" dirty="0" smtClean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300" b="0" i="1" dirty="0" smtClean="0">
                                  <a:solidFill>
                                    <a:srgbClr val="40404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3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3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3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3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sz="2300" b="0" i="1" dirty="0" smtClean="0">
                                  <a:solidFill>
                                    <a:srgbClr val="40404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3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3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3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3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</m:e>
                          </m:eqAr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300" b="0" i="1" dirty="0" smtClean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300" b="0" i="1" dirty="0" smtClean="0">
                                  <a:solidFill>
                                    <a:srgbClr val="40404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3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3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sz="2300" b="0" i="1" dirty="0" smtClean="0">
                                  <a:solidFill>
                                    <a:srgbClr val="40404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3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3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e>
                          </m:eqArr>
                        </m:e>
                      </m:d>
                      <m:r>
                        <a:rPr lang="en-US" sz="23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300" b="0" i="1" dirty="0" smtClean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300" b="0" i="1" dirty="0" smtClean="0">
                                  <a:solidFill>
                                    <a:srgbClr val="40404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3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3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3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sz="23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3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3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3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sz="23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  <m:r>
                                <a:rPr lang="en-US" sz="2300" b="0" i="1" dirty="0" smtClean="0">
                                  <a:solidFill>
                                    <a:srgbClr val="40404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3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3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3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sz="23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3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3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sz="23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sz="23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e>
                          </m:eqArr>
                        </m:e>
                      </m:d>
                      <m:r>
                        <a:rPr lang="en-US" sz="23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300" b="0" i="1" dirty="0" smtClean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300" b="0" i="1" dirty="0" smtClean="0">
                                  <a:solidFill>
                                    <a:srgbClr val="40404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3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3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  <m:r>
                                <a:rPr lang="en-US" sz="2300" b="0" i="1" dirty="0" smtClean="0">
                                  <a:solidFill>
                                    <a:srgbClr val="40404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3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3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</m:d>
                            </m:e>
                          </m:eqArr>
                        </m:e>
                      </m:d>
                      <m:r>
                        <a:rPr lang="en-US" sz="23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300" b="0" i="0" dirty="0">
                  <a:solidFill>
                    <a:srgbClr val="404040"/>
                  </a:solidFill>
                  <a:effectLst/>
                  <a:latin typeface="Inter"/>
                </a:endParaRPr>
              </a:p>
              <a:p>
                <a:pPr marL="114300" indent="0">
                  <a:spcBef>
                    <a:spcPts val="300"/>
                  </a:spcBef>
                  <a:buNone/>
                </a:pPr>
                <a:r>
                  <a:rPr lang="en-US" sz="2300" b="1" i="0" dirty="0">
                    <a:solidFill>
                      <a:srgbClr val="404040"/>
                    </a:solidFill>
                    <a:effectLst/>
                    <a:latin typeface="Inter"/>
                  </a:rPr>
                  <a:t>Transformation Description</a:t>
                </a:r>
                <a:r>
                  <a:rPr lang="en-US" sz="2300" b="0" i="0" dirty="0">
                    <a:solidFill>
                      <a:srgbClr val="404040"/>
                    </a:solidFill>
                    <a:effectLst/>
                    <a:latin typeface="Inter"/>
                  </a:rPr>
                  <a:t>:</a:t>
                </a:r>
                <a:br>
                  <a:rPr lang="en-US" sz="2300" b="0" i="0" dirty="0">
                    <a:solidFill>
                      <a:srgbClr val="404040"/>
                    </a:solidFill>
                    <a:effectLst/>
                    <a:latin typeface="Inter"/>
                  </a:rPr>
                </a:br>
                <a:r>
                  <a:rPr lang="en-US" sz="2300" b="0" i="0" dirty="0">
                    <a:solidFill>
                      <a:srgbClr val="404040"/>
                    </a:solidFill>
                    <a:effectLst/>
                    <a:latin typeface="Inter"/>
                  </a:rPr>
                  <a:t>The matrix </a:t>
                </a:r>
                <a:r>
                  <a:rPr lang="en-US" sz="2300" b="0" i="1" dirty="0">
                    <a:solidFill>
                      <a:srgbClr val="404040"/>
                    </a:solidFill>
                    <a:effectLst/>
                    <a:latin typeface="KaTeX_Math"/>
                  </a:rPr>
                  <a:t>A</a:t>
                </a:r>
                <a:r>
                  <a:rPr lang="en-US" sz="2300" b="0" i="0" dirty="0">
                    <a:solidFill>
                      <a:srgbClr val="404040"/>
                    </a:solidFill>
                    <a:effectLst/>
                    <a:latin typeface="Inter"/>
                  </a:rPr>
                  <a:t> scales the vector </a:t>
                </a:r>
                <a:r>
                  <a:rPr lang="en-US" sz="2300" b="0" i="1" dirty="0">
                    <a:solidFill>
                      <a:srgbClr val="404040"/>
                    </a:solidFill>
                    <a:effectLst/>
                    <a:latin typeface="KaTeX_Math"/>
                  </a:rPr>
                  <a:t>v</a:t>
                </a:r>
                <a:r>
                  <a:rPr lang="en-US" sz="2300" b="0" i="0" dirty="0">
                    <a:solidFill>
                      <a:srgbClr val="404040"/>
                    </a:solidFill>
                    <a:effectLst/>
                    <a:latin typeface="Inter"/>
                  </a:rPr>
                  <a:t> by a factor of 2 along the x-axis and a factor of 3 along the y-axis. This is a </a:t>
                </a:r>
                <a:r>
                  <a:rPr lang="en-US" sz="2300" b="1" i="0" dirty="0">
                    <a:solidFill>
                      <a:srgbClr val="404040"/>
                    </a:solidFill>
                    <a:effectLst/>
                    <a:latin typeface="Inter"/>
                  </a:rPr>
                  <a:t>scaling transformation</a:t>
                </a:r>
                <a:r>
                  <a:rPr lang="en-US" sz="2300" b="0" i="0" dirty="0">
                    <a:solidFill>
                      <a:srgbClr val="404040"/>
                    </a:solidFill>
                    <a:effectLst/>
                    <a:latin typeface="Inter"/>
                  </a:rPr>
                  <a:t>.</a:t>
                </a:r>
              </a:p>
              <a:p>
                <a:pPr marL="114300" indent="0">
                  <a:buNone/>
                </a:pPr>
                <a:endParaRPr lang="en-US" b="1" i="0" dirty="0">
                  <a:solidFill>
                    <a:srgbClr val="404040"/>
                  </a:solidFill>
                  <a:effectLst/>
                  <a:latin typeface="Inter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D629BD7-C9D1-D666-0765-EB74FDA7BC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28978" y="1334149"/>
                <a:ext cx="8357872" cy="3599095"/>
              </a:xfrm>
              <a:blipFill>
                <a:blip r:embed="rId2"/>
                <a:stretch>
                  <a:fillRect l="-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5913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EC0C7-59D5-F672-DF6E-1994C81DC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C0FAC-ACA2-D4E2-358C-07BA9C3EC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089" y="-26811"/>
            <a:ext cx="6707400" cy="627900"/>
          </a:xfrm>
        </p:spPr>
        <p:txBody>
          <a:bodyPr>
            <a:normAutofit fontScale="90000"/>
          </a:bodyPr>
          <a:lstStyle/>
          <a:p>
            <a:r>
              <a:rPr lang="en-US" sz="3100" dirty="0">
                <a:latin typeface="+mn-lt"/>
              </a:rPr>
              <a:t>Practice Problems</a:t>
            </a:r>
            <a:br>
              <a:rPr lang="en-US" b="1" i="0" dirty="0">
                <a:solidFill>
                  <a:srgbClr val="404040"/>
                </a:solidFill>
                <a:effectLst/>
                <a:latin typeface="Inter"/>
              </a:rPr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1D7B1EB-0A20-B38B-0401-84DF7F52AA9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0" y="601089"/>
                <a:ext cx="9223022" cy="4693400"/>
              </a:xfrm>
            </p:spPr>
            <p:txBody>
              <a:bodyPr>
                <a:normAutofit fontScale="47500" lnSpcReduction="20000"/>
              </a:bodyPr>
              <a:lstStyle/>
              <a:p>
                <a:pPr marL="114300" indent="0" algn="l">
                  <a:buNone/>
                </a:pPr>
                <a:r>
                  <a:rPr lang="en-US" sz="2900" b="1" i="0" dirty="0">
                    <a:solidFill>
                      <a:srgbClr val="404040"/>
                    </a:solidFill>
                    <a:effectLst/>
                    <a:latin typeface="Inter"/>
                  </a:rPr>
                  <a:t>Problem 2</a:t>
                </a:r>
              </a:p>
              <a:p>
                <a:pPr marL="114300" indent="0" algn="l">
                  <a:buNone/>
                </a:pPr>
                <a:r>
                  <a:rPr lang="en-US" sz="2900" b="1" i="0" dirty="0">
                    <a:solidFill>
                      <a:srgbClr val="404040"/>
                    </a:solidFill>
                    <a:effectLst/>
                    <a:latin typeface="Inter"/>
                  </a:rPr>
                  <a:t>Given</a:t>
                </a:r>
                <a:r>
                  <a:rPr lang="en-US" sz="2900" b="0" i="0" dirty="0">
                    <a:solidFill>
                      <a:srgbClr val="404040"/>
                    </a:solidFill>
                    <a:effectLst/>
                    <a:latin typeface="Inter"/>
                  </a:rPr>
                  <a:t>:</a:t>
                </a:r>
                <a:br>
                  <a:rPr lang="en-US" sz="2900" b="0" i="0" dirty="0">
                    <a:solidFill>
                      <a:srgbClr val="404040"/>
                    </a:solidFill>
                    <a:effectLst/>
                    <a:latin typeface="Inter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𝑀𝑎𝑡𝑟𝑖𝑥</m:t>
                      </m:r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900" b="0" i="1" dirty="0" smtClean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900" b="0" i="1" dirty="0" smtClean="0">
                                  <a:solidFill>
                                    <a:srgbClr val="40404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,−</m:t>
                                  </m:r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sz="2900" b="0" i="1" dirty="0" smtClean="0">
                                  <a:solidFill>
                                    <a:srgbClr val="40404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eqArr>
                        </m:e>
                      </m:d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𝑣𝑒𝑐𝑡𝑜𝑟</m:t>
                      </m:r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900" b="0" i="1" dirty="0" smtClean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900" b="0" i="1" dirty="0" smtClean="0">
                                  <a:solidFill>
                                    <a:srgbClr val="40404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  <m:r>
                                <a:rPr lang="en-US" sz="2900" b="0" i="1" dirty="0" smtClean="0">
                                  <a:solidFill>
                                    <a:srgbClr val="40404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br>
                  <a:rPr lang="en-US" sz="2900" b="0" i="0" dirty="0">
                    <a:solidFill>
                      <a:srgbClr val="404040"/>
                    </a:solidFill>
                    <a:effectLst/>
                    <a:latin typeface="Inter"/>
                  </a:rPr>
                </a:br>
                <a:r>
                  <a:rPr lang="en-US" sz="2900" b="1" i="0" dirty="0">
                    <a:solidFill>
                      <a:srgbClr val="404040"/>
                    </a:solidFill>
                    <a:effectLst/>
                    <a:latin typeface="Inter"/>
                  </a:rPr>
                  <a:t>Task</a:t>
                </a:r>
                <a:r>
                  <a:rPr lang="en-US" sz="2900" b="0" i="0" dirty="0">
                    <a:solidFill>
                      <a:srgbClr val="404040"/>
                    </a:solidFill>
                    <a:effectLst/>
                    <a:latin typeface="Inter"/>
                  </a:rPr>
                  <a:t>: Identify the type of transformation and apply it to </a:t>
                </a:r>
                <a:r>
                  <a:rPr lang="en-US" sz="2900" b="0" i="1" dirty="0">
                    <a:solidFill>
                      <a:srgbClr val="404040"/>
                    </a:solidFill>
                    <a:effectLst/>
                    <a:latin typeface="KaTeX_Math"/>
                  </a:rPr>
                  <a:t>w</a:t>
                </a:r>
                <a:r>
                  <a:rPr lang="en-US" sz="2900" b="0" i="0" dirty="0">
                    <a:solidFill>
                      <a:srgbClr val="404040"/>
                    </a:solidFill>
                    <a:effectLst/>
                    <a:latin typeface="Inter"/>
                  </a:rPr>
                  <a:t>.</a:t>
                </a:r>
              </a:p>
              <a:p>
                <a:pPr marL="114300" indent="0" algn="l">
                  <a:buNone/>
                </a:pPr>
                <a:r>
                  <a:rPr lang="en-US" sz="2900" b="1" i="0" dirty="0">
                    <a:solidFill>
                      <a:srgbClr val="404040"/>
                    </a:solidFill>
                    <a:effectLst/>
                    <a:latin typeface="Inter"/>
                  </a:rPr>
                  <a:t>Solution</a:t>
                </a:r>
                <a:r>
                  <a:rPr lang="en-US" sz="2900" b="0" i="0" dirty="0">
                    <a:solidFill>
                      <a:srgbClr val="404040"/>
                    </a:solidFill>
                    <a:effectLst/>
                    <a:latin typeface="Inter"/>
                  </a:rPr>
                  <a:t>:</a:t>
                </a:r>
              </a:p>
              <a:p>
                <a:pPr marL="114300" indent="0">
                  <a:spcAft>
                    <a:spcPts val="300"/>
                  </a:spcAft>
                  <a:buNone/>
                </a:pPr>
                <a:r>
                  <a:rPr lang="en-US" sz="2900" b="0" i="0" dirty="0">
                    <a:solidFill>
                      <a:srgbClr val="404040"/>
                    </a:solidFill>
                    <a:effectLst/>
                    <a:latin typeface="Inter"/>
                  </a:rPr>
                  <a:t>Identify the transformation:</a:t>
                </a:r>
                <a:br>
                  <a:rPr lang="en-US" sz="2900" b="0" i="0" dirty="0">
                    <a:solidFill>
                      <a:srgbClr val="404040"/>
                    </a:solidFill>
                    <a:effectLst/>
                    <a:latin typeface="Inter"/>
                  </a:rPr>
                </a:br>
                <a:r>
                  <a:rPr lang="en-US" sz="2900" b="0" i="0" dirty="0">
                    <a:solidFill>
                      <a:srgbClr val="404040"/>
                    </a:solidFill>
                    <a:effectLst/>
                    <a:latin typeface="Inter"/>
                  </a:rPr>
                  <a:t>The matrix </a:t>
                </a:r>
                <a:r>
                  <a:rPr lang="en-US" sz="2900" b="0" i="1" dirty="0">
                    <a:solidFill>
                      <a:srgbClr val="404040"/>
                    </a:solidFill>
                    <a:effectLst/>
                    <a:latin typeface="KaTeX_Math"/>
                  </a:rPr>
                  <a:t>B</a:t>
                </a:r>
                <a:r>
                  <a:rPr lang="en-US" sz="2900" b="0" i="0" dirty="0">
                    <a:solidFill>
                      <a:srgbClr val="404040"/>
                    </a:solidFill>
                    <a:effectLst/>
                    <a:latin typeface="Inter"/>
                  </a:rPr>
                  <a:t> is a </a:t>
                </a:r>
                <a:r>
                  <a:rPr lang="en-US" sz="2900" b="1" i="0" dirty="0">
                    <a:solidFill>
                      <a:srgbClr val="404040"/>
                    </a:solidFill>
                    <a:effectLst/>
                    <a:latin typeface="Inter"/>
                  </a:rPr>
                  <a:t>rotation matrix</a:t>
                </a:r>
                <a:r>
                  <a:rPr lang="en-US" sz="2900" b="0" i="0" dirty="0">
                    <a:solidFill>
                      <a:srgbClr val="404040"/>
                    </a:solidFill>
                    <a:effectLst/>
                    <a:latin typeface="Inter"/>
                  </a:rPr>
                  <a:t> that rotates vectors by </a:t>
                </a:r>
                <a:r>
                  <a:rPr lang="en-US" sz="2900" b="0" i="0" dirty="0">
                    <a:solidFill>
                      <a:srgbClr val="404040"/>
                    </a:solidFill>
                    <a:effectLst/>
                    <a:latin typeface="KaTeX_Main"/>
                  </a:rPr>
                  <a:t>90∘</a:t>
                </a:r>
                <a:r>
                  <a:rPr lang="en-US" sz="2900" b="0" i="0" dirty="0">
                    <a:solidFill>
                      <a:srgbClr val="404040"/>
                    </a:solidFill>
                    <a:effectLst/>
                    <a:latin typeface="Inter"/>
                  </a:rPr>
                  <a:t> counterclockwise. This is because: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900" b="0" i="1" dirty="0" smtClean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900" b="0" i="1" dirty="0" smtClean="0">
                                  <a:solidFill>
                                    <a:srgbClr val="40404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lang="en-US" sz="2900" b="0" i="1" dirty="0" smtClean="0">
                                          <a:solidFill>
                                            <a:srgbClr val="40404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func>
                                        <m:funcPr>
                                          <m:ctrlPr>
                                            <a:rPr lang="en-US" sz="2900" b="0" i="1" dirty="0" smtClean="0">
                                              <a:solidFill>
                                                <a:srgbClr val="40404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900" b="0" i="0" dirty="0" smtClean="0">
                                              <a:solidFill>
                                                <a:srgbClr val="40404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sz="2900" b="0" i="1" dirty="0" smtClean="0">
                                                  <a:solidFill>
                                                    <a:srgbClr val="40404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900" b="0" i="1" dirty="0" smtClean="0">
                                                  <a:solidFill>
                                                    <a:srgbClr val="40404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90</m:t>
                                              </m:r>
                                              <m:r>
                                                <a:rPr lang="en-US" sz="2900" b="0" i="1" dirty="0" smtClean="0">
                                                  <a:solidFill>
                                                    <a:srgbClr val="40404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°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  <m:r>
                                        <a:rPr lang="en-US" sz="2900" b="0" i="1" dirty="0" smtClean="0">
                                          <a:solidFill>
                                            <a:srgbClr val="40404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</m:e>
                                    <m:e>
                                      <m:r>
                                        <a:rPr lang="en-US" sz="2900" b="0" i="1" dirty="0" smtClean="0">
                                          <a:solidFill>
                                            <a:srgbClr val="40404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unc>
                                        <m:funcPr>
                                          <m:ctrlPr>
                                            <a:rPr lang="en-US" sz="2900" b="0" i="1" dirty="0" smtClean="0">
                                              <a:solidFill>
                                                <a:srgbClr val="40404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900" b="0" i="0" dirty="0" smtClean="0">
                                              <a:solidFill>
                                                <a:srgbClr val="40404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sz="2900" b="0" i="1" dirty="0" smtClean="0">
                                                  <a:solidFill>
                                                    <a:srgbClr val="40404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900" b="0" i="1" dirty="0" smtClean="0">
                                                  <a:solidFill>
                                                    <a:srgbClr val="40404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90</m:t>
                                              </m:r>
                                              <m:r>
                                                <a:rPr lang="en-US" sz="2900" b="0" i="1" dirty="0" smtClean="0">
                                                  <a:solidFill>
                                                    <a:srgbClr val="40404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°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</m:e>
                                  </m:eqArr>
                                </m:e>
                              </m:d>
                              <m:r>
                                <a:rPr lang="en-US" sz="2900" b="0" i="1" dirty="0" smtClean="0">
                                  <a:solidFill>
                                    <a:srgbClr val="40404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lang="en-US" sz="2900" b="0" i="1" dirty="0" smtClean="0">
                                          <a:solidFill>
                                            <a:srgbClr val="40404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func>
                                        <m:funcPr>
                                          <m:ctrlPr>
                                            <a:rPr lang="en-US" sz="2900" b="0" i="1" dirty="0" smtClean="0">
                                              <a:solidFill>
                                                <a:srgbClr val="40404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900" b="0" i="0" dirty="0" smtClean="0">
                                              <a:solidFill>
                                                <a:srgbClr val="40404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sz="2900" b="0" i="1" dirty="0" smtClean="0">
                                                  <a:solidFill>
                                                    <a:srgbClr val="40404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900" b="0" i="1" dirty="0" smtClean="0">
                                                  <a:solidFill>
                                                    <a:srgbClr val="40404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90</m:t>
                                              </m:r>
                                              <m:r>
                                                <a:rPr lang="en-US" sz="2900" b="0" i="1" dirty="0" smtClean="0">
                                                  <a:solidFill>
                                                    <a:srgbClr val="40404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°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  <m:r>
                                        <a:rPr lang="en-US" sz="2900" b="0" i="1" dirty="0" smtClean="0">
                                          <a:solidFill>
                                            <a:srgbClr val="40404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</m:e>
                                    <m:e>
                                      <m:func>
                                        <m:funcPr>
                                          <m:ctrlPr>
                                            <a:rPr lang="en-US" sz="2900" b="0" i="1" dirty="0" smtClean="0">
                                              <a:solidFill>
                                                <a:srgbClr val="40404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900" b="0" i="0" dirty="0" smtClean="0">
                                              <a:solidFill>
                                                <a:srgbClr val="40404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sz="2900" b="0" i="1" dirty="0" smtClean="0">
                                                  <a:solidFill>
                                                    <a:srgbClr val="40404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900" b="0" i="1" dirty="0" smtClean="0">
                                                  <a:solidFill>
                                                    <a:srgbClr val="40404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90</m:t>
                                              </m:r>
                                              <m:r>
                                                <a:rPr lang="en-US" sz="2900" b="0" i="1" dirty="0" smtClean="0">
                                                  <a:solidFill>
                                                    <a:srgbClr val="40404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°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</m:e>
                                  </m:eqArr>
                                </m:e>
                              </m:d>
                            </m:e>
                          </m:eqArr>
                        </m:e>
                      </m:d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900" b="0" i="1" dirty="0" smtClean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900" b="0" i="1" dirty="0" smtClean="0">
                                  <a:solidFill>
                                    <a:srgbClr val="40404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,−</m:t>
                                  </m:r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sz="2900" b="0" i="1" dirty="0" smtClean="0">
                                  <a:solidFill>
                                    <a:srgbClr val="40404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eqArr>
                        </m:e>
                      </m:d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900" b="0" i="0" dirty="0">
                  <a:solidFill>
                    <a:srgbClr val="404040"/>
                  </a:solidFill>
                  <a:effectLst/>
                  <a:latin typeface="Inter"/>
                </a:endParaRPr>
              </a:p>
              <a:p>
                <a:pPr marL="114300" indent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lang="en-US" sz="2900" b="0" i="0" dirty="0">
                    <a:solidFill>
                      <a:srgbClr val="404040"/>
                    </a:solidFill>
                    <a:effectLst/>
                    <a:latin typeface="Inter"/>
                  </a:rPr>
                  <a:t>Apply </a:t>
                </a:r>
                <a:r>
                  <a:rPr lang="en-US" sz="2900" b="0" i="0" dirty="0">
                    <a:solidFill>
                      <a:srgbClr val="404040"/>
                    </a:solidFill>
                    <a:effectLst/>
                    <a:latin typeface="KaTeX_Main"/>
                  </a:rPr>
                  <a:t>B</a:t>
                </a:r>
                <a:r>
                  <a:rPr lang="en-US" sz="2900" b="0" i="0" dirty="0">
                    <a:solidFill>
                      <a:srgbClr val="404040"/>
                    </a:solidFill>
                    <a:effectLst/>
                    <a:latin typeface="Inter"/>
                  </a:rPr>
                  <a:t> to </a:t>
                </a:r>
                <a:r>
                  <a:rPr lang="en-US" sz="2900" b="0" i="1" dirty="0">
                    <a:solidFill>
                      <a:srgbClr val="404040"/>
                    </a:solidFill>
                    <a:effectLst/>
                    <a:latin typeface="KaTeX_Math"/>
                  </a:rPr>
                  <a:t>w</a:t>
                </a:r>
                <a:r>
                  <a:rPr lang="en-US" sz="2900" b="0" i="0" dirty="0">
                    <a:solidFill>
                      <a:srgbClr val="404040"/>
                    </a:solidFill>
                    <a:effectLst/>
                    <a:latin typeface="Inter"/>
                  </a:rPr>
                  <a:t>:</a:t>
                </a:r>
              </a:p>
              <a:p>
                <a:pPr marL="114300" indent="0"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𝐵𝑤</m:t>
                      </m:r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900" b="0" i="1" dirty="0" smtClean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900" b="0" i="1" dirty="0" smtClean="0">
                                  <a:solidFill>
                                    <a:srgbClr val="40404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,−</m:t>
                                  </m:r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sz="2900" b="0" i="1" dirty="0" smtClean="0">
                                  <a:solidFill>
                                    <a:srgbClr val="40404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eqAr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900" b="0" i="1" dirty="0" smtClean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900" b="0" i="1" dirty="0" smtClean="0">
                                  <a:solidFill>
                                    <a:srgbClr val="40404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  <m:r>
                                <a:rPr lang="en-US" sz="2900" b="0" i="1" dirty="0" smtClean="0">
                                  <a:solidFill>
                                    <a:srgbClr val="40404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d>
                            </m:e>
                          </m:eqArr>
                        </m:e>
                      </m:d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900" b="0" i="1" dirty="0" smtClean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900" b="0" i="1" dirty="0" smtClean="0">
                                  <a:solidFill>
                                    <a:srgbClr val="40404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ctrlPr>
                                        <a:rPr lang="en-US" sz="2900" b="0" i="1" dirty="0" smtClean="0">
                                          <a:solidFill>
                                            <a:srgbClr val="40404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900" b="0" i="1" dirty="0" smtClean="0">
                                          <a:solidFill>
                                            <a:srgbClr val="40404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900" b="0" i="1" dirty="0" smtClean="0">
                                          <a:solidFill>
                                            <a:srgbClr val="40404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d>
                              <m:r>
                                <a:rPr lang="en-US" sz="2900" b="0" i="1" dirty="0" smtClean="0">
                                  <a:solidFill>
                                    <a:srgbClr val="40404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d>
                            </m:e>
                          </m:eqArr>
                        </m:e>
                      </m:d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900" b="0" i="1" dirty="0" smtClean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900" b="0" i="1" dirty="0" smtClean="0">
                                  <a:solidFill>
                                    <a:srgbClr val="40404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d>
                              <m:r>
                                <a:rPr lang="en-US" sz="2900" b="0" i="1" dirty="0" smtClean="0">
                                  <a:solidFill>
                                    <a:srgbClr val="40404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</m:e>
                          </m:eqArr>
                        </m:e>
                      </m:d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900" b="0" i="0" dirty="0">
                  <a:solidFill>
                    <a:srgbClr val="404040"/>
                  </a:solidFill>
                  <a:effectLst/>
                  <a:latin typeface="Inter"/>
                </a:endParaRPr>
              </a:p>
              <a:p>
                <a:pPr marL="114300" indent="0">
                  <a:spcBef>
                    <a:spcPts val="300"/>
                  </a:spcBef>
                  <a:buNone/>
                </a:pPr>
                <a:r>
                  <a:rPr lang="en-US" sz="2900" b="1" i="0" dirty="0">
                    <a:solidFill>
                      <a:srgbClr val="404040"/>
                    </a:solidFill>
                    <a:effectLst/>
                    <a:latin typeface="Inter"/>
                  </a:rPr>
                  <a:t>Result</a:t>
                </a:r>
                <a:r>
                  <a:rPr lang="en-US" sz="2900" b="0" i="0" dirty="0">
                    <a:solidFill>
                      <a:srgbClr val="404040"/>
                    </a:solidFill>
                    <a:effectLst/>
                    <a:latin typeface="Inter"/>
                  </a:rPr>
                  <a:t>:</a:t>
                </a:r>
                <a:br>
                  <a:rPr lang="en-US" sz="2900" b="0" i="0" dirty="0">
                    <a:solidFill>
                      <a:srgbClr val="404040"/>
                    </a:solidFill>
                    <a:effectLst/>
                    <a:latin typeface="Inter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𝑣𝑒𝑐𝑡𝑜𝑟</m:t>
                      </m:r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900" b="0" i="1" dirty="0" smtClean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900" b="0" i="1" dirty="0" smtClean="0">
                                  <a:solidFill>
                                    <a:srgbClr val="40404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  <m:r>
                                <a:rPr lang="en-US" sz="2900" b="0" i="1" dirty="0" smtClean="0">
                                  <a:solidFill>
                                    <a:srgbClr val="40404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9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d>
                            </m:e>
                          </m:eqArr>
                        </m:e>
                      </m:d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𝑟𝑜𝑡𝑎𝑡𝑒𝑑</m:t>
                      </m:r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90</m:t>
                      </m:r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∘</m:t>
                      </m:r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𝑐𝑜𝑢𝑛𝑡𝑒𝑟𝑐𝑙𝑜𝑐𝑘𝑤𝑖𝑠𝑒</m:t>
                      </m:r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 [[−</m:t>
                      </m:r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][</m:t>
                      </m:r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9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]]</m:t>
                      </m:r>
                    </m:oMath>
                  </m:oMathPara>
                </a14:m>
                <a:endParaRPr lang="en-US" sz="2900" b="1" i="0" dirty="0">
                  <a:solidFill>
                    <a:srgbClr val="404040"/>
                  </a:solidFill>
                  <a:effectLst/>
                  <a:latin typeface="Inter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1D7B1EB-0A20-B38B-0401-84DF7F52AA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601089"/>
                <a:ext cx="9223022" cy="4693400"/>
              </a:xfrm>
              <a:blipFill>
                <a:blip r:embed="rId2"/>
                <a:stretch>
                  <a:fillRect l="-1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4229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643BD-AE32-90C3-3379-9ECAF954F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11D3-A9B4-3B71-0FC6-CB9780E03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089" y="-26811"/>
            <a:ext cx="6707400" cy="627900"/>
          </a:xfrm>
        </p:spPr>
        <p:txBody>
          <a:bodyPr>
            <a:normAutofit fontScale="90000"/>
          </a:bodyPr>
          <a:lstStyle/>
          <a:p>
            <a:r>
              <a:rPr lang="en-US" sz="3100" dirty="0">
                <a:latin typeface="+mn-lt"/>
              </a:rPr>
              <a:t>Practice Problems</a:t>
            </a:r>
            <a:br>
              <a:rPr lang="en-US" b="1" i="0" dirty="0">
                <a:solidFill>
                  <a:srgbClr val="404040"/>
                </a:solidFill>
                <a:effectLst/>
                <a:latin typeface="Inter"/>
              </a:rPr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AF257FE-24F3-A76F-EDE9-C9FF9CA31E2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0" y="464167"/>
                <a:ext cx="9223022" cy="4693400"/>
              </a:xfrm>
            </p:spPr>
            <p:txBody>
              <a:bodyPr>
                <a:normAutofit fontScale="47500" lnSpcReduction="20000"/>
              </a:bodyPr>
              <a:lstStyle/>
              <a:p>
                <a:pPr marL="114300" indent="0" algn="l">
                  <a:buNone/>
                </a:pPr>
                <a:r>
                  <a:rPr lang="en-US" sz="3200" b="1" i="0" dirty="0">
                    <a:solidFill>
                      <a:srgbClr val="404040"/>
                    </a:solidFill>
                    <a:effectLst/>
                    <a:latin typeface="Inter"/>
                  </a:rPr>
                  <a:t>Problem 3</a:t>
                </a:r>
              </a:p>
              <a:p>
                <a:pPr marL="114300" indent="0" algn="l">
                  <a:buNone/>
                </a:pPr>
                <a:r>
                  <a:rPr lang="en-US" sz="3200" b="1" i="0" dirty="0" err="1">
                    <a:solidFill>
                      <a:srgbClr val="404040"/>
                    </a:solidFill>
                    <a:effectLst/>
                    <a:latin typeface="Inter"/>
                  </a:rPr>
                  <a:t>Given</a:t>
                </a:r>
                <a:r>
                  <a:rPr lang="en-US" sz="3200" b="0" i="0" dirty="0" err="1">
                    <a:solidFill>
                      <a:srgbClr val="404040"/>
                    </a:solidFill>
                    <a:effectLst/>
                    <a:latin typeface="Inter"/>
                  </a:rPr>
                  <a:t>:Vector</a:t>
                </a:r>
                <a:r>
                  <a:rPr lang="en-US" sz="3200" b="0" i="0" dirty="0">
                    <a:solidFill>
                      <a:srgbClr val="404040"/>
                    </a:solidFill>
                    <a:effectLst/>
                    <a:latin typeface="Inter"/>
                  </a:rPr>
                  <a:t> </a:t>
                </a:r>
                <a14:m>
                  <m:oMath xmlns:m="http://schemas.openxmlformats.org/officeDocument/2006/math">
                    <m:r>
                      <a:rPr lang="en-US" sz="3200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3200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3200" b="0" i="1" dirty="0" smtClean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3200" b="0" i="1" dirty="0" smtClean="0">
                                <a:solidFill>
                                  <a:srgbClr val="40404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3200" b="0" i="1" dirty="0" smtClean="0">
                                    <a:solidFill>
                                      <a:srgbClr val="40404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200" b="0" i="1" dirty="0" smtClean="0">
                                    <a:solidFill>
                                      <a:srgbClr val="40404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en-US" sz="3200" b="0" i="1" dirty="0" smtClean="0">
                                <a:solidFill>
                                  <a:srgbClr val="40404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3200" b="0" i="1" dirty="0" smtClean="0">
                                    <a:solidFill>
                                      <a:srgbClr val="40404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200" b="0" i="1" dirty="0" smtClean="0">
                                    <a:solidFill>
                                      <a:srgbClr val="40404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lang="en-US" sz="3200" b="0" i="1" dirty="0">
                  <a:solidFill>
                    <a:srgbClr val="404040"/>
                  </a:solidFill>
                  <a:effectLst/>
                  <a:latin typeface="KaTeX_Math"/>
                </a:endParaRPr>
              </a:p>
              <a:p>
                <a:pPr marL="114300" indent="0" algn="l">
                  <a:buNone/>
                </a:pPr>
                <a:r>
                  <a:rPr lang="en-US" sz="3200" b="1" i="0" dirty="0">
                    <a:solidFill>
                      <a:srgbClr val="404040"/>
                    </a:solidFill>
                    <a:effectLst/>
                    <a:latin typeface="Inter"/>
                  </a:rPr>
                  <a:t>Task</a:t>
                </a:r>
                <a:r>
                  <a:rPr lang="en-US" sz="3200" b="0" i="0" dirty="0">
                    <a:solidFill>
                      <a:srgbClr val="404040"/>
                    </a:solidFill>
                    <a:effectLst/>
                    <a:latin typeface="Inter"/>
                  </a:rPr>
                  <a:t>: Determine the matrix that represents a </a:t>
                </a:r>
                <a:r>
                  <a:rPr lang="en-US" sz="3200" b="0" i="0" dirty="0">
                    <a:solidFill>
                      <a:srgbClr val="404040"/>
                    </a:solidFill>
                    <a:effectLst/>
                    <a:latin typeface="KaTeX_Main"/>
                  </a:rPr>
                  <a:t>45∘</a:t>
                </a:r>
                <a:r>
                  <a:rPr lang="en-US" sz="3200" b="0" i="0" dirty="0">
                    <a:solidFill>
                      <a:srgbClr val="404040"/>
                    </a:solidFill>
                    <a:effectLst/>
                    <a:latin typeface="Inter"/>
                  </a:rPr>
                  <a:t>rotation and apply it to </a:t>
                </a:r>
                <a:r>
                  <a:rPr lang="en-US" sz="3200" b="0" i="0" dirty="0">
                    <a:solidFill>
                      <a:srgbClr val="404040"/>
                    </a:solidFill>
                    <a:effectLst/>
                    <a:latin typeface="KaTeX_Main"/>
                  </a:rPr>
                  <a:t>u</a:t>
                </a:r>
                <a:r>
                  <a:rPr lang="en-US" sz="3200" b="0" i="0" dirty="0">
                    <a:solidFill>
                      <a:srgbClr val="404040"/>
                    </a:solidFill>
                    <a:effectLst/>
                    <a:latin typeface="Inter"/>
                  </a:rPr>
                  <a:t>.</a:t>
                </a:r>
              </a:p>
              <a:p>
                <a:pPr marL="114300" indent="0" algn="l">
                  <a:buNone/>
                </a:pPr>
                <a:r>
                  <a:rPr lang="en-US" sz="3200" b="1" i="0" dirty="0">
                    <a:solidFill>
                      <a:srgbClr val="404040"/>
                    </a:solidFill>
                    <a:effectLst/>
                    <a:latin typeface="Inter"/>
                  </a:rPr>
                  <a:t>Solution</a:t>
                </a:r>
                <a:r>
                  <a:rPr lang="en-US" sz="3200" b="0" i="0" dirty="0">
                    <a:solidFill>
                      <a:srgbClr val="404040"/>
                    </a:solidFill>
                    <a:effectLst/>
                    <a:latin typeface="Inter"/>
                  </a:rPr>
                  <a:t>:</a:t>
                </a:r>
              </a:p>
              <a:p>
                <a:pPr marL="114300" indent="0">
                  <a:spcAft>
                    <a:spcPts val="300"/>
                  </a:spcAft>
                  <a:buNone/>
                </a:pPr>
                <a:r>
                  <a:rPr lang="en-US" sz="3200" b="0" i="0" dirty="0">
                    <a:solidFill>
                      <a:srgbClr val="404040"/>
                    </a:solidFill>
                    <a:effectLst/>
                    <a:latin typeface="Inter"/>
                  </a:rPr>
                  <a:t>The rotation matrix for </a:t>
                </a:r>
                <a:r>
                  <a:rPr lang="en-US" sz="3200" b="0" i="0" dirty="0">
                    <a:solidFill>
                      <a:srgbClr val="404040"/>
                    </a:solidFill>
                    <a:effectLst/>
                    <a:latin typeface="KaTeX_Main"/>
                  </a:rPr>
                  <a:t>45∘</a:t>
                </a:r>
                <a:r>
                  <a:rPr lang="en-US" sz="3200" b="0" i="0" dirty="0">
                    <a:solidFill>
                      <a:srgbClr val="404040"/>
                    </a:solidFill>
                    <a:effectLst/>
                    <a:latin typeface="Inter"/>
                  </a:rPr>
                  <a:t> is:</a:t>
                </a:r>
                <a14:m>
                  <m:oMath xmlns:m="http://schemas.openxmlformats.org/officeDocument/2006/math">
                    <m:r>
                      <a:rPr lang="en-US" sz="3200" b="0" i="0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sz="3200" b="0" i="1" dirty="0" smtClean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dirty="0" smtClean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pitchFamily="18" charset="0"/>
                          </a:rPr>
                          <m:t>45</m:t>
                        </m:r>
                        <m:r>
                          <a:rPr lang="en-US" sz="3200" b="0" i="1" dirty="0" smtClean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pitchFamily="18" charset="0"/>
                          </a:rPr>
                          <m:t>°</m:t>
                        </m:r>
                      </m:e>
                    </m:d>
                    <m:r>
                      <a:rPr lang="en-US" sz="3200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3200" b="0" i="1" dirty="0" smtClean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3200" b="0" i="1" dirty="0" smtClean="0">
                                <a:solidFill>
                                  <a:srgbClr val="40404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3200" b="0" i="1" dirty="0" smtClean="0">
                                    <a:solidFill>
                                      <a:srgbClr val="40404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en-US" sz="3200" b="0" i="1" dirty="0" smtClean="0">
                                        <a:solidFill>
                                          <a:srgbClr val="40404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3200" b="0" i="0" dirty="0" smtClean="0">
                                        <a:solidFill>
                                          <a:srgbClr val="40404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3200" b="0" i="1" dirty="0" smtClean="0">
                                            <a:solidFill>
                                              <a:srgbClr val="40404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3200" b="0" i="1" dirty="0" smtClean="0">
                                            <a:solidFill>
                                              <a:srgbClr val="40404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45</m:t>
                                        </m:r>
                                        <m:r>
                                          <a:rPr lang="en-US" sz="3200" b="0" i="1" dirty="0" smtClean="0">
                                            <a:solidFill>
                                              <a:srgbClr val="40404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°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sz="3200" b="0" i="1" dirty="0" smtClean="0">
                                    <a:solidFill>
                                      <a:srgbClr val="40404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,−</m:t>
                                </m:r>
                                <m:func>
                                  <m:funcPr>
                                    <m:ctrlPr>
                                      <a:rPr lang="en-US" sz="3200" b="0" i="1" dirty="0" smtClean="0">
                                        <a:solidFill>
                                          <a:srgbClr val="40404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3200" b="0" i="0" dirty="0" smtClean="0">
                                        <a:solidFill>
                                          <a:srgbClr val="40404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3200" b="0" i="1" dirty="0" smtClean="0">
                                            <a:solidFill>
                                              <a:srgbClr val="40404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3200" b="0" i="1" dirty="0" smtClean="0">
                                            <a:solidFill>
                                              <a:srgbClr val="40404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45</m:t>
                                        </m:r>
                                        <m:r>
                                          <a:rPr lang="en-US" sz="3200" b="0" i="1" dirty="0" smtClean="0">
                                            <a:solidFill>
                                              <a:srgbClr val="40404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°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</m:d>
                            <m:r>
                              <a:rPr lang="en-US" sz="3200" b="0" i="1" dirty="0" smtClean="0">
                                <a:solidFill>
                                  <a:srgbClr val="40404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3200" b="0" i="1" dirty="0" smtClean="0">
                                    <a:solidFill>
                                      <a:srgbClr val="40404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en-US" sz="3200" b="0" i="1" dirty="0" smtClean="0">
                                        <a:solidFill>
                                          <a:srgbClr val="40404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3200" b="0" i="0" dirty="0" smtClean="0">
                                        <a:solidFill>
                                          <a:srgbClr val="40404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3200" b="0" i="1" dirty="0" smtClean="0">
                                            <a:solidFill>
                                              <a:srgbClr val="40404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3200" b="0" i="1" dirty="0" smtClean="0">
                                            <a:solidFill>
                                              <a:srgbClr val="40404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45</m:t>
                                        </m:r>
                                        <m:r>
                                          <a:rPr lang="en-US" sz="3200" b="0" i="1" dirty="0" smtClean="0">
                                            <a:solidFill>
                                              <a:srgbClr val="40404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°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sz="3200" b="0" i="1" dirty="0" smtClean="0">
                                    <a:solidFill>
                                      <a:srgbClr val="40404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func>
                                  <m:funcPr>
                                    <m:ctrlPr>
                                      <a:rPr lang="en-US" sz="3200" b="0" i="1" dirty="0" smtClean="0">
                                        <a:solidFill>
                                          <a:srgbClr val="40404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3200" b="0" i="0" dirty="0" smtClean="0">
                                        <a:solidFill>
                                          <a:srgbClr val="40404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3200" b="0" i="1" dirty="0" smtClean="0">
                                            <a:solidFill>
                                              <a:srgbClr val="40404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3200" b="0" i="1" dirty="0" smtClean="0">
                                            <a:solidFill>
                                              <a:srgbClr val="40404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45</m:t>
                                        </m:r>
                                        <m:r>
                                          <a:rPr lang="en-US" sz="3200" b="0" i="1" dirty="0" smtClean="0">
                                            <a:solidFill>
                                              <a:srgbClr val="40404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°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</m:d>
                          </m:e>
                        </m:eqArr>
                      </m:e>
                    </m:d>
                    <m:r>
                      <a:rPr lang="en-US" sz="3200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3200" b="0" i="0" dirty="0">
                  <a:solidFill>
                    <a:srgbClr val="404040"/>
                  </a:solidFill>
                  <a:effectLst/>
                  <a:latin typeface="KaTeX_Main"/>
                </a:endParaRPr>
              </a:p>
              <a:p>
                <a:pPr marL="114300" indent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lang="en-US" sz="3200" b="0" i="0" dirty="0">
                    <a:solidFill>
                      <a:srgbClr val="404040"/>
                    </a:solidFill>
                    <a:effectLst/>
                    <a:latin typeface="Inter"/>
                  </a:rPr>
                  <a:t>Using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sz="3200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3200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45</m:t>
                    </m:r>
                    <m:r>
                      <a:rPr lang="en-US" sz="3200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°)=</m:t>
                    </m:r>
                    <m:r>
                      <m:rPr>
                        <m:sty m:val="p"/>
                      </m:rPr>
                      <a:rPr lang="en-US" sz="3200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3200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3200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45</m:t>
                    </m:r>
                    <m:r>
                      <a:rPr lang="en-US" sz="3200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°)=√</m:t>
                    </m:r>
                    <m:r>
                      <a:rPr lang="en-US" sz="3200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3200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3200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3200" b="0" i="0" dirty="0">
                    <a:solidFill>
                      <a:srgbClr val="404040"/>
                    </a:solidFill>
                    <a:effectLst/>
                    <a:latin typeface="Inter"/>
                  </a:rPr>
                  <a:t>, the matrix becomes:</a:t>
                </a:r>
                <a14:m>
                  <m:oMath xmlns:m="http://schemas.openxmlformats.org/officeDocument/2006/math">
                    <m:r>
                      <a:rPr lang="en-US" sz="3200" b="0" i="0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sz="3200" b="0" i="1" dirty="0" smtClean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dirty="0" smtClean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pitchFamily="18" charset="0"/>
                          </a:rPr>
                          <m:t>45</m:t>
                        </m:r>
                        <m:r>
                          <a:rPr lang="en-US" sz="3200" b="0" i="1" dirty="0" smtClean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pitchFamily="18" charset="0"/>
                          </a:rPr>
                          <m:t>°</m:t>
                        </m:r>
                      </m:e>
                    </m:d>
                    <m:r>
                      <a:rPr lang="en-US" sz="3200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3200" b="0" i="1" dirty="0" smtClean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3200" b="0" i="1" dirty="0" smtClean="0">
                                <a:solidFill>
                                  <a:srgbClr val="40404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3200" b="0" i="1" dirty="0" smtClean="0">
                                    <a:solidFill>
                                      <a:srgbClr val="40404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3200" b="0" i="1" dirty="0" smtClean="0">
                                        <a:solidFill>
                                          <a:srgbClr val="40404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US" sz="3200" b="0" i="1" dirty="0" smtClean="0">
                                            <a:solidFill>
                                              <a:srgbClr val="40404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3200" b="0" i="1" dirty="0" smtClean="0">
                                            <a:solidFill>
                                              <a:srgbClr val="40404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US" sz="3200" b="0" i="1" dirty="0" smtClean="0">
                                        <a:solidFill>
                                          <a:srgbClr val="40404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3200" b="0" i="1" dirty="0" smtClean="0">
                                    <a:solidFill>
                                      <a:srgbClr val="40404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,−</m:t>
                                </m:r>
                                <m:f>
                                  <m:fPr>
                                    <m:ctrlPr>
                                      <a:rPr lang="en-US" sz="3200" b="0" i="1" dirty="0" smtClean="0">
                                        <a:solidFill>
                                          <a:srgbClr val="40404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US" sz="3200" b="0" i="1" dirty="0" smtClean="0">
                                            <a:solidFill>
                                              <a:srgbClr val="40404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3200" b="0" i="1" dirty="0" smtClean="0">
                                            <a:solidFill>
                                              <a:srgbClr val="40404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US" sz="3200" b="0" i="1" dirty="0" smtClean="0">
                                        <a:solidFill>
                                          <a:srgbClr val="40404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sz="3200" b="0" i="1" dirty="0" smtClean="0">
                                <a:solidFill>
                                  <a:srgbClr val="40404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3200" b="0" i="1" dirty="0" smtClean="0">
                                    <a:solidFill>
                                      <a:srgbClr val="40404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3200" b="0" i="1" dirty="0" smtClean="0">
                                        <a:solidFill>
                                          <a:srgbClr val="40404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US" sz="3200" b="0" i="1" dirty="0" smtClean="0">
                                            <a:solidFill>
                                              <a:srgbClr val="40404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3200" b="0" i="1" dirty="0" smtClean="0">
                                            <a:solidFill>
                                              <a:srgbClr val="40404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US" sz="3200" b="0" i="1" dirty="0" smtClean="0">
                                        <a:solidFill>
                                          <a:srgbClr val="40404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3200" b="0" i="1" dirty="0" smtClean="0">
                                    <a:solidFill>
                                      <a:srgbClr val="40404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f>
                                  <m:fPr>
                                    <m:ctrlPr>
                                      <a:rPr lang="en-US" sz="3200" b="0" i="1" dirty="0" smtClean="0">
                                        <a:solidFill>
                                          <a:srgbClr val="40404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US" sz="3200" b="0" i="1" dirty="0" smtClean="0">
                                            <a:solidFill>
                                              <a:srgbClr val="40404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3200" b="0" i="1" dirty="0" smtClean="0">
                                            <a:solidFill>
                                              <a:srgbClr val="40404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US" sz="3200" b="0" i="1" dirty="0" smtClean="0">
                                        <a:solidFill>
                                          <a:srgbClr val="40404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eqArr>
                      </m:e>
                    </m:d>
                    <m:r>
                      <a:rPr lang="en-US" sz="3200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3200" b="0" i="0" dirty="0">
                  <a:solidFill>
                    <a:srgbClr val="404040"/>
                  </a:solidFill>
                  <a:effectLst/>
                  <a:latin typeface="Inter"/>
                </a:endParaRPr>
              </a:p>
              <a:p>
                <a:pPr marL="114300" indent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𝐴𝑝𝑝𝑙𝑦</m:t>
                      </m:r>
                      <m:r>
                        <a:rPr lang="en-US" sz="32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3200" b="0" i="1" dirty="0" smtClean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dirty="0" smtClean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45</m:t>
                          </m:r>
                          <m:r>
                            <a:rPr lang="en-US" sz="3200" b="0" i="1" dirty="0" smtClean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°</m:t>
                          </m:r>
                        </m:e>
                      </m:d>
                      <m:r>
                        <a:rPr lang="en-US" sz="32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32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32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3200" b="0" i="0" dirty="0">
                  <a:solidFill>
                    <a:srgbClr val="404040"/>
                  </a:solidFill>
                  <a:effectLst/>
                  <a:latin typeface="Inter"/>
                </a:endParaRPr>
              </a:p>
              <a:p>
                <a:pPr marL="114300" indent="0"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3200" b="0" i="1" dirty="0" smtClean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dirty="0" smtClean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45</m:t>
                          </m:r>
                          <m:r>
                            <a:rPr lang="en-US" sz="3200" b="0" i="1" dirty="0" smtClean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°</m:t>
                          </m:r>
                        </m:e>
                      </m:d>
                      <m:r>
                        <a:rPr lang="en-US" sz="32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32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0" i="1" dirty="0" smtClean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3200" b="0" i="1" dirty="0" smtClean="0">
                                  <a:solidFill>
                                    <a:srgbClr val="40404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32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3200" b="0" i="1" dirty="0" smtClean="0">
                                          <a:solidFill>
                                            <a:srgbClr val="40404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sz="3200" b="0" i="1" dirty="0" smtClean="0">
                                              <a:solidFill>
                                                <a:srgbClr val="40404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3200" b="0" i="1" dirty="0" smtClean="0">
                                              <a:solidFill>
                                                <a:srgbClr val="40404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rad>
                                    </m:num>
                                    <m:den>
                                      <m:r>
                                        <a:rPr lang="en-US" sz="3200" b="0" i="1" dirty="0" smtClean="0">
                                          <a:solidFill>
                                            <a:srgbClr val="40404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US" sz="32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,−</m:t>
                                  </m:r>
                                  <m:f>
                                    <m:fPr>
                                      <m:ctrlPr>
                                        <a:rPr lang="en-US" sz="3200" b="0" i="1" dirty="0" smtClean="0">
                                          <a:solidFill>
                                            <a:srgbClr val="40404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sz="3200" b="0" i="1" dirty="0" smtClean="0">
                                              <a:solidFill>
                                                <a:srgbClr val="40404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3200" b="0" i="1" dirty="0" smtClean="0">
                                              <a:solidFill>
                                                <a:srgbClr val="40404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rad>
                                    </m:num>
                                    <m:den>
                                      <m:r>
                                        <a:rPr lang="en-US" sz="3200" b="0" i="1" dirty="0" smtClean="0">
                                          <a:solidFill>
                                            <a:srgbClr val="40404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3200" b="0" i="1" dirty="0" smtClean="0">
                                  <a:solidFill>
                                    <a:srgbClr val="40404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32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3200" b="0" i="1" dirty="0" smtClean="0">
                                          <a:solidFill>
                                            <a:srgbClr val="40404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sz="3200" b="0" i="1" dirty="0" smtClean="0">
                                              <a:solidFill>
                                                <a:srgbClr val="40404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3200" b="0" i="1" dirty="0" smtClean="0">
                                              <a:solidFill>
                                                <a:srgbClr val="40404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rad>
                                    </m:num>
                                    <m:den>
                                      <m:r>
                                        <a:rPr lang="en-US" sz="3200" b="0" i="1" dirty="0" smtClean="0">
                                          <a:solidFill>
                                            <a:srgbClr val="40404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US" sz="32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f>
                                    <m:fPr>
                                      <m:ctrlPr>
                                        <a:rPr lang="en-US" sz="3200" b="0" i="1" dirty="0" smtClean="0">
                                          <a:solidFill>
                                            <a:srgbClr val="40404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sz="3200" b="0" i="1" dirty="0" smtClean="0">
                                              <a:solidFill>
                                                <a:srgbClr val="40404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3200" b="0" i="1" dirty="0" smtClean="0">
                                              <a:solidFill>
                                                <a:srgbClr val="40404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rad>
                                    </m:num>
                                    <m:den>
                                      <m:r>
                                        <a:rPr lang="en-US" sz="3200" b="0" i="1" dirty="0" smtClean="0">
                                          <a:solidFill>
                                            <a:srgbClr val="40404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</m:eqAr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3200" b="0" i="1" dirty="0" smtClean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3200" b="0" i="1" dirty="0" smtClean="0">
                                  <a:solidFill>
                                    <a:srgbClr val="40404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32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sz="3200" b="0" i="1" dirty="0" smtClean="0">
                                  <a:solidFill>
                                    <a:srgbClr val="40404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32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eqArr>
                        </m:e>
                      </m:d>
                      <m:r>
                        <a:rPr lang="en-US" sz="32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0" i="1" dirty="0" smtClean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3200" b="0" i="1" dirty="0" smtClean="0">
                                  <a:solidFill>
                                    <a:srgbClr val="40404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32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3200" b="0" i="1" dirty="0" smtClean="0">
                                          <a:solidFill>
                                            <a:srgbClr val="40404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sz="3200" b="0" i="1" dirty="0" smtClean="0">
                                              <a:solidFill>
                                                <a:srgbClr val="40404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3200" b="0" i="1" dirty="0" smtClean="0">
                                              <a:solidFill>
                                                <a:srgbClr val="40404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rad>
                                    </m:num>
                                    <m:den>
                                      <m:r>
                                        <a:rPr lang="en-US" sz="3200" b="0" i="1" dirty="0" smtClean="0">
                                          <a:solidFill>
                                            <a:srgbClr val="40404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US" sz="32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sz="32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32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ctrlPr>
                                        <a:rPr lang="en-US" sz="3200" b="0" i="1" dirty="0" smtClean="0">
                                          <a:solidFill>
                                            <a:srgbClr val="40404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200" b="0" i="1" dirty="0" smtClean="0">
                                          <a:solidFill>
                                            <a:srgbClr val="40404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sz="3200" b="0" i="1" dirty="0" smtClean="0">
                                              <a:solidFill>
                                                <a:srgbClr val="40404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ad>
                                            <m:radPr>
                                              <m:degHide m:val="on"/>
                                              <m:ctrlPr>
                                                <a:rPr lang="en-US" sz="3200" b="0" i="1" dirty="0" smtClean="0">
                                                  <a:solidFill>
                                                    <a:srgbClr val="40404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radPr>
                                            <m:deg/>
                                            <m:e>
                                              <m:r>
                                                <a:rPr lang="en-US" sz="3200" b="0" i="1" dirty="0" smtClean="0">
                                                  <a:solidFill>
                                                    <a:srgbClr val="40404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e>
                                          </m:rad>
                                        </m:num>
                                        <m:den>
                                          <m:r>
                                            <a:rPr lang="en-US" sz="3200" b="0" i="1" dirty="0" smtClean="0">
                                              <a:solidFill>
                                                <a:srgbClr val="40404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  <m:r>
                                    <a:rPr lang="en-US" sz="32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sz="32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sz="3200" b="0" i="1" dirty="0" smtClean="0">
                                  <a:solidFill>
                                    <a:srgbClr val="40404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32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3200" b="0" i="1" dirty="0" smtClean="0">
                                          <a:solidFill>
                                            <a:srgbClr val="40404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sz="3200" b="0" i="1" dirty="0" smtClean="0">
                                              <a:solidFill>
                                                <a:srgbClr val="40404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3200" b="0" i="1" dirty="0" smtClean="0">
                                              <a:solidFill>
                                                <a:srgbClr val="40404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rad>
                                    </m:num>
                                    <m:den>
                                      <m:r>
                                        <a:rPr lang="en-US" sz="3200" b="0" i="1" dirty="0" smtClean="0">
                                          <a:solidFill>
                                            <a:srgbClr val="40404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US" sz="32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sz="32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32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3200" b="0" i="1" dirty="0" smtClean="0">
                                          <a:solidFill>
                                            <a:srgbClr val="40404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sz="3200" b="0" i="1" dirty="0" smtClean="0">
                                              <a:solidFill>
                                                <a:srgbClr val="40404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3200" b="0" i="1" dirty="0" smtClean="0">
                                              <a:solidFill>
                                                <a:srgbClr val="40404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rad>
                                    </m:num>
                                    <m:den>
                                      <m:r>
                                        <a:rPr lang="en-US" sz="3200" b="0" i="1" dirty="0" smtClean="0">
                                          <a:solidFill>
                                            <a:srgbClr val="40404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US" sz="32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sz="32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eqArr>
                        </m:e>
                      </m:d>
                      <m:r>
                        <a:rPr lang="en-US" sz="32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0" i="1" dirty="0" smtClean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3200" b="0" i="1" dirty="0" smtClean="0">
                                  <a:solidFill>
                                    <a:srgbClr val="40404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2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sz="3200" b="0" i="1" dirty="0" smtClean="0">
                                          <a:solidFill>
                                            <a:srgbClr val="40404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3200" b="0" i="1" dirty="0" smtClean="0">
                                          <a:solidFill>
                                            <a:srgbClr val="40404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sz="32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en-US" sz="3200" b="0" i="1" dirty="0" smtClean="0">
                              <a:solidFill>
                                <a:srgbClr val="40404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3200" b="0" i="1" dirty="0" smtClean="0">
                                  <a:solidFill>
                                    <a:srgbClr val="40404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2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sz="3200" b="0" i="1" dirty="0" smtClean="0">
                                          <a:solidFill>
                                            <a:srgbClr val="40404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3200" b="0" i="1" dirty="0" smtClean="0">
                                          <a:solidFill>
                                            <a:srgbClr val="40404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sz="3200" b="0" i="1" dirty="0" smtClean="0">
                                      <a:solidFill>
                                        <a:srgbClr val="40404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sz="3200" b="0" i="1" dirty="0" smtClean="0">
                          <a:solidFill>
                            <a:srgbClr val="404040"/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3200" b="0" i="0" dirty="0">
                  <a:solidFill>
                    <a:srgbClr val="404040"/>
                  </a:solidFill>
                  <a:effectLst/>
                  <a:latin typeface="Inter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AF257FE-24F3-A76F-EDE9-C9FF9CA31E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464167"/>
                <a:ext cx="9223022" cy="4693400"/>
              </a:xfrm>
              <a:blipFill>
                <a:blip r:embed="rId2"/>
                <a:stretch>
                  <a:fillRect l="-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9073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15BED-4494-A838-EC37-4B2970721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EF077-A86A-9D7A-C9A2-F58AE3B90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11" y="66531"/>
            <a:ext cx="8460444" cy="627900"/>
          </a:xfrm>
        </p:spPr>
        <p:txBody>
          <a:bodyPr>
            <a:normAutofit fontScale="90000"/>
          </a:bodyPr>
          <a:lstStyle/>
          <a:p>
            <a:r>
              <a:rPr lang="en-US" sz="2700" b="1" dirty="0">
                <a:latin typeface="+mn-lt"/>
              </a:rPr>
              <a:t>Relating the Transformation Matrix to a Set of New Basis Vectors</a:t>
            </a:r>
            <a:br>
              <a:rPr lang="en-US" sz="3100" b="1" dirty="0">
                <a:latin typeface="+mn-lt"/>
              </a:rPr>
            </a:br>
            <a:br>
              <a:rPr lang="en-US" b="1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EBD4B1F-4031-3042-B447-B2686B8A5488}"/>
                  </a:ext>
                </a:extLst>
              </p:cNvPr>
              <p:cNvSpPr txBox="1"/>
              <p:nvPr/>
            </p:nvSpPr>
            <p:spPr>
              <a:xfrm>
                <a:off x="90311" y="1079858"/>
                <a:ext cx="8850489" cy="2175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A transformation matrix is a fundamental concept in linear algebra used to change the basis of a vector space. Understanding how to relate a transformation matrix to a set of new basis vectors is crucial in various applications such as computer graphics, physics, and robotics.</a:t>
                </a:r>
              </a:p>
              <a:p>
                <a:r>
                  <a:rPr lang="en-US" b="1" dirty="0"/>
                  <a:t>What is a Basis?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A </a:t>
                </a:r>
                <a:r>
                  <a:rPr lang="en-US" b="1" dirty="0"/>
                  <a:t>basis</a:t>
                </a:r>
                <a:r>
                  <a:rPr lang="en-US" dirty="0"/>
                  <a:t> of a vector space is a set of linearly independent vectors that span the entire space.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Any vector in the space can be expressed as a linear combination of basis vectors.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Standard basis in is , where:</a:t>
                </a:r>
              </a:p>
              <a:p>
                <a:r>
                  <a:rPr lang="en-US" dirty="0"/>
                  <a:t>Standard basis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𝑒𝑟𝑒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eqAr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EBD4B1F-4031-3042-B447-B2686B8A5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1" y="1079858"/>
                <a:ext cx="8850489" cy="2175147"/>
              </a:xfrm>
              <a:prstGeom prst="rect">
                <a:avLst/>
              </a:prstGeom>
              <a:blipFill>
                <a:blip r:embed="rId2"/>
                <a:stretch>
                  <a:fillRect l="-207" t="-560" r="-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0226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07776-87E3-22FF-B6C5-72CED97B9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539" y="343425"/>
            <a:ext cx="6707400" cy="6279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Transformation Matrices and Basis Change</a:t>
            </a:r>
            <a:br>
              <a:rPr lang="en-US" b="1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F4ECD3-23B6-3DC1-6EE5-4C8760B0A0D5}"/>
                  </a:ext>
                </a:extLst>
              </p:cNvPr>
              <p:cNvSpPr txBox="1"/>
              <p:nvPr/>
            </p:nvSpPr>
            <p:spPr>
              <a:xfrm>
                <a:off x="541867" y="1342760"/>
                <a:ext cx="6434666" cy="258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/>
                  <a:t>A </a:t>
                </a:r>
                <a:r>
                  <a:rPr lang="en-US" sz="1800" b="1" dirty="0"/>
                  <a:t>transformation matrix</a:t>
                </a:r>
                <a:r>
                  <a:rPr lang="en-US" sz="1800" dirty="0"/>
                  <a:t> (T) modifies vectors in a given basis.</a:t>
                </a:r>
              </a:p>
              <a:p>
                <a:r>
                  <a:rPr lang="en-US" sz="1800" dirty="0"/>
                  <a:t>If (B) is a matrix whose columns are new basis vectors, then: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 = [ </m:t>
                      </m:r>
                      <m:r>
                        <a:rPr lang="en-US" sz="1800" b="1" i="1" dirty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1800" b="1" i="1" dirty="0">
                          <a:latin typeface="Cambria Math" panose="02040503050406030204" pitchFamily="18" charset="0"/>
                        </a:rPr>
                        <m:t>₁</m:t>
                      </m:r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1" i="1" dirty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1800" b="1" i="1" dirty="0">
                          <a:latin typeface="Cambria Math" panose="02040503050406030204" pitchFamily="18" charset="0"/>
                        </a:rPr>
                        <m:t>₂</m:t>
                      </m:r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 ]</m:t>
                      </m:r>
                    </m:oMath>
                  </m:oMathPara>
                </a14:m>
                <a:endParaRPr lang="en-US" sz="1800" dirty="0"/>
              </a:p>
              <a:p>
                <a:r>
                  <a:rPr lang="en-US" sz="1800" dirty="0"/>
                  <a:t>Any vector (</a:t>
                </a:r>
                <a:r>
                  <a:rPr lang="en-US" sz="1800" b="1" dirty="0"/>
                  <a:t>v</a:t>
                </a:r>
                <a:r>
                  <a:rPr lang="en-US" sz="1800" dirty="0"/>
                  <a:t>) in the original basis can be transformed into a new basis using: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1" i="1" dirty="0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sz="1800" b="1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18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1" i="1" dirty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p>
                          <m:r>
                            <a:rPr lang="en-US" sz="1800" b="1" i="1" dirty="0">
                              <a:latin typeface="Cambria Math" panose="02040503050406030204" pitchFamily="18" charset="0"/>
                            </a:rPr>
                            <m:t>-</m:t>
                          </m:r>
                          <m:r>
                            <a:rPr lang="en-US" sz="1800" b="1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1800" b="1" i="1" dirty="0"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sz="1800" dirty="0"/>
              </a:p>
              <a:p>
                <a:r>
                  <a:rPr lang="en-US" sz="1800" dirty="0"/>
                  <a:t>To express a transformation (T) in the new basis: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1" i="1" dirty="0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sz="1800" b="1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18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1" i="1" dirty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p>
                          <m:r>
                            <a:rPr lang="en-US" sz="1800" b="1" i="1" dirty="0">
                              <a:latin typeface="Cambria Math" panose="02040503050406030204" pitchFamily="18" charset="0"/>
                            </a:rPr>
                            <m:t>-</m:t>
                          </m:r>
                          <m:r>
                            <a:rPr lang="en-US" sz="1800" b="1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1800" b="1" i="1" dirty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1" i="1" dirty="0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F4ECD3-23B6-3DC1-6EE5-4C8760B0A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867" y="1342760"/>
                <a:ext cx="6434666" cy="2585323"/>
              </a:xfrm>
              <a:prstGeom prst="rect">
                <a:avLst/>
              </a:prstGeom>
              <a:blipFill>
                <a:blip r:embed="rId2"/>
                <a:stretch>
                  <a:fillRect l="-853" t="-11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0151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B892A-369A-3EBD-682F-1DC7F3F55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F0DEA-6268-4E8A-4434-942651541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013" y="413127"/>
            <a:ext cx="6707400" cy="627900"/>
          </a:xfrm>
        </p:spPr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E6027D-061D-8456-E64A-1F42D4B83A19}"/>
              </a:ext>
            </a:extLst>
          </p:cNvPr>
          <p:cNvSpPr txBox="1"/>
          <p:nvPr/>
        </p:nvSpPr>
        <p:spPr>
          <a:xfrm>
            <a:off x="248357" y="1557417"/>
            <a:ext cx="897466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Strang, G. (2016). </a:t>
            </a:r>
            <a:r>
              <a:rPr lang="en-US" i="1" dirty="0"/>
              <a:t>Introduction to Linear Algebra</a:t>
            </a:r>
            <a:r>
              <a:rPr lang="en-US" dirty="0"/>
              <a:t>. Wellesley-Cambridge Press.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NumPy Documentation: </a:t>
            </a:r>
            <a:r>
              <a:rPr lang="en-US" dirty="0">
                <a:hlinkClick r:id="rId2"/>
              </a:rPr>
              <a:t>https://numpy.org/doc/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Matplotlib Guide: </a:t>
            </a:r>
            <a:r>
              <a:rPr lang="en-US" dirty="0">
                <a:hlinkClick r:id="rId3"/>
              </a:rPr>
              <a:t>https://matplotlib.org/stable/contents.html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79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32"/>
          <p:cNvPicPr preferRelativeResize="0"/>
          <p:nvPr/>
        </p:nvPicPr>
        <p:blipFill rotWithShape="1">
          <a:blip r:embed="rId3">
            <a:alphaModFix/>
          </a:blip>
          <a:srcRect l="8508"/>
          <a:stretch/>
        </p:blipFill>
        <p:spPr>
          <a:xfrm>
            <a:off x="6248550" y="1551586"/>
            <a:ext cx="1357692" cy="509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7216" y="2992069"/>
            <a:ext cx="995950" cy="405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9974" y="3081645"/>
            <a:ext cx="1214843" cy="226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32"/>
          <p:cNvPicPr preferRelativeResize="0"/>
          <p:nvPr/>
        </p:nvPicPr>
        <p:blipFill rotWithShape="1">
          <a:blip r:embed="rId6">
            <a:alphaModFix/>
          </a:blip>
          <a:srcRect l="11047" t="22524" r="11047" b="22524"/>
          <a:stretch/>
        </p:blipFill>
        <p:spPr>
          <a:xfrm>
            <a:off x="3316327" y="2249012"/>
            <a:ext cx="688702" cy="395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3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60782" y="2325188"/>
            <a:ext cx="1133228" cy="243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32"/>
          <p:cNvPicPr preferRelativeResize="0"/>
          <p:nvPr/>
        </p:nvPicPr>
        <p:blipFill rotWithShape="1">
          <a:blip r:embed="rId8">
            <a:alphaModFix/>
          </a:blip>
          <a:srcRect l="2114" t="19777" b="19777"/>
          <a:stretch/>
        </p:blipFill>
        <p:spPr>
          <a:xfrm>
            <a:off x="3094065" y="1608499"/>
            <a:ext cx="1133226" cy="395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3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183573" y="3074674"/>
            <a:ext cx="954210" cy="240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32" descr="Text&#10;&#10;Description automatically generated with low confidence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92620" y="3040838"/>
            <a:ext cx="750589" cy="308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32" descr="A red and black sign&#10;&#10;Description automatically generated with low confidence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183572" y="3696038"/>
            <a:ext cx="954213" cy="202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32" descr="A picture containing text, clipart, vector graphics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18971" y="3677016"/>
            <a:ext cx="697888" cy="240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32"/>
          <p:cNvPicPr preferRelativeResize="0"/>
          <p:nvPr/>
        </p:nvPicPr>
        <p:blipFill rotWithShape="1">
          <a:blip r:embed="rId13">
            <a:alphaModFix/>
          </a:blip>
          <a:srcRect b="18916"/>
          <a:stretch/>
        </p:blipFill>
        <p:spPr>
          <a:xfrm>
            <a:off x="6450290" y="3643177"/>
            <a:ext cx="954212" cy="308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32"/>
          <p:cNvPicPr preferRelativeResize="0"/>
          <p:nvPr/>
        </p:nvPicPr>
        <p:blipFill rotWithShape="1">
          <a:blip r:embed="rId14">
            <a:alphaModFix/>
          </a:blip>
          <a:srcRect l="12270" t="12270" r="12263" b="12263"/>
          <a:stretch/>
        </p:blipFill>
        <p:spPr>
          <a:xfrm>
            <a:off x="3885746" y="4245539"/>
            <a:ext cx="1133228" cy="382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32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798086" y="3621493"/>
            <a:ext cx="694210" cy="351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32"/>
          <p:cNvPicPr preferRelativeResize="0"/>
          <p:nvPr/>
        </p:nvPicPr>
        <p:blipFill rotWithShape="1">
          <a:blip r:embed="rId16">
            <a:alphaModFix/>
          </a:blip>
          <a:srcRect t="18905" b="18905"/>
          <a:stretch/>
        </p:blipFill>
        <p:spPr>
          <a:xfrm>
            <a:off x="1537771" y="1614885"/>
            <a:ext cx="1214840" cy="382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32"/>
          <p:cNvPicPr preferRelativeResize="0"/>
          <p:nvPr/>
        </p:nvPicPr>
        <p:blipFill rotWithShape="1">
          <a:blip r:embed="rId17">
            <a:alphaModFix/>
          </a:blip>
          <a:srcRect l="2114" t="28897" b="28892"/>
          <a:stretch/>
        </p:blipFill>
        <p:spPr>
          <a:xfrm>
            <a:off x="4740627" y="1652095"/>
            <a:ext cx="1254574" cy="308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32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760495" y="2253777"/>
            <a:ext cx="1214839" cy="386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32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647215" y="2294778"/>
            <a:ext cx="995952" cy="30401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2"/>
          <p:cNvSpPr txBox="1">
            <a:spLocks noGrp="1"/>
          </p:cNvSpPr>
          <p:nvPr>
            <p:ph type="title" idx="4294967295"/>
          </p:nvPr>
        </p:nvSpPr>
        <p:spPr>
          <a:xfrm>
            <a:off x="2079450" y="745725"/>
            <a:ext cx="6373800" cy="5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>
                <a:solidFill>
                  <a:srgbClr val="4F29B6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الشراكات العالمية</a:t>
            </a:r>
            <a:endParaRPr>
              <a:solidFill>
                <a:srgbClr val="4F29B6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8"/>
          <p:cNvSpPr txBox="1">
            <a:spLocks noGrp="1"/>
          </p:cNvSpPr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شــــــكــــرًا لكــــــم</a:t>
            </a:r>
            <a:endParaRPr sz="40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585" name="Google Shape;585;p38"/>
          <p:cNvSpPr txBox="1">
            <a:spLocks noGrp="1"/>
          </p:cNvSpPr>
          <p:nvPr>
            <p:ph type="ctrTitle" idx="4294967295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sz="29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14825</TotalTime>
  <Words>843</Words>
  <Application>Microsoft Office PowerPoint</Application>
  <PresentationFormat>On-screen Show (16:9)</PresentationFormat>
  <Paragraphs>97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8" baseType="lpstr">
      <vt:lpstr>Times New Roman</vt:lpstr>
      <vt:lpstr>Calibri</vt:lpstr>
      <vt:lpstr>Proxima Nova</vt:lpstr>
      <vt:lpstr>Inter</vt:lpstr>
      <vt:lpstr>Cambria Math</vt:lpstr>
      <vt:lpstr>KaTeX_Math</vt:lpstr>
      <vt:lpstr>IBM Plex Sans Arabic Medium</vt:lpstr>
      <vt:lpstr>IBM Plex Sans Arabic SemiBold</vt:lpstr>
      <vt:lpstr>KaTeX_Main</vt:lpstr>
      <vt:lpstr>Tajawal</vt:lpstr>
      <vt:lpstr>IBM Plex Sans Arabic</vt:lpstr>
      <vt:lpstr>Arial</vt:lpstr>
      <vt:lpstr>Simple Light</vt:lpstr>
      <vt:lpstr>أكـــــاديميــــة طــــويـــق</vt:lpstr>
      <vt:lpstr>Introduction to Linear Algebra  </vt:lpstr>
      <vt:lpstr>PowerPoint Presentation</vt:lpstr>
      <vt:lpstr>Learning Objectives</vt:lpstr>
      <vt:lpstr>Understanding Matrices as Operators</vt:lpstr>
      <vt:lpstr>Matrices as Transformations </vt:lpstr>
      <vt:lpstr>Matrices as Transformations </vt:lpstr>
      <vt:lpstr>Practice Problems </vt:lpstr>
      <vt:lpstr>Practice Problems </vt:lpstr>
      <vt:lpstr>Practice Problems </vt:lpstr>
      <vt:lpstr>Relating the Transformation Matrix to a Set of New Basis Vectors  </vt:lpstr>
      <vt:lpstr>Transformation Matrices and Basis Change </vt:lpstr>
      <vt:lpstr>References   </vt:lpstr>
      <vt:lpstr>الشراكات العالمية</vt:lpstr>
      <vt:lpstr>شــــــكــــرًا لكــــــم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asus</cp:lastModifiedBy>
  <cp:revision>34</cp:revision>
  <dcterms:modified xsi:type="dcterms:W3CDTF">2025-02-04T17:32:20Z</dcterms:modified>
</cp:coreProperties>
</file>