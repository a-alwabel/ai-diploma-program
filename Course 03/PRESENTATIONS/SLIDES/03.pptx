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82" r:id="rId3"/>
    <p:sldId id="302" r:id="rId4"/>
    <p:sldId id="301" r:id="rId5"/>
    <p:sldId id="259" r:id="rId6"/>
    <p:sldId id="322" r:id="rId7"/>
    <p:sldId id="323" r:id="rId8"/>
    <p:sldId id="303" r:id="rId9"/>
    <p:sldId id="324" r:id="rId10"/>
    <p:sldId id="257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5" r:id="rId31"/>
    <p:sldId id="344" r:id="rId32"/>
    <p:sldId id="275" r:id="rId33"/>
    <p:sldId id="281" r:id="rId34"/>
  </p:sldIdLst>
  <p:sldSz cx="9144000" cy="5143500" type="screen16x9"/>
  <p:notesSz cx="6858000" cy="9144000"/>
  <p:embeddedFontLst>
    <p:embeddedFont>
      <p:font typeface="IBM Plex Sans Arabic" panose="020B0604020202020204" charset="-78"/>
      <p:regular r:id="rId36"/>
      <p:bold r:id="rId37"/>
    </p:embeddedFont>
    <p:embeddedFont>
      <p:font typeface="IBM Plex Sans Arabic Medium" panose="020B0604020202020204" charset="-78"/>
      <p:regular r:id="rId38"/>
      <p:bold r:id="rId39"/>
    </p:embeddedFont>
    <p:embeddedFont>
      <p:font typeface="IBM Plex Sans Arabic SemiBold" panose="020B0604020202020204" charset="-78"/>
      <p:regular r:id="rId40"/>
      <p:bold r:id="rId41"/>
    </p:embeddedFont>
    <p:embeddedFont>
      <p:font typeface="Tajawal" panose="020B0604020202020204" charset="-78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C7666B-862D-4F7F-BA0C-E88144764012}">
  <a:tblStyle styleId="{62C7666B-862D-4F7F-BA0C-E8814476401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0" y="84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a09276e83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a09276e835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22BA2944-1B18-A93C-1504-3585EB16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a09276e835_1_10:notes">
            <a:extLst>
              <a:ext uri="{FF2B5EF4-FFF2-40B4-BE49-F238E27FC236}">
                <a16:creationId xmlns:a16="http://schemas.microsoft.com/office/drawing/2014/main" id="{5557B74D-CE7D-83AA-18A9-C0984CF78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a09276e835_1_10:notes">
            <a:extLst>
              <a:ext uri="{FF2B5EF4-FFF2-40B4-BE49-F238E27FC236}">
                <a16:creationId xmlns:a16="http://schemas.microsoft.com/office/drawing/2014/main" id="{2C8B5722-B27E-42FE-A297-711F4B615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846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F8DB0BC6-8B92-B14C-DE49-46B70133C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a09276e835_1_10:notes">
            <a:extLst>
              <a:ext uri="{FF2B5EF4-FFF2-40B4-BE49-F238E27FC236}">
                <a16:creationId xmlns:a16="http://schemas.microsoft.com/office/drawing/2014/main" id="{8A55069F-EE30-D70F-AF32-E2CB663A7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a09276e835_1_10:notes">
            <a:extLst>
              <a:ext uri="{FF2B5EF4-FFF2-40B4-BE49-F238E27FC236}">
                <a16:creationId xmlns:a16="http://schemas.microsoft.com/office/drawing/2014/main" id="{0A5AD216-0839-5678-64D8-33E68A97C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570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82F218EB-F6DA-B08D-FBF0-AF86F999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a09276e835_1_10:notes">
            <a:extLst>
              <a:ext uri="{FF2B5EF4-FFF2-40B4-BE49-F238E27FC236}">
                <a16:creationId xmlns:a16="http://schemas.microsoft.com/office/drawing/2014/main" id="{2504D1A0-9555-7D3E-7F6B-EEBA8847AF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a09276e835_1_10:notes">
            <a:extLst>
              <a:ext uri="{FF2B5EF4-FFF2-40B4-BE49-F238E27FC236}">
                <a16:creationId xmlns:a16="http://schemas.microsoft.com/office/drawing/2014/main" id="{BEEDA80B-41C5-2471-A8E8-41F4579E8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8593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02586bf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502586bf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4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08F5A3-CFF5-D176-4DE9-155BA882C01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17475"/>
            <a:ext cx="1266092" cy="100790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5" r:id="rId5"/>
    <p:sldLayoutId id="2147483657" r:id="rId6"/>
    <p:sldLayoutId id="2147483658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worldknowledge.lardbucket.org/books/beginning-algebra/s07-01-solving-linear-systems-by-grap.html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api/animation_api.html" TargetMode="External"/><Relationship Id="rId2" Type="http://schemas.openxmlformats.org/officeDocument/2006/relationships/hyperlink" Target="https://numpy.org/doc/" TargetMode="Externa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Linear Algebra for Machine Learning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845E-322C-0341-D722-D8D1E675E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Algebra</a:t>
            </a:r>
            <a:b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77DBD-A1FD-E741-A79E-A775AD5158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Fundamentals and Applications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56EFB-F281-DC54-0824-BF87C198BB1B}"/>
              </a:ext>
            </a:extLst>
          </p:cNvPr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By: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Afshan Hashmi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6640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31721A-243E-F9AC-F3FB-349AADC89865}"/>
              </a:ext>
            </a:extLst>
          </p:cNvPr>
          <p:cNvSpPr txBox="1"/>
          <p:nvPr/>
        </p:nvSpPr>
        <p:spPr>
          <a:xfrm>
            <a:off x="648586" y="1180214"/>
            <a:ext cx="6634716" cy="4167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2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  <a:effectLst/>
                <a:latin typeface="+mn-lt"/>
                <a:ea typeface="Proxima Nova"/>
                <a:cs typeface="Proxima Nova"/>
              </a:rPr>
              <a:t>Course Objectives:</a:t>
            </a:r>
          </a:p>
          <a:p>
            <a:pPr marR="0" lvl="0" algn="just">
              <a:lnSpc>
                <a:spcPct val="125000"/>
              </a:lnSpc>
              <a:spcBef>
                <a:spcPts val="1000"/>
              </a:spcBef>
            </a:pPr>
            <a:r>
              <a:rPr lang="en-US" sz="1800" dirty="0">
                <a:effectLst/>
                <a:latin typeface="+mn-lt"/>
                <a:ea typeface="Proxima Nova"/>
                <a:cs typeface="Proxima Nova"/>
              </a:rPr>
              <a:t>Recall and explain the relationship between machine learning concepts and mathematical constructs like vectors and matrices.</a:t>
            </a:r>
          </a:p>
          <a:p>
            <a:pPr marL="0" marR="0" algn="just">
              <a:lnSpc>
                <a:spcPct val="12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  <a:effectLst/>
                <a:latin typeface="+mn-lt"/>
                <a:ea typeface="Proxima Nova"/>
                <a:cs typeface="Proxima Nova"/>
              </a:rPr>
              <a:t>Course Learning Outcomes:</a:t>
            </a:r>
            <a:endParaRPr lang="en-US" sz="2400" dirty="0">
              <a:solidFill>
                <a:srgbClr val="7030A0"/>
              </a:solidFill>
              <a:effectLst/>
              <a:latin typeface="+mn-lt"/>
              <a:ea typeface="Proxima Nova"/>
              <a:cs typeface="Proxima Nova"/>
            </a:endParaRPr>
          </a:p>
          <a:p>
            <a:pPr marR="0" lvl="0" algn="just">
              <a:lnSpc>
                <a:spcPct val="125000"/>
              </a:lnSpc>
              <a:spcBef>
                <a:spcPts val="1000"/>
              </a:spcBef>
            </a:pPr>
            <a:r>
              <a:rPr lang="en-US" sz="1800" dirty="0">
                <a:effectLst/>
                <a:latin typeface="+mn-lt"/>
                <a:ea typeface="Proxima Nova"/>
                <a:cs typeface="Proxima Nova"/>
              </a:rPr>
              <a:t>Demonstrate a comprehensive understanding of key mathematical concepts, including linear algebra and probability, and their applications in AI and machine learning.</a:t>
            </a:r>
          </a:p>
          <a:p>
            <a:pPr marR="0" lvl="0" algn="just">
              <a:lnSpc>
                <a:spcPct val="125000"/>
              </a:lnSpc>
              <a:spcBef>
                <a:spcPts val="1000"/>
              </a:spcBef>
            </a:pP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3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C38EE6-766E-C750-77E2-F6AC8F39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5024"/>
            <a:ext cx="8329650" cy="969105"/>
          </a:xfrm>
        </p:spPr>
        <p:txBody>
          <a:bodyPr>
            <a:normAutofit fontScale="90000"/>
          </a:bodyPr>
          <a:lstStyle/>
          <a:p>
            <a:pPr marL="0" marR="0">
              <a:lnSpc>
                <a:spcPct val="125000"/>
              </a:lnSpc>
              <a:spcBef>
                <a:spcPts val="1000"/>
              </a:spcBef>
            </a:pPr>
            <a:r>
              <a:rPr lang="en-US" sz="2800" b="1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Part 2:</a:t>
            </a:r>
            <a:r>
              <a:rPr lang="en-US" sz="2800" b="1" dirty="0">
                <a:latin typeface="Proxima Nova"/>
                <a:ea typeface="Proxima Nova"/>
                <a:cs typeface="Proxima Nova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Learning Objectives</a:t>
            </a:r>
            <a:br>
              <a:rPr lang="en-US" sz="2800" dirty="0">
                <a:effectLst/>
                <a:latin typeface="Proxima Nova"/>
                <a:ea typeface="Proxima Nova"/>
                <a:cs typeface="Proxima Nova"/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97766-4CAD-85A1-C4BC-2584D7C4EBB8}"/>
              </a:ext>
            </a:extLst>
          </p:cNvPr>
          <p:cNvSpPr txBox="1"/>
          <p:nvPr/>
        </p:nvSpPr>
        <p:spPr>
          <a:xfrm>
            <a:off x="457201" y="1986974"/>
            <a:ext cx="8329649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>
              <a:lnSpc>
                <a:spcPct val="125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Calculate basic operations (dot product, modulus, negation) on vectors</a:t>
            </a: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pPr marL="342900" marR="0" lvl="0" indent="-342900" algn="just">
              <a:lnSpc>
                <a:spcPct val="12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Calculate a change of basis</a:t>
            </a: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pPr marL="342900" marR="0" lvl="0" indent="-342900" algn="just">
              <a:lnSpc>
                <a:spcPct val="12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Recall linear independence</a:t>
            </a: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pPr marL="342900" marR="0" lvl="0" indent="-342900" algn="just">
              <a:lnSpc>
                <a:spcPct val="12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Identify a linearly independent basis and relate this to the dimensionality of the space</a:t>
            </a: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84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576548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0BC45C-E1B5-2E59-CF69-C2A4D6B7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16" y="60942"/>
            <a:ext cx="6707400" cy="494528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+mn-lt"/>
              </a:rPr>
              <a:t>Dot Product of Vectors</a:t>
            </a:r>
            <a:r>
              <a:rPr lang="en-US" sz="2400" dirty="0">
                <a:latin typeface="+mn-lt"/>
              </a:rPr>
              <a:t>(Scalar Product)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D2CC64-D9F3-B5D1-2850-84EBCF05D4F0}"/>
              </a:ext>
            </a:extLst>
          </p:cNvPr>
          <p:cNvSpPr txBox="1"/>
          <p:nvPr/>
        </p:nvSpPr>
        <p:spPr>
          <a:xfrm>
            <a:off x="822108" y="910783"/>
            <a:ext cx="7499783" cy="4100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The dot product of two vectors is a scalar value.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It measures how much the two vectors point in the same direction.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If u = [u₁, u₂, ..., uₙ] and v = [v₁, v₂, ..., vₙ],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	then u • v = </a:t>
            </a:r>
            <a:r>
              <a:rPr lang="en-US" sz="1800" dirty="0" err="1"/>
              <a:t>u₁v</a:t>
            </a:r>
            <a:r>
              <a:rPr lang="en-US" sz="1800" dirty="0"/>
              <a:t>₁ + </a:t>
            </a:r>
            <a:r>
              <a:rPr lang="en-US" sz="1800" dirty="0" err="1"/>
              <a:t>u₂v</a:t>
            </a:r>
            <a:r>
              <a:rPr lang="en-US" sz="1800" dirty="0"/>
              <a:t>₂ + ... + </a:t>
            </a:r>
            <a:r>
              <a:rPr lang="en-US" sz="1800" dirty="0" err="1"/>
              <a:t>uₙv</a:t>
            </a:r>
            <a:r>
              <a:rPr lang="en-US" sz="1800" dirty="0"/>
              <a:t>ₙ.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Also, u • v = |u| |v| cos(</a:t>
            </a:r>
            <a:r>
              <a:rPr lang="el-GR" sz="1800" dirty="0"/>
              <a:t>θ), </a:t>
            </a:r>
            <a:r>
              <a:rPr lang="en-US" sz="1800" dirty="0"/>
              <a:t>where </a:t>
            </a:r>
            <a:r>
              <a:rPr lang="el-GR" sz="1800" dirty="0"/>
              <a:t>θ </a:t>
            </a:r>
            <a:r>
              <a:rPr lang="en-US" sz="1800" dirty="0"/>
              <a:t>is the angle between the vectors</a:t>
            </a:r>
          </a:p>
          <a:p>
            <a:r>
              <a:rPr lang="en-US" sz="1800" dirty="0"/>
              <a:t>.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5564AB-3754-0897-F1F5-F7A7EF8D0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05" y="2735469"/>
            <a:ext cx="4192905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4">
          <a:extLst>
            <a:ext uri="{FF2B5EF4-FFF2-40B4-BE49-F238E27FC236}">
              <a16:creationId xmlns:a16="http://schemas.microsoft.com/office/drawing/2014/main" id="{99BAF76D-1E71-79FA-182E-BDB8E7D4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>
            <a:extLst>
              <a:ext uri="{FF2B5EF4-FFF2-40B4-BE49-F238E27FC236}">
                <a16:creationId xmlns:a16="http://schemas.microsoft.com/office/drawing/2014/main" id="{65FA5ADD-F6CD-406B-674E-EC319E5E8805}"/>
              </a:ext>
            </a:extLst>
          </p:cNvPr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576548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7490D0D-6E99-03DC-719C-A6E79169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16" y="60942"/>
            <a:ext cx="6707400" cy="494528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+mn-lt"/>
              </a:rPr>
              <a:t>Dot Product of Vectors</a:t>
            </a:r>
            <a:r>
              <a:rPr lang="en-US" sz="2400" dirty="0">
                <a:latin typeface="+mn-lt"/>
              </a:rPr>
              <a:t>(Scalar Product)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747B3-EBF9-5598-985B-06CA95F5DBCB}"/>
              </a:ext>
            </a:extLst>
          </p:cNvPr>
          <p:cNvSpPr txBox="1"/>
          <p:nvPr/>
        </p:nvSpPr>
        <p:spPr>
          <a:xfrm>
            <a:off x="822108" y="878886"/>
            <a:ext cx="7499783" cy="1145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r>
              <a:rPr lang="en-US" sz="1800" dirty="0"/>
              <a:t>.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1429AB-4385-0B2D-EE0E-85FEEE3AD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" y="970484"/>
            <a:ext cx="5783806" cy="1354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FD358-0F5B-AFFD-2130-EEDEC842C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586" y="2598250"/>
            <a:ext cx="4145923" cy="24404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1B629-1BE9-1DCF-F2F3-0259AC4BE5AB}"/>
              </a:ext>
            </a:extLst>
          </p:cNvPr>
          <p:cNvSpPr txBox="1"/>
          <p:nvPr/>
        </p:nvSpPr>
        <p:spPr>
          <a:xfrm>
            <a:off x="2158409" y="2545250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63780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Dot Product of Vectors</a:t>
            </a:r>
            <a:r>
              <a:rPr lang="en-US" dirty="0"/>
              <a:t> Visualization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43540" y="1018067"/>
            <a:ext cx="45028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/>
              <a:t>The dot product of two vectors</a:t>
            </a:r>
            <a:r>
              <a:rPr lang="en-US" sz="1800" dirty="0"/>
              <a:t>:</a:t>
            </a:r>
          </a:p>
          <a:p>
            <a:endParaRPr lang="en-US" sz="1800" dirty="0"/>
          </a:p>
          <a:p>
            <a:r>
              <a:rPr lang="en-US" sz="1800" dirty="0"/>
              <a:t> u=[1,2] and V=[3,4]</a:t>
            </a:r>
            <a:r>
              <a:rPr lang="en-US" sz="1800" b="1" dirty="0"/>
              <a:t> is  </a:t>
            </a:r>
            <a:r>
              <a:rPr lang="en-US" sz="1800" dirty="0"/>
              <a:t>11 </a:t>
            </a:r>
          </a:p>
          <a:p>
            <a:endParaRPr lang="en-US" sz="2400" dirty="0"/>
          </a:p>
          <a:p>
            <a:r>
              <a:rPr lang="en-US" sz="1800" i="1" dirty="0"/>
              <a:t>as shown at the right</a:t>
            </a:r>
            <a:endParaRPr sz="1800" i="1" dirty="0"/>
          </a:p>
        </p:txBody>
      </p:sp>
      <p:pic>
        <p:nvPicPr>
          <p:cNvPr id="4" name="Picture 3" descr="dot_produc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721" y="982847"/>
            <a:ext cx="4869711" cy="4112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4">
          <a:extLst>
            <a:ext uri="{FF2B5EF4-FFF2-40B4-BE49-F238E27FC236}">
              <a16:creationId xmlns:a16="http://schemas.microsoft.com/office/drawing/2014/main" id="{3DF6019C-6B65-D655-1BD6-64B03821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>
            <a:extLst>
              <a:ext uri="{FF2B5EF4-FFF2-40B4-BE49-F238E27FC236}">
                <a16:creationId xmlns:a16="http://schemas.microsoft.com/office/drawing/2014/main" id="{A76C1B8B-307B-9B9E-A3FD-0F7528A75431}"/>
              </a:ext>
            </a:extLst>
          </p:cNvPr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4F43928-4075-6140-247A-206F35A0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Modulus (Magnitude) of a Vector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03702D-948A-2994-5505-0CD6916B14A7}"/>
              </a:ext>
            </a:extLst>
          </p:cNvPr>
          <p:cNvSpPr txBox="1"/>
          <p:nvPr/>
        </p:nvSpPr>
        <p:spPr>
          <a:xfrm>
            <a:off x="478465" y="1084521"/>
            <a:ext cx="77086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MR12"/>
              </a:rPr>
              <a:t>The Euclidean norm measures the magnitude (length) of a vector. </a:t>
            </a:r>
          </a:p>
          <a:p>
            <a:pPr algn="l"/>
            <a:r>
              <a:rPr lang="en-US" sz="1800" b="0" i="0" u="none" strike="noStrike" baseline="0" dirty="0">
                <a:latin typeface="CMR12"/>
              </a:rPr>
              <a:t>It is useful in optimization and distance computations in Machine Learning.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71EA9F-B278-0EA8-F04F-8A42B365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171" y="1705061"/>
            <a:ext cx="3824289" cy="14681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BA0F07-C26B-9BEE-D14F-8A2F7D6D4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6" y="3173209"/>
            <a:ext cx="5741503" cy="146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7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4">
          <a:extLst>
            <a:ext uri="{FF2B5EF4-FFF2-40B4-BE49-F238E27FC236}">
              <a16:creationId xmlns:a16="http://schemas.microsoft.com/office/drawing/2014/main" id="{D6607122-7E4F-7E77-B5E0-3B569F982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>
            <a:extLst>
              <a:ext uri="{FF2B5EF4-FFF2-40B4-BE49-F238E27FC236}">
                <a16:creationId xmlns:a16="http://schemas.microsoft.com/office/drawing/2014/main" id="{40519D96-2312-F5A8-024E-8092BA8328F1}"/>
              </a:ext>
            </a:extLst>
          </p:cNvPr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98831C3-F076-08A0-EB68-DAA18D95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Visualizationof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Vector  (Magnitude)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93F38-A815-46FF-788F-CB9D6516C9C1}"/>
              </a:ext>
            </a:extLst>
          </p:cNvPr>
          <p:cNvSpPr txBox="1"/>
          <p:nvPr/>
        </p:nvSpPr>
        <p:spPr>
          <a:xfrm>
            <a:off x="190353" y="866804"/>
            <a:ext cx="41583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MR12"/>
              </a:rPr>
              <a:t>import </a:t>
            </a:r>
            <a:r>
              <a:rPr lang="en-US" sz="1800" dirty="0" err="1">
                <a:latin typeface="CMR12"/>
              </a:rPr>
              <a:t>numpy</a:t>
            </a:r>
            <a:r>
              <a:rPr lang="en-US" sz="1800" dirty="0">
                <a:latin typeface="CMR12"/>
              </a:rPr>
              <a:t> as np</a:t>
            </a:r>
          </a:p>
          <a:p>
            <a:pPr algn="ctr"/>
            <a:r>
              <a:rPr lang="en-US" sz="1800" dirty="0">
                <a:latin typeface="CMR12"/>
              </a:rPr>
              <a:t>v = </a:t>
            </a:r>
            <a:r>
              <a:rPr lang="en-US" sz="1800" dirty="0" err="1">
                <a:latin typeface="CMR12"/>
              </a:rPr>
              <a:t>np.array</a:t>
            </a:r>
            <a:r>
              <a:rPr lang="en-US" sz="1800" dirty="0">
                <a:latin typeface="CMR12"/>
              </a:rPr>
              <a:t>([3, 4])//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The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np.array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() function is used to create a NumPy array from a list of values. In this case, the list [3, 4] represents a 2-dimensional vector (or a point in 2D space).</a:t>
            </a:r>
          </a:p>
          <a:p>
            <a:pPr algn="ctr"/>
            <a:endParaRPr lang="en-US" i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1800" dirty="0">
                <a:latin typeface="CMR12"/>
              </a:rPr>
              <a:t>result = </a:t>
            </a:r>
            <a:r>
              <a:rPr lang="en-US" sz="1800" dirty="0" err="1">
                <a:latin typeface="CMR12"/>
              </a:rPr>
              <a:t>np.linalg.norm</a:t>
            </a:r>
            <a:r>
              <a:rPr lang="en-US" sz="1800" dirty="0">
                <a:latin typeface="CMR12"/>
              </a:rPr>
              <a:t>(v)//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This line calculates the magnitude (or Euclidean norm, or length) of the vector v using the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np.linalg.norm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() function.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np.linalg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is a submodule within NumPy that provides linear algebra functions, and norm() is the function for calculating vector norms.</a:t>
            </a:r>
          </a:p>
          <a:p>
            <a:r>
              <a:rPr lang="en-US" sz="1800" dirty="0">
                <a:latin typeface="CMR12"/>
              </a:rPr>
              <a:t>print(result)//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</a:t>
            </a:r>
          </a:p>
        </p:txBody>
      </p:sp>
      <p:pic>
        <p:nvPicPr>
          <p:cNvPr id="5" name="Picture 4" descr="magnitud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717" y="1264609"/>
            <a:ext cx="4494913" cy="370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74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 Negation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73AE2-C5AD-27EB-1B20-D7CEDA03B61D}"/>
              </a:ext>
            </a:extLst>
          </p:cNvPr>
          <p:cNvSpPr txBox="1"/>
          <p:nvPr/>
        </p:nvSpPr>
        <p:spPr>
          <a:xfrm>
            <a:off x="0" y="1254642"/>
            <a:ext cx="457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Negation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negation of a vector reverses its direction.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 components of the vector are multiplied by -1.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/>
              <a:t>v</a:t>
            </a:r>
            <a:r>
              <a:rPr lang="en-US" dirty="0"/>
              <a:t> = [v₁, v₂, ..., vₙ], then -</a:t>
            </a:r>
            <a:r>
              <a:rPr lang="en-US" b="1" dirty="0"/>
              <a:t>v</a:t>
            </a:r>
            <a:r>
              <a:rPr lang="en-US" dirty="0"/>
              <a:t> = [-v₁, -v₂, ..., -vₙ].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r>
              <a:rPr lang="en-US" dirty="0"/>
              <a:t> If </a:t>
            </a:r>
            <a:r>
              <a:rPr lang="en-US" b="1" dirty="0"/>
              <a:t>v</a:t>
            </a:r>
            <a:r>
              <a:rPr lang="en-US" dirty="0"/>
              <a:t> = [2, -1, 3], then -</a:t>
            </a:r>
            <a:r>
              <a:rPr lang="en-US" b="1" dirty="0"/>
              <a:t>v</a:t>
            </a:r>
            <a:r>
              <a:rPr lang="en-US" dirty="0"/>
              <a:t> = [-2, 1, -3].</a:t>
            </a:r>
          </a:p>
          <a:p>
            <a:endParaRPr lang="en-US" dirty="0"/>
          </a:p>
        </p:txBody>
      </p:sp>
      <p:pic>
        <p:nvPicPr>
          <p:cNvPr id="6" name="Picture 5" descr="negation.gif">
            <a:extLst>
              <a:ext uri="{FF2B5EF4-FFF2-40B4-BE49-F238E27FC236}">
                <a16:creationId xmlns:a16="http://schemas.microsoft.com/office/drawing/2014/main" id="{0376BE4D-0C5B-F1C6-D5D2-DABAC5D0D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098" y="964218"/>
            <a:ext cx="4611901" cy="34589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0D1C0-7B3D-1867-FAFA-147E4BDC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82C8-1952-B31A-2162-9BD099CA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 Negation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3C8EE-4C7A-8156-D2CD-DFFFB6CC2C9F}"/>
              </a:ext>
            </a:extLst>
          </p:cNvPr>
          <p:cNvSpPr txBox="1"/>
          <p:nvPr/>
        </p:nvSpPr>
        <p:spPr>
          <a:xfrm>
            <a:off x="0" y="1254642"/>
            <a:ext cx="457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Negation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negation of a vector reverses its direction.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 components of the vector are multiplied by -1.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/>
              <a:t>v</a:t>
            </a:r>
            <a:r>
              <a:rPr lang="en-US" dirty="0"/>
              <a:t> = [v₁, v₂, ..., vₙ], then -</a:t>
            </a:r>
            <a:r>
              <a:rPr lang="en-US" b="1" dirty="0"/>
              <a:t>v</a:t>
            </a:r>
            <a:r>
              <a:rPr lang="en-US" dirty="0"/>
              <a:t> = [-v₁, -v₂, ..., -vₙ].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r>
              <a:rPr lang="en-US" dirty="0"/>
              <a:t> If </a:t>
            </a:r>
            <a:r>
              <a:rPr lang="en-US" b="1" dirty="0"/>
              <a:t>v</a:t>
            </a:r>
            <a:r>
              <a:rPr lang="en-US" dirty="0"/>
              <a:t> = [2, -1, 3], then -</a:t>
            </a:r>
            <a:r>
              <a:rPr lang="en-US" b="1" dirty="0"/>
              <a:t>v</a:t>
            </a:r>
            <a:r>
              <a:rPr lang="en-US" dirty="0"/>
              <a:t> = [-2, 1, -3].</a:t>
            </a:r>
          </a:p>
          <a:p>
            <a:endParaRPr lang="en-US" dirty="0"/>
          </a:p>
        </p:txBody>
      </p:sp>
      <p:pic>
        <p:nvPicPr>
          <p:cNvPr id="6" name="Picture 5" descr="negation.gif">
            <a:extLst>
              <a:ext uri="{FF2B5EF4-FFF2-40B4-BE49-F238E27FC236}">
                <a16:creationId xmlns:a16="http://schemas.microsoft.com/office/drawing/2014/main" id="{B1347194-971E-3A9A-AF08-FD11F0D97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098" y="964218"/>
            <a:ext cx="4611901" cy="345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51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991AC-9187-4C0E-DDE2-B3DD9435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8835-185C-230E-479D-61F752B0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of a Vector 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DB8B12-77C1-4A12-21A8-E3901B58D409}"/>
              </a:ext>
            </a:extLst>
          </p:cNvPr>
          <p:cNvSpPr txBox="1"/>
          <p:nvPr/>
        </p:nvSpPr>
        <p:spPr>
          <a:xfrm>
            <a:off x="311700" y="855150"/>
            <a:ext cx="7219507" cy="216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a Basis?</a:t>
            </a:r>
            <a:endParaRPr lang="en-US" sz="24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A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basis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of a vector space is a set of linearly independent vectors that span the entire space.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Any vector in the space can be uniquely expressed as a linear combination of the basis vectors.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1E2BF-5FD5-50CE-4605-F9DF12C4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50" y="2623664"/>
            <a:ext cx="5584001" cy="219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86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8CCE7-EC58-18D5-3A6B-9CD5C079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0973-3470-4384-EF73-68A2D3C0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Change of Basis?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D5DCA-043F-D72A-3FD4-A7A7325E07F2}"/>
              </a:ext>
            </a:extLst>
          </p:cNvPr>
          <p:cNvSpPr txBox="1"/>
          <p:nvPr/>
        </p:nvSpPr>
        <p:spPr>
          <a:xfrm>
            <a:off x="956931" y="1201480"/>
            <a:ext cx="4571999" cy="379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A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change of basis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is the process of expressing the same vector or linear transformation in terms of a different basis.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Suppose we have two bases for a vector space:</a:t>
            </a:r>
          </a:p>
          <a:p>
            <a:pPr marL="457200" lvl="1" algn="l">
              <a:spcBef>
                <a:spcPts val="300"/>
              </a:spcBef>
            </a:pP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Basis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: 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{a1,a2,…,an}</a:t>
            </a: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457200" lvl="1" algn="l">
              <a:spcBef>
                <a:spcPts val="300"/>
              </a:spcBef>
            </a:pP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Basis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B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: 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{b1,b2,…,bn}</a:t>
            </a:r>
          </a:p>
          <a:p>
            <a:pPr marL="457200" lvl="1" algn="l">
              <a:spcBef>
                <a:spcPts val="300"/>
              </a:spcBef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A vector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can be represented in terms of either basis 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or basis 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B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5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3798-B47F-F2FD-AFB1-5F804C54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D0F1-0D39-FE93-1394-BA489649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1" y="335613"/>
            <a:ext cx="8520600" cy="572700"/>
          </a:xfrm>
        </p:spPr>
        <p:txBody>
          <a:bodyPr/>
          <a:lstStyle/>
          <a:p>
            <a:pPr algn="l"/>
            <a:r>
              <a:rPr lang="en-US" dirty="0"/>
              <a:t>Why Change Basis?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87F36-81D1-633A-D35B-8735EB8F74C0}"/>
              </a:ext>
            </a:extLst>
          </p:cNvPr>
          <p:cNvSpPr txBox="1"/>
          <p:nvPr/>
        </p:nvSpPr>
        <p:spPr>
          <a:xfrm>
            <a:off x="956931" y="1201480"/>
            <a:ext cx="7985050" cy="2916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i="0" dirty="0">
                <a:solidFill>
                  <a:srgbClr val="404040"/>
                </a:solidFill>
                <a:effectLst/>
                <a:latin typeface="+mn-lt"/>
              </a:rPr>
              <a:t>Simplification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+mn-lt"/>
              </a:rPr>
              <a:t>: Some problems are easier to solve in a specific basis.</a:t>
            </a:r>
          </a:p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1800" b="1" i="0" dirty="0">
                <a:solidFill>
                  <a:srgbClr val="404040"/>
                </a:solidFill>
                <a:effectLst/>
                <a:latin typeface="+mn-lt"/>
              </a:rPr>
              <a:t>Diagonalization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+mn-lt"/>
              </a:rPr>
              <a:t>: In machine learning and physics, changing to a basis where a matrix is diagonal simplifies computations.</a:t>
            </a:r>
          </a:p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1800" b="1" i="0" dirty="0">
                <a:solidFill>
                  <a:srgbClr val="404040"/>
                </a:solidFill>
                <a:effectLst/>
                <a:latin typeface="+mn-lt"/>
              </a:rPr>
              <a:t>Visualization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+mn-lt"/>
              </a:rPr>
              <a:t>: In computer graphics, changing the basis allows us to rotate, scale, or transform objects.</a:t>
            </a:r>
          </a:p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1800" b="1" i="0" dirty="0">
                <a:solidFill>
                  <a:srgbClr val="404040"/>
                </a:solidFill>
                <a:effectLst/>
                <a:latin typeface="+mn-lt"/>
              </a:rPr>
              <a:t>Dimensionality Reduction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+mn-lt"/>
              </a:rPr>
              <a:t>: Techniques like PCA (Principal Component Analysis) involve changing the basis to reduce the number of dimensions while preserving important information.</a:t>
            </a:r>
          </a:p>
          <a:p>
            <a:endParaRPr lang="en-US" sz="1800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105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B7A1-6EE7-3D46-98EC-F39520D7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D593-19D8-8804-65B4-CD5B0A96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1" y="335613"/>
            <a:ext cx="8520600" cy="572700"/>
          </a:xfrm>
        </p:spPr>
        <p:txBody>
          <a:bodyPr/>
          <a:lstStyle/>
          <a:p>
            <a:pPr algn="l"/>
            <a:r>
              <a:rPr lang="en-US" dirty="0"/>
              <a:t>How to Perform a Change of Basis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04B54-985B-DE51-DDCA-6F625AE73355}"/>
              </a:ext>
            </a:extLst>
          </p:cNvPr>
          <p:cNvSpPr txBox="1"/>
          <p:nvPr/>
        </p:nvSpPr>
        <p:spPr>
          <a:xfrm>
            <a:off x="223284" y="908313"/>
            <a:ext cx="8718697" cy="416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Let’s say we have a vector </a:t>
            </a:r>
            <a:r>
              <a:rPr lang="en-US" sz="2000" b="0" i="0" dirty="0" err="1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sz="2000" b="1" i="0" dirty="0" err="1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represented in basis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, and we want to represent it in basis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B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algn="l"/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Step 1: Define the Bases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Let </a:t>
            </a:r>
            <a:r>
              <a:rPr lang="en-US" sz="2000" b="1" i="0" dirty="0" err="1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sz="2000" b="0" i="1" dirty="0" err="1">
                <a:solidFill>
                  <a:srgbClr val="404040"/>
                </a:solidFill>
                <a:effectLst/>
                <a:latin typeface="KaTeX_Math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​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be the coordinates of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in basis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Let </a:t>
            </a:r>
            <a:r>
              <a:rPr lang="en-US" sz="2000" b="1" i="0" dirty="0" err="1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sz="2000" b="0" i="1" dirty="0" err="1">
                <a:solidFill>
                  <a:srgbClr val="404040"/>
                </a:solidFill>
                <a:effectLst/>
                <a:latin typeface="KaTeX_Math"/>
              </a:rPr>
              <a:t>B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​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be the coordinates of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in basis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B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/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Step 2: Find the Change of Basis Matrix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change of basis matrix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P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transforms coordinates from basis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to basis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B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To construct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P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, express each vector of basis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in terms of basis 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B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P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=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Size1"/>
              </a:rPr>
              <a:t>[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1​​ 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2 ​​…​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a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n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​​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Size1"/>
              </a:rPr>
              <a:t>]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Here,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1​,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a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2​,…,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KaTeX_Main"/>
              </a:rPr>
              <a:t>a</a:t>
            </a:r>
            <a:r>
              <a:rPr lang="en-US" sz="2000" b="0" i="1" dirty="0">
                <a:solidFill>
                  <a:srgbClr val="404040"/>
                </a:solidFill>
                <a:effectLst/>
                <a:latin typeface="KaTeX_Math"/>
              </a:rPr>
              <a:t>n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​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are the basis vectors of 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A</a:t>
            </a:r>
            <a:r>
              <a:rPr lang="en-US" sz="2000" i="1" dirty="0">
                <a:solidFill>
                  <a:srgbClr val="404040"/>
                </a:solidFill>
                <a:latin typeface="KaTeX_Math"/>
              </a:rPr>
              <a:t> 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expressed in terms of basis 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KaTeX_Main"/>
              </a:rPr>
              <a:t>B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endParaRPr lang="en-US" sz="1800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62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58C3-58AC-903A-14B0-09DE0B63F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86F0-E814-A945-F7E6-D65A204A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1" y="1"/>
            <a:ext cx="8520600" cy="606056"/>
          </a:xfrm>
        </p:spPr>
        <p:txBody>
          <a:bodyPr/>
          <a:lstStyle/>
          <a:p>
            <a:pPr algn="l"/>
            <a:r>
              <a:rPr lang="en-US" dirty="0"/>
              <a:t>How to Perform a Change of Basis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D76CE-CCAB-5440-C58F-18409DAEE7A9}"/>
              </a:ext>
            </a:extLst>
          </p:cNvPr>
          <p:cNvSpPr txBox="1"/>
          <p:nvPr/>
        </p:nvSpPr>
        <p:spPr>
          <a:xfrm>
            <a:off x="223284" y="908313"/>
            <a:ext cx="8718697" cy="1792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</a:rPr>
              <a:t>Step 3: Transform the Vector</a:t>
            </a:r>
          </a:p>
          <a:p>
            <a:pPr>
              <a:spcBef>
                <a:spcPts val="300"/>
              </a:spcBef>
            </a:pPr>
            <a:br>
              <a:rPr lang="en-US" sz="2800" b="0" i="0" dirty="0">
                <a:solidFill>
                  <a:srgbClr val="404040"/>
                </a:solidFill>
                <a:effectLst/>
                <a:latin typeface="KaTeX_Main"/>
              </a:rPr>
            </a:b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US" sz="1800" dirty="0">
              <a:latin typeface="+mn-lt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F81D8-0DA1-5EA9-F61F-3499F1BB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58" y="1819275"/>
            <a:ext cx="6164779" cy="23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82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54C9-7A1B-9CF3-D25F-85B57F91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1536-C911-D93B-3914-C2416FAA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1" y="1"/>
            <a:ext cx="8520600" cy="606056"/>
          </a:xfrm>
        </p:spPr>
        <p:txBody>
          <a:bodyPr/>
          <a:lstStyle/>
          <a:p>
            <a:pPr algn="l"/>
            <a:r>
              <a:rPr lang="en-US" b="1" dirty="0"/>
              <a:t>Applications of Change of Basis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7D6ED-C05A-F04E-4664-8BF9FD31525C}"/>
              </a:ext>
            </a:extLst>
          </p:cNvPr>
          <p:cNvSpPr txBox="1"/>
          <p:nvPr/>
        </p:nvSpPr>
        <p:spPr>
          <a:xfrm>
            <a:off x="322332" y="882503"/>
            <a:ext cx="871869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Principal Component Analysis (PCA)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: Reduces dimensionality by projecting data onto a new basis of principal components.</a:t>
            </a:r>
          </a:p>
          <a:p>
            <a:pPr marL="342900" indent="-34290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Eigen Decomposition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: Diagonalizes a matrix by changing to a basis of eigenvectors.</a:t>
            </a:r>
          </a:p>
          <a:p>
            <a:pPr marL="342900" indent="-34290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Computer Graphics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: Transforms objects between coordinate systems (e.g., world coordinates to camera coordinates).</a:t>
            </a:r>
          </a:p>
          <a:p>
            <a:pPr marL="342900" indent="-34290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Quantum Mechanics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: Changes the representation of quantum states.</a:t>
            </a:r>
          </a:p>
          <a:p>
            <a:pPr>
              <a:spcBef>
                <a:spcPts val="300"/>
              </a:spcBef>
            </a:pPr>
            <a:br>
              <a:rPr lang="en-US" sz="2800" b="0" i="0" dirty="0">
                <a:solidFill>
                  <a:srgbClr val="404040"/>
                </a:solidFill>
                <a:effectLst/>
                <a:latin typeface="KaTeX_Main"/>
              </a:rPr>
            </a:b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US" sz="1800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07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85F50-8985-FAAF-50BC-881AC9983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8802-4D58-01F7-1F8E-30D710E3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1" y="1"/>
            <a:ext cx="8520600" cy="606056"/>
          </a:xfrm>
        </p:spPr>
        <p:txBody>
          <a:bodyPr/>
          <a:lstStyle/>
          <a:p>
            <a:pPr algn="l"/>
            <a:r>
              <a:rPr lang="en-US" b="1" dirty="0"/>
              <a:t>Key Takeaways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0FA75-ACA2-5F63-59BF-630BB95ADCE9}"/>
              </a:ext>
            </a:extLst>
          </p:cNvPr>
          <p:cNvSpPr txBox="1"/>
          <p:nvPr/>
        </p:nvSpPr>
        <p:spPr>
          <a:xfrm>
            <a:off x="425303" y="606057"/>
            <a:ext cx="749595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A </a:t>
            </a:r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basis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 is a set of linearly independent vectors that span a vector space.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Change of basis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 allows us to represent vectors or matrices in terms of a different basis.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change of basis matrix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en-US" sz="2400" b="0" i="1" dirty="0">
                <a:solidFill>
                  <a:srgbClr val="404040"/>
                </a:solidFill>
                <a:effectLst/>
                <a:latin typeface="KaTeX_Math"/>
              </a:rPr>
              <a:t>P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 transforms coordinates from one basis to another.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Changing basis is useful for simplification, diagonalization, and dimensionality reduction.</a:t>
            </a:r>
          </a:p>
          <a:p>
            <a:pPr>
              <a:spcBef>
                <a:spcPts val="300"/>
              </a:spcBef>
            </a:pPr>
            <a:br>
              <a:rPr lang="en-US" sz="2800" b="0" i="0" dirty="0">
                <a:solidFill>
                  <a:srgbClr val="404040"/>
                </a:solidFill>
                <a:effectLst/>
                <a:latin typeface="KaTeX_Main"/>
              </a:rPr>
            </a:b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US" sz="1800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34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F1503-E419-D7FB-7D1F-6DA29422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313F-7DB2-7149-AA40-E9EBFC864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1" y="1"/>
            <a:ext cx="8520600" cy="606056"/>
          </a:xfrm>
        </p:spPr>
        <p:txBody>
          <a:bodyPr/>
          <a:lstStyle/>
          <a:p>
            <a:pPr algn="l"/>
            <a:r>
              <a:rPr lang="en-US" b="1" dirty="0"/>
              <a:t>Linear independence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CDCCC-5231-693F-A984-186374969CCD}"/>
              </a:ext>
            </a:extLst>
          </p:cNvPr>
          <p:cNvSpPr txBox="1"/>
          <p:nvPr/>
        </p:nvSpPr>
        <p:spPr>
          <a:xfrm>
            <a:off x="202019" y="606057"/>
            <a:ext cx="82721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Linear independence is a fundamental concept in linear algebra that describes the relationship between vectors in a vector space. Let’s break it down step by step:</a:t>
            </a:r>
          </a:p>
          <a:p>
            <a:pPr algn="l"/>
            <a:br>
              <a:rPr lang="en-US" sz="2800" b="0" i="0" dirty="0">
                <a:solidFill>
                  <a:srgbClr val="404040"/>
                </a:solidFill>
                <a:effectLst/>
                <a:latin typeface="KaTeX_Main"/>
              </a:rPr>
            </a:b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US" sz="1800" dirty="0">
              <a:latin typeface="+mn-lt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185FF7-DA58-9989-4FDC-63AAF8BDE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638300"/>
            <a:ext cx="7722560" cy="297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77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E7E73-2677-3A9A-968A-AD89E7002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DE09-15C6-E291-FD4E-53B453754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1" y="1"/>
            <a:ext cx="8520600" cy="606056"/>
          </a:xfrm>
        </p:spPr>
        <p:txBody>
          <a:bodyPr/>
          <a:lstStyle/>
          <a:p>
            <a:pPr algn="l"/>
            <a:r>
              <a:rPr lang="en-US" b="1" dirty="0"/>
              <a:t>Intuitive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3D75E-4E48-0FC0-0AC3-CB667EC68CA9}"/>
              </a:ext>
            </a:extLst>
          </p:cNvPr>
          <p:cNvSpPr txBox="1"/>
          <p:nvPr/>
        </p:nvSpPr>
        <p:spPr>
          <a:xfrm>
            <a:off x="202019" y="606057"/>
            <a:ext cx="7581014" cy="5793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Linear Independence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: The vectors are "independent" in the sense that none of them can be constructed by scaling or adding the others.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04040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04040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Linear Dependence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: At least one vector in the set is redundant because it can be expressed as a combination of the others.</a:t>
            </a:r>
          </a:p>
          <a:p>
            <a:pPr algn="l"/>
            <a:br>
              <a:rPr lang="en-US" sz="2800" b="0" i="0" dirty="0">
                <a:solidFill>
                  <a:srgbClr val="404040"/>
                </a:solidFill>
                <a:effectLst/>
                <a:latin typeface="KaTeX_Main"/>
              </a:rPr>
            </a:b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US" sz="1800" dirty="0">
              <a:latin typeface="+mn-lt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7D1DE-AE65-2C95-9EE8-65E496C75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188" t="15402" r="9702"/>
          <a:stretch/>
        </p:blipFill>
        <p:spPr>
          <a:xfrm>
            <a:off x="510363" y="1886731"/>
            <a:ext cx="3955313" cy="177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017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27E36-D05D-0572-135A-8BAE5E8EC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AEC2C-23BF-7F42-5305-E2E5E4F4B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1" y="1"/>
            <a:ext cx="8520600" cy="606056"/>
          </a:xfrm>
        </p:spPr>
        <p:txBody>
          <a:bodyPr/>
          <a:lstStyle/>
          <a:p>
            <a:pPr algn="l"/>
            <a:r>
              <a:rPr lang="en-US" b="1" dirty="0"/>
              <a:t>How to Check for Linear Independence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97930-0091-EACC-966E-16666868EA36}"/>
              </a:ext>
            </a:extLst>
          </p:cNvPr>
          <p:cNvSpPr txBox="1"/>
          <p:nvPr/>
        </p:nvSpPr>
        <p:spPr>
          <a:xfrm>
            <a:off x="202019" y="606057"/>
            <a:ext cx="758101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To determine whether a set of vectors is linearly independent:</a:t>
            </a:r>
          </a:p>
          <a:p>
            <a:pPr algn="l"/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04040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04040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/>
            <a:br>
              <a:rPr lang="en-US" sz="2800" b="0" i="0" dirty="0">
                <a:solidFill>
                  <a:srgbClr val="404040"/>
                </a:solidFill>
                <a:effectLst/>
                <a:latin typeface="KaTeX_Main"/>
              </a:rPr>
            </a:b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US" sz="1800" dirty="0">
              <a:latin typeface="+mn-lt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81232-2AA2-4A15-6272-EFF50D227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22" y="1488556"/>
            <a:ext cx="7873299" cy="330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01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557C-A218-8BE6-8AAD-E095DFBFF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3D170-209C-2FCF-9577-653F1DD3E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1" y="1"/>
            <a:ext cx="8520600" cy="606056"/>
          </a:xfrm>
        </p:spPr>
        <p:txBody>
          <a:bodyPr/>
          <a:lstStyle/>
          <a:p>
            <a:pPr algn="l"/>
            <a:r>
              <a:rPr lang="en-US" b="1" dirty="0"/>
              <a:t>How to Check for Linear Independence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CC3DF-F3C8-035D-5CA0-24F460205065}"/>
              </a:ext>
            </a:extLst>
          </p:cNvPr>
          <p:cNvSpPr txBox="1"/>
          <p:nvPr/>
        </p:nvSpPr>
        <p:spPr>
          <a:xfrm>
            <a:off x="202019" y="606057"/>
            <a:ext cx="758101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0" i="0" dirty="0">
                <a:solidFill>
                  <a:srgbClr val="404040"/>
                </a:solidFill>
                <a:effectLst/>
                <a:latin typeface="Inter"/>
              </a:rPr>
              <a:t>To determine whether a set of vectors is linearly independent:</a:t>
            </a:r>
          </a:p>
          <a:p>
            <a:pPr algn="l"/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04040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04040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/>
            <a:br>
              <a:rPr lang="en-US" sz="2800" b="0" i="0" dirty="0">
                <a:solidFill>
                  <a:srgbClr val="404040"/>
                </a:solidFill>
                <a:effectLst/>
                <a:latin typeface="KaTeX_Main"/>
              </a:rPr>
            </a:b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US" sz="1800" dirty="0">
              <a:latin typeface="+mn-lt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9D842-F8E6-EDA8-4106-FDA373A35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22" y="1488556"/>
            <a:ext cx="7873299" cy="330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70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EFAED-F1E9-C56B-D333-31CD6D52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Geometric Interpretation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B5538-7E16-8E01-D508-1F11AC714AAB}"/>
              </a:ext>
            </a:extLst>
          </p:cNvPr>
          <p:cNvSpPr txBox="1"/>
          <p:nvPr/>
        </p:nvSpPr>
        <p:spPr>
          <a:xfrm>
            <a:off x="311700" y="1233378"/>
            <a:ext cx="6131630" cy="334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In 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KaTeX_Main"/>
              </a:rPr>
              <a:t>R2:</a:t>
            </a:r>
            <a:endParaRPr lang="en-US" sz="18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Two vectors are linearly independent if they are not collinear (i.e., they do not lie on the same line).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Three or more vectors are always linearly dependent in 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KaTeX_Main"/>
              </a:rPr>
              <a:t>R2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In 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KaTeX_Main"/>
              </a:rPr>
              <a:t>R3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Three vectors are linearly independent if they do not lie in the same plane.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Four or more vectors are always linearly dependent in 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KaTeX_Main"/>
              </a:rPr>
              <a:t>R3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801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F952-BBA1-FDAF-911C-9DAA363C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41F37-8ABA-1CB1-3C20-27C45694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600" dirty="0"/>
              <a:t>Applications</a:t>
            </a:r>
            <a:br>
              <a:rPr lang="en-US" sz="2600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95BB15-EE30-FD82-D5EF-BF17122A4495}"/>
              </a:ext>
            </a:extLst>
          </p:cNvPr>
          <p:cNvSpPr txBox="1"/>
          <p:nvPr/>
        </p:nvSpPr>
        <p:spPr>
          <a:xfrm>
            <a:off x="311700" y="1233378"/>
            <a:ext cx="6131630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Basis Selection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: Linear independence is used to determine if a set of vectors can form a basis for a vector space.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Solving Systems of Equations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: Linear independence helps determine if a system has a unique solution.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Machine Learning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: Feature vectors in datasets must be linearly independent to avoid redundancy.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910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E041-C092-1F74-E97C-A784F0EB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Identify a Linearly Independent Basis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19D46-A468-ABF5-7BCB-69D4E82E2293}"/>
              </a:ext>
            </a:extLst>
          </p:cNvPr>
          <p:cNvSpPr txBox="1"/>
          <p:nvPr/>
        </p:nvSpPr>
        <p:spPr>
          <a:xfrm>
            <a:off x="1105786" y="1318437"/>
            <a:ext cx="704938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To identify a linearly independent basis for a vector space:</a:t>
            </a:r>
          </a:p>
          <a:p>
            <a:pPr algn="l"/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Start with a set of vectors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 that span the space.</a:t>
            </a: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000" b="1" i="0" dirty="0">
                <a:solidFill>
                  <a:srgbClr val="404040"/>
                </a:solidFill>
                <a:effectLst/>
                <a:latin typeface="Inter"/>
              </a:rPr>
              <a:t>Check for linear independence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914400" lvl="1" indent="-457200" algn="l">
              <a:spcBef>
                <a:spcPts val="300"/>
              </a:spcBef>
              <a:buFont typeface="+mj-lt"/>
              <a:buAutoNum type="alphaLcPeriod"/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If the vectors are linearly independent, they form a basis.</a:t>
            </a:r>
          </a:p>
          <a:p>
            <a:pPr marL="914400" lvl="1" indent="-457200" algn="l">
              <a:spcBef>
                <a:spcPts val="300"/>
              </a:spcBef>
              <a:buFont typeface="+mj-lt"/>
              <a:buAutoNum type="alphaLcPeriod"/>
            </a:pPr>
            <a:r>
              <a:rPr lang="en-US" sz="2000" b="0" i="0" dirty="0">
                <a:solidFill>
                  <a:srgbClr val="404040"/>
                </a:solidFill>
                <a:effectLst/>
                <a:latin typeface="Inter"/>
              </a:rPr>
              <a:t>If they are linearly dependent, remove redundant vectors until the remaining set is linearly independent.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505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D889A-BBD1-1485-3157-23564D50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F1A0-D15A-D15C-F20F-649F9A23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Identifying a Basis in R3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5E978-B119-3A0D-28F1-60DEAFAC2858}"/>
              </a:ext>
            </a:extLst>
          </p:cNvPr>
          <p:cNvSpPr txBox="1"/>
          <p:nvPr/>
        </p:nvSpPr>
        <p:spPr>
          <a:xfrm>
            <a:off x="212651" y="971312"/>
            <a:ext cx="704938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i="0" dirty="0">
                <a:solidFill>
                  <a:srgbClr val="404040"/>
                </a:solidFill>
                <a:effectLst/>
                <a:latin typeface="Inter"/>
              </a:rPr>
              <a:t>Step 1: Start with a Set of Vectors</a:t>
            </a:r>
          </a:p>
          <a:p>
            <a:pPr algn="l"/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Consider the following vectors in 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KaTeX_Main"/>
              </a:rPr>
              <a:t>R3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algn="l"/>
            <a:endParaRPr lang="en-US" sz="18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l"/>
            <a:r>
              <a:rPr lang="en-US" sz="1800" b="1" dirty="0">
                <a:solidFill>
                  <a:srgbClr val="404040"/>
                </a:solidFill>
                <a:latin typeface="Inter"/>
              </a:rPr>
              <a:t>Step 2: Check for Linear Independence</a:t>
            </a:r>
          </a:p>
          <a:p>
            <a:pPr algn="l"/>
            <a:r>
              <a:rPr lang="en-US" sz="1800" dirty="0">
                <a:solidFill>
                  <a:srgbClr val="404040"/>
                </a:solidFill>
                <a:latin typeface="Inter"/>
              </a:rPr>
              <a:t>Set up the equation:</a:t>
            </a:r>
          </a:p>
          <a:p>
            <a:pPr algn="l"/>
            <a:r>
              <a:rPr lang="en-US" sz="1800" dirty="0">
                <a:solidFill>
                  <a:srgbClr val="404040"/>
                </a:solidFill>
                <a:latin typeface="Inter"/>
              </a:rPr>
              <a:t>c1​v1​+c2​v2​+c3​v3​=0</a:t>
            </a:r>
          </a:p>
          <a:p>
            <a:pPr algn="l"/>
            <a:r>
              <a:rPr lang="en-US" sz="1800" dirty="0">
                <a:solidFill>
                  <a:srgbClr val="404040"/>
                </a:solidFill>
                <a:latin typeface="Inter"/>
              </a:rPr>
              <a:t>This gives: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02E57-177F-DECE-F9B0-76C3E608D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661" y="1174713"/>
            <a:ext cx="3689719" cy="1154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320EC7-FAD9-2F89-54C4-3799A0398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207" y="3007869"/>
            <a:ext cx="3689718" cy="136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00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4FDE3-2004-B87E-61FD-C2B3915A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D253-4ECB-44F2-6983-C048C200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Identifying a Basis in R3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20B2F4-13EF-3F70-7BB2-BAB7A32D2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33475"/>
            <a:ext cx="8353835" cy="383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04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FD59E-55F5-7EFC-DCEB-9566CBB3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38AE-D6C2-4123-AB49-C159F228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Example: Identifying a Basis in R3</a:t>
            </a:r>
            <a:br>
              <a:rPr lang="en-US" dirty="0"/>
            </a:br>
            <a:br>
              <a:rPr lang="en-US" dirty="0"/>
            </a:b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Step 3: Remove Redundant Vectors</a:t>
            </a:r>
            <a:br>
              <a:rPr lang="en-US" b="1" i="0" dirty="0">
                <a:solidFill>
                  <a:srgbClr val="404040"/>
                </a:solidFill>
                <a:effectLst/>
                <a:latin typeface="Inter"/>
              </a:rPr>
            </a:b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Since </a:t>
            </a:r>
            <a:r>
              <a:rPr lang="en-US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3​=</a:t>
            </a:r>
            <a:r>
              <a:rPr lang="en-US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1​+</a:t>
            </a:r>
            <a:r>
              <a:rPr lang="en-US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2​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, we can remove </a:t>
            </a:r>
            <a:r>
              <a:rPr lang="en-US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3​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. The remaining vectors </a:t>
            </a:r>
            <a:r>
              <a:rPr lang="en-US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1​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and </a:t>
            </a:r>
            <a:r>
              <a:rPr lang="en-US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2​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are linearly independent and span the subspace of </a:t>
            </a:r>
            <a:r>
              <a:rPr lang="en-US" b="0" i="0" dirty="0">
                <a:solidFill>
                  <a:srgbClr val="404040"/>
                </a:solidFill>
                <a:effectLst/>
                <a:latin typeface="KaTeX_AMS"/>
              </a:rPr>
              <a:t>R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3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where the third component is 0.</a:t>
            </a:r>
            <a:br>
              <a:rPr lang="en-US" b="0" i="0" dirty="0">
                <a:solidFill>
                  <a:srgbClr val="404040"/>
                </a:solidFill>
                <a:effectLst/>
                <a:latin typeface="Inter"/>
              </a:rPr>
            </a:br>
            <a:br>
              <a:rPr lang="en-US" b="0" i="0" dirty="0">
                <a:solidFill>
                  <a:srgbClr val="404040"/>
                </a:solidFill>
                <a:effectLst/>
                <a:latin typeface="Inter"/>
              </a:rPr>
            </a:b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Step 4: Identify the Basis</a:t>
            </a:r>
            <a:br>
              <a:rPr lang="en-US" b="1" i="0" dirty="0">
                <a:solidFill>
                  <a:srgbClr val="404040"/>
                </a:solidFill>
                <a:effectLst/>
                <a:latin typeface="Inter"/>
              </a:rPr>
            </a:b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 set {</a:t>
            </a:r>
            <a:r>
              <a:rPr lang="en-US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1​,</a:t>
            </a:r>
            <a:r>
              <a:rPr lang="en-US" b="1" i="0" dirty="0">
                <a:solidFill>
                  <a:srgbClr val="404040"/>
                </a:solidFill>
                <a:effectLst/>
                <a:latin typeface="KaTeX_Main"/>
              </a:rPr>
              <a:t>v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2​}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is a basis for the subspace of 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R3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where the third component is 0. The dimension of this subspace is 2.</a:t>
            </a:r>
            <a:br>
              <a:rPr lang="en-US" b="0" i="0" dirty="0">
                <a:solidFill>
                  <a:srgbClr val="404040"/>
                </a:solidFill>
                <a:effectLst/>
                <a:latin typeface="Inter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924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A750-094E-E1BE-BC58-75CD3EAE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CD020-1A33-212B-F9D1-0889A6399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Relating Basis to Dimensionality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number of vectors in a basis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equals 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dimension of the space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  <a:br>
              <a:rPr lang="en-US" b="0" i="0" dirty="0">
                <a:solidFill>
                  <a:srgbClr val="404040"/>
                </a:solidFill>
                <a:effectLst/>
                <a:latin typeface="Inter"/>
              </a:rPr>
            </a:b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For example:</a:t>
            </a:r>
            <a:br>
              <a:rPr lang="en-US" b="0" i="0" dirty="0">
                <a:solidFill>
                  <a:srgbClr val="404040"/>
                </a:solidFill>
                <a:effectLst/>
                <a:latin typeface="Inter"/>
              </a:rPr>
            </a:b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In </a:t>
            </a:r>
            <a:r>
              <a:rPr lang="en-US" b="0" i="0" dirty="0">
                <a:solidFill>
                  <a:srgbClr val="404040"/>
                </a:solidFill>
                <a:effectLst/>
                <a:latin typeface="KaTeX_AMS"/>
              </a:rPr>
              <a:t>R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2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, any basis has 2 vectors, and the dimension is 2.</a:t>
            </a:r>
            <a:br>
              <a:rPr lang="en-US" b="0" i="0" dirty="0">
                <a:solidFill>
                  <a:srgbClr val="404040"/>
                </a:solidFill>
                <a:effectLst/>
                <a:latin typeface="Inter"/>
              </a:rPr>
            </a:b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In </a:t>
            </a:r>
            <a:r>
              <a:rPr lang="en-US" b="0" i="0" dirty="0">
                <a:solidFill>
                  <a:srgbClr val="404040"/>
                </a:solidFill>
                <a:effectLst/>
                <a:latin typeface="KaTeX_AMS"/>
              </a:rPr>
              <a:t>R</a:t>
            </a:r>
            <a:r>
              <a:rPr lang="en-US" b="0" i="0" dirty="0">
                <a:solidFill>
                  <a:srgbClr val="404040"/>
                </a:solidFill>
                <a:effectLst/>
                <a:latin typeface="KaTeX_Main"/>
              </a:rPr>
              <a:t>3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, any basis has 3 vectors, and the dimension is 3.</a:t>
            </a:r>
            <a:br>
              <a:rPr lang="en-US" b="0" i="0" dirty="0">
                <a:solidFill>
                  <a:srgbClr val="404040"/>
                </a:solidFill>
                <a:effectLst/>
                <a:latin typeface="Inter"/>
              </a:rPr>
            </a:b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In a subspace, the dimension is the number of vectors in its basis.</a:t>
            </a:r>
            <a:br>
              <a:rPr lang="en-US" b="0" i="0" dirty="0">
                <a:solidFill>
                  <a:srgbClr val="404040"/>
                </a:solidFill>
                <a:effectLst/>
                <a:latin typeface="Inter"/>
              </a:rPr>
            </a:br>
            <a:br>
              <a:rPr lang="en-US" b="0" i="0" dirty="0">
                <a:solidFill>
                  <a:srgbClr val="404040"/>
                </a:solidFill>
                <a:effectLst/>
                <a:latin typeface="Inter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316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6D93-8512-C6A2-0536-389BB8A4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Summary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27F07-A12B-2039-7DF4-1D6C4D66FFAC}"/>
              </a:ext>
            </a:extLst>
          </p:cNvPr>
          <p:cNvSpPr txBox="1"/>
          <p:nvPr/>
        </p:nvSpPr>
        <p:spPr>
          <a:xfrm>
            <a:off x="712381" y="1234251"/>
            <a:ext cx="811991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/>
              <a:t>Basis:</a:t>
            </a:r>
            <a:r>
              <a:rPr lang="en-US" sz="2000" dirty="0"/>
              <a:t> A set of linearly independent vectors that span a space.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/>
              <a:t>Linearly Independent Basis:</a:t>
            </a:r>
            <a:r>
              <a:rPr lang="en-US" sz="2000" dirty="0"/>
              <a:t> Ensures that no vector is redundant.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/>
              <a:t>Dimensionality:</a:t>
            </a:r>
            <a:r>
              <a:rPr lang="en-US" sz="2000" dirty="0"/>
              <a:t> Defined by the number of basis vectors.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/>
              <a:t>Change of Basis:</a:t>
            </a:r>
            <a:r>
              <a:rPr lang="en-US" sz="2000" dirty="0"/>
              <a:t> Transforming vector coordinates from one basis to another.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/>
              <a:t>Applications:</a:t>
            </a:r>
            <a:r>
              <a:rPr lang="en-US" sz="2000" dirty="0"/>
              <a:t> Graphics, Physics,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2960737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4B0F-F18E-E9E7-ECE3-0722C180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B9441-C345-3EF9-68F4-5FA37D677414}"/>
              </a:ext>
            </a:extLst>
          </p:cNvPr>
          <p:cNvSpPr txBox="1"/>
          <p:nvPr/>
        </p:nvSpPr>
        <p:spPr>
          <a:xfrm>
            <a:off x="616688" y="1233377"/>
            <a:ext cx="63529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Strang, G. (2016). </a:t>
            </a:r>
            <a:r>
              <a:rPr lang="en-US" i="1" dirty="0"/>
              <a:t>Introduction to Linear Algebra</a:t>
            </a:r>
            <a:r>
              <a:rPr lang="en-US" dirty="0"/>
              <a:t>. Wellesley-Cambridge Press.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Lay, D. C. (2019). </a:t>
            </a:r>
            <a:r>
              <a:rPr lang="en-US" i="1" dirty="0"/>
              <a:t>Linear Algebra and Its Applications</a:t>
            </a:r>
            <a:r>
              <a:rPr lang="en-US" dirty="0"/>
              <a:t>. Pearson.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NumPy Documentation: </a:t>
            </a:r>
            <a:r>
              <a:rPr lang="en-US" dirty="0">
                <a:hlinkClick r:id="rId2"/>
              </a:rPr>
              <a:t>https://numpy.org/doc/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Matplotlib Animation Guide: </a:t>
            </a:r>
            <a:r>
              <a:rPr lang="en-US" dirty="0">
                <a:hlinkClick r:id="rId3"/>
              </a:rPr>
              <a:t>https://matplotlib.org/stable/api/animation_api.html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969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2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2"/>
          <p:cNvPicPr preferRelativeResize="0"/>
          <p:nvPr/>
        </p:nvPicPr>
        <p:blipFill rotWithShape="1">
          <a:blip r:embed="rId6">
            <a:alphaModFix/>
          </a:blip>
          <a:srcRect l="11047" t="22524" r="11047" b="22524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2"/>
          <p:cNvPicPr preferRelativeResize="0"/>
          <p:nvPr/>
        </p:nvPicPr>
        <p:blipFill rotWithShape="1">
          <a:blip r:embed="rId8">
            <a:alphaModFix/>
          </a:blip>
          <a:srcRect l="2114" t="19777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2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2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2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2"/>
          <p:cNvPicPr preferRelativeResize="0"/>
          <p:nvPr/>
        </p:nvPicPr>
        <p:blipFill rotWithShape="1">
          <a:blip r:embed="rId13">
            <a:alphaModFix/>
          </a:blip>
          <a:srcRect b="18916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2"/>
          <p:cNvPicPr preferRelativeResize="0"/>
          <p:nvPr/>
        </p:nvPicPr>
        <p:blipFill rotWithShape="1">
          <a:blip r:embed="rId14">
            <a:alphaModFix/>
          </a:blip>
          <a:srcRect l="12270" t="12270" r="12263" b="12263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2"/>
          <p:cNvPicPr preferRelativeResize="0"/>
          <p:nvPr/>
        </p:nvPicPr>
        <p:blipFill rotWithShape="1">
          <a:blip r:embed="rId16">
            <a:alphaModFix/>
          </a:blip>
          <a:srcRect t="18905" b="18905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2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2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5" name="Google Shape;585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12874</TotalTime>
  <Words>1741</Words>
  <Application>Microsoft Office PowerPoint</Application>
  <PresentationFormat>On-screen Show (16:9)</PresentationFormat>
  <Paragraphs>181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9" baseType="lpstr">
      <vt:lpstr>KaTeX_Size1</vt:lpstr>
      <vt:lpstr>Times New Roman</vt:lpstr>
      <vt:lpstr>Wingdings</vt:lpstr>
      <vt:lpstr>Tajawal</vt:lpstr>
      <vt:lpstr>IBM Plex Sans Arabic</vt:lpstr>
      <vt:lpstr>CMR12</vt:lpstr>
      <vt:lpstr>KaTeX_AMS</vt:lpstr>
      <vt:lpstr>IBM Plex Sans Arabic Medium</vt:lpstr>
      <vt:lpstr>KaTeX_Math</vt:lpstr>
      <vt:lpstr>Calibri</vt:lpstr>
      <vt:lpstr>Inter</vt:lpstr>
      <vt:lpstr>IBM Plex Sans Arabic SemiBold</vt:lpstr>
      <vt:lpstr>Arial</vt:lpstr>
      <vt:lpstr>Proxima Nova</vt:lpstr>
      <vt:lpstr>KaTeX_Main</vt:lpstr>
      <vt:lpstr>Simple Light</vt:lpstr>
      <vt:lpstr>أكـــــاديميــــة طــــويـــق</vt:lpstr>
      <vt:lpstr>Introduction to Linear Algebra  </vt:lpstr>
      <vt:lpstr>PowerPoint Presentation</vt:lpstr>
      <vt:lpstr>Part 2: Learning Objectives </vt:lpstr>
      <vt:lpstr>Dot Product of Vectors(Scalar Product)</vt:lpstr>
      <vt:lpstr>Dot Product of Vectors(Scalar Product)</vt:lpstr>
      <vt:lpstr>Dot Product of Vectors Visualization</vt:lpstr>
      <vt:lpstr>Modulus (Magnitude) of a Vector</vt:lpstr>
      <vt:lpstr>Visualizationof a Vector  (Magnitude) </vt:lpstr>
      <vt:lpstr>Vector Negation</vt:lpstr>
      <vt:lpstr>Vector Negation</vt:lpstr>
      <vt:lpstr>Basis of a Vector Space</vt:lpstr>
      <vt:lpstr>What is a Change of Basis?</vt:lpstr>
      <vt:lpstr>Why Change Basis?</vt:lpstr>
      <vt:lpstr>How to Perform a Change of Basis</vt:lpstr>
      <vt:lpstr>How to Perform a Change of Basis</vt:lpstr>
      <vt:lpstr>Applications of Change of Basis</vt:lpstr>
      <vt:lpstr>Key Takeaways</vt:lpstr>
      <vt:lpstr>Linear independence </vt:lpstr>
      <vt:lpstr>Intuitive Explanation</vt:lpstr>
      <vt:lpstr>How to Check for Linear Independence</vt:lpstr>
      <vt:lpstr>How to Check for Linear Independence</vt:lpstr>
      <vt:lpstr>Geometric Interpretation </vt:lpstr>
      <vt:lpstr>Applications  </vt:lpstr>
      <vt:lpstr>How to Identify a Linearly Independent Basis </vt:lpstr>
      <vt:lpstr>Example: Identifying a Basis in R3  </vt:lpstr>
      <vt:lpstr>Example: Identifying a Basis in R3  </vt:lpstr>
      <vt:lpstr>Example: Identifying a Basis in R3  Step 3: Remove Redundant Vectors Since v3​=v1​+v2​, we can remove v3​. The remaining vectors v1​ and v2​ are linearly independent and span the subspace of R3 where the third component is 0.  Step 4: Identify the Basis The set {v1​,v2​} is a basis for the subspace of R3 where the third component is 0. The dimension of this subspace is 2. </vt:lpstr>
      <vt:lpstr>Relating Basis to Dimensionality   The number of vectors in a basis equals the dimension of the space. For example: In R2, any basis has 2 vectors, and the dimension is 2. In R3, any basis has 3 vectors, and the dimension is 3. In a subspace, the dimension is the number of vectors in its basis.  </vt:lpstr>
      <vt:lpstr>Summary </vt:lpstr>
      <vt:lpstr>References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asus</cp:lastModifiedBy>
  <cp:revision>33</cp:revision>
  <dcterms:modified xsi:type="dcterms:W3CDTF">2025-02-02T21:02:41Z</dcterms:modified>
</cp:coreProperties>
</file>