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heme/themeOverride1.xml" ContentType="application/vnd.openxmlformats-officedocument.themeOverride+xml"/>
  <Override PartName="/ppt/notesSlides/notesSlide39.xml" ContentType="application/vnd.openxmlformats-officedocument.presentationml.notesSlide+xml"/>
  <Override PartName="/ppt/theme/themeOverride2.xml" ContentType="application/vnd.openxmlformats-officedocument.themeOverride+xml"/>
  <Override PartName="/ppt/notesSlides/notesSlide40.xml" ContentType="application/vnd.openxmlformats-officedocument.presentationml.notesSlide+xml"/>
  <Override PartName="/ppt/theme/themeOverride3.xml" ContentType="application/vnd.openxmlformats-officedocument.themeOverr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7"/>
  </p:notesMasterIdLst>
  <p:sldIdLst>
    <p:sldId id="256" r:id="rId2"/>
    <p:sldId id="257" r:id="rId3"/>
    <p:sldId id="283" r:id="rId4"/>
    <p:sldId id="278" r:id="rId5"/>
    <p:sldId id="262" r:id="rId6"/>
    <p:sldId id="277" r:id="rId7"/>
    <p:sldId id="263" r:id="rId8"/>
    <p:sldId id="264" r:id="rId9"/>
    <p:sldId id="280" r:id="rId10"/>
    <p:sldId id="292" r:id="rId11"/>
    <p:sldId id="293" r:id="rId12"/>
    <p:sldId id="281" r:id="rId13"/>
    <p:sldId id="294" r:id="rId14"/>
    <p:sldId id="279" r:id="rId15"/>
    <p:sldId id="295" r:id="rId16"/>
    <p:sldId id="284" r:id="rId17"/>
    <p:sldId id="296" r:id="rId18"/>
    <p:sldId id="297" r:id="rId19"/>
    <p:sldId id="286" r:id="rId20"/>
    <p:sldId id="298" r:id="rId21"/>
    <p:sldId id="299" r:id="rId22"/>
    <p:sldId id="300" r:id="rId23"/>
    <p:sldId id="288" r:id="rId24"/>
    <p:sldId id="289" r:id="rId25"/>
    <p:sldId id="301" r:id="rId26"/>
    <p:sldId id="302" r:id="rId27"/>
    <p:sldId id="304" r:id="rId28"/>
    <p:sldId id="305" r:id="rId29"/>
    <p:sldId id="306" r:id="rId30"/>
    <p:sldId id="307" r:id="rId31"/>
    <p:sldId id="309" r:id="rId32"/>
    <p:sldId id="308" r:id="rId33"/>
    <p:sldId id="310" r:id="rId34"/>
    <p:sldId id="311" r:id="rId35"/>
    <p:sldId id="312" r:id="rId36"/>
    <p:sldId id="313" r:id="rId37"/>
    <p:sldId id="314" r:id="rId38"/>
    <p:sldId id="315" r:id="rId39"/>
    <p:sldId id="316" r:id="rId40"/>
    <p:sldId id="317" r:id="rId41"/>
    <p:sldId id="319" r:id="rId42"/>
    <p:sldId id="265" r:id="rId43"/>
    <p:sldId id="320" r:id="rId44"/>
    <p:sldId id="275" r:id="rId45"/>
    <p:sldId id="276" r:id="rId46"/>
  </p:sldIdLst>
  <p:sldSz cx="9144000" cy="5143500" type="screen16x9"/>
  <p:notesSz cx="6858000" cy="9144000"/>
  <p:embeddedFontLst>
    <p:embeddedFont>
      <p:font typeface="IBM Plex Sans Arabic" panose="020B0603050203000203" pitchFamily="34" charset="-78"/>
      <p:regular r:id="rId48"/>
      <p:bold r:id="rId49"/>
    </p:embeddedFont>
    <p:embeddedFont>
      <p:font typeface="IBM Plex Sans Arabic Medium" panose="020B0603050203000203" pitchFamily="34" charset="-78"/>
      <p:regular r:id="rId50"/>
      <p:bold r:id="rId51"/>
    </p:embeddedFont>
    <p:embeddedFont>
      <p:font typeface="IBM Plex Sans Arabic SemiBold" panose="020B0603050203000203" pitchFamily="34" charset="-78"/>
      <p:regular r:id="rId52"/>
      <p:bold r:id="rId53"/>
    </p:embeddedFont>
    <p:embeddedFont>
      <p:font typeface="Inter" panose="02000503000000020004" pitchFamily="2" charset="0"/>
      <p:regular r:id="rId54"/>
      <p:bold r:id="rId55"/>
      <p:italic r:id="rId56"/>
      <p:boldItalic r:id="rId57"/>
    </p:embeddedFont>
    <p:embeddedFont>
      <p:font typeface="Proxima Nova" panose="02000506030000020004" pitchFamily="2" charset="0"/>
      <p:regular r:id="rId58"/>
      <p:bold r:id="rId59"/>
      <p:italic r:id="rId60"/>
      <p:boldItalic r:id="rId61"/>
    </p:embeddedFont>
    <p:embeddedFont>
      <p:font typeface="Tajawal" pitchFamily="2" charset="-78"/>
      <p:regular r:id="rId62"/>
      <p:bold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4"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14"/>
    <p:restoredTop sz="94809"/>
  </p:normalViewPr>
  <p:slideViewPr>
    <p:cSldViewPr snapToGrid="0">
      <p:cViewPr varScale="1">
        <p:scale>
          <a:sx n="173" d="100"/>
          <a:sy n="173" d="100"/>
        </p:scale>
        <p:origin x="184" y="784"/>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font" Target="fonts/font16.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4A78B76-62B2-720F-0663-7EA9E4AF05F7}"/>
            </a:ext>
          </a:extLst>
        </p:cNvPr>
        <p:cNvGrpSpPr/>
        <p:nvPr/>
      </p:nvGrpSpPr>
      <p:grpSpPr>
        <a:xfrm>
          <a:off x="0" y="0"/>
          <a:ext cx="0" cy="0"/>
          <a:chOff x="0" y="0"/>
          <a:chExt cx="0" cy="0"/>
        </a:xfrm>
      </p:grpSpPr>
      <p:sp>
        <p:nvSpPr>
          <p:cNvPr id="72" name="Google Shape;72;p6:notes">
            <a:extLst>
              <a:ext uri="{FF2B5EF4-FFF2-40B4-BE49-F238E27FC236}">
                <a16:creationId xmlns:a16="http://schemas.microsoft.com/office/drawing/2014/main" id="{E71FD78D-B2F4-061B-E2CF-D4645C7CE3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6:notes">
            <a:extLst>
              <a:ext uri="{FF2B5EF4-FFF2-40B4-BE49-F238E27FC236}">
                <a16:creationId xmlns:a16="http://schemas.microsoft.com/office/drawing/2014/main" id="{2D5F95AC-4BE9-592F-B9CC-7EA3E132D1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351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33E31C8-D5E9-2017-AE3F-9CE690F73605}"/>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171F4956-9A8B-D2BD-69BC-C7A200A2F5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135EAFF3-6059-1547-52B9-ABA6113E56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7265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2FD3765-EAED-DEAA-F202-47452EF58FF8}"/>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A4B8B846-D594-5968-110D-4A6C32ADC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36F71B47-EEE0-462C-30C8-4394CB3D93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4974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BCC562A9-7764-7C7E-1EA8-436866624A4A}"/>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75D41D07-4942-C4FE-6FD6-76ABA6CB0D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F9E66A52-36CF-73C1-FD7D-51AA902669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26619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55F865E6-757C-783B-F0C7-65A2BC2DCE2C}"/>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F826FE14-3E0B-D771-9455-5106A2C5EE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DB771877-7FD1-5CFC-EAE4-78082AD1BF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90106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CC258A9D-A903-972A-54CE-191CD3C10309}"/>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513CD135-D317-19AE-28B2-DAB058C91C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F4A13D7A-CEED-A744-F91A-9267CBA636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53519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E878ECD0-DE69-CD90-5FF0-FDBF000BCF0B}"/>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D7A8A5F8-6D1B-E5E1-847C-BDB55ECED1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EF57F8D6-C104-8A24-C2F1-A469770BB1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2675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D632F3D-C937-B6D2-C266-CA14125B3DCE}"/>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CAEA659F-F76B-70DA-33BF-98B5D905DC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5484CAF9-1631-9FBF-768B-787DB0C586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17096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223E577-23A8-597C-EDBE-7ABF4F4B1D38}"/>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8676F13F-A294-FF0B-3753-7570E1A871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12A89C87-C3A7-DAD2-8AC5-729AC17700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81558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82E6920-2EEF-E0D1-546F-C119C60710AF}"/>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DF327807-D769-2175-6002-8EAEFBBD34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3C8EDC11-8B4E-02C1-CCC5-1A828AAA92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6904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558AF78-7886-68DD-7407-4C3CFCA68C45}"/>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62C26E42-1205-29BA-454A-CE4F0DFFBF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B88C16D9-0F58-9F6F-AF5C-1B0A64124B1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233821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EA21EFF4-B9AE-EE1A-494F-5880785857D0}"/>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3159C2AE-4074-0125-0310-26CBABEA10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F721936B-CDD8-2C6A-D1F2-2CDE34EF1E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87892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1F366E2B-6EF7-E128-12B7-5EBAB3D95E57}"/>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FF80D989-6FDB-5096-B9E8-A147B8488B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4F86F0BB-F739-1D33-DF6E-0619D16485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19986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643F3E6-687C-85F1-9237-B57029C7DF4B}"/>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93BD3FD3-FCFC-36C1-2E83-50AB5D4BED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34B802F4-4310-5796-FAA3-69BDCF3341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998469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FC33EBF4-F582-EC9D-8626-9277FDA25211}"/>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F3FA3138-F92C-BA70-0F5A-0C316B832F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EC8E5E7E-A65A-46A8-14A5-631AA446FF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622075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17507FFE-E9AB-962D-8928-CD11138068CC}"/>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A963B409-178C-025D-7041-54C0200952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0A0A0793-C707-C7CE-1197-05FA467C4D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999938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E5E2CAE-6A32-4070-3FAB-D0BA5959C026}"/>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FFBAFEC9-DD6E-4D42-928D-66937B9090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B24DBEFE-2914-C55C-33B6-9266095E7D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89268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5D28E7B-C9E8-3B56-8C96-718E946CE5C6}"/>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DC624886-4FC1-3291-BB9E-B490626705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04E35F8C-FFE3-1542-45F5-A66142ADE0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621296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55319145-A8F2-C0C2-DF06-623CFAD36EE0}"/>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D66C02E6-0C81-08AE-86DD-04EFC19C3B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94C00B47-A2A6-F474-3937-797158FFB2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166720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00F5B11-0C9F-D0FA-7C73-FF2D733D8212}"/>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EF075D4A-9275-CC52-B2E2-BE852236C2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AEA29391-8CFC-54BF-0C40-807ACD8E56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170671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9BC47741-38AB-9220-FB53-96BA662E38BB}"/>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B3DF4877-FF5A-B3A5-7F06-D5F4985BAB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8394540F-23D7-34ED-6642-AFB80CCF87F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732192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FB624299-9CCE-3D34-D9B9-7782022FAF33}"/>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082D1B92-FB56-5766-C4E1-E455597EFF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C698DA5B-CCF5-4BAC-8081-2CFA0648CA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233490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4C28FCF-68A2-472A-A351-8150AD8E3FE0}"/>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D2C18059-BA58-456D-52C4-DD2DE17492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0DD511A1-F920-C2B0-7DF2-08CC0C85840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103797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27176B5-555B-8499-FBF6-3BF000B6CEC3}"/>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568C0A28-010A-4AF7-6A82-21B49D534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F9754C12-BC08-EDE5-61C3-8D604E2B63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999501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E94BE4D-A459-E0A7-0CED-E200E3B05710}"/>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38864878-74A8-ED21-FAF6-06B2EC0F8A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505836A7-80B4-4048-C7AB-045E87E763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86347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52F9FCE-205D-C251-3263-E67D0B77D2B1}"/>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F3D4949E-5D37-ED4E-2854-62A2989675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EAB03903-C4B7-876D-EB10-64C0333386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4543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D891E6D-29E0-23C1-E13C-B8F1D52BCB0D}"/>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1C0B0ABE-E54E-F761-662A-D57900770C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6A7D660F-6ABC-28FD-3070-D267AA2829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824991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9165D13-1986-6052-59AD-05C862BE1D9A}"/>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1BDA7522-021F-EAAD-AAEF-BC7D149FF6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3A26B492-2235-C41C-9648-4AEAEACE24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796606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8D3B07E9-8C92-F38D-1C69-6152C0440F27}"/>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11F4212C-975A-937B-0CC0-6BE8C582A4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418AEFDF-7478-6C2B-E62F-75293788DE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760615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4C33E2DE-2A44-79C5-1E05-A45A4F65D8EC}"/>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9A5823EA-EB2B-11D9-F499-3BE6543F2E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5C933202-2352-C946-E12A-88395E2FA2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291831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350D72CD-CF14-EAC8-1F92-5F117D54B3BA}"/>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1566DBFC-2950-0E8A-BFC8-D60EA9F8CC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81B034B1-26A2-7C43-36A7-B31C904F7D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702686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3A24447E-DA07-BD1A-CE56-4B40E077FD64}"/>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49689DD0-86C3-A60A-AF2E-16DAD991C1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70FC5F83-1F83-4269-368A-C12CC0C16E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498154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8CF164A2-9491-1376-39A8-36E06475266C}"/>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4FBF8937-1F44-1C7E-C63C-F9C9E6856E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568E21E1-23F4-76E2-1E70-4CBAD07A102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017561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DDA7E484-128D-153D-75DB-B685050868A0}"/>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2DF0755D-E7C5-14B6-E145-7490B1C8BE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5E3F0A8F-3F2D-798E-19A5-8182569E61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822493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B61A47CF-8681-76BD-8C41-754247256DEF}"/>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E7B64501-F9A5-5895-6D94-F161E73A1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3DE98DE0-1A5E-88A7-2A7C-4689C93DBC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357283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7380419-3B83-6C5F-7037-D9C16B72CD4F}"/>
            </a:ext>
          </a:extLst>
        </p:cNvPr>
        <p:cNvGrpSpPr/>
        <p:nvPr/>
      </p:nvGrpSpPr>
      <p:grpSpPr>
        <a:xfrm>
          <a:off x="0" y="0"/>
          <a:ext cx="0" cy="0"/>
          <a:chOff x="0" y="0"/>
          <a:chExt cx="0" cy="0"/>
        </a:xfrm>
      </p:grpSpPr>
      <p:sp>
        <p:nvSpPr>
          <p:cNvPr id="105" name="Google Shape;105;p10:notes">
            <a:extLst>
              <a:ext uri="{FF2B5EF4-FFF2-40B4-BE49-F238E27FC236}">
                <a16:creationId xmlns:a16="http://schemas.microsoft.com/office/drawing/2014/main" id="{8F656EE4-F75A-8999-B3F4-7DF5B51DFC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a:extLst>
              <a:ext uri="{FF2B5EF4-FFF2-40B4-BE49-F238E27FC236}">
                <a16:creationId xmlns:a16="http://schemas.microsoft.com/office/drawing/2014/main" id="{ED33E920-EE85-D545-6CAF-F08715C20C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621566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29"/>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SzPts val="2500"/>
              <a:buNone/>
              <a:defRPr/>
            </a:lvl1pPr>
            <a:lvl2pPr lvl="1" algn="l" rtl="1">
              <a:lnSpc>
                <a:spcPct val="100000"/>
              </a:lnSpc>
              <a:spcBef>
                <a:spcPts val="0"/>
              </a:spcBef>
              <a:spcAft>
                <a:spcPts val="0"/>
              </a:spcAft>
              <a:buSzPts val="2800"/>
              <a:buNone/>
              <a:defRPr/>
            </a:lvl2pPr>
            <a:lvl3pPr lvl="2" algn="l" rtl="1">
              <a:lnSpc>
                <a:spcPct val="100000"/>
              </a:lnSpc>
              <a:spcBef>
                <a:spcPts val="0"/>
              </a:spcBef>
              <a:spcAft>
                <a:spcPts val="0"/>
              </a:spcAft>
              <a:buSzPts val="2800"/>
              <a:buNone/>
              <a:defRPr/>
            </a:lvl3pPr>
            <a:lvl4pPr lvl="3" algn="l" rtl="1">
              <a:lnSpc>
                <a:spcPct val="100000"/>
              </a:lnSpc>
              <a:spcBef>
                <a:spcPts val="0"/>
              </a:spcBef>
              <a:spcAft>
                <a:spcPts val="0"/>
              </a:spcAft>
              <a:buSzPts val="2800"/>
              <a:buNone/>
              <a:defRPr/>
            </a:lvl4pPr>
            <a:lvl5pPr lvl="4" algn="l" rtl="1">
              <a:lnSpc>
                <a:spcPct val="100000"/>
              </a:lnSpc>
              <a:spcBef>
                <a:spcPts val="0"/>
              </a:spcBef>
              <a:spcAft>
                <a:spcPts val="0"/>
              </a:spcAft>
              <a:buSzPts val="2800"/>
              <a:buNone/>
              <a:defRPr/>
            </a:lvl5pPr>
            <a:lvl6pPr lvl="5" algn="l" rtl="1">
              <a:lnSpc>
                <a:spcPct val="100000"/>
              </a:lnSpc>
              <a:spcBef>
                <a:spcPts val="0"/>
              </a:spcBef>
              <a:spcAft>
                <a:spcPts val="0"/>
              </a:spcAft>
              <a:buSzPts val="2800"/>
              <a:buNone/>
              <a:defRPr/>
            </a:lvl6pPr>
            <a:lvl7pPr lvl="6" algn="l" rtl="1">
              <a:lnSpc>
                <a:spcPct val="100000"/>
              </a:lnSpc>
              <a:spcBef>
                <a:spcPts val="0"/>
              </a:spcBef>
              <a:spcAft>
                <a:spcPts val="0"/>
              </a:spcAft>
              <a:buSzPts val="2800"/>
              <a:buNone/>
              <a:defRPr/>
            </a:lvl7pPr>
            <a:lvl8pPr lvl="7" algn="l" rtl="1">
              <a:lnSpc>
                <a:spcPct val="100000"/>
              </a:lnSpc>
              <a:spcBef>
                <a:spcPts val="0"/>
              </a:spcBef>
              <a:spcAft>
                <a:spcPts val="0"/>
              </a:spcAft>
              <a:buSzPts val="2800"/>
              <a:buNone/>
              <a:defRPr/>
            </a:lvl8pPr>
            <a:lvl9pPr lvl="8" algn="l" rtl="1">
              <a:lnSpc>
                <a:spcPct val="100000"/>
              </a:lnSpc>
              <a:spcBef>
                <a:spcPts val="0"/>
              </a:spcBef>
              <a:spcAft>
                <a:spcPts val="0"/>
              </a:spcAft>
              <a:buSzPts val="2800"/>
              <a:buNone/>
              <a:defRPr/>
            </a:lvl9pPr>
          </a:lstStyle>
          <a:p>
            <a:endParaRPr/>
          </a:p>
        </p:txBody>
      </p:sp>
      <p:sp>
        <p:nvSpPr>
          <p:cNvPr id="32" name="Google Shape;32;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3" name="Google Shape;33;p29"/>
          <p:cNvPicPr preferRelativeResize="0"/>
          <p:nvPr/>
        </p:nvPicPr>
        <p:blipFill rotWithShape="1">
          <a:blip r:embed="rId2">
            <a:alphaModFix/>
          </a:blip>
          <a:srcRect/>
          <a:stretch/>
        </p:blipFill>
        <p:spPr>
          <a:xfrm>
            <a:off x="7959271" y="4703039"/>
            <a:ext cx="946580" cy="21398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1">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hyperlink" Target="http://www.wired.it/gadget/motori/2016/10/21/auto-tesla-autonome/" TargetMode="Externa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hyperlink" Target="https://editoy.com/posts/18807" TargetMode="External"/><Relationship Id="rId4" Type="http://schemas.openxmlformats.org/officeDocument/2006/relationships/image" Target="../media/image16.jp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hyperlink" Target="https://www.htnovo.net/2023/03/openai-rende-disponibile-gpt-4.html" TargetMode="External"/><Relationship Id="rId4" Type="http://schemas.openxmlformats.org/officeDocument/2006/relationships/image" Target="../media/image17.jp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hyperlink" Target="https://www.htnovo.net/2023/03/openai-rende-disponibile-gpt-4.html" TargetMode="External"/><Relationship Id="rId4" Type="http://schemas.openxmlformats.org/officeDocument/2006/relationships/image" Target="../media/image17.jp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hemeOverride" Target="../theme/themeOverride2.xml"/><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hemeOverride" Target="../theme/themeOverride3.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hyperlink" Target="https://en.unesco.org/artificial-intelligence/ethics" TargetMode="External"/><Relationship Id="rId5" Type="http://schemas.openxmlformats.org/officeDocument/2006/relationships/hyperlink" Target="https://oecd.ai/" TargetMode="External"/><Relationship Id="rId4" Type="http://schemas.openxmlformats.org/officeDocument/2006/relationships/hyperlink" Target="https://digital-strategy.ec.europa.eu/en/policies/european-approach-artificial-intelligence" TargetMode="External"/></Relationships>
</file>

<file path=ppt/slides/_rels/slide4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44.xml"/><Relationship Id="rId16"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200"/>
              </a:spcAft>
              <a:buClr>
                <a:srgbClr val="252526"/>
              </a:buClr>
              <a:buSzPts val="1800"/>
              <a:buFont typeface="IBM Plex Sans Arabic"/>
              <a:buNone/>
            </a:pPr>
            <a:r>
              <a:rPr lang="en-US" sz="3600" dirty="0">
                <a:solidFill>
                  <a:schemeClr val="lt1"/>
                </a:solidFill>
                <a:latin typeface="IBM Plex Sans Arabic Medium"/>
                <a:ea typeface="IBM Plex Sans Arabic Medium"/>
                <a:cs typeface="IBM Plex Sans Arabic Medium"/>
                <a:sym typeface="IBM Plex Sans Arabic Medium"/>
              </a:rPr>
              <a:t>Artificial Intelligence Ethics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8" y="1137037"/>
            <a:ext cx="8520600" cy="1660138"/>
          </a:xfrm>
          <a:prstGeom prst="rect">
            <a:avLst/>
          </a:prstGeom>
          <a:noFill/>
          <a:ln>
            <a:noFill/>
          </a:ln>
        </p:spPr>
        <p:txBody>
          <a:bodyPr spcFirstLastPara="1" wrap="square" lIns="91425" tIns="91425" rIns="91425" bIns="91425" anchor="b" anchorCtr="0">
            <a:normAutofit fontScale="90000"/>
          </a:bodyPr>
          <a:lstStyle/>
          <a:p>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dirty="0">
                <a:latin typeface="Calibri"/>
                <a:ea typeface="Calibri"/>
                <a:cs typeface="Calibri"/>
                <a:sym typeface="Calibri"/>
              </a:rPr>
            </a:br>
            <a:r>
              <a:rPr lang="en-GB" sz="3600" b="0" i="0" u="none" strike="noStrike" dirty="0">
                <a:solidFill>
                  <a:srgbClr val="7030A0"/>
                </a:solidFill>
                <a:effectLst/>
                <a:latin typeface="-webkit-standard"/>
              </a:rPr>
              <a:t>Future Trends and Opportunities in AI Governance</a:t>
            </a:r>
            <a:br>
              <a:rPr lang="en-GB" sz="3600" b="0" i="0" u="none" strike="noStrike" dirty="0">
                <a:solidFill>
                  <a:srgbClr val="7030A0"/>
                </a:solidFill>
                <a:effectLst/>
                <a:latin typeface="-webkit-standard"/>
              </a:rPr>
            </a:br>
            <a:br>
              <a:rPr lang="en-GB" sz="1800" dirty="0">
                <a:latin typeface="Calibri"/>
                <a:ea typeface="Calibri"/>
                <a:cs typeface="Calibri"/>
                <a:sym typeface="Calibri"/>
              </a:rPr>
            </a:br>
            <a:r>
              <a:rPr lang="en-GB" sz="1800" dirty="0">
                <a:latin typeface="Calibri"/>
                <a:ea typeface="Calibri"/>
                <a:cs typeface="Calibri"/>
                <a:sym typeface="Calibri"/>
              </a:rPr>
              <a:t>Navigating Ethics, Regulation, and Innovation</a:t>
            </a:r>
            <a:br>
              <a:rPr lang="en-GB" sz="1800" dirty="0">
                <a:latin typeface="Calibri"/>
                <a:ea typeface="Calibri"/>
                <a:cs typeface="Calibri"/>
                <a:sym typeface="Calibri"/>
              </a:rPr>
            </a:br>
            <a:endParaRPr lang="en-GB"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355978" y="622430"/>
            <a:ext cx="8029070" cy="3267521"/>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p>
          <a:p>
            <a:pPr marL="0" marR="0" lvl="0" indent="0" algn="just" rtl="0">
              <a:lnSpc>
                <a:spcPct val="125000"/>
              </a:lnSpc>
              <a:spcBef>
                <a:spcPts val="0"/>
              </a:spcBef>
              <a:spcAft>
                <a:spcPts val="0"/>
              </a:spcAft>
              <a:buNone/>
            </a:pPr>
            <a:endParaRPr lang="en-GB" sz="1800" b="0" i="0" u="none" strike="noStrike" cap="none" dirty="0">
              <a:solidFill>
                <a:srgbClr val="000000"/>
              </a:solidFill>
              <a:latin typeface="Proxima Nova"/>
              <a:ea typeface="Proxima Nova"/>
              <a:cs typeface="Proxima Nova"/>
              <a:sym typeface="Proxima Nova"/>
            </a:endParaRPr>
          </a:p>
          <a:p>
            <a:pPr marL="342900" indent="-342900">
              <a:buFont typeface="+mj-lt"/>
              <a:buAutoNum type="arabicPeriod"/>
            </a:pPr>
            <a:r>
              <a:rPr lang="en-GB" sz="1600" b="1" dirty="0"/>
              <a:t>Define AI governance and explain its necessity</a:t>
            </a:r>
            <a:endParaRPr lang="en-GB" sz="1600" dirty="0"/>
          </a:p>
          <a:p>
            <a:pPr marL="342900" indent="-342900">
              <a:buFont typeface="+mj-lt"/>
              <a:buAutoNum type="arabicPeriod"/>
            </a:pPr>
            <a:r>
              <a:rPr lang="en-GB" sz="1600" b="1" dirty="0"/>
              <a:t>Identify and describe the foundational pillars of AI governance</a:t>
            </a:r>
            <a:endParaRPr lang="en-GB" sz="1600" dirty="0"/>
          </a:p>
          <a:p>
            <a:pPr marL="342900" indent="-342900">
              <a:buFont typeface="+mj-lt"/>
              <a:buAutoNum type="arabicPeriod"/>
            </a:pPr>
            <a:r>
              <a:rPr lang="en-GB" sz="1600" b="1" dirty="0"/>
              <a:t>Compare current global AI governance models and regulatory strategies</a:t>
            </a:r>
            <a:endParaRPr lang="en-GB" sz="1600" dirty="0"/>
          </a:p>
          <a:p>
            <a:pPr marL="342900" indent="-342900">
              <a:buFont typeface="+mj-lt"/>
              <a:buAutoNum type="arabicPeriod"/>
            </a:pPr>
            <a:r>
              <a:rPr lang="en-GB" sz="1600" b="1" dirty="0" err="1"/>
              <a:t>Analyze</a:t>
            </a:r>
            <a:r>
              <a:rPr lang="en-GB" sz="1600" b="1" dirty="0"/>
              <a:t> governance challenges and ethical implications in autonomous AI systems</a:t>
            </a:r>
            <a:endParaRPr lang="en-GB" sz="1600" dirty="0"/>
          </a:p>
          <a:p>
            <a:pPr marL="342900" indent="-342900">
              <a:buFont typeface="+mj-lt"/>
              <a:buAutoNum type="arabicPeriod"/>
            </a:pPr>
            <a:r>
              <a:rPr lang="en-GB" sz="1600" b="1" dirty="0"/>
              <a:t>Assess the impact of AI regulation on innovation and societal well-being</a:t>
            </a:r>
            <a:endParaRPr lang="en-GB" sz="1600" dirty="0"/>
          </a:p>
          <a:p>
            <a:pPr marL="342900" indent="-342900">
              <a:buFont typeface="+mj-lt"/>
              <a:buAutoNum type="arabicPeriod"/>
            </a:pPr>
            <a:r>
              <a:rPr lang="en-GB" sz="1600" b="1" dirty="0"/>
              <a:t>Examine real-world case studies to understand governance failures and successes</a:t>
            </a:r>
            <a:endParaRPr lang="en-GB" sz="1600" dirty="0"/>
          </a:p>
          <a:p>
            <a:pPr marL="0" marR="0" lvl="0" indent="0" algn="just" rtl="0">
              <a:lnSpc>
                <a:spcPct val="125000"/>
              </a:lnSpc>
              <a:spcBef>
                <a:spcPts val="100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74">
          <a:extLst>
            <a:ext uri="{FF2B5EF4-FFF2-40B4-BE49-F238E27FC236}">
              <a16:creationId xmlns:a16="http://schemas.microsoft.com/office/drawing/2014/main" id="{1BBFEC59-2F9A-F1A0-822E-D0C14DF811AA}"/>
            </a:ext>
          </a:extLst>
        </p:cNvPr>
        <p:cNvGrpSpPr/>
        <p:nvPr/>
      </p:nvGrpSpPr>
      <p:grpSpPr>
        <a:xfrm>
          <a:off x="0" y="0"/>
          <a:ext cx="0" cy="0"/>
          <a:chOff x="0" y="0"/>
          <a:chExt cx="0" cy="0"/>
        </a:xfrm>
      </p:grpSpPr>
      <p:pic>
        <p:nvPicPr>
          <p:cNvPr id="75" name="Google Shape;75;p6">
            <a:extLst>
              <a:ext uri="{FF2B5EF4-FFF2-40B4-BE49-F238E27FC236}">
                <a16:creationId xmlns:a16="http://schemas.microsoft.com/office/drawing/2014/main" id="{814E9543-CA25-5AF4-BD0C-4BBE3828E304}"/>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76" name="Google Shape;76;p6">
            <a:extLst>
              <a:ext uri="{FF2B5EF4-FFF2-40B4-BE49-F238E27FC236}">
                <a16:creationId xmlns:a16="http://schemas.microsoft.com/office/drawing/2014/main" id="{4025FB2A-478B-7FBC-5819-20CB112C3CD4}"/>
              </a:ext>
            </a:extLst>
          </p:cNvPr>
          <p:cNvSpPr txBox="1">
            <a:spLocks noGrp="1"/>
          </p:cNvSpPr>
          <p:nvPr>
            <p:ph type="title"/>
          </p:nvPr>
        </p:nvSpPr>
        <p:spPr>
          <a:xfrm>
            <a:off x="190352" y="177900"/>
            <a:ext cx="7367761" cy="494528"/>
          </a:xfrm>
          <a:prstGeom prst="rect">
            <a:avLst/>
          </a:prstGeom>
          <a:noFill/>
          <a:ln>
            <a:noFill/>
          </a:ln>
        </p:spPr>
        <p:txBody>
          <a:bodyPr spcFirstLastPara="1" wrap="square" lIns="91425" tIns="91425" rIns="91425" bIns="91425" anchor="t" anchorCtr="0">
            <a:noAutofit/>
          </a:bodyPr>
          <a:lstStyle/>
          <a:p>
            <a:r>
              <a:rPr lang="en-GB" sz="2000" b="1" dirty="0"/>
              <a:t>Introduction to AI Governance</a:t>
            </a:r>
            <a:br>
              <a:rPr lang="en-GB" sz="2000" b="1" dirty="0"/>
            </a:br>
            <a:br>
              <a:rPr lang="en-GB" sz="1100" b="1" i="0" u="none" strike="noStrike" dirty="0">
                <a:solidFill>
                  <a:srgbClr val="000000"/>
                </a:solidFill>
                <a:effectLst/>
              </a:rPr>
            </a:br>
            <a:br>
              <a:rPr lang="en-US" sz="1000" dirty="0">
                <a:latin typeface="Calibri"/>
                <a:ea typeface="Calibri"/>
                <a:cs typeface="Calibri"/>
                <a:sym typeface="Calibri"/>
              </a:rPr>
            </a:br>
            <a:br>
              <a:rPr lang="en-GB" sz="1600" b="1" i="0" u="none" strike="noStrike" dirty="0">
                <a:solidFill>
                  <a:srgbClr val="000000"/>
                </a:solidFill>
                <a:effectLst/>
              </a:rPr>
            </a:br>
            <a:br>
              <a:rPr lang="en-GB" sz="1600" b="1" i="0" u="none" strike="noStrike" dirty="0">
                <a:solidFill>
                  <a:srgbClr val="404040"/>
                </a:solidFill>
                <a:effectLst/>
                <a:latin typeface="Inter" panose="02000503000000020004" pitchFamily="2" charset="0"/>
              </a:rPr>
            </a:br>
            <a:endParaRPr sz="3200" dirty="0"/>
          </a:p>
        </p:txBody>
      </p:sp>
      <p:sp>
        <p:nvSpPr>
          <p:cNvPr id="79" name="Google Shape;79;p6">
            <a:extLst>
              <a:ext uri="{FF2B5EF4-FFF2-40B4-BE49-F238E27FC236}">
                <a16:creationId xmlns:a16="http://schemas.microsoft.com/office/drawing/2014/main" id="{8E7AD6B6-47C7-C90A-7843-8B2A94B3A678}"/>
              </a:ext>
            </a:extLst>
          </p:cNvPr>
          <p:cNvSpPr txBox="1"/>
          <p:nvPr/>
        </p:nvSpPr>
        <p:spPr>
          <a:xfrm>
            <a:off x="2371061" y="4038281"/>
            <a:ext cx="344220"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dirty="0"/>
          </a:p>
        </p:txBody>
      </p:sp>
      <p:sp>
        <p:nvSpPr>
          <p:cNvPr id="8" name="TextBox 7">
            <a:extLst>
              <a:ext uri="{FF2B5EF4-FFF2-40B4-BE49-F238E27FC236}">
                <a16:creationId xmlns:a16="http://schemas.microsoft.com/office/drawing/2014/main" id="{9A620CFB-5407-AEAF-17FF-87D442251CC2}"/>
              </a:ext>
            </a:extLst>
          </p:cNvPr>
          <p:cNvSpPr txBox="1"/>
          <p:nvPr/>
        </p:nvSpPr>
        <p:spPr>
          <a:xfrm>
            <a:off x="460228" y="1181250"/>
            <a:ext cx="3130760" cy="2677656"/>
          </a:xfrm>
          <a:prstGeom prst="rect">
            <a:avLst/>
          </a:prstGeom>
          <a:noFill/>
        </p:spPr>
        <p:txBody>
          <a:bodyPr wrap="square">
            <a:spAutoFit/>
          </a:bodyPr>
          <a:lstStyle/>
          <a:p>
            <a:pPr>
              <a:buNone/>
            </a:pPr>
            <a:r>
              <a:rPr lang="en-GB" b="1" dirty="0"/>
              <a:t>What is AI Governance?</a:t>
            </a:r>
          </a:p>
          <a:p>
            <a:r>
              <a:rPr lang="en-GB" dirty="0"/>
              <a:t>AI governance refers to the creation and implementation of policies, laws, frameworks, and best practices that guide the responsible development, deployment, and use of artificial intelligence systems. It aims to ensure that AI technologies are aligned with human rights, ethical norms, and societal values, preventing misuse while enabling innovation.</a:t>
            </a:r>
          </a:p>
        </p:txBody>
      </p:sp>
      <p:pic>
        <p:nvPicPr>
          <p:cNvPr id="10" name="Picture 9" descr="A diagram of a pyramid&#10;&#10;AI-generated content may be incorrect.">
            <a:extLst>
              <a:ext uri="{FF2B5EF4-FFF2-40B4-BE49-F238E27FC236}">
                <a16:creationId xmlns:a16="http://schemas.microsoft.com/office/drawing/2014/main" id="{2415B901-7C9D-604E-A6CB-C12357AED741}"/>
              </a:ext>
            </a:extLst>
          </p:cNvPr>
          <p:cNvPicPr>
            <a:picLocks noChangeAspect="1"/>
          </p:cNvPicPr>
          <p:nvPr/>
        </p:nvPicPr>
        <p:blipFill>
          <a:blip r:embed="rId4"/>
          <a:stretch>
            <a:fillRect/>
          </a:stretch>
        </p:blipFill>
        <p:spPr>
          <a:xfrm>
            <a:off x="3640587" y="1181250"/>
            <a:ext cx="5434173" cy="3110271"/>
          </a:xfrm>
          <a:prstGeom prst="rect">
            <a:avLst/>
          </a:prstGeom>
        </p:spPr>
      </p:pic>
    </p:spTree>
    <p:extLst>
      <p:ext uri="{BB962C8B-B14F-4D97-AF65-F5344CB8AC3E}">
        <p14:creationId xmlns:p14="http://schemas.microsoft.com/office/powerpoint/2010/main" val="132133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1800" b="1" dirty="0"/>
              <a:t>Why AI Governance Matters</a:t>
            </a:r>
            <a:br>
              <a:rPr lang="en-GB" sz="1800" b="1" dirty="0"/>
            </a:b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C65B9BB7-92C8-9AFE-9554-0613369D0319}"/>
              </a:ext>
            </a:extLst>
          </p:cNvPr>
          <p:cNvSpPr txBox="1"/>
          <p:nvPr/>
        </p:nvSpPr>
        <p:spPr>
          <a:xfrm>
            <a:off x="472925" y="980527"/>
            <a:ext cx="2775515" cy="3293209"/>
          </a:xfrm>
          <a:prstGeom prst="rect">
            <a:avLst/>
          </a:prstGeom>
          <a:noFill/>
        </p:spPr>
        <p:txBody>
          <a:bodyPr wrap="square">
            <a:spAutoFit/>
          </a:bodyPr>
          <a:lstStyle/>
          <a:p>
            <a:r>
              <a:rPr lang="en-GB" sz="1600" dirty="0"/>
              <a:t>AI systems increasingly influence decisions in vital sectors such as healthcare, criminal justice, finance, and education. Without proper governance, these systems can reinforce biases, create unfair outcomes, and cause harm. Governance provides oversight, builds public trust, and ensures AI systems operate transparently and ethically.</a:t>
            </a:r>
          </a:p>
        </p:txBody>
      </p:sp>
      <p:pic>
        <p:nvPicPr>
          <p:cNvPr id="8" name="Picture 7" descr="A diagram of a company's policy&#10;&#10;AI-generated content may be incorrect.">
            <a:extLst>
              <a:ext uri="{FF2B5EF4-FFF2-40B4-BE49-F238E27FC236}">
                <a16:creationId xmlns:a16="http://schemas.microsoft.com/office/drawing/2014/main" id="{207FC844-0AFD-760F-4864-BA7098031DC3}"/>
              </a:ext>
            </a:extLst>
          </p:cNvPr>
          <p:cNvPicPr>
            <a:picLocks noChangeAspect="1"/>
          </p:cNvPicPr>
          <p:nvPr/>
        </p:nvPicPr>
        <p:blipFill>
          <a:blip r:embed="rId4"/>
          <a:stretch>
            <a:fillRect/>
          </a:stretch>
        </p:blipFill>
        <p:spPr>
          <a:xfrm>
            <a:off x="3599550" y="1038555"/>
            <a:ext cx="5144778" cy="38173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1E245C-17DD-8426-7E86-225321D38416}"/>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67DA5825-D171-C6C9-BDA7-CE6B9486639F}"/>
              </a:ext>
            </a:extLst>
          </p:cNvPr>
          <p:cNvPicPr preferRelativeResize="0"/>
          <p:nvPr/>
        </p:nvPicPr>
        <p:blipFill rotWithShape="1">
          <a:blip r:embed="rId3">
            <a:alphaModFix amt="60000"/>
          </a:blip>
          <a:srcRect/>
          <a:stretch/>
        </p:blipFill>
        <p:spPr>
          <a:xfrm>
            <a:off x="3645234" y="196310"/>
            <a:ext cx="5408998" cy="2939569"/>
          </a:xfrm>
          <a:prstGeom prst="rect">
            <a:avLst/>
          </a:prstGeom>
          <a:noFill/>
          <a:ln>
            <a:noFill/>
          </a:ln>
        </p:spPr>
      </p:pic>
      <p:sp>
        <p:nvSpPr>
          <p:cNvPr id="85" name="Google Shape;85;p7">
            <a:extLst>
              <a:ext uri="{FF2B5EF4-FFF2-40B4-BE49-F238E27FC236}">
                <a16:creationId xmlns:a16="http://schemas.microsoft.com/office/drawing/2014/main" id="{12EC5BCB-C707-1B44-6F65-65EAE68BC720}"/>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r>
              <a:rPr lang="en-GB" sz="2000" b="1" dirty="0"/>
              <a:t>Pillars of AI Governance</a:t>
            </a:r>
            <a:br>
              <a:rPr lang="en-GB" sz="2000" b="1" dirty="0"/>
            </a:br>
            <a:br>
              <a:rPr lang="en-GB" sz="2400" b="1" i="0" u="none" strike="noStrike" dirty="0">
                <a:solidFill>
                  <a:srgbClr val="7030A0"/>
                </a:solidFill>
                <a:effectLst/>
              </a:rPr>
            </a:br>
            <a:br>
              <a:rPr lang="en-GB" sz="1600" b="1" i="0" u="none" strike="noStrike" dirty="0">
                <a:solidFill>
                  <a:srgbClr val="000000"/>
                </a:solidFill>
                <a:effectLst/>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C1273E40-231D-0DD9-25B5-8ABE4DD98534}"/>
              </a:ext>
            </a:extLst>
          </p:cNvPr>
          <p:cNvSpPr txBox="1"/>
          <p:nvPr/>
        </p:nvSpPr>
        <p:spPr>
          <a:xfrm>
            <a:off x="714565" y="909756"/>
            <a:ext cx="6091962" cy="2893100"/>
          </a:xfrm>
          <a:prstGeom prst="rect">
            <a:avLst/>
          </a:prstGeom>
          <a:noFill/>
        </p:spPr>
        <p:txBody>
          <a:bodyPr wrap="square">
            <a:spAutoFit/>
          </a:bodyPr>
          <a:lstStyle/>
          <a:p>
            <a:pPr>
              <a:buFont typeface="+mj-lt"/>
              <a:buAutoNum type="arabicPeriod"/>
            </a:pPr>
            <a:r>
              <a:rPr lang="en-GB" b="1" dirty="0"/>
              <a:t>Transparency &amp; Explainability</a:t>
            </a:r>
            <a:r>
              <a:rPr lang="en-GB" dirty="0"/>
              <a:t>: AI models should provide clear, understandable reasoning for their decisions to ensure accountability and foster user trust.</a:t>
            </a:r>
          </a:p>
          <a:p>
            <a:pPr>
              <a:buFont typeface="+mj-lt"/>
              <a:buAutoNum type="arabicPeriod"/>
            </a:pPr>
            <a:r>
              <a:rPr lang="en-GB" b="1" dirty="0"/>
              <a:t>Fairness &amp; Non-discrimination</a:t>
            </a:r>
            <a:r>
              <a:rPr lang="en-GB" dirty="0"/>
              <a:t>: Systems should avoid perpetuating societal biases and ensure equal treatment across demographics.</a:t>
            </a:r>
          </a:p>
          <a:p>
            <a:pPr>
              <a:buFont typeface="+mj-lt"/>
              <a:buAutoNum type="arabicPeriod"/>
            </a:pPr>
            <a:r>
              <a:rPr lang="en-GB" b="1" dirty="0"/>
              <a:t>Accountability &amp; Responsibility</a:t>
            </a:r>
            <a:r>
              <a:rPr lang="en-GB" dirty="0"/>
              <a:t>: Clear attribution of responsibility is crucial when AI causes harm, whether it's the developer, deployer, or data provider.</a:t>
            </a:r>
          </a:p>
          <a:p>
            <a:pPr>
              <a:buFont typeface="+mj-lt"/>
              <a:buAutoNum type="arabicPeriod"/>
            </a:pPr>
            <a:r>
              <a:rPr lang="en-GB" b="1" dirty="0"/>
              <a:t>Privacy &amp; Data Protection</a:t>
            </a:r>
            <a:r>
              <a:rPr lang="en-GB" dirty="0"/>
              <a:t>: AI systems must comply with data protection laws and respect user privacy through anonymization and informed consent.</a:t>
            </a:r>
          </a:p>
          <a:p>
            <a:pPr>
              <a:buFont typeface="+mj-lt"/>
              <a:buAutoNum type="arabicPeriod"/>
            </a:pPr>
            <a:r>
              <a:rPr lang="en-GB" b="1" dirty="0"/>
              <a:t>Safety &amp; Robustness</a:t>
            </a:r>
            <a:r>
              <a:rPr lang="en-GB" dirty="0"/>
              <a:t>: AI should function reliably in diverse conditions and be resilient to errors, cyber-attacks, and unexpected inputs.</a:t>
            </a:r>
          </a:p>
        </p:txBody>
      </p:sp>
    </p:spTree>
    <p:extLst>
      <p:ext uri="{BB962C8B-B14F-4D97-AF65-F5344CB8AC3E}">
        <p14:creationId xmlns:p14="http://schemas.microsoft.com/office/powerpoint/2010/main" val="3459152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p:cNvGrpSpPr/>
        <p:nvPr/>
      </p:nvGrpSpPr>
      <p:grpSpPr>
        <a:xfrm>
          <a:off x="0" y="0"/>
          <a:ext cx="0" cy="0"/>
          <a:chOff x="0" y="0"/>
          <a:chExt cx="0" cy="0"/>
        </a:xfrm>
      </p:grpSpPr>
      <p:pic>
        <p:nvPicPr>
          <p:cNvPr id="92" name="Google Shape;92;p8"/>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p:cNvSpPr txBox="1">
            <a:spLocks noGrp="1"/>
          </p:cNvSpPr>
          <p:nvPr>
            <p:ph type="title"/>
          </p:nvPr>
        </p:nvSpPr>
        <p:spPr>
          <a:xfrm>
            <a:off x="137160" y="122160"/>
            <a:ext cx="4368228" cy="494528"/>
          </a:xfrm>
          <a:prstGeom prst="rect">
            <a:avLst/>
          </a:prstGeom>
          <a:noFill/>
          <a:ln>
            <a:noFill/>
          </a:ln>
        </p:spPr>
        <p:txBody>
          <a:bodyPr spcFirstLastPara="1" wrap="square" lIns="91425" tIns="91425" rIns="91425" bIns="91425" anchor="t" anchorCtr="0">
            <a:noAutofit/>
          </a:bodyPr>
          <a:lstStyle/>
          <a:p>
            <a:pPr algn="ctr"/>
            <a:r>
              <a:rPr lang="en-GB" sz="2400" b="1" dirty="0"/>
              <a:t>Current Governance Models</a:t>
            </a:r>
            <a:br>
              <a:rPr lang="en-GB" sz="2400" b="1" dirty="0"/>
            </a:br>
            <a:br>
              <a:rPr lang="en-GB" sz="2400" b="1" i="0" u="none" strike="noStrike" dirty="0">
                <a:solidFill>
                  <a:srgbClr val="7030A0"/>
                </a:solidFill>
                <a:effectLst/>
              </a:rPr>
            </a:br>
            <a:br>
              <a:rPr lang="en-GB" sz="2800" b="1" i="0" u="none" strike="noStrike" dirty="0">
                <a:solidFill>
                  <a:srgbClr val="000000"/>
                </a:solidFill>
                <a:effectLst/>
              </a:rPr>
            </a:br>
            <a:br>
              <a:rPr lang="en-GB" sz="2800" b="1" i="0" u="none" strike="noStrike" dirty="0">
                <a:solidFill>
                  <a:srgbClr val="7030A0"/>
                </a:solidFill>
                <a:effectLst/>
              </a:rPr>
            </a:br>
            <a:br>
              <a:rPr lang="en-GB" sz="1100" b="1" i="0" u="none" strike="noStrike" dirty="0">
                <a:solidFill>
                  <a:srgbClr val="000000"/>
                </a:solidFill>
                <a:effectLst/>
              </a:rPr>
            </a:br>
            <a:br>
              <a:rPr lang="en-US" sz="1600" dirty="0">
                <a:latin typeface="Arial"/>
                <a:ea typeface="Arial"/>
                <a:cs typeface="Arial"/>
                <a:sym typeface="Arial"/>
              </a:rPr>
            </a:br>
            <a:endParaRPr lang="en-US" sz="3200" dirty="0"/>
          </a:p>
        </p:txBody>
      </p:sp>
      <p:sp>
        <p:nvSpPr>
          <p:cNvPr id="3" name="TextBox 2">
            <a:extLst>
              <a:ext uri="{FF2B5EF4-FFF2-40B4-BE49-F238E27FC236}">
                <a16:creationId xmlns:a16="http://schemas.microsoft.com/office/drawing/2014/main" id="{47500CA7-F6D6-385C-E784-1E58C8C2F2DD}"/>
              </a:ext>
            </a:extLst>
          </p:cNvPr>
          <p:cNvSpPr txBox="1"/>
          <p:nvPr/>
        </p:nvSpPr>
        <p:spPr>
          <a:xfrm>
            <a:off x="532694" y="1298867"/>
            <a:ext cx="4650722" cy="3108543"/>
          </a:xfrm>
          <a:prstGeom prst="rect">
            <a:avLst/>
          </a:prstGeom>
          <a:noFill/>
        </p:spPr>
        <p:txBody>
          <a:bodyPr wrap="square">
            <a:spAutoFit/>
          </a:bodyPr>
          <a:lstStyle/>
          <a:p>
            <a:pPr>
              <a:buNone/>
            </a:pPr>
            <a:r>
              <a:rPr lang="en-GB" b="1" dirty="0"/>
              <a:t>Governance models vary globally:</a:t>
            </a:r>
          </a:p>
          <a:p>
            <a:pPr>
              <a:buNone/>
            </a:pPr>
            <a:endParaRPr lang="en-GB" b="1" dirty="0"/>
          </a:p>
          <a:p>
            <a:pPr marL="285750" indent="-285750">
              <a:buFont typeface="Wingdings" pitchFamily="2" charset="2"/>
              <a:buChar char="Ø"/>
            </a:pPr>
            <a:r>
              <a:rPr lang="en-GB" b="1" dirty="0"/>
              <a:t>EU AI Act</a:t>
            </a:r>
            <a:r>
              <a:rPr lang="en-GB" dirty="0"/>
              <a:t> emphasizes a risk-based approach with strict obligations for high-risk systems.</a:t>
            </a:r>
          </a:p>
          <a:p>
            <a:pPr marL="285750" indent="-285750">
              <a:buFont typeface="Wingdings" pitchFamily="2" charset="2"/>
              <a:buChar char="Ø"/>
            </a:pPr>
            <a:endParaRPr lang="en-GB" dirty="0"/>
          </a:p>
          <a:p>
            <a:pPr marL="285750" indent="-285750">
              <a:buFont typeface="Wingdings" pitchFamily="2" charset="2"/>
              <a:buChar char="Ø"/>
            </a:pPr>
            <a:r>
              <a:rPr lang="en-GB" b="1" dirty="0"/>
              <a:t>US approach</a:t>
            </a:r>
            <a:r>
              <a:rPr lang="en-GB" dirty="0"/>
              <a:t> leans toward voluntary guidelines promoting innovation and self-regulation.</a:t>
            </a:r>
          </a:p>
          <a:p>
            <a:pPr marL="285750" indent="-285750">
              <a:buFont typeface="Wingdings" pitchFamily="2" charset="2"/>
              <a:buChar char="Ø"/>
            </a:pPr>
            <a:endParaRPr lang="en-GB" dirty="0"/>
          </a:p>
          <a:p>
            <a:pPr marL="285750" indent="-285750">
              <a:buFont typeface="Wingdings" pitchFamily="2" charset="2"/>
              <a:buChar char="Ø"/>
            </a:pPr>
            <a:r>
              <a:rPr lang="en-GB" b="1" dirty="0"/>
              <a:t>China</a:t>
            </a:r>
            <a:r>
              <a:rPr lang="en-GB" dirty="0"/>
              <a:t> focuses on strong state control and alignment of AI with national goals. </a:t>
            </a:r>
          </a:p>
          <a:p>
            <a:pPr marL="285750" indent="-285750">
              <a:buFont typeface="Wingdings" pitchFamily="2" charset="2"/>
              <a:buChar char="Ø"/>
            </a:pPr>
            <a:endParaRPr lang="en-GB" dirty="0"/>
          </a:p>
          <a:p>
            <a:pPr marL="285750" indent="-285750">
              <a:buFont typeface="Wingdings" pitchFamily="2" charset="2"/>
              <a:buChar char="Ø"/>
            </a:pPr>
            <a:r>
              <a:rPr lang="en-GB" dirty="0"/>
              <a:t>International frameworks like the OECD AI Principles and UNESCO guidelines aim to provide globally accepted standards.</a:t>
            </a:r>
          </a:p>
        </p:txBody>
      </p:sp>
      <p:pic>
        <p:nvPicPr>
          <p:cNvPr id="6" name="Picture 5" descr="A sign with text on it&#10;&#10;AI-generated content may be incorrect.">
            <a:extLst>
              <a:ext uri="{FF2B5EF4-FFF2-40B4-BE49-F238E27FC236}">
                <a16:creationId xmlns:a16="http://schemas.microsoft.com/office/drawing/2014/main" id="{C57FE090-CEEF-9D4B-2929-3EEB4B5DC4E5}"/>
              </a:ext>
            </a:extLst>
          </p:cNvPr>
          <p:cNvPicPr>
            <a:picLocks noChangeAspect="1"/>
          </p:cNvPicPr>
          <p:nvPr/>
        </p:nvPicPr>
        <p:blipFill>
          <a:blip r:embed="rId4"/>
          <a:stretch>
            <a:fillRect/>
          </a:stretch>
        </p:blipFill>
        <p:spPr>
          <a:xfrm>
            <a:off x="5291041" y="1097678"/>
            <a:ext cx="3709594" cy="36356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p:cNvGrpSpPr/>
        <p:nvPr/>
      </p:nvGrpSpPr>
      <p:grpSpPr>
        <a:xfrm>
          <a:off x="0" y="0"/>
          <a:ext cx="0" cy="0"/>
          <a:chOff x="0" y="0"/>
          <a:chExt cx="0" cy="0"/>
        </a:xfrm>
      </p:grpSpPr>
      <p:sp>
        <p:nvSpPr>
          <p:cNvPr id="100" name="Google Shape;100;p9"/>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2000" b="1" i="0" u="none" strike="noStrike" dirty="0">
                <a:solidFill>
                  <a:srgbClr val="7030A0"/>
                </a:solidFill>
                <a:effectLst/>
              </a:rPr>
              <a:t>AI Governance in Autonomous Systems</a:t>
            </a:r>
            <a:br>
              <a:rPr lang="en-GB" sz="2000" b="1" i="0" u="none" strike="noStrike" dirty="0">
                <a:solidFill>
                  <a:srgbClr val="7030A0"/>
                </a:solidFill>
                <a:effectLst/>
              </a:rPr>
            </a:br>
            <a:br>
              <a:rPr lang="en-GB" sz="2000" b="1" i="0" u="none" strike="noStrike" dirty="0">
                <a:solidFill>
                  <a:srgbClr val="7030A0"/>
                </a:solidFill>
                <a:effectLst/>
              </a:rPr>
            </a:br>
            <a:br>
              <a:rPr lang="en-GB" sz="800" b="1" i="0" u="none" strike="noStrike" dirty="0">
                <a:solidFill>
                  <a:srgbClr val="000000"/>
                </a:solidFill>
                <a:effectLst/>
              </a:rPr>
            </a:br>
            <a:br>
              <a:rPr lang="en-GB" sz="1200" b="0"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4A46BC10-2F01-8D41-B008-4A39FB33BB07}"/>
              </a:ext>
            </a:extLst>
          </p:cNvPr>
          <p:cNvSpPr txBox="1"/>
          <p:nvPr/>
        </p:nvSpPr>
        <p:spPr>
          <a:xfrm>
            <a:off x="872950" y="780300"/>
            <a:ext cx="6611808" cy="1323439"/>
          </a:xfrm>
          <a:prstGeom prst="rect">
            <a:avLst/>
          </a:prstGeom>
          <a:noFill/>
        </p:spPr>
        <p:txBody>
          <a:bodyPr wrap="square">
            <a:spAutoFit/>
          </a:bodyPr>
          <a:lstStyle/>
          <a:p>
            <a:r>
              <a:rPr lang="en-GB" sz="1600" dirty="0"/>
              <a:t>Autonomous systems such as drones, self-driving vehicles, and robotic surgeons challenge conventional governance models. These systems make decisions in real time, often without human intervention. Governance must ensure their decisions are safe, ethical, and legally compliant, even in unpredictable situations.</a:t>
            </a:r>
          </a:p>
        </p:txBody>
      </p:sp>
      <p:sp>
        <p:nvSpPr>
          <p:cNvPr id="6" name="TextBox 5">
            <a:extLst>
              <a:ext uri="{FF2B5EF4-FFF2-40B4-BE49-F238E27FC236}">
                <a16:creationId xmlns:a16="http://schemas.microsoft.com/office/drawing/2014/main" id="{E46A86DD-1A95-A86D-FBDE-CA546FDC26B5}"/>
              </a:ext>
            </a:extLst>
          </p:cNvPr>
          <p:cNvSpPr txBox="1"/>
          <p:nvPr/>
        </p:nvSpPr>
        <p:spPr>
          <a:xfrm>
            <a:off x="872950" y="2201642"/>
            <a:ext cx="5933577" cy="2246769"/>
          </a:xfrm>
          <a:prstGeom prst="rect">
            <a:avLst/>
          </a:prstGeom>
          <a:noFill/>
        </p:spPr>
        <p:txBody>
          <a:bodyPr wrap="square">
            <a:spAutoFit/>
          </a:bodyPr>
          <a:lstStyle/>
          <a:p>
            <a:pPr>
              <a:buNone/>
            </a:pPr>
            <a:r>
              <a:rPr lang="en-GB" b="1" dirty="0"/>
              <a:t>Challenges with Autonomous Systems:</a:t>
            </a:r>
          </a:p>
          <a:p>
            <a:pPr>
              <a:buNone/>
            </a:pPr>
            <a:endParaRPr lang="en-GB" b="1" dirty="0"/>
          </a:p>
          <a:p>
            <a:r>
              <a:rPr lang="en-GB" b="1" dirty="0"/>
              <a:t>Decision-making accountability</a:t>
            </a:r>
            <a:r>
              <a:rPr lang="en-GB" dirty="0"/>
              <a:t>: Determining liability is complex when a machine makes the final decision.</a:t>
            </a:r>
          </a:p>
          <a:p>
            <a:endParaRPr lang="en-GB" dirty="0"/>
          </a:p>
          <a:p>
            <a:r>
              <a:rPr lang="en-GB" b="1" dirty="0"/>
              <a:t>Testing and certification</a:t>
            </a:r>
            <a:r>
              <a:rPr lang="en-GB" dirty="0"/>
              <a:t>: It’s difficult to simulate every real-world scenario; regulatory bodies struggle to define standards.</a:t>
            </a:r>
          </a:p>
          <a:p>
            <a:endParaRPr lang="en-GB" dirty="0"/>
          </a:p>
          <a:p>
            <a:r>
              <a:rPr lang="en-GB" b="1" dirty="0"/>
              <a:t>Dynamic environments</a:t>
            </a:r>
            <a:r>
              <a:rPr lang="en-GB" dirty="0"/>
              <a:t>: Systems must adapt to evolving contexts while maintaining safety and compliance with regulations.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25718A45-9D95-C2EE-3EBA-FE320D4D1C73}"/>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0421EDE4-2722-9699-8229-BBD15CBA7438}"/>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0" name="Google Shape;100;p9">
            <a:extLst>
              <a:ext uri="{FF2B5EF4-FFF2-40B4-BE49-F238E27FC236}">
                <a16:creationId xmlns:a16="http://schemas.microsoft.com/office/drawing/2014/main" id="{C51D873F-7159-798E-07AF-834574BB51BD}"/>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2000" b="1" dirty="0"/>
              <a:t>Real-world Example: Tesla Autopilot</a:t>
            </a:r>
            <a:br>
              <a:rPr lang="en-GB" sz="2000" b="1" dirty="0"/>
            </a:br>
            <a:br>
              <a:rPr lang="en-GB" sz="1200" b="1" i="0" u="none" strike="noStrike" dirty="0">
                <a:solidFill>
                  <a:srgbClr val="000000"/>
                </a:solidFill>
                <a:effectLst/>
              </a:rPr>
            </a:br>
            <a:br>
              <a:rPr lang="en-GB" sz="1100" b="1" i="0" u="none" strike="noStrike" dirty="0">
                <a:solidFill>
                  <a:srgbClr val="000000"/>
                </a:solidFill>
                <a:effectLst/>
              </a:rPr>
            </a:br>
            <a:r>
              <a:rPr lang="en-GB" sz="1400" b="0" dirty="0">
                <a:solidFill>
                  <a:schemeClr val="tx1"/>
                </a:solidFill>
              </a:rPr>
              <a:t>Tesla’s Autopilot has been involved in several controversial incidents. Investigations revealed overreliance by users, limitations in the technology, and unclear safety communication. This case illustrates the risks of deploying partially autonomous systems without clear governance.</a:t>
            </a:r>
            <a:br>
              <a:rPr lang="en-GB" sz="2000" b="0" i="0" u="none" strike="noStrike" dirty="0">
                <a:solidFill>
                  <a:srgbClr val="000000"/>
                </a:solidFill>
                <a:effectLst/>
              </a:rPr>
            </a:br>
            <a:endParaRPr lang="en-GB" sz="3200" dirty="0"/>
          </a:p>
        </p:txBody>
      </p:sp>
      <p:pic>
        <p:nvPicPr>
          <p:cNvPr id="6" name="Picture 5" descr="A car with the door open&#10;&#10;AI-generated content may be incorrect.">
            <a:extLst>
              <a:ext uri="{FF2B5EF4-FFF2-40B4-BE49-F238E27FC236}">
                <a16:creationId xmlns:a16="http://schemas.microsoft.com/office/drawing/2014/main" id="{0EB1D1CA-3544-3800-C5E4-88BF471B3F90}"/>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923834" y="1777180"/>
            <a:ext cx="5152934" cy="3048819"/>
          </a:xfrm>
          <a:prstGeom prst="rect">
            <a:avLst/>
          </a:prstGeom>
        </p:spPr>
      </p:pic>
    </p:spTree>
    <p:extLst>
      <p:ext uri="{BB962C8B-B14F-4D97-AF65-F5344CB8AC3E}">
        <p14:creationId xmlns:p14="http://schemas.microsoft.com/office/powerpoint/2010/main" val="1368636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F2EBF033-993A-408F-7399-C0B695842B67}"/>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86023040-9D10-8068-3706-FE117AFFEFD0}"/>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0" name="Google Shape;100;p9">
            <a:extLst>
              <a:ext uri="{FF2B5EF4-FFF2-40B4-BE49-F238E27FC236}">
                <a16:creationId xmlns:a16="http://schemas.microsoft.com/office/drawing/2014/main" id="{87F8BCAB-413A-F0EA-1659-0B30DD0E4A5B}"/>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pPr>
              <a:buNone/>
            </a:pPr>
            <a:r>
              <a:rPr lang="en-GB" sz="2000" b="1" dirty="0"/>
              <a:t>Real-world Example: Tesla Autopilot</a:t>
            </a:r>
            <a:br>
              <a:rPr lang="en-GB" sz="2000" b="1" dirty="0"/>
            </a:br>
            <a:br>
              <a:rPr lang="en-GB" sz="1200" b="1" i="0" u="none" strike="noStrike" dirty="0">
                <a:solidFill>
                  <a:srgbClr val="000000"/>
                </a:solidFill>
                <a:effectLst/>
              </a:rPr>
            </a:br>
            <a:br>
              <a:rPr lang="en-GB" sz="1100" b="1" i="0" u="none" strike="noStrike" dirty="0">
                <a:solidFill>
                  <a:srgbClr val="000000"/>
                </a:solidFill>
                <a:effectLst/>
              </a:rPr>
            </a:br>
            <a:r>
              <a:rPr lang="en-GB" sz="1400" dirty="0">
                <a:solidFill>
                  <a:schemeClr val="tx1"/>
                </a:solidFill>
              </a:rPr>
              <a:t>Tesla’s Autopilot Controversies: </a:t>
            </a:r>
            <a:r>
              <a:rPr lang="en-GB" sz="1400" b="0" dirty="0">
                <a:solidFill>
                  <a:schemeClr val="tx1"/>
                </a:solidFill>
              </a:rPr>
              <a:t>This refers to real-world incidents where Tesla vehicles operating under the Autopilot mode were involved in crashes or near-misses. These events raised public and regulatory concern because they highlighted gaps between what the system can actually do and how users perceive it.</a:t>
            </a:r>
            <a:br>
              <a:rPr lang="en-GB" sz="1400" b="0" dirty="0">
                <a:solidFill>
                  <a:schemeClr val="tx1"/>
                </a:solidFill>
              </a:rPr>
            </a:br>
            <a:br>
              <a:rPr lang="en-GB" sz="1400" b="0" dirty="0">
                <a:solidFill>
                  <a:schemeClr val="tx1"/>
                </a:solidFill>
              </a:rPr>
            </a:br>
            <a:r>
              <a:rPr lang="en-GB" sz="1400" dirty="0">
                <a:solidFill>
                  <a:schemeClr val="tx1"/>
                </a:solidFill>
              </a:rPr>
              <a:t>User Overreliance: </a:t>
            </a:r>
            <a:r>
              <a:rPr lang="en-GB" sz="1400" b="0" dirty="0">
                <a:solidFill>
                  <a:schemeClr val="tx1"/>
                </a:solidFill>
              </a:rPr>
              <a:t>Many drivers treated Autopilot as a fully autonomous system, taking their attention away from the road. However, Tesla’s system is a Level 2 automation (driver-assist), which still requires full driver attention. This mismatch between perception and reality contributed to unsafe situations.</a:t>
            </a:r>
            <a:br>
              <a:rPr lang="en-GB" sz="1400" b="0" dirty="0">
                <a:solidFill>
                  <a:schemeClr val="tx1"/>
                </a:solidFill>
              </a:rPr>
            </a:br>
            <a:br>
              <a:rPr lang="en-GB" sz="1400" b="0" dirty="0">
                <a:solidFill>
                  <a:schemeClr val="tx1"/>
                </a:solidFill>
              </a:rPr>
            </a:br>
            <a:r>
              <a:rPr lang="en-GB" sz="1400" dirty="0">
                <a:solidFill>
                  <a:schemeClr val="tx1"/>
                </a:solidFill>
              </a:rPr>
              <a:t>Technological Limitations: </a:t>
            </a:r>
            <a:r>
              <a:rPr lang="en-GB" sz="1400" b="0" dirty="0">
                <a:solidFill>
                  <a:schemeClr val="tx1"/>
                </a:solidFill>
              </a:rPr>
              <a:t>Despite being advanced, the system has flaws—such as misinterpreting objects, failing to recognize lane changes, or struggling in complex driving environments. These limitations are not always clearly communicated to users.</a:t>
            </a:r>
            <a:br>
              <a:rPr lang="en-GB" sz="1400" b="0" dirty="0">
                <a:solidFill>
                  <a:schemeClr val="tx1"/>
                </a:solidFill>
              </a:rPr>
            </a:br>
            <a:br>
              <a:rPr lang="en-GB" sz="1400" b="0" dirty="0">
                <a:solidFill>
                  <a:schemeClr val="tx1"/>
                </a:solidFill>
              </a:rPr>
            </a:br>
            <a:br>
              <a:rPr lang="en-GB" sz="2000" b="0" i="0" u="none" strike="noStrike" dirty="0">
                <a:solidFill>
                  <a:srgbClr val="000000"/>
                </a:solidFill>
                <a:effectLst/>
              </a:rPr>
            </a:br>
            <a:endParaRPr lang="en-GB" sz="3200" dirty="0"/>
          </a:p>
        </p:txBody>
      </p:sp>
    </p:spTree>
    <p:extLst>
      <p:ext uri="{BB962C8B-B14F-4D97-AF65-F5344CB8AC3E}">
        <p14:creationId xmlns:p14="http://schemas.microsoft.com/office/powerpoint/2010/main" val="4272700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A3CDC3A6-D8FF-E9CD-F28C-E62199337358}"/>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97377615-3394-23E1-A52B-1CEFA3FE97E6}"/>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0" name="Google Shape;100;p9">
            <a:extLst>
              <a:ext uri="{FF2B5EF4-FFF2-40B4-BE49-F238E27FC236}">
                <a16:creationId xmlns:a16="http://schemas.microsoft.com/office/drawing/2014/main" id="{B2DF7BA1-C2B9-208E-B179-2EB538C41576}"/>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pPr>
              <a:buNone/>
            </a:pPr>
            <a:r>
              <a:rPr lang="en-GB" sz="2000" b="1" dirty="0"/>
              <a:t>Real-world Example: Tesla Autopilot</a:t>
            </a:r>
            <a:br>
              <a:rPr lang="en-GB" sz="2000" b="1" dirty="0"/>
            </a:br>
            <a:br>
              <a:rPr lang="en-GB" sz="1200" b="1" i="0" u="none" strike="noStrike" dirty="0">
                <a:solidFill>
                  <a:srgbClr val="000000"/>
                </a:solidFill>
                <a:effectLst/>
              </a:rPr>
            </a:br>
            <a:br>
              <a:rPr lang="en-GB" sz="1100" b="1" i="0" u="none" strike="noStrike" dirty="0">
                <a:solidFill>
                  <a:srgbClr val="000000"/>
                </a:solidFill>
                <a:effectLst/>
              </a:rPr>
            </a:br>
            <a:br>
              <a:rPr lang="en-GB" sz="1400" dirty="0">
                <a:solidFill>
                  <a:schemeClr val="tx1"/>
                </a:solidFill>
              </a:rPr>
            </a:br>
            <a:br>
              <a:rPr lang="en-GB" sz="1400" b="0" dirty="0">
                <a:solidFill>
                  <a:schemeClr val="tx1"/>
                </a:solidFill>
              </a:rPr>
            </a:br>
            <a:r>
              <a:rPr lang="en-GB" sz="1600" dirty="0">
                <a:solidFill>
                  <a:schemeClr val="tx1"/>
                </a:solidFill>
              </a:rPr>
              <a:t>Unclear Safety Communication: </a:t>
            </a:r>
            <a:r>
              <a:rPr lang="en-GB" sz="1600" b="0" dirty="0">
                <a:solidFill>
                  <a:schemeClr val="tx1"/>
                </a:solidFill>
              </a:rPr>
              <a:t>Tesla's marketing, terminology (like "Autopilot" or "Full Self-Driving"), and lack of consistent safety reminders have been criticized for misleading users about the actual capabilities and limits of the system.</a:t>
            </a:r>
            <a:br>
              <a:rPr lang="en-GB" sz="1600" b="0" dirty="0">
                <a:solidFill>
                  <a:schemeClr val="tx1"/>
                </a:solidFill>
              </a:rPr>
            </a:br>
            <a:br>
              <a:rPr lang="en-GB" sz="1600" b="0" dirty="0">
                <a:solidFill>
                  <a:schemeClr val="tx1"/>
                </a:solidFill>
              </a:rPr>
            </a:br>
            <a:r>
              <a:rPr lang="en-GB" sz="1600" dirty="0">
                <a:solidFill>
                  <a:schemeClr val="tx1"/>
                </a:solidFill>
              </a:rPr>
              <a:t>Governance Implications: </a:t>
            </a:r>
            <a:r>
              <a:rPr lang="en-GB" sz="1600" b="0" dirty="0">
                <a:solidFill>
                  <a:schemeClr val="tx1"/>
                </a:solidFill>
              </a:rPr>
              <a:t>This example shows that deploying AI-based systems, especially those affecting public safety, without strict rules, transparent communication, and regulatory oversight can lead to harm. It underscores the importance of comprehensive AI governance in autonomous technologies.</a:t>
            </a:r>
            <a:br>
              <a:rPr lang="en-GB" sz="1600" b="0" dirty="0">
                <a:solidFill>
                  <a:schemeClr val="tx1"/>
                </a:solidFill>
              </a:rPr>
            </a:br>
            <a:br>
              <a:rPr lang="en-GB" sz="2000" b="0" i="0" u="none" strike="noStrike" dirty="0">
                <a:solidFill>
                  <a:srgbClr val="000000"/>
                </a:solidFill>
                <a:effectLst/>
              </a:rPr>
            </a:br>
            <a:endParaRPr lang="en-GB" sz="3200" dirty="0"/>
          </a:p>
        </p:txBody>
      </p:sp>
    </p:spTree>
    <p:extLst>
      <p:ext uri="{BB962C8B-B14F-4D97-AF65-F5344CB8AC3E}">
        <p14:creationId xmlns:p14="http://schemas.microsoft.com/office/powerpoint/2010/main" val="2104799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16E74AFF-9E6A-B59F-07FE-B08EB98FFCA1}"/>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5C9F185F-9174-9E5C-E991-EF27C52404B8}"/>
              </a:ext>
            </a:extLst>
          </p:cNvPr>
          <p:cNvPicPr preferRelativeResize="0"/>
          <p:nvPr/>
        </p:nvPicPr>
        <p:blipFill rotWithShape="1">
          <a:blip r:embed="rId3">
            <a:alphaModFix amt="60000"/>
          </a:blip>
          <a:srcRect/>
          <a:stretch/>
        </p:blipFill>
        <p:spPr>
          <a:xfrm>
            <a:off x="5659200" y="1790800"/>
            <a:ext cx="5408998" cy="2939569"/>
          </a:xfrm>
          <a:prstGeom prst="rect">
            <a:avLst/>
          </a:prstGeom>
          <a:noFill/>
          <a:ln>
            <a:noFill/>
          </a:ln>
        </p:spPr>
      </p:pic>
      <p:sp>
        <p:nvSpPr>
          <p:cNvPr id="100" name="Google Shape;100;p9">
            <a:extLst>
              <a:ext uri="{FF2B5EF4-FFF2-40B4-BE49-F238E27FC236}">
                <a16:creationId xmlns:a16="http://schemas.microsoft.com/office/drawing/2014/main" id="{6317E372-497F-291B-3C05-C30A3E0FA10B}"/>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2000" b="1" dirty="0"/>
              <a:t>The Future of AI Regulation</a:t>
            </a:r>
            <a:br>
              <a:rPr lang="en-GB" sz="2400" dirty="0">
                <a:latin typeface="Calibri"/>
                <a:cs typeface="Calibri"/>
              </a:rPr>
            </a:br>
            <a:br>
              <a:rPr lang="en-GB" sz="8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6" name="TextBox 5">
            <a:extLst>
              <a:ext uri="{FF2B5EF4-FFF2-40B4-BE49-F238E27FC236}">
                <a16:creationId xmlns:a16="http://schemas.microsoft.com/office/drawing/2014/main" id="{E9927D80-432C-15A3-29B6-62828F4528CA}"/>
              </a:ext>
            </a:extLst>
          </p:cNvPr>
          <p:cNvSpPr txBox="1"/>
          <p:nvPr/>
        </p:nvSpPr>
        <p:spPr>
          <a:xfrm>
            <a:off x="339213" y="616688"/>
            <a:ext cx="8059993" cy="4031873"/>
          </a:xfrm>
          <a:prstGeom prst="rect">
            <a:avLst/>
          </a:prstGeom>
          <a:noFill/>
        </p:spPr>
        <p:txBody>
          <a:bodyPr wrap="square">
            <a:spAutoFit/>
          </a:bodyPr>
          <a:lstStyle/>
          <a:p>
            <a:pPr>
              <a:buNone/>
            </a:pPr>
            <a:r>
              <a:rPr lang="en-GB" sz="1600" dirty="0"/>
              <a:t>As artificial intelligence continues to evolve at a rapid pace, traditional regulatory approaches often struggle to keep up that future AI regulation must be agile, adaptive, and supportive of innovation, while also protecting individuals and society.</a:t>
            </a:r>
          </a:p>
          <a:p>
            <a:pPr>
              <a:buFont typeface="+mj-lt"/>
              <a:buAutoNum type="arabicPeriod"/>
            </a:pPr>
            <a:r>
              <a:rPr lang="en-GB" sz="1600" b="1" dirty="0"/>
              <a:t>Adaptive and Flexible Regulation</a:t>
            </a:r>
            <a:endParaRPr lang="en-GB" sz="1600" dirty="0"/>
          </a:p>
          <a:p>
            <a:pPr marL="800100" lvl="1" indent="-342900">
              <a:buFont typeface="+mj-lt"/>
              <a:buAutoNum type="alphaLcParenR"/>
            </a:pPr>
            <a:r>
              <a:rPr lang="en-GB" sz="1600" dirty="0"/>
              <a:t>AI technologies change and improve quickly, so regulations can't be static. Future frameworks need to adapt in real time to new developments, such as generative AI, synthetic media, and autonomous decision-making.</a:t>
            </a:r>
          </a:p>
          <a:p>
            <a:pPr marL="800100" lvl="1" indent="-342900">
              <a:buFont typeface="+mj-lt"/>
              <a:buAutoNum type="alphaLcParenR"/>
            </a:pPr>
            <a:r>
              <a:rPr lang="en-GB" sz="1600" dirty="0"/>
              <a:t>This requires continuous learning by regulatory bodies and frequent updates to laws based on feedback from researchers, developers, and users.</a:t>
            </a:r>
          </a:p>
          <a:p>
            <a:pPr>
              <a:buFont typeface="+mj-lt"/>
              <a:buAutoNum type="arabicPeriod"/>
            </a:pPr>
            <a:r>
              <a:rPr lang="en-GB" sz="1600" b="1" dirty="0"/>
              <a:t>Regulatory Sandboxes</a:t>
            </a:r>
            <a:endParaRPr lang="en-GB" sz="1600" dirty="0"/>
          </a:p>
          <a:p>
            <a:pPr marL="800100" lvl="1" indent="-342900">
              <a:buFont typeface="+mj-lt"/>
              <a:buAutoNum type="alphaLcParenR"/>
            </a:pPr>
            <a:r>
              <a:rPr lang="en-GB" sz="1600" dirty="0"/>
              <a:t>These are controlled environments where AI companies can test new technologies under the supervision of regulators.</a:t>
            </a:r>
          </a:p>
          <a:p>
            <a:pPr marL="800100" lvl="1" indent="-342900">
              <a:buFont typeface="+mj-lt"/>
              <a:buAutoNum type="alphaLcParenR"/>
            </a:pPr>
            <a:r>
              <a:rPr lang="en-GB" sz="1600" dirty="0"/>
              <a:t>Sandboxes allow experimentation with less risk while ensuring basic safety and ethical guidelines are followed. For example, the UK and Singapore have already launched AI sandboxes to support innovation in healthcare and finance.</a:t>
            </a:r>
            <a:endParaRPr lang="en-GB" sz="1600" b="0" i="0" u="none" strike="noStrike" dirty="0">
              <a:solidFill>
                <a:srgbClr val="000000"/>
              </a:solidFill>
              <a:effectLst/>
            </a:endParaRPr>
          </a:p>
        </p:txBody>
      </p:sp>
    </p:spTree>
    <p:extLst>
      <p:ext uri="{BB962C8B-B14F-4D97-AF65-F5344CB8AC3E}">
        <p14:creationId xmlns:p14="http://schemas.microsoft.com/office/powerpoint/2010/main" val="3315047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B35559E5-678B-0DD2-C673-8A3CD3591725}"/>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602728BA-ACFA-C552-922D-233EEBF99A1B}"/>
              </a:ext>
            </a:extLst>
          </p:cNvPr>
          <p:cNvPicPr preferRelativeResize="0"/>
          <p:nvPr/>
        </p:nvPicPr>
        <p:blipFill rotWithShape="1">
          <a:blip r:embed="rId3">
            <a:alphaModFix amt="60000"/>
          </a:blip>
          <a:srcRect/>
          <a:stretch/>
        </p:blipFill>
        <p:spPr>
          <a:xfrm>
            <a:off x="5659200" y="1790800"/>
            <a:ext cx="5408998" cy="2939569"/>
          </a:xfrm>
          <a:prstGeom prst="rect">
            <a:avLst/>
          </a:prstGeom>
          <a:noFill/>
          <a:ln>
            <a:noFill/>
          </a:ln>
        </p:spPr>
      </p:pic>
      <p:sp>
        <p:nvSpPr>
          <p:cNvPr id="100" name="Google Shape;100;p9">
            <a:extLst>
              <a:ext uri="{FF2B5EF4-FFF2-40B4-BE49-F238E27FC236}">
                <a16:creationId xmlns:a16="http://schemas.microsoft.com/office/drawing/2014/main" id="{34363994-36DD-6103-FF27-721EBF38A80D}"/>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2000" b="1" dirty="0"/>
              <a:t>The Future of AI Regulation</a:t>
            </a:r>
            <a:br>
              <a:rPr lang="en-GB" sz="2400" dirty="0">
                <a:latin typeface="Calibri"/>
                <a:cs typeface="Calibri"/>
              </a:rPr>
            </a:br>
            <a:br>
              <a:rPr lang="en-GB" sz="8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6" name="TextBox 5">
            <a:extLst>
              <a:ext uri="{FF2B5EF4-FFF2-40B4-BE49-F238E27FC236}">
                <a16:creationId xmlns:a16="http://schemas.microsoft.com/office/drawing/2014/main" id="{C354EED5-73B0-27B7-0343-41CAA421DF37}"/>
              </a:ext>
            </a:extLst>
          </p:cNvPr>
          <p:cNvSpPr txBox="1"/>
          <p:nvPr/>
        </p:nvSpPr>
        <p:spPr>
          <a:xfrm>
            <a:off x="753642" y="616688"/>
            <a:ext cx="7344918" cy="3354765"/>
          </a:xfrm>
          <a:prstGeom prst="rect">
            <a:avLst/>
          </a:prstGeom>
          <a:noFill/>
        </p:spPr>
        <p:txBody>
          <a:bodyPr wrap="square">
            <a:spAutoFit/>
          </a:bodyPr>
          <a:lstStyle/>
          <a:p>
            <a:pPr>
              <a:buNone/>
            </a:pPr>
            <a:r>
              <a:rPr lang="en-GB" b="1" dirty="0"/>
              <a:t>4. Risk-Based Approaches</a:t>
            </a:r>
            <a:endParaRPr lang="en-GB" dirty="0"/>
          </a:p>
          <a:p>
            <a:pPr marL="800100" lvl="1" indent="-342900">
              <a:buFont typeface="+mj-lt"/>
              <a:buAutoNum type="alphaLcParenR"/>
            </a:pPr>
            <a:r>
              <a:rPr lang="en-GB" dirty="0"/>
              <a:t>Not all AI systems need the same level of oversight. A </a:t>
            </a:r>
            <a:r>
              <a:rPr lang="en-GB" b="1" dirty="0"/>
              <a:t>risk-based framework</a:t>
            </a:r>
            <a:r>
              <a:rPr lang="en-GB" dirty="0"/>
              <a:t> evaluates systems based on their potential to cause harm.</a:t>
            </a:r>
          </a:p>
          <a:p>
            <a:pPr marL="800100" lvl="1" indent="-342900">
              <a:buFont typeface="+mj-lt"/>
              <a:buAutoNum type="alphaLcParenR"/>
            </a:pPr>
            <a:r>
              <a:rPr lang="en-GB" dirty="0"/>
              <a:t>For instance, a chatbot used for entertainment is low-risk, while an AI system making medical diagnoses is high-risk and requires more scrutiny.</a:t>
            </a:r>
          </a:p>
          <a:p>
            <a:pPr marL="800100" lvl="1" indent="-342900">
              <a:buFont typeface="+mj-lt"/>
              <a:buAutoNum type="alphaLcParenR"/>
            </a:pPr>
            <a:r>
              <a:rPr lang="en-GB" dirty="0"/>
              <a:t>This approach prevents overregulation, which can stifle innovation, while ensuring safety for high-impact use cases.</a:t>
            </a:r>
          </a:p>
          <a:p>
            <a:r>
              <a:rPr lang="en-GB" b="1" dirty="0"/>
              <a:t>5. Balancing Innovation and Safety</a:t>
            </a:r>
            <a:endParaRPr lang="en-GB" dirty="0"/>
          </a:p>
          <a:p>
            <a:pPr marL="800100" lvl="1" indent="-342900">
              <a:buFont typeface="+mj-lt"/>
              <a:buAutoNum type="alphaLcParenR"/>
            </a:pPr>
            <a:r>
              <a:rPr lang="en-GB" dirty="0"/>
              <a:t>The future of regulation must find a middle path: enabling startups and tech companies to develop new AI solutions, while ensuring those solutions are safe, fair, and respect human rights.</a:t>
            </a:r>
          </a:p>
          <a:p>
            <a:pPr marL="800100" lvl="1" indent="-342900">
              <a:buFont typeface="+mj-lt"/>
              <a:buAutoNum type="alphaLcParenR"/>
            </a:pPr>
            <a:r>
              <a:rPr lang="en-GB" dirty="0"/>
              <a:t>This balance can be achieved through mechanisms like pre-deployment impact assessments, post-market monitoring, and collaborative development of AI standards between government, industry, and academia.</a:t>
            </a:r>
          </a:p>
          <a:p>
            <a:pPr algn="l"/>
            <a:endParaRPr lang="en-GB" sz="1600" b="0" i="0" u="none" strike="noStrike" dirty="0">
              <a:solidFill>
                <a:srgbClr val="000000"/>
              </a:solidFill>
              <a:effectLst/>
            </a:endParaRPr>
          </a:p>
        </p:txBody>
      </p:sp>
    </p:spTree>
    <p:extLst>
      <p:ext uri="{BB962C8B-B14F-4D97-AF65-F5344CB8AC3E}">
        <p14:creationId xmlns:p14="http://schemas.microsoft.com/office/powerpoint/2010/main" val="3267408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8E506D86-3564-A2D0-0191-99B8B5B006A9}"/>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FD303E6A-CAC2-50E7-C72E-84D25B190C99}"/>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E9DE5CF7-C686-E292-B9A8-3CD1C6C4E14C}"/>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400" b="1" dirty="0"/>
              <a:t>International Cooperation in AI Governance</a:t>
            </a:r>
            <a:br>
              <a:rPr lang="en-GB" sz="2400" b="1" i="0" u="none" strike="noStrike" dirty="0">
                <a:solidFill>
                  <a:srgbClr val="7030A0"/>
                </a:solidFill>
                <a:effectLst/>
              </a:rPr>
            </a:br>
            <a:br>
              <a:rPr lang="en-GB" sz="2400" b="1" i="0" u="none" strike="noStrike" dirty="0">
                <a:solidFill>
                  <a:srgbClr val="000000"/>
                </a:solidFill>
                <a:effectLst/>
              </a:rPr>
            </a:br>
            <a:br>
              <a:rPr lang="en-GB" sz="2400" b="1" i="0" u="none" strike="noStrike" dirty="0">
                <a:solidFill>
                  <a:srgbClr val="000000"/>
                </a:solidFill>
                <a:effectLst/>
              </a:rPr>
            </a:br>
            <a:br>
              <a:rPr lang="en-GB" sz="2400" b="1" i="0" u="none" strike="noStrike" dirty="0">
                <a:solidFill>
                  <a:srgbClr val="000000"/>
                </a:solidFill>
                <a:effectLst/>
              </a:rPr>
            </a:br>
            <a:br>
              <a:rPr lang="en-GB" sz="2400" dirty="0">
                <a:latin typeface="Arial"/>
                <a:ea typeface="Arial"/>
                <a:cs typeface="Arial"/>
                <a:sym typeface="Arial"/>
              </a:rPr>
            </a:br>
            <a:endParaRPr lang="en-GB" sz="2400" dirty="0"/>
          </a:p>
        </p:txBody>
      </p:sp>
      <p:sp>
        <p:nvSpPr>
          <p:cNvPr id="3" name="TextBox 2">
            <a:extLst>
              <a:ext uri="{FF2B5EF4-FFF2-40B4-BE49-F238E27FC236}">
                <a16:creationId xmlns:a16="http://schemas.microsoft.com/office/drawing/2014/main" id="{522027CF-2D5A-E95A-58A4-6B41AA9E3BDF}"/>
              </a:ext>
            </a:extLst>
          </p:cNvPr>
          <p:cNvSpPr txBox="1"/>
          <p:nvPr/>
        </p:nvSpPr>
        <p:spPr>
          <a:xfrm>
            <a:off x="1154318" y="1048256"/>
            <a:ext cx="6703142" cy="3046988"/>
          </a:xfrm>
          <a:prstGeom prst="rect">
            <a:avLst/>
          </a:prstGeom>
          <a:noFill/>
        </p:spPr>
        <p:txBody>
          <a:bodyPr wrap="square">
            <a:spAutoFit/>
          </a:bodyPr>
          <a:lstStyle/>
          <a:p>
            <a:pPr>
              <a:buNone/>
            </a:pPr>
            <a:r>
              <a:rPr lang="en-GB" sz="1600" dirty="0"/>
              <a:t>Artificial intelligence does not recognize national borders—its development, deployment, and impact are global in nature. For instance, an AI system trained in one country can easily be deployed across the world via cloud platforms or integrated into multinational products and services. This necessitates international cooperation to ensure AI is governed effectively and ethically across jurisdictions.</a:t>
            </a:r>
          </a:p>
          <a:p>
            <a:pPr>
              <a:buNone/>
            </a:pPr>
            <a:endParaRPr lang="en-GB" sz="1600" dirty="0"/>
          </a:p>
          <a:p>
            <a:pPr>
              <a:buNone/>
            </a:pPr>
            <a:r>
              <a:rPr lang="en-GB" sz="1600" dirty="0"/>
              <a:t>Global data flows, digital trade, and cybersecurity risks make it essential for countries to establish harmonized rules and interoperable standards. Without alignment, inconsistent regulations may lead to confusion, compliance burdens, or loopholes that allow unethical practices to flourish.</a:t>
            </a:r>
          </a:p>
        </p:txBody>
      </p:sp>
    </p:spTree>
    <p:extLst>
      <p:ext uri="{BB962C8B-B14F-4D97-AF65-F5344CB8AC3E}">
        <p14:creationId xmlns:p14="http://schemas.microsoft.com/office/powerpoint/2010/main" val="2051646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C3675729-A1D0-343A-210F-47ECF681A52E}"/>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FE4EEE83-E09C-3643-0A09-C6EDC988831B}"/>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D54B858C-86FE-EB8F-9EB1-27CA6870C6A9}"/>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1800" b="1" dirty="0"/>
              <a:t>International Cooperation in AI Governance contd..</a:t>
            </a: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FF07BDE4-1295-0F71-8128-7142014A5546}"/>
              </a:ext>
            </a:extLst>
          </p:cNvPr>
          <p:cNvSpPr txBox="1"/>
          <p:nvPr/>
        </p:nvSpPr>
        <p:spPr>
          <a:xfrm>
            <a:off x="1275735" y="855407"/>
            <a:ext cx="6703142" cy="3293209"/>
          </a:xfrm>
          <a:prstGeom prst="rect">
            <a:avLst/>
          </a:prstGeom>
          <a:noFill/>
        </p:spPr>
        <p:txBody>
          <a:bodyPr wrap="square">
            <a:spAutoFit/>
          </a:bodyPr>
          <a:lstStyle/>
          <a:p>
            <a:pPr>
              <a:buNone/>
            </a:pPr>
            <a:r>
              <a:rPr lang="en-GB" sz="1600" dirty="0"/>
              <a:t>Organizations like the United Nations (UN), Organisation for Economic Co-operation and Development (OECD), and G7 are spearheading efforts to create shared frameworks. For example, the OECD’s AI Principles advocate for inclusive growth, transparency, and human-</a:t>
            </a:r>
            <a:r>
              <a:rPr lang="en-GB" sz="1600" dirty="0" err="1"/>
              <a:t>centered</a:t>
            </a:r>
            <a:r>
              <a:rPr lang="en-GB" sz="1600" dirty="0"/>
              <a:t> values. These efforts aim to foster trust, accountability, and innovation globally.</a:t>
            </a:r>
          </a:p>
          <a:p>
            <a:pPr>
              <a:buNone/>
            </a:pPr>
            <a:endParaRPr lang="en-GB" sz="1600" dirty="0"/>
          </a:p>
          <a:p>
            <a:r>
              <a:rPr lang="en-GB" sz="1600" dirty="0"/>
              <a:t>However, challenges remain. Different countries have divergent priorities, some emphasize national security, others economic competitiveness, and some focus on protecting civil liberties. Reconciling these differences while ensuring effective oversight and innovation is one of the biggest hurdles in building a truly global AI governance framework.</a:t>
            </a:r>
          </a:p>
        </p:txBody>
      </p:sp>
    </p:spTree>
    <p:extLst>
      <p:ext uri="{BB962C8B-B14F-4D97-AF65-F5344CB8AC3E}">
        <p14:creationId xmlns:p14="http://schemas.microsoft.com/office/powerpoint/2010/main" val="439149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21EB6A28-E5D4-01CF-603A-E7B396111950}"/>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69BC4CD7-D4B2-DBB7-B240-30F9A991B4F6}"/>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9B343830-9BDF-C661-C23B-A950CA88FD51}"/>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400" b="1" dirty="0"/>
              <a:t>Evolving Standards and Guidelines</a:t>
            </a:r>
            <a:br>
              <a:rPr lang="en-GB" sz="2400" b="1" dirty="0"/>
            </a:br>
            <a:br>
              <a:rPr lang="en-GB" sz="2400" b="1" i="0" u="none" strike="noStrike" dirty="0">
                <a:solidFill>
                  <a:srgbClr val="7030A0"/>
                </a:solidFill>
                <a:effectLst/>
              </a:rPr>
            </a:br>
            <a:br>
              <a:rPr lang="en-GB" sz="2400" b="1" i="0" u="none" strike="noStrike" dirty="0">
                <a:solidFill>
                  <a:srgbClr val="7030A0"/>
                </a:solidFill>
                <a:effectLst/>
              </a:rPr>
            </a:br>
            <a:br>
              <a:rPr lang="en-GB" sz="2400" b="1" i="0" u="none" strike="noStrike" dirty="0">
                <a:solidFill>
                  <a:srgbClr val="000000"/>
                </a:solidFill>
                <a:effectLst/>
              </a:rPr>
            </a:br>
            <a:br>
              <a:rPr lang="en-GB" sz="2400" b="1" i="0" u="none" strike="noStrike" dirty="0">
                <a:solidFill>
                  <a:srgbClr val="000000"/>
                </a:solidFill>
                <a:effectLst/>
              </a:rPr>
            </a:br>
            <a:br>
              <a:rPr lang="en-GB" sz="2400" b="1" i="0" u="none" strike="noStrike" dirty="0">
                <a:solidFill>
                  <a:srgbClr val="000000"/>
                </a:solidFill>
                <a:effectLst/>
              </a:rPr>
            </a:br>
            <a:br>
              <a:rPr lang="en-GB" sz="2400" dirty="0">
                <a:latin typeface="Arial"/>
                <a:ea typeface="Arial"/>
                <a:cs typeface="Arial"/>
                <a:sym typeface="Arial"/>
              </a:rPr>
            </a:br>
            <a:endParaRPr lang="en-GB" sz="2400" dirty="0"/>
          </a:p>
        </p:txBody>
      </p:sp>
      <p:pic>
        <p:nvPicPr>
          <p:cNvPr id="1026" name="Picture 2" descr="Explainable AI: A Transparent Future ...">
            <a:extLst>
              <a:ext uri="{FF2B5EF4-FFF2-40B4-BE49-F238E27FC236}">
                <a16:creationId xmlns:a16="http://schemas.microsoft.com/office/drawing/2014/main" id="{644FC7F4-9514-1248-EE65-D0503E87C0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8405" y="2107621"/>
            <a:ext cx="4548749" cy="29137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0077E4D-93A9-373C-6C8B-5551E868DBA4}"/>
              </a:ext>
            </a:extLst>
          </p:cNvPr>
          <p:cNvSpPr txBox="1"/>
          <p:nvPr/>
        </p:nvSpPr>
        <p:spPr>
          <a:xfrm>
            <a:off x="1584243" y="777379"/>
            <a:ext cx="5337072" cy="1169551"/>
          </a:xfrm>
          <a:prstGeom prst="rect">
            <a:avLst/>
          </a:prstGeom>
          <a:noFill/>
        </p:spPr>
        <p:txBody>
          <a:bodyPr wrap="square">
            <a:spAutoFit/>
          </a:bodyPr>
          <a:lstStyle/>
          <a:p>
            <a:r>
              <a:rPr lang="en-GB" dirty="0"/>
              <a:t>Governments and industries are creating dynamic, interoperable standards to regulate AI effectively. Examples include ISO standards for AI, NIST’s risk management framework, and regulatory sandboxes. These help stakeholders test AI systems safely while fostering innovation.</a:t>
            </a:r>
          </a:p>
        </p:txBody>
      </p:sp>
    </p:spTree>
    <p:extLst>
      <p:ext uri="{BB962C8B-B14F-4D97-AF65-F5344CB8AC3E}">
        <p14:creationId xmlns:p14="http://schemas.microsoft.com/office/powerpoint/2010/main" val="1039703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69F99056-B032-31DE-B245-AA9521322F06}"/>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0FFDD2D0-A143-5DAF-3911-01F1794E6AE6}"/>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F9C768CB-8A12-A145-D424-F7CC00117C25}"/>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1800" b="1" dirty="0"/>
              <a:t>Evolving Standards and Guidelines contd..</a:t>
            </a:r>
            <a:br>
              <a:rPr lang="en-GB" sz="1800" b="1" dirty="0"/>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4" name="TextBox 3">
            <a:extLst>
              <a:ext uri="{FF2B5EF4-FFF2-40B4-BE49-F238E27FC236}">
                <a16:creationId xmlns:a16="http://schemas.microsoft.com/office/drawing/2014/main" id="{AE5EB42B-7F63-5A1D-6C79-578E22F0DBEB}"/>
              </a:ext>
            </a:extLst>
          </p:cNvPr>
          <p:cNvSpPr txBox="1"/>
          <p:nvPr/>
        </p:nvSpPr>
        <p:spPr>
          <a:xfrm>
            <a:off x="1584242" y="777379"/>
            <a:ext cx="6114415" cy="2554545"/>
          </a:xfrm>
          <a:prstGeom prst="rect">
            <a:avLst/>
          </a:prstGeom>
          <a:noFill/>
        </p:spPr>
        <p:txBody>
          <a:bodyPr wrap="square">
            <a:spAutoFit/>
          </a:bodyPr>
          <a:lstStyle/>
          <a:p>
            <a:pPr>
              <a:buNone/>
            </a:pPr>
            <a:r>
              <a:rPr lang="en-GB" sz="1600" b="1" dirty="0"/>
              <a:t>Dynamic and interoperable standards</a:t>
            </a:r>
            <a:r>
              <a:rPr lang="en-GB" sz="1600" dirty="0"/>
              <a:t> mean the rules are not only evolving as technology changes (dynamic) but also designed to work across different industries and countries (interoperable), reducing fragmentation in global AI governance.</a:t>
            </a:r>
          </a:p>
          <a:p>
            <a:pPr>
              <a:buNone/>
            </a:pPr>
            <a:endParaRPr lang="en-GB" sz="1600" dirty="0"/>
          </a:p>
          <a:p>
            <a:r>
              <a:rPr lang="en-GB" sz="1600" b="1" dirty="0"/>
              <a:t>ISO standards</a:t>
            </a:r>
            <a:r>
              <a:rPr lang="en-GB" sz="1600" dirty="0"/>
              <a:t>: The </a:t>
            </a:r>
            <a:r>
              <a:rPr lang="en-GB" sz="1600" b="1" dirty="0"/>
              <a:t>International Organization for Standardization (ISO)</a:t>
            </a:r>
            <a:r>
              <a:rPr lang="en-GB" sz="1600" dirty="0"/>
              <a:t> is developing international AI standards for areas like safety, transparency, and risk management. These standards help companies design AI systems that meet global expectations and build trust with users.</a:t>
            </a:r>
          </a:p>
        </p:txBody>
      </p:sp>
    </p:spTree>
    <p:extLst>
      <p:ext uri="{BB962C8B-B14F-4D97-AF65-F5344CB8AC3E}">
        <p14:creationId xmlns:p14="http://schemas.microsoft.com/office/powerpoint/2010/main" val="149627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581F3A37-A2F2-6435-948C-363391C01F4C}"/>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9CEFECB3-344D-CA91-8602-6F9FF29E944A}"/>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5E3BEF2B-1B49-F536-77B3-3F2D073FA1A3}"/>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Evolving Standards and Guidelines contd..</a:t>
            </a: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000000"/>
                </a:solidFill>
                <a:effectLst/>
              </a:rPr>
            </a:br>
            <a:br>
              <a:rPr lang="en-GB" sz="2000" b="1" i="0" u="none" strike="noStrike" dirty="0">
                <a:solidFill>
                  <a:srgbClr val="000000"/>
                </a:solidFill>
                <a:effectLst/>
              </a:rPr>
            </a:br>
            <a:br>
              <a:rPr lang="en-GB" sz="2000" b="1" i="0" u="none" strike="noStrike" dirty="0">
                <a:solidFill>
                  <a:srgbClr val="000000"/>
                </a:solidFill>
                <a:effectLst/>
              </a:rPr>
            </a:br>
            <a:br>
              <a:rPr lang="en-GB" sz="2000" dirty="0">
                <a:latin typeface="Arial"/>
                <a:ea typeface="Arial"/>
                <a:cs typeface="Arial"/>
                <a:sym typeface="Arial"/>
              </a:rPr>
            </a:br>
            <a:endParaRPr lang="en-GB" sz="2000" dirty="0"/>
          </a:p>
        </p:txBody>
      </p:sp>
      <p:sp>
        <p:nvSpPr>
          <p:cNvPr id="4" name="TextBox 3">
            <a:extLst>
              <a:ext uri="{FF2B5EF4-FFF2-40B4-BE49-F238E27FC236}">
                <a16:creationId xmlns:a16="http://schemas.microsoft.com/office/drawing/2014/main" id="{CBE93BBD-6E3D-4C6E-782B-4DCCD9B6E7B2}"/>
              </a:ext>
            </a:extLst>
          </p:cNvPr>
          <p:cNvSpPr txBox="1"/>
          <p:nvPr/>
        </p:nvSpPr>
        <p:spPr>
          <a:xfrm>
            <a:off x="700548" y="777379"/>
            <a:ext cx="6953865" cy="3539430"/>
          </a:xfrm>
          <a:prstGeom prst="rect">
            <a:avLst/>
          </a:prstGeom>
          <a:noFill/>
        </p:spPr>
        <p:txBody>
          <a:bodyPr wrap="square">
            <a:spAutoFit/>
          </a:bodyPr>
          <a:lstStyle/>
          <a:p>
            <a:pPr>
              <a:buNone/>
            </a:pPr>
            <a:r>
              <a:rPr lang="en-GB" sz="1600" b="1" dirty="0"/>
              <a:t>NIST’s Risk Management Framework</a:t>
            </a:r>
            <a:r>
              <a:rPr lang="en-GB" sz="1600" dirty="0"/>
              <a:t>: The </a:t>
            </a:r>
            <a:r>
              <a:rPr lang="en-GB" sz="1600" b="1" dirty="0"/>
              <a:t>U.S. National Institute of Standards and Technology (NIST)</a:t>
            </a:r>
            <a:r>
              <a:rPr lang="en-GB" sz="1600" dirty="0"/>
              <a:t> created a framework that guides organizations in identifying, evaluating, and mitigating risks associated with AI, such as bias, lack of explainability, or misuse.</a:t>
            </a:r>
          </a:p>
          <a:p>
            <a:pPr>
              <a:buNone/>
            </a:pPr>
            <a:endParaRPr lang="en-GB" sz="1600" dirty="0"/>
          </a:p>
          <a:p>
            <a:r>
              <a:rPr lang="en-GB" sz="1600" b="1" dirty="0"/>
              <a:t>Regulatory sandboxes</a:t>
            </a:r>
            <a:r>
              <a:rPr lang="en-GB" sz="1600" dirty="0"/>
              <a:t>: These are safe, controlled environments where companies and regulators collaborate to test new AI systems under regulatory supervision. This allows innovation without the fear of immediate legal penalties, and helps governments understand how to update or create appropriate laws.</a:t>
            </a:r>
          </a:p>
          <a:p>
            <a:endParaRPr lang="en-GB" sz="1600" dirty="0"/>
          </a:p>
          <a:p>
            <a:r>
              <a:rPr lang="en-GB" sz="1600" dirty="0"/>
              <a:t>In short, these tools and frameworks help balance innovation and safety letting AI grow responsibly without being recklessly unregulated or overly restricted</a:t>
            </a:r>
          </a:p>
        </p:txBody>
      </p:sp>
    </p:spTree>
    <p:extLst>
      <p:ext uri="{BB962C8B-B14F-4D97-AF65-F5344CB8AC3E}">
        <p14:creationId xmlns:p14="http://schemas.microsoft.com/office/powerpoint/2010/main" val="1418212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EE85C5B9-40EF-1B12-4EF7-DEBACC93557E}"/>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9AB56371-9CB6-C58F-432F-42BCFF5E04C8}"/>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A66599AD-09EA-F898-3057-87531AB11CA5}"/>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Ethical Frameworks and Global Ethics</a:t>
            </a: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737D3C27-B9DE-1780-C65F-E62D7501E33E}"/>
              </a:ext>
            </a:extLst>
          </p:cNvPr>
          <p:cNvSpPr txBox="1"/>
          <p:nvPr/>
        </p:nvSpPr>
        <p:spPr>
          <a:xfrm>
            <a:off x="953740" y="885101"/>
            <a:ext cx="6903720" cy="4278094"/>
          </a:xfrm>
          <a:prstGeom prst="rect">
            <a:avLst/>
          </a:prstGeom>
          <a:noFill/>
        </p:spPr>
        <p:txBody>
          <a:bodyPr wrap="square">
            <a:spAutoFit/>
          </a:bodyPr>
          <a:lstStyle/>
          <a:p>
            <a:pPr>
              <a:buNone/>
            </a:pPr>
            <a:r>
              <a:rPr lang="en-GB" sz="1600" dirty="0"/>
              <a:t>Ethical norms vary across cultures, complicating global governance.</a:t>
            </a:r>
            <a:br>
              <a:rPr lang="en-GB" sz="1600" dirty="0"/>
            </a:br>
            <a:r>
              <a:rPr lang="en-GB" sz="1600" dirty="0"/>
              <a:t>Different societies have different values-what's considered ethical in one country might not be in another. </a:t>
            </a:r>
          </a:p>
          <a:p>
            <a:pPr>
              <a:buNone/>
            </a:pPr>
            <a:endParaRPr lang="en-GB" sz="1600" dirty="0"/>
          </a:p>
          <a:p>
            <a:pPr>
              <a:buNone/>
            </a:pPr>
            <a:r>
              <a:rPr lang="en-GB" sz="1600" dirty="0"/>
              <a:t>For example, Western nations like those in the EU often prioritize privacy and individual rights, while other regions may emphasize collective benefits or economic development. This diversity makes it hard to create a single global ethical framework for AI.</a:t>
            </a:r>
          </a:p>
          <a:p>
            <a:r>
              <a:rPr lang="en-GB" sz="1600" dirty="0"/>
              <a:t>While the EU prioritizes privacy, other regions focus more on economic growth.</a:t>
            </a:r>
          </a:p>
          <a:p>
            <a:endParaRPr lang="en-GB" sz="1600" dirty="0"/>
          </a:p>
          <a:p>
            <a:r>
              <a:rPr lang="en-GB" sz="1600" dirty="0"/>
              <a:t>This highlights the trade-off in governance priorities. The EU’s General Data Protection Regulation (GDPR) strictly regulates data usage to protect individuals, whereas countries like China or some in Southeast Asia may adopt a more permissive stance to foster rapid AI innovation and economic competitiveness.</a:t>
            </a: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3044664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1A3E4048-23B0-75EB-8774-8555969A045A}"/>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D7B6EF4F-9451-0E60-8B38-7B060EF8526E}"/>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EC139A95-9122-E2C9-9AD2-2A11FD64F97B}"/>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Ethical Frameworks and Global Ethics contd.. </a:t>
            </a: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B8849236-5272-A533-DF90-A65266E6FBE4}"/>
              </a:ext>
            </a:extLst>
          </p:cNvPr>
          <p:cNvSpPr txBox="1"/>
          <p:nvPr/>
        </p:nvSpPr>
        <p:spPr>
          <a:xfrm>
            <a:off x="953740" y="885101"/>
            <a:ext cx="4215570" cy="4031873"/>
          </a:xfrm>
          <a:prstGeom prst="rect">
            <a:avLst/>
          </a:prstGeom>
          <a:noFill/>
        </p:spPr>
        <p:txBody>
          <a:bodyPr wrap="square">
            <a:spAutoFit/>
          </a:bodyPr>
          <a:lstStyle/>
          <a:p>
            <a:pPr marL="285750" indent="-285750">
              <a:buFont typeface="Wingdings" pitchFamily="2" charset="2"/>
              <a:buChar char="Ø"/>
            </a:pPr>
            <a:r>
              <a:rPr lang="en-GB" sz="1600" dirty="0"/>
              <a:t>UNESCO and IEEE are working toward unified ethical principles like accountability, inclusiveness, and human-centric AI.</a:t>
            </a:r>
          </a:p>
          <a:p>
            <a:pPr marL="285750" indent="-285750">
              <a:buFont typeface="Wingdings" pitchFamily="2" charset="2"/>
              <a:buChar char="Ø"/>
            </a:pPr>
            <a:endParaRPr lang="en-GB" sz="1600" dirty="0"/>
          </a:p>
          <a:p>
            <a:pPr marL="285750" indent="-285750">
              <a:buFont typeface="Wingdings" pitchFamily="2" charset="2"/>
              <a:buChar char="Ø"/>
            </a:pPr>
            <a:r>
              <a:rPr lang="en-GB" sz="1600" dirty="0"/>
              <a:t>Despite these differences, international bodies like UNESCO (a UN agency) and the IEEE (a global engineering organization) are trying to build common ground by promoting universal values. </a:t>
            </a:r>
          </a:p>
          <a:p>
            <a:pPr marL="285750" indent="-285750">
              <a:buFont typeface="Wingdings" pitchFamily="2" charset="2"/>
              <a:buChar char="Ø"/>
            </a:pPr>
            <a:endParaRPr lang="en-GB" sz="1600" dirty="0"/>
          </a:p>
          <a:p>
            <a:pPr marL="285750" indent="-285750">
              <a:buFont typeface="Wingdings" pitchFamily="2" charset="2"/>
              <a:buChar char="Ø"/>
            </a:pPr>
            <a:r>
              <a:rPr lang="en-GB" sz="1600" dirty="0"/>
              <a:t>Their efforts include publishing frameworks that advocate for AI systems that are transparent, inclusive of all populations, and prioritize human well-being over efficiency or profit.</a:t>
            </a:r>
            <a:endParaRPr lang="en-GB" sz="1600" i="0" u="none" strike="noStrike" dirty="0">
              <a:solidFill>
                <a:srgbClr val="000000"/>
              </a:solidFill>
              <a:effectLst/>
            </a:endParaRPr>
          </a:p>
        </p:txBody>
      </p:sp>
      <p:pic>
        <p:nvPicPr>
          <p:cNvPr id="4" name="Picture 3" descr="A screenshot of a diagram&#10;&#10;AI-generated content may be incorrect.">
            <a:extLst>
              <a:ext uri="{FF2B5EF4-FFF2-40B4-BE49-F238E27FC236}">
                <a16:creationId xmlns:a16="http://schemas.microsoft.com/office/drawing/2014/main" id="{4467440D-44EF-42D1-B17B-980EFC9EB54F}"/>
              </a:ext>
            </a:extLst>
          </p:cNvPr>
          <p:cNvPicPr>
            <a:picLocks noChangeAspect="1"/>
          </p:cNvPicPr>
          <p:nvPr/>
        </p:nvPicPr>
        <p:blipFill>
          <a:blip r:embed="rId4"/>
          <a:stretch>
            <a:fillRect/>
          </a:stretch>
        </p:blipFill>
        <p:spPr>
          <a:xfrm>
            <a:off x="5356342" y="885101"/>
            <a:ext cx="3382842" cy="3845642"/>
          </a:xfrm>
          <a:prstGeom prst="rect">
            <a:avLst/>
          </a:prstGeom>
        </p:spPr>
      </p:pic>
    </p:spTree>
    <p:extLst>
      <p:ext uri="{BB962C8B-B14F-4D97-AF65-F5344CB8AC3E}">
        <p14:creationId xmlns:p14="http://schemas.microsoft.com/office/powerpoint/2010/main" val="2455919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3A5F96C8-7403-6AD2-FE38-887448A28224}"/>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D58A7A70-CBF9-1302-3348-369FD52A56DE}"/>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D3BB5170-448A-66E3-D8FB-2CB8B01F9F21}"/>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AI and Human Rights</a:t>
            </a: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A0C7F1E7-CA4D-DEC9-9B69-01DD35EDE056}"/>
              </a:ext>
            </a:extLst>
          </p:cNvPr>
          <p:cNvSpPr txBox="1"/>
          <p:nvPr/>
        </p:nvSpPr>
        <p:spPr>
          <a:xfrm>
            <a:off x="617407" y="908667"/>
            <a:ext cx="3849832" cy="4031873"/>
          </a:xfrm>
          <a:prstGeom prst="rect">
            <a:avLst/>
          </a:prstGeom>
          <a:noFill/>
        </p:spPr>
        <p:txBody>
          <a:bodyPr wrap="square">
            <a:spAutoFit/>
          </a:bodyPr>
          <a:lstStyle/>
          <a:p>
            <a:pPr>
              <a:buNone/>
            </a:pPr>
            <a:r>
              <a:rPr lang="en-GB" sz="1600" b="1" dirty="0"/>
              <a:t>AI technologies </a:t>
            </a:r>
            <a:r>
              <a:rPr lang="en-GB" sz="1600" dirty="0"/>
              <a:t>increasingly influence our fundamental human rights, raising concerns about how these rights are preserved or violated during AI development and deployment. </a:t>
            </a:r>
          </a:p>
          <a:p>
            <a:pPr>
              <a:buNone/>
            </a:pPr>
            <a:endParaRPr lang="en-GB" sz="1600" dirty="0"/>
          </a:p>
          <a:p>
            <a:pPr>
              <a:buNone/>
            </a:pPr>
            <a:r>
              <a:rPr lang="en-GB" sz="1600" b="1" dirty="0"/>
              <a:t>For instance, </a:t>
            </a:r>
            <a:r>
              <a:rPr lang="en-GB" sz="1600" dirty="0"/>
              <a:t>facial recognition tools and predictive policing algorithms can infringe on privacy and freedom of movement. </a:t>
            </a:r>
          </a:p>
          <a:p>
            <a:pPr>
              <a:buNone/>
            </a:pPr>
            <a:r>
              <a:rPr lang="en-GB" sz="1600" b="1" dirty="0"/>
              <a:t>Additionally, </a:t>
            </a:r>
            <a:r>
              <a:rPr lang="en-GB" sz="1600" dirty="0"/>
              <a:t>biased training data may result in discrimination against certain groups in areas like hiring, lending, and law enforcement.</a:t>
            </a:r>
          </a:p>
          <a:p>
            <a:pPr>
              <a:buNone/>
            </a:pPr>
            <a:endParaRPr lang="en-GB" sz="1600" dirty="0"/>
          </a:p>
          <a:p>
            <a:pPr algn="l"/>
            <a:endParaRPr lang="en-GB" sz="1600" i="0" u="none" strike="noStrike" dirty="0">
              <a:solidFill>
                <a:srgbClr val="000000"/>
              </a:solidFill>
              <a:effectLst/>
            </a:endParaRPr>
          </a:p>
        </p:txBody>
      </p:sp>
      <p:pic>
        <p:nvPicPr>
          <p:cNvPr id="4" name="Picture 3" descr="A diagram of a person's profile&#10;&#10;AI-generated content may be incorrect.">
            <a:extLst>
              <a:ext uri="{FF2B5EF4-FFF2-40B4-BE49-F238E27FC236}">
                <a16:creationId xmlns:a16="http://schemas.microsoft.com/office/drawing/2014/main" id="{D36B668A-1EC0-9DE2-3C52-5EC8580B1957}"/>
              </a:ext>
            </a:extLst>
          </p:cNvPr>
          <p:cNvPicPr>
            <a:picLocks noChangeAspect="1"/>
          </p:cNvPicPr>
          <p:nvPr/>
        </p:nvPicPr>
        <p:blipFill>
          <a:blip r:embed="rId4"/>
          <a:stretch>
            <a:fillRect/>
          </a:stretch>
        </p:blipFill>
        <p:spPr>
          <a:xfrm>
            <a:off x="4572000" y="1074088"/>
            <a:ext cx="4458977" cy="3454810"/>
          </a:xfrm>
          <a:prstGeom prst="rect">
            <a:avLst/>
          </a:prstGeom>
        </p:spPr>
      </p:pic>
    </p:spTree>
    <p:extLst>
      <p:ext uri="{BB962C8B-B14F-4D97-AF65-F5344CB8AC3E}">
        <p14:creationId xmlns:p14="http://schemas.microsoft.com/office/powerpoint/2010/main" val="440031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8A891D23-7A24-EDFA-9265-8945854D4E30}"/>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38AA2A72-F9B7-0C60-C8B2-BC947D6480AB}"/>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BC906689-05C7-8106-59FD-4E111CB82E2C}"/>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AI and Human Rights contd..</a:t>
            </a: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E244F913-0FE7-9438-44EE-E76738E90ED9}"/>
              </a:ext>
            </a:extLst>
          </p:cNvPr>
          <p:cNvSpPr txBox="1"/>
          <p:nvPr/>
        </p:nvSpPr>
        <p:spPr>
          <a:xfrm>
            <a:off x="617406" y="908667"/>
            <a:ext cx="7531077" cy="3293209"/>
          </a:xfrm>
          <a:prstGeom prst="rect">
            <a:avLst/>
          </a:prstGeom>
          <a:noFill/>
        </p:spPr>
        <p:txBody>
          <a:bodyPr wrap="square">
            <a:spAutoFit/>
          </a:bodyPr>
          <a:lstStyle/>
          <a:p>
            <a:pPr>
              <a:buNone/>
            </a:pPr>
            <a:r>
              <a:rPr lang="en-GB" sz="1600" b="1" dirty="0"/>
              <a:t>Systems used for mass surveillance </a:t>
            </a:r>
            <a:r>
              <a:rPr lang="en-GB" sz="1600" dirty="0"/>
              <a:t>- like those implemented in authoritarian regimes, may stifle freedom of expression and assembly, chilling political participation. Moreover, AI decisions are often made without human transparency, leaving individuals unable to challenge decisions that affect their lives.</a:t>
            </a:r>
          </a:p>
          <a:p>
            <a:pPr>
              <a:buNone/>
            </a:pPr>
            <a:endParaRPr lang="en-GB" sz="1600" dirty="0"/>
          </a:p>
          <a:p>
            <a:r>
              <a:rPr lang="en-GB" sz="1600" b="1" dirty="0"/>
              <a:t>Therefore, </a:t>
            </a:r>
            <a:r>
              <a:rPr lang="en-GB" sz="1600" dirty="0"/>
              <a:t>AI governance must explicitly align with international human rights frameworks, such as the Universal Declaration of Human Rights and the International Covenant on Civil and Political Rights. Embedding these values ensures technologies serve people equitably and preserve dignity, freedom, and justice in an AI-powered future.</a:t>
            </a:r>
          </a:p>
          <a:p>
            <a:pPr>
              <a:buNone/>
            </a:pPr>
            <a:endParaRPr lang="en-GB" sz="1600" dirty="0"/>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812466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40C70103-BA01-0720-0CD0-13A35BB37CE7}"/>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A502FA1C-4753-990E-2D74-B95344845AA5}"/>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1AF934C2-060C-7762-BBC7-364E84A65ADE}"/>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Governance’s Dual Impact on Innovation</a:t>
            </a: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4" name="TextBox 3">
            <a:extLst>
              <a:ext uri="{FF2B5EF4-FFF2-40B4-BE49-F238E27FC236}">
                <a16:creationId xmlns:a16="http://schemas.microsoft.com/office/drawing/2014/main" id="{2E4F03A3-AE79-7260-E8E1-140AF7F2A880}"/>
              </a:ext>
            </a:extLst>
          </p:cNvPr>
          <p:cNvSpPr txBox="1"/>
          <p:nvPr/>
        </p:nvSpPr>
        <p:spPr>
          <a:xfrm>
            <a:off x="457200" y="1070616"/>
            <a:ext cx="7857460" cy="4031873"/>
          </a:xfrm>
          <a:prstGeom prst="rect">
            <a:avLst/>
          </a:prstGeom>
          <a:noFill/>
        </p:spPr>
        <p:txBody>
          <a:bodyPr wrap="square">
            <a:spAutoFit/>
          </a:bodyPr>
          <a:lstStyle/>
          <a:p>
            <a:pPr marL="285750" indent="-285750">
              <a:buFont typeface="Wingdings" pitchFamily="2" charset="2"/>
              <a:buChar char="Ø"/>
            </a:pPr>
            <a:r>
              <a:rPr lang="en-GB" sz="1600" dirty="0"/>
              <a:t>Good AI governance fosters innovation by building trust, ensuring transparency, and setting clear expectations for developers and companies. </a:t>
            </a:r>
          </a:p>
          <a:p>
            <a:endParaRPr lang="en-GB" sz="1600" dirty="0"/>
          </a:p>
          <a:p>
            <a:pPr marL="285750" indent="-285750">
              <a:buFont typeface="Wingdings" pitchFamily="2" charset="2"/>
              <a:buChar char="Ø"/>
            </a:pPr>
            <a:r>
              <a:rPr lang="en-GB" sz="1600" dirty="0"/>
              <a:t>When rules are well-defined and stable, investors and stakeholders feel more confident putting money and effort into AI projects, knowing there’s a predictable environment. It also encourages developers to create ethically aligned technologies that meet social and legal expectations, which can expand market acceptance and adoption.</a:t>
            </a:r>
          </a:p>
          <a:p>
            <a:pPr marL="285750" indent="-285750">
              <a:buFont typeface="Wingdings" pitchFamily="2" charset="2"/>
              <a:buChar char="Ø"/>
            </a:pPr>
            <a:endParaRPr lang="en-GB" sz="1600" dirty="0"/>
          </a:p>
          <a:p>
            <a:pPr marL="285750" indent="-285750">
              <a:buFont typeface="Wingdings" pitchFamily="2" charset="2"/>
              <a:buChar char="Ø"/>
            </a:pPr>
            <a:r>
              <a:rPr lang="en-GB" sz="1600" dirty="0"/>
              <a:t>However, overly strict or ambiguous regulations can have the opposite effect. If rules are too rigid, unclear, or burdensome, organizations may be discouraged from experimenting or launching new AI technologies due to high compliance costs or fear of legal consequences. This can stifle creativity, delay product releases, and ultimately hinder technological progress, especially in fast-moving sectors.</a:t>
            </a: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3011020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C218A91C-7B3A-F62B-1D85-219D33B2B540}"/>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2E780FB4-DDFD-E9C0-B6C5-0C5119D404CD}"/>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65A9C040-9651-BD57-4292-6B6D02C7FDDE}"/>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Governance and Societal Well-being</a:t>
            </a: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6" name="TextBox 5">
            <a:extLst>
              <a:ext uri="{FF2B5EF4-FFF2-40B4-BE49-F238E27FC236}">
                <a16:creationId xmlns:a16="http://schemas.microsoft.com/office/drawing/2014/main" id="{DDBF3E3D-0B70-0FD2-D89F-0EDDB9CF4A5C}"/>
              </a:ext>
            </a:extLst>
          </p:cNvPr>
          <p:cNvSpPr txBox="1"/>
          <p:nvPr/>
        </p:nvSpPr>
        <p:spPr>
          <a:xfrm>
            <a:off x="704492" y="616688"/>
            <a:ext cx="7152968" cy="3293209"/>
          </a:xfrm>
          <a:prstGeom prst="rect">
            <a:avLst/>
          </a:prstGeom>
          <a:noFill/>
        </p:spPr>
        <p:txBody>
          <a:bodyPr wrap="square">
            <a:spAutoFit/>
          </a:bodyPr>
          <a:lstStyle/>
          <a:p>
            <a:pPr marL="285750" indent="-285750">
              <a:buFont typeface="Wingdings" pitchFamily="2" charset="2"/>
              <a:buChar char="Ø"/>
            </a:pPr>
            <a:r>
              <a:rPr lang="en-GB" sz="1600" dirty="0"/>
              <a:t>Artificial Intelligence (AI) holds the power to revolutionize critical sectors in society.</a:t>
            </a:r>
          </a:p>
          <a:p>
            <a:pPr marL="285750" indent="-285750">
              <a:buFont typeface="Wingdings" pitchFamily="2" charset="2"/>
              <a:buChar char="Ø"/>
            </a:pPr>
            <a:endParaRPr lang="en-GB" sz="1600" dirty="0"/>
          </a:p>
          <a:p>
            <a:pPr marL="285750" indent="-285750">
              <a:buFont typeface="Wingdings" pitchFamily="2" charset="2"/>
              <a:buChar char="Ø"/>
            </a:pPr>
            <a:r>
              <a:rPr lang="en-GB" sz="1600" dirty="0"/>
              <a:t> For instance, in personalized healthcare, AI can </a:t>
            </a:r>
            <a:r>
              <a:rPr lang="en-GB" sz="1600" dirty="0" err="1"/>
              <a:t>analyze</a:t>
            </a:r>
            <a:r>
              <a:rPr lang="en-GB" sz="1600" dirty="0"/>
              <a:t> patient data to offer tailored treatment plans, predict disease outbreaks, or assist in early diagnosis.</a:t>
            </a:r>
          </a:p>
          <a:p>
            <a:pPr marL="285750" indent="-285750">
              <a:buFont typeface="Wingdings" pitchFamily="2" charset="2"/>
              <a:buChar char="Ø"/>
            </a:pPr>
            <a:endParaRPr lang="en-GB" sz="1600" dirty="0"/>
          </a:p>
          <a:p>
            <a:pPr marL="285750" indent="-285750">
              <a:buFont typeface="Wingdings" pitchFamily="2" charset="2"/>
              <a:buChar char="Ø"/>
            </a:pPr>
            <a:r>
              <a:rPr lang="en-GB" sz="1600" dirty="0"/>
              <a:t> In environmental monitoring, AI can track pollution levels, detect deforestation through satellite imagery, or optimize energy consumption. </a:t>
            </a:r>
          </a:p>
          <a:p>
            <a:pPr marL="285750" indent="-285750">
              <a:buFont typeface="Wingdings" pitchFamily="2" charset="2"/>
              <a:buChar char="Ø"/>
            </a:pPr>
            <a:endParaRPr lang="en-GB" sz="1600" dirty="0"/>
          </a:p>
          <a:p>
            <a:pPr marL="285750" indent="-285750">
              <a:buFont typeface="Wingdings" pitchFamily="2" charset="2"/>
              <a:buChar char="Ø"/>
            </a:pPr>
            <a:r>
              <a:rPr lang="en-GB" sz="1600" dirty="0"/>
              <a:t>It also aids in disaster prediction, by processing weather patterns and geological data to anticipate events like floods or earthquakes, enabling quicker responses and potentially saving lives.</a:t>
            </a:r>
          </a:p>
        </p:txBody>
      </p:sp>
    </p:spTree>
    <p:extLst>
      <p:ext uri="{BB962C8B-B14F-4D97-AF65-F5344CB8AC3E}">
        <p14:creationId xmlns:p14="http://schemas.microsoft.com/office/powerpoint/2010/main" val="608414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29D1B412-D3FB-F323-BF5D-FAB7F4ED7437}"/>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FAB63D67-4002-4ED0-C578-11BAA2C771A6}"/>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C4A86D17-8520-5E19-1E7D-B7026EF56A7A}"/>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Governance and Societal Well-being &amp; Challenges</a:t>
            </a: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6" name="TextBox 5">
            <a:extLst>
              <a:ext uri="{FF2B5EF4-FFF2-40B4-BE49-F238E27FC236}">
                <a16:creationId xmlns:a16="http://schemas.microsoft.com/office/drawing/2014/main" id="{2507D637-11E9-93DB-62E5-187826025868}"/>
              </a:ext>
            </a:extLst>
          </p:cNvPr>
          <p:cNvSpPr txBox="1"/>
          <p:nvPr/>
        </p:nvSpPr>
        <p:spPr>
          <a:xfrm>
            <a:off x="704492" y="616688"/>
            <a:ext cx="7152968" cy="4278094"/>
          </a:xfrm>
          <a:prstGeom prst="rect">
            <a:avLst/>
          </a:prstGeom>
          <a:noFill/>
        </p:spPr>
        <p:txBody>
          <a:bodyPr wrap="square">
            <a:spAutoFit/>
          </a:bodyPr>
          <a:lstStyle/>
          <a:p>
            <a:r>
              <a:rPr lang="en-GB" sz="1600" b="1" dirty="0"/>
              <a:t>AI also brings serious challenges. </a:t>
            </a:r>
          </a:p>
          <a:p>
            <a:endParaRPr lang="en-GB" sz="1600" b="1" dirty="0"/>
          </a:p>
          <a:p>
            <a:pPr marL="342900" indent="-342900">
              <a:buFont typeface="+mj-lt"/>
              <a:buAutoNum type="arabicPeriod"/>
            </a:pPr>
            <a:r>
              <a:rPr lang="en-GB" sz="1600" dirty="0"/>
              <a:t>Job displacement is a growing concern as automation replaces human labour in industries like manufacturing, customer service, and logistics.</a:t>
            </a:r>
          </a:p>
          <a:p>
            <a:pPr marL="342900" indent="-342900">
              <a:buFont typeface="+mj-lt"/>
              <a:buAutoNum type="arabicPeriod"/>
            </a:pPr>
            <a:endParaRPr lang="en-GB" sz="1600" dirty="0"/>
          </a:p>
          <a:p>
            <a:pPr marL="342900" indent="-342900">
              <a:buFont typeface="+mj-lt"/>
              <a:buAutoNum type="arabicPeriod"/>
            </a:pPr>
            <a:r>
              <a:rPr lang="en-GB" sz="1600" dirty="0"/>
              <a:t> Moreover, the rapid deployment of AI technologies can deepen digital inequality, where those with access to AI tools thrive, while underserved populations fall further behind.</a:t>
            </a:r>
          </a:p>
          <a:p>
            <a:pPr marL="342900" indent="-342900">
              <a:buFont typeface="+mj-lt"/>
              <a:buAutoNum type="arabicPeriod"/>
            </a:pPr>
            <a:endParaRPr lang="en-GB" sz="1600" dirty="0"/>
          </a:p>
          <a:p>
            <a:pPr marL="342900" indent="-342900">
              <a:buFont typeface="+mj-lt"/>
              <a:buAutoNum type="arabicPeriod"/>
            </a:pPr>
            <a:r>
              <a:rPr lang="en-GB" sz="1600" dirty="0"/>
              <a:t>To address this duality, AI governance policies must be designed to promote fairness and accessibility. This includes expanding access to AI education, supporting underserved communities, and ensuring AI systems are designed with inclusivity in mind. </a:t>
            </a:r>
          </a:p>
          <a:p>
            <a:pPr marL="342900" indent="-342900">
              <a:buFont typeface="+mj-lt"/>
              <a:buAutoNum type="arabicPeriod"/>
            </a:pPr>
            <a:endParaRPr lang="en-GB" sz="1600" dirty="0"/>
          </a:p>
          <a:p>
            <a:pPr marL="342900" indent="-342900">
              <a:buFont typeface="+mj-lt"/>
              <a:buAutoNum type="arabicPeriod"/>
            </a:pPr>
            <a:r>
              <a:rPr lang="en-GB" sz="1600" dirty="0"/>
              <a:t>The overarching goal is to guide AI development in a way that delivers positive, widespread societal benefits, rather than exacerbating existing disparities.</a:t>
            </a:r>
          </a:p>
        </p:txBody>
      </p:sp>
    </p:spTree>
    <p:extLst>
      <p:ext uri="{BB962C8B-B14F-4D97-AF65-F5344CB8AC3E}">
        <p14:creationId xmlns:p14="http://schemas.microsoft.com/office/powerpoint/2010/main" val="830319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298B63D3-586C-30A2-18D2-2E04A0785056}"/>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E801AF71-7754-D7F2-4F78-929E945DC379}"/>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9A157DCB-3677-0D13-45D3-FD06B2884106}"/>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Case Study 1: EU AI Act</a:t>
            </a: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BDF37C8D-1557-2336-8DF4-04DAC55DC135}"/>
              </a:ext>
            </a:extLst>
          </p:cNvPr>
          <p:cNvSpPr txBox="1"/>
          <p:nvPr/>
        </p:nvSpPr>
        <p:spPr>
          <a:xfrm>
            <a:off x="1032388" y="1007168"/>
            <a:ext cx="7278328" cy="2800767"/>
          </a:xfrm>
          <a:prstGeom prst="rect">
            <a:avLst/>
          </a:prstGeom>
          <a:noFill/>
        </p:spPr>
        <p:txBody>
          <a:bodyPr wrap="square">
            <a:spAutoFit/>
          </a:bodyPr>
          <a:lstStyle/>
          <a:p>
            <a:r>
              <a:rPr lang="en-GB" sz="1600" dirty="0"/>
              <a:t>The EU AI Act is a landmark legal proposal classifying AI systems by risk level. High-risk systems must meet stringent transparency, accuracy, and human oversight requirements. This approach balances safety and innovation, serving as a model for other nations.</a:t>
            </a:r>
          </a:p>
          <a:p>
            <a:endParaRPr lang="en-GB" sz="1600" dirty="0"/>
          </a:p>
          <a:p>
            <a:r>
              <a:rPr lang="en-GB" sz="1600" dirty="0"/>
              <a:t>The </a:t>
            </a:r>
            <a:r>
              <a:rPr lang="en-GB" sz="1600" b="1" dirty="0"/>
              <a:t>EU AI Act</a:t>
            </a:r>
            <a:r>
              <a:rPr lang="en-GB" sz="1600" dirty="0"/>
              <a:t> introduces a </a:t>
            </a:r>
            <a:r>
              <a:rPr lang="en-GB" sz="1600" b="1" dirty="0"/>
              <a:t>risk-based classification system</a:t>
            </a:r>
            <a:r>
              <a:rPr lang="en-GB" sz="1600" dirty="0"/>
              <a:t> for AI technologies. This means AI systems are evaluated and categorized based on the potential harm they could cause to people’s safety or fundamental rights. For example, applications in healthcare or law enforcement might be considered </a:t>
            </a:r>
            <a:r>
              <a:rPr lang="en-GB" sz="1600" b="1" dirty="0"/>
              <a:t>high-risk</a:t>
            </a:r>
            <a:r>
              <a:rPr lang="en-GB" sz="1600" dirty="0"/>
              <a:t>, while entertainment-related AI might fall into a lower-risk category.</a:t>
            </a:r>
          </a:p>
        </p:txBody>
      </p:sp>
    </p:spTree>
    <p:extLst>
      <p:ext uri="{BB962C8B-B14F-4D97-AF65-F5344CB8AC3E}">
        <p14:creationId xmlns:p14="http://schemas.microsoft.com/office/powerpoint/2010/main" val="3772860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C587E855-6B18-68E4-EEE1-3A043F3D796F}"/>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64A74B8B-4BBA-9FF0-748B-396C9D55F8D1}"/>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BA555EE0-3A8A-41F7-DE3B-D30A2C18A013}"/>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Case Study 1: EU AI Act contd..</a:t>
            </a: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69388F4A-68BA-D3D8-213D-74D6F6BA9B9E}"/>
              </a:ext>
            </a:extLst>
          </p:cNvPr>
          <p:cNvSpPr txBox="1"/>
          <p:nvPr/>
        </p:nvSpPr>
        <p:spPr>
          <a:xfrm>
            <a:off x="1032388" y="1007168"/>
            <a:ext cx="7278328" cy="3539430"/>
          </a:xfrm>
          <a:prstGeom prst="rect">
            <a:avLst/>
          </a:prstGeom>
          <a:noFill/>
        </p:spPr>
        <p:txBody>
          <a:bodyPr wrap="square">
            <a:spAutoFit/>
          </a:bodyPr>
          <a:lstStyle/>
          <a:p>
            <a:pPr>
              <a:buNone/>
            </a:pPr>
            <a:r>
              <a:rPr lang="en-GB" sz="1600" dirty="0"/>
              <a:t>For </a:t>
            </a:r>
            <a:r>
              <a:rPr lang="en-GB" sz="1600" b="1" dirty="0"/>
              <a:t>high-risk systems</a:t>
            </a:r>
            <a:r>
              <a:rPr lang="en-GB" sz="1600" dirty="0"/>
              <a:t>, the Act imposes strict requirements to ensure trust and accountability. These include:</a:t>
            </a:r>
          </a:p>
          <a:p>
            <a:pPr>
              <a:buNone/>
            </a:pPr>
            <a:endParaRPr lang="en-GB" sz="1600" dirty="0"/>
          </a:p>
          <a:p>
            <a:pPr marL="285750" indent="-285750">
              <a:buFont typeface="Wingdings" pitchFamily="2" charset="2"/>
              <a:buChar char="Ø"/>
            </a:pPr>
            <a:r>
              <a:rPr lang="en-GB" sz="1600" b="1" dirty="0"/>
              <a:t>Transparency</a:t>
            </a:r>
            <a:r>
              <a:rPr lang="en-GB" sz="1600" dirty="0"/>
              <a:t>: Users must be informed when they are interacting with an AI system.</a:t>
            </a:r>
          </a:p>
          <a:p>
            <a:pPr marL="285750" indent="-285750">
              <a:buFont typeface="Wingdings" pitchFamily="2" charset="2"/>
              <a:buChar char="Ø"/>
            </a:pPr>
            <a:r>
              <a:rPr lang="en-GB" sz="1600" b="1" dirty="0"/>
              <a:t>Accuracy</a:t>
            </a:r>
            <a:r>
              <a:rPr lang="en-GB" sz="1600" dirty="0"/>
              <a:t>: The system must be thoroughly tested to perform reliably.</a:t>
            </a:r>
          </a:p>
          <a:p>
            <a:pPr marL="285750" indent="-285750">
              <a:buFont typeface="Wingdings" pitchFamily="2" charset="2"/>
              <a:buChar char="Ø"/>
            </a:pPr>
            <a:r>
              <a:rPr lang="en-GB" sz="1600" b="1" dirty="0"/>
              <a:t>Human oversight</a:t>
            </a:r>
            <a:r>
              <a:rPr lang="en-GB" sz="1600" dirty="0"/>
              <a:t>: There must be provisions to allow humans to monitor and intervene if necessary.</a:t>
            </a:r>
          </a:p>
          <a:p>
            <a:pPr marL="285750" indent="-285750">
              <a:buFont typeface="Wingdings" pitchFamily="2" charset="2"/>
              <a:buChar char="Ø"/>
            </a:pPr>
            <a:endParaRPr lang="en-GB" sz="1600" dirty="0"/>
          </a:p>
          <a:p>
            <a:r>
              <a:rPr lang="en-GB" sz="1600" dirty="0"/>
              <a:t>This approach is designed to </a:t>
            </a:r>
            <a:r>
              <a:rPr lang="en-GB" sz="1600" b="1" dirty="0"/>
              <a:t>balance innovation with public safety</a:t>
            </a:r>
            <a:r>
              <a:rPr lang="en-GB" sz="1600" dirty="0"/>
              <a:t>, allowing Europe to benefit from AI advancements while minimizing potential harm. Because of its structured and comprehensive nature, the EU AI Act is often viewed as a </a:t>
            </a:r>
            <a:r>
              <a:rPr lang="en-GB" sz="1600" b="1" dirty="0"/>
              <a:t>model</a:t>
            </a:r>
            <a:r>
              <a:rPr lang="en-GB" sz="1600" dirty="0"/>
              <a:t> for other countries exploring how to govern AI effectively.</a:t>
            </a:r>
          </a:p>
        </p:txBody>
      </p:sp>
    </p:spTree>
    <p:extLst>
      <p:ext uri="{BB962C8B-B14F-4D97-AF65-F5344CB8AC3E}">
        <p14:creationId xmlns:p14="http://schemas.microsoft.com/office/powerpoint/2010/main" val="2653609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D8840E5C-0440-F5F2-439F-6A871B90BCB4}"/>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7C8E965F-5714-9022-EB44-0444CF2A4CF5}"/>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79B0F487-A7B2-CBBF-A68C-7DFF42802AC6}"/>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Case Study 2: Clearview AI</a:t>
            </a: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4" name="TextBox 3">
            <a:extLst>
              <a:ext uri="{FF2B5EF4-FFF2-40B4-BE49-F238E27FC236}">
                <a16:creationId xmlns:a16="http://schemas.microsoft.com/office/drawing/2014/main" id="{6B6D82B5-8594-4F06-F283-3A804D46629B}"/>
              </a:ext>
            </a:extLst>
          </p:cNvPr>
          <p:cNvSpPr txBox="1"/>
          <p:nvPr/>
        </p:nvSpPr>
        <p:spPr>
          <a:xfrm>
            <a:off x="393192" y="678924"/>
            <a:ext cx="5139813" cy="3785652"/>
          </a:xfrm>
          <a:prstGeom prst="rect">
            <a:avLst/>
          </a:prstGeom>
          <a:noFill/>
        </p:spPr>
        <p:txBody>
          <a:bodyPr wrap="square">
            <a:spAutoFit/>
          </a:bodyPr>
          <a:lstStyle/>
          <a:p>
            <a:r>
              <a:rPr lang="en-GB" sz="1600" dirty="0"/>
              <a:t>Clearview AI collected billions of online photos to power its facial recognition. Privacy watchdogs raised concerns over consent and legality. Several countries banned the app. This case sparked international debates on biometric data governance and ethical boundaries.</a:t>
            </a:r>
          </a:p>
          <a:p>
            <a:endParaRPr lang="en-GB" sz="1600" dirty="0"/>
          </a:p>
          <a:p>
            <a:r>
              <a:rPr lang="en-GB" sz="1600" dirty="0"/>
              <a:t>It  is a U.S.-based facial recognition company that created a massive database by scraping over 3 billion images from public websites like Facebook, LinkedIn, and Instagram without obtaining user consent. This action raised serious concerns among privacy advocates and regulatory authorities, as it violated data protection and privacy norms in several jurisdictions.</a:t>
            </a:r>
          </a:p>
        </p:txBody>
      </p:sp>
      <p:pic>
        <p:nvPicPr>
          <p:cNvPr id="6" name="Picture 5" descr="Close-up of a phone screen&#10;&#10;AI-generated content may be incorrect.">
            <a:extLst>
              <a:ext uri="{FF2B5EF4-FFF2-40B4-BE49-F238E27FC236}">
                <a16:creationId xmlns:a16="http://schemas.microsoft.com/office/drawing/2014/main" id="{EAAB9296-CBD4-7FE6-DFC0-848E48EE95ED}"/>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465506" y="1263141"/>
            <a:ext cx="3730113" cy="2094602"/>
          </a:xfrm>
          <a:prstGeom prst="rect">
            <a:avLst/>
          </a:prstGeom>
        </p:spPr>
      </p:pic>
    </p:spTree>
    <p:extLst>
      <p:ext uri="{BB962C8B-B14F-4D97-AF65-F5344CB8AC3E}">
        <p14:creationId xmlns:p14="http://schemas.microsoft.com/office/powerpoint/2010/main" val="3535619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763E83D5-6B0C-01D5-7AA0-105C3FE435C7}"/>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729E6ACC-3CF7-735B-9636-2A173D6C18B0}"/>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C3E7DBBE-011E-4E8C-5A41-64CA73EE4135}"/>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Case Study 2: Clearview AI contd..</a:t>
            </a: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4" name="TextBox 3">
            <a:extLst>
              <a:ext uri="{FF2B5EF4-FFF2-40B4-BE49-F238E27FC236}">
                <a16:creationId xmlns:a16="http://schemas.microsoft.com/office/drawing/2014/main" id="{0F7E30A2-9FA5-9B51-1ABD-DE7455C2BC40}"/>
              </a:ext>
            </a:extLst>
          </p:cNvPr>
          <p:cNvSpPr txBox="1"/>
          <p:nvPr/>
        </p:nvSpPr>
        <p:spPr>
          <a:xfrm>
            <a:off x="781664" y="937199"/>
            <a:ext cx="6902245" cy="2800767"/>
          </a:xfrm>
          <a:prstGeom prst="rect">
            <a:avLst/>
          </a:prstGeom>
          <a:noFill/>
        </p:spPr>
        <p:txBody>
          <a:bodyPr wrap="square">
            <a:spAutoFit/>
          </a:bodyPr>
          <a:lstStyle/>
          <a:p>
            <a:pPr marL="285750" indent="-285750">
              <a:buFont typeface="Wingdings" pitchFamily="2" charset="2"/>
              <a:buChar char="Ø"/>
            </a:pPr>
            <a:r>
              <a:rPr lang="en-GB" sz="1600" dirty="0"/>
              <a:t>Governments and watchdog agencies in countries like Canada, Australia, and across the EU challenged the legality of Clearview’s data collection, resulting in fines, regulatory orders, and in some cases, outright bans of the application. </a:t>
            </a:r>
          </a:p>
          <a:p>
            <a:pPr marL="285750" indent="-285750">
              <a:buFont typeface="Wingdings" pitchFamily="2" charset="2"/>
              <a:buChar char="Ø"/>
            </a:pPr>
            <a:r>
              <a:rPr lang="en-GB" sz="1600" dirty="0"/>
              <a:t>These controversies sparked global debates about the ethical boundaries of using biometric data, especially in law enforcement. </a:t>
            </a:r>
          </a:p>
          <a:p>
            <a:pPr marL="285750" indent="-285750">
              <a:buFont typeface="Wingdings" pitchFamily="2" charset="2"/>
              <a:buChar char="Ø"/>
            </a:pPr>
            <a:r>
              <a:rPr lang="en-GB" sz="1600" dirty="0"/>
              <a:t>The Clearview case has become a landmark example highlighting the urgent need for stricter AI governance, especially for facial recognition and surveillance technologies. </a:t>
            </a:r>
          </a:p>
          <a:p>
            <a:pPr marL="285750" indent="-285750">
              <a:buFont typeface="Wingdings" pitchFamily="2" charset="2"/>
              <a:buChar char="Ø"/>
            </a:pPr>
            <a:r>
              <a:rPr lang="en-GB" sz="1600" dirty="0"/>
              <a:t>It underscores how unchecked AI deployment can lead to mass surveillance, loss of individual privacy, and erosion of civil liberties.</a:t>
            </a:r>
          </a:p>
        </p:txBody>
      </p:sp>
    </p:spTree>
    <p:extLst>
      <p:ext uri="{BB962C8B-B14F-4D97-AF65-F5344CB8AC3E}">
        <p14:creationId xmlns:p14="http://schemas.microsoft.com/office/powerpoint/2010/main" val="1040220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0645C858-30CF-254A-52F6-4CE565B843E6}"/>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D306880C-0BE5-866C-6374-35EAF03171A1}"/>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F207BF08-40B6-7516-8396-0DB0401EA8F1}"/>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Case Study 3: OpenAI GPT-4</a:t>
            </a: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05CA99CD-EECF-949C-1D97-8D04B3873113}"/>
              </a:ext>
            </a:extLst>
          </p:cNvPr>
          <p:cNvSpPr txBox="1"/>
          <p:nvPr/>
        </p:nvSpPr>
        <p:spPr>
          <a:xfrm>
            <a:off x="217783" y="616688"/>
            <a:ext cx="5829055" cy="4401205"/>
          </a:xfrm>
          <a:prstGeom prst="rect">
            <a:avLst/>
          </a:prstGeom>
          <a:noFill/>
        </p:spPr>
        <p:txBody>
          <a:bodyPr wrap="square">
            <a:spAutoFit/>
          </a:bodyPr>
          <a:lstStyle/>
          <a:p>
            <a:r>
              <a:rPr lang="en-GB" dirty="0"/>
              <a:t>Large language models like GPT-4 raise concerns over misinformation, copyright infringement, and biased outputs. OpenAI adopted a gradual deployment strategy, incorporating safety research and user feedback. This case illustrates governance in powerful generative AI systems.</a:t>
            </a:r>
          </a:p>
          <a:p>
            <a:pPr>
              <a:buNone/>
            </a:pPr>
            <a:r>
              <a:rPr lang="en-GB" dirty="0"/>
              <a:t>Large language models (LLMs) like </a:t>
            </a:r>
            <a:r>
              <a:rPr lang="en-GB" b="1" dirty="0"/>
              <a:t>GPT-4</a:t>
            </a:r>
            <a:r>
              <a:rPr lang="en-GB" dirty="0"/>
              <a:t> have the potential to revolutionize various industries, but they also introduce several significant challenges.</a:t>
            </a:r>
          </a:p>
          <a:p>
            <a:pPr>
              <a:buNone/>
            </a:pPr>
            <a:endParaRPr lang="en-GB" dirty="0"/>
          </a:p>
          <a:p>
            <a:pPr>
              <a:buFont typeface="+mj-lt"/>
              <a:buAutoNum type="arabicPeriod"/>
            </a:pPr>
            <a:r>
              <a:rPr lang="en-GB" b="1" dirty="0"/>
              <a:t>Misinformation</a:t>
            </a:r>
            <a:r>
              <a:rPr lang="en-GB" dirty="0"/>
              <a:t>: LLMs can generate text that appears credible but may contain inaccuracies, misleading information, or outright falsehoods. Since these models are trained on vast amounts of internet data, they may inadvertently propagate harmful content or unverified facts, potentially exacerbating issues related to fake news and disinformation.</a:t>
            </a:r>
          </a:p>
          <a:p>
            <a:pPr>
              <a:buFont typeface="+mj-lt"/>
              <a:buAutoNum type="arabicPeriod"/>
            </a:pPr>
            <a:endParaRPr lang="en-GB" dirty="0"/>
          </a:p>
          <a:p>
            <a:pPr>
              <a:buFont typeface="+mj-lt"/>
              <a:buAutoNum type="arabicPeriod"/>
            </a:pPr>
            <a:r>
              <a:rPr lang="en-GB" b="1" dirty="0"/>
              <a:t>Copyright Infringement</a:t>
            </a:r>
            <a:r>
              <a:rPr lang="en-GB" dirty="0"/>
              <a:t>: LLMs like GPT-4 can generate text based on patterns and data derived from existing works, raising concerns over whether these models are inadvertently replicating or infringing upon copyrighted content. This creates legal and ethical dilemmas regarding ownership and intellectual property rights.</a:t>
            </a:r>
          </a:p>
        </p:txBody>
      </p:sp>
      <p:pic>
        <p:nvPicPr>
          <p:cNvPr id="6" name="Picture 5" descr="A robot head with green eyes&#10;&#10;AI-generated content may be incorrect.">
            <a:extLst>
              <a:ext uri="{FF2B5EF4-FFF2-40B4-BE49-F238E27FC236}">
                <a16:creationId xmlns:a16="http://schemas.microsoft.com/office/drawing/2014/main" id="{34213D68-A4A0-B659-AE7D-8056AE4DDE3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6046839" y="1772573"/>
            <a:ext cx="3044720" cy="1712655"/>
          </a:xfrm>
          <a:prstGeom prst="rect">
            <a:avLst/>
          </a:prstGeom>
        </p:spPr>
      </p:pic>
    </p:spTree>
    <p:extLst>
      <p:ext uri="{BB962C8B-B14F-4D97-AF65-F5344CB8AC3E}">
        <p14:creationId xmlns:p14="http://schemas.microsoft.com/office/powerpoint/2010/main" val="3076479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9401CF05-2005-FBF9-08A3-DB2533FD9E1F}"/>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B50ECE89-7E50-72B4-846B-89376BE174B9}"/>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8D0E7CA0-E46F-4BDA-A15E-FDBFD5BF2983}"/>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Case Study 3: OpenAI GPT-4</a:t>
            </a: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26157FC3-C733-651F-99CC-80EAD299A278}"/>
              </a:ext>
            </a:extLst>
          </p:cNvPr>
          <p:cNvSpPr txBox="1"/>
          <p:nvPr/>
        </p:nvSpPr>
        <p:spPr>
          <a:xfrm>
            <a:off x="227848" y="526852"/>
            <a:ext cx="5877983" cy="4616648"/>
          </a:xfrm>
          <a:prstGeom prst="rect">
            <a:avLst/>
          </a:prstGeom>
          <a:noFill/>
        </p:spPr>
        <p:txBody>
          <a:bodyPr wrap="square">
            <a:spAutoFit/>
          </a:bodyPr>
          <a:lstStyle/>
          <a:p>
            <a:endParaRPr lang="en-GB" dirty="0"/>
          </a:p>
          <a:p>
            <a:r>
              <a:rPr lang="en-GB" b="1" dirty="0"/>
              <a:t>3. Biased Outputs</a:t>
            </a:r>
            <a:r>
              <a:rPr lang="en-GB" dirty="0"/>
              <a:t>: Despite efforts to reduce bias in training data, LLMs still carry the risk of generating biased, discriminatory, or harmful content. This is because they are trained on historical and societal data, which often contains inherent biases. These models may reinforce stereotypes or produce outputs that disproportionately harm certain groups.</a:t>
            </a:r>
          </a:p>
          <a:p>
            <a:endParaRPr lang="en-GB" dirty="0"/>
          </a:p>
          <a:p>
            <a:pPr>
              <a:buNone/>
            </a:pPr>
            <a:r>
              <a:rPr lang="en-GB" b="1" dirty="0"/>
              <a:t>OpenAI's Approach</a:t>
            </a:r>
            <a:r>
              <a:rPr lang="en-GB" dirty="0"/>
              <a:t>: To mitigate these risks, OpenAI adopted a gradual deployment strategy. This means that rather than releasing GPT-4 to the public all at once, the company rolled it out progressively, allowing for ongoing testing, feedback, and safety research. This approach helps ensure that any issues with the model can be addressed before full-scale deployment, incorporating user feedback and conducting additional safety checks.</a:t>
            </a:r>
          </a:p>
          <a:p>
            <a:pPr>
              <a:buNone/>
            </a:pPr>
            <a:endParaRPr lang="en-GB" dirty="0"/>
          </a:p>
          <a:p>
            <a:r>
              <a:rPr lang="en-GB" dirty="0"/>
              <a:t>This case highlights the importance of governance in powerful AI systems like GPT-4. Proper governance frameworks are crucial for overseeing the ethical use of AI, ensuring it operates responsibly, and balancing its vast potential with the need for accountability and fairness.</a:t>
            </a:r>
          </a:p>
          <a:p>
            <a:endParaRPr lang="en-GB" dirty="0"/>
          </a:p>
        </p:txBody>
      </p:sp>
      <p:pic>
        <p:nvPicPr>
          <p:cNvPr id="2" name="Picture 1" descr="A robot head with green eyes&#10;&#10;AI-generated content may be incorrect.">
            <a:extLst>
              <a:ext uri="{FF2B5EF4-FFF2-40B4-BE49-F238E27FC236}">
                <a16:creationId xmlns:a16="http://schemas.microsoft.com/office/drawing/2014/main" id="{3BA43F29-B4AE-6329-18ED-4016FB600F18}"/>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6046839" y="1772573"/>
            <a:ext cx="3044720" cy="1712655"/>
          </a:xfrm>
          <a:prstGeom prst="rect">
            <a:avLst/>
          </a:prstGeom>
        </p:spPr>
      </p:pic>
    </p:spTree>
    <p:extLst>
      <p:ext uri="{BB962C8B-B14F-4D97-AF65-F5344CB8AC3E}">
        <p14:creationId xmlns:p14="http://schemas.microsoft.com/office/powerpoint/2010/main" val="22708344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791BFE71-BD16-B064-EA88-83A068AB89FB}"/>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51A61D3A-1169-91F0-DDB8-4EDCCDBA29D2}"/>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828BE019-A403-FD86-71F4-507798800CD1}"/>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AI Governance: Industry Perspectives</a:t>
            </a:r>
            <a:br>
              <a:rPr lang="en-GB" sz="2000" b="1" dirty="0"/>
            </a:b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4" name="TextBox 3">
            <a:extLst>
              <a:ext uri="{FF2B5EF4-FFF2-40B4-BE49-F238E27FC236}">
                <a16:creationId xmlns:a16="http://schemas.microsoft.com/office/drawing/2014/main" id="{7BE39C67-74B0-7C90-F974-8A8A27DB1681}"/>
              </a:ext>
            </a:extLst>
          </p:cNvPr>
          <p:cNvSpPr txBox="1"/>
          <p:nvPr/>
        </p:nvSpPr>
        <p:spPr>
          <a:xfrm>
            <a:off x="658147" y="944573"/>
            <a:ext cx="7320730" cy="3539430"/>
          </a:xfrm>
          <a:prstGeom prst="rect">
            <a:avLst/>
          </a:prstGeom>
          <a:noFill/>
        </p:spPr>
        <p:txBody>
          <a:bodyPr wrap="square">
            <a:spAutoFit/>
          </a:bodyPr>
          <a:lstStyle/>
          <a:p>
            <a:r>
              <a:rPr lang="en-GB" dirty="0"/>
              <a:t>Industry players often push for self-regulation but also invest in internal ethics teams. While some companies actively contribute to policy, others resist external oversight. The balance between corporate autonomy and regulatory enforcement remains a central debate.</a:t>
            </a:r>
          </a:p>
          <a:p>
            <a:endParaRPr lang="en-GB" dirty="0"/>
          </a:p>
          <a:p>
            <a:pPr>
              <a:buNone/>
            </a:pPr>
            <a:r>
              <a:rPr lang="en-GB" dirty="0"/>
              <a:t>The industry's viewpoint is shaped by several factors:</a:t>
            </a:r>
          </a:p>
          <a:p>
            <a:pPr>
              <a:buNone/>
            </a:pPr>
            <a:endParaRPr lang="en-GB" dirty="0"/>
          </a:p>
          <a:p>
            <a:pPr>
              <a:buFont typeface="+mj-lt"/>
              <a:buAutoNum type="arabicPeriod"/>
            </a:pPr>
            <a:r>
              <a:rPr lang="en-GB" b="1" dirty="0"/>
              <a:t>Self-regulation</a:t>
            </a:r>
            <a:r>
              <a:rPr lang="en-GB" dirty="0"/>
              <a:t>: Many companies in the AI industry advocate for self-regulation rather than strict government-imposed rules. They argue that businesses are better equipped to understand the nuances of AI technologies and that industry-driven guidelines allow for more flexibility and quicker adaptation to technological advancements. This can also foster innovation by reducing bureaucratic delays associated with regulatory bodies.</a:t>
            </a:r>
          </a:p>
          <a:p>
            <a:pPr>
              <a:buFont typeface="+mj-lt"/>
              <a:buAutoNum type="arabicPeriod"/>
            </a:pPr>
            <a:endParaRPr lang="en-GB" dirty="0"/>
          </a:p>
          <a:p>
            <a:pPr>
              <a:buFont typeface="+mj-lt"/>
              <a:buAutoNum type="arabicPeriod"/>
            </a:pPr>
            <a:r>
              <a:rPr lang="en-GB" b="1" dirty="0"/>
              <a:t>Internal Ethics Committees</a:t>
            </a:r>
            <a:r>
              <a:rPr lang="en-GB" dirty="0"/>
              <a:t>: Larger companies often establish internal ethics teams that work to ensure AI systems are being developed and deployed in a manner consistent with ethical principles. These teams are responsible for reviewing AI models, identifying potential risks, and recommending safeguards to prevent harm, bias, or misuse.</a:t>
            </a:r>
          </a:p>
        </p:txBody>
      </p:sp>
    </p:spTree>
    <p:extLst>
      <p:ext uri="{BB962C8B-B14F-4D97-AF65-F5344CB8AC3E}">
        <p14:creationId xmlns:p14="http://schemas.microsoft.com/office/powerpoint/2010/main" val="3963935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D39EA83F-32C6-B75F-4ECC-532A78B5CEAD}"/>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7189902D-E423-9361-61C2-D3FE284ACA8C}"/>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90094AD2-BA8E-05EF-9819-AA4B3CB1D8F1}"/>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dirty="0"/>
              <a:t>AI Governance: Industry Perspectives contd..</a:t>
            </a:r>
            <a:br>
              <a:rPr lang="en-GB" sz="2000" b="1" dirty="0"/>
            </a:b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4" name="TextBox 3">
            <a:extLst>
              <a:ext uri="{FF2B5EF4-FFF2-40B4-BE49-F238E27FC236}">
                <a16:creationId xmlns:a16="http://schemas.microsoft.com/office/drawing/2014/main" id="{C9805C79-A5A7-B780-AF62-99C0AF11D44C}"/>
              </a:ext>
            </a:extLst>
          </p:cNvPr>
          <p:cNvSpPr txBox="1"/>
          <p:nvPr/>
        </p:nvSpPr>
        <p:spPr>
          <a:xfrm>
            <a:off x="658146" y="944573"/>
            <a:ext cx="7637821" cy="3754874"/>
          </a:xfrm>
          <a:prstGeom prst="rect">
            <a:avLst/>
          </a:prstGeom>
          <a:noFill/>
        </p:spPr>
        <p:txBody>
          <a:bodyPr wrap="square">
            <a:spAutoFit/>
          </a:bodyPr>
          <a:lstStyle/>
          <a:p>
            <a:r>
              <a:rPr lang="en-GB" b="1" dirty="0"/>
              <a:t>3. Resistance to External Oversight</a:t>
            </a:r>
            <a:r>
              <a:rPr lang="en-GB" dirty="0"/>
              <a:t>: While some companies are proactive in promoting ethical AI, others might resist external oversight due to concerns about how regulation could impact profit margins or limit creative freedom. There’s often a fear that government-imposed regulations could slow down innovation, increase compliance costs, or limit the scope of certain AI applications.</a:t>
            </a:r>
          </a:p>
          <a:p>
            <a:endParaRPr lang="en-GB" dirty="0"/>
          </a:p>
          <a:p>
            <a:r>
              <a:rPr lang="en-GB" b="1" dirty="0"/>
              <a:t>4. Balancing Innovation with Regulation</a:t>
            </a:r>
            <a:r>
              <a:rPr lang="en-GB" dirty="0"/>
              <a:t>: The debate between fostering innovation and ensuring public safety and trust remains central to AI governance. Striking the right balance is crucial for the industry. Without sufficient regulation, there’s a risk of harmful outcomes like algorithmic bias, discrimination, or privacy violations. Conversely, too much regulation could stifle innovation or lead to overly cautious approaches that hinder technological progress.</a:t>
            </a:r>
          </a:p>
          <a:p>
            <a:endParaRPr lang="en-GB" dirty="0"/>
          </a:p>
          <a:p>
            <a:r>
              <a:rPr lang="en-GB" dirty="0"/>
              <a:t>Ultimately, this slide highlights the complexity of AI governance from the industry’s perspective, where autonomy and innovation are important, but ethical considerations and public accountability cannot be overlooked. The role of governance should allow for innovation while ensuring ethical standards, transparency, and accountability are maintained.</a:t>
            </a:r>
          </a:p>
          <a:p>
            <a:endParaRPr lang="en-GB" dirty="0"/>
          </a:p>
        </p:txBody>
      </p:sp>
    </p:spTree>
    <p:extLst>
      <p:ext uri="{BB962C8B-B14F-4D97-AF65-F5344CB8AC3E}">
        <p14:creationId xmlns:p14="http://schemas.microsoft.com/office/powerpoint/2010/main" val="1463451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3E74B80A-A515-ADB1-3FD8-FF58838F2058}"/>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B365A672-6528-E389-70B8-AC52A5D6906C}"/>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51759479-50A1-02E5-C305-A34C7D8AA9EB}"/>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buNone/>
            </a:pPr>
            <a:r>
              <a:rPr lang="en-GB" sz="2400" dirty="0">
                <a:solidFill>
                  <a:srgbClr val="7030A0"/>
                </a:solidFill>
                <a:latin typeface="+mn-lt"/>
              </a:rPr>
              <a:t>The Role of Academia and Civil Society</a:t>
            </a:r>
            <a:br>
              <a:rPr lang="en-GB" sz="1600" b="0" i="0" u="none" strike="noStrike" dirty="0">
                <a:solidFill>
                  <a:schemeClr val="tx1"/>
                </a:solidFill>
                <a:effectLst/>
                <a:latin typeface="+mn-lt"/>
              </a:rPr>
            </a:br>
            <a:br>
              <a:rPr lang="en-GB" sz="1600" b="0" dirty="0">
                <a:solidFill>
                  <a:schemeClr val="tx1"/>
                </a:solidFill>
                <a:latin typeface="+mn-lt"/>
              </a:rPr>
            </a:br>
            <a:r>
              <a:rPr lang="en-GB" sz="1600" b="0" dirty="0">
                <a:solidFill>
                  <a:schemeClr val="tx1"/>
                </a:solidFill>
                <a:latin typeface="+mn-lt"/>
              </a:rPr>
              <a:t>Academics explore algorithmic fairness and bias detection, while civil society groups advocate for rights and transparency. These actors shape public discourse and influence legislation by publishing research, filing lawsuits, and engaging in public awareness campaigns.</a:t>
            </a:r>
            <a:br>
              <a:rPr lang="en-GB" sz="1600" b="0" dirty="0">
                <a:solidFill>
                  <a:schemeClr val="tx1"/>
                </a:solidFill>
                <a:latin typeface="+mn-lt"/>
              </a:rPr>
            </a:br>
            <a:r>
              <a:rPr lang="en-GB" sz="1600" dirty="0">
                <a:solidFill>
                  <a:schemeClr val="tx1"/>
                </a:solidFill>
                <a:latin typeface="+mn-lt"/>
              </a:rPr>
              <a:t>Here’s a breakdown of their roles:</a:t>
            </a:r>
            <a:br>
              <a:rPr lang="en-GB" sz="1600" dirty="0">
                <a:solidFill>
                  <a:schemeClr val="tx1"/>
                </a:solidFill>
                <a:latin typeface="+mn-lt"/>
              </a:rPr>
            </a:br>
            <a:br>
              <a:rPr lang="en-GB" sz="1600" dirty="0">
                <a:solidFill>
                  <a:schemeClr val="tx1"/>
                </a:solidFill>
                <a:latin typeface="+mn-lt"/>
              </a:rPr>
            </a:br>
            <a:r>
              <a:rPr lang="en-GB" sz="1600" dirty="0">
                <a:solidFill>
                  <a:schemeClr val="tx1"/>
                </a:solidFill>
                <a:latin typeface="+mn-lt"/>
              </a:rPr>
              <a:t>Academia's Role:</a:t>
            </a:r>
            <a:br>
              <a:rPr lang="en-GB" sz="1600" dirty="0">
                <a:solidFill>
                  <a:schemeClr val="tx1"/>
                </a:solidFill>
                <a:latin typeface="+mn-lt"/>
              </a:rPr>
            </a:br>
            <a:br>
              <a:rPr lang="en-GB" sz="1600" dirty="0">
                <a:solidFill>
                  <a:schemeClr val="tx1"/>
                </a:solidFill>
                <a:latin typeface="+mn-lt"/>
              </a:rPr>
            </a:br>
            <a:r>
              <a:rPr lang="en-GB" sz="1600" dirty="0">
                <a:solidFill>
                  <a:schemeClr val="tx1"/>
                </a:solidFill>
                <a:latin typeface="+mn-lt"/>
              </a:rPr>
              <a:t>1. Research &amp; Knowledge Creation</a:t>
            </a:r>
            <a:r>
              <a:rPr lang="en-GB" sz="1600" b="0" dirty="0">
                <a:solidFill>
                  <a:schemeClr val="tx1"/>
                </a:solidFill>
                <a:latin typeface="+mn-lt"/>
              </a:rPr>
              <a:t>: Universities and research institutions play a pivotal role in advancing AI ethics, fairness, and transparency. Scholars conduct studies on algorithmic bias, fairness, and AI's social impact, providing evidence-based frameworks that help shape policy and governance models.</a:t>
            </a:r>
            <a:br>
              <a:rPr lang="en-GB" sz="1600" b="0" dirty="0">
                <a:solidFill>
                  <a:schemeClr val="tx1"/>
                </a:solidFill>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dirty="0">
                <a:solidFill>
                  <a:schemeClr val="tx1"/>
                </a:solidFill>
                <a:latin typeface="+mn-lt"/>
                <a:ea typeface="Arial"/>
                <a:cs typeface="Arial"/>
                <a:sym typeface="Arial"/>
              </a:rPr>
            </a:br>
            <a:endParaRPr lang="en-GB" sz="1600" b="0" dirty="0">
              <a:solidFill>
                <a:schemeClr val="tx1"/>
              </a:solidFill>
              <a:latin typeface="+mn-lt"/>
            </a:endParaRPr>
          </a:p>
        </p:txBody>
      </p:sp>
    </p:spTree>
    <p:extLst>
      <p:ext uri="{BB962C8B-B14F-4D97-AF65-F5344CB8AC3E}">
        <p14:creationId xmlns:p14="http://schemas.microsoft.com/office/powerpoint/2010/main" val="27767297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0364F95E-B7EB-586A-E1DB-8B7AF40DB07A}"/>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CC44BE41-361E-9CC6-D95D-2BB54755C1C5}"/>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5AECB7F4-9A5B-1E94-175C-00FADBB0A3CB}"/>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buNone/>
            </a:pPr>
            <a:r>
              <a:rPr lang="en-GB" sz="2400" dirty="0">
                <a:solidFill>
                  <a:srgbClr val="7030A0"/>
                </a:solidFill>
                <a:latin typeface="+mn-lt"/>
              </a:rPr>
              <a:t>The Role of Academia and Civil Society</a:t>
            </a:r>
            <a:br>
              <a:rPr lang="en-GB" sz="1600" b="0" i="0" u="none" strike="noStrike" dirty="0">
                <a:solidFill>
                  <a:schemeClr val="tx1"/>
                </a:solidFill>
                <a:effectLst/>
                <a:latin typeface="+mn-lt"/>
              </a:rPr>
            </a:br>
            <a:br>
              <a:rPr lang="en-GB" sz="1600" b="0" dirty="0">
                <a:solidFill>
                  <a:schemeClr val="tx1"/>
                </a:solidFill>
                <a:latin typeface="+mn-lt"/>
              </a:rPr>
            </a:br>
            <a:br>
              <a:rPr lang="en-GB" sz="1600" b="0" dirty="0">
                <a:solidFill>
                  <a:schemeClr val="tx1"/>
                </a:solidFill>
                <a:latin typeface="+mn-lt"/>
              </a:rPr>
            </a:br>
            <a:r>
              <a:rPr lang="en-GB" sz="1600" dirty="0">
                <a:solidFill>
                  <a:schemeClr val="tx1"/>
                </a:solidFill>
                <a:latin typeface="+mn-lt"/>
              </a:rPr>
              <a:t>2. Innovation: </a:t>
            </a:r>
            <a:r>
              <a:rPr lang="en-GB" sz="1600" b="0" dirty="0">
                <a:solidFill>
                  <a:schemeClr val="tx1"/>
                </a:solidFill>
                <a:latin typeface="+mn-lt"/>
              </a:rPr>
              <a:t>Academics are at the forefront of developing new AI technologies. Their research often challenges the status quo, proposing new methods for building ethical AI, improving model interpretability, and addressing safety concerns.</a:t>
            </a:r>
            <a:br>
              <a:rPr lang="en-GB" sz="1600" b="0" dirty="0">
                <a:solidFill>
                  <a:schemeClr val="tx1"/>
                </a:solidFill>
                <a:latin typeface="+mn-lt"/>
              </a:rPr>
            </a:br>
            <a:br>
              <a:rPr lang="en-GB" sz="1600" b="0" dirty="0">
                <a:solidFill>
                  <a:schemeClr val="tx1"/>
                </a:solidFill>
                <a:latin typeface="+mn-lt"/>
              </a:rPr>
            </a:br>
            <a:r>
              <a:rPr lang="en-GB" sz="1600" dirty="0">
                <a:solidFill>
                  <a:schemeClr val="tx1"/>
                </a:solidFill>
                <a:latin typeface="+mn-lt"/>
              </a:rPr>
              <a:t>3. Ethical Training: </a:t>
            </a:r>
            <a:r>
              <a:rPr lang="en-GB" sz="1600" b="0" dirty="0">
                <a:solidFill>
                  <a:schemeClr val="tx1"/>
                </a:solidFill>
                <a:latin typeface="+mn-lt"/>
              </a:rPr>
              <a:t>Academia also trains the next generation of AI professionals, embedding ethical thinking into their training. This ensures that future technologists, engineers, and policymakers understand the social and ethical implications of their work.</a:t>
            </a:r>
            <a:br>
              <a:rPr lang="en-GB" sz="1600" b="0" dirty="0">
                <a:solidFill>
                  <a:schemeClr val="tx1"/>
                </a:solidFill>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dirty="0">
                <a:solidFill>
                  <a:schemeClr val="tx1"/>
                </a:solidFill>
                <a:latin typeface="+mn-lt"/>
                <a:ea typeface="Arial"/>
                <a:cs typeface="Arial"/>
                <a:sym typeface="Arial"/>
              </a:rPr>
            </a:br>
            <a:endParaRPr lang="en-GB" sz="1600" b="0" dirty="0">
              <a:solidFill>
                <a:schemeClr val="tx1"/>
              </a:solidFill>
              <a:latin typeface="+mn-lt"/>
            </a:endParaRPr>
          </a:p>
        </p:txBody>
      </p:sp>
    </p:spTree>
    <p:extLst>
      <p:ext uri="{BB962C8B-B14F-4D97-AF65-F5344CB8AC3E}">
        <p14:creationId xmlns:p14="http://schemas.microsoft.com/office/powerpoint/2010/main" val="3915035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87BFA09A-AD4C-098E-A12F-D4284ECC9049}"/>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CEEAD2DF-3CA3-ED20-A88C-B36504CD2B19}"/>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F2D1CEE9-96C4-F45D-A122-701A48288246}"/>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buNone/>
            </a:pPr>
            <a:r>
              <a:rPr lang="en-GB" sz="2400" dirty="0">
                <a:solidFill>
                  <a:srgbClr val="7030A0"/>
                </a:solidFill>
                <a:latin typeface="+mn-lt"/>
              </a:rPr>
              <a:t>The Role of Academia and Civil Society</a:t>
            </a:r>
            <a:br>
              <a:rPr lang="en-GB" sz="1600" b="0" dirty="0">
                <a:solidFill>
                  <a:schemeClr val="tx1"/>
                </a:solidFill>
                <a:latin typeface="+mn-lt"/>
              </a:rPr>
            </a:br>
            <a:r>
              <a:rPr lang="en-GB" sz="1500" dirty="0">
                <a:solidFill>
                  <a:schemeClr val="tx1"/>
                </a:solidFill>
                <a:latin typeface="+mj-lt"/>
              </a:rPr>
              <a:t>Civil Society's Role:</a:t>
            </a:r>
            <a:br>
              <a:rPr lang="en-GB" sz="1500" dirty="0">
                <a:solidFill>
                  <a:schemeClr val="tx1"/>
                </a:solidFill>
                <a:latin typeface="+mj-lt"/>
              </a:rPr>
            </a:br>
            <a:r>
              <a:rPr lang="en-GB" sz="1500" dirty="0">
                <a:solidFill>
                  <a:schemeClr val="tx1"/>
                </a:solidFill>
                <a:latin typeface="+mj-lt"/>
              </a:rPr>
              <a:t>1. Advocacy &amp; Public Awareness: </a:t>
            </a:r>
            <a:r>
              <a:rPr lang="en-GB" sz="1500" b="0" dirty="0">
                <a:solidFill>
                  <a:schemeClr val="tx1"/>
                </a:solidFill>
                <a:latin typeface="+mj-lt"/>
              </a:rPr>
              <a:t>Civil society organizations, including NGOs, activists, and social movements, advocate for the rights and interests of the public in AI policy discussions. They push for regulations that protect privacy, equality, and human rights.</a:t>
            </a:r>
            <a:br>
              <a:rPr lang="en-GB" sz="1500" b="0" dirty="0">
                <a:solidFill>
                  <a:schemeClr val="tx1"/>
                </a:solidFill>
                <a:latin typeface="+mj-lt"/>
              </a:rPr>
            </a:br>
            <a:r>
              <a:rPr lang="en-GB" sz="1500" dirty="0">
                <a:solidFill>
                  <a:schemeClr val="tx1"/>
                </a:solidFill>
                <a:latin typeface="+mj-lt"/>
              </a:rPr>
              <a:t>2. Monitoring and Accountability: </a:t>
            </a:r>
            <a:r>
              <a:rPr lang="en-GB" sz="1500" b="0" dirty="0">
                <a:solidFill>
                  <a:schemeClr val="tx1"/>
                </a:solidFill>
                <a:latin typeface="+mj-lt"/>
              </a:rPr>
              <a:t>Civil society organizations often act as watchdogs, holding corporations and governments accountable for how AI systems are deployed and ensuring these systems don’t exacerbate inequalities or violate rights.</a:t>
            </a:r>
            <a:br>
              <a:rPr lang="en-GB" sz="1500" b="0" dirty="0">
                <a:solidFill>
                  <a:schemeClr val="tx1"/>
                </a:solidFill>
                <a:latin typeface="+mj-lt"/>
              </a:rPr>
            </a:br>
            <a:r>
              <a:rPr lang="en-GB" sz="1500" dirty="0">
                <a:solidFill>
                  <a:schemeClr val="tx1"/>
                </a:solidFill>
                <a:latin typeface="+mj-lt"/>
              </a:rPr>
              <a:t>3. Public Engagement: </a:t>
            </a:r>
            <a:r>
              <a:rPr lang="en-GB" sz="1500" b="0" dirty="0">
                <a:solidFill>
                  <a:schemeClr val="tx1"/>
                </a:solidFill>
                <a:latin typeface="+mj-lt"/>
              </a:rPr>
              <a:t>They engage with the general public, increasing awareness of AI’s potential risks and benefits. Through campaigns, debates, and consultations, civil society ensures that AI governance is inclusive and reflects the diverse needs of society.</a:t>
            </a:r>
            <a:br>
              <a:rPr lang="en-GB" sz="1500" b="0" dirty="0">
                <a:solidFill>
                  <a:schemeClr val="tx1"/>
                </a:solidFill>
                <a:latin typeface="+mj-lt"/>
              </a:rPr>
            </a:br>
            <a:r>
              <a:rPr lang="en-GB" sz="1500" b="0" dirty="0">
                <a:solidFill>
                  <a:schemeClr val="tx1"/>
                </a:solidFill>
                <a:latin typeface="+mj-lt"/>
              </a:rPr>
              <a:t>Together, academia and civil society provide a checks-and-balances system that helps shape AI governance. While academia pushes for ethical frameworks and rigorous research, civil society ensures that AI technologies are aligned with the public good and advocates for the voices of marginalized groups. Their contributions are crucial in creating a balanced, fair, and accountable AI ecosystem.</a:t>
            </a:r>
            <a:br>
              <a:rPr lang="en-GB" sz="1600" b="0" dirty="0">
                <a:solidFill>
                  <a:schemeClr val="tx1"/>
                </a:solidFill>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i="0" u="none" strike="noStrike" dirty="0">
                <a:solidFill>
                  <a:schemeClr val="tx1"/>
                </a:solidFill>
                <a:effectLst/>
                <a:latin typeface="+mn-lt"/>
              </a:rPr>
            </a:br>
            <a:br>
              <a:rPr lang="en-GB" sz="1600" b="0" dirty="0">
                <a:solidFill>
                  <a:schemeClr val="tx1"/>
                </a:solidFill>
                <a:latin typeface="+mn-lt"/>
                <a:ea typeface="Arial"/>
                <a:cs typeface="Arial"/>
                <a:sym typeface="Arial"/>
              </a:rPr>
            </a:br>
            <a:endParaRPr lang="en-GB" sz="1600" b="0" dirty="0">
              <a:solidFill>
                <a:schemeClr val="tx1"/>
              </a:solidFill>
              <a:latin typeface="+mn-lt"/>
            </a:endParaRPr>
          </a:p>
        </p:txBody>
      </p:sp>
    </p:spTree>
    <p:extLst>
      <p:ext uri="{BB962C8B-B14F-4D97-AF65-F5344CB8AC3E}">
        <p14:creationId xmlns:p14="http://schemas.microsoft.com/office/powerpoint/2010/main" val="911458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53F7E63F-D706-2B24-9BC7-C535B6E33DDD}"/>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2C6E48FF-4D05-A4EB-62AC-05605B56B032}"/>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87CB19FE-AEAF-4E00-6050-22C3A2B61BC6}"/>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buNone/>
            </a:pPr>
            <a:r>
              <a:rPr lang="en-GB" sz="2400" dirty="0">
                <a:solidFill>
                  <a:srgbClr val="7030A0"/>
                </a:solidFill>
                <a:latin typeface="+mj-lt"/>
              </a:rPr>
              <a:t>Challenges in AI Governance</a:t>
            </a:r>
            <a:br>
              <a:rPr lang="en-GB" sz="1400" b="0" dirty="0">
                <a:solidFill>
                  <a:schemeClr val="tx1"/>
                </a:solidFill>
                <a:latin typeface="+mj-lt"/>
              </a:rPr>
            </a:br>
            <a:br>
              <a:rPr lang="en-GB" sz="1400" b="0" i="0" u="none" strike="noStrike" dirty="0">
                <a:solidFill>
                  <a:schemeClr val="tx1"/>
                </a:solidFill>
                <a:effectLst/>
                <a:latin typeface="+mj-lt"/>
              </a:rPr>
            </a:br>
            <a:r>
              <a:rPr lang="en-GB" sz="1400" b="0" i="0" u="none" strike="noStrike" dirty="0">
                <a:solidFill>
                  <a:schemeClr val="tx1"/>
                </a:solidFill>
                <a:effectLst/>
                <a:latin typeface="+mj-lt"/>
              </a:rPr>
              <a:t>T</a:t>
            </a:r>
            <a:r>
              <a:rPr lang="en-GB" sz="1400" b="0" dirty="0">
                <a:solidFill>
                  <a:schemeClr val="tx1"/>
                </a:solidFill>
                <a:latin typeface="+mj-lt"/>
              </a:rPr>
              <a:t>he major challenges that hinder the effective governance of AI systems. AI governance aims to regulate and control the development and deployment of AI technologies in a way that is ethical, fair, and transparent. However, several complex issues need to be addressed to ensure proper governance:</a:t>
            </a:r>
            <a:br>
              <a:rPr lang="en-GB" sz="1400" b="0" dirty="0">
                <a:solidFill>
                  <a:schemeClr val="tx1"/>
                </a:solidFill>
                <a:latin typeface="+mj-lt"/>
              </a:rPr>
            </a:br>
            <a:br>
              <a:rPr lang="en-GB" sz="1400" b="0" dirty="0">
                <a:solidFill>
                  <a:schemeClr val="tx1"/>
                </a:solidFill>
                <a:latin typeface="+mj-lt"/>
              </a:rPr>
            </a:br>
            <a:r>
              <a:rPr lang="en-GB" sz="1400" dirty="0">
                <a:solidFill>
                  <a:schemeClr val="tx1"/>
                </a:solidFill>
                <a:latin typeface="+mj-lt"/>
              </a:rPr>
              <a:t>Technical Opacity:</a:t>
            </a:r>
            <a:r>
              <a:rPr lang="en-GB" sz="1400" b="0" dirty="0">
                <a:solidFill>
                  <a:schemeClr val="tx1"/>
                </a:solidFill>
                <a:latin typeface="+mj-lt"/>
              </a:rPr>
              <a:t> Many AI models, particularly deep learning models, are often described as "black boxes." This means their decision-making process is not easily interpretable by humans. It is difficult to understand how these models arrive at their conclusions, which raises concerns about accountability and trust in their outputs. In governance, this opacity creates a problem because regulators and stakeholders may struggle to assess whether AI systems are working ethically, fairly, and in compliance with regulations. Transparent models or the development of techniques for explainable AI (XAI) are essential to overcoming this challenge.</a:t>
            </a:r>
            <a:br>
              <a:rPr lang="en-GB" sz="1400" b="0" dirty="0">
                <a:solidFill>
                  <a:schemeClr val="tx1"/>
                </a:solidFill>
                <a:latin typeface="+mj-lt"/>
              </a:rPr>
            </a:br>
            <a:r>
              <a:rPr lang="en-GB" sz="1400" dirty="0">
                <a:solidFill>
                  <a:schemeClr val="tx1"/>
                </a:solidFill>
                <a:latin typeface="+mj-lt"/>
              </a:rPr>
              <a:t>Regulatory Lag: </a:t>
            </a:r>
            <a:r>
              <a:rPr lang="en-GB" sz="1400" b="0" dirty="0">
                <a:solidFill>
                  <a:schemeClr val="tx1"/>
                </a:solidFill>
                <a:latin typeface="+mj-lt"/>
              </a:rPr>
              <a:t>AI technology evolves at a rapid pace, often faster than legislative bodies can enact new laws or regulations. This creates a situation where regulations may be outdated or ineffective in addressing current AI developments. For instance, by the time a regulatory body creates guidelines for an emerging technology, that technology may have already surpassed the initial regulatory framework. This lag makes it difficult to establish rules that can keep pace with innovation while maintaining control over the risks posed by AI.</a:t>
            </a:r>
            <a:br>
              <a:rPr lang="en-GB" sz="1400" b="0" dirty="0">
                <a:solidFill>
                  <a:schemeClr val="tx1"/>
                </a:solidFill>
                <a:latin typeface="+mj-lt"/>
              </a:rPr>
            </a:br>
            <a:br>
              <a:rPr lang="en-GB" sz="1400" b="0" dirty="0">
                <a:solidFill>
                  <a:schemeClr val="tx1"/>
                </a:solidFill>
                <a:latin typeface="+mj-lt"/>
              </a:rPr>
            </a:br>
            <a:br>
              <a:rPr lang="en-GB" sz="1400" b="0" i="0" u="none" strike="noStrike" dirty="0">
                <a:solidFill>
                  <a:schemeClr val="tx1"/>
                </a:solidFill>
                <a:effectLst/>
                <a:latin typeface="+mj-lt"/>
              </a:rPr>
            </a:br>
            <a:br>
              <a:rPr lang="en-GB" sz="1400" b="0" i="0" u="none" strike="noStrike" dirty="0">
                <a:solidFill>
                  <a:schemeClr val="tx1"/>
                </a:solidFill>
                <a:effectLst/>
                <a:latin typeface="+mj-lt"/>
              </a:rPr>
            </a:br>
            <a:br>
              <a:rPr lang="en-GB" sz="1400" b="0" i="0" u="none" strike="noStrike" dirty="0">
                <a:solidFill>
                  <a:schemeClr val="tx1"/>
                </a:solidFill>
                <a:effectLst/>
                <a:latin typeface="+mj-lt"/>
              </a:rPr>
            </a:br>
            <a:br>
              <a:rPr lang="en-GB" sz="1400" b="0" dirty="0">
                <a:solidFill>
                  <a:schemeClr val="tx1"/>
                </a:solidFill>
                <a:latin typeface="+mj-lt"/>
                <a:ea typeface="Arial"/>
                <a:cs typeface="Arial"/>
                <a:sym typeface="Arial"/>
              </a:rPr>
            </a:br>
            <a:endParaRPr lang="en-GB" sz="1400" b="0" dirty="0">
              <a:solidFill>
                <a:schemeClr val="tx1"/>
              </a:solidFill>
              <a:latin typeface="+mj-lt"/>
            </a:endParaRPr>
          </a:p>
        </p:txBody>
      </p:sp>
    </p:spTree>
    <p:extLst>
      <p:ext uri="{BB962C8B-B14F-4D97-AF65-F5344CB8AC3E}">
        <p14:creationId xmlns:p14="http://schemas.microsoft.com/office/powerpoint/2010/main" val="41809824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B9D8D540-2987-CBBE-6431-FCB7906EC9BB}"/>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E13237C8-7C45-7B2C-F30E-28E5EF8315C9}"/>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5B64306F-FC87-995C-42AD-9ED7D4952797}"/>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buNone/>
            </a:pPr>
            <a:r>
              <a:rPr lang="en-GB" sz="2400" dirty="0">
                <a:solidFill>
                  <a:srgbClr val="7030A0"/>
                </a:solidFill>
                <a:latin typeface="+mj-lt"/>
              </a:rPr>
              <a:t>Challenges in AI Governance</a:t>
            </a:r>
            <a:br>
              <a:rPr lang="en-GB" sz="1400" b="0" dirty="0">
                <a:solidFill>
                  <a:schemeClr val="tx1"/>
                </a:solidFill>
                <a:latin typeface="+mj-lt"/>
              </a:rPr>
            </a:br>
            <a:br>
              <a:rPr lang="en-GB" sz="1400" b="0" i="0" u="none" strike="noStrike" dirty="0">
                <a:solidFill>
                  <a:schemeClr val="tx1"/>
                </a:solidFill>
                <a:effectLst/>
                <a:latin typeface="+mj-lt"/>
              </a:rPr>
            </a:br>
            <a:br>
              <a:rPr lang="en-GB" sz="1400" b="0" dirty="0">
                <a:solidFill>
                  <a:schemeClr val="tx1"/>
                </a:solidFill>
                <a:latin typeface="+mj-lt"/>
              </a:rPr>
            </a:br>
            <a:r>
              <a:rPr lang="en-GB" sz="1600" dirty="0">
                <a:solidFill>
                  <a:schemeClr val="tx1"/>
                </a:solidFill>
                <a:latin typeface="+mj-lt"/>
              </a:rPr>
              <a:t>Cross-border Enforcement:</a:t>
            </a:r>
            <a:r>
              <a:rPr lang="en-GB" sz="1600" b="0" dirty="0">
                <a:solidFill>
                  <a:schemeClr val="tx1"/>
                </a:solidFill>
                <a:latin typeface="+mj-lt"/>
              </a:rPr>
              <a:t> AI technologies and their impact are often global. AI systems can be deployed across multiple countries, but enforcing national laws on AI is difficult when the technology operates across borders. Different countries may have different laws and standards governing AI, and jurisdictional challenges make it hard to hold companies accountable or ensure that AI systems adhere to all applicable rules. This calls for international cooperation and standardized governance frameworks that can address these cross-border challenges and create cohesive, harmonized policies.</a:t>
            </a:r>
            <a:br>
              <a:rPr lang="en-GB" sz="1600" b="0" dirty="0">
                <a:solidFill>
                  <a:schemeClr val="tx1"/>
                </a:solidFill>
                <a:latin typeface="+mj-lt"/>
              </a:rPr>
            </a:br>
            <a:br>
              <a:rPr lang="en-GB" sz="1600" b="0" dirty="0">
                <a:solidFill>
                  <a:schemeClr val="tx1"/>
                </a:solidFill>
                <a:latin typeface="+mj-lt"/>
              </a:rPr>
            </a:br>
            <a:r>
              <a:rPr lang="en-GB" sz="1600" dirty="0">
                <a:solidFill>
                  <a:schemeClr val="tx1"/>
                </a:solidFill>
                <a:latin typeface="+mj-lt"/>
              </a:rPr>
              <a:t>In Summary:</a:t>
            </a:r>
            <a:br>
              <a:rPr lang="en-GB" sz="1600" b="0" dirty="0">
                <a:solidFill>
                  <a:schemeClr val="tx1"/>
                </a:solidFill>
                <a:latin typeface="+mj-lt"/>
              </a:rPr>
            </a:br>
            <a:r>
              <a:rPr lang="en-GB" sz="1600" b="0" dirty="0">
                <a:solidFill>
                  <a:schemeClr val="tx1"/>
                </a:solidFill>
                <a:latin typeface="+mj-lt"/>
              </a:rPr>
              <a:t>These three challenges-technical opacity, regulatory lag, and cross-border enforcement highlight the difficulties in establishing robust and comprehensive AI governance. Solving these issues requires innovative solutions such as the development of more transparent AI models, faster regulatory adaptation processes, and global collaboration in governance efforts.</a:t>
            </a:r>
            <a:br>
              <a:rPr lang="en-GB" sz="1400" b="0" dirty="0">
                <a:solidFill>
                  <a:schemeClr val="tx1"/>
                </a:solidFill>
                <a:latin typeface="+mj-lt"/>
              </a:rPr>
            </a:br>
            <a:br>
              <a:rPr lang="en-GB" sz="1400" b="0" i="0" u="none" strike="noStrike" dirty="0">
                <a:solidFill>
                  <a:schemeClr val="tx1"/>
                </a:solidFill>
                <a:effectLst/>
                <a:latin typeface="+mj-lt"/>
              </a:rPr>
            </a:br>
            <a:br>
              <a:rPr lang="en-GB" sz="1400" b="0" i="0" u="none" strike="noStrike" dirty="0">
                <a:solidFill>
                  <a:schemeClr val="tx1"/>
                </a:solidFill>
                <a:effectLst/>
                <a:latin typeface="+mj-lt"/>
              </a:rPr>
            </a:br>
            <a:br>
              <a:rPr lang="en-GB" sz="1400" b="0" i="0" u="none" strike="noStrike" dirty="0">
                <a:solidFill>
                  <a:schemeClr val="tx1"/>
                </a:solidFill>
                <a:effectLst/>
                <a:latin typeface="+mj-lt"/>
              </a:rPr>
            </a:br>
            <a:br>
              <a:rPr lang="en-GB" sz="1400" b="0" dirty="0">
                <a:solidFill>
                  <a:schemeClr val="tx1"/>
                </a:solidFill>
                <a:latin typeface="+mj-lt"/>
                <a:ea typeface="Arial"/>
                <a:cs typeface="Arial"/>
                <a:sym typeface="Arial"/>
              </a:rPr>
            </a:br>
            <a:endParaRPr lang="en-GB" sz="1400" b="0" dirty="0">
              <a:solidFill>
                <a:schemeClr val="tx1"/>
              </a:solidFill>
              <a:latin typeface="+mj-lt"/>
            </a:endParaRPr>
          </a:p>
        </p:txBody>
      </p:sp>
    </p:spTree>
    <p:extLst>
      <p:ext uri="{BB962C8B-B14F-4D97-AF65-F5344CB8AC3E}">
        <p14:creationId xmlns:p14="http://schemas.microsoft.com/office/powerpoint/2010/main" val="25087117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FE321E0D-E62C-3DB6-92A9-92472A805F38}"/>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0285A938-D221-EE24-44D3-7A7BF238A8AA}"/>
              </a:ext>
            </a:extLst>
          </p:cNvPr>
          <p:cNvPicPr preferRelativeResize="0"/>
          <p:nvPr/>
        </p:nvPicPr>
        <p:blipFill rotWithShape="1">
          <a:blip r:embed="rId4">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567CCFBD-7CB3-08D1-C43F-5DE719B0D5F2}"/>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buNone/>
            </a:pPr>
            <a:r>
              <a:rPr lang="en-GB" sz="2400" b="1" dirty="0"/>
              <a:t>Opportunities Ahead</a:t>
            </a:r>
            <a:br>
              <a:rPr lang="en-GB" sz="1400" b="0" i="0" u="none" strike="noStrike" dirty="0">
                <a:solidFill>
                  <a:schemeClr val="tx1"/>
                </a:solidFill>
                <a:effectLst/>
                <a:latin typeface="+mj-lt"/>
              </a:rPr>
            </a:br>
            <a:br>
              <a:rPr lang="en-GB" sz="1400" b="0" i="0" u="none" strike="noStrike" dirty="0">
                <a:solidFill>
                  <a:schemeClr val="tx1"/>
                </a:solidFill>
                <a:effectLst/>
                <a:latin typeface="+mj-lt"/>
              </a:rPr>
            </a:br>
            <a:br>
              <a:rPr lang="en-GB" sz="1050" b="1" dirty="0"/>
            </a:br>
            <a:r>
              <a:rPr lang="en-GB" sz="1600" b="0" dirty="0">
                <a:solidFill>
                  <a:schemeClr val="tx1"/>
                </a:solidFill>
                <a:latin typeface="+mj-lt"/>
              </a:rPr>
              <a:t>As AI technologies continue to evolve, new possibilities arise for strengthening governance frameworks. These opportunities focus on collaboration, innovation, and improving the global approach to AI regulation:</a:t>
            </a:r>
            <a:br>
              <a:rPr lang="en-GB" sz="1600" b="0" dirty="0">
                <a:solidFill>
                  <a:schemeClr val="tx1"/>
                </a:solidFill>
                <a:latin typeface="+mj-lt"/>
              </a:rPr>
            </a:br>
            <a:br>
              <a:rPr lang="en-GB" sz="1600" b="0" dirty="0">
                <a:solidFill>
                  <a:schemeClr val="tx1"/>
                </a:solidFill>
                <a:latin typeface="+mj-lt"/>
              </a:rPr>
            </a:br>
            <a:r>
              <a:rPr lang="en-GB" sz="1600" dirty="0">
                <a:solidFill>
                  <a:schemeClr val="tx1"/>
                </a:solidFill>
                <a:latin typeface="+mj-lt"/>
              </a:rPr>
              <a:t>Global AI Treaties to Harmonize Ethics and Risk Management:</a:t>
            </a:r>
            <a:br>
              <a:rPr lang="en-GB" sz="1600" dirty="0">
                <a:solidFill>
                  <a:schemeClr val="tx1"/>
                </a:solidFill>
                <a:latin typeface="+mj-lt"/>
              </a:rPr>
            </a:br>
            <a:r>
              <a:rPr lang="en-GB" sz="1600" b="0" dirty="0">
                <a:solidFill>
                  <a:schemeClr val="tx1"/>
                </a:solidFill>
                <a:latin typeface="+mj-lt"/>
              </a:rPr>
              <a:t>As AI technologies are not confined to any one country, international cooperation is essential. The idea behind global AI treaties is to create a unified legal framework across borders, ensuring that AI systems adhere to ethical principles and that risk management approaches are consistent worldwide. </a:t>
            </a:r>
            <a:br>
              <a:rPr lang="en-GB" sz="1600" b="0" dirty="0">
                <a:solidFill>
                  <a:schemeClr val="tx1"/>
                </a:solidFill>
                <a:latin typeface="+mj-lt"/>
              </a:rPr>
            </a:br>
            <a:br>
              <a:rPr lang="en-GB" sz="1600" b="0" dirty="0">
                <a:solidFill>
                  <a:schemeClr val="tx1"/>
                </a:solidFill>
                <a:latin typeface="+mj-lt"/>
              </a:rPr>
            </a:br>
            <a:r>
              <a:rPr lang="en-GB" sz="1600" b="0" dirty="0">
                <a:solidFill>
                  <a:schemeClr val="tx1"/>
                </a:solidFill>
                <a:latin typeface="+mj-lt"/>
              </a:rPr>
              <a:t>These treaties would aim to set common guidelines and standards for AI ethics, privacy, and safety, reducing the risks posed by differences in national regulations. Harmonizing these rules helps create a level playing field for countries and corporations, while promoting responsible AI development globally.</a:t>
            </a:r>
            <a:br>
              <a:rPr lang="en-GB" sz="1050" dirty="0"/>
            </a:br>
            <a:br>
              <a:rPr lang="en-GB" sz="1400" b="0" i="0" u="none" strike="noStrike" dirty="0">
                <a:solidFill>
                  <a:schemeClr val="tx1"/>
                </a:solidFill>
                <a:effectLst/>
                <a:latin typeface="+mj-lt"/>
              </a:rPr>
            </a:br>
            <a:br>
              <a:rPr lang="en-GB" sz="1400" b="0" dirty="0">
                <a:solidFill>
                  <a:schemeClr val="tx1"/>
                </a:solidFill>
                <a:latin typeface="+mj-lt"/>
                <a:ea typeface="Arial"/>
                <a:cs typeface="Arial"/>
                <a:sym typeface="Arial"/>
              </a:rPr>
            </a:br>
            <a:endParaRPr lang="en-GB" sz="1400" b="0" dirty="0">
              <a:solidFill>
                <a:schemeClr val="tx1"/>
              </a:solidFill>
              <a:latin typeface="+mj-lt"/>
            </a:endParaRPr>
          </a:p>
        </p:txBody>
      </p:sp>
    </p:spTree>
    <p:extLst>
      <p:ext uri="{BB962C8B-B14F-4D97-AF65-F5344CB8AC3E}">
        <p14:creationId xmlns:p14="http://schemas.microsoft.com/office/powerpoint/2010/main" val="2614986056"/>
      </p:ext>
    </p:extLst>
  </p:cSld>
  <p:clrMapOvr>
    <a:overrideClrMapping bg1="lt1" tx1="dk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B6301184-22BD-B516-934C-2861005116B7}"/>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0AE607CB-8FFB-3D7F-4D6E-1806E126301E}"/>
              </a:ext>
            </a:extLst>
          </p:cNvPr>
          <p:cNvPicPr preferRelativeResize="0"/>
          <p:nvPr/>
        </p:nvPicPr>
        <p:blipFill rotWithShape="1">
          <a:blip r:embed="rId4">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170E2084-C59B-1B99-EBD4-E1FD17ECE5CD}"/>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buNone/>
            </a:pPr>
            <a:r>
              <a:rPr lang="en-GB" sz="2400" b="1" dirty="0"/>
              <a:t>Opportunities Ahead contd..</a:t>
            </a:r>
            <a:br>
              <a:rPr lang="en-GB" sz="1400" b="0" i="0" u="none" strike="noStrike" dirty="0">
                <a:solidFill>
                  <a:schemeClr val="tx1"/>
                </a:solidFill>
                <a:effectLst/>
                <a:latin typeface="+mj-lt"/>
              </a:rPr>
            </a:br>
            <a:br>
              <a:rPr lang="en-GB" sz="1400" b="0" i="0" u="none" strike="noStrike" dirty="0">
                <a:solidFill>
                  <a:schemeClr val="tx1"/>
                </a:solidFill>
                <a:effectLst/>
                <a:latin typeface="+mj-lt"/>
              </a:rPr>
            </a:br>
            <a:br>
              <a:rPr lang="en-GB" sz="1600" b="0" dirty="0">
                <a:solidFill>
                  <a:schemeClr val="tx1"/>
                </a:solidFill>
                <a:latin typeface="+mj-lt"/>
              </a:rPr>
            </a:br>
            <a:r>
              <a:rPr lang="en-GB" sz="1600" dirty="0">
                <a:solidFill>
                  <a:schemeClr val="tx1"/>
                </a:solidFill>
                <a:latin typeface="+mj-lt"/>
              </a:rPr>
              <a:t>Collaborative R&amp;D among Governments, Academia, and Industry:</a:t>
            </a:r>
            <a:br>
              <a:rPr lang="en-GB" sz="1600" b="0" dirty="0">
                <a:solidFill>
                  <a:schemeClr val="tx1"/>
                </a:solidFill>
                <a:latin typeface="+mj-lt"/>
              </a:rPr>
            </a:br>
            <a:r>
              <a:rPr lang="en-GB" sz="1600" b="0" dirty="0">
                <a:solidFill>
                  <a:schemeClr val="tx1"/>
                </a:solidFill>
                <a:latin typeface="+mj-lt"/>
              </a:rPr>
              <a:t>Innovation in AI governance will likely flourish through collaborative research and development. Governments, universities, and private industry can pool their resources and expertise to advance AI regulation.</a:t>
            </a:r>
            <a:br>
              <a:rPr lang="en-GB" sz="1600" b="0" dirty="0">
                <a:solidFill>
                  <a:schemeClr val="tx1"/>
                </a:solidFill>
                <a:latin typeface="+mj-lt"/>
              </a:rPr>
            </a:br>
            <a:r>
              <a:rPr lang="en-GB" sz="1600" b="0" dirty="0">
                <a:solidFill>
                  <a:schemeClr val="tx1"/>
                </a:solidFill>
                <a:latin typeface="+mj-lt"/>
              </a:rPr>
              <a:t> </a:t>
            </a:r>
            <a:br>
              <a:rPr lang="en-GB" sz="1600" b="0" dirty="0">
                <a:solidFill>
                  <a:schemeClr val="tx1"/>
                </a:solidFill>
                <a:latin typeface="+mj-lt"/>
              </a:rPr>
            </a:br>
            <a:r>
              <a:rPr lang="en-GB" sz="1600" b="0" dirty="0">
                <a:solidFill>
                  <a:schemeClr val="tx1"/>
                </a:solidFill>
                <a:latin typeface="+mj-lt"/>
              </a:rPr>
              <a:t>By working together, they can share knowledge, develop new frameworks, and test regulations in real-world scenarios. </a:t>
            </a:r>
            <a:br>
              <a:rPr lang="en-GB" sz="1600" b="0" dirty="0">
                <a:solidFill>
                  <a:schemeClr val="tx1"/>
                </a:solidFill>
                <a:latin typeface="+mj-lt"/>
              </a:rPr>
            </a:br>
            <a:br>
              <a:rPr lang="en-GB" sz="1600" b="0" dirty="0">
                <a:solidFill>
                  <a:schemeClr val="tx1"/>
                </a:solidFill>
                <a:latin typeface="+mj-lt"/>
              </a:rPr>
            </a:br>
            <a:r>
              <a:rPr lang="en-GB" sz="1600" b="0" dirty="0">
                <a:solidFill>
                  <a:schemeClr val="tx1"/>
                </a:solidFill>
                <a:latin typeface="+mj-lt"/>
              </a:rPr>
              <a:t>Such collaboration can lead to the creation of more adaptable, forward-thinking governance models that take into account the latest AI advancements and challenges. </a:t>
            </a:r>
            <a:br>
              <a:rPr lang="en-GB" sz="1600" b="0" dirty="0">
                <a:solidFill>
                  <a:schemeClr val="tx1"/>
                </a:solidFill>
                <a:latin typeface="+mj-lt"/>
              </a:rPr>
            </a:br>
            <a:br>
              <a:rPr lang="en-GB" sz="1600" b="0" dirty="0">
                <a:solidFill>
                  <a:schemeClr val="tx1"/>
                </a:solidFill>
                <a:latin typeface="+mj-lt"/>
              </a:rPr>
            </a:br>
            <a:r>
              <a:rPr lang="en-GB" sz="1600" b="0" dirty="0">
                <a:solidFill>
                  <a:schemeClr val="tx1"/>
                </a:solidFill>
                <a:latin typeface="+mj-lt"/>
              </a:rPr>
              <a:t>This collaborative effort can also help ensure that AI is developed in a way that benefits all sectors of society.</a:t>
            </a:r>
            <a:br>
              <a:rPr lang="en-GB" sz="1600" b="0" dirty="0">
                <a:solidFill>
                  <a:schemeClr val="tx1"/>
                </a:solidFill>
                <a:latin typeface="+mj-lt"/>
              </a:rPr>
            </a:br>
            <a:br>
              <a:rPr lang="en-GB" sz="1050" dirty="0"/>
            </a:br>
            <a:br>
              <a:rPr lang="en-GB" sz="1400" b="0" i="0" u="none" strike="noStrike" dirty="0">
                <a:solidFill>
                  <a:schemeClr val="tx1"/>
                </a:solidFill>
                <a:effectLst/>
                <a:latin typeface="+mj-lt"/>
              </a:rPr>
            </a:br>
            <a:br>
              <a:rPr lang="en-GB" sz="1400" b="0" dirty="0">
                <a:solidFill>
                  <a:schemeClr val="tx1"/>
                </a:solidFill>
                <a:latin typeface="+mj-lt"/>
                <a:ea typeface="Arial"/>
                <a:cs typeface="Arial"/>
                <a:sym typeface="Arial"/>
              </a:rPr>
            </a:br>
            <a:endParaRPr lang="en-GB" sz="1400" b="0" dirty="0">
              <a:solidFill>
                <a:schemeClr val="tx1"/>
              </a:solidFill>
              <a:latin typeface="+mj-lt"/>
            </a:endParaRPr>
          </a:p>
        </p:txBody>
      </p:sp>
    </p:spTree>
    <p:extLst>
      <p:ext uri="{BB962C8B-B14F-4D97-AF65-F5344CB8AC3E}">
        <p14:creationId xmlns:p14="http://schemas.microsoft.com/office/powerpoint/2010/main" val="3528666818"/>
      </p:ext>
    </p:extLst>
  </p:cSld>
  <p:clrMapOvr>
    <a:overrideClrMapping bg1="lt1" tx1="dk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E73A12E8-305F-343B-26A7-BE56350EA204}"/>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97B6FC3E-59A1-99B4-8819-2DCDEB9F68E8}"/>
              </a:ext>
            </a:extLst>
          </p:cNvPr>
          <p:cNvPicPr preferRelativeResize="0"/>
          <p:nvPr/>
        </p:nvPicPr>
        <p:blipFill rotWithShape="1">
          <a:blip r:embed="rId4">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A80679CC-1EE1-3606-37CD-65095DFAE84B}"/>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buNone/>
            </a:pPr>
            <a:r>
              <a:rPr lang="en-GB" sz="2400" b="1" dirty="0"/>
              <a:t>Opportunities Ahead contd..</a:t>
            </a:r>
            <a:br>
              <a:rPr lang="en-GB" sz="1400" b="0" i="0" u="none" strike="noStrike" dirty="0">
                <a:solidFill>
                  <a:schemeClr val="tx1"/>
                </a:solidFill>
                <a:effectLst/>
                <a:latin typeface="+mj-lt"/>
              </a:rPr>
            </a:br>
            <a:br>
              <a:rPr lang="en-GB" sz="1400" b="0" i="0" u="none" strike="noStrike" dirty="0">
                <a:solidFill>
                  <a:schemeClr val="tx1"/>
                </a:solidFill>
                <a:effectLst/>
                <a:latin typeface="+mj-lt"/>
              </a:rPr>
            </a:br>
            <a:r>
              <a:rPr lang="en-GB" sz="1600" dirty="0">
                <a:solidFill>
                  <a:schemeClr val="tx1"/>
                </a:solidFill>
                <a:latin typeface="+mj-lt"/>
              </a:rPr>
              <a:t>Careers in AI Policy:</a:t>
            </a:r>
            <a:br>
              <a:rPr lang="en-GB" sz="1600" dirty="0">
                <a:solidFill>
                  <a:schemeClr val="tx1"/>
                </a:solidFill>
                <a:latin typeface="+mj-lt"/>
              </a:rPr>
            </a:br>
            <a:br>
              <a:rPr lang="en-GB" sz="1600" b="0" dirty="0">
                <a:solidFill>
                  <a:schemeClr val="tx1"/>
                </a:solidFill>
                <a:latin typeface="+mj-lt"/>
              </a:rPr>
            </a:br>
            <a:r>
              <a:rPr lang="en-GB" sz="1600" b="0" dirty="0">
                <a:solidFill>
                  <a:schemeClr val="tx1"/>
                </a:solidFill>
                <a:latin typeface="+mj-lt"/>
              </a:rPr>
              <a:t>As AI governance continues to evolve, there will be an increasing demand for AI policy professionals. These experts will bridge the gap between the technical world of AI and the legal, ethical, and regulatory frameworks that are needed to manage its impact. </a:t>
            </a:r>
            <a:br>
              <a:rPr lang="en-GB" sz="1600" b="0" dirty="0">
                <a:solidFill>
                  <a:schemeClr val="tx1"/>
                </a:solidFill>
                <a:latin typeface="+mj-lt"/>
              </a:rPr>
            </a:br>
            <a:br>
              <a:rPr lang="en-GB" sz="1600" b="0" dirty="0">
                <a:solidFill>
                  <a:schemeClr val="tx1"/>
                </a:solidFill>
                <a:latin typeface="+mj-lt"/>
              </a:rPr>
            </a:br>
            <a:r>
              <a:rPr lang="en-GB" sz="1600" b="0" dirty="0">
                <a:solidFill>
                  <a:schemeClr val="tx1"/>
                </a:solidFill>
                <a:latin typeface="+mj-lt"/>
              </a:rPr>
              <a:t>AI policy professionals will have the opportunity to shape the future of AI by crafting policies that balance innovation with public safety, fairness, and human rights. This field offers an exciting career path for individuals interested in both technology and governance.</a:t>
            </a:r>
            <a:br>
              <a:rPr lang="en-GB" sz="1600" b="0" dirty="0">
                <a:solidFill>
                  <a:schemeClr val="tx1"/>
                </a:solidFill>
                <a:latin typeface="+mj-lt"/>
              </a:rPr>
            </a:br>
            <a:br>
              <a:rPr lang="en-GB" sz="1600" b="0" dirty="0">
                <a:solidFill>
                  <a:schemeClr val="tx1"/>
                </a:solidFill>
                <a:latin typeface="+mj-lt"/>
              </a:rPr>
            </a:br>
            <a:r>
              <a:rPr lang="en-GB" sz="1600" b="0" dirty="0">
                <a:solidFill>
                  <a:schemeClr val="tx1"/>
                </a:solidFill>
                <a:latin typeface="+mj-lt"/>
              </a:rPr>
              <a:t>In Summary: By pursuing these opportunities, stakeholders can create a more coherent, ethical, and effective AI governance framework that fosters</a:t>
            </a:r>
            <a:br>
              <a:rPr lang="en-GB" sz="1600" b="0" dirty="0">
                <a:solidFill>
                  <a:schemeClr val="tx1"/>
                </a:solidFill>
                <a:latin typeface="+mj-lt"/>
              </a:rPr>
            </a:br>
            <a:br>
              <a:rPr lang="en-GB" sz="1050" dirty="0"/>
            </a:br>
            <a:br>
              <a:rPr lang="en-GB" sz="1400" b="0" i="0" u="none" strike="noStrike" dirty="0">
                <a:solidFill>
                  <a:schemeClr val="tx1"/>
                </a:solidFill>
                <a:effectLst/>
                <a:latin typeface="+mj-lt"/>
              </a:rPr>
            </a:br>
            <a:br>
              <a:rPr lang="en-GB" sz="1400" b="0" dirty="0">
                <a:solidFill>
                  <a:schemeClr val="tx1"/>
                </a:solidFill>
                <a:latin typeface="+mj-lt"/>
                <a:ea typeface="Arial"/>
                <a:cs typeface="Arial"/>
                <a:sym typeface="Arial"/>
              </a:rPr>
            </a:br>
            <a:endParaRPr lang="en-GB" sz="1400" b="0" dirty="0">
              <a:solidFill>
                <a:schemeClr val="tx1"/>
              </a:solidFill>
              <a:latin typeface="+mj-lt"/>
            </a:endParaRPr>
          </a:p>
        </p:txBody>
      </p:sp>
    </p:spTree>
    <p:extLst>
      <p:ext uri="{BB962C8B-B14F-4D97-AF65-F5344CB8AC3E}">
        <p14:creationId xmlns:p14="http://schemas.microsoft.com/office/powerpoint/2010/main" val="694884628"/>
      </p:ext>
    </p:extLst>
  </p:cSld>
  <p:clrMapOvr>
    <a:overrideClrMapping bg1="lt1" tx1="dk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107"/>
        <p:cNvGrpSpPr/>
        <p:nvPr/>
      </p:nvGrpSpPr>
      <p:grpSpPr>
        <a:xfrm>
          <a:off x="0" y="0"/>
          <a:ext cx="0" cy="0"/>
          <a:chOff x="0" y="0"/>
          <a:chExt cx="0" cy="0"/>
        </a:xfrm>
      </p:grpSpPr>
      <p:pic>
        <p:nvPicPr>
          <p:cNvPr id="108" name="Google Shape;108;p10"/>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9" name="Google Shape;109;p10"/>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pPr marL="0" lvl="0" indent="0" algn="l" rtl="1">
              <a:lnSpc>
                <a:spcPct val="100000"/>
              </a:lnSpc>
              <a:spcBef>
                <a:spcPts val="0"/>
              </a:spcBef>
              <a:spcAft>
                <a:spcPts val="0"/>
              </a:spcAft>
              <a:buClr>
                <a:srgbClr val="543198"/>
              </a:buClr>
              <a:buSzPts val="2500"/>
              <a:buNone/>
            </a:pPr>
            <a:r>
              <a:rPr lang="en-US" sz="3200" dirty="0">
                <a:latin typeface="Arial"/>
                <a:ea typeface="Arial"/>
                <a:cs typeface="Arial"/>
                <a:sym typeface="Arial"/>
              </a:rPr>
              <a:t>RECAP</a:t>
            </a:r>
            <a:br>
              <a:rPr lang="en-US" sz="1600" dirty="0">
                <a:latin typeface="Arial"/>
                <a:ea typeface="Arial"/>
                <a:cs typeface="Arial"/>
                <a:sym typeface="Arial"/>
              </a:rPr>
            </a:br>
            <a:endParaRPr sz="3200" dirty="0"/>
          </a:p>
        </p:txBody>
      </p:sp>
      <p:sp>
        <p:nvSpPr>
          <p:cNvPr id="4" name="TextBox 3">
            <a:extLst>
              <a:ext uri="{FF2B5EF4-FFF2-40B4-BE49-F238E27FC236}">
                <a16:creationId xmlns:a16="http://schemas.microsoft.com/office/drawing/2014/main" id="{F35F6B0B-CDF5-6247-EEAD-F2816EA369FC}"/>
              </a:ext>
            </a:extLst>
          </p:cNvPr>
          <p:cNvSpPr txBox="1"/>
          <p:nvPr/>
        </p:nvSpPr>
        <p:spPr>
          <a:xfrm>
            <a:off x="1260539" y="1215487"/>
            <a:ext cx="5961489" cy="3108543"/>
          </a:xfrm>
          <a:prstGeom prst="rect">
            <a:avLst/>
          </a:prstGeom>
          <a:noFill/>
        </p:spPr>
        <p:txBody>
          <a:bodyPr wrap="square">
            <a:spAutoFit/>
          </a:bodyPr>
          <a:lstStyle/>
          <a:p>
            <a:pPr marL="342900" indent="-342900">
              <a:buFont typeface="Wingdings" pitchFamily="2" charset="2"/>
              <a:buChar char="Ø"/>
            </a:pPr>
            <a:r>
              <a:rPr lang="en-GB" sz="2000" dirty="0"/>
              <a:t>Governance is essential for ethical, trustworthy AI.</a:t>
            </a:r>
          </a:p>
          <a:p>
            <a:pPr marL="342900" indent="-342900">
              <a:buFont typeface="Wingdings" pitchFamily="2" charset="2"/>
              <a:buChar char="Ø"/>
            </a:pPr>
            <a:r>
              <a:rPr lang="en-GB" sz="2000" dirty="0"/>
              <a:t>Future trends include flexible regulation and international cooperation.</a:t>
            </a:r>
          </a:p>
          <a:p>
            <a:pPr marL="342900" indent="-342900">
              <a:buFont typeface="Wingdings" pitchFamily="2" charset="2"/>
              <a:buChar char="Ø"/>
            </a:pPr>
            <a:r>
              <a:rPr lang="en-GB" sz="2000" dirty="0"/>
              <a:t>Society must balance innovation with public interest. </a:t>
            </a:r>
          </a:p>
          <a:p>
            <a:pPr marL="342900" indent="-342900">
              <a:buFont typeface="Wingdings" pitchFamily="2" charset="2"/>
              <a:buChar char="Ø"/>
            </a:pPr>
            <a:r>
              <a:rPr lang="en-GB" sz="2000" dirty="0"/>
              <a:t>Reflection prompt: What would your ideal AI governance framework look like in your country?</a:t>
            </a:r>
          </a:p>
          <a:p>
            <a:pPr algn="l"/>
            <a:endParaRPr lang="en-GB" sz="1600" b="0" i="0" u="none" strike="noStrike" dirty="0">
              <a:solidFill>
                <a:srgbClr val="000000"/>
              </a:solidFill>
              <a:effectLs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107">
          <a:extLst>
            <a:ext uri="{FF2B5EF4-FFF2-40B4-BE49-F238E27FC236}">
              <a16:creationId xmlns:a16="http://schemas.microsoft.com/office/drawing/2014/main" id="{69586EBE-1B86-2014-119D-B347B99FCA1F}"/>
            </a:ext>
          </a:extLst>
        </p:cNvPr>
        <p:cNvGrpSpPr/>
        <p:nvPr/>
      </p:nvGrpSpPr>
      <p:grpSpPr>
        <a:xfrm>
          <a:off x="0" y="0"/>
          <a:ext cx="0" cy="0"/>
          <a:chOff x="0" y="0"/>
          <a:chExt cx="0" cy="0"/>
        </a:xfrm>
      </p:grpSpPr>
      <p:pic>
        <p:nvPicPr>
          <p:cNvPr id="108" name="Google Shape;108;p10">
            <a:extLst>
              <a:ext uri="{FF2B5EF4-FFF2-40B4-BE49-F238E27FC236}">
                <a16:creationId xmlns:a16="http://schemas.microsoft.com/office/drawing/2014/main" id="{0D0A301F-6465-E916-608E-76C4F4921635}"/>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9" name="Google Shape;109;p10">
            <a:extLst>
              <a:ext uri="{FF2B5EF4-FFF2-40B4-BE49-F238E27FC236}">
                <a16:creationId xmlns:a16="http://schemas.microsoft.com/office/drawing/2014/main" id="{1D46B072-8E42-3F74-AB3A-23E960F17364}"/>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3200" b="1" dirty="0"/>
              <a:t>Resources for Further Study</a:t>
            </a:r>
            <a:br>
              <a:rPr lang="en-GB" sz="3200" b="1" dirty="0"/>
            </a:br>
            <a:br>
              <a:rPr lang="en-US" sz="1600" dirty="0">
                <a:latin typeface="Arial"/>
                <a:ea typeface="Arial"/>
                <a:cs typeface="Arial"/>
                <a:sym typeface="Arial"/>
              </a:rPr>
            </a:br>
            <a:endParaRPr sz="3200" dirty="0"/>
          </a:p>
        </p:txBody>
      </p:sp>
      <p:sp>
        <p:nvSpPr>
          <p:cNvPr id="4" name="TextBox 3">
            <a:extLst>
              <a:ext uri="{FF2B5EF4-FFF2-40B4-BE49-F238E27FC236}">
                <a16:creationId xmlns:a16="http://schemas.microsoft.com/office/drawing/2014/main" id="{FAEACB99-25A5-41A5-42FE-4AD61E88DC07}"/>
              </a:ext>
            </a:extLst>
          </p:cNvPr>
          <p:cNvSpPr txBox="1"/>
          <p:nvPr/>
        </p:nvSpPr>
        <p:spPr>
          <a:xfrm>
            <a:off x="1260539" y="1215487"/>
            <a:ext cx="5961489" cy="2185214"/>
          </a:xfrm>
          <a:prstGeom prst="rect">
            <a:avLst/>
          </a:prstGeom>
          <a:noFill/>
        </p:spPr>
        <p:txBody>
          <a:bodyPr wrap="square">
            <a:spAutoFit/>
          </a:bodyPr>
          <a:lstStyle/>
          <a:p>
            <a:pPr>
              <a:buFont typeface="Arial" panose="020B0604020202020204" pitchFamily="34" charset="0"/>
              <a:buChar char="•"/>
            </a:pPr>
            <a:r>
              <a:rPr lang="en-GB" sz="2000" b="1" dirty="0"/>
              <a:t>EU AI Act:</a:t>
            </a:r>
            <a:r>
              <a:rPr lang="en-GB" sz="2000" dirty="0"/>
              <a:t> </a:t>
            </a:r>
            <a:r>
              <a:rPr lang="en-GB" sz="2000" dirty="0">
                <a:hlinkClick r:id="rId4"/>
              </a:rPr>
              <a:t>europa.eu/ai-act</a:t>
            </a:r>
            <a:endParaRPr lang="en-GB" sz="2000" dirty="0"/>
          </a:p>
          <a:p>
            <a:pPr>
              <a:buFont typeface="Arial" panose="020B0604020202020204" pitchFamily="34" charset="0"/>
              <a:buChar char="•"/>
            </a:pPr>
            <a:r>
              <a:rPr lang="en-GB" sz="2000" b="1" dirty="0"/>
              <a:t>OECD Principles:</a:t>
            </a:r>
            <a:r>
              <a:rPr lang="en-GB" sz="2000" dirty="0"/>
              <a:t> </a:t>
            </a:r>
            <a:r>
              <a:rPr lang="en-GB" sz="2000" dirty="0">
                <a:hlinkClick r:id="rId5"/>
              </a:rPr>
              <a:t>oecd.ai</a:t>
            </a:r>
            <a:endParaRPr lang="en-GB" sz="2000" dirty="0"/>
          </a:p>
          <a:p>
            <a:pPr>
              <a:buFont typeface="Arial" panose="020B0604020202020204" pitchFamily="34" charset="0"/>
              <a:buChar char="•"/>
            </a:pPr>
            <a:r>
              <a:rPr lang="en-GB" sz="2000" b="1" dirty="0"/>
              <a:t>UNESCO AI Ethics:</a:t>
            </a:r>
            <a:r>
              <a:rPr lang="en-GB" sz="2000" dirty="0"/>
              <a:t> </a:t>
            </a:r>
            <a:r>
              <a:rPr lang="en-GB" sz="2000" dirty="0">
                <a:hlinkClick r:id="rId6"/>
              </a:rPr>
              <a:t>unesco.org</a:t>
            </a:r>
            <a:endParaRPr lang="en-GB" sz="2000" dirty="0"/>
          </a:p>
          <a:p>
            <a:pPr>
              <a:buFont typeface="Arial" panose="020B0604020202020204" pitchFamily="34" charset="0"/>
              <a:buChar char="•"/>
            </a:pPr>
            <a:r>
              <a:rPr lang="en-GB" sz="2000" b="1" dirty="0"/>
              <a:t>Books:</a:t>
            </a:r>
            <a:r>
              <a:rPr lang="en-GB" sz="2000" dirty="0"/>
              <a:t> "The Alignment Problem" by Brian Christian, "Atlas of AI" by Kate Crawford</a:t>
            </a:r>
          </a:p>
          <a:p>
            <a:pPr>
              <a:buFont typeface="Arial" panose="020B0604020202020204" pitchFamily="34" charset="0"/>
              <a:buChar char="•"/>
            </a:pPr>
            <a:r>
              <a:rPr lang="en-GB" sz="2000" b="1" dirty="0"/>
              <a:t>Journals:</a:t>
            </a:r>
            <a:r>
              <a:rPr lang="en-GB" sz="2000" dirty="0"/>
              <a:t> AI &amp; Society, Journal of AI Research</a:t>
            </a:r>
          </a:p>
          <a:p>
            <a:pPr algn="l"/>
            <a:endParaRPr lang="en-GB" sz="1600" b="0" i="0" u="none" strike="noStrike" dirty="0">
              <a:solidFill>
                <a:srgbClr val="000000"/>
              </a:solidFill>
              <a:effectLst/>
            </a:endParaRPr>
          </a:p>
        </p:txBody>
      </p:sp>
    </p:spTree>
    <p:extLst>
      <p:ext uri="{BB962C8B-B14F-4D97-AF65-F5344CB8AC3E}">
        <p14:creationId xmlns:p14="http://schemas.microsoft.com/office/powerpoint/2010/main" val="1032964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ppt/theme/themeOverride2.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ppt/theme/themeOverride3.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4840</TotalTime>
  <Words>5153</Words>
  <Application>Microsoft Macintosh PowerPoint</Application>
  <PresentationFormat>On-screen Show (16:9)</PresentationFormat>
  <Paragraphs>198</Paragraphs>
  <Slides>45</Slides>
  <Notes>45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IBM Plex Sans Arabic Medium</vt:lpstr>
      <vt:lpstr>Tajawal</vt:lpstr>
      <vt:lpstr>Times New Roman</vt:lpstr>
      <vt:lpstr>Inter</vt:lpstr>
      <vt:lpstr>IBM Plex Sans Arabic</vt:lpstr>
      <vt:lpstr>Calibri</vt:lpstr>
      <vt:lpstr>IBM Plex Sans Arabic SemiBold</vt:lpstr>
      <vt:lpstr>Wingdings</vt:lpstr>
      <vt:lpstr>Proxima Nova</vt:lpstr>
      <vt:lpstr>-webkit-standard</vt:lpstr>
      <vt:lpstr>Arial</vt:lpstr>
      <vt:lpstr>Simple Light</vt:lpstr>
      <vt:lpstr>أكـــــاديميــــة طــــويـــق</vt:lpstr>
      <vt:lpstr>      Future Trends and Opportunities in AI Governance  Navigating Ethics, Regulation, and Innovation </vt:lpstr>
      <vt:lpstr>PowerPoint Presentation</vt:lpstr>
      <vt:lpstr>Introduction to AI Governance     </vt:lpstr>
      <vt:lpstr>Why AI Governance Matters    </vt:lpstr>
      <vt:lpstr>Pillars of AI Governance     </vt:lpstr>
      <vt:lpstr>Current Governance Models      </vt:lpstr>
      <vt:lpstr>AI Governance in Autonomous Systems      </vt:lpstr>
      <vt:lpstr>Real-world Example: Tesla Autopilot   Tesla’s Autopilot has been involved in several controversial incidents. Investigations revealed overreliance by users, limitations in the technology, and unclear safety communication. This case illustrates the risks of deploying partially autonomous systems without clear governance. </vt:lpstr>
      <vt:lpstr>Real-world Example: Tesla Autopilot   Tesla’s Autopilot Controversies: This refers to real-world incidents where Tesla vehicles operating under the Autopilot mode were involved in crashes or near-misses. These events raised public and regulatory concern because they highlighted gaps between what the system can actually do and how users perceive it.  User Overreliance: Many drivers treated Autopilot as a fully autonomous system, taking their attention away from the road. However, Tesla’s system is a Level 2 automation (driver-assist), which still requires full driver attention. This mismatch between perception and reality contributed to unsafe situations.  Technological Limitations: Despite being advanced, the system has flaws—such as misinterpreting objects, failing to recognize lane changes, or struggling in complex driving environments. These limitations are not always clearly communicated to users.   </vt:lpstr>
      <vt:lpstr>Real-world Example: Tesla Autopilot     Unclear Safety Communication: Tesla's marketing, terminology (like "Autopilot" or "Full Self-Driving"), and lack of consistent safety reminders have been criticized for misleading users about the actual capabilities and limits of the system.  Governance Implications: This example shows that deploying AI-based systems, especially those affecting public safety, without strict rules, transparent communication, and regulatory oversight can lead to harm. It underscores the importance of comprehensive AI governance in autonomous technologies.  </vt:lpstr>
      <vt:lpstr>The Future of AI Regulation     </vt:lpstr>
      <vt:lpstr>The Future of AI Regulation     </vt:lpstr>
      <vt:lpstr>International Cooperation in AI Governance     </vt:lpstr>
      <vt:lpstr>International Cooperation in AI Governance contd..     </vt:lpstr>
      <vt:lpstr>Evolving Standards and Guidelines       </vt:lpstr>
      <vt:lpstr>Evolving Standards and Guidelines contd..       </vt:lpstr>
      <vt:lpstr>Evolving Standards and Guidelines contd..       </vt:lpstr>
      <vt:lpstr>Ethical Frameworks and Global Ethics        </vt:lpstr>
      <vt:lpstr>Ethical Frameworks and Global Ethics contd..         </vt:lpstr>
      <vt:lpstr>AI and Human Rights        </vt:lpstr>
      <vt:lpstr>AI and Human Rights contd..        </vt:lpstr>
      <vt:lpstr>Governance’s Dual Impact on Innovation         </vt:lpstr>
      <vt:lpstr>Governance and Societal Well-being        </vt:lpstr>
      <vt:lpstr>Governance and Societal Well-being &amp; Challenges        </vt:lpstr>
      <vt:lpstr>Case Study 1: EU AI Act         </vt:lpstr>
      <vt:lpstr>Case Study 1: EU AI Act contd..         </vt:lpstr>
      <vt:lpstr>Case Study 2: Clearview AI          </vt:lpstr>
      <vt:lpstr>Case Study 2: Clearview AI contd..          </vt:lpstr>
      <vt:lpstr>Case Study 3: OpenAI GPT-4           </vt:lpstr>
      <vt:lpstr>Case Study 3: OpenAI GPT-4           </vt:lpstr>
      <vt:lpstr>AI Governance: Industry Perspectives            </vt:lpstr>
      <vt:lpstr>AI Governance: Industry Perspectives contd..            </vt:lpstr>
      <vt:lpstr>The Role of Academia and Civil Society  Academics explore algorithmic fairness and bias detection, while civil society groups advocate for rights and transparency. These actors shape public discourse and influence legislation by publishing research, filing lawsuits, and engaging in public awareness campaigns. Here’s a breakdown of their roles:  Academia's Role:  1. Research &amp; Knowledge Creation: Universities and research institutions play a pivotal role in advancing AI ethics, fairness, and transparency. Scholars conduct studies on algorithmic bias, fairness, and AI's social impact, providing evidence-based frameworks that help shape policy and governance models.        </vt:lpstr>
      <vt:lpstr>The Role of Academia and Civil Society   2. Innovation: Academics are at the forefront of developing new AI technologies. Their research often challenges the status quo, proposing new methods for building ethical AI, improving model interpretability, and addressing safety concerns.  3. Ethical Training: Academia also trains the next generation of AI professionals, embedding ethical thinking into their training. This ensures that future technologists, engineers, and policymakers understand the social and ethical implications of their work.        </vt:lpstr>
      <vt:lpstr>The Role of Academia and Civil Society Civil Society's Role: 1. Advocacy &amp; Public Awareness: Civil society organizations, including NGOs, activists, and social movements, advocate for the rights and interests of the public in AI policy discussions. They push for regulations that protect privacy, equality, and human rights. 2. Monitoring and Accountability: Civil society organizations often act as watchdogs, holding corporations and governments accountable for how AI systems are deployed and ensuring these systems don’t exacerbate inequalities or violate rights. 3. Public Engagement: They engage with the general public, increasing awareness of AI’s potential risks and benefits. Through campaigns, debates, and consultations, civil society ensures that AI governance is inclusive and reflects the diverse needs of society. Together, academia and civil society provide a checks-and-balances system that helps shape AI governance. While academia pushes for ethical frameworks and rigorous research, civil society ensures that AI technologies are aligned with the public good and advocates for the voices of marginalized groups. Their contributions are crucial in creating a balanced, fair, and accountable AI ecosystem.        </vt:lpstr>
      <vt:lpstr>Challenges in AI Governance  The major challenges that hinder the effective governance of AI systems. AI governance aims to regulate and control the development and deployment of AI technologies in a way that is ethical, fair, and transparent. However, several complex issues need to be addressed to ensure proper governance:  Technical Opacity: Many AI models, particularly deep learning models, are often described as "black boxes." This means their decision-making process is not easily interpretable by humans. It is difficult to understand how these models arrive at their conclusions, which raises concerns about accountability and trust in their outputs. In governance, this opacity creates a problem because regulators and stakeholders may struggle to assess whether AI systems are working ethically, fairly, and in compliance with regulations. Transparent models or the development of techniques for explainable AI (XAI) are essential to overcoming this challenge. Regulatory Lag: AI technology evolves at a rapid pace, often faster than legislative bodies can enact new laws or regulations. This creates a situation where regulations may be outdated or ineffective in addressing current AI developments. For instance, by the time a regulatory body creates guidelines for an emerging technology, that technology may have already surpassed the initial regulatory framework. This lag makes it difficult to establish rules that can keep pace with innovation while maintaining control over the risks posed by AI.      </vt:lpstr>
      <vt:lpstr>Challenges in AI Governance   Cross-border Enforcement: AI technologies and their impact are often global. AI systems can be deployed across multiple countries, but enforcing national laws on AI is difficult when the technology operates across borders. Different countries may have different laws and standards governing AI, and jurisdictional challenges make it hard to hold companies accountable or ensure that AI systems adhere to all applicable rules. This calls for international cooperation and standardized governance frameworks that can address these cross-border challenges and create cohesive, harmonized policies.  In Summary: These three challenges-technical opacity, regulatory lag, and cross-border enforcement highlight the difficulties in establishing robust and comprehensive AI governance. Solving these issues requires innovative solutions such as the development of more transparent AI models, faster regulatory adaptation processes, and global collaboration in governance efforts.     </vt:lpstr>
      <vt:lpstr>Opportunities Ahead   As AI technologies continue to evolve, new possibilities arise for strengthening governance frameworks. These opportunities focus on collaboration, innovation, and improving the global approach to AI regulation:  Global AI Treaties to Harmonize Ethics and Risk Management: As AI technologies are not confined to any one country, international cooperation is essential. The idea behind global AI treaties is to create a unified legal framework across borders, ensuring that AI systems adhere to ethical principles and that risk management approaches are consistent worldwide.   These treaties would aim to set common guidelines and standards for AI ethics, privacy, and safety, reducing the risks posed by differences in national regulations. Harmonizing these rules helps create a level playing field for countries and corporations, while promoting responsible AI development globally.   </vt:lpstr>
      <vt:lpstr>Opportunities Ahead contd..   Collaborative R&amp;D among Governments, Academia, and Industry: Innovation in AI governance will likely flourish through collaborative research and development. Governments, universities, and private industry can pool their resources and expertise to advance AI regulation.   By working together, they can share knowledge, develop new frameworks, and test regulations in real-world scenarios.   Such collaboration can lead to the creation of more adaptable, forward-thinking governance models that take into account the latest AI advancements and challenges.   This collaborative effort can also help ensure that AI is developed in a way that benefits all sectors of society.    </vt:lpstr>
      <vt:lpstr>Opportunities Ahead contd..  Careers in AI Policy:  As AI governance continues to evolve, there will be an increasing demand for AI policy professionals. These experts will bridge the gap between the technical world of AI and the legal, ethical, and regulatory frameworks that are needed to manage its impact.   AI policy professionals will have the opportunity to shape the future of AI by crafting policies that balance innovation with public safety, fairness, and human rights. This field offers an exciting career path for individuals interested in both technology and governance.  In Summary: By pursuing these opportunities, stakeholders can create a more coherent, ethical, and effective AI governance framework that fosters    </vt:lpstr>
      <vt:lpstr>RECAP </vt:lpstr>
      <vt:lpstr>Resources for Further Study  </vt:lpstr>
      <vt:lpstr>الشراكات العالمية</vt:lpstr>
      <vt:lpstr>شــــــكــــرًا لكــــــم</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
  <cp:lastModifiedBy>Afshan Hashmi</cp:lastModifiedBy>
  <cp:revision>27</cp:revision>
  <dcterms:modified xsi:type="dcterms:W3CDTF">2025-04-01T17:02:08Z</dcterms:modified>
  <cp:category/>
</cp:coreProperties>
</file>