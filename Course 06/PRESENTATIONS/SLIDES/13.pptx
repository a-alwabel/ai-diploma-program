
<file path=[Content_Types].xml><?xml version="1.0" encoding="utf-8"?>
<Types xmlns="http://schemas.openxmlformats.org/package/2006/content-types">
  <Default Extension="fntdata" ContentType="application/x-fontdata"/>
  <Default Extension="jpeg" ContentType="image/jpeg"/>
  <Default Extension="jpg" ContentType="image/jpeg"/>
  <Default Extension="jpg!d"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83" r:id="rId4"/>
    <p:sldId id="278" r:id="rId5"/>
    <p:sldId id="262" r:id="rId6"/>
    <p:sldId id="277" r:id="rId7"/>
    <p:sldId id="263" r:id="rId8"/>
    <p:sldId id="264" r:id="rId9"/>
    <p:sldId id="280" r:id="rId10"/>
    <p:sldId id="281" r:id="rId11"/>
    <p:sldId id="279" r:id="rId12"/>
    <p:sldId id="292" r:id="rId13"/>
    <p:sldId id="293" r:id="rId14"/>
    <p:sldId id="294" r:id="rId15"/>
    <p:sldId id="296" r:id="rId16"/>
    <p:sldId id="297" r:id="rId17"/>
    <p:sldId id="295" r:id="rId18"/>
    <p:sldId id="298" r:id="rId19"/>
    <p:sldId id="299" r:id="rId20"/>
    <p:sldId id="265" r:id="rId21"/>
    <p:sldId id="275" r:id="rId22"/>
    <p:sldId id="276" r:id="rId23"/>
  </p:sldIdLst>
  <p:sldSz cx="9144000" cy="5143500" type="screen16x9"/>
  <p:notesSz cx="6858000" cy="9144000"/>
  <p:embeddedFontLst>
    <p:embeddedFont>
      <p:font typeface="IBM Plex Sans Arabic" panose="020B0603050203000203" pitchFamily="34" charset="-78"/>
      <p:regular r:id="rId25"/>
      <p:bold r:id="rId26"/>
    </p:embeddedFont>
    <p:embeddedFont>
      <p:font typeface="IBM Plex Sans Arabic Medium" panose="020B0603050203000203" pitchFamily="34" charset="-78"/>
      <p:regular r:id="rId27"/>
      <p:bold r:id="rId28"/>
    </p:embeddedFont>
    <p:embeddedFont>
      <p:font typeface="IBM Plex Sans Arabic SemiBold" panose="020B0603050203000203" pitchFamily="34" charset="-78"/>
      <p:regular r:id="rId29"/>
      <p:bold r:id="rId30"/>
    </p:embeddedFont>
    <p:embeddedFont>
      <p:font typeface="Inter" panose="02000503000000020004" pitchFamily="2" charset="0"/>
      <p:regular r:id="rId31"/>
      <p:bold r:id="rId32"/>
      <p:italic r:id="rId33"/>
      <p:boldItalic r:id="rId34"/>
    </p:embeddedFont>
    <p:embeddedFont>
      <p:font typeface="Proxima Nova" panose="02000506030000020004" pitchFamily="2" charset="0"/>
      <p:regular r:id="rId35"/>
      <p:bold r:id="rId36"/>
      <p:italic r:id="rId37"/>
      <p:boldItalic r:id="rId38"/>
    </p:embeddedFont>
    <p:embeddedFont>
      <p:font typeface="Tajawal" pitchFamily="2" charset="-78"/>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9"/>
    <p:restoredTop sz="94795"/>
  </p:normalViewPr>
  <p:slideViewPr>
    <p:cSldViewPr snapToGrid="0">
      <p:cViewPr varScale="1">
        <p:scale>
          <a:sx n="143" d="100"/>
          <a:sy n="143" d="100"/>
        </p:scale>
        <p:origin x="136" y="472"/>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4A78B76-62B2-720F-0663-7EA9E4AF05F7}"/>
            </a:ext>
          </a:extLst>
        </p:cNvPr>
        <p:cNvGrpSpPr/>
        <p:nvPr/>
      </p:nvGrpSpPr>
      <p:grpSpPr>
        <a:xfrm>
          <a:off x="0" y="0"/>
          <a:ext cx="0" cy="0"/>
          <a:chOff x="0" y="0"/>
          <a:chExt cx="0" cy="0"/>
        </a:xfrm>
      </p:grpSpPr>
      <p:sp>
        <p:nvSpPr>
          <p:cNvPr id="72" name="Google Shape;72;p6:notes">
            <a:extLst>
              <a:ext uri="{FF2B5EF4-FFF2-40B4-BE49-F238E27FC236}">
                <a16:creationId xmlns:a16="http://schemas.microsoft.com/office/drawing/2014/main" id="{E71FD78D-B2F4-061B-E2CF-D4645C7CE3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6:notes">
            <a:extLst>
              <a:ext uri="{FF2B5EF4-FFF2-40B4-BE49-F238E27FC236}">
                <a16:creationId xmlns:a16="http://schemas.microsoft.com/office/drawing/2014/main" id="{2D5F95AC-4BE9-592F-B9CC-7EA3E132D1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3514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33E31C8-D5E9-2017-AE3F-9CE690F73605}"/>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171F4956-9A8B-D2BD-69BC-C7A200A2F5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135EAFF3-6059-1547-52B9-ABA6113E56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07265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72FD3765-EAED-DEAA-F202-47452EF58FF8}"/>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A4B8B846-D594-5968-110D-4A6C32ADC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36F71B47-EEE0-462C-30C8-4394CB3D93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4974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CC258A9D-A903-972A-54CE-191CD3C10309}"/>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513CD135-D317-19AE-28B2-DAB058C91C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F4A13D7A-CEED-A744-F91A-9267CBA636C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53519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D632F3D-C937-B6D2-C266-CA14125B3DCE}"/>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CAEA659F-F76B-70DA-33BF-98B5D905DC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5484CAF9-1631-9FBF-768B-787DB0C586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17096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F6ADB1A0-DADE-8967-F8FF-E1AD587C08BF}"/>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727045E6-4D8C-E79C-14A4-8DD15ED46F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118FBFD2-2CB2-D407-1913-04E5F49A00D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222188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3DE35721-62DD-8BD7-1848-281030F08090}"/>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EAC2AA1F-DAC2-268F-98E9-C14110BAC5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1A556311-A34B-9779-FB42-26A2F3FA9D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405374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EA993AED-B991-5F6D-477D-D9FDB8B5D42C}"/>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89E35B93-51E6-CC2A-ADEB-197A972C8A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5336FABA-3619-34ED-D3A1-BA2B9E97B2D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23600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AC50982-8E3C-E0D1-073F-6BD33B309124}"/>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F303A17F-D4F4-5F40-B030-AF0A8D8D95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31B7570F-EBEB-9050-5304-7060796192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281299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6E8A1EC1-95DC-0FF0-D53E-5F8C00F15A15}"/>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7716F0DA-FD8A-1D9B-E03E-844B7BD59C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274DB22F-8A81-5DB9-1849-36CDF29F2A4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94092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4ED4773B-F272-1FA4-3CEA-D3DCDA2BD02E}"/>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71434A4A-8E3B-AD37-878C-949D5868E0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715E1D2C-7A6A-A90A-4497-D363D299BE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72797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876C029B-82B1-B3BE-76CE-38DD55ED7D78}"/>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51E2CA19-6A99-6518-446F-8819379550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14A83F3D-30F1-A39C-AA01-B2144DC186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560571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7E6B0918-F5CA-B2F2-AA70-16FFADAE1F6B}"/>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A50E52B2-9FD2-2946-1B15-4CF7243FC9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6452CBBA-EA9D-9F03-2D84-AED0AA82CF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132609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29"/>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SzPts val="2500"/>
              <a:buNone/>
              <a:defRPr/>
            </a:lvl1pPr>
            <a:lvl2pPr lvl="1" algn="l" rtl="1">
              <a:lnSpc>
                <a:spcPct val="100000"/>
              </a:lnSpc>
              <a:spcBef>
                <a:spcPts val="0"/>
              </a:spcBef>
              <a:spcAft>
                <a:spcPts val="0"/>
              </a:spcAft>
              <a:buSzPts val="2800"/>
              <a:buNone/>
              <a:defRPr/>
            </a:lvl2pPr>
            <a:lvl3pPr lvl="2" algn="l" rtl="1">
              <a:lnSpc>
                <a:spcPct val="100000"/>
              </a:lnSpc>
              <a:spcBef>
                <a:spcPts val="0"/>
              </a:spcBef>
              <a:spcAft>
                <a:spcPts val="0"/>
              </a:spcAft>
              <a:buSzPts val="2800"/>
              <a:buNone/>
              <a:defRPr/>
            </a:lvl3pPr>
            <a:lvl4pPr lvl="3" algn="l" rtl="1">
              <a:lnSpc>
                <a:spcPct val="100000"/>
              </a:lnSpc>
              <a:spcBef>
                <a:spcPts val="0"/>
              </a:spcBef>
              <a:spcAft>
                <a:spcPts val="0"/>
              </a:spcAft>
              <a:buSzPts val="2800"/>
              <a:buNone/>
              <a:defRPr/>
            </a:lvl4pPr>
            <a:lvl5pPr lvl="4" algn="l" rtl="1">
              <a:lnSpc>
                <a:spcPct val="100000"/>
              </a:lnSpc>
              <a:spcBef>
                <a:spcPts val="0"/>
              </a:spcBef>
              <a:spcAft>
                <a:spcPts val="0"/>
              </a:spcAft>
              <a:buSzPts val="2800"/>
              <a:buNone/>
              <a:defRPr/>
            </a:lvl5pPr>
            <a:lvl6pPr lvl="5" algn="l" rtl="1">
              <a:lnSpc>
                <a:spcPct val="100000"/>
              </a:lnSpc>
              <a:spcBef>
                <a:spcPts val="0"/>
              </a:spcBef>
              <a:spcAft>
                <a:spcPts val="0"/>
              </a:spcAft>
              <a:buSzPts val="2800"/>
              <a:buNone/>
              <a:defRPr/>
            </a:lvl6pPr>
            <a:lvl7pPr lvl="6" algn="l" rtl="1">
              <a:lnSpc>
                <a:spcPct val="100000"/>
              </a:lnSpc>
              <a:spcBef>
                <a:spcPts val="0"/>
              </a:spcBef>
              <a:spcAft>
                <a:spcPts val="0"/>
              </a:spcAft>
              <a:buSzPts val="2800"/>
              <a:buNone/>
              <a:defRPr/>
            </a:lvl7pPr>
            <a:lvl8pPr lvl="7" algn="l" rtl="1">
              <a:lnSpc>
                <a:spcPct val="100000"/>
              </a:lnSpc>
              <a:spcBef>
                <a:spcPts val="0"/>
              </a:spcBef>
              <a:spcAft>
                <a:spcPts val="0"/>
              </a:spcAft>
              <a:buSzPts val="2800"/>
              <a:buNone/>
              <a:defRPr/>
            </a:lvl8pPr>
            <a:lvl9pPr lvl="8" algn="l" rtl="1">
              <a:lnSpc>
                <a:spcPct val="100000"/>
              </a:lnSpc>
              <a:spcBef>
                <a:spcPts val="0"/>
              </a:spcBef>
              <a:spcAft>
                <a:spcPts val="0"/>
              </a:spcAft>
              <a:buSzPts val="2800"/>
              <a:buNone/>
              <a:defRPr/>
            </a:lvl9pPr>
          </a:lstStyle>
          <a:p>
            <a:endParaRPr/>
          </a:p>
        </p:txBody>
      </p:sp>
      <p:sp>
        <p:nvSpPr>
          <p:cNvPr id="32" name="Google Shape;32;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3" name="Google Shape;33;p29"/>
          <p:cNvPicPr preferRelativeResize="0"/>
          <p:nvPr/>
        </p:nvPicPr>
        <p:blipFill rotWithShape="1">
          <a:blip r:embed="rId2">
            <a:alphaModFix/>
          </a:blip>
          <a:srcRect/>
          <a:stretch/>
        </p:blipFill>
        <p:spPr>
          <a:xfrm>
            <a:off x="7959271" y="4703039"/>
            <a:ext cx="946580" cy="21398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1">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hyperlink" Target="https://www.duperrin.com/english/2017/09/14/data-privacy-and-security-are-businesses-immature/" TargetMode="Externa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hyperlink" Target="https://opentextbook.site/informationsystems2019/chapter/chapter-6-information-systems-security-information-systems-introduction/" TargetMode="Externa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https://iabac.org/blog/the-intersection-of-data-analytics-and-artificial-intelligence" TargetMode="External"/><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blog-idee.blogspot.com/2019/"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hyperlink" Target="https://www.transcend.org/tms/2020/12/the-solarwinds-hack-is-unlike-anything-we-have-ever-seen-before/" TargetMode="External"/><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hyperlink" Target="https://pxhere.com/ru/photo/1563507" TargetMode="External"/><Relationship Id="rId4" Type="http://schemas.openxmlformats.org/officeDocument/2006/relationships/image" Target="../media/image14.jpg!d"/></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hyperlink" Target="https://creativecommons.org/licenses/by/3.0/" TargetMode="External"/><Relationship Id="rId5" Type="http://schemas.openxmlformats.org/officeDocument/2006/relationships/hyperlink" Target="https://foto.wuestenigel.com/wurfel-zeigen-das-wort-candy-suszigkeiten-umgeben-von-zuckerhaltigen-suszigkeiten-in-bunten-farben/" TargetMode="External"/><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hyperlink" Target="https://www.farsnews.ir/en/news/14020211000233/Israeli-Radi-Sain-Sfware-Cmpany-Targeed-by-Cyber-Aack" TargetMode="External"/><Relationship Id="rId4" Type="http://schemas.openxmlformats.org/officeDocument/2006/relationships/image" Target="../media/image16.jp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21.xml"/><Relationship Id="rId16" Type="http://schemas.openxmlformats.org/officeDocument/2006/relationships/image" Target="../media/image30.png"/><Relationship Id="rId1" Type="http://schemas.openxmlformats.org/officeDocument/2006/relationships/slideLayout" Target="../slideLayouts/slideLayout4.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19" Type="http://schemas.openxmlformats.org/officeDocument/2006/relationships/image" Target="../media/image33.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1200"/>
              </a:spcAft>
              <a:buClr>
                <a:srgbClr val="252526"/>
              </a:buClr>
              <a:buSzPts val="1800"/>
              <a:buFont typeface="IBM Plex Sans Arabic"/>
              <a:buNone/>
            </a:pPr>
            <a:r>
              <a:rPr lang="en-US" sz="3600" dirty="0">
                <a:solidFill>
                  <a:schemeClr val="lt1"/>
                </a:solidFill>
                <a:latin typeface="IBM Plex Sans Arabic Medium"/>
                <a:ea typeface="IBM Plex Sans Arabic Medium"/>
                <a:cs typeface="IBM Plex Sans Arabic Medium"/>
                <a:sym typeface="IBM Plex Sans Arabic Medium"/>
              </a:rPr>
              <a:t>Artificial Intelligence Ethics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8" y="1137037"/>
            <a:ext cx="8520600" cy="1660138"/>
          </a:xfrm>
          <a:prstGeom prst="rect">
            <a:avLst/>
          </a:prstGeom>
          <a:noFill/>
          <a:ln>
            <a:noFill/>
          </a:ln>
        </p:spPr>
        <p:txBody>
          <a:bodyPr spcFirstLastPara="1" wrap="square" lIns="91425" tIns="91425" rIns="91425" bIns="91425" anchor="b" anchorCtr="0">
            <a:normAutofit fontScale="90000"/>
          </a:bodyPr>
          <a:lstStyle/>
          <a:p>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US" sz="4000" dirty="0">
                <a:latin typeface="Calibri"/>
                <a:ea typeface="Calibri"/>
                <a:cs typeface="Calibri"/>
                <a:sym typeface="Calibri"/>
              </a:rPr>
            </a:br>
            <a:r>
              <a:rPr lang="en-GB" sz="3600" b="0" i="0" u="none" strike="noStrike" dirty="0">
                <a:solidFill>
                  <a:srgbClr val="7030A0"/>
                </a:solidFill>
                <a:effectLst/>
                <a:latin typeface="-webkit-standard"/>
              </a:rPr>
              <a:t>Privacy and Security in Data Science</a:t>
            </a:r>
            <a:br>
              <a:rPr lang="en-US" sz="1800" dirty="0">
                <a:latin typeface="Calibri"/>
                <a:ea typeface="Calibri"/>
                <a:cs typeface="Calibri"/>
                <a:sym typeface="Calibri"/>
              </a:rPr>
            </a:b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355978" y="622430"/>
            <a:ext cx="8029070" cy="2849458"/>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endParaRPr lang="en-GB" sz="2800" b="1" i="0" u="none" strike="noStrike" dirty="0">
              <a:solidFill>
                <a:srgbClr val="000000"/>
              </a:solidFill>
              <a:effectLst/>
            </a:endParaRPr>
          </a:p>
          <a:p>
            <a:pPr marL="0" marR="0" lvl="0" indent="0" algn="just" rtl="0">
              <a:lnSpc>
                <a:spcPct val="125000"/>
              </a:lnSpc>
              <a:spcBef>
                <a:spcPts val="1000"/>
              </a:spcBef>
              <a:spcAft>
                <a:spcPts val="0"/>
              </a:spcAft>
              <a:buNone/>
            </a:pPr>
            <a:endParaRPr lang="en-GB" sz="1800" b="0" i="0" u="none" strike="noStrike" cap="none" dirty="0">
              <a:solidFill>
                <a:srgbClr val="000000"/>
              </a:solidFill>
              <a:latin typeface="Proxima Nova"/>
              <a:ea typeface="Proxima Nova"/>
              <a:cs typeface="Proxima Nova"/>
              <a:sym typeface="Proxima Nova"/>
            </a:endParaRPr>
          </a:p>
          <a:p>
            <a:pPr algn="just">
              <a:lnSpc>
                <a:spcPct val="125000"/>
              </a:lnSpc>
              <a:spcBef>
                <a:spcPts val="1000"/>
              </a:spcBef>
            </a:pPr>
            <a:r>
              <a:rPr lang="en-GB" sz="1800" b="0" i="0" u="none" strike="noStrike" cap="none" dirty="0">
                <a:solidFill>
                  <a:srgbClr val="000000"/>
                </a:solidFill>
                <a:latin typeface="Proxima Nova"/>
                <a:ea typeface="Proxima Nova"/>
                <a:cs typeface="Proxima Nova"/>
                <a:sym typeface="Proxima Nova"/>
              </a:rPr>
              <a:t>1. Understand the Importance of Data Privacy and Security.</a:t>
            </a:r>
          </a:p>
          <a:p>
            <a:pPr algn="just">
              <a:lnSpc>
                <a:spcPct val="125000"/>
              </a:lnSpc>
              <a:spcBef>
                <a:spcPts val="1000"/>
              </a:spcBef>
            </a:pPr>
            <a:r>
              <a:rPr lang="en-GB" sz="1800" b="0" i="0" u="none" strike="noStrike" cap="none" dirty="0">
                <a:solidFill>
                  <a:srgbClr val="000000"/>
                </a:solidFill>
                <a:latin typeface="Proxima Nova"/>
                <a:ea typeface="Proxima Nova"/>
                <a:cs typeface="Proxima Nova"/>
                <a:sym typeface="Proxima Nova"/>
              </a:rPr>
              <a:t>2. </a:t>
            </a:r>
            <a:r>
              <a:rPr lang="en-GB" sz="1800" b="0" i="0" u="none" strike="noStrike" cap="none" dirty="0" err="1">
                <a:solidFill>
                  <a:srgbClr val="000000"/>
                </a:solidFill>
                <a:latin typeface="Proxima Nova"/>
                <a:ea typeface="Proxima Nova"/>
                <a:cs typeface="Proxima Nova"/>
                <a:sym typeface="Proxima Nova"/>
              </a:rPr>
              <a:t>Analyze</a:t>
            </a:r>
            <a:r>
              <a:rPr lang="en-GB" sz="1800" b="0" i="0" u="none" strike="noStrike" cap="none" dirty="0">
                <a:solidFill>
                  <a:srgbClr val="000000"/>
                </a:solidFill>
                <a:latin typeface="Proxima Nova"/>
                <a:ea typeface="Proxima Nova"/>
                <a:cs typeface="Proxima Nova"/>
                <a:sym typeface="Proxima Nova"/>
              </a:rPr>
              <a:t> the Role of AI in Enhancing Privacy and Security</a:t>
            </a:r>
          </a:p>
          <a:p>
            <a:pPr marL="0" marR="0" lvl="0" indent="0" algn="just" rtl="0">
              <a:lnSpc>
                <a:spcPct val="125000"/>
              </a:lnSpc>
              <a:spcBef>
                <a:spcPts val="1000"/>
              </a:spcBef>
              <a:spcAft>
                <a:spcPts val="0"/>
              </a:spcAft>
              <a:buNone/>
            </a:pPr>
            <a:r>
              <a:rPr lang="en-GB" sz="1800" dirty="0">
                <a:latin typeface="Proxima Nova"/>
                <a:ea typeface="Proxima Nova"/>
                <a:cs typeface="Proxima Nova"/>
                <a:sym typeface="Proxima Nova"/>
              </a:rPr>
              <a:t>3. </a:t>
            </a:r>
            <a:r>
              <a:rPr lang="en-GB" sz="1800" dirty="0">
                <a:latin typeface="Proxima Nova"/>
              </a:rPr>
              <a:t>Understand Legal and Regulatory Compliance</a:t>
            </a:r>
            <a:endParaRPr lang="en-GB" sz="1800" dirty="0">
              <a:latin typeface="Proxima Nova"/>
              <a:sym typeface="Proxima Nova"/>
            </a:endParaRPr>
          </a:p>
          <a:p>
            <a:pPr marL="0" marR="0" lvl="0" indent="0" algn="just" rtl="0">
              <a:lnSpc>
                <a:spcPct val="125000"/>
              </a:lnSpc>
              <a:spcBef>
                <a:spcPts val="100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74">
          <a:extLst>
            <a:ext uri="{FF2B5EF4-FFF2-40B4-BE49-F238E27FC236}">
              <a16:creationId xmlns:a16="http://schemas.microsoft.com/office/drawing/2014/main" id="{1BBFEC59-2F9A-F1A0-822E-D0C14DF811AA}"/>
            </a:ext>
          </a:extLst>
        </p:cNvPr>
        <p:cNvGrpSpPr/>
        <p:nvPr/>
      </p:nvGrpSpPr>
      <p:grpSpPr>
        <a:xfrm>
          <a:off x="0" y="0"/>
          <a:ext cx="0" cy="0"/>
          <a:chOff x="0" y="0"/>
          <a:chExt cx="0" cy="0"/>
        </a:xfrm>
      </p:grpSpPr>
      <p:pic>
        <p:nvPicPr>
          <p:cNvPr id="75" name="Google Shape;75;p6">
            <a:extLst>
              <a:ext uri="{FF2B5EF4-FFF2-40B4-BE49-F238E27FC236}">
                <a16:creationId xmlns:a16="http://schemas.microsoft.com/office/drawing/2014/main" id="{814E9543-CA25-5AF4-BD0C-4BBE3828E304}"/>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76" name="Google Shape;76;p6">
            <a:extLst>
              <a:ext uri="{FF2B5EF4-FFF2-40B4-BE49-F238E27FC236}">
                <a16:creationId xmlns:a16="http://schemas.microsoft.com/office/drawing/2014/main" id="{4025FB2A-478B-7FBC-5819-20CB112C3CD4}"/>
              </a:ext>
            </a:extLst>
          </p:cNvPr>
          <p:cNvSpPr txBox="1">
            <a:spLocks noGrp="1"/>
          </p:cNvSpPr>
          <p:nvPr>
            <p:ph type="title"/>
          </p:nvPr>
        </p:nvSpPr>
        <p:spPr>
          <a:xfrm>
            <a:off x="1069849" y="177900"/>
            <a:ext cx="6488264" cy="494528"/>
          </a:xfrm>
          <a:prstGeom prst="rect">
            <a:avLst/>
          </a:prstGeom>
          <a:noFill/>
          <a:ln>
            <a:noFill/>
          </a:ln>
        </p:spPr>
        <p:txBody>
          <a:bodyPr spcFirstLastPara="1" wrap="square" lIns="91425" tIns="91425" rIns="91425" bIns="91425" anchor="t" anchorCtr="0">
            <a:noAutofit/>
          </a:bodyPr>
          <a:lstStyle/>
          <a:p>
            <a:r>
              <a:rPr lang="en-GB" sz="2000" b="1" i="0" u="none" strike="noStrike" dirty="0">
                <a:solidFill>
                  <a:srgbClr val="7030A0"/>
                </a:solidFill>
                <a:effectLst/>
              </a:rPr>
              <a:t>Privacy and Security in Data Science:</a:t>
            </a:r>
            <a:br>
              <a:rPr lang="en-GB" sz="2000" b="1" i="0" u="none" strike="noStrike" dirty="0">
                <a:solidFill>
                  <a:srgbClr val="7030A0"/>
                </a:solidFill>
                <a:effectLst/>
              </a:rPr>
            </a:br>
            <a:br>
              <a:rPr lang="en-US" sz="1000" dirty="0">
                <a:latin typeface="Calibri"/>
                <a:ea typeface="Calibri"/>
                <a:cs typeface="Calibri"/>
                <a:sym typeface="Calibri"/>
              </a:rPr>
            </a:br>
            <a:br>
              <a:rPr lang="en-GB" sz="1600" b="1" i="0" u="none" strike="noStrike" dirty="0">
                <a:solidFill>
                  <a:srgbClr val="000000"/>
                </a:solidFill>
                <a:effectLst/>
              </a:rPr>
            </a:br>
            <a:br>
              <a:rPr lang="en-GB" sz="1600" b="1" i="0" u="none" strike="noStrike" dirty="0">
                <a:solidFill>
                  <a:srgbClr val="404040"/>
                </a:solidFill>
                <a:effectLst/>
                <a:latin typeface="Inter" panose="02000503000000020004" pitchFamily="2" charset="0"/>
              </a:rPr>
            </a:br>
            <a:endParaRPr sz="3200" dirty="0"/>
          </a:p>
        </p:txBody>
      </p:sp>
      <p:sp>
        <p:nvSpPr>
          <p:cNvPr id="79" name="Google Shape;79;p6">
            <a:extLst>
              <a:ext uri="{FF2B5EF4-FFF2-40B4-BE49-F238E27FC236}">
                <a16:creationId xmlns:a16="http://schemas.microsoft.com/office/drawing/2014/main" id="{8E7AD6B6-47C7-C90A-7843-8B2A94B3A678}"/>
              </a:ext>
            </a:extLst>
          </p:cNvPr>
          <p:cNvSpPr txBox="1"/>
          <p:nvPr/>
        </p:nvSpPr>
        <p:spPr>
          <a:xfrm>
            <a:off x="2371061" y="4038281"/>
            <a:ext cx="344220"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dirty="0"/>
          </a:p>
        </p:txBody>
      </p:sp>
      <p:sp>
        <p:nvSpPr>
          <p:cNvPr id="3" name="TextBox 2">
            <a:extLst>
              <a:ext uri="{FF2B5EF4-FFF2-40B4-BE49-F238E27FC236}">
                <a16:creationId xmlns:a16="http://schemas.microsoft.com/office/drawing/2014/main" id="{A042583D-1C44-C07E-A5EB-D08B0F5FDD34}"/>
              </a:ext>
            </a:extLst>
          </p:cNvPr>
          <p:cNvSpPr txBox="1"/>
          <p:nvPr/>
        </p:nvSpPr>
        <p:spPr>
          <a:xfrm>
            <a:off x="481452" y="940841"/>
            <a:ext cx="4853873" cy="3970318"/>
          </a:xfrm>
          <a:prstGeom prst="rect">
            <a:avLst/>
          </a:prstGeom>
          <a:noFill/>
        </p:spPr>
        <p:txBody>
          <a:bodyPr wrap="square">
            <a:spAutoFit/>
          </a:bodyPr>
          <a:lstStyle/>
          <a:p>
            <a:pPr algn="l"/>
            <a:r>
              <a:rPr lang="en-GB" b="0" i="0" u="none" strike="noStrike" dirty="0">
                <a:solidFill>
                  <a:srgbClr val="000000"/>
                </a:solidFill>
                <a:effectLst/>
              </a:rPr>
              <a:t>In today's data-driven world, </a:t>
            </a:r>
            <a:r>
              <a:rPr lang="en-GB" b="1" i="0" u="none" strike="noStrike" dirty="0">
                <a:solidFill>
                  <a:srgbClr val="000000"/>
                </a:solidFill>
                <a:effectLst/>
              </a:rPr>
              <a:t>privacy and security</a:t>
            </a:r>
            <a:r>
              <a:rPr lang="en-GB" b="0" i="0" u="none" strike="noStrike" dirty="0">
                <a:solidFill>
                  <a:srgbClr val="000000"/>
                </a:solidFill>
                <a:effectLst/>
              </a:rPr>
              <a:t> are critical concerns in data science, as organizations collect, store, and </a:t>
            </a:r>
            <a:r>
              <a:rPr lang="en-GB" b="0" i="0" u="none" strike="noStrike" dirty="0" err="1">
                <a:solidFill>
                  <a:srgbClr val="000000"/>
                </a:solidFill>
                <a:effectLst/>
              </a:rPr>
              <a:t>analyze</a:t>
            </a:r>
            <a:r>
              <a:rPr lang="en-GB" b="0" i="0" u="none" strike="noStrike" dirty="0">
                <a:solidFill>
                  <a:srgbClr val="000000"/>
                </a:solidFill>
                <a:effectLst/>
              </a:rPr>
              <a:t> vast amounts of personal and sensitive data. Ensuring the </a:t>
            </a:r>
            <a:r>
              <a:rPr lang="en-GB" b="1" i="0" u="none" strike="noStrike" dirty="0">
                <a:solidFill>
                  <a:srgbClr val="000000"/>
                </a:solidFill>
                <a:effectLst/>
              </a:rPr>
              <a:t>protection</a:t>
            </a:r>
            <a:r>
              <a:rPr lang="en-GB" b="0" i="0" u="none" strike="noStrike" dirty="0">
                <a:solidFill>
                  <a:srgbClr val="000000"/>
                </a:solidFill>
                <a:effectLst/>
              </a:rPr>
              <a:t> of this data is essential for compliance, trust, and ethical AI development.</a:t>
            </a:r>
          </a:p>
          <a:p>
            <a:pPr algn="l"/>
            <a:endParaRPr lang="en-GB" b="0" i="0" u="none" strike="noStrike" dirty="0">
              <a:solidFill>
                <a:srgbClr val="000000"/>
              </a:solidFill>
              <a:effectLst/>
            </a:endParaRPr>
          </a:p>
          <a:p>
            <a:pPr marL="285750" indent="-285750" algn="l">
              <a:buFont typeface="Wingdings" pitchFamily="2" charset="2"/>
              <a:buChar char="Ø"/>
            </a:pPr>
            <a:r>
              <a:rPr lang="en-GB" b="1" i="0" u="none" strike="noStrike" dirty="0">
                <a:solidFill>
                  <a:srgbClr val="000000"/>
                </a:solidFill>
                <a:effectLst/>
              </a:rPr>
              <a:t>Data Privacy</a:t>
            </a:r>
            <a:r>
              <a:rPr lang="en-GB" b="0" i="0" u="none" strike="noStrike" dirty="0">
                <a:solidFill>
                  <a:srgbClr val="000000"/>
                </a:solidFill>
                <a:effectLst/>
              </a:rPr>
              <a:t> refers to controlling access to personal information and ensuring individuals have rights over their data.</a:t>
            </a:r>
          </a:p>
          <a:p>
            <a:pPr marL="285750" indent="-285750" algn="l">
              <a:buFont typeface="Wingdings" pitchFamily="2" charset="2"/>
              <a:buChar char="Ø"/>
            </a:pPr>
            <a:r>
              <a:rPr lang="en-GB" b="1" i="0" u="none" strike="noStrike" dirty="0">
                <a:solidFill>
                  <a:srgbClr val="000000"/>
                </a:solidFill>
                <a:effectLst/>
              </a:rPr>
              <a:t>Data Security</a:t>
            </a:r>
            <a:r>
              <a:rPr lang="en-GB" b="0" i="0" u="none" strike="noStrike" dirty="0">
                <a:solidFill>
                  <a:srgbClr val="000000"/>
                </a:solidFill>
                <a:effectLst/>
              </a:rPr>
              <a:t> involves protecting data from unauthorized access, breaches, and cyber threats.</a:t>
            </a:r>
          </a:p>
          <a:p>
            <a:pPr marL="285750" indent="-285750" algn="l">
              <a:buFont typeface="Wingdings" pitchFamily="2" charset="2"/>
              <a:buChar char="Ø"/>
            </a:pPr>
            <a:endParaRPr lang="en-GB" b="0" i="0" u="none" strike="noStrike" dirty="0">
              <a:solidFill>
                <a:srgbClr val="000000"/>
              </a:solidFill>
              <a:effectLst/>
            </a:endParaRPr>
          </a:p>
          <a:p>
            <a:pPr algn="l"/>
            <a:r>
              <a:rPr lang="en-GB" b="1" i="0" u="none" strike="noStrike" dirty="0">
                <a:solidFill>
                  <a:srgbClr val="000000"/>
                </a:solidFill>
                <a:effectLst/>
              </a:rPr>
              <a:t>Why is this important?</a:t>
            </a:r>
            <a:endParaRPr lang="en-GB" b="0" i="0" u="none" strike="noStrike" dirty="0">
              <a:solidFill>
                <a:srgbClr val="000000"/>
              </a:solidFill>
              <a:effectLst/>
            </a:endParaRPr>
          </a:p>
          <a:p>
            <a:pPr marL="285750" indent="-285750" algn="l">
              <a:buFont typeface="Wingdings" pitchFamily="2" charset="2"/>
              <a:buChar char="Ø"/>
            </a:pPr>
            <a:r>
              <a:rPr lang="en-GB" b="0" i="0" u="none" strike="noStrike" dirty="0">
                <a:solidFill>
                  <a:srgbClr val="000000"/>
                </a:solidFill>
                <a:effectLst/>
              </a:rPr>
              <a:t>Prevents </a:t>
            </a:r>
            <a:r>
              <a:rPr lang="en-GB" b="1" i="0" u="none" strike="noStrike" dirty="0">
                <a:solidFill>
                  <a:srgbClr val="000000"/>
                </a:solidFill>
                <a:effectLst/>
              </a:rPr>
              <a:t>data breaches</a:t>
            </a:r>
            <a:r>
              <a:rPr lang="en-GB" b="0" i="0" u="none" strike="noStrike" dirty="0">
                <a:solidFill>
                  <a:srgbClr val="000000"/>
                </a:solidFill>
                <a:effectLst/>
              </a:rPr>
              <a:t> that can lead to financial losses and reputational damage.</a:t>
            </a:r>
          </a:p>
          <a:p>
            <a:pPr marL="285750" indent="-285750" algn="l">
              <a:buFont typeface="Wingdings" pitchFamily="2" charset="2"/>
              <a:buChar char="Ø"/>
            </a:pPr>
            <a:r>
              <a:rPr lang="en-GB" b="0" i="0" u="none" strike="noStrike" dirty="0">
                <a:solidFill>
                  <a:srgbClr val="000000"/>
                </a:solidFill>
                <a:effectLst/>
              </a:rPr>
              <a:t>Ensures </a:t>
            </a:r>
            <a:r>
              <a:rPr lang="en-GB" b="1" i="0" u="none" strike="noStrike" dirty="0">
                <a:solidFill>
                  <a:srgbClr val="000000"/>
                </a:solidFill>
                <a:effectLst/>
              </a:rPr>
              <a:t>legal compliance</a:t>
            </a:r>
            <a:r>
              <a:rPr lang="en-GB" b="0" i="0" u="none" strike="noStrike" dirty="0">
                <a:solidFill>
                  <a:srgbClr val="000000"/>
                </a:solidFill>
                <a:effectLst/>
              </a:rPr>
              <a:t> with global regulations.</a:t>
            </a:r>
          </a:p>
          <a:p>
            <a:pPr marL="285750" indent="-285750" algn="l">
              <a:buFont typeface="Wingdings" pitchFamily="2" charset="2"/>
              <a:buChar char="Ø"/>
            </a:pPr>
            <a:r>
              <a:rPr lang="en-GB" b="0" i="0" u="none" strike="noStrike" dirty="0">
                <a:solidFill>
                  <a:srgbClr val="000000"/>
                </a:solidFill>
                <a:effectLst/>
              </a:rPr>
              <a:t>Builds </a:t>
            </a:r>
            <a:r>
              <a:rPr lang="en-GB" b="1" i="0" u="none" strike="noStrike" dirty="0">
                <a:solidFill>
                  <a:srgbClr val="000000"/>
                </a:solidFill>
                <a:effectLst/>
              </a:rPr>
              <a:t>trust</a:t>
            </a:r>
            <a:r>
              <a:rPr lang="en-GB" b="0" i="0" u="none" strike="noStrike" dirty="0">
                <a:solidFill>
                  <a:srgbClr val="000000"/>
                </a:solidFill>
                <a:effectLst/>
              </a:rPr>
              <a:t> with users, customers, and stakeholders.</a:t>
            </a:r>
          </a:p>
          <a:p>
            <a:pPr algn="l"/>
            <a:endParaRPr lang="en-GB" b="0" i="0" u="none" strike="noStrike" dirty="0">
              <a:solidFill>
                <a:srgbClr val="000000"/>
              </a:solidFill>
              <a:effectLst/>
            </a:endParaRPr>
          </a:p>
        </p:txBody>
      </p:sp>
      <p:pic>
        <p:nvPicPr>
          <p:cNvPr id="12" name="Picture 11" descr="A close-up of a padlock&#10;&#10;AI-generated content may be incorrect.">
            <a:extLst>
              <a:ext uri="{FF2B5EF4-FFF2-40B4-BE49-F238E27FC236}">
                <a16:creationId xmlns:a16="http://schemas.microsoft.com/office/drawing/2014/main" id="{E428B8C9-F500-1560-0939-6D358D860469}"/>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459506" y="1367552"/>
            <a:ext cx="3372124" cy="2729795"/>
          </a:xfrm>
          <a:prstGeom prst="rect">
            <a:avLst/>
          </a:prstGeom>
        </p:spPr>
      </p:pic>
    </p:spTree>
    <p:extLst>
      <p:ext uri="{BB962C8B-B14F-4D97-AF65-F5344CB8AC3E}">
        <p14:creationId xmlns:p14="http://schemas.microsoft.com/office/powerpoint/2010/main" val="132133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2400" dirty="0">
                <a:solidFill>
                  <a:srgbClr val="7030A0"/>
                </a:solidFill>
              </a:rPr>
              <a:t>Key Principles of Data Protection: The CIA Triad</a:t>
            </a:r>
            <a:br>
              <a:rPr lang="en-GB" sz="2400" dirty="0">
                <a:solidFill>
                  <a:srgbClr val="7030A0"/>
                </a:solidFill>
              </a:rPr>
            </a:br>
            <a:br>
              <a:rPr lang="en-GB" sz="800" dirty="0">
                <a:latin typeface="-webkit-standard"/>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3" name="TextBox 2">
            <a:extLst>
              <a:ext uri="{FF2B5EF4-FFF2-40B4-BE49-F238E27FC236}">
                <a16:creationId xmlns:a16="http://schemas.microsoft.com/office/drawing/2014/main" id="{A85118A9-B16D-3B76-55D7-0F4E043A5ECD}"/>
              </a:ext>
            </a:extLst>
          </p:cNvPr>
          <p:cNvSpPr txBox="1"/>
          <p:nvPr/>
        </p:nvSpPr>
        <p:spPr>
          <a:xfrm>
            <a:off x="475129" y="803155"/>
            <a:ext cx="5477436" cy="3970318"/>
          </a:xfrm>
          <a:prstGeom prst="rect">
            <a:avLst/>
          </a:prstGeom>
          <a:noFill/>
        </p:spPr>
        <p:txBody>
          <a:bodyPr wrap="square">
            <a:spAutoFit/>
          </a:bodyPr>
          <a:lstStyle/>
          <a:p>
            <a:pPr algn="l"/>
            <a:r>
              <a:rPr lang="en-GB" b="0" i="0" u="none" strike="noStrike" dirty="0">
                <a:solidFill>
                  <a:srgbClr val="000000"/>
                </a:solidFill>
                <a:effectLst/>
              </a:rPr>
              <a:t>The </a:t>
            </a:r>
            <a:r>
              <a:rPr lang="en-GB" b="1" i="0" u="none" strike="noStrike" dirty="0">
                <a:solidFill>
                  <a:srgbClr val="000000"/>
                </a:solidFill>
                <a:effectLst/>
              </a:rPr>
              <a:t>CIA Triad (Confidentiality, Integrity, and Availability)</a:t>
            </a:r>
            <a:r>
              <a:rPr lang="en-GB" b="0" i="0" u="none" strike="noStrike" dirty="0">
                <a:solidFill>
                  <a:srgbClr val="000000"/>
                </a:solidFill>
                <a:effectLst/>
              </a:rPr>
              <a:t> is the foundation of </a:t>
            </a:r>
            <a:r>
              <a:rPr lang="en-GB" b="1" i="0" u="none" strike="noStrike" dirty="0">
                <a:solidFill>
                  <a:srgbClr val="000000"/>
                </a:solidFill>
                <a:effectLst/>
              </a:rPr>
              <a:t>data security</a:t>
            </a:r>
            <a:r>
              <a:rPr lang="en-GB" b="0" i="0" u="none" strike="noStrike" dirty="0">
                <a:solidFill>
                  <a:srgbClr val="000000"/>
                </a:solidFill>
                <a:effectLst/>
              </a:rPr>
              <a:t>.</a:t>
            </a:r>
          </a:p>
          <a:p>
            <a:pPr marL="285750" indent="-285750" algn="l">
              <a:buFont typeface="Wingdings" pitchFamily="2" charset="2"/>
              <a:buChar char="Ø"/>
            </a:pPr>
            <a:r>
              <a:rPr lang="en-GB" b="0" i="0" u="none" strike="noStrike" dirty="0">
                <a:solidFill>
                  <a:srgbClr val="000000"/>
                </a:solidFill>
                <a:effectLst/>
              </a:rPr>
              <a:t> </a:t>
            </a:r>
            <a:r>
              <a:rPr lang="en-GB" b="1" i="0" u="none" strike="noStrike" dirty="0">
                <a:solidFill>
                  <a:srgbClr val="000000"/>
                </a:solidFill>
                <a:effectLst/>
              </a:rPr>
              <a:t>Confidentiality</a:t>
            </a:r>
            <a:r>
              <a:rPr lang="en-GB" b="0" i="0" u="none" strike="noStrike" dirty="0">
                <a:solidFill>
                  <a:srgbClr val="000000"/>
                </a:solidFill>
                <a:effectLst/>
              </a:rPr>
              <a:t> – Ensuring that sensitive data is </a:t>
            </a:r>
            <a:r>
              <a:rPr lang="en-GB" b="1" i="0" u="none" strike="noStrike" dirty="0">
                <a:solidFill>
                  <a:srgbClr val="000000"/>
                </a:solidFill>
                <a:effectLst/>
              </a:rPr>
              <a:t>only accessible</a:t>
            </a:r>
            <a:r>
              <a:rPr lang="en-GB" b="0" i="0" u="none" strike="noStrike" dirty="0">
                <a:solidFill>
                  <a:srgbClr val="000000"/>
                </a:solidFill>
                <a:effectLst/>
              </a:rPr>
              <a:t> to authorized users.</a:t>
            </a:r>
          </a:p>
          <a:p>
            <a:pPr algn="l"/>
            <a:r>
              <a:rPr lang="en-GB" b="0" i="0" u="none" strike="noStrike" dirty="0">
                <a:solidFill>
                  <a:srgbClr val="000000"/>
                </a:solidFill>
                <a:effectLst/>
              </a:rPr>
              <a:t>Example:</a:t>
            </a:r>
          </a:p>
          <a:p>
            <a:pPr algn="l"/>
            <a:r>
              <a:rPr lang="en-GB" b="1" i="0" u="none" strike="noStrike" dirty="0">
                <a:solidFill>
                  <a:srgbClr val="000000"/>
                </a:solidFill>
                <a:effectLst/>
              </a:rPr>
              <a:t>Confidentiality</a:t>
            </a:r>
            <a:r>
              <a:rPr lang="en-GB" b="0" i="0" u="none" strike="noStrike" dirty="0">
                <a:solidFill>
                  <a:srgbClr val="000000"/>
                </a:solidFill>
                <a:effectLst/>
              </a:rPr>
              <a:t>: Encrypting user passwords in a database.</a:t>
            </a:r>
          </a:p>
          <a:p>
            <a:pPr algn="l"/>
            <a:endParaRPr lang="en-GB" dirty="0"/>
          </a:p>
          <a:p>
            <a:pPr marL="285750" indent="-285750" algn="l">
              <a:buFont typeface="Wingdings" pitchFamily="2" charset="2"/>
              <a:buChar char="Ø"/>
            </a:pPr>
            <a:r>
              <a:rPr lang="en-GB" b="1" i="0" u="none" strike="noStrike" dirty="0">
                <a:solidFill>
                  <a:srgbClr val="000000"/>
                </a:solidFill>
                <a:effectLst/>
              </a:rPr>
              <a:t>Integrity</a:t>
            </a:r>
            <a:r>
              <a:rPr lang="en-GB" b="0" i="0" u="none" strike="noStrike" dirty="0">
                <a:solidFill>
                  <a:srgbClr val="000000"/>
                </a:solidFill>
                <a:effectLst/>
              </a:rPr>
              <a:t> – Maintaining </a:t>
            </a:r>
            <a:r>
              <a:rPr lang="en-GB" b="1" i="0" u="none" strike="noStrike" dirty="0">
                <a:solidFill>
                  <a:srgbClr val="000000"/>
                </a:solidFill>
                <a:effectLst/>
              </a:rPr>
              <a:t>accuracy and consistency</a:t>
            </a:r>
            <a:r>
              <a:rPr lang="en-GB" b="0" i="0" u="none" strike="noStrike" dirty="0">
                <a:solidFill>
                  <a:srgbClr val="000000"/>
                </a:solidFill>
                <a:effectLst/>
              </a:rPr>
              <a:t> of data, preventing unauthorized modifications.</a:t>
            </a:r>
          </a:p>
          <a:p>
            <a:r>
              <a:rPr lang="en-GB" b="0" i="0" u="none" strike="noStrike" dirty="0">
                <a:solidFill>
                  <a:srgbClr val="000000"/>
                </a:solidFill>
                <a:effectLst/>
              </a:rPr>
              <a:t>Example:</a:t>
            </a:r>
          </a:p>
          <a:p>
            <a:r>
              <a:rPr lang="en-GB" b="1" i="0" u="none" strike="noStrike" dirty="0">
                <a:solidFill>
                  <a:srgbClr val="000000"/>
                </a:solidFill>
                <a:effectLst/>
              </a:rPr>
              <a:t>Integrity</a:t>
            </a:r>
            <a:r>
              <a:rPr lang="en-GB" b="0" i="0" u="none" strike="noStrike" dirty="0">
                <a:solidFill>
                  <a:srgbClr val="000000"/>
                </a:solidFill>
                <a:effectLst/>
              </a:rPr>
              <a:t>: Using checksums to verify data accuracy during transmission.</a:t>
            </a:r>
          </a:p>
          <a:p>
            <a:pPr marL="285750" indent="-285750" algn="l">
              <a:buFont typeface="Wingdings" pitchFamily="2" charset="2"/>
              <a:buChar char="Ø"/>
            </a:pPr>
            <a:endParaRPr lang="en-GB" dirty="0"/>
          </a:p>
          <a:p>
            <a:pPr marL="285750" indent="-285750" algn="l">
              <a:buFont typeface="Wingdings" pitchFamily="2" charset="2"/>
              <a:buChar char="Ø"/>
            </a:pPr>
            <a:r>
              <a:rPr lang="en-GB" b="1" i="0" u="none" strike="noStrike" dirty="0">
                <a:solidFill>
                  <a:srgbClr val="000000"/>
                </a:solidFill>
                <a:effectLst/>
              </a:rPr>
              <a:t>Availability</a:t>
            </a:r>
            <a:r>
              <a:rPr lang="en-GB" b="0" i="0" u="none" strike="noStrike" dirty="0">
                <a:solidFill>
                  <a:srgbClr val="000000"/>
                </a:solidFill>
                <a:effectLst/>
              </a:rPr>
              <a:t> – Ensuring data is </a:t>
            </a:r>
            <a:r>
              <a:rPr lang="en-GB" b="1" i="0" u="none" strike="noStrike" dirty="0">
                <a:solidFill>
                  <a:srgbClr val="000000"/>
                </a:solidFill>
                <a:effectLst/>
              </a:rPr>
              <a:t>accessible</a:t>
            </a:r>
            <a:r>
              <a:rPr lang="en-GB" b="0" i="0" u="none" strike="noStrike" dirty="0">
                <a:solidFill>
                  <a:srgbClr val="000000"/>
                </a:solidFill>
                <a:effectLst/>
              </a:rPr>
              <a:t> when needed, without disruption.</a:t>
            </a:r>
          </a:p>
          <a:p>
            <a:pPr algn="l"/>
            <a:r>
              <a:rPr lang="en-GB" dirty="0"/>
              <a:t>Example: </a:t>
            </a:r>
          </a:p>
          <a:p>
            <a:pPr algn="l"/>
            <a:r>
              <a:rPr lang="en-GB" b="1" i="0" u="none" strike="noStrike" dirty="0">
                <a:solidFill>
                  <a:srgbClr val="000000"/>
                </a:solidFill>
                <a:effectLst/>
              </a:rPr>
              <a:t>Availability</a:t>
            </a:r>
            <a:r>
              <a:rPr lang="en-GB" b="0" i="0" u="none" strike="noStrike" dirty="0">
                <a:solidFill>
                  <a:srgbClr val="000000"/>
                </a:solidFill>
                <a:effectLst/>
              </a:rPr>
              <a:t>: Implementing </a:t>
            </a:r>
            <a:r>
              <a:rPr lang="en-GB" b="1" i="0" u="none" strike="noStrike" dirty="0">
                <a:solidFill>
                  <a:srgbClr val="000000"/>
                </a:solidFill>
                <a:effectLst/>
              </a:rPr>
              <a:t>backup solutions</a:t>
            </a:r>
            <a:r>
              <a:rPr lang="en-GB" b="0" i="0" u="none" strike="noStrike" dirty="0">
                <a:solidFill>
                  <a:srgbClr val="000000"/>
                </a:solidFill>
                <a:effectLst/>
              </a:rPr>
              <a:t> to prevent data loss in case of cyberattacks.</a:t>
            </a:r>
          </a:p>
        </p:txBody>
      </p:sp>
      <p:pic>
        <p:nvPicPr>
          <p:cNvPr id="6" name="Picture 5" descr="A diagram of a security system&#10;&#10;AI-generated content may be incorrect.">
            <a:extLst>
              <a:ext uri="{FF2B5EF4-FFF2-40B4-BE49-F238E27FC236}">
                <a16:creationId xmlns:a16="http://schemas.microsoft.com/office/drawing/2014/main" id="{2DB4D464-B3A1-9520-23F8-CB64A9229F6C}"/>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984534" y="1264023"/>
            <a:ext cx="2684337" cy="27611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D1E245C-17DD-8426-7E86-225321D38416}"/>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67DA5825-D171-C6C9-BDA7-CE6B9486639F}"/>
              </a:ext>
            </a:extLst>
          </p:cNvPr>
          <p:cNvPicPr preferRelativeResize="0"/>
          <p:nvPr/>
        </p:nvPicPr>
        <p:blipFill rotWithShape="1">
          <a:blip r:embed="rId3">
            <a:alphaModFix amt="60000"/>
          </a:blip>
          <a:srcRect/>
          <a:stretch/>
        </p:blipFill>
        <p:spPr>
          <a:xfrm>
            <a:off x="3645234" y="196310"/>
            <a:ext cx="5408998" cy="2939569"/>
          </a:xfrm>
          <a:prstGeom prst="rect">
            <a:avLst/>
          </a:prstGeom>
          <a:noFill/>
          <a:ln>
            <a:noFill/>
          </a:ln>
        </p:spPr>
      </p:pic>
      <p:sp>
        <p:nvSpPr>
          <p:cNvPr id="85" name="Google Shape;85;p7">
            <a:extLst>
              <a:ext uri="{FF2B5EF4-FFF2-40B4-BE49-F238E27FC236}">
                <a16:creationId xmlns:a16="http://schemas.microsoft.com/office/drawing/2014/main" id="{12EC5BCB-C707-1B44-6F65-65EAE68BC720}"/>
              </a:ext>
            </a:extLst>
          </p:cNvPr>
          <p:cNvSpPr txBox="1">
            <a:spLocks noGrp="1"/>
          </p:cNvSpPr>
          <p:nvPr>
            <p:ph type="title"/>
          </p:nvPr>
        </p:nvSpPr>
        <p:spPr>
          <a:xfrm>
            <a:off x="89768" y="122160"/>
            <a:ext cx="7835032" cy="494528"/>
          </a:xfrm>
          <a:prstGeom prst="rect">
            <a:avLst/>
          </a:prstGeom>
          <a:noFill/>
          <a:ln>
            <a:noFill/>
          </a:ln>
        </p:spPr>
        <p:txBody>
          <a:bodyPr spcFirstLastPara="1" wrap="square" lIns="91425" tIns="91425" rIns="91425" bIns="91425" anchor="t" anchorCtr="0">
            <a:noAutofit/>
          </a:bodyPr>
          <a:lstStyle/>
          <a:p>
            <a:r>
              <a:rPr lang="en-GB" sz="2400" b="1" i="0" u="none" strike="noStrike" dirty="0">
                <a:solidFill>
                  <a:srgbClr val="7030A0"/>
                </a:solidFill>
                <a:effectLst/>
              </a:rPr>
              <a:t>The Role of AI and Data Science in Securing Personal Data</a:t>
            </a:r>
            <a:br>
              <a:rPr lang="en-GB" sz="2400" b="1" i="0" u="none" strike="noStrike" dirty="0">
                <a:solidFill>
                  <a:srgbClr val="7030A0"/>
                </a:solidFill>
                <a:effectLst/>
              </a:rPr>
            </a:br>
            <a:br>
              <a:rPr lang="en-GB" sz="2400" b="1" i="0" u="none" strike="noStrike" dirty="0">
                <a:solidFill>
                  <a:srgbClr val="7030A0"/>
                </a:solidFill>
                <a:effectLst/>
              </a:rPr>
            </a:br>
            <a:br>
              <a:rPr lang="en-GB" sz="1600" b="1" i="0" u="none" strike="noStrike" dirty="0">
                <a:solidFill>
                  <a:srgbClr val="000000"/>
                </a:solidFill>
                <a:effectLst/>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4" name="TextBox 3">
            <a:extLst>
              <a:ext uri="{FF2B5EF4-FFF2-40B4-BE49-F238E27FC236}">
                <a16:creationId xmlns:a16="http://schemas.microsoft.com/office/drawing/2014/main" id="{DCF314E3-6FA9-4C64-CB25-FDDBB9899584}"/>
              </a:ext>
            </a:extLst>
          </p:cNvPr>
          <p:cNvSpPr txBox="1"/>
          <p:nvPr/>
        </p:nvSpPr>
        <p:spPr>
          <a:xfrm>
            <a:off x="475130" y="1018599"/>
            <a:ext cx="5504330" cy="3293209"/>
          </a:xfrm>
          <a:prstGeom prst="rect">
            <a:avLst/>
          </a:prstGeom>
          <a:noFill/>
        </p:spPr>
        <p:txBody>
          <a:bodyPr wrap="square">
            <a:spAutoFit/>
          </a:bodyPr>
          <a:lstStyle/>
          <a:p>
            <a:pPr algn="l"/>
            <a:r>
              <a:rPr lang="en-GB" sz="1600" b="0" i="0" u="none" strike="noStrike" dirty="0">
                <a:solidFill>
                  <a:srgbClr val="000000"/>
                </a:solidFill>
                <a:effectLst/>
              </a:rPr>
              <a:t>Data science and AI play a crucial role in </a:t>
            </a:r>
            <a:r>
              <a:rPr lang="en-GB" sz="1600" b="1" i="0" u="none" strike="noStrike" dirty="0">
                <a:solidFill>
                  <a:srgbClr val="000000"/>
                </a:solidFill>
                <a:effectLst/>
              </a:rPr>
              <a:t>protecting privacy</a:t>
            </a:r>
            <a:r>
              <a:rPr lang="en-GB" sz="1600" b="0" i="0" u="none" strike="noStrike" dirty="0">
                <a:solidFill>
                  <a:srgbClr val="000000"/>
                </a:solidFill>
                <a:effectLst/>
              </a:rPr>
              <a:t> through:</a:t>
            </a:r>
          </a:p>
          <a:p>
            <a:pPr algn="l"/>
            <a:r>
              <a:rPr lang="en-GB" sz="1600" b="1" i="0" u="none" strike="noStrike" dirty="0">
                <a:solidFill>
                  <a:srgbClr val="000000"/>
                </a:solidFill>
                <a:effectLst/>
              </a:rPr>
              <a:t>Anomaly detection</a:t>
            </a:r>
            <a:r>
              <a:rPr lang="en-GB" sz="1600" b="0" i="0" u="none" strike="noStrike" dirty="0">
                <a:solidFill>
                  <a:srgbClr val="000000"/>
                </a:solidFill>
                <a:effectLst/>
              </a:rPr>
              <a:t> – AI models identify suspicious activities (e.g., fraud detection).</a:t>
            </a:r>
            <a:br>
              <a:rPr lang="en-GB" sz="1600" b="0" i="0" u="none" strike="noStrike" dirty="0">
                <a:solidFill>
                  <a:srgbClr val="000000"/>
                </a:solidFill>
                <a:effectLst/>
              </a:rPr>
            </a:br>
            <a:r>
              <a:rPr lang="en-GB" sz="1600" b="1" i="0" u="none" strike="noStrike" dirty="0">
                <a:solidFill>
                  <a:srgbClr val="000000"/>
                </a:solidFill>
                <a:effectLst/>
              </a:rPr>
              <a:t>Data anonymization</a:t>
            </a:r>
            <a:r>
              <a:rPr lang="en-GB" sz="1600" b="0" i="0" u="none" strike="noStrike" dirty="0">
                <a:solidFill>
                  <a:srgbClr val="000000"/>
                </a:solidFill>
                <a:effectLst/>
              </a:rPr>
              <a:t> – Masking or encrypting personal identifiers in datasets.</a:t>
            </a:r>
            <a:br>
              <a:rPr lang="en-GB" sz="1600" b="0" i="0" u="none" strike="noStrike" dirty="0">
                <a:solidFill>
                  <a:srgbClr val="000000"/>
                </a:solidFill>
                <a:effectLst/>
              </a:rPr>
            </a:br>
            <a:r>
              <a:rPr lang="en-GB" sz="1600" b="1" i="0" u="none" strike="noStrike" dirty="0">
                <a:solidFill>
                  <a:srgbClr val="000000"/>
                </a:solidFill>
                <a:effectLst/>
              </a:rPr>
              <a:t>Access control</a:t>
            </a:r>
            <a:r>
              <a:rPr lang="en-GB" sz="1600" b="0" i="0" u="none" strike="noStrike" dirty="0">
                <a:solidFill>
                  <a:srgbClr val="000000"/>
                </a:solidFill>
                <a:effectLst/>
              </a:rPr>
              <a:t> – Machine learning helps in dynamic </a:t>
            </a:r>
            <a:r>
              <a:rPr lang="en-GB" sz="1600" b="1" i="0" u="none" strike="noStrike" dirty="0">
                <a:solidFill>
                  <a:srgbClr val="000000"/>
                </a:solidFill>
                <a:effectLst/>
              </a:rPr>
              <a:t>user authentication</a:t>
            </a:r>
            <a:r>
              <a:rPr lang="en-GB" sz="1600" b="0" i="0" u="none" strike="noStrike" dirty="0">
                <a:solidFill>
                  <a:srgbClr val="000000"/>
                </a:solidFill>
                <a:effectLst/>
              </a:rPr>
              <a:t>.</a:t>
            </a:r>
            <a:br>
              <a:rPr lang="en-GB" sz="1600" b="0" i="0" u="none" strike="noStrike" dirty="0">
                <a:solidFill>
                  <a:srgbClr val="000000"/>
                </a:solidFill>
                <a:effectLst/>
              </a:rPr>
            </a:br>
            <a:r>
              <a:rPr lang="en-GB" sz="1600" b="1" i="0" u="none" strike="noStrike" dirty="0">
                <a:solidFill>
                  <a:srgbClr val="000000"/>
                </a:solidFill>
                <a:effectLst/>
              </a:rPr>
              <a:t>Automated compliance</a:t>
            </a:r>
            <a:r>
              <a:rPr lang="en-GB" sz="1600" b="0" i="0" u="none" strike="noStrike" dirty="0">
                <a:solidFill>
                  <a:srgbClr val="000000"/>
                </a:solidFill>
                <a:effectLst/>
              </a:rPr>
              <a:t> – AI-powered tools monitor </a:t>
            </a:r>
            <a:r>
              <a:rPr lang="en-GB" sz="1600" b="1" i="0" u="none" strike="noStrike" dirty="0">
                <a:solidFill>
                  <a:srgbClr val="000000"/>
                </a:solidFill>
                <a:effectLst/>
              </a:rPr>
              <a:t>regulatory compliance</a:t>
            </a:r>
            <a:r>
              <a:rPr lang="en-GB" sz="1600" b="0" i="0" u="none" strike="noStrike" dirty="0">
                <a:solidFill>
                  <a:srgbClr val="000000"/>
                </a:solidFill>
                <a:effectLst/>
              </a:rPr>
              <a:t> in real time.</a:t>
            </a:r>
          </a:p>
          <a:p>
            <a:pPr algn="l"/>
            <a:endParaRPr lang="en-GB" sz="1600" b="0" i="0" u="none" strike="noStrike" dirty="0">
              <a:solidFill>
                <a:srgbClr val="000000"/>
              </a:solidFill>
              <a:effectLst/>
            </a:endParaRPr>
          </a:p>
          <a:p>
            <a:pPr algn="l"/>
            <a:r>
              <a:rPr lang="en-GB" sz="1600" b="1" i="0" u="none" strike="noStrike" dirty="0">
                <a:solidFill>
                  <a:srgbClr val="000000"/>
                </a:solidFill>
                <a:effectLst/>
              </a:rPr>
              <a:t>Example</a:t>
            </a:r>
            <a:r>
              <a:rPr lang="en-GB" sz="1600" b="0" i="0" u="none" strike="noStrike" dirty="0">
                <a:solidFill>
                  <a:srgbClr val="000000"/>
                </a:solidFill>
                <a:effectLst/>
              </a:rPr>
              <a:t>: AI in cybersecurity detects </a:t>
            </a:r>
            <a:r>
              <a:rPr lang="en-GB" sz="1600" b="1" i="0" u="none" strike="noStrike" dirty="0">
                <a:solidFill>
                  <a:srgbClr val="000000"/>
                </a:solidFill>
                <a:effectLst/>
              </a:rPr>
              <a:t>phishing attacks</a:t>
            </a:r>
            <a:r>
              <a:rPr lang="en-GB" sz="1600" b="0" i="0" u="none" strike="noStrike" dirty="0">
                <a:solidFill>
                  <a:srgbClr val="000000"/>
                </a:solidFill>
                <a:effectLst/>
              </a:rPr>
              <a:t> by </a:t>
            </a:r>
            <a:r>
              <a:rPr lang="en-GB" sz="1600" b="0" i="0" u="none" strike="noStrike" dirty="0" err="1">
                <a:solidFill>
                  <a:srgbClr val="000000"/>
                </a:solidFill>
                <a:effectLst/>
              </a:rPr>
              <a:t>analyzing</a:t>
            </a:r>
            <a:r>
              <a:rPr lang="en-GB" sz="1600" b="0" i="0" u="none" strike="noStrike" dirty="0">
                <a:solidFill>
                  <a:srgbClr val="000000"/>
                </a:solidFill>
                <a:effectLst/>
              </a:rPr>
              <a:t> email content and sender </a:t>
            </a:r>
            <a:r>
              <a:rPr lang="en-GB" sz="1600" b="0" i="0" u="none" strike="noStrike" dirty="0" err="1">
                <a:solidFill>
                  <a:srgbClr val="000000"/>
                </a:solidFill>
                <a:effectLst/>
              </a:rPr>
              <a:t>behavior</a:t>
            </a:r>
            <a:r>
              <a:rPr lang="en-GB" sz="1600" b="0" i="0" u="none" strike="noStrike" dirty="0">
                <a:solidFill>
                  <a:srgbClr val="000000"/>
                </a:solidFill>
                <a:effectLst/>
              </a:rPr>
              <a:t>.</a:t>
            </a:r>
          </a:p>
        </p:txBody>
      </p:sp>
      <p:pic>
        <p:nvPicPr>
          <p:cNvPr id="6" name="Picture 5" descr="A robot working on a computer&#10;&#10;AI-generated content may be incorrect.">
            <a:extLst>
              <a:ext uri="{FF2B5EF4-FFF2-40B4-BE49-F238E27FC236}">
                <a16:creationId xmlns:a16="http://schemas.microsoft.com/office/drawing/2014/main" id="{BA3CC857-63D2-AD08-82F4-D9EE92FBCAD4}"/>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979460" y="1567647"/>
            <a:ext cx="2952950" cy="1970143"/>
          </a:xfrm>
          <a:prstGeom prst="rect">
            <a:avLst/>
          </a:prstGeom>
        </p:spPr>
      </p:pic>
    </p:spTree>
    <p:extLst>
      <p:ext uri="{BB962C8B-B14F-4D97-AF65-F5344CB8AC3E}">
        <p14:creationId xmlns:p14="http://schemas.microsoft.com/office/powerpoint/2010/main" val="3459152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p:cNvGrpSpPr/>
        <p:nvPr/>
      </p:nvGrpSpPr>
      <p:grpSpPr>
        <a:xfrm>
          <a:off x="0" y="0"/>
          <a:ext cx="0" cy="0"/>
          <a:chOff x="0" y="0"/>
          <a:chExt cx="0" cy="0"/>
        </a:xfrm>
      </p:grpSpPr>
      <p:pic>
        <p:nvPicPr>
          <p:cNvPr id="92" name="Google Shape;92;p8"/>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p:cNvSpPr txBox="1">
            <a:spLocks noGrp="1"/>
          </p:cNvSpPr>
          <p:nvPr>
            <p:ph type="title"/>
          </p:nvPr>
        </p:nvSpPr>
        <p:spPr>
          <a:xfrm>
            <a:off x="137160" y="122160"/>
            <a:ext cx="7720300" cy="494528"/>
          </a:xfrm>
          <a:prstGeom prst="rect">
            <a:avLst/>
          </a:prstGeom>
          <a:noFill/>
          <a:ln>
            <a:noFill/>
          </a:ln>
        </p:spPr>
        <p:txBody>
          <a:bodyPr spcFirstLastPara="1" wrap="square" lIns="91425" tIns="91425" rIns="91425" bIns="91425" anchor="t" anchorCtr="0">
            <a:noAutofit/>
          </a:bodyPr>
          <a:lstStyle/>
          <a:p>
            <a:r>
              <a:rPr lang="en-GB" sz="2400" b="1" i="0" u="none" strike="noStrike" dirty="0">
                <a:solidFill>
                  <a:srgbClr val="7030A0"/>
                </a:solidFill>
                <a:effectLst/>
              </a:rPr>
              <a:t>Privacy Regulations and Legal Frameworks</a:t>
            </a:r>
            <a:br>
              <a:rPr lang="en-GB" sz="2400" b="1" i="0" u="none" strike="noStrike" dirty="0">
                <a:solidFill>
                  <a:srgbClr val="7030A0"/>
                </a:solidFill>
                <a:effectLst/>
              </a:rPr>
            </a:br>
            <a:br>
              <a:rPr lang="en-GB" sz="1800" b="1" i="0" u="none" strike="noStrike" dirty="0">
                <a:solidFill>
                  <a:srgbClr val="000000"/>
                </a:solidFill>
                <a:effectLst/>
              </a:rPr>
            </a:br>
            <a:r>
              <a:rPr lang="en-GB" sz="1800" b="0" i="0" u="none" strike="noStrike" dirty="0">
                <a:solidFill>
                  <a:srgbClr val="000000"/>
                </a:solidFill>
                <a:effectLst/>
              </a:rPr>
              <a:t>Organizations must comply with various </a:t>
            </a:r>
            <a:r>
              <a:rPr lang="en-GB" sz="1800" i="0" u="none" strike="noStrike" dirty="0">
                <a:solidFill>
                  <a:srgbClr val="000000"/>
                </a:solidFill>
                <a:effectLst/>
              </a:rPr>
              <a:t>global privacy laws</a:t>
            </a:r>
            <a:r>
              <a:rPr lang="en-GB" sz="1800" b="0" i="0" u="none" strike="noStrike" dirty="0">
                <a:solidFill>
                  <a:srgbClr val="000000"/>
                </a:solidFill>
                <a:effectLst/>
              </a:rPr>
              <a:t> to avoid legal consequences.</a:t>
            </a:r>
            <a:br>
              <a:rPr lang="en-GB" sz="1800" b="0" i="0" u="none" strike="noStrike" dirty="0">
                <a:solidFill>
                  <a:srgbClr val="000000"/>
                </a:solidFill>
                <a:effectLst/>
              </a:rPr>
            </a:br>
            <a:br>
              <a:rPr lang="en-GB" sz="1800" b="0" i="0" u="none" strike="noStrike" dirty="0">
                <a:solidFill>
                  <a:srgbClr val="000000"/>
                </a:solidFill>
                <a:effectLst/>
              </a:rPr>
            </a:br>
            <a:r>
              <a:rPr lang="en-GB" sz="1800" i="0" u="none" strike="noStrike" dirty="0">
                <a:solidFill>
                  <a:srgbClr val="000000"/>
                </a:solidFill>
                <a:effectLst/>
              </a:rPr>
              <a:t>General Data Protection Regulation (GDPR)</a:t>
            </a:r>
            <a:br>
              <a:rPr lang="en-GB" sz="1800" i="0" u="none" strike="noStrike" dirty="0">
                <a:solidFill>
                  <a:srgbClr val="000000"/>
                </a:solidFill>
                <a:effectLst/>
              </a:rPr>
            </a:br>
            <a:br>
              <a:rPr lang="en-GB" sz="1800" i="0" u="none" strike="noStrike" dirty="0">
                <a:solidFill>
                  <a:srgbClr val="000000"/>
                </a:solidFill>
                <a:effectLst/>
              </a:rPr>
            </a:br>
            <a:r>
              <a:rPr lang="en-GB" sz="1800" b="0" i="0" u="none" strike="noStrike" dirty="0">
                <a:solidFill>
                  <a:srgbClr val="000000"/>
                </a:solidFill>
                <a:effectLst/>
              </a:rPr>
              <a:t>The </a:t>
            </a:r>
            <a:r>
              <a:rPr lang="en-GB" sz="1800" i="0" u="none" strike="noStrike" dirty="0">
                <a:solidFill>
                  <a:srgbClr val="000000"/>
                </a:solidFill>
                <a:effectLst/>
              </a:rPr>
              <a:t>GDPR</a:t>
            </a:r>
            <a:r>
              <a:rPr lang="en-GB" sz="1800" b="0" i="0" u="none" strike="noStrike" dirty="0">
                <a:solidFill>
                  <a:srgbClr val="000000"/>
                </a:solidFill>
                <a:effectLst/>
              </a:rPr>
              <a:t> is the European Union’s (EU) </a:t>
            </a:r>
            <a:r>
              <a:rPr lang="en-GB" sz="1800" i="0" u="none" strike="noStrike" dirty="0">
                <a:solidFill>
                  <a:srgbClr val="000000"/>
                </a:solidFill>
                <a:effectLst/>
              </a:rPr>
              <a:t>strictest</a:t>
            </a:r>
            <a:r>
              <a:rPr lang="en-GB" sz="1800" b="0" i="0" u="none" strike="noStrike" dirty="0">
                <a:solidFill>
                  <a:srgbClr val="000000"/>
                </a:solidFill>
                <a:effectLst/>
              </a:rPr>
              <a:t> privacy law, ensuring:</a:t>
            </a:r>
            <a:br>
              <a:rPr lang="en-GB" sz="1800" b="0" i="0" u="none" strike="noStrike" dirty="0">
                <a:solidFill>
                  <a:srgbClr val="000000"/>
                </a:solidFill>
                <a:effectLst/>
              </a:rPr>
            </a:br>
            <a:r>
              <a:rPr lang="en-GB" sz="1800" i="0" u="none" strike="noStrike" dirty="0">
                <a:solidFill>
                  <a:srgbClr val="000000"/>
                </a:solidFill>
                <a:effectLst/>
              </a:rPr>
              <a:t>User consent</a:t>
            </a:r>
            <a:r>
              <a:rPr lang="en-GB" sz="1800" b="0" i="0" u="none" strike="noStrike" dirty="0">
                <a:solidFill>
                  <a:srgbClr val="000000"/>
                </a:solidFill>
                <a:effectLst/>
              </a:rPr>
              <a:t> before data collection.</a:t>
            </a:r>
            <a:br>
              <a:rPr lang="en-GB" sz="1800" b="0" i="0" u="none" strike="noStrike" dirty="0">
                <a:solidFill>
                  <a:srgbClr val="000000"/>
                </a:solidFill>
                <a:effectLst/>
              </a:rPr>
            </a:br>
            <a:br>
              <a:rPr lang="en-GB" sz="1800" b="0" i="0" u="none" strike="noStrike" dirty="0">
                <a:solidFill>
                  <a:srgbClr val="000000"/>
                </a:solidFill>
                <a:effectLst/>
              </a:rPr>
            </a:br>
            <a:r>
              <a:rPr lang="en-GB" sz="1800" i="0" u="none" strike="noStrike" dirty="0">
                <a:solidFill>
                  <a:srgbClr val="000000"/>
                </a:solidFill>
                <a:effectLst/>
              </a:rPr>
              <a:t>Right to be forgotten</a:t>
            </a:r>
            <a:r>
              <a:rPr lang="en-GB" sz="1800" b="0" i="0" u="none" strike="noStrike" dirty="0">
                <a:solidFill>
                  <a:srgbClr val="000000"/>
                </a:solidFill>
                <a:effectLst/>
              </a:rPr>
              <a:t> – Users can request </a:t>
            </a:r>
            <a:r>
              <a:rPr lang="en-GB" sz="1800" i="0" u="none" strike="noStrike" dirty="0">
                <a:solidFill>
                  <a:srgbClr val="000000"/>
                </a:solidFill>
                <a:effectLst/>
              </a:rPr>
              <a:t>data deletion</a:t>
            </a:r>
            <a:r>
              <a:rPr lang="en-GB" sz="1800" b="0" i="0" u="none" strike="noStrike" dirty="0">
                <a:solidFill>
                  <a:srgbClr val="000000"/>
                </a:solidFill>
                <a:effectLst/>
              </a:rPr>
              <a:t>.</a:t>
            </a:r>
            <a:br>
              <a:rPr lang="en-GB" sz="1800" b="0" i="0" u="none" strike="noStrike" dirty="0">
                <a:solidFill>
                  <a:srgbClr val="000000"/>
                </a:solidFill>
                <a:effectLst/>
              </a:rPr>
            </a:br>
            <a:br>
              <a:rPr lang="en-GB" sz="1800" b="0" i="0" u="none" strike="noStrike" dirty="0">
                <a:solidFill>
                  <a:srgbClr val="000000"/>
                </a:solidFill>
                <a:effectLst/>
              </a:rPr>
            </a:br>
            <a:r>
              <a:rPr lang="en-GB" sz="1800" i="0" u="none" strike="noStrike" dirty="0">
                <a:solidFill>
                  <a:srgbClr val="000000"/>
                </a:solidFill>
                <a:effectLst/>
              </a:rPr>
              <a:t>Data breach notification</a:t>
            </a:r>
            <a:r>
              <a:rPr lang="en-GB" sz="1800" b="0" i="0" u="none" strike="noStrike" dirty="0">
                <a:solidFill>
                  <a:srgbClr val="000000"/>
                </a:solidFill>
                <a:effectLst/>
              </a:rPr>
              <a:t> within </a:t>
            </a:r>
            <a:r>
              <a:rPr lang="en-GB" sz="1800" i="0" u="none" strike="noStrike" dirty="0">
                <a:solidFill>
                  <a:srgbClr val="000000"/>
                </a:solidFill>
                <a:effectLst/>
              </a:rPr>
              <a:t>72 hours</a:t>
            </a:r>
            <a:r>
              <a:rPr lang="en-GB" sz="1800" b="0" i="0" u="none" strike="noStrike" dirty="0">
                <a:solidFill>
                  <a:srgbClr val="000000"/>
                </a:solidFill>
                <a:effectLst/>
              </a:rPr>
              <a:t>.</a:t>
            </a:r>
            <a:br>
              <a:rPr lang="en-GB" sz="1800" b="0" i="0" u="none" strike="noStrike" dirty="0">
                <a:solidFill>
                  <a:srgbClr val="000000"/>
                </a:solidFill>
                <a:effectLst/>
              </a:rPr>
            </a:br>
            <a:br>
              <a:rPr lang="en-GB" sz="1800" b="0" i="0" u="none" strike="noStrike" dirty="0">
                <a:solidFill>
                  <a:srgbClr val="000000"/>
                </a:solidFill>
                <a:effectLst/>
              </a:rPr>
            </a:br>
            <a:r>
              <a:rPr lang="en-GB" sz="1800" i="0" u="none" strike="noStrike" dirty="0">
                <a:solidFill>
                  <a:srgbClr val="000000"/>
                </a:solidFill>
                <a:effectLst/>
              </a:rPr>
              <a:t>Example</a:t>
            </a:r>
            <a:r>
              <a:rPr lang="en-GB" sz="1800" b="0" i="0" u="none" strike="noStrike" dirty="0">
                <a:solidFill>
                  <a:srgbClr val="000000"/>
                </a:solidFill>
                <a:effectLst/>
              </a:rPr>
              <a:t>: If a company tracks website visitors, it must inform users and obtain </a:t>
            </a:r>
            <a:r>
              <a:rPr lang="en-GB" sz="1800" i="0" u="none" strike="noStrike" dirty="0">
                <a:solidFill>
                  <a:srgbClr val="000000"/>
                </a:solidFill>
                <a:effectLst/>
              </a:rPr>
              <a:t>explicit consent</a:t>
            </a:r>
            <a:r>
              <a:rPr lang="en-GB" sz="1800" b="0" i="0" u="none" strike="noStrike" dirty="0">
                <a:solidFill>
                  <a:srgbClr val="000000"/>
                </a:solidFill>
                <a:effectLst/>
              </a:rPr>
              <a:t>.</a:t>
            </a:r>
            <a:br>
              <a:rPr lang="en-GB" sz="2000" b="0" i="0" u="none" strike="noStrike" dirty="0">
                <a:solidFill>
                  <a:srgbClr val="000000"/>
                </a:solidFill>
                <a:effectLst/>
              </a:rPr>
            </a:br>
            <a:br>
              <a:rPr lang="en-GB" sz="2800" b="1" i="0" u="none" strike="noStrike" dirty="0">
                <a:solidFill>
                  <a:srgbClr val="7030A0"/>
                </a:solidFill>
                <a:effectLst/>
              </a:rPr>
            </a:br>
            <a:br>
              <a:rPr lang="en-GB" sz="1100" b="1" i="0" u="none" strike="noStrike" dirty="0">
                <a:solidFill>
                  <a:srgbClr val="000000"/>
                </a:solidFill>
                <a:effectLst/>
              </a:rPr>
            </a:br>
            <a:br>
              <a:rPr lang="en-US" sz="1600" dirty="0">
                <a:latin typeface="Arial"/>
                <a:ea typeface="Arial"/>
                <a:cs typeface="Arial"/>
                <a:sym typeface="Arial"/>
              </a:rPr>
            </a:b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p:cNvGrpSpPr/>
        <p:nvPr/>
      </p:nvGrpSpPr>
      <p:grpSpPr>
        <a:xfrm>
          <a:off x="0" y="0"/>
          <a:ext cx="0" cy="0"/>
          <a:chOff x="0" y="0"/>
          <a:chExt cx="0" cy="0"/>
        </a:xfrm>
      </p:grpSpPr>
      <p:sp>
        <p:nvSpPr>
          <p:cNvPr id="100" name="Google Shape;100;p9"/>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2000" b="1" i="0" u="none" strike="noStrike" dirty="0">
                <a:solidFill>
                  <a:srgbClr val="7030A0"/>
                </a:solidFill>
                <a:effectLst/>
              </a:rPr>
              <a:t>California Consumer Privacy Act (CCPA)</a:t>
            </a:r>
            <a:br>
              <a:rPr lang="en-GB" sz="2000" b="1" i="0" u="none" strike="noStrike" dirty="0">
                <a:solidFill>
                  <a:srgbClr val="7030A0"/>
                </a:solidFill>
                <a:effectLst/>
              </a:rPr>
            </a:br>
            <a:br>
              <a:rPr lang="en-GB" sz="2000" b="1" i="0" u="none" strike="noStrike" dirty="0">
                <a:solidFill>
                  <a:srgbClr val="7030A0"/>
                </a:solidFill>
                <a:effectLst/>
              </a:rPr>
            </a:br>
            <a:br>
              <a:rPr lang="en-GB" sz="800" b="1" i="0" u="none" strike="noStrike" dirty="0">
                <a:solidFill>
                  <a:srgbClr val="000000"/>
                </a:solidFill>
                <a:effectLst/>
              </a:rPr>
            </a:br>
            <a:br>
              <a:rPr lang="en-GB" sz="1200" b="0"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615A7C59-083C-0C42-90ED-5D19D34201A4}"/>
              </a:ext>
            </a:extLst>
          </p:cNvPr>
          <p:cNvSpPr txBox="1"/>
          <p:nvPr/>
        </p:nvSpPr>
        <p:spPr>
          <a:xfrm>
            <a:off x="872949" y="1145122"/>
            <a:ext cx="4505875" cy="3416320"/>
          </a:xfrm>
          <a:prstGeom prst="rect">
            <a:avLst/>
          </a:prstGeom>
          <a:noFill/>
        </p:spPr>
        <p:txBody>
          <a:bodyPr wrap="square">
            <a:spAutoFit/>
          </a:bodyPr>
          <a:lstStyle/>
          <a:p>
            <a:pPr algn="l"/>
            <a:r>
              <a:rPr lang="en-GB" sz="1800" b="0" i="0" u="none" strike="noStrike" dirty="0">
                <a:solidFill>
                  <a:srgbClr val="000000"/>
                </a:solidFill>
                <a:effectLst/>
              </a:rPr>
              <a:t>The </a:t>
            </a:r>
            <a:r>
              <a:rPr lang="en-GB" sz="1800" b="1" i="0" u="none" strike="noStrike" dirty="0">
                <a:solidFill>
                  <a:srgbClr val="000000"/>
                </a:solidFill>
                <a:effectLst/>
              </a:rPr>
              <a:t>CCPA</a:t>
            </a:r>
            <a:r>
              <a:rPr lang="en-GB" sz="1800" b="0" i="0" u="none" strike="noStrike" dirty="0">
                <a:solidFill>
                  <a:srgbClr val="000000"/>
                </a:solidFill>
                <a:effectLst/>
              </a:rPr>
              <a:t> is a </a:t>
            </a:r>
            <a:r>
              <a:rPr lang="en-GB" sz="1800" b="1" i="0" u="none" strike="noStrike" dirty="0">
                <a:solidFill>
                  <a:srgbClr val="000000"/>
                </a:solidFill>
                <a:effectLst/>
              </a:rPr>
              <a:t>U.S. law</a:t>
            </a:r>
            <a:r>
              <a:rPr lang="en-GB" sz="1800" b="0" i="0" u="none" strike="noStrike" dirty="0">
                <a:solidFill>
                  <a:srgbClr val="000000"/>
                </a:solidFill>
                <a:effectLst/>
              </a:rPr>
              <a:t> that grants California residents:</a:t>
            </a:r>
          </a:p>
          <a:p>
            <a:pPr algn="l"/>
            <a:endParaRPr lang="en-GB" sz="1800" b="0" i="0" u="none" strike="noStrike" dirty="0">
              <a:solidFill>
                <a:srgbClr val="000000"/>
              </a:solidFill>
              <a:effectLst/>
            </a:endParaRPr>
          </a:p>
          <a:p>
            <a:pPr marL="285750" indent="-285750" algn="l">
              <a:buFont typeface="Wingdings" pitchFamily="2" charset="2"/>
              <a:buChar char="Ø"/>
            </a:pPr>
            <a:r>
              <a:rPr lang="en-GB" sz="1800" b="1" i="0" u="none" strike="noStrike" dirty="0">
                <a:solidFill>
                  <a:srgbClr val="000000"/>
                </a:solidFill>
                <a:effectLst/>
              </a:rPr>
              <a:t>Right to know</a:t>
            </a:r>
            <a:r>
              <a:rPr lang="en-GB" sz="1800" b="0" i="0" u="none" strike="noStrike" dirty="0">
                <a:solidFill>
                  <a:srgbClr val="000000"/>
                </a:solidFill>
                <a:effectLst/>
              </a:rPr>
              <a:t> what data is collected.</a:t>
            </a:r>
          </a:p>
          <a:p>
            <a:pPr marL="285750" indent="-285750" algn="l">
              <a:buFont typeface="Wingdings" pitchFamily="2" charset="2"/>
              <a:buChar char="Ø"/>
            </a:pPr>
            <a:endParaRPr lang="en-GB" sz="1800" b="0" i="0" u="none" strike="noStrike" dirty="0">
              <a:solidFill>
                <a:srgbClr val="000000"/>
              </a:solidFill>
              <a:effectLst/>
            </a:endParaRPr>
          </a:p>
          <a:p>
            <a:pPr marL="285750" indent="-285750" algn="l">
              <a:buFont typeface="Wingdings" pitchFamily="2" charset="2"/>
              <a:buChar char="Ø"/>
            </a:pPr>
            <a:r>
              <a:rPr lang="en-GB" sz="1800" b="1" i="0" u="none" strike="noStrike" dirty="0">
                <a:solidFill>
                  <a:srgbClr val="000000"/>
                </a:solidFill>
                <a:effectLst/>
              </a:rPr>
              <a:t>Right to opt out</a:t>
            </a:r>
            <a:r>
              <a:rPr lang="en-GB" sz="1800" b="0" i="0" u="none" strike="noStrike" dirty="0">
                <a:solidFill>
                  <a:srgbClr val="000000"/>
                </a:solidFill>
                <a:effectLst/>
              </a:rPr>
              <a:t> of data sales.</a:t>
            </a:r>
          </a:p>
          <a:p>
            <a:pPr marL="285750" indent="-285750" algn="l">
              <a:buFont typeface="Wingdings" pitchFamily="2" charset="2"/>
              <a:buChar char="Ø"/>
            </a:pPr>
            <a:endParaRPr lang="en-GB" sz="1800" b="0" i="0" u="none" strike="noStrike" dirty="0">
              <a:solidFill>
                <a:srgbClr val="000000"/>
              </a:solidFill>
              <a:effectLst/>
            </a:endParaRPr>
          </a:p>
          <a:p>
            <a:pPr marL="285750" indent="-285750" algn="l">
              <a:buFont typeface="Wingdings" pitchFamily="2" charset="2"/>
              <a:buChar char="Ø"/>
            </a:pPr>
            <a:r>
              <a:rPr lang="en-GB" sz="1800" b="1" i="0" u="none" strike="noStrike" dirty="0">
                <a:solidFill>
                  <a:srgbClr val="000000"/>
                </a:solidFill>
                <a:effectLst/>
              </a:rPr>
              <a:t>Right to delete</a:t>
            </a:r>
            <a:r>
              <a:rPr lang="en-GB" sz="1800" b="0" i="0" u="none" strike="noStrike" dirty="0">
                <a:solidFill>
                  <a:srgbClr val="000000"/>
                </a:solidFill>
                <a:effectLst/>
              </a:rPr>
              <a:t> personal information.</a:t>
            </a:r>
          </a:p>
          <a:p>
            <a:pPr marL="285750" indent="-285750" algn="l">
              <a:buFont typeface="Wingdings" pitchFamily="2" charset="2"/>
              <a:buChar char="Ø"/>
            </a:pPr>
            <a:endParaRPr lang="en-GB" sz="1800" b="0" i="0" u="none" strike="noStrike" dirty="0">
              <a:solidFill>
                <a:srgbClr val="000000"/>
              </a:solidFill>
              <a:effectLst/>
            </a:endParaRPr>
          </a:p>
          <a:p>
            <a:pPr algn="l"/>
            <a:r>
              <a:rPr lang="en-GB" sz="1800" b="1" i="0" u="none" strike="noStrike" dirty="0">
                <a:solidFill>
                  <a:srgbClr val="000000"/>
                </a:solidFill>
                <a:effectLst/>
              </a:rPr>
              <a:t>Example</a:t>
            </a:r>
            <a:r>
              <a:rPr lang="en-GB" sz="1800" b="0" i="0" u="none" strike="noStrike" dirty="0">
                <a:solidFill>
                  <a:srgbClr val="000000"/>
                </a:solidFill>
                <a:effectLst/>
              </a:rPr>
              <a:t>: Social media platforms must allow users to </a:t>
            </a:r>
            <a:r>
              <a:rPr lang="en-GB" sz="1800" b="1" i="0" u="none" strike="noStrike" dirty="0">
                <a:solidFill>
                  <a:srgbClr val="000000"/>
                </a:solidFill>
                <a:effectLst/>
              </a:rPr>
              <a:t>opt out</a:t>
            </a:r>
            <a:r>
              <a:rPr lang="en-GB" sz="1800" b="0" i="0" u="none" strike="noStrike" dirty="0">
                <a:solidFill>
                  <a:srgbClr val="000000"/>
                </a:solidFill>
                <a:effectLst/>
              </a:rPr>
              <a:t> of targeted advertising.</a:t>
            </a:r>
          </a:p>
        </p:txBody>
      </p:sp>
      <p:pic>
        <p:nvPicPr>
          <p:cNvPr id="6" name="Picture 5" descr="A logo for a company&#10;&#10;AI-generated content may be incorrect.">
            <a:extLst>
              <a:ext uri="{FF2B5EF4-FFF2-40B4-BE49-F238E27FC236}">
                <a16:creationId xmlns:a16="http://schemas.microsoft.com/office/drawing/2014/main" id="{CE188A28-8766-B978-DB80-0D58DDC1F1E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776259" y="1585469"/>
            <a:ext cx="3071312" cy="170457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25718A45-9D95-C2EE-3EBA-FE320D4D1C73}"/>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0421EDE4-2722-9699-8229-BBD15CBA7438}"/>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0" name="Google Shape;100;p9">
            <a:extLst>
              <a:ext uri="{FF2B5EF4-FFF2-40B4-BE49-F238E27FC236}">
                <a16:creationId xmlns:a16="http://schemas.microsoft.com/office/drawing/2014/main" id="{C51D873F-7159-798E-07AF-834574BB51BD}"/>
              </a:ext>
            </a:extLst>
          </p:cNvPr>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2000" b="1" i="0" u="none" strike="noStrike" dirty="0">
                <a:solidFill>
                  <a:srgbClr val="7030A0"/>
                </a:solidFill>
                <a:effectLst/>
              </a:rPr>
              <a:t>Data Protection Act and Other International Privacy Laws</a:t>
            </a:r>
            <a:br>
              <a:rPr lang="en-GB" sz="1800" b="1" i="0" u="none" strike="noStrike" dirty="0">
                <a:solidFill>
                  <a:srgbClr val="7030A0"/>
                </a:solidFill>
                <a:effectLst/>
              </a:rPr>
            </a:br>
            <a:br>
              <a:rPr lang="en-GB" sz="18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2000" b="0" i="0" u="none" strike="noStrike" dirty="0">
                <a:solidFill>
                  <a:srgbClr val="000000"/>
                </a:solidFill>
                <a:effectLst/>
              </a:rPr>
            </a:br>
            <a:endParaRPr lang="en-GB" sz="3200" dirty="0"/>
          </a:p>
        </p:txBody>
      </p:sp>
      <p:sp>
        <p:nvSpPr>
          <p:cNvPr id="3" name="TextBox 2">
            <a:extLst>
              <a:ext uri="{FF2B5EF4-FFF2-40B4-BE49-F238E27FC236}">
                <a16:creationId xmlns:a16="http://schemas.microsoft.com/office/drawing/2014/main" id="{298AFAE4-2899-810C-0535-C8B73241F028}"/>
              </a:ext>
            </a:extLst>
          </p:cNvPr>
          <p:cNvSpPr txBox="1"/>
          <p:nvPr/>
        </p:nvSpPr>
        <p:spPr>
          <a:xfrm>
            <a:off x="724048" y="1479176"/>
            <a:ext cx="7577270" cy="2554545"/>
          </a:xfrm>
          <a:prstGeom prst="rect">
            <a:avLst/>
          </a:prstGeom>
          <a:noFill/>
        </p:spPr>
        <p:txBody>
          <a:bodyPr wrap="square">
            <a:spAutoFit/>
          </a:bodyPr>
          <a:lstStyle/>
          <a:p>
            <a:pPr algn="l"/>
            <a:r>
              <a:rPr lang="en-GB" sz="2000" b="0" i="0" u="none" strike="noStrike" dirty="0">
                <a:solidFill>
                  <a:srgbClr val="000000"/>
                </a:solidFill>
                <a:effectLst/>
              </a:rPr>
              <a:t>Several countries enforce </a:t>
            </a:r>
            <a:r>
              <a:rPr lang="en-GB" sz="2000" b="1" i="0" u="none" strike="noStrike" dirty="0">
                <a:solidFill>
                  <a:srgbClr val="000000"/>
                </a:solidFill>
                <a:effectLst/>
              </a:rPr>
              <a:t>strict data privacy laws</a:t>
            </a:r>
            <a:r>
              <a:rPr lang="en-GB" sz="2000" b="0" i="0" u="none" strike="noStrike" dirty="0">
                <a:solidFill>
                  <a:srgbClr val="000000"/>
                </a:solidFill>
                <a:effectLst/>
              </a:rPr>
              <a:t>, including:</a:t>
            </a:r>
          </a:p>
          <a:p>
            <a:pPr algn="l"/>
            <a:endParaRPr lang="en-GB" sz="2000" b="0" i="0" u="none" strike="noStrike" dirty="0">
              <a:solidFill>
                <a:srgbClr val="000000"/>
              </a:solidFill>
              <a:effectLst/>
            </a:endParaRPr>
          </a:p>
          <a:p>
            <a:pPr marL="457200" indent="-457200" algn="l">
              <a:buFont typeface="+mj-lt"/>
              <a:buAutoNum type="arabicPeriod"/>
            </a:pPr>
            <a:r>
              <a:rPr lang="en-GB" sz="2000" b="1" i="0" u="none" strike="noStrike" dirty="0">
                <a:solidFill>
                  <a:srgbClr val="000000"/>
                </a:solidFill>
                <a:effectLst/>
              </a:rPr>
              <a:t>India's Digital Personal Data Protection Act (DPDP)</a:t>
            </a:r>
          </a:p>
          <a:p>
            <a:pPr marL="457200" indent="-457200" algn="l">
              <a:buFont typeface="+mj-lt"/>
              <a:buAutoNum type="arabicPeriod"/>
            </a:pPr>
            <a:endParaRPr lang="en-GB" sz="2000" dirty="0"/>
          </a:p>
          <a:p>
            <a:pPr marL="457200" indent="-457200" algn="l">
              <a:buFont typeface="+mj-lt"/>
              <a:buAutoNum type="arabicPeriod"/>
            </a:pPr>
            <a:r>
              <a:rPr lang="en-GB" sz="2000" b="1" i="0" u="none" strike="noStrike" dirty="0">
                <a:solidFill>
                  <a:srgbClr val="000000"/>
                </a:solidFill>
                <a:effectLst/>
              </a:rPr>
              <a:t>Brazil's LGPD (Lei </a:t>
            </a:r>
            <a:r>
              <a:rPr lang="en-GB" sz="2000" b="1" i="0" u="none" strike="noStrike" dirty="0" err="1">
                <a:solidFill>
                  <a:srgbClr val="000000"/>
                </a:solidFill>
                <a:effectLst/>
              </a:rPr>
              <a:t>Geral</a:t>
            </a:r>
            <a:r>
              <a:rPr lang="en-GB" sz="2000" b="1" i="0" u="none" strike="noStrike" dirty="0">
                <a:solidFill>
                  <a:srgbClr val="000000"/>
                </a:solidFill>
                <a:effectLst/>
              </a:rPr>
              <a:t> de </a:t>
            </a:r>
            <a:r>
              <a:rPr lang="en-GB" sz="2000" b="1" i="0" u="none" strike="noStrike" dirty="0" err="1">
                <a:solidFill>
                  <a:srgbClr val="000000"/>
                </a:solidFill>
                <a:effectLst/>
              </a:rPr>
              <a:t>Proteção</a:t>
            </a:r>
            <a:r>
              <a:rPr lang="en-GB" sz="2000" b="1" i="0" u="none" strike="noStrike" dirty="0">
                <a:solidFill>
                  <a:srgbClr val="000000"/>
                </a:solidFill>
                <a:effectLst/>
              </a:rPr>
              <a:t> de Dados)</a:t>
            </a:r>
          </a:p>
          <a:p>
            <a:pPr marL="457200" indent="-457200" algn="l">
              <a:buFont typeface="+mj-lt"/>
              <a:buAutoNum type="arabicPeriod"/>
            </a:pPr>
            <a:endParaRPr lang="en-GB" sz="2000" dirty="0"/>
          </a:p>
          <a:p>
            <a:pPr marL="457200" indent="-457200" algn="l">
              <a:buFont typeface="+mj-lt"/>
              <a:buAutoNum type="arabicPeriod"/>
            </a:pPr>
            <a:r>
              <a:rPr lang="en-GB" sz="2000" b="1" i="0" u="none" strike="noStrike" dirty="0">
                <a:solidFill>
                  <a:srgbClr val="000000"/>
                </a:solidFill>
                <a:effectLst/>
              </a:rPr>
              <a:t>Canada’s PIPEDA (Personal Information Protection and Electronic Documents Act)</a:t>
            </a:r>
            <a:endParaRPr lang="en-GB" sz="2000" b="0" i="0" u="none" strike="noStrike" dirty="0">
              <a:solidFill>
                <a:srgbClr val="000000"/>
              </a:solidFill>
              <a:effectLst/>
            </a:endParaRPr>
          </a:p>
        </p:txBody>
      </p:sp>
    </p:spTree>
    <p:extLst>
      <p:ext uri="{BB962C8B-B14F-4D97-AF65-F5344CB8AC3E}">
        <p14:creationId xmlns:p14="http://schemas.microsoft.com/office/powerpoint/2010/main" val="1368636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16E74AFF-9E6A-B59F-07FE-B08EB98FFCA1}"/>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5C9F185F-9174-9E5C-E991-EF27C52404B8}"/>
              </a:ext>
            </a:extLst>
          </p:cNvPr>
          <p:cNvPicPr preferRelativeResize="0"/>
          <p:nvPr/>
        </p:nvPicPr>
        <p:blipFill rotWithShape="1">
          <a:blip r:embed="rId3">
            <a:alphaModFix amt="60000"/>
          </a:blip>
          <a:srcRect/>
          <a:stretch/>
        </p:blipFill>
        <p:spPr>
          <a:xfrm>
            <a:off x="5659200" y="1790800"/>
            <a:ext cx="5408998" cy="2939569"/>
          </a:xfrm>
          <a:prstGeom prst="rect">
            <a:avLst/>
          </a:prstGeom>
          <a:noFill/>
          <a:ln>
            <a:noFill/>
          </a:ln>
        </p:spPr>
      </p:pic>
      <p:sp>
        <p:nvSpPr>
          <p:cNvPr id="100" name="Google Shape;100;p9">
            <a:extLst>
              <a:ext uri="{FF2B5EF4-FFF2-40B4-BE49-F238E27FC236}">
                <a16:creationId xmlns:a16="http://schemas.microsoft.com/office/drawing/2014/main" id="{6317E372-497F-291B-3C05-C30A3E0FA10B}"/>
              </a:ext>
            </a:extLst>
          </p:cNvPr>
          <p:cNvSpPr txBox="1">
            <a:spLocks noGrp="1"/>
          </p:cNvSpPr>
          <p:nvPr>
            <p:ph type="title"/>
          </p:nvPr>
        </p:nvSpPr>
        <p:spPr>
          <a:xfrm>
            <a:off x="206188" y="122160"/>
            <a:ext cx="7969624" cy="494528"/>
          </a:xfrm>
          <a:prstGeom prst="rect">
            <a:avLst/>
          </a:prstGeom>
          <a:noFill/>
          <a:ln>
            <a:noFill/>
          </a:ln>
        </p:spPr>
        <p:txBody>
          <a:bodyPr spcFirstLastPara="1" wrap="square" lIns="91425" tIns="91425" rIns="91425" bIns="91425" anchor="t" anchorCtr="0">
            <a:noAutofit/>
          </a:bodyPr>
          <a:lstStyle/>
          <a:p>
            <a:r>
              <a:rPr lang="en-GB" sz="2400" dirty="0">
                <a:latin typeface="Calibri"/>
                <a:cs typeface="Calibri"/>
              </a:rPr>
              <a:t>Legal Responsibilities of AI Developers and Organizations</a:t>
            </a:r>
            <a:br>
              <a:rPr lang="en-GB" sz="2400" dirty="0">
                <a:latin typeface="Calibri"/>
                <a:cs typeface="Calibri"/>
              </a:rPr>
            </a:br>
            <a:br>
              <a:rPr lang="en-GB" sz="2400" dirty="0">
                <a:latin typeface="Calibri"/>
                <a:cs typeface="Calibri"/>
              </a:rPr>
            </a:br>
            <a:br>
              <a:rPr lang="en-GB" sz="8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98ABA341-0904-BB12-A224-CF2099C6DBDA}"/>
              </a:ext>
            </a:extLst>
          </p:cNvPr>
          <p:cNvSpPr txBox="1"/>
          <p:nvPr/>
        </p:nvSpPr>
        <p:spPr>
          <a:xfrm>
            <a:off x="1423147" y="929822"/>
            <a:ext cx="5535706" cy="3416320"/>
          </a:xfrm>
          <a:prstGeom prst="rect">
            <a:avLst/>
          </a:prstGeom>
          <a:noFill/>
        </p:spPr>
        <p:txBody>
          <a:bodyPr wrap="square">
            <a:spAutoFit/>
          </a:bodyPr>
          <a:lstStyle/>
          <a:p>
            <a:pPr algn="l"/>
            <a:r>
              <a:rPr lang="en-GB" sz="1800" b="0" i="0" u="none" strike="noStrike" dirty="0">
                <a:solidFill>
                  <a:srgbClr val="000000"/>
                </a:solidFill>
                <a:effectLst/>
              </a:rPr>
              <a:t>AI developers and companies handling personal data must</a:t>
            </a:r>
            <a:r>
              <a:rPr lang="en-GB" sz="1800" dirty="0"/>
              <a:t>:</a:t>
            </a:r>
          </a:p>
          <a:p>
            <a:pPr marL="285750" indent="-285750" algn="l">
              <a:buFont typeface="Wingdings" pitchFamily="2" charset="2"/>
              <a:buChar char="Ø"/>
            </a:pPr>
            <a:endParaRPr lang="en-GB" sz="1800" dirty="0"/>
          </a:p>
          <a:p>
            <a:pPr marL="285750" indent="-285750" algn="l">
              <a:buFont typeface="Wingdings" pitchFamily="2" charset="2"/>
              <a:buChar char="Ø"/>
            </a:pPr>
            <a:r>
              <a:rPr lang="en-GB" sz="1800" b="0" i="0" u="none" strike="noStrike" dirty="0">
                <a:solidFill>
                  <a:srgbClr val="000000"/>
                </a:solidFill>
                <a:effectLst/>
              </a:rPr>
              <a:t>Ensure </a:t>
            </a:r>
            <a:r>
              <a:rPr lang="en-GB" sz="1800" b="1" i="0" u="none" strike="noStrike" dirty="0">
                <a:solidFill>
                  <a:srgbClr val="000000"/>
                </a:solidFill>
                <a:effectLst/>
              </a:rPr>
              <a:t>transparency</a:t>
            </a:r>
            <a:r>
              <a:rPr lang="en-GB" sz="1800" b="0" i="0" u="none" strike="noStrike" dirty="0">
                <a:solidFill>
                  <a:srgbClr val="000000"/>
                </a:solidFill>
                <a:effectLst/>
              </a:rPr>
              <a:t> in AI decision-making.</a:t>
            </a:r>
            <a:br>
              <a:rPr lang="en-GB" sz="1800" b="0" i="0" u="none" strike="noStrike" dirty="0">
                <a:solidFill>
                  <a:srgbClr val="000000"/>
                </a:solidFill>
                <a:effectLst/>
              </a:rPr>
            </a:br>
            <a:r>
              <a:rPr lang="en-GB" sz="1800" b="0" i="0" u="none" strike="noStrike" dirty="0">
                <a:solidFill>
                  <a:srgbClr val="000000"/>
                </a:solidFill>
                <a:effectLst/>
              </a:rPr>
              <a:t>Use </a:t>
            </a:r>
            <a:r>
              <a:rPr lang="en-GB" sz="1800" b="1" i="0" u="none" strike="noStrike" dirty="0">
                <a:solidFill>
                  <a:srgbClr val="000000"/>
                </a:solidFill>
                <a:effectLst/>
              </a:rPr>
              <a:t>privacy-enhancing technologies (PETs)</a:t>
            </a:r>
            <a:r>
              <a:rPr lang="en-GB" sz="1800" b="0" i="0" u="none" strike="noStrike" dirty="0">
                <a:solidFill>
                  <a:srgbClr val="000000"/>
                </a:solidFill>
                <a:effectLst/>
              </a:rPr>
              <a:t> like </a:t>
            </a:r>
            <a:r>
              <a:rPr lang="en-GB" sz="1800" b="1" i="0" u="none" strike="noStrike" dirty="0">
                <a:solidFill>
                  <a:srgbClr val="000000"/>
                </a:solidFill>
                <a:effectLst/>
              </a:rPr>
              <a:t>differential privacy</a:t>
            </a:r>
            <a:r>
              <a:rPr lang="en-GB" sz="1800" b="0" i="0" u="none" strike="noStrike" dirty="0">
                <a:solidFill>
                  <a:srgbClr val="000000"/>
                </a:solidFill>
                <a:effectLst/>
              </a:rPr>
              <a:t>.</a:t>
            </a:r>
          </a:p>
          <a:p>
            <a:pPr marL="285750" indent="-285750" algn="l">
              <a:buFont typeface="Wingdings" pitchFamily="2" charset="2"/>
              <a:buChar char="Ø"/>
            </a:pPr>
            <a:endParaRPr lang="en-GB" sz="1800" b="0" i="0" u="none" strike="noStrike" dirty="0">
              <a:solidFill>
                <a:srgbClr val="000000"/>
              </a:solidFill>
              <a:effectLst/>
            </a:endParaRPr>
          </a:p>
          <a:p>
            <a:pPr marL="285750" indent="-285750" algn="l">
              <a:buFont typeface="Wingdings" pitchFamily="2" charset="2"/>
              <a:buChar char="Ø"/>
            </a:pPr>
            <a:r>
              <a:rPr lang="en-GB" sz="1800" b="0" i="0" u="none" strike="noStrike" dirty="0">
                <a:solidFill>
                  <a:srgbClr val="000000"/>
                </a:solidFill>
                <a:effectLst/>
              </a:rPr>
              <a:t>Conduct </a:t>
            </a:r>
            <a:r>
              <a:rPr lang="en-GB" sz="1800" b="1" i="0" u="none" strike="noStrike" dirty="0">
                <a:solidFill>
                  <a:srgbClr val="000000"/>
                </a:solidFill>
                <a:effectLst/>
              </a:rPr>
              <a:t>regular security audits</a:t>
            </a:r>
            <a:r>
              <a:rPr lang="en-GB" sz="1800" b="0" i="0" u="none" strike="noStrike" dirty="0">
                <a:solidFill>
                  <a:srgbClr val="000000"/>
                </a:solidFill>
                <a:effectLst/>
              </a:rPr>
              <a:t> to detect vulnerabilities.</a:t>
            </a:r>
          </a:p>
          <a:p>
            <a:pPr marL="285750" indent="-285750" algn="l">
              <a:buFont typeface="Wingdings" pitchFamily="2" charset="2"/>
              <a:buChar char="Ø"/>
            </a:pPr>
            <a:endParaRPr lang="en-GB" sz="1800" b="0" i="0" u="none" strike="noStrike" dirty="0">
              <a:solidFill>
                <a:srgbClr val="000000"/>
              </a:solidFill>
              <a:effectLst/>
            </a:endParaRPr>
          </a:p>
          <a:p>
            <a:pPr algn="l"/>
            <a:r>
              <a:rPr lang="en-GB" sz="1800" b="1" i="0" u="none" strike="noStrike" dirty="0">
                <a:solidFill>
                  <a:srgbClr val="000000"/>
                </a:solidFill>
                <a:effectLst/>
              </a:rPr>
              <a:t>Example</a:t>
            </a:r>
            <a:r>
              <a:rPr lang="en-GB" sz="1800" b="0" i="0" u="none" strike="noStrike" dirty="0">
                <a:solidFill>
                  <a:srgbClr val="000000"/>
                </a:solidFill>
                <a:effectLst/>
              </a:rPr>
              <a:t>: A healthcare AI system must anonymize patient data before training a model.</a:t>
            </a:r>
          </a:p>
        </p:txBody>
      </p:sp>
    </p:spTree>
    <p:extLst>
      <p:ext uri="{BB962C8B-B14F-4D97-AF65-F5344CB8AC3E}">
        <p14:creationId xmlns:p14="http://schemas.microsoft.com/office/powerpoint/2010/main" val="3315047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8E506D86-3564-A2D0-0191-99B8B5B006A9}"/>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FD303E6A-CAC2-50E7-C72E-84D25B190C99}"/>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E9DE5CF7-C686-E292-B9A8-3CD1C6C4E14C}"/>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r>
              <a:rPr lang="en-GB" sz="2000" b="1" i="0" u="none" strike="noStrike" dirty="0">
                <a:solidFill>
                  <a:srgbClr val="7030A0"/>
                </a:solidFill>
                <a:effectLst/>
              </a:rPr>
              <a:t> </a:t>
            </a:r>
            <a:r>
              <a:rPr lang="en-GB" sz="2400" b="1" i="0" u="none" strike="noStrike" dirty="0">
                <a:solidFill>
                  <a:srgbClr val="7030A0"/>
                </a:solidFill>
                <a:effectLst/>
              </a:rPr>
              <a:t>Threats to Data Privacy and Security</a:t>
            </a:r>
            <a:br>
              <a:rPr lang="en-GB" sz="2000" b="1" i="0" u="none" strike="noStrike" dirty="0">
                <a:solidFill>
                  <a:srgbClr val="7030A0"/>
                </a:solidFill>
                <a:effectLst/>
              </a:rPr>
            </a:br>
            <a:br>
              <a:rPr lang="en-GB" sz="2000" b="1" i="0" u="none" strike="noStrike" dirty="0">
                <a:solidFill>
                  <a:srgbClr val="000000"/>
                </a:solidFill>
                <a:effectLst/>
              </a:rPr>
            </a:br>
            <a:r>
              <a:rPr lang="en-GB" sz="1800" b="0" i="0" u="none" strike="noStrike" dirty="0">
                <a:solidFill>
                  <a:srgbClr val="000000"/>
                </a:solidFill>
                <a:effectLst/>
              </a:rPr>
              <a:t>In today’s digital era, </a:t>
            </a:r>
            <a:r>
              <a:rPr lang="en-GB" sz="1800" b="1" i="0" u="none" strike="noStrike" dirty="0">
                <a:solidFill>
                  <a:srgbClr val="000000"/>
                </a:solidFill>
                <a:effectLst/>
              </a:rPr>
              <a:t>data privacy and security</a:t>
            </a:r>
            <a:r>
              <a:rPr lang="en-GB" sz="1800" b="0" i="0" u="none" strike="noStrike" dirty="0">
                <a:solidFill>
                  <a:srgbClr val="000000"/>
                </a:solidFill>
                <a:effectLst/>
              </a:rPr>
              <a:t> face numerous challenges due to evolving cyber threats, increasing data collection, and growing reliance on AI-driven technologies. </a:t>
            </a:r>
            <a:br>
              <a:rPr lang="en-GB" sz="1800" b="0" i="0" u="none" strike="noStrike" dirty="0">
                <a:solidFill>
                  <a:srgbClr val="000000"/>
                </a:solidFill>
                <a:effectLst/>
              </a:rPr>
            </a:br>
            <a:r>
              <a:rPr lang="en-GB" sz="1800" b="0" i="0" u="none" strike="noStrike" dirty="0">
                <a:solidFill>
                  <a:srgbClr val="000000"/>
                </a:solidFill>
                <a:effectLst/>
              </a:rPr>
              <a:t>Organizations must understand these threats to implement effective </a:t>
            </a:r>
            <a:r>
              <a:rPr lang="en-GB" sz="1800" b="1" i="0" u="none" strike="noStrike" dirty="0">
                <a:solidFill>
                  <a:srgbClr val="000000"/>
                </a:solidFill>
                <a:effectLst/>
              </a:rPr>
              <a:t>risk mitigation strategies</a:t>
            </a:r>
            <a:r>
              <a:rPr lang="en-GB" sz="1800" b="0" i="0" u="none" strike="noStrike" dirty="0">
                <a:solidFill>
                  <a:srgbClr val="000000"/>
                </a:solidFill>
                <a:effectLst/>
              </a:rPr>
              <a:t>.</a:t>
            </a:r>
            <a:br>
              <a:rPr lang="en-GB" sz="1800" b="0" i="0" u="none" strike="noStrike" dirty="0">
                <a:solidFill>
                  <a:srgbClr val="000000"/>
                </a:solidFill>
                <a:effectLst/>
              </a:rPr>
            </a:br>
            <a:br>
              <a:rPr lang="en-GB" sz="2000" b="0" i="0" u="none" strike="noStrike" dirty="0">
                <a:solidFill>
                  <a:srgbClr val="000000"/>
                </a:solidFill>
                <a:effectLst/>
              </a:rPr>
            </a:br>
            <a:endParaRPr lang="en-GB" sz="3200" dirty="0"/>
          </a:p>
        </p:txBody>
      </p:sp>
      <p:pic>
        <p:nvPicPr>
          <p:cNvPr id="10" name="Picture 9" descr="A person in a hoodie using a computer&#10;&#10;AI-generated content may be incorrect.">
            <a:extLst>
              <a:ext uri="{FF2B5EF4-FFF2-40B4-BE49-F238E27FC236}">
                <a16:creationId xmlns:a16="http://schemas.microsoft.com/office/drawing/2014/main" id="{76777E5B-792B-E5F8-1E23-4D2F9306BCAA}"/>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2384613" y="2268071"/>
            <a:ext cx="4240306" cy="2753269"/>
          </a:xfrm>
          <a:prstGeom prst="rect">
            <a:avLst/>
          </a:prstGeom>
        </p:spPr>
      </p:pic>
    </p:spTree>
    <p:extLst>
      <p:ext uri="{BB962C8B-B14F-4D97-AF65-F5344CB8AC3E}">
        <p14:creationId xmlns:p14="http://schemas.microsoft.com/office/powerpoint/2010/main" val="2051646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56226C5E-1815-568A-7579-7BF449C992DC}"/>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D309494E-CF23-3FA8-E6B0-557F4358C180}"/>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FFF7B159-53BC-C52D-A10A-998E78B5D5C2}"/>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400" b="1" i="0" u="none" strike="noStrike" dirty="0">
                <a:solidFill>
                  <a:srgbClr val="7030A0"/>
                </a:solidFill>
                <a:effectLst/>
              </a:rPr>
              <a:t>Data Breaches, Unauthorized Access, and Malicious Attacks</a:t>
            </a:r>
            <a:br>
              <a:rPr lang="en-GB" sz="2400" b="1" i="0" u="none" strike="noStrike" dirty="0">
                <a:solidFill>
                  <a:srgbClr val="000000"/>
                </a:solidFill>
                <a:effectLst/>
              </a:rPr>
            </a:br>
            <a:br>
              <a:rPr lang="en-GB" sz="2400" b="1" i="0" u="none" strike="noStrike" dirty="0">
                <a:solidFill>
                  <a:srgbClr val="7030A0"/>
                </a:solidFill>
                <a:effectLst/>
              </a:rPr>
            </a:br>
            <a:br>
              <a:rPr lang="en-GB" sz="2400" b="1" i="0" u="none" strike="noStrike" dirty="0">
                <a:solidFill>
                  <a:srgbClr val="000000"/>
                </a:solidFill>
                <a:effectLst/>
              </a:rPr>
            </a:br>
            <a:br>
              <a:rPr lang="en-GB" sz="2400" b="1" i="0" u="none" strike="noStrike" dirty="0">
                <a:solidFill>
                  <a:srgbClr val="000000"/>
                </a:solidFill>
                <a:effectLst/>
              </a:rPr>
            </a:br>
            <a:br>
              <a:rPr lang="en-GB" sz="2400" b="1" i="0" u="none" strike="noStrike" dirty="0">
                <a:solidFill>
                  <a:srgbClr val="000000"/>
                </a:solidFill>
                <a:effectLst/>
              </a:rPr>
            </a:br>
            <a:br>
              <a:rPr lang="en-GB" sz="2400" dirty="0">
                <a:latin typeface="Arial"/>
                <a:ea typeface="Arial"/>
                <a:cs typeface="Arial"/>
                <a:sym typeface="Arial"/>
              </a:rPr>
            </a:br>
            <a:endParaRPr lang="en-GB" sz="2400" dirty="0"/>
          </a:p>
        </p:txBody>
      </p:sp>
      <p:sp>
        <p:nvSpPr>
          <p:cNvPr id="3" name="TextBox 2">
            <a:extLst>
              <a:ext uri="{FF2B5EF4-FFF2-40B4-BE49-F238E27FC236}">
                <a16:creationId xmlns:a16="http://schemas.microsoft.com/office/drawing/2014/main" id="{87EF4126-789F-9316-FD81-8C646054FD67}"/>
              </a:ext>
            </a:extLst>
          </p:cNvPr>
          <p:cNvSpPr txBox="1"/>
          <p:nvPr/>
        </p:nvSpPr>
        <p:spPr>
          <a:xfrm>
            <a:off x="497542" y="1002089"/>
            <a:ext cx="8148916" cy="3970318"/>
          </a:xfrm>
          <a:prstGeom prst="rect">
            <a:avLst/>
          </a:prstGeom>
          <a:noFill/>
        </p:spPr>
        <p:txBody>
          <a:bodyPr wrap="square">
            <a:spAutoFit/>
          </a:bodyPr>
          <a:lstStyle/>
          <a:p>
            <a:pPr algn="l"/>
            <a:r>
              <a:rPr lang="en-GB" sz="1800" b="1" i="0" u="none" strike="noStrike" dirty="0">
                <a:solidFill>
                  <a:srgbClr val="000000"/>
                </a:solidFill>
                <a:effectLst/>
              </a:rPr>
              <a:t> What is a Data Breach?</a:t>
            </a:r>
          </a:p>
          <a:p>
            <a:pPr algn="l"/>
            <a:endParaRPr lang="en-GB" sz="1800" b="1" i="0" u="none" strike="noStrike" dirty="0">
              <a:solidFill>
                <a:srgbClr val="000000"/>
              </a:solidFill>
              <a:effectLst/>
            </a:endParaRPr>
          </a:p>
          <a:p>
            <a:pPr algn="l"/>
            <a:r>
              <a:rPr lang="en-GB" sz="1800" b="0" i="0" u="none" strike="noStrike" dirty="0">
                <a:solidFill>
                  <a:srgbClr val="000000"/>
                </a:solidFill>
                <a:effectLst/>
              </a:rPr>
              <a:t>A </a:t>
            </a:r>
            <a:r>
              <a:rPr lang="en-GB" sz="1800" b="1" i="0" u="none" strike="noStrike" dirty="0">
                <a:solidFill>
                  <a:srgbClr val="000000"/>
                </a:solidFill>
                <a:effectLst/>
              </a:rPr>
              <a:t>data breach</a:t>
            </a:r>
            <a:r>
              <a:rPr lang="en-GB" sz="1800" b="0" i="0" u="none" strike="noStrike" dirty="0">
                <a:solidFill>
                  <a:srgbClr val="000000"/>
                </a:solidFill>
                <a:effectLst/>
              </a:rPr>
              <a:t> occurs when sensitive information is exposed due to cyberattacks, accidental leaks, or internal security failures.</a:t>
            </a:r>
          </a:p>
          <a:p>
            <a:pPr algn="l"/>
            <a:r>
              <a:rPr lang="en-GB" sz="1800" b="1" i="0" u="none" strike="noStrike" dirty="0">
                <a:solidFill>
                  <a:srgbClr val="000000"/>
                </a:solidFill>
                <a:effectLst/>
              </a:rPr>
              <a:t>Common causes of data breaches:</a:t>
            </a:r>
          </a:p>
          <a:p>
            <a:pPr algn="l"/>
            <a:br>
              <a:rPr lang="en-GB" sz="1800" b="0" i="0" u="none" strike="noStrike" dirty="0">
                <a:solidFill>
                  <a:srgbClr val="000000"/>
                </a:solidFill>
                <a:effectLst/>
              </a:rPr>
            </a:br>
            <a:r>
              <a:rPr lang="en-GB" sz="1800" b="1" i="0" u="none" strike="noStrike" dirty="0">
                <a:solidFill>
                  <a:srgbClr val="000000"/>
                </a:solidFill>
                <a:effectLst/>
              </a:rPr>
              <a:t>Weak passwords</a:t>
            </a:r>
            <a:r>
              <a:rPr lang="en-GB" sz="1800" b="0" i="0" u="none" strike="noStrike" dirty="0">
                <a:solidFill>
                  <a:srgbClr val="000000"/>
                </a:solidFill>
                <a:effectLst/>
              </a:rPr>
              <a:t> – Easy-to-guess passwords can be exploited by hackers.</a:t>
            </a:r>
            <a:br>
              <a:rPr lang="en-GB" sz="1800" b="0" i="0" u="none" strike="noStrike" dirty="0">
                <a:solidFill>
                  <a:srgbClr val="000000"/>
                </a:solidFill>
                <a:effectLst/>
              </a:rPr>
            </a:br>
            <a:r>
              <a:rPr lang="en-GB" sz="1800" b="1" i="0" u="none" strike="noStrike" dirty="0">
                <a:solidFill>
                  <a:srgbClr val="000000"/>
                </a:solidFill>
                <a:effectLst/>
              </a:rPr>
              <a:t>Phishing attacks</a:t>
            </a:r>
            <a:r>
              <a:rPr lang="en-GB" sz="1800" b="0" i="0" u="none" strike="noStrike" dirty="0">
                <a:solidFill>
                  <a:srgbClr val="000000"/>
                </a:solidFill>
                <a:effectLst/>
              </a:rPr>
              <a:t> – Attackers trick users into revealing credentials.</a:t>
            </a:r>
            <a:br>
              <a:rPr lang="en-GB" sz="1800" b="0" i="0" u="none" strike="noStrike" dirty="0">
                <a:solidFill>
                  <a:srgbClr val="000000"/>
                </a:solidFill>
                <a:effectLst/>
              </a:rPr>
            </a:br>
            <a:r>
              <a:rPr lang="en-GB" sz="1800" b="1" i="0" u="none" strike="noStrike" dirty="0">
                <a:solidFill>
                  <a:srgbClr val="000000"/>
                </a:solidFill>
                <a:effectLst/>
              </a:rPr>
              <a:t>Unpatched software vulnerabilities</a:t>
            </a:r>
            <a:r>
              <a:rPr lang="en-GB" sz="1800" b="0" i="0" u="none" strike="noStrike" dirty="0">
                <a:solidFill>
                  <a:srgbClr val="000000"/>
                </a:solidFill>
                <a:effectLst/>
              </a:rPr>
              <a:t> – Hackers exploit outdated systems.</a:t>
            </a:r>
            <a:br>
              <a:rPr lang="en-GB" sz="1800" b="0" i="0" u="none" strike="noStrike" dirty="0">
                <a:solidFill>
                  <a:srgbClr val="000000"/>
                </a:solidFill>
                <a:effectLst/>
              </a:rPr>
            </a:br>
            <a:r>
              <a:rPr lang="en-GB" sz="1800" b="1" i="0" u="none" strike="noStrike" dirty="0">
                <a:solidFill>
                  <a:srgbClr val="000000"/>
                </a:solidFill>
                <a:effectLst/>
              </a:rPr>
              <a:t>Insider threats</a:t>
            </a:r>
            <a:r>
              <a:rPr lang="en-GB" sz="1800" b="0" i="0" u="none" strike="noStrike" dirty="0">
                <a:solidFill>
                  <a:srgbClr val="000000"/>
                </a:solidFill>
                <a:effectLst/>
              </a:rPr>
              <a:t> – Employees or third-party vendors leaking data.</a:t>
            </a:r>
          </a:p>
          <a:p>
            <a:pPr algn="l"/>
            <a:endParaRPr lang="en-GB" sz="1800" b="0" i="0" u="none" strike="noStrike" dirty="0">
              <a:solidFill>
                <a:srgbClr val="000000"/>
              </a:solidFill>
              <a:effectLst/>
            </a:endParaRPr>
          </a:p>
          <a:p>
            <a:pPr algn="l"/>
            <a:r>
              <a:rPr lang="en-GB" sz="1800" b="1" i="0" u="none" strike="noStrike" dirty="0">
                <a:solidFill>
                  <a:srgbClr val="000000"/>
                </a:solidFill>
                <a:effectLst/>
              </a:rPr>
              <a:t>Examples of data breaches:</a:t>
            </a:r>
            <a:endParaRPr lang="en-GB" sz="1800" b="0" i="0" u="none" strike="noStrike" dirty="0">
              <a:solidFill>
                <a:srgbClr val="000000"/>
              </a:solidFill>
              <a:effectLst/>
            </a:endParaRPr>
          </a:p>
          <a:p>
            <a:pPr algn="l">
              <a:buFont typeface="Arial" panose="020B0604020202020204" pitchFamily="34" charset="0"/>
              <a:buChar char="•"/>
            </a:pPr>
            <a:r>
              <a:rPr lang="en-GB" sz="1800" b="1" i="0" u="none" strike="noStrike" dirty="0">
                <a:solidFill>
                  <a:srgbClr val="000000"/>
                </a:solidFill>
                <a:effectLst/>
              </a:rPr>
              <a:t>Facebook (2019):</a:t>
            </a:r>
            <a:r>
              <a:rPr lang="en-GB" sz="1800" b="0" i="0" u="none" strike="noStrike" dirty="0">
                <a:solidFill>
                  <a:srgbClr val="000000"/>
                </a:solidFill>
                <a:effectLst/>
              </a:rPr>
              <a:t> 540 million records of users' data were exposed.</a:t>
            </a:r>
          </a:p>
          <a:p>
            <a:pPr algn="l">
              <a:buFont typeface="Arial" panose="020B0604020202020204" pitchFamily="34" charset="0"/>
              <a:buChar char="•"/>
            </a:pPr>
            <a:r>
              <a:rPr lang="en-GB" sz="1800" b="1" i="0" u="none" strike="noStrike" dirty="0">
                <a:solidFill>
                  <a:srgbClr val="000000"/>
                </a:solidFill>
                <a:effectLst/>
              </a:rPr>
              <a:t>Equifax (2017):</a:t>
            </a:r>
            <a:r>
              <a:rPr lang="en-GB" sz="1800" b="0" i="0" u="none" strike="noStrike" dirty="0">
                <a:solidFill>
                  <a:srgbClr val="000000"/>
                </a:solidFill>
                <a:effectLst/>
              </a:rPr>
              <a:t> 147 million people’s financial data was stolen.</a:t>
            </a:r>
          </a:p>
        </p:txBody>
      </p:sp>
    </p:spTree>
    <p:extLst>
      <p:ext uri="{BB962C8B-B14F-4D97-AF65-F5344CB8AC3E}">
        <p14:creationId xmlns:p14="http://schemas.microsoft.com/office/powerpoint/2010/main" val="2060378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DDA87EEB-4CF4-522C-CA00-BFDB29116881}"/>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0B5190B1-692F-7FDB-0CF6-06D456CCA613}"/>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6A16D3F2-018A-5EB3-9EC8-E236842A39AB}"/>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800" b="1" i="0" u="none" strike="noStrike" dirty="0">
                <a:solidFill>
                  <a:srgbClr val="7030A0"/>
                </a:solidFill>
                <a:effectLst/>
              </a:rPr>
              <a:t>Unauthorized Access and Malicious Attacks</a:t>
            </a:r>
            <a:br>
              <a:rPr lang="en-GB" sz="28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B75033A5-527F-8ED9-5F7B-E8F0507A7C8E}"/>
              </a:ext>
            </a:extLst>
          </p:cNvPr>
          <p:cNvSpPr txBox="1"/>
          <p:nvPr/>
        </p:nvSpPr>
        <p:spPr>
          <a:xfrm>
            <a:off x="762000" y="910877"/>
            <a:ext cx="6983506" cy="3785652"/>
          </a:xfrm>
          <a:prstGeom prst="rect">
            <a:avLst/>
          </a:prstGeom>
          <a:noFill/>
        </p:spPr>
        <p:txBody>
          <a:bodyPr wrap="square">
            <a:spAutoFit/>
          </a:bodyPr>
          <a:lstStyle/>
          <a:p>
            <a:pPr algn="l"/>
            <a:r>
              <a:rPr lang="en-GB" sz="1600" b="0" i="0" u="none" strike="noStrike" dirty="0">
                <a:solidFill>
                  <a:srgbClr val="000000"/>
                </a:solidFill>
                <a:effectLst/>
              </a:rPr>
              <a:t>Cybercriminals use various techniques to </a:t>
            </a:r>
            <a:r>
              <a:rPr lang="en-GB" sz="1600" b="1" i="0" u="none" strike="noStrike" dirty="0">
                <a:solidFill>
                  <a:srgbClr val="000000"/>
                </a:solidFill>
                <a:effectLst/>
              </a:rPr>
              <a:t>gain unauthorized access</a:t>
            </a:r>
            <a:r>
              <a:rPr lang="en-GB" sz="1600" b="0" i="0" u="none" strike="noStrike" dirty="0">
                <a:solidFill>
                  <a:srgbClr val="000000"/>
                </a:solidFill>
                <a:effectLst/>
              </a:rPr>
              <a:t> to sensitive data:</a:t>
            </a:r>
          </a:p>
          <a:p>
            <a:pPr algn="l"/>
            <a:endParaRPr lang="en-GB" sz="1600" b="0" i="0" u="none" strike="noStrike" dirty="0">
              <a:solidFill>
                <a:srgbClr val="000000"/>
              </a:solidFill>
              <a:effectLst/>
            </a:endParaRPr>
          </a:p>
          <a:p>
            <a:pPr algn="l"/>
            <a:r>
              <a:rPr lang="en-GB" sz="1600" b="1" i="0" u="none" strike="noStrike" dirty="0">
                <a:solidFill>
                  <a:srgbClr val="000000"/>
                </a:solidFill>
                <a:effectLst/>
              </a:rPr>
              <a:t>Types of attacks:</a:t>
            </a:r>
            <a:br>
              <a:rPr lang="en-GB" sz="1600" b="0" i="0" u="none" strike="noStrike" dirty="0">
                <a:solidFill>
                  <a:srgbClr val="000000"/>
                </a:solidFill>
                <a:effectLst/>
              </a:rPr>
            </a:br>
            <a:r>
              <a:rPr lang="en-GB" sz="1600" b="1" i="0" u="none" strike="noStrike" dirty="0">
                <a:solidFill>
                  <a:srgbClr val="000000"/>
                </a:solidFill>
                <a:effectLst/>
              </a:rPr>
              <a:t>Ransomware</a:t>
            </a:r>
            <a:r>
              <a:rPr lang="en-GB" sz="1600" b="0" i="0" u="none" strike="noStrike" dirty="0">
                <a:solidFill>
                  <a:srgbClr val="000000"/>
                </a:solidFill>
                <a:effectLst/>
              </a:rPr>
              <a:t> – Hackers encrypt data and demand payment for its release.</a:t>
            </a:r>
            <a:br>
              <a:rPr lang="en-GB" sz="1600" b="0" i="0" u="none" strike="noStrike" dirty="0">
                <a:solidFill>
                  <a:srgbClr val="000000"/>
                </a:solidFill>
                <a:effectLst/>
              </a:rPr>
            </a:br>
            <a:r>
              <a:rPr lang="en-GB" sz="1600" b="1" i="0" u="none" strike="noStrike" dirty="0">
                <a:solidFill>
                  <a:srgbClr val="000000"/>
                </a:solidFill>
                <a:effectLst/>
              </a:rPr>
              <a:t>DDoS (Distributed Denial-of-Service) attacks</a:t>
            </a:r>
            <a:r>
              <a:rPr lang="en-GB" sz="1600" b="0" i="0" u="none" strike="noStrike" dirty="0">
                <a:solidFill>
                  <a:srgbClr val="000000"/>
                </a:solidFill>
                <a:effectLst/>
              </a:rPr>
              <a:t> – Overloading servers to crash a system.</a:t>
            </a:r>
            <a:br>
              <a:rPr lang="en-GB" sz="1600" b="0" i="0" u="none" strike="noStrike" dirty="0">
                <a:solidFill>
                  <a:srgbClr val="000000"/>
                </a:solidFill>
                <a:effectLst/>
              </a:rPr>
            </a:br>
            <a:r>
              <a:rPr lang="en-GB" sz="1600" b="1" i="0" u="none" strike="noStrike" dirty="0">
                <a:solidFill>
                  <a:srgbClr val="000000"/>
                </a:solidFill>
                <a:effectLst/>
              </a:rPr>
              <a:t>SQL injection</a:t>
            </a:r>
            <a:r>
              <a:rPr lang="en-GB" sz="1600" b="0" i="0" u="none" strike="noStrike" dirty="0">
                <a:solidFill>
                  <a:srgbClr val="000000"/>
                </a:solidFill>
                <a:effectLst/>
              </a:rPr>
              <a:t> – Attackers insert malicious SQL queries to access databases.</a:t>
            </a:r>
            <a:br>
              <a:rPr lang="en-GB" sz="1600" b="0" i="0" u="none" strike="noStrike" dirty="0">
                <a:solidFill>
                  <a:srgbClr val="000000"/>
                </a:solidFill>
                <a:effectLst/>
              </a:rPr>
            </a:br>
            <a:r>
              <a:rPr lang="en-GB" sz="1600" b="1" i="0" u="none" strike="noStrike" dirty="0">
                <a:solidFill>
                  <a:srgbClr val="000000"/>
                </a:solidFill>
                <a:effectLst/>
              </a:rPr>
              <a:t>Man-in-the-middle (MITM) attacks</a:t>
            </a:r>
            <a:r>
              <a:rPr lang="en-GB" sz="1600" b="0" i="0" u="none" strike="noStrike" dirty="0">
                <a:solidFill>
                  <a:srgbClr val="000000"/>
                </a:solidFill>
                <a:effectLst/>
              </a:rPr>
              <a:t> – Hackers intercept communication between two parties.</a:t>
            </a:r>
          </a:p>
          <a:p>
            <a:pPr algn="l"/>
            <a:endParaRPr lang="en-GB" sz="1600" b="0" i="0" u="none" strike="noStrike" dirty="0">
              <a:solidFill>
                <a:srgbClr val="000000"/>
              </a:solidFill>
              <a:effectLst/>
            </a:endParaRPr>
          </a:p>
          <a:p>
            <a:pPr algn="l"/>
            <a:r>
              <a:rPr lang="en-GB" sz="1600" b="1" i="0" u="none" strike="noStrike" dirty="0">
                <a:solidFill>
                  <a:srgbClr val="000000"/>
                </a:solidFill>
                <a:effectLst/>
              </a:rPr>
              <a:t>Example:</a:t>
            </a:r>
            <a:br>
              <a:rPr lang="en-GB" sz="1600" b="0" i="0" u="none" strike="noStrike" dirty="0">
                <a:solidFill>
                  <a:srgbClr val="000000"/>
                </a:solidFill>
                <a:effectLst/>
              </a:rPr>
            </a:br>
            <a:r>
              <a:rPr lang="en-GB" sz="1600" b="0" i="0" u="none" strike="noStrike" dirty="0">
                <a:solidFill>
                  <a:srgbClr val="000000"/>
                </a:solidFill>
                <a:effectLst/>
              </a:rPr>
              <a:t>A </a:t>
            </a:r>
            <a:r>
              <a:rPr lang="en-GB" sz="1600" b="1" i="0" u="none" strike="noStrike" dirty="0">
                <a:solidFill>
                  <a:srgbClr val="000000"/>
                </a:solidFill>
                <a:effectLst/>
              </a:rPr>
              <a:t>ransomware attack</a:t>
            </a:r>
            <a:r>
              <a:rPr lang="en-GB" sz="1600" b="0" i="0" u="none" strike="noStrike" dirty="0">
                <a:solidFill>
                  <a:srgbClr val="000000"/>
                </a:solidFill>
                <a:effectLst/>
              </a:rPr>
              <a:t> on a hospital can encrypt patient records, preventing doctors from accessing critical data.</a:t>
            </a:r>
          </a:p>
        </p:txBody>
      </p:sp>
    </p:spTree>
    <p:extLst>
      <p:ext uri="{BB962C8B-B14F-4D97-AF65-F5344CB8AC3E}">
        <p14:creationId xmlns:p14="http://schemas.microsoft.com/office/powerpoint/2010/main" val="2600747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AB2E0D5C-E005-3038-2B7D-C5015DE8F85F}"/>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6039ACE6-118D-22D3-5804-0BCB6451BC52}"/>
              </a:ext>
            </a:extLst>
          </p:cNvPr>
          <p:cNvPicPr preferRelativeResize="0"/>
          <p:nvPr/>
        </p:nvPicPr>
        <p:blipFill rotWithShape="1">
          <a:blip r:embed="rId3">
            <a:alphaModFix amt="60000"/>
          </a:blip>
          <a:srcRect/>
          <a:stretch/>
        </p:blipFill>
        <p:spPr>
          <a:xfrm>
            <a:off x="3436536" y="1101965"/>
            <a:ext cx="5408998" cy="2939569"/>
          </a:xfrm>
          <a:prstGeom prst="rect">
            <a:avLst/>
          </a:prstGeom>
          <a:noFill/>
          <a:ln>
            <a:noFill/>
          </a:ln>
        </p:spPr>
      </p:pic>
      <p:sp>
        <p:nvSpPr>
          <p:cNvPr id="100" name="Google Shape;100;p9">
            <a:extLst>
              <a:ext uri="{FF2B5EF4-FFF2-40B4-BE49-F238E27FC236}">
                <a16:creationId xmlns:a16="http://schemas.microsoft.com/office/drawing/2014/main" id="{CEB97706-868D-BB09-B9C2-CC66E64F0A24}"/>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Risks in Cloud Computing</a:t>
            </a: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2A0CBD20-C4B8-C706-C555-5863E57E8CF6}"/>
              </a:ext>
            </a:extLst>
          </p:cNvPr>
          <p:cNvSpPr txBox="1"/>
          <p:nvPr/>
        </p:nvSpPr>
        <p:spPr>
          <a:xfrm>
            <a:off x="699247" y="995315"/>
            <a:ext cx="7073153" cy="3785652"/>
          </a:xfrm>
          <a:prstGeom prst="rect">
            <a:avLst/>
          </a:prstGeom>
          <a:noFill/>
        </p:spPr>
        <p:txBody>
          <a:bodyPr wrap="square">
            <a:spAutoFit/>
          </a:bodyPr>
          <a:lstStyle/>
          <a:p>
            <a:pPr algn="l"/>
            <a:r>
              <a:rPr lang="en-GB" sz="1600" b="1" i="0" u="none" strike="noStrike" dirty="0">
                <a:solidFill>
                  <a:srgbClr val="000000"/>
                </a:solidFill>
                <a:effectLst/>
              </a:rPr>
              <a:t>Risks in Cloud Computing</a:t>
            </a:r>
          </a:p>
          <a:p>
            <a:pPr algn="l"/>
            <a:r>
              <a:rPr lang="en-GB" sz="1600" b="0" i="0" u="none" strike="noStrike" dirty="0">
                <a:solidFill>
                  <a:srgbClr val="000000"/>
                </a:solidFill>
                <a:effectLst/>
              </a:rPr>
              <a:t>Cloud services store vast amounts of </a:t>
            </a:r>
            <a:r>
              <a:rPr lang="en-GB" sz="1600" b="1" i="0" u="none" strike="noStrike" dirty="0">
                <a:solidFill>
                  <a:srgbClr val="000000"/>
                </a:solidFill>
                <a:effectLst/>
              </a:rPr>
              <a:t>personal and business data</a:t>
            </a:r>
            <a:r>
              <a:rPr lang="en-GB" sz="1600" b="0" i="0" u="none" strike="noStrike" dirty="0">
                <a:solidFill>
                  <a:srgbClr val="000000"/>
                </a:solidFill>
                <a:effectLst/>
              </a:rPr>
              <a:t>, making them prime targets for cyberattacks.</a:t>
            </a:r>
          </a:p>
          <a:p>
            <a:pPr algn="l"/>
            <a:endParaRPr lang="en-GB" sz="1600" b="0" i="0" u="none" strike="noStrike" dirty="0">
              <a:solidFill>
                <a:srgbClr val="000000"/>
              </a:solidFill>
              <a:effectLst/>
            </a:endParaRPr>
          </a:p>
          <a:p>
            <a:pPr algn="l"/>
            <a:r>
              <a:rPr lang="en-GB" sz="1600" b="1" i="0" u="none" strike="noStrike" dirty="0">
                <a:solidFill>
                  <a:srgbClr val="000000"/>
                </a:solidFill>
                <a:effectLst/>
              </a:rPr>
              <a:t>Key threats in cloud computing:</a:t>
            </a:r>
          </a:p>
          <a:p>
            <a:pPr algn="l"/>
            <a:br>
              <a:rPr lang="en-GB" sz="1600" b="0" i="0" u="none" strike="noStrike" dirty="0">
                <a:solidFill>
                  <a:srgbClr val="000000"/>
                </a:solidFill>
                <a:effectLst/>
              </a:rPr>
            </a:br>
            <a:r>
              <a:rPr lang="en-GB" sz="1600" b="1" i="0" u="none" strike="noStrike" dirty="0">
                <a:solidFill>
                  <a:srgbClr val="000000"/>
                </a:solidFill>
                <a:effectLst/>
              </a:rPr>
              <a:t>Data leakage</a:t>
            </a:r>
            <a:r>
              <a:rPr lang="en-GB" sz="1600" b="0" i="0" u="none" strike="noStrike" dirty="0">
                <a:solidFill>
                  <a:srgbClr val="000000"/>
                </a:solidFill>
                <a:effectLst/>
              </a:rPr>
              <a:t> – Unauthorized users access stored data.</a:t>
            </a:r>
            <a:br>
              <a:rPr lang="en-GB" sz="1600" b="0" i="0" u="none" strike="noStrike" dirty="0">
                <a:solidFill>
                  <a:srgbClr val="000000"/>
                </a:solidFill>
                <a:effectLst/>
              </a:rPr>
            </a:br>
            <a:r>
              <a:rPr lang="en-GB" sz="1600" b="1" i="0" u="none" strike="noStrike" dirty="0">
                <a:solidFill>
                  <a:srgbClr val="000000"/>
                </a:solidFill>
                <a:effectLst/>
              </a:rPr>
              <a:t>Misconfigured cloud settings</a:t>
            </a:r>
            <a:r>
              <a:rPr lang="en-GB" sz="1600" b="0" i="0" u="none" strike="noStrike" dirty="0">
                <a:solidFill>
                  <a:srgbClr val="000000"/>
                </a:solidFill>
                <a:effectLst/>
              </a:rPr>
              <a:t> – Poor security settings expose sensitive files.</a:t>
            </a:r>
            <a:br>
              <a:rPr lang="en-GB" sz="1600" b="0" i="0" u="none" strike="noStrike" dirty="0">
                <a:solidFill>
                  <a:srgbClr val="000000"/>
                </a:solidFill>
                <a:effectLst/>
              </a:rPr>
            </a:br>
            <a:r>
              <a:rPr lang="en-GB" sz="1600" b="1" i="0" u="none" strike="noStrike" dirty="0">
                <a:solidFill>
                  <a:srgbClr val="000000"/>
                </a:solidFill>
                <a:effectLst/>
              </a:rPr>
              <a:t>Insider threats</a:t>
            </a:r>
            <a:r>
              <a:rPr lang="en-GB" sz="1600" b="0" i="0" u="none" strike="noStrike" dirty="0">
                <a:solidFill>
                  <a:srgbClr val="000000"/>
                </a:solidFill>
                <a:effectLst/>
              </a:rPr>
              <a:t> – Employees or contractors may misuse cloud data.</a:t>
            </a:r>
          </a:p>
          <a:p>
            <a:pPr algn="l"/>
            <a:br>
              <a:rPr lang="en-GB" sz="1600" b="0" i="0" u="none" strike="noStrike" dirty="0">
                <a:solidFill>
                  <a:srgbClr val="000000"/>
                </a:solidFill>
                <a:effectLst/>
              </a:rPr>
            </a:br>
            <a:r>
              <a:rPr lang="en-GB" sz="1600" b="1" i="0" u="none" strike="noStrike" dirty="0">
                <a:solidFill>
                  <a:srgbClr val="000000"/>
                </a:solidFill>
                <a:effectLst/>
              </a:rPr>
              <a:t>Lack of encryption</a:t>
            </a:r>
            <a:r>
              <a:rPr lang="en-GB" sz="1600" b="0" i="0" u="none" strike="noStrike" dirty="0">
                <a:solidFill>
                  <a:srgbClr val="000000"/>
                </a:solidFill>
                <a:effectLst/>
              </a:rPr>
              <a:t> – Storing data without proper encryption increases risk.</a:t>
            </a:r>
          </a:p>
          <a:p>
            <a:pPr algn="l"/>
            <a:endParaRPr lang="en-GB" sz="1600" b="0" i="0" u="none" strike="noStrike" dirty="0">
              <a:solidFill>
                <a:srgbClr val="000000"/>
              </a:solidFill>
              <a:effectLst/>
            </a:endParaRPr>
          </a:p>
          <a:p>
            <a:pPr algn="l"/>
            <a:r>
              <a:rPr lang="en-GB" sz="1600" b="1" i="0" u="none" strike="noStrike" dirty="0">
                <a:solidFill>
                  <a:srgbClr val="000000"/>
                </a:solidFill>
                <a:effectLst/>
              </a:rPr>
              <a:t>Example: </a:t>
            </a:r>
            <a:r>
              <a:rPr lang="en-GB" sz="1600" b="0" i="0" u="none" strike="noStrike" dirty="0">
                <a:solidFill>
                  <a:srgbClr val="000000"/>
                </a:solidFill>
                <a:effectLst/>
              </a:rPr>
              <a:t>An improperly secured </a:t>
            </a:r>
            <a:r>
              <a:rPr lang="en-GB" sz="1600" b="1" i="0" u="none" strike="noStrike" dirty="0">
                <a:solidFill>
                  <a:srgbClr val="000000"/>
                </a:solidFill>
                <a:effectLst/>
              </a:rPr>
              <a:t>Amazon S3 bucket</a:t>
            </a:r>
            <a:r>
              <a:rPr lang="en-GB" sz="1600" b="0" i="0" u="none" strike="noStrike" dirty="0">
                <a:solidFill>
                  <a:srgbClr val="000000"/>
                </a:solidFill>
                <a:effectLst/>
              </a:rPr>
              <a:t> can expose millions of user records to public access.</a:t>
            </a:r>
          </a:p>
        </p:txBody>
      </p:sp>
    </p:spTree>
    <p:extLst>
      <p:ext uri="{BB962C8B-B14F-4D97-AF65-F5344CB8AC3E}">
        <p14:creationId xmlns:p14="http://schemas.microsoft.com/office/powerpoint/2010/main" val="568329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D3542632-8841-BDD2-0E95-397F64F08488}"/>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0E4CB39A-64F7-6DA9-3639-697CC5E8B0DB}"/>
              </a:ext>
            </a:extLst>
          </p:cNvPr>
          <p:cNvPicPr preferRelativeResize="0"/>
          <p:nvPr/>
        </p:nvPicPr>
        <p:blipFill rotWithShape="1">
          <a:blip r:embed="rId3">
            <a:alphaModFix amt="60000"/>
          </a:blip>
          <a:srcRect/>
          <a:stretch/>
        </p:blipFill>
        <p:spPr>
          <a:xfrm>
            <a:off x="3436536" y="1101965"/>
            <a:ext cx="5408998" cy="2939569"/>
          </a:xfrm>
          <a:prstGeom prst="rect">
            <a:avLst/>
          </a:prstGeom>
          <a:noFill/>
          <a:ln>
            <a:noFill/>
          </a:ln>
        </p:spPr>
      </p:pic>
      <p:sp>
        <p:nvSpPr>
          <p:cNvPr id="100" name="Google Shape;100;p9">
            <a:extLst>
              <a:ext uri="{FF2B5EF4-FFF2-40B4-BE49-F238E27FC236}">
                <a16:creationId xmlns:a16="http://schemas.microsoft.com/office/drawing/2014/main" id="{21B1A16C-764B-3118-4A6B-29924A06D83E}"/>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Risks in IoT Systems</a:t>
            </a: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3F800068-9368-6106-7051-17C1F8409202}"/>
              </a:ext>
            </a:extLst>
          </p:cNvPr>
          <p:cNvSpPr txBox="1"/>
          <p:nvPr/>
        </p:nvSpPr>
        <p:spPr>
          <a:xfrm>
            <a:off x="699247" y="995315"/>
            <a:ext cx="7073153" cy="3293209"/>
          </a:xfrm>
          <a:prstGeom prst="rect">
            <a:avLst/>
          </a:prstGeom>
          <a:noFill/>
        </p:spPr>
        <p:txBody>
          <a:bodyPr wrap="square">
            <a:spAutoFit/>
          </a:bodyPr>
          <a:lstStyle/>
          <a:p>
            <a:pPr algn="l"/>
            <a:r>
              <a:rPr lang="en-GB" sz="1600" b="1" i="0" u="none" strike="noStrike" dirty="0">
                <a:solidFill>
                  <a:srgbClr val="000000"/>
                </a:solidFill>
                <a:effectLst/>
              </a:rPr>
              <a:t>Risks in IoT (Internet of Things)</a:t>
            </a:r>
          </a:p>
          <a:p>
            <a:pPr algn="l"/>
            <a:r>
              <a:rPr lang="en-GB" sz="1600" b="0" i="0" u="none" strike="noStrike" dirty="0">
                <a:solidFill>
                  <a:srgbClr val="000000"/>
                </a:solidFill>
                <a:effectLst/>
              </a:rPr>
              <a:t>IoT devices (smartphones, home assistants, wearables) </a:t>
            </a:r>
            <a:r>
              <a:rPr lang="en-GB" sz="1600" b="1" i="0" u="none" strike="noStrike" dirty="0">
                <a:solidFill>
                  <a:srgbClr val="000000"/>
                </a:solidFill>
                <a:effectLst/>
              </a:rPr>
              <a:t>collect and transmit</a:t>
            </a:r>
            <a:r>
              <a:rPr lang="en-GB" sz="1600" b="0" i="0" u="none" strike="noStrike" dirty="0">
                <a:solidFill>
                  <a:srgbClr val="000000"/>
                </a:solidFill>
                <a:effectLst/>
              </a:rPr>
              <a:t> large amounts of data, making them vulnerable to cyber threats.</a:t>
            </a:r>
          </a:p>
          <a:p>
            <a:pPr algn="l"/>
            <a:r>
              <a:rPr lang="en-GB" sz="1600" b="1" i="0" u="none" strike="noStrike" dirty="0">
                <a:solidFill>
                  <a:srgbClr val="000000"/>
                </a:solidFill>
                <a:effectLst/>
              </a:rPr>
              <a:t>IoT security challenges:</a:t>
            </a:r>
            <a:br>
              <a:rPr lang="en-GB" sz="1600" b="0" i="0" u="none" strike="noStrike" dirty="0">
                <a:solidFill>
                  <a:srgbClr val="000000"/>
                </a:solidFill>
                <a:effectLst/>
              </a:rPr>
            </a:br>
            <a:r>
              <a:rPr lang="en-GB" sz="1600" b="1" i="0" u="none" strike="noStrike" dirty="0">
                <a:solidFill>
                  <a:srgbClr val="000000"/>
                </a:solidFill>
                <a:effectLst/>
              </a:rPr>
              <a:t>Weak authentication</a:t>
            </a:r>
            <a:r>
              <a:rPr lang="en-GB" sz="1600" b="0" i="0" u="none" strike="noStrike" dirty="0">
                <a:solidFill>
                  <a:srgbClr val="000000"/>
                </a:solidFill>
                <a:effectLst/>
              </a:rPr>
              <a:t> – Many IoT devices lack strong passwords.</a:t>
            </a:r>
            <a:br>
              <a:rPr lang="en-GB" sz="1600" b="0" i="0" u="none" strike="noStrike" dirty="0">
                <a:solidFill>
                  <a:srgbClr val="000000"/>
                </a:solidFill>
                <a:effectLst/>
              </a:rPr>
            </a:br>
            <a:r>
              <a:rPr lang="en-GB" sz="1600" b="1" i="0" u="none" strike="noStrike" dirty="0">
                <a:solidFill>
                  <a:srgbClr val="000000"/>
                </a:solidFill>
                <a:effectLst/>
              </a:rPr>
              <a:t>Unpatched vulnerabilities</a:t>
            </a:r>
            <a:r>
              <a:rPr lang="en-GB" sz="1600" b="0" i="0" u="none" strike="noStrike" dirty="0">
                <a:solidFill>
                  <a:srgbClr val="000000"/>
                </a:solidFill>
                <a:effectLst/>
              </a:rPr>
              <a:t> – Devices may not receive regular security updates.</a:t>
            </a:r>
            <a:br>
              <a:rPr lang="en-GB" sz="1600" b="0" i="0" u="none" strike="noStrike" dirty="0">
                <a:solidFill>
                  <a:srgbClr val="000000"/>
                </a:solidFill>
                <a:effectLst/>
              </a:rPr>
            </a:br>
            <a:r>
              <a:rPr lang="en-GB" sz="1600" b="1" i="0" u="none" strike="noStrike" dirty="0">
                <a:solidFill>
                  <a:srgbClr val="000000"/>
                </a:solidFill>
                <a:effectLst/>
              </a:rPr>
              <a:t>Data interception</a:t>
            </a:r>
            <a:r>
              <a:rPr lang="en-GB" sz="1600" b="0" i="0" u="none" strike="noStrike" dirty="0">
                <a:solidFill>
                  <a:srgbClr val="000000"/>
                </a:solidFill>
                <a:effectLst/>
              </a:rPr>
              <a:t> – Hackers can eavesdrop on device communications.</a:t>
            </a:r>
            <a:br>
              <a:rPr lang="en-GB" sz="1600" b="0" i="0" u="none" strike="noStrike" dirty="0">
                <a:solidFill>
                  <a:srgbClr val="000000"/>
                </a:solidFill>
                <a:effectLst/>
              </a:rPr>
            </a:br>
            <a:r>
              <a:rPr lang="en-GB" sz="1600" b="1" i="0" u="none" strike="noStrike" dirty="0">
                <a:solidFill>
                  <a:srgbClr val="000000"/>
                </a:solidFill>
                <a:effectLst/>
              </a:rPr>
              <a:t>Botnets</a:t>
            </a:r>
            <a:r>
              <a:rPr lang="en-GB" sz="1600" b="0" i="0" u="none" strike="noStrike" dirty="0">
                <a:solidFill>
                  <a:srgbClr val="000000"/>
                </a:solidFill>
                <a:effectLst/>
              </a:rPr>
              <a:t> – Hackers hijack IoT devices to launch cyberattacks (e.g., </a:t>
            </a:r>
            <a:r>
              <a:rPr lang="en-GB" sz="1600" b="1" i="0" u="none" strike="noStrike" dirty="0">
                <a:solidFill>
                  <a:srgbClr val="000000"/>
                </a:solidFill>
                <a:effectLst/>
              </a:rPr>
              <a:t>Mirai botnet</a:t>
            </a:r>
            <a:r>
              <a:rPr lang="en-GB" sz="1600" b="0" i="0" u="none" strike="noStrike" dirty="0">
                <a:solidFill>
                  <a:srgbClr val="000000"/>
                </a:solidFill>
                <a:effectLst/>
              </a:rPr>
              <a:t>).</a:t>
            </a:r>
          </a:p>
          <a:p>
            <a:pPr algn="l"/>
            <a:r>
              <a:rPr lang="en-GB" sz="1600" b="1" i="0" u="none" strike="noStrike" dirty="0">
                <a:solidFill>
                  <a:srgbClr val="000000"/>
                </a:solidFill>
                <a:effectLst/>
              </a:rPr>
              <a:t>Example:</a:t>
            </a:r>
            <a:br>
              <a:rPr lang="en-GB" sz="1600" b="0" i="0" u="none" strike="noStrike" dirty="0">
                <a:solidFill>
                  <a:srgbClr val="000000"/>
                </a:solidFill>
                <a:effectLst/>
              </a:rPr>
            </a:br>
            <a:r>
              <a:rPr lang="en-GB" sz="1600" b="0" i="0" u="none" strike="noStrike" dirty="0">
                <a:solidFill>
                  <a:srgbClr val="000000"/>
                </a:solidFill>
                <a:effectLst/>
              </a:rPr>
              <a:t>A hacked </a:t>
            </a:r>
            <a:r>
              <a:rPr lang="en-GB" sz="1600" b="1" i="0" u="none" strike="noStrike" dirty="0">
                <a:solidFill>
                  <a:srgbClr val="000000"/>
                </a:solidFill>
                <a:effectLst/>
              </a:rPr>
              <a:t>smart security camera</a:t>
            </a:r>
            <a:r>
              <a:rPr lang="en-GB" sz="1600" b="0" i="0" u="none" strike="noStrike" dirty="0">
                <a:solidFill>
                  <a:srgbClr val="000000"/>
                </a:solidFill>
                <a:effectLst/>
              </a:rPr>
              <a:t> can be used to spy on individuals or businesses.</a:t>
            </a:r>
          </a:p>
        </p:txBody>
      </p:sp>
    </p:spTree>
    <p:extLst>
      <p:ext uri="{BB962C8B-B14F-4D97-AF65-F5344CB8AC3E}">
        <p14:creationId xmlns:p14="http://schemas.microsoft.com/office/powerpoint/2010/main" val="1771583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8B1977E4-B047-8862-2A6F-81FE3684B876}"/>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5A38EA99-A52E-A381-0273-0D40668CFD8E}"/>
              </a:ext>
            </a:extLst>
          </p:cNvPr>
          <p:cNvPicPr preferRelativeResize="0"/>
          <p:nvPr/>
        </p:nvPicPr>
        <p:blipFill rotWithShape="1">
          <a:blip r:embed="rId3">
            <a:alphaModFix amt="60000"/>
          </a:blip>
          <a:srcRect/>
          <a:stretch/>
        </p:blipFill>
        <p:spPr>
          <a:xfrm>
            <a:off x="3436536" y="1101965"/>
            <a:ext cx="5408998" cy="2939569"/>
          </a:xfrm>
          <a:prstGeom prst="rect">
            <a:avLst/>
          </a:prstGeom>
          <a:noFill/>
          <a:ln>
            <a:noFill/>
          </a:ln>
        </p:spPr>
      </p:pic>
      <p:sp>
        <p:nvSpPr>
          <p:cNvPr id="100" name="Google Shape;100;p9">
            <a:extLst>
              <a:ext uri="{FF2B5EF4-FFF2-40B4-BE49-F238E27FC236}">
                <a16:creationId xmlns:a16="http://schemas.microsoft.com/office/drawing/2014/main" id="{FD88203C-1342-367D-6AEA-8B7AD6F7A1BB}"/>
              </a:ext>
            </a:extLst>
          </p:cNvPr>
          <p:cNvSpPr txBox="1">
            <a:spLocks noGrp="1"/>
          </p:cNvSpPr>
          <p:nvPr>
            <p:ph type="title"/>
          </p:nvPr>
        </p:nvSpPr>
        <p:spPr>
          <a:xfrm>
            <a:off x="393192" y="122160"/>
            <a:ext cx="7464268" cy="738452"/>
          </a:xfrm>
          <a:prstGeom prst="rect">
            <a:avLst/>
          </a:prstGeom>
          <a:noFill/>
          <a:ln>
            <a:noFill/>
          </a:ln>
        </p:spPr>
        <p:txBody>
          <a:bodyPr spcFirstLastPara="1" wrap="square" lIns="91425" tIns="91425" rIns="91425" bIns="91425" anchor="t" anchorCtr="0">
            <a:noAutofit/>
          </a:bodyPr>
          <a:lstStyle/>
          <a:p>
            <a:pPr algn="ctr"/>
            <a:r>
              <a:rPr lang="en-GB" sz="2800" b="1" i="0" u="none" strike="noStrike" dirty="0">
                <a:solidFill>
                  <a:srgbClr val="7030A0"/>
                </a:solidFill>
                <a:effectLst/>
              </a:rPr>
              <a:t>Risks in AI Systems</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000000"/>
                </a:solidFill>
                <a:effectLst/>
              </a:rPr>
            </a:br>
            <a:br>
              <a:rPr lang="en-GB" sz="2800" b="1" i="0" u="none" strike="noStrike" dirty="0">
                <a:solidFill>
                  <a:srgbClr val="000000"/>
                </a:solidFill>
                <a:effectLst/>
              </a:rPr>
            </a:br>
            <a:br>
              <a:rPr lang="en-GB" sz="2800" b="1" i="0" u="none" strike="noStrike" dirty="0">
                <a:solidFill>
                  <a:srgbClr val="000000"/>
                </a:solidFill>
                <a:effectLst/>
              </a:rPr>
            </a:br>
            <a:br>
              <a:rPr lang="en-GB" sz="2800" dirty="0">
                <a:latin typeface="Arial"/>
                <a:ea typeface="Arial"/>
                <a:cs typeface="Arial"/>
                <a:sym typeface="Arial"/>
              </a:rPr>
            </a:br>
            <a:endParaRPr lang="en-GB" sz="2800" dirty="0"/>
          </a:p>
        </p:txBody>
      </p:sp>
      <p:sp>
        <p:nvSpPr>
          <p:cNvPr id="3" name="TextBox 2">
            <a:extLst>
              <a:ext uri="{FF2B5EF4-FFF2-40B4-BE49-F238E27FC236}">
                <a16:creationId xmlns:a16="http://schemas.microsoft.com/office/drawing/2014/main" id="{3CBFE6DD-DA40-21DC-6C9A-8DB93F499505}"/>
              </a:ext>
            </a:extLst>
          </p:cNvPr>
          <p:cNvSpPr txBox="1"/>
          <p:nvPr/>
        </p:nvSpPr>
        <p:spPr>
          <a:xfrm>
            <a:off x="699247" y="995315"/>
            <a:ext cx="7073153" cy="3539430"/>
          </a:xfrm>
          <a:prstGeom prst="rect">
            <a:avLst/>
          </a:prstGeom>
          <a:noFill/>
        </p:spPr>
        <p:txBody>
          <a:bodyPr wrap="square">
            <a:spAutoFit/>
          </a:bodyPr>
          <a:lstStyle/>
          <a:p>
            <a:pPr algn="l"/>
            <a:r>
              <a:rPr lang="en-GB" sz="1600" b="0" i="0" u="none" strike="noStrike" dirty="0">
                <a:solidFill>
                  <a:srgbClr val="000000"/>
                </a:solidFill>
                <a:effectLst/>
              </a:rPr>
              <a:t>As technology advances, </a:t>
            </a:r>
            <a:r>
              <a:rPr lang="en-GB" sz="1600" b="1" i="0" u="none" strike="noStrike" dirty="0">
                <a:solidFill>
                  <a:srgbClr val="000000"/>
                </a:solidFill>
                <a:effectLst/>
              </a:rPr>
              <a:t>cloud computing, Internet of Things (IoT), and AI</a:t>
            </a:r>
            <a:r>
              <a:rPr lang="en-GB" sz="1600" b="0" i="0" u="none" strike="noStrike" dirty="0">
                <a:solidFill>
                  <a:srgbClr val="000000"/>
                </a:solidFill>
                <a:effectLst/>
              </a:rPr>
              <a:t> introduce </a:t>
            </a:r>
            <a:r>
              <a:rPr lang="en-GB" sz="1600" b="1" i="0" u="none" strike="noStrike" dirty="0">
                <a:solidFill>
                  <a:srgbClr val="000000"/>
                </a:solidFill>
                <a:effectLst/>
              </a:rPr>
              <a:t>new privacy and security challenges</a:t>
            </a:r>
            <a:r>
              <a:rPr lang="en-GB" sz="1600" b="0" i="0" u="none" strike="noStrike" dirty="0">
                <a:solidFill>
                  <a:srgbClr val="000000"/>
                </a:solidFill>
                <a:effectLst/>
              </a:rPr>
              <a:t>.</a:t>
            </a:r>
          </a:p>
          <a:p>
            <a:pPr algn="l"/>
            <a:r>
              <a:rPr lang="en-GB" sz="1600" b="1" i="0" u="none" strike="noStrike" dirty="0">
                <a:solidFill>
                  <a:srgbClr val="000000"/>
                </a:solidFill>
                <a:effectLst/>
              </a:rPr>
              <a:t>Risks in Cloud Computing</a:t>
            </a:r>
          </a:p>
          <a:p>
            <a:pPr algn="l"/>
            <a:r>
              <a:rPr lang="en-GB" sz="1600" b="0" i="0" u="none" strike="noStrike" dirty="0">
                <a:solidFill>
                  <a:srgbClr val="000000"/>
                </a:solidFill>
                <a:effectLst/>
              </a:rPr>
              <a:t>Cloud services store vast amounts of </a:t>
            </a:r>
            <a:r>
              <a:rPr lang="en-GB" sz="1600" b="1" i="0" u="none" strike="noStrike" dirty="0">
                <a:solidFill>
                  <a:srgbClr val="000000"/>
                </a:solidFill>
                <a:effectLst/>
              </a:rPr>
              <a:t>personal and business data</a:t>
            </a:r>
            <a:r>
              <a:rPr lang="en-GB" sz="1600" b="0" i="0" u="none" strike="noStrike" dirty="0">
                <a:solidFill>
                  <a:srgbClr val="000000"/>
                </a:solidFill>
                <a:effectLst/>
              </a:rPr>
              <a:t>, making them prime targets for cyberattacks.</a:t>
            </a:r>
          </a:p>
          <a:p>
            <a:pPr algn="l"/>
            <a:r>
              <a:rPr lang="en-GB" sz="1600" b="1" i="0" u="none" strike="noStrike" dirty="0">
                <a:solidFill>
                  <a:srgbClr val="000000"/>
                </a:solidFill>
                <a:effectLst/>
              </a:rPr>
              <a:t>Key threats in cloud computing:</a:t>
            </a:r>
            <a:br>
              <a:rPr lang="en-GB" sz="1600" b="0" i="0" u="none" strike="noStrike" dirty="0">
                <a:solidFill>
                  <a:srgbClr val="000000"/>
                </a:solidFill>
                <a:effectLst/>
              </a:rPr>
            </a:br>
            <a:r>
              <a:rPr lang="en-GB" sz="1600" b="1" i="0" u="none" strike="noStrike" dirty="0">
                <a:solidFill>
                  <a:srgbClr val="000000"/>
                </a:solidFill>
                <a:effectLst/>
              </a:rPr>
              <a:t>Data leakage</a:t>
            </a:r>
            <a:r>
              <a:rPr lang="en-GB" sz="1600" b="0" i="0" u="none" strike="noStrike" dirty="0">
                <a:solidFill>
                  <a:srgbClr val="000000"/>
                </a:solidFill>
                <a:effectLst/>
              </a:rPr>
              <a:t> – Unauthorized users access stored data.</a:t>
            </a:r>
            <a:br>
              <a:rPr lang="en-GB" sz="1600" b="0" i="0" u="none" strike="noStrike" dirty="0">
                <a:solidFill>
                  <a:srgbClr val="000000"/>
                </a:solidFill>
                <a:effectLst/>
              </a:rPr>
            </a:br>
            <a:r>
              <a:rPr lang="en-GB" sz="1600" b="1" i="0" u="none" strike="noStrike" dirty="0">
                <a:solidFill>
                  <a:srgbClr val="000000"/>
                </a:solidFill>
                <a:effectLst/>
              </a:rPr>
              <a:t>Misconfigured cloud settings</a:t>
            </a:r>
            <a:r>
              <a:rPr lang="en-GB" sz="1600" b="0" i="0" u="none" strike="noStrike" dirty="0">
                <a:solidFill>
                  <a:srgbClr val="000000"/>
                </a:solidFill>
                <a:effectLst/>
              </a:rPr>
              <a:t> – Poor security settings expose sensitive files.</a:t>
            </a:r>
            <a:br>
              <a:rPr lang="en-GB" sz="1600" b="0" i="0" u="none" strike="noStrike" dirty="0">
                <a:solidFill>
                  <a:srgbClr val="000000"/>
                </a:solidFill>
                <a:effectLst/>
              </a:rPr>
            </a:br>
            <a:r>
              <a:rPr lang="en-GB" sz="1600" b="1" i="0" u="none" strike="noStrike" dirty="0">
                <a:solidFill>
                  <a:srgbClr val="000000"/>
                </a:solidFill>
                <a:effectLst/>
              </a:rPr>
              <a:t>Insider threats</a:t>
            </a:r>
            <a:r>
              <a:rPr lang="en-GB" sz="1600" b="0" i="0" u="none" strike="noStrike" dirty="0">
                <a:solidFill>
                  <a:srgbClr val="000000"/>
                </a:solidFill>
                <a:effectLst/>
              </a:rPr>
              <a:t> – Employees or contractors may misuse cloud data.</a:t>
            </a:r>
            <a:br>
              <a:rPr lang="en-GB" sz="1600" b="0" i="0" u="none" strike="noStrike" dirty="0">
                <a:solidFill>
                  <a:srgbClr val="000000"/>
                </a:solidFill>
                <a:effectLst/>
              </a:rPr>
            </a:br>
            <a:r>
              <a:rPr lang="en-GB" sz="1600" b="1" i="0" u="none" strike="noStrike" dirty="0">
                <a:solidFill>
                  <a:srgbClr val="000000"/>
                </a:solidFill>
                <a:effectLst/>
              </a:rPr>
              <a:t>Lack of encryption</a:t>
            </a:r>
            <a:r>
              <a:rPr lang="en-GB" sz="1600" b="0" i="0" u="none" strike="noStrike" dirty="0">
                <a:solidFill>
                  <a:srgbClr val="000000"/>
                </a:solidFill>
                <a:effectLst/>
              </a:rPr>
              <a:t> – Storing data without proper encryption increases risk.</a:t>
            </a:r>
          </a:p>
          <a:p>
            <a:pPr algn="l"/>
            <a:r>
              <a:rPr lang="en-GB" sz="1600" b="1" i="0" u="none" strike="noStrike" dirty="0">
                <a:solidFill>
                  <a:srgbClr val="000000"/>
                </a:solidFill>
                <a:effectLst/>
              </a:rPr>
              <a:t>Example:</a:t>
            </a:r>
            <a:br>
              <a:rPr lang="en-GB" sz="1600" b="0" i="0" u="none" strike="noStrike" dirty="0">
                <a:solidFill>
                  <a:srgbClr val="000000"/>
                </a:solidFill>
                <a:effectLst/>
              </a:rPr>
            </a:br>
            <a:r>
              <a:rPr lang="en-GB" sz="1600" b="0" i="0" u="none" strike="noStrike" dirty="0">
                <a:solidFill>
                  <a:srgbClr val="000000"/>
                </a:solidFill>
                <a:effectLst/>
              </a:rPr>
              <a:t>An improperly secured </a:t>
            </a:r>
            <a:r>
              <a:rPr lang="en-GB" sz="1600" b="1" i="0" u="none" strike="noStrike" dirty="0">
                <a:solidFill>
                  <a:srgbClr val="000000"/>
                </a:solidFill>
                <a:effectLst/>
              </a:rPr>
              <a:t>Amazon S3 bucket</a:t>
            </a:r>
            <a:r>
              <a:rPr lang="en-GB" sz="1600" b="0" i="0" u="none" strike="noStrike" dirty="0">
                <a:solidFill>
                  <a:srgbClr val="000000"/>
                </a:solidFill>
                <a:effectLst/>
              </a:rPr>
              <a:t> can expose millions of user records to public access. </a:t>
            </a:r>
          </a:p>
        </p:txBody>
      </p:sp>
    </p:spTree>
    <p:extLst>
      <p:ext uri="{BB962C8B-B14F-4D97-AF65-F5344CB8AC3E}">
        <p14:creationId xmlns:p14="http://schemas.microsoft.com/office/powerpoint/2010/main" val="2966377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0EB7A1D5-DC89-14B0-BA6F-F147EA98A381}"/>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282FD58A-CBE6-9EC8-C238-0BA791CB7846}"/>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C20975B3-58EC-5DDC-D14F-B6C3D67C756E}"/>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Privacy Concerns in Sensitive Sectors (Healthcare, Finance, Government)</a:t>
            </a:r>
            <a:br>
              <a:rPr lang="en-GB" sz="2000" b="1" i="0" u="none" strike="noStrike" dirty="0">
                <a:solidFill>
                  <a:srgbClr val="7030A0"/>
                </a:solidFill>
                <a:effectLst/>
              </a:rPr>
            </a:br>
            <a:r>
              <a:rPr lang="en-GB" sz="1600" b="0" i="0" u="none" strike="noStrike" dirty="0">
                <a:solidFill>
                  <a:srgbClr val="000000"/>
                </a:solidFill>
                <a:effectLst/>
              </a:rPr>
              <a:t>Certain industries handle </a:t>
            </a:r>
            <a:r>
              <a:rPr lang="en-GB" sz="1600" b="1" i="0" u="none" strike="noStrike" dirty="0">
                <a:solidFill>
                  <a:srgbClr val="000000"/>
                </a:solidFill>
                <a:effectLst/>
              </a:rPr>
              <a:t>extremely sensitive data</a:t>
            </a:r>
            <a:r>
              <a:rPr lang="en-GB" sz="1600" b="0" i="0" u="none" strike="noStrike" dirty="0">
                <a:solidFill>
                  <a:srgbClr val="000000"/>
                </a:solidFill>
                <a:effectLst/>
              </a:rPr>
              <a:t>, making them high-risk targets for </a:t>
            </a:r>
            <a:r>
              <a:rPr lang="en-GB" sz="1600" b="1" i="0" u="none" strike="noStrike" dirty="0">
                <a:solidFill>
                  <a:srgbClr val="000000"/>
                </a:solidFill>
                <a:effectLst/>
              </a:rPr>
              <a:t>cyberattacks and privacy violations</a:t>
            </a:r>
            <a:r>
              <a:rPr lang="en-GB" sz="1600" b="0" i="0" u="none" strike="noStrike" dirty="0">
                <a:solidFill>
                  <a:srgbClr val="000000"/>
                </a:solidFill>
                <a:effectLst/>
              </a:rPr>
              <a:t>.</a:t>
            </a:r>
            <a:br>
              <a:rPr lang="en-GB" sz="2000" b="0" i="0" u="none" strike="noStrike" dirty="0">
                <a:solidFill>
                  <a:srgbClr val="00000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5089917A-B65F-88CA-5403-122CCBDA42DD}"/>
              </a:ext>
            </a:extLst>
          </p:cNvPr>
          <p:cNvSpPr txBox="1"/>
          <p:nvPr/>
        </p:nvSpPr>
        <p:spPr>
          <a:xfrm>
            <a:off x="181645" y="1591944"/>
            <a:ext cx="5154495" cy="3046988"/>
          </a:xfrm>
          <a:prstGeom prst="rect">
            <a:avLst/>
          </a:prstGeom>
          <a:noFill/>
        </p:spPr>
        <p:txBody>
          <a:bodyPr wrap="square">
            <a:spAutoFit/>
          </a:bodyPr>
          <a:lstStyle/>
          <a:p>
            <a:pPr algn="l"/>
            <a:r>
              <a:rPr lang="en-GB" sz="1600" b="1" i="0" u="none" strike="noStrike" dirty="0">
                <a:solidFill>
                  <a:srgbClr val="000000"/>
                </a:solidFill>
                <a:effectLst/>
              </a:rPr>
              <a:t>Healthcare</a:t>
            </a:r>
          </a:p>
          <a:p>
            <a:pPr marL="285750" indent="-285750" algn="l">
              <a:buFont typeface="Wingdings" pitchFamily="2" charset="2"/>
              <a:buChar char="Ø"/>
            </a:pPr>
            <a:r>
              <a:rPr lang="en-GB" sz="1600" b="0" i="0" u="none" strike="noStrike" dirty="0">
                <a:solidFill>
                  <a:srgbClr val="000000"/>
                </a:solidFill>
                <a:effectLst/>
              </a:rPr>
              <a:t>Electronic Health Records (</a:t>
            </a:r>
            <a:r>
              <a:rPr lang="en-GB" sz="1600" b="1" i="0" u="none" strike="noStrike" dirty="0">
                <a:solidFill>
                  <a:srgbClr val="000000"/>
                </a:solidFill>
                <a:effectLst/>
              </a:rPr>
              <a:t>EHRs</a:t>
            </a:r>
            <a:r>
              <a:rPr lang="en-GB" sz="1600" b="0" i="0" u="none" strike="noStrike" dirty="0">
                <a:solidFill>
                  <a:srgbClr val="000000"/>
                </a:solidFill>
                <a:effectLst/>
              </a:rPr>
              <a:t>) contain highly personal patient data.</a:t>
            </a:r>
          </a:p>
          <a:p>
            <a:pPr marL="285750" indent="-285750" algn="l">
              <a:buFont typeface="Wingdings" pitchFamily="2" charset="2"/>
              <a:buChar char="Ø"/>
            </a:pPr>
            <a:endParaRPr lang="en-GB" sz="1600" b="0" i="0" u="none" strike="noStrike" dirty="0">
              <a:solidFill>
                <a:srgbClr val="000000"/>
              </a:solidFill>
              <a:effectLst/>
            </a:endParaRPr>
          </a:p>
          <a:p>
            <a:pPr marL="285750" indent="-285750" algn="l">
              <a:buFont typeface="Wingdings" pitchFamily="2" charset="2"/>
              <a:buChar char="Ø"/>
            </a:pPr>
            <a:r>
              <a:rPr lang="en-GB" sz="1600" b="1" i="0" u="none" strike="noStrike" dirty="0">
                <a:solidFill>
                  <a:srgbClr val="000000"/>
                </a:solidFill>
                <a:effectLst/>
              </a:rPr>
              <a:t>HIPAA violations</a:t>
            </a:r>
            <a:r>
              <a:rPr lang="en-GB" sz="1600" b="0" i="0" u="none" strike="noStrike" dirty="0">
                <a:solidFill>
                  <a:srgbClr val="000000"/>
                </a:solidFill>
                <a:effectLst/>
              </a:rPr>
              <a:t> can result in fines for mishandling medical data.</a:t>
            </a:r>
          </a:p>
          <a:p>
            <a:pPr marL="285750" indent="-285750" algn="l">
              <a:buFont typeface="Wingdings" pitchFamily="2" charset="2"/>
              <a:buChar char="Ø"/>
            </a:pPr>
            <a:endParaRPr lang="en-GB" sz="1600" b="0" i="0" u="none" strike="noStrike" dirty="0">
              <a:solidFill>
                <a:srgbClr val="000000"/>
              </a:solidFill>
              <a:effectLst/>
            </a:endParaRPr>
          </a:p>
          <a:p>
            <a:pPr marL="285750" indent="-285750" algn="l">
              <a:buFont typeface="Wingdings" pitchFamily="2" charset="2"/>
              <a:buChar char="Ø"/>
            </a:pPr>
            <a:r>
              <a:rPr lang="en-GB" sz="1600" b="1" i="0" u="none" strike="noStrike" dirty="0">
                <a:solidFill>
                  <a:srgbClr val="000000"/>
                </a:solidFill>
                <a:effectLst/>
              </a:rPr>
              <a:t>Medical IoT devices</a:t>
            </a:r>
            <a:r>
              <a:rPr lang="en-GB" sz="1600" b="0" i="0" u="none" strike="noStrike" dirty="0">
                <a:solidFill>
                  <a:srgbClr val="000000"/>
                </a:solidFill>
                <a:effectLst/>
              </a:rPr>
              <a:t> (e.g., pacemakers, insulin pumps) are vulnerable to hacking.</a:t>
            </a:r>
          </a:p>
          <a:p>
            <a:pPr algn="l"/>
            <a:r>
              <a:rPr lang="en-GB" sz="1600" b="0" i="0" u="none" strike="noStrike" dirty="0">
                <a:solidFill>
                  <a:srgbClr val="000000"/>
                </a:solidFill>
                <a:effectLst/>
              </a:rPr>
              <a:t> </a:t>
            </a:r>
            <a:r>
              <a:rPr lang="en-GB" sz="1600" b="1" i="0" u="none" strike="noStrike" dirty="0">
                <a:solidFill>
                  <a:srgbClr val="000000"/>
                </a:solidFill>
                <a:effectLst/>
              </a:rPr>
              <a:t>Example:</a:t>
            </a:r>
            <a:br>
              <a:rPr lang="en-GB" sz="1600" b="0" i="0" u="none" strike="noStrike" dirty="0">
                <a:solidFill>
                  <a:srgbClr val="000000"/>
                </a:solidFill>
                <a:effectLst/>
              </a:rPr>
            </a:br>
            <a:r>
              <a:rPr lang="en-GB" sz="1600" b="0" i="0" u="none" strike="noStrike" dirty="0">
                <a:solidFill>
                  <a:srgbClr val="000000"/>
                </a:solidFill>
                <a:effectLst/>
              </a:rPr>
              <a:t>A ransomware attack on a hospital </a:t>
            </a:r>
            <a:r>
              <a:rPr lang="en-GB" sz="1600" b="1" i="0" u="none" strike="noStrike" dirty="0">
                <a:solidFill>
                  <a:srgbClr val="000000"/>
                </a:solidFill>
                <a:effectLst/>
              </a:rPr>
              <a:t>disrupts medical services</a:t>
            </a:r>
            <a:r>
              <a:rPr lang="en-GB" sz="1600" b="0" i="0" u="none" strike="noStrike" dirty="0">
                <a:solidFill>
                  <a:srgbClr val="000000"/>
                </a:solidFill>
                <a:effectLst/>
              </a:rPr>
              <a:t>, endangering patients.</a:t>
            </a:r>
          </a:p>
        </p:txBody>
      </p:sp>
      <p:pic>
        <p:nvPicPr>
          <p:cNvPr id="9" name="Picture 8" descr="A doctor showing a patient something on the computer&#10;&#10;AI-generated content may be incorrect.">
            <a:extLst>
              <a:ext uri="{FF2B5EF4-FFF2-40B4-BE49-F238E27FC236}">
                <a16:creationId xmlns:a16="http://schemas.microsoft.com/office/drawing/2014/main" id="{CE607C86-4C18-778F-7774-AC4F6D7B5927}"/>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336140" y="1763264"/>
            <a:ext cx="3794125" cy="2520985"/>
          </a:xfrm>
          <a:prstGeom prst="rect">
            <a:avLst/>
          </a:prstGeom>
        </p:spPr>
      </p:pic>
    </p:spTree>
    <p:extLst>
      <p:ext uri="{BB962C8B-B14F-4D97-AF65-F5344CB8AC3E}">
        <p14:creationId xmlns:p14="http://schemas.microsoft.com/office/powerpoint/2010/main" val="47435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6B54CDE9-1E8D-21F2-265E-000A6CDC8A80}"/>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ACA9DA0D-141A-C1DE-1BFE-BA52F282C6D6}"/>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F876936F-A4EA-A926-8584-5230D149FB94}"/>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Privacy Concerns in Sensitive Sectors-Finance</a:t>
            </a: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FD62EB72-8386-072D-B168-E91E117A8C35}"/>
              </a:ext>
            </a:extLst>
          </p:cNvPr>
          <p:cNvSpPr txBox="1"/>
          <p:nvPr/>
        </p:nvSpPr>
        <p:spPr>
          <a:xfrm>
            <a:off x="466376" y="1117065"/>
            <a:ext cx="5154495" cy="3046988"/>
          </a:xfrm>
          <a:prstGeom prst="rect">
            <a:avLst/>
          </a:prstGeom>
          <a:noFill/>
        </p:spPr>
        <p:txBody>
          <a:bodyPr wrap="square">
            <a:spAutoFit/>
          </a:bodyPr>
          <a:lstStyle/>
          <a:p>
            <a:pPr marL="342900" indent="-342900" algn="l">
              <a:buFont typeface="Wingdings" pitchFamily="2" charset="2"/>
              <a:buChar char="Ø"/>
            </a:pPr>
            <a:r>
              <a:rPr lang="en-GB" sz="1600" b="0" i="0" u="none" strike="noStrike" dirty="0">
                <a:solidFill>
                  <a:srgbClr val="000000"/>
                </a:solidFill>
                <a:effectLst/>
              </a:rPr>
              <a:t>Banks and financial institutions store </a:t>
            </a:r>
            <a:r>
              <a:rPr lang="en-GB" sz="1600" b="1" i="0" u="none" strike="noStrike" dirty="0">
                <a:solidFill>
                  <a:srgbClr val="000000"/>
                </a:solidFill>
                <a:effectLst/>
              </a:rPr>
              <a:t>credit card numbers, SSNs, and transaction data</a:t>
            </a:r>
            <a:r>
              <a:rPr lang="en-GB" sz="1600" b="0" i="0" u="none" strike="noStrike" dirty="0">
                <a:solidFill>
                  <a:srgbClr val="000000"/>
                </a:solidFill>
                <a:effectLst/>
              </a:rPr>
              <a:t>.</a:t>
            </a:r>
          </a:p>
          <a:p>
            <a:pPr marL="342900" indent="-342900" algn="l">
              <a:buFont typeface="Wingdings" pitchFamily="2" charset="2"/>
              <a:buChar char="Ø"/>
            </a:pPr>
            <a:endParaRPr lang="en-GB" sz="1600" b="0" i="0" u="none" strike="noStrike" dirty="0">
              <a:solidFill>
                <a:srgbClr val="000000"/>
              </a:solidFill>
              <a:effectLst/>
            </a:endParaRPr>
          </a:p>
          <a:p>
            <a:pPr marL="342900" indent="-342900" algn="l">
              <a:buFont typeface="Wingdings" pitchFamily="2" charset="2"/>
              <a:buChar char="Ø"/>
            </a:pPr>
            <a:r>
              <a:rPr lang="en-GB" sz="1600" b="1" i="0" u="none" strike="noStrike" dirty="0">
                <a:solidFill>
                  <a:srgbClr val="000000"/>
                </a:solidFill>
                <a:effectLst/>
              </a:rPr>
              <a:t>Online banking fraud</a:t>
            </a:r>
            <a:r>
              <a:rPr lang="en-GB" sz="1600" b="0" i="0" u="none" strike="noStrike" dirty="0">
                <a:solidFill>
                  <a:srgbClr val="000000"/>
                </a:solidFill>
                <a:effectLst/>
              </a:rPr>
              <a:t> and </a:t>
            </a:r>
            <a:r>
              <a:rPr lang="en-GB" sz="1600" b="1" i="0" u="none" strike="noStrike" dirty="0">
                <a:solidFill>
                  <a:srgbClr val="000000"/>
                </a:solidFill>
                <a:effectLst/>
              </a:rPr>
              <a:t>cryptocurrency hacks</a:t>
            </a:r>
            <a:r>
              <a:rPr lang="en-GB" sz="1600" b="0" i="0" u="none" strike="noStrike" dirty="0">
                <a:solidFill>
                  <a:srgbClr val="000000"/>
                </a:solidFill>
                <a:effectLst/>
              </a:rPr>
              <a:t> are increasing.</a:t>
            </a:r>
          </a:p>
          <a:p>
            <a:pPr marL="342900" indent="-342900" algn="l">
              <a:buFont typeface="Wingdings" pitchFamily="2" charset="2"/>
              <a:buChar char="Ø"/>
            </a:pPr>
            <a:endParaRPr lang="en-GB" sz="1600" b="0" i="0" u="none" strike="noStrike" dirty="0">
              <a:solidFill>
                <a:srgbClr val="000000"/>
              </a:solidFill>
              <a:effectLst/>
            </a:endParaRPr>
          </a:p>
          <a:p>
            <a:pPr marL="342900" indent="-342900" algn="l">
              <a:buFont typeface="Wingdings" pitchFamily="2" charset="2"/>
              <a:buChar char="Ø"/>
            </a:pPr>
            <a:r>
              <a:rPr lang="en-GB" sz="1600" b="1" i="0" u="none" strike="noStrike" dirty="0">
                <a:solidFill>
                  <a:srgbClr val="000000"/>
                </a:solidFill>
                <a:effectLst/>
              </a:rPr>
              <a:t>Identity theft</a:t>
            </a:r>
            <a:r>
              <a:rPr lang="en-GB" sz="1600" b="0" i="0" u="none" strike="noStrike" dirty="0">
                <a:solidFill>
                  <a:srgbClr val="000000"/>
                </a:solidFill>
                <a:effectLst/>
              </a:rPr>
              <a:t> allows cybercriminals to access financial accounts.</a:t>
            </a:r>
          </a:p>
          <a:p>
            <a:pPr marL="342900" indent="-342900" algn="l">
              <a:buFont typeface="Wingdings" pitchFamily="2" charset="2"/>
              <a:buChar char="Ø"/>
            </a:pPr>
            <a:endParaRPr lang="en-GB" sz="1600" b="0" i="0" u="none" strike="noStrike" dirty="0">
              <a:solidFill>
                <a:srgbClr val="000000"/>
              </a:solidFill>
              <a:effectLst/>
            </a:endParaRPr>
          </a:p>
          <a:p>
            <a:pPr marL="342900" indent="-342900" algn="l">
              <a:buFont typeface="Wingdings" pitchFamily="2" charset="2"/>
              <a:buChar char="Ø"/>
            </a:pPr>
            <a:r>
              <a:rPr lang="en-GB" sz="1600" b="1" i="0" u="none" strike="noStrike" dirty="0">
                <a:solidFill>
                  <a:srgbClr val="000000"/>
                </a:solidFill>
                <a:effectLst/>
              </a:rPr>
              <a:t>Example:</a:t>
            </a:r>
            <a:br>
              <a:rPr lang="en-GB" sz="1600" b="0" i="0" u="none" strike="noStrike" dirty="0">
                <a:solidFill>
                  <a:srgbClr val="000000"/>
                </a:solidFill>
                <a:effectLst/>
              </a:rPr>
            </a:br>
            <a:r>
              <a:rPr lang="en-GB" sz="1600" b="0" i="0" u="none" strike="noStrike" dirty="0">
                <a:solidFill>
                  <a:srgbClr val="000000"/>
                </a:solidFill>
                <a:effectLst/>
              </a:rPr>
              <a:t>The </a:t>
            </a:r>
            <a:r>
              <a:rPr lang="en-GB" sz="1600" b="1" i="0" u="none" strike="noStrike" dirty="0">
                <a:solidFill>
                  <a:srgbClr val="000000"/>
                </a:solidFill>
                <a:effectLst/>
              </a:rPr>
              <a:t>JP Morgan Chase data breach (2014)</a:t>
            </a:r>
            <a:r>
              <a:rPr lang="en-GB" sz="1600" b="0" i="0" u="none" strike="noStrike" dirty="0">
                <a:solidFill>
                  <a:srgbClr val="000000"/>
                </a:solidFill>
                <a:effectLst/>
              </a:rPr>
              <a:t> exposed 76 million bank accounts.</a:t>
            </a:r>
          </a:p>
        </p:txBody>
      </p:sp>
      <p:pic>
        <p:nvPicPr>
          <p:cNvPr id="7" name="Picture 6" descr="A pile of money with letters on it&#10;&#10;AI-generated content may be incorrect.">
            <a:extLst>
              <a:ext uri="{FF2B5EF4-FFF2-40B4-BE49-F238E27FC236}">
                <a16:creationId xmlns:a16="http://schemas.microsoft.com/office/drawing/2014/main" id="{081C88EE-F897-F0A8-9BF1-B0DD04C8B4A7}"/>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620871" y="1747251"/>
            <a:ext cx="3075813" cy="2051543"/>
          </a:xfrm>
          <a:prstGeom prst="rect">
            <a:avLst/>
          </a:prstGeom>
        </p:spPr>
      </p:pic>
      <p:sp>
        <p:nvSpPr>
          <p:cNvPr id="8" name="TextBox 7">
            <a:extLst>
              <a:ext uri="{FF2B5EF4-FFF2-40B4-BE49-F238E27FC236}">
                <a16:creationId xmlns:a16="http://schemas.microsoft.com/office/drawing/2014/main" id="{2A45F951-96F4-177F-CF87-EDC64ADF96F8}"/>
              </a:ext>
            </a:extLst>
          </p:cNvPr>
          <p:cNvSpPr txBox="1"/>
          <p:nvPr/>
        </p:nvSpPr>
        <p:spPr>
          <a:xfrm>
            <a:off x="716257" y="5143500"/>
            <a:ext cx="7711485" cy="230832"/>
          </a:xfrm>
          <a:prstGeom prst="rect">
            <a:avLst/>
          </a:prstGeom>
          <a:noFill/>
        </p:spPr>
        <p:txBody>
          <a:bodyPr wrap="square" rtlCol="0">
            <a:spAutoFit/>
          </a:bodyPr>
          <a:lstStyle/>
          <a:p>
            <a:r>
              <a:rPr lang="en-US" sz="900">
                <a:hlinkClick r:id="rId5" tooltip="https://foto.wuestenigel.com/wurfel-zeigen-das-wort-candy-suszigkeiten-umgeben-von-zuckerhaltigen-suszigkeiten-in-bunten-farben/"/>
              </a:rPr>
              <a:t>This Photo</a:t>
            </a:r>
            <a:r>
              <a:rPr lang="en-US" sz="900"/>
              <a:t> by Unknown Author is licensed under </a:t>
            </a:r>
            <a:r>
              <a:rPr lang="en-US" sz="900">
                <a:hlinkClick r:id="rId6" tooltip="https://creativecommons.org/licenses/by/3.0/"/>
              </a:rPr>
              <a:t>CC BY</a:t>
            </a:r>
            <a:endParaRPr lang="en-US" sz="900"/>
          </a:p>
        </p:txBody>
      </p:sp>
    </p:spTree>
    <p:extLst>
      <p:ext uri="{BB962C8B-B14F-4D97-AF65-F5344CB8AC3E}">
        <p14:creationId xmlns:p14="http://schemas.microsoft.com/office/powerpoint/2010/main" val="1518110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A481DA0C-640A-6682-3BF7-716E3E4C8014}"/>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BEB770D4-7CAF-08E3-FAD3-EA7A18C84375}"/>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8BB3B1FF-1FCE-B230-FC4D-1ECFC70F76AD}"/>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Privacy Concerns in Sensitive Sectors-Government</a:t>
            </a: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65D0EAC8-09F2-A574-26B0-E2BEE08B119E}"/>
              </a:ext>
            </a:extLst>
          </p:cNvPr>
          <p:cNvSpPr txBox="1"/>
          <p:nvPr/>
        </p:nvSpPr>
        <p:spPr>
          <a:xfrm>
            <a:off x="393192" y="883982"/>
            <a:ext cx="4627043" cy="4031873"/>
          </a:xfrm>
          <a:prstGeom prst="rect">
            <a:avLst/>
          </a:prstGeom>
          <a:noFill/>
        </p:spPr>
        <p:txBody>
          <a:bodyPr wrap="square">
            <a:spAutoFit/>
          </a:bodyPr>
          <a:lstStyle/>
          <a:p>
            <a:pPr algn="l"/>
            <a:endParaRPr lang="en-GB" sz="1600" b="1" i="0" u="none" strike="noStrike" dirty="0">
              <a:solidFill>
                <a:srgbClr val="000000"/>
              </a:solidFill>
              <a:effectLst/>
            </a:endParaRPr>
          </a:p>
          <a:p>
            <a:pPr marL="342900" indent="-342900" algn="l">
              <a:buFont typeface="Wingdings" pitchFamily="2" charset="2"/>
              <a:buChar char="Ø"/>
            </a:pPr>
            <a:r>
              <a:rPr lang="en-GB" sz="1600" b="0" i="0" u="none" strike="noStrike" dirty="0">
                <a:solidFill>
                  <a:srgbClr val="000000"/>
                </a:solidFill>
                <a:effectLst/>
              </a:rPr>
              <a:t>Governments store </a:t>
            </a:r>
            <a:r>
              <a:rPr lang="en-GB" sz="1600" b="1" i="0" u="none" strike="noStrike" dirty="0">
                <a:solidFill>
                  <a:srgbClr val="000000"/>
                </a:solidFill>
                <a:effectLst/>
              </a:rPr>
              <a:t>classified information</a:t>
            </a:r>
            <a:r>
              <a:rPr lang="en-GB" sz="1600" b="0" i="0" u="none" strike="noStrike" dirty="0">
                <a:solidFill>
                  <a:srgbClr val="000000"/>
                </a:solidFill>
                <a:effectLst/>
              </a:rPr>
              <a:t> on citizens, </a:t>
            </a:r>
            <a:r>
              <a:rPr lang="en-GB" sz="1600" b="0" i="0" u="none" strike="noStrike" dirty="0" err="1">
                <a:solidFill>
                  <a:srgbClr val="000000"/>
                </a:solidFill>
                <a:effectLst/>
              </a:rPr>
              <a:t>defense</a:t>
            </a:r>
            <a:r>
              <a:rPr lang="en-GB" sz="1600" b="0" i="0" u="none" strike="noStrike" dirty="0">
                <a:solidFill>
                  <a:srgbClr val="000000"/>
                </a:solidFill>
                <a:effectLst/>
              </a:rPr>
              <a:t>, and infrastructure.</a:t>
            </a:r>
          </a:p>
          <a:p>
            <a:pPr marL="342900" indent="-342900" algn="l">
              <a:buFont typeface="Wingdings" pitchFamily="2" charset="2"/>
              <a:buChar char="Ø"/>
            </a:pPr>
            <a:endParaRPr lang="en-GB" sz="1600" b="0" i="0" u="none" strike="noStrike" dirty="0">
              <a:solidFill>
                <a:srgbClr val="000000"/>
              </a:solidFill>
              <a:effectLst/>
            </a:endParaRPr>
          </a:p>
          <a:p>
            <a:pPr marL="342900" indent="-342900" algn="l">
              <a:buFont typeface="Wingdings" pitchFamily="2" charset="2"/>
              <a:buChar char="Ø"/>
            </a:pPr>
            <a:r>
              <a:rPr lang="en-GB" sz="1600" b="0" i="0" u="none" strike="noStrike" dirty="0">
                <a:solidFill>
                  <a:srgbClr val="000000"/>
                </a:solidFill>
                <a:effectLst/>
              </a:rPr>
              <a:t>Cyberattacks can disrupt </a:t>
            </a:r>
            <a:r>
              <a:rPr lang="en-GB" sz="1600" b="1" i="0" u="none" strike="noStrike" dirty="0">
                <a:solidFill>
                  <a:srgbClr val="000000"/>
                </a:solidFill>
                <a:effectLst/>
              </a:rPr>
              <a:t>national security and public services</a:t>
            </a:r>
            <a:r>
              <a:rPr lang="en-GB" sz="1600" b="0" i="0" u="none" strike="noStrike" dirty="0">
                <a:solidFill>
                  <a:srgbClr val="000000"/>
                </a:solidFill>
                <a:effectLst/>
              </a:rPr>
              <a:t>.</a:t>
            </a:r>
          </a:p>
          <a:p>
            <a:pPr marL="342900" indent="-342900" algn="l">
              <a:buFont typeface="Wingdings" pitchFamily="2" charset="2"/>
              <a:buChar char="Ø"/>
            </a:pPr>
            <a:endParaRPr lang="en-GB" sz="1600" b="0" i="0" u="none" strike="noStrike" dirty="0">
              <a:solidFill>
                <a:srgbClr val="000000"/>
              </a:solidFill>
              <a:effectLst/>
            </a:endParaRPr>
          </a:p>
          <a:p>
            <a:pPr marL="342900" indent="-342900" algn="l">
              <a:buFont typeface="Wingdings" pitchFamily="2" charset="2"/>
              <a:buChar char="Ø"/>
            </a:pPr>
            <a:r>
              <a:rPr lang="en-GB" sz="1600" b="1" i="0" u="none" strike="noStrike" dirty="0">
                <a:solidFill>
                  <a:srgbClr val="000000"/>
                </a:solidFill>
                <a:effectLst/>
              </a:rPr>
              <a:t>Surveillance concerns</a:t>
            </a:r>
            <a:r>
              <a:rPr lang="en-GB" sz="1600" b="0" i="0" u="none" strike="noStrike" dirty="0">
                <a:solidFill>
                  <a:srgbClr val="000000"/>
                </a:solidFill>
                <a:effectLst/>
              </a:rPr>
              <a:t> arise from excessive data collection.</a:t>
            </a:r>
          </a:p>
          <a:p>
            <a:pPr marL="342900" indent="-342900" algn="l">
              <a:buFont typeface="Wingdings" pitchFamily="2" charset="2"/>
              <a:buChar char="Ø"/>
            </a:pPr>
            <a:endParaRPr lang="en-GB" sz="1600" b="0" i="0" u="none" strike="noStrike" dirty="0">
              <a:solidFill>
                <a:srgbClr val="000000"/>
              </a:solidFill>
              <a:effectLst/>
            </a:endParaRPr>
          </a:p>
          <a:p>
            <a:pPr algn="l"/>
            <a:r>
              <a:rPr lang="en-GB" sz="1600" b="1" i="0" u="none" strike="noStrike" dirty="0">
                <a:solidFill>
                  <a:srgbClr val="000000"/>
                </a:solidFill>
                <a:effectLst/>
              </a:rPr>
              <a:t>Example:</a:t>
            </a:r>
            <a:br>
              <a:rPr lang="en-GB" sz="1600" b="0" i="0" u="none" strike="noStrike" dirty="0">
                <a:solidFill>
                  <a:srgbClr val="000000"/>
                </a:solidFill>
                <a:effectLst/>
              </a:rPr>
            </a:br>
            <a:r>
              <a:rPr lang="en-GB" sz="1600" b="0" i="0" u="none" strike="noStrike" dirty="0">
                <a:solidFill>
                  <a:srgbClr val="000000"/>
                </a:solidFill>
                <a:effectLst/>
              </a:rPr>
              <a:t>The </a:t>
            </a:r>
            <a:r>
              <a:rPr lang="en-GB" sz="1600" b="1" i="0" u="none" strike="noStrike" dirty="0">
                <a:solidFill>
                  <a:srgbClr val="000000"/>
                </a:solidFill>
                <a:effectLst/>
              </a:rPr>
              <a:t>2020 SolarWinds cyberattack</a:t>
            </a:r>
            <a:r>
              <a:rPr lang="en-GB" sz="1600" b="0" i="0" u="none" strike="noStrike" dirty="0">
                <a:solidFill>
                  <a:srgbClr val="000000"/>
                </a:solidFill>
                <a:effectLst/>
              </a:rPr>
              <a:t> compromised multiple </a:t>
            </a:r>
            <a:r>
              <a:rPr lang="en-GB" sz="1600" b="1" i="0" u="none" strike="noStrike" dirty="0">
                <a:solidFill>
                  <a:srgbClr val="000000"/>
                </a:solidFill>
                <a:effectLst/>
              </a:rPr>
              <a:t>U.S. government agencies</a:t>
            </a:r>
            <a:r>
              <a:rPr lang="en-GB" sz="1600" b="0" i="0" u="none" strike="noStrike" dirty="0">
                <a:solidFill>
                  <a:srgbClr val="000000"/>
                </a:solidFill>
                <a:effectLst/>
              </a:rPr>
              <a:t>.</a:t>
            </a:r>
          </a:p>
          <a:p>
            <a:pPr algn="l"/>
            <a:endParaRPr lang="en-GB" sz="1600" b="0" i="0" u="none" strike="noStrike" dirty="0">
              <a:solidFill>
                <a:srgbClr val="000000"/>
              </a:solidFill>
              <a:effectLst/>
            </a:endParaRPr>
          </a:p>
        </p:txBody>
      </p:sp>
      <p:pic>
        <p:nvPicPr>
          <p:cNvPr id="4" name="Picture 3" descr="A person standing next to a sphere with binary code&#10;&#10;AI-generated content may be incorrect.">
            <a:extLst>
              <a:ext uri="{FF2B5EF4-FFF2-40B4-BE49-F238E27FC236}">
                <a16:creationId xmlns:a16="http://schemas.microsoft.com/office/drawing/2014/main" id="{B64A4E3B-45CD-57B6-707C-B6A841294CE0}"/>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420479" y="1461247"/>
            <a:ext cx="3632946" cy="2446618"/>
          </a:xfrm>
          <a:prstGeom prst="rect">
            <a:avLst/>
          </a:prstGeom>
        </p:spPr>
      </p:pic>
    </p:spTree>
    <p:extLst>
      <p:ext uri="{BB962C8B-B14F-4D97-AF65-F5344CB8AC3E}">
        <p14:creationId xmlns:p14="http://schemas.microsoft.com/office/powerpoint/2010/main" val="1429055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107"/>
        <p:cNvGrpSpPr/>
        <p:nvPr/>
      </p:nvGrpSpPr>
      <p:grpSpPr>
        <a:xfrm>
          <a:off x="0" y="0"/>
          <a:ext cx="0" cy="0"/>
          <a:chOff x="0" y="0"/>
          <a:chExt cx="0" cy="0"/>
        </a:xfrm>
      </p:grpSpPr>
      <p:pic>
        <p:nvPicPr>
          <p:cNvPr id="108" name="Google Shape;108;p10"/>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9" name="Google Shape;109;p10"/>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pPr marL="0" lvl="0" indent="0" algn="l" rtl="1">
              <a:lnSpc>
                <a:spcPct val="100000"/>
              </a:lnSpc>
              <a:spcBef>
                <a:spcPts val="0"/>
              </a:spcBef>
              <a:spcAft>
                <a:spcPts val="0"/>
              </a:spcAft>
              <a:buClr>
                <a:srgbClr val="543198"/>
              </a:buClr>
              <a:buSzPts val="2500"/>
              <a:buNone/>
            </a:pPr>
            <a:r>
              <a:rPr lang="en-US" sz="3200" dirty="0">
                <a:latin typeface="Arial"/>
                <a:ea typeface="Arial"/>
                <a:cs typeface="Arial"/>
                <a:sym typeface="Arial"/>
              </a:rPr>
              <a:t>RECAP</a:t>
            </a:r>
            <a:br>
              <a:rPr lang="en-US" sz="1600" dirty="0">
                <a:latin typeface="Arial"/>
                <a:ea typeface="Arial"/>
                <a:cs typeface="Arial"/>
                <a:sym typeface="Arial"/>
              </a:rPr>
            </a:br>
            <a:endParaRPr sz="3200" dirty="0"/>
          </a:p>
        </p:txBody>
      </p:sp>
      <p:sp>
        <p:nvSpPr>
          <p:cNvPr id="4" name="TextBox 3">
            <a:extLst>
              <a:ext uri="{FF2B5EF4-FFF2-40B4-BE49-F238E27FC236}">
                <a16:creationId xmlns:a16="http://schemas.microsoft.com/office/drawing/2014/main" id="{F35F6B0B-CDF5-6247-EEAD-F2816EA369FC}"/>
              </a:ext>
            </a:extLst>
          </p:cNvPr>
          <p:cNvSpPr txBox="1"/>
          <p:nvPr/>
        </p:nvSpPr>
        <p:spPr>
          <a:xfrm>
            <a:off x="1009816" y="802532"/>
            <a:ext cx="5961489" cy="4031873"/>
          </a:xfrm>
          <a:prstGeom prst="rect">
            <a:avLst/>
          </a:prstGeom>
          <a:noFill/>
        </p:spPr>
        <p:txBody>
          <a:bodyPr wrap="square">
            <a:spAutoFit/>
          </a:bodyPr>
          <a:lstStyle/>
          <a:p>
            <a:pPr marL="342900" indent="-342900" algn="l">
              <a:buFont typeface="+mj-lt"/>
              <a:buAutoNum type="arabicParenR"/>
            </a:pPr>
            <a:r>
              <a:rPr lang="en-GB" sz="1600" b="1" i="1" u="none" strike="noStrike" dirty="0">
                <a:solidFill>
                  <a:srgbClr val="000000"/>
                </a:solidFill>
                <a:effectLst/>
                <a:latin typeface="-webkit-standard"/>
              </a:rPr>
              <a:t>Data privacy and security are </a:t>
            </a:r>
            <a:r>
              <a:rPr lang="en-GB" sz="1600" b="1" i="1" u="none" strike="noStrike" dirty="0">
                <a:solidFill>
                  <a:srgbClr val="000000"/>
                </a:solidFill>
                <a:effectLst/>
              </a:rPr>
              <a:t>essential</a:t>
            </a:r>
            <a:r>
              <a:rPr lang="en-GB" sz="1600" b="1" i="1" u="none" strike="noStrike" dirty="0">
                <a:solidFill>
                  <a:srgbClr val="000000"/>
                </a:solidFill>
                <a:effectLst/>
                <a:latin typeface="-webkit-standard"/>
              </a:rPr>
              <a:t> for ethical AI development.</a:t>
            </a:r>
          </a:p>
          <a:p>
            <a:pPr marL="342900" indent="-342900" algn="l">
              <a:buFont typeface="+mj-lt"/>
              <a:buAutoNum type="arabicParenR"/>
            </a:pPr>
            <a:r>
              <a:rPr lang="en-GB" sz="1600" b="1" i="1" u="none" strike="noStrike" dirty="0">
                <a:solidFill>
                  <a:srgbClr val="000000"/>
                </a:solidFill>
                <a:effectLst/>
                <a:latin typeface="-webkit-standard"/>
              </a:rPr>
              <a:t>The </a:t>
            </a:r>
            <a:r>
              <a:rPr lang="en-GB" sz="1600" b="1" i="1" u="none" strike="noStrike" dirty="0">
                <a:solidFill>
                  <a:srgbClr val="000000"/>
                </a:solidFill>
                <a:effectLst/>
              </a:rPr>
              <a:t>CIA Triad (Confidentiality, Integrity, Availability)</a:t>
            </a:r>
            <a:r>
              <a:rPr lang="en-GB" sz="1600" b="1" i="1" u="none" strike="noStrike" dirty="0">
                <a:solidFill>
                  <a:srgbClr val="000000"/>
                </a:solidFill>
                <a:effectLst/>
                <a:latin typeface="-webkit-standard"/>
              </a:rPr>
              <a:t> guides data protection strategies.</a:t>
            </a:r>
          </a:p>
          <a:p>
            <a:pPr marL="342900" indent="-342900" algn="l">
              <a:buFont typeface="+mj-lt"/>
              <a:buAutoNum type="arabicParenR"/>
            </a:pPr>
            <a:r>
              <a:rPr lang="en-GB" sz="1600" b="1" i="1" u="none" strike="noStrike" dirty="0">
                <a:solidFill>
                  <a:srgbClr val="000000"/>
                </a:solidFill>
                <a:effectLst/>
                <a:latin typeface="-webkit-standard"/>
              </a:rPr>
              <a:t>AI enhances </a:t>
            </a:r>
            <a:r>
              <a:rPr lang="en-GB" sz="1600" b="1" i="1" u="none" strike="noStrike" dirty="0">
                <a:solidFill>
                  <a:srgbClr val="000000"/>
                </a:solidFill>
                <a:effectLst/>
              </a:rPr>
              <a:t>privacy</a:t>
            </a:r>
            <a:r>
              <a:rPr lang="en-GB" sz="1600" b="1" i="1" u="none" strike="noStrike" dirty="0">
                <a:solidFill>
                  <a:srgbClr val="000000"/>
                </a:solidFill>
                <a:effectLst/>
                <a:latin typeface="-webkit-standard"/>
              </a:rPr>
              <a:t> through </a:t>
            </a:r>
            <a:r>
              <a:rPr lang="en-GB" sz="1600" b="1" i="1" u="none" strike="noStrike" dirty="0">
                <a:solidFill>
                  <a:srgbClr val="000000"/>
                </a:solidFill>
                <a:effectLst/>
              </a:rPr>
              <a:t>encryption, authentication, and anomaly detection</a:t>
            </a:r>
            <a:r>
              <a:rPr lang="en-GB" sz="1600" b="1" i="1" u="none" strike="noStrike" dirty="0">
                <a:solidFill>
                  <a:srgbClr val="000000"/>
                </a:solidFill>
                <a:effectLst/>
                <a:latin typeface="-webkit-standard"/>
              </a:rPr>
              <a:t>.</a:t>
            </a:r>
          </a:p>
          <a:p>
            <a:pPr marL="342900" indent="-342900" algn="l">
              <a:buFont typeface="+mj-lt"/>
              <a:buAutoNum type="arabicParenR"/>
            </a:pPr>
            <a:r>
              <a:rPr lang="en-GB" sz="1600" b="1" i="1" u="none" strike="noStrike" dirty="0">
                <a:solidFill>
                  <a:srgbClr val="000000"/>
                </a:solidFill>
                <a:effectLst/>
                <a:latin typeface="-webkit-standard"/>
              </a:rPr>
              <a:t>Organizations must comply with </a:t>
            </a:r>
            <a:r>
              <a:rPr lang="en-GB" sz="1600" b="1" i="1" u="none" strike="noStrike" dirty="0">
                <a:solidFill>
                  <a:srgbClr val="000000"/>
                </a:solidFill>
                <a:effectLst/>
              </a:rPr>
              <a:t>GDPR, CCPA, and other regulations</a:t>
            </a:r>
            <a:r>
              <a:rPr lang="en-GB" sz="1600" b="1" i="1" u="none" strike="noStrike" dirty="0">
                <a:solidFill>
                  <a:srgbClr val="000000"/>
                </a:solidFill>
                <a:effectLst/>
                <a:latin typeface="-webkit-standard"/>
              </a:rPr>
              <a:t> to avoid legal risks.</a:t>
            </a:r>
            <a:endParaRPr lang="en-GB" sz="1600" b="1" i="1" u="none" strike="noStrike" dirty="0">
              <a:solidFill>
                <a:srgbClr val="000000"/>
              </a:solidFill>
              <a:effectLst/>
            </a:endParaRPr>
          </a:p>
          <a:p>
            <a:pPr marL="342900" indent="-342900" algn="l">
              <a:buFont typeface="+mj-lt"/>
              <a:buAutoNum type="arabicParenR"/>
            </a:pPr>
            <a:r>
              <a:rPr lang="en-GB" sz="1600" b="1" i="1" u="none" strike="noStrike" dirty="0">
                <a:solidFill>
                  <a:srgbClr val="000000"/>
                </a:solidFill>
                <a:effectLst/>
              </a:rPr>
              <a:t>Data breaches and unauthorized access</a:t>
            </a:r>
            <a:r>
              <a:rPr lang="en-GB" sz="1600" b="1" i="1" u="none" strike="noStrike" dirty="0">
                <a:solidFill>
                  <a:srgbClr val="000000"/>
                </a:solidFill>
                <a:effectLst/>
                <a:latin typeface="-webkit-standard"/>
              </a:rPr>
              <a:t> are major threats to data security.</a:t>
            </a:r>
          </a:p>
          <a:p>
            <a:pPr marL="342900" indent="-342900" algn="l">
              <a:buFont typeface="+mj-lt"/>
              <a:buAutoNum type="arabicParenR"/>
            </a:pPr>
            <a:r>
              <a:rPr lang="en-GB" sz="1600" b="1" i="1" u="none" strike="noStrike" dirty="0">
                <a:solidFill>
                  <a:srgbClr val="000000"/>
                </a:solidFill>
                <a:effectLst/>
              </a:rPr>
              <a:t>Cloud computing, IoT, and AI</a:t>
            </a:r>
            <a:r>
              <a:rPr lang="en-GB" sz="1600" b="1" i="1" u="none" strike="noStrike" dirty="0">
                <a:solidFill>
                  <a:srgbClr val="000000"/>
                </a:solidFill>
                <a:effectLst/>
                <a:latin typeface="-webkit-standard"/>
              </a:rPr>
              <a:t> introduce new security vulnerabilities.</a:t>
            </a:r>
          </a:p>
          <a:p>
            <a:pPr marL="342900" indent="-342900" algn="l">
              <a:buFont typeface="+mj-lt"/>
              <a:buAutoNum type="arabicParenR"/>
            </a:pPr>
            <a:r>
              <a:rPr lang="en-GB" sz="1600" b="1" i="1" u="none" strike="noStrike" dirty="0">
                <a:solidFill>
                  <a:srgbClr val="000000"/>
                </a:solidFill>
                <a:effectLst/>
              </a:rPr>
              <a:t>Healthcare, finance, and government</a:t>
            </a:r>
            <a:r>
              <a:rPr lang="en-GB" sz="1600" b="1" i="1" u="none" strike="noStrike" dirty="0">
                <a:solidFill>
                  <a:srgbClr val="000000"/>
                </a:solidFill>
                <a:effectLst/>
                <a:latin typeface="-webkit-standard"/>
              </a:rPr>
              <a:t> sectors are prime targets for cyberattacks</a:t>
            </a:r>
          </a:p>
          <a:p>
            <a:pPr marL="342900" indent="-342900" algn="l">
              <a:buFont typeface="+mj-lt"/>
              <a:buAutoNum type="arabicParenR"/>
            </a:pPr>
            <a:r>
              <a:rPr lang="en-GB" sz="1600" b="1" i="1" u="none" strike="noStrike" dirty="0">
                <a:solidFill>
                  <a:srgbClr val="000000"/>
                </a:solidFill>
                <a:effectLst/>
              </a:rPr>
              <a:t>Strong encryption, authentication, and AI-driven security</a:t>
            </a:r>
            <a:r>
              <a:rPr lang="en-GB" sz="1600" b="1" i="1" u="none" strike="noStrike" dirty="0">
                <a:solidFill>
                  <a:srgbClr val="000000"/>
                </a:solidFill>
                <a:effectLst/>
                <a:latin typeface="-webkit-standard"/>
              </a:rPr>
              <a:t> can help mitigate risks.</a:t>
            </a:r>
            <a:endParaRPr lang="en-GB" sz="1600" b="1" i="1" u="none" strike="noStrike" dirty="0">
              <a:solidFill>
                <a:srgbClr val="000000"/>
              </a:solidFill>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5849</TotalTime>
  <Words>1632</Words>
  <Application>Microsoft Macintosh PowerPoint</Application>
  <PresentationFormat>On-screen Show (16:9)</PresentationFormat>
  <Paragraphs>139</Paragraphs>
  <Slides>22</Slides>
  <Notes>22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vt:i4>
      </vt:variant>
    </vt:vector>
  </HeadingPairs>
  <TitlesOfParts>
    <vt:vector size="34" baseType="lpstr">
      <vt:lpstr>-webkit-standard</vt:lpstr>
      <vt:lpstr>Inter</vt:lpstr>
      <vt:lpstr>Arial</vt:lpstr>
      <vt:lpstr>IBM Plex Sans Arabic Medium</vt:lpstr>
      <vt:lpstr>Times New Roman</vt:lpstr>
      <vt:lpstr>IBM Plex Sans Arabic SemiBold</vt:lpstr>
      <vt:lpstr>Calibri</vt:lpstr>
      <vt:lpstr>Proxima Nova</vt:lpstr>
      <vt:lpstr>Wingdings</vt:lpstr>
      <vt:lpstr>IBM Plex Sans Arabic</vt:lpstr>
      <vt:lpstr>Tajawal</vt:lpstr>
      <vt:lpstr>Simple Light</vt:lpstr>
      <vt:lpstr>أكـــــاديميــــة طــــويـــق</vt:lpstr>
      <vt:lpstr>      Privacy and Security in Data Science </vt:lpstr>
      <vt:lpstr>PowerPoint Presentation</vt:lpstr>
      <vt:lpstr>Privacy and Security in Data Science:    </vt:lpstr>
      <vt:lpstr>Key Principles of Data Protection: The CIA Triad    </vt:lpstr>
      <vt:lpstr>The Role of AI and Data Science in Securing Personal Data     </vt:lpstr>
      <vt:lpstr>Privacy Regulations and Legal Frameworks  Organizations must comply with various global privacy laws to avoid legal consequences.  General Data Protection Regulation (GDPR)  The GDPR is the European Union’s (EU) strictest privacy law, ensuring: User consent before data collection.  Right to be forgotten – Users can request data deletion.  Data breach notification within 72 hours.  Example: If a company tracks website visitors, it must inform users and obtain explicit consent.    </vt:lpstr>
      <vt:lpstr>California Consumer Privacy Act (CCPA)      </vt:lpstr>
      <vt:lpstr>Data Protection Act and Other International Privacy Laws      </vt:lpstr>
      <vt:lpstr>Legal Responsibilities of AI Developers and Organizations      </vt:lpstr>
      <vt:lpstr> Threats to Data Privacy and Security  In today’s digital era, data privacy and security face numerous challenges due to evolving cyber threats, increasing data collection, and growing reliance on AI-driven technologies.  Organizations must understand these threats to implement effective risk mitigation strategies.  </vt:lpstr>
      <vt:lpstr>Data Breaches, Unauthorized Access, and Malicious Attacks      </vt:lpstr>
      <vt:lpstr>Unauthorized Access and Malicious Attacks      </vt:lpstr>
      <vt:lpstr>Risks in Cloud Computing      </vt:lpstr>
      <vt:lpstr>Risks in IoT Systems      </vt:lpstr>
      <vt:lpstr>Risks in AI Systems      </vt:lpstr>
      <vt:lpstr>Privacy Concerns in Sensitive Sectors (Healthcare, Finance, Government) Certain industries handle extremely sensitive data, making them high-risk targets for cyberattacks and privacy violations.      </vt:lpstr>
      <vt:lpstr>Privacy Concerns in Sensitive Sectors-Finance      </vt:lpstr>
      <vt:lpstr>Privacy Concerns in Sensitive Sectors-Government      </vt:lpstr>
      <vt:lpstr>RECAP </vt:lpstr>
      <vt:lpstr>الشراكات العالمية</vt:lpstr>
      <vt:lpstr>شــــــكــــرًا لكــــــم</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keywords/>
  <dc:description/>
  <cp:lastModifiedBy>Afshan Hashmi</cp:lastModifiedBy>
  <cp:revision>22</cp:revision>
  <dcterms:modified xsi:type="dcterms:W3CDTF">2025-03-11T13:55:24Z</dcterms:modified>
  <cp:category/>
</cp:coreProperties>
</file>