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83" r:id="rId4"/>
    <p:sldId id="278" r:id="rId5"/>
    <p:sldId id="262" r:id="rId6"/>
    <p:sldId id="292" r:id="rId7"/>
    <p:sldId id="263" r:id="rId8"/>
    <p:sldId id="264" r:id="rId9"/>
    <p:sldId id="280" r:id="rId10"/>
    <p:sldId id="281" r:id="rId11"/>
    <p:sldId id="279" r:id="rId12"/>
    <p:sldId id="284" r:id="rId13"/>
    <p:sldId id="286" r:id="rId14"/>
    <p:sldId id="287" r:id="rId15"/>
    <p:sldId id="288" r:id="rId16"/>
    <p:sldId id="293" r:id="rId17"/>
    <p:sldId id="294" r:id="rId18"/>
    <p:sldId id="289" r:id="rId19"/>
    <p:sldId id="275" r:id="rId20"/>
    <p:sldId id="276" r:id="rId21"/>
  </p:sldIdLst>
  <p:sldSz cx="9144000" cy="5143500" type="screen16x9"/>
  <p:notesSz cx="6858000" cy="9144000"/>
  <p:embeddedFontLst>
    <p:embeddedFont>
      <p:font typeface="IBM Plex Sans Arabic" panose="020B0603050203000203" pitchFamily="34" charset="-78"/>
      <p:regular r:id="rId23"/>
      <p:bold r:id="rId24"/>
    </p:embeddedFont>
    <p:embeddedFont>
      <p:font typeface="IBM Plex Sans Arabic Medium" panose="020B0603050203000203" pitchFamily="34" charset="-78"/>
      <p:regular r:id="rId25"/>
      <p:bold r:id="rId26"/>
    </p:embeddedFont>
    <p:embeddedFont>
      <p:font typeface="IBM Plex Sans Arabic SemiBold" panose="020B0603050203000203" pitchFamily="34" charset="-78"/>
      <p:regular r:id="rId27"/>
      <p:bold r:id="rId28"/>
    </p:embeddedFont>
    <p:embeddedFont>
      <p:font typeface="Inter" panose="02000503000000020004" pitchFamily="2" charset="0"/>
      <p:regular r:id="rId29"/>
      <p:bold r:id="rId30"/>
      <p:italic r:id="rId31"/>
      <p:boldItalic r:id="rId32"/>
    </p:embeddedFont>
    <p:embeddedFont>
      <p:font typeface="Tajawal" pitchFamily="2" charset="-78"/>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3"/>
    <p:restoredTop sz="94793"/>
  </p:normalViewPr>
  <p:slideViewPr>
    <p:cSldViewPr snapToGrid="0">
      <p:cViewPr varScale="1">
        <p:scale>
          <a:sx n="169" d="100"/>
          <a:sy n="169" d="100"/>
        </p:scale>
        <p:origin x="208" y="480"/>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52277A-C334-9444-96D0-464C01C35DBC}" type="doc">
      <dgm:prSet loTypeId="urn:microsoft.com/office/officeart/2005/8/layout/radial3" loCatId="" qsTypeId="urn:microsoft.com/office/officeart/2005/8/quickstyle/simple1" qsCatId="simple" csTypeId="urn:microsoft.com/office/officeart/2005/8/colors/colorful1" csCatId="colorful" phldr="1"/>
      <dgm:spPr/>
      <dgm:t>
        <a:bodyPr/>
        <a:lstStyle/>
        <a:p>
          <a:endParaRPr lang="en-GB"/>
        </a:p>
      </dgm:t>
    </dgm:pt>
    <dgm:pt modelId="{0EEF179C-44BD-5C47-87BF-94F2E363CAD5}">
      <dgm:prSet phldrT="[Text]"/>
      <dgm:spPr/>
      <dgm:t>
        <a:bodyPr/>
        <a:lstStyle/>
        <a:p>
          <a:pPr rtl="0"/>
          <a:r>
            <a:rPr lang="en-GB" dirty="0"/>
            <a:t>Accountability</a:t>
          </a:r>
        </a:p>
      </dgm:t>
    </dgm:pt>
    <dgm:pt modelId="{2D74B149-0F79-C94C-B677-65E8F223AC61}" type="parTrans" cxnId="{CD6BFB2A-82E0-F747-B653-CC0031BCA886}">
      <dgm:prSet/>
      <dgm:spPr/>
      <dgm:t>
        <a:bodyPr/>
        <a:lstStyle/>
        <a:p>
          <a:endParaRPr lang="en-GB"/>
        </a:p>
      </dgm:t>
    </dgm:pt>
    <dgm:pt modelId="{656EF3CF-2855-2E4C-9C1A-751120C126E1}" type="sibTrans" cxnId="{CD6BFB2A-82E0-F747-B653-CC0031BCA886}">
      <dgm:prSet/>
      <dgm:spPr/>
      <dgm:t>
        <a:bodyPr/>
        <a:lstStyle/>
        <a:p>
          <a:endParaRPr lang="en-GB"/>
        </a:p>
      </dgm:t>
    </dgm:pt>
    <dgm:pt modelId="{783BBEF3-6B8F-F147-9512-ADBCCCD2567A}">
      <dgm:prSet phldrT="[Text]" custT="1"/>
      <dgm:spPr/>
      <dgm:t>
        <a:bodyPr/>
        <a:lstStyle/>
        <a:p>
          <a:pPr rtl="0"/>
          <a:r>
            <a:rPr lang="en-GB" sz="1000" b="1" dirty="0"/>
            <a:t>Transparency</a:t>
          </a:r>
        </a:p>
      </dgm:t>
    </dgm:pt>
    <dgm:pt modelId="{F3DEAE60-3B62-CC43-8357-06338E7B521B}" type="parTrans" cxnId="{115E42D1-97B0-EB47-95BF-6EAC08034A01}">
      <dgm:prSet/>
      <dgm:spPr/>
      <dgm:t>
        <a:bodyPr/>
        <a:lstStyle/>
        <a:p>
          <a:endParaRPr lang="en-GB"/>
        </a:p>
      </dgm:t>
    </dgm:pt>
    <dgm:pt modelId="{71D5DDA8-BB3C-0F46-9B72-9775B5FDE2B4}" type="sibTrans" cxnId="{115E42D1-97B0-EB47-95BF-6EAC08034A01}">
      <dgm:prSet/>
      <dgm:spPr/>
      <dgm:t>
        <a:bodyPr/>
        <a:lstStyle/>
        <a:p>
          <a:endParaRPr lang="en-GB"/>
        </a:p>
      </dgm:t>
    </dgm:pt>
    <dgm:pt modelId="{4FC0F3D8-BAFC-4C4E-A40D-9B964CCF239B}">
      <dgm:prSet phldrT="[Text]"/>
      <dgm:spPr/>
      <dgm:t>
        <a:bodyPr/>
        <a:lstStyle/>
        <a:p>
          <a:pPr rtl="0"/>
          <a:r>
            <a:rPr lang="en-GB" b="1" dirty="0"/>
            <a:t>Compliance</a:t>
          </a:r>
        </a:p>
      </dgm:t>
    </dgm:pt>
    <dgm:pt modelId="{88A8118C-93B9-B545-9474-5C9D40A66502}" type="parTrans" cxnId="{A08C880B-A5DF-F344-AEA7-2503E0538134}">
      <dgm:prSet/>
      <dgm:spPr/>
      <dgm:t>
        <a:bodyPr/>
        <a:lstStyle/>
        <a:p>
          <a:endParaRPr lang="en-GB"/>
        </a:p>
      </dgm:t>
    </dgm:pt>
    <dgm:pt modelId="{BA4C6D3B-3535-684B-AFDD-2DD19890DCE3}" type="sibTrans" cxnId="{A08C880B-A5DF-F344-AEA7-2503E0538134}">
      <dgm:prSet/>
      <dgm:spPr/>
      <dgm:t>
        <a:bodyPr/>
        <a:lstStyle/>
        <a:p>
          <a:endParaRPr lang="en-GB"/>
        </a:p>
      </dgm:t>
    </dgm:pt>
    <dgm:pt modelId="{62048743-0058-8349-9796-7F8A94F22DED}">
      <dgm:prSet phldrT="[Text]"/>
      <dgm:spPr/>
      <dgm:t>
        <a:bodyPr/>
        <a:lstStyle/>
        <a:p>
          <a:pPr rtl="0"/>
          <a:r>
            <a:rPr lang="en-GB" b="1" dirty="0"/>
            <a:t>Responsibility</a:t>
          </a:r>
        </a:p>
      </dgm:t>
    </dgm:pt>
    <dgm:pt modelId="{5AA3D0A0-F152-2D46-A0F7-8B393E2DE45D}" type="parTrans" cxnId="{9B547DBF-22E0-8B46-9495-9C9D127F646A}">
      <dgm:prSet/>
      <dgm:spPr/>
      <dgm:t>
        <a:bodyPr/>
        <a:lstStyle/>
        <a:p>
          <a:endParaRPr lang="en-GB"/>
        </a:p>
      </dgm:t>
    </dgm:pt>
    <dgm:pt modelId="{23AC85D9-EDF0-5441-A6A3-F64793E0545A}" type="sibTrans" cxnId="{9B547DBF-22E0-8B46-9495-9C9D127F646A}">
      <dgm:prSet/>
      <dgm:spPr/>
      <dgm:t>
        <a:bodyPr/>
        <a:lstStyle/>
        <a:p>
          <a:endParaRPr lang="en-GB"/>
        </a:p>
      </dgm:t>
    </dgm:pt>
    <dgm:pt modelId="{A8C448A3-57ED-404D-A8D8-A8DC56CF3396}">
      <dgm:prSet phldrT="[Text]"/>
      <dgm:spPr/>
      <dgm:t>
        <a:bodyPr/>
        <a:lstStyle/>
        <a:p>
          <a:pPr rtl="0"/>
          <a:r>
            <a:rPr lang="en-GB" b="1" dirty="0"/>
            <a:t>Fairness</a:t>
          </a:r>
        </a:p>
      </dgm:t>
    </dgm:pt>
    <dgm:pt modelId="{146B2555-065A-A147-BCBE-AE4EE14AC321}" type="parTrans" cxnId="{592C4FAA-3E59-8549-9EE7-464240928BCA}">
      <dgm:prSet/>
      <dgm:spPr/>
      <dgm:t>
        <a:bodyPr/>
        <a:lstStyle/>
        <a:p>
          <a:endParaRPr lang="en-GB"/>
        </a:p>
      </dgm:t>
    </dgm:pt>
    <dgm:pt modelId="{496394EA-14F2-D943-AC63-D892B280AC1D}" type="sibTrans" cxnId="{592C4FAA-3E59-8549-9EE7-464240928BCA}">
      <dgm:prSet/>
      <dgm:spPr/>
      <dgm:t>
        <a:bodyPr/>
        <a:lstStyle/>
        <a:p>
          <a:endParaRPr lang="en-GB"/>
        </a:p>
      </dgm:t>
    </dgm:pt>
    <dgm:pt modelId="{30DD18E2-8ED4-BB4E-A48E-28CA1463E916}" type="pres">
      <dgm:prSet presAssocID="{1352277A-C334-9444-96D0-464C01C35DBC}" presName="composite" presStyleCnt="0">
        <dgm:presLayoutVars>
          <dgm:chMax val="1"/>
          <dgm:dir/>
          <dgm:resizeHandles val="exact"/>
        </dgm:presLayoutVars>
      </dgm:prSet>
      <dgm:spPr/>
    </dgm:pt>
    <dgm:pt modelId="{833D8BD2-3E3A-3C42-B9BE-653266DC7275}" type="pres">
      <dgm:prSet presAssocID="{1352277A-C334-9444-96D0-464C01C35DBC}" presName="radial" presStyleCnt="0">
        <dgm:presLayoutVars>
          <dgm:animLvl val="ctr"/>
        </dgm:presLayoutVars>
      </dgm:prSet>
      <dgm:spPr/>
    </dgm:pt>
    <dgm:pt modelId="{E10A719A-8D7C-F345-8C16-875132CEE1AC}" type="pres">
      <dgm:prSet presAssocID="{0EEF179C-44BD-5C47-87BF-94F2E363CAD5}" presName="centerShape" presStyleLbl="vennNode1" presStyleIdx="0" presStyleCnt="5" custScaleX="83964" custScaleY="85411"/>
      <dgm:spPr/>
    </dgm:pt>
    <dgm:pt modelId="{D9845A9E-6FCE-9D41-88ED-45704C44795B}" type="pres">
      <dgm:prSet presAssocID="{783BBEF3-6B8F-F147-9512-ADBCCCD2567A}" presName="node" presStyleLbl="vennNode1" presStyleIdx="1" presStyleCnt="5" custScaleX="140437" custRadScaleRad="93824" custRadScaleInc="349">
        <dgm:presLayoutVars>
          <dgm:bulletEnabled val="1"/>
        </dgm:presLayoutVars>
      </dgm:prSet>
      <dgm:spPr/>
    </dgm:pt>
    <dgm:pt modelId="{493F4CAE-FA6D-B945-A775-17B491CC1299}" type="pres">
      <dgm:prSet presAssocID="{4FC0F3D8-BAFC-4C4E-A40D-9B964CCF239B}" presName="node" presStyleLbl="vennNode1" presStyleIdx="2" presStyleCnt="5" custScaleX="125419">
        <dgm:presLayoutVars>
          <dgm:bulletEnabled val="1"/>
        </dgm:presLayoutVars>
      </dgm:prSet>
      <dgm:spPr/>
    </dgm:pt>
    <dgm:pt modelId="{C520A03E-649D-6C4A-B2A0-DFE25E859C31}" type="pres">
      <dgm:prSet presAssocID="{62048743-0058-8349-9796-7F8A94F22DED}" presName="node" presStyleLbl="vennNode1" presStyleIdx="3" presStyleCnt="5" custScaleX="131244" custRadScaleRad="91765" custRadScaleInc="357">
        <dgm:presLayoutVars>
          <dgm:bulletEnabled val="1"/>
        </dgm:presLayoutVars>
      </dgm:prSet>
      <dgm:spPr/>
    </dgm:pt>
    <dgm:pt modelId="{0EA2F3BA-85EC-D54E-B511-6471C32B012E}" type="pres">
      <dgm:prSet presAssocID="{A8C448A3-57ED-404D-A8D8-A8DC56CF3396}" presName="node" presStyleLbl="vennNode1" presStyleIdx="4" presStyleCnt="5" custScaleX="129889">
        <dgm:presLayoutVars>
          <dgm:bulletEnabled val="1"/>
        </dgm:presLayoutVars>
      </dgm:prSet>
      <dgm:spPr/>
    </dgm:pt>
  </dgm:ptLst>
  <dgm:cxnLst>
    <dgm:cxn modelId="{A08C880B-A5DF-F344-AEA7-2503E0538134}" srcId="{0EEF179C-44BD-5C47-87BF-94F2E363CAD5}" destId="{4FC0F3D8-BAFC-4C4E-A40D-9B964CCF239B}" srcOrd="1" destOrd="0" parTransId="{88A8118C-93B9-B545-9474-5C9D40A66502}" sibTransId="{BA4C6D3B-3535-684B-AFDD-2DD19890DCE3}"/>
    <dgm:cxn modelId="{FFB2880D-4A85-C14D-9DC5-FD173290EE92}" type="presOf" srcId="{1352277A-C334-9444-96D0-464C01C35DBC}" destId="{30DD18E2-8ED4-BB4E-A48E-28CA1463E916}" srcOrd="0" destOrd="0" presId="urn:microsoft.com/office/officeart/2005/8/layout/radial3"/>
    <dgm:cxn modelId="{890D4822-D128-E149-91BE-3A57B42A82D1}" type="presOf" srcId="{4FC0F3D8-BAFC-4C4E-A40D-9B964CCF239B}" destId="{493F4CAE-FA6D-B945-A775-17B491CC1299}" srcOrd="0" destOrd="0" presId="urn:microsoft.com/office/officeart/2005/8/layout/radial3"/>
    <dgm:cxn modelId="{CD6BFB2A-82E0-F747-B653-CC0031BCA886}" srcId="{1352277A-C334-9444-96D0-464C01C35DBC}" destId="{0EEF179C-44BD-5C47-87BF-94F2E363CAD5}" srcOrd="0" destOrd="0" parTransId="{2D74B149-0F79-C94C-B677-65E8F223AC61}" sibTransId="{656EF3CF-2855-2E4C-9C1A-751120C126E1}"/>
    <dgm:cxn modelId="{0E16BA66-DA85-7C49-BE94-E21063AF059A}" type="presOf" srcId="{62048743-0058-8349-9796-7F8A94F22DED}" destId="{C520A03E-649D-6C4A-B2A0-DFE25E859C31}" srcOrd="0" destOrd="0" presId="urn:microsoft.com/office/officeart/2005/8/layout/radial3"/>
    <dgm:cxn modelId="{592C4FAA-3E59-8549-9EE7-464240928BCA}" srcId="{0EEF179C-44BD-5C47-87BF-94F2E363CAD5}" destId="{A8C448A3-57ED-404D-A8D8-A8DC56CF3396}" srcOrd="3" destOrd="0" parTransId="{146B2555-065A-A147-BCBE-AE4EE14AC321}" sibTransId="{496394EA-14F2-D943-AC63-D892B280AC1D}"/>
    <dgm:cxn modelId="{D1BF73B5-AFC4-6C41-B12E-9F480A883068}" type="presOf" srcId="{A8C448A3-57ED-404D-A8D8-A8DC56CF3396}" destId="{0EA2F3BA-85EC-D54E-B511-6471C32B012E}" srcOrd="0" destOrd="0" presId="urn:microsoft.com/office/officeart/2005/8/layout/radial3"/>
    <dgm:cxn modelId="{50C1A3B8-EBF2-C945-AFC9-37E903281C82}" type="presOf" srcId="{783BBEF3-6B8F-F147-9512-ADBCCCD2567A}" destId="{D9845A9E-6FCE-9D41-88ED-45704C44795B}" srcOrd="0" destOrd="0" presId="urn:microsoft.com/office/officeart/2005/8/layout/radial3"/>
    <dgm:cxn modelId="{9B547DBF-22E0-8B46-9495-9C9D127F646A}" srcId="{0EEF179C-44BD-5C47-87BF-94F2E363CAD5}" destId="{62048743-0058-8349-9796-7F8A94F22DED}" srcOrd="2" destOrd="0" parTransId="{5AA3D0A0-F152-2D46-A0F7-8B393E2DE45D}" sibTransId="{23AC85D9-EDF0-5441-A6A3-F64793E0545A}"/>
    <dgm:cxn modelId="{6365A6C2-2814-8C41-938A-D6C238BDF8ED}" type="presOf" srcId="{0EEF179C-44BD-5C47-87BF-94F2E363CAD5}" destId="{E10A719A-8D7C-F345-8C16-875132CEE1AC}" srcOrd="0" destOrd="0" presId="urn:microsoft.com/office/officeart/2005/8/layout/radial3"/>
    <dgm:cxn modelId="{115E42D1-97B0-EB47-95BF-6EAC08034A01}" srcId="{0EEF179C-44BD-5C47-87BF-94F2E363CAD5}" destId="{783BBEF3-6B8F-F147-9512-ADBCCCD2567A}" srcOrd="0" destOrd="0" parTransId="{F3DEAE60-3B62-CC43-8357-06338E7B521B}" sibTransId="{71D5DDA8-BB3C-0F46-9B72-9775B5FDE2B4}"/>
    <dgm:cxn modelId="{1A7F1009-EC05-9044-9528-4F3BDE94F95B}" type="presParOf" srcId="{30DD18E2-8ED4-BB4E-A48E-28CA1463E916}" destId="{833D8BD2-3E3A-3C42-B9BE-653266DC7275}" srcOrd="0" destOrd="0" presId="urn:microsoft.com/office/officeart/2005/8/layout/radial3"/>
    <dgm:cxn modelId="{ACB706E9-1466-BF41-B9E2-8D7857AFA669}" type="presParOf" srcId="{833D8BD2-3E3A-3C42-B9BE-653266DC7275}" destId="{E10A719A-8D7C-F345-8C16-875132CEE1AC}" srcOrd="0" destOrd="0" presId="urn:microsoft.com/office/officeart/2005/8/layout/radial3"/>
    <dgm:cxn modelId="{4A87629F-8415-A543-9919-35840D3B5004}" type="presParOf" srcId="{833D8BD2-3E3A-3C42-B9BE-653266DC7275}" destId="{D9845A9E-6FCE-9D41-88ED-45704C44795B}" srcOrd="1" destOrd="0" presId="urn:microsoft.com/office/officeart/2005/8/layout/radial3"/>
    <dgm:cxn modelId="{06AB9A42-D7B8-7E49-9335-BCC4F209D26F}" type="presParOf" srcId="{833D8BD2-3E3A-3C42-B9BE-653266DC7275}" destId="{493F4CAE-FA6D-B945-A775-17B491CC1299}" srcOrd="2" destOrd="0" presId="urn:microsoft.com/office/officeart/2005/8/layout/radial3"/>
    <dgm:cxn modelId="{04B11335-E646-8148-865E-32D16E06B8AC}" type="presParOf" srcId="{833D8BD2-3E3A-3C42-B9BE-653266DC7275}" destId="{C520A03E-649D-6C4A-B2A0-DFE25E859C31}" srcOrd="3" destOrd="0" presId="urn:microsoft.com/office/officeart/2005/8/layout/radial3"/>
    <dgm:cxn modelId="{C5FEA9EE-6071-C249-B3AA-3AA8E836B1C5}" type="presParOf" srcId="{833D8BD2-3E3A-3C42-B9BE-653266DC7275}" destId="{0EA2F3BA-85EC-D54E-B511-6471C32B012E}" srcOrd="4" destOrd="0" presId="urn:microsoft.com/office/officeart/2005/8/layout/radial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0A719A-8D7C-F345-8C16-875132CEE1AC}">
      <dsp:nvSpPr>
        <dsp:cNvPr id="0" name=""/>
        <dsp:cNvSpPr/>
      </dsp:nvSpPr>
      <dsp:spPr>
        <a:xfrm>
          <a:off x="1764703" y="919189"/>
          <a:ext cx="1627031" cy="1655070"/>
        </a:xfrm>
        <a:prstGeom prst="ellipse">
          <a:avLst/>
        </a:prstGeom>
        <a:solidFill>
          <a:schemeClr val="accent2">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rtl="0">
            <a:lnSpc>
              <a:spcPct val="90000"/>
            </a:lnSpc>
            <a:spcBef>
              <a:spcPct val="0"/>
            </a:spcBef>
            <a:spcAft>
              <a:spcPct val="35000"/>
            </a:spcAft>
            <a:buNone/>
          </a:pPr>
          <a:r>
            <a:rPr lang="en-GB" sz="1400" kern="1200" dirty="0"/>
            <a:t>Accountability</a:t>
          </a:r>
        </a:p>
      </dsp:txBody>
      <dsp:txXfrm>
        <a:off x="2002976" y="1161568"/>
        <a:ext cx="1150485" cy="1170312"/>
      </dsp:txXfrm>
    </dsp:sp>
    <dsp:sp modelId="{D9845A9E-6FCE-9D41-88ED-45704C44795B}">
      <dsp:nvSpPr>
        <dsp:cNvPr id="0" name=""/>
        <dsp:cNvSpPr/>
      </dsp:nvSpPr>
      <dsp:spPr>
        <a:xfrm>
          <a:off x="1904372" y="78300"/>
          <a:ext cx="1360674" cy="968886"/>
        </a:xfrm>
        <a:prstGeom prst="ellipse">
          <a:avLst/>
        </a:prstGeom>
        <a:solidFill>
          <a:schemeClr val="accent3">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rtl="0">
            <a:lnSpc>
              <a:spcPct val="90000"/>
            </a:lnSpc>
            <a:spcBef>
              <a:spcPct val="0"/>
            </a:spcBef>
            <a:spcAft>
              <a:spcPct val="35000"/>
            </a:spcAft>
            <a:buNone/>
          </a:pPr>
          <a:r>
            <a:rPr lang="en-GB" sz="1000" b="1" kern="1200" dirty="0"/>
            <a:t>Transparency</a:t>
          </a:r>
        </a:p>
      </dsp:txBody>
      <dsp:txXfrm>
        <a:off x="2103638" y="220190"/>
        <a:ext cx="962142" cy="685106"/>
      </dsp:txXfrm>
    </dsp:sp>
    <dsp:sp modelId="{493F4CAE-FA6D-B945-A775-17B491CC1299}">
      <dsp:nvSpPr>
        <dsp:cNvPr id="0" name=""/>
        <dsp:cNvSpPr/>
      </dsp:nvSpPr>
      <dsp:spPr>
        <a:xfrm>
          <a:off x="3232570" y="1262281"/>
          <a:ext cx="1215167" cy="968886"/>
        </a:xfrm>
        <a:prstGeom prst="ellipse">
          <a:avLst/>
        </a:prstGeom>
        <a:solidFill>
          <a:schemeClr val="accent4">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rtl="0">
            <a:lnSpc>
              <a:spcPct val="90000"/>
            </a:lnSpc>
            <a:spcBef>
              <a:spcPct val="0"/>
            </a:spcBef>
            <a:spcAft>
              <a:spcPct val="35000"/>
            </a:spcAft>
            <a:buNone/>
          </a:pPr>
          <a:r>
            <a:rPr lang="en-GB" sz="1000" b="1" kern="1200" dirty="0"/>
            <a:t>Compliance</a:t>
          </a:r>
        </a:p>
      </dsp:txBody>
      <dsp:txXfrm>
        <a:off x="3410527" y="1404171"/>
        <a:ext cx="859253" cy="685106"/>
      </dsp:txXfrm>
    </dsp:sp>
    <dsp:sp modelId="{C520A03E-649D-6C4A-B2A0-DFE25E859C31}">
      <dsp:nvSpPr>
        <dsp:cNvPr id="0" name=""/>
        <dsp:cNvSpPr/>
      </dsp:nvSpPr>
      <dsp:spPr>
        <a:xfrm>
          <a:off x="1935922" y="2420278"/>
          <a:ext cx="1271605" cy="968886"/>
        </a:xfrm>
        <a:prstGeom prst="ellipse">
          <a:avLst/>
        </a:prstGeom>
        <a:solidFill>
          <a:schemeClr val="accent5">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rtl="0">
            <a:lnSpc>
              <a:spcPct val="90000"/>
            </a:lnSpc>
            <a:spcBef>
              <a:spcPct val="0"/>
            </a:spcBef>
            <a:spcAft>
              <a:spcPct val="35000"/>
            </a:spcAft>
            <a:buNone/>
          </a:pPr>
          <a:r>
            <a:rPr lang="en-GB" sz="1000" b="1" kern="1200" dirty="0"/>
            <a:t>Responsibility</a:t>
          </a:r>
        </a:p>
      </dsp:txBody>
      <dsp:txXfrm>
        <a:off x="2122144" y="2562168"/>
        <a:ext cx="899161" cy="685106"/>
      </dsp:txXfrm>
    </dsp:sp>
    <dsp:sp modelId="{0EA2F3BA-85EC-D54E-B511-6471C32B012E}">
      <dsp:nvSpPr>
        <dsp:cNvPr id="0" name=""/>
        <dsp:cNvSpPr/>
      </dsp:nvSpPr>
      <dsp:spPr>
        <a:xfrm>
          <a:off x="687044" y="1262281"/>
          <a:ext cx="1258476" cy="968886"/>
        </a:xfrm>
        <a:prstGeom prst="ellipse">
          <a:avLst/>
        </a:prstGeom>
        <a:solidFill>
          <a:schemeClr val="accent6">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rtl="0">
            <a:lnSpc>
              <a:spcPct val="90000"/>
            </a:lnSpc>
            <a:spcBef>
              <a:spcPct val="0"/>
            </a:spcBef>
            <a:spcAft>
              <a:spcPct val="35000"/>
            </a:spcAft>
            <a:buNone/>
          </a:pPr>
          <a:r>
            <a:rPr lang="en-GB" sz="1000" b="1" kern="1200" dirty="0"/>
            <a:t>Fairness</a:t>
          </a:r>
        </a:p>
      </dsp:txBody>
      <dsp:txXfrm>
        <a:off x="871344" y="1404171"/>
        <a:ext cx="889876" cy="685106"/>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4A78B76-62B2-720F-0663-7EA9E4AF05F7}"/>
            </a:ext>
          </a:extLst>
        </p:cNvPr>
        <p:cNvGrpSpPr/>
        <p:nvPr/>
      </p:nvGrpSpPr>
      <p:grpSpPr>
        <a:xfrm>
          <a:off x="0" y="0"/>
          <a:ext cx="0" cy="0"/>
          <a:chOff x="0" y="0"/>
          <a:chExt cx="0" cy="0"/>
        </a:xfrm>
      </p:grpSpPr>
      <p:sp>
        <p:nvSpPr>
          <p:cNvPr id="72" name="Google Shape;72;p6:notes">
            <a:extLst>
              <a:ext uri="{FF2B5EF4-FFF2-40B4-BE49-F238E27FC236}">
                <a16:creationId xmlns:a16="http://schemas.microsoft.com/office/drawing/2014/main" id="{E71FD78D-B2F4-061B-E2CF-D4645C7CE3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6:notes">
            <a:extLst>
              <a:ext uri="{FF2B5EF4-FFF2-40B4-BE49-F238E27FC236}">
                <a16:creationId xmlns:a16="http://schemas.microsoft.com/office/drawing/2014/main" id="{2D5F95AC-4BE9-592F-B9CC-7EA3E132D1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3514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D82F4D5-5853-07FD-2199-CF629C1E6F27}"/>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A5E79214-84F8-463E-D64F-5E872F41B0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03F9BAED-5DA9-7F99-470C-EBFFC5653A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67668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72FD3765-EAED-DEAA-F202-47452EF58FF8}"/>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A4B8B846-D594-5968-110D-4A6C32ADC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36F71B47-EEE0-462C-30C8-4394CB3D93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4974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CC258A9D-A903-972A-54CE-191CD3C10309}"/>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513CD135-D317-19AE-28B2-DAB058C91C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F4A13D7A-CEED-A744-F91A-9267CBA636C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53519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D632F3D-C937-B6D2-C266-CA14125B3DCE}"/>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CAEA659F-F76B-70DA-33BF-98B5D905DC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5484CAF9-1631-9FBF-768B-787DB0C586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17096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82E6920-2EEF-E0D1-546F-C119C60710AF}"/>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DF327807-D769-2175-6002-8EAEFBBD34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3C8EDC11-8B4E-02C1-CCC5-1A828AAA92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46904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1F366E2B-6EF7-E128-12B7-5EBAB3D95E57}"/>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FF80D989-6FDB-5096-B9E8-A147B8488B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4F86F0BB-F739-1D33-DF6E-0619D16485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19986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568F3FF7-57ED-6100-7207-13968CEAA36F}"/>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C61CDB08-F25F-50EF-326D-44EDC1FF1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8ABCAAE0-BBAE-4CED-3719-0FF98D0F7ED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08317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7E5E2CAE-6A32-4070-3FAB-D0BA5959C026}"/>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FFBAFEC9-DD6E-4D42-928D-66937B9090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B24DBEFE-2914-C55C-33B6-9266095E7D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18926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786AEBA3-2109-0D7A-8EF9-CBCA57B2EA5B}"/>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6DBB3098-C543-30C8-FC59-1A27AA07D2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1BF1C6ED-0F83-1BB9-9CDB-7672E97141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71908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6F0482B9-E692-E927-3803-F864DC96D7F6}"/>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991A8FFB-E9DD-B3F1-0E8F-82DBC09470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1EA8993B-4DCE-1C53-E598-9C7A11FA0C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86716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5D28E7B-C9E8-3B56-8C96-718E946CE5C6}"/>
            </a:ext>
          </a:extLst>
        </p:cNvPr>
        <p:cNvGrpSpPr/>
        <p:nvPr/>
      </p:nvGrpSpPr>
      <p:grpSpPr>
        <a:xfrm>
          <a:off x="0" y="0"/>
          <a:ext cx="0" cy="0"/>
          <a:chOff x="0" y="0"/>
          <a:chExt cx="0" cy="0"/>
        </a:xfrm>
      </p:grpSpPr>
      <p:sp>
        <p:nvSpPr>
          <p:cNvPr id="96" name="Google Shape;96;p9:notes">
            <a:extLst>
              <a:ext uri="{FF2B5EF4-FFF2-40B4-BE49-F238E27FC236}">
                <a16:creationId xmlns:a16="http://schemas.microsoft.com/office/drawing/2014/main" id="{DC624886-4FC1-3291-BB9E-B490626705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a:extLst>
              <a:ext uri="{FF2B5EF4-FFF2-40B4-BE49-F238E27FC236}">
                <a16:creationId xmlns:a16="http://schemas.microsoft.com/office/drawing/2014/main" id="{04E35F8C-FFE3-1542-45F5-A66142ADE0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621296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29"/>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SzPts val="2500"/>
              <a:buNone/>
              <a:defRPr/>
            </a:lvl1pPr>
            <a:lvl2pPr lvl="1" algn="l" rtl="1">
              <a:lnSpc>
                <a:spcPct val="100000"/>
              </a:lnSpc>
              <a:spcBef>
                <a:spcPts val="0"/>
              </a:spcBef>
              <a:spcAft>
                <a:spcPts val="0"/>
              </a:spcAft>
              <a:buSzPts val="2800"/>
              <a:buNone/>
              <a:defRPr/>
            </a:lvl2pPr>
            <a:lvl3pPr lvl="2" algn="l" rtl="1">
              <a:lnSpc>
                <a:spcPct val="100000"/>
              </a:lnSpc>
              <a:spcBef>
                <a:spcPts val="0"/>
              </a:spcBef>
              <a:spcAft>
                <a:spcPts val="0"/>
              </a:spcAft>
              <a:buSzPts val="2800"/>
              <a:buNone/>
              <a:defRPr/>
            </a:lvl3pPr>
            <a:lvl4pPr lvl="3" algn="l" rtl="1">
              <a:lnSpc>
                <a:spcPct val="100000"/>
              </a:lnSpc>
              <a:spcBef>
                <a:spcPts val="0"/>
              </a:spcBef>
              <a:spcAft>
                <a:spcPts val="0"/>
              </a:spcAft>
              <a:buSzPts val="2800"/>
              <a:buNone/>
              <a:defRPr/>
            </a:lvl4pPr>
            <a:lvl5pPr lvl="4" algn="l" rtl="1">
              <a:lnSpc>
                <a:spcPct val="100000"/>
              </a:lnSpc>
              <a:spcBef>
                <a:spcPts val="0"/>
              </a:spcBef>
              <a:spcAft>
                <a:spcPts val="0"/>
              </a:spcAft>
              <a:buSzPts val="2800"/>
              <a:buNone/>
              <a:defRPr/>
            </a:lvl5pPr>
            <a:lvl6pPr lvl="5" algn="l" rtl="1">
              <a:lnSpc>
                <a:spcPct val="100000"/>
              </a:lnSpc>
              <a:spcBef>
                <a:spcPts val="0"/>
              </a:spcBef>
              <a:spcAft>
                <a:spcPts val="0"/>
              </a:spcAft>
              <a:buSzPts val="2800"/>
              <a:buNone/>
              <a:defRPr/>
            </a:lvl6pPr>
            <a:lvl7pPr lvl="6" algn="l" rtl="1">
              <a:lnSpc>
                <a:spcPct val="100000"/>
              </a:lnSpc>
              <a:spcBef>
                <a:spcPts val="0"/>
              </a:spcBef>
              <a:spcAft>
                <a:spcPts val="0"/>
              </a:spcAft>
              <a:buSzPts val="2800"/>
              <a:buNone/>
              <a:defRPr/>
            </a:lvl7pPr>
            <a:lvl8pPr lvl="7" algn="l" rtl="1">
              <a:lnSpc>
                <a:spcPct val="100000"/>
              </a:lnSpc>
              <a:spcBef>
                <a:spcPts val="0"/>
              </a:spcBef>
              <a:spcAft>
                <a:spcPts val="0"/>
              </a:spcAft>
              <a:buSzPts val="2800"/>
              <a:buNone/>
              <a:defRPr/>
            </a:lvl8pPr>
            <a:lvl9pPr lvl="8" algn="l" rtl="1">
              <a:lnSpc>
                <a:spcPct val="100000"/>
              </a:lnSpc>
              <a:spcBef>
                <a:spcPts val="0"/>
              </a:spcBef>
              <a:spcAft>
                <a:spcPts val="0"/>
              </a:spcAft>
              <a:buSzPts val="2800"/>
              <a:buNone/>
              <a:defRPr/>
            </a:lvl9pPr>
          </a:lstStyle>
          <a:p>
            <a:endParaRPr/>
          </a:p>
        </p:txBody>
      </p:sp>
      <p:sp>
        <p:nvSpPr>
          <p:cNvPr id="32" name="Google Shape;32;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3" name="Google Shape;33;p29"/>
          <p:cNvPicPr preferRelativeResize="0"/>
          <p:nvPr/>
        </p:nvPicPr>
        <p:blipFill rotWithShape="1">
          <a:blip r:embed="rId2">
            <a:alphaModFix/>
          </a:blip>
          <a:srcRect/>
          <a:stretch/>
        </p:blipFill>
        <p:spPr>
          <a:xfrm>
            <a:off x="7959271" y="4703039"/>
            <a:ext cx="946580" cy="21398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1">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8.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hyperlink" Target="https://analytics-news.jp/info/article.html?oid=6496" TargetMode="External"/><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hyperlink" Target="https://www.wallpaperflare.com/search?wallpaper=cyberspace&amp;page=2" TargetMode="External"/><Relationship Id="rId4" Type="http://schemas.openxmlformats.org/officeDocument/2006/relationships/image" Target="../media/image12.jp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hyperlink" Target="https://creativecommons.org/licenses/by/3.0/" TargetMode="External"/><Relationship Id="rId5" Type="http://schemas.openxmlformats.org/officeDocument/2006/relationships/hyperlink" Target="https://schubart.com/in-our-name-the-justice-department-has-killed-three-men-in-one-week/" TargetMode="External"/><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hyperlink" Target="https://montrealethics.ai/the-ethics-of-ai-in-finance/" TargetMode="External"/><Relationship Id="rId4" Type="http://schemas.openxmlformats.org/officeDocument/2006/relationships/image" Target="../media/image14.jp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19.xml"/><Relationship Id="rId16"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200"/>
              </a:spcAft>
              <a:buClr>
                <a:srgbClr val="252526"/>
              </a:buClr>
              <a:buSzPts val="1800"/>
              <a:buFont typeface="IBM Plex Sans Arabic"/>
              <a:buNone/>
            </a:pPr>
            <a:r>
              <a:rPr lang="en-US" sz="3600" dirty="0">
                <a:solidFill>
                  <a:schemeClr val="lt1"/>
                </a:solidFill>
                <a:latin typeface="IBM Plex Sans Arabic Medium"/>
                <a:ea typeface="IBM Plex Sans Arabic Medium"/>
                <a:cs typeface="IBM Plex Sans Arabic Medium"/>
                <a:sym typeface="IBM Plex Sans Arabic Medium"/>
              </a:rPr>
              <a:t>Artificial Intelligence Ethics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8" y="1137037"/>
            <a:ext cx="8520600" cy="1660138"/>
          </a:xfrm>
          <a:prstGeom prst="rect">
            <a:avLst/>
          </a:prstGeom>
          <a:noFill/>
          <a:ln>
            <a:noFill/>
          </a:ln>
        </p:spPr>
        <p:txBody>
          <a:bodyPr spcFirstLastPara="1" wrap="square" lIns="91425" tIns="91425" rIns="91425" bIns="91425" anchor="b" anchorCtr="0">
            <a:normAutofit fontScale="90000"/>
          </a:bodyPr>
          <a:lstStyle/>
          <a:p>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GB" sz="4000" b="1" i="0" u="none" strike="noStrike" dirty="0">
                <a:solidFill>
                  <a:srgbClr val="7030A0"/>
                </a:solidFill>
                <a:effectLst/>
                <a:latin typeface="Times New Roman" panose="02020603050405020304" pitchFamily="18" charset="0"/>
              </a:rPr>
            </a:br>
            <a:br>
              <a:rPr lang="en-US" sz="4000" dirty="0">
                <a:latin typeface="Calibri"/>
                <a:ea typeface="Calibri"/>
                <a:cs typeface="Calibri"/>
                <a:sym typeface="Calibri"/>
              </a:rPr>
            </a:br>
            <a:r>
              <a:rPr lang="en-GB" sz="3600" b="0" i="0" u="none" strike="noStrike" dirty="0">
                <a:solidFill>
                  <a:srgbClr val="7030A0"/>
                </a:solidFill>
                <a:effectLst/>
                <a:latin typeface="-webkit-standard"/>
              </a:rPr>
              <a:t>Accountability and Ethical challenges in AI Decision-Making</a:t>
            </a: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824514" y="864255"/>
            <a:ext cx="8029070" cy="2939226"/>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endParaRPr lang="en-GB" sz="2800" b="1" i="0" u="none" strike="noStrike" dirty="0">
              <a:solidFill>
                <a:srgbClr val="000000"/>
              </a:solidFill>
              <a:effectLst/>
            </a:endParaRPr>
          </a:p>
          <a:p>
            <a:pPr marL="285750" indent="-285750" algn="just">
              <a:lnSpc>
                <a:spcPct val="125000"/>
              </a:lnSpc>
              <a:spcBef>
                <a:spcPts val="1000"/>
              </a:spcBef>
              <a:buFont typeface="Wingdings" pitchFamily="2" charset="2"/>
              <a:buChar char="Ø"/>
            </a:pPr>
            <a:r>
              <a:rPr lang="en-GB" dirty="0">
                <a:latin typeface="-webkit-standard"/>
              </a:rPr>
              <a:t>Define accountability in AI decision-making.</a:t>
            </a:r>
          </a:p>
          <a:p>
            <a:pPr marL="285750" indent="-285750" algn="just">
              <a:lnSpc>
                <a:spcPct val="125000"/>
              </a:lnSpc>
              <a:spcBef>
                <a:spcPts val="1000"/>
              </a:spcBef>
              <a:buFont typeface="Wingdings" pitchFamily="2" charset="2"/>
              <a:buChar char="Ø"/>
            </a:pPr>
            <a:r>
              <a:rPr lang="en-GB" dirty="0">
                <a:latin typeface="-webkit-standard"/>
              </a:rPr>
              <a:t>Identify who is responsible for AI decisions (developers, users, organizations).</a:t>
            </a:r>
          </a:p>
          <a:p>
            <a:pPr marL="285750" indent="-285750" algn="just">
              <a:lnSpc>
                <a:spcPct val="125000"/>
              </a:lnSpc>
              <a:spcBef>
                <a:spcPts val="1000"/>
              </a:spcBef>
              <a:buFont typeface="Wingdings" pitchFamily="2" charset="2"/>
              <a:buChar char="Ø"/>
            </a:pPr>
            <a:r>
              <a:rPr lang="en-GB" dirty="0">
                <a:latin typeface="-webkit-standard"/>
              </a:rPr>
              <a:t>Explore mechanisms for ensuring AI accountability (audits, certifications, ethical boards).</a:t>
            </a:r>
            <a:endParaRPr lang="en-GB" dirty="0">
              <a:latin typeface="-webkit-standard"/>
              <a:sym typeface="Proxima Nova"/>
            </a:endParaRPr>
          </a:p>
          <a:p>
            <a:pPr marL="285750" marR="0" lvl="0" indent="-285750" algn="just" rtl="0">
              <a:lnSpc>
                <a:spcPct val="125000"/>
              </a:lnSpc>
              <a:spcBef>
                <a:spcPts val="1000"/>
              </a:spcBef>
              <a:spcAft>
                <a:spcPts val="0"/>
              </a:spcAft>
              <a:buFont typeface="Wingdings" pitchFamily="2" charset="2"/>
              <a:buChar char="Ø"/>
            </a:pPr>
            <a:r>
              <a:rPr lang="en-GB" b="0" i="0" u="none" strike="noStrike" dirty="0">
                <a:solidFill>
                  <a:srgbClr val="000000"/>
                </a:solidFill>
                <a:effectLst/>
                <a:latin typeface="-webkit-standard"/>
              </a:rPr>
              <a:t>Understand ethical challenges in AI deployment, </a:t>
            </a:r>
            <a:r>
              <a:rPr lang="en-GB" i="0" u="none" strike="noStrike" dirty="0">
                <a:solidFill>
                  <a:srgbClr val="000000"/>
                </a:solidFill>
                <a:effectLst/>
                <a:latin typeface="-webkit-standard"/>
              </a:rPr>
              <a:t>including </a:t>
            </a:r>
            <a:r>
              <a:rPr lang="en-GB" i="0" u="none" strike="noStrike" dirty="0">
                <a:solidFill>
                  <a:srgbClr val="000000"/>
                </a:solidFill>
                <a:effectLst/>
              </a:rPr>
              <a:t>bias, fairness, and security</a:t>
            </a:r>
            <a:r>
              <a:rPr lang="en-GB" i="0" u="none" strike="noStrike" dirty="0">
                <a:solidFill>
                  <a:srgbClr val="000000"/>
                </a:solidFill>
                <a:effectLst/>
                <a:latin typeface="-webkit-standard"/>
              </a:rPr>
              <a:t>.</a:t>
            </a:r>
          </a:p>
          <a:p>
            <a:pPr marL="285750" marR="0" lvl="0" indent="-285750" algn="just" rtl="0">
              <a:lnSpc>
                <a:spcPct val="125000"/>
              </a:lnSpc>
              <a:spcBef>
                <a:spcPts val="1000"/>
              </a:spcBef>
              <a:spcAft>
                <a:spcPts val="0"/>
              </a:spcAft>
              <a:buFont typeface="Wingdings" pitchFamily="2" charset="2"/>
              <a:buChar char="Ø"/>
            </a:pPr>
            <a:r>
              <a:rPr lang="en-GB" i="0" u="none" strike="noStrike" dirty="0" err="1">
                <a:solidFill>
                  <a:srgbClr val="000000"/>
                </a:solidFill>
                <a:effectLst/>
                <a:latin typeface="-webkit-standard"/>
              </a:rPr>
              <a:t>Analyze</a:t>
            </a:r>
            <a:r>
              <a:rPr lang="en-GB" i="0" u="none" strike="noStrike" dirty="0">
                <a:solidFill>
                  <a:srgbClr val="000000"/>
                </a:solidFill>
                <a:effectLst/>
                <a:latin typeface="-webkit-standard"/>
              </a:rPr>
              <a:t> regulatory challenges, including </a:t>
            </a:r>
            <a:r>
              <a:rPr lang="en-GB" i="0" u="none" strike="noStrike" dirty="0">
                <a:solidFill>
                  <a:srgbClr val="000000"/>
                </a:solidFill>
                <a:effectLst/>
              </a:rPr>
              <a:t>global vs. local AI governance</a:t>
            </a:r>
            <a:r>
              <a:rPr lang="en-GB" i="0" u="none" strike="noStrike" dirty="0">
                <a:solidFill>
                  <a:srgbClr val="000000"/>
                </a:solidFill>
                <a:effectLst/>
                <a:latin typeface="-webkit-standard"/>
              </a:rPr>
              <a:t>.</a:t>
            </a:r>
          </a:p>
          <a:p>
            <a:pPr marL="285750" marR="0" lvl="0" indent="-285750" algn="just" rtl="0">
              <a:lnSpc>
                <a:spcPct val="125000"/>
              </a:lnSpc>
              <a:spcBef>
                <a:spcPts val="1000"/>
              </a:spcBef>
              <a:spcAft>
                <a:spcPts val="0"/>
              </a:spcAft>
              <a:buFont typeface="Wingdings" pitchFamily="2" charset="2"/>
              <a:buChar char="Ø"/>
            </a:pPr>
            <a:r>
              <a:rPr lang="en-GB" i="0" u="none" strike="noStrike" dirty="0">
                <a:solidFill>
                  <a:srgbClr val="000000"/>
                </a:solidFill>
                <a:effectLst/>
                <a:latin typeface="-webkit-standard"/>
              </a:rPr>
              <a:t>Evaluate the role of AI in </a:t>
            </a:r>
            <a:r>
              <a:rPr lang="en-GB" i="0" u="none" strike="noStrike" dirty="0">
                <a:solidFill>
                  <a:srgbClr val="000000"/>
                </a:solidFill>
                <a:effectLst/>
              </a:rPr>
              <a:t>critical sectors</a:t>
            </a:r>
            <a:r>
              <a:rPr lang="en-GB" i="0" u="none" strike="noStrike" dirty="0">
                <a:solidFill>
                  <a:srgbClr val="000000"/>
                </a:solidFill>
                <a:effectLst/>
                <a:latin typeface="-webkit-standard"/>
              </a:rPr>
              <a:t> like healthcare, justice, and finance.</a:t>
            </a:r>
            <a:endParaRPr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74">
          <a:extLst>
            <a:ext uri="{FF2B5EF4-FFF2-40B4-BE49-F238E27FC236}">
              <a16:creationId xmlns:a16="http://schemas.microsoft.com/office/drawing/2014/main" id="{1BBFEC59-2F9A-F1A0-822E-D0C14DF811AA}"/>
            </a:ext>
          </a:extLst>
        </p:cNvPr>
        <p:cNvGrpSpPr/>
        <p:nvPr/>
      </p:nvGrpSpPr>
      <p:grpSpPr>
        <a:xfrm>
          <a:off x="0" y="0"/>
          <a:ext cx="0" cy="0"/>
          <a:chOff x="0" y="0"/>
          <a:chExt cx="0" cy="0"/>
        </a:xfrm>
      </p:grpSpPr>
      <p:pic>
        <p:nvPicPr>
          <p:cNvPr id="75" name="Google Shape;75;p6">
            <a:extLst>
              <a:ext uri="{FF2B5EF4-FFF2-40B4-BE49-F238E27FC236}">
                <a16:creationId xmlns:a16="http://schemas.microsoft.com/office/drawing/2014/main" id="{814E9543-CA25-5AF4-BD0C-4BBE3828E304}"/>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76" name="Google Shape;76;p6">
            <a:extLst>
              <a:ext uri="{FF2B5EF4-FFF2-40B4-BE49-F238E27FC236}">
                <a16:creationId xmlns:a16="http://schemas.microsoft.com/office/drawing/2014/main" id="{4025FB2A-478B-7FBC-5819-20CB112C3CD4}"/>
              </a:ext>
            </a:extLst>
          </p:cNvPr>
          <p:cNvSpPr txBox="1">
            <a:spLocks noGrp="1"/>
          </p:cNvSpPr>
          <p:nvPr>
            <p:ph type="title"/>
          </p:nvPr>
        </p:nvSpPr>
        <p:spPr>
          <a:xfrm>
            <a:off x="190352" y="177900"/>
            <a:ext cx="7367761" cy="494528"/>
          </a:xfrm>
          <a:prstGeom prst="rect">
            <a:avLst/>
          </a:prstGeom>
          <a:noFill/>
          <a:ln>
            <a:noFill/>
          </a:ln>
        </p:spPr>
        <p:txBody>
          <a:bodyPr spcFirstLastPara="1" wrap="square" lIns="91425" tIns="91425" rIns="91425" bIns="91425" anchor="t" anchorCtr="0">
            <a:noAutofit/>
          </a:bodyPr>
          <a:lstStyle/>
          <a:p>
            <a:r>
              <a:rPr lang="en-GB" sz="2400" b="1" i="0" u="none" strike="noStrike" dirty="0">
                <a:solidFill>
                  <a:srgbClr val="7030A0"/>
                </a:solidFill>
                <a:effectLst/>
              </a:rPr>
              <a:t>Introduction to Accountability in AI Systems</a:t>
            </a:r>
            <a:br>
              <a:rPr lang="en-GB" sz="1100" b="1" i="0" u="none" strike="noStrike" dirty="0">
                <a:solidFill>
                  <a:srgbClr val="000000"/>
                </a:solidFill>
                <a:effectLst/>
              </a:rPr>
            </a:br>
            <a:br>
              <a:rPr lang="en-US" sz="1000" dirty="0">
                <a:latin typeface="Calibri"/>
                <a:ea typeface="Calibri"/>
                <a:cs typeface="Calibri"/>
                <a:sym typeface="Calibri"/>
              </a:rPr>
            </a:br>
            <a:br>
              <a:rPr lang="en-GB" sz="1600" b="1" i="0" u="none" strike="noStrike" dirty="0">
                <a:solidFill>
                  <a:srgbClr val="000000"/>
                </a:solidFill>
                <a:effectLst/>
              </a:rPr>
            </a:br>
            <a:br>
              <a:rPr lang="en-GB" sz="1600" b="1" i="0" u="none" strike="noStrike" dirty="0">
                <a:solidFill>
                  <a:srgbClr val="404040"/>
                </a:solidFill>
                <a:effectLst/>
                <a:latin typeface="Inter" panose="02000503000000020004" pitchFamily="2" charset="0"/>
              </a:rPr>
            </a:br>
            <a:endParaRPr sz="3200" dirty="0"/>
          </a:p>
        </p:txBody>
      </p:sp>
      <p:sp>
        <p:nvSpPr>
          <p:cNvPr id="79" name="Google Shape;79;p6">
            <a:extLst>
              <a:ext uri="{FF2B5EF4-FFF2-40B4-BE49-F238E27FC236}">
                <a16:creationId xmlns:a16="http://schemas.microsoft.com/office/drawing/2014/main" id="{8E7AD6B6-47C7-C90A-7843-8B2A94B3A678}"/>
              </a:ext>
            </a:extLst>
          </p:cNvPr>
          <p:cNvSpPr txBox="1"/>
          <p:nvPr/>
        </p:nvSpPr>
        <p:spPr>
          <a:xfrm>
            <a:off x="2371061" y="4038281"/>
            <a:ext cx="344220"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dirty="0"/>
          </a:p>
        </p:txBody>
      </p:sp>
      <p:sp>
        <p:nvSpPr>
          <p:cNvPr id="3" name="TextBox 2">
            <a:extLst>
              <a:ext uri="{FF2B5EF4-FFF2-40B4-BE49-F238E27FC236}">
                <a16:creationId xmlns:a16="http://schemas.microsoft.com/office/drawing/2014/main" id="{68E38317-D97E-E2FA-8424-25D8A0BD381D}"/>
              </a:ext>
            </a:extLst>
          </p:cNvPr>
          <p:cNvSpPr txBox="1"/>
          <p:nvPr/>
        </p:nvSpPr>
        <p:spPr>
          <a:xfrm>
            <a:off x="1087630" y="1015473"/>
            <a:ext cx="6530939" cy="3539430"/>
          </a:xfrm>
          <a:prstGeom prst="rect">
            <a:avLst/>
          </a:prstGeom>
          <a:noFill/>
        </p:spPr>
        <p:txBody>
          <a:bodyPr wrap="square">
            <a:spAutoFit/>
          </a:bodyPr>
          <a:lstStyle/>
          <a:p>
            <a:pPr marL="285750" indent="-285750" algn="l">
              <a:buFont typeface="Wingdings" pitchFamily="2" charset="2"/>
              <a:buChar char="Ø"/>
            </a:pPr>
            <a:r>
              <a:rPr lang="en-GB" b="0" i="0" u="none" strike="noStrike" dirty="0">
                <a:solidFill>
                  <a:srgbClr val="000000"/>
                </a:solidFill>
                <a:effectLst/>
              </a:rPr>
              <a:t>Accountability in AI refers to the responsibility of individuals, organizations, or systems for the decisions made by artificial intelligence models. </a:t>
            </a:r>
          </a:p>
          <a:p>
            <a:pPr marL="285750" indent="-285750">
              <a:buFont typeface="Wingdings" pitchFamily="2" charset="2"/>
              <a:buChar char="Ø"/>
            </a:pPr>
            <a:r>
              <a:rPr lang="en-GB" b="0" i="0" u="none" strike="noStrike" dirty="0">
                <a:solidFill>
                  <a:srgbClr val="000000"/>
                </a:solidFill>
                <a:effectLst/>
              </a:rPr>
              <a:t>AI </a:t>
            </a:r>
            <a:r>
              <a:rPr lang="en-GB" b="1" i="0" u="none" strike="noStrike" dirty="0">
                <a:solidFill>
                  <a:srgbClr val="000000"/>
                </a:solidFill>
                <a:effectLst/>
              </a:rPr>
              <a:t>accountability</a:t>
            </a:r>
            <a:r>
              <a:rPr lang="en-GB" b="0" i="0" u="none" strike="noStrike" dirty="0">
                <a:solidFill>
                  <a:srgbClr val="000000"/>
                </a:solidFill>
                <a:effectLst/>
              </a:rPr>
              <a:t> refers to </a:t>
            </a:r>
            <a:r>
              <a:rPr lang="en-GB" b="1" i="0" u="none" strike="noStrike" dirty="0">
                <a:solidFill>
                  <a:srgbClr val="000000"/>
                </a:solidFill>
                <a:effectLst/>
              </a:rPr>
              <a:t>assigning responsibility</a:t>
            </a:r>
            <a:r>
              <a:rPr lang="en-GB" b="0" i="0" u="none" strike="noStrike" dirty="0">
                <a:solidFill>
                  <a:srgbClr val="000000"/>
                </a:solidFill>
                <a:effectLst/>
              </a:rPr>
              <a:t> for decisions made by AI systems.</a:t>
            </a:r>
          </a:p>
          <a:p>
            <a:pPr marL="285750" indent="-285750">
              <a:buFont typeface="Wingdings" pitchFamily="2" charset="2"/>
              <a:buChar char="Ø"/>
            </a:pPr>
            <a:r>
              <a:rPr lang="en-GB" b="0" i="0" u="none" strike="noStrike" dirty="0">
                <a:solidFill>
                  <a:srgbClr val="000000"/>
                </a:solidFill>
                <a:effectLst/>
              </a:rPr>
              <a:t>This ensures </a:t>
            </a:r>
            <a:r>
              <a:rPr lang="en-GB" b="1" i="0" u="none" strike="noStrike" dirty="0">
                <a:solidFill>
                  <a:srgbClr val="000000"/>
                </a:solidFill>
                <a:effectLst/>
              </a:rPr>
              <a:t>transparency, fairness, and compliance</a:t>
            </a:r>
            <a:r>
              <a:rPr lang="en-GB" b="0" i="0" u="none" strike="noStrike" dirty="0">
                <a:solidFill>
                  <a:srgbClr val="000000"/>
                </a:solidFill>
                <a:effectLst/>
              </a:rPr>
              <a:t> with ethical/legal standards.</a:t>
            </a:r>
          </a:p>
          <a:p>
            <a:pPr marL="285750" indent="-285750" algn="l">
              <a:buFont typeface="Wingdings" pitchFamily="2" charset="2"/>
              <a:buChar char="Ø"/>
            </a:pPr>
            <a:r>
              <a:rPr lang="en-GB" b="0" i="0" u="none" strike="noStrike" dirty="0">
                <a:solidFill>
                  <a:srgbClr val="000000"/>
                </a:solidFill>
                <a:effectLst/>
              </a:rPr>
              <a:t>As AI systems increasingly influence critical areas like healthcare, finance, and law enforcement, ensuring responsible AI decision-making becomes essential.</a:t>
            </a:r>
          </a:p>
          <a:p>
            <a:pPr marL="285750" indent="-285750" algn="l">
              <a:buFont typeface="Wingdings" pitchFamily="2" charset="2"/>
              <a:buChar char="Ø"/>
            </a:pPr>
            <a:endParaRPr lang="en-GB" b="0" i="0" u="none" strike="noStrike" dirty="0">
              <a:solidFill>
                <a:srgbClr val="000000"/>
              </a:solidFill>
              <a:effectLst/>
            </a:endParaRPr>
          </a:p>
          <a:p>
            <a:pPr algn="l">
              <a:buNone/>
            </a:pPr>
            <a:r>
              <a:rPr lang="en-GB" b="1" i="0" u="none" strike="noStrike" dirty="0">
                <a:solidFill>
                  <a:srgbClr val="000000"/>
                </a:solidFill>
                <a:effectLst/>
              </a:rPr>
              <a:t>Example:</a:t>
            </a:r>
            <a:endParaRPr lang="en-GB" b="0" i="0" u="none" strike="noStrike" dirty="0">
              <a:solidFill>
                <a:srgbClr val="000000"/>
              </a:solidFill>
              <a:effectLst/>
            </a:endParaRPr>
          </a:p>
          <a:p>
            <a:pPr algn="l">
              <a:buFont typeface="Arial" panose="020B0604020202020204" pitchFamily="34" charset="0"/>
              <a:buChar char="•"/>
            </a:pPr>
            <a:r>
              <a:rPr lang="en-GB" b="0" i="0" u="none" strike="noStrike" dirty="0">
                <a:solidFill>
                  <a:srgbClr val="000000"/>
                </a:solidFill>
                <a:effectLst/>
              </a:rPr>
              <a:t>AI-driven loan approval system </a:t>
            </a:r>
            <a:r>
              <a:rPr lang="en-GB" b="1" i="0" u="none" strike="noStrike" dirty="0">
                <a:solidFill>
                  <a:srgbClr val="000000"/>
                </a:solidFill>
                <a:effectLst/>
              </a:rPr>
              <a:t>rejects applications from a particular ethnic group unfairly</a:t>
            </a:r>
            <a:r>
              <a:rPr lang="en-GB" b="0" i="0" u="none" strike="noStrike" dirty="0">
                <a:solidFill>
                  <a:srgbClr val="000000"/>
                </a:solidFill>
                <a:effectLst/>
              </a:rPr>
              <a:t>.</a:t>
            </a:r>
          </a:p>
          <a:p>
            <a:pPr algn="l">
              <a:buFont typeface="Arial" panose="020B0604020202020204" pitchFamily="34" charset="0"/>
              <a:buChar char="•"/>
            </a:pPr>
            <a:r>
              <a:rPr lang="en-GB" b="0" i="0" u="none" strike="noStrike" dirty="0">
                <a:solidFill>
                  <a:srgbClr val="000000"/>
                </a:solidFill>
                <a:effectLst/>
              </a:rPr>
              <a:t>Who is responsible for the bias? The developer? The organization using the AI? The AI itself?</a:t>
            </a:r>
          </a:p>
          <a:p>
            <a:pPr marL="285750" indent="-285750" algn="l">
              <a:buFont typeface="Wingdings" pitchFamily="2" charset="2"/>
              <a:buChar char="Ø"/>
            </a:pPr>
            <a:endParaRPr lang="en-GB" b="0" i="0" u="none" strike="noStrike" dirty="0">
              <a:solidFill>
                <a:srgbClr val="000000"/>
              </a:solidFill>
              <a:effectLst/>
            </a:endParaRPr>
          </a:p>
        </p:txBody>
      </p:sp>
    </p:spTree>
    <p:extLst>
      <p:ext uri="{BB962C8B-B14F-4D97-AF65-F5344CB8AC3E}">
        <p14:creationId xmlns:p14="http://schemas.microsoft.com/office/powerpoint/2010/main" val="132133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4184730" y="287628"/>
            <a:ext cx="5408998" cy="2939569"/>
          </a:xfrm>
          <a:prstGeom prst="rect">
            <a:avLst/>
          </a:prstGeom>
          <a:noFill/>
          <a:ln>
            <a:noFill/>
          </a:ln>
        </p:spPr>
      </p:pic>
      <p:sp>
        <p:nvSpPr>
          <p:cNvPr id="85" name="Google Shape;85;p7"/>
          <p:cNvSpPr txBox="1">
            <a:spLocks noGrp="1"/>
          </p:cNvSpPr>
          <p:nvPr>
            <p:ph type="title"/>
          </p:nvPr>
        </p:nvSpPr>
        <p:spPr>
          <a:xfrm>
            <a:off x="190352" y="122160"/>
            <a:ext cx="7764928" cy="494528"/>
          </a:xfrm>
          <a:prstGeom prst="rect">
            <a:avLst/>
          </a:prstGeom>
          <a:noFill/>
          <a:ln>
            <a:noFill/>
          </a:ln>
        </p:spPr>
        <p:txBody>
          <a:bodyPr spcFirstLastPara="1" wrap="square" lIns="91425" tIns="91425" rIns="91425" bIns="91425" anchor="t" anchorCtr="0">
            <a:noAutofit/>
          </a:bodyPr>
          <a:lstStyle/>
          <a:p>
            <a:r>
              <a:rPr lang="en-GB" sz="2400" dirty="0">
                <a:solidFill>
                  <a:srgbClr val="7030A0"/>
                </a:solidFill>
              </a:rPr>
              <a:t>Defining Accountability in AI Systems</a:t>
            </a:r>
            <a:br>
              <a:rPr lang="en-GB" sz="2400" dirty="0">
                <a:solidFill>
                  <a:srgbClr val="7030A0"/>
                </a:solidFill>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sp>
        <p:nvSpPr>
          <p:cNvPr id="3" name="TextBox 2">
            <a:extLst>
              <a:ext uri="{FF2B5EF4-FFF2-40B4-BE49-F238E27FC236}">
                <a16:creationId xmlns:a16="http://schemas.microsoft.com/office/drawing/2014/main" id="{2B0B082D-4923-E3C7-45B4-EBA3326F2D59}"/>
              </a:ext>
            </a:extLst>
          </p:cNvPr>
          <p:cNvSpPr txBox="1"/>
          <p:nvPr/>
        </p:nvSpPr>
        <p:spPr>
          <a:xfrm>
            <a:off x="590266" y="1053434"/>
            <a:ext cx="4797188" cy="3293209"/>
          </a:xfrm>
          <a:prstGeom prst="rect">
            <a:avLst/>
          </a:prstGeom>
          <a:noFill/>
        </p:spPr>
        <p:txBody>
          <a:bodyPr wrap="square">
            <a:spAutoFit/>
          </a:bodyPr>
          <a:lstStyle/>
          <a:p>
            <a:pPr algn="l">
              <a:buNone/>
            </a:pPr>
            <a:r>
              <a:rPr lang="en-GB" sz="1600" b="1" i="0" u="none" strike="noStrike" dirty="0">
                <a:solidFill>
                  <a:srgbClr val="000000"/>
                </a:solidFill>
                <a:effectLst/>
              </a:rPr>
              <a:t>Accountability in AI involves:</a:t>
            </a:r>
          </a:p>
          <a:p>
            <a:pPr algn="l">
              <a:buNone/>
            </a:pPr>
            <a:endParaRPr lang="en-GB" sz="1600" b="1" i="0" u="none" strike="noStrike" dirty="0">
              <a:solidFill>
                <a:srgbClr val="000000"/>
              </a:solidFill>
              <a:effectLst/>
            </a:endParaRPr>
          </a:p>
          <a:p>
            <a:pPr algn="l">
              <a:buFont typeface="Arial" panose="020B0604020202020204" pitchFamily="34" charset="0"/>
              <a:buChar char="•"/>
            </a:pPr>
            <a:r>
              <a:rPr lang="en-GB" sz="1600" b="1" i="0" u="none" strike="noStrike" dirty="0">
                <a:solidFill>
                  <a:srgbClr val="000000"/>
                </a:solidFill>
                <a:effectLst/>
              </a:rPr>
              <a:t>Transparency:</a:t>
            </a:r>
            <a:r>
              <a:rPr lang="en-GB" sz="1600" b="0" i="0" u="none" strike="noStrike" dirty="0">
                <a:solidFill>
                  <a:srgbClr val="000000"/>
                </a:solidFill>
                <a:effectLst/>
              </a:rPr>
              <a:t> Understanding how AI reaches its decisions.</a:t>
            </a:r>
          </a:p>
          <a:p>
            <a:pPr algn="l">
              <a:buFont typeface="Arial" panose="020B0604020202020204" pitchFamily="34" charset="0"/>
              <a:buChar char="•"/>
            </a:pPr>
            <a:endParaRPr lang="en-GB" sz="1600" b="0" i="0" u="none" strike="noStrike" dirty="0">
              <a:solidFill>
                <a:srgbClr val="000000"/>
              </a:solidFill>
              <a:effectLst/>
            </a:endParaRPr>
          </a:p>
          <a:p>
            <a:pPr algn="l">
              <a:buFont typeface="Arial" panose="020B0604020202020204" pitchFamily="34" charset="0"/>
              <a:buChar char="•"/>
            </a:pPr>
            <a:r>
              <a:rPr lang="en-GB" sz="1600" b="1" i="0" u="none" strike="noStrike" dirty="0">
                <a:solidFill>
                  <a:srgbClr val="000000"/>
                </a:solidFill>
                <a:effectLst/>
              </a:rPr>
              <a:t>Fairness:</a:t>
            </a:r>
            <a:r>
              <a:rPr lang="en-GB" sz="1600" b="0" i="0" u="none" strike="noStrike" dirty="0">
                <a:solidFill>
                  <a:srgbClr val="000000"/>
                </a:solidFill>
                <a:effectLst/>
              </a:rPr>
              <a:t> Ensuring AI does not reinforce biases or unethical </a:t>
            </a:r>
            <a:r>
              <a:rPr lang="en-GB" sz="1600" b="0" i="0" u="none" strike="noStrike" dirty="0" err="1">
                <a:solidFill>
                  <a:srgbClr val="000000"/>
                </a:solidFill>
                <a:effectLst/>
              </a:rPr>
              <a:t>behaviors</a:t>
            </a:r>
            <a:r>
              <a:rPr lang="en-GB" sz="1600" b="0" i="0" u="none" strike="noStrike" dirty="0">
                <a:solidFill>
                  <a:srgbClr val="000000"/>
                </a:solidFill>
                <a:effectLst/>
              </a:rPr>
              <a:t>.</a:t>
            </a:r>
          </a:p>
          <a:p>
            <a:pPr algn="l">
              <a:buFont typeface="Arial" panose="020B0604020202020204" pitchFamily="34" charset="0"/>
              <a:buChar char="•"/>
            </a:pPr>
            <a:endParaRPr lang="en-GB" sz="1600" b="0" i="0" u="none" strike="noStrike" dirty="0">
              <a:solidFill>
                <a:srgbClr val="000000"/>
              </a:solidFill>
              <a:effectLst/>
            </a:endParaRPr>
          </a:p>
          <a:p>
            <a:pPr algn="l">
              <a:buFont typeface="Arial" panose="020B0604020202020204" pitchFamily="34" charset="0"/>
              <a:buChar char="•"/>
            </a:pPr>
            <a:r>
              <a:rPr lang="en-GB" sz="1600" b="1" i="0" u="none" strike="noStrike" dirty="0">
                <a:solidFill>
                  <a:srgbClr val="000000"/>
                </a:solidFill>
                <a:effectLst/>
              </a:rPr>
              <a:t>Responsibility:</a:t>
            </a:r>
            <a:r>
              <a:rPr lang="en-GB" sz="1600" b="0" i="0" u="none" strike="noStrike" dirty="0">
                <a:solidFill>
                  <a:srgbClr val="000000"/>
                </a:solidFill>
                <a:effectLst/>
              </a:rPr>
              <a:t> Assigning clear roles for monitoring AI decisions and addressing errors.</a:t>
            </a:r>
          </a:p>
          <a:p>
            <a:pPr algn="l">
              <a:buFont typeface="Arial" panose="020B0604020202020204" pitchFamily="34" charset="0"/>
              <a:buChar char="•"/>
            </a:pPr>
            <a:endParaRPr lang="en-GB" sz="1600" b="0" i="0" u="none" strike="noStrike" dirty="0">
              <a:solidFill>
                <a:srgbClr val="000000"/>
              </a:solidFill>
              <a:effectLst/>
            </a:endParaRPr>
          </a:p>
          <a:p>
            <a:pPr algn="l">
              <a:buFont typeface="Arial" panose="020B0604020202020204" pitchFamily="34" charset="0"/>
              <a:buChar char="•"/>
            </a:pPr>
            <a:r>
              <a:rPr lang="en-GB" sz="1600" b="1" i="0" u="none" strike="noStrike" dirty="0">
                <a:solidFill>
                  <a:srgbClr val="000000"/>
                </a:solidFill>
                <a:effectLst/>
              </a:rPr>
              <a:t>Compliance:</a:t>
            </a:r>
            <a:r>
              <a:rPr lang="en-GB" sz="1600" b="0" i="0" u="none" strike="noStrike" dirty="0">
                <a:solidFill>
                  <a:srgbClr val="000000"/>
                </a:solidFill>
                <a:effectLst/>
              </a:rPr>
              <a:t> Adhering to legal and ethical guidelines for AI governance.</a:t>
            </a:r>
          </a:p>
        </p:txBody>
      </p:sp>
      <p:graphicFrame>
        <p:nvGraphicFramePr>
          <p:cNvPr id="9" name="Diagram 8">
            <a:extLst>
              <a:ext uri="{FF2B5EF4-FFF2-40B4-BE49-F238E27FC236}">
                <a16:creationId xmlns:a16="http://schemas.microsoft.com/office/drawing/2014/main" id="{243C9050-FCD2-CC45-E41B-31A7F2884ADB}"/>
              </a:ext>
            </a:extLst>
          </p:cNvPr>
          <p:cNvGraphicFramePr/>
          <p:nvPr>
            <p:extLst>
              <p:ext uri="{D42A27DB-BD31-4B8C-83A1-F6EECF244321}">
                <p14:modId xmlns:p14="http://schemas.microsoft.com/office/powerpoint/2010/main" val="833559491"/>
              </p:ext>
            </p:extLst>
          </p:nvPr>
        </p:nvGraphicFramePr>
        <p:xfrm>
          <a:off x="4572000" y="1216680"/>
          <a:ext cx="5134783" cy="34934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3B22BC82-C664-07F2-F2C3-D8ED48C3C010}"/>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C337E09-631D-273B-7E48-5A5E57973E5C}"/>
              </a:ext>
            </a:extLst>
          </p:cNvPr>
          <p:cNvPicPr preferRelativeResize="0"/>
          <p:nvPr/>
        </p:nvPicPr>
        <p:blipFill rotWithShape="1">
          <a:blip r:embed="rId3">
            <a:alphaModFix amt="60000"/>
          </a:blip>
          <a:srcRect/>
          <a:stretch/>
        </p:blipFill>
        <p:spPr>
          <a:xfrm>
            <a:off x="3645234" y="196310"/>
            <a:ext cx="5408998" cy="2939569"/>
          </a:xfrm>
          <a:prstGeom prst="rect">
            <a:avLst/>
          </a:prstGeom>
          <a:noFill/>
          <a:ln>
            <a:noFill/>
          </a:ln>
        </p:spPr>
      </p:pic>
      <p:sp>
        <p:nvSpPr>
          <p:cNvPr id="85" name="Google Shape;85;p7">
            <a:extLst>
              <a:ext uri="{FF2B5EF4-FFF2-40B4-BE49-F238E27FC236}">
                <a16:creationId xmlns:a16="http://schemas.microsoft.com/office/drawing/2014/main" id="{408EFD0F-7225-2197-DA02-6B0312E9022C}"/>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r>
              <a:rPr lang="en-GB" sz="2400" b="1" i="0" u="none" strike="noStrike" dirty="0">
                <a:solidFill>
                  <a:srgbClr val="7030A0"/>
                </a:solidFill>
                <a:effectLst/>
              </a:rPr>
              <a:t>Key Stakeholders &amp; Their Responsibilities:</a:t>
            </a:r>
            <a:br>
              <a:rPr lang="en-GB" sz="2400" b="1" i="0" u="none" strike="noStrike" dirty="0">
                <a:solidFill>
                  <a:srgbClr val="7030A0"/>
                </a:solidFill>
                <a:effectLst/>
              </a:rPr>
            </a:br>
            <a:br>
              <a:rPr lang="en-GB" sz="2400" b="1" i="0" u="none" strike="noStrike" dirty="0">
                <a:solidFill>
                  <a:srgbClr val="7030A0"/>
                </a:solidFill>
                <a:effectLst/>
              </a:rPr>
            </a:br>
            <a:br>
              <a:rPr lang="en-GB" sz="1600" b="1" i="0" u="none" strike="noStrike" dirty="0">
                <a:solidFill>
                  <a:srgbClr val="000000"/>
                </a:solidFill>
                <a:effectLst/>
              </a:rPr>
            </a:br>
            <a:br>
              <a:rPr lang="en-GB" sz="1100" b="0" i="0" u="none" strike="noStrike" dirty="0">
                <a:solidFill>
                  <a:srgbClr val="000000"/>
                </a:solidFill>
                <a:effectLst/>
              </a:rPr>
            </a:br>
            <a:br>
              <a:rPr lang="en-US" sz="2000" dirty="0">
                <a:latin typeface="Calibri"/>
                <a:ea typeface="Calibri"/>
                <a:cs typeface="Calibri"/>
                <a:sym typeface="Calibri"/>
              </a:rPr>
            </a:br>
            <a:endParaRPr lang="en-US" sz="3200" dirty="0"/>
          </a:p>
        </p:txBody>
      </p:sp>
      <p:graphicFrame>
        <p:nvGraphicFramePr>
          <p:cNvPr id="2" name="Table 1">
            <a:extLst>
              <a:ext uri="{FF2B5EF4-FFF2-40B4-BE49-F238E27FC236}">
                <a16:creationId xmlns:a16="http://schemas.microsoft.com/office/drawing/2014/main" id="{275FE232-8177-9B0D-FF71-ECA732B1A959}"/>
              </a:ext>
            </a:extLst>
          </p:cNvPr>
          <p:cNvGraphicFramePr>
            <a:graphicFrameLocks noGrp="1"/>
          </p:cNvGraphicFramePr>
          <p:nvPr/>
        </p:nvGraphicFramePr>
        <p:xfrm>
          <a:off x="311150" y="1611676"/>
          <a:ext cx="8521700" cy="2164080"/>
        </p:xfrm>
        <a:graphic>
          <a:graphicData uri="http://schemas.openxmlformats.org/drawingml/2006/table">
            <a:tbl>
              <a:tblPr>
                <a:tableStyleId>{35758FB7-9AC5-4552-8A53-C91805E547FA}</a:tableStyleId>
              </a:tblPr>
              <a:tblGrid>
                <a:gridCol w="4260850">
                  <a:extLst>
                    <a:ext uri="{9D8B030D-6E8A-4147-A177-3AD203B41FA5}">
                      <a16:colId xmlns:a16="http://schemas.microsoft.com/office/drawing/2014/main" val="1029606629"/>
                    </a:ext>
                  </a:extLst>
                </a:gridCol>
                <a:gridCol w="4260850">
                  <a:extLst>
                    <a:ext uri="{9D8B030D-6E8A-4147-A177-3AD203B41FA5}">
                      <a16:colId xmlns:a16="http://schemas.microsoft.com/office/drawing/2014/main" val="144955673"/>
                    </a:ext>
                  </a:extLst>
                </a:gridCol>
              </a:tblGrid>
              <a:tr h="0">
                <a:tc>
                  <a:txBody>
                    <a:bodyPr/>
                    <a:lstStyle/>
                    <a:p>
                      <a:r>
                        <a:rPr lang="en-GB" b="1" dirty="0"/>
                        <a:t>Stakeholder</a:t>
                      </a:r>
                      <a:endParaRPr lang="en-GB" dirty="0"/>
                    </a:p>
                  </a:txBody>
                  <a:tcPr anchor="ctr"/>
                </a:tc>
                <a:tc>
                  <a:txBody>
                    <a:bodyPr/>
                    <a:lstStyle/>
                    <a:p>
                      <a:r>
                        <a:rPr lang="en-GB" b="1"/>
                        <a:t>Role in AI Decision-Making</a:t>
                      </a:r>
                      <a:endParaRPr lang="en-GB"/>
                    </a:p>
                  </a:txBody>
                  <a:tcPr anchor="ctr"/>
                </a:tc>
                <a:extLst>
                  <a:ext uri="{0D108BD9-81ED-4DB2-BD59-A6C34878D82A}">
                    <a16:rowId xmlns:a16="http://schemas.microsoft.com/office/drawing/2014/main" val="2214741402"/>
                  </a:ext>
                </a:extLst>
              </a:tr>
              <a:tr h="0">
                <a:tc>
                  <a:txBody>
                    <a:bodyPr/>
                    <a:lstStyle/>
                    <a:p>
                      <a:r>
                        <a:rPr lang="en-GB" b="1"/>
                        <a:t>Developers (AI Engineers, Data Scientists)</a:t>
                      </a:r>
                      <a:endParaRPr lang="en-GB"/>
                    </a:p>
                  </a:txBody>
                  <a:tcPr anchor="ctr"/>
                </a:tc>
                <a:tc>
                  <a:txBody>
                    <a:bodyPr/>
                    <a:lstStyle/>
                    <a:p>
                      <a:r>
                        <a:rPr lang="en-GB"/>
                        <a:t>Ensure AI fairness, transparency, and unbiased training.</a:t>
                      </a:r>
                    </a:p>
                  </a:txBody>
                  <a:tcPr anchor="ctr"/>
                </a:tc>
                <a:extLst>
                  <a:ext uri="{0D108BD9-81ED-4DB2-BD59-A6C34878D82A}">
                    <a16:rowId xmlns:a16="http://schemas.microsoft.com/office/drawing/2014/main" val="3543892822"/>
                  </a:ext>
                </a:extLst>
              </a:tr>
              <a:tr h="0">
                <a:tc>
                  <a:txBody>
                    <a:bodyPr/>
                    <a:lstStyle/>
                    <a:p>
                      <a:r>
                        <a:rPr lang="en-GB" b="1"/>
                        <a:t>Organizations (Companies, Governments, Institutions)</a:t>
                      </a:r>
                      <a:endParaRPr lang="en-GB"/>
                    </a:p>
                  </a:txBody>
                  <a:tcPr anchor="ctr"/>
                </a:tc>
                <a:tc>
                  <a:txBody>
                    <a:bodyPr/>
                    <a:lstStyle/>
                    <a:p>
                      <a:r>
                        <a:rPr lang="en-GB"/>
                        <a:t>Deploy AI responsibly and ensure compliance.</a:t>
                      </a:r>
                    </a:p>
                  </a:txBody>
                  <a:tcPr anchor="ctr"/>
                </a:tc>
                <a:extLst>
                  <a:ext uri="{0D108BD9-81ED-4DB2-BD59-A6C34878D82A}">
                    <a16:rowId xmlns:a16="http://schemas.microsoft.com/office/drawing/2014/main" val="3864683752"/>
                  </a:ext>
                </a:extLst>
              </a:tr>
              <a:tr h="0">
                <a:tc>
                  <a:txBody>
                    <a:bodyPr/>
                    <a:lstStyle/>
                    <a:p>
                      <a:r>
                        <a:rPr lang="en-GB" b="1"/>
                        <a:t>Users (Customers, Employees, General Public)</a:t>
                      </a:r>
                      <a:endParaRPr lang="en-GB"/>
                    </a:p>
                  </a:txBody>
                  <a:tcPr anchor="ctr"/>
                </a:tc>
                <a:tc>
                  <a:txBody>
                    <a:bodyPr/>
                    <a:lstStyle/>
                    <a:p>
                      <a:r>
                        <a:rPr lang="en-GB"/>
                        <a:t>Understand AI recommendations and raise concerns when needed.</a:t>
                      </a:r>
                    </a:p>
                  </a:txBody>
                  <a:tcPr anchor="ctr"/>
                </a:tc>
                <a:extLst>
                  <a:ext uri="{0D108BD9-81ED-4DB2-BD59-A6C34878D82A}">
                    <a16:rowId xmlns:a16="http://schemas.microsoft.com/office/drawing/2014/main" val="358411494"/>
                  </a:ext>
                </a:extLst>
              </a:tr>
              <a:tr h="0">
                <a:tc>
                  <a:txBody>
                    <a:bodyPr/>
                    <a:lstStyle/>
                    <a:p>
                      <a:r>
                        <a:rPr lang="en-GB" b="1"/>
                        <a:t>Regulators (Lawmakers, AI Ethics Boards)</a:t>
                      </a:r>
                      <a:endParaRPr lang="en-GB"/>
                    </a:p>
                  </a:txBody>
                  <a:tcPr anchor="ctr"/>
                </a:tc>
                <a:tc>
                  <a:txBody>
                    <a:bodyPr/>
                    <a:lstStyle/>
                    <a:p>
                      <a:r>
                        <a:rPr lang="en-GB" dirty="0"/>
                        <a:t>Create policies and ensure AI accountability.</a:t>
                      </a:r>
                    </a:p>
                  </a:txBody>
                  <a:tcPr anchor="ctr"/>
                </a:tc>
                <a:extLst>
                  <a:ext uri="{0D108BD9-81ED-4DB2-BD59-A6C34878D82A}">
                    <a16:rowId xmlns:a16="http://schemas.microsoft.com/office/drawing/2014/main" val="3117749741"/>
                  </a:ext>
                </a:extLst>
              </a:tr>
            </a:tbl>
          </a:graphicData>
        </a:graphic>
      </p:graphicFrame>
    </p:spTree>
    <p:extLst>
      <p:ext uri="{BB962C8B-B14F-4D97-AF65-F5344CB8AC3E}">
        <p14:creationId xmlns:p14="http://schemas.microsoft.com/office/powerpoint/2010/main" val="2081583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1"/>
        <p:cNvGrpSpPr/>
        <p:nvPr/>
      </p:nvGrpSpPr>
      <p:grpSpPr>
        <a:xfrm>
          <a:off x="0" y="0"/>
          <a:ext cx="0" cy="0"/>
          <a:chOff x="0" y="0"/>
          <a:chExt cx="0" cy="0"/>
        </a:xfrm>
      </p:grpSpPr>
      <p:pic>
        <p:nvPicPr>
          <p:cNvPr id="92" name="Google Shape;92;p8"/>
          <p:cNvPicPr preferRelativeResize="0"/>
          <p:nvPr/>
        </p:nvPicPr>
        <p:blipFill rotWithShape="1">
          <a:blip r:embed="rId3">
            <a:alphaModFix amt="60000"/>
          </a:blip>
          <a:srcRect/>
          <a:stretch/>
        </p:blipFill>
        <p:spPr>
          <a:xfrm>
            <a:off x="5789384" y="2713536"/>
            <a:ext cx="3164264" cy="403933"/>
          </a:xfrm>
          <a:prstGeom prst="rect">
            <a:avLst/>
          </a:prstGeom>
          <a:noFill/>
          <a:ln>
            <a:noFill/>
          </a:ln>
        </p:spPr>
      </p:pic>
      <p:sp>
        <p:nvSpPr>
          <p:cNvPr id="93" name="Google Shape;93;p8"/>
          <p:cNvSpPr txBox="1">
            <a:spLocks noGrp="1"/>
          </p:cNvSpPr>
          <p:nvPr>
            <p:ph type="title"/>
          </p:nvPr>
        </p:nvSpPr>
        <p:spPr>
          <a:xfrm>
            <a:off x="137160" y="122160"/>
            <a:ext cx="7720300" cy="494528"/>
          </a:xfrm>
          <a:prstGeom prst="rect">
            <a:avLst/>
          </a:prstGeom>
          <a:noFill/>
          <a:ln>
            <a:noFill/>
          </a:ln>
        </p:spPr>
        <p:txBody>
          <a:bodyPr spcFirstLastPara="1" wrap="square" lIns="91425" tIns="91425" rIns="91425" bIns="91425" anchor="t" anchorCtr="0">
            <a:noAutofit/>
          </a:bodyPr>
          <a:lstStyle/>
          <a:p>
            <a:pPr algn="ctr"/>
            <a:r>
              <a:rPr lang="en-GB" sz="2400" b="1" i="0" u="none" strike="noStrike" dirty="0">
                <a:solidFill>
                  <a:srgbClr val="7030A0"/>
                </a:solidFill>
                <a:effectLst/>
              </a:rPr>
              <a:t>Mechanisms for Establishing Accountability</a:t>
            </a:r>
            <a:br>
              <a:rPr lang="en-GB" sz="2400" b="1" i="0" u="none" strike="noStrike" dirty="0">
                <a:solidFill>
                  <a:srgbClr val="7030A0"/>
                </a:solidFill>
                <a:effectLst/>
              </a:rPr>
            </a:br>
            <a:br>
              <a:rPr lang="en-GB" sz="2400" b="1" i="0" u="none" strike="noStrike" dirty="0">
                <a:solidFill>
                  <a:srgbClr val="7030A0"/>
                </a:solidFill>
                <a:effectLst/>
              </a:rPr>
            </a:br>
            <a:br>
              <a:rPr lang="en-GB" sz="2800" b="1" i="0" u="none" strike="noStrike" dirty="0">
                <a:solidFill>
                  <a:srgbClr val="000000"/>
                </a:solidFill>
                <a:effectLst/>
              </a:rPr>
            </a:br>
            <a:br>
              <a:rPr lang="en-GB" sz="2800" b="1" i="0" u="none" strike="noStrike" dirty="0">
                <a:solidFill>
                  <a:srgbClr val="7030A0"/>
                </a:solidFill>
                <a:effectLst/>
              </a:rPr>
            </a:br>
            <a:br>
              <a:rPr lang="en-GB" sz="1100" b="1" i="0" u="none" strike="noStrike" dirty="0">
                <a:solidFill>
                  <a:srgbClr val="000000"/>
                </a:solidFill>
                <a:effectLst/>
              </a:rPr>
            </a:br>
            <a:br>
              <a:rPr lang="en-US" sz="1600" dirty="0">
                <a:latin typeface="Arial"/>
                <a:ea typeface="Arial"/>
                <a:cs typeface="Arial"/>
                <a:sym typeface="Arial"/>
              </a:rPr>
            </a:br>
            <a:endParaRPr lang="en-US" sz="3200" dirty="0"/>
          </a:p>
        </p:txBody>
      </p:sp>
      <p:sp>
        <p:nvSpPr>
          <p:cNvPr id="3" name="TextBox 2">
            <a:extLst>
              <a:ext uri="{FF2B5EF4-FFF2-40B4-BE49-F238E27FC236}">
                <a16:creationId xmlns:a16="http://schemas.microsoft.com/office/drawing/2014/main" id="{08A713C6-D3E8-A934-0EB9-24FB223FF63D}"/>
              </a:ext>
            </a:extLst>
          </p:cNvPr>
          <p:cNvSpPr txBox="1"/>
          <p:nvPr/>
        </p:nvSpPr>
        <p:spPr>
          <a:xfrm>
            <a:off x="476092" y="743246"/>
            <a:ext cx="7594810" cy="4278094"/>
          </a:xfrm>
          <a:prstGeom prst="rect">
            <a:avLst/>
          </a:prstGeom>
          <a:noFill/>
        </p:spPr>
        <p:txBody>
          <a:bodyPr wrap="square">
            <a:spAutoFit/>
          </a:bodyPr>
          <a:lstStyle/>
          <a:p>
            <a:pPr algn="l">
              <a:buNone/>
            </a:pPr>
            <a:r>
              <a:rPr lang="en-GB" sz="1600" b="0" i="0" u="none" strike="noStrike" dirty="0">
                <a:solidFill>
                  <a:srgbClr val="000000"/>
                </a:solidFill>
                <a:effectLst/>
              </a:rPr>
              <a:t>Several mechanisms help in ensuring AI accountability:</a:t>
            </a:r>
          </a:p>
          <a:p>
            <a:pPr algn="l">
              <a:buNone/>
            </a:pPr>
            <a:endParaRPr lang="en-GB" sz="1600" b="0" i="0" u="none" strike="noStrike" dirty="0">
              <a:solidFill>
                <a:srgbClr val="000000"/>
              </a:solidFill>
              <a:effectLst/>
            </a:endParaRPr>
          </a:p>
          <a:p>
            <a:pPr algn="l">
              <a:buNone/>
            </a:pPr>
            <a:r>
              <a:rPr lang="en-GB" sz="1600" b="1" i="0" u="none" strike="noStrike" dirty="0">
                <a:solidFill>
                  <a:srgbClr val="000000"/>
                </a:solidFill>
                <a:effectLst/>
              </a:rPr>
              <a:t>a) AI Audits</a:t>
            </a:r>
          </a:p>
          <a:p>
            <a:pPr marL="285750" indent="-285750" algn="l">
              <a:buFont typeface="Wingdings" pitchFamily="2" charset="2"/>
              <a:buChar char="Ø"/>
            </a:pPr>
            <a:r>
              <a:rPr lang="en-GB" sz="1600" b="0" i="0" u="none" strike="noStrike" dirty="0">
                <a:solidFill>
                  <a:srgbClr val="000000"/>
                </a:solidFill>
                <a:effectLst/>
              </a:rPr>
              <a:t>Regularly reviewing AI systems to detect biases and unintended consequences.</a:t>
            </a:r>
          </a:p>
          <a:p>
            <a:pPr marL="285750" indent="-285750" algn="l">
              <a:buFont typeface="Wingdings" pitchFamily="2" charset="2"/>
              <a:buChar char="Ø"/>
            </a:pPr>
            <a:r>
              <a:rPr lang="en-GB" sz="1600" b="0" i="0" u="none" strike="noStrike" dirty="0">
                <a:solidFill>
                  <a:srgbClr val="000000"/>
                </a:solidFill>
                <a:effectLst/>
              </a:rPr>
              <a:t>Identifying errors in training data, model performance, and real-world applications.</a:t>
            </a:r>
          </a:p>
          <a:p>
            <a:pPr algn="l">
              <a:buFont typeface="Arial" panose="020B0604020202020204" pitchFamily="34" charset="0"/>
              <a:buChar char="•"/>
            </a:pPr>
            <a:endParaRPr lang="en-GB" sz="1600" b="0" i="0" u="none" strike="noStrike" dirty="0">
              <a:solidFill>
                <a:srgbClr val="000000"/>
              </a:solidFill>
              <a:effectLst/>
            </a:endParaRPr>
          </a:p>
          <a:p>
            <a:pPr algn="l">
              <a:buNone/>
            </a:pPr>
            <a:r>
              <a:rPr lang="en-GB" sz="1600" b="1" i="0" u="none" strike="noStrike" dirty="0">
                <a:solidFill>
                  <a:srgbClr val="000000"/>
                </a:solidFill>
                <a:effectLst/>
              </a:rPr>
              <a:t>b) Certifications and Standards</a:t>
            </a:r>
          </a:p>
          <a:p>
            <a:pPr marL="285750" indent="-285750" algn="l">
              <a:buFont typeface="Wingdings" pitchFamily="2" charset="2"/>
              <a:buChar char="Ø"/>
            </a:pPr>
            <a:r>
              <a:rPr lang="en-GB" sz="1600" b="0" i="0" u="none" strike="noStrike" dirty="0">
                <a:solidFill>
                  <a:srgbClr val="000000"/>
                </a:solidFill>
                <a:effectLst/>
              </a:rPr>
              <a:t>AI systems can be assessed against frameworks such as:</a:t>
            </a:r>
          </a:p>
          <a:p>
            <a:pPr marL="742950" lvl="1" indent="-285750" algn="l">
              <a:buFont typeface="Wingdings" pitchFamily="2" charset="2"/>
              <a:buChar char="Ø"/>
            </a:pPr>
            <a:r>
              <a:rPr lang="en-GB" sz="1600" b="1" i="0" u="none" strike="noStrike" dirty="0">
                <a:solidFill>
                  <a:srgbClr val="000000"/>
                </a:solidFill>
                <a:effectLst/>
              </a:rPr>
              <a:t>ISO/IEC 42001</a:t>
            </a:r>
            <a:r>
              <a:rPr lang="en-GB" sz="1600" b="0" i="0" u="none" strike="noStrike" dirty="0">
                <a:solidFill>
                  <a:srgbClr val="000000"/>
                </a:solidFill>
                <a:effectLst/>
              </a:rPr>
              <a:t> – AI management system standards.</a:t>
            </a:r>
          </a:p>
          <a:p>
            <a:pPr marL="742950" lvl="1" indent="-285750" algn="l">
              <a:buFont typeface="Wingdings" pitchFamily="2" charset="2"/>
              <a:buChar char="Ø"/>
            </a:pPr>
            <a:r>
              <a:rPr lang="en-GB" sz="1600" b="1" i="0" u="none" strike="noStrike" dirty="0">
                <a:solidFill>
                  <a:srgbClr val="000000"/>
                </a:solidFill>
                <a:effectLst/>
              </a:rPr>
              <a:t>IEEE Ethically Aligned Design</a:t>
            </a:r>
            <a:r>
              <a:rPr lang="en-GB" sz="1600" b="0" i="0" u="none" strike="noStrike" dirty="0">
                <a:solidFill>
                  <a:srgbClr val="000000"/>
                </a:solidFill>
                <a:effectLst/>
              </a:rPr>
              <a:t> – Guidelines for responsible AI.</a:t>
            </a:r>
          </a:p>
          <a:p>
            <a:pPr marL="285750" indent="-285750" algn="l">
              <a:buFont typeface="Wingdings" pitchFamily="2" charset="2"/>
              <a:buChar char="Ø"/>
            </a:pPr>
            <a:r>
              <a:rPr lang="en-GB" sz="1600" b="0" i="0" u="none" strike="noStrike" dirty="0">
                <a:solidFill>
                  <a:srgbClr val="000000"/>
                </a:solidFill>
                <a:effectLst/>
              </a:rPr>
              <a:t>Certification ensures AI compliance with ethical and legal standards.</a:t>
            </a:r>
          </a:p>
          <a:p>
            <a:pPr algn="l">
              <a:buFont typeface="Arial" panose="020B0604020202020204" pitchFamily="34" charset="0"/>
              <a:buChar char="•"/>
            </a:pPr>
            <a:endParaRPr lang="en-GB" sz="1600" b="0" i="0" u="none" strike="noStrike" dirty="0">
              <a:solidFill>
                <a:srgbClr val="000000"/>
              </a:solidFill>
              <a:effectLst/>
            </a:endParaRPr>
          </a:p>
          <a:p>
            <a:pPr algn="l">
              <a:buNone/>
            </a:pPr>
            <a:r>
              <a:rPr lang="en-GB" sz="1600" b="1" i="0" u="none" strike="noStrike" dirty="0">
                <a:solidFill>
                  <a:srgbClr val="000000"/>
                </a:solidFill>
                <a:effectLst/>
              </a:rPr>
              <a:t>c) Ethical Boards &amp; Governance Committees</a:t>
            </a:r>
          </a:p>
          <a:p>
            <a:pPr marL="285750" indent="-285750" algn="l">
              <a:buFont typeface="Wingdings" pitchFamily="2" charset="2"/>
              <a:buChar char="Ø"/>
            </a:pPr>
            <a:r>
              <a:rPr lang="en-GB" sz="1600" b="0" i="0" u="none" strike="noStrike" dirty="0">
                <a:solidFill>
                  <a:srgbClr val="000000"/>
                </a:solidFill>
                <a:effectLst/>
              </a:rPr>
              <a:t>Organizations form AI ethics committees to oversee AI deployment.</a:t>
            </a:r>
          </a:p>
          <a:p>
            <a:pPr marL="285750" indent="-285750" algn="l">
              <a:buFont typeface="Wingdings" pitchFamily="2" charset="2"/>
              <a:buChar char="Ø"/>
            </a:pPr>
            <a:r>
              <a:rPr lang="en-GB" sz="1600" b="0" i="0" u="none" strike="noStrike" dirty="0">
                <a:solidFill>
                  <a:srgbClr val="000000"/>
                </a:solidFill>
                <a:effectLst/>
              </a:rPr>
              <a:t>These boards ensure fairness, prevent discrimination, and protect users.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p:cNvGrpSpPr/>
        <p:nvPr/>
      </p:nvGrpSpPr>
      <p:grpSpPr>
        <a:xfrm>
          <a:off x="0" y="0"/>
          <a:ext cx="0" cy="0"/>
          <a:chOff x="0" y="0"/>
          <a:chExt cx="0" cy="0"/>
        </a:xfrm>
      </p:grpSpPr>
      <p:sp>
        <p:nvSpPr>
          <p:cNvPr id="100" name="Google Shape;100;p9"/>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2000" dirty="0">
                <a:solidFill>
                  <a:srgbClr val="7030A0"/>
                </a:solidFill>
              </a:rPr>
              <a:t>Summarizing </a:t>
            </a:r>
            <a:r>
              <a:rPr lang="en-GB" sz="2000" b="1" i="0" u="none" strike="noStrike" dirty="0">
                <a:solidFill>
                  <a:srgbClr val="7030A0"/>
                </a:solidFill>
                <a:effectLst/>
              </a:rPr>
              <a:t>AI Accountability</a:t>
            </a:r>
            <a:br>
              <a:rPr lang="en-GB" sz="2000" b="1" i="0" u="none" strike="noStrike" dirty="0">
                <a:solidFill>
                  <a:srgbClr val="7030A0"/>
                </a:solidFill>
                <a:effectLst/>
              </a:rPr>
            </a:br>
            <a:br>
              <a:rPr lang="en-GB" sz="1600" dirty="0">
                <a:latin typeface="Arial"/>
                <a:ea typeface="Arial"/>
                <a:cs typeface="Arial"/>
                <a:sym typeface="Arial"/>
              </a:rPr>
            </a:br>
            <a:br>
              <a:rPr lang="en-GB" sz="2000" b="1" i="0" u="none" strike="noStrike" dirty="0">
                <a:solidFill>
                  <a:srgbClr val="000000"/>
                </a:solidFill>
                <a:effectLst/>
              </a:rPr>
            </a:br>
            <a:r>
              <a:rPr lang="en-GB" sz="1600" b="0" i="0" u="none" strike="noStrike" dirty="0">
                <a:solidFill>
                  <a:srgbClr val="000000"/>
                </a:solidFill>
                <a:effectLst/>
              </a:rPr>
              <a:t>AI accountability is crucial to prevent misuse and ensure fairness.</a:t>
            </a:r>
            <a:br>
              <a:rPr lang="en-GB" sz="1600" b="0" i="0" u="none" strike="noStrike" dirty="0">
                <a:solidFill>
                  <a:srgbClr val="000000"/>
                </a:solidFill>
                <a:effectLst/>
              </a:rPr>
            </a:br>
            <a:r>
              <a:rPr lang="en-GB" sz="1600" b="0" i="0" u="none" strike="noStrike" dirty="0">
                <a:solidFill>
                  <a:srgbClr val="000000"/>
                </a:solidFill>
                <a:effectLst/>
              </a:rPr>
              <a:t>Multiple stakeholders (developers, organizations, users, regulators) play a role in accountability.</a:t>
            </a:r>
            <a:br>
              <a:rPr lang="en-GB" sz="1600" b="0" i="0" u="none" strike="noStrike" dirty="0">
                <a:solidFill>
                  <a:srgbClr val="000000"/>
                </a:solidFill>
                <a:effectLst/>
              </a:rPr>
            </a:br>
            <a:br>
              <a:rPr lang="en-GB" sz="1600" b="0" i="0" u="none" strike="noStrike" dirty="0">
                <a:solidFill>
                  <a:srgbClr val="000000"/>
                </a:solidFill>
                <a:effectLst/>
              </a:rPr>
            </a:br>
            <a:r>
              <a:rPr lang="en-GB" sz="1600" b="0" i="0" u="none" strike="noStrike" dirty="0">
                <a:solidFill>
                  <a:srgbClr val="000000"/>
                </a:solidFill>
                <a:effectLst/>
              </a:rPr>
              <a:t>AI audits, certifications, and ethical boards help monitor and enforce responsible AI use.</a:t>
            </a:r>
            <a:br>
              <a:rPr lang="en-GB" sz="1600" b="0" i="0" u="none" strike="noStrike" dirty="0">
                <a:solidFill>
                  <a:srgbClr val="000000"/>
                </a:solidFill>
                <a:effectLst/>
              </a:rPr>
            </a:br>
            <a:br>
              <a:rPr lang="en-GB" sz="1600" b="0" i="0" u="none" strike="noStrike" dirty="0">
                <a:solidFill>
                  <a:srgbClr val="000000"/>
                </a:solidFill>
                <a:effectLst/>
              </a:rPr>
            </a:br>
            <a:r>
              <a:rPr lang="en-GB" sz="1600" b="0" i="0" u="none" strike="noStrike" dirty="0">
                <a:solidFill>
                  <a:srgbClr val="000000"/>
                </a:solidFill>
                <a:effectLst/>
              </a:rPr>
              <a:t>Accountability in AI is critical to building trust and mitigating risks. Developers, organizations, and regulators must collaborate to ensure AI systems are transparent, fair, and responsible.</a:t>
            </a:r>
            <a:br>
              <a:rPr lang="en-GB" sz="1600" b="0" i="0" u="none" strike="noStrike" dirty="0">
                <a:solidFill>
                  <a:srgbClr val="000000"/>
                </a:solidFill>
                <a:effectLst/>
              </a:rPr>
            </a:br>
            <a:br>
              <a:rPr lang="en-GB" sz="1600" b="0" i="0" u="none" strike="noStrike" dirty="0">
                <a:solidFill>
                  <a:srgbClr val="000000"/>
                </a:solidFill>
                <a:effectLst/>
              </a:rPr>
            </a:br>
            <a:r>
              <a:rPr lang="en-GB" sz="1600" b="0" i="0" u="none" strike="noStrike" dirty="0">
                <a:solidFill>
                  <a:srgbClr val="000000"/>
                </a:solidFill>
                <a:effectLst/>
              </a:rPr>
              <a:t>By implementing audits, certifications, and ethical oversight, we can create AI systems that align with human values and societal expectations.</a:t>
            </a:r>
            <a:br>
              <a:rPr lang="en-GB" sz="1600" b="0" i="0" u="none" strike="noStrike" dirty="0">
                <a:solidFill>
                  <a:srgbClr val="000000"/>
                </a:solidFill>
                <a:effectLst/>
              </a:rPr>
            </a:br>
            <a:br>
              <a:rPr lang="en-GB" sz="2000" b="0" i="0" u="none" strike="noStrike" dirty="0">
                <a:solidFill>
                  <a:srgbClr val="000000"/>
                </a:solidFill>
                <a:effectLst/>
              </a:rPr>
            </a:br>
            <a:endParaRPr lang="en-GB"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25718A45-9D95-C2EE-3EBA-FE320D4D1C73}"/>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0421EDE4-2722-9699-8229-BBD15CBA7438}"/>
              </a:ext>
            </a:extLst>
          </p:cNvPr>
          <p:cNvPicPr preferRelativeResize="0"/>
          <p:nvPr/>
        </p:nvPicPr>
        <p:blipFill rotWithShape="1">
          <a:blip r:embed="rId3">
            <a:alphaModFix amt="60000"/>
          </a:blip>
          <a:srcRect/>
          <a:stretch/>
        </p:blipFill>
        <p:spPr>
          <a:xfrm>
            <a:off x="3544650" y="177900"/>
            <a:ext cx="5408998" cy="2939569"/>
          </a:xfrm>
          <a:prstGeom prst="rect">
            <a:avLst/>
          </a:prstGeom>
          <a:noFill/>
          <a:ln>
            <a:noFill/>
          </a:ln>
        </p:spPr>
      </p:pic>
      <p:sp>
        <p:nvSpPr>
          <p:cNvPr id="100" name="Google Shape;100;p9">
            <a:extLst>
              <a:ext uri="{FF2B5EF4-FFF2-40B4-BE49-F238E27FC236}">
                <a16:creationId xmlns:a16="http://schemas.microsoft.com/office/drawing/2014/main" id="{C51D873F-7159-798E-07AF-834574BB51BD}"/>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1800" b="1" i="0" u="none" strike="noStrike" dirty="0">
                <a:solidFill>
                  <a:srgbClr val="7030A0"/>
                </a:solidFill>
                <a:effectLst/>
              </a:rPr>
              <a:t>Emerging Challenges in AI Governance</a:t>
            </a:r>
          </a:p>
          <a:p>
            <a:br>
              <a:rPr lang="en-GB" sz="18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2000" b="0" i="0" u="none" strike="noStrike" dirty="0">
                <a:solidFill>
                  <a:srgbClr val="000000"/>
                </a:solidFill>
                <a:effectLst/>
              </a:rPr>
            </a:br>
            <a:endParaRPr lang="en-GB" sz="3200" dirty="0"/>
          </a:p>
        </p:txBody>
      </p:sp>
      <p:sp>
        <p:nvSpPr>
          <p:cNvPr id="3" name="TextBox 2">
            <a:extLst>
              <a:ext uri="{FF2B5EF4-FFF2-40B4-BE49-F238E27FC236}">
                <a16:creationId xmlns:a16="http://schemas.microsoft.com/office/drawing/2014/main" id="{66BCD8BB-9F44-F6FD-154D-544477D78B81}"/>
              </a:ext>
            </a:extLst>
          </p:cNvPr>
          <p:cNvSpPr txBox="1"/>
          <p:nvPr/>
        </p:nvSpPr>
        <p:spPr>
          <a:xfrm>
            <a:off x="308387" y="869678"/>
            <a:ext cx="3574472" cy="3539430"/>
          </a:xfrm>
          <a:prstGeom prst="rect">
            <a:avLst/>
          </a:prstGeom>
          <a:noFill/>
        </p:spPr>
        <p:txBody>
          <a:bodyPr wrap="square">
            <a:spAutoFit/>
          </a:bodyPr>
          <a:lstStyle/>
          <a:p>
            <a:pPr algn="l">
              <a:buNone/>
            </a:pPr>
            <a:endParaRPr lang="en-GB" b="1" i="0" u="none" strike="noStrike" dirty="0">
              <a:solidFill>
                <a:srgbClr val="000000"/>
              </a:solidFill>
              <a:effectLst/>
            </a:endParaRPr>
          </a:p>
          <a:p>
            <a:pPr algn="l">
              <a:buNone/>
            </a:pPr>
            <a:r>
              <a:rPr lang="en-GB" b="1" i="0" u="none" strike="noStrike" dirty="0">
                <a:solidFill>
                  <a:srgbClr val="000000"/>
                </a:solidFill>
                <a:effectLst/>
              </a:rPr>
              <a:t>What is AI Governance?</a:t>
            </a:r>
          </a:p>
          <a:p>
            <a:pPr algn="l">
              <a:buNone/>
            </a:pPr>
            <a:r>
              <a:rPr lang="en-GB" b="0" i="0" u="none" strike="noStrike" dirty="0">
                <a:solidFill>
                  <a:srgbClr val="000000"/>
                </a:solidFill>
                <a:effectLst/>
              </a:rPr>
              <a:t>AI governance refers to the </a:t>
            </a:r>
            <a:r>
              <a:rPr lang="en-GB" b="1" i="0" u="none" strike="noStrike" dirty="0">
                <a:solidFill>
                  <a:srgbClr val="000000"/>
                </a:solidFill>
                <a:effectLst/>
              </a:rPr>
              <a:t>rules, policies, and ethical guidelines</a:t>
            </a:r>
            <a:r>
              <a:rPr lang="en-GB" b="0" i="0" u="none" strike="noStrike" dirty="0">
                <a:solidFill>
                  <a:srgbClr val="000000"/>
                </a:solidFill>
                <a:effectLst/>
              </a:rPr>
              <a:t> that ensure AI is developed and used responsibly.</a:t>
            </a:r>
          </a:p>
          <a:p>
            <a:pPr algn="l"/>
            <a:r>
              <a:rPr lang="en-GB" b="0" i="0" u="none" strike="noStrike" dirty="0">
                <a:solidFill>
                  <a:srgbClr val="000000"/>
                </a:solidFill>
                <a:effectLst/>
              </a:rPr>
              <a:t>It covers:</a:t>
            </a:r>
          </a:p>
          <a:p>
            <a:pPr marL="285750" indent="-285750" algn="l">
              <a:buFont typeface="Wingdings" pitchFamily="2" charset="2"/>
              <a:buChar char="ü"/>
            </a:pPr>
            <a:r>
              <a:rPr lang="en-GB" b="0" i="0" u="none" strike="noStrike" dirty="0">
                <a:solidFill>
                  <a:srgbClr val="000000"/>
                </a:solidFill>
                <a:effectLst/>
              </a:rPr>
              <a:t>Ethical considerations (</a:t>
            </a:r>
            <a:r>
              <a:rPr lang="en-GB" b="1" i="0" u="none" strike="noStrike" dirty="0">
                <a:solidFill>
                  <a:srgbClr val="000000"/>
                </a:solidFill>
                <a:effectLst/>
              </a:rPr>
              <a:t>bias, fairness, transparency</a:t>
            </a:r>
            <a:r>
              <a:rPr lang="en-GB" b="0" i="0" u="none" strike="noStrike" dirty="0">
                <a:solidFill>
                  <a:srgbClr val="000000"/>
                </a:solidFill>
                <a:effectLst/>
              </a:rPr>
              <a:t>)</a:t>
            </a:r>
            <a:endParaRPr lang="en-GB" dirty="0"/>
          </a:p>
          <a:p>
            <a:pPr marL="285750" indent="-285750" algn="l">
              <a:buFont typeface="Wingdings" pitchFamily="2" charset="2"/>
              <a:buChar char="ü"/>
            </a:pPr>
            <a:r>
              <a:rPr lang="en-GB" b="0" i="0" u="none" strike="noStrike" dirty="0">
                <a:solidFill>
                  <a:srgbClr val="000000"/>
                </a:solidFill>
                <a:effectLst/>
              </a:rPr>
              <a:t>Legal and regulatory compliance (</a:t>
            </a:r>
            <a:r>
              <a:rPr lang="en-GB" b="1" i="0" u="none" strike="noStrike" dirty="0">
                <a:solidFill>
                  <a:srgbClr val="000000"/>
                </a:solidFill>
                <a:effectLst/>
              </a:rPr>
              <a:t>global vs. local laws</a:t>
            </a:r>
            <a:r>
              <a:rPr lang="en-GB" b="0" i="0" u="none" strike="noStrike" dirty="0">
                <a:solidFill>
                  <a:srgbClr val="000000"/>
                </a:solidFill>
                <a:effectLst/>
              </a:rPr>
              <a:t>)</a:t>
            </a:r>
            <a:endParaRPr lang="en-GB" dirty="0"/>
          </a:p>
          <a:p>
            <a:pPr marL="285750" indent="-285750" algn="l">
              <a:buFont typeface="Wingdings" pitchFamily="2" charset="2"/>
              <a:buChar char="ü"/>
            </a:pPr>
            <a:r>
              <a:rPr lang="en-GB" b="0" i="0" u="none" strike="noStrike" dirty="0">
                <a:solidFill>
                  <a:srgbClr val="000000"/>
                </a:solidFill>
                <a:effectLst/>
              </a:rPr>
              <a:t>Responsible AI use in </a:t>
            </a:r>
            <a:r>
              <a:rPr lang="en-GB" b="1" i="0" u="none" strike="noStrike" dirty="0">
                <a:solidFill>
                  <a:srgbClr val="000000"/>
                </a:solidFill>
                <a:effectLst/>
              </a:rPr>
              <a:t>critical sectors</a:t>
            </a:r>
            <a:endParaRPr lang="en-GB" b="0" i="0" u="none" strike="noStrike" dirty="0">
              <a:solidFill>
                <a:srgbClr val="000000"/>
              </a:solidFill>
              <a:effectLst/>
            </a:endParaRPr>
          </a:p>
          <a:p>
            <a:r>
              <a:rPr lang="en-GB" b="1" dirty="0"/>
              <a:t>Example:</a:t>
            </a:r>
            <a:r>
              <a:rPr lang="en-GB" dirty="0"/>
              <a:t> AI in self-driving cars must follow </a:t>
            </a:r>
            <a:r>
              <a:rPr lang="en-GB" b="1" dirty="0"/>
              <a:t>safety standards, ethical policies, and government regulations</a:t>
            </a:r>
            <a:r>
              <a:rPr lang="en-GB" dirty="0"/>
              <a:t> to ensure road safety.</a:t>
            </a:r>
          </a:p>
        </p:txBody>
      </p:sp>
      <p:pic>
        <p:nvPicPr>
          <p:cNvPr id="6" name="Picture 5" descr="A diagram of a diagram&#10;&#10;AI-generated content may be incorrect.">
            <a:extLst>
              <a:ext uri="{FF2B5EF4-FFF2-40B4-BE49-F238E27FC236}">
                <a16:creationId xmlns:a16="http://schemas.microsoft.com/office/drawing/2014/main" id="{A4787B0D-1731-DCE2-0EC0-097391D0C436}"/>
              </a:ext>
            </a:extLst>
          </p:cNvPr>
          <p:cNvPicPr>
            <a:picLocks noChangeAspect="1"/>
          </p:cNvPicPr>
          <p:nvPr/>
        </p:nvPicPr>
        <p:blipFill>
          <a:blip r:embed="rId4"/>
          <a:stretch>
            <a:fillRect/>
          </a:stretch>
        </p:blipFill>
        <p:spPr>
          <a:xfrm>
            <a:off x="3858017" y="976170"/>
            <a:ext cx="5095631" cy="3759250"/>
          </a:xfrm>
          <a:prstGeom prst="rect">
            <a:avLst/>
          </a:prstGeom>
        </p:spPr>
      </p:pic>
    </p:spTree>
    <p:extLst>
      <p:ext uri="{BB962C8B-B14F-4D97-AF65-F5344CB8AC3E}">
        <p14:creationId xmlns:p14="http://schemas.microsoft.com/office/powerpoint/2010/main" val="1368636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16E74AFF-9E6A-B59F-07FE-B08EB98FFCA1}"/>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5C9F185F-9174-9E5C-E991-EF27C52404B8}"/>
              </a:ext>
            </a:extLst>
          </p:cNvPr>
          <p:cNvPicPr preferRelativeResize="0"/>
          <p:nvPr/>
        </p:nvPicPr>
        <p:blipFill rotWithShape="1">
          <a:blip r:embed="rId3">
            <a:alphaModFix amt="60000"/>
          </a:blip>
          <a:srcRect/>
          <a:stretch/>
        </p:blipFill>
        <p:spPr>
          <a:xfrm>
            <a:off x="5659200" y="1790800"/>
            <a:ext cx="5408998" cy="2939569"/>
          </a:xfrm>
          <a:prstGeom prst="rect">
            <a:avLst/>
          </a:prstGeom>
          <a:noFill/>
          <a:ln>
            <a:noFill/>
          </a:ln>
        </p:spPr>
      </p:pic>
      <p:sp>
        <p:nvSpPr>
          <p:cNvPr id="100" name="Google Shape;100;p9">
            <a:extLst>
              <a:ext uri="{FF2B5EF4-FFF2-40B4-BE49-F238E27FC236}">
                <a16:creationId xmlns:a16="http://schemas.microsoft.com/office/drawing/2014/main" id="{6317E372-497F-291B-3C05-C30A3E0FA10B}"/>
              </a:ext>
            </a:extLst>
          </p:cNvPr>
          <p:cNvSpPr txBox="1">
            <a:spLocks noGrp="1"/>
          </p:cNvSpPr>
          <p:nvPr>
            <p:ph type="title"/>
          </p:nvPr>
        </p:nvSpPr>
        <p:spPr>
          <a:xfrm>
            <a:off x="872950" y="122160"/>
            <a:ext cx="6984510" cy="494528"/>
          </a:xfrm>
          <a:prstGeom prst="rect">
            <a:avLst/>
          </a:prstGeom>
          <a:noFill/>
          <a:ln>
            <a:noFill/>
          </a:ln>
        </p:spPr>
        <p:txBody>
          <a:bodyPr spcFirstLastPara="1" wrap="square" lIns="91425" tIns="91425" rIns="91425" bIns="91425" anchor="t" anchorCtr="0">
            <a:noAutofit/>
          </a:bodyPr>
          <a:lstStyle/>
          <a:p>
            <a:r>
              <a:rPr lang="en-GB" sz="2400" b="1" i="0" u="none" strike="noStrike" dirty="0">
                <a:solidFill>
                  <a:srgbClr val="7030A0"/>
                </a:solidFill>
                <a:effectLst/>
              </a:rPr>
              <a:t>Ethical Challenges in AI Deployment</a:t>
            </a:r>
            <a:br>
              <a:rPr lang="en-GB" sz="2400" b="1" i="0" u="none" strike="noStrike" dirty="0">
                <a:solidFill>
                  <a:srgbClr val="7030A0"/>
                </a:solidFill>
                <a:effectLst/>
              </a:rPr>
            </a:br>
            <a:br>
              <a:rPr lang="en-GB" sz="2400" dirty="0">
                <a:latin typeface="Calibri"/>
                <a:cs typeface="Calibri"/>
              </a:rPr>
            </a:br>
            <a:br>
              <a:rPr lang="en-GB" sz="8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1E333503-F416-9391-1070-B1AF231DE3BA}"/>
              </a:ext>
            </a:extLst>
          </p:cNvPr>
          <p:cNvSpPr txBox="1"/>
          <p:nvPr/>
        </p:nvSpPr>
        <p:spPr>
          <a:xfrm>
            <a:off x="324952" y="861848"/>
            <a:ext cx="7872530" cy="3754874"/>
          </a:xfrm>
          <a:prstGeom prst="rect">
            <a:avLst/>
          </a:prstGeom>
          <a:noFill/>
        </p:spPr>
        <p:txBody>
          <a:bodyPr wrap="square">
            <a:spAutoFit/>
          </a:bodyPr>
          <a:lstStyle/>
          <a:p>
            <a:pPr algn="l">
              <a:buNone/>
            </a:pPr>
            <a:r>
              <a:rPr lang="en-GB" b="0" i="0" u="none" strike="noStrike" dirty="0">
                <a:solidFill>
                  <a:srgbClr val="000000"/>
                </a:solidFill>
                <a:effectLst/>
              </a:rPr>
              <a:t>Despite AI’s benefits, its deployment raises </a:t>
            </a:r>
            <a:r>
              <a:rPr lang="en-GB" b="1" i="0" u="none" strike="noStrike" dirty="0">
                <a:solidFill>
                  <a:srgbClr val="000000"/>
                </a:solidFill>
                <a:effectLst/>
              </a:rPr>
              <a:t>ethical concerns</a:t>
            </a:r>
            <a:r>
              <a:rPr lang="en-GB" b="0" i="0" u="none" strike="noStrike" dirty="0">
                <a:solidFill>
                  <a:srgbClr val="000000"/>
                </a:solidFill>
                <a:effectLst/>
              </a:rPr>
              <a:t>, including:</a:t>
            </a:r>
          </a:p>
          <a:p>
            <a:pPr algn="l">
              <a:buNone/>
            </a:pPr>
            <a:r>
              <a:rPr lang="en-GB" b="1" i="0" u="none" strike="noStrike" dirty="0">
                <a:solidFill>
                  <a:srgbClr val="000000"/>
                </a:solidFill>
                <a:effectLst/>
              </a:rPr>
              <a:t>a) Bias and Fairness</a:t>
            </a:r>
          </a:p>
          <a:p>
            <a:pPr algn="l">
              <a:buFont typeface="Arial" panose="020B0604020202020204" pitchFamily="34" charset="0"/>
              <a:buChar char="•"/>
            </a:pPr>
            <a:r>
              <a:rPr lang="en-GB" b="0" i="0" u="none" strike="noStrike" dirty="0">
                <a:solidFill>
                  <a:srgbClr val="000000"/>
                </a:solidFill>
                <a:effectLst/>
              </a:rPr>
              <a:t>AI models learn from </a:t>
            </a:r>
            <a:r>
              <a:rPr lang="en-GB" b="1" i="0" u="none" strike="noStrike" dirty="0">
                <a:solidFill>
                  <a:srgbClr val="000000"/>
                </a:solidFill>
                <a:effectLst/>
              </a:rPr>
              <a:t>historical data</a:t>
            </a:r>
            <a:r>
              <a:rPr lang="en-GB" b="0" i="0" u="none" strike="noStrike" dirty="0">
                <a:solidFill>
                  <a:srgbClr val="000000"/>
                </a:solidFill>
                <a:effectLst/>
              </a:rPr>
              <a:t>, which may contain </a:t>
            </a:r>
            <a:r>
              <a:rPr lang="en-GB" b="1" i="0" u="none" strike="noStrike" dirty="0">
                <a:solidFill>
                  <a:srgbClr val="000000"/>
                </a:solidFill>
                <a:effectLst/>
              </a:rPr>
              <a:t>biases</a:t>
            </a:r>
            <a:r>
              <a:rPr lang="en-GB" b="0" i="0" u="none" strike="noStrike" dirty="0">
                <a:solidFill>
                  <a:srgbClr val="000000"/>
                </a:solidFill>
                <a:effectLst/>
              </a:rPr>
              <a:t>.</a:t>
            </a:r>
          </a:p>
          <a:p>
            <a:pPr algn="l">
              <a:buFont typeface="Arial" panose="020B0604020202020204" pitchFamily="34" charset="0"/>
              <a:buChar char="•"/>
            </a:pPr>
            <a:r>
              <a:rPr lang="en-GB" b="0" i="0" u="none" strike="noStrike" dirty="0">
                <a:solidFill>
                  <a:srgbClr val="000000"/>
                </a:solidFill>
                <a:effectLst/>
              </a:rPr>
              <a:t>If not addressed, AI can </a:t>
            </a:r>
            <a:r>
              <a:rPr lang="en-GB" b="1" i="0" u="none" strike="noStrike" dirty="0">
                <a:solidFill>
                  <a:srgbClr val="000000"/>
                </a:solidFill>
                <a:effectLst/>
              </a:rPr>
              <a:t>discriminate</a:t>
            </a:r>
            <a:r>
              <a:rPr lang="en-GB" b="0" i="0" u="none" strike="noStrike" dirty="0">
                <a:solidFill>
                  <a:srgbClr val="000000"/>
                </a:solidFill>
                <a:effectLst/>
              </a:rPr>
              <a:t> against certain groups.</a:t>
            </a:r>
          </a:p>
          <a:p>
            <a:pPr>
              <a:buNone/>
            </a:pPr>
            <a:r>
              <a:rPr lang="en-GB" b="1" dirty="0"/>
              <a:t>Example:</a:t>
            </a:r>
            <a:r>
              <a:rPr lang="en-GB" dirty="0"/>
              <a:t> A hiring AI system </a:t>
            </a:r>
            <a:r>
              <a:rPr lang="en-GB" b="1" dirty="0"/>
              <a:t>prefers male candidates</a:t>
            </a:r>
            <a:r>
              <a:rPr lang="en-GB" dirty="0"/>
              <a:t> because it was trained on past hiring data that had gender bias.</a:t>
            </a:r>
          </a:p>
          <a:p>
            <a:pPr algn="l">
              <a:buNone/>
            </a:pPr>
            <a:r>
              <a:rPr lang="en-GB" b="1" i="0" u="none" strike="noStrike" dirty="0">
                <a:solidFill>
                  <a:srgbClr val="000000"/>
                </a:solidFill>
                <a:effectLst/>
              </a:rPr>
              <a:t>b) Privacy and Security Risks</a:t>
            </a:r>
          </a:p>
          <a:p>
            <a:pPr algn="l">
              <a:buFont typeface="Arial" panose="020B0604020202020204" pitchFamily="34" charset="0"/>
              <a:buChar char="•"/>
            </a:pPr>
            <a:r>
              <a:rPr lang="en-GB" b="0" i="0" u="none" strike="noStrike" dirty="0">
                <a:solidFill>
                  <a:srgbClr val="000000"/>
                </a:solidFill>
                <a:effectLst/>
              </a:rPr>
              <a:t>AI systems collect </a:t>
            </a:r>
            <a:r>
              <a:rPr lang="en-GB" b="1" i="0" u="none" strike="noStrike" dirty="0">
                <a:solidFill>
                  <a:srgbClr val="000000"/>
                </a:solidFill>
                <a:effectLst/>
              </a:rPr>
              <a:t>massive amounts of personal data</a:t>
            </a:r>
            <a:r>
              <a:rPr lang="en-GB" b="0" i="0" u="none" strike="noStrike" dirty="0">
                <a:solidFill>
                  <a:srgbClr val="000000"/>
                </a:solidFill>
                <a:effectLst/>
              </a:rPr>
              <a:t>.</a:t>
            </a:r>
          </a:p>
          <a:p>
            <a:pPr algn="l">
              <a:buFont typeface="Arial" panose="020B0604020202020204" pitchFamily="34" charset="0"/>
              <a:buChar char="•"/>
            </a:pPr>
            <a:r>
              <a:rPr lang="en-GB" b="0" i="0" u="none" strike="noStrike" dirty="0">
                <a:solidFill>
                  <a:srgbClr val="000000"/>
                </a:solidFill>
                <a:effectLst/>
              </a:rPr>
              <a:t>If not protected, this data can be misused for </a:t>
            </a:r>
            <a:r>
              <a:rPr lang="en-GB" b="1" i="0" u="none" strike="noStrike" dirty="0">
                <a:solidFill>
                  <a:srgbClr val="000000"/>
                </a:solidFill>
                <a:effectLst/>
              </a:rPr>
              <a:t>identity theft or surveillance</a:t>
            </a:r>
            <a:r>
              <a:rPr lang="en-GB" b="0" i="0" u="none" strike="noStrike" dirty="0">
                <a:solidFill>
                  <a:srgbClr val="000000"/>
                </a:solidFill>
                <a:effectLst/>
              </a:rPr>
              <a:t>.</a:t>
            </a:r>
          </a:p>
          <a:p>
            <a:pPr>
              <a:buNone/>
            </a:pPr>
            <a:r>
              <a:rPr lang="en-GB" b="1" dirty="0"/>
              <a:t>Example:</a:t>
            </a:r>
            <a:r>
              <a:rPr lang="en-GB" dirty="0"/>
              <a:t> Facial recognition AI in public spaces can track individuals </a:t>
            </a:r>
            <a:r>
              <a:rPr lang="en-GB" b="1" dirty="0"/>
              <a:t>without their consent</a:t>
            </a:r>
            <a:r>
              <a:rPr lang="en-GB" dirty="0"/>
              <a:t>, raising privacy concerns.</a:t>
            </a:r>
          </a:p>
          <a:p>
            <a:pPr algn="l">
              <a:buNone/>
            </a:pPr>
            <a:r>
              <a:rPr lang="en-GB" b="1" i="0" u="none" strike="noStrike" dirty="0">
                <a:solidFill>
                  <a:srgbClr val="000000"/>
                </a:solidFill>
                <a:effectLst/>
              </a:rPr>
              <a:t>c) Transparency and Explainability</a:t>
            </a:r>
          </a:p>
          <a:p>
            <a:pPr algn="l">
              <a:buFont typeface="Arial" panose="020B0604020202020204" pitchFamily="34" charset="0"/>
              <a:buChar char="•"/>
            </a:pPr>
            <a:r>
              <a:rPr lang="en-GB" b="0" i="0" u="none" strike="noStrike" dirty="0">
                <a:solidFill>
                  <a:srgbClr val="000000"/>
                </a:solidFill>
                <a:effectLst/>
              </a:rPr>
              <a:t>Many AI models, like </a:t>
            </a:r>
            <a:r>
              <a:rPr lang="en-GB" b="1" i="0" u="none" strike="noStrike" dirty="0">
                <a:solidFill>
                  <a:srgbClr val="000000"/>
                </a:solidFill>
                <a:effectLst/>
              </a:rPr>
              <a:t>deep learning</a:t>
            </a:r>
            <a:r>
              <a:rPr lang="en-GB" b="0" i="0" u="none" strike="noStrike" dirty="0">
                <a:solidFill>
                  <a:srgbClr val="000000"/>
                </a:solidFill>
                <a:effectLst/>
              </a:rPr>
              <a:t>, act as </a:t>
            </a:r>
            <a:r>
              <a:rPr lang="en-GB" b="1" i="0" u="none" strike="noStrike" dirty="0">
                <a:solidFill>
                  <a:srgbClr val="000000"/>
                </a:solidFill>
                <a:effectLst/>
              </a:rPr>
              <a:t>black boxes</a:t>
            </a:r>
            <a:r>
              <a:rPr lang="en-GB" b="0" i="0" u="none" strike="noStrike" dirty="0">
                <a:solidFill>
                  <a:srgbClr val="000000"/>
                </a:solidFill>
                <a:effectLst/>
              </a:rPr>
              <a:t>, making decisions that </a:t>
            </a:r>
            <a:r>
              <a:rPr lang="en-GB" b="1" i="0" u="none" strike="noStrike" dirty="0">
                <a:solidFill>
                  <a:srgbClr val="000000"/>
                </a:solidFill>
                <a:effectLst/>
              </a:rPr>
              <a:t>humans don’t understand</a:t>
            </a:r>
            <a:r>
              <a:rPr lang="en-GB" b="0" i="0" u="none" strike="noStrike" dirty="0">
                <a:solidFill>
                  <a:srgbClr val="000000"/>
                </a:solidFill>
                <a:effectLst/>
              </a:rPr>
              <a:t>.</a:t>
            </a:r>
          </a:p>
          <a:p>
            <a:pPr algn="l">
              <a:buFont typeface="Arial" panose="020B0604020202020204" pitchFamily="34" charset="0"/>
              <a:buChar char="•"/>
            </a:pPr>
            <a:r>
              <a:rPr lang="en-GB" b="0" i="0" u="none" strike="noStrike" dirty="0">
                <a:solidFill>
                  <a:srgbClr val="000000"/>
                </a:solidFill>
                <a:effectLst/>
              </a:rPr>
              <a:t>Explainability is crucial, especially in </a:t>
            </a:r>
            <a:r>
              <a:rPr lang="en-GB" b="1" i="0" u="none" strike="noStrike" dirty="0">
                <a:solidFill>
                  <a:srgbClr val="000000"/>
                </a:solidFill>
                <a:effectLst/>
              </a:rPr>
              <a:t>healthcare and finance</a:t>
            </a:r>
            <a:r>
              <a:rPr lang="en-GB" b="0" i="0" u="none" strike="noStrike" dirty="0">
                <a:solidFill>
                  <a:srgbClr val="000000"/>
                </a:solidFill>
                <a:effectLst/>
              </a:rPr>
              <a:t>, where wrong decisions </a:t>
            </a:r>
            <a:r>
              <a:rPr lang="en-GB" b="1" i="0" u="none" strike="noStrike" dirty="0">
                <a:solidFill>
                  <a:srgbClr val="000000"/>
                </a:solidFill>
                <a:effectLst/>
              </a:rPr>
              <a:t>affect lives and livelihoods</a:t>
            </a:r>
            <a:r>
              <a:rPr lang="en-GB" b="0" i="0" u="none" strike="noStrike" dirty="0">
                <a:solidFill>
                  <a:srgbClr val="000000"/>
                </a:solidFill>
                <a:effectLst/>
              </a:rPr>
              <a:t>.</a:t>
            </a:r>
          </a:p>
          <a:p>
            <a:r>
              <a:rPr lang="en-GB" b="1" dirty="0"/>
              <a:t>Example:</a:t>
            </a:r>
            <a:r>
              <a:rPr lang="en-GB" dirty="0"/>
              <a:t> A bank's AI denies a loan but </a:t>
            </a:r>
            <a:r>
              <a:rPr lang="en-GB" b="1" dirty="0"/>
              <a:t>doesn’t explain why</a:t>
            </a:r>
            <a:r>
              <a:rPr lang="en-GB" dirty="0"/>
              <a:t>, leaving the applicant helpless.</a:t>
            </a:r>
          </a:p>
        </p:txBody>
      </p:sp>
    </p:spTree>
    <p:extLst>
      <p:ext uri="{BB962C8B-B14F-4D97-AF65-F5344CB8AC3E}">
        <p14:creationId xmlns:p14="http://schemas.microsoft.com/office/powerpoint/2010/main" val="3315047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8E506D86-3564-A2D0-0191-99B8B5B006A9}"/>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FD303E6A-CAC2-50E7-C72E-84D25B190C99}"/>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E9DE5CF7-C686-E292-B9A8-3CD1C6C4E14C}"/>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Regulatory Challenges: Global vs. Local AI Laws</a:t>
            </a:r>
          </a:p>
          <a:p>
            <a:pPr algn="ct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445F97EF-2240-EF65-D2F6-CACA43774222}"/>
              </a:ext>
            </a:extLst>
          </p:cNvPr>
          <p:cNvSpPr txBox="1"/>
          <p:nvPr/>
        </p:nvSpPr>
        <p:spPr>
          <a:xfrm>
            <a:off x="906843" y="1125997"/>
            <a:ext cx="6070180" cy="3108543"/>
          </a:xfrm>
          <a:prstGeom prst="rect">
            <a:avLst/>
          </a:prstGeom>
          <a:noFill/>
        </p:spPr>
        <p:txBody>
          <a:bodyPr wrap="square">
            <a:spAutoFit/>
          </a:bodyPr>
          <a:lstStyle/>
          <a:p>
            <a:pPr algn="l">
              <a:buNone/>
            </a:pPr>
            <a:r>
              <a:rPr lang="en-GB" b="0" i="0" u="none" strike="noStrike" dirty="0">
                <a:solidFill>
                  <a:srgbClr val="000000"/>
                </a:solidFill>
                <a:effectLst/>
              </a:rPr>
              <a:t>AI regulation is </a:t>
            </a:r>
            <a:r>
              <a:rPr lang="en-GB" b="1" i="0" u="none" strike="noStrike" dirty="0">
                <a:solidFill>
                  <a:srgbClr val="000000"/>
                </a:solidFill>
                <a:effectLst/>
              </a:rPr>
              <a:t>inconsistent across countries</a:t>
            </a:r>
            <a:r>
              <a:rPr lang="en-GB" b="0" i="0" u="none" strike="noStrike" dirty="0">
                <a:solidFill>
                  <a:srgbClr val="000000"/>
                </a:solidFill>
                <a:effectLst/>
              </a:rPr>
              <a:t>, leading to </a:t>
            </a:r>
            <a:r>
              <a:rPr lang="en-GB" b="1" i="0" u="none" strike="noStrike" dirty="0">
                <a:solidFill>
                  <a:srgbClr val="000000"/>
                </a:solidFill>
                <a:effectLst/>
              </a:rPr>
              <a:t>challenges in enforcement</a:t>
            </a:r>
            <a:r>
              <a:rPr lang="en-GB" b="0" i="0" u="none" strike="noStrike" dirty="0">
                <a:solidFill>
                  <a:srgbClr val="000000"/>
                </a:solidFill>
                <a:effectLst/>
              </a:rPr>
              <a:t>.</a:t>
            </a:r>
          </a:p>
          <a:p>
            <a:pPr algn="l">
              <a:buNone/>
            </a:pPr>
            <a:endParaRPr lang="en-GB" b="0" i="0" u="none" strike="noStrike" dirty="0">
              <a:solidFill>
                <a:srgbClr val="000000"/>
              </a:solidFill>
              <a:effectLst/>
            </a:endParaRPr>
          </a:p>
          <a:p>
            <a:pPr marL="342900" indent="-342900" algn="l">
              <a:buAutoNum type="alphaLcParenR"/>
            </a:pPr>
            <a:r>
              <a:rPr lang="en-GB" b="1" i="0" u="none" strike="noStrike" dirty="0">
                <a:solidFill>
                  <a:srgbClr val="000000"/>
                </a:solidFill>
                <a:effectLst/>
              </a:rPr>
              <a:t>Lack of Global AI Standards</a:t>
            </a:r>
          </a:p>
          <a:p>
            <a:pPr marL="342900" indent="-342900" algn="l">
              <a:buAutoNum type="alphaLcParenR"/>
            </a:pPr>
            <a:endParaRPr lang="en-GB" b="1" i="0" u="none" strike="noStrike" dirty="0">
              <a:solidFill>
                <a:srgbClr val="000000"/>
              </a:solidFill>
              <a:effectLst/>
            </a:endParaRPr>
          </a:p>
          <a:p>
            <a:pPr marL="342900" indent="-342900" algn="l">
              <a:buFont typeface="+mj-lt"/>
              <a:buAutoNum type="arabicPeriod"/>
            </a:pPr>
            <a:r>
              <a:rPr lang="en-GB" b="0" i="0" u="none" strike="noStrike" dirty="0">
                <a:solidFill>
                  <a:srgbClr val="000000"/>
                </a:solidFill>
                <a:effectLst/>
              </a:rPr>
              <a:t>Some countries, like the </a:t>
            </a:r>
            <a:r>
              <a:rPr lang="en-GB" b="1" i="0" u="none" strike="noStrike" dirty="0">
                <a:solidFill>
                  <a:srgbClr val="000000"/>
                </a:solidFill>
                <a:effectLst/>
              </a:rPr>
              <a:t>EU</a:t>
            </a:r>
            <a:r>
              <a:rPr lang="en-GB" b="0" i="0" u="none" strike="noStrike" dirty="0">
                <a:solidFill>
                  <a:srgbClr val="000000"/>
                </a:solidFill>
                <a:effectLst/>
              </a:rPr>
              <a:t>, have strict AI laws (e.g., the </a:t>
            </a:r>
            <a:r>
              <a:rPr lang="en-GB" b="1" i="0" u="none" strike="noStrike" dirty="0">
                <a:solidFill>
                  <a:srgbClr val="000000"/>
                </a:solidFill>
                <a:effectLst/>
              </a:rPr>
              <a:t>EU AI Act</a:t>
            </a:r>
            <a:r>
              <a:rPr lang="en-GB" b="0" i="0" u="none" strike="noStrike" dirty="0">
                <a:solidFill>
                  <a:srgbClr val="000000"/>
                </a:solidFill>
                <a:effectLst/>
              </a:rPr>
              <a:t>), while others have </a:t>
            </a:r>
            <a:r>
              <a:rPr lang="en-GB" b="1" i="0" u="none" strike="noStrike" dirty="0">
                <a:solidFill>
                  <a:srgbClr val="000000"/>
                </a:solidFill>
                <a:effectLst/>
              </a:rPr>
              <a:t>loose regulations</a:t>
            </a:r>
            <a:r>
              <a:rPr lang="en-GB" b="0" i="0" u="none" strike="noStrike" dirty="0">
                <a:solidFill>
                  <a:srgbClr val="000000"/>
                </a:solidFill>
                <a:effectLst/>
              </a:rPr>
              <a:t>.</a:t>
            </a:r>
          </a:p>
          <a:p>
            <a:pPr marL="342900" indent="-342900" algn="l">
              <a:buFont typeface="+mj-lt"/>
              <a:buAutoNum type="arabicPeriod"/>
            </a:pPr>
            <a:endParaRPr lang="en-GB" b="0" i="0" u="none" strike="noStrike" dirty="0">
              <a:solidFill>
                <a:srgbClr val="000000"/>
              </a:solidFill>
              <a:effectLst/>
            </a:endParaRPr>
          </a:p>
          <a:p>
            <a:pPr marL="342900" indent="-342900" algn="l">
              <a:buFont typeface="+mj-lt"/>
              <a:buAutoNum type="arabicPeriod"/>
            </a:pPr>
            <a:r>
              <a:rPr lang="en-GB" b="0" i="0" u="none" strike="noStrike" dirty="0">
                <a:solidFill>
                  <a:srgbClr val="000000"/>
                </a:solidFill>
                <a:effectLst/>
              </a:rPr>
              <a:t>This makes it hard to </a:t>
            </a:r>
            <a:r>
              <a:rPr lang="en-GB" b="1" i="0" u="none" strike="noStrike" dirty="0">
                <a:solidFill>
                  <a:srgbClr val="000000"/>
                </a:solidFill>
                <a:effectLst/>
              </a:rPr>
              <a:t>standardize AI safety and ethics globally</a:t>
            </a:r>
            <a:r>
              <a:rPr lang="en-GB" b="0" i="0" u="none" strike="noStrike" dirty="0">
                <a:solidFill>
                  <a:srgbClr val="000000"/>
                </a:solidFill>
                <a:effectLst/>
              </a:rPr>
              <a:t>.</a:t>
            </a:r>
          </a:p>
          <a:p>
            <a:pPr marL="342900" indent="-342900" algn="l">
              <a:buFont typeface="+mj-lt"/>
              <a:buAutoNum type="arabicPeriod"/>
            </a:pPr>
            <a:endParaRPr lang="en-GB" b="0" i="0" u="none" strike="noStrike" dirty="0">
              <a:solidFill>
                <a:srgbClr val="000000"/>
              </a:solidFill>
              <a:effectLst/>
            </a:endParaRPr>
          </a:p>
          <a:p>
            <a:r>
              <a:rPr lang="en-GB" b="1" dirty="0"/>
              <a:t>Example:</a:t>
            </a:r>
            <a:r>
              <a:rPr lang="en-GB" dirty="0"/>
              <a:t> </a:t>
            </a:r>
          </a:p>
          <a:p>
            <a:r>
              <a:rPr lang="en-GB" dirty="0"/>
              <a:t>A U.S. company deploying AI in Europe must </a:t>
            </a:r>
            <a:r>
              <a:rPr lang="en-GB" b="1" dirty="0"/>
              <a:t>comply with GDPR (data privacy laws)</a:t>
            </a:r>
            <a:r>
              <a:rPr lang="en-GB" dirty="0"/>
              <a:t>, but the same AI might be used with </a:t>
            </a:r>
            <a:r>
              <a:rPr lang="en-GB" b="1" dirty="0"/>
              <a:t>fewer restrictions in other countries</a:t>
            </a:r>
            <a:r>
              <a:rPr lang="en-GB" dirty="0"/>
              <a:t>.</a:t>
            </a:r>
          </a:p>
        </p:txBody>
      </p:sp>
    </p:spTree>
    <p:extLst>
      <p:ext uri="{BB962C8B-B14F-4D97-AF65-F5344CB8AC3E}">
        <p14:creationId xmlns:p14="http://schemas.microsoft.com/office/powerpoint/2010/main" val="2051646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21EB6A28-E5D4-01CF-603A-E7B396111950}"/>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69BC4CD7-D4B2-DBB7-B240-30F9A991B4F6}"/>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9B343830-9BDF-C661-C23B-A950CA88FD51}"/>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400" b="1" i="0" u="none" strike="noStrike" dirty="0">
                <a:solidFill>
                  <a:srgbClr val="7030A0"/>
                </a:solidFill>
                <a:effectLst/>
              </a:rPr>
              <a:t>AI and Legal Liability</a:t>
            </a:r>
            <a:br>
              <a:rPr lang="en-GB" sz="24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4" name="TextBox 3">
            <a:extLst>
              <a:ext uri="{FF2B5EF4-FFF2-40B4-BE49-F238E27FC236}">
                <a16:creationId xmlns:a16="http://schemas.microsoft.com/office/drawing/2014/main" id="{BACB63E4-0CA0-706A-C1DE-385C29E04A50}"/>
              </a:ext>
            </a:extLst>
          </p:cNvPr>
          <p:cNvSpPr txBox="1"/>
          <p:nvPr/>
        </p:nvSpPr>
        <p:spPr>
          <a:xfrm>
            <a:off x="137107" y="1294931"/>
            <a:ext cx="3535607" cy="2246769"/>
          </a:xfrm>
          <a:prstGeom prst="rect">
            <a:avLst/>
          </a:prstGeom>
          <a:noFill/>
        </p:spPr>
        <p:txBody>
          <a:bodyPr wrap="square">
            <a:spAutoFit/>
          </a:bodyPr>
          <a:lstStyle/>
          <a:p>
            <a:pPr marL="342900" indent="-342900" algn="l">
              <a:buFont typeface="+mj-lt"/>
              <a:buAutoNum type="arabicPeriod"/>
            </a:pPr>
            <a:r>
              <a:rPr lang="en-GB" b="0" i="0" u="none" strike="noStrike" dirty="0">
                <a:solidFill>
                  <a:srgbClr val="000000"/>
                </a:solidFill>
                <a:effectLst/>
              </a:rPr>
              <a:t>Who is responsible when </a:t>
            </a:r>
            <a:r>
              <a:rPr lang="en-GB" b="1" i="0" u="none" strike="noStrike" dirty="0">
                <a:solidFill>
                  <a:srgbClr val="000000"/>
                </a:solidFill>
                <a:effectLst/>
              </a:rPr>
              <a:t>AI makes a harmful decision</a:t>
            </a:r>
            <a:r>
              <a:rPr lang="en-GB" b="0" i="0" u="none" strike="noStrike" dirty="0">
                <a:solidFill>
                  <a:srgbClr val="000000"/>
                </a:solidFill>
                <a:effectLst/>
              </a:rPr>
              <a:t>?</a:t>
            </a:r>
          </a:p>
          <a:p>
            <a:pPr marL="342900" indent="-342900" algn="l">
              <a:buFont typeface="+mj-lt"/>
              <a:buAutoNum type="arabicPeriod"/>
            </a:pPr>
            <a:endParaRPr lang="en-GB" b="0" i="0" u="none" strike="noStrike" dirty="0">
              <a:solidFill>
                <a:srgbClr val="000000"/>
              </a:solidFill>
              <a:effectLst/>
            </a:endParaRPr>
          </a:p>
          <a:p>
            <a:pPr marL="342900" indent="-342900" algn="l">
              <a:buFont typeface="+mj-lt"/>
              <a:buAutoNum type="arabicPeriod"/>
            </a:pPr>
            <a:r>
              <a:rPr lang="en-GB" b="0" i="0" u="none" strike="noStrike" dirty="0">
                <a:solidFill>
                  <a:srgbClr val="000000"/>
                </a:solidFill>
                <a:effectLst/>
              </a:rPr>
              <a:t>Should the </a:t>
            </a:r>
            <a:r>
              <a:rPr lang="en-GB" b="1" i="0" u="none" strike="noStrike" dirty="0">
                <a:solidFill>
                  <a:srgbClr val="000000"/>
                </a:solidFill>
                <a:effectLst/>
              </a:rPr>
              <a:t>developer, company, or AI itself</a:t>
            </a:r>
            <a:r>
              <a:rPr lang="en-GB" b="0" i="0" u="none" strike="noStrike" dirty="0">
                <a:solidFill>
                  <a:srgbClr val="000000"/>
                </a:solidFill>
                <a:effectLst/>
              </a:rPr>
              <a:t> be legally accountable?</a:t>
            </a:r>
          </a:p>
          <a:p>
            <a:pPr marL="342900" indent="-342900" algn="l">
              <a:buFont typeface="+mj-lt"/>
              <a:buAutoNum type="arabicPeriod"/>
            </a:pPr>
            <a:endParaRPr lang="en-GB" b="0" i="0" u="none" strike="noStrike" dirty="0">
              <a:solidFill>
                <a:srgbClr val="000000"/>
              </a:solidFill>
              <a:effectLst/>
            </a:endParaRPr>
          </a:p>
          <a:p>
            <a:r>
              <a:rPr lang="en-GB" b="1" dirty="0"/>
              <a:t>Example:</a:t>
            </a:r>
            <a:r>
              <a:rPr lang="en-GB" dirty="0"/>
              <a:t> If an </a:t>
            </a:r>
            <a:r>
              <a:rPr lang="en-GB" b="1" dirty="0"/>
              <a:t>autonomous car</a:t>
            </a:r>
            <a:r>
              <a:rPr lang="en-GB" dirty="0"/>
              <a:t> causes an accident, who is responsible—the </a:t>
            </a:r>
            <a:r>
              <a:rPr lang="en-GB" b="1" dirty="0"/>
              <a:t>manufacturer, software developer, or car owner</a:t>
            </a:r>
            <a:r>
              <a:rPr lang="en-GB" dirty="0"/>
              <a:t>?</a:t>
            </a:r>
          </a:p>
        </p:txBody>
      </p:sp>
      <p:pic>
        <p:nvPicPr>
          <p:cNvPr id="6" name="Picture 5" descr="A diagram of a machine&#10;&#10;AI-generated content may be incorrect.">
            <a:extLst>
              <a:ext uri="{FF2B5EF4-FFF2-40B4-BE49-F238E27FC236}">
                <a16:creationId xmlns:a16="http://schemas.microsoft.com/office/drawing/2014/main" id="{3700C2F4-98DF-326D-0926-3204222776FD}"/>
              </a:ext>
            </a:extLst>
          </p:cNvPr>
          <p:cNvPicPr>
            <a:picLocks noChangeAspect="1"/>
          </p:cNvPicPr>
          <p:nvPr/>
        </p:nvPicPr>
        <p:blipFill>
          <a:blip r:embed="rId4"/>
          <a:stretch>
            <a:fillRect/>
          </a:stretch>
        </p:blipFill>
        <p:spPr>
          <a:xfrm>
            <a:off x="3550212" y="1136231"/>
            <a:ext cx="5593788" cy="3329971"/>
          </a:xfrm>
          <a:prstGeom prst="rect">
            <a:avLst/>
          </a:prstGeom>
        </p:spPr>
      </p:pic>
    </p:spTree>
    <p:extLst>
      <p:ext uri="{BB962C8B-B14F-4D97-AF65-F5344CB8AC3E}">
        <p14:creationId xmlns:p14="http://schemas.microsoft.com/office/powerpoint/2010/main" val="1039703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EE85C5B9-40EF-1B12-4EF7-DEBACC93557E}"/>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9AB56371-9CB6-C58F-432F-42BCFF5E04C8}"/>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A66599AD-09EA-F898-3057-87531AB11CA5}"/>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400" b="1" i="0" u="none" strike="noStrike" dirty="0">
                <a:solidFill>
                  <a:srgbClr val="7030A0"/>
                </a:solidFill>
                <a:effectLst/>
              </a:rPr>
              <a:t>Ethical AI vs. Business Profits</a:t>
            </a:r>
            <a:br>
              <a:rPr lang="en-GB" sz="24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4" name="TextBox 3">
            <a:extLst>
              <a:ext uri="{FF2B5EF4-FFF2-40B4-BE49-F238E27FC236}">
                <a16:creationId xmlns:a16="http://schemas.microsoft.com/office/drawing/2014/main" id="{3DA5EEAA-1F02-9AC2-FCAC-EBEC098AAAA3}"/>
              </a:ext>
            </a:extLst>
          </p:cNvPr>
          <p:cNvSpPr txBox="1"/>
          <p:nvPr/>
        </p:nvSpPr>
        <p:spPr>
          <a:xfrm>
            <a:off x="27878" y="1413463"/>
            <a:ext cx="4651348" cy="2031325"/>
          </a:xfrm>
          <a:prstGeom prst="rect">
            <a:avLst/>
          </a:prstGeom>
          <a:noFill/>
        </p:spPr>
        <p:txBody>
          <a:bodyPr wrap="square">
            <a:spAutoFit/>
          </a:bodyPr>
          <a:lstStyle/>
          <a:p>
            <a:pPr marL="342900" indent="-342900" algn="l">
              <a:buFont typeface="+mj-lt"/>
              <a:buAutoNum type="arabicPeriod"/>
            </a:pPr>
            <a:r>
              <a:rPr lang="en-GB" b="0" i="0" u="none" strike="noStrike" dirty="0">
                <a:solidFill>
                  <a:srgbClr val="000000"/>
                </a:solidFill>
                <a:effectLst/>
              </a:rPr>
              <a:t>Companies may prioritize </a:t>
            </a:r>
            <a:r>
              <a:rPr lang="en-GB" b="1" i="0" u="none" strike="noStrike" dirty="0">
                <a:solidFill>
                  <a:srgbClr val="000000"/>
                </a:solidFill>
                <a:effectLst/>
              </a:rPr>
              <a:t>profitability over AI ethics</a:t>
            </a:r>
            <a:r>
              <a:rPr lang="en-GB" b="0" i="0" u="none" strike="noStrike" dirty="0">
                <a:solidFill>
                  <a:srgbClr val="000000"/>
                </a:solidFill>
                <a:effectLst/>
              </a:rPr>
              <a:t>, leading to unsafe or biased AI systems.</a:t>
            </a:r>
          </a:p>
          <a:p>
            <a:pPr marL="342900" indent="-342900" algn="l">
              <a:buFont typeface="+mj-lt"/>
              <a:buAutoNum type="arabicPeriod"/>
            </a:pPr>
            <a:endParaRPr lang="en-GB" b="0" i="0" u="none" strike="noStrike" dirty="0">
              <a:solidFill>
                <a:srgbClr val="000000"/>
              </a:solidFill>
              <a:effectLst/>
            </a:endParaRPr>
          </a:p>
          <a:p>
            <a:pPr marL="342900" indent="-342900" algn="l">
              <a:buFont typeface="+mj-lt"/>
              <a:buAutoNum type="arabicPeriod"/>
            </a:pPr>
            <a:r>
              <a:rPr lang="en-GB" b="0" i="0" u="none" strike="noStrike" dirty="0">
                <a:solidFill>
                  <a:srgbClr val="000000"/>
                </a:solidFill>
                <a:effectLst/>
              </a:rPr>
              <a:t>Governments struggle to balance </a:t>
            </a:r>
            <a:r>
              <a:rPr lang="en-GB" b="1" i="0" u="none" strike="noStrike" dirty="0">
                <a:solidFill>
                  <a:srgbClr val="000000"/>
                </a:solidFill>
                <a:effectLst/>
              </a:rPr>
              <a:t>AI innovation</a:t>
            </a:r>
            <a:r>
              <a:rPr lang="en-GB" b="0" i="0" u="none" strike="noStrike" dirty="0">
                <a:solidFill>
                  <a:srgbClr val="000000"/>
                </a:solidFill>
                <a:effectLst/>
              </a:rPr>
              <a:t> with </a:t>
            </a:r>
            <a:r>
              <a:rPr lang="en-GB" b="1" i="0" u="none" strike="noStrike" dirty="0">
                <a:solidFill>
                  <a:srgbClr val="000000"/>
                </a:solidFill>
                <a:effectLst/>
              </a:rPr>
              <a:t>consumer protection</a:t>
            </a:r>
            <a:r>
              <a:rPr lang="en-GB" b="0" i="0" u="none" strike="noStrike" dirty="0">
                <a:solidFill>
                  <a:srgbClr val="000000"/>
                </a:solidFill>
                <a:effectLst/>
              </a:rPr>
              <a:t>.</a:t>
            </a:r>
          </a:p>
          <a:p>
            <a:pPr marL="342900" indent="-342900" algn="l">
              <a:buFont typeface="+mj-lt"/>
              <a:buAutoNum type="arabicPeriod"/>
            </a:pPr>
            <a:endParaRPr lang="en-GB" b="0" i="0" u="none" strike="noStrike" dirty="0">
              <a:solidFill>
                <a:srgbClr val="000000"/>
              </a:solidFill>
              <a:effectLst/>
            </a:endParaRPr>
          </a:p>
          <a:p>
            <a:r>
              <a:rPr lang="en-GB" b="1" dirty="0"/>
              <a:t>Example:</a:t>
            </a:r>
            <a:r>
              <a:rPr lang="en-GB" dirty="0"/>
              <a:t> Social media AI recommends </a:t>
            </a:r>
            <a:r>
              <a:rPr lang="en-GB" b="1" dirty="0"/>
              <a:t>harmful content</a:t>
            </a:r>
            <a:r>
              <a:rPr lang="en-GB" dirty="0"/>
              <a:t> because it increases user engagement, despite ethical concerns.</a:t>
            </a:r>
          </a:p>
        </p:txBody>
      </p:sp>
      <p:pic>
        <p:nvPicPr>
          <p:cNvPr id="6" name="Picture 5" descr="A robot hands over stacks of coins&#10;&#10;AI-generated content may be incorrect.">
            <a:extLst>
              <a:ext uri="{FF2B5EF4-FFF2-40B4-BE49-F238E27FC236}">
                <a16:creationId xmlns:a16="http://schemas.microsoft.com/office/drawing/2014/main" id="{B765F46D-7249-CA57-78C4-B64753C8DCC4}"/>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4760925" y="1075348"/>
            <a:ext cx="4027895" cy="3208902"/>
          </a:xfrm>
          <a:prstGeom prst="rect">
            <a:avLst/>
          </a:prstGeom>
        </p:spPr>
      </p:pic>
    </p:spTree>
    <p:extLst>
      <p:ext uri="{BB962C8B-B14F-4D97-AF65-F5344CB8AC3E}">
        <p14:creationId xmlns:p14="http://schemas.microsoft.com/office/powerpoint/2010/main" val="3044664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59D601AE-0731-28E4-C4D6-15A472AA1C53}"/>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D3B32739-5C30-A6BC-FD80-4885C3C7A42B}"/>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F65DC663-E1FB-11BC-83F3-5918AC98EFD6}"/>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kumimoji="0" lang="en-US" altLang="en-US" sz="2400" b="1" i="0" u="none" strike="noStrike" cap="none" normalizeH="0" baseline="0" dirty="0">
                <a:ln>
                  <a:noFill/>
                </a:ln>
                <a:solidFill>
                  <a:srgbClr val="7030A0"/>
                </a:solidFill>
                <a:effectLst/>
                <a:latin typeface="Arial" panose="020B0604020202020204" pitchFamily="34" charset="0"/>
              </a:rPr>
              <a:t>Regulatory Approaches by Region</a:t>
            </a:r>
            <a:br>
              <a:rPr kumimoji="0" lang="en-US" altLang="en-US" sz="2400" b="1" i="0" u="none" strike="noStrike" cap="none" normalizeH="0" baseline="0" dirty="0">
                <a:ln>
                  <a:noFill/>
                </a:ln>
                <a:solidFill>
                  <a:srgbClr val="7030A0"/>
                </a:solidFill>
                <a:effectLst/>
                <a:latin typeface="Arial" panose="020B0604020202020204" pitchFamily="34" charset="0"/>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graphicFrame>
        <p:nvGraphicFramePr>
          <p:cNvPr id="2" name="Table 1">
            <a:extLst>
              <a:ext uri="{FF2B5EF4-FFF2-40B4-BE49-F238E27FC236}">
                <a16:creationId xmlns:a16="http://schemas.microsoft.com/office/drawing/2014/main" id="{3162BCF3-465B-99D4-CFE4-E991C6BE4D29}"/>
              </a:ext>
            </a:extLst>
          </p:cNvPr>
          <p:cNvGraphicFramePr>
            <a:graphicFrameLocks noGrp="1"/>
          </p:cNvGraphicFramePr>
          <p:nvPr>
            <p:extLst>
              <p:ext uri="{D42A27DB-BD31-4B8C-83A1-F6EECF244321}">
                <p14:modId xmlns:p14="http://schemas.microsoft.com/office/powerpoint/2010/main" val="3904721706"/>
              </p:ext>
            </p:extLst>
          </p:nvPr>
        </p:nvGraphicFramePr>
        <p:xfrm>
          <a:off x="311150" y="1223113"/>
          <a:ext cx="8521700" cy="1737360"/>
        </p:xfrm>
        <a:graphic>
          <a:graphicData uri="http://schemas.openxmlformats.org/drawingml/2006/table">
            <a:tbl>
              <a:tblPr>
                <a:tableStyleId>{35758FB7-9AC5-4552-8A53-C91805E547FA}</a:tableStyleId>
              </a:tblPr>
              <a:tblGrid>
                <a:gridCol w="4260850">
                  <a:extLst>
                    <a:ext uri="{9D8B030D-6E8A-4147-A177-3AD203B41FA5}">
                      <a16:colId xmlns:a16="http://schemas.microsoft.com/office/drawing/2014/main" val="2757714936"/>
                    </a:ext>
                  </a:extLst>
                </a:gridCol>
                <a:gridCol w="4260850">
                  <a:extLst>
                    <a:ext uri="{9D8B030D-6E8A-4147-A177-3AD203B41FA5}">
                      <a16:colId xmlns:a16="http://schemas.microsoft.com/office/drawing/2014/main" val="2139798936"/>
                    </a:ext>
                  </a:extLst>
                </a:gridCol>
              </a:tblGrid>
              <a:tr h="228000">
                <a:tc>
                  <a:txBody>
                    <a:bodyPr/>
                    <a:lstStyle/>
                    <a:p>
                      <a:r>
                        <a:rPr lang="en-GB" b="1" dirty="0"/>
                        <a:t>Region</a:t>
                      </a:r>
                      <a:endParaRPr lang="en-GB" dirty="0"/>
                    </a:p>
                  </a:txBody>
                  <a:tcPr anchor="ctr"/>
                </a:tc>
                <a:tc>
                  <a:txBody>
                    <a:bodyPr/>
                    <a:lstStyle/>
                    <a:p>
                      <a:r>
                        <a:rPr lang="en-GB" b="1"/>
                        <a:t>AI Regulation Approach</a:t>
                      </a:r>
                      <a:endParaRPr lang="en-GB"/>
                    </a:p>
                  </a:txBody>
                  <a:tcPr anchor="ctr"/>
                </a:tc>
                <a:extLst>
                  <a:ext uri="{0D108BD9-81ED-4DB2-BD59-A6C34878D82A}">
                    <a16:rowId xmlns:a16="http://schemas.microsoft.com/office/drawing/2014/main" val="2522293887"/>
                  </a:ext>
                </a:extLst>
              </a:tr>
              <a:tr h="228000">
                <a:tc>
                  <a:txBody>
                    <a:bodyPr/>
                    <a:lstStyle/>
                    <a:p>
                      <a:r>
                        <a:rPr lang="en-GB" b="1"/>
                        <a:t>European Union (EU)</a:t>
                      </a:r>
                      <a:endParaRPr lang="en-GB"/>
                    </a:p>
                  </a:txBody>
                  <a:tcPr anchor="ctr"/>
                </a:tc>
                <a:tc>
                  <a:txBody>
                    <a:bodyPr/>
                    <a:lstStyle/>
                    <a:p>
                      <a:r>
                        <a:rPr lang="en-GB"/>
                        <a:t>Strict laws (EU AI Act), bans harmful AI</a:t>
                      </a:r>
                    </a:p>
                  </a:txBody>
                  <a:tcPr anchor="ctr"/>
                </a:tc>
                <a:extLst>
                  <a:ext uri="{0D108BD9-81ED-4DB2-BD59-A6C34878D82A}">
                    <a16:rowId xmlns:a16="http://schemas.microsoft.com/office/drawing/2014/main" val="2565122898"/>
                  </a:ext>
                </a:extLst>
              </a:tr>
              <a:tr h="387601">
                <a:tc>
                  <a:txBody>
                    <a:bodyPr/>
                    <a:lstStyle/>
                    <a:p>
                      <a:r>
                        <a:rPr lang="en-GB" b="1"/>
                        <a:t>United States (US)</a:t>
                      </a:r>
                      <a:endParaRPr lang="en-GB"/>
                    </a:p>
                  </a:txBody>
                  <a:tcPr anchor="ctr"/>
                </a:tc>
                <a:tc>
                  <a:txBody>
                    <a:bodyPr/>
                    <a:lstStyle/>
                    <a:p>
                      <a:r>
                        <a:rPr lang="en-GB"/>
                        <a:t>Industry-led standards, minimal government oversight</a:t>
                      </a:r>
                    </a:p>
                  </a:txBody>
                  <a:tcPr anchor="ctr"/>
                </a:tc>
                <a:extLst>
                  <a:ext uri="{0D108BD9-81ED-4DB2-BD59-A6C34878D82A}">
                    <a16:rowId xmlns:a16="http://schemas.microsoft.com/office/drawing/2014/main" val="3968212833"/>
                  </a:ext>
                </a:extLst>
              </a:tr>
              <a:tr h="228000">
                <a:tc>
                  <a:txBody>
                    <a:bodyPr/>
                    <a:lstStyle/>
                    <a:p>
                      <a:r>
                        <a:rPr lang="en-GB" b="1"/>
                        <a:t>China</a:t>
                      </a:r>
                      <a:endParaRPr lang="en-GB"/>
                    </a:p>
                  </a:txBody>
                  <a:tcPr anchor="ctr"/>
                </a:tc>
                <a:tc>
                  <a:txBody>
                    <a:bodyPr/>
                    <a:lstStyle/>
                    <a:p>
                      <a:r>
                        <a:rPr lang="en-GB"/>
                        <a:t>Strong government control over AI use</a:t>
                      </a:r>
                    </a:p>
                  </a:txBody>
                  <a:tcPr anchor="ctr"/>
                </a:tc>
                <a:extLst>
                  <a:ext uri="{0D108BD9-81ED-4DB2-BD59-A6C34878D82A}">
                    <a16:rowId xmlns:a16="http://schemas.microsoft.com/office/drawing/2014/main" val="1570820816"/>
                  </a:ext>
                </a:extLst>
              </a:tr>
              <a:tr h="228000">
                <a:tc>
                  <a:txBody>
                    <a:bodyPr/>
                    <a:lstStyle/>
                    <a:p>
                      <a:r>
                        <a:rPr lang="en-GB" b="1"/>
                        <a:t>India</a:t>
                      </a:r>
                      <a:endParaRPr lang="en-GB"/>
                    </a:p>
                  </a:txBody>
                  <a:tcPr anchor="ctr"/>
                </a:tc>
                <a:tc>
                  <a:txBody>
                    <a:bodyPr/>
                    <a:lstStyle/>
                    <a:p>
                      <a:r>
                        <a:rPr lang="en-GB" dirty="0"/>
                        <a:t>Balancing AI innovation with ethical guidelines</a:t>
                      </a:r>
                    </a:p>
                  </a:txBody>
                  <a:tcPr anchor="ctr"/>
                </a:tc>
                <a:extLst>
                  <a:ext uri="{0D108BD9-81ED-4DB2-BD59-A6C34878D82A}">
                    <a16:rowId xmlns:a16="http://schemas.microsoft.com/office/drawing/2014/main" val="4093491973"/>
                  </a:ext>
                </a:extLst>
              </a:tr>
            </a:tbl>
          </a:graphicData>
        </a:graphic>
      </p:graphicFrame>
      <p:sp>
        <p:nvSpPr>
          <p:cNvPr id="6" name="TextBox 5">
            <a:extLst>
              <a:ext uri="{FF2B5EF4-FFF2-40B4-BE49-F238E27FC236}">
                <a16:creationId xmlns:a16="http://schemas.microsoft.com/office/drawing/2014/main" id="{41458761-D7FA-79CE-C21A-177BB2244AEB}"/>
              </a:ext>
            </a:extLst>
          </p:cNvPr>
          <p:cNvSpPr txBox="1"/>
          <p:nvPr/>
        </p:nvSpPr>
        <p:spPr>
          <a:xfrm>
            <a:off x="702804" y="3335611"/>
            <a:ext cx="6892006" cy="1169551"/>
          </a:xfrm>
          <a:prstGeom prst="rect">
            <a:avLst/>
          </a:prstGeom>
          <a:noFill/>
        </p:spPr>
        <p:txBody>
          <a:bodyPr wrap="square">
            <a:spAutoFit/>
          </a:bodyPr>
          <a:lstStyle/>
          <a:p>
            <a:pPr algn="l">
              <a:buNone/>
            </a:pPr>
            <a:r>
              <a:rPr lang="en-GB" b="1" i="0" u="none" strike="noStrike" dirty="0">
                <a:solidFill>
                  <a:srgbClr val="000000"/>
                </a:solidFill>
                <a:effectLst/>
              </a:rPr>
              <a:t>Point of Discussion:</a:t>
            </a:r>
          </a:p>
          <a:p>
            <a:pPr algn="l">
              <a:buNone/>
            </a:pPr>
            <a:endParaRPr lang="en-GB" b="1" i="0" u="none" strike="noStrike" dirty="0">
              <a:solidFill>
                <a:srgbClr val="000000"/>
              </a:solidFill>
              <a:effectLst/>
            </a:endParaRPr>
          </a:p>
          <a:p>
            <a:pPr algn="l">
              <a:buFont typeface="+mj-lt"/>
              <a:buAutoNum type="arabicPeriod"/>
            </a:pPr>
            <a:r>
              <a:rPr lang="en-GB" b="0" i="0" u="none" strike="noStrike" dirty="0">
                <a:solidFill>
                  <a:srgbClr val="000000"/>
                </a:solidFill>
                <a:effectLst/>
              </a:rPr>
              <a:t>Should </a:t>
            </a:r>
            <a:r>
              <a:rPr lang="en-GB" b="1" i="0" u="none" strike="noStrike" dirty="0">
                <a:solidFill>
                  <a:srgbClr val="000000"/>
                </a:solidFill>
                <a:effectLst/>
              </a:rPr>
              <a:t>all countries</a:t>
            </a:r>
            <a:r>
              <a:rPr lang="en-GB" b="0" i="0" u="none" strike="noStrike" dirty="0">
                <a:solidFill>
                  <a:srgbClr val="000000"/>
                </a:solidFill>
                <a:effectLst/>
              </a:rPr>
              <a:t> follow the </a:t>
            </a:r>
            <a:r>
              <a:rPr lang="en-GB" b="1" i="0" u="none" strike="noStrike" dirty="0">
                <a:solidFill>
                  <a:srgbClr val="000000"/>
                </a:solidFill>
                <a:effectLst/>
              </a:rPr>
              <a:t>same AI regulations</a:t>
            </a:r>
            <a:r>
              <a:rPr lang="en-GB" b="0" i="0" u="none" strike="noStrike" dirty="0">
                <a:solidFill>
                  <a:srgbClr val="000000"/>
                </a:solidFill>
                <a:effectLst/>
              </a:rPr>
              <a:t>? Why or why not?</a:t>
            </a:r>
          </a:p>
          <a:p>
            <a:pPr algn="l">
              <a:buFont typeface="+mj-lt"/>
              <a:buAutoNum type="arabicPeriod"/>
            </a:pPr>
            <a:endParaRPr lang="en-GB" b="0" i="0" u="none" strike="noStrike" dirty="0">
              <a:solidFill>
                <a:srgbClr val="000000"/>
              </a:solidFill>
              <a:effectLst/>
            </a:endParaRPr>
          </a:p>
          <a:p>
            <a:pPr algn="l">
              <a:buFont typeface="+mj-lt"/>
              <a:buAutoNum type="arabicPeriod"/>
            </a:pPr>
            <a:r>
              <a:rPr lang="en-GB" b="0" i="0" u="none" strike="noStrike" dirty="0">
                <a:solidFill>
                  <a:srgbClr val="000000"/>
                </a:solidFill>
                <a:effectLst/>
              </a:rPr>
              <a:t>Who should be held </a:t>
            </a:r>
            <a:r>
              <a:rPr lang="en-GB" b="1" i="0" u="none" strike="noStrike" dirty="0">
                <a:solidFill>
                  <a:srgbClr val="000000"/>
                </a:solidFill>
                <a:effectLst/>
              </a:rPr>
              <a:t>legally responsible</a:t>
            </a:r>
            <a:r>
              <a:rPr lang="en-GB" b="0" i="0" u="none" strike="noStrike" dirty="0">
                <a:solidFill>
                  <a:srgbClr val="000000"/>
                </a:solidFill>
                <a:effectLst/>
              </a:rPr>
              <a:t> for AI mistakes?</a:t>
            </a:r>
          </a:p>
        </p:txBody>
      </p:sp>
    </p:spTree>
    <p:extLst>
      <p:ext uri="{BB962C8B-B14F-4D97-AF65-F5344CB8AC3E}">
        <p14:creationId xmlns:p14="http://schemas.microsoft.com/office/powerpoint/2010/main" val="3504620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40C70103-BA01-0720-0CD0-13A35BB37CE7}"/>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A502FA1C-4753-990E-2D74-B95344845AA5}"/>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1AF934C2-060C-7762-BBC7-364E84A65ADE}"/>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AI in Critical Sectors: Risks &amp; Challenges</a:t>
            </a:r>
          </a:p>
          <a:p>
            <a:pPr algn="ct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7D429513-3C21-DF06-AC0E-25368A93B92A}"/>
              </a:ext>
            </a:extLst>
          </p:cNvPr>
          <p:cNvSpPr txBox="1"/>
          <p:nvPr/>
        </p:nvSpPr>
        <p:spPr>
          <a:xfrm>
            <a:off x="217784" y="1065365"/>
            <a:ext cx="5140147" cy="3323987"/>
          </a:xfrm>
          <a:prstGeom prst="rect">
            <a:avLst/>
          </a:prstGeom>
          <a:noFill/>
        </p:spPr>
        <p:txBody>
          <a:bodyPr wrap="square">
            <a:spAutoFit/>
          </a:bodyPr>
          <a:lstStyle/>
          <a:p>
            <a:pPr algn="l">
              <a:buNone/>
            </a:pPr>
            <a:r>
              <a:rPr lang="en-GB" b="1" i="0" u="none" strike="noStrike" dirty="0">
                <a:solidFill>
                  <a:srgbClr val="000000"/>
                </a:solidFill>
                <a:effectLst/>
              </a:rPr>
              <a:t>a) AI in Healthcare</a:t>
            </a:r>
          </a:p>
          <a:p>
            <a:pPr algn="l">
              <a:buNone/>
            </a:pPr>
            <a:r>
              <a:rPr lang="en-GB" i="0" u="none" strike="noStrike" dirty="0">
                <a:solidFill>
                  <a:srgbClr val="000000"/>
                </a:solidFill>
                <a:effectLst/>
              </a:rPr>
              <a:t>AI improves disease diagnosis, drug discovery, and surgery.</a:t>
            </a:r>
            <a:br>
              <a:rPr lang="en-GB" b="0" i="0" u="none" strike="noStrike" dirty="0">
                <a:solidFill>
                  <a:srgbClr val="000000"/>
                </a:solidFill>
                <a:effectLst/>
              </a:rPr>
            </a:br>
            <a:r>
              <a:rPr lang="en-GB" b="1" i="0" u="none" strike="noStrike" dirty="0">
                <a:solidFill>
                  <a:srgbClr val="000000"/>
                </a:solidFill>
                <a:effectLst/>
              </a:rPr>
              <a:t>Risks:</a:t>
            </a:r>
          </a:p>
          <a:p>
            <a:pPr algn="l">
              <a:buNone/>
            </a:pPr>
            <a:endParaRPr lang="en-GB" b="0" i="0" u="none" strike="noStrike" dirty="0">
              <a:solidFill>
                <a:srgbClr val="000000"/>
              </a:solidFill>
              <a:effectLst/>
            </a:endParaRPr>
          </a:p>
          <a:p>
            <a:pPr marL="285750" indent="-285750" algn="l">
              <a:buFont typeface="Wingdings" pitchFamily="2" charset="2"/>
              <a:buChar char="ü"/>
            </a:pPr>
            <a:r>
              <a:rPr lang="en-GB" i="0" u="none" strike="noStrike" dirty="0">
                <a:solidFill>
                  <a:srgbClr val="000000"/>
                </a:solidFill>
                <a:effectLst/>
              </a:rPr>
              <a:t>AI can misdiagnose diseases.</a:t>
            </a:r>
          </a:p>
          <a:p>
            <a:pPr marL="285750" indent="-285750" algn="l">
              <a:buFont typeface="Wingdings" pitchFamily="2" charset="2"/>
              <a:buChar char="ü"/>
            </a:pPr>
            <a:r>
              <a:rPr lang="en-GB" i="0" u="none" strike="noStrike" dirty="0">
                <a:solidFill>
                  <a:srgbClr val="000000"/>
                </a:solidFill>
                <a:effectLst/>
              </a:rPr>
              <a:t>Patient data privacy concerns.</a:t>
            </a:r>
          </a:p>
          <a:p>
            <a:pPr algn="l">
              <a:buNone/>
            </a:pPr>
            <a:r>
              <a:rPr lang="en-GB" b="1" i="0" u="none" strike="noStrike" dirty="0">
                <a:solidFill>
                  <a:srgbClr val="000000"/>
                </a:solidFill>
                <a:effectLst/>
              </a:rPr>
              <a:t>Case Study:</a:t>
            </a:r>
          </a:p>
          <a:p>
            <a:pPr algn="l">
              <a:buNone/>
            </a:pPr>
            <a:endParaRPr lang="en-GB" b="0" i="0" u="none" strike="noStrike" dirty="0">
              <a:solidFill>
                <a:srgbClr val="000000"/>
              </a:solidFill>
              <a:effectLst/>
            </a:endParaRPr>
          </a:p>
          <a:p>
            <a:pPr marL="285750" indent="-285750" algn="l">
              <a:buFont typeface="Wingdings" pitchFamily="2" charset="2"/>
              <a:buChar char="ü"/>
            </a:pPr>
            <a:r>
              <a:rPr lang="en-GB" i="0" u="none" strike="noStrike" dirty="0">
                <a:solidFill>
                  <a:srgbClr val="000000"/>
                </a:solidFill>
                <a:effectLst/>
              </a:rPr>
              <a:t>IBM Watson for Cancer Treatment made wrong treatment recommendations because it was trained on hypothetical cases, not real data.</a:t>
            </a:r>
          </a:p>
          <a:p>
            <a:pPr algn="l"/>
            <a:endParaRPr lang="en-GB" i="0" u="none" strike="noStrike" dirty="0">
              <a:solidFill>
                <a:srgbClr val="000000"/>
              </a:solidFill>
              <a:effectLst/>
            </a:endParaRPr>
          </a:p>
          <a:p>
            <a:pPr algn="l">
              <a:buNone/>
            </a:pPr>
            <a:r>
              <a:rPr lang="en-GB" b="1" i="0" u="none" strike="noStrike" dirty="0">
                <a:solidFill>
                  <a:srgbClr val="000000"/>
                </a:solidFill>
                <a:effectLst/>
              </a:rPr>
              <a:t>Point of  Discussion :</a:t>
            </a:r>
          </a:p>
          <a:p>
            <a:pPr algn="l">
              <a:buFont typeface="+mj-lt"/>
              <a:buAutoNum type="arabicPeriod"/>
            </a:pPr>
            <a:r>
              <a:rPr lang="en-GB" i="0" u="none" strike="noStrike" dirty="0">
                <a:solidFill>
                  <a:srgbClr val="000000"/>
                </a:solidFill>
                <a:effectLst/>
              </a:rPr>
              <a:t>Should AI make medical decisions without doctors?</a:t>
            </a:r>
          </a:p>
          <a:p>
            <a:pPr algn="l">
              <a:buFont typeface="+mj-lt"/>
              <a:buAutoNum type="arabicPeriod"/>
            </a:pPr>
            <a:r>
              <a:rPr lang="en-GB" i="0" u="none" strike="noStrike" dirty="0">
                <a:solidFill>
                  <a:srgbClr val="000000"/>
                </a:solidFill>
                <a:effectLst/>
              </a:rPr>
              <a:t>How can we ensure AI is safe in healthcare?</a:t>
            </a:r>
          </a:p>
        </p:txBody>
      </p:sp>
      <p:pic>
        <p:nvPicPr>
          <p:cNvPr id="6" name="Picture 5" descr="A hand holding a heart&#10;&#10;AI-generated content may be incorrect.">
            <a:extLst>
              <a:ext uri="{FF2B5EF4-FFF2-40B4-BE49-F238E27FC236}">
                <a16:creationId xmlns:a16="http://schemas.microsoft.com/office/drawing/2014/main" id="{8374A053-2483-6D36-87FE-534DABD1ABBB}"/>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618295" y="1246909"/>
            <a:ext cx="3418625" cy="3095546"/>
          </a:xfrm>
          <a:prstGeom prst="rect">
            <a:avLst/>
          </a:prstGeom>
        </p:spPr>
      </p:pic>
    </p:spTree>
    <p:extLst>
      <p:ext uri="{BB962C8B-B14F-4D97-AF65-F5344CB8AC3E}">
        <p14:creationId xmlns:p14="http://schemas.microsoft.com/office/powerpoint/2010/main" val="3011020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E8CB305D-F01F-7FE5-4E18-67A5C021992E}"/>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A067D226-83AE-B47F-DB32-7A141D034A7B}"/>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C73BC24B-F074-B9C7-6BC7-411856804986}"/>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AI in Critical Sectors: Risks &amp; Challenges</a:t>
            </a:r>
          </a:p>
          <a:p>
            <a:pPr algn="ct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7" name="TextBox 6">
            <a:extLst>
              <a:ext uri="{FF2B5EF4-FFF2-40B4-BE49-F238E27FC236}">
                <a16:creationId xmlns:a16="http://schemas.microsoft.com/office/drawing/2014/main" id="{22B1F3E6-5411-BED6-A819-C8A54AD81872}"/>
              </a:ext>
            </a:extLst>
          </p:cNvPr>
          <p:cNvSpPr txBox="1"/>
          <p:nvPr/>
        </p:nvSpPr>
        <p:spPr>
          <a:xfrm>
            <a:off x="241994" y="1086910"/>
            <a:ext cx="4651348" cy="3385542"/>
          </a:xfrm>
          <a:prstGeom prst="rect">
            <a:avLst/>
          </a:prstGeom>
          <a:noFill/>
        </p:spPr>
        <p:txBody>
          <a:bodyPr wrap="square">
            <a:spAutoFit/>
          </a:bodyPr>
          <a:lstStyle/>
          <a:p>
            <a:pPr algn="l">
              <a:buNone/>
            </a:pPr>
            <a:r>
              <a:rPr lang="en-GB" sz="1800" b="1" i="0" u="none" strike="noStrike" dirty="0">
                <a:solidFill>
                  <a:srgbClr val="000000"/>
                </a:solidFill>
                <a:effectLst/>
              </a:rPr>
              <a:t>b. AI in Criminal Justice</a:t>
            </a:r>
          </a:p>
          <a:p>
            <a:pPr algn="l">
              <a:buNone/>
            </a:pPr>
            <a:r>
              <a:rPr lang="en-GB" i="0" u="none" strike="noStrike" dirty="0">
                <a:solidFill>
                  <a:srgbClr val="000000"/>
                </a:solidFill>
                <a:effectLst/>
              </a:rPr>
              <a:t>AI helps </a:t>
            </a:r>
            <a:r>
              <a:rPr lang="en-GB" i="0" u="none" strike="noStrike" dirty="0" err="1">
                <a:solidFill>
                  <a:srgbClr val="000000"/>
                </a:solidFill>
                <a:effectLst/>
              </a:rPr>
              <a:t>analyze</a:t>
            </a:r>
            <a:r>
              <a:rPr lang="en-GB" i="0" u="none" strike="noStrike" dirty="0">
                <a:solidFill>
                  <a:srgbClr val="000000"/>
                </a:solidFill>
                <a:effectLst/>
              </a:rPr>
              <a:t> crime patterns and predict criminal </a:t>
            </a:r>
            <a:r>
              <a:rPr lang="en-GB" i="0" u="none" strike="noStrike" dirty="0" err="1">
                <a:solidFill>
                  <a:srgbClr val="000000"/>
                </a:solidFill>
                <a:effectLst/>
              </a:rPr>
              <a:t>behavior</a:t>
            </a:r>
            <a:r>
              <a:rPr lang="en-GB" i="0" u="none" strike="noStrike" dirty="0">
                <a:solidFill>
                  <a:srgbClr val="000000"/>
                </a:solidFill>
                <a:effectLst/>
              </a:rPr>
              <a:t>.</a:t>
            </a:r>
            <a:br>
              <a:rPr lang="en-GB" i="0" u="none" strike="noStrike" dirty="0">
                <a:solidFill>
                  <a:srgbClr val="000000"/>
                </a:solidFill>
                <a:effectLst/>
              </a:rPr>
            </a:br>
            <a:r>
              <a:rPr lang="en-GB" b="1" i="0" u="none" strike="noStrike" dirty="0">
                <a:solidFill>
                  <a:srgbClr val="000000"/>
                </a:solidFill>
                <a:effectLst/>
              </a:rPr>
              <a:t>Risks:</a:t>
            </a:r>
          </a:p>
          <a:p>
            <a:pPr marL="285750" indent="-285750" algn="l">
              <a:buFont typeface="Wingdings" pitchFamily="2" charset="2"/>
              <a:buChar char="Ø"/>
            </a:pPr>
            <a:r>
              <a:rPr lang="en-GB" i="0" u="none" strike="noStrike" dirty="0">
                <a:solidFill>
                  <a:srgbClr val="000000"/>
                </a:solidFill>
                <a:effectLst/>
              </a:rPr>
              <a:t>Racial bias: AI can unfairly target certain racial groups.</a:t>
            </a:r>
          </a:p>
          <a:p>
            <a:pPr marL="285750" indent="-285750" algn="l">
              <a:buFont typeface="Wingdings" pitchFamily="2" charset="2"/>
              <a:buChar char="Ø"/>
            </a:pPr>
            <a:r>
              <a:rPr lang="en-GB" i="0" u="none" strike="noStrike" dirty="0">
                <a:solidFill>
                  <a:srgbClr val="000000"/>
                </a:solidFill>
                <a:effectLst/>
              </a:rPr>
              <a:t>Lack of transparency: Courts may use AI recommendations without explaining them. </a:t>
            </a:r>
          </a:p>
          <a:p>
            <a:pPr algn="l"/>
            <a:r>
              <a:rPr lang="en-GB" b="1" i="0" u="none" strike="noStrike" dirty="0">
                <a:solidFill>
                  <a:srgbClr val="000000"/>
                </a:solidFill>
                <a:effectLst/>
              </a:rPr>
              <a:t>Case Study:</a:t>
            </a:r>
          </a:p>
          <a:p>
            <a:pPr algn="l"/>
            <a:r>
              <a:rPr lang="en-GB" i="0" u="none" strike="noStrike" dirty="0">
                <a:solidFill>
                  <a:srgbClr val="000000"/>
                </a:solidFill>
                <a:effectLst/>
              </a:rPr>
              <a:t>The COMPAS AI system in the US wrongly predicted Black defendants as more likely to commit crimes again.</a:t>
            </a:r>
          </a:p>
          <a:p>
            <a:pPr algn="l">
              <a:buNone/>
            </a:pPr>
            <a:r>
              <a:rPr lang="en-GB" b="1" i="0" u="none" strike="noStrike" dirty="0">
                <a:solidFill>
                  <a:srgbClr val="000000"/>
                </a:solidFill>
                <a:effectLst/>
              </a:rPr>
              <a:t>Point of  Discussion :</a:t>
            </a:r>
          </a:p>
          <a:p>
            <a:pPr algn="l">
              <a:buFont typeface="+mj-lt"/>
              <a:buAutoNum type="arabicPeriod"/>
            </a:pPr>
            <a:r>
              <a:rPr lang="en-GB" i="0" u="none" strike="noStrike" dirty="0">
                <a:solidFill>
                  <a:srgbClr val="000000"/>
                </a:solidFill>
                <a:effectLst/>
              </a:rPr>
              <a:t>Should courts use AI to decide prison sentences?</a:t>
            </a:r>
          </a:p>
          <a:p>
            <a:pPr algn="l">
              <a:buFont typeface="+mj-lt"/>
              <a:buAutoNum type="arabicPeriod"/>
            </a:pPr>
            <a:r>
              <a:rPr lang="en-GB" i="0" u="none" strike="noStrike" dirty="0">
                <a:solidFill>
                  <a:srgbClr val="000000"/>
                </a:solidFill>
                <a:effectLst/>
              </a:rPr>
              <a:t>How can AI be made fairer in justice systems?</a:t>
            </a:r>
          </a:p>
        </p:txBody>
      </p:sp>
      <p:pic>
        <p:nvPicPr>
          <p:cNvPr id="9" name="Picture 8" descr="A building with pillars and statues&#10;&#10;AI-generated content may be incorrect.">
            <a:extLst>
              <a:ext uri="{FF2B5EF4-FFF2-40B4-BE49-F238E27FC236}">
                <a16:creationId xmlns:a16="http://schemas.microsoft.com/office/drawing/2014/main" id="{C023CA3F-71B1-D8E8-CB51-BCD5249601F9}"/>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4692911" y="1212499"/>
            <a:ext cx="4409355" cy="2939570"/>
          </a:xfrm>
          <a:prstGeom prst="rect">
            <a:avLst/>
          </a:prstGeom>
        </p:spPr>
      </p:pic>
      <p:sp>
        <p:nvSpPr>
          <p:cNvPr id="10" name="TextBox 9">
            <a:extLst>
              <a:ext uri="{FF2B5EF4-FFF2-40B4-BE49-F238E27FC236}">
                <a16:creationId xmlns:a16="http://schemas.microsoft.com/office/drawing/2014/main" id="{18055B4A-B1A5-E27B-EAD3-11AB4EAE5A3E}"/>
              </a:ext>
            </a:extLst>
          </p:cNvPr>
          <p:cNvSpPr txBox="1"/>
          <p:nvPr/>
        </p:nvSpPr>
        <p:spPr>
          <a:xfrm>
            <a:off x="4692911" y="5242408"/>
            <a:ext cx="3736713" cy="230832"/>
          </a:xfrm>
          <a:prstGeom prst="rect">
            <a:avLst/>
          </a:prstGeom>
          <a:noFill/>
        </p:spPr>
        <p:txBody>
          <a:bodyPr wrap="square" rtlCol="0">
            <a:spAutoFit/>
          </a:bodyPr>
          <a:lstStyle/>
          <a:p>
            <a:r>
              <a:rPr lang="en-US" sz="900">
                <a:hlinkClick r:id="rId5" tooltip="https://schubart.com/in-our-name-the-justice-department-has-killed-three-men-in-one-week/"/>
              </a:rPr>
              <a:t>This Photo</a:t>
            </a:r>
            <a:r>
              <a:rPr lang="en-US" sz="900"/>
              <a:t> by Unknown Author is licensed under </a:t>
            </a:r>
            <a:r>
              <a:rPr lang="en-US" sz="900">
                <a:hlinkClick r:id="rId6" tooltip="https://creativecommons.org/licenses/by/3.0/"/>
              </a:rPr>
              <a:t>CC BY</a:t>
            </a:r>
            <a:endParaRPr lang="en-US" sz="900"/>
          </a:p>
        </p:txBody>
      </p:sp>
    </p:spTree>
    <p:extLst>
      <p:ext uri="{BB962C8B-B14F-4D97-AF65-F5344CB8AC3E}">
        <p14:creationId xmlns:p14="http://schemas.microsoft.com/office/powerpoint/2010/main" val="1010740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FB0EC35E-8DF7-E4D9-AD5F-F50D9D074696}"/>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233FDB64-5D9F-1954-2535-69D682B9BA99}"/>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42C5DB9E-4294-21EB-5D01-54EFC3988768}"/>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000" b="1" i="0" u="none" strike="noStrike" dirty="0">
                <a:solidFill>
                  <a:srgbClr val="7030A0"/>
                </a:solidFill>
                <a:effectLst/>
              </a:rPr>
              <a:t>AI in Critical Sectors: Risks &amp; Challenges</a:t>
            </a:r>
          </a:p>
          <a:p>
            <a:pPr algn="ct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3" name="TextBox 2">
            <a:extLst>
              <a:ext uri="{FF2B5EF4-FFF2-40B4-BE49-F238E27FC236}">
                <a16:creationId xmlns:a16="http://schemas.microsoft.com/office/drawing/2014/main" id="{21F2CBCB-EF68-01E4-0A10-17A824E13962}"/>
              </a:ext>
            </a:extLst>
          </p:cNvPr>
          <p:cNvSpPr txBox="1"/>
          <p:nvPr/>
        </p:nvSpPr>
        <p:spPr>
          <a:xfrm>
            <a:off x="700914" y="1066161"/>
            <a:ext cx="4651348" cy="3600986"/>
          </a:xfrm>
          <a:prstGeom prst="rect">
            <a:avLst/>
          </a:prstGeom>
          <a:noFill/>
        </p:spPr>
        <p:txBody>
          <a:bodyPr wrap="square">
            <a:spAutoFit/>
          </a:bodyPr>
          <a:lstStyle/>
          <a:p>
            <a:pPr algn="l">
              <a:buNone/>
            </a:pPr>
            <a:r>
              <a:rPr lang="en-GB" sz="1800" b="1" i="0" u="none" strike="noStrike" dirty="0">
                <a:solidFill>
                  <a:srgbClr val="000000"/>
                </a:solidFill>
                <a:effectLst/>
              </a:rPr>
              <a:t>AI in Finance</a:t>
            </a:r>
          </a:p>
          <a:p>
            <a:pPr algn="l">
              <a:buNone/>
            </a:pPr>
            <a:r>
              <a:rPr lang="en-GB" i="0" u="none" strike="noStrike" dirty="0">
                <a:solidFill>
                  <a:srgbClr val="000000"/>
                </a:solidFill>
                <a:effectLst/>
              </a:rPr>
              <a:t>AI helps detect fraud, make investment decisions, and approve loans.</a:t>
            </a:r>
          </a:p>
          <a:p>
            <a:pPr algn="l">
              <a:buNone/>
            </a:pPr>
            <a:br>
              <a:rPr lang="en-GB" i="0" u="none" strike="noStrike" dirty="0">
                <a:solidFill>
                  <a:srgbClr val="000000"/>
                </a:solidFill>
                <a:effectLst/>
              </a:rPr>
            </a:br>
            <a:r>
              <a:rPr lang="en-GB" b="1" i="0" u="none" strike="noStrike" dirty="0">
                <a:solidFill>
                  <a:srgbClr val="000000"/>
                </a:solidFill>
                <a:effectLst/>
              </a:rPr>
              <a:t>Risks:</a:t>
            </a:r>
          </a:p>
          <a:p>
            <a:pPr algn="l">
              <a:buNone/>
            </a:pPr>
            <a:endParaRPr lang="en-GB" b="1" i="0" u="none" strike="noStrike" dirty="0">
              <a:solidFill>
                <a:srgbClr val="000000"/>
              </a:solidFill>
              <a:effectLst/>
            </a:endParaRPr>
          </a:p>
          <a:p>
            <a:pPr marL="285750" indent="-285750" algn="l">
              <a:buFont typeface="Wingdings" pitchFamily="2" charset="2"/>
              <a:buChar char="Ø"/>
            </a:pPr>
            <a:r>
              <a:rPr lang="en-GB" i="0" u="none" strike="noStrike" dirty="0">
                <a:solidFill>
                  <a:srgbClr val="000000"/>
                </a:solidFill>
                <a:effectLst/>
              </a:rPr>
              <a:t>AI can unfairly deny loans based on biased data.</a:t>
            </a:r>
          </a:p>
          <a:p>
            <a:pPr marL="285750" indent="-285750" algn="l">
              <a:buFont typeface="Wingdings" pitchFamily="2" charset="2"/>
              <a:buChar char="Ø"/>
            </a:pPr>
            <a:r>
              <a:rPr lang="en-GB" i="0" u="none" strike="noStrike" dirty="0">
                <a:solidFill>
                  <a:srgbClr val="000000"/>
                </a:solidFill>
                <a:effectLst/>
              </a:rPr>
              <a:t>AI-driven stock trading could cause market crashes.</a:t>
            </a:r>
          </a:p>
          <a:p>
            <a:pPr algn="l">
              <a:buNone/>
            </a:pPr>
            <a:r>
              <a:rPr lang="en-GB" b="1" i="0" u="none" strike="noStrike" dirty="0">
                <a:solidFill>
                  <a:srgbClr val="000000"/>
                </a:solidFill>
                <a:effectLst/>
              </a:rPr>
              <a:t>Case Study:</a:t>
            </a:r>
          </a:p>
          <a:p>
            <a:pPr algn="l">
              <a:buNone/>
            </a:pPr>
            <a:endParaRPr lang="en-GB" b="1" i="0" u="none" strike="noStrike" dirty="0">
              <a:solidFill>
                <a:srgbClr val="000000"/>
              </a:solidFill>
              <a:effectLst/>
            </a:endParaRPr>
          </a:p>
          <a:p>
            <a:pPr algn="l"/>
            <a:r>
              <a:rPr lang="en-GB" i="0" u="none" strike="noStrike" dirty="0">
                <a:solidFill>
                  <a:srgbClr val="000000"/>
                </a:solidFill>
                <a:effectLst/>
              </a:rPr>
              <a:t>AI-driven stock trading caused a "flash crash" in 2010, wiping out $1 trillion in minutes.</a:t>
            </a:r>
          </a:p>
          <a:p>
            <a:pPr algn="l">
              <a:buNone/>
            </a:pPr>
            <a:r>
              <a:rPr lang="en-GB" b="1" i="0" u="none" strike="noStrike" dirty="0">
                <a:solidFill>
                  <a:srgbClr val="000000"/>
                </a:solidFill>
                <a:effectLst/>
              </a:rPr>
              <a:t>Point of  Discussion :</a:t>
            </a:r>
          </a:p>
          <a:p>
            <a:pPr algn="l">
              <a:buNone/>
            </a:pPr>
            <a:endParaRPr lang="en-GB" b="1" i="0" u="none" strike="noStrike" dirty="0">
              <a:solidFill>
                <a:srgbClr val="000000"/>
              </a:solidFill>
              <a:effectLst/>
            </a:endParaRPr>
          </a:p>
          <a:p>
            <a:pPr algn="l">
              <a:buFont typeface="+mj-lt"/>
              <a:buAutoNum type="arabicPeriod"/>
            </a:pPr>
            <a:r>
              <a:rPr lang="en-GB" i="0" u="none" strike="noStrike" dirty="0">
                <a:solidFill>
                  <a:srgbClr val="000000"/>
                </a:solidFill>
                <a:effectLst/>
              </a:rPr>
              <a:t>Should AI decide who gets a bank loan?</a:t>
            </a:r>
          </a:p>
          <a:p>
            <a:pPr algn="l">
              <a:buFont typeface="+mj-lt"/>
              <a:buAutoNum type="arabicPeriod"/>
            </a:pPr>
            <a:r>
              <a:rPr lang="en-GB" i="0" u="none" strike="noStrike" dirty="0">
                <a:solidFill>
                  <a:srgbClr val="000000"/>
                </a:solidFill>
                <a:effectLst/>
              </a:rPr>
              <a:t>How can we prevent AI from damaging the economy?</a:t>
            </a:r>
          </a:p>
        </p:txBody>
      </p:sp>
      <p:pic>
        <p:nvPicPr>
          <p:cNvPr id="5" name="Picture 4" descr="A calculator and money bag with graphics and charts&#10;&#10;AI-generated content may be incorrect.">
            <a:extLst>
              <a:ext uri="{FF2B5EF4-FFF2-40B4-BE49-F238E27FC236}">
                <a16:creationId xmlns:a16="http://schemas.microsoft.com/office/drawing/2014/main" id="{F0A72A0D-EFB0-8B50-1C8B-868C33F3F362}"/>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516628" y="1591944"/>
            <a:ext cx="3489245" cy="2677785"/>
          </a:xfrm>
          <a:prstGeom prst="rect">
            <a:avLst/>
          </a:prstGeom>
        </p:spPr>
      </p:pic>
    </p:spTree>
    <p:extLst>
      <p:ext uri="{BB962C8B-B14F-4D97-AF65-F5344CB8AC3E}">
        <p14:creationId xmlns:p14="http://schemas.microsoft.com/office/powerpoint/2010/main" val="3385336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98">
          <a:extLst>
            <a:ext uri="{FF2B5EF4-FFF2-40B4-BE49-F238E27FC236}">
              <a16:creationId xmlns:a16="http://schemas.microsoft.com/office/drawing/2014/main" id="{C218A91C-7B3A-F62B-1D85-219D33B2B540}"/>
            </a:ext>
          </a:extLst>
        </p:cNvPr>
        <p:cNvGrpSpPr/>
        <p:nvPr/>
      </p:nvGrpSpPr>
      <p:grpSpPr>
        <a:xfrm>
          <a:off x="0" y="0"/>
          <a:ext cx="0" cy="0"/>
          <a:chOff x="0" y="0"/>
          <a:chExt cx="0" cy="0"/>
        </a:xfrm>
      </p:grpSpPr>
      <p:pic>
        <p:nvPicPr>
          <p:cNvPr id="99" name="Google Shape;99;p9">
            <a:extLst>
              <a:ext uri="{FF2B5EF4-FFF2-40B4-BE49-F238E27FC236}">
                <a16:creationId xmlns:a16="http://schemas.microsoft.com/office/drawing/2014/main" id="{2E780FB4-DDFD-E9C0-B6C5-0C5119D404CD}"/>
              </a:ext>
            </a:extLst>
          </p:cNvPr>
          <p:cNvPicPr preferRelativeResize="0"/>
          <p:nvPr/>
        </p:nvPicPr>
        <p:blipFill rotWithShape="1">
          <a:blip r:embed="rId3">
            <a:alphaModFix amt="60000"/>
          </a:blip>
          <a:srcRect/>
          <a:stretch/>
        </p:blipFill>
        <p:spPr>
          <a:xfrm>
            <a:off x="3517218" y="122160"/>
            <a:ext cx="5408998" cy="2939569"/>
          </a:xfrm>
          <a:prstGeom prst="rect">
            <a:avLst/>
          </a:prstGeom>
          <a:noFill/>
          <a:ln>
            <a:noFill/>
          </a:ln>
        </p:spPr>
      </p:pic>
      <p:sp>
        <p:nvSpPr>
          <p:cNvPr id="100" name="Google Shape;100;p9">
            <a:extLst>
              <a:ext uri="{FF2B5EF4-FFF2-40B4-BE49-F238E27FC236}">
                <a16:creationId xmlns:a16="http://schemas.microsoft.com/office/drawing/2014/main" id="{65A9C040-9651-BD57-4292-6B6D02C7FDDE}"/>
              </a:ext>
            </a:extLst>
          </p:cNvPr>
          <p:cNvSpPr txBox="1">
            <a:spLocks noGrp="1"/>
          </p:cNvSpPr>
          <p:nvPr>
            <p:ph type="title"/>
          </p:nvPr>
        </p:nvSpPr>
        <p:spPr>
          <a:xfrm>
            <a:off x="393192" y="122160"/>
            <a:ext cx="7464268" cy="494528"/>
          </a:xfrm>
          <a:prstGeom prst="rect">
            <a:avLst/>
          </a:prstGeom>
          <a:noFill/>
          <a:ln>
            <a:noFill/>
          </a:ln>
        </p:spPr>
        <p:txBody>
          <a:bodyPr spcFirstLastPara="1" wrap="square" lIns="91425" tIns="91425" rIns="91425" bIns="91425" anchor="t" anchorCtr="0">
            <a:noAutofit/>
          </a:bodyPr>
          <a:lstStyle/>
          <a:p>
            <a:pPr algn="ctr"/>
            <a:r>
              <a:rPr lang="en-GB" sz="2400" b="1" i="0" u="none" strike="noStrike" dirty="0">
                <a:solidFill>
                  <a:srgbClr val="7030A0"/>
                </a:solidFill>
                <a:effectLst/>
              </a:rPr>
              <a:t>Future of AI Governance</a:t>
            </a:r>
            <a:br>
              <a:rPr lang="en-GB" sz="24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br>
              <a:rPr lang="en-GB" sz="1200" b="1" i="0" u="none" strike="noStrike" dirty="0">
                <a:solidFill>
                  <a:srgbClr val="000000"/>
                </a:solidFill>
                <a:effectLst/>
              </a:rPr>
            </a:br>
            <a:br>
              <a:rPr lang="en-GB" sz="1200" b="1" i="0" u="none" strike="noStrike" dirty="0">
                <a:solidFill>
                  <a:srgbClr val="000000"/>
                </a:solidFill>
                <a:effectLst/>
              </a:rPr>
            </a:br>
            <a:br>
              <a:rPr lang="en-GB" sz="1100" b="1" i="0" u="none" strike="noStrike" dirty="0">
                <a:solidFill>
                  <a:srgbClr val="000000"/>
                </a:solidFill>
                <a:effectLst/>
              </a:rPr>
            </a:br>
            <a:br>
              <a:rPr lang="en-GB" sz="1600" dirty="0">
                <a:latin typeface="Arial"/>
                <a:ea typeface="Arial"/>
                <a:cs typeface="Arial"/>
                <a:sym typeface="Arial"/>
              </a:rPr>
            </a:br>
            <a:endParaRPr lang="en-GB" sz="3200" dirty="0"/>
          </a:p>
        </p:txBody>
      </p:sp>
      <p:sp>
        <p:nvSpPr>
          <p:cNvPr id="6" name="TextBox 5">
            <a:extLst>
              <a:ext uri="{FF2B5EF4-FFF2-40B4-BE49-F238E27FC236}">
                <a16:creationId xmlns:a16="http://schemas.microsoft.com/office/drawing/2014/main" id="{06DE8A07-71A0-CF6B-CA25-AA52807D349D}"/>
              </a:ext>
            </a:extLst>
          </p:cNvPr>
          <p:cNvSpPr txBox="1"/>
          <p:nvPr/>
        </p:nvSpPr>
        <p:spPr>
          <a:xfrm>
            <a:off x="1314923" y="1060528"/>
            <a:ext cx="5888811" cy="3785652"/>
          </a:xfrm>
          <a:prstGeom prst="rect">
            <a:avLst/>
          </a:prstGeom>
          <a:noFill/>
        </p:spPr>
        <p:txBody>
          <a:bodyPr wrap="square">
            <a:spAutoFit/>
          </a:bodyPr>
          <a:lstStyle/>
          <a:p>
            <a:pPr algn="l">
              <a:buNone/>
            </a:pPr>
            <a:r>
              <a:rPr lang="en-GB" sz="1600" b="0" i="0" u="none" strike="noStrike" dirty="0">
                <a:solidFill>
                  <a:srgbClr val="000000"/>
                </a:solidFill>
                <a:effectLst/>
              </a:rPr>
              <a:t>AI governance is crucial for </a:t>
            </a:r>
            <a:r>
              <a:rPr lang="en-GB" sz="1600" b="1" i="0" u="none" strike="noStrike" dirty="0">
                <a:solidFill>
                  <a:srgbClr val="000000"/>
                </a:solidFill>
                <a:effectLst/>
              </a:rPr>
              <a:t>ensuring ethical, fair, and safe AI deployment</a:t>
            </a:r>
            <a:r>
              <a:rPr lang="en-GB" sz="1600" b="0" i="0" u="none" strike="noStrike" dirty="0">
                <a:solidFill>
                  <a:srgbClr val="000000"/>
                </a:solidFill>
                <a:effectLst/>
              </a:rPr>
              <a:t>.</a:t>
            </a:r>
          </a:p>
          <a:p>
            <a:pPr marL="285750" indent="-285750" algn="l">
              <a:buFont typeface="Wingdings" pitchFamily="2" charset="2"/>
              <a:buChar char="Ø"/>
            </a:pPr>
            <a:r>
              <a:rPr lang="en-GB" sz="1600" b="1" i="0" u="none" strike="noStrike" dirty="0">
                <a:solidFill>
                  <a:srgbClr val="000000"/>
                </a:solidFill>
                <a:effectLst/>
              </a:rPr>
              <a:t>Ethical issues</a:t>
            </a:r>
            <a:r>
              <a:rPr lang="en-GB" sz="1600" b="0" i="0" u="none" strike="noStrike" dirty="0">
                <a:solidFill>
                  <a:srgbClr val="000000"/>
                </a:solidFill>
                <a:effectLst/>
              </a:rPr>
              <a:t> like </a:t>
            </a:r>
            <a:r>
              <a:rPr lang="en-GB" sz="1600" b="1" i="0" u="none" strike="noStrike" dirty="0">
                <a:solidFill>
                  <a:srgbClr val="000000"/>
                </a:solidFill>
                <a:effectLst/>
              </a:rPr>
              <a:t>bias and privacy</a:t>
            </a:r>
            <a:r>
              <a:rPr lang="en-GB" sz="1600" b="0" i="0" u="none" strike="noStrike" dirty="0">
                <a:solidFill>
                  <a:srgbClr val="000000"/>
                </a:solidFill>
                <a:effectLst/>
              </a:rPr>
              <a:t> need stronger safeguards.</a:t>
            </a:r>
          </a:p>
          <a:p>
            <a:pPr marL="285750" indent="-285750" algn="l">
              <a:buFont typeface="Wingdings" pitchFamily="2" charset="2"/>
              <a:buChar char="Ø"/>
            </a:pPr>
            <a:r>
              <a:rPr lang="en-GB" sz="1600" b="1" i="0" u="none" strike="noStrike" dirty="0">
                <a:solidFill>
                  <a:srgbClr val="000000"/>
                </a:solidFill>
                <a:effectLst/>
              </a:rPr>
              <a:t>Global AI regulations</a:t>
            </a:r>
            <a:r>
              <a:rPr lang="en-GB" sz="1600" b="0" i="0" u="none" strike="noStrike" dirty="0">
                <a:solidFill>
                  <a:srgbClr val="000000"/>
                </a:solidFill>
                <a:effectLst/>
              </a:rPr>
              <a:t> should aim for a </a:t>
            </a:r>
            <a:r>
              <a:rPr lang="en-GB" sz="1600" b="1" i="0" u="none" strike="noStrike" dirty="0">
                <a:solidFill>
                  <a:srgbClr val="000000"/>
                </a:solidFill>
                <a:effectLst/>
              </a:rPr>
              <a:t>balance between innovation and responsibility</a:t>
            </a:r>
            <a:r>
              <a:rPr lang="en-GB" sz="1600" b="0" i="0" u="none" strike="noStrike" dirty="0">
                <a:solidFill>
                  <a:srgbClr val="000000"/>
                </a:solidFill>
                <a:effectLst/>
              </a:rPr>
              <a:t>.</a:t>
            </a:r>
          </a:p>
          <a:p>
            <a:pPr marL="285750" indent="-285750" algn="l">
              <a:buFont typeface="Wingdings" pitchFamily="2" charset="2"/>
              <a:buChar char="Ø"/>
            </a:pPr>
            <a:r>
              <a:rPr lang="en-GB" sz="1600" b="0" i="0" u="none" strike="noStrike" dirty="0">
                <a:solidFill>
                  <a:srgbClr val="000000"/>
                </a:solidFill>
                <a:effectLst/>
              </a:rPr>
              <a:t>AI in </a:t>
            </a:r>
            <a:r>
              <a:rPr lang="en-GB" sz="1600" b="1" i="0" u="none" strike="noStrike" dirty="0">
                <a:solidFill>
                  <a:srgbClr val="000000"/>
                </a:solidFill>
                <a:effectLst/>
              </a:rPr>
              <a:t>healthcare, justice, and finance</a:t>
            </a:r>
            <a:r>
              <a:rPr lang="en-GB" sz="1600" b="0" i="0" u="none" strike="noStrike" dirty="0">
                <a:solidFill>
                  <a:srgbClr val="000000"/>
                </a:solidFill>
                <a:effectLst/>
              </a:rPr>
              <a:t> must be closely monitored to </a:t>
            </a:r>
            <a:r>
              <a:rPr lang="en-GB" sz="1600" b="1" i="0" u="none" strike="noStrike" dirty="0">
                <a:solidFill>
                  <a:srgbClr val="000000"/>
                </a:solidFill>
                <a:effectLst/>
              </a:rPr>
              <a:t>avoid harmful consequences</a:t>
            </a:r>
            <a:r>
              <a:rPr lang="en-GB" sz="1600" b="0" i="0" u="none" strike="noStrike" dirty="0">
                <a:solidFill>
                  <a:srgbClr val="000000"/>
                </a:solidFill>
                <a:effectLst/>
              </a:rPr>
              <a:t>.</a:t>
            </a:r>
          </a:p>
          <a:p>
            <a:pPr marL="285750" indent="-285750" algn="l">
              <a:buFont typeface="Wingdings" pitchFamily="2" charset="2"/>
              <a:buChar char="Ø"/>
            </a:pPr>
            <a:r>
              <a:rPr lang="en-GB" sz="1600" b="0" i="0" u="none" strike="noStrike" dirty="0">
                <a:solidFill>
                  <a:srgbClr val="000000"/>
                </a:solidFill>
                <a:effectLst/>
                <a:latin typeface="-webkit-standard"/>
              </a:rPr>
              <a:t>AI is powerful but </a:t>
            </a:r>
            <a:r>
              <a:rPr lang="en-GB" sz="1600" b="1" i="0" u="none" strike="noStrike" dirty="0">
                <a:solidFill>
                  <a:srgbClr val="000000"/>
                </a:solidFill>
                <a:effectLst/>
              </a:rPr>
              <a:t>needs ethical and legal oversight</a:t>
            </a:r>
            <a:r>
              <a:rPr lang="en-GB" sz="1600" b="0" i="0" u="none" strike="noStrike" dirty="0">
                <a:solidFill>
                  <a:srgbClr val="000000"/>
                </a:solidFill>
                <a:effectLst/>
                <a:latin typeface="-webkit-standard"/>
              </a:rPr>
              <a:t>.</a:t>
            </a:r>
          </a:p>
          <a:p>
            <a:pPr marL="285750" indent="-285750" algn="l">
              <a:buFont typeface="Wingdings" pitchFamily="2" charset="2"/>
              <a:buChar char="Ø"/>
            </a:pPr>
            <a:r>
              <a:rPr lang="en-GB" sz="1600" b="1" i="0" u="none" strike="noStrike" dirty="0">
                <a:solidFill>
                  <a:srgbClr val="000000"/>
                </a:solidFill>
                <a:effectLst/>
              </a:rPr>
              <a:t>Bias, security, and fairness</a:t>
            </a:r>
            <a:r>
              <a:rPr lang="en-GB" sz="1600" b="0" i="0" u="none" strike="noStrike" dirty="0">
                <a:solidFill>
                  <a:srgbClr val="000000"/>
                </a:solidFill>
                <a:effectLst/>
                <a:latin typeface="-webkit-standard"/>
              </a:rPr>
              <a:t> are key challenges.</a:t>
            </a:r>
          </a:p>
          <a:p>
            <a:pPr marL="285750" indent="-285750" algn="l">
              <a:buFont typeface="Wingdings" pitchFamily="2" charset="2"/>
              <a:buChar char="Ø"/>
            </a:pPr>
            <a:r>
              <a:rPr lang="en-GB" sz="1600" b="0" i="0" u="none" strike="noStrike" dirty="0">
                <a:solidFill>
                  <a:srgbClr val="000000"/>
                </a:solidFill>
                <a:effectLst/>
                <a:latin typeface="-webkit-standard"/>
              </a:rPr>
              <a:t>Governments must balance </a:t>
            </a:r>
            <a:r>
              <a:rPr lang="en-GB" sz="1600" b="1" i="0" u="none" strike="noStrike" dirty="0">
                <a:solidFill>
                  <a:srgbClr val="000000"/>
                </a:solidFill>
                <a:effectLst/>
              </a:rPr>
              <a:t>innovation and public safety</a:t>
            </a:r>
            <a:r>
              <a:rPr lang="en-GB" sz="1600" b="0" i="0" u="none" strike="noStrike" dirty="0">
                <a:solidFill>
                  <a:srgbClr val="000000"/>
                </a:solidFill>
                <a:effectLst/>
                <a:latin typeface="-webkit-standard"/>
              </a:rPr>
              <a:t>.</a:t>
            </a:r>
          </a:p>
          <a:p>
            <a:pPr algn="l"/>
            <a:endParaRPr lang="en-GB" sz="1600" b="0" i="0" u="none" strike="noStrike" dirty="0">
              <a:solidFill>
                <a:srgbClr val="000000"/>
              </a:solidFill>
              <a:effectLst/>
            </a:endParaRPr>
          </a:p>
          <a:p>
            <a:pPr algn="l"/>
            <a:r>
              <a:rPr lang="en-GB" sz="1600" b="0" i="0" u="none" strike="noStrike" dirty="0">
                <a:solidFill>
                  <a:srgbClr val="000000"/>
                </a:solidFill>
                <a:effectLst/>
              </a:rPr>
              <a:t> "AI is only as fair as the data and rules we give it. To create trustworthy AI, we must ensure accountability, transparency, and fairness."</a:t>
            </a:r>
          </a:p>
        </p:txBody>
      </p:sp>
    </p:spTree>
    <p:extLst>
      <p:ext uri="{BB962C8B-B14F-4D97-AF65-F5344CB8AC3E}">
        <p14:creationId xmlns:p14="http://schemas.microsoft.com/office/powerpoint/2010/main" val="608414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7340</TotalTime>
  <Words>1615</Words>
  <Application>Microsoft Macintosh PowerPoint</Application>
  <PresentationFormat>On-screen Show (16:9)</PresentationFormat>
  <Paragraphs>181</Paragraphs>
  <Slides>20</Slides>
  <Notes>20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IBM Plex Sans Arabic Medium</vt:lpstr>
      <vt:lpstr>Tajawal</vt:lpstr>
      <vt:lpstr>Times New Roman</vt:lpstr>
      <vt:lpstr>Inter</vt:lpstr>
      <vt:lpstr>IBM Plex Sans Arabic</vt:lpstr>
      <vt:lpstr>Calibri</vt:lpstr>
      <vt:lpstr>IBM Plex Sans Arabic SemiBold</vt:lpstr>
      <vt:lpstr>Wingdings</vt:lpstr>
      <vt:lpstr>-webkit-standard</vt:lpstr>
      <vt:lpstr>Arial</vt:lpstr>
      <vt:lpstr>Simple Light</vt:lpstr>
      <vt:lpstr>أكـــــاديميــــة طــــويـــق</vt:lpstr>
      <vt:lpstr>      Accountability and Ethical challenges in AI Decision-Making </vt:lpstr>
      <vt:lpstr>PowerPoint Presentation</vt:lpstr>
      <vt:lpstr>Introduction to Accountability in AI Systems    </vt:lpstr>
      <vt:lpstr>Defining Accountability in AI Systems   </vt:lpstr>
      <vt:lpstr>Key Stakeholders &amp; Their Responsibilities:     </vt:lpstr>
      <vt:lpstr>Mechanisms for Establishing Accountability      </vt:lpstr>
      <vt:lpstr>Summarizing AI Accountability   AI accountability is crucial to prevent misuse and ensure fairness. Multiple stakeholders (developers, organizations, users, regulators) play a role in accountability.  AI audits, certifications, and ethical boards help monitor and enforce responsible AI use.  Accountability in AI is critical to building trust and mitigating risks. Developers, organizations, and regulators must collaborate to ensure AI systems are transparent, fair, and responsible.  By implementing audits, certifications, and ethical oversight, we can create AI systems that align with human values and societal expectations.  </vt:lpstr>
      <vt:lpstr>Emerging Challenges in AI Governance      </vt:lpstr>
      <vt:lpstr>Ethical Challenges in AI Deployment      </vt:lpstr>
      <vt:lpstr>Regulatory Challenges: Global vs. Local AI Laws      </vt:lpstr>
      <vt:lpstr>AI and Legal Liability       </vt:lpstr>
      <vt:lpstr>Ethical AI vs. Business Profits        </vt:lpstr>
      <vt:lpstr>Regulatory Approaches by Region         </vt:lpstr>
      <vt:lpstr>AI in Critical Sectors: Risks &amp; Challenges        </vt:lpstr>
      <vt:lpstr>AI in Critical Sectors: Risks &amp; Challenges        </vt:lpstr>
      <vt:lpstr>AI in Critical Sectors: Risks &amp; Challenges        </vt:lpstr>
      <vt:lpstr>Future of AI Governance         </vt:lpstr>
      <vt:lpstr>الشراكات العالمية</vt:lpstr>
      <vt:lpstr>شــــــكــــرًا لكــــــم</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
  <cp:lastModifiedBy>Afshan Hashmi</cp:lastModifiedBy>
  <cp:revision>19</cp:revision>
  <dcterms:modified xsi:type="dcterms:W3CDTF">2025-03-24T08:00:22Z</dcterms:modified>
  <cp:category/>
</cp:coreProperties>
</file>