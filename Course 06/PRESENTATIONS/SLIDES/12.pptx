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83" r:id="rId4"/>
    <p:sldId id="278" r:id="rId5"/>
    <p:sldId id="262" r:id="rId6"/>
    <p:sldId id="277" r:id="rId7"/>
    <p:sldId id="292" r:id="rId8"/>
    <p:sldId id="263" r:id="rId9"/>
    <p:sldId id="264" r:id="rId10"/>
    <p:sldId id="280" r:id="rId11"/>
    <p:sldId id="281" r:id="rId12"/>
    <p:sldId id="279" r:id="rId13"/>
    <p:sldId id="284" r:id="rId14"/>
    <p:sldId id="286" r:id="rId15"/>
    <p:sldId id="287" r:id="rId16"/>
    <p:sldId id="288" r:id="rId17"/>
    <p:sldId id="289" r:id="rId18"/>
    <p:sldId id="290" r:id="rId19"/>
    <p:sldId id="291" r:id="rId20"/>
    <p:sldId id="275" r:id="rId21"/>
    <p:sldId id="276" r:id="rId22"/>
  </p:sldIdLst>
  <p:sldSz cx="9144000" cy="5143500" type="screen16x9"/>
  <p:notesSz cx="6858000" cy="9144000"/>
  <p:embeddedFontLst>
    <p:embeddedFont>
      <p:font typeface="IBM Plex Sans Arabic" panose="020B0603050203000203" pitchFamily="34" charset="-78"/>
      <p:regular r:id="rId24"/>
      <p:bold r:id="rId25"/>
    </p:embeddedFont>
    <p:embeddedFont>
      <p:font typeface="IBM Plex Sans Arabic Medium" panose="020B0603050203000203" pitchFamily="34" charset="-78"/>
      <p:regular r:id="rId26"/>
      <p:bold r:id="rId27"/>
    </p:embeddedFont>
    <p:embeddedFont>
      <p:font typeface="IBM Plex Sans Arabic SemiBold" panose="020B0603050203000203" pitchFamily="34" charset="-78"/>
      <p:regular r:id="rId28"/>
      <p:bold r:id="rId29"/>
    </p:embeddedFont>
    <p:embeddedFont>
      <p:font typeface="Proxima Nova" panose="02000506030000020004" pitchFamily="2" charset="0"/>
      <p:regular r:id="rId30"/>
      <p:bold r:id="rId31"/>
      <p:italic r:id="rId32"/>
      <p:boldItalic r:id="rId33"/>
    </p:embeddedFont>
    <p:embeddedFont>
      <p:font typeface="Tajawal" pitchFamily="2" charset="-78"/>
      <p:regular r:id="rId34"/>
      <p:bold r:id="rId3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524">
          <p15:clr>
            <a:srgbClr val="747775"/>
          </p15:clr>
        </p15:guide>
        <p15:guide id="2" orient="horz" pos="2560">
          <p15:clr>
            <a:srgbClr val="747775"/>
          </p15:clr>
        </p15:guide>
        <p15:guide id="3" pos="2880">
          <p15:clr>
            <a:srgbClr val="747775"/>
          </p15:clr>
        </p15:guide>
        <p15:guide id="4" orient="horz" pos="759">
          <p15:clr>
            <a:srgbClr val="747775"/>
          </p15:clr>
        </p15:guide>
        <p15:guide id="5" orient="horz" pos="2428">
          <p15:clr>
            <a:srgbClr val="747775"/>
          </p15:clr>
        </p15:guide>
        <p15:guide id="6" pos="5325">
          <p15:clr>
            <a:srgbClr val="747775"/>
          </p15:clr>
        </p15:guide>
        <p15:guide id="7" orient="horz" pos="960">
          <p15:clr>
            <a:srgbClr val="747775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8" roundtripDataSignature="AMtx7mgKcFO/Xev719AjEfE5iQO6xfjKK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41E1F5B-7058-4A9B-AF8C-0847D0C7EE07}">
  <a:tblStyle styleId="{541E1F5B-7058-4A9B-AF8C-0847D0C7EE07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35758FB7-9AC5-4552-8A53-C91805E547FA}" styleName="Themed Style 1 –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3"/>
    <p:restoredTop sz="94793"/>
  </p:normalViewPr>
  <p:slideViewPr>
    <p:cSldViewPr snapToGrid="0">
      <p:cViewPr varScale="1">
        <p:scale>
          <a:sx n="169" d="100"/>
          <a:sy n="169" d="100"/>
        </p:scale>
        <p:origin x="208" y="480"/>
      </p:cViewPr>
      <p:guideLst>
        <p:guide orient="horz" pos="524"/>
        <p:guide orient="horz" pos="2560"/>
        <p:guide pos="2880"/>
        <p:guide orient="horz" pos="759"/>
        <p:guide orient="horz" pos="2428"/>
        <p:guide pos="5325"/>
        <p:guide orient="horz" pos="9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21" Type="http://schemas.openxmlformats.org/officeDocument/2006/relationships/slide" Target="slides/slide20.xml"/><Relationship Id="rId34" Type="http://schemas.openxmlformats.org/officeDocument/2006/relationships/font" Target="fonts/font11.fntdata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3" Type="http://schemas.openxmlformats.org/officeDocument/2006/relationships/font" Target="fonts/font10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font" Target="fonts/font9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8.fntdata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35" Type="http://schemas.openxmlformats.org/officeDocument/2006/relationships/font" Target="fonts/font12.fntdata"/><Relationship Id="rId48" Type="http://customschemas.google.com/relationships/presentationmetadata" Target="metadata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1" name="Google Shape;4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>
          <a:extLst>
            <a:ext uri="{FF2B5EF4-FFF2-40B4-BE49-F238E27FC236}">
              <a16:creationId xmlns:a16="http://schemas.microsoft.com/office/drawing/2014/main" id="{A4A78B76-62B2-720F-0663-7EA9E4AF05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6:notes">
            <a:extLst>
              <a:ext uri="{FF2B5EF4-FFF2-40B4-BE49-F238E27FC236}">
                <a16:creationId xmlns:a16="http://schemas.microsoft.com/office/drawing/2014/main" id="{E71FD78D-B2F4-061B-E2CF-D4645C7CE31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3" name="Google Shape;73;p6:notes">
            <a:extLst>
              <a:ext uri="{FF2B5EF4-FFF2-40B4-BE49-F238E27FC236}">
                <a16:creationId xmlns:a16="http://schemas.microsoft.com/office/drawing/2014/main" id="{2D5F95AC-4BE9-592F-B9CC-7EA3E132D1D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035142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2" name="Google Shape;82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033E31C8-D5E9-2017-AE3F-9CE690F736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7:notes">
            <a:extLst>
              <a:ext uri="{FF2B5EF4-FFF2-40B4-BE49-F238E27FC236}">
                <a16:creationId xmlns:a16="http://schemas.microsoft.com/office/drawing/2014/main" id="{171F4956-9A8B-D2BD-69BC-C7A200A2F59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2" name="Google Shape;82;p7:notes">
            <a:extLst>
              <a:ext uri="{FF2B5EF4-FFF2-40B4-BE49-F238E27FC236}">
                <a16:creationId xmlns:a16="http://schemas.microsoft.com/office/drawing/2014/main" id="{135EAFF3-6059-1547-52B9-ABA6113E560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0726557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7FCC2813-C4E9-FDB2-3B91-BDD66DE544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7:notes">
            <a:extLst>
              <a:ext uri="{FF2B5EF4-FFF2-40B4-BE49-F238E27FC236}">
                <a16:creationId xmlns:a16="http://schemas.microsoft.com/office/drawing/2014/main" id="{EF8F32C3-DF05-6867-66CB-DBDC5484B8D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2" name="Google Shape;82;p7:notes">
            <a:extLst>
              <a:ext uri="{FF2B5EF4-FFF2-40B4-BE49-F238E27FC236}">
                <a16:creationId xmlns:a16="http://schemas.microsoft.com/office/drawing/2014/main" id="{A6B3DC8F-C832-0147-37B6-881A1F7AD8F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083357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0" name="Google Shape;90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7" name="Google Shape;97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>
          <a:extLst>
            <a:ext uri="{FF2B5EF4-FFF2-40B4-BE49-F238E27FC236}">
              <a16:creationId xmlns:a16="http://schemas.microsoft.com/office/drawing/2014/main" id="{72FD3765-EAED-DEAA-F202-47452EF58F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:notes">
            <a:extLst>
              <a:ext uri="{FF2B5EF4-FFF2-40B4-BE49-F238E27FC236}">
                <a16:creationId xmlns:a16="http://schemas.microsoft.com/office/drawing/2014/main" id="{A4B8B846-D594-5968-110D-4A6C32ADC7C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7" name="Google Shape;97;p9:notes">
            <a:extLst>
              <a:ext uri="{FF2B5EF4-FFF2-40B4-BE49-F238E27FC236}">
                <a16:creationId xmlns:a16="http://schemas.microsoft.com/office/drawing/2014/main" id="{36F71B47-EEE0-462C-30C8-4394CB3D937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497412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>
          <a:extLst>
            <a:ext uri="{FF2B5EF4-FFF2-40B4-BE49-F238E27FC236}">
              <a16:creationId xmlns:a16="http://schemas.microsoft.com/office/drawing/2014/main" id="{CC258A9D-A903-972A-54CE-191CD3C103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:notes">
            <a:extLst>
              <a:ext uri="{FF2B5EF4-FFF2-40B4-BE49-F238E27FC236}">
                <a16:creationId xmlns:a16="http://schemas.microsoft.com/office/drawing/2014/main" id="{513CD135-D317-19AE-28B2-DAB058C91C7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7" name="Google Shape;97;p9:notes">
            <a:extLst>
              <a:ext uri="{FF2B5EF4-FFF2-40B4-BE49-F238E27FC236}">
                <a16:creationId xmlns:a16="http://schemas.microsoft.com/office/drawing/2014/main" id="{F4A13D7A-CEED-A744-F91A-9267CBA636C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5351923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>
          <a:extLst>
            <a:ext uri="{FF2B5EF4-FFF2-40B4-BE49-F238E27FC236}">
              <a16:creationId xmlns:a16="http://schemas.microsoft.com/office/drawing/2014/main" id="{AD632F3D-C937-B6D2-C266-CA14125B3D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:notes">
            <a:extLst>
              <a:ext uri="{FF2B5EF4-FFF2-40B4-BE49-F238E27FC236}">
                <a16:creationId xmlns:a16="http://schemas.microsoft.com/office/drawing/2014/main" id="{CAEA659F-F76B-70DA-33BF-98B5D905DC1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7" name="Google Shape;97;p9:notes">
            <a:extLst>
              <a:ext uri="{FF2B5EF4-FFF2-40B4-BE49-F238E27FC236}">
                <a16:creationId xmlns:a16="http://schemas.microsoft.com/office/drawing/2014/main" id="{5484CAF9-1631-9FBF-768B-787DB0C5868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1709608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>
          <a:extLst>
            <a:ext uri="{FF2B5EF4-FFF2-40B4-BE49-F238E27FC236}">
              <a16:creationId xmlns:a16="http://schemas.microsoft.com/office/drawing/2014/main" id="{082E6920-2EEF-E0D1-546F-C119C60710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:notes">
            <a:extLst>
              <a:ext uri="{FF2B5EF4-FFF2-40B4-BE49-F238E27FC236}">
                <a16:creationId xmlns:a16="http://schemas.microsoft.com/office/drawing/2014/main" id="{DF327807-D769-2175-6002-8EAEFBBD344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7" name="Google Shape;97;p9:notes">
            <a:extLst>
              <a:ext uri="{FF2B5EF4-FFF2-40B4-BE49-F238E27FC236}">
                <a16:creationId xmlns:a16="http://schemas.microsoft.com/office/drawing/2014/main" id="{3C8EDC11-8B4E-02C1-CCC5-1A828AAA924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4690411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>
          <a:extLst>
            <a:ext uri="{FF2B5EF4-FFF2-40B4-BE49-F238E27FC236}">
              <a16:creationId xmlns:a16="http://schemas.microsoft.com/office/drawing/2014/main" id="{1F366E2B-6EF7-E128-12B7-5EBAB3D95E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:notes">
            <a:extLst>
              <a:ext uri="{FF2B5EF4-FFF2-40B4-BE49-F238E27FC236}">
                <a16:creationId xmlns:a16="http://schemas.microsoft.com/office/drawing/2014/main" id="{FF80D989-6FDB-5096-B9E8-A147B8488B5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7" name="Google Shape;97;p9:notes">
            <a:extLst>
              <a:ext uri="{FF2B5EF4-FFF2-40B4-BE49-F238E27FC236}">
                <a16:creationId xmlns:a16="http://schemas.microsoft.com/office/drawing/2014/main" id="{4F86F0BB-F739-1D33-DF6E-0619D16485F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1998610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>
          <a:extLst>
            <a:ext uri="{FF2B5EF4-FFF2-40B4-BE49-F238E27FC236}">
              <a16:creationId xmlns:a16="http://schemas.microsoft.com/office/drawing/2014/main" id="{568F3FF7-57ED-6100-7207-13968CEAA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:notes">
            <a:extLst>
              <a:ext uri="{FF2B5EF4-FFF2-40B4-BE49-F238E27FC236}">
                <a16:creationId xmlns:a16="http://schemas.microsoft.com/office/drawing/2014/main" id="{C61CDB08-F25F-50EF-326D-44EDC1FF157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7" name="Google Shape;97;p9:notes">
            <a:extLst>
              <a:ext uri="{FF2B5EF4-FFF2-40B4-BE49-F238E27FC236}">
                <a16:creationId xmlns:a16="http://schemas.microsoft.com/office/drawing/2014/main" id="{8ABCAAE0-BBAE-4CED-3719-0FF98D0F7ED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0831767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>
          <a:extLst>
            <a:ext uri="{FF2B5EF4-FFF2-40B4-BE49-F238E27FC236}">
              <a16:creationId xmlns:a16="http://schemas.microsoft.com/office/drawing/2014/main" id="{7E5E2CAE-6A32-4070-3FAB-D0BA5959C0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:notes">
            <a:extLst>
              <a:ext uri="{FF2B5EF4-FFF2-40B4-BE49-F238E27FC236}">
                <a16:creationId xmlns:a16="http://schemas.microsoft.com/office/drawing/2014/main" id="{FFBAFEC9-DD6E-4D42-928D-66937B90906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7" name="Google Shape;97;p9:notes">
            <a:extLst>
              <a:ext uri="{FF2B5EF4-FFF2-40B4-BE49-F238E27FC236}">
                <a16:creationId xmlns:a16="http://schemas.microsoft.com/office/drawing/2014/main" id="{B24DBEFE-2914-C55C-33B6-9266095E7DD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1892681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>
          <a:extLst>
            <a:ext uri="{FF2B5EF4-FFF2-40B4-BE49-F238E27FC236}">
              <a16:creationId xmlns:a16="http://schemas.microsoft.com/office/drawing/2014/main" id="{A5D28E7B-C9E8-3B56-8C96-718E946CE5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:notes">
            <a:extLst>
              <a:ext uri="{FF2B5EF4-FFF2-40B4-BE49-F238E27FC236}">
                <a16:creationId xmlns:a16="http://schemas.microsoft.com/office/drawing/2014/main" id="{DC624886-4FC1-3291-BB9E-B490626705E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7" name="Google Shape;97;p9:notes">
            <a:extLst>
              <a:ext uri="{FF2B5EF4-FFF2-40B4-BE49-F238E27FC236}">
                <a16:creationId xmlns:a16="http://schemas.microsoft.com/office/drawing/2014/main" id="{04E35F8C-FFE3-1542-45F5-A66142ADE0E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6212965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>
          <a:extLst>
            <a:ext uri="{FF2B5EF4-FFF2-40B4-BE49-F238E27FC236}">
              <a16:creationId xmlns:a16="http://schemas.microsoft.com/office/drawing/2014/main" id="{8ADA59E4-D715-4C35-EFE1-D575D685DC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:notes">
            <a:extLst>
              <a:ext uri="{FF2B5EF4-FFF2-40B4-BE49-F238E27FC236}">
                <a16:creationId xmlns:a16="http://schemas.microsoft.com/office/drawing/2014/main" id="{C1F1235D-08FB-60D8-5FC4-E2765C5C7A9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7" name="Google Shape;97;p9:notes">
            <a:extLst>
              <a:ext uri="{FF2B5EF4-FFF2-40B4-BE49-F238E27FC236}">
                <a16:creationId xmlns:a16="http://schemas.microsoft.com/office/drawing/2014/main" id="{C76201F5-EA2C-3D5F-E3F7-4B4BEBF22FE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0297744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2" name="Google Shape;192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4" name="Google Shape;214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3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pic>
        <p:nvPicPr>
          <p:cNvPr id="12" name="Google Shape;12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27371" y="317427"/>
            <a:ext cx="1356656" cy="265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4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Font typeface="Tajawal"/>
              <a:buNone/>
              <a:defRPr sz="4300" b="1">
                <a:latin typeface="Tajawal"/>
                <a:ea typeface="Tajawal"/>
                <a:cs typeface="Tajawal"/>
                <a:sym typeface="Tajawal"/>
              </a:defRPr>
            </a:lvl1pPr>
            <a:lvl2pPr lvl="1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Font typeface="Tajawal"/>
              <a:buNone/>
              <a:defRPr sz="4900">
                <a:latin typeface="Tajawal"/>
                <a:ea typeface="Tajawal"/>
                <a:cs typeface="Tajawal"/>
                <a:sym typeface="Tajawal"/>
              </a:defRPr>
            </a:lvl2pPr>
            <a:lvl3pPr lvl="2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Font typeface="Tajawal"/>
              <a:buNone/>
              <a:defRPr sz="4900">
                <a:latin typeface="Tajawal"/>
                <a:ea typeface="Tajawal"/>
                <a:cs typeface="Tajawal"/>
                <a:sym typeface="Tajawal"/>
              </a:defRPr>
            </a:lvl3pPr>
            <a:lvl4pPr lvl="3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Font typeface="Tajawal"/>
              <a:buNone/>
              <a:defRPr sz="4900">
                <a:latin typeface="Tajawal"/>
                <a:ea typeface="Tajawal"/>
                <a:cs typeface="Tajawal"/>
                <a:sym typeface="Tajawal"/>
              </a:defRPr>
            </a:lvl4pPr>
            <a:lvl5pPr lvl="4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Font typeface="Tajawal"/>
              <a:buNone/>
              <a:defRPr sz="4900">
                <a:latin typeface="Tajawal"/>
                <a:ea typeface="Tajawal"/>
                <a:cs typeface="Tajawal"/>
                <a:sym typeface="Tajawal"/>
              </a:defRPr>
            </a:lvl5pPr>
            <a:lvl6pPr lvl="5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Font typeface="Tajawal"/>
              <a:buNone/>
              <a:defRPr sz="4900">
                <a:latin typeface="Tajawal"/>
                <a:ea typeface="Tajawal"/>
                <a:cs typeface="Tajawal"/>
                <a:sym typeface="Tajawal"/>
              </a:defRPr>
            </a:lvl6pPr>
            <a:lvl7pPr lvl="6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Font typeface="Tajawal"/>
              <a:buNone/>
              <a:defRPr sz="4900">
                <a:latin typeface="Tajawal"/>
                <a:ea typeface="Tajawal"/>
                <a:cs typeface="Tajawal"/>
                <a:sym typeface="Tajawal"/>
              </a:defRPr>
            </a:lvl7pPr>
            <a:lvl8pPr lvl="7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Font typeface="Tajawal"/>
              <a:buNone/>
              <a:defRPr sz="4900">
                <a:latin typeface="Tajawal"/>
                <a:ea typeface="Tajawal"/>
                <a:cs typeface="Tajawal"/>
                <a:sym typeface="Tajawal"/>
              </a:defRPr>
            </a:lvl8pPr>
            <a:lvl9pPr lvl="8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Font typeface="Tajawal"/>
              <a:buNone/>
              <a:defRPr sz="4900">
                <a:latin typeface="Tajawal"/>
                <a:ea typeface="Tajawal"/>
                <a:cs typeface="Tajawal"/>
                <a:sym typeface="Tajawal"/>
              </a:defRPr>
            </a:lvl9pPr>
          </a:lstStyle>
          <a:p>
            <a:endParaRPr/>
          </a:p>
        </p:txBody>
      </p:sp>
      <p:sp>
        <p:nvSpPr>
          <p:cNvPr id="15" name="Google Shape;15;p24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1pPr>
            <a:lvl2pPr lvl="1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2pPr>
            <a:lvl3pPr lvl="2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3pPr>
            <a:lvl4pPr lvl="3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4pPr>
            <a:lvl5pPr lvl="4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5pPr>
            <a:lvl6pPr lvl="5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6pPr>
            <a:lvl7pPr lvl="6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7pPr>
            <a:lvl8pPr lvl="7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8pPr>
            <a:lvl9pPr lvl="8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9pPr>
          </a:lstStyle>
          <a:p>
            <a:endParaRPr/>
          </a:p>
        </p:txBody>
      </p:sp>
      <p:sp>
        <p:nvSpPr>
          <p:cNvPr id="16" name="Google Shape;16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" name="Google Shape;19;p25"/>
          <p:cNvSpPr txBox="1">
            <a:spLocks noGrp="1"/>
          </p:cNvSpPr>
          <p:nvPr>
            <p:ph type="title"/>
          </p:nvPr>
        </p:nvSpPr>
        <p:spPr>
          <a:xfrm>
            <a:off x="2079450" y="445025"/>
            <a:ext cx="6707400" cy="62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500"/>
              <a:buNone/>
              <a:defRPr b="1">
                <a:solidFill>
                  <a:srgbClr val="543198"/>
                </a:solidFill>
              </a:defRPr>
            </a:lvl1pPr>
            <a:lvl2pPr lvl="1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2pPr>
            <a:lvl3pPr lvl="2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3pPr>
            <a:lvl4pPr lvl="3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4pPr>
            <a:lvl5pPr lvl="4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5pPr>
            <a:lvl6pPr lvl="5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6pPr>
            <a:lvl7pPr lvl="6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7pPr>
            <a:lvl8pPr lvl="7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8pPr>
            <a:lvl9pPr lvl="8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9pPr>
          </a:lstStyle>
          <a:p>
            <a:endParaRPr/>
          </a:p>
        </p:txBody>
      </p:sp>
      <p:sp>
        <p:nvSpPr>
          <p:cNvPr id="20" name="Google Shape;20;p25"/>
          <p:cNvSpPr txBox="1">
            <a:spLocks noGrp="1"/>
          </p:cNvSpPr>
          <p:nvPr>
            <p:ph type="body" idx="1"/>
          </p:nvPr>
        </p:nvSpPr>
        <p:spPr>
          <a:xfrm>
            <a:off x="2758650" y="1334150"/>
            <a:ext cx="6028200" cy="17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800"/>
              <a:buChar char="●"/>
              <a:defRPr>
                <a:solidFill>
                  <a:srgbClr val="424242"/>
                </a:solidFill>
              </a:defRPr>
            </a:lvl1pPr>
            <a:lvl2pPr marL="914400" lvl="1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○"/>
              <a:defRPr>
                <a:solidFill>
                  <a:srgbClr val="424242"/>
                </a:solidFill>
              </a:defRPr>
            </a:lvl2pPr>
            <a:lvl3pPr marL="1371600" lvl="2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■"/>
              <a:defRPr>
                <a:solidFill>
                  <a:srgbClr val="424242"/>
                </a:solidFill>
              </a:defRPr>
            </a:lvl3pPr>
            <a:lvl4pPr marL="1828800" lvl="3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●"/>
              <a:defRPr>
                <a:solidFill>
                  <a:srgbClr val="424242"/>
                </a:solidFill>
              </a:defRPr>
            </a:lvl4pPr>
            <a:lvl5pPr marL="2286000" lvl="4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○"/>
              <a:defRPr>
                <a:solidFill>
                  <a:srgbClr val="424242"/>
                </a:solidFill>
              </a:defRPr>
            </a:lvl5pPr>
            <a:lvl6pPr marL="2743200" lvl="5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■"/>
              <a:defRPr>
                <a:solidFill>
                  <a:srgbClr val="424242"/>
                </a:solidFill>
              </a:defRPr>
            </a:lvl6pPr>
            <a:lvl7pPr marL="3200400" lvl="6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●"/>
              <a:defRPr>
                <a:solidFill>
                  <a:srgbClr val="424242"/>
                </a:solidFill>
              </a:defRPr>
            </a:lvl7pPr>
            <a:lvl8pPr marL="3657600" lvl="7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○"/>
              <a:defRPr>
                <a:solidFill>
                  <a:srgbClr val="424242"/>
                </a:solidFill>
              </a:defRPr>
            </a:lvl8pPr>
            <a:lvl9pPr marL="4114800" lvl="8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■"/>
              <a:defRPr>
                <a:solidFill>
                  <a:srgbClr val="42424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7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1pPr>
            <a:lvl2pPr lvl="1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2pPr>
            <a:lvl3pPr lvl="2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3pPr>
            <a:lvl4pPr lvl="3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4pPr>
            <a:lvl5pPr lvl="4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5pPr>
            <a:lvl6pPr lvl="5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6pPr>
            <a:lvl7pPr lvl="6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7pPr>
            <a:lvl8pPr lvl="7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8pPr>
            <a:lvl9pPr lvl="8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9pPr>
          </a:lstStyle>
          <a:p>
            <a:endParaRPr/>
          </a:p>
        </p:txBody>
      </p:sp>
      <p:sp>
        <p:nvSpPr>
          <p:cNvPr id="25" name="Google Shape;25;p2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8" name="Google Shape;28;p28"/>
          <p:cNvSpPr txBox="1">
            <a:spLocks noGrp="1"/>
          </p:cNvSpPr>
          <p:nvPr>
            <p:ph type="title"/>
          </p:nvPr>
        </p:nvSpPr>
        <p:spPr>
          <a:xfrm>
            <a:off x="2079450" y="714175"/>
            <a:ext cx="6707400" cy="7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500"/>
              <a:buNone/>
              <a:defRPr b="1">
                <a:solidFill>
                  <a:srgbClr val="54319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9pPr>
          </a:lstStyle>
          <a:p>
            <a:endParaRPr/>
          </a:p>
        </p:txBody>
      </p:sp>
      <p:sp>
        <p:nvSpPr>
          <p:cNvPr id="29" name="Google Shape;29;p28"/>
          <p:cNvSpPr txBox="1">
            <a:spLocks noGrp="1"/>
          </p:cNvSpPr>
          <p:nvPr>
            <p:ph type="body" idx="1"/>
          </p:nvPr>
        </p:nvSpPr>
        <p:spPr>
          <a:xfrm>
            <a:off x="2758650" y="1526325"/>
            <a:ext cx="6028200" cy="17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800"/>
              <a:buChar char="●"/>
              <a:defRPr>
                <a:solidFill>
                  <a:srgbClr val="424242"/>
                </a:solidFill>
              </a:defRPr>
            </a:lvl1pPr>
            <a:lvl2pPr marL="914400" lvl="1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○"/>
              <a:defRPr>
                <a:solidFill>
                  <a:srgbClr val="424242"/>
                </a:solidFill>
              </a:defRPr>
            </a:lvl2pPr>
            <a:lvl3pPr marL="1371600" lvl="2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■"/>
              <a:defRPr>
                <a:solidFill>
                  <a:srgbClr val="424242"/>
                </a:solidFill>
              </a:defRPr>
            </a:lvl3pPr>
            <a:lvl4pPr marL="1828800" lvl="3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●"/>
              <a:defRPr>
                <a:solidFill>
                  <a:srgbClr val="424242"/>
                </a:solidFill>
              </a:defRPr>
            </a:lvl4pPr>
            <a:lvl5pPr marL="2286000" lvl="4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○"/>
              <a:defRPr>
                <a:solidFill>
                  <a:srgbClr val="424242"/>
                </a:solidFill>
              </a:defRPr>
            </a:lvl5pPr>
            <a:lvl6pPr marL="2743200" lvl="5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■"/>
              <a:defRPr>
                <a:solidFill>
                  <a:srgbClr val="424242"/>
                </a:solidFill>
              </a:defRPr>
            </a:lvl6pPr>
            <a:lvl7pPr marL="3200400" lvl="6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●"/>
              <a:defRPr>
                <a:solidFill>
                  <a:srgbClr val="424242"/>
                </a:solidFill>
              </a:defRPr>
            </a:lvl7pPr>
            <a:lvl8pPr marL="3657600" lvl="7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○"/>
              <a:defRPr>
                <a:solidFill>
                  <a:srgbClr val="424242"/>
                </a:solidFill>
              </a:defRPr>
            </a:lvl8pPr>
            <a:lvl9pPr marL="4114800" lvl="8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■"/>
              <a:defRPr>
                <a:solidFill>
                  <a:srgbClr val="42424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9"/>
          <p:cNvSpPr txBox="1">
            <a:spLocks noGrp="1"/>
          </p:cNvSpPr>
          <p:nvPr>
            <p:ph type="title"/>
          </p:nvPr>
        </p:nvSpPr>
        <p:spPr>
          <a:xfrm>
            <a:off x="311700" y="2824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3" name="Google Shape;33;p2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959271" y="4703039"/>
            <a:ext cx="946580" cy="2139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30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6" name="Google Shape;36;p30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7" name="Google Shape;37;p30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8" name="Google Shape;38;p3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pn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10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2"/>
          <p:cNvSpPr txBox="1">
            <a:spLocks noGrp="1"/>
          </p:cNvSpPr>
          <p:nvPr>
            <p:ph type="title"/>
          </p:nvPr>
        </p:nvSpPr>
        <p:spPr>
          <a:xfrm>
            <a:off x="311700" y="2824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29B7"/>
              </a:buClr>
              <a:buSzPts val="2500"/>
              <a:buFont typeface="IBM Plex Sans Arabic Medium"/>
              <a:buNone/>
              <a:defRPr sz="2500" b="0" i="0" u="none" strike="noStrike" cap="none">
                <a:solidFill>
                  <a:srgbClr val="4F29B7"/>
                </a:solidFill>
                <a:latin typeface="IBM Plex Sans Arabic Medium"/>
                <a:ea typeface="IBM Plex Sans Arabic Medium"/>
                <a:cs typeface="IBM Plex Sans Arabic Medium"/>
                <a:sym typeface="IBM Plex Sans Arabic Medium"/>
              </a:defRPr>
            </a:lvl1pPr>
            <a:lvl2pPr marR="0" lvl="1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Medium"/>
              <a:buNone/>
              <a:defRPr sz="2800" b="0" i="0" u="none" strike="noStrike" cap="none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marR="0" lvl="2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Medium"/>
              <a:buNone/>
              <a:defRPr sz="2800" b="0" i="0" u="none" strike="noStrike" cap="none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marR="0" lvl="3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Medium"/>
              <a:buNone/>
              <a:defRPr sz="2800" b="0" i="0" u="none" strike="noStrike" cap="none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marR="0" lvl="4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Medium"/>
              <a:buNone/>
              <a:defRPr sz="2800" b="0" i="0" u="none" strike="noStrike" cap="none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marR="0" lvl="5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Medium"/>
              <a:buNone/>
              <a:defRPr sz="2800" b="0" i="0" u="none" strike="noStrike" cap="none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marR="0" lvl="6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Medium"/>
              <a:buNone/>
              <a:defRPr sz="2800" b="0" i="0" u="none" strike="noStrike" cap="none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marR="0" lvl="7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Medium"/>
              <a:buNone/>
              <a:defRPr sz="2800" b="0" i="0" u="none" strike="noStrike" cap="none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marR="0" lvl="8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Medium"/>
              <a:buNone/>
              <a:defRPr sz="2800" b="0" i="0" u="none" strike="noStrike" cap="none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7" name="Google Shape;7;p2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800"/>
              <a:buFont typeface="IBM Plex Sans Arabic"/>
              <a:buChar char="●"/>
              <a:defRPr sz="1800" b="0" i="0" u="none" strike="noStrike" cap="none"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1pPr>
            <a:lvl2pPr marL="914400" marR="0" lvl="1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400"/>
              <a:buFont typeface="IBM Plex Sans Arabic"/>
              <a:buChar char="○"/>
              <a:defRPr sz="1400" b="0" i="0" u="none" strike="noStrike" cap="none"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2pPr>
            <a:lvl3pPr marL="1371600" marR="0" lvl="2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400"/>
              <a:buFont typeface="IBM Plex Sans Arabic"/>
              <a:buChar char="■"/>
              <a:defRPr sz="1400" b="0" i="0" u="none" strike="noStrike" cap="none"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3pPr>
            <a:lvl4pPr marL="1828800" marR="0" lvl="3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400"/>
              <a:buFont typeface="IBM Plex Sans Arabic"/>
              <a:buChar char="●"/>
              <a:defRPr sz="1400" b="0" i="0" u="none" strike="noStrike" cap="none"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4pPr>
            <a:lvl5pPr marL="2286000" marR="0" lvl="4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400"/>
              <a:buFont typeface="IBM Plex Sans Arabic"/>
              <a:buChar char="○"/>
              <a:defRPr sz="1400" b="0" i="0" u="none" strike="noStrike" cap="none"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5pPr>
            <a:lvl6pPr marL="2743200" marR="0" lvl="5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400"/>
              <a:buFont typeface="IBM Plex Sans Arabic"/>
              <a:buChar char="■"/>
              <a:defRPr sz="1400" b="0" i="0" u="none" strike="noStrike" cap="none"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6pPr>
            <a:lvl7pPr marL="3200400" marR="0" lvl="6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400"/>
              <a:buFont typeface="IBM Plex Sans Arabic"/>
              <a:buChar char="●"/>
              <a:defRPr sz="1400" b="0" i="0" u="none" strike="noStrike" cap="none"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7pPr>
            <a:lvl8pPr marL="3657600" marR="0" lvl="7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400"/>
              <a:buFont typeface="IBM Plex Sans Arabic"/>
              <a:buChar char="○"/>
              <a:defRPr sz="1400" b="0" i="0" u="none" strike="noStrike" cap="none"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8pPr>
            <a:lvl9pPr marL="4114800" marR="0" lvl="8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400"/>
              <a:buFont typeface="IBM Plex Sans Arabic"/>
              <a:buChar char="■"/>
              <a:defRPr sz="1400" b="0" i="0" u="none" strike="noStrike" cap="none"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9pPr>
          </a:lstStyle>
          <a:p>
            <a:endParaRPr/>
          </a:p>
        </p:txBody>
      </p:sp>
      <p:sp>
        <p:nvSpPr>
          <p:cNvPr id="8" name="Google Shape;8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9" name="Google Shape;9;p22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8030954" y="17475"/>
            <a:ext cx="1266092" cy="1007909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5" Type="http://schemas.openxmlformats.org/officeDocument/2006/relationships/hyperlink" Target="https://blog.coinbase.com/2016-12-07-blockchain-token-securities-law-a66ef03c383f" TargetMode="External"/><Relationship Id="rId4" Type="http://schemas.openxmlformats.org/officeDocument/2006/relationships/image" Target="../media/image13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5" Type="http://schemas.openxmlformats.org/officeDocument/2006/relationships/hyperlink" Target="https://pixabay.com/fr/facebook-logo-r%C3%A9seau-social-r%C3%A9seau-770688/" TargetMode="External"/><Relationship Id="rId4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hyperlink" Target="https://colab.research.google.com/drive/1NWNKmR4i2Pn8WZen2aiBUIwW9T_cI0fD" TargetMode="Externa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25.png"/><Relationship Id="rId18" Type="http://schemas.openxmlformats.org/officeDocument/2006/relationships/image" Target="../media/image3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12" Type="http://schemas.openxmlformats.org/officeDocument/2006/relationships/image" Target="../media/image24.png"/><Relationship Id="rId17" Type="http://schemas.openxmlformats.org/officeDocument/2006/relationships/image" Target="../media/image29.png"/><Relationship Id="rId2" Type="http://schemas.openxmlformats.org/officeDocument/2006/relationships/notesSlide" Target="../notesSlides/notesSlide19.xml"/><Relationship Id="rId16" Type="http://schemas.openxmlformats.org/officeDocument/2006/relationships/image" Target="../media/image28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8.pn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5" Type="http://schemas.openxmlformats.org/officeDocument/2006/relationships/image" Target="../media/image27.png"/><Relationship Id="rId10" Type="http://schemas.openxmlformats.org/officeDocument/2006/relationships/image" Target="../media/image22.png"/><Relationship Id="rId19" Type="http://schemas.openxmlformats.org/officeDocument/2006/relationships/image" Target="../media/image31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Relationship Id="rId14" Type="http://schemas.openxmlformats.org/officeDocument/2006/relationships/image" Target="../media/image26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"/>
          <p:cNvSpPr txBox="1">
            <a:spLocks noGrp="1"/>
          </p:cNvSpPr>
          <p:nvPr>
            <p:ph type="title"/>
          </p:nvPr>
        </p:nvSpPr>
        <p:spPr>
          <a:xfrm>
            <a:off x="5435226" y="867625"/>
            <a:ext cx="2974200" cy="22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</a:pPr>
            <a:r>
              <a:rPr lang="en-US" sz="4800">
                <a:solidFill>
                  <a:srgbClr val="58E3D8"/>
                </a:solidFill>
                <a:latin typeface="IBM Plex Sans Arabic SemiBold"/>
                <a:ea typeface="IBM Plex Sans Arabic SemiBold"/>
                <a:cs typeface="IBM Plex Sans Arabic SemiBold"/>
                <a:sym typeface="IBM Plex Sans Arabic SemiBold"/>
              </a:rPr>
              <a:t>أكـــــاديميــــة طــــويـــق</a:t>
            </a:r>
            <a:endParaRPr sz="4800">
              <a:solidFill>
                <a:srgbClr val="58E3D8"/>
              </a:solidFill>
              <a:latin typeface="IBM Plex Sans Arabic SemiBold"/>
              <a:ea typeface="IBM Plex Sans Arabic SemiBold"/>
              <a:cs typeface="IBM Plex Sans Arabic SemiBold"/>
              <a:sym typeface="IBM Plex Sans Arabic SemiBold"/>
            </a:endParaRPr>
          </a:p>
        </p:txBody>
      </p:sp>
      <p:sp>
        <p:nvSpPr>
          <p:cNvPr id="44" name="Google Shape;44;p1"/>
          <p:cNvSpPr txBox="1">
            <a:spLocks noGrp="1"/>
          </p:cNvSpPr>
          <p:nvPr>
            <p:ph type="body" idx="4294967295"/>
          </p:nvPr>
        </p:nvSpPr>
        <p:spPr>
          <a:xfrm>
            <a:off x="3902100" y="3253272"/>
            <a:ext cx="4447500" cy="19734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252526"/>
              </a:buClr>
              <a:buSzPts val="1800"/>
              <a:buFont typeface="IBM Plex Sans Arabic"/>
              <a:buNone/>
            </a:pPr>
            <a:r>
              <a:rPr lang="en-US" sz="3600" dirty="0">
                <a:solidFill>
                  <a:schemeClr val="lt1"/>
                </a:solidFill>
                <a:latin typeface="IBM Plex Sans Arabic Medium"/>
                <a:ea typeface="IBM Plex Sans Arabic Medium"/>
                <a:cs typeface="IBM Plex Sans Arabic Medium"/>
                <a:sym typeface="IBM Plex Sans Arabic Medium"/>
              </a:rPr>
              <a:t>Artificial Intelligence Ethics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"/>
          <p:cNvSpPr txBox="1">
            <a:spLocks noGrp="1"/>
          </p:cNvSpPr>
          <p:nvPr>
            <p:ph type="ctrTitle"/>
          </p:nvPr>
        </p:nvSpPr>
        <p:spPr>
          <a:xfrm>
            <a:off x="311708" y="1137037"/>
            <a:ext cx="8520600" cy="16601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br>
              <a:rPr lang="en-GB" sz="4000" b="1" i="0" u="none" strike="noStrike" dirty="0">
                <a:solidFill>
                  <a:srgbClr val="7030A0"/>
                </a:solidFill>
                <a:effectLst/>
                <a:latin typeface="Times New Roman" panose="02020603050405020304" pitchFamily="18" charset="0"/>
              </a:rPr>
            </a:br>
            <a:br>
              <a:rPr lang="en-GB" sz="4000" b="1" i="0" u="none" strike="noStrike" dirty="0">
                <a:solidFill>
                  <a:srgbClr val="7030A0"/>
                </a:solidFill>
                <a:effectLst/>
                <a:latin typeface="Times New Roman" panose="02020603050405020304" pitchFamily="18" charset="0"/>
              </a:rPr>
            </a:br>
            <a:br>
              <a:rPr lang="en-GB" sz="4000" b="1" i="0" u="none" strike="noStrike" dirty="0">
                <a:solidFill>
                  <a:srgbClr val="7030A0"/>
                </a:solidFill>
                <a:effectLst/>
                <a:latin typeface="Times New Roman" panose="02020603050405020304" pitchFamily="18" charset="0"/>
              </a:rPr>
            </a:br>
            <a:br>
              <a:rPr lang="en-GB" sz="4000" b="1" i="0" u="none" strike="noStrike" dirty="0">
                <a:solidFill>
                  <a:srgbClr val="7030A0"/>
                </a:solidFill>
                <a:effectLst/>
                <a:latin typeface="Times New Roman" panose="02020603050405020304" pitchFamily="18" charset="0"/>
              </a:rPr>
            </a:br>
            <a:br>
              <a:rPr lang="en-GB" sz="4000" b="1" i="0" u="none" strike="noStrike" dirty="0">
                <a:solidFill>
                  <a:srgbClr val="7030A0"/>
                </a:solidFill>
                <a:effectLst/>
                <a:latin typeface="Times New Roman" panose="02020603050405020304" pitchFamily="18" charset="0"/>
              </a:rPr>
            </a:br>
            <a:br>
              <a:rPr lang="en-US" sz="4000" dirty="0">
                <a:latin typeface="Calibri"/>
                <a:ea typeface="Calibri"/>
                <a:cs typeface="Calibri"/>
                <a:sym typeface="Calibri"/>
              </a:rPr>
            </a:br>
            <a:r>
              <a:rPr lang="en-GB" sz="3600" b="0" i="0" u="none" strike="noStrike" dirty="0">
                <a:solidFill>
                  <a:srgbClr val="7030A0"/>
                </a:solidFill>
                <a:effectLst/>
                <a:latin typeface="-webkit-standard"/>
              </a:rPr>
              <a:t>Model Transparency and Ethics in Law</a:t>
            </a:r>
            <a:endParaRPr dirty="0"/>
          </a:p>
        </p:txBody>
      </p:sp>
      <p:sp>
        <p:nvSpPr>
          <p:cNvPr id="51" name="Google Shape;51;p2"/>
          <p:cNvSpPr txBox="1"/>
          <p:nvPr/>
        </p:nvSpPr>
        <p:spPr>
          <a:xfrm>
            <a:off x="3527778" y="4245036"/>
            <a:ext cx="45720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By: Dr. Afshan Hashmi</a:t>
            </a: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"/>
          <p:cNvSpPr txBox="1"/>
          <p:nvPr/>
        </p:nvSpPr>
        <p:spPr>
          <a:xfrm>
            <a:off x="355978" y="622430"/>
            <a:ext cx="8029070" cy="2772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 dirty="0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Course Objectives:</a:t>
            </a:r>
            <a:endParaRPr lang="en-GB" b="1" i="0" u="none" strike="noStrike" dirty="0">
              <a:solidFill>
                <a:srgbClr val="000000"/>
              </a:solidFill>
              <a:effectLst/>
            </a:endParaRPr>
          </a:p>
          <a:p>
            <a:pPr marR="0" lvl="0" rtl="0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</a:pPr>
            <a:r>
              <a:rPr lang="en-GB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Understand the concept of model transparency and why it is important.</a:t>
            </a:r>
            <a:br>
              <a:rPr lang="en-GB" dirty="0"/>
            </a:br>
            <a:r>
              <a:rPr lang="en-GB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Identify different types of interpretable (transparent) models.</a:t>
            </a:r>
            <a:br>
              <a:rPr lang="en-GB" dirty="0"/>
            </a:br>
            <a:r>
              <a:rPr lang="en-GB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Recognize the trade-offs between model interpretability and performance.</a:t>
            </a:r>
            <a:br>
              <a:rPr lang="en-GB" dirty="0"/>
            </a:br>
            <a:r>
              <a:rPr lang="en-GB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Understand the importance of transparency in AI from an ethical and legal perspective.</a:t>
            </a:r>
            <a:br>
              <a:rPr lang="en-GB" dirty="0"/>
            </a:br>
            <a:r>
              <a:rPr lang="en-GB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Identify key legal frameworks governing AI transparency, including GDPR and AI-specific regulations.</a:t>
            </a:r>
            <a:br>
              <a:rPr lang="en-GB" dirty="0"/>
            </a:br>
            <a:r>
              <a:rPr lang="en-GB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Discuss the ethical responsibilities of AI developers in ensuring model interpretability.</a:t>
            </a:r>
            <a:br>
              <a:rPr lang="en-GB" dirty="0"/>
            </a:br>
            <a:r>
              <a:rPr lang="en-GB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Evaluate real-world case studies where transparency (or lack of it) had ethical and legal consequences.</a:t>
            </a:r>
            <a:endParaRPr lang="en-GB" dirty="0">
              <a:effectLst/>
            </a:endParaRPr>
          </a:p>
          <a:p>
            <a:pPr marL="342900" marR="0" lvl="0" indent="-342900" rtl="0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AutoNum type="arabicPeriod"/>
            </a:pPr>
            <a:endParaRPr lang="en-GB" b="0" i="0" u="none" strike="noStrike" cap="none" dirty="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A"/>
        </a:solidFill>
        <a:effectLst/>
      </p:bgPr>
    </p:bg>
    <p:spTree>
      <p:nvGrpSpPr>
        <p:cNvPr id="1" name="Shape 74">
          <a:extLst>
            <a:ext uri="{FF2B5EF4-FFF2-40B4-BE49-F238E27FC236}">
              <a16:creationId xmlns:a16="http://schemas.microsoft.com/office/drawing/2014/main" id="{1BBFEC59-2F9A-F1A0-822E-D0C14DF811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6">
            <a:extLst>
              <a:ext uri="{FF2B5EF4-FFF2-40B4-BE49-F238E27FC236}">
                <a16:creationId xmlns:a16="http://schemas.microsoft.com/office/drawing/2014/main" id="{814E9543-CA25-5AF4-BD0C-4BBE3828E304}"/>
              </a:ext>
            </a:extLst>
          </p:cNvPr>
          <p:cNvPicPr preferRelativeResize="0"/>
          <p:nvPr/>
        </p:nvPicPr>
        <p:blipFill rotWithShape="1">
          <a:blip r:embed="rId3">
            <a:alphaModFix amt="60000"/>
          </a:blip>
          <a:srcRect/>
          <a:stretch/>
        </p:blipFill>
        <p:spPr>
          <a:xfrm>
            <a:off x="3544650" y="177900"/>
            <a:ext cx="5408998" cy="2939569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6">
            <a:extLst>
              <a:ext uri="{FF2B5EF4-FFF2-40B4-BE49-F238E27FC236}">
                <a16:creationId xmlns:a16="http://schemas.microsoft.com/office/drawing/2014/main" id="{4025FB2A-478B-7FBC-5819-20CB112C3CD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69849" y="177900"/>
            <a:ext cx="6488264" cy="494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>
              <a:buNone/>
            </a:pPr>
            <a:r>
              <a:rPr lang="en-GB" sz="2000" b="1" i="0" u="none" strike="noStrike" dirty="0">
                <a:solidFill>
                  <a:srgbClr val="7030A0"/>
                </a:solidFill>
                <a:effectLst/>
              </a:rPr>
              <a:t>Model Transparency</a:t>
            </a:r>
            <a:br>
              <a:rPr lang="en-GB" sz="2000" b="1" i="0" u="none" strike="noStrike" dirty="0">
                <a:solidFill>
                  <a:srgbClr val="7030A0"/>
                </a:solidFill>
                <a:effectLst/>
              </a:rPr>
            </a:br>
            <a:br>
              <a:rPr lang="en-GB" sz="1000" dirty="0">
                <a:latin typeface="Calibri"/>
                <a:ea typeface="Calibri"/>
                <a:cs typeface="Calibri"/>
                <a:sym typeface="Calibri"/>
              </a:rPr>
            </a:br>
            <a:br>
              <a:rPr lang="en-GB" sz="1600" b="1" i="0" u="none" strike="noStrike" dirty="0">
                <a:solidFill>
                  <a:srgbClr val="000000"/>
                </a:solidFill>
                <a:effectLst/>
              </a:rPr>
            </a:br>
            <a:br>
              <a:rPr lang="en-GB" b="0" i="0" u="none" strike="noStrike" dirty="0">
                <a:solidFill>
                  <a:srgbClr val="000000"/>
                </a:solidFill>
                <a:effectLst/>
              </a:rPr>
            </a:br>
            <a:endParaRPr lang="en-GB" sz="3200" dirty="0"/>
          </a:p>
        </p:txBody>
      </p:sp>
      <p:sp>
        <p:nvSpPr>
          <p:cNvPr id="79" name="Google Shape;79;p6">
            <a:extLst>
              <a:ext uri="{FF2B5EF4-FFF2-40B4-BE49-F238E27FC236}">
                <a16:creationId xmlns:a16="http://schemas.microsoft.com/office/drawing/2014/main" id="{8E7AD6B6-47C7-C90A-7843-8B2A94B3A678}"/>
              </a:ext>
            </a:extLst>
          </p:cNvPr>
          <p:cNvSpPr txBox="1"/>
          <p:nvPr/>
        </p:nvSpPr>
        <p:spPr>
          <a:xfrm>
            <a:off x="2371061" y="4038281"/>
            <a:ext cx="344220" cy="30777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0FD6C9E-38BA-15B8-2EE4-3EF35D643E65}"/>
              </a:ext>
            </a:extLst>
          </p:cNvPr>
          <p:cNvSpPr txBox="1"/>
          <p:nvPr/>
        </p:nvSpPr>
        <p:spPr>
          <a:xfrm>
            <a:off x="894080" y="797442"/>
            <a:ext cx="6080759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GB" b="1" i="0" u="none" strike="noStrike" dirty="0">
                <a:solidFill>
                  <a:srgbClr val="000000"/>
                </a:solidFill>
                <a:effectLst/>
              </a:rPr>
              <a:t>What is Model Transparency?</a:t>
            </a:r>
          </a:p>
          <a:p>
            <a:pPr algn="l">
              <a:buNone/>
            </a:pP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Model transparency refers to how easily a human can understand the inner workings of a machine learning model. A transparent model allows users to </a:t>
            </a:r>
            <a:r>
              <a:rPr lang="en-GB" b="1" i="0" u="none" strike="noStrike" dirty="0">
                <a:solidFill>
                  <a:srgbClr val="000000"/>
                </a:solidFill>
                <a:effectLst/>
              </a:rPr>
              <a:t>see how input features influence predictions</a:t>
            </a: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 in a clear and intuitive way.</a:t>
            </a:r>
          </a:p>
          <a:p>
            <a:pPr algn="l">
              <a:buNone/>
            </a:pPr>
            <a:r>
              <a:rPr lang="en-GB" b="1" i="0" u="none" strike="noStrike" dirty="0">
                <a:solidFill>
                  <a:srgbClr val="000000"/>
                </a:solidFill>
                <a:effectLst/>
              </a:rPr>
              <a:t>Why is Model Transparency Important?</a:t>
            </a:r>
          </a:p>
          <a:p>
            <a:pPr algn="l">
              <a:buNone/>
            </a:pP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In many real-world applications, machine learning models make decisions that significantly impact people’s lives. Consider these examples: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1" i="0" u="none" strike="noStrike" dirty="0">
                <a:solidFill>
                  <a:srgbClr val="000000"/>
                </a:solidFill>
                <a:effectLst/>
              </a:rPr>
              <a:t>Healthcare:</a:t>
            </a: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 A model predicting disease risk must be interpretable so that doctors can trust and explain its predictions.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1" i="0" u="none" strike="noStrike" dirty="0">
                <a:solidFill>
                  <a:srgbClr val="000000"/>
                </a:solidFill>
                <a:effectLst/>
              </a:rPr>
              <a:t>Finance:</a:t>
            </a: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 Loan approval systems must be transparent to ensure fairness and avoid discrimination.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1" i="0" u="none" strike="noStrike" dirty="0">
                <a:solidFill>
                  <a:srgbClr val="000000"/>
                </a:solidFill>
                <a:effectLst/>
              </a:rPr>
              <a:t>Legal Compliance:</a:t>
            </a: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 Regulations like GDPR require that AI decisions be explainable, especially in high-risk scenarios.</a:t>
            </a:r>
          </a:p>
          <a:p>
            <a:pPr algn="l"/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Thus, ensuring transparency helps with </a:t>
            </a:r>
            <a:r>
              <a:rPr lang="en-GB" b="1" i="0" u="none" strike="noStrike" dirty="0">
                <a:solidFill>
                  <a:srgbClr val="000000"/>
                </a:solidFill>
                <a:effectLst/>
              </a:rPr>
              <a:t>trust, fairness, debugging, and regulatory compliance.</a:t>
            </a:r>
            <a:endParaRPr lang="en-GB" b="0" i="0" u="none" strike="noStrike" dirty="0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321339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A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7"/>
          <p:cNvPicPr preferRelativeResize="0"/>
          <p:nvPr/>
        </p:nvPicPr>
        <p:blipFill rotWithShape="1">
          <a:blip r:embed="rId3">
            <a:alphaModFix amt="60000"/>
          </a:blip>
          <a:srcRect/>
          <a:stretch/>
        </p:blipFill>
        <p:spPr>
          <a:xfrm>
            <a:off x="4184730" y="287628"/>
            <a:ext cx="5408998" cy="2939569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7"/>
          <p:cNvSpPr txBox="1">
            <a:spLocks noGrp="1"/>
          </p:cNvSpPr>
          <p:nvPr>
            <p:ph type="title"/>
          </p:nvPr>
        </p:nvSpPr>
        <p:spPr>
          <a:xfrm>
            <a:off x="1163782" y="122160"/>
            <a:ext cx="6791498" cy="494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GB" sz="2400" b="1" i="0" u="none" strike="noStrike" dirty="0">
                <a:solidFill>
                  <a:srgbClr val="7030A0"/>
                </a:solidFill>
                <a:effectLst/>
              </a:rPr>
              <a:t>Transparent Models</a:t>
            </a:r>
            <a:br>
              <a:rPr lang="en-GB" sz="1200" b="1" i="0" u="none" strike="noStrike" dirty="0">
                <a:solidFill>
                  <a:srgbClr val="000000"/>
                </a:solidFill>
                <a:effectLst/>
              </a:rPr>
            </a:br>
            <a:br>
              <a:rPr lang="en-GB" sz="800" dirty="0">
                <a:latin typeface="-webkit-standard"/>
              </a:rPr>
            </a:br>
            <a:br>
              <a:rPr lang="en-GB" sz="1100" b="0" i="0" u="none" strike="noStrike" dirty="0">
                <a:solidFill>
                  <a:srgbClr val="000000"/>
                </a:solidFill>
                <a:effectLst/>
              </a:rPr>
            </a:br>
            <a:br>
              <a:rPr lang="en-US" sz="2000" dirty="0">
                <a:latin typeface="Calibri"/>
                <a:ea typeface="Calibri"/>
                <a:cs typeface="Calibri"/>
                <a:sym typeface="Calibri"/>
              </a:rPr>
            </a:br>
            <a:endParaRPr lang="en-US" sz="32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0F8461E-5A96-A1E4-A871-C71F99F0620E}"/>
              </a:ext>
            </a:extLst>
          </p:cNvPr>
          <p:cNvSpPr txBox="1"/>
          <p:nvPr/>
        </p:nvSpPr>
        <p:spPr>
          <a:xfrm>
            <a:off x="1163782" y="718099"/>
            <a:ext cx="6026574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GB" sz="1600" b="0" i="0" u="none" strike="noStrike" dirty="0">
                <a:solidFill>
                  <a:srgbClr val="000000"/>
                </a:solidFill>
                <a:effectLst/>
              </a:rPr>
              <a:t>Some machine learning models are naturally interpretable. These models provide direct insight into how they make predictions and why certain features are important.</a:t>
            </a:r>
          </a:p>
          <a:p>
            <a:pPr algn="l">
              <a:buNone/>
            </a:pPr>
            <a:endParaRPr lang="en-GB" sz="1600" b="0" i="0" u="none" strike="noStrike" dirty="0">
              <a:solidFill>
                <a:srgbClr val="000000"/>
              </a:solidFill>
              <a:effectLst/>
            </a:endParaRPr>
          </a:p>
          <a:p>
            <a:pPr algn="l">
              <a:buNone/>
            </a:pPr>
            <a:r>
              <a:rPr lang="en-GB" sz="1600" b="1" i="0" u="none" strike="noStrike" dirty="0">
                <a:solidFill>
                  <a:srgbClr val="000000"/>
                </a:solidFill>
                <a:effectLst/>
              </a:rPr>
              <a:t>A. Decision Trees: A Step-by-Step Breakdown</a:t>
            </a:r>
          </a:p>
          <a:p>
            <a:pPr algn="l">
              <a:buNone/>
            </a:pPr>
            <a:r>
              <a:rPr lang="en-GB" sz="1600" b="0" i="0" u="none" strike="noStrike" dirty="0">
                <a:solidFill>
                  <a:srgbClr val="000000"/>
                </a:solidFill>
                <a:effectLst/>
              </a:rPr>
              <a:t>Decision Trees are one of the most interpretable machine learning models. They work by </a:t>
            </a:r>
            <a:r>
              <a:rPr lang="en-GB" sz="1600" b="1" i="0" u="none" strike="noStrike" dirty="0">
                <a:solidFill>
                  <a:srgbClr val="000000"/>
                </a:solidFill>
                <a:effectLst/>
              </a:rPr>
              <a:t>splitting data based on feature values</a:t>
            </a:r>
            <a:r>
              <a:rPr lang="en-GB" sz="1600" b="0" i="0" u="none" strike="noStrike" dirty="0">
                <a:solidFill>
                  <a:srgbClr val="000000"/>
                </a:solidFill>
                <a:effectLst/>
              </a:rPr>
              <a:t> in a stepwise fashion, forming a tree-like structure.</a:t>
            </a:r>
          </a:p>
          <a:p>
            <a:pPr algn="l">
              <a:buNone/>
            </a:pPr>
            <a:r>
              <a:rPr lang="en-GB" sz="1600" b="1" i="0" u="none" strike="noStrike" dirty="0">
                <a:solidFill>
                  <a:srgbClr val="000000"/>
                </a:solidFill>
                <a:effectLst/>
              </a:rPr>
              <a:t>Advantages:</a:t>
            </a:r>
          </a:p>
          <a:p>
            <a:pPr algn="l">
              <a:buNone/>
            </a:pPr>
            <a:endParaRPr lang="en-GB" sz="1600" dirty="0"/>
          </a:p>
          <a:p>
            <a:pPr marL="285750" indent="-285750" algn="l">
              <a:buFont typeface="Wingdings" pitchFamily="2" charset="2"/>
              <a:buChar char="ü"/>
            </a:pPr>
            <a:r>
              <a:rPr lang="en-GB" sz="1600" b="0" i="0" u="none" strike="noStrike" dirty="0">
                <a:solidFill>
                  <a:srgbClr val="000000"/>
                </a:solidFill>
                <a:effectLst/>
              </a:rPr>
              <a:t>Easy to visualize and explain</a:t>
            </a:r>
            <a:r>
              <a:rPr lang="en-GB" sz="1600" dirty="0"/>
              <a:t>.</a:t>
            </a:r>
          </a:p>
          <a:p>
            <a:pPr marL="285750" indent="-285750" algn="l">
              <a:buFont typeface="Wingdings" pitchFamily="2" charset="2"/>
              <a:buChar char="ü"/>
            </a:pPr>
            <a:r>
              <a:rPr lang="en-GB" sz="1600" b="0" i="0" u="none" strike="noStrike" dirty="0">
                <a:solidFill>
                  <a:srgbClr val="000000"/>
                </a:solidFill>
                <a:effectLst/>
              </a:rPr>
              <a:t>Captures non-linear relationships.</a:t>
            </a:r>
          </a:p>
          <a:p>
            <a:pPr algn="l">
              <a:buNone/>
            </a:pPr>
            <a:r>
              <a:rPr lang="en-GB" sz="1600" b="1" i="0" u="none" strike="noStrike" dirty="0">
                <a:solidFill>
                  <a:srgbClr val="000000"/>
                </a:solidFill>
                <a:effectLst/>
              </a:rPr>
              <a:t>Limitations:</a:t>
            </a:r>
          </a:p>
          <a:p>
            <a:pPr algn="l">
              <a:buNone/>
            </a:pPr>
            <a:br>
              <a:rPr lang="en-GB" sz="1600" b="0" i="0" u="none" strike="noStrike" dirty="0">
                <a:solidFill>
                  <a:srgbClr val="000000"/>
                </a:solidFill>
                <a:effectLst/>
              </a:rPr>
            </a:br>
            <a:r>
              <a:rPr lang="en-GB" sz="1600" b="0" i="0" u="none" strike="noStrike" dirty="0">
                <a:solidFill>
                  <a:srgbClr val="000000"/>
                </a:solidFill>
                <a:effectLst/>
              </a:rPr>
              <a:t>❌ Can become too complex (deep trees).</a:t>
            </a:r>
            <a:br>
              <a:rPr lang="en-GB" sz="1600" b="0" i="0" u="none" strike="noStrike" dirty="0">
                <a:solidFill>
                  <a:srgbClr val="000000"/>
                </a:solidFill>
                <a:effectLst/>
              </a:rPr>
            </a:br>
            <a:r>
              <a:rPr lang="en-GB" sz="1600" b="0" i="0" u="none" strike="noStrike" dirty="0">
                <a:solidFill>
                  <a:srgbClr val="000000"/>
                </a:solidFill>
                <a:effectLst/>
              </a:rPr>
              <a:t>❌ Prone to overfitting without pruning.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>
          <a:extLst>
            <a:ext uri="{FF2B5EF4-FFF2-40B4-BE49-F238E27FC236}">
              <a16:creationId xmlns:a16="http://schemas.microsoft.com/office/drawing/2014/main" id="{AD1E245C-17DD-8426-7E86-225321D384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7">
            <a:extLst>
              <a:ext uri="{FF2B5EF4-FFF2-40B4-BE49-F238E27FC236}">
                <a16:creationId xmlns:a16="http://schemas.microsoft.com/office/drawing/2014/main" id="{67DA5825-D171-C6C9-BDA7-CE6B9486639F}"/>
              </a:ext>
            </a:extLst>
          </p:cNvPr>
          <p:cNvPicPr preferRelativeResize="0"/>
          <p:nvPr/>
        </p:nvPicPr>
        <p:blipFill rotWithShape="1">
          <a:blip r:embed="rId3">
            <a:alphaModFix amt="60000"/>
          </a:blip>
          <a:srcRect/>
          <a:stretch/>
        </p:blipFill>
        <p:spPr>
          <a:xfrm>
            <a:off x="3645234" y="196310"/>
            <a:ext cx="5408998" cy="2939569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7">
            <a:extLst>
              <a:ext uri="{FF2B5EF4-FFF2-40B4-BE49-F238E27FC236}">
                <a16:creationId xmlns:a16="http://schemas.microsoft.com/office/drawing/2014/main" id="{12EC5BCB-C707-1B44-6F65-65EAE68BC72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4845" y="122160"/>
            <a:ext cx="7541261" cy="494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GB" sz="2400" b="1" i="0" u="none" strike="noStrike" dirty="0">
                <a:solidFill>
                  <a:srgbClr val="7030A0"/>
                </a:solidFill>
                <a:effectLst/>
              </a:rPr>
              <a:t>Example: A Simple Decision Tree for Loan Approval</a:t>
            </a:r>
            <a:br>
              <a:rPr lang="en-GB" sz="2400" b="1" i="0" u="none" strike="noStrike" dirty="0">
                <a:solidFill>
                  <a:srgbClr val="7030A0"/>
                </a:solidFill>
                <a:effectLst/>
              </a:rPr>
            </a:br>
            <a:br>
              <a:rPr lang="en-GB" sz="1600" b="1" i="0" u="none" strike="noStrike" dirty="0">
                <a:solidFill>
                  <a:srgbClr val="000000"/>
                </a:solidFill>
                <a:effectLst/>
              </a:rPr>
            </a:br>
            <a:br>
              <a:rPr lang="en-GB" sz="1100" b="0" i="0" u="none" strike="noStrike" dirty="0">
                <a:solidFill>
                  <a:srgbClr val="000000"/>
                </a:solidFill>
                <a:effectLst/>
              </a:rPr>
            </a:br>
            <a:br>
              <a:rPr lang="en-US" sz="2000" dirty="0">
                <a:latin typeface="Calibri"/>
                <a:ea typeface="Calibri"/>
                <a:cs typeface="Calibri"/>
                <a:sym typeface="Calibri"/>
              </a:rPr>
            </a:br>
            <a:endParaRPr lang="en-US" sz="32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6F91950-F9B3-541E-AFFD-F30DF4DC79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6473" y="1578997"/>
            <a:ext cx="3314700" cy="27559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CD2C941-16F4-C096-C48E-4A7EB85EFC99}"/>
              </a:ext>
            </a:extLst>
          </p:cNvPr>
          <p:cNvSpPr txBox="1"/>
          <p:nvPr/>
        </p:nvSpPr>
        <p:spPr>
          <a:xfrm>
            <a:off x="395815" y="808603"/>
            <a:ext cx="725931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br>
              <a:rPr lang="en-GB" b="0" i="0" u="none" strike="noStrike" dirty="0">
                <a:solidFill>
                  <a:srgbClr val="000000"/>
                </a:solidFill>
                <a:effectLst/>
              </a:rPr>
            </a:b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Consider a bank deciding whether to approve a loan based on income and credit score.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777E1FA-143E-FE35-C054-9BBC67E59388}"/>
              </a:ext>
            </a:extLst>
          </p:cNvPr>
          <p:cNvSpPr txBox="1"/>
          <p:nvPr/>
        </p:nvSpPr>
        <p:spPr>
          <a:xfrm>
            <a:off x="3569546" y="2181772"/>
            <a:ext cx="548468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This tree is easy to understand: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If a person has a </a:t>
            </a:r>
            <a:r>
              <a:rPr lang="en-GB" b="1" i="0" u="none" strike="noStrike" dirty="0">
                <a:solidFill>
                  <a:srgbClr val="000000"/>
                </a:solidFill>
                <a:effectLst/>
              </a:rPr>
              <a:t>credit score &gt; 700</a:t>
            </a: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 and </a:t>
            </a:r>
            <a:r>
              <a:rPr lang="en-GB" b="1" i="0" u="none" strike="noStrike" dirty="0">
                <a:solidFill>
                  <a:srgbClr val="000000"/>
                </a:solidFill>
                <a:effectLst/>
              </a:rPr>
              <a:t>income &gt; 50k</a:t>
            </a: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, they get a loan.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Otherwise, they are rejected.</a:t>
            </a:r>
          </a:p>
        </p:txBody>
      </p:sp>
    </p:spTree>
    <p:extLst>
      <p:ext uri="{BB962C8B-B14F-4D97-AF65-F5344CB8AC3E}">
        <p14:creationId xmlns:p14="http://schemas.microsoft.com/office/powerpoint/2010/main" val="34591526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>
          <a:extLst>
            <a:ext uri="{FF2B5EF4-FFF2-40B4-BE49-F238E27FC236}">
              <a16:creationId xmlns:a16="http://schemas.microsoft.com/office/drawing/2014/main" id="{F4B47B7F-4501-6763-4EA2-1CC2279E8A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7">
            <a:extLst>
              <a:ext uri="{FF2B5EF4-FFF2-40B4-BE49-F238E27FC236}">
                <a16:creationId xmlns:a16="http://schemas.microsoft.com/office/drawing/2014/main" id="{78649428-152A-9D7A-024A-0CCC75831A93}"/>
              </a:ext>
            </a:extLst>
          </p:cNvPr>
          <p:cNvPicPr preferRelativeResize="0"/>
          <p:nvPr/>
        </p:nvPicPr>
        <p:blipFill rotWithShape="1">
          <a:blip r:embed="rId3">
            <a:alphaModFix amt="60000"/>
          </a:blip>
          <a:srcRect/>
          <a:stretch/>
        </p:blipFill>
        <p:spPr>
          <a:xfrm>
            <a:off x="3645234" y="196310"/>
            <a:ext cx="5408998" cy="2939569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7">
            <a:extLst>
              <a:ext uri="{FF2B5EF4-FFF2-40B4-BE49-F238E27FC236}">
                <a16:creationId xmlns:a16="http://schemas.microsoft.com/office/drawing/2014/main" id="{D2197578-E91B-37AB-7400-75146DF92BD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4845" y="122160"/>
            <a:ext cx="7541261" cy="494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GB" sz="2400" dirty="0">
                <a:solidFill>
                  <a:srgbClr val="7030A0"/>
                </a:solidFill>
              </a:rPr>
              <a:t>Python Implementation</a:t>
            </a:r>
            <a:r>
              <a:rPr lang="en-GB" sz="2400" b="1" i="0" u="none" strike="noStrike" dirty="0">
                <a:solidFill>
                  <a:srgbClr val="7030A0"/>
                </a:solidFill>
                <a:effectLst/>
              </a:rPr>
              <a:t>: A Simple Decision Tree for Loan Approval</a:t>
            </a:r>
            <a:br>
              <a:rPr lang="en-GB" sz="2400" b="1" i="0" u="none" strike="noStrike" dirty="0">
                <a:solidFill>
                  <a:srgbClr val="7030A0"/>
                </a:solidFill>
                <a:effectLst/>
              </a:rPr>
            </a:br>
            <a:br>
              <a:rPr lang="en-GB" sz="1600" b="1" i="0" u="none" strike="noStrike" dirty="0">
                <a:solidFill>
                  <a:srgbClr val="000000"/>
                </a:solidFill>
                <a:effectLst/>
              </a:rPr>
            </a:br>
            <a:br>
              <a:rPr lang="en-GB" sz="1100" b="0" i="0" u="none" strike="noStrike" dirty="0">
                <a:solidFill>
                  <a:srgbClr val="000000"/>
                </a:solidFill>
                <a:effectLst/>
              </a:rPr>
            </a:br>
            <a:br>
              <a:rPr lang="en-US" sz="2000" dirty="0">
                <a:latin typeface="Calibri"/>
                <a:ea typeface="Calibri"/>
                <a:cs typeface="Calibri"/>
                <a:sym typeface="Calibri"/>
              </a:rPr>
            </a:br>
            <a:endParaRPr lang="en-US" sz="3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18547C5-C116-E301-196D-28BEF963CA64}"/>
              </a:ext>
            </a:extLst>
          </p:cNvPr>
          <p:cNvSpPr txBox="1"/>
          <p:nvPr/>
        </p:nvSpPr>
        <p:spPr>
          <a:xfrm>
            <a:off x="395815" y="808603"/>
            <a:ext cx="725931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br>
              <a:rPr lang="en-GB" b="0" i="0" u="none" strike="noStrike" dirty="0">
                <a:solidFill>
                  <a:srgbClr val="000000"/>
                </a:solidFill>
                <a:effectLst/>
              </a:rPr>
            </a:b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Consider a bank deciding whether to approve a loan based on income and credit score.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AEE6256-2386-CCE6-2D94-94359148C4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433602"/>
            <a:ext cx="4888654" cy="260430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95D4123-8D5E-15F1-CE9B-952033FCF0C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88654" y="1340134"/>
            <a:ext cx="4130250" cy="2994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92628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A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8"/>
          <p:cNvPicPr preferRelativeResize="0"/>
          <p:nvPr/>
        </p:nvPicPr>
        <p:blipFill rotWithShape="1">
          <a:blip r:embed="rId3">
            <a:alphaModFix amt="60000"/>
          </a:blip>
          <a:srcRect/>
          <a:stretch/>
        </p:blipFill>
        <p:spPr>
          <a:xfrm>
            <a:off x="5789384" y="2713536"/>
            <a:ext cx="3164264" cy="403933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8"/>
          <p:cNvSpPr txBox="1">
            <a:spLocks noGrp="1"/>
          </p:cNvSpPr>
          <p:nvPr>
            <p:ph type="title"/>
          </p:nvPr>
        </p:nvSpPr>
        <p:spPr>
          <a:xfrm>
            <a:off x="-162561" y="122160"/>
            <a:ext cx="8351521" cy="494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-GB" sz="2400" b="1" i="0" u="none" strike="noStrike" dirty="0">
                <a:solidFill>
                  <a:srgbClr val="7030A0"/>
                </a:solidFill>
                <a:effectLst/>
              </a:rPr>
              <a:t>Linear Regression: A Transparent Model for Continuous Data</a:t>
            </a:r>
            <a:br>
              <a:rPr lang="en-GB" sz="2400" b="1" i="0" u="none" strike="noStrike" dirty="0">
                <a:solidFill>
                  <a:srgbClr val="7030A0"/>
                </a:solidFill>
                <a:effectLst/>
              </a:rPr>
            </a:br>
            <a:br>
              <a:rPr lang="en-GB" sz="2800" b="1" i="0" u="none" strike="noStrike" dirty="0">
                <a:solidFill>
                  <a:srgbClr val="000000"/>
                </a:solidFill>
                <a:effectLst/>
              </a:rPr>
            </a:br>
            <a:br>
              <a:rPr lang="en-GB" sz="2800" b="1" i="0" u="none" strike="noStrike" dirty="0">
                <a:solidFill>
                  <a:srgbClr val="7030A0"/>
                </a:solidFill>
                <a:effectLst/>
              </a:rPr>
            </a:br>
            <a:br>
              <a:rPr lang="en-GB" sz="1100" b="1" i="0" u="none" strike="noStrike" dirty="0">
                <a:solidFill>
                  <a:srgbClr val="000000"/>
                </a:solidFill>
                <a:effectLst/>
              </a:rPr>
            </a:br>
            <a:br>
              <a:rPr lang="en-US" sz="1600" dirty="0">
                <a:latin typeface="Arial"/>
                <a:ea typeface="Arial"/>
                <a:cs typeface="Arial"/>
                <a:sym typeface="Arial"/>
              </a:rPr>
            </a:br>
            <a:endParaRPr lang="en-US" sz="32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027F959-1966-B747-9CFE-26C5FB6B5552}"/>
              </a:ext>
            </a:extLst>
          </p:cNvPr>
          <p:cNvSpPr txBox="1"/>
          <p:nvPr/>
        </p:nvSpPr>
        <p:spPr>
          <a:xfrm>
            <a:off x="238761" y="1194398"/>
            <a:ext cx="5423746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Linear Regression is one of the simplest and most interpretable models for predicting a continuous output.</a:t>
            </a:r>
          </a:p>
          <a:p>
            <a:pPr algn="l">
              <a:buNone/>
            </a:pPr>
            <a:endParaRPr lang="en-GB" b="0" i="0" u="none" strike="noStrike" dirty="0">
              <a:solidFill>
                <a:srgbClr val="000000"/>
              </a:solidFill>
              <a:effectLst/>
            </a:endParaRPr>
          </a:p>
          <a:p>
            <a:pPr algn="l">
              <a:buNone/>
            </a:pPr>
            <a:r>
              <a:rPr lang="en-GB" b="1" i="0" u="none" strike="noStrike" dirty="0">
                <a:solidFill>
                  <a:srgbClr val="000000"/>
                </a:solidFill>
                <a:effectLst/>
              </a:rPr>
              <a:t>Example: Predicting House Prices</a:t>
            </a:r>
            <a:br>
              <a:rPr lang="en-GB" b="0" i="0" u="none" strike="noStrike" dirty="0">
                <a:solidFill>
                  <a:srgbClr val="000000"/>
                </a:solidFill>
                <a:effectLst/>
              </a:rPr>
            </a:b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Suppose we want to predict the price of a house based on its square footage.</a:t>
            </a:r>
          </a:p>
          <a:p>
            <a:pPr algn="l">
              <a:buNone/>
            </a:pPr>
            <a:r>
              <a:rPr lang="en-GB" b="1" i="0" u="none" strike="noStrike" dirty="0">
                <a:solidFill>
                  <a:srgbClr val="000000"/>
                </a:solidFill>
                <a:effectLst/>
              </a:rPr>
              <a:t>Formula:</a:t>
            </a:r>
            <a:endParaRPr lang="en-GB" b="0" i="0" u="none" strike="noStrike" dirty="0">
              <a:solidFill>
                <a:srgbClr val="000000"/>
              </a:solidFill>
              <a:effectLst/>
            </a:endParaRPr>
          </a:p>
          <a:p>
            <a:pPr algn="l">
              <a:buNone/>
            </a:pP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Price=</a:t>
            </a:r>
            <a:r>
              <a:rPr lang="el-GR" b="0" i="0" u="none" strike="noStrike" dirty="0">
                <a:solidFill>
                  <a:srgbClr val="000000"/>
                </a:solidFill>
                <a:effectLst/>
              </a:rPr>
              <a:t>β0​+β1​×</a:t>
            </a: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Square Footage</a:t>
            </a:r>
          </a:p>
          <a:p>
            <a:pPr algn="l">
              <a:buNone/>
            </a:pP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where: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l-GR" b="0" i="0" u="none" strike="noStrike" dirty="0">
                <a:solidFill>
                  <a:srgbClr val="000000"/>
                </a:solidFill>
                <a:effectLst/>
              </a:rPr>
              <a:t>β0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is the intercept (base price).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l-GR" b="0" i="0" u="none" strike="noStrike" dirty="0">
                <a:solidFill>
                  <a:srgbClr val="000000"/>
                </a:solidFill>
                <a:effectLst/>
              </a:rPr>
              <a:t>β1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is the coefficient (price per square foot).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D783349-2177-4853-3FD8-AC1CC22C07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60834" y="1541814"/>
            <a:ext cx="3826015" cy="246221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8F54236-3895-33A6-8620-85D9BDF6B511}"/>
              </a:ext>
            </a:extLst>
          </p:cNvPr>
          <p:cNvSpPr txBox="1"/>
          <p:nvPr/>
        </p:nvSpPr>
        <p:spPr>
          <a:xfrm>
            <a:off x="238761" y="4089669"/>
            <a:ext cx="8573346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GB" b="1" i="0" u="none" strike="noStrike" dirty="0">
                <a:solidFill>
                  <a:srgbClr val="000000"/>
                </a:solidFill>
                <a:effectLst/>
              </a:rPr>
              <a:t>Interpretation:</a:t>
            </a:r>
            <a:endParaRPr lang="en-GB" b="0" i="0" u="none" strike="noStrike" dirty="0">
              <a:solidFill>
                <a:srgbClr val="000000"/>
              </a:solidFill>
              <a:effectLst/>
            </a:endParaRPr>
          </a:p>
          <a:p>
            <a:pPr algn="l"/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1. If the coefficient is </a:t>
            </a:r>
            <a:r>
              <a:rPr lang="en-GB" b="1" i="0" u="none" strike="noStrike" dirty="0">
                <a:solidFill>
                  <a:srgbClr val="000000"/>
                </a:solidFill>
                <a:effectLst/>
              </a:rPr>
              <a:t>200</a:t>
            </a: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, it means </a:t>
            </a:r>
            <a:r>
              <a:rPr lang="en-GB" b="1" i="0" u="none" strike="noStrike" dirty="0">
                <a:solidFill>
                  <a:srgbClr val="000000"/>
                </a:solidFill>
                <a:effectLst/>
              </a:rPr>
              <a:t>each additional square foot increases the house price by $200</a:t>
            </a: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.</a:t>
            </a:r>
          </a:p>
          <a:p>
            <a:pPr algn="l"/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2. The model is </a:t>
            </a:r>
            <a:r>
              <a:rPr lang="en-GB" b="1" i="0" u="none" strike="noStrike" dirty="0">
                <a:solidFill>
                  <a:srgbClr val="000000"/>
                </a:solidFill>
                <a:effectLst/>
              </a:rPr>
              <a:t>fully transparent</a:t>
            </a: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 since each input directly affects the prediction.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A"/>
        </a:solidFill>
        <a:effectLst/>
      </p:bgPr>
    </p:bg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9"/>
          <p:cNvSpPr txBox="1">
            <a:spLocks noGrp="1"/>
          </p:cNvSpPr>
          <p:nvPr>
            <p:ph type="title"/>
          </p:nvPr>
        </p:nvSpPr>
        <p:spPr>
          <a:xfrm>
            <a:off x="872950" y="122160"/>
            <a:ext cx="6984510" cy="494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GB" sz="2000" b="1" i="0" u="none" strike="noStrike" dirty="0">
                <a:solidFill>
                  <a:srgbClr val="7030A0"/>
                </a:solidFill>
                <a:effectLst/>
              </a:rPr>
              <a:t>Trade-offs Between Transparency and Performance</a:t>
            </a:r>
            <a:br>
              <a:rPr lang="en-GB" sz="2000" b="1" i="0" u="none" strike="noStrike" dirty="0">
                <a:solidFill>
                  <a:srgbClr val="7030A0"/>
                </a:solidFill>
                <a:effectLst/>
              </a:rPr>
            </a:br>
            <a:br>
              <a:rPr lang="en-GB" sz="800" b="1" i="0" u="none" strike="noStrike" dirty="0">
                <a:solidFill>
                  <a:srgbClr val="000000"/>
                </a:solidFill>
                <a:effectLst/>
              </a:rPr>
            </a:br>
            <a:br>
              <a:rPr lang="en-GB" sz="1200" b="0" i="0" u="none" strike="noStrike" dirty="0">
                <a:solidFill>
                  <a:srgbClr val="000000"/>
                </a:solidFill>
                <a:effectLst/>
              </a:rPr>
            </a:br>
            <a:br>
              <a:rPr lang="en-GB" sz="1100" b="1" i="0" u="none" strike="noStrike" dirty="0">
                <a:solidFill>
                  <a:srgbClr val="000000"/>
                </a:solidFill>
                <a:effectLst/>
              </a:rPr>
            </a:br>
            <a:br>
              <a:rPr lang="en-GB" sz="1600" dirty="0">
                <a:latin typeface="Arial"/>
                <a:ea typeface="Arial"/>
                <a:cs typeface="Arial"/>
                <a:sym typeface="Arial"/>
              </a:rPr>
            </a:br>
            <a:endParaRPr lang="en-GB" sz="32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241860F-29A0-3F54-FD98-C61C5B140C92}"/>
              </a:ext>
            </a:extLst>
          </p:cNvPr>
          <p:cNvSpPr txBox="1"/>
          <p:nvPr/>
        </p:nvSpPr>
        <p:spPr>
          <a:xfrm>
            <a:off x="426106" y="856641"/>
            <a:ext cx="787819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While transparent models are interpretable, they may not always perform well in complex tasks.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8B02F35-3DAA-6922-5ECA-919E8BCDB7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5735474"/>
              </p:ext>
            </p:extLst>
          </p:nvPr>
        </p:nvGraphicFramePr>
        <p:xfrm>
          <a:off x="426106" y="1245553"/>
          <a:ext cx="7953981" cy="1950720"/>
        </p:xfrm>
        <a:graphic>
          <a:graphicData uri="http://schemas.openxmlformats.org/drawingml/2006/table">
            <a:tbl>
              <a:tblPr>
                <a:tableStyleId>{35758FB7-9AC5-4552-8A53-C91805E547FA}</a:tableStyleId>
              </a:tblPr>
              <a:tblGrid>
                <a:gridCol w="2651327">
                  <a:extLst>
                    <a:ext uri="{9D8B030D-6E8A-4147-A177-3AD203B41FA5}">
                      <a16:colId xmlns:a16="http://schemas.microsoft.com/office/drawing/2014/main" val="3770214797"/>
                    </a:ext>
                  </a:extLst>
                </a:gridCol>
                <a:gridCol w="2651327">
                  <a:extLst>
                    <a:ext uri="{9D8B030D-6E8A-4147-A177-3AD203B41FA5}">
                      <a16:colId xmlns:a16="http://schemas.microsoft.com/office/drawing/2014/main" val="4164988333"/>
                    </a:ext>
                  </a:extLst>
                </a:gridCol>
                <a:gridCol w="2651327">
                  <a:extLst>
                    <a:ext uri="{9D8B030D-6E8A-4147-A177-3AD203B41FA5}">
                      <a16:colId xmlns:a16="http://schemas.microsoft.com/office/drawing/2014/main" val="245354149"/>
                    </a:ext>
                  </a:extLst>
                </a:gridCol>
              </a:tblGrid>
              <a:tr h="518160">
                <a:tc>
                  <a:txBody>
                    <a:bodyPr/>
                    <a:lstStyle/>
                    <a:p>
                      <a:r>
                        <a:rPr lang="en-GB" sz="1400" b="1"/>
                        <a:t>Feature</a:t>
                      </a:r>
                      <a:endParaRPr lang="en-GB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400" b="1" dirty="0"/>
                        <a:t>Transparent Models (Decision Trees, Linear Regression)</a:t>
                      </a:r>
                      <a:endParaRPr lang="en-GB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400" b="1"/>
                        <a:t>Black-Box Models (Neural Networks, Ensembles)</a:t>
                      </a:r>
                      <a:endParaRPr lang="en-GB" sz="14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00568878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en-GB" sz="1400" b="1"/>
                        <a:t>Interpretability</a:t>
                      </a:r>
                      <a:endParaRPr lang="en-GB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High (easy to understand)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Low (hard to explain)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3583809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en-GB" sz="1400" b="1"/>
                        <a:t>Accuracy</a:t>
                      </a:r>
                      <a:endParaRPr lang="en-GB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Moderate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High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007254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en-GB" sz="1400" b="1"/>
                        <a:t>Complexity</a:t>
                      </a:r>
                      <a:endParaRPr lang="en-GB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High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314319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en-GB" sz="1400" b="1"/>
                        <a:t>Computational Cost</a:t>
                      </a:r>
                      <a:endParaRPr lang="en-GB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High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40924750"/>
                  </a:ext>
                </a:extLst>
              </a:tr>
            </a:tbl>
          </a:graphicData>
        </a:graphic>
      </p:graphicFrame>
      <p:sp>
        <p:nvSpPr>
          <p:cNvPr id="6" name="Rectangle 1">
            <a:extLst>
              <a:ext uri="{FF2B5EF4-FFF2-40B4-BE49-F238E27FC236}">
                <a16:creationId xmlns:a16="http://schemas.microsoft.com/office/drawing/2014/main" id="{7A732883-2A0D-5476-218E-343608670A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1150" y="1982386"/>
            <a:ext cx="8534823" cy="4770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700" b="1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097688B-61C2-09FC-D06F-53CAAE3719F3}"/>
              </a:ext>
            </a:extLst>
          </p:cNvPr>
          <p:cNvSpPr txBox="1"/>
          <p:nvPr/>
        </p:nvSpPr>
        <p:spPr>
          <a:xfrm>
            <a:off x="311150" y="3321743"/>
            <a:ext cx="7200667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GB" b="1" i="0" u="none" strike="noStrike" dirty="0">
                <a:solidFill>
                  <a:srgbClr val="000000"/>
                </a:solidFill>
                <a:effectLst/>
              </a:rPr>
              <a:t>When to Use Transparent Models?</a:t>
            </a:r>
          </a:p>
          <a:p>
            <a:pPr marL="342900" indent="-342900" algn="l">
              <a:buFont typeface="+mj-lt"/>
              <a:buAutoNum type="arabicPeriod"/>
            </a:pP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When interpretability is a priority (e.g., healthcare, finance).</a:t>
            </a:r>
          </a:p>
          <a:p>
            <a:pPr marL="342900" indent="-342900" algn="l">
              <a:buFont typeface="+mj-lt"/>
              <a:buAutoNum type="arabicPeriod"/>
            </a:pP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When debugging and explaining predictions is necessary.</a:t>
            </a:r>
          </a:p>
          <a:p>
            <a:pPr algn="l">
              <a:buNone/>
            </a:pPr>
            <a:r>
              <a:rPr lang="en-GB" b="1" i="0" u="none" strike="noStrike" dirty="0">
                <a:solidFill>
                  <a:srgbClr val="000000"/>
                </a:solidFill>
                <a:effectLst/>
              </a:rPr>
              <a:t>When to Use Black-Box Models?</a:t>
            </a:r>
          </a:p>
          <a:p>
            <a:pPr marL="342900" indent="-342900" algn="l">
              <a:buFont typeface="+mj-lt"/>
              <a:buAutoNum type="arabicPeriod"/>
            </a:pP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When high accuracy is needed (e.g., image recognition, NLP).</a:t>
            </a:r>
          </a:p>
          <a:p>
            <a:pPr marL="342900" indent="-342900" algn="l">
              <a:buFont typeface="+mj-lt"/>
              <a:buAutoNum type="arabicPeriod"/>
            </a:pP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When relationships between features are highly complex.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A"/>
        </a:solidFill>
        <a:effectLst/>
      </p:bgPr>
    </p:bg>
    <p:spTree>
      <p:nvGrpSpPr>
        <p:cNvPr id="1" name="Shape 98">
          <a:extLst>
            <a:ext uri="{FF2B5EF4-FFF2-40B4-BE49-F238E27FC236}">
              <a16:creationId xmlns:a16="http://schemas.microsoft.com/office/drawing/2014/main" id="{25718A45-9D95-C2EE-3EBA-FE320D4D1C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9">
            <a:extLst>
              <a:ext uri="{FF2B5EF4-FFF2-40B4-BE49-F238E27FC236}">
                <a16:creationId xmlns:a16="http://schemas.microsoft.com/office/drawing/2014/main" id="{0421EDE4-2722-9699-8229-BBD15CBA7438}"/>
              </a:ext>
            </a:extLst>
          </p:cNvPr>
          <p:cNvPicPr preferRelativeResize="0"/>
          <p:nvPr/>
        </p:nvPicPr>
        <p:blipFill rotWithShape="1">
          <a:blip r:embed="rId3">
            <a:alphaModFix amt="60000"/>
          </a:blip>
          <a:srcRect/>
          <a:stretch/>
        </p:blipFill>
        <p:spPr>
          <a:xfrm>
            <a:off x="3544650" y="177900"/>
            <a:ext cx="5408998" cy="2939569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9">
            <a:extLst>
              <a:ext uri="{FF2B5EF4-FFF2-40B4-BE49-F238E27FC236}">
                <a16:creationId xmlns:a16="http://schemas.microsoft.com/office/drawing/2014/main" id="{C51D873F-7159-798E-07AF-834574BB51B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72950" y="122160"/>
            <a:ext cx="6984510" cy="494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GB" sz="1800" b="1" i="0" u="none" strike="noStrike" dirty="0">
                <a:solidFill>
                  <a:srgbClr val="7030A0"/>
                </a:solidFill>
                <a:effectLst/>
              </a:rPr>
              <a:t>Introduction to AI Transparency in Ethics and Law</a:t>
            </a:r>
            <a:br>
              <a:rPr lang="en-GB" sz="1800" b="1" i="0" u="none" strike="noStrike" dirty="0">
                <a:solidFill>
                  <a:srgbClr val="7030A0"/>
                </a:solidFill>
                <a:effectLst/>
              </a:rPr>
            </a:br>
            <a:br>
              <a:rPr lang="en-GB" sz="1800" b="1" i="0" u="none" strike="noStrike" dirty="0">
                <a:solidFill>
                  <a:srgbClr val="7030A0"/>
                </a:solidFill>
                <a:effectLst/>
              </a:rPr>
            </a:br>
            <a:br>
              <a:rPr lang="en-GB" sz="1200" b="1" i="0" u="none" strike="noStrike" dirty="0">
                <a:solidFill>
                  <a:srgbClr val="000000"/>
                </a:solidFill>
                <a:effectLst/>
              </a:rPr>
            </a:br>
            <a:br>
              <a:rPr lang="en-GB" sz="1200" b="1" i="0" u="none" strike="noStrike" dirty="0">
                <a:solidFill>
                  <a:srgbClr val="000000"/>
                </a:solidFill>
                <a:effectLst/>
              </a:rPr>
            </a:br>
            <a:br>
              <a:rPr lang="en-GB" sz="1100" b="1" i="0" u="none" strike="noStrike" dirty="0">
                <a:solidFill>
                  <a:srgbClr val="000000"/>
                </a:solidFill>
                <a:effectLst/>
              </a:rPr>
            </a:br>
            <a:br>
              <a:rPr lang="en-GB" sz="2000" b="0" i="0" u="none" strike="noStrike" dirty="0">
                <a:solidFill>
                  <a:srgbClr val="000000"/>
                </a:solidFill>
                <a:effectLst/>
              </a:rPr>
            </a:br>
            <a:endParaRPr lang="en-GB" sz="32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F4C9A54-B62C-7DC0-54DE-8FEA04AC0684}"/>
              </a:ext>
            </a:extLst>
          </p:cNvPr>
          <p:cNvSpPr txBox="1"/>
          <p:nvPr/>
        </p:nvSpPr>
        <p:spPr>
          <a:xfrm>
            <a:off x="751839" y="949172"/>
            <a:ext cx="6935893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GB" b="1" i="0" u="none" strike="noStrike" dirty="0">
                <a:solidFill>
                  <a:srgbClr val="000000"/>
                </a:solidFill>
                <a:effectLst/>
              </a:rPr>
              <a:t>What is AI Transparency?</a:t>
            </a:r>
          </a:p>
          <a:p>
            <a:pPr algn="l">
              <a:buNone/>
            </a:pP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AI transparency refers to the </a:t>
            </a:r>
            <a:r>
              <a:rPr lang="en-GB" b="1" i="0" u="none" strike="noStrike" dirty="0">
                <a:solidFill>
                  <a:srgbClr val="000000"/>
                </a:solidFill>
                <a:effectLst/>
              </a:rPr>
              <a:t>ability to explain how and why an AI system makes decisions.</a:t>
            </a: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 This includes: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Understanding </a:t>
            </a:r>
            <a:r>
              <a:rPr lang="en-GB" b="1" i="0" u="none" strike="noStrike" dirty="0">
                <a:solidFill>
                  <a:srgbClr val="000000"/>
                </a:solidFill>
                <a:effectLst/>
              </a:rPr>
              <a:t>how data is processed</a:t>
            </a:r>
            <a:endParaRPr lang="en-GB" b="0" i="0" u="none" strike="noStrike" dirty="0">
              <a:solidFill>
                <a:srgbClr val="000000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Knowing </a:t>
            </a:r>
            <a:r>
              <a:rPr lang="en-GB" b="1" i="0" u="none" strike="noStrike" dirty="0">
                <a:solidFill>
                  <a:srgbClr val="000000"/>
                </a:solidFill>
                <a:effectLst/>
              </a:rPr>
              <a:t>which features impact decisions</a:t>
            </a:r>
            <a:endParaRPr lang="en-GB" b="0" i="0" u="none" strike="noStrike" dirty="0">
              <a:solidFill>
                <a:srgbClr val="000000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Ensuring </a:t>
            </a:r>
            <a:r>
              <a:rPr lang="en-GB" b="1" i="0" u="none" strike="noStrike" dirty="0">
                <a:solidFill>
                  <a:srgbClr val="000000"/>
                </a:solidFill>
                <a:effectLst/>
              </a:rPr>
              <a:t>stakeholders can interpret and trust the model</a:t>
            </a:r>
            <a:endParaRPr lang="en-GB" b="0" i="0" u="none" strike="noStrike" dirty="0">
              <a:solidFill>
                <a:srgbClr val="000000"/>
              </a:solidFill>
              <a:effectLst/>
            </a:endParaRPr>
          </a:p>
          <a:p>
            <a:pPr algn="l">
              <a:buNone/>
            </a:pP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Transparency is </a:t>
            </a:r>
            <a:r>
              <a:rPr lang="en-GB" b="1" i="0" u="none" strike="noStrike" dirty="0">
                <a:solidFill>
                  <a:srgbClr val="000000"/>
                </a:solidFill>
                <a:effectLst/>
              </a:rPr>
              <a:t>essential</a:t>
            </a: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 because AI systems increasingly affect human lives in critical areas such as </a:t>
            </a:r>
            <a:r>
              <a:rPr lang="en-GB" b="1" i="0" u="none" strike="noStrike" dirty="0">
                <a:solidFill>
                  <a:srgbClr val="000000"/>
                </a:solidFill>
                <a:effectLst/>
              </a:rPr>
              <a:t>finance, healthcare, criminal justice, and employment.</a:t>
            </a:r>
            <a:endParaRPr lang="en-GB" b="0" i="0" u="none" strike="noStrike" dirty="0">
              <a:solidFill>
                <a:srgbClr val="000000"/>
              </a:solidFill>
              <a:effectLst/>
            </a:endParaRPr>
          </a:p>
          <a:p>
            <a:pPr algn="l">
              <a:buNone/>
            </a:pPr>
            <a:r>
              <a:rPr lang="en-GB" b="1" i="0" u="none" strike="noStrike" dirty="0">
                <a:solidFill>
                  <a:srgbClr val="000000"/>
                </a:solidFill>
                <a:effectLst/>
              </a:rPr>
              <a:t>Why is AI Transparency Important?</a:t>
            </a:r>
          </a:p>
          <a:p>
            <a:pPr algn="l"/>
            <a:r>
              <a:rPr lang="en-GB" b="1" i="0" u="none" strike="noStrike" dirty="0">
                <a:solidFill>
                  <a:srgbClr val="000000"/>
                </a:solidFill>
                <a:effectLst/>
              </a:rPr>
              <a:t>Trust and Accountability</a:t>
            </a: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 – Users and stakeholders must trust AI decisions.</a:t>
            </a:r>
            <a:br>
              <a:rPr lang="en-GB" b="0" i="0" u="none" strike="noStrike" dirty="0">
                <a:solidFill>
                  <a:srgbClr val="000000"/>
                </a:solidFill>
                <a:effectLst/>
              </a:rPr>
            </a:br>
            <a:r>
              <a:rPr lang="en-GB" b="1" i="0" u="none" strike="noStrike" dirty="0">
                <a:solidFill>
                  <a:srgbClr val="000000"/>
                </a:solidFill>
                <a:effectLst/>
              </a:rPr>
              <a:t>Fairness and Bias Prevention</a:t>
            </a: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 – Lack of transparency can lead to discriminatory outcomes.</a:t>
            </a:r>
            <a:br>
              <a:rPr lang="en-GB" b="0" i="0" u="none" strike="noStrike" dirty="0">
                <a:solidFill>
                  <a:srgbClr val="000000"/>
                </a:solidFill>
                <a:effectLst/>
              </a:rPr>
            </a:br>
            <a:r>
              <a:rPr lang="en-GB" b="1" i="0" u="none" strike="noStrike" dirty="0">
                <a:solidFill>
                  <a:srgbClr val="000000"/>
                </a:solidFill>
                <a:effectLst/>
              </a:rPr>
              <a:t>Legal Compliance</a:t>
            </a: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 – Regulations require AI to be explainable in high-stakes areas.</a:t>
            </a:r>
            <a:br>
              <a:rPr lang="en-GB" b="0" i="0" u="none" strike="noStrike" dirty="0">
                <a:solidFill>
                  <a:srgbClr val="000000"/>
                </a:solidFill>
                <a:effectLst/>
              </a:rPr>
            </a:br>
            <a:r>
              <a:rPr lang="en-GB" b="1" i="0" u="none" strike="noStrike" dirty="0">
                <a:solidFill>
                  <a:srgbClr val="000000"/>
                </a:solidFill>
                <a:effectLst/>
              </a:rPr>
              <a:t>Security and Safety</a:t>
            </a: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 – Transparency helps detect unintended </a:t>
            </a:r>
            <a:r>
              <a:rPr lang="en-GB" b="0" i="0" u="none" strike="noStrike" dirty="0" err="1">
                <a:solidFill>
                  <a:srgbClr val="000000"/>
                </a:solidFill>
                <a:effectLst/>
              </a:rPr>
              <a:t>behavior</a:t>
            </a: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 in AI models.</a:t>
            </a:r>
          </a:p>
        </p:txBody>
      </p:sp>
    </p:spTree>
    <p:extLst>
      <p:ext uri="{BB962C8B-B14F-4D97-AF65-F5344CB8AC3E}">
        <p14:creationId xmlns:p14="http://schemas.microsoft.com/office/powerpoint/2010/main" val="13686366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A"/>
        </a:solidFill>
        <a:effectLst/>
      </p:bgPr>
    </p:bg>
    <p:spTree>
      <p:nvGrpSpPr>
        <p:cNvPr id="1" name="Shape 98">
          <a:extLst>
            <a:ext uri="{FF2B5EF4-FFF2-40B4-BE49-F238E27FC236}">
              <a16:creationId xmlns:a16="http://schemas.microsoft.com/office/drawing/2014/main" id="{16E74AFF-9E6A-B59F-07FE-B08EB98FFC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9">
            <a:extLst>
              <a:ext uri="{FF2B5EF4-FFF2-40B4-BE49-F238E27FC236}">
                <a16:creationId xmlns:a16="http://schemas.microsoft.com/office/drawing/2014/main" id="{5C9F185F-9174-9E5C-E991-EF27C52404B8}"/>
              </a:ext>
            </a:extLst>
          </p:cNvPr>
          <p:cNvPicPr preferRelativeResize="0"/>
          <p:nvPr/>
        </p:nvPicPr>
        <p:blipFill rotWithShape="1">
          <a:blip r:embed="rId3">
            <a:alphaModFix amt="60000"/>
          </a:blip>
          <a:srcRect/>
          <a:stretch/>
        </p:blipFill>
        <p:spPr>
          <a:xfrm>
            <a:off x="5659200" y="1790800"/>
            <a:ext cx="5408998" cy="2939569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9">
            <a:extLst>
              <a:ext uri="{FF2B5EF4-FFF2-40B4-BE49-F238E27FC236}">
                <a16:creationId xmlns:a16="http://schemas.microsoft.com/office/drawing/2014/main" id="{6317E372-497F-291B-3C05-C30A3E0FA10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72950" y="122160"/>
            <a:ext cx="6984510" cy="494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GB" sz="2400" b="1" i="0" u="none" strike="noStrike" dirty="0">
                <a:solidFill>
                  <a:srgbClr val="7030A0"/>
                </a:solidFill>
                <a:effectLst/>
              </a:rPr>
              <a:t>Legal Requirements for Transparency in AI</a:t>
            </a:r>
            <a:br>
              <a:rPr lang="en-GB" sz="2400" b="1" i="0" u="none" strike="noStrike" dirty="0">
                <a:solidFill>
                  <a:srgbClr val="7030A0"/>
                </a:solidFill>
                <a:effectLst/>
              </a:rPr>
            </a:br>
            <a:br>
              <a:rPr lang="en-GB" sz="2400" dirty="0">
                <a:latin typeface="Calibri"/>
                <a:cs typeface="Calibri"/>
              </a:rPr>
            </a:br>
            <a:br>
              <a:rPr lang="en-GB" sz="800" b="1" i="0" u="none" strike="noStrike" dirty="0">
                <a:solidFill>
                  <a:srgbClr val="000000"/>
                </a:solidFill>
                <a:effectLst/>
              </a:rPr>
            </a:br>
            <a:br>
              <a:rPr lang="en-GB" sz="1200" b="1" i="0" u="none" strike="noStrike" dirty="0">
                <a:solidFill>
                  <a:srgbClr val="000000"/>
                </a:solidFill>
                <a:effectLst/>
              </a:rPr>
            </a:br>
            <a:br>
              <a:rPr lang="en-GB" sz="1100" b="1" i="0" u="none" strike="noStrike" dirty="0">
                <a:solidFill>
                  <a:srgbClr val="000000"/>
                </a:solidFill>
                <a:effectLst/>
              </a:rPr>
            </a:br>
            <a:br>
              <a:rPr lang="en-GB" sz="1600" dirty="0">
                <a:latin typeface="Arial"/>
                <a:ea typeface="Arial"/>
                <a:cs typeface="Arial"/>
                <a:sym typeface="Arial"/>
              </a:rPr>
            </a:br>
            <a:endParaRPr lang="en-GB" sz="32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9C39B0F-89DD-B91E-ABAF-B7E2E7947046}"/>
              </a:ext>
            </a:extLst>
          </p:cNvPr>
          <p:cNvSpPr txBox="1"/>
          <p:nvPr/>
        </p:nvSpPr>
        <p:spPr>
          <a:xfrm>
            <a:off x="339314" y="620135"/>
            <a:ext cx="5509823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GB" b="1" i="0" u="none" strike="noStrike" dirty="0">
                <a:solidFill>
                  <a:srgbClr val="000000"/>
                </a:solidFill>
                <a:effectLst/>
              </a:rPr>
              <a:t>A. General Data Protection Regulation (GDPR)</a:t>
            </a:r>
          </a:p>
          <a:p>
            <a:pPr algn="l">
              <a:buNone/>
            </a:pP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The </a:t>
            </a:r>
            <a:r>
              <a:rPr lang="en-GB" b="1" i="0" u="none" strike="noStrike" dirty="0">
                <a:solidFill>
                  <a:srgbClr val="000000"/>
                </a:solidFill>
                <a:effectLst/>
              </a:rPr>
              <a:t>GDPR</a:t>
            </a: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 (enforced in the European Union) is one of the most influential laws regulating AI transparency. It has specific rules that AI systems must follow:</a:t>
            </a:r>
          </a:p>
          <a:p>
            <a:pPr algn="l">
              <a:buNone/>
            </a:pP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 </a:t>
            </a:r>
            <a:r>
              <a:rPr lang="en-GB" b="1" i="0" u="none" strike="noStrike" dirty="0">
                <a:solidFill>
                  <a:srgbClr val="000000"/>
                </a:solidFill>
                <a:effectLst/>
              </a:rPr>
              <a:t>Right to Explanation (Article 22)</a:t>
            </a:r>
            <a:endParaRPr lang="en-GB" b="0" i="0" u="none" strike="noStrike" dirty="0">
              <a:solidFill>
                <a:srgbClr val="000000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Individuals have the right to receive an explanation of AI-based decisions, especially in automated decision-making (e.g., loan approvals, hiring).</a:t>
            </a:r>
          </a:p>
          <a:p>
            <a:pPr algn="l">
              <a:buNone/>
            </a:pPr>
            <a:r>
              <a:rPr lang="en-GB" b="1" i="0" u="none" strike="noStrike" dirty="0">
                <a:solidFill>
                  <a:srgbClr val="000000"/>
                </a:solidFill>
                <a:effectLst/>
              </a:rPr>
              <a:t>Data Protection (Article 5)</a:t>
            </a:r>
            <a:endParaRPr lang="en-GB" b="0" i="0" u="none" strike="noStrike" dirty="0">
              <a:solidFill>
                <a:srgbClr val="000000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AI must process personal data in a fair, transparent, and accountable manner.</a:t>
            </a:r>
          </a:p>
          <a:p>
            <a:pPr algn="l">
              <a:buNone/>
            </a:pPr>
            <a:r>
              <a:rPr lang="en-GB" b="1" i="0" u="none" strike="noStrike" dirty="0">
                <a:solidFill>
                  <a:srgbClr val="000000"/>
                </a:solidFill>
                <a:effectLst/>
              </a:rPr>
              <a:t>Consent and Data Rights</a:t>
            </a:r>
            <a:endParaRPr lang="en-GB" b="0" i="0" u="none" strike="noStrike" dirty="0">
              <a:solidFill>
                <a:srgbClr val="000000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Users must be informed about how their data is used, and they can request access, corrections, or deletion of their personal information.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 </a:t>
            </a:r>
            <a:r>
              <a:rPr lang="en-GB" b="1" i="0" u="none" strike="noStrike" dirty="0">
                <a:solidFill>
                  <a:srgbClr val="000000"/>
                </a:solidFill>
                <a:effectLst/>
              </a:rPr>
              <a:t>Example of GDPR Violation</a:t>
            </a:r>
            <a:br>
              <a:rPr lang="en-GB" b="0" i="0" u="none" strike="noStrike" dirty="0">
                <a:solidFill>
                  <a:srgbClr val="000000"/>
                </a:solidFill>
                <a:effectLst/>
              </a:rPr>
            </a:b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 In 2021, </a:t>
            </a:r>
            <a:r>
              <a:rPr lang="en-GB" b="1" i="0" u="none" strike="noStrike" dirty="0">
                <a:solidFill>
                  <a:srgbClr val="000000"/>
                </a:solidFill>
                <a:effectLst/>
              </a:rPr>
              <a:t>Clearview AI</a:t>
            </a: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, a facial recognition company, was fined by GDPR regulators for illegally collecting personal images from the internet without consent. This highlighted the importance of </a:t>
            </a:r>
            <a:r>
              <a:rPr lang="en-GB" b="1" i="0" u="none" strike="noStrike" dirty="0">
                <a:solidFill>
                  <a:srgbClr val="000000"/>
                </a:solidFill>
                <a:effectLst/>
              </a:rPr>
              <a:t>data transparency and consent.</a:t>
            </a:r>
            <a:endParaRPr lang="en-GB" b="0" i="0" u="none" strike="noStrike" dirty="0">
              <a:solidFill>
                <a:srgbClr val="000000"/>
              </a:solidFill>
              <a:effectLst/>
            </a:endParaRPr>
          </a:p>
        </p:txBody>
      </p:sp>
      <p:pic>
        <p:nvPicPr>
          <p:cNvPr id="5" name="Picture 4" descr="A gavel on top of a book&#10;&#10;AI-generated content may be incorrect.">
            <a:extLst>
              <a:ext uri="{FF2B5EF4-FFF2-40B4-BE49-F238E27FC236}">
                <a16:creationId xmlns:a16="http://schemas.microsoft.com/office/drawing/2014/main" id="{7A17E5EF-4F59-8E78-953C-185FFDFF3EE6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837473B0-CC2E-450A-ABE3-18F120FF3D39}">
                <a1611:picAttrSrcUrl xmlns:a1611="http://schemas.microsoft.com/office/drawing/2016/11/main" r:id="rId5"/>
              </a:ext>
            </a:extLst>
          </a:blip>
          <a:srcRect l="16543" t="19054"/>
          <a:stretch/>
        </p:blipFill>
        <p:spPr>
          <a:xfrm>
            <a:off x="5981003" y="2146195"/>
            <a:ext cx="3088179" cy="1996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50475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A"/>
        </a:solidFill>
        <a:effectLst/>
      </p:bgPr>
    </p:bg>
    <p:spTree>
      <p:nvGrpSpPr>
        <p:cNvPr id="1" name="Shape 98">
          <a:extLst>
            <a:ext uri="{FF2B5EF4-FFF2-40B4-BE49-F238E27FC236}">
              <a16:creationId xmlns:a16="http://schemas.microsoft.com/office/drawing/2014/main" id="{8E506D86-3564-A2D0-0191-99B8B5B006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9">
            <a:extLst>
              <a:ext uri="{FF2B5EF4-FFF2-40B4-BE49-F238E27FC236}">
                <a16:creationId xmlns:a16="http://schemas.microsoft.com/office/drawing/2014/main" id="{FD303E6A-CAC2-50E7-C72E-84D25B190C99}"/>
              </a:ext>
            </a:extLst>
          </p:cNvPr>
          <p:cNvPicPr preferRelativeResize="0"/>
          <p:nvPr/>
        </p:nvPicPr>
        <p:blipFill rotWithShape="1">
          <a:blip r:embed="rId3">
            <a:alphaModFix amt="60000"/>
          </a:blip>
          <a:srcRect/>
          <a:stretch/>
        </p:blipFill>
        <p:spPr>
          <a:xfrm>
            <a:off x="3517218" y="122160"/>
            <a:ext cx="5408998" cy="2939569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9">
            <a:extLst>
              <a:ext uri="{FF2B5EF4-FFF2-40B4-BE49-F238E27FC236}">
                <a16:creationId xmlns:a16="http://schemas.microsoft.com/office/drawing/2014/main" id="{E9DE5CF7-C686-E292-B9A8-3CD1C6C4E14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3192" y="122160"/>
            <a:ext cx="7464268" cy="494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-GB" sz="2400" b="1" i="0" u="none" strike="noStrike" dirty="0">
                <a:solidFill>
                  <a:srgbClr val="7030A0"/>
                </a:solidFill>
                <a:effectLst/>
              </a:rPr>
              <a:t>AI Act (European Union)</a:t>
            </a:r>
            <a:br>
              <a:rPr lang="en-GB" sz="2400" b="1" i="0" u="none" strike="noStrike" dirty="0">
                <a:solidFill>
                  <a:srgbClr val="7030A0"/>
                </a:solidFill>
                <a:effectLst/>
              </a:rPr>
            </a:br>
            <a:br>
              <a:rPr lang="en-GB" sz="2000" b="1" i="0" u="none" strike="noStrike" dirty="0">
                <a:solidFill>
                  <a:srgbClr val="7030A0"/>
                </a:solidFill>
                <a:effectLst/>
              </a:rPr>
            </a:br>
            <a:br>
              <a:rPr lang="en-GB" sz="1200" b="1" i="0" u="none" strike="noStrike" dirty="0">
                <a:solidFill>
                  <a:srgbClr val="000000"/>
                </a:solidFill>
                <a:effectLst/>
              </a:rPr>
            </a:br>
            <a:br>
              <a:rPr lang="en-GB" sz="1200" b="1" i="0" u="none" strike="noStrike" dirty="0">
                <a:solidFill>
                  <a:srgbClr val="000000"/>
                </a:solidFill>
                <a:effectLst/>
              </a:rPr>
            </a:br>
            <a:br>
              <a:rPr lang="en-GB" sz="1100" b="1" i="0" u="none" strike="noStrike" dirty="0">
                <a:solidFill>
                  <a:srgbClr val="000000"/>
                </a:solidFill>
                <a:effectLst/>
              </a:rPr>
            </a:br>
            <a:br>
              <a:rPr lang="en-GB" sz="1600" dirty="0">
                <a:latin typeface="Arial"/>
                <a:ea typeface="Arial"/>
                <a:cs typeface="Arial"/>
                <a:sym typeface="Arial"/>
              </a:rPr>
            </a:br>
            <a:endParaRPr lang="en-GB" sz="3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FEBF4E2-E8A0-E26F-E93A-74B93ADE8036}"/>
              </a:ext>
            </a:extLst>
          </p:cNvPr>
          <p:cNvSpPr txBox="1"/>
          <p:nvPr/>
        </p:nvSpPr>
        <p:spPr>
          <a:xfrm>
            <a:off x="517599" y="699987"/>
            <a:ext cx="733986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The </a:t>
            </a:r>
            <a:r>
              <a:rPr lang="en-GB" b="1" i="0" u="none" strike="noStrike" dirty="0">
                <a:solidFill>
                  <a:srgbClr val="000000"/>
                </a:solidFill>
                <a:effectLst/>
              </a:rPr>
              <a:t>AI Act</a:t>
            </a: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 (expected to be one of the most significant AI laws) classifies AI systems into four risk categories: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68D0EB09-D323-2FDC-0FCC-236026A1D6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2801592"/>
              </p:ext>
            </p:extLst>
          </p:nvPr>
        </p:nvGraphicFramePr>
        <p:xfrm>
          <a:off x="311149" y="1484793"/>
          <a:ext cx="8521701" cy="1950720"/>
        </p:xfrm>
        <a:graphic>
          <a:graphicData uri="http://schemas.openxmlformats.org/drawingml/2006/table">
            <a:tbl>
              <a:tblPr>
                <a:tableStyleId>{35758FB7-9AC5-4552-8A53-C91805E547FA}</a:tableStyleId>
              </a:tblPr>
              <a:tblGrid>
                <a:gridCol w="2840567">
                  <a:extLst>
                    <a:ext uri="{9D8B030D-6E8A-4147-A177-3AD203B41FA5}">
                      <a16:colId xmlns:a16="http://schemas.microsoft.com/office/drawing/2014/main" val="846856487"/>
                    </a:ext>
                  </a:extLst>
                </a:gridCol>
                <a:gridCol w="2840567">
                  <a:extLst>
                    <a:ext uri="{9D8B030D-6E8A-4147-A177-3AD203B41FA5}">
                      <a16:colId xmlns:a16="http://schemas.microsoft.com/office/drawing/2014/main" val="166297518"/>
                    </a:ext>
                  </a:extLst>
                </a:gridCol>
                <a:gridCol w="2840567">
                  <a:extLst>
                    <a:ext uri="{9D8B030D-6E8A-4147-A177-3AD203B41FA5}">
                      <a16:colId xmlns:a16="http://schemas.microsoft.com/office/drawing/2014/main" val="2837194510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r>
                        <a:rPr lang="en-GB" sz="1400" b="1"/>
                        <a:t>Risk Level</a:t>
                      </a:r>
                      <a:endParaRPr lang="en-GB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400" b="1"/>
                        <a:t>Examples</a:t>
                      </a:r>
                      <a:endParaRPr lang="en-GB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400" b="1"/>
                        <a:t>Regulation Requirements</a:t>
                      </a:r>
                      <a:endParaRPr lang="en-GB" sz="14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15633348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en-GB" sz="1400" b="1"/>
                        <a:t>Unacceptable</a:t>
                      </a:r>
                      <a:endParaRPr lang="en-GB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Social scoring, mass surveillance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400" b="1"/>
                        <a:t>Banned</a:t>
                      </a:r>
                      <a:endParaRPr lang="en-GB" sz="14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95643344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r>
                        <a:rPr lang="en-GB" sz="1400" b="1"/>
                        <a:t>High-Risk</a:t>
                      </a:r>
                      <a:endParaRPr lang="en-GB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Hiring algorithms, credit scoring, medical AI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400" b="1"/>
                        <a:t>Strict transparency &amp; explainability rules</a:t>
                      </a:r>
                      <a:endParaRPr lang="en-GB" sz="14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29848671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r>
                        <a:rPr lang="en-GB" sz="1400" b="1"/>
                        <a:t>Limited Risk</a:t>
                      </a:r>
                      <a:endParaRPr lang="en-GB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Chatbots, recommendation systems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400" b="1"/>
                        <a:t>Users must be informed</a:t>
                      </a:r>
                      <a:endParaRPr lang="en-GB" sz="14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0015148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en-GB" sz="1400" b="1"/>
                        <a:t>Minimal Risk</a:t>
                      </a:r>
                      <a:endParaRPr lang="en-GB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AI-generated music, video games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400" b="1" dirty="0"/>
                        <a:t>Few regulations</a:t>
                      </a:r>
                      <a:endParaRPr lang="en-GB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41623360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F04F71CD-1617-7639-4BE5-CACE69CD08CB}"/>
              </a:ext>
            </a:extLst>
          </p:cNvPr>
          <p:cNvSpPr txBox="1"/>
          <p:nvPr/>
        </p:nvSpPr>
        <p:spPr>
          <a:xfrm>
            <a:off x="517599" y="3760582"/>
            <a:ext cx="81729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i="0" u="none" strike="noStrike" dirty="0">
                <a:solidFill>
                  <a:srgbClr val="000000"/>
                </a:solidFill>
                <a:effectLst/>
              </a:rPr>
              <a:t>Example: High-Risk AI</a:t>
            </a:r>
            <a:br>
              <a:rPr lang="en-GB" dirty="0"/>
            </a:br>
            <a:r>
              <a:rPr lang="en-GB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An AI used in hiring decisions must </a:t>
            </a:r>
            <a:r>
              <a:rPr lang="en-GB" b="1" i="0" u="none" strike="noStrike" dirty="0">
                <a:solidFill>
                  <a:srgbClr val="000000"/>
                </a:solidFill>
                <a:effectLst/>
              </a:rPr>
              <a:t>explain why a candidate was rejected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 to avoid unfair bias.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16469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A"/>
        </a:solidFill>
        <a:effectLst/>
      </p:bgPr>
    </p:bg>
    <p:spTree>
      <p:nvGrpSpPr>
        <p:cNvPr id="1" name="Shape 98">
          <a:extLst>
            <a:ext uri="{FF2B5EF4-FFF2-40B4-BE49-F238E27FC236}">
              <a16:creationId xmlns:a16="http://schemas.microsoft.com/office/drawing/2014/main" id="{21EB6A28-E5D4-01CF-603A-E7B3961119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9">
            <a:extLst>
              <a:ext uri="{FF2B5EF4-FFF2-40B4-BE49-F238E27FC236}">
                <a16:creationId xmlns:a16="http://schemas.microsoft.com/office/drawing/2014/main" id="{69BC4CD7-D4B2-DBB7-B240-30F9A991B4F6}"/>
              </a:ext>
            </a:extLst>
          </p:cNvPr>
          <p:cNvPicPr preferRelativeResize="0"/>
          <p:nvPr/>
        </p:nvPicPr>
        <p:blipFill rotWithShape="1">
          <a:blip r:embed="rId3">
            <a:alphaModFix amt="60000"/>
          </a:blip>
          <a:srcRect/>
          <a:stretch/>
        </p:blipFill>
        <p:spPr>
          <a:xfrm>
            <a:off x="3517218" y="122160"/>
            <a:ext cx="5408998" cy="2939569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9">
            <a:extLst>
              <a:ext uri="{FF2B5EF4-FFF2-40B4-BE49-F238E27FC236}">
                <a16:creationId xmlns:a16="http://schemas.microsoft.com/office/drawing/2014/main" id="{9B343830-9BDF-C661-C23B-A950CA88FD5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3192" y="122160"/>
            <a:ext cx="7464268" cy="494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-GB" sz="2000" dirty="0">
                <a:solidFill>
                  <a:srgbClr val="7030A0"/>
                </a:solidFill>
              </a:rPr>
              <a:t>Other Global AI Regulations</a:t>
            </a:r>
            <a:br>
              <a:rPr lang="en-US" sz="1100" dirty="0"/>
            </a:br>
            <a:br>
              <a:rPr lang="en-GB" sz="2000" b="1" i="0" u="none" strike="noStrike" dirty="0">
                <a:solidFill>
                  <a:srgbClr val="7030A0"/>
                </a:solidFill>
                <a:effectLst/>
              </a:rPr>
            </a:br>
            <a:br>
              <a:rPr lang="en-GB" sz="2000" b="1" i="0" u="none" strike="noStrike" dirty="0">
                <a:solidFill>
                  <a:srgbClr val="7030A0"/>
                </a:solidFill>
                <a:effectLst/>
              </a:rPr>
            </a:br>
            <a:br>
              <a:rPr lang="en-GB" sz="1200" b="1" i="0" u="none" strike="noStrike" dirty="0">
                <a:solidFill>
                  <a:srgbClr val="000000"/>
                </a:solidFill>
                <a:effectLst/>
              </a:rPr>
            </a:br>
            <a:br>
              <a:rPr lang="en-GB" sz="1200" b="1" i="0" u="none" strike="noStrike" dirty="0">
                <a:solidFill>
                  <a:srgbClr val="000000"/>
                </a:solidFill>
                <a:effectLst/>
              </a:rPr>
            </a:br>
            <a:br>
              <a:rPr lang="en-GB" sz="1100" b="1" i="0" u="none" strike="noStrike" dirty="0">
                <a:solidFill>
                  <a:srgbClr val="000000"/>
                </a:solidFill>
                <a:effectLst/>
              </a:rPr>
            </a:br>
            <a:br>
              <a:rPr lang="en-GB" sz="1600" dirty="0">
                <a:latin typeface="Arial"/>
                <a:ea typeface="Arial"/>
                <a:cs typeface="Arial"/>
                <a:sym typeface="Arial"/>
              </a:rPr>
            </a:br>
            <a:endParaRPr lang="en-GB" sz="3200" dirty="0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7BAE4D2A-36E0-BA63-D500-72FD0766BF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1110833"/>
              </p:ext>
            </p:extLst>
          </p:nvPr>
        </p:nvGraphicFramePr>
        <p:xfrm>
          <a:off x="311150" y="1565275"/>
          <a:ext cx="8521700" cy="2590800"/>
        </p:xfrm>
        <a:graphic>
          <a:graphicData uri="http://schemas.openxmlformats.org/drawingml/2006/table">
            <a:tbl>
              <a:tblPr>
                <a:tableStyleId>{35758FB7-9AC5-4552-8A53-C91805E547FA}</a:tableStyleId>
              </a:tblPr>
              <a:tblGrid>
                <a:gridCol w="4260850">
                  <a:extLst>
                    <a:ext uri="{9D8B030D-6E8A-4147-A177-3AD203B41FA5}">
                      <a16:colId xmlns:a16="http://schemas.microsoft.com/office/drawing/2014/main" val="2914278896"/>
                    </a:ext>
                  </a:extLst>
                </a:gridCol>
                <a:gridCol w="4260850">
                  <a:extLst>
                    <a:ext uri="{9D8B030D-6E8A-4147-A177-3AD203B41FA5}">
                      <a16:colId xmlns:a16="http://schemas.microsoft.com/office/drawing/2014/main" val="343857564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GB" b="1"/>
                        <a:t>Country/Region</a:t>
                      </a:r>
                      <a:endParaRPr lang="en-GB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b="1"/>
                        <a:t>Key AI Transparency Regulation</a:t>
                      </a:r>
                      <a:endParaRPr lang="en-GB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8094469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/>
                        <a:t>🇺🇸 </a:t>
                      </a:r>
                      <a:r>
                        <a:rPr lang="en-GB" b="1"/>
                        <a:t>USA</a:t>
                      </a:r>
                      <a:endParaRPr lang="en-GB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/>
                        <a:t>Proposed </a:t>
                      </a:r>
                      <a:r>
                        <a:rPr lang="en-GB" b="1"/>
                        <a:t>Algorithmic Accountability Act</a:t>
                      </a:r>
                      <a:r>
                        <a:rPr lang="en-GB"/>
                        <a:t> (requires transparency in automated decision-making)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2623025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dirty="0"/>
                        <a:t>🇨🇦 </a:t>
                      </a:r>
                      <a:r>
                        <a:rPr lang="en-GB" b="1" dirty="0"/>
                        <a:t>Canada</a:t>
                      </a:r>
                      <a:endParaRPr lang="en-GB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b="1"/>
                        <a:t>AI and Data Act (AIDA)</a:t>
                      </a:r>
                      <a:r>
                        <a:rPr lang="en-GB"/>
                        <a:t> (focuses on ethical AI use and transparency)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151967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/>
                        <a:t>🇬🇧 </a:t>
                      </a:r>
                      <a:r>
                        <a:rPr lang="en-GB" b="1"/>
                        <a:t>UK</a:t>
                      </a:r>
                      <a:endParaRPr lang="en-GB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b="1"/>
                        <a:t>AI Regulation White Paper</a:t>
                      </a:r>
                      <a:r>
                        <a:rPr lang="en-GB"/>
                        <a:t> (proposes sector-specific transparency guidelines)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0863068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/>
                        <a:t>🇸🇦 </a:t>
                      </a:r>
                      <a:r>
                        <a:rPr lang="en-GB" b="1"/>
                        <a:t>Saudi Arabia</a:t>
                      </a:r>
                      <a:endParaRPr lang="en-GB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b="1" dirty="0"/>
                        <a:t>National Strategy for Data &amp; AI</a:t>
                      </a:r>
                      <a:r>
                        <a:rPr lang="en-GB" dirty="0"/>
                        <a:t> (emphasizes responsible AI development)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2620376"/>
                  </a:ext>
                </a:extLst>
              </a:tr>
            </a:tbl>
          </a:graphicData>
        </a:graphic>
      </p:graphicFrame>
      <p:sp>
        <p:nvSpPr>
          <p:cNvPr id="11" name="Rectangle 1">
            <a:extLst>
              <a:ext uri="{FF2B5EF4-FFF2-40B4-BE49-F238E27FC236}">
                <a16:creationId xmlns:a16="http://schemas.microsoft.com/office/drawing/2014/main" id="{88798AD6-72F8-A59B-E27B-C050948C61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1150" y="1565275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700" b="1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97030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A"/>
        </a:solidFill>
        <a:effectLst/>
      </p:bgPr>
    </p:bg>
    <p:spTree>
      <p:nvGrpSpPr>
        <p:cNvPr id="1" name="Shape 98">
          <a:extLst>
            <a:ext uri="{FF2B5EF4-FFF2-40B4-BE49-F238E27FC236}">
              <a16:creationId xmlns:a16="http://schemas.microsoft.com/office/drawing/2014/main" id="{EE85C5B9-40EF-1B12-4EF7-DEBACC9355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9">
            <a:extLst>
              <a:ext uri="{FF2B5EF4-FFF2-40B4-BE49-F238E27FC236}">
                <a16:creationId xmlns:a16="http://schemas.microsoft.com/office/drawing/2014/main" id="{9AB56371-9CB6-C58F-432F-42BCFF5E04C8}"/>
              </a:ext>
            </a:extLst>
          </p:cNvPr>
          <p:cNvPicPr preferRelativeResize="0"/>
          <p:nvPr/>
        </p:nvPicPr>
        <p:blipFill rotWithShape="1">
          <a:blip r:embed="rId3">
            <a:alphaModFix amt="60000"/>
          </a:blip>
          <a:srcRect/>
          <a:stretch/>
        </p:blipFill>
        <p:spPr>
          <a:xfrm>
            <a:off x="3517218" y="122160"/>
            <a:ext cx="5408998" cy="2939569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9">
            <a:extLst>
              <a:ext uri="{FF2B5EF4-FFF2-40B4-BE49-F238E27FC236}">
                <a16:creationId xmlns:a16="http://schemas.microsoft.com/office/drawing/2014/main" id="{A66599AD-09EA-F898-3057-87531AB11CA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3192" y="122160"/>
            <a:ext cx="7464268" cy="494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-GB" sz="2000" b="1" i="0" u="none" strike="noStrike" dirty="0">
                <a:solidFill>
                  <a:srgbClr val="7030A0"/>
                </a:solidFill>
                <a:effectLst/>
              </a:rPr>
              <a:t>Ethical Responsibility in AI Transparency</a:t>
            </a:r>
            <a:br>
              <a:rPr lang="en-GB" sz="2000" b="1" i="0" u="none" strike="noStrike" dirty="0">
                <a:solidFill>
                  <a:srgbClr val="7030A0"/>
                </a:solidFill>
                <a:effectLst/>
              </a:rPr>
            </a:br>
            <a:br>
              <a:rPr lang="en-GB" sz="2000" b="1" i="0" u="none" strike="noStrike" dirty="0">
                <a:solidFill>
                  <a:srgbClr val="7030A0"/>
                </a:solidFill>
                <a:effectLst/>
              </a:rPr>
            </a:br>
            <a:br>
              <a:rPr lang="en-GB" sz="2000" b="1" i="0" u="none" strike="noStrike" dirty="0">
                <a:solidFill>
                  <a:srgbClr val="7030A0"/>
                </a:solidFill>
                <a:effectLst/>
              </a:rPr>
            </a:br>
            <a:br>
              <a:rPr lang="en-GB" sz="2000" b="1" i="0" u="none" strike="noStrike" dirty="0">
                <a:solidFill>
                  <a:srgbClr val="7030A0"/>
                </a:solidFill>
                <a:effectLst/>
              </a:rPr>
            </a:br>
            <a:br>
              <a:rPr lang="en-GB" sz="1200" b="1" i="0" u="none" strike="noStrike" dirty="0">
                <a:solidFill>
                  <a:srgbClr val="000000"/>
                </a:solidFill>
                <a:effectLst/>
              </a:rPr>
            </a:br>
            <a:br>
              <a:rPr lang="en-GB" sz="1200" b="1" i="0" u="none" strike="noStrike" dirty="0">
                <a:solidFill>
                  <a:srgbClr val="000000"/>
                </a:solidFill>
                <a:effectLst/>
              </a:rPr>
            </a:br>
            <a:br>
              <a:rPr lang="en-GB" sz="1100" b="1" i="0" u="none" strike="noStrike" dirty="0">
                <a:solidFill>
                  <a:srgbClr val="000000"/>
                </a:solidFill>
                <a:effectLst/>
              </a:rPr>
            </a:br>
            <a:br>
              <a:rPr lang="en-GB" sz="1600" dirty="0">
                <a:latin typeface="Arial"/>
                <a:ea typeface="Arial"/>
                <a:cs typeface="Arial"/>
                <a:sym typeface="Arial"/>
              </a:rPr>
            </a:br>
            <a:endParaRPr lang="en-GB" sz="3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919A3EE-67FF-4015-D191-B1ECF242AA3F}"/>
              </a:ext>
            </a:extLst>
          </p:cNvPr>
          <p:cNvSpPr txBox="1"/>
          <p:nvPr/>
        </p:nvSpPr>
        <p:spPr>
          <a:xfrm>
            <a:off x="869057" y="588940"/>
            <a:ext cx="740588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GB" b="1" i="0" u="none" strike="noStrike" dirty="0">
                <a:solidFill>
                  <a:srgbClr val="000000"/>
                </a:solidFill>
                <a:effectLst/>
              </a:rPr>
              <a:t>A. The Ethical Principles of AI Transparency</a:t>
            </a:r>
          </a:p>
          <a:p>
            <a:pPr algn="l"/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AI ethics is based on </a:t>
            </a:r>
            <a:r>
              <a:rPr lang="en-GB" b="1" i="0" u="none" strike="noStrike" dirty="0">
                <a:solidFill>
                  <a:srgbClr val="000000"/>
                </a:solidFill>
                <a:effectLst/>
              </a:rPr>
              <a:t>five key principles</a:t>
            </a: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 that guide responsible AI development: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95AFB53-FFF2-F80F-17B7-410AE501CF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0230829"/>
              </p:ext>
            </p:extLst>
          </p:nvPr>
        </p:nvGraphicFramePr>
        <p:xfrm>
          <a:off x="689314" y="1124803"/>
          <a:ext cx="7765371" cy="3471744"/>
        </p:xfrm>
        <a:graphic>
          <a:graphicData uri="http://schemas.openxmlformats.org/drawingml/2006/table">
            <a:tbl>
              <a:tblPr>
                <a:tableStyleId>{35758FB7-9AC5-4552-8A53-C91805E547FA}</a:tableStyleId>
              </a:tblPr>
              <a:tblGrid>
                <a:gridCol w="2588457">
                  <a:extLst>
                    <a:ext uri="{9D8B030D-6E8A-4147-A177-3AD203B41FA5}">
                      <a16:colId xmlns:a16="http://schemas.microsoft.com/office/drawing/2014/main" val="3752981224"/>
                    </a:ext>
                  </a:extLst>
                </a:gridCol>
                <a:gridCol w="2588457">
                  <a:extLst>
                    <a:ext uri="{9D8B030D-6E8A-4147-A177-3AD203B41FA5}">
                      <a16:colId xmlns:a16="http://schemas.microsoft.com/office/drawing/2014/main" val="2329449219"/>
                    </a:ext>
                  </a:extLst>
                </a:gridCol>
                <a:gridCol w="2588457">
                  <a:extLst>
                    <a:ext uri="{9D8B030D-6E8A-4147-A177-3AD203B41FA5}">
                      <a16:colId xmlns:a16="http://schemas.microsoft.com/office/drawing/2014/main" val="2301141811"/>
                    </a:ext>
                  </a:extLst>
                </a:gridCol>
              </a:tblGrid>
              <a:tr h="277748">
                <a:tc>
                  <a:txBody>
                    <a:bodyPr/>
                    <a:lstStyle/>
                    <a:p>
                      <a:r>
                        <a:rPr lang="en-GB" sz="1300" b="1"/>
                        <a:t>Principle</a:t>
                      </a:r>
                      <a:endParaRPr lang="en-GB" sz="1300"/>
                    </a:p>
                  </a:txBody>
                  <a:tcPr marL="83324" marR="83324" marT="41662" marB="41662" anchor="ctr"/>
                </a:tc>
                <a:tc>
                  <a:txBody>
                    <a:bodyPr/>
                    <a:lstStyle/>
                    <a:p>
                      <a:r>
                        <a:rPr lang="en-GB" sz="1300" b="1"/>
                        <a:t>Description</a:t>
                      </a:r>
                      <a:endParaRPr lang="en-GB" sz="1300"/>
                    </a:p>
                  </a:txBody>
                  <a:tcPr marL="83324" marR="83324" marT="41662" marB="41662" anchor="ctr"/>
                </a:tc>
                <a:tc>
                  <a:txBody>
                    <a:bodyPr/>
                    <a:lstStyle/>
                    <a:p>
                      <a:r>
                        <a:rPr lang="en-GB" sz="1300" b="1"/>
                        <a:t>Example</a:t>
                      </a:r>
                      <a:endParaRPr lang="en-GB" sz="1300"/>
                    </a:p>
                  </a:txBody>
                  <a:tcPr marL="83324" marR="83324" marT="41662" marB="41662" anchor="ctr"/>
                </a:tc>
                <a:extLst>
                  <a:ext uri="{0D108BD9-81ED-4DB2-BD59-A6C34878D82A}">
                    <a16:rowId xmlns:a16="http://schemas.microsoft.com/office/drawing/2014/main" val="1555238687"/>
                  </a:ext>
                </a:extLst>
              </a:tr>
              <a:tr h="666595">
                <a:tc>
                  <a:txBody>
                    <a:bodyPr/>
                    <a:lstStyle/>
                    <a:p>
                      <a:r>
                        <a:rPr lang="en-GB" sz="1300" b="1"/>
                        <a:t>Fairness</a:t>
                      </a:r>
                      <a:endParaRPr lang="en-GB" sz="1300"/>
                    </a:p>
                  </a:txBody>
                  <a:tcPr marL="83324" marR="83324" marT="41662" marB="41662" anchor="ctr"/>
                </a:tc>
                <a:tc>
                  <a:txBody>
                    <a:bodyPr/>
                    <a:lstStyle/>
                    <a:p>
                      <a:r>
                        <a:rPr lang="en-GB" sz="1300"/>
                        <a:t>AI should not discriminate based on race, gender, or other protected attributes.</a:t>
                      </a:r>
                    </a:p>
                  </a:txBody>
                  <a:tcPr marL="83324" marR="83324" marT="41662" marB="41662" anchor="ctr"/>
                </a:tc>
                <a:tc>
                  <a:txBody>
                    <a:bodyPr/>
                    <a:lstStyle/>
                    <a:p>
                      <a:r>
                        <a:rPr lang="en-GB" sz="1300"/>
                        <a:t>AI hiring tools must ensure fairness for all applicants.</a:t>
                      </a:r>
                    </a:p>
                  </a:txBody>
                  <a:tcPr marL="83324" marR="83324" marT="41662" marB="41662" anchor="ctr"/>
                </a:tc>
                <a:extLst>
                  <a:ext uri="{0D108BD9-81ED-4DB2-BD59-A6C34878D82A}">
                    <a16:rowId xmlns:a16="http://schemas.microsoft.com/office/drawing/2014/main" val="2367087507"/>
                  </a:ext>
                </a:extLst>
              </a:tr>
              <a:tr h="666595">
                <a:tc>
                  <a:txBody>
                    <a:bodyPr/>
                    <a:lstStyle/>
                    <a:p>
                      <a:r>
                        <a:rPr lang="en-GB" sz="1300" b="1"/>
                        <a:t>Accountability</a:t>
                      </a:r>
                      <a:endParaRPr lang="en-GB" sz="1300"/>
                    </a:p>
                  </a:txBody>
                  <a:tcPr marL="83324" marR="83324" marT="41662" marB="41662" anchor="ctr"/>
                </a:tc>
                <a:tc>
                  <a:txBody>
                    <a:bodyPr/>
                    <a:lstStyle/>
                    <a:p>
                      <a:r>
                        <a:rPr lang="en-GB" sz="1300" dirty="0"/>
                        <a:t>Developers must be responsible for AI decisions and potential harm.</a:t>
                      </a:r>
                    </a:p>
                  </a:txBody>
                  <a:tcPr marL="83324" marR="83324" marT="41662" marB="41662" anchor="ctr"/>
                </a:tc>
                <a:tc>
                  <a:txBody>
                    <a:bodyPr/>
                    <a:lstStyle/>
                    <a:p>
                      <a:r>
                        <a:rPr lang="en-GB" sz="1300"/>
                        <a:t>Self-driving car manufacturers must explain crash decisions.</a:t>
                      </a:r>
                    </a:p>
                  </a:txBody>
                  <a:tcPr marL="83324" marR="83324" marT="41662" marB="41662" anchor="ctr"/>
                </a:tc>
                <a:extLst>
                  <a:ext uri="{0D108BD9-81ED-4DB2-BD59-A6C34878D82A}">
                    <a16:rowId xmlns:a16="http://schemas.microsoft.com/office/drawing/2014/main" val="4042657179"/>
                  </a:ext>
                </a:extLst>
              </a:tr>
              <a:tr h="472172">
                <a:tc>
                  <a:txBody>
                    <a:bodyPr/>
                    <a:lstStyle/>
                    <a:p>
                      <a:r>
                        <a:rPr lang="en-GB" sz="1300" b="1"/>
                        <a:t>Explainability</a:t>
                      </a:r>
                      <a:endParaRPr lang="en-GB" sz="1300"/>
                    </a:p>
                  </a:txBody>
                  <a:tcPr marL="83324" marR="83324" marT="41662" marB="41662" anchor="ctr"/>
                </a:tc>
                <a:tc>
                  <a:txBody>
                    <a:bodyPr/>
                    <a:lstStyle/>
                    <a:p>
                      <a:r>
                        <a:rPr lang="en-GB" sz="1300"/>
                        <a:t>AI decisions should be interpretable by humans.</a:t>
                      </a:r>
                    </a:p>
                  </a:txBody>
                  <a:tcPr marL="83324" marR="83324" marT="41662" marB="41662" anchor="ctr"/>
                </a:tc>
                <a:tc>
                  <a:txBody>
                    <a:bodyPr/>
                    <a:lstStyle/>
                    <a:p>
                      <a:r>
                        <a:rPr lang="en-GB" sz="1300"/>
                        <a:t>Doctors must understand why an AI recommends a treatment.</a:t>
                      </a:r>
                    </a:p>
                  </a:txBody>
                  <a:tcPr marL="83324" marR="83324" marT="41662" marB="41662" anchor="ctr"/>
                </a:tc>
                <a:extLst>
                  <a:ext uri="{0D108BD9-81ED-4DB2-BD59-A6C34878D82A}">
                    <a16:rowId xmlns:a16="http://schemas.microsoft.com/office/drawing/2014/main" val="4183821494"/>
                  </a:ext>
                </a:extLst>
              </a:tr>
              <a:tr h="666595">
                <a:tc>
                  <a:txBody>
                    <a:bodyPr/>
                    <a:lstStyle/>
                    <a:p>
                      <a:r>
                        <a:rPr lang="en-GB" sz="1300" b="1"/>
                        <a:t>Privacy</a:t>
                      </a:r>
                      <a:endParaRPr lang="en-GB" sz="1300"/>
                    </a:p>
                  </a:txBody>
                  <a:tcPr marL="83324" marR="83324" marT="41662" marB="41662" anchor="ctr"/>
                </a:tc>
                <a:tc>
                  <a:txBody>
                    <a:bodyPr/>
                    <a:lstStyle/>
                    <a:p>
                      <a:r>
                        <a:rPr lang="en-GB" sz="1300"/>
                        <a:t>AI should protect personal data and user rights.</a:t>
                      </a:r>
                    </a:p>
                  </a:txBody>
                  <a:tcPr marL="83324" marR="83324" marT="41662" marB="41662" anchor="ctr"/>
                </a:tc>
                <a:tc>
                  <a:txBody>
                    <a:bodyPr/>
                    <a:lstStyle/>
                    <a:p>
                      <a:r>
                        <a:rPr lang="en-GB" sz="1300"/>
                        <a:t>Chatbots should not store personal conversations without consent.</a:t>
                      </a:r>
                    </a:p>
                  </a:txBody>
                  <a:tcPr marL="83324" marR="83324" marT="41662" marB="41662" anchor="ctr"/>
                </a:tc>
                <a:extLst>
                  <a:ext uri="{0D108BD9-81ED-4DB2-BD59-A6C34878D82A}">
                    <a16:rowId xmlns:a16="http://schemas.microsoft.com/office/drawing/2014/main" val="3914537769"/>
                  </a:ext>
                </a:extLst>
              </a:tr>
              <a:tr h="666595">
                <a:tc>
                  <a:txBody>
                    <a:bodyPr/>
                    <a:lstStyle/>
                    <a:p>
                      <a:r>
                        <a:rPr lang="en-GB" sz="1300" b="1"/>
                        <a:t>Safety</a:t>
                      </a:r>
                      <a:endParaRPr lang="en-GB" sz="1300"/>
                    </a:p>
                  </a:txBody>
                  <a:tcPr marL="83324" marR="83324" marT="41662" marB="41662" anchor="ctr"/>
                </a:tc>
                <a:tc>
                  <a:txBody>
                    <a:bodyPr/>
                    <a:lstStyle/>
                    <a:p>
                      <a:r>
                        <a:rPr lang="en-GB" sz="1300"/>
                        <a:t>AI must be tested to prevent harm or unintended consequences.</a:t>
                      </a:r>
                    </a:p>
                  </a:txBody>
                  <a:tcPr marL="83324" marR="83324" marT="41662" marB="41662" anchor="ctr"/>
                </a:tc>
                <a:tc>
                  <a:txBody>
                    <a:bodyPr/>
                    <a:lstStyle/>
                    <a:p>
                      <a:r>
                        <a:rPr lang="en-GB" sz="1300" dirty="0"/>
                        <a:t>AI in autonomous weapons must be strictly controlled.</a:t>
                      </a:r>
                    </a:p>
                  </a:txBody>
                  <a:tcPr marL="83324" marR="83324" marT="41662" marB="41662" anchor="ctr"/>
                </a:tc>
                <a:extLst>
                  <a:ext uri="{0D108BD9-81ED-4DB2-BD59-A6C34878D82A}">
                    <a16:rowId xmlns:a16="http://schemas.microsoft.com/office/drawing/2014/main" val="40257604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446643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A"/>
        </a:solidFill>
        <a:effectLst/>
      </p:bgPr>
    </p:bg>
    <p:spTree>
      <p:nvGrpSpPr>
        <p:cNvPr id="1" name="Shape 98">
          <a:extLst>
            <a:ext uri="{FF2B5EF4-FFF2-40B4-BE49-F238E27FC236}">
              <a16:creationId xmlns:a16="http://schemas.microsoft.com/office/drawing/2014/main" id="{59D601AE-0731-28E4-C4D6-15A472AA1C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9">
            <a:extLst>
              <a:ext uri="{FF2B5EF4-FFF2-40B4-BE49-F238E27FC236}">
                <a16:creationId xmlns:a16="http://schemas.microsoft.com/office/drawing/2014/main" id="{D3B32739-5C30-A6BC-FD80-4885C3C7A42B}"/>
              </a:ext>
            </a:extLst>
          </p:cNvPr>
          <p:cNvPicPr preferRelativeResize="0"/>
          <p:nvPr/>
        </p:nvPicPr>
        <p:blipFill rotWithShape="1">
          <a:blip r:embed="rId3">
            <a:alphaModFix amt="60000"/>
          </a:blip>
          <a:srcRect/>
          <a:stretch/>
        </p:blipFill>
        <p:spPr>
          <a:xfrm>
            <a:off x="3517218" y="122160"/>
            <a:ext cx="5408998" cy="2939569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9">
            <a:extLst>
              <a:ext uri="{FF2B5EF4-FFF2-40B4-BE49-F238E27FC236}">
                <a16:creationId xmlns:a16="http://schemas.microsoft.com/office/drawing/2014/main" id="{F65DC663-E1FB-11BC-83F3-5918AC98EFD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3192" y="122160"/>
            <a:ext cx="7464268" cy="494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-GB" sz="2000" b="1" i="0" u="none" strike="noStrike" dirty="0">
                <a:solidFill>
                  <a:srgbClr val="7030A0"/>
                </a:solidFill>
                <a:effectLst/>
              </a:rPr>
              <a:t> B. Ensuring User Understanding of AI Models</a:t>
            </a:r>
            <a:br>
              <a:rPr lang="en-GB" sz="2000" b="1" i="0" u="none" strike="noStrike" dirty="0">
                <a:solidFill>
                  <a:srgbClr val="7030A0"/>
                </a:solidFill>
                <a:effectLst/>
              </a:rPr>
            </a:br>
            <a:br>
              <a:rPr lang="en-GB" sz="2000" b="1" i="0" u="none" strike="noStrike" dirty="0">
                <a:solidFill>
                  <a:srgbClr val="7030A0"/>
                </a:solidFill>
                <a:effectLst/>
              </a:rPr>
            </a:br>
            <a:br>
              <a:rPr lang="en-GB" sz="2000" b="1" i="0" u="none" strike="noStrike" dirty="0">
                <a:solidFill>
                  <a:srgbClr val="7030A0"/>
                </a:solidFill>
                <a:effectLst/>
              </a:rPr>
            </a:br>
            <a:br>
              <a:rPr lang="en-GB" sz="2000" b="1" i="0" u="none" strike="noStrike" dirty="0">
                <a:solidFill>
                  <a:srgbClr val="7030A0"/>
                </a:solidFill>
                <a:effectLst/>
              </a:rPr>
            </a:br>
            <a:br>
              <a:rPr lang="en-GB" sz="2000" b="1" i="0" u="none" strike="noStrike" dirty="0">
                <a:solidFill>
                  <a:srgbClr val="7030A0"/>
                </a:solidFill>
                <a:effectLst/>
              </a:rPr>
            </a:br>
            <a:br>
              <a:rPr lang="en-GB" sz="1200" b="1" i="0" u="none" strike="noStrike" dirty="0">
                <a:solidFill>
                  <a:srgbClr val="000000"/>
                </a:solidFill>
                <a:effectLst/>
              </a:rPr>
            </a:br>
            <a:br>
              <a:rPr lang="en-GB" sz="1200" b="1" i="0" u="none" strike="noStrike" dirty="0">
                <a:solidFill>
                  <a:srgbClr val="000000"/>
                </a:solidFill>
                <a:effectLst/>
              </a:rPr>
            </a:br>
            <a:br>
              <a:rPr lang="en-GB" sz="1100" b="1" i="0" u="none" strike="noStrike" dirty="0">
                <a:solidFill>
                  <a:srgbClr val="000000"/>
                </a:solidFill>
                <a:effectLst/>
              </a:rPr>
            </a:br>
            <a:br>
              <a:rPr lang="en-GB" sz="1600" dirty="0">
                <a:latin typeface="Arial"/>
                <a:ea typeface="Arial"/>
                <a:cs typeface="Arial"/>
                <a:sym typeface="Arial"/>
              </a:rPr>
            </a:br>
            <a:endParaRPr lang="en-GB" sz="3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85702C0-AC4E-1A82-5D73-B01F5610FEF2}"/>
              </a:ext>
            </a:extLst>
          </p:cNvPr>
          <p:cNvSpPr txBox="1"/>
          <p:nvPr/>
        </p:nvSpPr>
        <p:spPr>
          <a:xfrm>
            <a:off x="944628" y="695730"/>
            <a:ext cx="6032395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GB" sz="1600" b="0" i="0" u="none" strike="noStrike" dirty="0">
                <a:solidFill>
                  <a:srgbClr val="000000"/>
                </a:solidFill>
                <a:effectLst/>
              </a:rPr>
              <a:t>For AI to be truly transparent, </a:t>
            </a:r>
            <a:r>
              <a:rPr lang="en-GB" sz="1600" b="1" i="0" u="none" strike="noStrike" dirty="0">
                <a:solidFill>
                  <a:srgbClr val="000000"/>
                </a:solidFill>
                <a:effectLst/>
              </a:rPr>
              <a:t>users must understand how it works.</a:t>
            </a:r>
            <a:r>
              <a:rPr lang="en-GB" sz="1600" b="0" i="0" u="none" strike="noStrike" dirty="0">
                <a:solidFill>
                  <a:srgbClr val="000000"/>
                </a:solidFill>
                <a:effectLst/>
              </a:rPr>
              <a:t> Developers must:</a:t>
            </a:r>
          </a:p>
          <a:p>
            <a:pPr marL="342900" indent="-342900" algn="l">
              <a:buFont typeface="+mj-lt"/>
              <a:buAutoNum type="arabicPeriod"/>
            </a:pPr>
            <a:r>
              <a:rPr lang="en-GB" sz="1600" b="1" i="0" u="none" strike="noStrike" dirty="0">
                <a:solidFill>
                  <a:srgbClr val="000000"/>
                </a:solidFill>
                <a:effectLst/>
              </a:rPr>
              <a:t>Provide clear explanations</a:t>
            </a:r>
            <a:r>
              <a:rPr lang="en-GB" sz="1600" b="0" i="0" u="none" strike="noStrike" dirty="0">
                <a:solidFill>
                  <a:srgbClr val="000000"/>
                </a:solidFill>
                <a:effectLst/>
              </a:rPr>
              <a:t> – Avoid complex AI jargon and simplify outputs.</a:t>
            </a:r>
          </a:p>
          <a:p>
            <a:pPr marL="342900" indent="-342900" algn="l">
              <a:buFont typeface="+mj-lt"/>
              <a:buAutoNum type="arabicPeriod"/>
            </a:pPr>
            <a:r>
              <a:rPr lang="en-GB" sz="1600" b="1" i="0" u="none" strike="noStrike" dirty="0">
                <a:solidFill>
                  <a:srgbClr val="000000"/>
                </a:solidFill>
                <a:effectLst/>
              </a:rPr>
              <a:t>Use visualizations</a:t>
            </a:r>
            <a:r>
              <a:rPr lang="en-GB" sz="1600" b="0" i="0" u="none" strike="noStrike" dirty="0">
                <a:solidFill>
                  <a:srgbClr val="000000"/>
                </a:solidFill>
                <a:effectLst/>
              </a:rPr>
              <a:t> – Tools like </a:t>
            </a:r>
            <a:r>
              <a:rPr lang="en-GB" sz="1600" b="1" i="0" u="none" strike="noStrike" dirty="0">
                <a:solidFill>
                  <a:srgbClr val="000000"/>
                </a:solidFill>
                <a:effectLst/>
              </a:rPr>
              <a:t>SHAP, LIME, and ELI5</a:t>
            </a:r>
            <a:r>
              <a:rPr lang="en-GB" sz="1600" b="0" i="0" u="none" strike="noStrike" dirty="0">
                <a:solidFill>
                  <a:srgbClr val="000000"/>
                </a:solidFill>
                <a:effectLst/>
              </a:rPr>
              <a:t> help explain model decisions.</a:t>
            </a:r>
          </a:p>
          <a:p>
            <a:pPr marL="342900" indent="-342900" algn="l">
              <a:buFont typeface="+mj-lt"/>
              <a:buAutoNum type="arabicPeriod"/>
            </a:pPr>
            <a:r>
              <a:rPr lang="en-GB" sz="1600" b="1" i="0" u="none" strike="noStrike" dirty="0">
                <a:solidFill>
                  <a:srgbClr val="000000"/>
                </a:solidFill>
                <a:effectLst/>
              </a:rPr>
              <a:t>Educate stakeholders</a:t>
            </a:r>
            <a:r>
              <a:rPr lang="en-GB" sz="1600" b="0" i="0" u="none" strike="noStrike" dirty="0">
                <a:solidFill>
                  <a:srgbClr val="000000"/>
                </a:solidFill>
                <a:effectLst/>
              </a:rPr>
              <a:t> – Training sessions for employees using AI systems.</a:t>
            </a:r>
          </a:p>
          <a:p>
            <a:pPr marL="342900" indent="-342900" algn="l">
              <a:buFont typeface="+mj-lt"/>
              <a:buAutoNum type="arabicPeriod"/>
            </a:pPr>
            <a:r>
              <a:rPr lang="en-GB" sz="1600" b="1" i="0" u="none" strike="noStrike" dirty="0">
                <a:solidFill>
                  <a:srgbClr val="000000"/>
                </a:solidFill>
                <a:effectLst/>
              </a:rPr>
              <a:t>Allow feedback</a:t>
            </a:r>
            <a:r>
              <a:rPr lang="en-GB" sz="1600" b="0" i="0" u="none" strike="noStrike" dirty="0">
                <a:solidFill>
                  <a:srgbClr val="000000"/>
                </a:solidFill>
                <a:effectLst/>
              </a:rPr>
              <a:t> – AI should adapt based on user concerns and errors.</a:t>
            </a:r>
          </a:p>
          <a:p>
            <a:pPr algn="l"/>
            <a:r>
              <a:rPr lang="en-GB" sz="1600" b="1" i="0" u="none" strike="noStrike" dirty="0">
                <a:solidFill>
                  <a:srgbClr val="000000"/>
                </a:solidFill>
                <a:effectLst/>
              </a:rPr>
              <a:t>Example: Transparent AI in Healthcare</a:t>
            </a:r>
            <a:br>
              <a:rPr lang="en-GB" sz="1600" b="0" i="0" u="none" strike="noStrike" dirty="0">
                <a:solidFill>
                  <a:srgbClr val="000000"/>
                </a:solidFill>
                <a:effectLst/>
              </a:rPr>
            </a:br>
            <a:r>
              <a:rPr lang="en-GB" sz="1600" b="0" i="0" u="none" strike="noStrike" dirty="0">
                <a:solidFill>
                  <a:srgbClr val="000000"/>
                </a:solidFill>
                <a:effectLst/>
              </a:rPr>
              <a:t>IBM’s AI model for diagnosing </a:t>
            </a:r>
            <a:r>
              <a:rPr lang="en-GB" sz="1600" b="1" i="0" u="none" strike="noStrike" dirty="0">
                <a:solidFill>
                  <a:srgbClr val="000000"/>
                </a:solidFill>
                <a:effectLst/>
              </a:rPr>
              <a:t>diabetes risk</a:t>
            </a:r>
            <a:r>
              <a:rPr lang="en-GB" sz="1600" b="0" i="0" u="none" strike="noStrike" dirty="0">
                <a:solidFill>
                  <a:srgbClr val="000000"/>
                </a:solidFill>
                <a:effectLst/>
              </a:rPr>
              <a:t> uses </a:t>
            </a:r>
            <a:r>
              <a:rPr lang="en-GB" sz="1600" b="1" i="0" u="none" strike="noStrike" dirty="0">
                <a:solidFill>
                  <a:srgbClr val="000000"/>
                </a:solidFill>
                <a:effectLst/>
              </a:rPr>
              <a:t>SHAP values</a:t>
            </a:r>
            <a:r>
              <a:rPr lang="en-GB" sz="1600" b="0" i="0" u="none" strike="noStrike" dirty="0">
                <a:solidFill>
                  <a:srgbClr val="000000"/>
                </a:solidFill>
                <a:effectLst/>
              </a:rPr>
              <a:t> to show doctors which factors influenced the prediction (e.g., blood sugar, weight).</a:t>
            </a:r>
            <a:br>
              <a:rPr lang="en-GB" sz="1600" b="0" i="0" u="none" strike="noStrike" dirty="0">
                <a:solidFill>
                  <a:srgbClr val="000000"/>
                </a:solidFill>
                <a:effectLst/>
              </a:rPr>
            </a:br>
            <a:r>
              <a:rPr lang="en-GB" sz="1600" b="0" i="0" u="none" strike="noStrike" dirty="0">
                <a:solidFill>
                  <a:srgbClr val="000000"/>
                </a:solidFill>
                <a:effectLst/>
              </a:rPr>
              <a:t>This builds </a:t>
            </a:r>
            <a:r>
              <a:rPr lang="en-GB" sz="1600" b="1" i="0" u="none" strike="noStrike" dirty="0">
                <a:solidFill>
                  <a:srgbClr val="000000"/>
                </a:solidFill>
                <a:effectLst/>
              </a:rPr>
              <a:t>trust and user understanding</a:t>
            </a:r>
            <a:r>
              <a:rPr lang="en-GB" sz="1600" b="0" i="0" u="none" strike="noStrike" dirty="0">
                <a:solidFill>
                  <a:srgbClr val="000000"/>
                </a:solidFill>
                <a:effectLst/>
              </a:rPr>
              <a:t> in AI-powered medical tools.</a:t>
            </a:r>
          </a:p>
        </p:txBody>
      </p:sp>
    </p:spTree>
    <p:extLst>
      <p:ext uri="{BB962C8B-B14F-4D97-AF65-F5344CB8AC3E}">
        <p14:creationId xmlns:p14="http://schemas.microsoft.com/office/powerpoint/2010/main" val="35046205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A"/>
        </a:solidFill>
        <a:effectLst/>
      </p:bgPr>
    </p:bg>
    <p:spTree>
      <p:nvGrpSpPr>
        <p:cNvPr id="1" name="Shape 98">
          <a:extLst>
            <a:ext uri="{FF2B5EF4-FFF2-40B4-BE49-F238E27FC236}">
              <a16:creationId xmlns:a16="http://schemas.microsoft.com/office/drawing/2014/main" id="{40C70103-BA01-0720-0CD0-13A35BB37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9">
            <a:extLst>
              <a:ext uri="{FF2B5EF4-FFF2-40B4-BE49-F238E27FC236}">
                <a16:creationId xmlns:a16="http://schemas.microsoft.com/office/drawing/2014/main" id="{A502FA1C-4753-990E-2D74-B95344845AA5}"/>
              </a:ext>
            </a:extLst>
          </p:cNvPr>
          <p:cNvPicPr preferRelativeResize="0"/>
          <p:nvPr/>
        </p:nvPicPr>
        <p:blipFill rotWithShape="1">
          <a:blip r:embed="rId3">
            <a:alphaModFix amt="60000"/>
          </a:blip>
          <a:srcRect/>
          <a:stretch/>
        </p:blipFill>
        <p:spPr>
          <a:xfrm>
            <a:off x="3517218" y="122160"/>
            <a:ext cx="5408998" cy="2939569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9">
            <a:extLst>
              <a:ext uri="{FF2B5EF4-FFF2-40B4-BE49-F238E27FC236}">
                <a16:creationId xmlns:a16="http://schemas.microsoft.com/office/drawing/2014/main" id="{1AF934C2-060C-7762-BBC7-364E84A65AD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3192" y="122160"/>
            <a:ext cx="7464268" cy="494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-GB" sz="2000" b="1" i="0" u="none" strike="noStrike" dirty="0">
                <a:solidFill>
                  <a:srgbClr val="7030A0"/>
                </a:solidFill>
                <a:effectLst/>
              </a:rPr>
              <a:t>Case Studies: Ethics and Legal Transparency in AI</a:t>
            </a:r>
            <a:br>
              <a:rPr lang="en-GB" sz="2000" b="1" i="0" u="none" strike="noStrike" dirty="0">
                <a:solidFill>
                  <a:srgbClr val="7030A0"/>
                </a:solidFill>
                <a:effectLst/>
              </a:rPr>
            </a:br>
            <a:br>
              <a:rPr lang="en-GB" sz="2000" b="1" i="0" u="none" strike="noStrike" dirty="0">
                <a:solidFill>
                  <a:srgbClr val="7030A0"/>
                </a:solidFill>
                <a:effectLst/>
              </a:rPr>
            </a:br>
            <a:br>
              <a:rPr lang="en-GB" sz="2000" b="1" i="0" u="none" strike="noStrike" dirty="0">
                <a:solidFill>
                  <a:srgbClr val="7030A0"/>
                </a:solidFill>
                <a:effectLst/>
              </a:rPr>
            </a:br>
            <a:br>
              <a:rPr lang="en-GB" sz="2000" b="1" i="0" u="none" strike="noStrike" dirty="0">
                <a:solidFill>
                  <a:srgbClr val="7030A0"/>
                </a:solidFill>
                <a:effectLst/>
              </a:rPr>
            </a:br>
            <a:br>
              <a:rPr lang="en-GB" sz="2000" b="1" i="0" u="none" strike="noStrike" dirty="0">
                <a:solidFill>
                  <a:srgbClr val="7030A0"/>
                </a:solidFill>
                <a:effectLst/>
              </a:rPr>
            </a:br>
            <a:br>
              <a:rPr lang="en-GB" sz="1200" b="1" i="0" u="none" strike="noStrike" dirty="0">
                <a:solidFill>
                  <a:srgbClr val="000000"/>
                </a:solidFill>
                <a:effectLst/>
              </a:rPr>
            </a:br>
            <a:br>
              <a:rPr lang="en-GB" sz="1200" b="1" i="0" u="none" strike="noStrike" dirty="0">
                <a:solidFill>
                  <a:srgbClr val="000000"/>
                </a:solidFill>
                <a:effectLst/>
              </a:rPr>
            </a:br>
            <a:br>
              <a:rPr lang="en-GB" sz="1100" b="1" i="0" u="none" strike="noStrike" dirty="0">
                <a:solidFill>
                  <a:srgbClr val="000000"/>
                </a:solidFill>
                <a:effectLst/>
              </a:rPr>
            </a:br>
            <a:br>
              <a:rPr lang="en-GB" sz="1600" dirty="0">
                <a:latin typeface="Arial"/>
                <a:ea typeface="Arial"/>
                <a:cs typeface="Arial"/>
                <a:sym typeface="Arial"/>
              </a:rPr>
            </a:br>
            <a:endParaRPr lang="en-GB" sz="32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7A45FE-6C4E-80DA-3EC4-1E4C8039BCB6}"/>
              </a:ext>
            </a:extLst>
          </p:cNvPr>
          <p:cNvSpPr txBox="1"/>
          <p:nvPr/>
        </p:nvSpPr>
        <p:spPr>
          <a:xfrm>
            <a:off x="1052451" y="925145"/>
            <a:ext cx="6145750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GB" sz="1600" b="1" i="0" u="none" strike="noStrike" dirty="0">
                <a:solidFill>
                  <a:srgbClr val="000000"/>
                </a:solidFill>
                <a:effectLst/>
              </a:rPr>
              <a:t>Case Study 1: Google’s AI Ethics Controversy</a:t>
            </a:r>
          </a:p>
          <a:p>
            <a:pPr algn="l">
              <a:buNone/>
            </a:pPr>
            <a:r>
              <a:rPr lang="en-GB" sz="1600" b="0" i="0" u="none" strike="noStrike" dirty="0">
                <a:solidFill>
                  <a:srgbClr val="000000"/>
                </a:solidFill>
                <a:effectLst/>
              </a:rPr>
              <a:t> </a:t>
            </a:r>
            <a:r>
              <a:rPr lang="en-GB" sz="1600" b="1" i="0" u="none" strike="noStrike" dirty="0">
                <a:solidFill>
                  <a:srgbClr val="000000"/>
                </a:solidFill>
                <a:effectLst/>
              </a:rPr>
              <a:t>What happened?</a:t>
            </a:r>
            <a:endParaRPr lang="en-GB" sz="1600" b="0" i="0" u="none" strike="noStrike" dirty="0">
              <a:solidFill>
                <a:srgbClr val="000000"/>
              </a:solidFill>
              <a:effectLst/>
            </a:endParaRPr>
          </a:p>
          <a:p>
            <a:pPr algn="l"/>
            <a:r>
              <a:rPr lang="en-GB" sz="1600" b="0" i="0" u="none" strike="noStrike" dirty="0">
                <a:solidFill>
                  <a:srgbClr val="000000"/>
                </a:solidFill>
                <a:effectLst/>
              </a:rPr>
              <a:t>In 2020, Google </a:t>
            </a:r>
            <a:r>
              <a:rPr lang="en-GB" sz="1600" b="1" i="0" u="none" strike="noStrike" dirty="0">
                <a:solidFill>
                  <a:srgbClr val="000000"/>
                </a:solidFill>
                <a:effectLst/>
              </a:rPr>
              <a:t>fired two AI ethics researchers</a:t>
            </a:r>
            <a:r>
              <a:rPr lang="en-GB" sz="1600" b="0" i="0" u="none" strike="noStrike" dirty="0">
                <a:solidFill>
                  <a:srgbClr val="000000"/>
                </a:solidFill>
                <a:effectLst/>
              </a:rPr>
              <a:t> (Timnit Gebru &amp; Margaret Mitchell) after they published a paper on bias in AI models.</a:t>
            </a:r>
          </a:p>
          <a:p>
            <a:pPr algn="l">
              <a:buNone/>
            </a:pPr>
            <a:r>
              <a:rPr lang="en-GB" sz="1600" b="0" i="0" u="none" strike="noStrike" dirty="0">
                <a:solidFill>
                  <a:srgbClr val="000000"/>
                </a:solidFill>
                <a:effectLst/>
              </a:rPr>
              <a:t> </a:t>
            </a:r>
            <a:r>
              <a:rPr lang="en-GB" sz="1600" b="1" i="0" u="none" strike="noStrike" dirty="0">
                <a:solidFill>
                  <a:srgbClr val="000000"/>
                </a:solidFill>
                <a:effectLst/>
              </a:rPr>
              <a:t>Ethical Issues</a:t>
            </a:r>
            <a:endParaRPr lang="en-GB" sz="1600" b="0" i="0" u="none" strike="noStrike" dirty="0">
              <a:solidFill>
                <a:srgbClr val="000000"/>
              </a:solidFill>
              <a:effectLst/>
            </a:endParaRPr>
          </a:p>
          <a:p>
            <a:pPr marL="342900" indent="-342900" algn="l">
              <a:buFont typeface="+mj-lt"/>
              <a:buAutoNum type="arabicPeriod"/>
            </a:pPr>
            <a:r>
              <a:rPr lang="en-GB" sz="1600" b="0" i="0" u="none" strike="noStrike" dirty="0">
                <a:solidFill>
                  <a:srgbClr val="000000"/>
                </a:solidFill>
                <a:effectLst/>
              </a:rPr>
              <a:t>Lack of transparency in Google's AI research decisions.</a:t>
            </a:r>
          </a:p>
          <a:p>
            <a:pPr marL="342900" indent="-342900" algn="l">
              <a:buFont typeface="+mj-lt"/>
              <a:buAutoNum type="arabicPeriod"/>
            </a:pPr>
            <a:r>
              <a:rPr lang="en-GB" sz="1600" b="0" i="0" u="none" strike="noStrike" dirty="0">
                <a:solidFill>
                  <a:srgbClr val="000000"/>
                </a:solidFill>
                <a:effectLst/>
              </a:rPr>
              <a:t>Ethical concerns about bias in large AI models (e.g., GPT-3).</a:t>
            </a:r>
          </a:p>
          <a:p>
            <a:pPr algn="l">
              <a:buNone/>
            </a:pPr>
            <a:r>
              <a:rPr lang="en-GB" sz="1600" b="1" i="0" u="none" strike="noStrike" dirty="0">
                <a:solidFill>
                  <a:srgbClr val="000000"/>
                </a:solidFill>
                <a:effectLst/>
              </a:rPr>
              <a:t>Impact</a:t>
            </a:r>
            <a:endParaRPr lang="en-GB" sz="1600" b="0" i="0" u="none" strike="noStrike" dirty="0">
              <a:solidFill>
                <a:srgbClr val="000000"/>
              </a:solidFill>
              <a:effectLst/>
            </a:endParaRPr>
          </a:p>
          <a:p>
            <a:pPr marL="342900" indent="-342900" algn="l">
              <a:buFont typeface="+mj-lt"/>
              <a:buAutoNum type="arabicPeriod"/>
            </a:pPr>
            <a:r>
              <a:rPr lang="en-GB" sz="1600" b="0" i="0" u="none" strike="noStrike" dirty="0">
                <a:solidFill>
                  <a:srgbClr val="000000"/>
                </a:solidFill>
                <a:effectLst/>
              </a:rPr>
              <a:t>Sparked a </a:t>
            </a:r>
            <a:r>
              <a:rPr lang="en-GB" sz="1600" b="1" i="0" u="none" strike="noStrike" dirty="0">
                <a:solidFill>
                  <a:srgbClr val="000000"/>
                </a:solidFill>
                <a:effectLst/>
              </a:rPr>
              <a:t>global conversation on AI ethics and corporate responsibility.</a:t>
            </a:r>
            <a:endParaRPr lang="en-GB" sz="1600" b="0" i="0" u="none" strike="noStrike" dirty="0">
              <a:solidFill>
                <a:srgbClr val="000000"/>
              </a:solidFill>
              <a:effectLst/>
            </a:endParaRPr>
          </a:p>
          <a:p>
            <a:pPr marL="342900" indent="-342900" algn="l">
              <a:buFont typeface="+mj-lt"/>
              <a:buAutoNum type="arabicPeriod"/>
            </a:pPr>
            <a:r>
              <a:rPr lang="en-GB" sz="1600" b="0" i="0" u="none" strike="noStrike" dirty="0">
                <a:solidFill>
                  <a:srgbClr val="000000"/>
                </a:solidFill>
                <a:effectLst/>
              </a:rPr>
              <a:t>Many tech companies now have </a:t>
            </a:r>
            <a:r>
              <a:rPr lang="en-GB" sz="1600" b="1" i="0" u="none" strike="noStrike" dirty="0">
                <a:solidFill>
                  <a:srgbClr val="000000"/>
                </a:solidFill>
                <a:effectLst/>
              </a:rPr>
              <a:t>AI ethics committees</a:t>
            </a:r>
            <a:r>
              <a:rPr lang="en-GB" sz="1600" b="0" i="0" u="none" strike="noStrike" dirty="0">
                <a:solidFill>
                  <a:srgbClr val="000000"/>
                </a:solidFill>
                <a:effectLst/>
              </a:rPr>
              <a:t> to ensure transparency.</a:t>
            </a:r>
          </a:p>
        </p:txBody>
      </p:sp>
    </p:spTree>
    <p:extLst>
      <p:ext uri="{BB962C8B-B14F-4D97-AF65-F5344CB8AC3E}">
        <p14:creationId xmlns:p14="http://schemas.microsoft.com/office/powerpoint/2010/main" val="30110205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A"/>
        </a:solidFill>
        <a:effectLst/>
      </p:bgPr>
    </p:bg>
    <p:spTree>
      <p:nvGrpSpPr>
        <p:cNvPr id="1" name="Shape 98">
          <a:extLst>
            <a:ext uri="{FF2B5EF4-FFF2-40B4-BE49-F238E27FC236}">
              <a16:creationId xmlns:a16="http://schemas.microsoft.com/office/drawing/2014/main" id="{C218A91C-7B3A-F62B-1D85-219D33B2B5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9">
            <a:extLst>
              <a:ext uri="{FF2B5EF4-FFF2-40B4-BE49-F238E27FC236}">
                <a16:creationId xmlns:a16="http://schemas.microsoft.com/office/drawing/2014/main" id="{2E780FB4-DDFD-E9C0-B6C5-0C5119D404CD}"/>
              </a:ext>
            </a:extLst>
          </p:cNvPr>
          <p:cNvPicPr preferRelativeResize="0"/>
          <p:nvPr/>
        </p:nvPicPr>
        <p:blipFill rotWithShape="1">
          <a:blip r:embed="rId3">
            <a:alphaModFix amt="60000"/>
          </a:blip>
          <a:srcRect/>
          <a:stretch/>
        </p:blipFill>
        <p:spPr>
          <a:xfrm>
            <a:off x="3517218" y="122160"/>
            <a:ext cx="5408998" cy="2939569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9">
            <a:extLst>
              <a:ext uri="{FF2B5EF4-FFF2-40B4-BE49-F238E27FC236}">
                <a16:creationId xmlns:a16="http://schemas.microsoft.com/office/drawing/2014/main" id="{65A9C040-9651-BD57-4292-6B6D02C7FDD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3192" y="122160"/>
            <a:ext cx="7464268" cy="494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-GB" sz="2000" b="1" i="0" u="none" strike="noStrike" dirty="0">
                <a:solidFill>
                  <a:srgbClr val="7030A0"/>
                </a:solidFill>
                <a:effectLst/>
              </a:rPr>
              <a:t>Case Study 2: Facebook’s Algorithm and Misinformation</a:t>
            </a:r>
            <a:br>
              <a:rPr lang="en-GB" sz="2000" b="1" i="0" u="none" strike="noStrike" dirty="0">
                <a:solidFill>
                  <a:srgbClr val="7030A0"/>
                </a:solidFill>
                <a:effectLst/>
              </a:rPr>
            </a:br>
            <a:br>
              <a:rPr lang="en-GB" sz="2000" b="1" i="0" u="none" strike="noStrike" dirty="0">
                <a:solidFill>
                  <a:srgbClr val="7030A0"/>
                </a:solidFill>
                <a:effectLst/>
              </a:rPr>
            </a:br>
            <a:br>
              <a:rPr lang="en-GB" sz="2000" b="1" i="0" u="none" strike="noStrike" dirty="0">
                <a:solidFill>
                  <a:srgbClr val="7030A0"/>
                </a:solidFill>
                <a:effectLst/>
              </a:rPr>
            </a:br>
            <a:br>
              <a:rPr lang="en-GB" sz="2000" b="1" i="0" u="none" strike="noStrike" dirty="0">
                <a:solidFill>
                  <a:srgbClr val="7030A0"/>
                </a:solidFill>
                <a:effectLst/>
              </a:rPr>
            </a:br>
            <a:br>
              <a:rPr lang="en-GB" sz="2000" b="1" i="0" u="none" strike="noStrike" dirty="0">
                <a:solidFill>
                  <a:srgbClr val="7030A0"/>
                </a:solidFill>
                <a:effectLst/>
              </a:rPr>
            </a:br>
            <a:br>
              <a:rPr lang="en-GB" sz="1200" b="1" i="0" u="none" strike="noStrike" dirty="0">
                <a:solidFill>
                  <a:srgbClr val="000000"/>
                </a:solidFill>
                <a:effectLst/>
              </a:rPr>
            </a:br>
            <a:br>
              <a:rPr lang="en-GB" sz="1200" b="1" i="0" u="none" strike="noStrike" dirty="0">
                <a:solidFill>
                  <a:srgbClr val="000000"/>
                </a:solidFill>
                <a:effectLst/>
              </a:rPr>
            </a:br>
            <a:br>
              <a:rPr lang="en-GB" sz="1100" b="1" i="0" u="none" strike="noStrike" dirty="0">
                <a:solidFill>
                  <a:srgbClr val="000000"/>
                </a:solidFill>
                <a:effectLst/>
              </a:rPr>
            </a:br>
            <a:br>
              <a:rPr lang="en-GB" sz="1600" dirty="0">
                <a:latin typeface="Arial"/>
                <a:ea typeface="Arial"/>
                <a:cs typeface="Arial"/>
                <a:sym typeface="Arial"/>
              </a:rPr>
            </a:br>
            <a:endParaRPr lang="en-GB" sz="3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C3EA82-C9BD-2C88-8311-EC040C43B689}"/>
              </a:ext>
            </a:extLst>
          </p:cNvPr>
          <p:cNvSpPr txBox="1"/>
          <p:nvPr/>
        </p:nvSpPr>
        <p:spPr>
          <a:xfrm>
            <a:off x="914400" y="1126617"/>
            <a:ext cx="5078321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GB" sz="1600" b="1" i="0" u="none" strike="noStrike" dirty="0">
                <a:solidFill>
                  <a:srgbClr val="000000"/>
                </a:solidFill>
                <a:effectLst/>
              </a:rPr>
              <a:t>What happened?</a:t>
            </a:r>
            <a:endParaRPr lang="en-GB" sz="1600" b="0" i="0" u="none" strike="noStrike" dirty="0">
              <a:solidFill>
                <a:srgbClr val="000000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sz="1600" b="0" i="0" u="none" strike="noStrike" dirty="0">
                <a:solidFill>
                  <a:srgbClr val="000000"/>
                </a:solidFill>
                <a:effectLst/>
              </a:rPr>
              <a:t>Facebook’s AI </a:t>
            </a:r>
            <a:r>
              <a:rPr lang="en-GB" sz="1600" b="1" i="0" u="none" strike="noStrike" dirty="0">
                <a:solidFill>
                  <a:srgbClr val="000000"/>
                </a:solidFill>
                <a:effectLst/>
              </a:rPr>
              <a:t>prioritized engagement over truth</a:t>
            </a:r>
            <a:r>
              <a:rPr lang="en-GB" sz="1600" b="0" i="0" u="none" strike="noStrike" dirty="0">
                <a:solidFill>
                  <a:srgbClr val="000000"/>
                </a:solidFill>
                <a:effectLst/>
              </a:rPr>
              <a:t>, leading to the spread of misinformation during elections.</a:t>
            </a:r>
          </a:p>
          <a:p>
            <a:pPr algn="l"/>
            <a:r>
              <a:rPr lang="en-GB" sz="1600" b="0" i="0" u="none" strike="noStrike" dirty="0">
                <a:solidFill>
                  <a:srgbClr val="000000"/>
                </a:solidFill>
                <a:effectLst/>
              </a:rPr>
              <a:t> </a:t>
            </a:r>
            <a:r>
              <a:rPr lang="en-GB" sz="1600" b="1" i="0" u="none" strike="noStrike" dirty="0">
                <a:solidFill>
                  <a:srgbClr val="000000"/>
                </a:solidFill>
                <a:effectLst/>
              </a:rPr>
              <a:t>Legal and Ethical Issues</a:t>
            </a:r>
            <a:endParaRPr lang="en-GB" sz="1600" b="0" i="0" u="none" strike="noStrike" dirty="0">
              <a:solidFill>
                <a:srgbClr val="000000"/>
              </a:solidFill>
              <a:effectLst/>
            </a:endParaRPr>
          </a:p>
          <a:p>
            <a:pPr marL="342900" indent="-342900" algn="l">
              <a:buFont typeface="+mj-lt"/>
              <a:buAutoNum type="arabicPeriod"/>
            </a:pPr>
            <a:r>
              <a:rPr lang="en-GB" sz="1600" b="1" i="0" u="none" strike="noStrike" dirty="0">
                <a:solidFill>
                  <a:srgbClr val="000000"/>
                </a:solidFill>
                <a:effectLst/>
              </a:rPr>
              <a:t>Lack of transparency</a:t>
            </a:r>
            <a:r>
              <a:rPr lang="en-GB" sz="1600" b="0" i="0" u="none" strike="noStrike" dirty="0">
                <a:solidFill>
                  <a:srgbClr val="000000"/>
                </a:solidFill>
                <a:effectLst/>
              </a:rPr>
              <a:t> about how the algorithm promoted fake news.</a:t>
            </a:r>
          </a:p>
          <a:p>
            <a:pPr marL="342900" indent="-342900" algn="l">
              <a:buFont typeface="+mj-lt"/>
              <a:buAutoNum type="arabicPeriod"/>
            </a:pPr>
            <a:r>
              <a:rPr lang="en-GB" sz="1600" b="1" i="0" u="none" strike="noStrike" dirty="0">
                <a:solidFill>
                  <a:srgbClr val="000000"/>
                </a:solidFill>
                <a:effectLst/>
              </a:rPr>
              <a:t>Ethical failure</a:t>
            </a:r>
            <a:r>
              <a:rPr lang="en-GB" sz="1600" b="0" i="0" u="none" strike="noStrike" dirty="0">
                <a:solidFill>
                  <a:srgbClr val="000000"/>
                </a:solidFill>
                <a:effectLst/>
              </a:rPr>
              <a:t> in prioritizing profits over public safety.</a:t>
            </a:r>
          </a:p>
          <a:p>
            <a:pPr algn="l">
              <a:buNone/>
            </a:pPr>
            <a:r>
              <a:rPr lang="en-GB" sz="1600" b="1" i="0" u="none" strike="noStrike" dirty="0">
                <a:solidFill>
                  <a:srgbClr val="000000"/>
                </a:solidFill>
                <a:effectLst/>
              </a:rPr>
              <a:t>Impact</a:t>
            </a:r>
            <a:endParaRPr lang="en-GB" sz="1600" b="0" i="0" u="none" strike="noStrike" dirty="0">
              <a:solidFill>
                <a:srgbClr val="000000"/>
              </a:solidFill>
              <a:effectLst/>
            </a:endParaRPr>
          </a:p>
          <a:p>
            <a:pPr marL="342900" indent="-342900" algn="l">
              <a:buFont typeface="+mj-lt"/>
              <a:buAutoNum type="arabicPeriod"/>
            </a:pPr>
            <a:r>
              <a:rPr lang="en-GB" sz="1600" b="0" i="0" u="none" strike="noStrike" dirty="0">
                <a:solidFill>
                  <a:srgbClr val="000000"/>
                </a:solidFill>
                <a:effectLst/>
              </a:rPr>
              <a:t>Increased regulation of AI-powered social media algorithms.</a:t>
            </a:r>
          </a:p>
          <a:p>
            <a:pPr marL="342900" indent="-342900" algn="l">
              <a:buFont typeface="+mj-lt"/>
              <a:buAutoNum type="arabicPeriod"/>
            </a:pPr>
            <a:r>
              <a:rPr lang="en-GB" sz="1600" b="0" i="0" u="none" strike="noStrike" dirty="0">
                <a:solidFill>
                  <a:srgbClr val="000000"/>
                </a:solidFill>
                <a:effectLst/>
              </a:rPr>
              <a:t>Push for </a:t>
            </a:r>
            <a:r>
              <a:rPr lang="en-GB" sz="1600" b="1" i="0" u="none" strike="noStrike" dirty="0">
                <a:solidFill>
                  <a:srgbClr val="000000"/>
                </a:solidFill>
                <a:effectLst/>
              </a:rPr>
              <a:t>explainable AI models</a:t>
            </a:r>
            <a:r>
              <a:rPr lang="en-GB" sz="1600" b="0" i="0" u="none" strike="noStrike" dirty="0">
                <a:solidFill>
                  <a:srgbClr val="000000"/>
                </a:solidFill>
                <a:effectLst/>
              </a:rPr>
              <a:t> in content moderation.</a:t>
            </a:r>
          </a:p>
        </p:txBody>
      </p:sp>
      <p:pic>
        <p:nvPicPr>
          <p:cNvPr id="6" name="Picture 5" descr="A blue square with a white letter f&#10;&#10;AI-generated content may be incorrect.">
            <a:extLst>
              <a:ext uri="{FF2B5EF4-FFF2-40B4-BE49-F238E27FC236}">
                <a16:creationId xmlns:a16="http://schemas.microsoft.com/office/drawing/2014/main" id="{D23E4A30-9801-2B0C-E1AC-72723C98A0E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6227942" y="1496291"/>
            <a:ext cx="2367597" cy="2367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84146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A"/>
        </a:solidFill>
        <a:effectLst/>
      </p:bgPr>
    </p:bg>
    <p:spTree>
      <p:nvGrpSpPr>
        <p:cNvPr id="1" name="Shape 98">
          <a:extLst>
            <a:ext uri="{FF2B5EF4-FFF2-40B4-BE49-F238E27FC236}">
              <a16:creationId xmlns:a16="http://schemas.microsoft.com/office/drawing/2014/main" id="{1CEFB821-4826-EF0C-726C-5DE4F509D3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9">
            <a:extLst>
              <a:ext uri="{FF2B5EF4-FFF2-40B4-BE49-F238E27FC236}">
                <a16:creationId xmlns:a16="http://schemas.microsoft.com/office/drawing/2014/main" id="{FC0AA43C-6948-1368-BBC1-C744F3C19B58}"/>
              </a:ext>
            </a:extLst>
          </p:cNvPr>
          <p:cNvPicPr preferRelativeResize="0"/>
          <p:nvPr/>
        </p:nvPicPr>
        <p:blipFill rotWithShape="1">
          <a:blip r:embed="rId3">
            <a:alphaModFix amt="60000"/>
          </a:blip>
          <a:srcRect/>
          <a:stretch/>
        </p:blipFill>
        <p:spPr>
          <a:xfrm>
            <a:off x="3517218" y="122160"/>
            <a:ext cx="5408998" cy="2939569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9">
            <a:extLst>
              <a:ext uri="{FF2B5EF4-FFF2-40B4-BE49-F238E27FC236}">
                <a16:creationId xmlns:a16="http://schemas.microsoft.com/office/drawing/2014/main" id="{D0EBF230-0640-7FE9-DC0B-D07A1478B94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3192" y="122160"/>
            <a:ext cx="7464268" cy="494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-GB" sz="2400" b="1" i="0" u="none" strike="noStrike" dirty="0">
                <a:solidFill>
                  <a:srgbClr val="7030A0"/>
                </a:solidFill>
                <a:effectLst/>
              </a:rPr>
              <a:t>Summary</a:t>
            </a:r>
            <a:br>
              <a:rPr lang="en-GB" sz="2000" b="1" i="0" u="none" strike="noStrike" dirty="0">
                <a:solidFill>
                  <a:srgbClr val="7030A0"/>
                </a:solidFill>
                <a:effectLst/>
              </a:rPr>
            </a:br>
            <a:br>
              <a:rPr lang="en-GB" sz="2000" b="1" i="0" u="none" strike="noStrike" dirty="0">
                <a:solidFill>
                  <a:srgbClr val="7030A0"/>
                </a:solidFill>
                <a:effectLst/>
              </a:rPr>
            </a:br>
            <a:br>
              <a:rPr lang="en-GB" sz="2000" b="1" i="0" u="none" strike="noStrike" dirty="0">
                <a:solidFill>
                  <a:srgbClr val="7030A0"/>
                </a:solidFill>
                <a:effectLst/>
              </a:rPr>
            </a:br>
            <a:br>
              <a:rPr lang="en-GB" sz="2000" b="1" i="0" u="none" strike="noStrike" dirty="0">
                <a:solidFill>
                  <a:srgbClr val="7030A0"/>
                </a:solidFill>
                <a:effectLst/>
              </a:rPr>
            </a:br>
            <a:br>
              <a:rPr lang="en-GB" sz="2000" b="1" i="0" u="none" strike="noStrike" dirty="0">
                <a:solidFill>
                  <a:srgbClr val="7030A0"/>
                </a:solidFill>
                <a:effectLst/>
              </a:rPr>
            </a:br>
            <a:br>
              <a:rPr lang="en-GB" sz="1200" b="1" i="0" u="none" strike="noStrike" dirty="0">
                <a:solidFill>
                  <a:srgbClr val="000000"/>
                </a:solidFill>
                <a:effectLst/>
              </a:rPr>
            </a:br>
            <a:br>
              <a:rPr lang="en-GB" sz="1200" b="1" i="0" u="none" strike="noStrike" dirty="0">
                <a:solidFill>
                  <a:srgbClr val="000000"/>
                </a:solidFill>
                <a:effectLst/>
              </a:rPr>
            </a:br>
            <a:br>
              <a:rPr lang="en-GB" sz="1100" b="1" i="0" u="none" strike="noStrike" dirty="0">
                <a:solidFill>
                  <a:srgbClr val="000000"/>
                </a:solidFill>
                <a:effectLst/>
              </a:rPr>
            </a:br>
            <a:br>
              <a:rPr lang="en-GB" sz="1600" dirty="0">
                <a:latin typeface="Arial"/>
                <a:ea typeface="Arial"/>
                <a:cs typeface="Arial"/>
                <a:sym typeface="Arial"/>
              </a:rPr>
            </a:br>
            <a:endParaRPr lang="en-GB" sz="32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E9057E9-8105-D35E-33C4-B1E3391808FD}"/>
              </a:ext>
            </a:extLst>
          </p:cNvPr>
          <p:cNvSpPr txBox="1"/>
          <p:nvPr/>
        </p:nvSpPr>
        <p:spPr>
          <a:xfrm>
            <a:off x="914400" y="883006"/>
            <a:ext cx="6349790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buFont typeface="+mj-lt"/>
              <a:buAutoNum type="arabicParenR"/>
            </a:pPr>
            <a:r>
              <a:rPr lang="en-GB" sz="1600" b="1" i="0" u="none" strike="noStrike" dirty="0">
                <a:solidFill>
                  <a:srgbClr val="000000"/>
                </a:solidFill>
                <a:effectLst/>
                <a:latin typeface="-webkit-standard"/>
              </a:rPr>
              <a:t>Transparent models (decision trees, linear regression) are easy to understand but may lack performance.</a:t>
            </a:r>
          </a:p>
          <a:p>
            <a:pPr marL="342900" indent="-342900" algn="l">
              <a:buFont typeface="+mj-lt"/>
              <a:buAutoNum type="arabicParenR"/>
            </a:pPr>
            <a:r>
              <a:rPr lang="en-GB" sz="1600" b="1" i="0" u="none" strike="noStrike" dirty="0">
                <a:solidFill>
                  <a:srgbClr val="000000"/>
                </a:solidFill>
                <a:effectLst/>
                <a:latin typeface="-webkit-standard"/>
              </a:rPr>
              <a:t>Black-box models (neural networks, ensembles) perform well but require interpretation tools.</a:t>
            </a:r>
          </a:p>
          <a:p>
            <a:pPr marL="342900" indent="-342900" algn="l">
              <a:buFont typeface="+mj-lt"/>
              <a:buAutoNum type="arabicParenR"/>
            </a:pPr>
            <a:r>
              <a:rPr lang="en-GB" sz="1600" b="1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SHAP, LIME, and ELI5 help explain complex models. </a:t>
            </a:r>
            <a:r>
              <a:rPr lang="en-GB" sz="1600" b="1" i="0" u="none" strike="noStrike" dirty="0">
                <a:solidFill>
                  <a:srgbClr val="000000"/>
                </a:solidFill>
                <a:effectLst/>
              </a:rPr>
              <a:t>AI transparency is both an ethical and legal necessity for fairness, accountability, and trust.</a:t>
            </a:r>
            <a:endParaRPr lang="en-GB" sz="1600" b="1" dirty="0"/>
          </a:p>
          <a:p>
            <a:pPr marL="342900" indent="-342900" algn="l">
              <a:buFont typeface="+mj-lt"/>
              <a:buAutoNum type="arabicParenR"/>
            </a:pPr>
            <a:r>
              <a:rPr lang="en-GB" sz="1600" b="1" i="0" u="none" strike="noStrike" dirty="0">
                <a:solidFill>
                  <a:srgbClr val="000000"/>
                </a:solidFill>
                <a:effectLst/>
              </a:rPr>
              <a:t>Regulations like GDPR and AI Act ensure AI models are explainable and protect user rights.</a:t>
            </a:r>
            <a:endParaRPr lang="en-GB" sz="1600" b="1" dirty="0"/>
          </a:p>
          <a:p>
            <a:pPr marL="342900" indent="-342900" algn="l">
              <a:buFont typeface="+mj-lt"/>
              <a:buAutoNum type="arabicParenR"/>
            </a:pPr>
            <a:r>
              <a:rPr lang="en-GB" sz="1600" b="1" i="0" u="none" strike="noStrike" dirty="0">
                <a:solidFill>
                  <a:srgbClr val="000000"/>
                </a:solidFill>
                <a:effectLst/>
              </a:rPr>
              <a:t>Developers must focus on fairness, explainability, and user education to make AI ethical.</a:t>
            </a:r>
            <a:endParaRPr lang="en-GB" sz="1600" b="1" dirty="0"/>
          </a:p>
          <a:p>
            <a:pPr marL="342900" indent="-342900" algn="l">
              <a:buFont typeface="+mj-lt"/>
              <a:buAutoNum type="arabicParenR"/>
            </a:pPr>
            <a:r>
              <a:rPr lang="en-GB" sz="1600" b="1" i="0" u="none" strike="noStrike" dirty="0">
                <a:solidFill>
                  <a:srgbClr val="000000"/>
                </a:solidFill>
                <a:effectLst/>
              </a:rPr>
              <a:t>Real-world failures (COMPAS bias, Facebook misinformation) highlight the risks of non-transparent AI.</a:t>
            </a:r>
          </a:p>
        </p:txBody>
      </p:sp>
    </p:spTree>
    <p:extLst>
      <p:ext uri="{BB962C8B-B14F-4D97-AF65-F5344CB8AC3E}">
        <p14:creationId xmlns:p14="http://schemas.microsoft.com/office/powerpoint/2010/main" val="19826217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4DA329-DDC0-B523-AEBE-B35BF56933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 with Google COLAB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6DFB29-6CFE-B48D-9134-B424D97756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800"/>
              <a:buFont typeface="IBM Plex Sans Arabic"/>
              <a:buChar char="●"/>
            </a:pPr>
            <a:r>
              <a:rPr lang="en-US" dirty="0">
                <a:hlinkClick r:id="rId2"/>
              </a:rPr>
              <a:t>Click here </a:t>
            </a:r>
          </a:p>
          <a:p>
            <a:pPr marL="457200" marR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800"/>
              <a:buFont typeface="IBM Plex Sans Arabic"/>
              <a:buChar char="●"/>
            </a:pPr>
            <a:r>
              <a:rPr lang="en-US" dirty="0"/>
              <a:t>https://</a:t>
            </a:r>
            <a:r>
              <a:rPr lang="en-US" dirty="0" err="1"/>
              <a:t>colab.research.google.com</a:t>
            </a:r>
            <a:r>
              <a:rPr lang="en-US" dirty="0"/>
              <a:t>/drive/1wPguJV1vy_D496JXyEVLOzZCW49OiDhM</a:t>
            </a:r>
          </a:p>
        </p:txBody>
      </p:sp>
    </p:spTree>
    <p:extLst>
      <p:ext uri="{BB962C8B-B14F-4D97-AF65-F5344CB8AC3E}">
        <p14:creationId xmlns:p14="http://schemas.microsoft.com/office/powerpoint/2010/main" val="15170799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" name="Google Shape;194;p20"/>
          <p:cNvPicPr preferRelativeResize="0"/>
          <p:nvPr/>
        </p:nvPicPr>
        <p:blipFill rotWithShape="1">
          <a:blip r:embed="rId3">
            <a:alphaModFix/>
          </a:blip>
          <a:srcRect l="8508"/>
          <a:stretch/>
        </p:blipFill>
        <p:spPr>
          <a:xfrm>
            <a:off x="6248550" y="1551586"/>
            <a:ext cx="1357692" cy="50936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2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647216" y="2992069"/>
            <a:ext cx="995950" cy="4058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2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19974" y="3081645"/>
            <a:ext cx="1214843" cy="226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0"/>
          <p:cNvPicPr preferRelativeResize="0"/>
          <p:nvPr/>
        </p:nvPicPr>
        <p:blipFill rotWithShape="1">
          <a:blip r:embed="rId6">
            <a:alphaModFix/>
          </a:blip>
          <a:srcRect l="11047" t="22524" r="11047" b="22523"/>
          <a:stretch/>
        </p:blipFill>
        <p:spPr>
          <a:xfrm>
            <a:off x="3316327" y="2249012"/>
            <a:ext cx="688702" cy="39554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0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360782" y="2325188"/>
            <a:ext cx="1133228" cy="24318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20"/>
          <p:cNvPicPr preferRelativeResize="0"/>
          <p:nvPr/>
        </p:nvPicPr>
        <p:blipFill rotWithShape="1">
          <a:blip r:embed="rId8">
            <a:alphaModFix/>
          </a:blip>
          <a:srcRect l="2114" t="19776" b="19777"/>
          <a:stretch/>
        </p:blipFill>
        <p:spPr>
          <a:xfrm>
            <a:off x="3094065" y="1608499"/>
            <a:ext cx="1133226" cy="39554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20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3183573" y="3074674"/>
            <a:ext cx="954210" cy="240673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20" descr="Text&#10;&#10;Description automatically generated with low confidence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4992620" y="3040838"/>
            <a:ext cx="750589" cy="308346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20" descr="A red and black sign&#10;&#10;Description automatically generated with low confidence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3183572" y="3696038"/>
            <a:ext cx="954213" cy="20263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20" descr="A picture containing text, clipart, vector graphics&#10;&#10;Description automatically generated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5018971" y="3677016"/>
            <a:ext cx="697888" cy="240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20"/>
          <p:cNvPicPr preferRelativeResize="0"/>
          <p:nvPr/>
        </p:nvPicPr>
        <p:blipFill rotWithShape="1">
          <a:blip r:embed="rId13">
            <a:alphaModFix/>
          </a:blip>
          <a:srcRect b="18915"/>
          <a:stretch/>
        </p:blipFill>
        <p:spPr>
          <a:xfrm>
            <a:off x="6450290" y="3643177"/>
            <a:ext cx="954212" cy="3083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20"/>
          <p:cNvPicPr preferRelativeResize="0"/>
          <p:nvPr/>
        </p:nvPicPr>
        <p:blipFill rotWithShape="1">
          <a:blip r:embed="rId14">
            <a:alphaModFix/>
          </a:blip>
          <a:srcRect l="12270" t="12270" r="12262" b="12262"/>
          <a:stretch/>
        </p:blipFill>
        <p:spPr>
          <a:xfrm>
            <a:off x="3885746" y="4245539"/>
            <a:ext cx="1133228" cy="38277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20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1798086" y="3621493"/>
            <a:ext cx="694210" cy="35172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20"/>
          <p:cNvPicPr preferRelativeResize="0"/>
          <p:nvPr/>
        </p:nvPicPr>
        <p:blipFill rotWithShape="1">
          <a:blip r:embed="rId16">
            <a:alphaModFix/>
          </a:blip>
          <a:srcRect t="18905" b="18904"/>
          <a:stretch/>
        </p:blipFill>
        <p:spPr>
          <a:xfrm>
            <a:off x="1537771" y="1614885"/>
            <a:ext cx="1214840" cy="38276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20"/>
          <p:cNvPicPr preferRelativeResize="0"/>
          <p:nvPr/>
        </p:nvPicPr>
        <p:blipFill rotWithShape="1">
          <a:blip r:embed="rId17">
            <a:alphaModFix/>
          </a:blip>
          <a:srcRect l="2114" t="28897" b="28892"/>
          <a:stretch/>
        </p:blipFill>
        <p:spPr>
          <a:xfrm>
            <a:off x="4740627" y="1652095"/>
            <a:ext cx="1254574" cy="30834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20"/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>
            <a:off x="4760495" y="2253777"/>
            <a:ext cx="1214839" cy="386012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20"/>
          <p:cNvPicPr preferRelativeResize="0"/>
          <p:nvPr/>
        </p:nvPicPr>
        <p:blipFill rotWithShape="1">
          <a:blip r:embed="rId19">
            <a:alphaModFix/>
          </a:blip>
          <a:srcRect/>
          <a:stretch/>
        </p:blipFill>
        <p:spPr>
          <a:xfrm>
            <a:off x="1647215" y="2294778"/>
            <a:ext cx="995952" cy="30401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0"/>
          <p:cNvSpPr txBox="1">
            <a:spLocks noGrp="1"/>
          </p:cNvSpPr>
          <p:nvPr>
            <p:ph type="title" idx="4294967295"/>
          </p:nvPr>
        </p:nvSpPr>
        <p:spPr>
          <a:xfrm>
            <a:off x="2079450" y="745725"/>
            <a:ext cx="6373800" cy="5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>
                <a:solidFill>
                  <a:srgbClr val="4F29B6"/>
                </a:solidFill>
                <a:latin typeface="IBM Plex Sans Arabic SemiBold"/>
                <a:ea typeface="IBM Plex Sans Arabic SemiBold"/>
                <a:cs typeface="IBM Plex Sans Arabic SemiBold"/>
                <a:sym typeface="IBM Plex Sans Arabic SemiBold"/>
              </a:rPr>
              <a:t>الشراكات العالمية</a:t>
            </a:r>
            <a:endParaRPr>
              <a:solidFill>
                <a:srgbClr val="4F29B6"/>
              </a:solidFill>
              <a:latin typeface="IBM Plex Sans Arabic SemiBold"/>
              <a:ea typeface="IBM Plex Sans Arabic SemiBold"/>
              <a:cs typeface="IBM Plex Sans Arabic SemiBold"/>
              <a:sym typeface="IBM Plex Sans Arabic SemiBold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1"/>
          <p:cNvSpPr txBox="1">
            <a:spLocks noGrp="1"/>
          </p:cNvSpPr>
          <p:nvPr>
            <p:ph type="title"/>
          </p:nvPr>
        </p:nvSpPr>
        <p:spPr>
          <a:xfrm>
            <a:off x="5548225" y="2230950"/>
            <a:ext cx="3062100" cy="6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333333"/>
              <a:buNone/>
            </a:pPr>
            <a:r>
              <a:rPr lang="en-US" sz="4000" b="1">
                <a:solidFill>
                  <a:schemeClr val="lt1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شــــــكــــرًا لكــــــم</a:t>
            </a:r>
            <a:endParaRPr sz="4000" b="1">
              <a:solidFill>
                <a:schemeClr val="lt1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  <p:sp>
        <p:nvSpPr>
          <p:cNvPr id="217" name="Google Shape;217;p21"/>
          <p:cNvSpPr txBox="1">
            <a:spLocks noGrp="1"/>
          </p:cNvSpPr>
          <p:nvPr>
            <p:ph type="ctrTitle" idx="4294967295"/>
          </p:nvPr>
        </p:nvSpPr>
        <p:spPr>
          <a:xfrm>
            <a:off x="4166050" y="2870075"/>
            <a:ext cx="4444200" cy="57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29B7"/>
              </a:buClr>
              <a:buSzPts val="990"/>
              <a:buFont typeface="IBM Plex Sans Arabic Medium"/>
              <a:buNone/>
            </a:pPr>
            <a:r>
              <a:rPr lang="en-US" sz="2900" b="1" i="0" u="none" strike="noStrike" cap="none">
                <a:solidFill>
                  <a:schemeClr val="lt1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THANK YOU</a:t>
            </a:r>
            <a:endParaRPr sz="2900" b="1" i="0" u="none" strike="noStrike" cap="none">
              <a:solidFill>
                <a:schemeClr val="lt1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6247</TotalTime>
  <Words>1819</Words>
  <Application>Microsoft Macintosh PowerPoint</Application>
  <PresentationFormat>On-screen Show (16:9)</PresentationFormat>
  <Paragraphs>176</Paragraphs>
  <Slides>21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32" baseType="lpstr">
      <vt:lpstr>IBM Plex Sans Arabic Medium</vt:lpstr>
      <vt:lpstr>Tajawal</vt:lpstr>
      <vt:lpstr>Times New Roman</vt:lpstr>
      <vt:lpstr>IBM Plex Sans Arabic</vt:lpstr>
      <vt:lpstr>Calibri</vt:lpstr>
      <vt:lpstr>IBM Plex Sans Arabic SemiBold</vt:lpstr>
      <vt:lpstr>Wingdings</vt:lpstr>
      <vt:lpstr>Proxima Nova</vt:lpstr>
      <vt:lpstr>-webkit-standard</vt:lpstr>
      <vt:lpstr>Arial</vt:lpstr>
      <vt:lpstr>Simple Light</vt:lpstr>
      <vt:lpstr>أكـــــاديميــــة طــــويـــق</vt:lpstr>
      <vt:lpstr>      Model Transparency and Ethics in Law</vt:lpstr>
      <vt:lpstr>PowerPoint Presentation</vt:lpstr>
      <vt:lpstr>Model Transparency    </vt:lpstr>
      <vt:lpstr>Transparent Models    </vt:lpstr>
      <vt:lpstr>Example: A Simple Decision Tree for Loan Approval    </vt:lpstr>
      <vt:lpstr>Python Implementation: A Simple Decision Tree for Loan Approval    </vt:lpstr>
      <vt:lpstr>Linear Regression: A Transparent Model for Continuous Data     </vt:lpstr>
      <vt:lpstr>Trade-offs Between Transparency and Performance     </vt:lpstr>
      <vt:lpstr>Introduction to AI Transparency in Ethics and Law      </vt:lpstr>
      <vt:lpstr>Legal Requirements for Transparency in AI      </vt:lpstr>
      <vt:lpstr>AI Act (European Union)      </vt:lpstr>
      <vt:lpstr>Other Global AI Regulations       </vt:lpstr>
      <vt:lpstr>Ethical Responsibility in AI Transparency        </vt:lpstr>
      <vt:lpstr> B. Ensuring User Understanding of AI Models         </vt:lpstr>
      <vt:lpstr>Case Studies: Ethics and Legal Transparency in AI         </vt:lpstr>
      <vt:lpstr>Case Study 2: Facebook’s Algorithm and Misinformation         </vt:lpstr>
      <vt:lpstr>Summary         </vt:lpstr>
      <vt:lpstr>Practice with Google COLAB</vt:lpstr>
      <vt:lpstr>الشراكات العالمية</vt:lpstr>
      <vt:lpstr>شــــــكــــرًا لكــــــم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asus</dc:creator>
  <cp:keywords/>
  <dc:description/>
  <cp:lastModifiedBy>Afshan Hashmi</cp:lastModifiedBy>
  <cp:revision>18</cp:revision>
  <dcterms:modified xsi:type="dcterms:W3CDTF">2025-03-20T14:09:49Z</dcterms:modified>
  <cp:category/>
</cp:coreProperties>
</file>