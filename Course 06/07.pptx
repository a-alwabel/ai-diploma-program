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83" r:id="rId4"/>
    <p:sldId id="278" r:id="rId5"/>
    <p:sldId id="262" r:id="rId6"/>
    <p:sldId id="292" r:id="rId7"/>
    <p:sldId id="293" r:id="rId8"/>
    <p:sldId id="277" r:id="rId9"/>
    <p:sldId id="263" r:id="rId10"/>
    <p:sldId id="280" r:id="rId11"/>
    <p:sldId id="281" r:id="rId12"/>
    <p:sldId id="279" r:id="rId13"/>
    <p:sldId id="264" r:id="rId14"/>
    <p:sldId id="275" r:id="rId15"/>
    <p:sldId id="276" r:id="rId16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18"/>
      <p:bold r:id="rId19"/>
    </p:embeddedFont>
    <p:embeddedFont>
      <p:font typeface="IBM Plex Sans Arabic Medium" panose="020B0603050203000203" pitchFamily="34" charset="-78"/>
      <p:regular r:id="rId20"/>
      <p:bold r:id="rId21"/>
    </p:embeddedFont>
    <p:embeddedFont>
      <p:font typeface="IBM Plex Sans Arabic SemiBold" panose="020B0603050203000203" pitchFamily="34" charset="-78"/>
      <p:regular r:id="rId22"/>
      <p:bold r:id="rId23"/>
    </p:embeddedFont>
    <p:embeddedFont>
      <p:font typeface="Inter" panose="02000503000000020004" pitchFamily="2" charset="0"/>
      <p:regular r:id="rId24"/>
      <p:bold r:id="rId25"/>
      <p:italic r:id="rId26"/>
      <p:boldItalic r:id="rId27"/>
    </p:embeddedFont>
    <p:embeddedFont>
      <p:font typeface="Proxima Nova" panose="02000506030000020004" pitchFamily="2" charset="0"/>
      <p:regular r:id="rId28"/>
      <p:bold r:id="rId29"/>
      <p:italic r:id="rId30"/>
      <p:boldItalic r:id="rId31"/>
    </p:embeddedFont>
    <p:embeddedFont>
      <p:font typeface="Tajawal" pitchFamily="2" charset="-78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9"/>
    <p:restoredTop sz="94795"/>
  </p:normalViewPr>
  <p:slideViewPr>
    <p:cSldViewPr snapToGrid="0">
      <p:cViewPr varScale="1">
        <p:scale>
          <a:sx n="143" d="100"/>
          <a:sy n="143" d="100"/>
        </p:scale>
        <p:origin x="200" y="472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4A78B76-62B2-720F-0663-7EA9E4AF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>
            <a:extLst>
              <a:ext uri="{FF2B5EF4-FFF2-40B4-BE49-F238E27FC236}">
                <a16:creationId xmlns:a16="http://schemas.microsoft.com/office/drawing/2014/main" id="{E71FD78D-B2F4-061B-E2CF-D4645C7CE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2D5F95AC-4BE9-592F-B9CC-7EA3E132D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51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B3C1697-B084-05E3-C13E-BE3EF69ED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68C44ACD-D458-7FEA-FEB6-C77E12E22A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0984E2B4-D57D-759F-1EDE-C9449CBFEE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2691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80269A3-5560-BDB8-46EE-A64259A2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A3D38E7C-B439-BC09-437D-686B732500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D3A85EBA-D9AC-AE46-7B4F-D352EF0DD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5954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33E31C8-D5E9-2017-AE3F-9CE690F7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71F4956-9A8B-D2BD-69BC-C7A200A2F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135EAFF3-6059-1547-52B9-ABA6113E5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2655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2FD3765-EAED-DEAA-F202-47452EF5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A4B8B846-D594-5968-110D-4A6C32ADC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36F71B47-EEE0-462C-30C8-4394CB3D9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74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C258A9D-A903-972A-54CE-191CD3C1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513CD135-D317-19AE-28B2-DAB058C91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F4A13D7A-CEED-A744-F91A-9267CBA63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519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D632F3D-C937-B6D2-C266-CA14125B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CAEA659F-F76B-70DA-33BF-98B5D905D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5484CAF9-1631-9FBF-768B-787DB0C58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096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cato.org/policy-analysis/right-financial-privacy" TargetMode="Externa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iabac.org/blog/ai-and-privacy-balancing-innovation-with-data-protection" TargetMode="Externa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52526"/>
              </a:buClr>
              <a:buSzPts val="1800"/>
              <a:buFont typeface="IBM Plex Sans Arabic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Artificial Intelligence Ethics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1137037"/>
            <a:ext cx="8520600" cy="166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dirty="0">
                <a:latin typeface="Calibri"/>
                <a:ea typeface="Calibri"/>
                <a:cs typeface="Calibri"/>
                <a:sym typeface="Calibri"/>
              </a:rPr>
              <a:t>Data protection strategies and technologies</a:t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B5CE4-0EE9-BB9A-CFDC-D7BF167F4AAE}"/>
              </a:ext>
            </a:extLst>
          </p:cNvPr>
          <p:cNvSpPr txBox="1"/>
          <p:nvPr/>
        </p:nvSpPr>
        <p:spPr>
          <a:xfrm>
            <a:off x="3014382" y="2417861"/>
            <a:ext cx="4648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>
              <a:spcBef>
                <a:spcPts val="1200"/>
              </a:spcBef>
              <a:spcAft>
                <a:spcPts val="200"/>
              </a:spcAft>
            </a:pPr>
            <a:r>
              <a:rPr lang="en-GB" sz="1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Privacy and Security by Design</a:t>
            </a:r>
            <a:endParaRPr lang="en-GB" b="1" i="0" u="none" strike="noStrike" dirty="0">
              <a:solidFill>
                <a:srgbClr val="000000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355978" y="622430"/>
            <a:ext cx="8029070" cy="261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lang="en-GB" sz="2800" b="1" i="0" u="none" strike="noStrike" dirty="0">
              <a:solidFill>
                <a:srgbClr val="000000"/>
              </a:solidFill>
              <a:effectLst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GB"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GB" dirty="0"/>
              <a:t>Explain encryption techniques and secure data storage methods.</a:t>
            </a: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GB" dirty="0"/>
              <a:t>Differentiate between anonymization and pseudonymization.</a:t>
            </a: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GB" dirty="0"/>
              <a:t>Understand secure multi-party computation and homomorphic encryption. </a:t>
            </a:r>
          </a:p>
          <a:p>
            <a:pPr marL="342900" marR="0" lvl="0" indent="-34290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en-GB" dirty="0"/>
              <a:t>Apply secure software development practices to prevent vulnerabilities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BBFEC59-2F9A-F1A0-822E-D0C14DF8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>
            <a:extLst>
              <a:ext uri="{FF2B5EF4-FFF2-40B4-BE49-F238E27FC236}">
                <a16:creationId xmlns:a16="http://schemas.microsoft.com/office/drawing/2014/main" id="{814E9543-CA25-5AF4-BD0C-4BBE3828E304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>
            <a:extLst>
              <a:ext uri="{FF2B5EF4-FFF2-40B4-BE49-F238E27FC236}">
                <a16:creationId xmlns:a16="http://schemas.microsoft.com/office/drawing/2014/main" id="{4025FB2A-478B-7FBC-5819-20CB112C3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849" y="177900"/>
            <a:ext cx="6488264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Encryption Techniques and Secure Data Storage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US" sz="1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endParaRPr sz="3200" dirty="0"/>
          </a:p>
        </p:txBody>
      </p:sp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8E7AD6B6-47C7-C90A-7843-8B2A94B3A678}"/>
              </a:ext>
            </a:extLst>
          </p:cNvPr>
          <p:cNvSpPr txBox="1"/>
          <p:nvPr/>
        </p:nvSpPr>
        <p:spPr>
          <a:xfrm>
            <a:off x="2371061" y="4038281"/>
            <a:ext cx="344220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8F72F7-DAF2-5A28-FAA8-1D714541F87F}"/>
              </a:ext>
            </a:extLst>
          </p:cNvPr>
          <p:cNvSpPr txBox="1"/>
          <p:nvPr/>
        </p:nvSpPr>
        <p:spPr>
          <a:xfrm>
            <a:off x="568916" y="699272"/>
            <a:ext cx="7131766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Encryption is the process of converting data into a coded format to prevent unauthorized access. Secure data storage ensures that encrypted data is stored safely.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How it works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Symmetric Encryption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Uses a single key for both encryption and decryption (e.g., AES).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Asymmetric Encryption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Uses a pair of keys (public and private) for encryption and decryption (e.g., RSA).</a:t>
            </a:r>
          </a:p>
          <a:p>
            <a:pPr marL="742950" lvl="1" indent="-285750" algn="l">
              <a:spcBef>
                <a:spcPts val="300"/>
              </a:spcBef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Secure Storage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Encrypted data is stored in secure environments like encrypted databases, hardware security modules (HSMs), or cloud storage with encryption at rest.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lang="en-GB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</p:txBody>
      </p:sp>
      <p:pic>
        <p:nvPicPr>
          <p:cNvPr id="6" name="Picture 5" descr="A key on a computer screen&#10;&#10;AI-generated content may be incorrect.">
            <a:extLst>
              <a:ext uri="{FF2B5EF4-FFF2-40B4-BE49-F238E27FC236}">
                <a16:creationId xmlns:a16="http://schemas.microsoft.com/office/drawing/2014/main" id="{B7F2B5EC-B7F5-7955-1977-6EDEABE72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249149" y="3412276"/>
            <a:ext cx="2850776" cy="16035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E9B768-C051-7FA2-E64C-D260D2ABBC29}"/>
              </a:ext>
            </a:extLst>
          </p:cNvPr>
          <p:cNvSpPr txBox="1"/>
          <p:nvPr/>
        </p:nvSpPr>
        <p:spPr>
          <a:xfrm>
            <a:off x="179294" y="3730871"/>
            <a:ext cx="6069855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Why it’s important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Protects sensitive data from breaches and unauthorized access.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Ensures compliance with data protection regulations (e.g., GDPR, HIPAA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 Anonymization and Pseudonymization of Personal Data</a:t>
            </a:r>
            <a:br>
              <a:rPr lang="en-GB" sz="800" dirty="0">
                <a:latin typeface="-webkit-standard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3C0BA-34FF-C753-8C9E-0C1B3E5E1904}"/>
              </a:ext>
            </a:extLst>
          </p:cNvPr>
          <p:cNvSpPr txBox="1"/>
          <p:nvPr/>
        </p:nvSpPr>
        <p:spPr>
          <a:xfrm>
            <a:off x="1277925" y="1074635"/>
            <a:ext cx="581361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b="1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457200" lvl="1" algn="l">
              <a:spcBef>
                <a:spcPts val="300"/>
              </a:spcBef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Anonymization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Irreversibly removing personally identifiable information (PII) so that the data cannot be linked back to an individual.</a:t>
            </a:r>
          </a:p>
          <a:p>
            <a:pPr marL="457200" lvl="1" algn="l">
              <a:spcBef>
                <a:spcPts val="300"/>
              </a:spcBef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Pseudonymization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Replacing PII with pseudonyms (e.g., unique identifiers) so that the data can only be re-identified with additional information.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How it works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</a:t>
            </a:r>
          </a:p>
          <a:p>
            <a:pPr marL="457200" lvl="1" algn="l">
              <a:spcBef>
                <a:spcPts val="300"/>
              </a:spcBef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Anonymization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Techniques include data masking, generalization, and noise addition.</a:t>
            </a:r>
          </a:p>
          <a:p>
            <a:pPr marL="457200" lvl="1" algn="l">
              <a:spcBef>
                <a:spcPts val="300"/>
              </a:spcBef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Pseudonymization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 Techniques include tokenization and encryption with key management.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GB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Why it’s important</a:t>
            </a: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</a:t>
            </a:r>
          </a:p>
          <a:p>
            <a:pPr marL="457200" lvl="1" algn="l">
              <a:spcBef>
                <a:spcPts val="300"/>
              </a:spcBef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Reduces the risk of data breaches and misuse.</a:t>
            </a:r>
          </a:p>
          <a:p>
            <a:pPr marL="457200" lvl="1" algn="l">
              <a:spcBef>
                <a:spcPts val="300"/>
              </a:spcBef>
            </a:pPr>
            <a:r>
              <a:rPr lang="en-GB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Helps comply with privacy laws like GDPR, which encourage pseudonymization as a best practice.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8F330CF1-DD7A-B02D-AF90-C9CE1FED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743B2117-F5BB-54E6-135D-348505E9D6FC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8503671" y="858921"/>
            <a:ext cx="2919942" cy="207225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08F3A7DE-9BCD-86A8-F616-1E0EA95DE2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 Anonymization of Personal Data</a:t>
            </a:r>
            <a:br>
              <a:rPr lang="en-GB" sz="800" dirty="0">
                <a:latin typeface="-webkit-standard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8E7E0-40E8-620A-A441-0BFA77F8FF7A}"/>
              </a:ext>
            </a:extLst>
          </p:cNvPr>
          <p:cNvSpPr txBox="1"/>
          <p:nvPr/>
        </p:nvSpPr>
        <p:spPr>
          <a:xfrm>
            <a:off x="470647" y="1017885"/>
            <a:ext cx="77282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Anonymization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involves removing personally identifiable information from data, making it impossible to trace back to an individual. 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Anonymized data cannot be re-identified, ensuring privacy protection. 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800" dirty="0">
              <a:latin typeface="-webkit-standard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This is often used in research or when sharing data publicly for analysis.</a:t>
            </a:r>
            <a:endParaRPr lang="en-US" sz="1800" dirty="0"/>
          </a:p>
        </p:txBody>
      </p:sp>
      <p:pic>
        <p:nvPicPr>
          <p:cNvPr id="2052" name="Picture 4" descr="Pseudonymization according to the GDPR [definitions and examples] – Data  Privacy Manager">
            <a:extLst>
              <a:ext uri="{FF2B5EF4-FFF2-40B4-BE49-F238E27FC236}">
                <a16:creationId xmlns:a16="http://schemas.microsoft.com/office/drawing/2014/main" id="{6F7F9E8D-A4C7-26BB-BF00-66BC245E9B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48"/>
          <a:stretch/>
        </p:blipFill>
        <p:spPr bwMode="auto">
          <a:xfrm>
            <a:off x="1156447" y="2907065"/>
            <a:ext cx="6798833" cy="211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25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F7C4E602-8CDD-A69F-8F34-2EEA56B81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96CE9DD5-117E-9A71-FE50-9993580EEEA0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8503671" y="858921"/>
            <a:ext cx="2919942" cy="207225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618EC48B-8999-F2EC-3BF0-E56A7FC462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 Pseudonymization of Personal Data</a:t>
            </a:r>
            <a:br>
              <a:rPr lang="en-GB" sz="800" dirty="0">
                <a:latin typeface="-webkit-standard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15949-81E4-AC93-B1B7-E53982FEA4CC}"/>
              </a:ext>
            </a:extLst>
          </p:cNvPr>
          <p:cNvSpPr txBox="1"/>
          <p:nvPr/>
        </p:nvSpPr>
        <p:spPr>
          <a:xfrm>
            <a:off x="816112" y="759930"/>
            <a:ext cx="73776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Pseudonymization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replaces identifiable data elements (e.g., names or addresses) with artificial identifiers or pseudonyms, allowing the data to be processed without directly identifying individuals. 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Unlike anonymization, pseudonymized data can potentially be re-identified if the pseudonymization key is available.</a:t>
            </a:r>
            <a:endParaRPr lang="en-US" sz="1800" dirty="0"/>
          </a:p>
        </p:txBody>
      </p:sp>
      <p:pic>
        <p:nvPicPr>
          <p:cNvPr id="4098" name="Picture 2" descr="Pseudonymization according to the GDPR [definitions and examples] – Data  Privacy Manager">
            <a:extLst>
              <a:ext uri="{FF2B5EF4-FFF2-40B4-BE49-F238E27FC236}">
                <a16:creationId xmlns:a16="http://schemas.microsoft.com/office/drawing/2014/main" id="{7BD5D3BD-424A-1212-1121-3F15A38D8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591670" y="3039035"/>
            <a:ext cx="7960659" cy="218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450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D1E245C-17DD-8426-7E86-225321D3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67DA5825-D171-C6C9-BDA7-CE6B9486639F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7553001" y="409166"/>
            <a:ext cx="4065135" cy="272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12EC5BCB-C707-1B44-6F65-65EAE68BC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Secure Multi-Party Computation (SMPC)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371E8-9E40-6928-61CD-F16B01567D60}"/>
              </a:ext>
            </a:extLst>
          </p:cNvPr>
          <p:cNvSpPr txBox="1"/>
          <p:nvPr/>
        </p:nvSpPr>
        <p:spPr>
          <a:xfrm>
            <a:off x="331694" y="695433"/>
            <a:ext cx="540899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What it is: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 cryptographic technique that allows multiple parties to jointly compute a function over their inputs while keeping those inputs private.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How it works: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Data is split into shares and distributed among parties.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Computations are performed on the shares without revealing the actual data.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The final result is reconstructed without exposing individual inputs.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Why it’s important: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Enables collaboration on sensitive data without sharing raw data (e.g., financial institutions 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</a:rPr>
              <a:t>analyzing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 fraud patterns).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Enhances privacy in distributed systems.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endParaRPr lang="en-US" sz="1600" dirty="0"/>
          </a:p>
        </p:txBody>
      </p:sp>
      <p:pic>
        <p:nvPicPr>
          <p:cNvPr id="5122" name="Picture 2" descr="Secure multiparty computation explained ...">
            <a:extLst>
              <a:ext uri="{FF2B5EF4-FFF2-40B4-BE49-F238E27FC236}">
                <a16:creationId xmlns:a16="http://schemas.microsoft.com/office/drawing/2014/main" id="{4165B8C6-2921-E34B-DA97-D1EDEC411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693" y="1577787"/>
            <a:ext cx="3238462" cy="215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152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77203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400" dirty="0">
                <a:solidFill>
                  <a:srgbClr val="7030A0"/>
                </a:solidFill>
              </a:rPr>
              <a:t>Homomorphic Encryption</a:t>
            </a:r>
            <a:br>
              <a:rPr lang="en-GB" sz="12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EE3B9-71A5-C3A5-5B8D-5B0EC2BC009F}"/>
              </a:ext>
            </a:extLst>
          </p:cNvPr>
          <p:cNvSpPr txBox="1"/>
          <p:nvPr/>
        </p:nvSpPr>
        <p:spPr>
          <a:xfrm>
            <a:off x="331694" y="756989"/>
            <a:ext cx="5118847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 What it is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</a:t>
            </a:r>
            <a:b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A form of encryption that allows computations to be performed on encrypted data without decrypting it first.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How it works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</a:t>
            </a:r>
          </a:p>
          <a:p>
            <a:pPr marL="457200" lvl="1" algn="l">
              <a:spcBef>
                <a:spcPts val="300"/>
              </a:spcBef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Data remains encrypted during processing.</a:t>
            </a:r>
          </a:p>
          <a:p>
            <a:pPr marL="457200" lvl="1" algn="l">
              <a:spcBef>
                <a:spcPts val="300"/>
              </a:spcBef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The result of the computation is also encrypted and can only be decrypted by the authorized party.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Why it’s important</a:t>
            </a: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:</a:t>
            </a:r>
          </a:p>
          <a:p>
            <a:pPr marL="457200" lvl="1" algn="l">
              <a:spcBef>
                <a:spcPts val="300"/>
              </a:spcBef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Enables secure outsourcing of data processing (e.g., cloud computing).</a:t>
            </a:r>
          </a:p>
          <a:p>
            <a:pPr marL="457200" lvl="1" algn="l">
              <a:spcBef>
                <a:spcPts val="300"/>
              </a:spcBef>
            </a:pPr>
            <a:r>
              <a:rPr lang="en-GB" sz="16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Protects sensitive data during analysis (e.g., healthcare data).</a:t>
            </a:r>
          </a:p>
        </p:txBody>
      </p:sp>
      <p:pic>
        <p:nvPicPr>
          <p:cNvPr id="6146" name="Picture 2" descr="What is Homomorphic Encryption ...">
            <a:extLst>
              <a:ext uri="{FF2B5EF4-FFF2-40B4-BE49-F238E27FC236}">
                <a16:creationId xmlns:a16="http://schemas.microsoft.com/office/drawing/2014/main" id="{44164A0E-4900-1145-A4F6-E0DA7DBC5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1417" y="1428807"/>
            <a:ext cx="3809808" cy="228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5718A45-9D95-C2EE-3EBA-FE320D4D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0421EDE4-2722-9699-8229-BBD15CBA743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C51D873F-7159-798E-07AF-834574BB51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b="1" i="0" u="none" strike="noStrike" dirty="0">
                <a:solidFill>
                  <a:srgbClr val="7030A0"/>
                </a:solidFill>
                <a:effectLst/>
              </a:rPr>
              <a:t>Building Privacy and Security into AI Systems from the Start</a:t>
            </a:r>
            <a:br>
              <a:rPr lang="en-GB" sz="1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2ECBC-0DCF-D00B-181E-DA886B1AF131}"/>
              </a:ext>
            </a:extLst>
          </p:cNvPr>
          <p:cNvSpPr txBox="1"/>
          <p:nvPr/>
        </p:nvSpPr>
        <p:spPr>
          <a:xfrm>
            <a:off x="0" y="695433"/>
            <a:ext cx="53519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AI systems often process sensitive data, making it crucial to embed privacy and security measures from the early design phase.</a:t>
            </a: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Key principles include: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Data Minimization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Collect only the data necessary for the task.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Differential Privacy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Introduce controlled noise into datasets to protect individual privacy.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Federated Learning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Train models on decentralized data to prevent unnecessary data sharing.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Explainability &amp; Transparency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Ensure AI decisions are interpretable and bias-free.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Secure Data Handling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 Encrypt sensitive data and apply strict access controls.</a:t>
            </a:r>
          </a:p>
        </p:txBody>
      </p:sp>
      <p:pic>
        <p:nvPicPr>
          <p:cNvPr id="6" name="Picture 5" descr="A close-up of a lock and a key&#10;&#10;AI-generated content may be incorrect.">
            <a:extLst>
              <a:ext uri="{FF2B5EF4-FFF2-40B4-BE49-F238E27FC236}">
                <a16:creationId xmlns:a16="http://schemas.microsoft.com/office/drawing/2014/main" id="{9F2C3A35-0585-4187-2E60-A614C075A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278418" y="1323291"/>
            <a:ext cx="3748742" cy="255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3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16E74AFF-9E6A-B59F-07FE-B08EB98F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5C9F185F-9174-9E5C-E991-EF27C52404B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2448462" y="2203931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6317E372-497F-291B-3C05-C30A3E0FA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Privacy-Enhancing Technologies (PETs)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dirty="0">
                <a:latin typeface="Calibri"/>
                <a:cs typeface="Calibri"/>
              </a:rPr>
            </a:br>
            <a:br>
              <a:rPr lang="en-GB" sz="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1022B-4843-30B5-11DF-5F779BD7E81D}"/>
              </a:ext>
            </a:extLst>
          </p:cNvPr>
          <p:cNvSpPr txBox="1"/>
          <p:nvPr/>
        </p:nvSpPr>
        <p:spPr>
          <a:xfrm>
            <a:off x="397821" y="865224"/>
            <a:ext cx="508857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Privacy-enhancing technologies (PETs) help protect user data and minimize privacy risks while allowing organizations to derive insights from data. Examples include: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Homomorphic Encryption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Enables computations on encrypted data without decrypting it.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Secure Multi-party Computation (SMPC)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Allows multiple parties to compute on combined data without revealing their inputs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Differential Privacy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Adds noise to datasets to prevent re-identification of individuals.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Zero-Knowledge Proofs (ZKPs)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Allow verification of data without revealing the actual data.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Synthetic Data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Generates artificial datasets with similar statistical properties to real data, ensuring privacy.</a:t>
            </a:r>
          </a:p>
        </p:txBody>
      </p:sp>
      <p:pic>
        <p:nvPicPr>
          <p:cNvPr id="7170" name="Picture 2" descr="Privacy Enhancing Technologies' Video ...">
            <a:extLst>
              <a:ext uri="{FF2B5EF4-FFF2-40B4-BE49-F238E27FC236}">
                <a16:creationId xmlns:a16="http://schemas.microsoft.com/office/drawing/2014/main" id="{E7663A37-D1B9-E38B-C86A-10A784AC3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789121"/>
            <a:ext cx="3810000" cy="231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5047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8E506D86-3564-A2D0-0191-99B8B5B0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FD303E6A-CAC2-50E7-C72E-84D25B190C99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E9DE5CF7-C686-E292-B9A8-3CD1C6C4E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Implementing Secure Software Development Practices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EA61B-41A4-430C-59FF-43AA647C76ED}"/>
              </a:ext>
            </a:extLst>
          </p:cNvPr>
          <p:cNvSpPr txBox="1"/>
          <p:nvPr/>
        </p:nvSpPr>
        <p:spPr>
          <a:xfrm>
            <a:off x="217785" y="835579"/>
            <a:ext cx="60664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Secure software development ensures that applications and AI models are resistant to security threats from the ground up. Best practices include: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Secure Coding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Follow secure coding guidelines (e.g., OWASP Top 10) to prevent vulnerabilities like SQL injection and cross-site scripting (XSS).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Regular Security Testing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457200" lvl="1"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Static Application Security Testing (SAST)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Identifies vulnerabilities in source code.</a:t>
            </a:r>
          </a:p>
          <a:p>
            <a:pPr marL="457200" lvl="1"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Dynamic Application Security Testing (DAST)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Tests running applications for security flaws.</a:t>
            </a:r>
          </a:p>
          <a:p>
            <a:pPr marL="457200" lvl="1"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Penetration Testing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Simulates real-world attacks to find weaknesses.</a:t>
            </a:r>
          </a:p>
          <a:p>
            <a:pPr marL="457200" lvl="1"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Code Reviews and Threat </a:t>
            </a:r>
            <a:r>
              <a:rPr lang="en-GB" b="1" i="0" u="none" strike="noStrike" dirty="0" err="1">
                <a:solidFill>
                  <a:srgbClr val="000000"/>
                </a:solidFill>
                <a:effectLst/>
              </a:rPr>
              <a:t>Modeling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Identify potential threats early in the development cycle.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Access Control and Authentication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: Use multi-factor authentication (MFA), role-based access control (RBAC), and secure APIs.</a:t>
            </a:r>
          </a:p>
        </p:txBody>
      </p:sp>
      <p:pic>
        <p:nvPicPr>
          <p:cNvPr id="8194" name="Picture 2" descr="Secure Software Development ...">
            <a:extLst>
              <a:ext uri="{FF2B5EF4-FFF2-40B4-BE49-F238E27FC236}">
                <a16:creationId xmlns:a16="http://schemas.microsoft.com/office/drawing/2014/main" id="{F5BEAB99-481B-1584-E91F-6147A52C8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32"/>
          <a:stretch/>
        </p:blipFill>
        <p:spPr bwMode="auto">
          <a:xfrm>
            <a:off x="5907741" y="1829360"/>
            <a:ext cx="3188253" cy="1484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1646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Summary Table</a:t>
            </a:r>
            <a:b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BECE60-7150-17F9-00FB-802951423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988054"/>
              </p:ext>
            </p:extLst>
          </p:nvPr>
        </p:nvGraphicFramePr>
        <p:xfrm>
          <a:off x="311150" y="1825626"/>
          <a:ext cx="8521701" cy="28956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418265874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328009946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40734878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effectLst/>
                        </a:rPr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Key Benefit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34108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Encryption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Protects data at rest and in transit.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Ensures confidentiality and integrity of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78735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Anonymization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Removes PII to prevent re-identification.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Reduces privacy risks and ensures compliance.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60731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Pseudonymization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Replaces PII with pseudonyms for reversible identification.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Balances data utility and privacy.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25977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Secure Multi-Party Computation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Enables joint computations without sharing raw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Facilitates collaboration while preserving privacy.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1027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Homomorphic Encryption</a:t>
                      </a:r>
                      <a:endParaRPr lang="en-GB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Allows computations on encrypted data.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</a:rPr>
                        <a:t>Enables secure data processing in untrusted environments.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52012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6138</TotalTime>
  <Words>1077</Words>
  <Application>Microsoft Macintosh PowerPoint</Application>
  <PresentationFormat>On-screen Show (16:9)</PresentationFormat>
  <Paragraphs>105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-webkit-standard</vt:lpstr>
      <vt:lpstr>Inter</vt:lpstr>
      <vt:lpstr>IBM Plex Sans Arabic Medium</vt:lpstr>
      <vt:lpstr>Times New Roman</vt:lpstr>
      <vt:lpstr>IBM Plex Sans Arabic SemiBold</vt:lpstr>
      <vt:lpstr>Calibri</vt:lpstr>
      <vt:lpstr>Proxima Nova</vt:lpstr>
      <vt:lpstr>Wingdings</vt:lpstr>
      <vt:lpstr>IBM Plex Sans Arabic</vt:lpstr>
      <vt:lpstr>Tajawal</vt:lpstr>
      <vt:lpstr>Simple Light</vt:lpstr>
      <vt:lpstr>أكـــــاديميــــة طــــويـــق</vt:lpstr>
      <vt:lpstr>      Data protection strategies and technologies </vt:lpstr>
      <vt:lpstr>PowerPoint Presentation</vt:lpstr>
      <vt:lpstr>Encryption Techniques and Secure Data Storage     </vt:lpstr>
      <vt:lpstr> Anonymization and Pseudonymization of Personal Data   </vt:lpstr>
      <vt:lpstr> Anonymization of Personal Data   </vt:lpstr>
      <vt:lpstr> Pseudonymization of Personal Data   </vt:lpstr>
      <vt:lpstr>Secure Multi-Party Computation (SMPC)    </vt:lpstr>
      <vt:lpstr>Homomorphic Encryption      </vt:lpstr>
      <vt:lpstr>Building Privacy and Security into AI Systems from the Start      </vt:lpstr>
      <vt:lpstr>Privacy-Enhancing Technologies (PETs)      </vt:lpstr>
      <vt:lpstr>Implementing Secure Software Development Practices      </vt:lpstr>
      <vt:lpstr>Summary Table      </vt:lpstr>
      <vt:lpstr>الشراكات العالمية</vt:lpstr>
      <vt:lpstr>شــــــكــــرًا لكــــــم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/>
  <cp:lastModifiedBy>Afshan Hashmi</cp:lastModifiedBy>
  <cp:revision>19</cp:revision>
  <dcterms:modified xsi:type="dcterms:W3CDTF">2025-03-13T12:28:29Z</dcterms:modified>
  <cp:category/>
</cp:coreProperties>
</file>