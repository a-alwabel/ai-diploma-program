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83" r:id="rId4"/>
    <p:sldId id="278" r:id="rId5"/>
    <p:sldId id="262" r:id="rId6"/>
    <p:sldId id="321" r:id="rId7"/>
    <p:sldId id="322" r:id="rId8"/>
    <p:sldId id="323" r:id="rId9"/>
    <p:sldId id="324" r:id="rId10"/>
    <p:sldId id="277" r:id="rId11"/>
    <p:sldId id="263" r:id="rId12"/>
    <p:sldId id="325" r:id="rId13"/>
    <p:sldId id="326" r:id="rId14"/>
    <p:sldId id="327" r:id="rId15"/>
    <p:sldId id="328" r:id="rId16"/>
    <p:sldId id="329" r:id="rId17"/>
    <p:sldId id="330" r:id="rId18"/>
    <p:sldId id="331" r:id="rId19"/>
    <p:sldId id="332" r:id="rId20"/>
    <p:sldId id="333" r:id="rId21"/>
    <p:sldId id="334" r:id="rId22"/>
    <p:sldId id="335" r:id="rId23"/>
    <p:sldId id="336" r:id="rId24"/>
    <p:sldId id="337" r:id="rId25"/>
    <p:sldId id="265" r:id="rId26"/>
    <p:sldId id="320" r:id="rId27"/>
    <p:sldId id="275" r:id="rId28"/>
    <p:sldId id="276" r:id="rId29"/>
  </p:sldIdLst>
  <p:sldSz cx="9144000" cy="5143500" type="screen16x9"/>
  <p:notesSz cx="6858000" cy="9144000"/>
  <p:embeddedFontLst>
    <p:embeddedFont>
      <p:font typeface="IBM Plex Sans Arabic" panose="020B0603050203000203" pitchFamily="34" charset="-78"/>
      <p:regular r:id="rId31"/>
      <p:bold r:id="rId32"/>
    </p:embeddedFont>
    <p:embeddedFont>
      <p:font typeface="IBM Plex Sans Arabic Medium" panose="020B0603050203000203" pitchFamily="34" charset="-78"/>
      <p:regular r:id="rId33"/>
      <p:bold r:id="rId34"/>
    </p:embeddedFont>
    <p:embeddedFont>
      <p:font typeface="IBM Plex Sans Arabic SemiBold" panose="020B0603050203000203" pitchFamily="34" charset="-78"/>
      <p:regular r:id="rId35"/>
      <p:bold r:id="rId36"/>
    </p:embeddedFont>
    <p:embeddedFont>
      <p:font typeface="Inter" panose="02000503000000020004" pitchFamily="2" charset="0"/>
      <p:regular r:id="rId37"/>
      <p:bold r:id="rId38"/>
      <p:italic r:id="rId39"/>
      <p:boldItalic r:id="rId40"/>
    </p:embeddedFont>
    <p:embeddedFont>
      <p:font typeface="Proxima Nova" panose="02000506030000020004" pitchFamily="2" charset="0"/>
      <p:regular r:id="rId41"/>
      <p:bold r:id="rId42"/>
      <p:italic r:id="rId43"/>
      <p:boldItalic r:id="rId44"/>
    </p:embeddedFont>
    <p:embeddedFont>
      <p:font typeface="Tajawal" pitchFamily="2" charset="-78"/>
      <p:regular r:id="rId45"/>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4"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29"/>
    <p:restoredTop sz="94795"/>
  </p:normalViewPr>
  <p:slideViewPr>
    <p:cSldViewPr snapToGrid="0">
      <p:cViewPr varScale="1">
        <p:scale>
          <a:sx n="160" d="100"/>
          <a:sy n="160" d="100"/>
        </p:scale>
        <p:origin x="1064" y="184"/>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64"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4A78B76-62B2-720F-0663-7EA9E4AF05F7}"/>
            </a:ext>
          </a:extLst>
        </p:cNvPr>
        <p:cNvGrpSpPr/>
        <p:nvPr/>
      </p:nvGrpSpPr>
      <p:grpSpPr>
        <a:xfrm>
          <a:off x="0" y="0"/>
          <a:ext cx="0" cy="0"/>
          <a:chOff x="0" y="0"/>
          <a:chExt cx="0" cy="0"/>
        </a:xfrm>
      </p:grpSpPr>
      <p:sp>
        <p:nvSpPr>
          <p:cNvPr id="72" name="Google Shape;72;p6:notes">
            <a:extLst>
              <a:ext uri="{FF2B5EF4-FFF2-40B4-BE49-F238E27FC236}">
                <a16:creationId xmlns:a16="http://schemas.microsoft.com/office/drawing/2014/main" id="{E71FD78D-B2F4-061B-E2CF-D4645C7CE3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6:notes">
            <a:extLst>
              <a:ext uri="{FF2B5EF4-FFF2-40B4-BE49-F238E27FC236}">
                <a16:creationId xmlns:a16="http://schemas.microsoft.com/office/drawing/2014/main" id="{2D5F95AC-4BE9-592F-B9CC-7EA3E132D1D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03514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10846550-D021-2E3F-359C-C4694091474E}"/>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E5A79FD6-1EA4-E6F9-162C-5E047FB5E6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95CC2B4F-02A4-9136-74FE-D034AFE996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85195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40A968E5-8EE1-1678-464A-C148C972A4FA}"/>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8C8FED41-D419-193E-B4AE-B9F42BF17C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8382F69B-FDCB-039C-AB4F-73F6841C35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04519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8BC49CF4-69FB-1AC1-0178-1646B28E5545}"/>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DC3EADCB-1536-0D9B-796C-2E7BBCE521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03C6BFD2-03B8-6A92-0F3F-50D7E8AD7D2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05132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9FF2738B-584C-EB87-E286-9B9CBD549B5D}"/>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1466D38B-4441-F18C-E970-23A8531CB0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905DA757-FE10-EB5B-8519-CEF36657932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21020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033E31C8-D5E9-2017-AE3F-9CE690F73605}"/>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171F4956-9A8B-D2BD-69BC-C7A200A2F5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135EAFF3-6059-1547-52B9-ABA6113E56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07265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539064D4-8625-E8DF-3D56-DCF1E71DAAF7}"/>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5560F558-E114-0868-CD92-DAC7DA1632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EA1C30F9-6DED-6E83-21B6-46913D3EE43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018668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F2DE64F8-845B-F0EF-2E12-04DD5EDF47BA}"/>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218EE8A1-63A0-8C75-C83E-4832B6B4ED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1E5C4BBF-E771-BD11-CE39-45BFDB33A4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38940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5454520D-7DDA-2C02-452F-259437B9EFD7}"/>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541CCFE8-5781-9EF9-5C88-0274F82163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222A94BF-02D4-1DB8-1DD5-AF7593994CF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198609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D499F595-735C-A585-FF4E-187A82FB852E}"/>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A85A31B1-A730-D940-42C5-FBE65940B0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91A5B224-CB7D-9A0C-91C5-0488FE31751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32587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B1C2AA8A-3039-C2AD-EEB1-7A00ACE7267E}"/>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C62E6A2B-91A9-E54E-8378-61FEF2B5B8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A97206CA-29C9-7E21-4165-75ADA00B79D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25648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26E8ABA1-F251-14D3-400D-ABC5067E89DE}"/>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43DEE1BB-1CD0-87BF-8F47-469F6A5034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8FF35F72-9873-A362-E65A-D2C6ED87951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396015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2D57D68B-0B3E-4477-2D6B-AC1800F9D972}"/>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73F51105-36E5-CD0B-A829-81AE2E545E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59F2388A-66FE-3ACA-DCED-179EF167C00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342128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E1302474-2C0B-576B-A37C-39963986EBCF}"/>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FE540899-78E0-826B-4A91-A56086A3FB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5031C40A-19B2-A3F0-9435-552E0E4833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372920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16892001-E380-D6A7-73B9-D874EEB029E0}"/>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7B0B9D3C-450A-74D9-E992-C47093987B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E8F0CFFB-D86D-561F-7673-CC70709F7C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827053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92A33176-BA36-F359-9630-F28077A5CED0}"/>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2DABAC40-3EC9-76D7-855B-FF8F91D85B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7A7EFC1F-0DE1-2AA9-C76D-57F569729B8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271383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933DFA4-81CB-48D4-B35D-4EBF039B7198}"/>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8C0141FA-1F1F-5CD4-2867-81155BBB39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0331237A-DC34-105A-A324-B0F1B5D73A4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54678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81F08403-792B-08FD-6241-B3A325236D78}"/>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D4E92226-ABC4-C30E-6B9C-C678E9AF46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7152ECCF-E477-7967-385B-387B121EDE7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362541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B9D2301-1C61-270E-99C4-6740A27D747D}"/>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7CA6AA1C-8A95-4344-0C57-78D9E52B75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B066BB57-D9C9-2DDD-FCB9-10F9193BD4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385179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7380419-3B83-6C5F-7037-D9C16B72CD4F}"/>
            </a:ext>
          </a:extLst>
        </p:cNvPr>
        <p:cNvGrpSpPr/>
        <p:nvPr/>
      </p:nvGrpSpPr>
      <p:grpSpPr>
        <a:xfrm>
          <a:off x="0" y="0"/>
          <a:ext cx="0" cy="0"/>
          <a:chOff x="0" y="0"/>
          <a:chExt cx="0" cy="0"/>
        </a:xfrm>
      </p:grpSpPr>
      <p:sp>
        <p:nvSpPr>
          <p:cNvPr id="105" name="Google Shape;105;p10:notes">
            <a:extLst>
              <a:ext uri="{FF2B5EF4-FFF2-40B4-BE49-F238E27FC236}">
                <a16:creationId xmlns:a16="http://schemas.microsoft.com/office/drawing/2014/main" id="{8F656EE4-F75A-8999-B3F4-7DF5B51DFC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10:notes">
            <a:extLst>
              <a:ext uri="{FF2B5EF4-FFF2-40B4-BE49-F238E27FC236}">
                <a16:creationId xmlns:a16="http://schemas.microsoft.com/office/drawing/2014/main" id="{ED33E920-EE85-D545-6CAF-F08715C20C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621566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29"/>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SzPts val="2500"/>
              <a:buNone/>
              <a:defRPr/>
            </a:lvl1pPr>
            <a:lvl2pPr lvl="1" algn="l" rtl="1">
              <a:lnSpc>
                <a:spcPct val="100000"/>
              </a:lnSpc>
              <a:spcBef>
                <a:spcPts val="0"/>
              </a:spcBef>
              <a:spcAft>
                <a:spcPts val="0"/>
              </a:spcAft>
              <a:buSzPts val="2800"/>
              <a:buNone/>
              <a:defRPr/>
            </a:lvl2pPr>
            <a:lvl3pPr lvl="2" algn="l" rtl="1">
              <a:lnSpc>
                <a:spcPct val="100000"/>
              </a:lnSpc>
              <a:spcBef>
                <a:spcPts val="0"/>
              </a:spcBef>
              <a:spcAft>
                <a:spcPts val="0"/>
              </a:spcAft>
              <a:buSzPts val="2800"/>
              <a:buNone/>
              <a:defRPr/>
            </a:lvl3pPr>
            <a:lvl4pPr lvl="3" algn="l" rtl="1">
              <a:lnSpc>
                <a:spcPct val="100000"/>
              </a:lnSpc>
              <a:spcBef>
                <a:spcPts val="0"/>
              </a:spcBef>
              <a:spcAft>
                <a:spcPts val="0"/>
              </a:spcAft>
              <a:buSzPts val="2800"/>
              <a:buNone/>
              <a:defRPr/>
            </a:lvl4pPr>
            <a:lvl5pPr lvl="4" algn="l" rtl="1">
              <a:lnSpc>
                <a:spcPct val="100000"/>
              </a:lnSpc>
              <a:spcBef>
                <a:spcPts val="0"/>
              </a:spcBef>
              <a:spcAft>
                <a:spcPts val="0"/>
              </a:spcAft>
              <a:buSzPts val="2800"/>
              <a:buNone/>
              <a:defRPr/>
            </a:lvl5pPr>
            <a:lvl6pPr lvl="5" algn="l" rtl="1">
              <a:lnSpc>
                <a:spcPct val="100000"/>
              </a:lnSpc>
              <a:spcBef>
                <a:spcPts val="0"/>
              </a:spcBef>
              <a:spcAft>
                <a:spcPts val="0"/>
              </a:spcAft>
              <a:buSzPts val="2800"/>
              <a:buNone/>
              <a:defRPr/>
            </a:lvl6pPr>
            <a:lvl7pPr lvl="6" algn="l" rtl="1">
              <a:lnSpc>
                <a:spcPct val="100000"/>
              </a:lnSpc>
              <a:spcBef>
                <a:spcPts val="0"/>
              </a:spcBef>
              <a:spcAft>
                <a:spcPts val="0"/>
              </a:spcAft>
              <a:buSzPts val="2800"/>
              <a:buNone/>
              <a:defRPr/>
            </a:lvl7pPr>
            <a:lvl8pPr lvl="7" algn="l" rtl="1">
              <a:lnSpc>
                <a:spcPct val="100000"/>
              </a:lnSpc>
              <a:spcBef>
                <a:spcPts val="0"/>
              </a:spcBef>
              <a:spcAft>
                <a:spcPts val="0"/>
              </a:spcAft>
              <a:buSzPts val="2800"/>
              <a:buNone/>
              <a:defRPr/>
            </a:lvl8pPr>
            <a:lvl9pPr lvl="8" algn="l" rtl="1">
              <a:lnSpc>
                <a:spcPct val="100000"/>
              </a:lnSpc>
              <a:spcBef>
                <a:spcPts val="0"/>
              </a:spcBef>
              <a:spcAft>
                <a:spcPts val="0"/>
              </a:spcAft>
              <a:buSzPts val="2800"/>
              <a:buNone/>
              <a:defRPr/>
            </a:lvl9pPr>
          </a:lstStyle>
          <a:p>
            <a:endParaRPr/>
          </a:p>
        </p:txBody>
      </p:sp>
      <p:sp>
        <p:nvSpPr>
          <p:cNvPr id="32" name="Google Shape;32;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3" name="Google Shape;33;p29"/>
          <p:cNvPicPr preferRelativeResize="0"/>
          <p:nvPr/>
        </p:nvPicPr>
        <p:blipFill rotWithShape="1">
          <a:blip r:embed="rId2">
            <a:alphaModFix/>
          </a:blip>
          <a:srcRect/>
          <a:stretch/>
        </p:blipFill>
        <p:spPr>
          <a:xfrm>
            <a:off x="7959271" y="4703039"/>
            <a:ext cx="946580" cy="21398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1">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27.xml"/><Relationship Id="rId16"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1200"/>
              </a:spcAft>
              <a:buClr>
                <a:srgbClr val="252526"/>
              </a:buClr>
              <a:buSzPts val="1800"/>
              <a:buFont typeface="IBM Plex Sans Arabic"/>
              <a:buNone/>
            </a:pPr>
            <a:r>
              <a:rPr lang="en-US" sz="3600" dirty="0">
                <a:solidFill>
                  <a:schemeClr val="lt1"/>
                </a:solidFill>
                <a:latin typeface="IBM Plex Sans Arabic Medium"/>
                <a:ea typeface="IBM Plex Sans Arabic Medium"/>
                <a:cs typeface="IBM Plex Sans Arabic Medium"/>
                <a:sym typeface="IBM Plex Sans Arabic Medium"/>
              </a:rPr>
              <a:t>Artificial Intelligence Ethics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8" y="1137037"/>
            <a:ext cx="8520600" cy="1660138"/>
          </a:xfrm>
          <a:prstGeom prst="rect">
            <a:avLst/>
          </a:prstGeom>
          <a:noFill/>
          <a:ln>
            <a:noFill/>
          </a:ln>
        </p:spPr>
        <p:txBody>
          <a:bodyPr spcFirstLastPara="1" wrap="square" lIns="91425" tIns="91425" rIns="91425" bIns="91425" anchor="b" anchorCtr="0">
            <a:normAutofit fontScale="90000"/>
          </a:bodyPr>
          <a:lstStyle/>
          <a:p>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dirty="0">
                <a:latin typeface="Calibri"/>
                <a:ea typeface="Calibri"/>
                <a:cs typeface="Calibri"/>
                <a:sym typeface="Calibri"/>
              </a:rPr>
            </a:br>
            <a:r>
              <a:rPr lang="en-GB" sz="4000" dirty="0">
                <a:latin typeface="Calibri"/>
                <a:ea typeface="Calibri"/>
                <a:cs typeface="Calibri"/>
                <a:sym typeface="Calibri"/>
              </a:rPr>
              <a:t>Building Accountable AI Systems</a:t>
            </a:r>
            <a:br>
              <a:rPr lang="en-GB" sz="3600" b="0" i="0" u="none" strike="noStrike" dirty="0">
                <a:solidFill>
                  <a:srgbClr val="7030A0"/>
                </a:solidFill>
                <a:effectLst/>
                <a:latin typeface="-webkit-standard"/>
              </a:rPr>
            </a:br>
            <a:br>
              <a:rPr lang="en-GB" sz="1800" dirty="0">
                <a:latin typeface="Calibri"/>
                <a:ea typeface="Calibri"/>
                <a:cs typeface="Calibri"/>
                <a:sym typeface="Calibri"/>
              </a:rPr>
            </a:br>
            <a:br>
              <a:rPr lang="en-GB" sz="1800" dirty="0">
                <a:latin typeface="Calibri"/>
                <a:ea typeface="Calibri"/>
                <a:cs typeface="Calibri"/>
                <a:sym typeface="Calibri"/>
              </a:rPr>
            </a:br>
            <a:endParaRPr lang="en-GB"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355978" y="622430"/>
            <a:ext cx="8029070" cy="4252406"/>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i="0" u="none" strike="noStrike" cap="none" dirty="0">
                <a:solidFill>
                  <a:srgbClr val="7030A0"/>
                </a:solidFill>
                <a:latin typeface="Arial"/>
                <a:ea typeface="Arial"/>
                <a:cs typeface="Arial"/>
                <a:sym typeface="Arial"/>
              </a:rPr>
              <a:t>Course Objectives:</a:t>
            </a:r>
          </a:p>
          <a:p>
            <a:pPr marL="457200" indent="-457200">
              <a:buFont typeface="+mj-lt"/>
              <a:buAutoNum type="arabicPeriod"/>
            </a:pPr>
            <a:r>
              <a:rPr lang="en-GB" sz="2400" b="1" dirty="0"/>
              <a:t>Understand the concept of accountable AI</a:t>
            </a:r>
            <a:r>
              <a:rPr lang="en-GB" sz="2400" dirty="0"/>
              <a:t> </a:t>
            </a:r>
          </a:p>
          <a:p>
            <a:pPr marL="457200" indent="-457200">
              <a:buFont typeface="+mj-lt"/>
              <a:buAutoNum type="arabicPeriod"/>
            </a:pPr>
            <a:r>
              <a:rPr lang="en-GB" sz="2400" b="1" dirty="0"/>
              <a:t>Identify key components of an AI accountability framework</a:t>
            </a:r>
          </a:p>
          <a:p>
            <a:pPr marL="457200" indent="-457200">
              <a:buFont typeface="+mj-lt"/>
              <a:buAutoNum type="arabicPeriod"/>
            </a:pPr>
            <a:r>
              <a:rPr lang="en-GB" sz="2400" b="1" dirty="0"/>
              <a:t>Explain the role of tracking and auditing mechanisms</a:t>
            </a:r>
            <a:r>
              <a:rPr lang="en-GB" sz="2400" dirty="0"/>
              <a:t> </a:t>
            </a:r>
          </a:p>
          <a:p>
            <a:pPr marL="457200" indent="-457200">
              <a:buFont typeface="+mj-lt"/>
              <a:buAutoNum type="arabicPeriod"/>
            </a:pPr>
            <a:r>
              <a:rPr lang="en-GB" sz="2400" b="1" dirty="0"/>
              <a:t>Evaluate human-in-the-loop (HITL) approaches</a:t>
            </a:r>
            <a:r>
              <a:rPr lang="en-GB" sz="2400" dirty="0"/>
              <a:t>.</a:t>
            </a:r>
          </a:p>
          <a:p>
            <a:pPr marL="457200" indent="-457200">
              <a:buFont typeface="+mj-lt"/>
              <a:buAutoNum type="arabicPeriod"/>
            </a:pPr>
            <a:r>
              <a:rPr lang="en-GB" sz="2400" b="1" dirty="0" err="1"/>
              <a:t>Analyze</a:t>
            </a:r>
            <a:r>
              <a:rPr lang="en-GB" sz="2400" b="1" dirty="0"/>
              <a:t> real-world case studies</a:t>
            </a:r>
            <a:r>
              <a:rPr lang="en-GB" sz="2400" dirty="0"/>
              <a:t> </a:t>
            </a:r>
          </a:p>
          <a:p>
            <a:pPr marL="457200" indent="-457200">
              <a:buFont typeface="+mj-lt"/>
              <a:buAutoNum type="arabicPeriod"/>
            </a:pPr>
            <a:r>
              <a:rPr lang="en-GB" sz="2400" b="1" dirty="0"/>
              <a:t>Apply best practices</a:t>
            </a:r>
            <a:r>
              <a:rPr lang="en-GB" sz="2400" dirty="0"/>
              <a:t>.</a:t>
            </a:r>
          </a:p>
          <a:p>
            <a:pPr marL="0" marR="0" lvl="0" indent="0" algn="just" rtl="0">
              <a:lnSpc>
                <a:spcPct val="125000"/>
              </a:lnSpc>
              <a:spcBef>
                <a:spcPts val="0"/>
              </a:spcBef>
              <a:spcAft>
                <a:spcPts val="0"/>
              </a:spcAft>
              <a:buNone/>
            </a:pPr>
            <a:endParaRPr lang="en-GB" sz="1800" b="0" i="0" u="none" strike="noStrike" cap="none" dirty="0">
              <a:solidFill>
                <a:srgbClr val="000000"/>
              </a:solidFill>
              <a:latin typeface="Proxima Nova"/>
              <a:ea typeface="Proxima Nova"/>
              <a:cs typeface="Proxima Nova"/>
              <a:sym typeface="Proxima Nova"/>
            </a:endParaRPr>
          </a:p>
          <a:p>
            <a:pPr marL="0" marR="0" lvl="0" indent="0" algn="just" rtl="0">
              <a:lnSpc>
                <a:spcPct val="125000"/>
              </a:lnSpc>
              <a:spcBef>
                <a:spcPts val="100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74">
          <a:extLst>
            <a:ext uri="{FF2B5EF4-FFF2-40B4-BE49-F238E27FC236}">
              <a16:creationId xmlns:a16="http://schemas.microsoft.com/office/drawing/2014/main" id="{1BBFEC59-2F9A-F1A0-822E-D0C14DF811AA}"/>
            </a:ext>
          </a:extLst>
        </p:cNvPr>
        <p:cNvGrpSpPr/>
        <p:nvPr/>
      </p:nvGrpSpPr>
      <p:grpSpPr>
        <a:xfrm>
          <a:off x="0" y="0"/>
          <a:ext cx="0" cy="0"/>
          <a:chOff x="0" y="0"/>
          <a:chExt cx="0" cy="0"/>
        </a:xfrm>
      </p:grpSpPr>
      <p:pic>
        <p:nvPicPr>
          <p:cNvPr id="75" name="Google Shape;75;p6">
            <a:extLst>
              <a:ext uri="{FF2B5EF4-FFF2-40B4-BE49-F238E27FC236}">
                <a16:creationId xmlns:a16="http://schemas.microsoft.com/office/drawing/2014/main" id="{814E9543-CA25-5AF4-BD0C-4BBE3828E304}"/>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76" name="Google Shape;76;p6">
            <a:extLst>
              <a:ext uri="{FF2B5EF4-FFF2-40B4-BE49-F238E27FC236}">
                <a16:creationId xmlns:a16="http://schemas.microsoft.com/office/drawing/2014/main" id="{4025FB2A-478B-7FBC-5819-20CB112C3CD4}"/>
              </a:ext>
            </a:extLst>
          </p:cNvPr>
          <p:cNvSpPr txBox="1">
            <a:spLocks noGrp="1"/>
          </p:cNvSpPr>
          <p:nvPr>
            <p:ph type="title"/>
          </p:nvPr>
        </p:nvSpPr>
        <p:spPr>
          <a:xfrm>
            <a:off x="190352" y="177900"/>
            <a:ext cx="7367761" cy="494528"/>
          </a:xfrm>
          <a:prstGeom prst="rect">
            <a:avLst/>
          </a:prstGeom>
          <a:noFill/>
          <a:ln>
            <a:noFill/>
          </a:ln>
        </p:spPr>
        <p:txBody>
          <a:bodyPr spcFirstLastPara="1" wrap="square" lIns="91425" tIns="91425" rIns="91425" bIns="91425" anchor="t" anchorCtr="0">
            <a:noAutofit/>
          </a:bodyPr>
          <a:lstStyle/>
          <a:p>
            <a:r>
              <a:rPr lang="en-GB" sz="2000" b="1" dirty="0"/>
              <a:t>Introduction to Accountable AI Systems</a:t>
            </a:r>
            <a:br>
              <a:rPr lang="en-GB" sz="2000" b="1" dirty="0"/>
            </a:br>
            <a:br>
              <a:rPr lang="en-GB" sz="2000" b="1" dirty="0"/>
            </a:br>
            <a:br>
              <a:rPr lang="en-GB" sz="1100" b="1" i="0" u="none" strike="noStrike" dirty="0">
                <a:solidFill>
                  <a:srgbClr val="000000"/>
                </a:solidFill>
                <a:effectLst/>
              </a:rPr>
            </a:br>
            <a:br>
              <a:rPr lang="en-US" sz="1000" dirty="0">
                <a:latin typeface="Calibri"/>
                <a:ea typeface="Calibri"/>
                <a:cs typeface="Calibri"/>
                <a:sym typeface="Calibri"/>
              </a:rPr>
            </a:br>
            <a:br>
              <a:rPr lang="en-GB" sz="1600" b="1" i="0" u="none" strike="noStrike" dirty="0">
                <a:solidFill>
                  <a:srgbClr val="000000"/>
                </a:solidFill>
                <a:effectLst/>
              </a:rPr>
            </a:br>
            <a:br>
              <a:rPr lang="en-GB" sz="1600" b="1" i="0" u="none" strike="noStrike" dirty="0">
                <a:solidFill>
                  <a:srgbClr val="404040"/>
                </a:solidFill>
                <a:effectLst/>
                <a:latin typeface="Inter" panose="02000503000000020004" pitchFamily="2" charset="0"/>
              </a:rPr>
            </a:br>
            <a:endParaRPr sz="3200" dirty="0"/>
          </a:p>
        </p:txBody>
      </p:sp>
      <p:sp>
        <p:nvSpPr>
          <p:cNvPr id="79" name="Google Shape;79;p6">
            <a:extLst>
              <a:ext uri="{FF2B5EF4-FFF2-40B4-BE49-F238E27FC236}">
                <a16:creationId xmlns:a16="http://schemas.microsoft.com/office/drawing/2014/main" id="{8E7AD6B6-47C7-C90A-7843-8B2A94B3A678}"/>
              </a:ext>
            </a:extLst>
          </p:cNvPr>
          <p:cNvSpPr txBox="1"/>
          <p:nvPr/>
        </p:nvSpPr>
        <p:spPr>
          <a:xfrm>
            <a:off x="2371061" y="4038281"/>
            <a:ext cx="344220"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dirty="0"/>
          </a:p>
        </p:txBody>
      </p:sp>
      <p:sp>
        <p:nvSpPr>
          <p:cNvPr id="3" name="TextBox 2">
            <a:extLst>
              <a:ext uri="{FF2B5EF4-FFF2-40B4-BE49-F238E27FC236}">
                <a16:creationId xmlns:a16="http://schemas.microsoft.com/office/drawing/2014/main" id="{833F09E0-3E99-80F4-C083-9054BA5CC6A5}"/>
              </a:ext>
            </a:extLst>
          </p:cNvPr>
          <p:cNvSpPr txBox="1"/>
          <p:nvPr/>
        </p:nvSpPr>
        <p:spPr>
          <a:xfrm>
            <a:off x="219403" y="862014"/>
            <a:ext cx="7978392" cy="3939540"/>
          </a:xfrm>
          <a:prstGeom prst="rect">
            <a:avLst/>
          </a:prstGeom>
          <a:noFill/>
        </p:spPr>
        <p:txBody>
          <a:bodyPr wrap="square">
            <a:spAutoFit/>
          </a:bodyPr>
          <a:lstStyle/>
          <a:p>
            <a:pPr algn="l">
              <a:buNone/>
            </a:pPr>
            <a:r>
              <a:rPr lang="en-GB" sz="1600" b="1" i="0" u="none" strike="noStrike" dirty="0">
                <a:solidFill>
                  <a:srgbClr val="404040"/>
                </a:solidFill>
                <a:effectLst/>
                <a:latin typeface="Inter" panose="02000503000000020004" pitchFamily="2" charset="0"/>
              </a:rPr>
              <a:t> </a:t>
            </a:r>
            <a:r>
              <a:rPr lang="en-GB" sz="1600" b="0" i="0" u="none" strike="noStrike" dirty="0">
                <a:solidFill>
                  <a:srgbClr val="404040"/>
                </a:solidFill>
                <a:effectLst/>
                <a:latin typeface="Inter" panose="02000503000000020004" pitchFamily="2" charset="0"/>
              </a:rPr>
              <a:t>Accountability in AI refers to the ability to assign responsibility for AI-driven decisions and actions. As AI systems become more autonomous, ensuring accountability is crucial to prevent harm, maintain trust, and comply with regulations.</a:t>
            </a:r>
          </a:p>
          <a:p>
            <a:pPr algn="l">
              <a:buNone/>
            </a:pPr>
            <a:r>
              <a:rPr lang="en-GB" sz="1600" b="1" i="0" u="none" strike="noStrike" dirty="0">
                <a:solidFill>
                  <a:srgbClr val="404040"/>
                </a:solidFill>
                <a:effectLst/>
                <a:latin typeface="Inter" panose="02000503000000020004" pitchFamily="2" charset="0"/>
              </a:rPr>
              <a:t>Key Objectives:</a:t>
            </a:r>
          </a:p>
          <a:p>
            <a:pPr algn="l">
              <a:buFont typeface="Arial" panose="020B0604020202020204" pitchFamily="34" charset="0"/>
              <a:buChar char="•"/>
            </a:pPr>
            <a:r>
              <a:rPr lang="en-GB" sz="1600" b="0" i="0" u="none" strike="noStrike" dirty="0">
                <a:solidFill>
                  <a:srgbClr val="404040"/>
                </a:solidFill>
                <a:effectLst/>
                <a:latin typeface="Inter" panose="02000503000000020004" pitchFamily="2" charset="0"/>
              </a:rPr>
              <a:t>Ensure transparency in AI decision-making.</a:t>
            </a:r>
          </a:p>
          <a:p>
            <a:pPr algn="l">
              <a:spcBef>
                <a:spcPts val="300"/>
              </a:spcBef>
              <a:buFont typeface="Arial" panose="020B0604020202020204" pitchFamily="34" charset="0"/>
              <a:buChar char="•"/>
            </a:pPr>
            <a:r>
              <a:rPr lang="en-GB" sz="1600" b="0" i="0" u="none" strike="noStrike" dirty="0">
                <a:solidFill>
                  <a:srgbClr val="404040"/>
                </a:solidFill>
                <a:effectLst/>
                <a:latin typeface="Inter" panose="02000503000000020004" pitchFamily="2" charset="0"/>
              </a:rPr>
              <a:t>Establish clear responsibility for AI outcomes.</a:t>
            </a:r>
          </a:p>
          <a:p>
            <a:pPr algn="l">
              <a:spcBef>
                <a:spcPts val="300"/>
              </a:spcBef>
              <a:buFont typeface="Arial" panose="020B0604020202020204" pitchFamily="34" charset="0"/>
              <a:buChar char="•"/>
            </a:pPr>
            <a:r>
              <a:rPr lang="en-GB" sz="1600" b="0" i="0" u="none" strike="noStrike" dirty="0">
                <a:solidFill>
                  <a:srgbClr val="404040"/>
                </a:solidFill>
                <a:effectLst/>
                <a:latin typeface="Inter" panose="02000503000000020004" pitchFamily="2" charset="0"/>
              </a:rPr>
              <a:t>Enable auditing and oversight mechanisms.</a:t>
            </a:r>
          </a:p>
          <a:p>
            <a:pPr algn="l">
              <a:spcBef>
                <a:spcPts val="300"/>
              </a:spcBef>
              <a:buFont typeface="Arial" panose="020B0604020202020204" pitchFamily="34" charset="0"/>
              <a:buChar char="•"/>
            </a:pPr>
            <a:r>
              <a:rPr lang="en-GB" sz="1600" b="0" i="0" u="none" strike="noStrike" dirty="0">
                <a:solidFill>
                  <a:srgbClr val="404040"/>
                </a:solidFill>
                <a:effectLst/>
                <a:latin typeface="Inter" panose="02000503000000020004" pitchFamily="2" charset="0"/>
              </a:rPr>
              <a:t>Maintain human control where necessary.</a:t>
            </a:r>
          </a:p>
          <a:p>
            <a:pPr>
              <a:buNone/>
            </a:pPr>
            <a:r>
              <a:rPr lang="en-GB" sz="1600" b="1" dirty="0"/>
              <a:t>Why is it Important?</a:t>
            </a:r>
          </a:p>
          <a:p>
            <a:pPr>
              <a:buFont typeface="Arial" panose="020B0604020202020204" pitchFamily="34" charset="0"/>
              <a:buChar char="•"/>
            </a:pPr>
            <a:r>
              <a:rPr lang="en-GB" sz="1600" dirty="0"/>
              <a:t>Prevents misuse or unethical outcomes.</a:t>
            </a:r>
          </a:p>
          <a:p>
            <a:pPr>
              <a:buFont typeface="Arial" panose="020B0604020202020204" pitchFamily="34" charset="0"/>
              <a:buChar char="•"/>
            </a:pPr>
            <a:r>
              <a:rPr lang="en-GB" sz="1600" dirty="0"/>
              <a:t>Ensures compliance with laws and regulations (e.g., GDPR, AI Act).</a:t>
            </a:r>
          </a:p>
          <a:p>
            <a:pPr>
              <a:buFont typeface="Arial" panose="020B0604020202020204" pitchFamily="34" charset="0"/>
              <a:buChar char="•"/>
            </a:pPr>
            <a:r>
              <a:rPr lang="en-GB" sz="1600" dirty="0"/>
              <a:t>Builds public trust and acceptance.</a:t>
            </a:r>
          </a:p>
          <a:p>
            <a:pPr>
              <a:buFont typeface="Arial" panose="020B0604020202020204" pitchFamily="34" charset="0"/>
              <a:buChar char="•"/>
            </a:pPr>
            <a:r>
              <a:rPr lang="en-GB" sz="1600" dirty="0"/>
              <a:t>Enables fair, unbiased, and just AI decision-making.</a:t>
            </a:r>
          </a:p>
          <a:p>
            <a:pPr algn="l">
              <a:spcBef>
                <a:spcPts val="300"/>
              </a:spcBef>
              <a:buFont typeface="Arial" panose="020B0604020202020204" pitchFamily="34" charset="0"/>
              <a:buChar char="•"/>
            </a:pPr>
            <a:endParaRPr lang="en-GB" sz="1600" b="0" i="0" u="none" strike="noStrike" dirty="0">
              <a:solidFill>
                <a:srgbClr val="404040"/>
              </a:solidFill>
              <a:effectLst/>
              <a:latin typeface="Inter" panose="02000503000000020004" pitchFamily="2" charset="0"/>
            </a:endParaRPr>
          </a:p>
        </p:txBody>
      </p:sp>
    </p:spTree>
    <p:extLst>
      <p:ext uri="{BB962C8B-B14F-4D97-AF65-F5344CB8AC3E}">
        <p14:creationId xmlns:p14="http://schemas.microsoft.com/office/powerpoint/2010/main" val="132133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1800" b="1" dirty="0"/>
              <a:t>Designing AI Systems with Clear Accountability Frameworks</a:t>
            </a:r>
            <a:br>
              <a:rPr lang="en-GB" sz="1800" b="1" dirty="0"/>
            </a:b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C65B9BB7-92C8-9AFE-9554-0613369D0319}"/>
              </a:ext>
            </a:extLst>
          </p:cNvPr>
          <p:cNvSpPr txBox="1"/>
          <p:nvPr/>
        </p:nvSpPr>
        <p:spPr>
          <a:xfrm>
            <a:off x="258240" y="616688"/>
            <a:ext cx="7482355" cy="4093428"/>
          </a:xfrm>
          <a:prstGeom prst="rect">
            <a:avLst/>
          </a:prstGeom>
          <a:noFill/>
        </p:spPr>
        <p:txBody>
          <a:bodyPr wrap="square">
            <a:spAutoFit/>
          </a:bodyPr>
          <a:lstStyle/>
          <a:p>
            <a:pPr>
              <a:buNone/>
            </a:pPr>
            <a:r>
              <a:rPr lang="en-GB" sz="2000" b="1" dirty="0"/>
              <a:t>What is an Accountability Framework?</a:t>
            </a:r>
          </a:p>
          <a:p>
            <a:pPr>
              <a:buNone/>
            </a:pPr>
            <a:r>
              <a:rPr lang="en-GB" sz="1600" dirty="0"/>
              <a:t>An </a:t>
            </a:r>
            <a:r>
              <a:rPr lang="en-GB" sz="1600" b="1" dirty="0"/>
              <a:t>accountability framework</a:t>
            </a:r>
            <a:r>
              <a:rPr lang="en-GB" sz="1600" dirty="0"/>
              <a:t> in the context of AI refers to a </a:t>
            </a:r>
            <a:r>
              <a:rPr lang="en-GB" sz="1600" b="1" dirty="0"/>
              <a:t>structured approach</a:t>
            </a:r>
            <a:r>
              <a:rPr lang="en-GB" sz="1600" dirty="0"/>
              <a:t> for defining and managing </a:t>
            </a:r>
            <a:r>
              <a:rPr lang="en-GB" sz="1600" b="1" dirty="0"/>
              <a:t>responsibility, transparency, and oversight</a:t>
            </a:r>
            <a:r>
              <a:rPr lang="en-GB" sz="1600" dirty="0"/>
              <a:t> within the design, deployment, and operation of AI systems.</a:t>
            </a:r>
          </a:p>
          <a:p>
            <a:r>
              <a:rPr lang="en-GB" sz="1600" dirty="0"/>
              <a:t>It ensures that the AI system is </a:t>
            </a:r>
            <a:r>
              <a:rPr lang="en-GB" sz="1600" b="1" dirty="0"/>
              <a:t>not a black box</a:t>
            </a:r>
            <a:r>
              <a:rPr lang="en-GB" sz="1600" dirty="0"/>
              <a:t>, but rather a well-documented, traceable, and fair system where </a:t>
            </a:r>
            <a:r>
              <a:rPr lang="en-GB" sz="1600" b="1" dirty="0"/>
              <a:t>decisions can be explained, challenged, and improved</a:t>
            </a:r>
            <a:r>
              <a:rPr lang="en-GB" sz="1600" dirty="0"/>
              <a:t>.</a:t>
            </a:r>
          </a:p>
          <a:p>
            <a:pPr>
              <a:buNone/>
            </a:pPr>
            <a:r>
              <a:rPr lang="en-GB" b="1" dirty="0"/>
              <a:t>Key Elements of an AI Accountability Framework:</a:t>
            </a:r>
          </a:p>
          <a:p>
            <a:pPr>
              <a:buNone/>
            </a:pPr>
            <a:r>
              <a:rPr lang="en-GB" b="1" dirty="0"/>
              <a:t>1. Transparency</a:t>
            </a:r>
          </a:p>
          <a:p>
            <a:r>
              <a:rPr lang="en-GB" dirty="0"/>
              <a:t>Ensure that how the AI system works is clear.</a:t>
            </a:r>
          </a:p>
          <a:p>
            <a:r>
              <a:rPr lang="en-GB" dirty="0"/>
              <a:t>Includes documentation of:</a:t>
            </a:r>
          </a:p>
          <a:p>
            <a:pPr marL="742950" lvl="1" indent="-285750">
              <a:buFont typeface="Arial" panose="020B0604020202020204" pitchFamily="34" charset="0"/>
              <a:buChar char="•"/>
            </a:pPr>
            <a:r>
              <a:rPr lang="en-GB" dirty="0"/>
              <a:t>Algorithms used</a:t>
            </a:r>
          </a:p>
          <a:p>
            <a:pPr marL="742950" lvl="1" indent="-285750">
              <a:buFont typeface="Arial" panose="020B0604020202020204" pitchFamily="34" charset="0"/>
              <a:buChar char="•"/>
            </a:pPr>
            <a:r>
              <a:rPr lang="en-GB" dirty="0"/>
              <a:t>Data sources and preprocessing steps</a:t>
            </a:r>
          </a:p>
          <a:p>
            <a:pPr marL="742950" lvl="1" indent="-285750">
              <a:buFont typeface="Arial" panose="020B0604020202020204" pitchFamily="34" charset="0"/>
              <a:buChar char="•"/>
            </a:pPr>
            <a:r>
              <a:rPr lang="en-GB" dirty="0"/>
              <a:t>Model decision-making logic</a:t>
            </a:r>
          </a:p>
          <a:p>
            <a:r>
              <a:rPr lang="en-GB" dirty="0"/>
              <a:t>Helps build trust with stakeholders and regulators.</a:t>
            </a:r>
          </a:p>
          <a:p>
            <a:endParaRPr lang="en-GB" sz="1600" dirty="0"/>
          </a:p>
          <a:p>
            <a:endParaRPr lang="en-GB"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80C076DA-C8F9-F189-D3BA-4542E2B40C2C}"/>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71B60108-7221-667A-8008-3E4C80269052}"/>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6623E004-095A-538F-A3C8-78BA530DD77C}"/>
              </a:ext>
            </a:extLst>
          </p:cNvPr>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1800" b="1" dirty="0"/>
              <a:t>Designing AI Systems with Clear Accountability Frameworks</a:t>
            </a:r>
            <a:br>
              <a:rPr lang="en-GB" sz="1800" b="1" dirty="0"/>
            </a:b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59D91713-AE9A-E8F9-04E2-B3286D53BECC}"/>
              </a:ext>
            </a:extLst>
          </p:cNvPr>
          <p:cNvSpPr txBox="1"/>
          <p:nvPr/>
        </p:nvSpPr>
        <p:spPr>
          <a:xfrm>
            <a:off x="258240" y="616688"/>
            <a:ext cx="7482355" cy="4031873"/>
          </a:xfrm>
          <a:prstGeom prst="rect">
            <a:avLst/>
          </a:prstGeom>
          <a:noFill/>
        </p:spPr>
        <p:txBody>
          <a:bodyPr wrap="square">
            <a:spAutoFit/>
          </a:bodyPr>
          <a:lstStyle/>
          <a:p>
            <a:pPr>
              <a:buNone/>
            </a:pPr>
            <a:r>
              <a:rPr lang="en-GB" sz="1600" b="1" dirty="0"/>
              <a:t>Key Elements of an AI Accountability Framework:</a:t>
            </a:r>
          </a:p>
          <a:p>
            <a:pPr>
              <a:buNone/>
            </a:pPr>
            <a:r>
              <a:rPr lang="en-GB" sz="1600" b="1" dirty="0"/>
              <a:t>2. Documentation</a:t>
            </a:r>
          </a:p>
          <a:p>
            <a:pPr>
              <a:buFont typeface="Arial" panose="020B0604020202020204" pitchFamily="34" charset="0"/>
              <a:buChar char="•"/>
            </a:pPr>
            <a:r>
              <a:rPr lang="en-GB" sz="1600" dirty="0"/>
              <a:t>Maintain detailed records of:</a:t>
            </a:r>
          </a:p>
          <a:p>
            <a:pPr marL="742950" lvl="1" indent="-285750">
              <a:buFont typeface="Arial" panose="020B0604020202020204" pitchFamily="34" charset="0"/>
              <a:buChar char="•"/>
            </a:pPr>
            <a:r>
              <a:rPr lang="en-GB" sz="1600" dirty="0"/>
              <a:t>Design decisions</a:t>
            </a:r>
          </a:p>
          <a:p>
            <a:pPr marL="742950" lvl="1" indent="-285750">
              <a:buFont typeface="Arial" panose="020B0604020202020204" pitchFamily="34" charset="0"/>
              <a:buChar char="•"/>
            </a:pPr>
            <a:r>
              <a:rPr lang="en-GB" sz="1600" dirty="0"/>
              <a:t>Training data characteristics</a:t>
            </a:r>
          </a:p>
          <a:p>
            <a:pPr marL="742950" lvl="1" indent="-285750">
              <a:buFont typeface="Arial" panose="020B0604020202020204" pitchFamily="34" charset="0"/>
              <a:buChar char="•"/>
            </a:pPr>
            <a:r>
              <a:rPr lang="en-GB" sz="1600" dirty="0"/>
              <a:t>Model updates or tuning</a:t>
            </a:r>
          </a:p>
          <a:p>
            <a:pPr marL="742950" lvl="1" indent="-285750">
              <a:buFont typeface="Arial" panose="020B0604020202020204" pitchFamily="34" charset="0"/>
              <a:buChar char="•"/>
            </a:pPr>
            <a:r>
              <a:rPr lang="en-GB" sz="1600" dirty="0"/>
              <a:t>Validation metrics</a:t>
            </a:r>
          </a:p>
          <a:p>
            <a:pPr>
              <a:buFont typeface="Arial" panose="020B0604020202020204" pitchFamily="34" charset="0"/>
              <a:buChar char="•"/>
            </a:pPr>
            <a:r>
              <a:rPr lang="en-GB" sz="1600" dirty="0"/>
              <a:t>Acts as a reference for audits, debugging, and future improvements.</a:t>
            </a:r>
          </a:p>
          <a:p>
            <a:pPr>
              <a:buNone/>
            </a:pPr>
            <a:r>
              <a:rPr lang="en-GB" sz="1600" b="1" dirty="0"/>
              <a:t>3. Attribution</a:t>
            </a:r>
          </a:p>
          <a:p>
            <a:pPr>
              <a:buFont typeface="Arial" panose="020B0604020202020204" pitchFamily="34" charset="0"/>
              <a:buChar char="•"/>
            </a:pPr>
            <a:r>
              <a:rPr lang="en-GB" sz="1600" dirty="0"/>
              <a:t>Clearly identify:</a:t>
            </a:r>
          </a:p>
          <a:p>
            <a:pPr marL="742950" lvl="1" indent="-285750">
              <a:buFont typeface="Arial" panose="020B0604020202020204" pitchFamily="34" charset="0"/>
              <a:buChar char="•"/>
            </a:pPr>
            <a:r>
              <a:rPr lang="en-GB" sz="1600" dirty="0"/>
              <a:t>Who developed the model?</a:t>
            </a:r>
          </a:p>
          <a:p>
            <a:pPr marL="742950" lvl="1" indent="-285750">
              <a:buFont typeface="Arial" panose="020B0604020202020204" pitchFamily="34" charset="0"/>
              <a:buChar char="•"/>
            </a:pPr>
            <a:r>
              <a:rPr lang="en-GB" sz="1600" dirty="0"/>
              <a:t>Who is responsible for monitoring?</a:t>
            </a:r>
          </a:p>
          <a:p>
            <a:pPr marL="742950" lvl="1" indent="-285750">
              <a:buFont typeface="Arial" panose="020B0604020202020204" pitchFamily="34" charset="0"/>
              <a:buChar char="•"/>
            </a:pPr>
            <a:r>
              <a:rPr lang="en-GB" sz="1600" dirty="0"/>
              <a:t>Which department owns the system?</a:t>
            </a:r>
          </a:p>
          <a:p>
            <a:pPr>
              <a:buFont typeface="Arial" panose="020B0604020202020204" pitchFamily="34" charset="0"/>
              <a:buChar char="•"/>
            </a:pPr>
            <a:r>
              <a:rPr lang="en-GB" sz="1600" dirty="0"/>
              <a:t>Ensures that accountability lies with a team or person, not just the "AI."</a:t>
            </a:r>
          </a:p>
          <a:p>
            <a:endParaRPr lang="en-GB" sz="1600" dirty="0"/>
          </a:p>
          <a:p>
            <a:endParaRPr lang="en-GB" sz="1600" dirty="0"/>
          </a:p>
        </p:txBody>
      </p:sp>
    </p:spTree>
    <p:extLst>
      <p:ext uri="{BB962C8B-B14F-4D97-AF65-F5344CB8AC3E}">
        <p14:creationId xmlns:p14="http://schemas.microsoft.com/office/powerpoint/2010/main" val="469176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E8E4C096-11C5-6388-0E40-BA7A5B1F5B7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042C80D4-E2DE-6184-118D-74A1689B14EE}"/>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B8DCD410-001D-4604-91B6-DC84E38FE4DC}"/>
              </a:ext>
            </a:extLst>
          </p:cNvPr>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1800" b="1" dirty="0"/>
              <a:t>Designing AI Systems with Clear Accountability Frameworks</a:t>
            </a:r>
            <a:br>
              <a:rPr lang="en-GB" sz="1800" b="1" dirty="0"/>
            </a:b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A2BC6B44-AA03-A76D-8551-78A6A5C9D91C}"/>
              </a:ext>
            </a:extLst>
          </p:cNvPr>
          <p:cNvSpPr txBox="1"/>
          <p:nvPr/>
        </p:nvSpPr>
        <p:spPr>
          <a:xfrm>
            <a:off x="472925" y="555813"/>
            <a:ext cx="7482355" cy="3908762"/>
          </a:xfrm>
          <a:prstGeom prst="rect">
            <a:avLst/>
          </a:prstGeom>
          <a:noFill/>
        </p:spPr>
        <p:txBody>
          <a:bodyPr wrap="square">
            <a:spAutoFit/>
          </a:bodyPr>
          <a:lstStyle/>
          <a:p>
            <a:pPr>
              <a:buNone/>
            </a:pPr>
            <a:r>
              <a:rPr lang="en-GB" sz="1800" b="1" dirty="0"/>
              <a:t>Key Elements of an AI Accountability Framework:</a:t>
            </a:r>
          </a:p>
          <a:p>
            <a:pPr>
              <a:buNone/>
            </a:pPr>
            <a:endParaRPr lang="en-GB" sz="1800" b="1" dirty="0"/>
          </a:p>
          <a:p>
            <a:pPr>
              <a:buNone/>
            </a:pPr>
            <a:r>
              <a:rPr lang="en-GB" sz="1800" b="1" dirty="0"/>
              <a:t>4. Evaluation &amp; Monitoring</a:t>
            </a:r>
          </a:p>
          <a:p>
            <a:pPr>
              <a:buNone/>
            </a:pPr>
            <a:endParaRPr lang="en-GB" sz="1800" b="1" dirty="0"/>
          </a:p>
          <a:p>
            <a:pPr marL="285750" indent="-285750">
              <a:buFont typeface="Wingdings" pitchFamily="2" charset="2"/>
              <a:buChar char="Ø"/>
            </a:pPr>
            <a:r>
              <a:rPr lang="en-GB" sz="1800" dirty="0"/>
              <a:t>Continuous performance checks:</a:t>
            </a:r>
          </a:p>
          <a:p>
            <a:pPr marL="742950" lvl="1" indent="-285750">
              <a:buFont typeface="Wingdings" pitchFamily="2" charset="2"/>
              <a:buChar char="Ø"/>
            </a:pPr>
            <a:r>
              <a:rPr lang="en-GB" sz="1800" dirty="0"/>
              <a:t>Is the model fair to all groups?</a:t>
            </a:r>
          </a:p>
          <a:p>
            <a:pPr marL="742950" lvl="1" indent="-285750">
              <a:buFont typeface="Wingdings" pitchFamily="2" charset="2"/>
              <a:buChar char="Ø"/>
            </a:pPr>
            <a:r>
              <a:rPr lang="en-GB" sz="1800" dirty="0"/>
              <a:t>Is it making biased or incorrect predictions?</a:t>
            </a:r>
          </a:p>
          <a:p>
            <a:pPr marL="742950" lvl="1" indent="-285750">
              <a:buFont typeface="Wingdings" pitchFamily="2" charset="2"/>
              <a:buChar char="Ø"/>
            </a:pPr>
            <a:endParaRPr lang="en-GB" sz="1800" dirty="0"/>
          </a:p>
          <a:p>
            <a:pPr marL="285750" indent="-285750">
              <a:buFont typeface="Wingdings" pitchFamily="2" charset="2"/>
              <a:buChar char="Ø"/>
            </a:pPr>
            <a:r>
              <a:rPr lang="en-GB" sz="1800" dirty="0"/>
              <a:t>Regular audits using tools like:</a:t>
            </a:r>
          </a:p>
          <a:p>
            <a:pPr marL="742950" lvl="1" indent="-285750">
              <a:buFont typeface="Wingdings" pitchFamily="2" charset="2"/>
              <a:buChar char="Ø"/>
            </a:pPr>
            <a:r>
              <a:rPr lang="en-GB" sz="1800" dirty="0"/>
              <a:t>Fairness dashboards</a:t>
            </a:r>
          </a:p>
          <a:p>
            <a:pPr marL="742950" lvl="1" indent="-285750">
              <a:buFont typeface="Wingdings" pitchFamily="2" charset="2"/>
              <a:buChar char="Ø"/>
            </a:pPr>
            <a:r>
              <a:rPr lang="en-GB" sz="1800" dirty="0"/>
              <a:t>Drift detection tools</a:t>
            </a:r>
          </a:p>
          <a:p>
            <a:pPr marL="742950" lvl="1" indent="-285750">
              <a:buFont typeface="Wingdings" pitchFamily="2" charset="2"/>
              <a:buChar char="Ø"/>
            </a:pPr>
            <a:r>
              <a:rPr lang="en-GB" sz="1800" dirty="0"/>
              <a:t>Explainability methods (e.g., LIME, SHAP)</a:t>
            </a:r>
          </a:p>
          <a:p>
            <a:endParaRPr lang="en-GB" sz="1600" dirty="0"/>
          </a:p>
          <a:p>
            <a:endParaRPr lang="en-GB" sz="1600" dirty="0"/>
          </a:p>
        </p:txBody>
      </p:sp>
    </p:spTree>
    <p:extLst>
      <p:ext uri="{BB962C8B-B14F-4D97-AF65-F5344CB8AC3E}">
        <p14:creationId xmlns:p14="http://schemas.microsoft.com/office/powerpoint/2010/main" val="356171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591EC5AB-30D3-2D7F-4AAA-2AEF4063FCA2}"/>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2A7384E5-84EA-9BD3-1907-876E5BFCA9E1}"/>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E7D6AEEF-E200-713C-6D6A-ACF64578B9F2}"/>
              </a:ext>
            </a:extLst>
          </p:cNvPr>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1800" b="1" dirty="0"/>
              <a:t>Designing AI Systems with Clear Accountability Frameworks</a:t>
            </a:r>
            <a:br>
              <a:rPr lang="en-GB" sz="1800" b="1" dirty="0"/>
            </a:b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940B7AA5-61B9-7DE4-ABC7-B860F0EFF7E1}"/>
              </a:ext>
            </a:extLst>
          </p:cNvPr>
          <p:cNvSpPr txBox="1"/>
          <p:nvPr/>
        </p:nvSpPr>
        <p:spPr>
          <a:xfrm>
            <a:off x="472925" y="555813"/>
            <a:ext cx="7482355" cy="4524315"/>
          </a:xfrm>
          <a:prstGeom prst="rect">
            <a:avLst/>
          </a:prstGeom>
          <a:noFill/>
        </p:spPr>
        <p:txBody>
          <a:bodyPr wrap="square">
            <a:spAutoFit/>
          </a:bodyPr>
          <a:lstStyle/>
          <a:p>
            <a:pPr>
              <a:buNone/>
            </a:pPr>
            <a:r>
              <a:rPr lang="en-GB" sz="2000" b="1" dirty="0"/>
              <a:t>Why Is It Important?</a:t>
            </a:r>
          </a:p>
          <a:p>
            <a:pPr>
              <a:buNone/>
            </a:pPr>
            <a:endParaRPr lang="en-GB" sz="2000" b="1" dirty="0"/>
          </a:p>
          <a:p>
            <a:pPr marL="285750" indent="-285750">
              <a:buFont typeface="Wingdings" pitchFamily="2" charset="2"/>
              <a:buChar char="Ø"/>
            </a:pPr>
            <a:r>
              <a:rPr lang="en-GB" sz="1600" b="1" dirty="0"/>
              <a:t>Regulatory Compliance</a:t>
            </a:r>
            <a:r>
              <a:rPr lang="en-GB" sz="1600" dirty="0"/>
              <a:t>: Many regions now mandate explainable and fair AI (e.g., GDPR in the EU).</a:t>
            </a:r>
          </a:p>
          <a:p>
            <a:pPr marL="285750" indent="-285750">
              <a:buFont typeface="Wingdings" pitchFamily="2" charset="2"/>
              <a:buChar char="Ø"/>
            </a:pPr>
            <a:r>
              <a:rPr lang="en-GB" sz="1600" b="1" dirty="0"/>
              <a:t>Ethical Assurance</a:t>
            </a:r>
            <a:r>
              <a:rPr lang="en-GB" sz="1600" dirty="0"/>
              <a:t>: Helps avoid harm due to bias or unexplainable errors.</a:t>
            </a:r>
          </a:p>
          <a:p>
            <a:pPr marL="285750" indent="-285750">
              <a:buFont typeface="Wingdings" pitchFamily="2" charset="2"/>
              <a:buChar char="Ø"/>
            </a:pPr>
            <a:r>
              <a:rPr lang="en-GB" sz="1600" b="1" dirty="0"/>
              <a:t>Organizational Trust</a:t>
            </a:r>
            <a:r>
              <a:rPr lang="en-GB" sz="1600" dirty="0"/>
              <a:t>: Promotes confidence among users, stakeholders, and clients.</a:t>
            </a:r>
          </a:p>
          <a:p>
            <a:pPr marL="285750" indent="-285750">
              <a:buFont typeface="Wingdings" pitchFamily="2" charset="2"/>
              <a:buChar char="Ø"/>
            </a:pPr>
            <a:r>
              <a:rPr lang="en-GB" sz="1600" b="1" dirty="0"/>
              <a:t>Operational Continuity</a:t>
            </a:r>
            <a:r>
              <a:rPr lang="en-GB" sz="1600" dirty="0"/>
              <a:t>: Ensures issues can be traced and resolved efficiently.</a:t>
            </a:r>
          </a:p>
          <a:p>
            <a:pPr>
              <a:buNone/>
            </a:pPr>
            <a:r>
              <a:rPr lang="en-GB" sz="2000" b="1" dirty="0"/>
              <a:t>Tools &amp; Practices for Building Accountable AI:</a:t>
            </a:r>
          </a:p>
          <a:p>
            <a:pPr>
              <a:buNone/>
            </a:pPr>
            <a:endParaRPr lang="en-GB" sz="2000" b="1" dirty="0"/>
          </a:p>
          <a:p>
            <a:pPr marL="285750" indent="-285750">
              <a:buFont typeface="Wingdings" pitchFamily="2" charset="2"/>
              <a:buChar char="Ø"/>
            </a:pPr>
            <a:r>
              <a:rPr lang="en-GB" sz="1600" b="1" dirty="0"/>
              <a:t>Documentation</a:t>
            </a:r>
            <a:r>
              <a:rPr lang="en-GB" sz="1600" dirty="0"/>
              <a:t>: Model cards, data sheets for datasets</a:t>
            </a:r>
          </a:p>
          <a:p>
            <a:pPr marL="285750" indent="-285750">
              <a:buFont typeface="Wingdings" pitchFamily="2" charset="2"/>
              <a:buChar char="Ø"/>
            </a:pPr>
            <a:r>
              <a:rPr lang="en-GB" sz="1600" b="1" dirty="0"/>
              <a:t>Explainability</a:t>
            </a:r>
            <a:r>
              <a:rPr lang="en-GB" sz="1600" dirty="0"/>
              <a:t>: SHAP, LIME</a:t>
            </a:r>
          </a:p>
          <a:p>
            <a:pPr marL="285750" indent="-285750">
              <a:buFont typeface="Wingdings" pitchFamily="2" charset="2"/>
              <a:buChar char="Ø"/>
            </a:pPr>
            <a:r>
              <a:rPr lang="en-GB" sz="1600" b="1" dirty="0"/>
              <a:t>Governance Platforms</a:t>
            </a:r>
            <a:r>
              <a:rPr lang="en-GB" sz="1600" dirty="0"/>
              <a:t>: IBM AI Factsheets, Google’s Model Monitoring</a:t>
            </a:r>
          </a:p>
          <a:p>
            <a:pPr marL="285750" indent="-285750">
              <a:buFont typeface="Wingdings" pitchFamily="2" charset="2"/>
              <a:buChar char="Ø"/>
            </a:pPr>
            <a:r>
              <a:rPr lang="en-GB" sz="1600" b="1" dirty="0"/>
              <a:t>Ethical Frameworks</a:t>
            </a:r>
            <a:r>
              <a:rPr lang="en-GB" sz="1600" dirty="0"/>
              <a:t>: OECD AI Principles, EU’s AI Act</a:t>
            </a:r>
          </a:p>
          <a:p>
            <a:endParaRPr lang="en-GB" sz="1600" dirty="0"/>
          </a:p>
          <a:p>
            <a:endParaRPr lang="en-GB" sz="1600" dirty="0"/>
          </a:p>
        </p:txBody>
      </p:sp>
    </p:spTree>
    <p:extLst>
      <p:ext uri="{BB962C8B-B14F-4D97-AF65-F5344CB8AC3E}">
        <p14:creationId xmlns:p14="http://schemas.microsoft.com/office/powerpoint/2010/main" val="218760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E2D63A0D-5B93-3504-B0BE-B10970F50ED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4308B024-89F9-242B-3FE7-DDADF5CF2D57}"/>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20F43238-7A97-1E00-358D-FDF7C1E414B4}"/>
              </a:ext>
            </a:extLst>
          </p:cNvPr>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2000" dirty="0"/>
              <a:t>Key Components of an Accountability Framework:</a:t>
            </a:r>
            <a:br>
              <a:rPr lang="en-GB" sz="1800" b="1" dirty="0"/>
            </a:b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graphicFrame>
        <p:nvGraphicFramePr>
          <p:cNvPr id="7" name="Table 6">
            <a:extLst>
              <a:ext uri="{FF2B5EF4-FFF2-40B4-BE49-F238E27FC236}">
                <a16:creationId xmlns:a16="http://schemas.microsoft.com/office/drawing/2014/main" id="{D2FC4BA9-E7F7-0389-4B82-35586CAD322C}"/>
              </a:ext>
            </a:extLst>
          </p:cNvPr>
          <p:cNvGraphicFramePr>
            <a:graphicFrameLocks noGrp="1"/>
          </p:cNvGraphicFramePr>
          <p:nvPr>
            <p:extLst>
              <p:ext uri="{D42A27DB-BD31-4B8C-83A1-F6EECF244321}">
                <p14:modId xmlns:p14="http://schemas.microsoft.com/office/powerpoint/2010/main" val="3818460705"/>
              </p:ext>
            </p:extLst>
          </p:nvPr>
        </p:nvGraphicFramePr>
        <p:xfrm>
          <a:off x="190352" y="899353"/>
          <a:ext cx="8521700" cy="2682240"/>
        </p:xfrm>
        <a:graphic>
          <a:graphicData uri="http://schemas.openxmlformats.org/drawingml/2006/table">
            <a:tbl>
              <a:tblPr>
                <a:tableStyleId>{3C2FFA5D-87B4-456A-9821-1D502468CF0F}</a:tableStyleId>
              </a:tblPr>
              <a:tblGrid>
                <a:gridCol w="4260850">
                  <a:extLst>
                    <a:ext uri="{9D8B030D-6E8A-4147-A177-3AD203B41FA5}">
                      <a16:colId xmlns:a16="http://schemas.microsoft.com/office/drawing/2014/main" val="2895696637"/>
                    </a:ext>
                  </a:extLst>
                </a:gridCol>
                <a:gridCol w="4260850">
                  <a:extLst>
                    <a:ext uri="{9D8B030D-6E8A-4147-A177-3AD203B41FA5}">
                      <a16:colId xmlns:a16="http://schemas.microsoft.com/office/drawing/2014/main" val="680601450"/>
                    </a:ext>
                  </a:extLst>
                </a:gridCol>
              </a:tblGrid>
              <a:tr h="0">
                <a:tc>
                  <a:txBody>
                    <a:bodyPr/>
                    <a:lstStyle/>
                    <a:p>
                      <a:r>
                        <a:rPr lang="en-GB" b="1"/>
                        <a:t>Component</a:t>
                      </a:r>
                    </a:p>
                  </a:txBody>
                  <a:tcPr anchor="ctr"/>
                </a:tc>
                <a:tc>
                  <a:txBody>
                    <a:bodyPr/>
                    <a:lstStyle/>
                    <a:p>
                      <a:r>
                        <a:rPr lang="en-GB" b="1" dirty="0"/>
                        <a:t>Description</a:t>
                      </a:r>
                    </a:p>
                  </a:txBody>
                  <a:tcPr anchor="ctr"/>
                </a:tc>
                <a:extLst>
                  <a:ext uri="{0D108BD9-81ED-4DB2-BD59-A6C34878D82A}">
                    <a16:rowId xmlns:a16="http://schemas.microsoft.com/office/drawing/2014/main" val="940883096"/>
                  </a:ext>
                </a:extLst>
              </a:tr>
              <a:tr h="0">
                <a:tc>
                  <a:txBody>
                    <a:bodyPr/>
                    <a:lstStyle/>
                    <a:p>
                      <a:r>
                        <a:rPr lang="en-GB" b="1" dirty="0"/>
                        <a:t>Governance Structure</a:t>
                      </a:r>
                      <a:endParaRPr lang="en-GB" dirty="0"/>
                    </a:p>
                  </a:txBody>
                  <a:tcPr anchor="ctr"/>
                </a:tc>
                <a:tc>
                  <a:txBody>
                    <a:bodyPr/>
                    <a:lstStyle/>
                    <a:p>
                      <a:r>
                        <a:rPr lang="en-GB"/>
                        <a:t>Defines roles and responsibilities (e.g., AI ethics committee, developers, compliance officers)</a:t>
                      </a:r>
                    </a:p>
                  </a:txBody>
                  <a:tcPr anchor="ctr"/>
                </a:tc>
                <a:extLst>
                  <a:ext uri="{0D108BD9-81ED-4DB2-BD59-A6C34878D82A}">
                    <a16:rowId xmlns:a16="http://schemas.microsoft.com/office/drawing/2014/main" val="3347243854"/>
                  </a:ext>
                </a:extLst>
              </a:tr>
              <a:tr h="0">
                <a:tc>
                  <a:txBody>
                    <a:bodyPr/>
                    <a:lstStyle/>
                    <a:p>
                      <a:r>
                        <a:rPr lang="en-GB" b="1"/>
                        <a:t>Documentation</a:t>
                      </a:r>
                      <a:endParaRPr lang="en-GB"/>
                    </a:p>
                  </a:txBody>
                  <a:tcPr anchor="ctr"/>
                </a:tc>
                <a:tc>
                  <a:txBody>
                    <a:bodyPr/>
                    <a:lstStyle/>
                    <a:p>
                      <a:r>
                        <a:rPr lang="en-GB"/>
                        <a:t>Maintains records of datasets, model versions, decision rationale</a:t>
                      </a:r>
                    </a:p>
                  </a:txBody>
                  <a:tcPr anchor="ctr"/>
                </a:tc>
                <a:extLst>
                  <a:ext uri="{0D108BD9-81ED-4DB2-BD59-A6C34878D82A}">
                    <a16:rowId xmlns:a16="http://schemas.microsoft.com/office/drawing/2014/main" val="1245855578"/>
                  </a:ext>
                </a:extLst>
              </a:tr>
              <a:tr h="0">
                <a:tc>
                  <a:txBody>
                    <a:bodyPr/>
                    <a:lstStyle/>
                    <a:p>
                      <a:r>
                        <a:rPr lang="en-GB" b="1"/>
                        <a:t>Ethical Principles</a:t>
                      </a:r>
                      <a:endParaRPr lang="en-GB"/>
                    </a:p>
                  </a:txBody>
                  <a:tcPr anchor="ctr"/>
                </a:tc>
                <a:tc>
                  <a:txBody>
                    <a:bodyPr/>
                    <a:lstStyle/>
                    <a:p>
                      <a:r>
                        <a:rPr lang="en-GB"/>
                        <a:t>Embeds values such as fairness, privacy, and human rights</a:t>
                      </a:r>
                    </a:p>
                  </a:txBody>
                  <a:tcPr anchor="ctr"/>
                </a:tc>
                <a:extLst>
                  <a:ext uri="{0D108BD9-81ED-4DB2-BD59-A6C34878D82A}">
                    <a16:rowId xmlns:a16="http://schemas.microsoft.com/office/drawing/2014/main" val="2920364994"/>
                  </a:ext>
                </a:extLst>
              </a:tr>
              <a:tr h="0">
                <a:tc>
                  <a:txBody>
                    <a:bodyPr/>
                    <a:lstStyle/>
                    <a:p>
                      <a:r>
                        <a:rPr lang="en-GB" b="1"/>
                        <a:t>Audit Trails</a:t>
                      </a:r>
                      <a:endParaRPr lang="en-GB"/>
                    </a:p>
                  </a:txBody>
                  <a:tcPr anchor="ctr"/>
                </a:tc>
                <a:tc>
                  <a:txBody>
                    <a:bodyPr/>
                    <a:lstStyle/>
                    <a:p>
                      <a:r>
                        <a:rPr lang="en-GB"/>
                        <a:t>Tracks decisions and how they were made</a:t>
                      </a:r>
                    </a:p>
                  </a:txBody>
                  <a:tcPr anchor="ctr"/>
                </a:tc>
                <a:extLst>
                  <a:ext uri="{0D108BD9-81ED-4DB2-BD59-A6C34878D82A}">
                    <a16:rowId xmlns:a16="http://schemas.microsoft.com/office/drawing/2014/main" val="1096255257"/>
                  </a:ext>
                </a:extLst>
              </a:tr>
              <a:tr h="0">
                <a:tc>
                  <a:txBody>
                    <a:bodyPr/>
                    <a:lstStyle/>
                    <a:p>
                      <a:r>
                        <a:rPr lang="en-GB" b="1"/>
                        <a:t>Policies &amp; Standards</a:t>
                      </a:r>
                      <a:endParaRPr lang="en-GB"/>
                    </a:p>
                  </a:txBody>
                  <a:tcPr anchor="ctr"/>
                </a:tc>
                <a:tc>
                  <a:txBody>
                    <a:bodyPr/>
                    <a:lstStyle/>
                    <a:p>
                      <a:r>
                        <a:rPr lang="en-GB" dirty="0"/>
                        <a:t>Aligns with legal and organizational policies (e.g., bias testing, model risk management)</a:t>
                      </a:r>
                    </a:p>
                  </a:txBody>
                  <a:tcPr anchor="ctr"/>
                </a:tc>
                <a:extLst>
                  <a:ext uri="{0D108BD9-81ED-4DB2-BD59-A6C34878D82A}">
                    <a16:rowId xmlns:a16="http://schemas.microsoft.com/office/drawing/2014/main" val="1582036061"/>
                  </a:ext>
                </a:extLst>
              </a:tr>
            </a:tbl>
          </a:graphicData>
        </a:graphic>
      </p:graphicFrame>
      <p:sp>
        <p:nvSpPr>
          <p:cNvPr id="9" name="TextBox 8">
            <a:extLst>
              <a:ext uri="{FF2B5EF4-FFF2-40B4-BE49-F238E27FC236}">
                <a16:creationId xmlns:a16="http://schemas.microsoft.com/office/drawing/2014/main" id="{5DFF783F-3512-2705-580E-637E2192713F}"/>
              </a:ext>
            </a:extLst>
          </p:cNvPr>
          <p:cNvSpPr txBox="1"/>
          <p:nvPr/>
        </p:nvSpPr>
        <p:spPr>
          <a:xfrm>
            <a:off x="190352" y="3686321"/>
            <a:ext cx="4798612" cy="1169551"/>
          </a:xfrm>
          <a:prstGeom prst="rect">
            <a:avLst/>
          </a:prstGeom>
          <a:noFill/>
        </p:spPr>
        <p:txBody>
          <a:bodyPr wrap="square">
            <a:spAutoFit/>
          </a:bodyPr>
          <a:lstStyle/>
          <a:p>
            <a:pPr>
              <a:buNone/>
            </a:pPr>
            <a:r>
              <a:rPr lang="en-GB" b="1" dirty="0"/>
              <a:t>Example:</a:t>
            </a:r>
          </a:p>
          <a:p>
            <a:pPr>
              <a:buNone/>
            </a:pPr>
            <a:r>
              <a:rPr lang="en-GB" dirty="0"/>
              <a:t>In a </a:t>
            </a:r>
            <a:r>
              <a:rPr lang="en-GB" b="1" dirty="0"/>
              <a:t>loan approval system</a:t>
            </a:r>
            <a:r>
              <a:rPr lang="en-GB" dirty="0"/>
              <a:t>, the framework should:</a:t>
            </a:r>
          </a:p>
          <a:p>
            <a:pPr marL="285750" indent="-285750">
              <a:buFont typeface="Wingdings" pitchFamily="2" charset="2"/>
              <a:buChar char="ü"/>
            </a:pPr>
            <a:r>
              <a:rPr lang="en-GB" dirty="0"/>
              <a:t>Log who approved the training dataset.</a:t>
            </a:r>
          </a:p>
          <a:p>
            <a:pPr marL="285750" indent="-285750">
              <a:buFont typeface="Wingdings" pitchFamily="2" charset="2"/>
              <a:buChar char="ü"/>
            </a:pPr>
            <a:r>
              <a:rPr lang="en-GB" dirty="0"/>
              <a:t>Track decisions made by the AI.</a:t>
            </a:r>
          </a:p>
          <a:p>
            <a:pPr marL="285750" indent="-285750">
              <a:buFont typeface="Wingdings" pitchFamily="2" charset="2"/>
              <a:buChar char="ü"/>
            </a:pPr>
            <a:r>
              <a:rPr lang="en-GB" dirty="0"/>
              <a:t>Allow customers to appeal and get explanations.</a:t>
            </a:r>
          </a:p>
        </p:txBody>
      </p:sp>
    </p:spTree>
    <p:extLst>
      <p:ext uri="{BB962C8B-B14F-4D97-AF65-F5344CB8AC3E}">
        <p14:creationId xmlns:p14="http://schemas.microsoft.com/office/powerpoint/2010/main" val="2060151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AD1E245C-17DD-8426-7E86-225321D38416}"/>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67DA5825-D171-C6C9-BDA7-CE6B9486639F}"/>
              </a:ext>
            </a:extLst>
          </p:cNvPr>
          <p:cNvPicPr preferRelativeResize="0"/>
          <p:nvPr/>
        </p:nvPicPr>
        <p:blipFill rotWithShape="1">
          <a:blip r:embed="rId3">
            <a:alphaModFix amt="60000"/>
          </a:blip>
          <a:srcRect/>
          <a:stretch/>
        </p:blipFill>
        <p:spPr>
          <a:xfrm>
            <a:off x="3645234" y="196310"/>
            <a:ext cx="5408998" cy="2939569"/>
          </a:xfrm>
          <a:prstGeom prst="rect">
            <a:avLst/>
          </a:prstGeom>
          <a:noFill/>
          <a:ln>
            <a:noFill/>
          </a:ln>
        </p:spPr>
      </p:pic>
      <p:sp>
        <p:nvSpPr>
          <p:cNvPr id="85" name="Google Shape;85;p7">
            <a:extLst>
              <a:ext uri="{FF2B5EF4-FFF2-40B4-BE49-F238E27FC236}">
                <a16:creationId xmlns:a16="http://schemas.microsoft.com/office/drawing/2014/main" id="{12EC5BCB-C707-1B44-6F65-65EAE68BC720}"/>
              </a:ext>
            </a:extLst>
          </p:cNvPr>
          <p:cNvSpPr txBox="1">
            <a:spLocks noGrp="1"/>
          </p:cNvSpPr>
          <p:nvPr>
            <p:ph type="title"/>
          </p:nvPr>
        </p:nvSpPr>
        <p:spPr>
          <a:xfrm>
            <a:off x="0" y="122160"/>
            <a:ext cx="7580350" cy="494528"/>
          </a:xfrm>
          <a:prstGeom prst="rect">
            <a:avLst/>
          </a:prstGeom>
          <a:noFill/>
          <a:ln>
            <a:noFill/>
          </a:ln>
        </p:spPr>
        <p:txBody>
          <a:bodyPr spcFirstLastPara="1" wrap="square" lIns="91425" tIns="91425" rIns="91425" bIns="91425" anchor="t" anchorCtr="0">
            <a:noAutofit/>
          </a:bodyPr>
          <a:lstStyle/>
          <a:p>
            <a:r>
              <a:rPr lang="en-GB" sz="2000" b="1" dirty="0"/>
              <a:t>Mechanisms for Tracking and Auditing AI Decision-Making</a:t>
            </a:r>
            <a:br>
              <a:rPr lang="en-GB" sz="2000" b="1" dirty="0"/>
            </a:br>
            <a:br>
              <a:rPr lang="en-GB" sz="2000" b="1" dirty="0"/>
            </a:br>
            <a:br>
              <a:rPr lang="en-GB" sz="2400" b="1" i="0" u="none" strike="noStrike" dirty="0">
                <a:solidFill>
                  <a:srgbClr val="7030A0"/>
                </a:solidFill>
                <a:effectLst/>
              </a:rPr>
            </a:br>
            <a:br>
              <a:rPr lang="en-GB" sz="1600" b="1" i="0" u="none" strike="noStrike" dirty="0">
                <a:solidFill>
                  <a:srgbClr val="000000"/>
                </a:solidFill>
                <a:effectLst/>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C1273E40-231D-0DD9-25B5-8ABE4DD98534}"/>
              </a:ext>
            </a:extLst>
          </p:cNvPr>
          <p:cNvSpPr txBox="1"/>
          <p:nvPr/>
        </p:nvSpPr>
        <p:spPr>
          <a:xfrm>
            <a:off x="89767" y="982448"/>
            <a:ext cx="4649209" cy="3724096"/>
          </a:xfrm>
          <a:prstGeom prst="rect">
            <a:avLst/>
          </a:prstGeom>
          <a:noFill/>
        </p:spPr>
        <p:txBody>
          <a:bodyPr wrap="square">
            <a:spAutoFit/>
          </a:bodyPr>
          <a:lstStyle/>
          <a:p>
            <a:pPr>
              <a:buNone/>
            </a:pPr>
            <a:r>
              <a:rPr lang="en-GB" sz="2000" b="1" dirty="0"/>
              <a:t>As AI systems become more influential in areas like finance, healthcare, education, and justice, it's essential that every decision they make can be tracked, understood, and justified. This is where auditing mechanisms come into play.</a:t>
            </a:r>
          </a:p>
          <a:p>
            <a:r>
              <a:rPr lang="en-GB" sz="2000" b="1" dirty="0"/>
              <a:t>Below are five core mechanisms used to ensure accountability, transparency, and fairness in AI.</a:t>
            </a:r>
          </a:p>
          <a:p>
            <a:pPr>
              <a:buFont typeface="+mj-lt"/>
              <a:buAutoNum type="arabicPeriod"/>
            </a:pPr>
            <a:endParaRPr lang="en-GB" sz="1600" b="1" dirty="0"/>
          </a:p>
        </p:txBody>
      </p:sp>
      <p:pic>
        <p:nvPicPr>
          <p:cNvPr id="3" name="Picture 2" descr="A diagram of a circular object with text&#10;&#10;AI-generated content may be incorrect.">
            <a:extLst>
              <a:ext uri="{FF2B5EF4-FFF2-40B4-BE49-F238E27FC236}">
                <a16:creationId xmlns:a16="http://schemas.microsoft.com/office/drawing/2014/main" id="{72F29B88-C184-7D9D-F355-B3D4C018C579}"/>
              </a:ext>
            </a:extLst>
          </p:cNvPr>
          <p:cNvPicPr>
            <a:picLocks noChangeAspect="1"/>
          </p:cNvPicPr>
          <p:nvPr/>
        </p:nvPicPr>
        <p:blipFill>
          <a:blip r:embed="rId4"/>
          <a:stretch>
            <a:fillRect/>
          </a:stretch>
        </p:blipFill>
        <p:spPr>
          <a:xfrm>
            <a:off x="4429423" y="1089694"/>
            <a:ext cx="4538518" cy="3616850"/>
          </a:xfrm>
          <a:prstGeom prst="rect">
            <a:avLst/>
          </a:prstGeom>
        </p:spPr>
      </p:pic>
    </p:spTree>
    <p:extLst>
      <p:ext uri="{BB962C8B-B14F-4D97-AF65-F5344CB8AC3E}">
        <p14:creationId xmlns:p14="http://schemas.microsoft.com/office/powerpoint/2010/main" val="3459152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p:cNvGrpSpPr/>
        <p:nvPr/>
      </p:nvGrpSpPr>
      <p:grpSpPr>
        <a:xfrm>
          <a:off x="0" y="0"/>
          <a:ext cx="0" cy="0"/>
          <a:chOff x="0" y="0"/>
          <a:chExt cx="0" cy="0"/>
        </a:xfrm>
      </p:grpSpPr>
      <p:pic>
        <p:nvPicPr>
          <p:cNvPr id="92" name="Google Shape;92;p8"/>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p:cNvSpPr txBox="1">
            <a:spLocks noGrp="1"/>
          </p:cNvSpPr>
          <p:nvPr>
            <p:ph type="title"/>
          </p:nvPr>
        </p:nvSpPr>
        <p:spPr>
          <a:xfrm>
            <a:off x="137160" y="122160"/>
            <a:ext cx="4368228" cy="494528"/>
          </a:xfrm>
          <a:prstGeom prst="rect">
            <a:avLst/>
          </a:prstGeom>
          <a:noFill/>
          <a:ln>
            <a:noFill/>
          </a:ln>
        </p:spPr>
        <p:txBody>
          <a:bodyPr spcFirstLastPara="1" wrap="square" lIns="91425" tIns="91425" rIns="91425" bIns="91425" anchor="t" anchorCtr="0">
            <a:noAutofit/>
          </a:bodyPr>
          <a:lstStyle/>
          <a:p>
            <a:pPr>
              <a:buNone/>
            </a:pPr>
            <a:r>
              <a:rPr lang="en-GB" sz="2400" dirty="0">
                <a:solidFill>
                  <a:srgbClr val="7030A0"/>
                </a:solidFill>
              </a:rPr>
              <a:t>A. Logging and Monitoring</a:t>
            </a: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ACE1747A-F689-C978-401A-6B5351CB7EF7}"/>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7FFB4960-E6DB-C829-622D-3CE90EAAAF47}"/>
              </a:ext>
            </a:extLst>
          </p:cNvPr>
          <p:cNvSpPr txBox="1"/>
          <p:nvPr/>
        </p:nvSpPr>
        <p:spPr>
          <a:xfrm>
            <a:off x="415318" y="616688"/>
            <a:ext cx="8434484" cy="5016758"/>
          </a:xfrm>
          <a:prstGeom prst="rect">
            <a:avLst/>
          </a:prstGeom>
          <a:noFill/>
        </p:spPr>
        <p:txBody>
          <a:bodyPr wrap="square" rtlCol="0">
            <a:spAutoFit/>
          </a:bodyPr>
          <a:lstStyle/>
          <a:p>
            <a:pPr marL="342900" indent="-342900">
              <a:buAutoNum type="arabicPeriod"/>
            </a:pPr>
            <a:r>
              <a:rPr lang="en-GB" sz="1600" b="1" dirty="0">
                <a:solidFill>
                  <a:schemeClr val="tx1"/>
                </a:solidFill>
              </a:rPr>
              <a:t>Model Inputs &amp; Outputs</a:t>
            </a:r>
            <a:br>
              <a:rPr lang="en-GB" sz="1600" b="0" dirty="0">
                <a:solidFill>
                  <a:schemeClr val="tx1"/>
                </a:solidFill>
              </a:rPr>
            </a:br>
            <a:r>
              <a:rPr lang="en-GB" sz="1600" b="1" dirty="0">
                <a:solidFill>
                  <a:schemeClr val="tx1"/>
                </a:solidFill>
              </a:rPr>
              <a:t>What it means: </a:t>
            </a:r>
            <a:r>
              <a:rPr lang="en-GB" sz="1600" b="0" dirty="0">
                <a:solidFill>
                  <a:schemeClr val="tx1"/>
                </a:solidFill>
              </a:rPr>
              <a:t>Every time an AI system makes a prediction, record the data it received (input) and the prediction it made (output).</a:t>
            </a:r>
            <a:br>
              <a:rPr lang="en-GB" sz="1600" b="0" dirty="0">
                <a:solidFill>
                  <a:schemeClr val="tx1"/>
                </a:solidFill>
              </a:rPr>
            </a:br>
            <a:r>
              <a:rPr lang="en-GB" sz="1600" b="1" dirty="0">
                <a:solidFill>
                  <a:schemeClr val="tx1"/>
                </a:solidFill>
              </a:rPr>
              <a:t>Why it matters: </a:t>
            </a:r>
            <a:r>
              <a:rPr lang="en-GB" sz="1600" b="0" dirty="0">
                <a:solidFill>
                  <a:schemeClr val="tx1"/>
                </a:solidFill>
              </a:rPr>
              <a:t>Helps in tracing back to see why the model made a certain decision, especially in critical applications like fraud detection or medical diagnosis.</a:t>
            </a:r>
            <a:br>
              <a:rPr lang="en-GB" sz="1600" b="0" dirty="0">
                <a:solidFill>
                  <a:schemeClr val="tx1"/>
                </a:solidFill>
              </a:rPr>
            </a:br>
            <a:r>
              <a:rPr lang="en-GB" sz="1600" b="1" dirty="0">
                <a:solidFill>
                  <a:schemeClr val="tx1"/>
                </a:solidFill>
              </a:rPr>
              <a:t>Example:</a:t>
            </a:r>
            <a:br>
              <a:rPr lang="en-GB" sz="1600" b="0" dirty="0">
                <a:solidFill>
                  <a:schemeClr val="tx1"/>
                </a:solidFill>
              </a:rPr>
            </a:br>
            <a:r>
              <a:rPr lang="en-GB" sz="1600" b="0" dirty="0">
                <a:solidFill>
                  <a:schemeClr val="tx1"/>
                </a:solidFill>
              </a:rPr>
              <a:t>An AI model denies a loan application.</a:t>
            </a:r>
            <a:br>
              <a:rPr lang="en-GB" sz="1600" b="0" dirty="0">
                <a:solidFill>
                  <a:schemeClr val="tx1"/>
                </a:solidFill>
              </a:rPr>
            </a:br>
            <a:r>
              <a:rPr lang="en-GB" sz="1600" b="0" dirty="0">
                <a:solidFill>
                  <a:schemeClr val="tx1"/>
                </a:solidFill>
              </a:rPr>
              <a:t>Logs show the input features: age, credit score, income.</a:t>
            </a:r>
            <a:br>
              <a:rPr lang="en-GB" sz="1600" b="0" dirty="0">
                <a:solidFill>
                  <a:schemeClr val="tx1"/>
                </a:solidFill>
              </a:rPr>
            </a:br>
            <a:r>
              <a:rPr lang="en-GB" sz="1600" b="0" dirty="0">
                <a:solidFill>
                  <a:schemeClr val="tx1"/>
                </a:solidFill>
              </a:rPr>
              <a:t>Output: “Not eligible” with a confidence score of 0.85.</a:t>
            </a:r>
          </a:p>
          <a:p>
            <a:pPr>
              <a:buNone/>
            </a:pPr>
            <a:r>
              <a:rPr lang="en-GB" b="1" dirty="0"/>
              <a:t>2. </a:t>
            </a:r>
            <a:r>
              <a:rPr lang="en-GB" sz="1600" b="1" dirty="0"/>
              <a:t>Metadata Tracking</a:t>
            </a:r>
          </a:p>
          <a:p>
            <a:pPr>
              <a:buFont typeface="Arial" panose="020B0604020202020204" pitchFamily="34" charset="0"/>
              <a:buChar char="•"/>
            </a:pPr>
            <a:r>
              <a:rPr lang="en-GB" sz="1600" b="1" dirty="0"/>
              <a:t>What it includes</a:t>
            </a:r>
            <a:r>
              <a:rPr lang="en-GB" sz="1600" dirty="0"/>
              <a:t>:</a:t>
            </a:r>
          </a:p>
          <a:p>
            <a:pPr marL="742950" lvl="1" indent="-285750">
              <a:buFont typeface="Arial" panose="020B0604020202020204" pitchFamily="34" charset="0"/>
              <a:buChar char="•"/>
            </a:pPr>
            <a:r>
              <a:rPr lang="en-GB" sz="1600" dirty="0"/>
              <a:t>Model version used</a:t>
            </a:r>
          </a:p>
          <a:p>
            <a:pPr marL="742950" lvl="1" indent="-285750">
              <a:buFont typeface="Arial" panose="020B0604020202020204" pitchFamily="34" charset="0"/>
              <a:buChar char="•"/>
            </a:pPr>
            <a:r>
              <a:rPr lang="en-GB" sz="1600" dirty="0"/>
              <a:t>Date/time of prediction</a:t>
            </a:r>
          </a:p>
          <a:p>
            <a:pPr marL="742950" lvl="1" indent="-285750">
              <a:buFont typeface="Arial" panose="020B0604020202020204" pitchFamily="34" charset="0"/>
              <a:buChar char="•"/>
            </a:pPr>
            <a:r>
              <a:rPr lang="en-GB" sz="1600" dirty="0"/>
              <a:t>Confidence score</a:t>
            </a:r>
          </a:p>
          <a:p>
            <a:pPr marL="742950" lvl="1" indent="-285750">
              <a:buFont typeface="Arial" panose="020B0604020202020204" pitchFamily="34" charset="0"/>
              <a:buChar char="•"/>
            </a:pPr>
            <a:r>
              <a:rPr lang="en-GB" sz="1600" dirty="0"/>
              <a:t>Type of device or location (if relevant)</a:t>
            </a:r>
          </a:p>
          <a:p>
            <a:pPr marL="742950" lvl="1" indent="-285750">
              <a:buFont typeface="Arial" panose="020B0604020202020204" pitchFamily="34" charset="0"/>
              <a:buChar char="•"/>
            </a:pPr>
            <a:r>
              <a:rPr lang="en-GB" sz="1600" dirty="0"/>
              <a:t>Who triggered the prediction (user/system)</a:t>
            </a:r>
          </a:p>
          <a:p>
            <a:pPr>
              <a:buFont typeface="Arial" panose="020B0604020202020204" pitchFamily="34" charset="0"/>
              <a:buChar char="•"/>
            </a:pPr>
            <a:r>
              <a:rPr lang="en-GB" sz="1600" b="1" dirty="0"/>
              <a:t>Purpose</a:t>
            </a:r>
            <a:r>
              <a:rPr lang="en-GB" sz="1600" dirty="0"/>
              <a:t>: Ensures </a:t>
            </a:r>
            <a:r>
              <a:rPr lang="en-GB" sz="1600" b="1" dirty="0"/>
              <a:t>every action is traceable</a:t>
            </a:r>
            <a:r>
              <a:rPr lang="en-GB" sz="1600" dirty="0"/>
              <a:t>, allowing teams to audit </a:t>
            </a:r>
            <a:r>
              <a:rPr lang="en-GB" sz="1600" dirty="0" err="1"/>
              <a:t>behavior</a:t>
            </a:r>
            <a:r>
              <a:rPr lang="en-GB" sz="1600" dirty="0"/>
              <a:t> across versions and use contexts.</a:t>
            </a:r>
          </a:p>
          <a:p>
            <a:br>
              <a:rPr lang="en-GB" sz="1600" b="0" dirty="0">
                <a:solidFill>
                  <a:schemeClr val="tx1"/>
                </a:solidFill>
              </a:rPr>
            </a:b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D2D038FA-C18F-E490-4A7F-727DC6A08C46}"/>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4FDC5FEA-24C5-E99E-E50B-EE225D8B418A}"/>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E636822C-EF0B-CB17-71EC-BFD19EBE1D6C}"/>
              </a:ext>
            </a:extLst>
          </p:cNvPr>
          <p:cNvSpPr txBox="1">
            <a:spLocks noGrp="1"/>
          </p:cNvSpPr>
          <p:nvPr>
            <p:ph type="title"/>
          </p:nvPr>
        </p:nvSpPr>
        <p:spPr>
          <a:xfrm>
            <a:off x="137160" y="122160"/>
            <a:ext cx="5652224" cy="494528"/>
          </a:xfrm>
          <a:prstGeom prst="rect">
            <a:avLst/>
          </a:prstGeom>
          <a:noFill/>
          <a:ln>
            <a:noFill/>
          </a:ln>
        </p:spPr>
        <p:txBody>
          <a:bodyPr spcFirstLastPara="1" wrap="square" lIns="91425" tIns="91425" rIns="91425" bIns="91425" anchor="t" anchorCtr="0">
            <a:noAutofit/>
          </a:bodyPr>
          <a:lstStyle/>
          <a:p>
            <a:r>
              <a:rPr lang="en-GB" sz="2400" dirty="0">
                <a:solidFill>
                  <a:srgbClr val="7030A0"/>
                </a:solidFill>
              </a:rPr>
              <a:t>B. Model Cards and Data Sheets</a:t>
            </a: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2C5890D5-B2BC-4120-6927-5F6138D31434}"/>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F34C275A-8A08-0D3F-96E0-A218D985665B}"/>
              </a:ext>
            </a:extLst>
          </p:cNvPr>
          <p:cNvSpPr txBox="1"/>
          <p:nvPr/>
        </p:nvSpPr>
        <p:spPr>
          <a:xfrm>
            <a:off x="415318" y="616688"/>
            <a:ext cx="8434484" cy="4462760"/>
          </a:xfrm>
          <a:prstGeom prst="rect">
            <a:avLst/>
          </a:prstGeom>
          <a:noFill/>
        </p:spPr>
        <p:txBody>
          <a:bodyPr wrap="square" rtlCol="0">
            <a:spAutoFit/>
          </a:bodyPr>
          <a:lstStyle/>
          <a:p>
            <a:pPr>
              <a:buNone/>
            </a:pPr>
            <a:r>
              <a:rPr lang="en-GB" dirty="0"/>
              <a:t>Inspired by food nutrition labels, these provide </a:t>
            </a:r>
            <a:r>
              <a:rPr lang="en-GB" b="1" dirty="0"/>
              <a:t>standardized documentation</a:t>
            </a:r>
            <a:r>
              <a:rPr lang="en-GB" dirty="0"/>
              <a:t> for AI systems and datasets.</a:t>
            </a:r>
          </a:p>
          <a:p>
            <a:pPr>
              <a:buNone/>
            </a:pPr>
            <a:r>
              <a:rPr lang="en-GB" b="1" dirty="0"/>
              <a:t> Model Cards:</a:t>
            </a:r>
          </a:p>
          <a:p>
            <a:r>
              <a:rPr lang="en-GB" dirty="0"/>
              <a:t>Describe a trained model in terms of:</a:t>
            </a:r>
          </a:p>
          <a:p>
            <a:pPr marL="742950" lvl="1" indent="-285750">
              <a:buFont typeface="Wingdings" pitchFamily="2" charset="2"/>
              <a:buChar char="Ø"/>
            </a:pPr>
            <a:r>
              <a:rPr lang="en-GB" dirty="0"/>
              <a:t>Purpose and use cases</a:t>
            </a:r>
          </a:p>
          <a:p>
            <a:pPr marL="742950" lvl="1" indent="-285750">
              <a:buFont typeface="Wingdings" pitchFamily="2" charset="2"/>
              <a:buChar char="Ø"/>
            </a:pPr>
            <a:r>
              <a:rPr lang="en-GB" dirty="0"/>
              <a:t>Performance across various data segments</a:t>
            </a:r>
          </a:p>
          <a:p>
            <a:pPr marL="742950" lvl="1" indent="-285750">
              <a:buFont typeface="Wingdings" pitchFamily="2" charset="2"/>
              <a:buChar char="Ø"/>
            </a:pPr>
            <a:r>
              <a:rPr lang="en-GB" dirty="0"/>
              <a:t>Limitations and known issues</a:t>
            </a:r>
          </a:p>
          <a:p>
            <a:pPr marL="742950" lvl="1" indent="-285750">
              <a:buFont typeface="Wingdings" pitchFamily="2" charset="2"/>
              <a:buChar char="Ø"/>
            </a:pPr>
            <a:r>
              <a:rPr lang="en-GB" dirty="0"/>
              <a:t>Ethical and fairness considerations</a:t>
            </a:r>
          </a:p>
          <a:p>
            <a:pPr>
              <a:buNone/>
            </a:pPr>
            <a:r>
              <a:rPr lang="en-GB" b="1" dirty="0"/>
              <a:t>Data Sheets:</a:t>
            </a:r>
          </a:p>
          <a:p>
            <a:r>
              <a:rPr lang="en-GB" dirty="0"/>
              <a:t>Focus on the </a:t>
            </a:r>
            <a:r>
              <a:rPr lang="en-GB" b="1" dirty="0"/>
              <a:t>datasets</a:t>
            </a:r>
            <a:r>
              <a:rPr lang="en-GB" dirty="0"/>
              <a:t> used in training/testing:</a:t>
            </a:r>
          </a:p>
          <a:p>
            <a:pPr marL="742950" lvl="1" indent="-285750">
              <a:buFont typeface="Wingdings" pitchFamily="2" charset="2"/>
              <a:buChar char="Ø"/>
            </a:pPr>
            <a:r>
              <a:rPr lang="en-GB" dirty="0"/>
              <a:t>How the data was collected</a:t>
            </a:r>
          </a:p>
          <a:p>
            <a:pPr marL="742950" lvl="1" indent="-285750">
              <a:buFont typeface="Wingdings" pitchFamily="2" charset="2"/>
              <a:buChar char="Ø"/>
            </a:pPr>
            <a:r>
              <a:rPr lang="en-GB" dirty="0"/>
              <a:t>Intended use of the data</a:t>
            </a:r>
          </a:p>
          <a:p>
            <a:pPr marL="742950" lvl="1" indent="-285750">
              <a:buFont typeface="Wingdings" pitchFamily="2" charset="2"/>
              <a:buChar char="Ø"/>
            </a:pPr>
            <a:r>
              <a:rPr lang="en-GB" dirty="0"/>
              <a:t>Potential biases</a:t>
            </a:r>
          </a:p>
          <a:p>
            <a:pPr marL="742950" lvl="1" indent="-285750">
              <a:buFont typeface="Wingdings" pitchFamily="2" charset="2"/>
              <a:buChar char="Ø"/>
            </a:pPr>
            <a:r>
              <a:rPr lang="en-GB" dirty="0"/>
              <a:t>Preprocessing steps</a:t>
            </a:r>
          </a:p>
          <a:p>
            <a:pPr>
              <a:buNone/>
            </a:pPr>
            <a:r>
              <a:rPr lang="en-GB" b="1" dirty="0"/>
              <a:t>Why Use These?</a:t>
            </a:r>
          </a:p>
          <a:p>
            <a:pPr marL="285750" indent="-285750">
              <a:buFont typeface="Wingdings" pitchFamily="2" charset="2"/>
              <a:buChar char="ü"/>
            </a:pPr>
            <a:r>
              <a:rPr lang="en-GB" dirty="0"/>
              <a:t>They </a:t>
            </a:r>
            <a:r>
              <a:rPr lang="en-GB" b="1" dirty="0"/>
              <a:t>communicate model </a:t>
            </a:r>
            <a:r>
              <a:rPr lang="en-GB" b="1" dirty="0" err="1"/>
              <a:t>behavior</a:t>
            </a:r>
            <a:r>
              <a:rPr lang="en-GB" b="1" dirty="0"/>
              <a:t> clearly</a:t>
            </a:r>
            <a:r>
              <a:rPr lang="en-GB" dirty="0"/>
              <a:t> to developers, reviewers, and non-technical stakeholders.</a:t>
            </a:r>
          </a:p>
          <a:p>
            <a:pPr marL="285750" indent="-285750">
              <a:buFont typeface="Wingdings" pitchFamily="2" charset="2"/>
              <a:buChar char="ü"/>
            </a:pPr>
            <a:r>
              <a:rPr lang="en-GB" dirty="0"/>
              <a:t>Encourages </a:t>
            </a:r>
            <a:r>
              <a:rPr lang="en-GB" b="1" dirty="0"/>
              <a:t>transparency and ethical thinking</a:t>
            </a:r>
            <a:r>
              <a:rPr lang="en-GB" dirty="0"/>
              <a:t> during model development.</a:t>
            </a:r>
          </a:p>
          <a:p>
            <a:br>
              <a:rPr lang="en-GB" sz="1600" b="0" dirty="0">
                <a:solidFill>
                  <a:schemeClr val="tx1"/>
                </a:solidFill>
              </a:rPr>
            </a:br>
            <a:endParaRPr lang="en-US" sz="1600" dirty="0"/>
          </a:p>
        </p:txBody>
      </p:sp>
    </p:spTree>
    <p:extLst>
      <p:ext uri="{BB962C8B-B14F-4D97-AF65-F5344CB8AC3E}">
        <p14:creationId xmlns:p14="http://schemas.microsoft.com/office/powerpoint/2010/main" val="1089778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61516D9E-9A66-D82F-4A58-E4E9C91EE15C}"/>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EBD33986-351D-63CB-1F20-07E7AAB51B3D}"/>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CEF5A25E-5FE2-7766-8A92-904EE7859F56}"/>
              </a:ext>
            </a:extLst>
          </p:cNvPr>
          <p:cNvSpPr txBox="1">
            <a:spLocks noGrp="1"/>
          </p:cNvSpPr>
          <p:nvPr>
            <p:ph type="title"/>
          </p:nvPr>
        </p:nvSpPr>
        <p:spPr>
          <a:xfrm>
            <a:off x="137160" y="122160"/>
            <a:ext cx="5652224" cy="494528"/>
          </a:xfrm>
          <a:prstGeom prst="rect">
            <a:avLst/>
          </a:prstGeom>
          <a:noFill/>
          <a:ln>
            <a:noFill/>
          </a:ln>
        </p:spPr>
        <p:txBody>
          <a:bodyPr spcFirstLastPara="1" wrap="square" lIns="91425" tIns="91425" rIns="91425" bIns="91425" anchor="t" anchorCtr="0">
            <a:noAutofit/>
          </a:bodyPr>
          <a:lstStyle/>
          <a:p>
            <a:r>
              <a:rPr lang="en-GB" sz="2400" b="1" dirty="0"/>
              <a:t>C. Explainability Tools</a:t>
            </a: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DF4CB171-9409-81D8-C7C9-5E42ADED126F}"/>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993795D3-5B51-BCC9-0C0A-9E51ABECB4E1}"/>
              </a:ext>
            </a:extLst>
          </p:cNvPr>
          <p:cNvSpPr txBox="1"/>
          <p:nvPr/>
        </p:nvSpPr>
        <p:spPr>
          <a:xfrm>
            <a:off x="415318" y="616688"/>
            <a:ext cx="8434484" cy="3970318"/>
          </a:xfrm>
          <a:prstGeom prst="rect">
            <a:avLst/>
          </a:prstGeom>
          <a:noFill/>
        </p:spPr>
        <p:txBody>
          <a:bodyPr wrap="square" rtlCol="0">
            <a:spAutoFit/>
          </a:bodyPr>
          <a:lstStyle/>
          <a:p>
            <a:pPr>
              <a:buNone/>
            </a:pPr>
            <a:r>
              <a:rPr lang="en-GB" sz="2000" b="1" dirty="0"/>
              <a:t>Tools like:</a:t>
            </a:r>
          </a:p>
          <a:p>
            <a:pPr marL="342900" indent="-342900">
              <a:buFont typeface="Wingdings" pitchFamily="2" charset="2"/>
              <a:buChar char="Ø"/>
            </a:pPr>
            <a:r>
              <a:rPr lang="en-GB" sz="2000" b="1" dirty="0"/>
              <a:t>SHAP (</a:t>
            </a:r>
            <a:r>
              <a:rPr lang="en-GB" sz="2000" b="1" dirty="0" err="1"/>
              <a:t>SHapley</a:t>
            </a:r>
            <a:r>
              <a:rPr lang="en-GB" sz="2000" b="1" dirty="0"/>
              <a:t> Additive </a:t>
            </a:r>
            <a:r>
              <a:rPr lang="en-GB" sz="2000" b="1" dirty="0" err="1"/>
              <a:t>exPlanations</a:t>
            </a:r>
            <a:r>
              <a:rPr lang="en-GB" sz="2000" b="1" dirty="0"/>
              <a:t>)</a:t>
            </a:r>
            <a:endParaRPr lang="en-GB" sz="2000" dirty="0"/>
          </a:p>
          <a:p>
            <a:pPr marL="342900" indent="-342900">
              <a:buFont typeface="Wingdings" pitchFamily="2" charset="2"/>
              <a:buChar char="Ø"/>
            </a:pPr>
            <a:r>
              <a:rPr lang="en-GB" sz="2000" b="1" dirty="0"/>
              <a:t>LIME (Local Interpretable Model-Agnostic Explanations)</a:t>
            </a:r>
            <a:endParaRPr lang="en-GB" sz="2000" dirty="0"/>
          </a:p>
          <a:p>
            <a:pPr>
              <a:buNone/>
            </a:pPr>
            <a:r>
              <a:rPr lang="en-GB" sz="2000" b="1" dirty="0"/>
              <a:t>Purpose:</a:t>
            </a:r>
          </a:p>
          <a:p>
            <a:pPr marL="342900" indent="-342900">
              <a:buFont typeface="Wingdings" pitchFamily="2" charset="2"/>
              <a:buChar char="Ø"/>
            </a:pPr>
            <a:r>
              <a:rPr lang="en-GB" sz="2000" dirty="0"/>
              <a:t>These tools explain </a:t>
            </a:r>
            <a:r>
              <a:rPr lang="en-GB" sz="2000" b="1" dirty="0"/>
              <a:t>why a model made a specific prediction</a:t>
            </a:r>
            <a:r>
              <a:rPr lang="en-GB" sz="2000" dirty="0"/>
              <a:t> by highlighting the most influential features.</a:t>
            </a:r>
          </a:p>
          <a:p>
            <a:pPr marL="342900" indent="-342900">
              <a:buFont typeface="Wingdings" pitchFamily="2" charset="2"/>
              <a:buChar char="Ø"/>
            </a:pPr>
            <a:r>
              <a:rPr lang="en-GB" sz="2000" dirty="0"/>
              <a:t>They </a:t>
            </a:r>
            <a:r>
              <a:rPr lang="en-GB" sz="2000" b="1" dirty="0"/>
              <a:t>break the “black-box”</a:t>
            </a:r>
            <a:r>
              <a:rPr lang="en-GB" sz="2000" dirty="0"/>
              <a:t> nature of many ML models like deep neural networks and ensemble trees.</a:t>
            </a:r>
          </a:p>
          <a:p>
            <a:pPr>
              <a:buNone/>
            </a:pPr>
            <a:r>
              <a:rPr lang="en-GB" sz="2000" b="1" dirty="0"/>
              <a:t> Example:</a:t>
            </a:r>
          </a:p>
          <a:p>
            <a:r>
              <a:rPr lang="en-GB" sz="2000" dirty="0"/>
              <a:t>A SHAP graph might show that for a patient diagnosed with diabetes risk, the most influential factors were age, BMI, and glucose level.</a:t>
            </a:r>
          </a:p>
          <a:p>
            <a:pPr>
              <a:buNone/>
            </a:pPr>
            <a:br>
              <a:rPr lang="en-GB" sz="1600" b="0" dirty="0">
                <a:solidFill>
                  <a:schemeClr val="tx1"/>
                </a:solidFill>
              </a:rPr>
            </a:br>
            <a:endParaRPr lang="en-US" sz="1600" dirty="0"/>
          </a:p>
        </p:txBody>
      </p:sp>
    </p:spTree>
    <p:extLst>
      <p:ext uri="{BB962C8B-B14F-4D97-AF65-F5344CB8AC3E}">
        <p14:creationId xmlns:p14="http://schemas.microsoft.com/office/powerpoint/2010/main" val="2161528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79C46108-3729-B4C6-1405-B0EF9E321EB7}"/>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1F667CA3-6106-B979-2B2F-7FBB88BA955B}"/>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393179E2-BE05-E67D-EBE4-691F3044AB26}"/>
              </a:ext>
            </a:extLst>
          </p:cNvPr>
          <p:cNvSpPr txBox="1">
            <a:spLocks noGrp="1"/>
          </p:cNvSpPr>
          <p:nvPr>
            <p:ph type="title"/>
          </p:nvPr>
        </p:nvSpPr>
        <p:spPr>
          <a:xfrm>
            <a:off x="137160" y="122160"/>
            <a:ext cx="5652224" cy="494528"/>
          </a:xfrm>
          <a:prstGeom prst="rect">
            <a:avLst/>
          </a:prstGeom>
          <a:noFill/>
          <a:ln>
            <a:noFill/>
          </a:ln>
        </p:spPr>
        <p:txBody>
          <a:bodyPr spcFirstLastPara="1" wrap="square" lIns="91425" tIns="91425" rIns="91425" bIns="91425" anchor="t" anchorCtr="0">
            <a:noAutofit/>
          </a:bodyPr>
          <a:lstStyle/>
          <a:p>
            <a:r>
              <a:rPr lang="en-GB" sz="2400" b="1" dirty="0"/>
              <a:t>D. Audit Trails</a:t>
            </a: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758D4710-3FA2-C451-4F32-2D42D083F14D}"/>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8E04414B-4C3A-73EA-728B-183DF66117B0}"/>
              </a:ext>
            </a:extLst>
          </p:cNvPr>
          <p:cNvSpPr txBox="1"/>
          <p:nvPr/>
        </p:nvSpPr>
        <p:spPr>
          <a:xfrm>
            <a:off x="415318" y="616688"/>
            <a:ext cx="8434484" cy="4031873"/>
          </a:xfrm>
          <a:prstGeom prst="rect">
            <a:avLst/>
          </a:prstGeom>
          <a:noFill/>
        </p:spPr>
        <p:txBody>
          <a:bodyPr wrap="square" rtlCol="0">
            <a:spAutoFit/>
          </a:bodyPr>
          <a:lstStyle/>
          <a:p>
            <a:pPr>
              <a:buNone/>
            </a:pPr>
            <a:r>
              <a:rPr lang="en-GB" sz="1600" b="1" dirty="0"/>
              <a:t>What are they?</a:t>
            </a:r>
          </a:p>
          <a:p>
            <a:r>
              <a:rPr lang="en-GB" sz="1600" dirty="0"/>
              <a:t>Digital logs that </a:t>
            </a:r>
            <a:r>
              <a:rPr lang="en-GB" sz="1600" b="1" dirty="0"/>
              <a:t>chronologically record</a:t>
            </a:r>
            <a:r>
              <a:rPr lang="en-GB" sz="1600" dirty="0"/>
              <a:t> each action, change, or decision the AI system makes.</a:t>
            </a:r>
          </a:p>
          <a:p>
            <a:pPr>
              <a:buNone/>
            </a:pPr>
            <a:endParaRPr lang="en-GB" sz="1600" b="1" dirty="0"/>
          </a:p>
          <a:p>
            <a:pPr>
              <a:buNone/>
            </a:pPr>
            <a:r>
              <a:rPr lang="en-GB" sz="1600" b="1" dirty="0"/>
              <a:t>Why important?</a:t>
            </a:r>
          </a:p>
          <a:p>
            <a:pPr marL="285750" indent="-285750">
              <a:buFont typeface="Wingdings" pitchFamily="2" charset="2"/>
              <a:buChar char="Ø"/>
            </a:pPr>
            <a:r>
              <a:rPr lang="en-GB" sz="1600" dirty="0"/>
              <a:t>Allow internal or external parties to </a:t>
            </a:r>
            <a:r>
              <a:rPr lang="en-GB" sz="1600" b="1" dirty="0"/>
              <a:t>review the historical performance</a:t>
            </a:r>
            <a:r>
              <a:rPr lang="en-GB" sz="1600" dirty="0"/>
              <a:t> of the system.</a:t>
            </a:r>
          </a:p>
          <a:p>
            <a:pPr marL="285750" indent="-285750">
              <a:buFont typeface="Wingdings" pitchFamily="2" charset="2"/>
              <a:buChar char="Ø"/>
            </a:pPr>
            <a:r>
              <a:rPr lang="en-GB" sz="1600" dirty="0"/>
              <a:t>Especially useful for:</a:t>
            </a:r>
          </a:p>
          <a:p>
            <a:pPr marL="742950" lvl="1" indent="-285750">
              <a:buFont typeface="Wingdings" pitchFamily="2" charset="2"/>
              <a:buChar char="Ø"/>
            </a:pPr>
            <a:r>
              <a:rPr lang="en-GB" sz="1600" b="1" dirty="0"/>
              <a:t>Legal investigations</a:t>
            </a:r>
            <a:endParaRPr lang="en-GB" sz="1600" dirty="0"/>
          </a:p>
          <a:p>
            <a:pPr marL="742950" lvl="1" indent="-285750">
              <a:buFont typeface="Wingdings" pitchFamily="2" charset="2"/>
              <a:buChar char="Ø"/>
            </a:pPr>
            <a:r>
              <a:rPr lang="en-GB" sz="1600" b="1" dirty="0"/>
              <a:t>Security breaches</a:t>
            </a:r>
            <a:endParaRPr lang="en-GB" sz="1600" dirty="0"/>
          </a:p>
          <a:p>
            <a:pPr marL="742950" lvl="1" indent="-285750">
              <a:buFont typeface="Wingdings" pitchFamily="2" charset="2"/>
              <a:buChar char="Ø"/>
            </a:pPr>
            <a:r>
              <a:rPr lang="en-GB" sz="1600" b="1" dirty="0"/>
              <a:t>Regulatory compliance</a:t>
            </a:r>
            <a:endParaRPr lang="en-GB" sz="1600" dirty="0"/>
          </a:p>
          <a:p>
            <a:pPr>
              <a:buNone/>
            </a:pPr>
            <a:endParaRPr lang="en-GB" sz="1600" b="1" dirty="0"/>
          </a:p>
          <a:p>
            <a:pPr>
              <a:buNone/>
            </a:pPr>
            <a:r>
              <a:rPr lang="en-GB" sz="1600" b="1" dirty="0"/>
              <a:t>Example:</a:t>
            </a:r>
          </a:p>
          <a:p>
            <a:r>
              <a:rPr lang="en-GB" sz="1600" dirty="0"/>
              <a:t>A healthcare audit reveals that an AI model made several misdiagnoses on a certain population group. The trail shows a recent model update introduced a bias.</a:t>
            </a:r>
          </a:p>
          <a:p>
            <a:pPr>
              <a:buNone/>
            </a:pPr>
            <a:br>
              <a:rPr lang="en-GB" sz="1600" b="0" dirty="0">
                <a:solidFill>
                  <a:schemeClr val="tx1"/>
                </a:solidFill>
              </a:rPr>
            </a:br>
            <a:endParaRPr lang="en-US" sz="1600" dirty="0"/>
          </a:p>
        </p:txBody>
      </p:sp>
    </p:spTree>
    <p:extLst>
      <p:ext uri="{BB962C8B-B14F-4D97-AF65-F5344CB8AC3E}">
        <p14:creationId xmlns:p14="http://schemas.microsoft.com/office/powerpoint/2010/main" val="2920237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33E9BBC1-5812-E44A-3974-12D1F11524E7}"/>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F2BC1B1D-8F84-E931-9DDF-935ED7BC9DC7}"/>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2151EB89-C451-735E-056F-F73DFBB2F44E}"/>
              </a:ext>
            </a:extLst>
          </p:cNvPr>
          <p:cNvSpPr txBox="1">
            <a:spLocks noGrp="1"/>
          </p:cNvSpPr>
          <p:nvPr>
            <p:ph type="title"/>
          </p:nvPr>
        </p:nvSpPr>
        <p:spPr>
          <a:xfrm>
            <a:off x="137160" y="122160"/>
            <a:ext cx="5652224" cy="494528"/>
          </a:xfrm>
          <a:prstGeom prst="rect">
            <a:avLst/>
          </a:prstGeom>
          <a:noFill/>
          <a:ln>
            <a:noFill/>
          </a:ln>
        </p:spPr>
        <p:txBody>
          <a:bodyPr spcFirstLastPara="1" wrap="square" lIns="91425" tIns="91425" rIns="91425" bIns="91425" anchor="t" anchorCtr="0">
            <a:noAutofit/>
          </a:bodyPr>
          <a:lstStyle/>
          <a:p>
            <a:r>
              <a:rPr lang="en-GB" sz="2400" b="1" dirty="0"/>
              <a:t>E. Bias &amp; Fairness Audits</a:t>
            </a:r>
            <a:br>
              <a:rPr lang="en-GB" sz="2400" b="1" dirty="0"/>
            </a:b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5FD1FAE9-1AB4-A152-2531-5C547C2707E0}"/>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15BD4E09-A0AA-062D-356E-F3D315C76DA3}"/>
              </a:ext>
            </a:extLst>
          </p:cNvPr>
          <p:cNvSpPr txBox="1"/>
          <p:nvPr/>
        </p:nvSpPr>
        <p:spPr>
          <a:xfrm>
            <a:off x="415318" y="616688"/>
            <a:ext cx="8434484" cy="3662541"/>
          </a:xfrm>
          <a:prstGeom prst="rect">
            <a:avLst/>
          </a:prstGeom>
          <a:noFill/>
        </p:spPr>
        <p:txBody>
          <a:bodyPr wrap="square" rtlCol="0">
            <a:spAutoFit/>
          </a:bodyPr>
          <a:lstStyle/>
          <a:p>
            <a:pPr>
              <a:buNone/>
            </a:pPr>
            <a:r>
              <a:rPr lang="en-GB" sz="2000" b="1" dirty="0"/>
              <a:t>Purpose:</a:t>
            </a:r>
          </a:p>
          <a:p>
            <a:pPr>
              <a:buFont typeface="Arial" panose="020B0604020202020204" pitchFamily="34" charset="0"/>
              <a:buChar char="•"/>
            </a:pPr>
            <a:r>
              <a:rPr lang="en-GB" sz="2000" dirty="0"/>
              <a:t>To test if the AI model </a:t>
            </a:r>
            <a:r>
              <a:rPr lang="en-GB" sz="2000" b="1" dirty="0"/>
              <a:t>unintentionally discriminates</a:t>
            </a:r>
            <a:r>
              <a:rPr lang="en-GB" sz="2000" dirty="0"/>
              <a:t> against any group based on age, gender, ethnicity, etc.</a:t>
            </a:r>
          </a:p>
          <a:p>
            <a:pPr>
              <a:buNone/>
            </a:pPr>
            <a:r>
              <a:rPr lang="en-GB" sz="2000" b="1" dirty="0"/>
              <a:t>Tools:</a:t>
            </a:r>
          </a:p>
          <a:p>
            <a:pPr>
              <a:buFont typeface="Arial" panose="020B0604020202020204" pitchFamily="34" charset="0"/>
              <a:buChar char="•"/>
            </a:pPr>
            <a:r>
              <a:rPr lang="en-GB" sz="2000" b="1" dirty="0" err="1"/>
              <a:t>Fairlearn</a:t>
            </a:r>
            <a:r>
              <a:rPr lang="en-GB" sz="2000" dirty="0"/>
              <a:t> (by Microsoft)</a:t>
            </a:r>
          </a:p>
          <a:p>
            <a:pPr>
              <a:buFont typeface="Arial" panose="020B0604020202020204" pitchFamily="34" charset="0"/>
              <a:buChar char="•"/>
            </a:pPr>
            <a:r>
              <a:rPr lang="en-GB" sz="2000" b="1" dirty="0"/>
              <a:t>AI Fairness 360</a:t>
            </a:r>
            <a:r>
              <a:rPr lang="en-GB" sz="2000" dirty="0"/>
              <a:t> (by IBM)</a:t>
            </a:r>
          </a:p>
          <a:p>
            <a:pPr>
              <a:buFont typeface="Arial" panose="020B0604020202020204" pitchFamily="34" charset="0"/>
              <a:buChar char="•"/>
            </a:pPr>
            <a:r>
              <a:rPr lang="en-GB" sz="2000" dirty="0"/>
              <a:t>These tools </a:t>
            </a:r>
            <a:r>
              <a:rPr lang="en-GB" sz="2000" b="1" dirty="0"/>
              <a:t>quantify bias</a:t>
            </a:r>
            <a:r>
              <a:rPr lang="en-GB" sz="2000" dirty="0"/>
              <a:t> and help retrain models to reduce it.</a:t>
            </a:r>
          </a:p>
          <a:p>
            <a:pPr>
              <a:buNone/>
            </a:pPr>
            <a:r>
              <a:rPr lang="en-GB" sz="2000" b="1" dirty="0"/>
              <a:t>Example:</a:t>
            </a:r>
          </a:p>
          <a:p>
            <a:pPr>
              <a:buFont typeface="Arial" panose="020B0604020202020204" pitchFamily="34" charset="0"/>
              <a:buChar char="•"/>
            </a:pPr>
            <a:r>
              <a:rPr lang="en-GB" sz="2000" dirty="0"/>
              <a:t>In a job recruitment AI, if it selects fewer female candidates despite similar qualifications, a fairness audit can uncover and fix the bias.</a:t>
            </a:r>
          </a:p>
          <a:p>
            <a:pPr>
              <a:buNone/>
            </a:pPr>
            <a:br>
              <a:rPr lang="en-GB" sz="1600" b="0" dirty="0">
                <a:solidFill>
                  <a:schemeClr val="tx1"/>
                </a:solidFill>
              </a:rPr>
            </a:br>
            <a:endParaRPr lang="en-US" sz="1600" dirty="0"/>
          </a:p>
        </p:txBody>
      </p:sp>
    </p:spTree>
    <p:extLst>
      <p:ext uri="{BB962C8B-B14F-4D97-AF65-F5344CB8AC3E}">
        <p14:creationId xmlns:p14="http://schemas.microsoft.com/office/powerpoint/2010/main" val="4274395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9EFCCA23-E32F-7612-72F8-8786DA087CEF}"/>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87BEBA2C-CB03-D68C-CBD5-D19585DE4538}"/>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F3C10851-3995-132A-BD1F-8B127AB8DA44}"/>
              </a:ext>
            </a:extLst>
          </p:cNvPr>
          <p:cNvSpPr txBox="1">
            <a:spLocks noGrp="1"/>
          </p:cNvSpPr>
          <p:nvPr>
            <p:ph type="title"/>
          </p:nvPr>
        </p:nvSpPr>
        <p:spPr>
          <a:xfrm>
            <a:off x="137160" y="122160"/>
            <a:ext cx="5652224" cy="494528"/>
          </a:xfrm>
          <a:prstGeom prst="rect">
            <a:avLst/>
          </a:prstGeom>
          <a:noFill/>
          <a:ln>
            <a:noFill/>
          </a:ln>
        </p:spPr>
        <p:txBody>
          <a:bodyPr spcFirstLastPara="1" wrap="square" lIns="91425" tIns="91425" rIns="91425" bIns="91425" anchor="t" anchorCtr="0">
            <a:noAutofit/>
          </a:bodyPr>
          <a:lstStyle/>
          <a:p>
            <a:r>
              <a:rPr lang="en-GB" sz="2400" b="1" dirty="0"/>
              <a:t>Real-Life Example: AI in Healthcare</a:t>
            </a:r>
            <a:br>
              <a:rPr lang="en-GB" sz="2400" b="1" dirty="0"/>
            </a:br>
            <a:br>
              <a:rPr lang="en-GB" sz="2400" b="1" dirty="0"/>
            </a:b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A0F73F0E-4795-043E-F39F-F9B0CB7636A2}"/>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42C7F9EE-375F-3336-7A08-2BE7DDB76179}"/>
              </a:ext>
            </a:extLst>
          </p:cNvPr>
          <p:cNvSpPr txBox="1"/>
          <p:nvPr/>
        </p:nvSpPr>
        <p:spPr>
          <a:xfrm>
            <a:off x="439172" y="882265"/>
            <a:ext cx="8434484" cy="3662541"/>
          </a:xfrm>
          <a:prstGeom prst="rect">
            <a:avLst/>
          </a:prstGeom>
          <a:noFill/>
        </p:spPr>
        <p:txBody>
          <a:bodyPr wrap="square" rtlCol="0">
            <a:spAutoFit/>
          </a:bodyPr>
          <a:lstStyle/>
          <a:p>
            <a:pPr>
              <a:buNone/>
            </a:pPr>
            <a:r>
              <a:rPr lang="en-GB" sz="2000" dirty="0"/>
              <a:t>Let’s say an AI system recommends treatments based on patient data:</a:t>
            </a:r>
          </a:p>
          <a:p>
            <a:pPr>
              <a:buFont typeface="Arial" panose="020B0604020202020204" pitchFamily="34" charset="0"/>
              <a:buChar char="•"/>
            </a:pPr>
            <a:r>
              <a:rPr lang="en-GB" sz="2000" b="1" dirty="0"/>
              <a:t>Logging</a:t>
            </a:r>
            <a:r>
              <a:rPr lang="en-GB" sz="2000" dirty="0"/>
              <a:t> captures input symptoms, history, and suggested treatment.</a:t>
            </a:r>
          </a:p>
          <a:p>
            <a:pPr>
              <a:buFont typeface="Arial" panose="020B0604020202020204" pitchFamily="34" charset="0"/>
              <a:buChar char="•"/>
            </a:pPr>
            <a:r>
              <a:rPr lang="en-GB" sz="2000" b="1" dirty="0"/>
              <a:t>Metadata</a:t>
            </a:r>
            <a:r>
              <a:rPr lang="en-GB" sz="2000" dirty="0"/>
              <a:t> includes which version of the model was used.</a:t>
            </a:r>
          </a:p>
          <a:p>
            <a:pPr>
              <a:buFont typeface="Arial" panose="020B0604020202020204" pitchFamily="34" charset="0"/>
              <a:buChar char="•"/>
            </a:pPr>
            <a:r>
              <a:rPr lang="en-GB" sz="2000" b="1" dirty="0"/>
              <a:t>SHAP</a:t>
            </a:r>
            <a:r>
              <a:rPr lang="en-GB" sz="2000" dirty="0"/>
              <a:t> explains that “low white blood cell count” was the main reason behind the recommendation.</a:t>
            </a:r>
          </a:p>
          <a:p>
            <a:pPr>
              <a:buFont typeface="Arial" panose="020B0604020202020204" pitchFamily="34" charset="0"/>
              <a:buChar char="•"/>
            </a:pPr>
            <a:r>
              <a:rPr lang="en-GB" sz="2000" b="1" dirty="0"/>
              <a:t>Model Card</a:t>
            </a:r>
            <a:r>
              <a:rPr lang="en-GB" sz="2000" dirty="0"/>
              <a:t> outlines that this model performs less accurately on children under 12.</a:t>
            </a:r>
          </a:p>
          <a:p>
            <a:pPr>
              <a:buFont typeface="Arial" panose="020B0604020202020204" pitchFamily="34" charset="0"/>
              <a:buChar char="•"/>
            </a:pPr>
            <a:r>
              <a:rPr lang="en-GB" sz="2000" b="1" dirty="0"/>
              <a:t>Audit Trail</a:t>
            </a:r>
            <a:r>
              <a:rPr lang="en-GB" sz="2000" dirty="0"/>
              <a:t> shows a doctor overrode the AI suggestion twice that week.</a:t>
            </a:r>
          </a:p>
          <a:p>
            <a:pPr>
              <a:buFont typeface="Arial" panose="020B0604020202020204" pitchFamily="34" charset="0"/>
              <a:buChar char="•"/>
            </a:pPr>
            <a:r>
              <a:rPr lang="en-GB" sz="2000" b="1" dirty="0"/>
              <a:t>Bias Audit</a:t>
            </a:r>
            <a:r>
              <a:rPr lang="en-GB" sz="2000" dirty="0"/>
              <a:t> highlights that the system underperforms on patients from certain ethnic backgrounds.</a:t>
            </a:r>
          </a:p>
          <a:p>
            <a:pPr>
              <a:buNone/>
            </a:pPr>
            <a:br>
              <a:rPr lang="en-GB" sz="1600" b="0" dirty="0">
                <a:solidFill>
                  <a:schemeClr val="tx1"/>
                </a:solidFill>
              </a:rPr>
            </a:br>
            <a:endParaRPr lang="en-US" sz="1600" dirty="0"/>
          </a:p>
        </p:txBody>
      </p:sp>
    </p:spTree>
    <p:extLst>
      <p:ext uri="{BB962C8B-B14F-4D97-AF65-F5344CB8AC3E}">
        <p14:creationId xmlns:p14="http://schemas.microsoft.com/office/powerpoint/2010/main" val="2130645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7FEA4901-51B9-A85B-CB08-6A99656C52AF}"/>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50BC4CA4-A88A-68AB-F04A-EB9BAFC16B3D}"/>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FF4B84E7-0D40-B1F4-D9F6-DD8583629E5F}"/>
              </a:ext>
            </a:extLst>
          </p:cNvPr>
          <p:cNvSpPr txBox="1">
            <a:spLocks noGrp="1"/>
          </p:cNvSpPr>
          <p:nvPr>
            <p:ph type="title"/>
          </p:nvPr>
        </p:nvSpPr>
        <p:spPr>
          <a:xfrm>
            <a:off x="137159" y="122160"/>
            <a:ext cx="6780475" cy="494528"/>
          </a:xfrm>
          <a:prstGeom prst="rect">
            <a:avLst/>
          </a:prstGeom>
          <a:noFill/>
          <a:ln>
            <a:noFill/>
          </a:ln>
        </p:spPr>
        <p:txBody>
          <a:bodyPr spcFirstLastPara="1" wrap="square" lIns="91425" tIns="91425" rIns="91425" bIns="91425" anchor="t" anchorCtr="0">
            <a:noAutofit/>
          </a:bodyPr>
          <a:lstStyle/>
          <a:p>
            <a:r>
              <a:rPr lang="en-GB" sz="2400" b="1" dirty="0"/>
              <a:t>Human-in-the-Loop (HITL) Approaches in AI</a:t>
            </a:r>
            <a:br>
              <a:rPr lang="en-GB" sz="2400" b="1" dirty="0"/>
            </a:br>
            <a:br>
              <a:rPr lang="en-GB" sz="2400" b="1" dirty="0"/>
            </a:br>
            <a:br>
              <a:rPr lang="en-GB" sz="2400" b="1" dirty="0"/>
            </a:b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FAD2EF8B-C55F-D77D-D3FE-F4A25BCC2EA9}"/>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F84942DF-9AB8-B488-BF33-D048DDBBFB64}"/>
              </a:ext>
            </a:extLst>
          </p:cNvPr>
          <p:cNvSpPr txBox="1"/>
          <p:nvPr/>
        </p:nvSpPr>
        <p:spPr>
          <a:xfrm>
            <a:off x="439172" y="882265"/>
            <a:ext cx="3250233" cy="4031873"/>
          </a:xfrm>
          <a:prstGeom prst="rect">
            <a:avLst/>
          </a:prstGeom>
          <a:noFill/>
        </p:spPr>
        <p:txBody>
          <a:bodyPr wrap="square" rtlCol="0">
            <a:spAutoFit/>
          </a:bodyPr>
          <a:lstStyle/>
          <a:p>
            <a:pPr>
              <a:buNone/>
            </a:pPr>
            <a:r>
              <a:rPr lang="en-GB" sz="1600" dirty="0"/>
              <a:t>Human-in-the-loop (HITL) is a strategy in AI system design where humans are actively involved in the model lifecycle  from training and testing to deployment and monitoring to provide oversight, guidance, and corrections.</a:t>
            </a:r>
          </a:p>
          <a:p>
            <a:r>
              <a:rPr lang="en-GB" sz="1600" dirty="0"/>
              <a:t>This approach is especially important in sensitive or high-stakes domains, where automated systems must be auditable, ethical, and aligned with human values.</a:t>
            </a:r>
          </a:p>
          <a:p>
            <a:pPr>
              <a:buNone/>
            </a:pPr>
            <a:br>
              <a:rPr lang="en-GB" sz="1600" dirty="0">
                <a:solidFill>
                  <a:schemeClr val="tx1"/>
                </a:solidFill>
              </a:rPr>
            </a:br>
            <a:endParaRPr lang="en-US" sz="1600" dirty="0"/>
          </a:p>
        </p:txBody>
      </p:sp>
      <p:pic>
        <p:nvPicPr>
          <p:cNvPr id="5" name="Picture 4" descr="A diagram of a diagram&#10;&#10;AI-generated content may be incorrect.">
            <a:extLst>
              <a:ext uri="{FF2B5EF4-FFF2-40B4-BE49-F238E27FC236}">
                <a16:creationId xmlns:a16="http://schemas.microsoft.com/office/drawing/2014/main" id="{1C56DB97-F725-AE78-EFE3-BA8826A448C9}"/>
              </a:ext>
            </a:extLst>
          </p:cNvPr>
          <p:cNvPicPr>
            <a:picLocks noChangeAspect="1"/>
          </p:cNvPicPr>
          <p:nvPr/>
        </p:nvPicPr>
        <p:blipFill>
          <a:blip r:embed="rId4"/>
          <a:stretch>
            <a:fillRect/>
          </a:stretch>
        </p:blipFill>
        <p:spPr>
          <a:xfrm>
            <a:off x="3416480" y="616688"/>
            <a:ext cx="5919985" cy="4526812"/>
          </a:xfrm>
          <a:prstGeom prst="rect">
            <a:avLst/>
          </a:prstGeom>
        </p:spPr>
      </p:pic>
    </p:spTree>
    <p:extLst>
      <p:ext uri="{BB962C8B-B14F-4D97-AF65-F5344CB8AC3E}">
        <p14:creationId xmlns:p14="http://schemas.microsoft.com/office/powerpoint/2010/main" val="3292828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DE04B669-4F57-EB78-3644-5CC06011C07E}"/>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E186D0DB-8E0C-EC1B-43FD-A2037EF2FAE4}"/>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39D01953-8B58-27B1-B401-148ACF5EA354}"/>
              </a:ext>
            </a:extLst>
          </p:cNvPr>
          <p:cNvSpPr txBox="1">
            <a:spLocks noGrp="1"/>
          </p:cNvSpPr>
          <p:nvPr>
            <p:ph type="title"/>
          </p:nvPr>
        </p:nvSpPr>
        <p:spPr>
          <a:xfrm>
            <a:off x="137159" y="122160"/>
            <a:ext cx="6780475" cy="494528"/>
          </a:xfrm>
          <a:prstGeom prst="rect">
            <a:avLst/>
          </a:prstGeom>
          <a:noFill/>
          <a:ln>
            <a:noFill/>
          </a:ln>
        </p:spPr>
        <p:txBody>
          <a:bodyPr spcFirstLastPara="1" wrap="square" lIns="91425" tIns="91425" rIns="91425" bIns="91425" anchor="t" anchorCtr="0">
            <a:noAutofit/>
          </a:bodyPr>
          <a:lstStyle/>
          <a:p>
            <a:r>
              <a:rPr lang="en-GB" sz="2400" b="1" dirty="0"/>
              <a:t>Human-in-the-Loop (HITL) Approaches in AI</a:t>
            </a:r>
            <a:br>
              <a:rPr lang="en-GB" sz="2400" b="1" dirty="0"/>
            </a:br>
            <a:br>
              <a:rPr lang="en-GB" sz="2400" b="1" dirty="0"/>
            </a:br>
            <a:br>
              <a:rPr lang="en-GB" sz="2400" b="1" dirty="0"/>
            </a:b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2BB5B9D1-478F-3DC9-E418-37636951BD75}"/>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CBA84ECE-52DF-86AE-ED3D-D48DA29080E9}"/>
              </a:ext>
            </a:extLst>
          </p:cNvPr>
          <p:cNvSpPr txBox="1"/>
          <p:nvPr/>
        </p:nvSpPr>
        <p:spPr>
          <a:xfrm>
            <a:off x="439172" y="882265"/>
            <a:ext cx="8434484" cy="584775"/>
          </a:xfrm>
          <a:prstGeom prst="rect">
            <a:avLst/>
          </a:prstGeom>
          <a:noFill/>
        </p:spPr>
        <p:txBody>
          <a:bodyPr wrap="square" rtlCol="0">
            <a:spAutoFit/>
          </a:bodyPr>
          <a:lstStyle/>
          <a:p>
            <a:pPr>
              <a:buNone/>
            </a:pPr>
            <a:br>
              <a:rPr lang="en-GB" sz="1600" b="0" dirty="0">
                <a:solidFill>
                  <a:schemeClr val="tx1"/>
                </a:solidFill>
              </a:rPr>
            </a:br>
            <a:endParaRPr lang="en-US" sz="1600" dirty="0"/>
          </a:p>
        </p:txBody>
      </p:sp>
      <p:graphicFrame>
        <p:nvGraphicFramePr>
          <p:cNvPr id="3" name="Table 2">
            <a:extLst>
              <a:ext uri="{FF2B5EF4-FFF2-40B4-BE49-F238E27FC236}">
                <a16:creationId xmlns:a16="http://schemas.microsoft.com/office/drawing/2014/main" id="{607BACF3-69E5-567B-3424-5C8BEB24FDA6}"/>
              </a:ext>
            </a:extLst>
          </p:cNvPr>
          <p:cNvGraphicFramePr>
            <a:graphicFrameLocks noGrp="1"/>
          </p:cNvGraphicFramePr>
          <p:nvPr>
            <p:extLst>
              <p:ext uri="{D42A27DB-BD31-4B8C-83A1-F6EECF244321}">
                <p14:modId xmlns:p14="http://schemas.microsoft.com/office/powerpoint/2010/main" val="4233914063"/>
              </p:ext>
            </p:extLst>
          </p:nvPr>
        </p:nvGraphicFramePr>
        <p:xfrm>
          <a:off x="311150" y="1610995"/>
          <a:ext cx="8521701" cy="2499360"/>
        </p:xfrm>
        <a:graphic>
          <a:graphicData uri="http://schemas.openxmlformats.org/drawingml/2006/table">
            <a:tbl>
              <a:tblPr>
                <a:tableStyleId>{3C2FFA5D-87B4-456A-9821-1D502468CF0F}</a:tableStyleId>
              </a:tblPr>
              <a:tblGrid>
                <a:gridCol w="2840567">
                  <a:extLst>
                    <a:ext uri="{9D8B030D-6E8A-4147-A177-3AD203B41FA5}">
                      <a16:colId xmlns:a16="http://schemas.microsoft.com/office/drawing/2014/main" val="229499512"/>
                    </a:ext>
                  </a:extLst>
                </a:gridCol>
                <a:gridCol w="2840567">
                  <a:extLst>
                    <a:ext uri="{9D8B030D-6E8A-4147-A177-3AD203B41FA5}">
                      <a16:colId xmlns:a16="http://schemas.microsoft.com/office/drawing/2014/main" val="400229574"/>
                    </a:ext>
                  </a:extLst>
                </a:gridCol>
                <a:gridCol w="2840567">
                  <a:extLst>
                    <a:ext uri="{9D8B030D-6E8A-4147-A177-3AD203B41FA5}">
                      <a16:colId xmlns:a16="http://schemas.microsoft.com/office/drawing/2014/main" val="100004076"/>
                    </a:ext>
                  </a:extLst>
                </a:gridCol>
              </a:tblGrid>
              <a:tr h="304800">
                <a:tc>
                  <a:txBody>
                    <a:bodyPr/>
                    <a:lstStyle/>
                    <a:p>
                      <a:r>
                        <a:rPr lang="en-GB" sz="1400" b="1"/>
                        <a:t>Type</a:t>
                      </a:r>
                      <a:endParaRPr lang="en-GB" sz="1400"/>
                    </a:p>
                  </a:txBody>
                  <a:tcPr anchor="ctr"/>
                </a:tc>
                <a:tc>
                  <a:txBody>
                    <a:bodyPr/>
                    <a:lstStyle/>
                    <a:p>
                      <a:r>
                        <a:rPr lang="en-GB" sz="1400" b="1"/>
                        <a:t>Description</a:t>
                      </a:r>
                      <a:endParaRPr lang="en-GB" sz="1400"/>
                    </a:p>
                  </a:txBody>
                  <a:tcPr anchor="ctr"/>
                </a:tc>
                <a:tc>
                  <a:txBody>
                    <a:bodyPr/>
                    <a:lstStyle/>
                    <a:p>
                      <a:r>
                        <a:rPr lang="en-GB" sz="1400" b="1"/>
                        <a:t>Example</a:t>
                      </a:r>
                      <a:endParaRPr lang="en-GB" sz="1400"/>
                    </a:p>
                  </a:txBody>
                  <a:tcPr anchor="ctr"/>
                </a:tc>
                <a:extLst>
                  <a:ext uri="{0D108BD9-81ED-4DB2-BD59-A6C34878D82A}">
                    <a16:rowId xmlns:a16="http://schemas.microsoft.com/office/drawing/2014/main" val="3308543190"/>
                  </a:ext>
                </a:extLst>
              </a:tr>
              <a:tr h="731520">
                <a:tc>
                  <a:txBody>
                    <a:bodyPr/>
                    <a:lstStyle/>
                    <a:p>
                      <a:r>
                        <a:rPr lang="en-GB" sz="1400" b="1"/>
                        <a:t>Pre-decision</a:t>
                      </a:r>
                      <a:endParaRPr lang="en-GB" sz="1400"/>
                    </a:p>
                  </a:txBody>
                  <a:tcPr anchor="ctr"/>
                </a:tc>
                <a:tc>
                  <a:txBody>
                    <a:bodyPr/>
                    <a:lstStyle/>
                    <a:p>
                      <a:r>
                        <a:rPr lang="en-GB" sz="1400" dirty="0"/>
                        <a:t>A human </a:t>
                      </a:r>
                      <a:r>
                        <a:rPr lang="en-GB" sz="1400" b="1" dirty="0"/>
                        <a:t>reviews or configures</a:t>
                      </a:r>
                      <a:r>
                        <a:rPr lang="en-GB" sz="1400" dirty="0"/>
                        <a:t> the input or training data before the AI system acts.</a:t>
                      </a:r>
                    </a:p>
                  </a:txBody>
                  <a:tcPr anchor="ctr"/>
                </a:tc>
                <a:tc>
                  <a:txBody>
                    <a:bodyPr/>
                    <a:lstStyle/>
                    <a:p>
                      <a:r>
                        <a:rPr lang="en-GB" sz="1400"/>
                        <a:t>Doctors examine and clean a dataset used to train an AI for diagnosing cancer.</a:t>
                      </a:r>
                    </a:p>
                  </a:txBody>
                  <a:tcPr anchor="ctr"/>
                </a:tc>
                <a:extLst>
                  <a:ext uri="{0D108BD9-81ED-4DB2-BD59-A6C34878D82A}">
                    <a16:rowId xmlns:a16="http://schemas.microsoft.com/office/drawing/2014/main" val="212233195"/>
                  </a:ext>
                </a:extLst>
              </a:tr>
              <a:tr h="731520">
                <a:tc>
                  <a:txBody>
                    <a:bodyPr/>
                    <a:lstStyle/>
                    <a:p>
                      <a:r>
                        <a:rPr lang="en-GB" sz="1400" b="1"/>
                        <a:t>Mid-decision</a:t>
                      </a:r>
                      <a:endParaRPr lang="en-GB" sz="1400"/>
                    </a:p>
                  </a:txBody>
                  <a:tcPr anchor="ctr"/>
                </a:tc>
                <a:tc>
                  <a:txBody>
                    <a:bodyPr/>
                    <a:lstStyle/>
                    <a:p>
                      <a:r>
                        <a:rPr lang="en-GB" sz="1400"/>
                        <a:t>AI gives a suggestion or output, and a </a:t>
                      </a:r>
                      <a:r>
                        <a:rPr lang="en-GB" sz="1400" b="1"/>
                        <a:t>human evaluates or overrides</a:t>
                      </a:r>
                      <a:r>
                        <a:rPr lang="en-GB" sz="1400"/>
                        <a:t> it in real-time.</a:t>
                      </a:r>
                    </a:p>
                  </a:txBody>
                  <a:tcPr anchor="ctr"/>
                </a:tc>
                <a:tc>
                  <a:txBody>
                    <a:bodyPr/>
                    <a:lstStyle/>
                    <a:p>
                      <a:r>
                        <a:rPr lang="en-GB" sz="1400"/>
                        <a:t>A recruiter reviews AI-recommended candidates before inviting them to interviews.</a:t>
                      </a:r>
                    </a:p>
                  </a:txBody>
                  <a:tcPr anchor="ctr"/>
                </a:tc>
                <a:extLst>
                  <a:ext uri="{0D108BD9-81ED-4DB2-BD59-A6C34878D82A}">
                    <a16:rowId xmlns:a16="http://schemas.microsoft.com/office/drawing/2014/main" val="2625556103"/>
                  </a:ext>
                </a:extLst>
              </a:tr>
              <a:tr h="731520">
                <a:tc>
                  <a:txBody>
                    <a:bodyPr/>
                    <a:lstStyle/>
                    <a:p>
                      <a:r>
                        <a:rPr lang="en-GB" sz="1400" b="1"/>
                        <a:t>Post-decision</a:t>
                      </a:r>
                      <a:endParaRPr lang="en-GB" sz="1400"/>
                    </a:p>
                  </a:txBody>
                  <a:tcPr anchor="ctr"/>
                </a:tc>
                <a:tc>
                  <a:txBody>
                    <a:bodyPr/>
                    <a:lstStyle/>
                    <a:p>
                      <a:r>
                        <a:rPr lang="en-GB" sz="1400"/>
                        <a:t>AI executes a decision or action, and </a:t>
                      </a:r>
                      <a:r>
                        <a:rPr lang="en-GB" sz="1400" b="1"/>
                        <a:t>humans audit, review, or correct</a:t>
                      </a:r>
                      <a:r>
                        <a:rPr lang="en-GB" sz="1400"/>
                        <a:t> the output afterward.</a:t>
                      </a:r>
                    </a:p>
                  </a:txBody>
                  <a:tcPr anchor="ctr"/>
                </a:tc>
                <a:tc>
                  <a:txBody>
                    <a:bodyPr/>
                    <a:lstStyle/>
                    <a:p>
                      <a:r>
                        <a:rPr lang="en-GB" sz="1400" dirty="0"/>
                        <a:t>A fraud detection AI flags transactions; analysts investigate and approve/reject.</a:t>
                      </a:r>
                    </a:p>
                  </a:txBody>
                  <a:tcPr anchor="ctr"/>
                </a:tc>
                <a:extLst>
                  <a:ext uri="{0D108BD9-81ED-4DB2-BD59-A6C34878D82A}">
                    <a16:rowId xmlns:a16="http://schemas.microsoft.com/office/drawing/2014/main" val="2958617473"/>
                  </a:ext>
                </a:extLst>
              </a:tr>
            </a:tbl>
          </a:graphicData>
        </a:graphic>
      </p:graphicFrame>
      <p:sp>
        <p:nvSpPr>
          <p:cNvPr id="5" name="Rectangle 1">
            <a:extLst>
              <a:ext uri="{FF2B5EF4-FFF2-40B4-BE49-F238E27FC236}">
                <a16:creationId xmlns:a16="http://schemas.microsoft.com/office/drawing/2014/main" id="{7B702810-7047-6ADD-7678-FF1D5424014A}"/>
              </a:ext>
            </a:extLst>
          </p:cNvPr>
          <p:cNvSpPr>
            <a:spLocks noChangeArrowheads="1"/>
          </p:cNvSpPr>
          <p:nvPr/>
        </p:nvSpPr>
        <p:spPr bwMode="auto">
          <a:xfrm>
            <a:off x="270343" y="551412"/>
            <a:ext cx="714822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A. Types of HITL Models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These models ensure </a:t>
            </a:r>
            <a:r>
              <a:rPr kumimoji="0" lang="en-US" altLang="en-US" sz="1600" b="1" i="0" u="none" strike="noStrike" cap="none" normalizeH="0" baseline="0" dirty="0">
                <a:ln>
                  <a:noFill/>
                </a:ln>
                <a:solidFill>
                  <a:schemeClr val="tx1"/>
                </a:solidFill>
                <a:effectLst/>
                <a:latin typeface="Arial" panose="020B0604020202020204" pitchFamily="34" charset="0"/>
              </a:rPr>
              <a:t>ethical governance</a:t>
            </a:r>
            <a:r>
              <a:rPr kumimoji="0" lang="en-US" altLang="en-US" sz="1600" b="0" i="0" u="none" strike="noStrike" cap="none" normalizeH="0" baseline="0" dirty="0">
                <a:ln>
                  <a:noFill/>
                </a:ln>
                <a:solidFill>
                  <a:schemeClr val="tx1"/>
                </a:solidFill>
                <a:effectLst/>
                <a:latin typeface="Arial" panose="020B0604020202020204" pitchFamily="34" charset="0"/>
              </a:rPr>
              <a:t> and </a:t>
            </a:r>
            <a:r>
              <a:rPr kumimoji="0" lang="en-US" altLang="en-US" sz="1600" b="1" i="0" u="none" strike="noStrike" cap="none" normalizeH="0" baseline="0" dirty="0">
                <a:ln>
                  <a:noFill/>
                </a:ln>
                <a:solidFill>
                  <a:schemeClr val="tx1"/>
                </a:solidFill>
                <a:effectLst/>
                <a:latin typeface="Arial" panose="020B0604020202020204" pitchFamily="34" charset="0"/>
              </a:rPr>
              <a:t>retain human judgment</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especially where errors could have significant consequences.</a:t>
            </a:r>
          </a:p>
        </p:txBody>
      </p:sp>
    </p:spTree>
    <p:extLst>
      <p:ext uri="{BB962C8B-B14F-4D97-AF65-F5344CB8AC3E}">
        <p14:creationId xmlns:p14="http://schemas.microsoft.com/office/powerpoint/2010/main" val="1000087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7AD0BA16-CAB3-ADD8-8A12-C260E3BCFF48}"/>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B6FF7635-187B-5A0E-957C-012C2B632F5A}"/>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94A5ABCC-6C3D-2F78-661B-C2324E8F4CAD}"/>
              </a:ext>
            </a:extLst>
          </p:cNvPr>
          <p:cNvSpPr txBox="1">
            <a:spLocks noGrp="1"/>
          </p:cNvSpPr>
          <p:nvPr>
            <p:ph type="title"/>
          </p:nvPr>
        </p:nvSpPr>
        <p:spPr>
          <a:xfrm>
            <a:off x="137159" y="122160"/>
            <a:ext cx="6780475" cy="494528"/>
          </a:xfrm>
          <a:prstGeom prst="rect">
            <a:avLst/>
          </a:prstGeom>
          <a:noFill/>
          <a:ln>
            <a:noFill/>
          </a:ln>
        </p:spPr>
        <p:txBody>
          <a:bodyPr spcFirstLastPara="1" wrap="square" lIns="91425" tIns="91425" rIns="91425" bIns="91425" anchor="t" anchorCtr="0">
            <a:noAutofit/>
          </a:bodyPr>
          <a:lstStyle/>
          <a:p>
            <a:r>
              <a:rPr lang="en-GB" sz="2400" b="1" dirty="0"/>
              <a:t>B. Benefits of HITL</a:t>
            </a:r>
            <a:br>
              <a:rPr lang="en-GB" sz="2400" b="1" dirty="0"/>
            </a:br>
            <a:br>
              <a:rPr lang="en-GB" sz="2400" b="1" dirty="0"/>
            </a:br>
            <a:br>
              <a:rPr lang="en-GB" sz="2400" b="1" dirty="0"/>
            </a:br>
            <a:br>
              <a:rPr lang="en-GB" sz="2400" b="1" dirty="0"/>
            </a:b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29C6A13C-116C-A2E0-D445-88C94DF67A20}"/>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D94462BD-74C8-CBDF-B1E9-BAD5F8E8112E}"/>
              </a:ext>
            </a:extLst>
          </p:cNvPr>
          <p:cNvSpPr txBox="1"/>
          <p:nvPr/>
        </p:nvSpPr>
        <p:spPr>
          <a:xfrm>
            <a:off x="439172" y="882265"/>
            <a:ext cx="8434484" cy="584775"/>
          </a:xfrm>
          <a:prstGeom prst="rect">
            <a:avLst/>
          </a:prstGeom>
          <a:noFill/>
        </p:spPr>
        <p:txBody>
          <a:bodyPr wrap="square" rtlCol="0">
            <a:spAutoFit/>
          </a:bodyPr>
          <a:lstStyle/>
          <a:p>
            <a:pPr>
              <a:buNone/>
            </a:pPr>
            <a:br>
              <a:rPr lang="en-GB" sz="1600" b="0" dirty="0">
                <a:solidFill>
                  <a:schemeClr val="tx1"/>
                </a:solidFill>
              </a:rPr>
            </a:br>
            <a:endParaRPr lang="en-US" sz="1600" dirty="0"/>
          </a:p>
        </p:txBody>
      </p:sp>
      <p:sp>
        <p:nvSpPr>
          <p:cNvPr id="5" name="Rectangle 1">
            <a:extLst>
              <a:ext uri="{FF2B5EF4-FFF2-40B4-BE49-F238E27FC236}">
                <a16:creationId xmlns:a16="http://schemas.microsoft.com/office/drawing/2014/main" id="{BC43C692-1124-5A1A-08EB-FB5D6CA8295D}"/>
              </a:ext>
            </a:extLst>
          </p:cNvPr>
          <p:cNvSpPr>
            <a:spLocks noChangeArrowheads="1"/>
          </p:cNvSpPr>
          <p:nvPr/>
        </p:nvSpPr>
        <p:spPr bwMode="auto">
          <a:xfrm>
            <a:off x="395440" y="882265"/>
            <a:ext cx="7148223"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GB" sz="1600" b="1" dirty="0"/>
              <a:t>1. Ethical and Responsible AI</a:t>
            </a:r>
          </a:p>
          <a:p>
            <a:pPr>
              <a:buFont typeface="Arial" panose="020B0604020202020204" pitchFamily="34" charset="0"/>
              <a:buChar char="•"/>
            </a:pPr>
            <a:r>
              <a:rPr lang="en-GB" sz="1600" dirty="0"/>
              <a:t>Prevents AI from making </a:t>
            </a:r>
            <a:r>
              <a:rPr lang="en-GB" sz="1600" b="1" dirty="0"/>
              <a:t>fully autonomous decisions</a:t>
            </a:r>
            <a:r>
              <a:rPr lang="en-GB" sz="1600" dirty="0"/>
              <a:t> that may be biased or incorrect.</a:t>
            </a:r>
          </a:p>
          <a:p>
            <a:pPr>
              <a:buFont typeface="Arial" panose="020B0604020202020204" pitchFamily="34" charset="0"/>
              <a:buChar char="•"/>
            </a:pPr>
            <a:r>
              <a:rPr lang="en-GB" sz="1600" dirty="0"/>
              <a:t>Ensures decisions are </a:t>
            </a:r>
            <a:r>
              <a:rPr lang="en-GB" sz="1600" b="1" dirty="0"/>
              <a:t>aligned with human norms, values, and regulations</a:t>
            </a:r>
            <a:r>
              <a:rPr lang="en-GB" sz="1600" dirty="0"/>
              <a:t>.</a:t>
            </a:r>
          </a:p>
          <a:p>
            <a:pPr>
              <a:buNone/>
            </a:pPr>
            <a:r>
              <a:rPr lang="en-GB" sz="1600" b="1" dirty="0"/>
              <a:t>2. Improved Decision-Making</a:t>
            </a:r>
          </a:p>
          <a:p>
            <a:pPr>
              <a:buFont typeface="Arial" panose="020B0604020202020204" pitchFamily="34" charset="0"/>
              <a:buChar char="•"/>
            </a:pPr>
            <a:r>
              <a:rPr lang="en-GB" sz="1600" dirty="0"/>
              <a:t>Combines </a:t>
            </a:r>
            <a:r>
              <a:rPr lang="en-GB" sz="1600" b="1" dirty="0"/>
              <a:t>AI's speed and pattern recognition</a:t>
            </a:r>
            <a:r>
              <a:rPr lang="en-GB" sz="1600" dirty="0"/>
              <a:t> with </a:t>
            </a:r>
            <a:r>
              <a:rPr lang="en-GB" sz="1600" b="1" dirty="0"/>
              <a:t>human judgment and context-awareness</a:t>
            </a:r>
            <a:r>
              <a:rPr lang="en-GB" sz="1600" dirty="0"/>
              <a:t>.</a:t>
            </a:r>
          </a:p>
          <a:p>
            <a:pPr>
              <a:buFont typeface="Arial" panose="020B0604020202020204" pitchFamily="34" charset="0"/>
              <a:buChar char="•"/>
            </a:pPr>
            <a:r>
              <a:rPr lang="en-GB" sz="1600" dirty="0"/>
              <a:t>Especially critical in </a:t>
            </a:r>
            <a:r>
              <a:rPr lang="en-GB" sz="1600" b="1" dirty="0"/>
              <a:t>healthcare, law enforcement, finance, and recruitment</a:t>
            </a:r>
            <a:r>
              <a:rPr lang="en-GB" sz="1600" dirty="0"/>
              <a:t>.</a:t>
            </a:r>
          </a:p>
          <a:p>
            <a:pPr>
              <a:buNone/>
            </a:pPr>
            <a:r>
              <a:rPr lang="en-GB" sz="1600" b="1" dirty="0"/>
              <a:t>3. Transparent and Traceable AI</a:t>
            </a:r>
          </a:p>
          <a:p>
            <a:pPr>
              <a:buFont typeface="Arial" panose="020B0604020202020204" pitchFamily="34" charset="0"/>
              <a:buChar char="•"/>
            </a:pPr>
            <a:r>
              <a:rPr lang="en-GB" sz="1600" dirty="0"/>
              <a:t>Enables </a:t>
            </a:r>
            <a:r>
              <a:rPr lang="en-GB" sz="1600" b="1" dirty="0"/>
              <a:t>documentation and justification</a:t>
            </a:r>
            <a:r>
              <a:rPr lang="en-GB" sz="1600" dirty="0"/>
              <a:t> of decisions, boosting </a:t>
            </a:r>
            <a:r>
              <a:rPr lang="en-GB" sz="1600" b="1" dirty="0"/>
              <a:t>trust and accountability</a:t>
            </a:r>
            <a:r>
              <a:rPr lang="en-GB" sz="1600" dirty="0"/>
              <a:t>.</a:t>
            </a:r>
          </a:p>
          <a:p>
            <a:pPr>
              <a:buNone/>
            </a:pPr>
            <a:r>
              <a:rPr lang="en-GB" sz="1600" b="1" dirty="0"/>
              <a:t>4. Continuous Learning</a:t>
            </a:r>
          </a:p>
          <a:p>
            <a:pPr>
              <a:buFont typeface="Arial" panose="020B0604020202020204" pitchFamily="34" charset="0"/>
              <a:buChar char="•"/>
            </a:pPr>
            <a:r>
              <a:rPr lang="en-GB" sz="1600" dirty="0"/>
              <a:t>Human feedback can be used to </a:t>
            </a:r>
            <a:r>
              <a:rPr lang="en-GB" sz="1600" b="1" dirty="0"/>
              <a:t>fine-tune or retrain models</a:t>
            </a:r>
            <a:r>
              <a:rPr lang="en-GB" sz="1600" dirty="0"/>
              <a:t>, improving their accuracy and fairness over time.</a:t>
            </a:r>
          </a:p>
        </p:txBody>
      </p:sp>
    </p:spTree>
    <p:extLst>
      <p:ext uri="{BB962C8B-B14F-4D97-AF65-F5344CB8AC3E}">
        <p14:creationId xmlns:p14="http://schemas.microsoft.com/office/powerpoint/2010/main" val="1028957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4B0B64E2-565F-60E2-5EB0-7F22F77417B3}"/>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97AE9C44-8F87-E964-1548-19F5731FCE96}"/>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E076CA38-2644-BAD7-ED71-02EC4DC9E792}"/>
              </a:ext>
            </a:extLst>
          </p:cNvPr>
          <p:cNvSpPr txBox="1">
            <a:spLocks noGrp="1"/>
          </p:cNvSpPr>
          <p:nvPr>
            <p:ph type="title"/>
          </p:nvPr>
        </p:nvSpPr>
        <p:spPr>
          <a:xfrm>
            <a:off x="137159" y="122160"/>
            <a:ext cx="6780475" cy="494528"/>
          </a:xfrm>
          <a:prstGeom prst="rect">
            <a:avLst/>
          </a:prstGeom>
          <a:noFill/>
          <a:ln>
            <a:noFill/>
          </a:ln>
        </p:spPr>
        <p:txBody>
          <a:bodyPr spcFirstLastPara="1" wrap="square" lIns="91425" tIns="91425" rIns="91425" bIns="91425" anchor="t" anchorCtr="0">
            <a:noAutofit/>
          </a:bodyPr>
          <a:lstStyle/>
          <a:p>
            <a:r>
              <a:rPr lang="en-GB" sz="2400" b="1" dirty="0"/>
              <a:t>C. Challenges of HITL</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365E77A1-2448-14A5-B695-54F48C256CDC}"/>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70B576AF-CD8D-9E5D-9065-92FE8B2161C5}"/>
              </a:ext>
            </a:extLst>
          </p:cNvPr>
          <p:cNvSpPr txBox="1"/>
          <p:nvPr/>
        </p:nvSpPr>
        <p:spPr>
          <a:xfrm>
            <a:off x="439172" y="882265"/>
            <a:ext cx="8434484" cy="584775"/>
          </a:xfrm>
          <a:prstGeom prst="rect">
            <a:avLst/>
          </a:prstGeom>
          <a:noFill/>
        </p:spPr>
        <p:txBody>
          <a:bodyPr wrap="square" rtlCol="0">
            <a:spAutoFit/>
          </a:bodyPr>
          <a:lstStyle/>
          <a:p>
            <a:pPr>
              <a:buNone/>
            </a:pPr>
            <a:br>
              <a:rPr lang="en-GB" sz="1600" b="0" dirty="0">
                <a:solidFill>
                  <a:schemeClr val="tx1"/>
                </a:solidFill>
              </a:rPr>
            </a:br>
            <a:endParaRPr lang="en-US" sz="1600" dirty="0"/>
          </a:p>
        </p:txBody>
      </p:sp>
      <p:sp>
        <p:nvSpPr>
          <p:cNvPr id="5" name="Rectangle 1">
            <a:extLst>
              <a:ext uri="{FF2B5EF4-FFF2-40B4-BE49-F238E27FC236}">
                <a16:creationId xmlns:a16="http://schemas.microsoft.com/office/drawing/2014/main" id="{6B82C63C-0468-BC1F-3263-446E7DD91ABC}"/>
              </a:ext>
            </a:extLst>
          </p:cNvPr>
          <p:cNvSpPr>
            <a:spLocks noChangeArrowheads="1"/>
          </p:cNvSpPr>
          <p:nvPr/>
        </p:nvSpPr>
        <p:spPr bwMode="auto">
          <a:xfrm>
            <a:off x="395440" y="1128487"/>
            <a:ext cx="714822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GB" sz="1600" b="1" dirty="0"/>
              <a:t>1. Slower Workflow</a:t>
            </a:r>
          </a:p>
          <a:p>
            <a:r>
              <a:rPr lang="en-GB" sz="1600" dirty="0"/>
              <a:t>Involving humans at each stage may slow down operations compared to fully automated systems.</a:t>
            </a:r>
          </a:p>
          <a:p>
            <a:r>
              <a:rPr lang="en-GB" sz="1600" dirty="0"/>
              <a:t>Example: Reviewing hundreds of AI-generated resumes takes time.</a:t>
            </a:r>
          </a:p>
          <a:p>
            <a:pPr>
              <a:buFont typeface="Arial" panose="020B0604020202020204" pitchFamily="34" charset="0"/>
              <a:buChar char="•"/>
            </a:pPr>
            <a:endParaRPr lang="en-GB" sz="1600" dirty="0"/>
          </a:p>
          <a:p>
            <a:pPr>
              <a:buNone/>
            </a:pPr>
            <a:r>
              <a:rPr lang="en-GB" sz="1600" b="1" dirty="0"/>
              <a:t>2. Need for Skilled Personnel</a:t>
            </a:r>
          </a:p>
          <a:p>
            <a:r>
              <a:rPr lang="en-GB" sz="1600" dirty="0"/>
              <a:t>Personnel must understand </a:t>
            </a:r>
            <a:r>
              <a:rPr lang="en-GB" sz="1600" b="1" dirty="0"/>
              <a:t>how to interpret AI outputs</a:t>
            </a:r>
            <a:r>
              <a:rPr lang="en-GB" sz="1600" dirty="0"/>
              <a:t>, </a:t>
            </a:r>
            <a:r>
              <a:rPr lang="en-GB" sz="1600" b="1" dirty="0"/>
              <a:t>identify biases</a:t>
            </a:r>
            <a:r>
              <a:rPr lang="en-GB" sz="1600" dirty="0"/>
              <a:t>, and </a:t>
            </a:r>
            <a:r>
              <a:rPr lang="en-GB" sz="1600" b="1" dirty="0"/>
              <a:t>provide meaningful feedback</a:t>
            </a:r>
            <a:r>
              <a:rPr lang="en-GB" sz="1600" dirty="0"/>
              <a:t>.</a:t>
            </a:r>
          </a:p>
          <a:p>
            <a:r>
              <a:rPr lang="en-GB" sz="1600" dirty="0"/>
              <a:t>This often requires </a:t>
            </a:r>
            <a:r>
              <a:rPr lang="en-GB" sz="1600" b="1" dirty="0"/>
              <a:t>training and awareness programs</a:t>
            </a:r>
            <a:r>
              <a:rPr lang="en-GB" sz="1600" dirty="0"/>
              <a:t>.</a:t>
            </a:r>
          </a:p>
          <a:p>
            <a:pPr>
              <a:buFont typeface="Arial" panose="020B0604020202020204" pitchFamily="34" charset="0"/>
              <a:buChar char="•"/>
            </a:pPr>
            <a:endParaRPr lang="en-GB" sz="1600" dirty="0"/>
          </a:p>
          <a:p>
            <a:r>
              <a:rPr lang="en-GB" sz="1600" b="1" dirty="0"/>
              <a:t>3. Risk of Overreliance on AI</a:t>
            </a:r>
          </a:p>
          <a:p>
            <a:r>
              <a:rPr lang="en-GB" sz="1600" dirty="0"/>
              <a:t>Even with human oversight, people may </a:t>
            </a:r>
            <a:r>
              <a:rPr lang="en-GB" sz="1600" b="1" dirty="0"/>
              <a:t>blindly follow AI suggestions</a:t>
            </a:r>
            <a:r>
              <a:rPr lang="en-GB" sz="1600" dirty="0"/>
              <a:t>, especially when AI is perceived as highly accurate.</a:t>
            </a:r>
          </a:p>
          <a:p>
            <a:r>
              <a:rPr lang="en-GB" sz="1600" dirty="0"/>
              <a:t>This can lead to </a:t>
            </a:r>
            <a:r>
              <a:rPr lang="en-GB" sz="1600" b="1" dirty="0"/>
              <a:t>rubber-stamping</a:t>
            </a:r>
            <a:r>
              <a:rPr lang="en-GB" sz="1600" dirty="0"/>
              <a:t> </a:t>
            </a:r>
            <a:r>
              <a:rPr lang="en-GB" sz="1600" dirty="0" err="1"/>
              <a:t>behavior</a:t>
            </a:r>
            <a:r>
              <a:rPr lang="en-GB" sz="1600" dirty="0"/>
              <a:t> without critical evaluation.</a:t>
            </a:r>
          </a:p>
        </p:txBody>
      </p:sp>
    </p:spTree>
    <p:extLst>
      <p:ext uri="{BB962C8B-B14F-4D97-AF65-F5344CB8AC3E}">
        <p14:creationId xmlns:p14="http://schemas.microsoft.com/office/powerpoint/2010/main" val="36260642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62EE11BC-2655-5ACF-20A5-234A92754E20}"/>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DC2A9803-5AAC-F651-8BC9-1026E533848B}"/>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23800A1F-C51B-DB9D-1F75-3CFED65BEE95}"/>
              </a:ext>
            </a:extLst>
          </p:cNvPr>
          <p:cNvSpPr txBox="1">
            <a:spLocks noGrp="1"/>
          </p:cNvSpPr>
          <p:nvPr>
            <p:ph type="title"/>
          </p:nvPr>
        </p:nvSpPr>
        <p:spPr>
          <a:xfrm>
            <a:off x="137159" y="122160"/>
            <a:ext cx="6780475" cy="494528"/>
          </a:xfrm>
          <a:prstGeom prst="rect">
            <a:avLst/>
          </a:prstGeom>
          <a:noFill/>
          <a:ln>
            <a:noFill/>
          </a:ln>
        </p:spPr>
        <p:txBody>
          <a:bodyPr spcFirstLastPara="1" wrap="square" lIns="91425" tIns="91425" rIns="91425" bIns="91425" anchor="t" anchorCtr="0">
            <a:noAutofit/>
          </a:bodyPr>
          <a:lstStyle/>
          <a:p>
            <a:r>
              <a:rPr lang="en-GB" sz="2400" b="1" dirty="0"/>
              <a:t>Real-World Use Cases</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8E6D0C7D-46B2-7F0E-25DB-D455CD3954BB}"/>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2BBDD368-47CD-B060-1207-F7B7A26BBB7B}"/>
              </a:ext>
            </a:extLst>
          </p:cNvPr>
          <p:cNvSpPr txBox="1"/>
          <p:nvPr/>
        </p:nvSpPr>
        <p:spPr>
          <a:xfrm>
            <a:off x="439172" y="882265"/>
            <a:ext cx="8434484" cy="584775"/>
          </a:xfrm>
          <a:prstGeom prst="rect">
            <a:avLst/>
          </a:prstGeom>
          <a:noFill/>
        </p:spPr>
        <p:txBody>
          <a:bodyPr wrap="square" rtlCol="0">
            <a:spAutoFit/>
          </a:bodyPr>
          <a:lstStyle/>
          <a:p>
            <a:pPr>
              <a:buNone/>
            </a:pPr>
            <a:br>
              <a:rPr lang="en-GB" sz="1600" b="0" dirty="0">
                <a:solidFill>
                  <a:schemeClr val="tx1"/>
                </a:solidFill>
              </a:rPr>
            </a:br>
            <a:endParaRPr lang="en-US" sz="1600" dirty="0"/>
          </a:p>
        </p:txBody>
      </p:sp>
      <p:sp>
        <p:nvSpPr>
          <p:cNvPr id="5" name="Rectangle 1">
            <a:extLst>
              <a:ext uri="{FF2B5EF4-FFF2-40B4-BE49-F238E27FC236}">
                <a16:creationId xmlns:a16="http://schemas.microsoft.com/office/drawing/2014/main" id="{F75377F3-7192-0809-CD4F-228EC09C7CAF}"/>
              </a:ext>
            </a:extLst>
          </p:cNvPr>
          <p:cNvSpPr>
            <a:spLocks noChangeArrowheads="1"/>
          </p:cNvSpPr>
          <p:nvPr/>
        </p:nvSpPr>
        <p:spPr bwMode="auto">
          <a:xfrm>
            <a:off x="395440" y="728377"/>
            <a:ext cx="7148223"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GB" sz="2000" b="1" dirty="0"/>
              <a:t>Healthcare</a:t>
            </a:r>
          </a:p>
          <a:p>
            <a:r>
              <a:rPr lang="en-GB" sz="2000" b="1" dirty="0"/>
              <a:t>Pre-decision</a:t>
            </a:r>
            <a:r>
              <a:rPr lang="en-GB" sz="2000" dirty="0"/>
              <a:t>: Medical experts curate and validate training data for radiology models.</a:t>
            </a:r>
          </a:p>
          <a:p>
            <a:r>
              <a:rPr lang="en-GB" sz="2000" b="1" dirty="0"/>
              <a:t>Mid-decision</a:t>
            </a:r>
            <a:r>
              <a:rPr lang="en-GB" sz="2000" dirty="0"/>
              <a:t>: A radiologist uses an AI tool to detect </a:t>
            </a:r>
            <a:r>
              <a:rPr lang="en-GB" sz="2000" dirty="0" err="1"/>
              <a:t>tumors</a:t>
            </a:r>
            <a:r>
              <a:rPr lang="en-GB" sz="2000" dirty="0"/>
              <a:t> but makes the final call.</a:t>
            </a:r>
          </a:p>
          <a:p>
            <a:r>
              <a:rPr lang="en-GB" sz="2000" b="1" dirty="0"/>
              <a:t>Post-decision</a:t>
            </a:r>
            <a:r>
              <a:rPr lang="en-GB" sz="2000" dirty="0"/>
              <a:t>: Hospital reviews treatment recommendations after patient feedback or outcomes.</a:t>
            </a:r>
          </a:p>
          <a:p>
            <a:r>
              <a:rPr lang="en-GB" sz="2000" b="1" dirty="0"/>
              <a:t>HR and Recruitment</a:t>
            </a:r>
          </a:p>
          <a:p>
            <a:r>
              <a:rPr lang="en-GB" sz="2000" dirty="0"/>
              <a:t>AI scores resumes → Human checks for bias or missing nuances → Final list sent to interviewers.</a:t>
            </a:r>
          </a:p>
          <a:p>
            <a:r>
              <a:rPr lang="en-GB" sz="2000" b="1" dirty="0"/>
              <a:t>Finance</a:t>
            </a:r>
          </a:p>
          <a:p>
            <a:r>
              <a:rPr lang="en-GB" sz="2000" dirty="0"/>
              <a:t>AI detects potentially fraudulent transactions → Human analysts verify and take action.</a:t>
            </a:r>
          </a:p>
          <a:p>
            <a:pPr>
              <a:buNone/>
            </a:pPr>
            <a:endParaRPr lang="en-GB" sz="1600" dirty="0"/>
          </a:p>
        </p:txBody>
      </p:sp>
    </p:spTree>
    <p:extLst>
      <p:ext uri="{BB962C8B-B14F-4D97-AF65-F5344CB8AC3E}">
        <p14:creationId xmlns:p14="http://schemas.microsoft.com/office/powerpoint/2010/main" val="2587796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84799DE8-80B8-930B-324E-E68F0059ED82}"/>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B6EE1E28-6B2D-1EA0-E7A2-58C0926773F0}"/>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6281E7CF-889A-8504-E8AF-66F03D1C8F8E}"/>
              </a:ext>
            </a:extLst>
          </p:cNvPr>
          <p:cNvSpPr txBox="1">
            <a:spLocks noGrp="1"/>
          </p:cNvSpPr>
          <p:nvPr>
            <p:ph type="title"/>
          </p:nvPr>
        </p:nvSpPr>
        <p:spPr>
          <a:xfrm>
            <a:off x="137159" y="122160"/>
            <a:ext cx="7480191" cy="494528"/>
          </a:xfrm>
          <a:prstGeom prst="rect">
            <a:avLst/>
          </a:prstGeom>
          <a:noFill/>
          <a:ln>
            <a:noFill/>
          </a:ln>
        </p:spPr>
        <p:txBody>
          <a:bodyPr spcFirstLastPara="1" wrap="square" lIns="91425" tIns="91425" rIns="91425" bIns="91425" anchor="t" anchorCtr="0">
            <a:noAutofit/>
          </a:bodyPr>
          <a:lstStyle/>
          <a:p>
            <a:r>
              <a:rPr lang="en-GB" sz="2400" b="1" dirty="0"/>
              <a:t>Google Photos Tagging Incident — A Case Study in AI Accountability</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F30DAA9F-26B5-DE5B-F272-E86B504F63BE}"/>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9C482343-7294-D0AA-6529-EDB383E01335}"/>
              </a:ext>
            </a:extLst>
          </p:cNvPr>
          <p:cNvSpPr txBox="1"/>
          <p:nvPr/>
        </p:nvSpPr>
        <p:spPr>
          <a:xfrm>
            <a:off x="439172" y="882265"/>
            <a:ext cx="8434484" cy="584775"/>
          </a:xfrm>
          <a:prstGeom prst="rect">
            <a:avLst/>
          </a:prstGeom>
          <a:noFill/>
        </p:spPr>
        <p:txBody>
          <a:bodyPr wrap="square" rtlCol="0">
            <a:spAutoFit/>
          </a:bodyPr>
          <a:lstStyle/>
          <a:p>
            <a:pPr>
              <a:buNone/>
            </a:pPr>
            <a:br>
              <a:rPr lang="en-GB" sz="1600" b="0" dirty="0">
                <a:solidFill>
                  <a:schemeClr val="tx1"/>
                </a:solidFill>
              </a:rPr>
            </a:br>
            <a:endParaRPr lang="en-US" sz="1600" dirty="0"/>
          </a:p>
        </p:txBody>
      </p:sp>
      <p:sp>
        <p:nvSpPr>
          <p:cNvPr id="5" name="Rectangle 1">
            <a:extLst>
              <a:ext uri="{FF2B5EF4-FFF2-40B4-BE49-F238E27FC236}">
                <a16:creationId xmlns:a16="http://schemas.microsoft.com/office/drawing/2014/main" id="{C3800F44-B9E7-6C48-16DB-F4A2A14E27E4}"/>
              </a:ext>
            </a:extLst>
          </p:cNvPr>
          <p:cNvSpPr>
            <a:spLocks noChangeArrowheads="1"/>
          </p:cNvSpPr>
          <p:nvPr/>
        </p:nvSpPr>
        <p:spPr bwMode="auto">
          <a:xfrm>
            <a:off x="395440" y="978422"/>
            <a:ext cx="7148223"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GB" sz="1600" b="1" dirty="0"/>
              <a:t> Problem: AI </a:t>
            </a:r>
            <a:r>
              <a:rPr lang="en-GB" sz="1600" b="1" dirty="0" err="1"/>
              <a:t>Mislabeled</a:t>
            </a:r>
            <a:r>
              <a:rPr lang="en-GB" sz="1600" b="1" dirty="0"/>
              <a:t> African-Americans as “Gorillas”</a:t>
            </a:r>
          </a:p>
          <a:p>
            <a:pPr>
              <a:buNone/>
            </a:pPr>
            <a:r>
              <a:rPr lang="en-GB" sz="1600" dirty="0"/>
              <a:t>In </a:t>
            </a:r>
            <a:r>
              <a:rPr lang="en-GB" sz="1600" b="1" dirty="0"/>
              <a:t>2015</a:t>
            </a:r>
            <a:r>
              <a:rPr lang="en-GB" sz="1600" dirty="0"/>
              <a:t>, Google Photos’ AI-based image recognition system </a:t>
            </a:r>
            <a:r>
              <a:rPr lang="en-GB" sz="1600" b="1" dirty="0"/>
              <a:t>automatically tagged African-American individuals in photos as “gorillas.”</a:t>
            </a:r>
            <a:br>
              <a:rPr lang="en-GB" sz="1600" dirty="0"/>
            </a:br>
            <a:r>
              <a:rPr lang="en-GB" sz="1600" dirty="0"/>
              <a:t>This was not only a </a:t>
            </a:r>
            <a:r>
              <a:rPr lang="en-GB" sz="1600" b="1" dirty="0"/>
              <a:t>technical failure</a:t>
            </a:r>
            <a:r>
              <a:rPr lang="en-GB" sz="1600" dirty="0"/>
              <a:t> but also a deeply </a:t>
            </a:r>
            <a:r>
              <a:rPr lang="en-GB" sz="1600" b="1" dirty="0"/>
              <a:t>offensive and harmful mistake</a:t>
            </a:r>
            <a:r>
              <a:rPr lang="en-GB" sz="1600" dirty="0"/>
              <a:t>, sparking widespread public outrage.</a:t>
            </a:r>
          </a:p>
          <a:p>
            <a:pPr>
              <a:buNone/>
            </a:pPr>
            <a:r>
              <a:rPr lang="en-GB" sz="1600" b="1" dirty="0"/>
              <a:t>Accountability Issue</a:t>
            </a:r>
          </a:p>
          <a:p>
            <a:pPr>
              <a:buNone/>
            </a:pPr>
            <a:r>
              <a:rPr lang="en-GB" sz="1600" b="1" dirty="0"/>
              <a:t>1. Inadequate and Biased Training Data</a:t>
            </a:r>
          </a:p>
          <a:p>
            <a:r>
              <a:rPr lang="en-GB" sz="1600" dirty="0"/>
              <a:t>The model was likely trained on a dataset </a:t>
            </a:r>
            <a:r>
              <a:rPr lang="en-GB" sz="1600" b="1" dirty="0"/>
              <a:t>not representative of diverse racial groups</a:t>
            </a:r>
            <a:r>
              <a:rPr lang="en-GB" sz="1600" dirty="0"/>
              <a:t>.</a:t>
            </a:r>
          </a:p>
          <a:p>
            <a:r>
              <a:rPr lang="en-GB" sz="1600" dirty="0"/>
              <a:t>Underrepresentation of people of </a:t>
            </a:r>
            <a:r>
              <a:rPr lang="en-GB" sz="1600" dirty="0" err="1"/>
              <a:t>color</a:t>
            </a:r>
            <a:r>
              <a:rPr lang="en-GB" sz="1600" dirty="0"/>
              <a:t> in the training set led to </a:t>
            </a:r>
            <a:r>
              <a:rPr lang="en-GB" sz="1600" b="1" dirty="0"/>
              <a:t>misclassification</a:t>
            </a:r>
            <a:r>
              <a:rPr lang="en-GB" sz="1600" dirty="0"/>
              <a:t> due to lack of feature differentiation.</a:t>
            </a:r>
          </a:p>
          <a:p>
            <a:pPr>
              <a:buNone/>
            </a:pPr>
            <a:r>
              <a:rPr lang="en-GB" sz="1600" b="1" dirty="0"/>
              <a:t>2. Lack of Human Review and Testing</a:t>
            </a:r>
          </a:p>
          <a:p>
            <a:r>
              <a:rPr lang="en-GB" sz="1600" dirty="0"/>
              <a:t>The system went live </a:t>
            </a:r>
            <a:r>
              <a:rPr lang="en-GB" sz="1600" b="1" dirty="0"/>
              <a:t>without thorough Human-in-the-Loop testing</a:t>
            </a:r>
            <a:r>
              <a:rPr lang="en-GB" sz="1600" dirty="0"/>
              <a:t>, especially for </a:t>
            </a:r>
            <a:r>
              <a:rPr lang="en-GB" sz="1600" b="1" dirty="0"/>
              <a:t>sensitive and socially impactful labels</a:t>
            </a:r>
            <a:r>
              <a:rPr lang="en-GB" sz="1600" dirty="0"/>
              <a:t>.</a:t>
            </a:r>
          </a:p>
          <a:p>
            <a:r>
              <a:rPr lang="en-GB" sz="1600" dirty="0"/>
              <a:t>There was </a:t>
            </a:r>
            <a:r>
              <a:rPr lang="en-GB" sz="1600" b="1" dirty="0"/>
              <a:t>no safety mechanism</a:t>
            </a:r>
            <a:r>
              <a:rPr lang="en-GB" sz="1600" dirty="0"/>
              <a:t> or human audit to detect and correct this harmful classification before deployment.</a:t>
            </a:r>
          </a:p>
          <a:p>
            <a:pPr>
              <a:buNone/>
            </a:pPr>
            <a:endParaRPr lang="en-GB" sz="1600" dirty="0"/>
          </a:p>
        </p:txBody>
      </p:sp>
    </p:spTree>
    <p:extLst>
      <p:ext uri="{BB962C8B-B14F-4D97-AF65-F5344CB8AC3E}">
        <p14:creationId xmlns:p14="http://schemas.microsoft.com/office/powerpoint/2010/main" val="5514926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19A53476-F536-FFAC-EA9F-4548B299B76D}"/>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BE14F46A-4DC8-2EFD-3EBB-A57D932C868D}"/>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45F61CD5-E71F-9D92-E379-B7D21BCDEBAD}"/>
              </a:ext>
            </a:extLst>
          </p:cNvPr>
          <p:cNvSpPr txBox="1">
            <a:spLocks noGrp="1"/>
          </p:cNvSpPr>
          <p:nvPr>
            <p:ph type="title"/>
          </p:nvPr>
        </p:nvSpPr>
        <p:spPr>
          <a:xfrm>
            <a:off x="137159" y="122160"/>
            <a:ext cx="7480191" cy="494528"/>
          </a:xfrm>
          <a:prstGeom prst="rect">
            <a:avLst/>
          </a:prstGeom>
          <a:noFill/>
          <a:ln>
            <a:noFill/>
          </a:ln>
        </p:spPr>
        <p:txBody>
          <a:bodyPr spcFirstLastPara="1" wrap="square" lIns="91425" tIns="91425" rIns="91425" bIns="91425" anchor="t" anchorCtr="0">
            <a:noAutofit/>
          </a:bodyPr>
          <a:lstStyle/>
          <a:p>
            <a:r>
              <a:rPr lang="en-GB" sz="2400" b="1" dirty="0"/>
              <a:t>Google Photos Tagging Incident — A Case Study in AI Accountability</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9B02541A-1E2E-5B1D-76A8-6D07880067E7}"/>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AC3129D5-6FBB-8CA6-ED44-050C92ADF49E}"/>
              </a:ext>
            </a:extLst>
          </p:cNvPr>
          <p:cNvSpPr txBox="1"/>
          <p:nvPr/>
        </p:nvSpPr>
        <p:spPr>
          <a:xfrm>
            <a:off x="439172" y="882265"/>
            <a:ext cx="8434484" cy="584775"/>
          </a:xfrm>
          <a:prstGeom prst="rect">
            <a:avLst/>
          </a:prstGeom>
          <a:noFill/>
        </p:spPr>
        <p:txBody>
          <a:bodyPr wrap="square" rtlCol="0">
            <a:spAutoFit/>
          </a:bodyPr>
          <a:lstStyle/>
          <a:p>
            <a:pPr>
              <a:buNone/>
            </a:pPr>
            <a:br>
              <a:rPr lang="en-GB" sz="1600" b="0" dirty="0">
                <a:solidFill>
                  <a:schemeClr val="tx1"/>
                </a:solidFill>
              </a:rPr>
            </a:br>
            <a:endParaRPr lang="en-US" sz="1600" dirty="0"/>
          </a:p>
        </p:txBody>
      </p:sp>
      <p:sp>
        <p:nvSpPr>
          <p:cNvPr id="5" name="Rectangle 1">
            <a:extLst>
              <a:ext uri="{FF2B5EF4-FFF2-40B4-BE49-F238E27FC236}">
                <a16:creationId xmlns:a16="http://schemas.microsoft.com/office/drawing/2014/main" id="{7CA73E4D-EC78-ED00-DBB3-C896F4F47D99}"/>
              </a:ext>
            </a:extLst>
          </p:cNvPr>
          <p:cNvSpPr>
            <a:spLocks noChangeArrowheads="1"/>
          </p:cNvSpPr>
          <p:nvPr/>
        </p:nvSpPr>
        <p:spPr bwMode="auto">
          <a:xfrm>
            <a:off x="602174" y="1145787"/>
            <a:ext cx="714822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GB" sz="1600" b="1" dirty="0"/>
              <a:t>Solution: Human-in-the-Loop and Dataset Audits</a:t>
            </a:r>
          </a:p>
          <a:p>
            <a:pPr>
              <a:buNone/>
            </a:pPr>
            <a:r>
              <a:rPr lang="en-GB" sz="1600" dirty="0"/>
              <a:t>To address the problem, Google implemented several measures, including:</a:t>
            </a:r>
          </a:p>
          <a:p>
            <a:pPr>
              <a:buNone/>
            </a:pPr>
            <a:r>
              <a:rPr lang="en-GB" sz="1600" b="1" dirty="0"/>
              <a:t>1. Stricter HITL Testing</a:t>
            </a:r>
          </a:p>
          <a:p>
            <a:r>
              <a:rPr lang="en-GB" sz="1600" dirty="0"/>
              <a:t>Introduced human review checkpoints during AI training and testing.</a:t>
            </a:r>
          </a:p>
          <a:p>
            <a:r>
              <a:rPr lang="en-GB" sz="1600" dirty="0"/>
              <a:t>Now, sensitive labels (like race, gender, religion) undergo manual verification and are often disabled by default to avoid offensive outputs.</a:t>
            </a:r>
          </a:p>
          <a:p>
            <a:pPr>
              <a:buNone/>
            </a:pPr>
            <a:r>
              <a:rPr lang="en-GB" sz="1600" b="1" dirty="0"/>
              <a:t>2. Improved Dataset Curation and Auditing</a:t>
            </a:r>
          </a:p>
          <a:p>
            <a:r>
              <a:rPr lang="en-GB" sz="1600" dirty="0"/>
              <a:t>Conducted bias audits on training datasets to ensure diverse and representative samples.</a:t>
            </a:r>
          </a:p>
          <a:p>
            <a:r>
              <a:rPr lang="en-GB" sz="1600" dirty="0"/>
              <a:t>Applied data augmentation and rebalancing techniques to reduce bias.</a:t>
            </a:r>
          </a:p>
          <a:p>
            <a:pPr>
              <a:buNone/>
            </a:pPr>
            <a:r>
              <a:rPr lang="en-GB" sz="1600" b="1" dirty="0"/>
              <a:t>3. Limiting Sensitive Categories</a:t>
            </a:r>
          </a:p>
          <a:p>
            <a:r>
              <a:rPr lang="en-GB" sz="1600" b="1" dirty="0"/>
              <a:t>For example, Google removed the ability to tag images as “gorillas” altogether to prevent similar incidents until the technology improves.</a:t>
            </a:r>
          </a:p>
          <a:p>
            <a:pPr>
              <a:buNone/>
            </a:pPr>
            <a:endParaRPr lang="en-GB" sz="1600" dirty="0"/>
          </a:p>
        </p:txBody>
      </p:sp>
    </p:spTree>
    <p:extLst>
      <p:ext uri="{BB962C8B-B14F-4D97-AF65-F5344CB8AC3E}">
        <p14:creationId xmlns:p14="http://schemas.microsoft.com/office/powerpoint/2010/main" val="1350778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CAD670BF-D731-E157-08B2-BF931F4367BB}"/>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5E6213C0-EB87-5B2E-D378-3D942693367A}"/>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A9560621-684D-D572-B2CB-0CD62EFD3625}"/>
              </a:ext>
            </a:extLst>
          </p:cNvPr>
          <p:cNvSpPr txBox="1">
            <a:spLocks noGrp="1"/>
          </p:cNvSpPr>
          <p:nvPr>
            <p:ph type="title"/>
          </p:nvPr>
        </p:nvSpPr>
        <p:spPr>
          <a:xfrm>
            <a:off x="137159" y="122160"/>
            <a:ext cx="7480191" cy="494528"/>
          </a:xfrm>
          <a:prstGeom prst="rect">
            <a:avLst/>
          </a:prstGeom>
          <a:noFill/>
          <a:ln>
            <a:noFill/>
          </a:ln>
        </p:spPr>
        <p:txBody>
          <a:bodyPr spcFirstLastPara="1" wrap="square" lIns="91425" tIns="91425" rIns="91425" bIns="91425" anchor="t" anchorCtr="0">
            <a:noAutofit/>
          </a:bodyPr>
          <a:lstStyle/>
          <a:p>
            <a:r>
              <a:rPr lang="en-GB" sz="2400" b="1" dirty="0"/>
              <a:t>Best Practices Checklist for Building Accountable AI</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ED7E8965-7B58-DF64-631A-0EC9A18D4FA3}"/>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06A5250E-17EA-7393-CB29-4D0C4E9BC53B}"/>
              </a:ext>
            </a:extLst>
          </p:cNvPr>
          <p:cNvSpPr txBox="1"/>
          <p:nvPr/>
        </p:nvSpPr>
        <p:spPr>
          <a:xfrm>
            <a:off x="439172" y="882265"/>
            <a:ext cx="8434484" cy="584775"/>
          </a:xfrm>
          <a:prstGeom prst="rect">
            <a:avLst/>
          </a:prstGeom>
          <a:noFill/>
        </p:spPr>
        <p:txBody>
          <a:bodyPr wrap="square" rtlCol="0">
            <a:spAutoFit/>
          </a:bodyPr>
          <a:lstStyle/>
          <a:p>
            <a:pPr>
              <a:buNone/>
            </a:pPr>
            <a:br>
              <a:rPr lang="en-GB" sz="1600" b="0" dirty="0">
                <a:solidFill>
                  <a:schemeClr val="tx1"/>
                </a:solidFill>
              </a:rPr>
            </a:br>
            <a:endParaRPr lang="en-US" sz="1600" dirty="0"/>
          </a:p>
        </p:txBody>
      </p:sp>
      <p:sp>
        <p:nvSpPr>
          <p:cNvPr id="5" name="Rectangle 1">
            <a:extLst>
              <a:ext uri="{FF2B5EF4-FFF2-40B4-BE49-F238E27FC236}">
                <a16:creationId xmlns:a16="http://schemas.microsoft.com/office/drawing/2014/main" id="{0CC9D9F9-E0D9-4007-90D5-984C9671F51A}"/>
              </a:ext>
            </a:extLst>
          </p:cNvPr>
          <p:cNvSpPr>
            <a:spLocks noChangeArrowheads="1"/>
          </p:cNvSpPr>
          <p:nvPr/>
        </p:nvSpPr>
        <p:spPr bwMode="auto">
          <a:xfrm>
            <a:off x="602174" y="1499730"/>
            <a:ext cx="7148223"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mj-lt"/>
              <a:buAutoNum type="arabicPeriod"/>
            </a:pPr>
            <a:r>
              <a:rPr lang="en-GB" sz="1800" dirty="0"/>
              <a:t>Assign clear roles (e.g., Data Steward, Ethics Officer)</a:t>
            </a:r>
          </a:p>
          <a:p>
            <a:pPr marL="457200" indent="-457200">
              <a:buFont typeface="+mj-lt"/>
              <a:buAutoNum type="arabicPeriod"/>
            </a:pPr>
            <a:r>
              <a:rPr lang="en-GB" sz="1800" dirty="0"/>
              <a:t>Maintain detailed documentation (Model cards, Data sheets)</a:t>
            </a:r>
          </a:p>
          <a:p>
            <a:pPr marL="457200" indent="-457200">
              <a:buFont typeface="+mj-lt"/>
              <a:buAutoNum type="arabicPeriod"/>
            </a:pPr>
            <a:r>
              <a:rPr lang="en-GB" sz="1800" dirty="0"/>
              <a:t>Use explainable AI tools (SHAP, LIME)</a:t>
            </a:r>
          </a:p>
          <a:p>
            <a:pPr marL="457200" indent="-457200">
              <a:buFont typeface="+mj-lt"/>
              <a:buAutoNum type="arabicPeriod"/>
            </a:pPr>
            <a:r>
              <a:rPr lang="en-GB" sz="1800" dirty="0"/>
              <a:t>Conduct regular bias and fairness audits</a:t>
            </a:r>
          </a:p>
          <a:p>
            <a:pPr marL="457200" indent="-457200">
              <a:buFont typeface="+mj-lt"/>
              <a:buAutoNum type="arabicPeriod"/>
            </a:pPr>
            <a:r>
              <a:rPr lang="en-GB" sz="1800" dirty="0"/>
              <a:t>Build feedback loops and appeal mechanisms</a:t>
            </a:r>
          </a:p>
          <a:p>
            <a:pPr marL="457200" indent="-457200">
              <a:buFont typeface="+mj-lt"/>
              <a:buAutoNum type="arabicPeriod"/>
            </a:pPr>
            <a:r>
              <a:rPr lang="en-GB" sz="1800" dirty="0"/>
              <a:t>Involve humans in sensitive decisions</a:t>
            </a:r>
          </a:p>
          <a:p>
            <a:pPr marL="457200" indent="-457200">
              <a:buFont typeface="+mj-lt"/>
              <a:buAutoNum type="arabicPeriod"/>
            </a:pPr>
            <a:r>
              <a:rPr lang="en-GB" sz="1800" dirty="0"/>
              <a:t>Monitor performance post-deployment</a:t>
            </a:r>
          </a:p>
          <a:p>
            <a:pPr marL="457200" indent="-457200">
              <a:buFont typeface="+mj-lt"/>
              <a:buAutoNum type="arabicPeriod"/>
            </a:pPr>
            <a:r>
              <a:rPr lang="en-GB" sz="1800" dirty="0"/>
              <a:t>Ensure compliance with relevant legal frameworks (GDPR, AI Act)</a:t>
            </a:r>
          </a:p>
          <a:p>
            <a:pPr>
              <a:buNone/>
            </a:pPr>
            <a:endParaRPr lang="en-GB" sz="1600" dirty="0"/>
          </a:p>
        </p:txBody>
      </p:sp>
    </p:spTree>
    <p:extLst>
      <p:ext uri="{BB962C8B-B14F-4D97-AF65-F5344CB8AC3E}">
        <p14:creationId xmlns:p14="http://schemas.microsoft.com/office/powerpoint/2010/main" val="3552005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107"/>
        <p:cNvGrpSpPr/>
        <p:nvPr/>
      </p:nvGrpSpPr>
      <p:grpSpPr>
        <a:xfrm>
          <a:off x="0" y="0"/>
          <a:ext cx="0" cy="0"/>
          <a:chOff x="0" y="0"/>
          <a:chExt cx="0" cy="0"/>
        </a:xfrm>
      </p:grpSpPr>
      <p:pic>
        <p:nvPicPr>
          <p:cNvPr id="108" name="Google Shape;108;p10"/>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109" name="Google Shape;109;p10"/>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3200" b="1" dirty="0"/>
              <a:t>Summary</a:t>
            </a:r>
            <a:br>
              <a:rPr lang="en-GB" sz="3200" b="1" dirty="0"/>
            </a:br>
            <a:br>
              <a:rPr lang="en-US" sz="1600" dirty="0">
                <a:latin typeface="Arial"/>
                <a:ea typeface="Arial"/>
                <a:cs typeface="Arial"/>
                <a:sym typeface="Arial"/>
              </a:rPr>
            </a:br>
            <a:endParaRPr sz="3200" dirty="0"/>
          </a:p>
        </p:txBody>
      </p:sp>
      <p:sp>
        <p:nvSpPr>
          <p:cNvPr id="4" name="TextBox 3">
            <a:extLst>
              <a:ext uri="{FF2B5EF4-FFF2-40B4-BE49-F238E27FC236}">
                <a16:creationId xmlns:a16="http://schemas.microsoft.com/office/drawing/2014/main" id="{F35F6B0B-CDF5-6247-EEAD-F2816EA369FC}"/>
              </a:ext>
            </a:extLst>
          </p:cNvPr>
          <p:cNvSpPr txBox="1"/>
          <p:nvPr/>
        </p:nvSpPr>
        <p:spPr>
          <a:xfrm>
            <a:off x="725624" y="743909"/>
            <a:ext cx="7279162" cy="3539430"/>
          </a:xfrm>
          <a:prstGeom prst="rect">
            <a:avLst/>
          </a:prstGeom>
          <a:noFill/>
        </p:spPr>
        <p:txBody>
          <a:bodyPr wrap="square">
            <a:spAutoFit/>
          </a:bodyPr>
          <a:lstStyle/>
          <a:p>
            <a:pPr>
              <a:buFont typeface="+mj-lt"/>
              <a:buAutoNum type="arabicPeriod"/>
            </a:pPr>
            <a:r>
              <a:rPr lang="en-GB" sz="1600" b="1" dirty="0"/>
              <a:t>Accountable AI</a:t>
            </a:r>
            <a:r>
              <a:rPr lang="en-GB" sz="1600" dirty="0"/>
              <a:t> ensures transparency, fairness, and ethical responsibility in AI systems, especially in sensitive applications like healthcare and justice.</a:t>
            </a:r>
          </a:p>
          <a:p>
            <a:pPr>
              <a:buFont typeface="+mj-lt"/>
              <a:buAutoNum type="arabicPeriod"/>
            </a:pPr>
            <a:r>
              <a:rPr lang="en-GB" sz="1600" b="1" dirty="0"/>
              <a:t>Accountability frameworks</a:t>
            </a:r>
            <a:r>
              <a:rPr lang="en-GB" sz="1600" dirty="0"/>
              <a:t> define roles, responsibilities, ethical guidelines, and documentation processes to govern AI lifecycle and decision-making.</a:t>
            </a:r>
          </a:p>
          <a:p>
            <a:pPr>
              <a:buFont typeface="+mj-lt"/>
              <a:buAutoNum type="arabicPeriod"/>
            </a:pPr>
            <a:r>
              <a:rPr lang="en-GB" sz="1600" b="1" dirty="0"/>
              <a:t>Tracking and auditing mechanisms</a:t>
            </a:r>
            <a:r>
              <a:rPr lang="en-GB" sz="1600" dirty="0"/>
              <a:t>—including logging, model cards, explainability tools (like SHAP, LIME), and bias audits—help monitor and understand AI decisions.</a:t>
            </a:r>
          </a:p>
          <a:p>
            <a:pPr>
              <a:buFont typeface="+mj-lt"/>
              <a:buAutoNum type="arabicPeriod"/>
            </a:pPr>
            <a:r>
              <a:rPr lang="en-GB" sz="1600" b="1" dirty="0"/>
              <a:t>Human-in-the-loop (HITL) approaches</a:t>
            </a:r>
            <a:r>
              <a:rPr lang="en-GB" sz="1600" dirty="0"/>
              <a:t> involve human oversight during AI input, decision-making, or post-decision review, ensuring control and reliability.</a:t>
            </a:r>
          </a:p>
          <a:p>
            <a:pPr>
              <a:buFont typeface="+mj-lt"/>
              <a:buAutoNum type="arabicPeriod"/>
            </a:pPr>
            <a:r>
              <a:rPr lang="en-GB" sz="1600" b="1" dirty="0"/>
              <a:t>Case studies</a:t>
            </a:r>
            <a:r>
              <a:rPr lang="en-GB" sz="1600" dirty="0"/>
              <a:t> reveal the risks of lacking accountability (e.g., COMPAS bias, Google Photos </a:t>
            </a:r>
            <a:r>
              <a:rPr lang="en-GB" sz="1600" dirty="0" err="1"/>
              <a:t>mislabeling</a:t>
            </a:r>
            <a:r>
              <a:rPr lang="en-GB" sz="1600" dirty="0"/>
              <a:t>) and stress the need for ethical checks.</a:t>
            </a:r>
          </a:p>
          <a:p>
            <a:pPr>
              <a:buFont typeface="+mj-lt"/>
              <a:buAutoNum type="arabicPeriod"/>
            </a:pPr>
            <a:r>
              <a:rPr lang="en-GB" sz="1600" b="1" dirty="0"/>
              <a:t>Best practices</a:t>
            </a:r>
            <a:r>
              <a:rPr lang="en-GB" sz="1600" dirty="0"/>
              <a:t> include using explainable AI, regular audits, stakeholder involvement, proper documentation, and compliance with legal regulations.</a:t>
            </a:r>
          </a:p>
          <a:p>
            <a:pPr algn="l"/>
            <a:endParaRPr lang="en-GB" sz="1600" b="0" i="0" u="none" strike="noStrike" dirty="0">
              <a:solidFill>
                <a:srgbClr val="000000"/>
              </a:solidFill>
              <a:effectL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107">
          <a:extLst>
            <a:ext uri="{FF2B5EF4-FFF2-40B4-BE49-F238E27FC236}">
              <a16:creationId xmlns:a16="http://schemas.microsoft.com/office/drawing/2014/main" id="{69586EBE-1B86-2014-119D-B347B99FCA1F}"/>
            </a:ext>
          </a:extLst>
        </p:cNvPr>
        <p:cNvGrpSpPr/>
        <p:nvPr/>
      </p:nvGrpSpPr>
      <p:grpSpPr>
        <a:xfrm>
          <a:off x="0" y="0"/>
          <a:ext cx="0" cy="0"/>
          <a:chOff x="0" y="0"/>
          <a:chExt cx="0" cy="0"/>
        </a:xfrm>
      </p:grpSpPr>
      <p:pic>
        <p:nvPicPr>
          <p:cNvPr id="108" name="Google Shape;108;p10">
            <a:extLst>
              <a:ext uri="{FF2B5EF4-FFF2-40B4-BE49-F238E27FC236}">
                <a16:creationId xmlns:a16="http://schemas.microsoft.com/office/drawing/2014/main" id="{0D0A301F-6465-E916-608E-76C4F4921635}"/>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109" name="Google Shape;109;p10">
            <a:extLst>
              <a:ext uri="{FF2B5EF4-FFF2-40B4-BE49-F238E27FC236}">
                <a16:creationId xmlns:a16="http://schemas.microsoft.com/office/drawing/2014/main" id="{1D46B072-8E42-3F74-AB3A-23E960F17364}"/>
              </a:ext>
            </a:extLst>
          </p:cNvPr>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3200" b="1" dirty="0"/>
              <a:t>Resources for Further Study</a:t>
            </a:r>
            <a:br>
              <a:rPr lang="en-GB" sz="3200" b="1" dirty="0"/>
            </a:br>
            <a:br>
              <a:rPr lang="en-US" sz="1600" dirty="0">
                <a:latin typeface="Arial"/>
                <a:ea typeface="Arial"/>
                <a:cs typeface="Arial"/>
                <a:sym typeface="Arial"/>
              </a:rPr>
            </a:br>
            <a:endParaRPr sz="3200" dirty="0"/>
          </a:p>
        </p:txBody>
      </p:sp>
      <p:sp>
        <p:nvSpPr>
          <p:cNvPr id="4" name="TextBox 3">
            <a:extLst>
              <a:ext uri="{FF2B5EF4-FFF2-40B4-BE49-F238E27FC236}">
                <a16:creationId xmlns:a16="http://schemas.microsoft.com/office/drawing/2014/main" id="{FAEACB99-25A5-41A5-42FE-4AD61E88DC07}"/>
              </a:ext>
            </a:extLst>
          </p:cNvPr>
          <p:cNvSpPr txBox="1"/>
          <p:nvPr/>
        </p:nvSpPr>
        <p:spPr>
          <a:xfrm>
            <a:off x="1093562" y="1151877"/>
            <a:ext cx="5961489" cy="1815882"/>
          </a:xfrm>
          <a:prstGeom prst="rect">
            <a:avLst/>
          </a:prstGeom>
          <a:noFill/>
        </p:spPr>
        <p:txBody>
          <a:bodyPr wrap="square">
            <a:spAutoFit/>
          </a:bodyPr>
          <a:lstStyle/>
          <a:p>
            <a:pPr marL="285750" indent="-285750">
              <a:buFont typeface="Arial" panose="020B0604020202020204" pitchFamily="34" charset="0"/>
              <a:buChar char="•"/>
            </a:pPr>
            <a:r>
              <a:rPr lang="en-GB" sz="1600" b="1" dirty="0">
                <a:effectLst/>
              </a:rPr>
              <a:t>EU AI Act (Regulation on AI accountability)</a:t>
            </a:r>
          </a:p>
          <a:p>
            <a:pPr marL="285750" indent="-285750">
              <a:buFont typeface="Arial" panose="020B0604020202020204" pitchFamily="34" charset="0"/>
              <a:buChar char="•"/>
            </a:pPr>
            <a:r>
              <a:rPr lang="en-GB" sz="1600" b="1" dirty="0">
                <a:effectLst/>
              </a:rPr>
              <a:t>Google’s Responsible AI Practices</a:t>
            </a:r>
          </a:p>
          <a:p>
            <a:pPr marL="285750" indent="-285750">
              <a:buFont typeface="Arial" panose="020B0604020202020204" pitchFamily="34" charset="0"/>
              <a:buChar char="•"/>
            </a:pPr>
            <a:r>
              <a:rPr lang="en-GB" sz="1600" b="1" dirty="0">
                <a:effectLst/>
              </a:rPr>
              <a:t>IBM’s AI Fairness 360 Toolkit</a:t>
            </a:r>
          </a:p>
          <a:p>
            <a:pPr marL="285750" indent="-285750">
              <a:buFont typeface="Arial" panose="020B0604020202020204" pitchFamily="34" charset="0"/>
              <a:buChar char="•"/>
            </a:pPr>
            <a:r>
              <a:rPr lang="en-GB" sz="1600" b="1" dirty="0"/>
              <a:t>Ethics of AI – Stanford </a:t>
            </a:r>
            <a:r>
              <a:rPr lang="en-GB" sz="1600" b="1" dirty="0" err="1"/>
              <a:t>Encyclopedia</a:t>
            </a:r>
            <a:endParaRPr lang="en-GB" sz="1600" b="1" dirty="0"/>
          </a:p>
          <a:p>
            <a:pPr marL="285750" indent="-285750">
              <a:buFont typeface="Arial" panose="020B0604020202020204" pitchFamily="34" charset="0"/>
              <a:buChar char="•"/>
            </a:pPr>
            <a:r>
              <a:rPr lang="en-GB" sz="1600" b="1" dirty="0"/>
              <a:t>Microsoft Responsible AI</a:t>
            </a:r>
          </a:p>
          <a:p>
            <a:pPr marL="285750" indent="-285750">
              <a:buFont typeface="Arial" panose="020B0604020202020204" pitchFamily="34" charset="0"/>
              <a:buChar char="•"/>
            </a:pPr>
            <a:r>
              <a:rPr lang="en-GB" sz="1600" b="1" dirty="0"/>
              <a:t>Google Responsible AI</a:t>
            </a:r>
            <a:endParaRPr lang="en-GB" sz="1600" b="1" dirty="0">
              <a:effectLst/>
            </a:endParaRPr>
          </a:p>
          <a:p>
            <a:pPr marL="285750" indent="-285750" algn="l">
              <a:buFont typeface="Arial" panose="020B0604020202020204" pitchFamily="34" charset="0"/>
              <a:buChar char="•"/>
            </a:pPr>
            <a:endParaRPr lang="en-GB" sz="1600" b="0" i="0" u="none" strike="noStrike" dirty="0">
              <a:solidFill>
                <a:srgbClr val="000000"/>
              </a:solidFill>
              <a:effectLst/>
            </a:endParaRPr>
          </a:p>
        </p:txBody>
      </p:sp>
    </p:spTree>
    <p:extLst>
      <p:ext uri="{BB962C8B-B14F-4D97-AF65-F5344CB8AC3E}">
        <p14:creationId xmlns:p14="http://schemas.microsoft.com/office/powerpoint/2010/main" val="1032964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5268</TotalTime>
  <Words>2550</Words>
  <Application>Microsoft Macintosh PowerPoint</Application>
  <PresentationFormat>On-screen Show (16:9)</PresentationFormat>
  <Paragraphs>275</Paragraphs>
  <Slides>28</Slides>
  <Notes>28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IBM Plex Sans Arabic Medium</vt:lpstr>
      <vt:lpstr>Tajawal</vt:lpstr>
      <vt:lpstr>Times New Roman</vt:lpstr>
      <vt:lpstr>Inter</vt:lpstr>
      <vt:lpstr>IBM Plex Sans Arabic</vt:lpstr>
      <vt:lpstr>Calibri</vt:lpstr>
      <vt:lpstr>IBM Plex Sans Arabic SemiBold</vt:lpstr>
      <vt:lpstr>Wingdings</vt:lpstr>
      <vt:lpstr>Proxima Nova</vt:lpstr>
      <vt:lpstr>-webkit-standard</vt:lpstr>
      <vt:lpstr>Arial</vt:lpstr>
      <vt:lpstr>Simple Light</vt:lpstr>
      <vt:lpstr>أكـــــاديميــــة طــــويـــق</vt:lpstr>
      <vt:lpstr>      Building Accountable AI Systems   </vt:lpstr>
      <vt:lpstr>PowerPoint Presentation</vt:lpstr>
      <vt:lpstr>Introduction to Accountable AI Systems      </vt:lpstr>
      <vt:lpstr>Designing AI Systems with Clear Accountability Frameworks     </vt:lpstr>
      <vt:lpstr>Designing AI Systems with Clear Accountability Frameworks     </vt:lpstr>
      <vt:lpstr>Designing AI Systems with Clear Accountability Frameworks     </vt:lpstr>
      <vt:lpstr>Designing AI Systems with Clear Accountability Frameworks     </vt:lpstr>
      <vt:lpstr>Key Components of an Accountability Framework:     </vt:lpstr>
      <vt:lpstr>Mechanisms for Tracking and Auditing AI Decision-Making      </vt:lpstr>
      <vt:lpstr>A. Logging and Monitoring </vt:lpstr>
      <vt:lpstr>B. Model Cards and Data Sheets  </vt:lpstr>
      <vt:lpstr>C. Explainability Tools   </vt:lpstr>
      <vt:lpstr>D. Audit Trails    </vt:lpstr>
      <vt:lpstr>E. Bias &amp; Fairness Audits     </vt:lpstr>
      <vt:lpstr>Real-Life Example: AI in Healthcare      </vt:lpstr>
      <vt:lpstr>Human-in-the-Loop (HITL) Approaches in AI       </vt:lpstr>
      <vt:lpstr>Human-in-the-Loop (HITL) Approaches in AI       </vt:lpstr>
      <vt:lpstr>B. Benefits of HITL        </vt:lpstr>
      <vt:lpstr>C. Challenges of HITL         </vt:lpstr>
      <vt:lpstr>Real-World Use Cases          </vt:lpstr>
      <vt:lpstr>Google Photos Tagging Incident — A Case Study in AI Accountability           </vt:lpstr>
      <vt:lpstr>Google Photos Tagging Incident — A Case Study in AI Accountability           </vt:lpstr>
      <vt:lpstr>Best Practices Checklist for Building Accountable AI            </vt:lpstr>
      <vt:lpstr>Summary  </vt:lpstr>
      <vt:lpstr>Resources for Further Study  </vt:lpstr>
      <vt:lpstr>الشراكات العالمية</vt:lpstr>
      <vt:lpstr>شــــــكــــرًا لكــــــم</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keywords/>
  <dc:description/>
  <cp:lastModifiedBy>Afshan Hashmi</cp:lastModifiedBy>
  <cp:revision>30</cp:revision>
  <dcterms:modified xsi:type="dcterms:W3CDTF">2025-04-03T09:24:55Z</dcterms:modified>
  <cp:category/>
</cp:coreProperties>
</file>