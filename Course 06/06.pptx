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3" r:id="rId4"/>
    <p:sldId id="278" r:id="rId5"/>
    <p:sldId id="262" r:id="rId6"/>
    <p:sldId id="277" r:id="rId7"/>
    <p:sldId id="263" r:id="rId8"/>
    <p:sldId id="264" r:id="rId9"/>
    <p:sldId id="280" r:id="rId10"/>
    <p:sldId id="281" r:id="rId11"/>
    <p:sldId id="279" r:id="rId12"/>
    <p:sldId id="265" r:id="rId13"/>
    <p:sldId id="275" r:id="rId14"/>
    <p:sldId id="276" r:id="rId15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17"/>
      <p:bold r:id="rId18"/>
    </p:embeddedFont>
    <p:embeddedFont>
      <p:font typeface="IBM Plex Sans Arabic Medium" panose="020B0603050203000203" pitchFamily="34" charset="-78"/>
      <p:regular r:id="rId19"/>
      <p:bold r:id="rId20"/>
    </p:embeddedFont>
    <p:embeddedFont>
      <p:font typeface="IBM Plex Sans Arabic SemiBold" panose="020B0603050203000203" pitchFamily="34" charset="-78"/>
      <p:regular r:id="rId21"/>
      <p:bold r:id="rId22"/>
    </p:embeddedFont>
    <p:embeddedFont>
      <p:font typeface="Inter" panose="02000503000000020004" pitchFamily="2" charset="0"/>
      <p:regular r:id="rId23"/>
      <p:bold r:id="rId24"/>
      <p:italic r:id="rId25"/>
      <p:boldItalic r:id="rId26"/>
    </p:embeddedFont>
    <p:embeddedFont>
      <p:font typeface="Proxima Nova" panose="02000506030000020004" pitchFamily="2" charset="0"/>
      <p:regular r:id="rId27"/>
      <p:bold r:id="rId28"/>
      <p:italic r:id="rId29"/>
      <p:boldItalic r:id="rId30"/>
    </p:embeddedFont>
    <p:embeddedFont>
      <p:font typeface="Tajawal" pitchFamily="2" charset="-78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6"/>
    <p:restoredTop sz="94795"/>
  </p:normalViewPr>
  <p:slideViewPr>
    <p:cSldViewPr snapToGrid="0">
      <p:cViewPr varScale="1">
        <p:scale>
          <a:sx n="139" d="100"/>
          <a:sy n="139" d="100"/>
        </p:scale>
        <p:origin x="176" y="520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A78B76-62B2-720F-0663-7EA9E4AF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E71FD78D-B2F4-061B-E2CF-D4645C7CE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2D5F95AC-4BE9-592F-B9CC-7EA3E132D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33E31C8-D5E9-2017-AE3F-9CE690F7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71F4956-9A8B-D2BD-69BC-C7A200A2F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135EAFF3-6059-1547-52B9-ABA6113E5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265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2FD3765-EAED-DEAA-F202-47452EF5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A4B8B846-D594-5968-110D-4A6C32ADC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6F71B47-EEE0-462C-30C8-4394CB3D9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74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C258A9D-A903-972A-54CE-191CD3C1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513CD135-D317-19AE-28B2-DAB058C9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F4A13D7A-CEED-A744-F91A-9267CBA63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3519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D632F3D-C937-B6D2-C266-CA14125B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AEA659F-F76B-70DA-33BF-98B5D905D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5484CAF9-1631-9FBF-768B-787DB0C58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096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frontiersin.org/articles/10.3389/fpsyg.2017.01208/full" TargetMode="Externa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52526"/>
              </a:buClr>
              <a:buSzPts val="1800"/>
              <a:buFont typeface="IBM Plex Sans Arabic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Artificial Intelligence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204131" y="1797864"/>
            <a:ext cx="8520600" cy="166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Case Studies on Bias and Fairness </a:t>
            </a:r>
            <a:b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</a:br>
            <a: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&amp;</a:t>
            </a:r>
            <a:b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</a:br>
            <a: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Practical Approaches to Fair AI Development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355978" y="622430"/>
            <a:ext cx="8029070" cy="388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Recognize the ethical implications of AI in decision-making and its impact on society.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Learn about risks such as bias, privacy violations, and unintended consequences in AI models.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Explore frameworks and techniques for ensuring fairness, transparency, and accountability in AI systems.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BFEC59-2F9A-F1A0-822E-D0C14DF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814E9543-CA25-5AF4-BD0C-4BBE3828E3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4025FB2A-478B-7FBC-5819-20CB112C3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9" y="177900"/>
            <a:ext cx="6488264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Case Studies on Bias and Fairness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US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endParaRPr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8E7AD6B6-47C7-C90A-7843-8B2A94B3A678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1BF11-02D3-5CB2-9878-B25F7FAE605E}"/>
              </a:ext>
            </a:extLst>
          </p:cNvPr>
          <p:cNvSpPr txBox="1"/>
          <p:nvPr/>
        </p:nvSpPr>
        <p:spPr>
          <a:xfrm>
            <a:off x="773663" y="911449"/>
            <a:ext cx="648826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Bias in AI systems can have significant real-world consequences, particularly in high-stakes applications like hiring, law enforcement, finance, and facial recognition. Below are some well-documented case studies demonstrating these biases: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Facial Recognition and Racial Bias</a:t>
            </a:r>
            <a:endParaRPr lang="en-GB" sz="1600" dirty="0">
              <a:latin typeface="-webkit-standard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Gender Bias in Hiring Algorithms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Predictive Policing and Criminal Justice AI</a:t>
            </a:r>
            <a:endParaRPr lang="en-GB" sz="1600" dirty="0">
              <a:latin typeface="-webkit-standard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Discrimination in Credit Scoring and Lending AI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Facial Recognition and Racial Bias</a:t>
            </a:r>
            <a:br>
              <a:rPr lang="en-GB" sz="800" dirty="0">
                <a:latin typeface="-webkit-standard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75710-01AA-771B-3DB2-469B680EC2F0}"/>
              </a:ext>
            </a:extLst>
          </p:cNvPr>
          <p:cNvSpPr txBox="1"/>
          <p:nvPr/>
        </p:nvSpPr>
        <p:spPr>
          <a:xfrm>
            <a:off x="380489" y="1125200"/>
            <a:ext cx="479906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🔹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Issue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Facial recognition models have been found to have higher error rates for people with darker skin tones compared to lighter-skinned individuals.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🔹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A 2018 study by MIT Media Lab showed that commercial facial recognition systems from major tech companies had misclassification rates of up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34% for darker-skinned women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but less than 1% for lighter-skinned men.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🔹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Impact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This bias has led to wrongful arrests, misidentification, and racial profiling in law enforcement.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🔹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Solution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Improving diversity in training datasets, using debiasing techniques, and implementing human oversight in decision-making.</a:t>
            </a:r>
            <a:endParaRPr lang="en-US" dirty="0"/>
          </a:p>
        </p:txBody>
      </p:sp>
      <p:pic>
        <p:nvPicPr>
          <p:cNvPr id="8" name="Picture 7" descr="A collage of different women's faces&#10;&#10;AI-generated content may be incorrect.">
            <a:extLst>
              <a:ext uri="{FF2B5EF4-FFF2-40B4-BE49-F238E27FC236}">
                <a16:creationId xmlns:a16="http://schemas.microsoft.com/office/drawing/2014/main" id="{6E17B2C1-2023-70A3-AA90-2C58DA9CB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87469" y="1263650"/>
            <a:ext cx="38100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D1E245C-17DD-8426-7E86-225321D3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DA5825-D171-C6C9-BDA7-CE6B948663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645234" y="19631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2EC5BCB-C707-1B44-6F65-65EAE68B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Gender Bias in Hiring Algorithms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2BB52-1DEE-B10C-C4A5-3980F01DDB9A}"/>
              </a:ext>
            </a:extLst>
          </p:cNvPr>
          <p:cNvSpPr txBox="1"/>
          <p:nvPr/>
        </p:nvSpPr>
        <p:spPr>
          <a:xfrm>
            <a:off x="404300" y="1075662"/>
            <a:ext cx="47440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Issue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AI-based hiring tools have exhibited gender discrimination, often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favoring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male candidates over female candidates.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In 2018,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Amazon’s hiring algorithm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was found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downgrade resumes containing the word “women”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(e.g., "women’s chess club") because it was trained on historical hiring data, which had male dominance.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Impact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Women were unfairly filtered out from job opportunities, reinforcing existing workplace inequality.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Solution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Using gender-neutral language, fairness constraints in model training, and regular audits of AI decisions.</a:t>
            </a:r>
          </a:p>
        </p:txBody>
      </p:sp>
      <p:pic>
        <p:nvPicPr>
          <p:cNvPr id="4098" name="Picture 2" descr="New AI technologies can perpetuate old ...">
            <a:extLst>
              <a:ext uri="{FF2B5EF4-FFF2-40B4-BE49-F238E27FC236}">
                <a16:creationId xmlns:a16="http://schemas.microsoft.com/office/drawing/2014/main" id="{8AE72041-77BC-CC7B-92D9-2A8874AC4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232" y="1934238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15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7203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Predictive Policing and Criminal Justice AI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4B0FE-CE46-1408-9FF2-682BD82CE270}"/>
              </a:ext>
            </a:extLst>
          </p:cNvPr>
          <p:cNvSpPr txBox="1"/>
          <p:nvPr/>
        </p:nvSpPr>
        <p:spPr>
          <a:xfrm>
            <a:off x="1140544" y="743246"/>
            <a:ext cx="46488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Issue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Predictive policing AI, which aims to predict where crimes will occur or assess the likelihood of individuals committing crimes, has been shown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reinforce systemic racial biases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COMPAS (Correctional Offender Management Profiling for Alternative Sanctions), a criminal risk assessment tool, was found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incorrectly classify Black defendants as "high risk"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at almost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twice the rate of white defendants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Impact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Unfair sentencing, over-policing of minority communities, and disproportionate imprisonment rates.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Solution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Implementing transparency in AI decision-making, removing racially biased historical data, and using fairness-aware models.</a:t>
            </a:r>
          </a:p>
        </p:txBody>
      </p:sp>
      <p:pic>
        <p:nvPicPr>
          <p:cNvPr id="1026" name="Picture 2" descr="COMPAS - Correctional Offender ...">
            <a:extLst>
              <a:ext uri="{FF2B5EF4-FFF2-40B4-BE49-F238E27FC236}">
                <a16:creationId xmlns:a16="http://schemas.microsoft.com/office/drawing/2014/main" id="{00803D7E-6CBC-20EF-67E2-A501814B0D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8"/>
          <a:stretch/>
        </p:blipFill>
        <p:spPr bwMode="auto">
          <a:xfrm>
            <a:off x="5448448" y="1665759"/>
            <a:ext cx="3505200" cy="228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Discrimination in Credit Scoring and Lending AI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6480-BCA7-7064-F61D-FDB7552AD15E}"/>
              </a:ext>
            </a:extLst>
          </p:cNvPr>
          <p:cNvSpPr txBox="1"/>
          <p:nvPr/>
        </p:nvSpPr>
        <p:spPr>
          <a:xfrm>
            <a:off x="192101" y="827634"/>
            <a:ext cx="51598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Issue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AI-driven credit scoring models have been found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discriminate against minority groups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, leading to unfair denials of loans and higher interest rates.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A 2019 study found that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Black and Hispanic borrowers were charged higher interest rates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for home loans compared to white borrowers with similar financial backgrounds.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Impact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Economic inequality, reduced financial opportunities for marginalized groups, and long-term wealth disparity.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🔹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Solution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Implementing fairness-aware machine learning models, using explainable AI (XAI) techniques to detect bias, and ensuring regulatory compliance.</a:t>
            </a:r>
          </a:p>
        </p:txBody>
      </p:sp>
      <p:pic>
        <p:nvPicPr>
          <p:cNvPr id="2052" name="Picture 4" descr="AI Credit Scoring For Smart Lending ...">
            <a:extLst>
              <a:ext uri="{FF2B5EF4-FFF2-40B4-BE49-F238E27FC236}">
                <a16:creationId xmlns:a16="http://schemas.microsoft.com/office/drawing/2014/main" id="{91BC6BEB-8052-F36A-D9F4-F4E9B1A91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9"/>
          <a:stretch/>
        </p:blipFill>
        <p:spPr bwMode="auto">
          <a:xfrm>
            <a:off x="5202091" y="1517649"/>
            <a:ext cx="3880437" cy="243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718A45-9D95-C2EE-3EBA-FE320D4D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0421EDE4-2722-9699-8229-BBD15CBA743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C51D873F-7159-798E-07AF-834574BB5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i="0" u="none" strike="noStrike" dirty="0">
                <a:solidFill>
                  <a:srgbClr val="7030A0"/>
                </a:solidFill>
                <a:effectLst/>
              </a:rPr>
              <a:t>Practical Approaches to Fair AI Development</a:t>
            </a:r>
            <a:br>
              <a:rPr lang="en-GB" sz="1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F47FC-6C4B-AC43-8B80-9A5179EC52CB}"/>
              </a:ext>
            </a:extLst>
          </p:cNvPr>
          <p:cNvSpPr txBox="1"/>
          <p:nvPr/>
        </p:nvSpPr>
        <p:spPr>
          <a:xfrm>
            <a:off x="1041186" y="925145"/>
            <a:ext cx="620485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To mitigate bias and build fair AI systems, organizations should adopt ethical and inclusive AI development strategies.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Ethical AI Principles in Model Design</a:t>
            </a:r>
          </a:p>
          <a:p>
            <a:pPr marL="342900" indent="-342900" algn="l">
              <a:buAutoNum type="arabicPeriod"/>
            </a:pPr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Ensuring AI systems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align with human values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 promote fairness, transparency, and accountability.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Adopting frameworks like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Fairness, Accountability, and Transparency in Machine Learning (FAT/ML)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guide ethical decision-making.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Regularly conducting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AI audits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check for unintended biases.</a:t>
            </a:r>
          </a:p>
        </p:txBody>
      </p:sp>
    </p:spTree>
    <p:extLst>
      <p:ext uri="{BB962C8B-B14F-4D97-AF65-F5344CB8AC3E}">
        <p14:creationId xmlns:p14="http://schemas.microsoft.com/office/powerpoint/2010/main" val="136863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6E74AFF-9E6A-B59F-07FE-B08EB98F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5C9F185F-9174-9E5C-E991-EF27C52404B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6532150" y="4402162"/>
            <a:ext cx="4131584" cy="134652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317E372-497F-291B-3C05-C30A3E0FA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Inclusive Data Collection and Bias-Aware Algorithms</a:t>
            </a: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400" dirty="0">
                <a:latin typeface="Calibri"/>
                <a:cs typeface="Calibri"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B08FD-68C8-6988-ABCE-C2551487CF6A}"/>
              </a:ext>
            </a:extLst>
          </p:cNvPr>
          <p:cNvSpPr txBox="1"/>
          <p:nvPr/>
        </p:nvSpPr>
        <p:spPr>
          <a:xfrm>
            <a:off x="1" y="897517"/>
            <a:ext cx="79452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Ensuring datasets represent diverse populations to prevent bias.</a:t>
            </a: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Applying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bias mitigation techniques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at different stages of the ML pipeline: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Pre-processing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Rebalancing datasets to reduce bias before training.</a:t>
            </a:r>
          </a:p>
          <a:p>
            <a:pPr marL="742950" lvl="1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In-processing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Modifying the learning algorithm to ensure fairness.</a:t>
            </a:r>
          </a:p>
          <a:p>
            <a:pPr marL="742950" lvl="1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Post-processing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Adjusting model outputs to correct biases after training.</a:t>
            </a:r>
          </a:p>
        </p:txBody>
      </p:sp>
      <p:pic>
        <p:nvPicPr>
          <p:cNvPr id="4098" name="Picture 2" descr="Training data diversity inclusion">
            <a:extLst>
              <a:ext uri="{FF2B5EF4-FFF2-40B4-BE49-F238E27FC236}">
                <a16:creationId xmlns:a16="http://schemas.microsoft.com/office/drawing/2014/main" id="{C2BF7859-29C5-A64C-FD4F-D504BD3AF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42" y="2777569"/>
            <a:ext cx="6984510" cy="229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04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8E506D86-3564-A2D0-0191-99B8B5B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D303E6A-CAC2-50E7-C72E-84D25B190C9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6391046" y="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E9DE5CF7-C686-E292-B9A8-3CD1C6C4E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Human-in-the-Loop Approaches for Fairness Evaluation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B5D0C-A7CC-39ED-9332-F121951325D6}"/>
              </a:ext>
            </a:extLst>
          </p:cNvPr>
          <p:cNvSpPr txBox="1"/>
          <p:nvPr/>
        </p:nvSpPr>
        <p:spPr>
          <a:xfrm>
            <a:off x="238206" y="1105276"/>
            <a:ext cx="47256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Combining AI decision-making with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human oversight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reduce errors and biases.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Involving domain experts, ethicists, and affected communities in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AI evaluation and policy-making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Using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explainable AI (XAI) tools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like SHAP and LIME to ensure transparency and accountability.</a:t>
            </a:r>
          </a:p>
        </p:txBody>
      </p:sp>
      <p:pic>
        <p:nvPicPr>
          <p:cNvPr id="3074" name="Picture 2" descr="Unsupervised Decisions">
            <a:extLst>
              <a:ext uri="{FF2B5EF4-FFF2-40B4-BE49-F238E27FC236}">
                <a16:creationId xmlns:a16="http://schemas.microsoft.com/office/drawing/2014/main" id="{F85D4E94-E8DD-2CDC-FECF-815570E65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794" y="1315748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64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RECAP</a:t>
            </a: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4C109-29E0-32B3-16A5-1F9ABEA6CAF5}"/>
              </a:ext>
            </a:extLst>
          </p:cNvPr>
          <p:cNvSpPr txBox="1"/>
          <p:nvPr/>
        </p:nvSpPr>
        <p:spPr>
          <a:xfrm>
            <a:off x="246563" y="1039310"/>
            <a:ext cx="82372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1️⃣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AI Bias in Critical Areas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Bias in AI affects high-stakes domains such as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facial recognition, hiring, criminal justice, and credit scoring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leading to unfair outcomes.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2️⃣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Facial Recognition Bias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AI models have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higher error rates for darker-skinned individuals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resulting in misidentification and racial profiling in law enforcement.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3️⃣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Gender Bias in Hiring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AI-driven hiring tools have 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favored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 male candidates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due to biased historical data, reinforcing workplace inequalities.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4️⃣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Predictive Policing Issues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AI models like COMPAS have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wrongly classified Black defendants as high-risk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leading to racial discrimination in criminal justice.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5️⃣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Discrimination in Credit Scoring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AI-based loan approval systems have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unfairly assigned higher interest rates to minority groups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widening economic disparities.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6️⃣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Ethical AI Development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Fair AI requires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inclusive data collection, fairness-aware algorithms, and bias mitigation techniques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at different stages of model development.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7️⃣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Human-in-the-Loop Approaches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AI systems should integrate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human oversight, fairness evaluations, and explainability techniques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like SHAP and LIME to enhance transparency.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8️⃣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Accountability &amp; Regulation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Organizations must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regularly audit AI models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ensure compliance with ethical standards, and adopt fairness frameworks for responsible AI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4799</TotalTime>
  <Words>1035</Words>
  <Application>Microsoft Macintosh PowerPoint</Application>
  <PresentationFormat>On-screen Show (16:9)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Inter</vt:lpstr>
      <vt:lpstr>IBM Plex Sans Arabic SemiBold</vt:lpstr>
      <vt:lpstr>Arial</vt:lpstr>
      <vt:lpstr>Times New Roman</vt:lpstr>
      <vt:lpstr>IBM Plex Sans Arabic Medium</vt:lpstr>
      <vt:lpstr>IBM Plex Sans Arabic</vt:lpstr>
      <vt:lpstr>Tajawal</vt:lpstr>
      <vt:lpstr>-webkit-standard</vt:lpstr>
      <vt:lpstr>Calibri</vt:lpstr>
      <vt:lpstr>Proxima Nova</vt:lpstr>
      <vt:lpstr>Wingdings</vt:lpstr>
      <vt:lpstr>Simple Light</vt:lpstr>
      <vt:lpstr>أكـــــاديميــــة طــــويـــق</vt:lpstr>
      <vt:lpstr>      Case Studies on Bias and Fairness  &amp; Practical Approaches to Fair AI Development </vt:lpstr>
      <vt:lpstr>PowerPoint Presentation</vt:lpstr>
      <vt:lpstr>Case Studies on Bias and Fairness    </vt:lpstr>
      <vt:lpstr>Facial Recognition and Racial Bias   </vt:lpstr>
      <vt:lpstr>Gender Bias in Hiring Algorithms    </vt:lpstr>
      <vt:lpstr>Predictive Policing and Criminal Justice AI     </vt:lpstr>
      <vt:lpstr>Discrimination in Credit Scoring and Lending AI     </vt:lpstr>
      <vt:lpstr>Practical Approaches to Fair AI Development     </vt:lpstr>
      <vt:lpstr>Inclusive Data Collection and Bias-Aware Algorithms      </vt:lpstr>
      <vt:lpstr>Human-in-the-Loop Approaches for Fairness Evaluation      </vt:lpstr>
      <vt:lpstr>RECAP </vt:lpstr>
      <vt:lpstr>الشراكات العالمية</vt:lpstr>
      <vt:lpstr>شــــــكــــرًا لكــــــم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/>
  <cp:lastModifiedBy>Afshan Hashmi</cp:lastModifiedBy>
  <cp:revision>16</cp:revision>
  <dcterms:modified xsi:type="dcterms:W3CDTF">2025-03-09T17:07:08Z</dcterms:modified>
  <cp:category/>
</cp:coreProperties>
</file>