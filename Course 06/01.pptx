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3" r:id="rId4"/>
    <p:sldId id="278" r:id="rId5"/>
    <p:sldId id="262" r:id="rId6"/>
    <p:sldId id="277" r:id="rId7"/>
    <p:sldId id="263" r:id="rId8"/>
    <p:sldId id="264" r:id="rId9"/>
    <p:sldId id="280" r:id="rId10"/>
    <p:sldId id="281" r:id="rId11"/>
    <p:sldId id="279" r:id="rId12"/>
    <p:sldId id="284" r:id="rId13"/>
    <p:sldId id="286" r:id="rId14"/>
    <p:sldId id="287" r:id="rId15"/>
    <p:sldId id="288" r:id="rId16"/>
    <p:sldId id="289" r:id="rId17"/>
    <p:sldId id="290" r:id="rId18"/>
    <p:sldId id="265" r:id="rId19"/>
    <p:sldId id="291" r:id="rId20"/>
    <p:sldId id="275" r:id="rId21"/>
    <p:sldId id="276" r:id="rId22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4"/>
      <p:bold r:id="rId25"/>
    </p:embeddedFont>
    <p:embeddedFont>
      <p:font typeface="IBM Plex Sans Arabic Medium" panose="020B0603050203000203" pitchFamily="34" charset="-78"/>
      <p:regular r:id="rId26"/>
      <p:bold r:id="rId27"/>
    </p:embeddedFont>
    <p:embeddedFont>
      <p:font typeface="IBM Plex Sans Arabic SemiBold" panose="020B0603050203000203" pitchFamily="34" charset="-78"/>
      <p:regular r:id="rId28"/>
      <p:bold r:id="rId29"/>
    </p:embeddedFont>
    <p:embeddedFont>
      <p:font typeface="Inter" panose="02000503000000020004" pitchFamily="2" charset="0"/>
      <p:regular r:id="rId30"/>
      <p:bold r:id="rId31"/>
      <p:italic r:id="rId32"/>
      <p:boldItalic r:id="rId33"/>
    </p:embeddedFont>
    <p:embeddedFont>
      <p:font typeface="Proxima Nova" panose="02000506030000020004" pitchFamily="2" charset="0"/>
      <p:regular r:id="rId34"/>
      <p:bold r:id="rId35"/>
      <p:italic r:id="rId36"/>
      <p:boldItalic r:id="rId37"/>
    </p:embeddedFont>
    <p:embeddedFont>
      <p:font typeface="Tajawal" pitchFamily="2" charset="-78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95"/>
  </p:normalViewPr>
  <p:slideViewPr>
    <p:cSldViewPr snapToGrid="0">
      <p:cViewPr varScale="1">
        <p:scale>
          <a:sx n="139" d="100"/>
          <a:sy n="139" d="100"/>
        </p:scale>
        <p:origin x="176" y="520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4A78B76-62B2-720F-0663-7EA9E4AF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E71FD78D-B2F4-061B-E2CF-D4645C7CE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2D5F95AC-4BE9-592F-B9CC-7EA3E132D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5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33E31C8-D5E9-2017-AE3F-9CE690F7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71F4956-9A8B-D2BD-69BC-C7A200A2F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135EAFF3-6059-1547-52B9-ABA6113E5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265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2FD3765-EAED-DEAA-F202-47452EF5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A4B8B846-D594-5968-110D-4A6C32ADC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36F71B47-EEE0-462C-30C8-4394CB3D9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74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C258A9D-A903-972A-54CE-191CD3C1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513CD135-D317-19AE-28B2-DAB058C91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F4A13D7A-CEED-A744-F91A-9267CBA63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519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D632F3D-C937-B6D2-C266-CA14125B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AEA659F-F76B-70DA-33BF-98B5D905D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5484CAF9-1631-9FBF-768B-787DB0C58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0960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82E6920-2EEF-E0D1-546F-C119C607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DF327807-D769-2175-6002-8EAEFBBD3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3C8EDC11-8B4E-02C1-CCC5-1A828AAA9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904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F366E2B-6EF7-E128-12B7-5EBAB3D9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FF80D989-6FDB-5096-B9E8-A147B8488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4F86F0BB-F739-1D33-DF6E-0619D1648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986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68F3FF7-57ED-6100-7207-13968CEA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61CDB08-F25F-50EF-326D-44EDC1FF1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8ABCAAE0-BBAE-4CED-3719-0FF98D0F7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317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E5E2CAE-6A32-4070-3FAB-D0BA5959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FFBAFEC9-DD6E-4D42-928D-66937B909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B24DBEFE-2914-C55C-33B6-9266095E7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926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5D28E7B-C9E8-3B56-8C96-718E946C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DC624886-4FC1-3291-BB9E-B49062670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04E35F8C-FFE3-1542-45F5-A66142ADE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1296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8ADA59E4-D715-4C35-EFE1-D575D685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1F1235D-08FB-60D8-5FC4-E2765C5C7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C76201F5-EA2C-3D5F-E3F7-4B4BEBF22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9774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NWNKmR4i2Pn8WZen2aiBUIwW9T_cI0fD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52526"/>
              </a:buClr>
              <a:buSzPts val="1800"/>
              <a:buFont typeface="IBM Plex Sans Arabic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Artificial Intelligence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1137037"/>
            <a:ext cx="8520600" cy="166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Bias Detection and Explainable AI</a:t>
            </a: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355978" y="622430"/>
            <a:ext cx="8029070" cy="327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GB" sz="18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1. Identify and detect bias in datasets and machine learning models.  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2. </a:t>
            </a:r>
            <a:r>
              <a:rPr lang="en-GB" sz="1800" dirty="0">
                <a:latin typeface="Proxima Nova"/>
                <a:ea typeface="Proxima Nova"/>
                <a:cs typeface="Proxima Nova"/>
                <a:sym typeface="Proxima Nova"/>
              </a:rPr>
              <a:t>Identify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bias mitigation techniques at different stages of the ML pipeline.  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 dirty="0">
                <a:latin typeface="Proxima Nova"/>
                <a:ea typeface="Proxima Nova"/>
                <a:cs typeface="Proxima Nova"/>
                <a:sym typeface="Proxima Nova"/>
              </a:rPr>
              <a:t>3.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Utilize explainability methods like LIME, SHAP, and counterfactual analysis to interpret AI models.  </a:t>
            </a:r>
          </a:p>
          <a:p>
            <a:pPr marL="0" marR="0" lvl="0" indent="0" algn="just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BBFEC59-2F9A-F1A0-822E-D0C14DF8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>
            <a:extLst>
              <a:ext uri="{FF2B5EF4-FFF2-40B4-BE49-F238E27FC236}">
                <a16:creationId xmlns:a16="http://schemas.microsoft.com/office/drawing/2014/main" id="{814E9543-CA25-5AF4-BD0C-4BBE3828E30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4025FB2A-478B-7FBC-5819-20CB112C3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9" y="177900"/>
            <a:ext cx="6488264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Bias Detection and Mitigation Techniques</a:t>
            </a:r>
            <a:br>
              <a:rPr lang="en-US" sz="1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</a:br>
            <a:endParaRPr sz="3200" dirty="0"/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8E7AD6B6-47C7-C90A-7843-8B2A94B3A678}"/>
              </a:ext>
            </a:extLst>
          </p:cNvPr>
          <p:cNvSpPr txBox="1"/>
          <p:nvPr/>
        </p:nvSpPr>
        <p:spPr>
          <a:xfrm>
            <a:off x="2371061" y="4038281"/>
            <a:ext cx="34422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41BF11-02D3-5CB2-9878-B25F7FAE605E}"/>
              </a:ext>
            </a:extLst>
          </p:cNvPr>
          <p:cNvSpPr txBox="1"/>
          <p:nvPr/>
        </p:nvSpPr>
        <p:spPr>
          <a:xfrm>
            <a:off x="773663" y="911449"/>
            <a:ext cx="648826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Bias in machine learning models can lead to unfair or discriminatory outcomes, particularly when working with sensitive attributes like race, gender, or age. This section covers techniques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detect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and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mitigate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bias in data and models.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 </a:t>
            </a:r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Before mitigating bias, it is crucial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detect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it. Here are some common approaches: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Methods for Detecting Bias in Data and Models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AutoNum type="alphaL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Data Bias Detection</a:t>
            </a:r>
          </a:p>
          <a:p>
            <a:pPr algn="l"/>
            <a:endParaRPr lang="en-GB" sz="16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b. Model Bias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90352" y="122160"/>
            <a:ext cx="776492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a. Data Bias Detection</a:t>
            </a: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725F4-0234-B7A7-8243-9EC9DF537607}"/>
              </a:ext>
            </a:extLst>
          </p:cNvPr>
          <p:cNvSpPr txBox="1"/>
          <p:nvPr/>
        </p:nvSpPr>
        <p:spPr>
          <a:xfrm>
            <a:off x="587502" y="1145896"/>
            <a:ext cx="4796028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Disparate Impact Analysis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Measures the proportion of positive outcomes across different demographic groups (e.g., male vs. female).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Statistical Parity Difference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Checks if different groups receive favourable outcomes at similar rates.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Conditional Demographic Disparity (CDD)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Examines disparities within subgroups under similar conditions.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Correlation Analysis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Identifies if sensitive attributes (e.g., race, gender) are highly correlated with the target variable.</a:t>
            </a:r>
          </a:p>
        </p:txBody>
      </p:sp>
      <p:pic>
        <p:nvPicPr>
          <p:cNvPr id="3074" name="Picture 2" descr="Data Bias: Identifying and Reducing in ...">
            <a:extLst>
              <a:ext uri="{FF2B5EF4-FFF2-40B4-BE49-F238E27FC236}">
                <a16:creationId xmlns:a16="http://schemas.microsoft.com/office/drawing/2014/main" id="{76CA2D4D-B5EE-B418-8D9D-21AB3985C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751"/>
          <a:stretch/>
        </p:blipFill>
        <p:spPr bwMode="auto">
          <a:xfrm>
            <a:off x="5285058" y="1435609"/>
            <a:ext cx="3695700" cy="245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D1E245C-17DD-8426-7E86-225321D3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67DA5825-D171-C6C9-BDA7-CE6B9486639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645234" y="19631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12EC5BCB-C707-1B44-6F65-65EAE68BC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b. Model Bias Detection</a:t>
            </a: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2BB52-1DEE-B10C-C4A5-3980F01DDB9A}"/>
              </a:ext>
            </a:extLst>
          </p:cNvPr>
          <p:cNvSpPr txBox="1"/>
          <p:nvPr/>
        </p:nvSpPr>
        <p:spPr>
          <a:xfrm>
            <a:off x="404300" y="1075662"/>
            <a:ext cx="50821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Accuracy Disparity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Measures if the model's performance varies across different demographic groups.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Equalized Odds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Ensures that different groups have equal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true positive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false positive rates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Calibration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Checks if predicted probabilities are consistent across groups.</a:t>
            </a:r>
          </a:p>
        </p:txBody>
      </p:sp>
      <p:pic>
        <p:nvPicPr>
          <p:cNvPr id="4098" name="Picture 2" descr="New AI technologies can perpetuate old ...">
            <a:extLst>
              <a:ext uri="{FF2B5EF4-FFF2-40B4-BE49-F238E27FC236}">
                <a16:creationId xmlns:a16="http://schemas.microsoft.com/office/drawing/2014/main" id="{8AE72041-77BC-CC7B-92D9-2A8874AC4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350" y="2069079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15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7160" y="122160"/>
            <a:ext cx="77203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Pre-processing, In-processing, and Post-processing Bias Mitigation Techniques</a:t>
            </a:r>
            <a:br>
              <a:rPr lang="en-GB" sz="2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CE788-C9A7-9CC4-BD03-5F444ACDFFE6}"/>
              </a:ext>
            </a:extLst>
          </p:cNvPr>
          <p:cNvSpPr txBox="1"/>
          <p:nvPr/>
        </p:nvSpPr>
        <p:spPr>
          <a:xfrm>
            <a:off x="190352" y="1436263"/>
            <a:ext cx="80575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Bias can be mitigated at different stages of the machine learning pipeline:</a:t>
            </a:r>
          </a:p>
          <a:p>
            <a:pPr algn="l"/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AutoNum type="alphaLcPeriod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Pre-processing Techniques (Before Model Training) </a:t>
            </a:r>
          </a:p>
          <a:p>
            <a:pPr marL="342900" indent="-342900" algn="l">
              <a:buAutoNum type="alphaLcPeriod"/>
            </a:pPr>
            <a:endParaRPr lang="en-GB" sz="2000" b="1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AutoNum type="alphaLcPeriod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b. In-processing Techniques (During Model Training)</a:t>
            </a:r>
          </a:p>
          <a:p>
            <a:pPr marL="342900" indent="-342900" algn="l">
              <a:buAutoNum type="alphaLcPeriod"/>
            </a:pPr>
            <a:endParaRPr lang="en-GB" sz="2000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c. Post-processing Techniques (After Model Training)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Pre-processing Techniques (Before Model Training)</a:t>
            </a: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D0914-A319-93C2-420A-EFDCC89AC7DE}"/>
              </a:ext>
            </a:extLst>
          </p:cNvPr>
          <p:cNvSpPr txBox="1"/>
          <p:nvPr/>
        </p:nvSpPr>
        <p:spPr>
          <a:xfrm>
            <a:off x="800100" y="878592"/>
            <a:ext cx="7543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Modifies the data to reduce bias 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before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training the model.</a:t>
            </a:r>
          </a:p>
          <a:p>
            <a:pPr algn="l"/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Reweighing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Assigns different weights to different data points to balance group representation.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Data Augmentation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Introduces more examples from underrepresented groups.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Fair Representation Learning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Transforms features to be less correlated with sensitive attributes.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Removing Sensitive Attributes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– Eliminates biased variables (e.g., race, gender) from the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5718A45-9D95-C2EE-3EBA-FE320D4D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0421EDE4-2722-9699-8229-BBD15CBA743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C51D873F-7159-798E-07AF-834574BB5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i="0" u="none" strike="noStrike" dirty="0">
                <a:solidFill>
                  <a:srgbClr val="7030A0"/>
                </a:solidFill>
                <a:effectLst/>
              </a:rPr>
              <a:t>In-processing Techniques (During Model Training)</a:t>
            </a: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D5AE2-E069-76EB-2C9D-3F1F2F0AB86E}"/>
              </a:ext>
            </a:extLst>
          </p:cNvPr>
          <p:cNvSpPr txBox="1"/>
          <p:nvPr/>
        </p:nvSpPr>
        <p:spPr>
          <a:xfrm>
            <a:off x="585216" y="1051560"/>
            <a:ext cx="63893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Modifies the learning algorithm to reduce bias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while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training the model.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Adversarial Debiasing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Uses adversarial training to make predictions that are independent of sensitive attributes.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Fairness-Aware Loss Functions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Adds fairness constraints to the model’s loss function.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Regularization for Fairness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Introduces penalties to discourage biased decisions.</a:t>
            </a:r>
          </a:p>
        </p:txBody>
      </p:sp>
    </p:spTree>
    <p:extLst>
      <p:ext uri="{BB962C8B-B14F-4D97-AF65-F5344CB8AC3E}">
        <p14:creationId xmlns:p14="http://schemas.microsoft.com/office/powerpoint/2010/main" val="1368636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16E74AFF-9E6A-B59F-07FE-B08EB98F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5C9F185F-9174-9E5C-E991-EF27C52404B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659200" y="17908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6317E372-497F-291B-3C05-C30A3E0FA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>
                <a:latin typeface="Calibri"/>
                <a:cs typeface="Calibri"/>
              </a:rPr>
              <a:t>Post-processing Techniques (After Model Training)</a:t>
            </a:r>
            <a:br>
              <a:rPr lang="en-GB" sz="2400" dirty="0">
                <a:latin typeface="Calibri"/>
                <a:cs typeface="Calibri"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27D80-432C-15A3-29B6-62828F4528CA}"/>
              </a:ext>
            </a:extLst>
          </p:cNvPr>
          <p:cNvSpPr txBox="1"/>
          <p:nvPr/>
        </p:nvSpPr>
        <p:spPr>
          <a:xfrm>
            <a:off x="960120" y="1033272"/>
            <a:ext cx="734491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Modifies the model’s predictions to reduce bias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after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training.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Equalized Odds Post-processing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Adjusts decision thresholds to ensure equal false positive and true positive rates.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Calibrated Equalized Odds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Ensures fairness while maintaining probabilistic calibration.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Reject Option-Based Classification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Allows the model to abstain from making predictions in uncertain cases.</a:t>
            </a:r>
          </a:p>
        </p:txBody>
      </p:sp>
    </p:spTree>
    <p:extLst>
      <p:ext uri="{BB962C8B-B14F-4D97-AF65-F5344CB8AC3E}">
        <p14:creationId xmlns:p14="http://schemas.microsoft.com/office/powerpoint/2010/main" val="331504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8E506D86-3564-A2D0-0191-99B8B5B0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FD303E6A-CAC2-50E7-C72E-84D25B190C99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E9DE5CF7-C686-E292-B9A8-3CD1C6C4E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Fair Representation Learning and Adversarial Debiasing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53C12-E143-7F72-40D6-B8558B9E0BB2}"/>
              </a:ext>
            </a:extLst>
          </p:cNvPr>
          <p:cNvSpPr txBox="1"/>
          <p:nvPr/>
        </p:nvSpPr>
        <p:spPr>
          <a:xfrm>
            <a:off x="393192" y="844909"/>
            <a:ext cx="7543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These are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advanced techniques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that use machine learning to learn unbiased data representations.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a. Fair Representation Learning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 goal is to learn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transformed features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that do not contain bias.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Uses techniques like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Principal Component Analysis (PCA)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Autoencoders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to remove correlations with sensitive attributes.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b. Adversarial Debiasing</a:t>
            </a: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Uses a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two-network approach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Main Model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Predicts the target variable.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Adversarial Model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Predicts the sensitive attribute (e.g., gender, race).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 goal is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minimize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the adversary’s ability to predict sensitive attributes, ensuring that the learned features are unbiased.</a:t>
            </a:r>
          </a:p>
        </p:txBody>
      </p:sp>
    </p:spTree>
    <p:extLst>
      <p:ext uri="{BB962C8B-B14F-4D97-AF65-F5344CB8AC3E}">
        <p14:creationId xmlns:p14="http://schemas.microsoft.com/office/powerpoint/2010/main" val="205164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1EB6A28-E5D4-01CF-603A-E7B39611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69BC4CD7-D4B2-DBB7-B240-30F9A991B4F6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9B343830-9BDF-C661-C23B-A950CA88F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Explainability and Transparency in AI Models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9E1D8-6A97-00ED-7E5A-5A1A7DE37912}"/>
              </a:ext>
            </a:extLst>
          </p:cNvPr>
          <p:cNvSpPr txBox="1"/>
          <p:nvPr/>
        </p:nvSpPr>
        <p:spPr>
          <a:xfrm>
            <a:off x="953740" y="885101"/>
            <a:ext cx="69037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As AI models become more complex, understanding how they make decisions is critical for ensuring fairness, trust, and accountability. 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Explainable AI (XAI)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refers to techniques that make AI models more transparent and interpretable, helping stakeholders understand and trust their decisions.</a:t>
            </a:r>
          </a:p>
        </p:txBody>
      </p:sp>
      <p:pic>
        <p:nvPicPr>
          <p:cNvPr id="1026" name="Picture 2" descr="Explainable AI: A Transparent Future ...">
            <a:extLst>
              <a:ext uri="{FF2B5EF4-FFF2-40B4-BE49-F238E27FC236}">
                <a16:creationId xmlns:a16="http://schemas.microsoft.com/office/drawing/2014/main" id="{644FC7F4-9514-1248-EE65-D0503E87C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405" y="2107621"/>
            <a:ext cx="4548749" cy="291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703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EE85C5B9-40EF-1B12-4EF7-DEBACC93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9AB56371-9CB6-C58F-432F-42BCFF5E04C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A66599AD-09EA-F898-3057-87531AB11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Importance of Explainable AI (XAI) in Fairness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7D3C27-B9DE-1780-C65F-E62D7501E33E}"/>
              </a:ext>
            </a:extLst>
          </p:cNvPr>
          <p:cNvSpPr txBox="1"/>
          <p:nvPr/>
        </p:nvSpPr>
        <p:spPr>
          <a:xfrm>
            <a:off x="953740" y="885101"/>
            <a:ext cx="6903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AI models can sometimes act as “black boxes,” making decisions that are difficult to interpret. This lack of transparency can lead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bias, unfair treatment, and ethical concerns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 Explainability plays a key role in: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Fairness &amp; Bias Detection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Helps identify if a model is making biased decisions based on sensitive attributes (e.g., gender, race).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Trust &amp; Adoption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Users and stakeholders are more likely to trust AI models when they understand how they work.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Regulatory Compliance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Laws like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GDPR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(General Data Protection Regulation) require explanations for automated decisions.</a:t>
            </a:r>
          </a:p>
          <a:p>
            <a:pPr marL="285750" indent="-285750" algn="l">
              <a:buFont typeface="Wingdings" pitchFamily="2" charset="2"/>
              <a:buChar char="Ø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Debugging &amp; Model Improvement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Understanding the decision process helps in identifying errors and improving model performance.</a:t>
            </a:r>
          </a:p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4664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59D601AE-0731-28E4-C4D6-15A472AA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D3B32739-5C30-A6BC-FD80-4885C3C7A42B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F65DC663-E1FB-11BC-83F3-5918AC98E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2. Techniques for Improving Model Interpretability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BE06BA-DC98-1024-2E58-D09A0F2AF0C5}"/>
              </a:ext>
            </a:extLst>
          </p:cNvPr>
          <p:cNvSpPr txBox="1"/>
          <p:nvPr/>
        </p:nvSpPr>
        <p:spPr>
          <a:xfrm>
            <a:off x="953740" y="885101"/>
            <a:ext cx="69037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Several techniques help explain AI models, making their decision-making process transparent: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a. LIME (Local Interpretable Model-agnostic Explanations)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What it does: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Generates local explanations by perturbing input features and observing their effect on model predictions.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How it works: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Takes a complex model (e.g., deep learning, ensemble methods).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Creates slightly modified versions of an input instance.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Fits a simple interpretable model (e.g., linear regression) to approximate the complex model’s decision locally.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Use case: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Explains individual predictions by highlighting influential features.</a:t>
            </a:r>
          </a:p>
        </p:txBody>
      </p:sp>
    </p:spTree>
    <p:extLst>
      <p:ext uri="{BB962C8B-B14F-4D97-AF65-F5344CB8AC3E}">
        <p14:creationId xmlns:p14="http://schemas.microsoft.com/office/powerpoint/2010/main" val="3504620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40C70103-BA01-0720-0CD0-13A35BB3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A502FA1C-4753-990E-2D74-B95344845AA5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1AF934C2-060C-7762-BBC7-364E84A65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2. Techniques for Improving Model Interpretability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4F03A3-AE79-7260-E8E1-140AF7F2A880}"/>
              </a:ext>
            </a:extLst>
          </p:cNvPr>
          <p:cNvSpPr txBox="1"/>
          <p:nvPr/>
        </p:nvSpPr>
        <p:spPr>
          <a:xfrm>
            <a:off x="457200" y="1070616"/>
            <a:ext cx="78574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b. SHAP (</a:t>
            </a:r>
            <a:r>
              <a:rPr lang="en-GB" sz="1800" b="1" i="0" u="none" strike="noStrike" dirty="0" err="1">
                <a:solidFill>
                  <a:srgbClr val="000000"/>
                </a:solidFill>
                <a:effectLst/>
              </a:rPr>
              <a:t>SHapley</a:t>
            </a:r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 Additive Explanations)</a:t>
            </a:r>
          </a:p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What it does: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Assigns importance values (Shapley values) to each feature, showing its contribution to a prediction.</a:t>
            </a:r>
          </a:p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How it works:</a:t>
            </a: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Considers all possible feature combinations and their effects on predictions.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Assigns a contribution score to each feature.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Provides global (overall model) and local (specific prediction) explanations.</a:t>
            </a:r>
          </a:p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Use case: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Helps understand how features impact model predictions across an entire dataset.</a:t>
            </a:r>
          </a:p>
        </p:txBody>
      </p:sp>
    </p:spTree>
    <p:extLst>
      <p:ext uri="{BB962C8B-B14F-4D97-AF65-F5344CB8AC3E}">
        <p14:creationId xmlns:p14="http://schemas.microsoft.com/office/powerpoint/2010/main" val="3011020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C218A91C-7B3A-F62B-1D85-219D33B2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2E780FB4-DDFD-E9C0-B6C5-0C5119D404CD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65A9C040-9651-BD57-4292-6B6D02C7F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2. Techniques for Improving Model Interpretability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ED1C4B-667A-21EE-E0DC-2F5DD0D26DFD}"/>
              </a:ext>
            </a:extLst>
          </p:cNvPr>
          <p:cNvSpPr txBox="1"/>
          <p:nvPr/>
        </p:nvSpPr>
        <p:spPr>
          <a:xfrm>
            <a:off x="1496187" y="1002089"/>
            <a:ext cx="61516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c. Counterfactual Analysis</a:t>
            </a:r>
          </a:p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What it does: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Finds minimal changes needed in input features to alter a model’s decision.</a:t>
            </a:r>
          </a:p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How it works:</a:t>
            </a: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Takes an instance and determines the smallest change needed to produce a different outcome.</a:t>
            </a:r>
          </a:p>
          <a:p>
            <a:pPr marL="742950" lvl="1" indent="-285750" algn="l">
              <a:buFont typeface="Wingdings" pitchFamily="2" charset="2"/>
              <a:buChar char="Ø"/>
            </a:pP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Answers questions like: </a:t>
            </a:r>
            <a:r>
              <a:rPr lang="en-GB" sz="1800" b="0" i="1" u="none" strike="noStrike" dirty="0">
                <a:solidFill>
                  <a:srgbClr val="000000"/>
                </a:solidFill>
                <a:effectLst/>
              </a:rPr>
              <a:t>“What if this person had a slightly higher income? Would they have received a loan?”</a:t>
            </a:r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800" b="1" i="0" u="none" strike="noStrike" dirty="0">
                <a:solidFill>
                  <a:srgbClr val="000000"/>
                </a:solidFill>
                <a:effectLst/>
              </a:rPr>
              <a:t>Use case:</a:t>
            </a:r>
            <a:r>
              <a:rPr lang="en-GB" sz="1800" b="0" i="0" u="none" strike="noStrike" dirty="0">
                <a:solidFill>
                  <a:srgbClr val="000000"/>
                </a:solidFill>
                <a:effectLst/>
              </a:rPr>
              <a:t> Used in fairness auditing, especially for models in finance and hiring.</a:t>
            </a:r>
          </a:p>
        </p:txBody>
      </p:sp>
    </p:spTree>
    <p:extLst>
      <p:ext uri="{BB962C8B-B14F-4D97-AF65-F5344CB8AC3E}">
        <p14:creationId xmlns:p14="http://schemas.microsoft.com/office/powerpoint/2010/main" val="608414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1CEFB821-4826-EF0C-726C-5DE4F509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FC0AA43C-6948-1368-BBC1-C744F3C19B5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D0EBF230-0640-7FE9-DC0B-D07A1478B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Challenges in Achieving Transparent and Accountable AI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DB8CB-2A03-2233-2E41-EFBA3C9A7FCA}"/>
              </a:ext>
            </a:extLst>
          </p:cNvPr>
          <p:cNvSpPr txBox="1"/>
          <p:nvPr/>
        </p:nvSpPr>
        <p:spPr>
          <a:xfrm>
            <a:off x="457200" y="759488"/>
            <a:ext cx="7799832" cy="3931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Despite advancements in explainability techniques, several challenges remain: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a. Complexity of Deep Learning Models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Neural networks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transformers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have millions of parameters, making them difficult to interpret.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Trade-off between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accuracy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interpretability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simpler models are more explainable but may have lower accuracy.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b. Trade-offs Between Fairness and Performance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Reducing bias may lead to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lower accuracy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for certain groups, making it challenging to balance fairness and model effectiveness.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c. Lack of Standardized Explainability Metrics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There is no universal way to measure explainability, leading to inconsistent implementations across different industries.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d. Risk of Misinterpretation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Users may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misunderstand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explainability outputs, leading to incorrect conclusions about model fairness.</a:t>
            </a:r>
          </a:p>
        </p:txBody>
      </p:sp>
    </p:spTree>
    <p:extLst>
      <p:ext uri="{BB962C8B-B14F-4D97-AF65-F5344CB8AC3E}">
        <p14:creationId xmlns:p14="http://schemas.microsoft.com/office/powerpoint/2010/main" val="1982621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</a:pPr>
            <a:r>
              <a:rPr lang="en-US" sz="3200" dirty="0">
                <a:latin typeface="Arial"/>
                <a:ea typeface="Arial"/>
                <a:cs typeface="Arial"/>
                <a:sym typeface="Arial"/>
              </a:rPr>
              <a:t>RECAP</a:t>
            </a: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5F6B0B-CDF5-6247-EEAD-F2816EA369FC}"/>
              </a:ext>
            </a:extLst>
          </p:cNvPr>
          <p:cNvSpPr txBox="1"/>
          <p:nvPr/>
        </p:nvSpPr>
        <p:spPr>
          <a:xfrm>
            <a:off x="1009816" y="802532"/>
            <a:ext cx="596148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Bias Detection &amp; Mitigation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Essential for ensuring fairness and responsibility in AI.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Techniques are applied at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different ML pipeline stages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(pre-processing, in-processing, post-processing).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Advanced methods like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fair representation learning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adversarial debiasing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help reduce bias.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Explainability &amp; Transparency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Crucial for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ethical AI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fair decision-making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Methods like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LIME, SHAP, and counterfactual analysis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improve model interpretability.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Challenge: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Balancing accuracy, fairness, and interpretability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remains complex.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A329-DDC0-B523-AEBE-B35BF569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with Google COLAB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FB29-6CFE-B48D-9134-B424D9775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</a:pPr>
            <a:r>
              <a:rPr lang="en-US" dirty="0">
                <a:hlinkClick r:id="rId2"/>
              </a:rPr>
              <a:t>Click here </a:t>
            </a:r>
          </a:p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</a:pPr>
            <a:r>
              <a:rPr lang="en-US" dirty="0">
                <a:hlinkClick r:id="rId2"/>
              </a:rPr>
              <a:t>https://colab.research.google.com/drive/1NWNKmR4i2Pn8WZen2aiBUIwW9T_cI0fD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79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4639</TotalTime>
  <Words>1413</Words>
  <Application>Microsoft Macintosh PowerPoint</Application>
  <PresentationFormat>On-screen Show (16:9)</PresentationFormat>
  <Paragraphs>143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Inter</vt:lpstr>
      <vt:lpstr>IBM Plex Sans Arabic SemiBold</vt:lpstr>
      <vt:lpstr>Arial</vt:lpstr>
      <vt:lpstr>Times New Roman</vt:lpstr>
      <vt:lpstr>IBM Plex Sans Arabic Medium</vt:lpstr>
      <vt:lpstr>IBM Plex Sans Arabic</vt:lpstr>
      <vt:lpstr>Tajawal</vt:lpstr>
      <vt:lpstr>-webkit-standard</vt:lpstr>
      <vt:lpstr>Calibri</vt:lpstr>
      <vt:lpstr>Proxima Nova</vt:lpstr>
      <vt:lpstr>Wingdings</vt:lpstr>
      <vt:lpstr>Simple Light</vt:lpstr>
      <vt:lpstr>أكـــــاديميــــة طــــويـــق</vt:lpstr>
      <vt:lpstr>      Bias Detection and Explainable AI </vt:lpstr>
      <vt:lpstr>PowerPoint Presentation</vt:lpstr>
      <vt:lpstr>Bias Detection and Mitigation Techniques   </vt:lpstr>
      <vt:lpstr>a. Data Bias Detection   </vt:lpstr>
      <vt:lpstr>b. Model Bias Detection   </vt:lpstr>
      <vt:lpstr>Pre-processing, In-processing, and Post-processing Bias Mitigation Techniques    </vt:lpstr>
      <vt:lpstr>Pre-processing Techniques (Before Model Training)    </vt:lpstr>
      <vt:lpstr>In-processing Techniques (During Model Training)    </vt:lpstr>
      <vt:lpstr>Post-processing Techniques (After Model Training)     </vt:lpstr>
      <vt:lpstr>Fair Representation Learning and Adversarial Debiasing     </vt:lpstr>
      <vt:lpstr>Explainability and Transparency in AI Models      </vt:lpstr>
      <vt:lpstr>Importance of Explainable AI (XAI) in Fairness       </vt:lpstr>
      <vt:lpstr>2. Techniques for Improving Model Interpretability        </vt:lpstr>
      <vt:lpstr>2. Techniques for Improving Model Interpretability        </vt:lpstr>
      <vt:lpstr>2. Techniques for Improving Model Interpretability        </vt:lpstr>
      <vt:lpstr>Challenges in Achieving Transparent and Accountable AI         </vt:lpstr>
      <vt:lpstr>RECAP </vt:lpstr>
      <vt:lpstr>Practice with Google COLAB</vt:lpstr>
      <vt:lpstr>الشراكات العالمية</vt:lpstr>
      <vt:lpstr>شــــــكــــرًا لكــــــم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/>
  <cp:lastModifiedBy>Afshan Hashmi</cp:lastModifiedBy>
  <cp:revision>13</cp:revision>
  <dcterms:modified xsi:type="dcterms:W3CDTF">2025-03-06T12:34:22Z</dcterms:modified>
  <cp:category/>
</cp:coreProperties>
</file>