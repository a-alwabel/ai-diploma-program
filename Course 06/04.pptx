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3" r:id="rId4"/>
    <p:sldId id="278" r:id="rId5"/>
    <p:sldId id="262" r:id="rId6"/>
    <p:sldId id="338" r:id="rId7"/>
    <p:sldId id="321" r:id="rId8"/>
    <p:sldId id="339" r:id="rId9"/>
    <p:sldId id="322" r:id="rId10"/>
    <p:sldId id="323" r:id="rId11"/>
    <p:sldId id="340" r:id="rId12"/>
    <p:sldId id="341" r:id="rId13"/>
    <p:sldId id="342" r:id="rId14"/>
    <p:sldId id="277" r:id="rId15"/>
    <p:sldId id="343" r:id="rId16"/>
    <p:sldId id="332" r:id="rId17"/>
    <p:sldId id="333" r:id="rId18"/>
    <p:sldId id="334" r:id="rId19"/>
    <p:sldId id="335" r:id="rId20"/>
    <p:sldId id="265" r:id="rId21"/>
    <p:sldId id="320" r:id="rId22"/>
    <p:sldId id="275" r:id="rId23"/>
    <p:sldId id="276" r:id="rId24"/>
  </p:sldIdLst>
  <p:sldSz cx="9144000" cy="5143500" type="screen16x9"/>
  <p:notesSz cx="6858000" cy="9144000"/>
  <p:embeddedFontLst>
    <p:embeddedFont>
      <p:font typeface="IBM Plex Sans Arabic" panose="020B0603050203000203" pitchFamily="34" charset="-78"/>
      <p:regular r:id="rId26"/>
      <p:bold r:id="rId27"/>
    </p:embeddedFont>
    <p:embeddedFont>
      <p:font typeface="IBM Plex Sans Arabic Medium" panose="020B0603050203000203" pitchFamily="34" charset="-78"/>
      <p:regular r:id="rId28"/>
      <p:bold r:id="rId29"/>
    </p:embeddedFont>
    <p:embeddedFont>
      <p:font typeface="IBM Plex Sans Arabic SemiBold" panose="020B0603050203000203" pitchFamily="34" charset="-78"/>
      <p:regular r:id="rId30"/>
      <p:bold r:id="rId31"/>
    </p:embeddedFont>
    <p:embeddedFont>
      <p:font typeface="Inter" panose="02000503000000020004" pitchFamily="2" charset="0"/>
      <p:regular r:id="rId32"/>
      <p:bold r:id="rId33"/>
      <p:italic r:id="rId34"/>
      <p:boldItalic r:id="rId35"/>
    </p:embeddedFont>
    <p:embeddedFont>
      <p:font typeface="Proxima Nova" panose="02000506030000020004" pitchFamily="2" charset="0"/>
      <p:regular r:id="rId36"/>
      <p:bold r:id="rId37"/>
      <p:italic r:id="rId38"/>
      <p:boldItalic r:id="rId39"/>
    </p:embeddedFont>
    <p:embeddedFont>
      <p:font typeface="Tajawal" pitchFamily="2" charset="-78"/>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p:restoredTop sz="94795"/>
  </p:normalViewPr>
  <p:slideViewPr>
    <p:cSldViewPr snapToGrid="0">
      <p:cViewPr varScale="1">
        <p:scale>
          <a:sx n="160" d="100"/>
          <a:sy n="160" d="100"/>
        </p:scale>
        <p:origin x="1064" y="1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64"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F1B7FED-EC60-063A-2384-F21900B16478}"/>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B0348E85-B2E1-B848-BD9F-9815A8564A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B86581E5-4241-B116-0A34-F7A84E10A6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37769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0846550-D021-2E3F-359C-C4694091474E}"/>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E5A79FD6-1EA4-E6F9-162C-5E047FB5E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95CC2B4F-02A4-9136-74FE-D034AFE996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85195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D20C682-75DF-8249-E21B-DEB5C857315A}"/>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D505E0C1-012B-99A4-73F6-6C861CC6CA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D82F2C51-A616-5234-9B13-57DC747D7F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56414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0A968E5-8EE1-1678-464A-C148C972A4FA}"/>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8C8FED41-D419-193E-B4AE-B9F42BF17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8382F69B-FDCB-039C-AB4F-73F6841C35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4519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BC49CF4-69FB-1AC1-0178-1646B28E554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DC3EADCB-1536-0D9B-796C-2E7BBCE52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03C6BFD2-03B8-6A92-0F3F-50D7E8AD7D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5132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9B91F3A-D1D3-A37B-018E-4E19353F6520}"/>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86D16D46-D66D-E373-EFAA-446CCF5634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BDA46EDD-62D1-CF82-640A-ED1D65F89A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9852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3093A14-492E-F49D-B7F2-F62EB95E1959}"/>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D61FA88E-3DFB-03F1-94AE-A1DA9FAC4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4F85A262-B8B0-7495-AA87-B3CFDC41BA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0418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8CB0BDF-9C89-F4D8-32A7-F9CA17402A67}"/>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0718A3F8-8EAE-AA93-943E-1F4F6609DE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255DF308-B6C5-9537-B74F-F8D7FFD323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1776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33E31C8-D5E9-2017-AE3F-9CE690F7360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71F4956-9A8B-D2BD-69BC-C7A200A2F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35EAFF3-6059-1547-52B9-ABA6113E56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7265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81DA626-5D75-1FFB-F6AD-88B6ECD56A4C}"/>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7FFC2644-22C0-4853-6112-580D42CDE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5D2D270-B3D5-FB78-DC94-94D32C61DD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4781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E1302474-2C0B-576B-A37C-39963986EBCF}"/>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FE540899-78E0-826B-4A91-A56086A3FB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5031C40A-19B2-A3F0-9435-552E0E4833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7292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6892001-E380-D6A7-73B9-D874EEB029E0}"/>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7B0B9D3C-450A-74D9-E992-C47093987B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E8F0CFFB-D86D-561F-7673-CC70709F7C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2705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2A33176-BA36-F359-9630-F28077A5CED0}"/>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2DABAC40-3EC9-76D7-855B-FF8F91D85B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7A7EFC1F-0DE1-2AA9-C76D-57F569729B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27138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933DFA4-81CB-48D4-B35D-4EBF039B7198}"/>
            </a:ext>
          </a:extLst>
        </p:cNvPr>
        <p:cNvGrpSpPr/>
        <p:nvPr/>
      </p:nvGrpSpPr>
      <p:grpSpPr>
        <a:xfrm>
          <a:off x="0" y="0"/>
          <a:ext cx="0" cy="0"/>
          <a:chOff x="0" y="0"/>
          <a:chExt cx="0" cy="0"/>
        </a:xfrm>
      </p:grpSpPr>
      <p:sp>
        <p:nvSpPr>
          <p:cNvPr id="89" name="Google Shape;89;p8:notes">
            <a:extLst>
              <a:ext uri="{FF2B5EF4-FFF2-40B4-BE49-F238E27FC236}">
                <a16:creationId xmlns:a16="http://schemas.microsoft.com/office/drawing/2014/main" id="{8C0141FA-1F1F-5CD4-2867-81155BBB39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a:extLst>
              <a:ext uri="{FF2B5EF4-FFF2-40B4-BE49-F238E27FC236}">
                <a16:creationId xmlns:a16="http://schemas.microsoft.com/office/drawing/2014/main" id="{0331237A-DC34-105A-A324-B0F1B5D73A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467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7380419-3B83-6C5F-7037-D9C16B72CD4F}"/>
            </a:ext>
          </a:extLst>
        </p:cNvPr>
        <p:cNvGrpSpPr/>
        <p:nvPr/>
      </p:nvGrpSpPr>
      <p:grpSpPr>
        <a:xfrm>
          <a:off x="0" y="0"/>
          <a:ext cx="0" cy="0"/>
          <a:chOff x="0" y="0"/>
          <a:chExt cx="0" cy="0"/>
        </a:xfrm>
      </p:grpSpPr>
      <p:sp>
        <p:nvSpPr>
          <p:cNvPr id="105" name="Google Shape;105;p10:notes">
            <a:extLst>
              <a:ext uri="{FF2B5EF4-FFF2-40B4-BE49-F238E27FC236}">
                <a16:creationId xmlns:a16="http://schemas.microsoft.com/office/drawing/2014/main" id="{8F656EE4-F75A-8999-B3F4-7DF5B51DF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a:extLst>
              <a:ext uri="{FF2B5EF4-FFF2-40B4-BE49-F238E27FC236}">
                <a16:creationId xmlns:a16="http://schemas.microsoft.com/office/drawing/2014/main" id="{ED33E920-EE85-D545-6CAF-F08715C20C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2156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hyperlink" Target="https://oecd.ai/" TargetMode="External"/><Relationship Id="rId3" Type="http://schemas.openxmlformats.org/officeDocument/2006/relationships/image" Target="../media/image8.png"/><Relationship Id="rId7" Type="http://schemas.openxmlformats.org/officeDocument/2006/relationships/hyperlink" Target="https://gdpr.eu/"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www.nist.gov/itl/ai-risk-management-framework" TargetMode="External"/><Relationship Id="rId5" Type="http://schemas.openxmlformats.org/officeDocument/2006/relationships/hyperlink" Target="https://www.whitehouse.gov/" TargetMode="External"/><Relationship Id="rId10" Type="http://schemas.openxmlformats.org/officeDocument/2006/relationships/hyperlink" Target="https://unece.org/" TargetMode="External"/><Relationship Id="rId4" Type="http://schemas.openxmlformats.org/officeDocument/2006/relationships/hyperlink" Target="https://artificialintelligenceact.eu/" TargetMode="External"/><Relationship Id="rId9" Type="http://schemas.openxmlformats.org/officeDocument/2006/relationships/hyperlink" Target="https://www.fda.gov/"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2.xml"/><Relationship Id="rId16"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749287"/>
            <a:ext cx="8520600" cy="104788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4000" dirty="0">
                <a:latin typeface="Calibri"/>
                <a:ea typeface="Calibri"/>
                <a:cs typeface="Calibri"/>
                <a:sym typeface="Calibri"/>
              </a:rPr>
            </a:br>
            <a:br>
              <a:rPr lang="en-GB" sz="3600" b="0" i="0" u="none" strike="noStrike" dirty="0">
                <a:solidFill>
                  <a:srgbClr val="7030A0"/>
                </a:solidFill>
                <a:effectLst/>
                <a:latin typeface="-webkit-standard"/>
              </a:rPr>
            </a:br>
            <a:br>
              <a:rPr lang="en-GB" sz="1800" dirty="0">
                <a:latin typeface="Calibri"/>
                <a:ea typeface="Calibri"/>
                <a:cs typeface="Calibri"/>
                <a:sym typeface="Calibri"/>
              </a:rPr>
            </a:br>
            <a:br>
              <a:rPr lang="en-GB" sz="1800" dirty="0">
                <a:latin typeface="Calibri"/>
                <a:ea typeface="Calibri"/>
                <a:cs typeface="Calibri"/>
                <a:sym typeface="Calibri"/>
              </a:rPr>
            </a:br>
            <a:br>
              <a:rPr lang="en-GB" sz="4400" dirty="0">
                <a:latin typeface="Calibri"/>
                <a:ea typeface="Calibri"/>
                <a:cs typeface="Calibri"/>
                <a:sym typeface="Calibri"/>
              </a:rPr>
            </a:br>
            <a:r>
              <a:rPr lang="en-GB" sz="4400" dirty="0">
                <a:latin typeface="Calibri"/>
                <a:ea typeface="Calibri"/>
                <a:cs typeface="Calibri"/>
                <a:sym typeface="Calibri"/>
              </a:rPr>
              <a:t>AI Regulations and Legal Frameworks</a:t>
            </a:r>
            <a:endParaRPr lang="en-GB"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557465" y="1250583"/>
            <a:ext cx="8029070" cy="3175188"/>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1600" b="1" i="0" u="none" strike="noStrike" cap="none" dirty="0">
                <a:solidFill>
                  <a:srgbClr val="7030A0"/>
                </a:solidFill>
                <a:latin typeface="Arial"/>
                <a:ea typeface="Arial"/>
                <a:cs typeface="Arial"/>
                <a:sym typeface="Arial"/>
              </a:rPr>
              <a:t>Course Objectives:</a:t>
            </a:r>
          </a:p>
          <a:p>
            <a:pPr marL="0" marR="0" lvl="0" indent="0" algn="just" rtl="0">
              <a:lnSpc>
                <a:spcPct val="125000"/>
              </a:lnSpc>
              <a:spcBef>
                <a:spcPts val="0"/>
              </a:spcBef>
              <a:spcAft>
                <a:spcPts val="0"/>
              </a:spcAft>
              <a:buNone/>
            </a:pPr>
            <a:endParaRPr lang="en-US" sz="1600" b="1" i="0" u="none" strike="noStrike" cap="none" dirty="0">
              <a:solidFill>
                <a:srgbClr val="7030A0"/>
              </a:solidFill>
              <a:latin typeface="Arial"/>
              <a:ea typeface="Arial"/>
              <a:cs typeface="Arial"/>
              <a:sym typeface="Arial"/>
            </a:endParaRPr>
          </a:p>
          <a:p>
            <a:pPr marL="342900" indent="-342900">
              <a:buFont typeface="+mj-lt"/>
              <a:buAutoNum type="arabicPeriod"/>
            </a:pPr>
            <a:r>
              <a:rPr lang="en-GB" sz="1600" b="1" dirty="0"/>
              <a:t>Understand the global landscape of AI regulations</a:t>
            </a:r>
          </a:p>
          <a:p>
            <a:pPr marL="342900" indent="-342900">
              <a:buFont typeface="+mj-lt"/>
              <a:buAutoNum type="arabicPeriod"/>
            </a:pPr>
            <a:r>
              <a:rPr lang="en-GB" sz="1600" b="1" dirty="0"/>
              <a:t>Explain the role of GDPR in regulating AI</a:t>
            </a:r>
            <a:endParaRPr lang="en-GB" sz="1600" dirty="0"/>
          </a:p>
          <a:p>
            <a:pPr marL="342900" indent="-342900">
              <a:buFont typeface="+mj-lt"/>
              <a:buAutoNum type="arabicPeriod"/>
            </a:pPr>
            <a:r>
              <a:rPr lang="en-GB" sz="1600" b="1" dirty="0"/>
              <a:t>Identify legal and ethical challenges</a:t>
            </a:r>
            <a:r>
              <a:rPr lang="en-GB" sz="1600" dirty="0"/>
              <a:t> </a:t>
            </a:r>
          </a:p>
          <a:p>
            <a:pPr marL="342900" indent="-342900">
              <a:buFont typeface="+mj-lt"/>
              <a:buAutoNum type="arabicPeriod"/>
            </a:pPr>
            <a:r>
              <a:rPr lang="en-GB" sz="1600" b="1" dirty="0" err="1"/>
              <a:t>Analyze</a:t>
            </a:r>
            <a:r>
              <a:rPr lang="en-GB" sz="1600" b="1" dirty="0"/>
              <a:t> industry-specific regulatory requirements</a:t>
            </a:r>
            <a:endParaRPr lang="en-GB" sz="1600" dirty="0"/>
          </a:p>
          <a:p>
            <a:pPr marL="342900" indent="-342900">
              <a:buFont typeface="+mj-lt"/>
              <a:buAutoNum type="arabicPeriod"/>
            </a:pPr>
            <a:r>
              <a:rPr lang="en-GB" sz="1600" b="1" dirty="0"/>
              <a:t>Evaluate the impact of AI laws on innovation, accountability, and human rights.</a:t>
            </a:r>
            <a:endParaRPr lang="en-GB" sz="1600" dirty="0"/>
          </a:p>
          <a:p>
            <a:pPr marL="342900" indent="-342900">
              <a:buFont typeface="+mj-lt"/>
              <a:buAutoNum type="arabicPeriod"/>
            </a:pPr>
            <a:r>
              <a:rPr lang="en-GB" sz="1600" b="1" dirty="0"/>
              <a:t>Develop strategies for aligning AI systems with current legal frameworks</a:t>
            </a:r>
            <a:endParaRPr lang="en-GB" sz="1600" dirty="0"/>
          </a:p>
          <a:p>
            <a:pPr marL="0" marR="0" lvl="0" indent="0" algn="just" rtl="0">
              <a:lnSpc>
                <a:spcPct val="125000"/>
              </a:lnSpc>
              <a:spcBef>
                <a:spcPts val="0"/>
              </a:spcBef>
              <a:spcAft>
                <a:spcPts val="0"/>
              </a:spcAft>
              <a:buNone/>
            </a:pPr>
            <a:endParaRPr lang="en-GB" sz="1600" b="0" i="0" u="none" strike="noStrike" cap="none" dirty="0">
              <a:solidFill>
                <a:srgbClr val="000000"/>
              </a:solidFill>
              <a:latin typeface="Proxima Nova"/>
              <a:ea typeface="Proxima Nova"/>
              <a:cs typeface="Proxima Nova"/>
              <a:sym typeface="Proxima Nova"/>
            </a:endParaRPr>
          </a:p>
          <a:p>
            <a:pPr marL="0" marR="0" lvl="0" indent="0" algn="just" rtl="0">
              <a:lnSpc>
                <a:spcPct val="125000"/>
              </a:lnSpc>
              <a:spcBef>
                <a:spcPts val="100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000" b="1" dirty="0"/>
              <a:t>Overview of Global AI Regulations</a:t>
            </a:r>
            <a:br>
              <a:rPr lang="en-GB" sz="2000" b="1" dirty="0"/>
            </a:br>
            <a:br>
              <a:rPr lang="en-GB" sz="2000" b="1" dirty="0"/>
            </a:br>
            <a:br>
              <a:rPr lang="en-GB" sz="2000" b="1" dirty="0"/>
            </a:b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3" name="TextBox 2">
            <a:extLst>
              <a:ext uri="{FF2B5EF4-FFF2-40B4-BE49-F238E27FC236}">
                <a16:creationId xmlns:a16="http://schemas.microsoft.com/office/drawing/2014/main" id="{833F09E0-3E99-80F4-C083-9054BA5CC6A5}"/>
              </a:ext>
            </a:extLst>
          </p:cNvPr>
          <p:cNvSpPr txBox="1"/>
          <p:nvPr/>
        </p:nvSpPr>
        <p:spPr>
          <a:xfrm>
            <a:off x="219402" y="862014"/>
            <a:ext cx="4352597" cy="3454792"/>
          </a:xfrm>
          <a:prstGeom prst="rect">
            <a:avLst/>
          </a:prstGeom>
          <a:noFill/>
        </p:spPr>
        <p:txBody>
          <a:bodyPr wrap="square">
            <a:spAutoFit/>
          </a:bodyPr>
          <a:lstStyle/>
          <a:p>
            <a:r>
              <a:rPr lang="en-GB" sz="2000" dirty="0"/>
              <a:t>Artificial Intelligence (AI) has become a transformative force across industries, raising critical legal and ethical concerns. Governments and international organizations are actively working to establish regulatory frameworks to ensure responsible and safe development and deployment of AI technologies.</a:t>
            </a:r>
          </a:p>
          <a:p>
            <a:pPr algn="l">
              <a:spcBef>
                <a:spcPts val="300"/>
              </a:spcBef>
              <a:buFont typeface="Arial" panose="020B0604020202020204" pitchFamily="34" charset="0"/>
              <a:buChar char="•"/>
            </a:pPr>
            <a:endParaRPr lang="en-GB" sz="1600" b="0" i="0" u="none" strike="noStrike" dirty="0">
              <a:solidFill>
                <a:srgbClr val="404040"/>
              </a:solidFill>
              <a:effectLst/>
              <a:latin typeface="Inter" panose="02000503000000020004" pitchFamily="2" charset="0"/>
            </a:endParaRPr>
          </a:p>
        </p:txBody>
      </p:sp>
      <p:pic>
        <p:nvPicPr>
          <p:cNvPr id="5" name="Picture 4" descr="A diagram of a light bulb&#10;&#10;AI-generated content may be incorrect.">
            <a:extLst>
              <a:ext uri="{FF2B5EF4-FFF2-40B4-BE49-F238E27FC236}">
                <a16:creationId xmlns:a16="http://schemas.microsoft.com/office/drawing/2014/main" id="{B771A05C-94B7-992E-06B0-FB0BCB7FBFF1}"/>
              </a:ext>
            </a:extLst>
          </p:cNvPr>
          <p:cNvPicPr>
            <a:picLocks noChangeAspect="1"/>
          </p:cNvPicPr>
          <p:nvPr/>
        </p:nvPicPr>
        <p:blipFill>
          <a:blip r:embed="rId4"/>
          <a:stretch>
            <a:fillRect/>
          </a:stretch>
        </p:blipFill>
        <p:spPr>
          <a:xfrm>
            <a:off x="4572000" y="919941"/>
            <a:ext cx="4638404" cy="4045659"/>
          </a:xfrm>
          <a:prstGeom prst="rect">
            <a:avLst/>
          </a:prstGeom>
        </p:spPr>
      </p:pic>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800" b="1" dirty="0"/>
              <a:t>a. EU AI Act</a:t>
            </a:r>
            <a:br>
              <a:rPr lang="en-GB" sz="28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65B9BB7-92C8-9AFE-9554-0613369D0319}"/>
              </a:ext>
            </a:extLst>
          </p:cNvPr>
          <p:cNvSpPr txBox="1"/>
          <p:nvPr/>
        </p:nvSpPr>
        <p:spPr>
          <a:xfrm>
            <a:off x="258240" y="616688"/>
            <a:ext cx="8353023" cy="4770537"/>
          </a:xfrm>
          <a:prstGeom prst="rect">
            <a:avLst/>
          </a:prstGeom>
          <a:noFill/>
        </p:spPr>
        <p:txBody>
          <a:bodyPr wrap="square">
            <a:spAutoFit/>
          </a:bodyPr>
          <a:lstStyle/>
          <a:p>
            <a:r>
              <a:rPr lang="en-GB" sz="1600" dirty="0"/>
              <a:t>The EU AI Act is a landmark legislative proposal by the European Union that aims to regulate Artificial Intelligence across its member states. Introduced in April 2021, it is the first major legal framework globally that sets rules for how AI systems should be designed, developed, and used to ensure safety, transparency, and respect for fundamental rights.</a:t>
            </a:r>
          </a:p>
          <a:p>
            <a:pPr>
              <a:buNone/>
            </a:pPr>
            <a:r>
              <a:rPr lang="en-GB" sz="1600" b="1" dirty="0"/>
              <a:t>Key Elements :</a:t>
            </a:r>
          </a:p>
          <a:p>
            <a:r>
              <a:rPr lang="en-GB" sz="1600" b="1" dirty="0"/>
              <a:t>Risk-based approach</a:t>
            </a:r>
            <a:r>
              <a:rPr lang="en-GB" sz="1600" dirty="0"/>
              <a:t>: AI systems are categorized by the </a:t>
            </a:r>
            <a:r>
              <a:rPr lang="en-GB" sz="1600" b="1" dirty="0"/>
              <a:t>potential risk</a:t>
            </a:r>
            <a:r>
              <a:rPr lang="en-GB" sz="1600" dirty="0"/>
              <a:t> they pose:</a:t>
            </a:r>
          </a:p>
          <a:p>
            <a:pPr marL="742950" lvl="1" indent="-285750">
              <a:buFont typeface="Arial" panose="020B0604020202020204" pitchFamily="34" charset="0"/>
              <a:buChar char="•"/>
            </a:pPr>
            <a:r>
              <a:rPr lang="en-GB" sz="1600" b="1" dirty="0"/>
              <a:t>Unacceptable risk</a:t>
            </a:r>
            <a:r>
              <a:rPr lang="en-GB" sz="1600" dirty="0"/>
              <a:t> (e.g., social scoring by governments) – </a:t>
            </a:r>
            <a:r>
              <a:rPr lang="en-GB" sz="1600" b="1" dirty="0"/>
              <a:t>banned</a:t>
            </a:r>
            <a:r>
              <a:rPr lang="en-GB" sz="1600" dirty="0"/>
              <a:t>.</a:t>
            </a:r>
          </a:p>
          <a:p>
            <a:pPr marL="742950" lvl="1" indent="-285750">
              <a:buFont typeface="Arial" panose="020B0604020202020204" pitchFamily="34" charset="0"/>
              <a:buChar char="•"/>
            </a:pPr>
            <a:r>
              <a:rPr lang="en-GB" sz="1600" b="1" dirty="0"/>
              <a:t>High-risk</a:t>
            </a:r>
            <a:r>
              <a:rPr lang="en-GB" sz="1600" dirty="0"/>
              <a:t> (e.g., AI in medical devices, hiring tools) – subject to </a:t>
            </a:r>
            <a:r>
              <a:rPr lang="en-GB" sz="1600" b="1" dirty="0"/>
              <a:t>strict obligations</a:t>
            </a:r>
            <a:r>
              <a:rPr lang="en-GB" sz="1600" dirty="0"/>
              <a:t>.</a:t>
            </a:r>
          </a:p>
          <a:p>
            <a:pPr marL="742950" lvl="1" indent="-285750">
              <a:buFont typeface="Arial" panose="020B0604020202020204" pitchFamily="34" charset="0"/>
              <a:buChar char="•"/>
            </a:pPr>
            <a:r>
              <a:rPr lang="en-GB" sz="1600" b="1" dirty="0"/>
              <a:t>Limited risk</a:t>
            </a:r>
            <a:r>
              <a:rPr lang="en-GB" sz="1600" dirty="0"/>
              <a:t> – must meet </a:t>
            </a:r>
            <a:r>
              <a:rPr lang="en-GB" sz="1600" b="1" dirty="0"/>
              <a:t>transparency requirements</a:t>
            </a:r>
            <a:r>
              <a:rPr lang="en-GB" sz="1600" dirty="0"/>
              <a:t>.</a:t>
            </a:r>
          </a:p>
          <a:p>
            <a:pPr marL="742950" lvl="1" indent="-285750">
              <a:buFont typeface="Arial" panose="020B0604020202020204" pitchFamily="34" charset="0"/>
              <a:buChar char="•"/>
            </a:pPr>
            <a:r>
              <a:rPr lang="en-GB" sz="1600" b="1" dirty="0"/>
              <a:t>Minimal risk</a:t>
            </a:r>
            <a:r>
              <a:rPr lang="en-GB" sz="1600" dirty="0"/>
              <a:t> – free to operate with </a:t>
            </a:r>
            <a:r>
              <a:rPr lang="en-GB" sz="1600" b="1" dirty="0"/>
              <a:t>no specific regulation</a:t>
            </a:r>
            <a:r>
              <a:rPr lang="en-GB" sz="1600" dirty="0"/>
              <a:t>.</a:t>
            </a:r>
          </a:p>
          <a:p>
            <a:r>
              <a:rPr lang="en-GB" sz="1600" b="1" dirty="0"/>
              <a:t>High-risk systems</a:t>
            </a:r>
            <a:r>
              <a:rPr lang="en-GB" sz="1600" dirty="0"/>
              <a:t> require:</a:t>
            </a:r>
          </a:p>
          <a:p>
            <a:pPr marL="742950" lvl="1" indent="-285750">
              <a:buFont typeface="Arial" panose="020B0604020202020204" pitchFamily="34" charset="0"/>
              <a:buChar char="•"/>
            </a:pPr>
            <a:r>
              <a:rPr lang="en-GB" sz="1600" b="1" dirty="0"/>
              <a:t>Detailed documentation</a:t>
            </a:r>
            <a:endParaRPr lang="en-GB" sz="1600" dirty="0"/>
          </a:p>
          <a:p>
            <a:pPr marL="742950" lvl="1" indent="-285750">
              <a:buFont typeface="Arial" panose="020B0604020202020204" pitchFamily="34" charset="0"/>
              <a:buChar char="•"/>
            </a:pPr>
            <a:r>
              <a:rPr lang="en-GB" sz="1600" b="1" dirty="0"/>
              <a:t>Clear transparency procedures</a:t>
            </a:r>
            <a:endParaRPr lang="en-GB" sz="1600" dirty="0"/>
          </a:p>
          <a:p>
            <a:pPr marL="742950" lvl="1" indent="-285750">
              <a:buFont typeface="Arial" panose="020B0604020202020204" pitchFamily="34" charset="0"/>
              <a:buChar char="•"/>
            </a:pPr>
            <a:r>
              <a:rPr lang="en-GB" sz="1600" b="1" dirty="0"/>
              <a:t>Human oversight</a:t>
            </a:r>
            <a:r>
              <a:rPr lang="en-GB" sz="1600" dirty="0"/>
              <a:t> to prevent harmful outcomes.</a:t>
            </a:r>
          </a:p>
          <a:p>
            <a:r>
              <a:rPr lang="en-GB" sz="1600" b="1" dirty="0"/>
              <a:t>Prohibited AI practices</a:t>
            </a:r>
            <a:r>
              <a:rPr lang="en-GB" sz="1600" dirty="0"/>
              <a:t>: Includes systems that manipulate human </a:t>
            </a:r>
            <a:r>
              <a:rPr lang="en-GB" sz="1600" dirty="0" err="1"/>
              <a:t>behavior</a:t>
            </a:r>
            <a:r>
              <a:rPr lang="en-GB" sz="1600" dirty="0"/>
              <a:t> or exploit vulnerabilities (e.g., scoring systems that evaluate trustworthiness of individuals).</a:t>
            </a:r>
          </a:p>
          <a:p>
            <a:endParaRPr lang="en-GB" sz="1600" dirty="0"/>
          </a:p>
          <a:p>
            <a:endParaRPr lang="en-GB" sz="1600" dirty="0"/>
          </a:p>
          <a:p>
            <a:endParaRPr lang="en-GB"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F3B9B9FF-3BEF-A308-6D5F-70656AA0287B}"/>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F7FF67CB-DC4E-CC96-F14D-BED44B7C7656}"/>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20A3B3EA-D7AC-8DF5-1B5A-0D39039F893D}"/>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800" b="1" dirty="0"/>
              <a:t>a. EU AI Act overview</a:t>
            </a:r>
            <a:br>
              <a:rPr lang="en-GB" sz="2800" b="1" dirty="0"/>
            </a:b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268F26D2-CC51-6013-9326-CB05EAC79103}"/>
              </a:ext>
            </a:extLst>
          </p:cNvPr>
          <p:cNvSpPr txBox="1"/>
          <p:nvPr/>
        </p:nvSpPr>
        <p:spPr>
          <a:xfrm>
            <a:off x="258240" y="616688"/>
            <a:ext cx="7482355" cy="4462760"/>
          </a:xfrm>
          <a:prstGeom prst="rect">
            <a:avLst/>
          </a:prstGeom>
          <a:noFill/>
        </p:spPr>
        <p:txBody>
          <a:bodyPr wrap="square">
            <a:spAutoFit/>
          </a:bodyPr>
          <a:lstStyle/>
          <a:p>
            <a:r>
              <a:rPr lang="en-GB" b="1" dirty="0"/>
              <a:t>Status</a:t>
            </a:r>
            <a:r>
              <a:rPr lang="en-GB" dirty="0"/>
              <a:t>: First comprehensive legal framework on AI proposed by the European Commission in April 2021.</a:t>
            </a:r>
          </a:p>
          <a:p>
            <a:r>
              <a:rPr lang="en-GB" b="1" dirty="0"/>
              <a:t>Purpose</a:t>
            </a:r>
            <a:r>
              <a:rPr lang="en-GB" dirty="0"/>
              <a:t>: To ensure AI systems used in the EU are safe, respect fundamental rights, and are trustworthy.</a:t>
            </a:r>
          </a:p>
          <a:p>
            <a:r>
              <a:rPr lang="en-GB" b="1" dirty="0"/>
              <a:t>Key Features</a:t>
            </a:r>
            <a:r>
              <a:rPr lang="en-GB" dirty="0"/>
              <a:t>:</a:t>
            </a:r>
          </a:p>
          <a:p>
            <a:pPr marL="742950" lvl="1" indent="-285750">
              <a:buFont typeface="Wingdings" pitchFamily="2" charset="2"/>
              <a:buChar char="ü"/>
            </a:pPr>
            <a:r>
              <a:rPr lang="en-GB" dirty="0"/>
              <a:t>Risk-based approach: AI systems categorized as unacceptable risk, high risk, limited risk, and minimal risk.</a:t>
            </a:r>
          </a:p>
          <a:p>
            <a:pPr marL="742950" lvl="1" indent="-285750">
              <a:buFont typeface="Wingdings" pitchFamily="2" charset="2"/>
              <a:buChar char="ü"/>
            </a:pPr>
            <a:r>
              <a:rPr lang="en-GB" dirty="0"/>
              <a:t>High-risk systems (e.g., biometric ID, critical infrastructure) require strict compliance and transparency.</a:t>
            </a:r>
          </a:p>
          <a:p>
            <a:pPr marL="742950" lvl="1" indent="-285750">
              <a:buFont typeface="Wingdings" pitchFamily="2" charset="2"/>
              <a:buChar char="ü"/>
            </a:pPr>
            <a:r>
              <a:rPr lang="en-GB" dirty="0"/>
              <a:t>Obligations for providers and users: documentation, transparency, human oversight.</a:t>
            </a:r>
          </a:p>
          <a:p>
            <a:pPr marL="742950" lvl="1" indent="-285750">
              <a:buFont typeface="Wingdings" pitchFamily="2" charset="2"/>
              <a:buChar char="ü"/>
            </a:pPr>
            <a:r>
              <a:rPr lang="en-GB" dirty="0"/>
              <a:t>Prohibits certain AI uses (e.g., social scoring by governments).</a:t>
            </a:r>
          </a:p>
          <a:p>
            <a:pPr>
              <a:buNone/>
            </a:pPr>
            <a:r>
              <a:rPr lang="en-GB" b="1" dirty="0"/>
              <a:t>Why It Matters:</a:t>
            </a:r>
          </a:p>
          <a:p>
            <a:r>
              <a:rPr lang="en-GB" dirty="0"/>
              <a:t>This Act sets a global precedent for AI regulation. It seeks to balance innovation and safety by ensuring AI is used responsibly, without hindering technological progress. The Act affects developers, providers, and users of AI both within and outside the EU, if their systems impact EU citizens.</a:t>
            </a:r>
          </a:p>
          <a:p>
            <a:pPr marL="742950" lvl="1" indent="-285750">
              <a:buFont typeface="Arial" panose="020B0604020202020204" pitchFamily="34" charset="0"/>
              <a:buChar char="•"/>
            </a:pPr>
            <a:endParaRPr lang="en-GB" dirty="0"/>
          </a:p>
          <a:p>
            <a:endParaRPr lang="en-GB" sz="1600" dirty="0"/>
          </a:p>
          <a:p>
            <a:endParaRPr lang="en-GB" sz="1600" dirty="0"/>
          </a:p>
        </p:txBody>
      </p:sp>
    </p:spTree>
    <p:extLst>
      <p:ext uri="{BB962C8B-B14F-4D97-AF65-F5344CB8AC3E}">
        <p14:creationId xmlns:p14="http://schemas.microsoft.com/office/powerpoint/2010/main" val="2249495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80C076DA-C8F9-F189-D3BA-4542E2B40C2C}"/>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71B60108-7221-667A-8008-3E4C80269052}"/>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6623E004-095A-538F-A3C8-78BA530DD77C}"/>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b="1" dirty="0"/>
              <a:t>b. US Executive Orders and Initiatives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59D91713-AE9A-E8F9-04E2-B3286D53BECC}"/>
              </a:ext>
            </a:extLst>
          </p:cNvPr>
          <p:cNvSpPr txBox="1"/>
          <p:nvPr/>
        </p:nvSpPr>
        <p:spPr>
          <a:xfrm>
            <a:off x="127221" y="616688"/>
            <a:ext cx="8205746" cy="5016758"/>
          </a:xfrm>
          <a:prstGeom prst="rect">
            <a:avLst/>
          </a:prstGeom>
          <a:noFill/>
        </p:spPr>
        <p:txBody>
          <a:bodyPr wrap="square">
            <a:spAutoFit/>
          </a:bodyPr>
          <a:lstStyle/>
          <a:p>
            <a:pPr>
              <a:buNone/>
            </a:pPr>
            <a:r>
              <a:rPr lang="en-GB" sz="1600" dirty="0"/>
              <a:t>The United States takes a </a:t>
            </a:r>
            <a:r>
              <a:rPr lang="en-GB" sz="1600" b="1" dirty="0"/>
              <a:t>sector-specific approach</a:t>
            </a:r>
            <a:r>
              <a:rPr lang="en-GB" sz="1600" dirty="0"/>
              <a:t> to AI regulation rather than having a single unified AI law like the EU. Instead of one all-encompassing framework, the U.S. uses </a:t>
            </a:r>
            <a:r>
              <a:rPr lang="en-GB" sz="1600" b="1" dirty="0"/>
              <a:t>executive orders, agency-level guidelines, and voluntary frameworks</a:t>
            </a:r>
            <a:r>
              <a:rPr lang="en-GB" sz="1600" dirty="0"/>
              <a:t> to guide responsible AI development.</a:t>
            </a:r>
          </a:p>
          <a:p>
            <a:pPr>
              <a:buNone/>
            </a:pPr>
            <a:r>
              <a:rPr lang="en-GB" sz="1600" b="1" dirty="0"/>
              <a:t>Executive Order on Safe, Secure, and Trustworthy AI (2023)</a:t>
            </a:r>
          </a:p>
          <a:p>
            <a:pPr>
              <a:buNone/>
            </a:pPr>
            <a:r>
              <a:rPr lang="en-GB" sz="1600" dirty="0"/>
              <a:t>This is a </a:t>
            </a:r>
            <a:r>
              <a:rPr lang="en-GB" sz="1600" b="1" dirty="0"/>
              <a:t>significant policy move by the U.S. government</a:t>
            </a:r>
            <a:r>
              <a:rPr lang="en-GB" sz="1600" dirty="0"/>
              <a:t> to address the rapid growth and risks of AI. Key highlights include:</a:t>
            </a:r>
          </a:p>
          <a:p>
            <a:r>
              <a:rPr lang="en-GB" sz="1600" b="1" dirty="0"/>
              <a:t>Aligning AI with national goals</a:t>
            </a:r>
            <a:r>
              <a:rPr lang="en-GB" sz="1600" dirty="0"/>
              <a:t> such as economic growth, national security, and civil rights protection.</a:t>
            </a:r>
          </a:p>
          <a:p>
            <a:r>
              <a:rPr lang="en-GB" sz="1600" dirty="0"/>
              <a:t>Establishing protocols for </a:t>
            </a:r>
            <a:r>
              <a:rPr lang="en-GB" sz="1600" b="1" dirty="0"/>
              <a:t>testing, red-teaming, and risk evaluation</a:t>
            </a:r>
            <a:r>
              <a:rPr lang="en-GB" sz="1600" dirty="0"/>
              <a:t> before deploying AI models—especially those used by the government.</a:t>
            </a:r>
          </a:p>
          <a:p>
            <a:r>
              <a:rPr lang="en-GB" sz="1600" dirty="0"/>
              <a:t>Mandating federal agencies to </a:t>
            </a:r>
            <a:r>
              <a:rPr lang="en-GB" sz="1600" b="1" dirty="0"/>
              <a:t>assess and mitigate harms</a:t>
            </a:r>
            <a:r>
              <a:rPr lang="en-GB" sz="1600" dirty="0"/>
              <a:t> like bias, misuse, and discrimination in AI systems.</a:t>
            </a:r>
          </a:p>
          <a:p>
            <a:pPr>
              <a:buNone/>
            </a:pPr>
            <a:r>
              <a:rPr lang="en-GB" sz="1600" b="1" dirty="0"/>
              <a:t>Supporting Initiatives:</a:t>
            </a:r>
          </a:p>
          <a:p>
            <a:r>
              <a:rPr lang="en-GB" sz="1600" b="1" dirty="0"/>
              <a:t>NIST AI Risk Management Framework</a:t>
            </a:r>
            <a:r>
              <a:rPr lang="en-GB" sz="1600" dirty="0"/>
              <a:t>: Offers tools for companies to manage and reduce AI-related risks (accuracy, robustness, fairness).</a:t>
            </a:r>
          </a:p>
          <a:p>
            <a:r>
              <a:rPr lang="en-GB" sz="1600" b="1" dirty="0"/>
              <a:t>OSTP Blueprint for an AI Bill of Rights</a:t>
            </a:r>
            <a:r>
              <a:rPr lang="en-GB" sz="1600" dirty="0"/>
              <a:t>: Suggests principles like data privacy, transparency, and freedom from algorithmic bias.</a:t>
            </a:r>
          </a:p>
          <a:p>
            <a:endParaRPr lang="en-GB" sz="1600" dirty="0"/>
          </a:p>
          <a:p>
            <a:endParaRPr lang="en-GB" sz="1600" dirty="0"/>
          </a:p>
        </p:txBody>
      </p:sp>
    </p:spTree>
    <p:extLst>
      <p:ext uri="{BB962C8B-B14F-4D97-AF65-F5344CB8AC3E}">
        <p14:creationId xmlns:p14="http://schemas.microsoft.com/office/powerpoint/2010/main" val="46917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8BBEEF01-9D60-6CE8-BFD7-B85A71854691}"/>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56A54A5D-788A-6A8C-8248-8470D7046C08}"/>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B49DE895-6C1B-22F4-6E40-4DF8E0C0D3DD}"/>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000" b="1" dirty="0"/>
              <a:t>b. US Executive Orders and Initiatives- overview</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E92AA7D9-AA36-3D1E-2B96-DB7D73AD1CE1}"/>
              </a:ext>
            </a:extLst>
          </p:cNvPr>
          <p:cNvSpPr txBox="1"/>
          <p:nvPr/>
        </p:nvSpPr>
        <p:spPr>
          <a:xfrm>
            <a:off x="127221" y="616688"/>
            <a:ext cx="8205746" cy="4031873"/>
          </a:xfrm>
          <a:prstGeom prst="rect">
            <a:avLst/>
          </a:prstGeom>
          <a:noFill/>
        </p:spPr>
        <p:txBody>
          <a:bodyPr wrap="square">
            <a:spAutoFit/>
          </a:bodyPr>
          <a:lstStyle/>
          <a:p>
            <a:r>
              <a:rPr lang="en-GB" sz="1600" dirty="0"/>
              <a:t>The United States does not have a unified AI regulation but follows a sectoral approach.</a:t>
            </a:r>
          </a:p>
          <a:p>
            <a:r>
              <a:rPr lang="en-GB" sz="1600" b="1" dirty="0"/>
              <a:t>Executive Order on Safe, Secure, and Trustworthy AI (2023)</a:t>
            </a:r>
            <a:r>
              <a:rPr lang="en-GB" sz="1600" dirty="0"/>
              <a:t>:</a:t>
            </a:r>
          </a:p>
          <a:p>
            <a:pPr marL="742950" lvl="1" indent="-285750">
              <a:buFont typeface="Wingdings" pitchFamily="2" charset="2"/>
              <a:buChar char="ü"/>
            </a:pPr>
            <a:r>
              <a:rPr lang="en-GB" sz="1600" dirty="0"/>
              <a:t>Ensures AI development aligns with national security, economic competitiveness, and civil rights.</a:t>
            </a:r>
          </a:p>
          <a:p>
            <a:pPr marL="742950" lvl="1" indent="-285750">
              <a:buFont typeface="Wingdings" pitchFamily="2" charset="2"/>
              <a:buChar char="ü"/>
            </a:pPr>
            <a:r>
              <a:rPr lang="en-GB" sz="1600" dirty="0"/>
              <a:t>Establishes guidelines for AI testing, risk assessments, and federal use of AI.</a:t>
            </a:r>
          </a:p>
          <a:p>
            <a:pPr marL="742950" lvl="1" indent="-285750">
              <a:buFont typeface="Wingdings" pitchFamily="2" charset="2"/>
              <a:buChar char="ü"/>
            </a:pPr>
            <a:r>
              <a:rPr lang="en-GB" sz="1600" dirty="0"/>
              <a:t>Promotes innovation while protecting privacy, civil liberties, and public safety.</a:t>
            </a:r>
          </a:p>
          <a:p>
            <a:r>
              <a:rPr lang="en-GB" sz="1600" dirty="0"/>
              <a:t>Other frameworks: NIST AI Risk Management Framework, OSTP Blueprint for an AI Bill of Rights.</a:t>
            </a:r>
          </a:p>
          <a:p>
            <a:endParaRPr lang="en-GB" sz="1600" dirty="0"/>
          </a:p>
          <a:p>
            <a:r>
              <a:rPr lang="en-GB" sz="1600" b="1" dirty="0"/>
              <a:t>Supporting Initiatives:</a:t>
            </a:r>
          </a:p>
          <a:p>
            <a:endParaRPr lang="en-GB" sz="1600" b="1" dirty="0"/>
          </a:p>
          <a:p>
            <a:r>
              <a:rPr lang="en-GB" sz="1600" b="1" dirty="0"/>
              <a:t>NIST AI Risk Management Framework</a:t>
            </a:r>
            <a:r>
              <a:rPr lang="en-GB" sz="1600" dirty="0"/>
              <a:t>: Offers tools for companies to manage and reduce AI-related risks (accuracy, robustness, fairness).</a:t>
            </a:r>
          </a:p>
          <a:p>
            <a:r>
              <a:rPr lang="en-GB" sz="1600" b="1" dirty="0"/>
              <a:t>OSTP Blueprint for an AI Bill of Rights</a:t>
            </a:r>
            <a:r>
              <a:rPr lang="en-GB" sz="1600" dirty="0"/>
              <a:t>: Suggests principles like data privacy, transparency, and freedom from algorithmic bias.</a:t>
            </a:r>
          </a:p>
          <a:p>
            <a:endParaRPr lang="en-GB" sz="1600" dirty="0"/>
          </a:p>
        </p:txBody>
      </p:sp>
    </p:spTree>
    <p:extLst>
      <p:ext uri="{BB962C8B-B14F-4D97-AF65-F5344CB8AC3E}">
        <p14:creationId xmlns:p14="http://schemas.microsoft.com/office/powerpoint/2010/main" val="1671480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E8E4C096-11C5-6388-0E40-BA7A5B1F5B7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042C80D4-E2DE-6184-118D-74A1689B14EE}"/>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B8DCD410-001D-4604-91B6-DC84E38FE4DC}"/>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b="1" dirty="0"/>
              <a:t>c. Other Countries – AI Regulations Overview</a:t>
            </a:r>
            <a:br>
              <a:rPr lang="en-GB" sz="2400" b="1" dirty="0"/>
            </a:br>
            <a:br>
              <a:rPr lang="en-GB" sz="2400" b="1" dirty="0"/>
            </a:br>
            <a:br>
              <a:rPr lang="en-GB" sz="2400" b="1" dirty="0"/>
            </a:br>
            <a:br>
              <a:rPr lang="en-GB" sz="2400" dirty="0">
                <a:solidFill>
                  <a:srgbClr val="7030A0"/>
                </a:solidFill>
              </a:rPr>
            </a:br>
            <a:br>
              <a:rPr lang="en-GB" sz="2400" b="0" i="0" u="none" strike="noStrike" dirty="0">
                <a:solidFill>
                  <a:srgbClr val="000000"/>
                </a:solidFill>
                <a:effectLst/>
              </a:rPr>
            </a:br>
            <a:br>
              <a:rPr lang="en-US" sz="2400" dirty="0">
                <a:latin typeface="Calibri"/>
                <a:ea typeface="Calibri"/>
                <a:cs typeface="Calibri"/>
                <a:sym typeface="Calibri"/>
              </a:rPr>
            </a:br>
            <a:endParaRPr lang="en-US" sz="2400" dirty="0"/>
          </a:p>
        </p:txBody>
      </p:sp>
      <p:sp>
        <p:nvSpPr>
          <p:cNvPr id="4" name="TextBox 3">
            <a:extLst>
              <a:ext uri="{FF2B5EF4-FFF2-40B4-BE49-F238E27FC236}">
                <a16:creationId xmlns:a16="http://schemas.microsoft.com/office/drawing/2014/main" id="{A2BC6B44-AA03-A76D-8551-78A6A5C9D91C}"/>
              </a:ext>
            </a:extLst>
          </p:cNvPr>
          <p:cNvSpPr txBox="1"/>
          <p:nvPr/>
        </p:nvSpPr>
        <p:spPr>
          <a:xfrm>
            <a:off x="544487" y="1255528"/>
            <a:ext cx="7482355" cy="2431435"/>
          </a:xfrm>
          <a:prstGeom prst="rect">
            <a:avLst/>
          </a:prstGeom>
          <a:noFill/>
        </p:spPr>
        <p:txBody>
          <a:bodyPr wrap="square">
            <a:spAutoFit/>
          </a:bodyPr>
          <a:lstStyle/>
          <a:p>
            <a:r>
              <a:rPr lang="en-GB" sz="2400" dirty="0"/>
              <a:t>This section highlights how countries outside the EU and US are approaching AI governance. While they may not yet have comprehensive AI laws like the EU AI Act, they are actively shaping their regulatory landscapes.</a:t>
            </a:r>
          </a:p>
          <a:p>
            <a:endParaRPr lang="en-GB" sz="1600" dirty="0"/>
          </a:p>
          <a:p>
            <a:endParaRPr lang="en-GB" sz="1600" dirty="0"/>
          </a:p>
        </p:txBody>
      </p:sp>
    </p:spTree>
    <p:extLst>
      <p:ext uri="{BB962C8B-B14F-4D97-AF65-F5344CB8AC3E}">
        <p14:creationId xmlns:p14="http://schemas.microsoft.com/office/powerpoint/2010/main" val="356171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591EC5AB-30D3-2D7F-4AAA-2AEF4063FCA2}"/>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2A7384E5-84EA-9BD3-1907-876E5BFCA9E1}"/>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E7D6AEEF-E200-713C-6D6A-ACF64578B9F2}"/>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CHINA AI Regulations</a:t>
            </a:r>
            <a:br>
              <a:rPr lang="en-GB" sz="1800" b="1" dirty="0"/>
            </a:b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940B7AA5-61B9-7DE4-ABC7-B860F0EFF7E1}"/>
              </a:ext>
            </a:extLst>
          </p:cNvPr>
          <p:cNvSpPr txBox="1"/>
          <p:nvPr/>
        </p:nvSpPr>
        <p:spPr>
          <a:xfrm>
            <a:off x="472925" y="555813"/>
            <a:ext cx="7482355" cy="3046988"/>
          </a:xfrm>
          <a:prstGeom prst="rect">
            <a:avLst/>
          </a:prstGeom>
          <a:noFill/>
        </p:spPr>
        <p:txBody>
          <a:bodyPr wrap="square">
            <a:spAutoFit/>
          </a:bodyPr>
          <a:lstStyle/>
          <a:p>
            <a:pPr marL="342900" indent="-342900">
              <a:buFont typeface="Wingdings" pitchFamily="2" charset="2"/>
              <a:buChar char="Ø"/>
            </a:pPr>
            <a:r>
              <a:rPr lang="en-GB" sz="2000" b="1" dirty="0"/>
              <a:t>Focus</a:t>
            </a:r>
            <a:r>
              <a:rPr lang="en-GB" sz="2000" dirty="0"/>
              <a:t>: Emphasis on </a:t>
            </a:r>
            <a:r>
              <a:rPr lang="en-GB" sz="2000" b="1" dirty="0"/>
              <a:t>algorithmic transparency</a:t>
            </a:r>
            <a:r>
              <a:rPr lang="en-GB" sz="2000" dirty="0"/>
              <a:t> and </a:t>
            </a:r>
            <a:r>
              <a:rPr lang="en-GB" sz="2000" b="1" dirty="0"/>
              <a:t>content control</a:t>
            </a:r>
            <a:r>
              <a:rPr lang="en-GB" sz="2000" dirty="0"/>
              <a:t>.</a:t>
            </a:r>
          </a:p>
          <a:p>
            <a:pPr marL="342900" indent="-342900">
              <a:buFont typeface="Wingdings" pitchFamily="2" charset="2"/>
              <a:buChar char="Ø"/>
            </a:pPr>
            <a:r>
              <a:rPr lang="en-GB" sz="2000" dirty="0"/>
              <a:t>China has introduced </a:t>
            </a:r>
            <a:r>
              <a:rPr lang="en-GB" sz="2000" b="1" dirty="0"/>
              <a:t>specific rules for recommendation algorithms</a:t>
            </a:r>
            <a:r>
              <a:rPr lang="en-GB" sz="2000" dirty="0"/>
              <a:t> and </a:t>
            </a:r>
            <a:r>
              <a:rPr lang="en-GB" sz="2000" b="1" dirty="0"/>
              <a:t>generative AI models</a:t>
            </a:r>
            <a:r>
              <a:rPr lang="en-GB" sz="2000" dirty="0"/>
              <a:t>.</a:t>
            </a:r>
          </a:p>
          <a:p>
            <a:pPr marL="342900" indent="-342900">
              <a:buFont typeface="Wingdings" pitchFamily="2" charset="2"/>
              <a:buChar char="Ø"/>
            </a:pPr>
            <a:r>
              <a:rPr lang="en-GB" sz="2000" dirty="0"/>
              <a:t>Platforms must ensure their algorithms do not promote harmful content or misinformation.</a:t>
            </a:r>
          </a:p>
          <a:p>
            <a:pPr marL="342900" indent="-342900">
              <a:buFont typeface="Wingdings" pitchFamily="2" charset="2"/>
              <a:buChar char="Ø"/>
            </a:pPr>
            <a:r>
              <a:rPr lang="en-GB" sz="2000" dirty="0"/>
              <a:t>Providers are also required to </a:t>
            </a:r>
            <a:r>
              <a:rPr lang="en-GB" sz="2000" b="1" dirty="0"/>
              <a:t>register algorithms</a:t>
            </a:r>
            <a:r>
              <a:rPr lang="en-GB" sz="2000" dirty="0"/>
              <a:t> and provide user control features.</a:t>
            </a:r>
          </a:p>
          <a:p>
            <a:pPr>
              <a:buNone/>
            </a:pPr>
            <a:endParaRPr lang="en-GB" sz="1600" dirty="0"/>
          </a:p>
          <a:p>
            <a:endParaRPr lang="en-GB" sz="1600" dirty="0"/>
          </a:p>
        </p:txBody>
      </p:sp>
    </p:spTree>
    <p:extLst>
      <p:ext uri="{BB962C8B-B14F-4D97-AF65-F5344CB8AC3E}">
        <p14:creationId xmlns:p14="http://schemas.microsoft.com/office/powerpoint/2010/main" val="218760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9D2EF3EC-BFB8-3174-7322-0302E975D0F9}"/>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BE79CFFA-DE40-1304-06A7-3279FE66209B}"/>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BC7CE222-F842-D691-E0ED-2DCAE4D263E2}"/>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b="1" dirty="0"/>
              <a:t>Canada</a:t>
            </a:r>
            <a:r>
              <a:rPr lang="en-GB" sz="2400" dirty="0"/>
              <a:t> </a:t>
            </a:r>
            <a:r>
              <a:rPr lang="en-GB" sz="2400" b="1" dirty="0"/>
              <a:t>AI Regulations</a:t>
            </a:r>
            <a:br>
              <a:rPr lang="en-GB" sz="2400" b="1" dirty="0"/>
            </a:br>
            <a:br>
              <a:rPr lang="en-GB" sz="2400" b="1" dirty="0"/>
            </a:br>
            <a:br>
              <a:rPr lang="en-GB" sz="2400" dirty="0">
                <a:solidFill>
                  <a:srgbClr val="7030A0"/>
                </a:solidFill>
              </a:rPr>
            </a:br>
            <a:br>
              <a:rPr lang="en-GB" sz="2400" b="0" i="0" u="none" strike="noStrike" dirty="0">
                <a:solidFill>
                  <a:srgbClr val="000000"/>
                </a:solidFill>
                <a:effectLst/>
              </a:rPr>
            </a:br>
            <a:br>
              <a:rPr lang="en-US" sz="2400" dirty="0">
                <a:latin typeface="Calibri"/>
                <a:ea typeface="Calibri"/>
                <a:cs typeface="Calibri"/>
                <a:sym typeface="Calibri"/>
              </a:rPr>
            </a:br>
            <a:endParaRPr lang="en-US" sz="2400" dirty="0"/>
          </a:p>
        </p:txBody>
      </p:sp>
      <p:sp>
        <p:nvSpPr>
          <p:cNvPr id="4" name="TextBox 3">
            <a:extLst>
              <a:ext uri="{FF2B5EF4-FFF2-40B4-BE49-F238E27FC236}">
                <a16:creationId xmlns:a16="http://schemas.microsoft.com/office/drawing/2014/main" id="{EB8994AC-6567-CB8A-6EA1-C06899EB92CD}"/>
              </a:ext>
            </a:extLst>
          </p:cNvPr>
          <p:cNvSpPr txBox="1"/>
          <p:nvPr/>
        </p:nvSpPr>
        <p:spPr>
          <a:xfrm>
            <a:off x="331638" y="918873"/>
            <a:ext cx="7482355" cy="2862322"/>
          </a:xfrm>
          <a:prstGeom prst="rect">
            <a:avLst/>
          </a:prstGeom>
          <a:noFill/>
        </p:spPr>
        <p:txBody>
          <a:bodyPr wrap="square">
            <a:spAutoFit/>
          </a:bodyPr>
          <a:lstStyle/>
          <a:p>
            <a:pPr marL="457200" indent="-457200">
              <a:buFont typeface="Wingdings" pitchFamily="2" charset="2"/>
              <a:buChar char="Ø"/>
            </a:pPr>
            <a:r>
              <a:rPr lang="en-GB" sz="1800" dirty="0"/>
              <a:t>Canada has proposed the Artificial Intelligence and Data Act (AIDA), under Bill C-27.</a:t>
            </a:r>
          </a:p>
          <a:p>
            <a:pPr marL="457200" indent="-457200">
              <a:buFont typeface="Wingdings" pitchFamily="2" charset="2"/>
              <a:buChar char="Ø"/>
            </a:pPr>
            <a:endParaRPr lang="en-GB" sz="1800" dirty="0"/>
          </a:p>
          <a:p>
            <a:pPr marL="457200" indent="-457200">
              <a:buFont typeface="Wingdings" pitchFamily="2" charset="2"/>
              <a:buChar char="Ø"/>
            </a:pPr>
            <a:r>
              <a:rPr lang="en-GB" sz="1800" dirty="0"/>
              <a:t>AIDA aims to regulate high-impact AI systems and promote responsible AI development.</a:t>
            </a:r>
          </a:p>
          <a:p>
            <a:pPr marL="457200" indent="-457200">
              <a:buFont typeface="Wingdings" pitchFamily="2" charset="2"/>
              <a:buChar char="Ø"/>
            </a:pPr>
            <a:endParaRPr lang="en-GB" sz="1800" dirty="0"/>
          </a:p>
          <a:p>
            <a:pPr marL="457200" indent="-457200">
              <a:buFont typeface="Wingdings" pitchFamily="2" charset="2"/>
              <a:buChar char="Ø"/>
            </a:pPr>
            <a:r>
              <a:rPr lang="en-GB" sz="1800" dirty="0"/>
              <a:t>It emphasizes transparency, fairness, and accountability, with enforcement powers granted to a new AI and Data Commissioner.</a:t>
            </a:r>
          </a:p>
          <a:p>
            <a:pPr marL="285750" indent="-285750">
              <a:buFont typeface="Wingdings" pitchFamily="2" charset="2"/>
              <a:buChar char="Ø"/>
            </a:pPr>
            <a:endParaRPr lang="en-GB" sz="1800" dirty="0"/>
          </a:p>
          <a:p>
            <a:pPr marL="285750" indent="-285750">
              <a:buFont typeface="Wingdings" pitchFamily="2" charset="2"/>
              <a:buChar char="Ø"/>
            </a:pPr>
            <a:endParaRPr lang="en-GB" sz="1800" dirty="0"/>
          </a:p>
        </p:txBody>
      </p:sp>
    </p:spTree>
    <p:extLst>
      <p:ext uri="{BB962C8B-B14F-4D97-AF65-F5344CB8AC3E}">
        <p14:creationId xmlns:p14="http://schemas.microsoft.com/office/powerpoint/2010/main" val="3482646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D3473DB3-FADB-5013-5038-512FE87B0664}"/>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8287218A-29ED-EB3E-A4B2-6AC20DB931F5}"/>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a:extLst>
              <a:ext uri="{FF2B5EF4-FFF2-40B4-BE49-F238E27FC236}">
                <a16:creationId xmlns:a16="http://schemas.microsoft.com/office/drawing/2014/main" id="{58A6ECA6-1E6B-A99E-58AD-8B435000E4BA}"/>
              </a:ext>
            </a:extLst>
          </p:cNvPr>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OECD (Organisation for Economic Co-operation and Development)</a:t>
            </a:r>
            <a:br>
              <a:rPr lang="en-GB" sz="1800" b="1" dirty="0"/>
            </a:br>
            <a:r>
              <a:rPr lang="en-GB" sz="1800" dirty="0"/>
              <a:t> </a:t>
            </a:r>
            <a:r>
              <a:rPr lang="en-GB" sz="1800" b="1" dirty="0"/>
              <a:t>AI Regulations</a:t>
            </a:r>
            <a:br>
              <a:rPr lang="en-GB" sz="1800" b="1" dirty="0"/>
            </a:br>
            <a:br>
              <a:rPr lang="en-GB" sz="1800" b="1" dirty="0"/>
            </a:br>
            <a:br>
              <a:rPr lang="en-GB" sz="1800" dirty="0">
                <a:solidFill>
                  <a:srgbClr val="7030A0"/>
                </a:solidFill>
              </a:rPr>
            </a:br>
            <a:br>
              <a:rPr lang="en-GB" sz="1800" b="0" i="0" u="none" strike="noStrike" dirty="0">
                <a:solidFill>
                  <a:srgbClr val="000000"/>
                </a:solidFill>
                <a:effectLst/>
              </a:rPr>
            </a:br>
            <a:br>
              <a:rPr lang="en-US" sz="1800" dirty="0">
                <a:latin typeface="Calibri"/>
                <a:ea typeface="Calibri"/>
                <a:cs typeface="Calibri"/>
                <a:sym typeface="Calibri"/>
              </a:rPr>
            </a:br>
            <a:endParaRPr lang="en-US" sz="1800" dirty="0"/>
          </a:p>
        </p:txBody>
      </p:sp>
      <p:sp>
        <p:nvSpPr>
          <p:cNvPr id="4" name="TextBox 3">
            <a:extLst>
              <a:ext uri="{FF2B5EF4-FFF2-40B4-BE49-F238E27FC236}">
                <a16:creationId xmlns:a16="http://schemas.microsoft.com/office/drawing/2014/main" id="{037623AD-2D2D-9C68-CBB3-FA51A007AFDD}"/>
              </a:ext>
            </a:extLst>
          </p:cNvPr>
          <p:cNvSpPr txBox="1"/>
          <p:nvPr/>
        </p:nvSpPr>
        <p:spPr>
          <a:xfrm>
            <a:off x="331638" y="918873"/>
            <a:ext cx="7482355" cy="3046988"/>
          </a:xfrm>
          <a:prstGeom prst="rect">
            <a:avLst/>
          </a:prstGeom>
          <a:noFill/>
        </p:spPr>
        <p:txBody>
          <a:bodyPr wrap="square">
            <a:spAutoFit/>
          </a:bodyPr>
          <a:lstStyle/>
          <a:p>
            <a:pPr marL="285750" indent="-285750">
              <a:buFont typeface="Wingdings" pitchFamily="2" charset="2"/>
              <a:buChar char="Ø"/>
            </a:pPr>
            <a:r>
              <a:rPr lang="en-GB" sz="1600" b="1" dirty="0"/>
              <a:t>Not a country, but an international organization with over 30 member nations.</a:t>
            </a:r>
          </a:p>
          <a:p>
            <a:pPr marL="285750" indent="-285750">
              <a:buFont typeface="Wingdings" pitchFamily="2" charset="2"/>
              <a:buChar char="Ø"/>
            </a:pPr>
            <a:r>
              <a:rPr lang="en-GB" sz="1600" b="1" dirty="0"/>
              <a:t>It developed the OECD Principles on AI, a widely adopted framework promoting:</a:t>
            </a:r>
          </a:p>
          <a:p>
            <a:pPr marL="742950" lvl="1" indent="-285750">
              <a:buFont typeface="Wingdings" pitchFamily="2" charset="2"/>
              <a:buChar char="Ø"/>
            </a:pPr>
            <a:r>
              <a:rPr lang="en-GB" sz="1600" b="1" dirty="0"/>
              <a:t>Transparency</a:t>
            </a:r>
          </a:p>
          <a:p>
            <a:pPr marL="742950" lvl="1" indent="-285750">
              <a:buFont typeface="Wingdings" pitchFamily="2" charset="2"/>
              <a:buChar char="Ø"/>
            </a:pPr>
            <a:r>
              <a:rPr lang="en-GB" sz="1600" b="1" dirty="0"/>
              <a:t>Accountability</a:t>
            </a:r>
          </a:p>
          <a:p>
            <a:pPr marL="742950" lvl="1" indent="-285750">
              <a:buFont typeface="Wingdings" pitchFamily="2" charset="2"/>
              <a:buChar char="Ø"/>
            </a:pPr>
            <a:r>
              <a:rPr lang="en-GB" sz="1600" b="1" dirty="0"/>
              <a:t>Fairness</a:t>
            </a:r>
          </a:p>
          <a:p>
            <a:pPr marL="742950" lvl="1" indent="-285750">
              <a:buFont typeface="Wingdings" pitchFamily="2" charset="2"/>
              <a:buChar char="Ø"/>
            </a:pPr>
            <a:r>
              <a:rPr lang="en-GB" sz="1600" b="1" dirty="0"/>
              <a:t>Human-</a:t>
            </a:r>
            <a:r>
              <a:rPr lang="en-GB" sz="1600" b="1" dirty="0" err="1"/>
              <a:t>centered</a:t>
            </a:r>
            <a:r>
              <a:rPr lang="en-GB" sz="1600" b="1" dirty="0"/>
              <a:t> values</a:t>
            </a:r>
          </a:p>
          <a:p>
            <a:pPr marL="285750" indent="-285750">
              <a:buFont typeface="Wingdings" pitchFamily="2" charset="2"/>
              <a:buChar char="Ø"/>
            </a:pPr>
            <a:r>
              <a:rPr lang="en-GB" sz="1600" b="1" dirty="0"/>
              <a:t>These principles serve as non-binding global standards influencing national policies.</a:t>
            </a:r>
          </a:p>
          <a:p>
            <a:pPr marL="457200" indent="-457200">
              <a:buFont typeface="Wingdings" pitchFamily="2" charset="2"/>
              <a:buChar char="Ø"/>
            </a:pPr>
            <a:endParaRPr lang="en-GB" sz="1600" b="1" dirty="0"/>
          </a:p>
          <a:p>
            <a:pPr marL="285750" indent="-285750">
              <a:buFont typeface="Wingdings" pitchFamily="2" charset="2"/>
              <a:buChar char="Ø"/>
            </a:pPr>
            <a:endParaRPr lang="en-GB" sz="1600" b="1" dirty="0"/>
          </a:p>
        </p:txBody>
      </p:sp>
    </p:spTree>
    <p:extLst>
      <p:ext uri="{BB962C8B-B14F-4D97-AF65-F5344CB8AC3E}">
        <p14:creationId xmlns:p14="http://schemas.microsoft.com/office/powerpoint/2010/main" val="937310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7723A86F-D9E8-3196-4766-493BFC209F6B}"/>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AEF71FF7-137A-D79D-A245-0ABAB85744C6}"/>
              </a:ext>
            </a:extLst>
          </p:cNvPr>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4" name="TextBox 3">
            <a:extLst>
              <a:ext uri="{FF2B5EF4-FFF2-40B4-BE49-F238E27FC236}">
                <a16:creationId xmlns:a16="http://schemas.microsoft.com/office/drawing/2014/main" id="{6B00FAC8-86AA-C1B0-21D9-CB3BCCB34CF2}"/>
              </a:ext>
            </a:extLst>
          </p:cNvPr>
          <p:cNvSpPr txBox="1"/>
          <p:nvPr/>
        </p:nvSpPr>
        <p:spPr>
          <a:xfrm>
            <a:off x="331638" y="918873"/>
            <a:ext cx="7482355" cy="584775"/>
          </a:xfrm>
          <a:prstGeom prst="rect">
            <a:avLst/>
          </a:prstGeom>
          <a:noFill/>
        </p:spPr>
        <p:txBody>
          <a:bodyPr wrap="square">
            <a:spAutoFit/>
          </a:bodyPr>
          <a:lstStyle/>
          <a:p>
            <a:pPr marL="457200" indent="-457200">
              <a:buFont typeface="Wingdings" pitchFamily="2" charset="2"/>
              <a:buChar char="Ø"/>
            </a:pPr>
            <a:endParaRPr lang="en-GB" sz="1600" b="1" dirty="0"/>
          </a:p>
          <a:p>
            <a:pPr marL="285750" indent="-285750">
              <a:buFont typeface="Wingdings" pitchFamily="2" charset="2"/>
              <a:buChar char="Ø"/>
            </a:pPr>
            <a:endParaRPr lang="en-GB" sz="1600" b="1" dirty="0"/>
          </a:p>
        </p:txBody>
      </p:sp>
      <p:graphicFrame>
        <p:nvGraphicFramePr>
          <p:cNvPr id="5" name="Table 4">
            <a:extLst>
              <a:ext uri="{FF2B5EF4-FFF2-40B4-BE49-F238E27FC236}">
                <a16:creationId xmlns:a16="http://schemas.microsoft.com/office/drawing/2014/main" id="{FE45109F-442E-2207-E39D-6ED9122E1673}"/>
              </a:ext>
            </a:extLst>
          </p:cNvPr>
          <p:cNvGraphicFramePr>
            <a:graphicFrameLocks noGrp="1"/>
          </p:cNvGraphicFramePr>
          <p:nvPr>
            <p:extLst>
              <p:ext uri="{D42A27DB-BD31-4B8C-83A1-F6EECF244321}">
                <p14:modId xmlns:p14="http://schemas.microsoft.com/office/powerpoint/2010/main" val="2848184204"/>
              </p:ext>
            </p:extLst>
          </p:nvPr>
        </p:nvGraphicFramePr>
        <p:xfrm>
          <a:off x="302044" y="652608"/>
          <a:ext cx="7765372" cy="4203264"/>
        </p:xfrm>
        <a:graphic>
          <a:graphicData uri="http://schemas.openxmlformats.org/drawingml/2006/table">
            <a:tbl>
              <a:tblPr>
                <a:tableStyleId>{35758FB7-9AC5-4552-8A53-C91805E547FA}</a:tableStyleId>
              </a:tblPr>
              <a:tblGrid>
                <a:gridCol w="1941343">
                  <a:extLst>
                    <a:ext uri="{9D8B030D-6E8A-4147-A177-3AD203B41FA5}">
                      <a16:colId xmlns:a16="http://schemas.microsoft.com/office/drawing/2014/main" val="3093094223"/>
                    </a:ext>
                  </a:extLst>
                </a:gridCol>
                <a:gridCol w="1941343">
                  <a:extLst>
                    <a:ext uri="{9D8B030D-6E8A-4147-A177-3AD203B41FA5}">
                      <a16:colId xmlns:a16="http://schemas.microsoft.com/office/drawing/2014/main" val="2692778004"/>
                    </a:ext>
                  </a:extLst>
                </a:gridCol>
                <a:gridCol w="1941343">
                  <a:extLst>
                    <a:ext uri="{9D8B030D-6E8A-4147-A177-3AD203B41FA5}">
                      <a16:colId xmlns:a16="http://schemas.microsoft.com/office/drawing/2014/main" val="1438700710"/>
                    </a:ext>
                  </a:extLst>
                </a:gridCol>
                <a:gridCol w="1941343">
                  <a:extLst>
                    <a:ext uri="{9D8B030D-6E8A-4147-A177-3AD203B41FA5}">
                      <a16:colId xmlns:a16="http://schemas.microsoft.com/office/drawing/2014/main" val="483541332"/>
                    </a:ext>
                  </a:extLst>
                </a:gridCol>
              </a:tblGrid>
              <a:tr h="277748">
                <a:tc>
                  <a:txBody>
                    <a:bodyPr/>
                    <a:lstStyle/>
                    <a:p>
                      <a:r>
                        <a:rPr lang="en-GB" sz="1300"/>
                        <a:t>Country/Region</a:t>
                      </a:r>
                    </a:p>
                  </a:txBody>
                  <a:tcPr marL="83324" marR="83324" marT="41662" marB="41662" anchor="ctr"/>
                </a:tc>
                <a:tc>
                  <a:txBody>
                    <a:bodyPr/>
                    <a:lstStyle/>
                    <a:p>
                      <a:r>
                        <a:rPr lang="en-GB" sz="1300" dirty="0"/>
                        <a:t>Regulation/Initiative</a:t>
                      </a:r>
                    </a:p>
                  </a:txBody>
                  <a:tcPr marL="83324" marR="83324" marT="41662" marB="41662" anchor="ctr"/>
                </a:tc>
                <a:tc>
                  <a:txBody>
                    <a:bodyPr/>
                    <a:lstStyle/>
                    <a:p>
                      <a:r>
                        <a:rPr lang="en-GB" sz="1300"/>
                        <a:t>Type of Approach</a:t>
                      </a:r>
                    </a:p>
                  </a:txBody>
                  <a:tcPr marL="83324" marR="83324" marT="41662" marB="41662" anchor="ctr"/>
                </a:tc>
                <a:tc>
                  <a:txBody>
                    <a:bodyPr/>
                    <a:lstStyle/>
                    <a:p>
                      <a:r>
                        <a:rPr lang="en-GB" sz="1300"/>
                        <a:t>Key Features</a:t>
                      </a:r>
                    </a:p>
                  </a:txBody>
                  <a:tcPr marL="83324" marR="83324" marT="41662" marB="41662" anchor="ctr"/>
                </a:tc>
                <a:extLst>
                  <a:ext uri="{0D108BD9-81ED-4DB2-BD59-A6C34878D82A}">
                    <a16:rowId xmlns:a16="http://schemas.microsoft.com/office/drawing/2014/main" val="3031029370"/>
                  </a:ext>
                </a:extLst>
              </a:tr>
              <a:tr h="861019">
                <a:tc>
                  <a:txBody>
                    <a:bodyPr/>
                    <a:lstStyle/>
                    <a:p>
                      <a:r>
                        <a:rPr lang="en-GB" sz="1300" b="1"/>
                        <a:t>EU</a:t>
                      </a:r>
                      <a:endParaRPr lang="en-GB" sz="1300"/>
                    </a:p>
                  </a:txBody>
                  <a:tcPr marL="83324" marR="83324" marT="41662" marB="41662" anchor="ctr"/>
                </a:tc>
                <a:tc>
                  <a:txBody>
                    <a:bodyPr/>
                    <a:lstStyle/>
                    <a:p>
                      <a:r>
                        <a:rPr lang="en-GB" sz="1300" dirty="0"/>
                        <a:t>EU AI Act</a:t>
                      </a:r>
                    </a:p>
                  </a:txBody>
                  <a:tcPr marL="83324" marR="83324" marT="41662" marB="41662" anchor="ctr"/>
                </a:tc>
                <a:tc>
                  <a:txBody>
                    <a:bodyPr/>
                    <a:lstStyle/>
                    <a:p>
                      <a:r>
                        <a:rPr lang="en-GB" sz="1300"/>
                        <a:t>Comprehensive legislation</a:t>
                      </a:r>
                    </a:p>
                  </a:txBody>
                  <a:tcPr marL="83324" marR="83324" marT="41662" marB="41662" anchor="ctr"/>
                </a:tc>
                <a:tc>
                  <a:txBody>
                    <a:bodyPr/>
                    <a:lstStyle/>
                    <a:p>
                      <a:r>
                        <a:rPr lang="en-GB" sz="1300"/>
                        <a:t>Risk-based classification, bans harmful AI, enforces transparency</a:t>
                      </a:r>
                    </a:p>
                  </a:txBody>
                  <a:tcPr marL="83324" marR="83324" marT="41662" marB="41662" anchor="ctr"/>
                </a:tc>
                <a:extLst>
                  <a:ext uri="{0D108BD9-81ED-4DB2-BD59-A6C34878D82A}">
                    <a16:rowId xmlns:a16="http://schemas.microsoft.com/office/drawing/2014/main" val="368020777"/>
                  </a:ext>
                </a:extLst>
              </a:tr>
              <a:tr h="666595">
                <a:tc>
                  <a:txBody>
                    <a:bodyPr/>
                    <a:lstStyle/>
                    <a:p>
                      <a:r>
                        <a:rPr lang="en-GB" sz="1300" b="1"/>
                        <a:t>USA</a:t>
                      </a:r>
                      <a:endParaRPr lang="en-GB" sz="1300"/>
                    </a:p>
                  </a:txBody>
                  <a:tcPr marL="83324" marR="83324" marT="41662" marB="41662" anchor="ctr"/>
                </a:tc>
                <a:tc>
                  <a:txBody>
                    <a:bodyPr/>
                    <a:lstStyle/>
                    <a:p>
                      <a:r>
                        <a:rPr lang="en-GB" sz="1300"/>
                        <a:t>Executive Orders, NIST Framework, AI Bill of Rights</a:t>
                      </a:r>
                    </a:p>
                  </a:txBody>
                  <a:tcPr marL="83324" marR="83324" marT="41662" marB="41662" anchor="ctr"/>
                </a:tc>
                <a:tc>
                  <a:txBody>
                    <a:bodyPr/>
                    <a:lstStyle/>
                    <a:p>
                      <a:r>
                        <a:rPr lang="en-GB" sz="1300"/>
                        <a:t>Sectoral + voluntary</a:t>
                      </a:r>
                    </a:p>
                  </a:txBody>
                  <a:tcPr marL="83324" marR="83324" marT="41662" marB="41662" anchor="ctr"/>
                </a:tc>
                <a:tc>
                  <a:txBody>
                    <a:bodyPr/>
                    <a:lstStyle/>
                    <a:p>
                      <a:r>
                        <a:rPr lang="en-GB" sz="1300"/>
                        <a:t>Emphasis on innovation, fairness, federal agency oversight</a:t>
                      </a:r>
                    </a:p>
                  </a:txBody>
                  <a:tcPr marL="83324" marR="83324" marT="41662" marB="41662" anchor="ctr"/>
                </a:tc>
                <a:extLst>
                  <a:ext uri="{0D108BD9-81ED-4DB2-BD59-A6C34878D82A}">
                    <a16:rowId xmlns:a16="http://schemas.microsoft.com/office/drawing/2014/main" val="2354914660"/>
                  </a:ext>
                </a:extLst>
              </a:tr>
              <a:tr h="666595">
                <a:tc>
                  <a:txBody>
                    <a:bodyPr/>
                    <a:lstStyle/>
                    <a:p>
                      <a:r>
                        <a:rPr lang="en-GB" sz="1300" b="1"/>
                        <a:t>China</a:t>
                      </a:r>
                      <a:endParaRPr lang="en-GB" sz="1300"/>
                    </a:p>
                  </a:txBody>
                  <a:tcPr marL="83324" marR="83324" marT="41662" marB="41662" anchor="ctr"/>
                </a:tc>
                <a:tc>
                  <a:txBody>
                    <a:bodyPr/>
                    <a:lstStyle/>
                    <a:p>
                      <a:r>
                        <a:rPr lang="en-GB" sz="1300"/>
                        <a:t>Generative AI &amp; Algorithm Regulations</a:t>
                      </a:r>
                    </a:p>
                  </a:txBody>
                  <a:tcPr marL="83324" marR="83324" marT="41662" marB="41662" anchor="ctr"/>
                </a:tc>
                <a:tc>
                  <a:txBody>
                    <a:bodyPr/>
                    <a:lstStyle/>
                    <a:p>
                      <a:r>
                        <a:rPr lang="en-GB" sz="1300"/>
                        <a:t>Strict, state-guided</a:t>
                      </a:r>
                    </a:p>
                  </a:txBody>
                  <a:tcPr marL="83324" marR="83324" marT="41662" marB="41662" anchor="ctr"/>
                </a:tc>
                <a:tc>
                  <a:txBody>
                    <a:bodyPr/>
                    <a:lstStyle/>
                    <a:p>
                      <a:r>
                        <a:rPr lang="en-GB" sz="1300"/>
                        <a:t>Algorithm registry, content control, transparency</a:t>
                      </a:r>
                    </a:p>
                  </a:txBody>
                  <a:tcPr marL="83324" marR="83324" marT="41662" marB="41662" anchor="ctr"/>
                </a:tc>
                <a:extLst>
                  <a:ext uri="{0D108BD9-81ED-4DB2-BD59-A6C34878D82A}">
                    <a16:rowId xmlns:a16="http://schemas.microsoft.com/office/drawing/2014/main" val="2855934386"/>
                  </a:ext>
                </a:extLst>
              </a:tr>
              <a:tr h="666595">
                <a:tc>
                  <a:txBody>
                    <a:bodyPr/>
                    <a:lstStyle/>
                    <a:p>
                      <a:r>
                        <a:rPr lang="en-GB" sz="1300" b="1"/>
                        <a:t>Canada</a:t>
                      </a:r>
                      <a:endParaRPr lang="en-GB" sz="1300"/>
                    </a:p>
                  </a:txBody>
                  <a:tcPr marL="83324" marR="83324" marT="41662" marB="41662" anchor="ctr"/>
                </a:tc>
                <a:tc>
                  <a:txBody>
                    <a:bodyPr/>
                    <a:lstStyle/>
                    <a:p>
                      <a:r>
                        <a:rPr lang="en-GB" sz="1300"/>
                        <a:t>Artificial Intelligence and Data Act (AIDA)</a:t>
                      </a:r>
                    </a:p>
                  </a:txBody>
                  <a:tcPr marL="83324" marR="83324" marT="41662" marB="41662" anchor="ctr"/>
                </a:tc>
                <a:tc>
                  <a:txBody>
                    <a:bodyPr/>
                    <a:lstStyle/>
                    <a:p>
                      <a:r>
                        <a:rPr lang="en-GB" sz="1300"/>
                        <a:t>Draft legislation</a:t>
                      </a:r>
                    </a:p>
                  </a:txBody>
                  <a:tcPr marL="83324" marR="83324" marT="41662" marB="41662" anchor="ctr"/>
                </a:tc>
                <a:tc>
                  <a:txBody>
                    <a:bodyPr/>
                    <a:lstStyle/>
                    <a:p>
                      <a:r>
                        <a:rPr lang="en-GB" sz="1300"/>
                        <a:t>High-impact system regulation, proposed AI Commissioner</a:t>
                      </a:r>
                    </a:p>
                  </a:txBody>
                  <a:tcPr marL="83324" marR="83324" marT="41662" marB="41662" anchor="ctr"/>
                </a:tc>
                <a:extLst>
                  <a:ext uri="{0D108BD9-81ED-4DB2-BD59-A6C34878D82A}">
                    <a16:rowId xmlns:a16="http://schemas.microsoft.com/office/drawing/2014/main" val="4071673592"/>
                  </a:ext>
                </a:extLst>
              </a:tr>
              <a:tr h="277748">
                <a:tc>
                  <a:txBody>
                    <a:bodyPr/>
                    <a:lstStyle/>
                    <a:p>
                      <a:r>
                        <a:rPr lang="en-GB" sz="1300" b="1"/>
                        <a:t>OECD</a:t>
                      </a:r>
                      <a:endParaRPr lang="en-GB" sz="1300"/>
                    </a:p>
                  </a:txBody>
                  <a:tcPr marL="83324" marR="83324" marT="41662" marB="41662" anchor="ctr"/>
                </a:tc>
                <a:tc>
                  <a:txBody>
                    <a:bodyPr/>
                    <a:lstStyle/>
                    <a:p>
                      <a:r>
                        <a:rPr lang="en-GB" sz="1300" dirty="0"/>
                        <a:t>AI Principles</a:t>
                      </a:r>
                    </a:p>
                  </a:txBody>
                  <a:tcPr marL="83324" marR="83324" marT="41662" marB="41662" anchor="ctr"/>
                </a:tc>
                <a:tc>
                  <a:txBody>
                    <a:bodyPr/>
                    <a:lstStyle/>
                    <a:p>
                      <a:r>
                        <a:rPr lang="en-GB" sz="1300" dirty="0"/>
                        <a:t>Voluntary, international</a:t>
                      </a:r>
                    </a:p>
                  </a:txBody>
                  <a:tcPr marL="83324" marR="83324" marT="41662" marB="41662" anchor="ctr"/>
                </a:tc>
                <a:tc>
                  <a:txBody>
                    <a:bodyPr/>
                    <a:lstStyle/>
                    <a:p>
                      <a:r>
                        <a:rPr lang="en-GB" sz="1200" dirty="0"/>
                        <a:t>Guidelines for transparency, accountability, human-centric AI</a:t>
                      </a:r>
                      <a:endParaRPr lang="en-US" sz="1300" dirty="0"/>
                    </a:p>
                  </a:txBody>
                  <a:tcPr marL="83324" marR="83324" marT="41662" marB="41662"/>
                </a:tc>
                <a:extLst>
                  <a:ext uri="{0D108BD9-81ED-4DB2-BD59-A6C34878D82A}">
                    <a16:rowId xmlns:a16="http://schemas.microsoft.com/office/drawing/2014/main" val="146186755"/>
                  </a:ext>
                </a:extLst>
              </a:tr>
            </a:tbl>
          </a:graphicData>
        </a:graphic>
      </p:graphicFrame>
      <p:sp>
        <p:nvSpPr>
          <p:cNvPr id="6" name="Rectangle 2">
            <a:extLst>
              <a:ext uri="{FF2B5EF4-FFF2-40B4-BE49-F238E27FC236}">
                <a16:creationId xmlns:a16="http://schemas.microsoft.com/office/drawing/2014/main" id="{1AAF9C6A-EF14-373E-6A1D-51B90F55872F}"/>
              </a:ext>
            </a:extLst>
          </p:cNvPr>
          <p:cNvSpPr>
            <a:spLocks noChangeArrowheads="1"/>
          </p:cNvSpPr>
          <p:nvPr/>
        </p:nvSpPr>
        <p:spPr bwMode="auto">
          <a:xfrm>
            <a:off x="506095" y="196429"/>
            <a:ext cx="61574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543198"/>
                </a:solidFill>
                <a:latin typeface="IBM Plex Sans Arabic Medium"/>
                <a:cs typeface="IBM Plex Sans Arabic Medium"/>
                <a:sym typeface="IBM Plex Sans Arabic Medium"/>
              </a:rPr>
              <a:t>Comparison Table: Global Approaches to AI Regulation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27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1E245C-17DD-8426-7E86-225321D38416}"/>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67DA5825-D171-C6C9-BDA7-CE6B9486639F}"/>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12EC5BCB-C707-1B44-6F65-65EAE68BC720}"/>
              </a:ext>
            </a:extLst>
          </p:cNvPr>
          <p:cNvSpPr txBox="1">
            <a:spLocks noGrp="1"/>
          </p:cNvSpPr>
          <p:nvPr>
            <p:ph type="title"/>
          </p:nvPr>
        </p:nvSpPr>
        <p:spPr>
          <a:xfrm>
            <a:off x="0" y="122160"/>
            <a:ext cx="7580350" cy="494528"/>
          </a:xfrm>
          <a:prstGeom prst="rect">
            <a:avLst/>
          </a:prstGeom>
          <a:noFill/>
          <a:ln>
            <a:noFill/>
          </a:ln>
        </p:spPr>
        <p:txBody>
          <a:bodyPr spcFirstLastPara="1" wrap="square" lIns="91425" tIns="91425" rIns="91425" bIns="91425" anchor="t" anchorCtr="0">
            <a:noAutofit/>
          </a:bodyPr>
          <a:lstStyle/>
          <a:p>
            <a:r>
              <a:rPr lang="en-GB" sz="2000" b="1" dirty="0"/>
              <a:t>GDPR and AI: Privacy and Data Protection Regulations</a:t>
            </a:r>
            <a:br>
              <a:rPr lang="en-GB" sz="2000" b="1" dirty="0"/>
            </a:br>
            <a:br>
              <a:rPr lang="en-GB" sz="2000" b="1" dirty="0"/>
            </a:br>
            <a:br>
              <a:rPr lang="en-GB" sz="2000" b="1" dirty="0"/>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1273E40-231D-0DD9-25B5-8ABE4DD98534}"/>
              </a:ext>
            </a:extLst>
          </p:cNvPr>
          <p:cNvSpPr txBox="1"/>
          <p:nvPr/>
        </p:nvSpPr>
        <p:spPr>
          <a:xfrm>
            <a:off x="89767" y="982448"/>
            <a:ext cx="7956953" cy="4031873"/>
          </a:xfrm>
          <a:prstGeom prst="rect">
            <a:avLst/>
          </a:prstGeom>
          <a:noFill/>
        </p:spPr>
        <p:txBody>
          <a:bodyPr wrap="square">
            <a:spAutoFit/>
          </a:bodyPr>
          <a:lstStyle/>
          <a:p>
            <a:r>
              <a:rPr lang="en-GB" sz="1600" dirty="0"/>
              <a:t>The General Data Protection Regulation (GDPR), enforced in the European Union since May 2018, has significant implications for AI systems, especially those that rely on personal data.</a:t>
            </a:r>
          </a:p>
          <a:p>
            <a:pPr>
              <a:buNone/>
            </a:pPr>
            <a:r>
              <a:rPr lang="en-GB" sz="1600" b="1" dirty="0"/>
              <a:t>GDPR’s Relevance to AI</a:t>
            </a:r>
          </a:p>
          <a:p>
            <a:r>
              <a:rPr lang="en-GB" sz="1600" dirty="0"/>
              <a:t>Since many AI systems use personal data (like user profiles, medical records, or facial images), GDPR plays a crucial role in shaping how AI is designed and deployed in the EU.</a:t>
            </a:r>
          </a:p>
          <a:p>
            <a:pPr>
              <a:buNone/>
            </a:pPr>
            <a:r>
              <a:rPr lang="en-GB" sz="1600" b="1" dirty="0"/>
              <a:t>Key Provisions Impacting AI Systems:</a:t>
            </a:r>
          </a:p>
          <a:p>
            <a:pPr>
              <a:buFont typeface="+mj-lt"/>
              <a:buAutoNum type="arabicPeriod"/>
            </a:pPr>
            <a:r>
              <a:rPr lang="en-GB" sz="1600" b="1" dirty="0"/>
              <a:t>Lawful Basis for Processing</a:t>
            </a:r>
            <a:br>
              <a:rPr lang="en-GB" sz="1600" dirty="0"/>
            </a:br>
            <a:r>
              <a:rPr lang="en-GB" sz="1600" dirty="0"/>
              <a:t>AI systems must have a legal reason to process data—like user consent or legitimate interest. You can’t just scrape personal data and use it for training without legal grounds.</a:t>
            </a:r>
          </a:p>
          <a:p>
            <a:pPr>
              <a:buFont typeface="+mj-lt"/>
              <a:buAutoNum type="arabicPeriod"/>
            </a:pPr>
            <a:r>
              <a:rPr lang="en-GB" sz="1600" b="1" dirty="0"/>
              <a:t>Data Minimization and Purpose Limitation</a:t>
            </a:r>
            <a:br>
              <a:rPr lang="en-GB" sz="1600" dirty="0"/>
            </a:br>
            <a:r>
              <a:rPr lang="en-GB" sz="1600" dirty="0"/>
              <a:t>Only the minimum data needed should be collected, and only used for clearly stated purposes—no vague or unexpected secondary uses.</a:t>
            </a:r>
          </a:p>
          <a:p>
            <a:endParaRPr lang="en-GB" sz="1600" dirty="0"/>
          </a:p>
        </p:txBody>
      </p:sp>
    </p:spTree>
    <p:extLst>
      <p:ext uri="{BB962C8B-B14F-4D97-AF65-F5344CB8AC3E}">
        <p14:creationId xmlns:p14="http://schemas.microsoft.com/office/powerpoint/2010/main" val="3459152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EAA966F7-E1E4-7410-1C1B-356E6A2B061E}"/>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8CDD20F7-165E-E9B6-F52C-8E2D4C5F4938}"/>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AF3B8233-E080-C4AF-4BD0-E298C5BF0024}"/>
              </a:ext>
            </a:extLst>
          </p:cNvPr>
          <p:cNvSpPr txBox="1">
            <a:spLocks noGrp="1"/>
          </p:cNvSpPr>
          <p:nvPr>
            <p:ph type="title"/>
          </p:nvPr>
        </p:nvSpPr>
        <p:spPr>
          <a:xfrm>
            <a:off x="0" y="122160"/>
            <a:ext cx="7580350" cy="494528"/>
          </a:xfrm>
          <a:prstGeom prst="rect">
            <a:avLst/>
          </a:prstGeom>
          <a:noFill/>
          <a:ln>
            <a:noFill/>
          </a:ln>
        </p:spPr>
        <p:txBody>
          <a:bodyPr spcFirstLastPara="1" wrap="square" lIns="91425" tIns="91425" rIns="91425" bIns="91425" anchor="t" anchorCtr="0">
            <a:noAutofit/>
          </a:bodyPr>
          <a:lstStyle/>
          <a:p>
            <a:r>
              <a:rPr lang="en-GB" sz="2000" b="1" dirty="0"/>
              <a:t>GDPR and AI: Privacy and Data Protection Regulations</a:t>
            </a:r>
            <a:br>
              <a:rPr lang="en-GB" sz="2000" b="1" dirty="0"/>
            </a:br>
            <a:br>
              <a:rPr lang="en-GB" sz="2000" b="1" dirty="0"/>
            </a:br>
            <a:br>
              <a:rPr lang="en-GB" sz="2000" b="1" dirty="0"/>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AB631E8E-DC90-5722-E1BF-7BEA9FA3B3E8}"/>
              </a:ext>
            </a:extLst>
          </p:cNvPr>
          <p:cNvSpPr txBox="1"/>
          <p:nvPr/>
        </p:nvSpPr>
        <p:spPr>
          <a:xfrm>
            <a:off x="89767" y="982448"/>
            <a:ext cx="7956953" cy="3785652"/>
          </a:xfrm>
          <a:prstGeom prst="rect">
            <a:avLst/>
          </a:prstGeom>
          <a:noFill/>
        </p:spPr>
        <p:txBody>
          <a:bodyPr wrap="square">
            <a:spAutoFit/>
          </a:bodyPr>
          <a:lstStyle/>
          <a:p>
            <a:pPr marL="342900" indent="-342900">
              <a:buFont typeface="+mj-lt"/>
              <a:buAutoNum type="arabicPeriod" startAt="3"/>
            </a:pPr>
            <a:r>
              <a:rPr lang="en-GB" sz="1600" b="1" dirty="0"/>
              <a:t>Right to Object and Opt-Out (Article 22)</a:t>
            </a:r>
            <a:br>
              <a:rPr lang="en-GB" sz="1600" dirty="0"/>
            </a:br>
            <a:r>
              <a:rPr lang="en-GB" sz="1600" dirty="0"/>
              <a:t>People can opt out of being subjected to decisions made only by AI—especially decisions that significantly affect them (e.g., rejections for jobs or insurance).</a:t>
            </a:r>
          </a:p>
          <a:p>
            <a:pPr marL="342900" indent="-342900">
              <a:buFont typeface="+mj-lt"/>
              <a:buAutoNum type="arabicPeriod" startAt="3"/>
            </a:pPr>
            <a:r>
              <a:rPr lang="en-GB" sz="1600" b="1" dirty="0"/>
              <a:t>Data Protection Impact Assessments (DPIAs)</a:t>
            </a:r>
            <a:br>
              <a:rPr lang="en-GB" sz="1600" dirty="0"/>
            </a:br>
            <a:r>
              <a:rPr lang="en-GB" sz="1600" dirty="0"/>
              <a:t>If the AI system is high-risk (e.g., surveillance or profiling), a DPIA is required to assess and mitigate privacy risks before deployment.</a:t>
            </a:r>
          </a:p>
          <a:p>
            <a:pPr marL="342900" indent="-342900">
              <a:buFont typeface="+mj-lt"/>
              <a:buAutoNum type="arabicPeriod" startAt="3"/>
            </a:pPr>
            <a:r>
              <a:rPr lang="en-GB" sz="1600" b="1" dirty="0"/>
              <a:t>Anonymization and Pseudonymization</a:t>
            </a:r>
            <a:br>
              <a:rPr lang="en-GB" sz="1600" dirty="0"/>
            </a:br>
            <a:r>
              <a:rPr lang="en-GB" sz="1600" dirty="0"/>
              <a:t>These are recommended practices to protect identity while still allowing AI to learn from the data.</a:t>
            </a:r>
          </a:p>
          <a:p>
            <a:pPr>
              <a:buNone/>
            </a:pPr>
            <a:r>
              <a:rPr lang="en-GB" sz="1600" b="1" dirty="0"/>
              <a:t>Importance of Compliance</a:t>
            </a:r>
          </a:p>
          <a:p>
            <a:r>
              <a:rPr lang="en-GB" sz="1600" b="1" dirty="0"/>
              <a:t>Violating GDPR can lead to hefty fines (up to €20 million or 4% of global turnover). So AI developers must build privacy into AI systems from the start—a concept known as Privacy by Design.</a:t>
            </a:r>
          </a:p>
          <a:p>
            <a:endParaRPr lang="en-GB" sz="1600" dirty="0"/>
          </a:p>
          <a:p>
            <a:pPr>
              <a:buFont typeface="+mj-lt"/>
              <a:buAutoNum type="arabicPeriod"/>
            </a:pPr>
            <a:endParaRPr lang="en-GB" sz="1600" dirty="0"/>
          </a:p>
        </p:txBody>
      </p:sp>
    </p:spTree>
    <p:extLst>
      <p:ext uri="{BB962C8B-B14F-4D97-AF65-F5344CB8AC3E}">
        <p14:creationId xmlns:p14="http://schemas.microsoft.com/office/powerpoint/2010/main" val="68234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7AD0BA16-CAB3-ADD8-8A12-C260E3BCFF48}"/>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B6FF7635-187B-5A0E-957C-012C2B632F5A}"/>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94A5ABCC-6C3D-2F78-661B-C2324E8F4CAD}"/>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Industry-Specific AI Regulations?</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29C6A13C-116C-A2E0-D445-88C94DF67A20}"/>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D94462BD-74C8-CBDF-B1E9-BAD5F8E8112E}"/>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BC43C692-1124-5A1A-08EB-FB5D6CA8295D}"/>
              </a:ext>
            </a:extLst>
          </p:cNvPr>
          <p:cNvSpPr>
            <a:spLocks noChangeArrowheads="1"/>
          </p:cNvSpPr>
          <p:nvPr/>
        </p:nvSpPr>
        <p:spPr bwMode="auto">
          <a:xfrm>
            <a:off x="395440" y="1174652"/>
            <a:ext cx="714822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000" dirty="0"/>
              <a:t>While general AI laws like the EU AI Act or GDPR apply across sectors, </a:t>
            </a:r>
            <a:r>
              <a:rPr lang="en-GB" sz="2000" b="1" dirty="0"/>
              <a:t>industry-specific AI regulations</a:t>
            </a:r>
            <a:r>
              <a:rPr lang="en-GB" sz="2000" dirty="0"/>
              <a:t> address the unique risks, use cases, and ethical concerns of particular domains. Each sector has specialized rules to ensure that AI systems are safe, ethical, and legally compliant within that context.</a:t>
            </a:r>
          </a:p>
          <a:p>
            <a:endParaRPr lang="en-GB" sz="2000" dirty="0"/>
          </a:p>
          <a:p>
            <a:pPr>
              <a:buNone/>
            </a:pPr>
            <a:endParaRPr lang="en-GB" sz="2000" dirty="0"/>
          </a:p>
        </p:txBody>
      </p:sp>
    </p:spTree>
    <p:extLst>
      <p:ext uri="{BB962C8B-B14F-4D97-AF65-F5344CB8AC3E}">
        <p14:creationId xmlns:p14="http://schemas.microsoft.com/office/powerpoint/2010/main" val="1028957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4B0B64E2-565F-60E2-5EB0-7F22F77417B3}"/>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97AE9C44-8F87-E964-1548-19F5731FCE96}"/>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E076CA38-2644-BAD7-ED71-02EC4DC9E792}"/>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a. Healthcare</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365E77A1-2448-14A5-B695-54F48C256CDC}"/>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70B576AF-CD8D-9E5D-9065-92FE8B2161C5}"/>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6B82C63C-0468-BC1F-3263-446E7DD91ABC}"/>
              </a:ext>
            </a:extLst>
          </p:cNvPr>
          <p:cNvSpPr>
            <a:spLocks noChangeArrowheads="1"/>
          </p:cNvSpPr>
          <p:nvPr/>
        </p:nvSpPr>
        <p:spPr bwMode="auto">
          <a:xfrm>
            <a:off x="538564" y="1135505"/>
            <a:ext cx="714822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GB" sz="1600" dirty="0"/>
              <a:t>AI is used for diagnostics, personalized medicine, and treatment recommendations. Since health data is extremely sensitive:</a:t>
            </a:r>
          </a:p>
          <a:p>
            <a:r>
              <a:rPr lang="en-GB" sz="1600" dirty="0"/>
              <a:t>Medical Devices: AI-based diagnostic tools often require regulatory approval:</a:t>
            </a:r>
          </a:p>
          <a:p>
            <a:pPr marL="457200" lvl="1"/>
            <a:r>
              <a:rPr lang="en-GB" sz="1600" dirty="0"/>
              <a:t>US: Must be approved by the FDA.</a:t>
            </a:r>
          </a:p>
          <a:p>
            <a:pPr marL="457200" lvl="1"/>
            <a:r>
              <a:rPr lang="en-GB" sz="1600" dirty="0"/>
              <a:t>EU: Must have CE marking under the Medical Device Regulation.</a:t>
            </a:r>
          </a:p>
          <a:p>
            <a:r>
              <a:rPr lang="en-GB" sz="1600" dirty="0"/>
              <a:t>HIPAA (US): Controls how AI systems handle protected health information (PHI).</a:t>
            </a:r>
          </a:p>
          <a:p>
            <a:r>
              <a:rPr lang="en-GB" sz="1600" dirty="0"/>
              <a:t>Ethical Issues:</a:t>
            </a:r>
          </a:p>
          <a:p>
            <a:pPr marL="457200" lvl="1"/>
            <a:r>
              <a:rPr lang="en-GB" sz="1600" dirty="0"/>
              <a:t>Bias in AI models could lead to misdiagnosis.</a:t>
            </a:r>
          </a:p>
          <a:p>
            <a:pPr marL="457200" lvl="1"/>
            <a:r>
              <a:rPr lang="en-GB" sz="1600" dirty="0"/>
              <a:t>Patients should give informed consent if AI is used in their treatment.</a:t>
            </a:r>
          </a:p>
          <a:p>
            <a:pPr marL="457200" lvl="1"/>
            <a:r>
              <a:rPr lang="en-GB" sz="1600" dirty="0"/>
              <a:t>Explainability is crucial—doctors and patients need to understand AI recommendations.</a:t>
            </a:r>
          </a:p>
        </p:txBody>
      </p:sp>
    </p:spTree>
    <p:extLst>
      <p:ext uri="{BB962C8B-B14F-4D97-AF65-F5344CB8AC3E}">
        <p14:creationId xmlns:p14="http://schemas.microsoft.com/office/powerpoint/2010/main" val="3626064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62EE11BC-2655-5ACF-20A5-234A92754E20}"/>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DC2A9803-5AAC-F651-8BC9-1026E533848B}"/>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23800A1F-C51B-DB9D-1F75-3CFED65BEE95}"/>
              </a:ext>
            </a:extLst>
          </p:cNvPr>
          <p:cNvSpPr txBox="1">
            <a:spLocks noGrp="1"/>
          </p:cNvSpPr>
          <p:nvPr>
            <p:ph type="title"/>
          </p:nvPr>
        </p:nvSpPr>
        <p:spPr>
          <a:xfrm>
            <a:off x="137159" y="122160"/>
            <a:ext cx="6780475" cy="494528"/>
          </a:xfrm>
          <a:prstGeom prst="rect">
            <a:avLst/>
          </a:prstGeom>
          <a:noFill/>
          <a:ln>
            <a:noFill/>
          </a:ln>
        </p:spPr>
        <p:txBody>
          <a:bodyPr spcFirstLastPara="1" wrap="square" lIns="91425" tIns="91425" rIns="91425" bIns="91425" anchor="t" anchorCtr="0">
            <a:noAutofit/>
          </a:bodyPr>
          <a:lstStyle/>
          <a:p>
            <a:r>
              <a:rPr lang="en-GB" sz="2400" b="1" dirty="0"/>
              <a:t>b. Finance</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8E6D0C7D-46B2-7F0E-25DB-D455CD3954BB}"/>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2BBDD368-47CD-B060-1207-F7B7A26BBB7B}"/>
              </a:ext>
            </a:extLst>
          </p:cNvPr>
          <p:cNvSpPr txBox="1"/>
          <p:nvPr/>
        </p:nvSpPr>
        <p:spPr>
          <a:xfrm>
            <a:off x="195731" y="64881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F75377F3-7192-0809-CD4F-228EC09C7CAF}"/>
              </a:ext>
            </a:extLst>
          </p:cNvPr>
          <p:cNvSpPr>
            <a:spLocks noChangeArrowheads="1"/>
          </p:cNvSpPr>
          <p:nvPr/>
        </p:nvSpPr>
        <p:spPr bwMode="auto">
          <a:xfrm>
            <a:off x="395440" y="1109143"/>
            <a:ext cx="7148223"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1800" dirty="0"/>
              <a:t>AI is used in fraud detection, algorithmic trading, and credit scoring. It must meet strict governance and transparency standards:</a:t>
            </a:r>
          </a:p>
          <a:p>
            <a:r>
              <a:rPr lang="en-GB" sz="1800" dirty="0"/>
              <a:t>Basel Committee (BCBS): Provides guidance on AI risk management in banking.</a:t>
            </a:r>
          </a:p>
          <a:p>
            <a:pPr marL="342900" indent="-342900">
              <a:buFont typeface="+mj-lt"/>
              <a:buAutoNum type="arabicPeriod"/>
            </a:pPr>
            <a:r>
              <a:rPr lang="en-GB" sz="1800" dirty="0"/>
              <a:t>DORA (EU): Ensures AI systems are resilient and well-tested.</a:t>
            </a:r>
          </a:p>
          <a:p>
            <a:pPr marL="342900" indent="-342900">
              <a:buFont typeface="+mj-lt"/>
              <a:buAutoNum type="arabicPeriod"/>
            </a:pPr>
            <a:r>
              <a:rPr lang="en-GB" sz="1800" dirty="0"/>
              <a:t>US regulators: Require model validation and auditability of AI in financial services.</a:t>
            </a:r>
          </a:p>
          <a:p>
            <a:r>
              <a:rPr lang="en-GB" sz="1800" dirty="0"/>
              <a:t>Fair Lending Laws:</a:t>
            </a:r>
          </a:p>
          <a:p>
            <a:pPr marL="742950" lvl="1" indent="-285750">
              <a:buFont typeface="Wingdings" pitchFamily="2" charset="2"/>
              <a:buChar char="ü"/>
            </a:pPr>
            <a:r>
              <a:rPr lang="en-GB" sz="1800" dirty="0"/>
              <a:t>Prevent bias or discrimination in automated decisions (e.g., AI denying loans based on race or ZIP code).</a:t>
            </a:r>
          </a:p>
          <a:p>
            <a:pPr marL="742950" lvl="1" indent="-285750">
              <a:buFont typeface="Wingdings" pitchFamily="2" charset="2"/>
              <a:buChar char="ü"/>
            </a:pPr>
            <a:r>
              <a:rPr lang="en-GB" sz="1800" dirty="0"/>
              <a:t>Explainability is vital to justify decisions.</a:t>
            </a:r>
          </a:p>
          <a:p>
            <a:pPr>
              <a:buNone/>
            </a:pPr>
            <a:endParaRPr lang="en-GB" sz="1600" dirty="0"/>
          </a:p>
        </p:txBody>
      </p:sp>
    </p:spTree>
    <p:extLst>
      <p:ext uri="{BB962C8B-B14F-4D97-AF65-F5344CB8AC3E}">
        <p14:creationId xmlns:p14="http://schemas.microsoft.com/office/powerpoint/2010/main" val="2587796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a:extLst>
            <a:ext uri="{FF2B5EF4-FFF2-40B4-BE49-F238E27FC236}">
              <a16:creationId xmlns:a16="http://schemas.microsoft.com/office/drawing/2014/main" id="{84799DE8-80B8-930B-324E-E68F0059ED82}"/>
            </a:ext>
          </a:extLst>
        </p:cNvPr>
        <p:cNvGrpSpPr/>
        <p:nvPr/>
      </p:nvGrpSpPr>
      <p:grpSpPr>
        <a:xfrm>
          <a:off x="0" y="0"/>
          <a:ext cx="0" cy="0"/>
          <a:chOff x="0" y="0"/>
          <a:chExt cx="0" cy="0"/>
        </a:xfrm>
      </p:grpSpPr>
      <p:pic>
        <p:nvPicPr>
          <p:cNvPr id="92" name="Google Shape;92;p8">
            <a:extLst>
              <a:ext uri="{FF2B5EF4-FFF2-40B4-BE49-F238E27FC236}">
                <a16:creationId xmlns:a16="http://schemas.microsoft.com/office/drawing/2014/main" id="{B6EE1E28-6B2D-1EA0-E7A2-58C0926773F0}"/>
              </a:ext>
            </a:extLst>
          </p:cNvPr>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a:extLst>
              <a:ext uri="{FF2B5EF4-FFF2-40B4-BE49-F238E27FC236}">
                <a16:creationId xmlns:a16="http://schemas.microsoft.com/office/drawing/2014/main" id="{6281E7CF-889A-8504-E8AF-66F03D1C8F8E}"/>
              </a:ext>
            </a:extLst>
          </p:cNvPr>
          <p:cNvSpPr txBox="1">
            <a:spLocks noGrp="1"/>
          </p:cNvSpPr>
          <p:nvPr>
            <p:ph type="title"/>
          </p:nvPr>
        </p:nvSpPr>
        <p:spPr>
          <a:xfrm>
            <a:off x="137159" y="122160"/>
            <a:ext cx="7480191" cy="494528"/>
          </a:xfrm>
          <a:prstGeom prst="rect">
            <a:avLst/>
          </a:prstGeom>
          <a:noFill/>
          <a:ln>
            <a:noFill/>
          </a:ln>
        </p:spPr>
        <p:txBody>
          <a:bodyPr spcFirstLastPara="1" wrap="square" lIns="91425" tIns="91425" rIns="91425" bIns="91425" anchor="t" anchorCtr="0">
            <a:noAutofit/>
          </a:bodyPr>
          <a:lstStyle/>
          <a:p>
            <a:r>
              <a:rPr lang="en-GB" sz="2400" b="1" dirty="0"/>
              <a:t> c. Autonomous Vehicles (AVs)</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dirty="0">
                <a:solidFill>
                  <a:srgbClr val="7030A0"/>
                </a:solidFill>
              </a:rPr>
            </a:br>
            <a:br>
              <a:rPr lang="en-GB" sz="2800" b="1" i="0" u="none" strike="noStrike" dirty="0">
                <a:solidFill>
                  <a:srgbClr val="7030A0"/>
                </a:solidFill>
                <a:effectLst/>
              </a:rPr>
            </a:br>
            <a:endParaRPr lang="en-US" sz="1600" b="0" dirty="0">
              <a:solidFill>
                <a:schemeClr val="tx1"/>
              </a:solidFill>
            </a:endParaRPr>
          </a:p>
        </p:txBody>
      </p:sp>
      <p:sp>
        <p:nvSpPr>
          <p:cNvPr id="2" name="TextBox 1">
            <a:extLst>
              <a:ext uri="{FF2B5EF4-FFF2-40B4-BE49-F238E27FC236}">
                <a16:creationId xmlns:a16="http://schemas.microsoft.com/office/drawing/2014/main" id="{F30DAA9F-26B5-DE5B-F272-E86B504F63BE}"/>
              </a:ext>
            </a:extLst>
          </p:cNvPr>
          <p:cNvSpPr txBox="1"/>
          <p:nvPr/>
        </p:nvSpPr>
        <p:spPr>
          <a:xfrm>
            <a:off x="3784821" y="127221"/>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9C482343-7294-D0AA-6529-EDB383E01335}"/>
              </a:ext>
            </a:extLst>
          </p:cNvPr>
          <p:cNvSpPr txBox="1"/>
          <p:nvPr/>
        </p:nvSpPr>
        <p:spPr>
          <a:xfrm>
            <a:off x="439172" y="882265"/>
            <a:ext cx="8434484" cy="584775"/>
          </a:xfrm>
          <a:prstGeom prst="rect">
            <a:avLst/>
          </a:prstGeom>
          <a:noFill/>
        </p:spPr>
        <p:txBody>
          <a:bodyPr wrap="square" rtlCol="0">
            <a:spAutoFit/>
          </a:bodyPr>
          <a:lstStyle/>
          <a:p>
            <a:pPr>
              <a:buNone/>
            </a:pPr>
            <a:br>
              <a:rPr lang="en-GB" sz="1600" b="0" dirty="0">
                <a:solidFill>
                  <a:schemeClr val="tx1"/>
                </a:solidFill>
              </a:rPr>
            </a:br>
            <a:endParaRPr lang="en-US" sz="1600" dirty="0"/>
          </a:p>
        </p:txBody>
      </p:sp>
      <p:sp>
        <p:nvSpPr>
          <p:cNvPr id="5" name="Rectangle 1">
            <a:extLst>
              <a:ext uri="{FF2B5EF4-FFF2-40B4-BE49-F238E27FC236}">
                <a16:creationId xmlns:a16="http://schemas.microsoft.com/office/drawing/2014/main" id="{C3800F44-B9E7-6C48-16DB-F4A2A14E27E4}"/>
              </a:ext>
            </a:extLst>
          </p:cNvPr>
          <p:cNvSpPr>
            <a:spLocks noChangeArrowheads="1"/>
          </p:cNvSpPr>
          <p:nvPr/>
        </p:nvSpPr>
        <p:spPr bwMode="auto">
          <a:xfrm>
            <a:off x="395440" y="993810"/>
            <a:ext cx="714822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1800" dirty="0"/>
              <a:t>AI powers self-driving cars, which raises issues about public safety, accountability, and ethics:</a:t>
            </a:r>
          </a:p>
          <a:p>
            <a:r>
              <a:rPr lang="en-GB" sz="1800" dirty="0"/>
              <a:t>UNECE WP.29 (a UN working group): Sets international rules for cybersecurity and software updates in AVs.</a:t>
            </a:r>
          </a:p>
          <a:p>
            <a:r>
              <a:rPr lang="en-GB" sz="1800" dirty="0"/>
              <a:t>National Guidelines:</a:t>
            </a:r>
          </a:p>
          <a:p>
            <a:pPr marL="800100" lvl="1" indent="-342900">
              <a:buFont typeface="+mj-lt"/>
              <a:buAutoNum type="arabicPeriod"/>
            </a:pPr>
            <a:r>
              <a:rPr lang="en-GB" sz="1800" dirty="0"/>
              <a:t>US (California DMV): Provides rules for AV testing and reporting of crashes.</a:t>
            </a:r>
          </a:p>
          <a:p>
            <a:pPr marL="800100" lvl="1" indent="-342900">
              <a:buFont typeface="+mj-lt"/>
              <a:buAutoNum type="arabicPeriod"/>
            </a:pPr>
            <a:r>
              <a:rPr lang="en-GB" sz="1800" dirty="0"/>
              <a:t>UK’s AV Bill: Defines liability, insurance, and conditions for autonomous driving.</a:t>
            </a:r>
          </a:p>
          <a:p>
            <a:r>
              <a:rPr lang="en-GB" sz="1800" dirty="0"/>
              <a:t>Key Concerns:</a:t>
            </a:r>
          </a:p>
          <a:p>
            <a:pPr marL="742950" lvl="1" indent="-285750">
              <a:buFont typeface="Wingdings" pitchFamily="2" charset="2"/>
              <a:buChar char="ü"/>
            </a:pPr>
            <a:r>
              <a:rPr lang="en-GB" sz="1800" dirty="0"/>
              <a:t>Who is responsible in a crash? The driver, manufacturer, or software developer?</a:t>
            </a:r>
          </a:p>
          <a:p>
            <a:pPr marL="742950" lvl="1" indent="-285750">
              <a:buFont typeface="Wingdings" pitchFamily="2" charset="2"/>
              <a:buChar char="ü"/>
            </a:pPr>
            <a:r>
              <a:rPr lang="en-GB" sz="1800" dirty="0"/>
              <a:t>AI must make ethical decisions in complex situations (e.g., crash scenarios).</a:t>
            </a:r>
          </a:p>
          <a:p>
            <a:pPr>
              <a:buNone/>
            </a:pPr>
            <a:endParaRPr lang="en-GB" sz="1800" dirty="0"/>
          </a:p>
        </p:txBody>
      </p:sp>
    </p:spTree>
    <p:extLst>
      <p:ext uri="{BB962C8B-B14F-4D97-AF65-F5344CB8AC3E}">
        <p14:creationId xmlns:p14="http://schemas.microsoft.com/office/powerpoint/2010/main" val="55149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AI Regulation Summary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35F6B0B-CDF5-6247-EEAD-F2816EA369FC}"/>
              </a:ext>
            </a:extLst>
          </p:cNvPr>
          <p:cNvSpPr txBox="1"/>
          <p:nvPr/>
        </p:nvSpPr>
        <p:spPr>
          <a:xfrm>
            <a:off x="725624" y="743909"/>
            <a:ext cx="7279162" cy="4031873"/>
          </a:xfrm>
          <a:prstGeom prst="rect">
            <a:avLst/>
          </a:prstGeom>
          <a:noFill/>
        </p:spPr>
        <p:txBody>
          <a:bodyPr wrap="square">
            <a:spAutoFit/>
          </a:bodyPr>
          <a:lstStyle/>
          <a:p>
            <a:pPr marL="457200" indent="-457200">
              <a:buFont typeface="+mj-lt"/>
              <a:buAutoNum type="arabicPeriod"/>
            </a:pPr>
            <a:r>
              <a:rPr lang="en-GB" sz="2000" dirty="0"/>
              <a:t>Helps developers ensure AI applications comply with laws and ethical standards.</a:t>
            </a:r>
          </a:p>
          <a:p>
            <a:pPr marL="457200" indent="-457200">
              <a:buFont typeface="+mj-lt"/>
              <a:buAutoNum type="arabicPeriod"/>
            </a:pPr>
            <a:r>
              <a:rPr lang="en-GB" sz="2000" dirty="0"/>
              <a:t>Enables businesses to avoid legal risks and penalties through proper compliance.</a:t>
            </a:r>
          </a:p>
          <a:p>
            <a:pPr marL="457200" indent="-457200">
              <a:buFont typeface="+mj-lt"/>
              <a:buAutoNum type="arabicPeriod"/>
            </a:pPr>
            <a:r>
              <a:rPr lang="en-GB" sz="2000" dirty="0"/>
              <a:t>Supports policymakers in creating robust frameworks that balance innovation and safety.</a:t>
            </a:r>
          </a:p>
          <a:p>
            <a:pPr marL="457200" indent="-457200">
              <a:buFont typeface="+mj-lt"/>
              <a:buAutoNum type="arabicPeriod"/>
            </a:pPr>
            <a:r>
              <a:rPr lang="en-GB" sz="2000" dirty="0"/>
              <a:t>Promotes transparency and trust among users and the public.</a:t>
            </a:r>
          </a:p>
          <a:p>
            <a:pPr marL="457200" indent="-457200">
              <a:buFont typeface="+mj-lt"/>
              <a:buAutoNum type="arabicPeriod"/>
            </a:pPr>
            <a:r>
              <a:rPr lang="en-GB" sz="2000" dirty="0"/>
              <a:t>Ensures responsible and fair use of AI technologies across sectors.</a:t>
            </a:r>
          </a:p>
          <a:p>
            <a:pPr marL="457200" indent="-457200">
              <a:buFont typeface="+mj-lt"/>
              <a:buAutoNum type="arabicPeriod"/>
            </a:pPr>
            <a:r>
              <a:rPr lang="en-GB" sz="2000" dirty="0"/>
              <a:t>Encourages continuous monitoring and adaptation to evolving AI regulations worldwide.</a:t>
            </a:r>
          </a:p>
          <a:p>
            <a:pPr algn="l"/>
            <a:endParaRPr lang="en-GB" sz="1600" b="0" i="0" u="none" strike="noStrike" dirty="0">
              <a:solidFill>
                <a:srgbClr val="000000"/>
              </a:solidFill>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a:extLst>
            <a:ext uri="{FF2B5EF4-FFF2-40B4-BE49-F238E27FC236}">
              <a16:creationId xmlns:a16="http://schemas.microsoft.com/office/drawing/2014/main" id="{69586EBE-1B86-2014-119D-B347B99FCA1F}"/>
            </a:ext>
          </a:extLst>
        </p:cNvPr>
        <p:cNvGrpSpPr/>
        <p:nvPr/>
      </p:nvGrpSpPr>
      <p:grpSpPr>
        <a:xfrm>
          <a:off x="0" y="0"/>
          <a:ext cx="0" cy="0"/>
          <a:chOff x="0" y="0"/>
          <a:chExt cx="0" cy="0"/>
        </a:xfrm>
      </p:grpSpPr>
      <p:pic>
        <p:nvPicPr>
          <p:cNvPr id="108" name="Google Shape;108;p10">
            <a:extLst>
              <a:ext uri="{FF2B5EF4-FFF2-40B4-BE49-F238E27FC236}">
                <a16:creationId xmlns:a16="http://schemas.microsoft.com/office/drawing/2014/main" id="{0D0A301F-6465-E916-608E-76C4F4921635}"/>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a:extLst>
              <a:ext uri="{FF2B5EF4-FFF2-40B4-BE49-F238E27FC236}">
                <a16:creationId xmlns:a16="http://schemas.microsoft.com/office/drawing/2014/main" id="{1D46B072-8E42-3F74-AB3A-23E960F17364}"/>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Resources for Further Study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AEACB99-25A5-41A5-42FE-4AD61E88DC07}"/>
              </a:ext>
            </a:extLst>
          </p:cNvPr>
          <p:cNvSpPr txBox="1"/>
          <p:nvPr/>
        </p:nvSpPr>
        <p:spPr>
          <a:xfrm>
            <a:off x="1093562" y="1151877"/>
            <a:ext cx="5961489" cy="3046988"/>
          </a:xfrm>
          <a:prstGeom prst="rect">
            <a:avLst/>
          </a:prstGeom>
          <a:noFill/>
        </p:spPr>
        <p:txBody>
          <a:bodyPr wrap="square">
            <a:spAutoFit/>
          </a:bodyPr>
          <a:lstStyle/>
          <a:p>
            <a:pPr marL="342900" indent="-342900">
              <a:buFont typeface="+mj-lt"/>
              <a:buAutoNum type="arabicPeriod"/>
            </a:pPr>
            <a:r>
              <a:rPr lang="en-GB" sz="1600" b="1" dirty="0"/>
              <a:t>EU AI Act – Full Text</a:t>
            </a:r>
            <a:r>
              <a:rPr lang="en-GB" sz="1600" dirty="0"/>
              <a:t>: </a:t>
            </a:r>
            <a:r>
              <a:rPr lang="en-GB" sz="1600" dirty="0">
                <a:hlinkClick r:id="rId4"/>
              </a:rPr>
              <a:t>https://artificialintelligenceact.eu</a:t>
            </a:r>
            <a:endParaRPr lang="en-GB" sz="1600" dirty="0"/>
          </a:p>
          <a:p>
            <a:pPr marL="342900" indent="-342900">
              <a:buFont typeface="+mj-lt"/>
              <a:buAutoNum type="arabicPeriod"/>
            </a:pPr>
            <a:r>
              <a:rPr lang="en-GB" sz="1600" b="1" dirty="0"/>
              <a:t>Executive Order on Safe, Secure, and Trustworthy AI (2023)</a:t>
            </a:r>
            <a:r>
              <a:rPr lang="en-GB" sz="1600" dirty="0"/>
              <a:t>: </a:t>
            </a:r>
            <a:r>
              <a:rPr lang="en-GB" sz="1600" dirty="0">
                <a:hlinkClick r:id="rId5"/>
              </a:rPr>
              <a:t>https://www.whitehouse.gov</a:t>
            </a:r>
            <a:endParaRPr lang="en-GB" sz="1600" dirty="0"/>
          </a:p>
          <a:p>
            <a:pPr marL="342900" indent="-342900">
              <a:buFont typeface="+mj-lt"/>
              <a:buAutoNum type="arabicPeriod"/>
            </a:pPr>
            <a:r>
              <a:rPr lang="en-GB" sz="1600" b="1" dirty="0"/>
              <a:t>NIST AI Risk Management Framework</a:t>
            </a:r>
            <a:r>
              <a:rPr lang="en-GB" sz="1600" dirty="0"/>
              <a:t>: </a:t>
            </a:r>
            <a:r>
              <a:rPr lang="en-GB" sz="1600" dirty="0">
                <a:hlinkClick r:id="rId6"/>
              </a:rPr>
              <a:t>https://www.nist.gov/itl/ai-risk-management-framework</a:t>
            </a:r>
            <a:endParaRPr lang="en-GB" sz="1600" dirty="0"/>
          </a:p>
          <a:p>
            <a:pPr marL="342900" indent="-342900">
              <a:buFont typeface="+mj-lt"/>
              <a:buAutoNum type="arabicPeriod"/>
            </a:pPr>
            <a:r>
              <a:rPr lang="en-GB" sz="1600" b="1" dirty="0"/>
              <a:t>GDPR Text and Resources</a:t>
            </a:r>
            <a:r>
              <a:rPr lang="en-GB" sz="1600" dirty="0"/>
              <a:t>: </a:t>
            </a:r>
            <a:r>
              <a:rPr lang="en-GB" sz="1600" dirty="0">
                <a:hlinkClick r:id="rId7"/>
              </a:rPr>
              <a:t>https://gdpr.eu</a:t>
            </a:r>
            <a:endParaRPr lang="en-GB" sz="1600" dirty="0"/>
          </a:p>
          <a:p>
            <a:pPr marL="342900" indent="-342900">
              <a:buFont typeface="+mj-lt"/>
              <a:buAutoNum type="arabicPeriod"/>
            </a:pPr>
            <a:r>
              <a:rPr lang="en-GB" sz="1600" b="1" dirty="0"/>
              <a:t>OECD AI Principles</a:t>
            </a:r>
            <a:r>
              <a:rPr lang="en-GB" sz="1600" dirty="0"/>
              <a:t>: </a:t>
            </a:r>
            <a:r>
              <a:rPr lang="en-GB" sz="1600" dirty="0">
                <a:hlinkClick r:id="rId8"/>
              </a:rPr>
              <a:t>https://oecd.ai</a:t>
            </a:r>
            <a:endParaRPr lang="en-GB" sz="1600" dirty="0"/>
          </a:p>
          <a:p>
            <a:pPr marL="342900" indent="-342900">
              <a:buFont typeface="+mj-lt"/>
              <a:buAutoNum type="arabicPeriod"/>
            </a:pPr>
            <a:r>
              <a:rPr lang="en-GB" sz="1600" b="1" dirty="0"/>
              <a:t>Healthcare AI Regulations (FDA Guidelines)</a:t>
            </a:r>
            <a:r>
              <a:rPr lang="en-GB" sz="1600" dirty="0"/>
              <a:t>: </a:t>
            </a:r>
            <a:r>
              <a:rPr lang="en-GB" sz="1600" dirty="0">
                <a:hlinkClick r:id="rId9"/>
              </a:rPr>
              <a:t>https://www.fda.gov</a:t>
            </a:r>
            <a:endParaRPr lang="en-GB" sz="1600" dirty="0"/>
          </a:p>
          <a:p>
            <a:pPr marL="342900" indent="-342900">
              <a:buFont typeface="+mj-lt"/>
              <a:buAutoNum type="arabicPeriod"/>
            </a:pPr>
            <a:r>
              <a:rPr lang="en-GB" sz="1600" b="1" dirty="0"/>
              <a:t>UNECE Autonomous Vehicle Regulations</a:t>
            </a:r>
            <a:r>
              <a:rPr lang="en-GB" sz="1600" dirty="0"/>
              <a:t>: </a:t>
            </a:r>
            <a:r>
              <a:rPr lang="en-GB" sz="1600" dirty="0">
                <a:hlinkClick r:id="rId10"/>
              </a:rPr>
              <a:t>https://unece.org</a:t>
            </a:r>
            <a:endParaRPr lang="en-GB" sz="1600" dirty="0"/>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1032964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6508</TotalTime>
  <Words>2118</Words>
  <Application>Microsoft Macintosh PowerPoint</Application>
  <PresentationFormat>On-screen Show (16:9)</PresentationFormat>
  <Paragraphs>171</Paragraphs>
  <Slides>23</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IBM Plex Sans Arabic Medium</vt:lpstr>
      <vt:lpstr>Tajawal</vt:lpstr>
      <vt:lpstr>Times New Roman</vt:lpstr>
      <vt:lpstr>Inter</vt:lpstr>
      <vt:lpstr>IBM Plex Sans Arabic</vt:lpstr>
      <vt:lpstr>Calibri</vt:lpstr>
      <vt:lpstr>IBM Plex Sans Arabic SemiBold</vt:lpstr>
      <vt:lpstr>Wingdings</vt:lpstr>
      <vt:lpstr>Proxima Nova</vt:lpstr>
      <vt:lpstr>-webkit-standard</vt:lpstr>
      <vt:lpstr>Arial</vt:lpstr>
      <vt:lpstr>Simple Light</vt:lpstr>
      <vt:lpstr>أكـــــاديميــــة طــــويـــق</vt:lpstr>
      <vt:lpstr>            AI Regulations and Legal Frameworks</vt:lpstr>
      <vt:lpstr>PowerPoint Presentation</vt:lpstr>
      <vt:lpstr>Overview of Global AI Regulations       </vt:lpstr>
      <vt:lpstr>a. EU AI Act      </vt:lpstr>
      <vt:lpstr>a. EU AI Act overview      </vt:lpstr>
      <vt:lpstr>b. US Executive Orders and Initiatives     </vt:lpstr>
      <vt:lpstr>b. US Executive Orders and Initiatives- overview     </vt:lpstr>
      <vt:lpstr>c. Other Countries – AI Regulations Overview      </vt:lpstr>
      <vt:lpstr>CHINA AI Regulations     </vt:lpstr>
      <vt:lpstr>Canada AI Regulations     </vt:lpstr>
      <vt:lpstr>OECD (Organisation for Economic Co-operation and Development)  AI Regulations     </vt:lpstr>
      <vt:lpstr>PowerPoint Presentation</vt:lpstr>
      <vt:lpstr>GDPR and AI: Privacy and Data Protection Regulations       </vt:lpstr>
      <vt:lpstr>GDPR and AI: Privacy and Data Protection Regulations       </vt:lpstr>
      <vt:lpstr>Industry-Specific AI Regulations?         </vt:lpstr>
      <vt:lpstr>a. Healthcare          </vt:lpstr>
      <vt:lpstr>b. Finance           </vt:lpstr>
      <vt:lpstr> c. Autonomous Vehicles (AVs)            </vt:lpstr>
      <vt:lpstr>AI Regulation Summary  </vt:lpstr>
      <vt:lpstr>Resources for Further Study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34</cp:revision>
  <dcterms:modified xsi:type="dcterms:W3CDTF">2025-04-04T06:05:00Z</dcterms:modified>
  <cp:category/>
</cp:coreProperties>
</file>