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3" r:id="rId4"/>
    <p:sldId id="278" r:id="rId5"/>
    <p:sldId id="330" r:id="rId6"/>
    <p:sldId id="262" r:id="rId7"/>
    <p:sldId id="321" r:id="rId8"/>
    <p:sldId id="322" r:id="rId9"/>
    <p:sldId id="323" r:id="rId10"/>
    <p:sldId id="324" r:id="rId11"/>
    <p:sldId id="277" r:id="rId12"/>
    <p:sldId id="263" r:id="rId13"/>
    <p:sldId id="331" r:id="rId14"/>
    <p:sldId id="332" r:id="rId15"/>
    <p:sldId id="333" r:id="rId16"/>
    <p:sldId id="334" r:id="rId17"/>
    <p:sldId id="335" r:id="rId18"/>
    <p:sldId id="336" r:id="rId19"/>
    <p:sldId id="337" r:id="rId20"/>
    <p:sldId id="338" r:id="rId21"/>
    <p:sldId id="265" r:id="rId22"/>
    <p:sldId id="320" r:id="rId23"/>
    <p:sldId id="275" r:id="rId24"/>
    <p:sldId id="276" r:id="rId25"/>
  </p:sldIdLst>
  <p:sldSz cx="9144000" cy="5143500" type="screen16x9"/>
  <p:notesSz cx="6858000" cy="9144000"/>
  <p:embeddedFontLst>
    <p:embeddedFont>
      <p:font typeface="IBM Plex Sans Arabic" panose="020B0603050203000203" pitchFamily="34" charset="-78"/>
      <p:regular r:id="rId27"/>
      <p:bold r:id="rId28"/>
    </p:embeddedFont>
    <p:embeddedFont>
      <p:font typeface="IBM Plex Sans Arabic Medium" panose="020B0603050203000203" pitchFamily="34" charset="-78"/>
      <p:regular r:id="rId29"/>
      <p:bold r:id="rId30"/>
    </p:embeddedFont>
    <p:embeddedFont>
      <p:font typeface="IBM Plex Sans Arabic SemiBold" panose="020B0603050203000203" pitchFamily="34" charset="-78"/>
      <p:regular r:id="rId31"/>
      <p:bold r:id="rId32"/>
    </p:embeddedFont>
    <p:embeddedFont>
      <p:font typeface="Inter" panose="02000503000000020004" pitchFamily="2" charset="0"/>
      <p:regular r:id="rId33"/>
      <p:bold r:id="rId34"/>
      <p:italic r:id="rId35"/>
      <p:boldItalic r:id="rId36"/>
    </p:embeddedFont>
    <p:embeddedFont>
      <p:font typeface="Proxima Nova" panose="02000506030000020004" pitchFamily="2" charset="0"/>
      <p:regular r:id="rId37"/>
      <p:bold r:id="rId38"/>
      <p:italic r:id="rId39"/>
      <p:boldItalic r:id="rId40"/>
    </p:embeddedFont>
    <p:embeddedFont>
      <p:font typeface="Tajawal" pitchFamily="2" charset="-78"/>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33"/>
    <p:restoredTop sz="94809"/>
  </p:normalViewPr>
  <p:slideViewPr>
    <p:cSldViewPr snapToGrid="0">
      <p:cViewPr varScale="1">
        <p:scale>
          <a:sx n="211" d="100"/>
          <a:sy n="211" d="100"/>
        </p:scale>
        <p:origin x="392" y="1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76"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73"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77"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7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C77F6786-E629-BA89-B1A1-94BC1886079A}"/>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92B18A1D-EAE0-714C-D87F-8369E8A147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42CEA998-553D-4871-8631-63C51220C1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6553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0846550-D021-2E3F-359C-C4694091474E}"/>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E5A79FD6-1EA4-E6F9-162C-5E047FB5E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95CC2B4F-02A4-9136-74FE-D034AFE996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85195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0A968E5-8EE1-1678-464A-C148C972A4FA}"/>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8C8FED41-D419-193E-B4AE-B9F42BF17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8382F69B-FDCB-039C-AB4F-73F6841C35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4519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BC49CF4-69FB-1AC1-0178-1646B28E554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DC3EADCB-1536-0D9B-796C-2E7BBCE52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03C6BFD2-03B8-6A92-0F3F-50D7E8AD7D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5132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FF2738B-584C-EB87-E286-9B9CBD549B5D}"/>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466D38B-4441-F18C-E970-23A8531CB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905DA757-FE10-EB5B-8519-CEF3665793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1020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33E31C8-D5E9-2017-AE3F-9CE690F7360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71F4956-9A8B-D2BD-69BC-C7A200A2F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35EAFF3-6059-1547-52B9-ABA6113E56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7265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86E833E-394F-1DE8-E520-F416A19ACF5D}"/>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C6679247-DFD1-8369-9397-48E1837D6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14B75072-2DDF-5431-7BF4-5D617B06C0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1269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C1B13365-1355-88ED-DF18-9405B4D06C96}"/>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2CC9125E-1773-52AB-7FE5-33E970B16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80397811-8681-727F-F7D6-67F7CD7960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80481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5EA64B6-2F44-AAB9-6A78-6FEAEB77889D}"/>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13E3FC1B-74E5-28AF-D613-C8277C3E58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85EC3A3C-C6FE-ECE2-FD3B-AA7D4D8D1E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65375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481E1F93-A46B-C75B-E5AF-1BFC37F1B5F7}"/>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F9EAF0BE-BA3B-8BB4-7F57-D1B635DBC7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F5A44670-3542-74F8-F624-1B06706CEC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40214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780994A-6235-1E9A-BF90-DBF9F12DB535}"/>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B652D34F-F650-602B-2326-C28C22F9B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4A4F5E17-694D-24C3-AC00-1A0255537E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92226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58918F6-ABD0-D795-F834-4A9A982D1462}"/>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EC0370E5-4ADA-914B-75B0-D8ECFB4D5E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0F178A0D-82AF-9BD4-3259-3DFE1DB197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61154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66D38A9-BA83-1383-4CE7-9C7C40D4E60A}"/>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94B06F7A-6C21-4F62-2DA1-86EB8E4202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FD18440D-CAE9-28B7-B5D3-E4D08A2EBC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80989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C69A25D-A05A-29F1-59FF-92B0AEE89056}"/>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B117B03B-0122-F512-D7B6-B3BC13BDD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C06C051C-642D-0D01-4752-5A283DD628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43367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7380419-3B83-6C5F-7037-D9C16B72CD4F}"/>
            </a:ext>
          </a:extLst>
        </p:cNvPr>
        <p:cNvGrpSpPr/>
        <p:nvPr/>
      </p:nvGrpSpPr>
      <p:grpSpPr>
        <a:xfrm>
          <a:off x="0" y="0"/>
          <a:ext cx="0" cy="0"/>
          <a:chOff x="0" y="0"/>
          <a:chExt cx="0" cy="0"/>
        </a:xfrm>
      </p:grpSpPr>
      <p:sp>
        <p:nvSpPr>
          <p:cNvPr id="105" name="Google Shape;105;p10:notes">
            <a:extLst>
              <a:ext uri="{FF2B5EF4-FFF2-40B4-BE49-F238E27FC236}">
                <a16:creationId xmlns:a16="http://schemas.microsoft.com/office/drawing/2014/main" id="{8F656EE4-F75A-8999-B3F4-7DF5B51DF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a:extLst>
              <a:ext uri="{FF2B5EF4-FFF2-40B4-BE49-F238E27FC236}">
                <a16:creationId xmlns:a16="http://schemas.microsoft.com/office/drawing/2014/main" id="{ED33E920-EE85-D545-6CAF-F08715C20C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2156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hyperlink" Target="https://shap.readthedocs.io/" TargetMode="External"/><Relationship Id="rId5" Type="http://schemas.openxmlformats.org/officeDocument/2006/relationships/hyperlink" Target="https://oecd.ai/" TargetMode="External"/><Relationship Id="rId4" Type="http://schemas.openxmlformats.org/officeDocument/2006/relationships/hyperlink" Target="https://artificialintelligenceact.eu/"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3.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137037"/>
            <a:ext cx="8520600" cy="166013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1800" dirty="0">
                <a:latin typeface="Calibri"/>
                <a:ea typeface="Calibri"/>
                <a:cs typeface="Calibri"/>
                <a:sym typeface="Calibri"/>
              </a:rPr>
            </a:br>
            <a:br>
              <a:rPr lang="en-GB" sz="1800" dirty="0">
                <a:latin typeface="Calibri"/>
                <a:ea typeface="Calibri"/>
                <a:cs typeface="Calibri"/>
                <a:sym typeface="Calibri"/>
              </a:rPr>
            </a:br>
            <a:r>
              <a:rPr lang="en-GB" sz="4400" dirty="0">
                <a:latin typeface="Calibri"/>
                <a:ea typeface="Calibri"/>
                <a:cs typeface="Calibri"/>
                <a:sym typeface="Calibri"/>
              </a:rPr>
              <a:t> Ethical and Legal Considerations in AI</a:t>
            </a:r>
            <a:br>
              <a:rPr lang="en-GB" sz="4400" dirty="0">
                <a:latin typeface="Calibri"/>
                <a:ea typeface="Calibri"/>
                <a:cs typeface="Calibri"/>
                <a:sym typeface="Calibri"/>
              </a:rPr>
            </a:br>
            <a:endParaRPr lang="en-GB" sz="2200" dirty="0">
              <a:solidFill>
                <a:schemeClr val="tx1"/>
              </a:solidFill>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355978" y="622430"/>
            <a:ext cx="8029070" cy="3336771"/>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p>
          <a:p>
            <a:pPr marR="0" lvl="0" algn="just" rtl="0">
              <a:lnSpc>
                <a:spcPct val="125000"/>
              </a:lnSpc>
              <a:spcBef>
                <a:spcPts val="0"/>
              </a:spcBef>
              <a:spcAft>
                <a:spcPts val="0"/>
              </a:spcAft>
            </a:pPr>
            <a:endParaRPr lang="en-GB" sz="1800" b="1" i="0" u="none" strike="noStrike" cap="none" dirty="0">
              <a:solidFill>
                <a:srgbClr val="000000"/>
              </a:solidFill>
              <a:latin typeface="Proxima Nova"/>
              <a:ea typeface="Proxima Nova"/>
              <a:cs typeface="Proxima Nova"/>
              <a:sym typeface="Proxima Nova"/>
            </a:endParaRPr>
          </a:p>
          <a:p>
            <a:pPr marL="457200" indent="-457200">
              <a:spcAft>
                <a:spcPts val="300"/>
              </a:spcAft>
              <a:buFont typeface="+mj-lt"/>
              <a:buAutoNum type="arabicPeriod"/>
            </a:pPr>
            <a:r>
              <a:rPr lang="en-GB" sz="2000" b="1" dirty="0" err="1">
                <a:effectLst/>
              </a:rPr>
              <a:t>Analyze</a:t>
            </a:r>
            <a:r>
              <a:rPr lang="en-GB" sz="2000" b="1" dirty="0">
                <a:effectLst/>
              </a:rPr>
              <a:t> AI’s Impact on Human Rights</a:t>
            </a:r>
          </a:p>
          <a:p>
            <a:pPr marL="457200" indent="-457200">
              <a:spcAft>
                <a:spcPts val="300"/>
              </a:spcAft>
              <a:buFont typeface="+mj-lt"/>
              <a:buAutoNum type="arabicPeriod"/>
            </a:pPr>
            <a:r>
              <a:rPr lang="en-GB" sz="2000" b="1" dirty="0">
                <a:effectLst/>
              </a:rPr>
              <a:t>Assess Liability Frameworks for AI Decisions</a:t>
            </a:r>
          </a:p>
          <a:p>
            <a:pPr marL="457200" indent="-457200">
              <a:spcAft>
                <a:spcPts val="300"/>
              </a:spcAft>
              <a:buFont typeface="+mj-lt"/>
              <a:buAutoNum type="arabicPeriod"/>
            </a:pPr>
            <a:r>
              <a:rPr lang="en-GB" sz="2000" b="1" dirty="0">
                <a:effectLst/>
              </a:rPr>
              <a:t>Apply Legal and Ethical AI Principles</a:t>
            </a:r>
          </a:p>
          <a:p>
            <a:pPr marL="457200" indent="-457200">
              <a:spcAft>
                <a:spcPts val="300"/>
              </a:spcAft>
              <a:buFont typeface="+mj-lt"/>
              <a:buAutoNum type="arabicPeriod"/>
            </a:pPr>
            <a:r>
              <a:rPr lang="en-GB" sz="2000" b="1" dirty="0">
                <a:effectLst/>
              </a:rPr>
              <a:t>Interpret Global AI Regulations</a:t>
            </a:r>
          </a:p>
          <a:p>
            <a:pPr marL="457200" indent="-457200">
              <a:spcAft>
                <a:spcPts val="300"/>
              </a:spcAft>
              <a:buFont typeface="+mj-lt"/>
              <a:buAutoNum type="arabicPeriod"/>
            </a:pPr>
            <a:r>
              <a:rPr lang="en-GB" sz="2000" b="1" dirty="0">
                <a:effectLst/>
              </a:rPr>
              <a:t>Conduct Algorithmic Impact </a:t>
            </a:r>
            <a:r>
              <a:rPr lang="en-GB" sz="2000" b="1" dirty="0" err="1">
                <a:effectLst/>
              </a:rPr>
              <a:t>AssessmentsDebate</a:t>
            </a:r>
            <a:r>
              <a:rPr lang="en-GB" sz="2000" b="1" dirty="0">
                <a:effectLst/>
              </a:rPr>
              <a:t> Emerging Challenges in AI Ethics</a:t>
            </a:r>
          </a:p>
          <a:p>
            <a:pPr marL="0" marR="0" lvl="0" indent="0" algn="just" rtl="0">
              <a:lnSpc>
                <a:spcPct val="125000"/>
              </a:lnSpc>
              <a:spcBef>
                <a:spcPts val="1000"/>
              </a:spcBef>
              <a:spcAft>
                <a:spcPts val="0"/>
              </a:spcAft>
              <a:buNone/>
            </a:pP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000" b="1" dirty="0"/>
              <a:t>Introduction to AI Ethics &amp; Law</a:t>
            </a:r>
            <a:br>
              <a:rPr lang="en-GB" sz="2000" b="1" dirty="0"/>
            </a:br>
            <a:br>
              <a:rPr lang="en-GB" sz="2000" b="1" dirty="0"/>
            </a:br>
            <a:br>
              <a:rPr lang="en-GB" sz="2000" b="1" dirty="0"/>
            </a:b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3" name="TextBox 2">
            <a:extLst>
              <a:ext uri="{FF2B5EF4-FFF2-40B4-BE49-F238E27FC236}">
                <a16:creationId xmlns:a16="http://schemas.microsoft.com/office/drawing/2014/main" id="{833F09E0-3E99-80F4-C083-9054BA5CC6A5}"/>
              </a:ext>
            </a:extLst>
          </p:cNvPr>
          <p:cNvSpPr txBox="1"/>
          <p:nvPr/>
        </p:nvSpPr>
        <p:spPr>
          <a:xfrm>
            <a:off x="219403" y="862014"/>
            <a:ext cx="7978392" cy="1438855"/>
          </a:xfrm>
          <a:prstGeom prst="rect">
            <a:avLst/>
          </a:prstGeom>
          <a:noFill/>
        </p:spPr>
        <p:txBody>
          <a:bodyPr wrap="square">
            <a:spAutoFit/>
          </a:bodyPr>
          <a:lstStyle/>
          <a:p>
            <a:pPr algn="l">
              <a:buNone/>
            </a:pPr>
            <a:r>
              <a:rPr lang="en-GB" sz="1600" b="1" i="0" u="none" strike="noStrike" dirty="0">
                <a:solidFill>
                  <a:srgbClr val="404040"/>
                </a:solidFill>
                <a:effectLst/>
                <a:latin typeface="Inter" panose="02000503000000020004" pitchFamily="2" charset="0"/>
              </a:rPr>
              <a:t>Why Ethics &amp; Law Matter in AI</a:t>
            </a:r>
          </a:p>
          <a:p>
            <a:pPr algn="l">
              <a:buFont typeface="Arial" panose="020B0604020202020204" pitchFamily="34" charset="0"/>
              <a:buChar char="•"/>
            </a:pPr>
            <a:r>
              <a:rPr lang="en-GB" sz="1600" b="0" i="0" u="none" strike="noStrike" dirty="0">
                <a:solidFill>
                  <a:srgbClr val="404040"/>
                </a:solidFill>
                <a:effectLst/>
                <a:latin typeface="Inter" panose="02000503000000020004" pitchFamily="2" charset="0"/>
              </a:rPr>
              <a:t>AI impacts </a:t>
            </a:r>
            <a:r>
              <a:rPr lang="en-GB" sz="1600" b="1" i="0" u="none" strike="noStrike" dirty="0">
                <a:solidFill>
                  <a:srgbClr val="404040"/>
                </a:solidFill>
                <a:effectLst/>
                <a:latin typeface="Inter" panose="02000503000000020004" pitchFamily="2" charset="0"/>
              </a:rPr>
              <a:t>privacy, employment, justice, and democracy</a:t>
            </a:r>
            <a:endParaRPr lang="en-GB" sz="1600" b="0" i="0" u="none" strike="noStrike" dirty="0">
              <a:solidFill>
                <a:srgbClr val="404040"/>
              </a:solidFill>
              <a:effectLst/>
              <a:latin typeface="Inter" panose="02000503000000020004" pitchFamily="2" charset="0"/>
            </a:endParaRPr>
          </a:p>
          <a:p>
            <a:pPr algn="l">
              <a:spcBef>
                <a:spcPts val="300"/>
              </a:spcBef>
              <a:buFont typeface="Arial" panose="020B0604020202020204" pitchFamily="34" charset="0"/>
              <a:buChar char="•"/>
            </a:pPr>
            <a:r>
              <a:rPr lang="en-GB" sz="1600" b="0" i="0" u="none" strike="noStrike" dirty="0">
                <a:solidFill>
                  <a:srgbClr val="404040"/>
                </a:solidFill>
                <a:effectLst/>
                <a:latin typeface="Inter" panose="02000503000000020004" pitchFamily="2" charset="0"/>
              </a:rPr>
              <a:t>Risks: </a:t>
            </a:r>
            <a:r>
              <a:rPr lang="en-GB" sz="1600" b="1" i="0" u="none" strike="noStrike" dirty="0">
                <a:solidFill>
                  <a:srgbClr val="404040"/>
                </a:solidFill>
                <a:effectLst/>
                <a:latin typeface="Inter" panose="02000503000000020004" pitchFamily="2" charset="0"/>
              </a:rPr>
              <a:t>Bias, discrimination, surveillance, loss of autonomy</a:t>
            </a:r>
            <a:endParaRPr lang="en-GB" sz="1600" b="0" i="0" u="none" strike="noStrike" dirty="0">
              <a:solidFill>
                <a:srgbClr val="404040"/>
              </a:solidFill>
              <a:effectLst/>
              <a:latin typeface="Inter" panose="02000503000000020004" pitchFamily="2" charset="0"/>
            </a:endParaRPr>
          </a:p>
          <a:p>
            <a:pPr algn="l">
              <a:spcBef>
                <a:spcPts val="300"/>
              </a:spcBef>
              <a:buFont typeface="Arial" panose="020B0604020202020204" pitchFamily="34" charset="0"/>
              <a:buChar char="•"/>
            </a:pPr>
            <a:r>
              <a:rPr lang="en-GB" sz="1600" b="0" i="0" u="none" strike="noStrike" dirty="0">
                <a:solidFill>
                  <a:srgbClr val="404040"/>
                </a:solidFill>
                <a:effectLst/>
                <a:latin typeface="Inter" panose="02000503000000020004" pitchFamily="2" charset="0"/>
              </a:rPr>
              <a:t>Need for </a:t>
            </a:r>
            <a:r>
              <a:rPr lang="en-GB" sz="1600" b="1" i="0" u="none" strike="noStrike" dirty="0">
                <a:solidFill>
                  <a:srgbClr val="404040"/>
                </a:solidFill>
                <a:effectLst/>
                <a:latin typeface="Inter" panose="02000503000000020004" pitchFamily="2" charset="0"/>
              </a:rPr>
              <a:t>legally compliant, fair, and accountable AI</a:t>
            </a:r>
          </a:p>
          <a:p>
            <a:pPr algn="l">
              <a:spcBef>
                <a:spcPts val="300"/>
              </a:spcBef>
              <a:buFont typeface="Arial" panose="020B0604020202020204" pitchFamily="34" charset="0"/>
              <a:buChar char="•"/>
            </a:pPr>
            <a:endParaRPr lang="en-GB" sz="1600" b="0" i="0" u="none" strike="noStrike" dirty="0">
              <a:solidFill>
                <a:srgbClr val="404040"/>
              </a:solidFill>
              <a:effectLst/>
              <a:latin typeface="Inter" panose="02000503000000020004" pitchFamily="2" charset="0"/>
            </a:endParaRPr>
          </a:p>
        </p:txBody>
      </p:sp>
      <p:graphicFrame>
        <p:nvGraphicFramePr>
          <p:cNvPr id="5" name="Table 4">
            <a:extLst>
              <a:ext uri="{FF2B5EF4-FFF2-40B4-BE49-F238E27FC236}">
                <a16:creationId xmlns:a16="http://schemas.microsoft.com/office/drawing/2014/main" id="{73EB438A-53A4-489D-A081-E0A5FE9C5538}"/>
              </a:ext>
            </a:extLst>
          </p:cNvPr>
          <p:cNvGraphicFramePr>
            <a:graphicFrameLocks noGrp="1"/>
          </p:cNvGraphicFramePr>
          <p:nvPr>
            <p:extLst>
              <p:ext uri="{D42A27DB-BD31-4B8C-83A1-F6EECF244321}">
                <p14:modId xmlns:p14="http://schemas.microsoft.com/office/powerpoint/2010/main" val="3472976483"/>
              </p:ext>
            </p:extLst>
          </p:nvPr>
        </p:nvGraphicFramePr>
        <p:xfrm>
          <a:off x="190352" y="2658012"/>
          <a:ext cx="7888172" cy="1524000"/>
        </p:xfrm>
        <a:graphic>
          <a:graphicData uri="http://schemas.openxmlformats.org/drawingml/2006/table">
            <a:tbl>
              <a:tblPr>
                <a:tableStyleId>{35758FB7-9AC5-4552-8A53-C91805E547FA}</a:tableStyleId>
              </a:tblPr>
              <a:tblGrid>
                <a:gridCol w="3220985">
                  <a:extLst>
                    <a:ext uri="{9D8B030D-6E8A-4147-A177-3AD203B41FA5}">
                      <a16:colId xmlns:a16="http://schemas.microsoft.com/office/drawing/2014/main" val="238635406"/>
                    </a:ext>
                  </a:extLst>
                </a:gridCol>
                <a:gridCol w="4667187">
                  <a:extLst>
                    <a:ext uri="{9D8B030D-6E8A-4147-A177-3AD203B41FA5}">
                      <a16:colId xmlns:a16="http://schemas.microsoft.com/office/drawing/2014/main" val="2659186529"/>
                    </a:ext>
                  </a:extLst>
                </a:gridCol>
              </a:tblGrid>
              <a:tr h="0">
                <a:tc>
                  <a:txBody>
                    <a:bodyPr/>
                    <a:lstStyle/>
                    <a:p>
                      <a:pPr algn="l"/>
                      <a:r>
                        <a:rPr lang="en-GB" b="1">
                          <a:effectLst/>
                        </a:rPr>
                        <a:t>Term</a:t>
                      </a:r>
                    </a:p>
                  </a:txBody>
                  <a:tcPr anchor="ctr"/>
                </a:tc>
                <a:tc>
                  <a:txBody>
                    <a:bodyPr/>
                    <a:lstStyle/>
                    <a:p>
                      <a:pPr algn="l"/>
                      <a:r>
                        <a:rPr lang="en-GB" b="1">
                          <a:effectLst/>
                        </a:rPr>
                        <a:t>Definition</a:t>
                      </a:r>
                    </a:p>
                  </a:txBody>
                  <a:tcPr anchor="ctr"/>
                </a:tc>
                <a:extLst>
                  <a:ext uri="{0D108BD9-81ED-4DB2-BD59-A6C34878D82A}">
                    <a16:rowId xmlns:a16="http://schemas.microsoft.com/office/drawing/2014/main" val="1456604650"/>
                  </a:ext>
                </a:extLst>
              </a:tr>
              <a:tr h="0">
                <a:tc>
                  <a:txBody>
                    <a:bodyPr/>
                    <a:lstStyle/>
                    <a:p>
                      <a:r>
                        <a:rPr lang="en-GB" b="1">
                          <a:effectLst/>
                        </a:rPr>
                        <a:t>AI Ethics</a:t>
                      </a:r>
                      <a:endParaRPr lang="en-GB">
                        <a:effectLst/>
                      </a:endParaRPr>
                    </a:p>
                  </a:txBody>
                  <a:tcPr anchor="ctr"/>
                </a:tc>
                <a:tc>
                  <a:txBody>
                    <a:bodyPr/>
                    <a:lstStyle/>
                    <a:p>
                      <a:r>
                        <a:rPr lang="en-GB" dirty="0">
                          <a:effectLst/>
                        </a:rPr>
                        <a:t>Moral principles guiding AI development &amp; use</a:t>
                      </a:r>
                    </a:p>
                  </a:txBody>
                  <a:tcPr anchor="ctr"/>
                </a:tc>
                <a:extLst>
                  <a:ext uri="{0D108BD9-81ED-4DB2-BD59-A6C34878D82A}">
                    <a16:rowId xmlns:a16="http://schemas.microsoft.com/office/drawing/2014/main" val="1544048177"/>
                  </a:ext>
                </a:extLst>
              </a:tr>
              <a:tr h="0">
                <a:tc>
                  <a:txBody>
                    <a:bodyPr/>
                    <a:lstStyle/>
                    <a:p>
                      <a:r>
                        <a:rPr lang="en-GB" b="1">
                          <a:effectLst/>
                        </a:rPr>
                        <a:t>Algorithmic Bias</a:t>
                      </a:r>
                      <a:endParaRPr lang="en-GB">
                        <a:effectLst/>
                      </a:endParaRPr>
                    </a:p>
                  </a:txBody>
                  <a:tcPr anchor="ctr"/>
                </a:tc>
                <a:tc>
                  <a:txBody>
                    <a:bodyPr/>
                    <a:lstStyle/>
                    <a:p>
                      <a:r>
                        <a:rPr lang="en-GB">
                          <a:effectLst/>
                        </a:rPr>
                        <a:t>Unfair discrimination in AI decision-making</a:t>
                      </a:r>
                    </a:p>
                  </a:txBody>
                  <a:tcPr anchor="ctr"/>
                </a:tc>
                <a:extLst>
                  <a:ext uri="{0D108BD9-81ED-4DB2-BD59-A6C34878D82A}">
                    <a16:rowId xmlns:a16="http://schemas.microsoft.com/office/drawing/2014/main" val="2803850704"/>
                  </a:ext>
                </a:extLst>
              </a:tr>
              <a:tr h="0">
                <a:tc>
                  <a:txBody>
                    <a:bodyPr/>
                    <a:lstStyle/>
                    <a:p>
                      <a:r>
                        <a:rPr lang="en-GB" b="1" dirty="0">
                          <a:effectLst/>
                        </a:rPr>
                        <a:t>AI Liability</a:t>
                      </a:r>
                      <a:endParaRPr lang="en-GB" dirty="0">
                        <a:effectLst/>
                      </a:endParaRPr>
                    </a:p>
                  </a:txBody>
                  <a:tcPr anchor="ctr"/>
                </a:tc>
                <a:tc>
                  <a:txBody>
                    <a:bodyPr/>
                    <a:lstStyle/>
                    <a:p>
                      <a:r>
                        <a:rPr lang="en-GB">
                          <a:effectLst/>
                        </a:rPr>
                        <a:t>Legal responsibility for AI-caused harm</a:t>
                      </a:r>
                    </a:p>
                  </a:txBody>
                  <a:tcPr anchor="ctr"/>
                </a:tc>
                <a:extLst>
                  <a:ext uri="{0D108BD9-81ED-4DB2-BD59-A6C34878D82A}">
                    <a16:rowId xmlns:a16="http://schemas.microsoft.com/office/drawing/2014/main" val="4146393983"/>
                  </a:ext>
                </a:extLst>
              </a:tr>
              <a:tr h="0">
                <a:tc>
                  <a:txBody>
                    <a:bodyPr/>
                    <a:lstStyle/>
                    <a:p>
                      <a:r>
                        <a:rPr lang="en-GB" b="1">
                          <a:effectLst/>
                        </a:rPr>
                        <a:t>Right to Explanation</a:t>
                      </a:r>
                      <a:endParaRPr lang="en-GB">
                        <a:effectLst/>
                      </a:endParaRPr>
                    </a:p>
                  </a:txBody>
                  <a:tcPr anchor="ctr"/>
                </a:tc>
                <a:tc>
                  <a:txBody>
                    <a:bodyPr/>
                    <a:lstStyle/>
                    <a:p>
                      <a:r>
                        <a:rPr lang="en-GB" dirty="0">
                          <a:effectLst/>
                        </a:rPr>
                        <a:t>Legal requirement to justify AI decisions (e.g., GDPR)</a:t>
                      </a:r>
                    </a:p>
                  </a:txBody>
                  <a:tcPr anchor="ctr"/>
                </a:tc>
                <a:extLst>
                  <a:ext uri="{0D108BD9-81ED-4DB2-BD59-A6C34878D82A}">
                    <a16:rowId xmlns:a16="http://schemas.microsoft.com/office/drawing/2014/main" val="3236106619"/>
                  </a:ext>
                </a:extLst>
              </a:tr>
            </a:tbl>
          </a:graphicData>
        </a:graphic>
      </p:graphicFrame>
      <p:sp>
        <p:nvSpPr>
          <p:cNvPr id="6" name="Rectangle 2">
            <a:extLst>
              <a:ext uri="{FF2B5EF4-FFF2-40B4-BE49-F238E27FC236}">
                <a16:creationId xmlns:a16="http://schemas.microsoft.com/office/drawing/2014/main" id="{1B98BB81-DFA0-C024-5084-AFCD0E2DCDC0}"/>
              </a:ext>
            </a:extLst>
          </p:cNvPr>
          <p:cNvSpPr>
            <a:spLocks noChangeArrowheads="1"/>
          </p:cNvSpPr>
          <p:nvPr/>
        </p:nvSpPr>
        <p:spPr bwMode="auto">
          <a:xfrm>
            <a:off x="111314" y="2074957"/>
            <a:ext cx="17764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404040"/>
                </a:solidFill>
                <a:effectLst/>
                <a:latin typeface="Inter" panose="02000503000000020004" pitchFamily="2" charset="0"/>
              </a:rPr>
              <a:t>Key Definitions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AF3F722E-EEDB-89C0-8D8E-02EBFD620B58}"/>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0C4B1B0A-5791-DE35-D040-6D4064DECA7C}"/>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72F26621-B7CD-0288-6ED4-24C697C20438}"/>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000" b="1" dirty="0"/>
              <a:t>Core Ethical Principles in AI</a:t>
            </a:r>
            <a:br>
              <a:rPr lang="en-GB" sz="2000" b="1" dirty="0"/>
            </a:br>
            <a:br>
              <a:rPr lang="en-GB" sz="2000" b="1" dirty="0"/>
            </a:br>
            <a:br>
              <a:rPr lang="en-GB" sz="2000" b="1" dirty="0"/>
            </a:br>
            <a:br>
              <a:rPr lang="en-GB" sz="2000" b="1" dirty="0"/>
            </a:b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147349A6-CB07-D1E7-D67C-E6A953121F4A}"/>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6" name="Rectangle 2">
            <a:extLst>
              <a:ext uri="{FF2B5EF4-FFF2-40B4-BE49-F238E27FC236}">
                <a16:creationId xmlns:a16="http://schemas.microsoft.com/office/drawing/2014/main" id="{687D4DB1-7DAE-0EB0-5C5B-8AE48150E85B}"/>
              </a:ext>
            </a:extLst>
          </p:cNvPr>
          <p:cNvSpPr>
            <a:spLocks noChangeArrowheads="1"/>
          </p:cNvSpPr>
          <p:nvPr/>
        </p:nvSpPr>
        <p:spPr bwMode="auto">
          <a:xfrm>
            <a:off x="111314" y="731033"/>
            <a:ext cx="7406195" cy="3518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a:lnSpc>
                <a:spcPct val="150000"/>
              </a:lnSpc>
              <a:buFont typeface="+mj-lt"/>
              <a:buAutoNum type="arabicPeriod"/>
            </a:pPr>
            <a:r>
              <a:rPr lang="en-GB" sz="1800" b="1" i="0" u="none" strike="noStrike" dirty="0">
                <a:solidFill>
                  <a:srgbClr val="404040"/>
                </a:solidFill>
                <a:effectLst/>
                <a:latin typeface="Inter" panose="02000503000000020004" pitchFamily="2" charset="0"/>
              </a:rPr>
              <a:t>Fairness</a:t>
            </a:r>
            <a:r>
              <a:rPr lang="en-GB" sz="1800" b="0" i="0" u="none" strike="noStrike" dirty="0">
                <a:solidFill>
                  <a:srgbClr val="404040"/>
                </a:solidFill>
                <a:effectLst/>
                <a:latin typeface="Inter" panose="02000503000000020004" pitchFamily="2" charset="0"/>
              </a:rPr>
              <a:t> (Avoid bias in training data &amp; decisions)</a:t>
            </a:r>
          </a:p>
          <a:p>
            <a:pPr algn="l">
              <a:lnSpc>
                <a:spcPct val="150000"/>
              </a:lnSpc>
              <a:spcBef>
                <a:spcPts val="300"/>
              </a:spcBef>
              <a:buFont typeface="+mj-lt"/>
              <a:buAutoNum type="arabicPeriod"/>
            </a:pPr>
            <a:r>
              <a:rPr lang="en-GB" sz="1800" b="1" i="0" u="none" strike="noStrike" dirty="0">
                <a:solidFill>
                  <a:srgbClr val="404040"/>
                </a:solidFill>
                <a:effectLst/>
                <a:latin typeface="Inter" panose="02000503000000020004" pitchFamily="2" charset="0"/>
              </a:rPr>
              <a:t>Transparency</a:t>
            </a:r>
            <a:r>
              <a:rPr lang="en-GB" sz="1800" b="0" i="0" u="none" strike="noStrike" dirty="0">
                <a:solidFill>
                  <a:srgbClr val="404040"/>
                </a:solidFill>
                <a:effectLst/>
                <a:latin typeface="Inter" panose="02000503000000020004" pitchFamily="2" charset="0"/>
              </a:rPr>
              <a:t> (Explainable &amp; auditable AI)</a:t>
            </a:r>
          </a:p>
          <a:p>
            <a:pPr algn="l">
              <a:lnSpc>
                <a:spcPct val="150000"/>
              </a:lnSpc>
              <a:spcBef>
                <a:spcPts val="300"/>
              </a:spcBef>
              <a:buFont typeface="+mj-lt"/>
              <a:buAutoNum type="arabicPeriod"/>
            </a:pPr>
            <a:r>
              <a:rPr lang="en-GB" sz="1800" b="1" i="0" u="none" strike="noStrike" dirty="0">
                <a:solidFill>
                  <a:srgbClr val="404040"/>
                </a:solidFill>
                <a:effectLst/>
                <a:latin typeface="Inter" panose="02000503000000020004" pitchFamily="2" charset="0"/>
              </a:rPr>
              <a:t>Accountability</a:t>
            </a:r>
            <a:r>
              <a:rPr lang="en-GB" sz="1800" b="0" i="0" u="none" strike="noStrike" dirty="0">
                <a:solidFill>
                  <a:srgbClr val="404040"/>
                </a:solidFill>
                <a:effectLst/>
                <a:latin typeface="Inter" panose="02000503000000020004" pitchFamily="2" charset="0"/>
              </a:rPr>
              <a:t> (Clear responsibility for AI outcomes)</a:t>
            </a:r>
          </a:p>
          <a:p>
            <a:pPr algn="l">
              <a:lnSpc>
                <a:spcPct val="150000"/>
              </a:lnSpc>
              <a:spcBef>
                <a:spcPts val="300"/>
              </a:spcBef>
              <a:buFont typeface="+mj-lt"/>
              <a:buAutoNum type="arabicPeriod"/>
            </a:pPr>
            <a:r>
              <a:rPr lang="en-GB" sz="1800" b="1" i="0" u="none" strike="noStrike" dirty="0">
                <a:solidFill>
                  <a:srgbClr val="404040"/>
                </a:solidFill>
                <a:effectLst/>
                <a:latin typeface="Inter" panose="02000503000000020004" pitchFamily="2" charset="0"/>
              </a:rPr>
              <a:t>Privacy</a:t>
            </a:r>
            <a:r>
              <a:rPr lang="en-GB" sz="1800" b="0" i="0" u="none" strike="noStrike" dirty="0">
                <a:solidFill>
                  <a:srgbClr val="404040"/>
                </a:solidFill>
                <a:effectLst/>
                <a:latin typeface="Inter" panose="02000503000000020004" pitchFamily="2" charset="0"/>
              </a:rPr>
              <a:t> (Compliance with data protection laws)</a:t>
            </a:r>
          </a:p>
          <a:p>
            <a:pPr algn="l">
              <a:lnSpc>
                <a:spcPct val="150000"/>
              </a:lnSpc>
              <a:spcBef>
                <a:spcPts val="300"/>
              </a:spcBef>
              <a:buFont typeface="+mj-lt"/>
              <a:buAutoNum type="arabicPeriod"/>
            </a:pPr>
            <a:r>
              <a:rPr lang="en-GB" sz="1800" b="1" i="0" u="none" strike="noStrike" dirty="0">
                <a:solidFill>
                  <a:srgbClr val="404040"/>
                </a:solidFill>
                <a:effectLst/>
                <a:latin typeface="Inter" panose="02000503000000020004" pitchFamily="2" charset="0"/>
              </a:rPr>
              <a:t>Human Oversight</a:t>
            </a:r>
            <a:r>
              <a:rPr lang="en-GB" sz="1800" b="0" i="0" u="none" strike="noStrike" dirty="0">
                <a:solidFill>
                  <a:srgbClr val="404040"/>
                </a:solidFill>
                <a:effectLst/>
                <a:latin typeface="Inter" panose="02000503000000020004" pitchFamily="2" charset="0"/>
              </a:rPr>
              <a:t> (No fully autonomous high-stakes decisions)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1" i="0" u="none" strike="noStrike" cap="none" normalizeH="0" baseline="0" dirty="0">
              <a:ln>
                <a:noFill/>
              </a:ln>
              <a:solidFill>
                <a:srgbClr val="404040"/>
              </a:solidFill>
              <a:effectLst/>
              <a:latin typeface="Inter" panose="02000503000000020004"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736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AI and Human Rights</a:t>
            </a:r>
            <a:br>
              <a:rPr lang="en-GB" sz="18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65B9BB7-92C8-9AFE-9554-0613369D0319}"/>
              </a:ext>
            </a:extLst>
          </p:cNvPr>
          <p:cNvSpPr txBox="1"/>
          <p:nvPr/>
        </p:nvSpPr>
        <p:spPr>
          <a:xfrm>
            <a:off x="331638" y="782156"/>
            <a:ext cx="7482355" cy="3639458"/>
          </a:xfrm>
          <a:prstGeom prst="rect">
            <a:avLst/>
          </a:prstGeom>
          <a:noFill/>
        </p:spPr>
        <p:txBody>
          <a:bodyPr wrap="square">
            <a:spAutoFit/>
          </a:bodyPr>
          <a:lstStyle/>
          <a:p>
            <a:pPr algn="l"/>
            <a:r>
              <a:rPr lang="en-GB" sz="1600" b="1" dirty="0">
                <a:solidFill>
                  <a:srgbClr val="7030A0"/>
                </a:solidFill>
                <a:latin typeface="Inter" panose="02000503000000020004" pitchFamily="2" charset="0"/>
              </a:rPr>
              <a:t>1. </a:t>
            </a:r>
            <a:r>
              <a:rPr lang="en-GB" sz="1600" b="1" i="0" u="none" strike="noStrike" dirty="0">
                <a:solidFill>
                  <a:srgbClr val="7030A0"/>
                </a:solidFill>
                <a:effectLst/>
                <a:latin typeface="Inter" panose="02000503000000020004" pitchFamily="2" charset="0"/>
              </a:rPr>
              <a:t>Privacy Rights &amp; AI</a:t>
            </a:r>
          </a:p>
          <a:p>
            <a:pPr algn="l"/>
            <a:endParaRPr lang="en-GB" sz="1600" b="1" i="0" u="none" strike="noStrike" dirty="0">
              <a:solidFill>
                <a:srgbClr val="404040"/>
              </a:solidFill>
              <a:effectLst/>
              <a:latin typeface="Inter" panose="02000503000000020004" pitchFamily="2" charset="0"/>
            </a:endParaRPr>
          </a:p>
          <a:p>
            <a:pPr marL="285750" indent="-285750" algn="l">
              <a:buFont typeface="Wingdings" pitchFamily="2" charset="2"/>
              <a:buChar char="Ø"/>
            </a:pPr>
            <a:r>
              <a:rPr lang="en-GB" sz="1600" b="1" i="0" u="none" strike="noStrike" dirty="0">
                <a:solidFill>
                  <a:srgbClr val="404040"/>
                </a:solidFill>
                <a:effectLst/>
                <a:latin typeface="Inter" panose="02000503000000020004" pitchFamily="2" charset="0"/>
              </a:rPr>
              <a:t>Mass surveillance risks</a:t>
            </a:r>
            <a:r>
              <a:rPr lang="en-GB" sz="1600" b="0" i="0" u="none" strike="noStrike" dirty="0">
                <a:solidFill>
                  <a:srgbClr val="404040"/>
                </a:solidFill>
                <a:effectLst/>
                <a:latin typeface="Inter" panose="02000503000000020004" pitchFamily="2" charset="0"/>
              </a:rPr>
              <a:t> (e.g., facial recognition misuse)</a:t>
            </a:r>
          </a:p>
          <a:p>
            <a:pPr marL="285750" indent="-285750" algn="l">
              <a:spcBef>
                <a:spcPts val="300"/>
              </a:spcBef>
              <a:spcAft>
                <a:spcPts val="300"/>
              </a:spcAft>
              <a:buFont typeface="Wingdings" pitchFamily="2" charset="2"/>
              <a:buChar char="Ø"/>
            </a:pPr>
            <a:r>
              <a:rPr lang="en-GB" sz="1600" b="1" i="0" u="none" strike="noStrike" dirty="0">
                <a:solidFill>
                  <a:srgbClr val="404040"/>
                </a:solidFill>
                <a:effectLst/>
                <a:latin typeface="Inter" panose="02000503000000020004" pitchFamily="2" charset="0"/>
              </a:rPr>
              <a:t>Data protection laws</a:t>
            </a:r>
            <a:r>
              <a:rPr lang="en-GB" sz="1600" b="0" i="0" u="none" strike="noStrike" dirty="0">
                <a:solidFill>
                  <a:srgbClr val="404040"/>
                </a:solidFill>
                <a:effectLst/>
                <a:latin typeface="Inter" panose="02000503000000020004" pitchFamily="2" charset="0"/>
              </a:rPr>
              <a:t>:</a:t>
            </a:r>
          </a:p>
          <a:p>
            <a:pPr marL="742950" lvl="1" indent="-285750" algn="l">
              <a:spcBef>
                <a:spcPts val="300"/>
              </a:spcBef>
              <a:buFont typeface="Wingdings" pitchFamily="2" charset="2"/>
              <a:buChar char="Ø"/>
            </a:pPr>
            <a:r>
              <a:rPr lang="en-GB" sz="1600" b="1" i="0" u="none" strike="noStrike" dirty="0">
                <a:solidFill>
                  <a:srgbClr val="404040"/>
                </a:solidFill>
                <a:effectLst/>
                <a:latin typeface="Inter" panose="02000503000000020004" pitchFamily="2" charset="0"/>
              </a:rPr>
              <a:t>GDPR (EU)</a:t>
            </a:r>
            <a:r>
              <a:rPr lang="en-GB" sz="1600" b="0" i="0" u="none" strike="noStrike" dirty="0">
                <a:solidFill>
                  <a:srgbClr val="404040"/>
                </a:solidFill>
                <a:effectLst/>
                <a:latin typeface="Inter" panose="02000503000000020004" pitchFamily="2" charset="0"/>
              </a:rPr>
              <a:t>: Requires consent, data minimization, and right to erasure</a:t>
            </a:r>
          </a:p>
          <a:p>
            <a:pPr marL="742950" lvl="1" indent="-285750" algn="l">
              <a:spcBef>
                <a:spcPts val="300"/>
              </a:spcBef>
              <a:buFont typeface="Wingdings" pitchFamily="2" charset="2"/>
              <a:buChar char="Ø"/>
            </a:pPr>
            <a:r>
              <a:rPr lang="en-GB" sz="1600" b="1" i="0" u="none" strike="noStrike" dirty="0">
                <a:solidFill>
                  <a:srgbClr val="404040"/>
                </a:solidFill>
                <a:effectLst/>
                <a:latin typeface="Inter" panose="02000503000000020004" pitchFamily="2" charset="0"/>
              </a:rPr>
              <a:t>CCPA (US)</a:t>
            </a:r>
            <a:r>
              <a:rPr lang="en-GB" sz="1600" b="0" i="0" u="none" strike="noStrike" dirty="0">
                <a:solidFill>
                  <a:srgbClr val="404040"/>
                </a:solidFill>
                <a:effectLst/>
                <a:latin typeface="Inter" panose="02000503000000020004" pitchFamily="2" charset="0"/>
              </a:rPr>
              <a:t>: Gives users control over personal data</a:t>
            </a:r>
          </a:p>
          <a:p>
            <a:pPr marL="457200" lvl="1" algn="l">
              <a:spcBef>
                <a:spcPts val="300"/>
              </a:spcBef>
            </a:pPr>
            <a:endParaRPr lang="en-GB" sz="1600" b="0" i="0" u="none" strike="noStrike" dirty="0">
              <a:solidFill>
                <a:srgbClr val="404040"/>
              </a:solidFill>
              <a:effectLst/>
              <a:latin typeface="Inter" panose="02000503000000020004" pitchFamily="2" charset="0"/>
            </a:endParaRPr>
          </a:p>
          <a:p>
            <a:pPr marL="285750" indent="-285750" algn="l">
              <a:spcBef>
                <a:spcPts val="300"/>
              </a:spcBef>
              <a:spcAft>
                <a:spcPts val="300"/>
              </a:spcAft>
              <a:buFont typeface="Wingdings" pitchFamily="2" charset="2"/>
              <a:buChar char="Ø"/>
            </a:pPr>
            <a:r>
              <a:rPr lang="en-GB" sz="1600" b="1" i="0" u="none" strike="noStrike" dirty="0">
                <a:solidFill>
                  <a:srgbClr val="404040"/>
                </a:solidFill>
                <a:effectLst/>
                <a:latin typeface="Inter" panose="02000503000000020004" pitchFamily="2" charset="0"/>
              </a:rPr>
              <a:t>AI Privacy Risks</a:t>
            </a:r>
            <a:r>
              <a:rPr lang="en-GB" sz="1600" b="0" i="0" u="none" strike="noStrike" dirty="0">
                <a:solidFill>
                  <a:srgbClr val="404040"/>
                </a:solidFill>
                <a:effectLst/>
                <a:latin typeface="Inter" panose="02000503000000020004" pitchFamily="2" charset="0"/>
              </a:rPr>
              <a:t>:</a:t>
            </a:r>
          </a:p>
          <a:p>
            <a:pPr marL="742950" lvl="1" indent="-285750" algn="l">
              <a:spcBef>
                <a:spcPts val="300"/>
              </a:spcBef>
              <a:buFont typeface="Wingdings" pitchFamily="2" charset="2"/>
              <a:buChar char="Ø"/>
            </a:pPr>
            <a:r>
              <a:rPr lang="en-GB" sz="1600" b="0" i="0" u="none" strike="noStrike" dirty="0">
                <a:solidFill>
                  <a:srgbClr val="404040"/>
                </a:solidFill>
                <a:effectLst/>
                <a:latin typeface="Inter" panose="02000503000000020004" pitchFamily="2" charset="0"/>
              </a:rPr>
              <a:t>Re-identification from anonymized data</a:t>
            </a:r>
          </a:p>
          <a:p>
            <a:pPr marL="742950" lvl="1" indent="-285750" algn="l">
              <a:spcBef>
                <a:spcPts val="300"/>
              </a:spcBef>
              <a:buFont typeface="Wingdings" pitchFamily="2" charset="2"/>
              <a:buChar char="Ø"/>
            </a:pPr>
            <a:r>
              <a:rPr lang="en-GB" sz="1600" b="0" i="0" u="none" strike="noStrike" dirty="0">
                <a:solidFill>
                  <a:srgbClr val="404040"/>
                </a:solidFill>
                <a:effectLst/>
                <a:latin typeface="Inter" panose="02000503000000020004" pitchFamily="2" charset="0"/>
              </a:rPr>
              <a:t>Invasive profiling (e.g., targeted ads based on sensitive data)</a:t>
            </a:r>
          </a:p>
          <a:p>
            <a:endParaRPr lang="en-GB" sz="1600" dirty="0"/>
          </a:p>
          <a:p>
            <a:endParaRPr lang="en-GB"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80C076DA-C8F9-F189-D3BA-4542E2B40C2C}"/>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71B60108-7221-667A-8008-3E4C80269052}"/>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6623E004-095A-538F-A3C8-78BA530DD77C}"/>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2. Freedom &amp; Autonomy</a:t>
            </a:r>
            <a:br>
              <a:rPr lang="en-GB" sz="18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59D91713-AE9A-E8F9-04E2-B3286D53BECC}"/>
              </a:ext>
            </a:extLst>
          </p:cNvPr>
          <p:cNvSpPr txBox="1"/>
          <p:nvPr/>
        </p:nvSpPr>
        <p:spPr>
          <a:xfrm>
            <a:off x="258240" y="616688"/>
            <a:ext cx="7482355" cy="3570208"/>
          </a:xfrm>
          <a:prstGeom prst="rect">
            <a:avLst/>
          </a:prstGeom>
          <a:noFill/>
        </p:spPr>
        <p:txBody>
          <a:bodyPr wrap="square">
            <a:spAutoFit/>
          </a:bodyPr>
          <a:lstStyle/>
          <a:p>
            <a:pPr>
              <a:buNone/>
            </a:pPr>
            <a:r>
              <a:rPr lang="en-GB" dirty="0"/>
              <a:t>AI technologies can impact </a:t>
            </a:r>
            <a:r>
              <a:rPr lang="en-GB" b="1" dirty="0"/>
              <a:t>individual freedom</a:t>
            </a:r>
            <a:r>
              <a:rPr lang="en-GB" dirty="0"/>
              <a:t> and </a:t>
            </a:r>
            <a:r>
              <a:rPr lang="en-GB" b="1" dirty="0"/>
              <a:t>autonomy</a:t>
            </a:r>
            <a:r>
              <a:rPr lang="en-GB" dirty="0"/>
              <a:t>, which are fundamental human rights. Let’s break down how:</a:t>
            </a:r>
          </a:p>
          <a:p>
            <a:pPr>
              <a:buNone/>
            </a:pPr>
            <a:r>
              <a:rPr lang="en-GB" b="1" dirty="0">
                <a:solidFill>
                  <a:srgbClr val="7030A0"/>
                </a:solidFill>
              </a:rPr>
              <a:t>AI in Social Media: Filter Bubbles, Misinformation, and Manipulation</a:t>
            </a:r>
          </a:p>
          <a:p>
            <a:pPr marL="285750" indent="-285750">
              <a:buFont typeface="Wingdings" pitchFamily="2" charset="2"/>
              <a:buChar char="Ø"/>
            </a:pPr>
            <a:r>
              <a:rPr lang="en-GB" b="1" dirty="0"/>
              <a:t>Filter Bubbles</a:t>
            </a:r>
            <a:r>
              <a:rPr lang="en-GB" dirty="0"/>
              <a:t>: Algorithms personalize content based on your </a:t>
            </a:r>
            <a:r>
              <a:rPr lang="en-GB" dirty="0" err="1"/>
              <a:t>behavior</a:t>
            </a:r>
            <a:r>
              <a:rPr lang="en-GB" dirty="0"/>
              <a:t>, likes, and clicks. This means you only see content that agrees with your views — limiting exposure to diverse perspectives.</a:t>
            </a:r>
          </a:p>
          <a:p>
            <a:pPr marL="457200" lvl="1"/>
            <a:r>
              <a:rPr lang="en-GB" i="1" dirty="0"/>
              <a:t>Impact</a:t>
            </a:r>
            <a:r>
              <a:rPr lang="en-GB" dirty="0"/>
              <a:t>: Reduces critical thinking and can polarize society.</a:t>
            </a:r>
          </a:p>
          <a:p>
            <a:pPr marL="285750" indent="-285750">
              <a:buFont typeface="Wingdings" pitchFamily="2" charset="2"/>
              <a:buChar char="Ø"/>
            </a:pPr>
            <a:r>
              <a:rPr lang="en-GB" b="1" dirty="0"/>
              <a:t>Misinformation</a:t>
            </a:r>
            <a:r>
              <a:rPr lang="en-GB" dirty="0"/>
              <a:t>: AI-driven bots or poorly regulated content recommendation systems can spread false information rapidly.</a:t>
            </a:r>
          </a:p>
          <a:p>
            <a:pPr marL="457200" lvl="1"/>
            <a:r>
              <a:rPr lang="en-GB" i="1" dirty="0"/>
              <a:t>Ethical Concern</a:t>
            </a:r>
            <a:r>
              <a:rPr lang="en-GB" dirty="0"/>
              <a:t>: Users are manipulated into forming opinions or beliefs based on inaccurate data.</a:t>
            </a:r>
          </a:p>
          <a:p>
            <a:pPr marL="285750" indent="-285750">
              <a:buFont typeface="Wingdings" pitchFamily="2" charset="2"/>
              <a:buChar char="Ø"/>
            </a:pPr>
            <a:r>
              <a:rPr lang="en-GB" b="1" dirty="0"/>
              <a:t>Manipulation</a:t>
            </a:r>
            <a:r>
              <a:rPr lang="en-GB" dirty="0"/>
              <a:t>: AI can be used to manipulate emotions, voting decisions, or purchasing </a:t>
            </a:r>
            <a:r>
              <a:rPr lang="en-GB" dirty="0" err="1"/>
              <a:t>behavior</a:t>
            </a:r>
            <a:r>
              <a:rPr lang="en-GB" dirty="0"/>
              <a:t> (e.g., Cambridge Analytica scandal).</a:t>
            </a:r>
          </a:p>
          <a:p>
            <a:pPr marL="457200" lvl="1"/>
            <a:r>
              <a:rPr lang="en-GB" i="1" dirty="0"/>
              <a:t>Freedom at Risk</a:t>
            </a:r>
            <a:r>
              <a:rPr lang="en-GB" dirty="0"/>
              <a:t>: People may make choices influenced by hidden AI nudges, rather than true free will.</a:t>
            </a:r>
          </a:p>
          <a:p>
            <a:endParaRPr lang="en-GB" sz="1600" dirty="0"/>
          </a:p>
        </p:txBody>
      </p:sp>
    </p:spTree>
    <p:extLst>
      <p:ext uri="{BB962C8B-B14F-4D97-AF65-F5344CB8AC3E}">
        <p14:creationId xmlns:p14="http://schemas.microsoft.com/office/powerpoint/2010/main" val="46917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E8E4C096-11C5-6388-0E40-BA7A5B1F5B7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042C80D4-E2DE-6184-118D-74A1689B14EE}"/>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B8DCD410-001D-4604-91B6-DC84E38FE4DC}"/>
              </a:ext>
            </a:extLst>
          </p:cNvPr>
          <p:cNvSpPr txBox="1">
            <a:spLocks noGrp="1"/>
          </p:cNvSpPr>
          <p:nvPr>
            <p:ph type="title"/>
          </p:nvPr>
        </p:nvSpPr>
        <p:spPr>
          <a:xfrm>
            <a:off x="190352" y="122160"/>
            <a:ext cx="7972636" cy="494528"/>
          </a:xfrm>
          <a:prstGeom prst="rect">
            <a:avLst/>
          </a:prstGeom>
          <a:noFill/>
          <a:ln>
            <a:noFill/>
          </a:ln>
        </p:spPr>
        <p:txBody>
          <a:bodyPr spcFirstLastPara="1" wrap="square" lIns="91425" tIns="91425" rIns="91425" bIns="91425" anchor="t" anchorCtr="0">
            <a:noAutofit/>
          </a:bodyPr>
          <a:lstStyle/>
          <a:p>
            <a:r>
              <a:rPr lang="en-GB" sz="2000" b="1" dirty="0"/>
              <a:t>Autonomous Weapons: Ethical Concerns Over AI-Driven Warfare</a:t>
            </a:r>
            <a:br>
              <a:rPr lang="en-GB" sz="2000" b="1" dirty="0"/>
            </a:br>
            <a:br>
              <a:rPr lang="en-GB" sz="2000" b="1" dirty="0"/>
            </a:br>
            <a:br>
              <a:rPr lang="en-GB" sz="2000" b="1" dirty="0"/>
            </a:br>
            <a:br>
              <a:rPr lang="en-GB" sz="2000" dirty="0">
                <a:solidFill>
                  <a:srgbClr val="7030A0"/>
                </a:solidFill>
              </a:rPr>
            </a:br>
            <a:br>
              <a:rPr lang="en-GB" sz="2000" b="0" i="0" u="none" strike="noStrike" dirty="0">
                <a:solidFill>
                  <a:srgbClr val="000000"/>
                </a:solidFill>
                <a:effectLst/>
              </a:rPr>
            </a:br>
            <a:br>
              <a:rPr lang="en-US" sz="2000" dirty="0">
                <a:latin typeface="Calibri"/>
                <a:ea typeface="Calibri"/>
                <a:cs typeface="Calibri"/>
                <a:sym typeface="Calibri"/>
              </a:rPr>
            </a:br>
            <a:endParaRPr lang="en-US" sz="2000" dirty="0"/>
          </a:p>
        </p:txBody>
      </p:sp>
      <p:sp>
        <p:nvSpPr>
          <p:cNvPr id="4" name="TextBox 3">
            <a:extLst>
              <a:ext uri="{FF2B5EF4-FFF2-40B4-BE49-F238E27FC236}">
                <a16:creationId xmlns:a16="http://schemas.microsoft.com/office/drawing/2014/main" id="{A2BC6B44-AA03-A76D-8551-78A6A5C9D91C}"/>
              </a:ext>
            </a:extLst>
          </p:cNvPr>
          <p:cNvSpPr txBox="1"/>
          <p:nvPr/>
        </p:nvSpPr>
        <p:spPr>
          <a:xfrm>
            <a:off x="339702" y="519479"/>
            <a:ext cx="7482355" cy="2308324"/>
          </a:xfrm>
          <a:prstGeom prst="rect">
            <a:avLst/>
          </a:prstGeom>
          <a:noFill/>
        </p:spPr>
        <p:txBody>
          <a:bodyPr wrap="square">
            <a:spAutoFit/>
          </a:bodyPr>
          <a:lstStyle/>
          <a:p>
            <a:pPr>
              <a:buFont typeface="Arial" panose="020B0604020202020204" pitchFamily="34" charset="0"/>
              <a:buChar char="•"/>
            </a:pPr>
            <a:r>
              <a:rPr lang="en-GB" dirty="0"/>
              <a:t>These are weapons systems that can </a:t>
            </a:r>
            <a:r>
              <a:rPr lang="en-GB" b="1" dirty="0"/>
              <a:t>select and attack targets without human intervention</a:t>
            </a:r>
            <a:r>
              <a:rPr lang="en-GB" dirty="0"/>
              <a:t>.</a:t>
            </a:r>
          </a:p>
          <a:p>
            <a:pPr>
              <a:buFont typeface="Arial" panose="020B0604020202020204" pitchFamily="34" charset="0"/>
              <a:buChar char="•"/>
            </a:pPr>
            <a:r>
              <a:rPr lang="en-GB" b="1" dirty="0"/>
              <a:t>Key Ethical Issues</a:t>
            </a:r>
            <a:r>
              <a:rPr lang="en-GB" dirty="0"/>
              <a:t>:</a:t>
            </a:r>
          </a:p>
          <a:p>
            <a:pPr marL="742950" lvl="1" indent="-285750">
              <a:buFont typeface="Arial" panose="020B0604020202020204" pitchFamily="34" charset="0"/>
              <a:buChar char="•"/>
            </a:pPr>
            <a:r>
              <a:rPr lang="en-GB" dirty="0"/>
              <a:t>Who is responsible if an AI weapon makes a mistake?</a:t>
            </a:r>
          </a:p>
          <a:p>
            <a:pPr marL="742950" lvl="1" indent="-285750">
              <a:buFont typeface="Arial" panose="020B0604020202020204" pitchFamily="34" charset="0"/>
              <a:buChar char="•"/>
            </a:pPr>
            <a:r>
              <a:rPr lang="en-GB" dirty="0"/>
              <a:t>Can machines ethically decide to take a life?</a:t>
            </a:r>
          </a:p>
          <a:p>
            <a:pPr marL="742950" lvl="1" indent="-285750">
              <a:buFont typeface="Arial" panose="020B0604020202020204" pitchFamily="34" charset="0"/>
              <a:buChar char="•"/>
            </a:pPr>
            <a:r>
              <a:rPr lang="en-GB" dirty="0"/>
              <a:t>Lack of transparency and accountability in lethal decisions.</a:t>
            </a:r>
          </a:p>
          <a:p>
            <a:pPr>
              <a:buFont typeface="Arial" panose="020B0604020202020204" pitchFamily="34" charset="0"/>
              <a:buChar char="•"/>
            </a:pPr>
            <a:r>
              <a:rPr lang="en-GB" i="1" dirty="0"/>
              <a:t>Autonomy vs. Control</a:t>
            </a:r>
            <a:r>
              <a:rPr lang="en-GB" dirty="0"/>
              <a:t>: When machines have the power to kill without human judgment, we risk undermining human dignity and international law.</a:t>
            </a:r>
          </a:p>
          <a:p>
            <a:endParaRPr lang="en-GB" sz="1600" dirty="0"/>
          </a:p>
          <a:p>
            <a:endParaRPr lang="en-GB" sz="1600" dirty="0"/>
          </a:p>
        </p:txBody>
      </p:sp>
      <p:pic>
        <p:nvPicPr>
          <p:cNvPr id="5" name="Picture 4">
            <a:extLst>
              <a:ext uri="{FF2B5EF4-FFF2-40B4-BE49-F238E27FC236}">
                <a16:creationId xmlns:a16="http://schemas.microsoft.com/office/drawing/2014/main" id="{14724B18-BF46-9B95-C835-86351AF27347}"/>
              </a:ext>
            </a:extLst>
          </p:cNvPr>
          <p:cNvPicPr>
            <a:picLocks noChangeAspect="1"/>
          </p:cNvPicPr>
          <p:nvPr/>
        </p:nvPicPr>
        <p:blipFill>
          <a:blip r:embed="rId4"/>
          <a:stretch>
            <a:fillRect/>
          </a:stretch>
        </p:blipFill>
        <p:spPr>
          <a:xfrm>
            <a:off x="1386740" y="2192137"/>
            <a:ext cx="5359232" cy="2752891"/>
          </a:xfrm>
          <a:prstGeom prst="rect">
            <a:avLst/>
          </a:prstGeom>
        </p:spPr>
      </p:pic>
    </p:spTree>
    <p:extLst>
      <p:ext uri="{BB962C8B-B14F-4D97-AF65-F5344CB8AC3E}">
        <p14:creationId xmlns:p14="http://schemas.microsoft.com/office/powerpoint/2010/main" val="35617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591EC5AB-30D3-2D7F-4AAA-2AEF4063FCA2}"/>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2A7384E5-84EA-9BD3-1907-876E5BFCA9E1}"/>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E7D6AEEF-E200-713C-6D6A-ACF64578B9F2}"/>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Job Displacement: Ethical Responsibility in Workforce Automation</a:t>
            </a:r>
            <a:br>
              <a:rPr lang="en-GB" sz="18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940B7AA5-61B9-7DE4-ABC7-B860F0EFF7E1}"/>
              </a:ext>
            </a:extLst>
          </p:cNvPr>
          <p:cNvSpPr txBox="1"/>
          <p:nvPr/>
        </p:nvSpPr>
        <p:spPr>
          <a:xfrm>
            <a:off x="443552" y="868897"/>
            <a:ext cx="7482355" cy="2523768"/>
          </a:xfrm>
          <a:prstGeom prst="rect">
            <a:avLst/>
          </a:prstGeom>
          <a:noFill/>
        </p:spPr>
        <p:txBody>
          <a:bodyPr wrap="square">
            <a:spAutoFit/>
          </a:bodyPr>
          <a:lstStyle/>
          <a:p>
            <a:r>
              <a:rPr lang="en-GB" b="1" dirty="0"/>
              <a:t>AI is replacing jobs</a:t>
            </a:r>
            <a:r>
              <a:rPr lang="en-GB" dirty="0"/>
              <a:t> in manufacturing, customer service, driving, etc.</a:t>
            </a:r>
          </a:p>
          <a:p>
            <a:pPr marL="742950" lvl="1" indent="-285750">
              <a:buFont typeface="Arial" panose="020B0604020202020204" pitchFamily="34" charset="0"/>
              <a:buChar char="•"/>
            </a:pPr>
            <a:r>
              <a:rPr lang="en-GB" dirty="0"/>
              <a:t>Example: Self-driving trucks replacing truck drivers.</a:t>
            </a:r>
          </a:p>
          <a:p>
            <a:r>
              <a:rPr lang="en-GB" b="1" dirty="0"/>
              <a:t>Concerns</a:t>
            </a:r>
            <a:r>
              <a:rPr lang="en-GB" dirty="0"/>
              <a:t>:</a:t>
            </a:r>
          </a:p>
          <a:p>
            <a:pPr marL="742950" lvl="1" indent="-285750">
              <a:buFont typeface="Arial" panose="020B0604020202020204" pitchFamily="34" charset="0"/>
              <a:buChar char="•"/>
            </a:pPr>
            <a:r>
              <a:rPr lang="en-GB" dirty="0"/>
              <a:t>Loss of livelihood for many workers.</a:t>
            </a:r>
          </a:p>
          <a:p>
            <a:pPr marL="742950" lvl="1" indent="-285750">
              <a:buFont typeface="Arial" panose="020B0604020202020204" pitchFamily="34" charset="0"/>
              <a:buChar char="•"/>
            </a:pPr>
            <a:r>
              <a:rPr lang="en-GB" dirty="0"/>
              <a:t>Increased inequality if reskilling programs or safety nets are not provided.</a:t>
            </a:r>
          </a:p>
          <a:p>
            <a:r>
              <a:rPr lang="en-GB" i="1" dirty="0"/>
              <a:t>Ethical Duty</a:t>
            </a:r>
            <a:r>
              <a:rPr lang="en-GB" dirty="0"/>
              <a:t>: Companies and governments have a responsibility to ensure:</a:t>
            </a:r>
          </a:p>
          <a:p>
            <a:pPr marL="742950" lvl="1" indent="-285750">
              <a:buFont typeface="Arial" panose="020B0604020202020204" pitchFamily="34" charset="0"/>
              <a:buChar char="•"/>
            </a:pPr>
            <a:r>
              <a:rPr lang="en-GB" dirty="0"/>
              <a:t>Fair transitions</a:t>
            </a:r>
          </a:p>
          <a:p>
            <a:pPr marL="742950" lvl="1" indent="-285750">
              <a:buFont typeface="Arial" panose="020B0604020202020204" pitchFamily="34" charset="0"/>
              <a:buChar char="•"/>
            </a:pPr>
            <a:r>
              <a:rPr lang="en-GB" dirty="0"/>
              <a:t>Access to retraining and education</a:t>
            </a:r>
          </a:p>
          <a:p>
            <a:pPr marL="742950" lvl="1" indent="-285750">
              <a:buFont typeface="Arial" panose="020B0604020202020204" pitchFamily="34" charset="0"/>
              <a:buChar char="•"/>
            </a:pPr>
            <a:r>
              <a:rPr lang="en-GB" dirty="0"/>
              <a:t>Protection of workers' rights</a:t>
            </a:r>
          </a:p>
          <a:p>
            <a:endParaRPr lang="en-GB" sz="1600" dirty="0"/>
          </a:p>
          <a:p>
            <a:endParaRPr lang="en-GB" sz="1600" dirty="0"/>
          </a:p>
        </p:txBody>
      </p:sp>
      <p:graphicFrame>
        <p:nvGraphicFramePr>
          <p:cNvPr id="2" name="Table 1">
            <a:extLst>
              <a:ext uri="{FF2B5EF4-FFF2-40B4-BE49-F238E27FC236}">
                <a16:creationId xmlns:a16="http://schemas.microsoft.com/office/drawing/2014/main" id="{72B6B292-BA45-2407-587D-F444636DE085}"/>
              </a:ext>
            </a:extLst>
          </p:cNvPr>
          <p:cNvGraphicFramePr>
            <a:graphicFrameLocks noGrp="1"/>
          </p:cNvGraphicFramePr>
          <p:nvPr>
            <p:extLst>
              <p:ext uri="{D42A27DB-BD31-4B8C-83A1-F6EECF244321}">
                <p14:modId xmlns:p14="http://schemas.microsoft.com/office/powerpoint/2010/main" val="2292807785"/>
              </p:ext>
            </p:extLst>
          </p:nvPr>
        </p:nvGraphicFramePr>
        <p:xfrm>
          <a:off x="190352" y="2948700"/>
          <a:ext cx="8100942" cy="2072640"/>
        </p:xfrm>
        <a:graphic>
          <a:graphicData uri="http://schemas.openxmlformats.org/drawingml/2006/table">
            <a:tbl>
              <a:tblPr>
                <a:tableStyleId>{35758FB7-9AC5-4552-8A53-C91805E547FA}</a:tableStyleId>
              </a:tblPr>
              <a:tblGrid>
                <a:gridCol w="2700314">
                  <a:extLst>
                    <a:ext uri="{9D8B030D-6E8A-4147-A177-3AD203B41FA5}">
                      <a16:colId xmlns:a16="http://schemas.microsoft.com/office/drawing/2014/main" val="3337871066"/>
                    </a:ext>
                  </a:extLst>
                </a:gridCol>
                <a:gridCol w="2700314">
                  <a:extLst>
                    <a:ext uri="{9D8B030D-6E8A-4147-A177-3AD203B41FA5}">
                      <a16:colId xmlns:a16="http://schemas.microsoft.com/office/drawing/2014/main" val="2312718819"/>
                    </a:ext>
                  </a:extLst>
                </a:gridCol>
                <a:gridCol w="2700314">
                  <a:extLst>
                    <a:ext uri="{9D8B030D-6E8A-4147-A177-3AD203B41FA5}">
                      <a16:colId xmlns:a16="http://schemas.microsoft.com/office/drawing/2014/main" val="3249619347"/>
                    </a:ext>
                  </a:extLst>
                </a:gridCol>
              </a:tblGrid>
              <a:tr h="396480">
                <a:tc>
                  <a:txBody>
                    <a:bodyPr/>
                    <a:lstStyle/>
                    <a:p>
                      <a:r>
                        <a:rPr lang="en-GB" sz="1400" b="1" dirty="0"/>
                        <a:t>Issue</a:t>
                      </a:r>
                    </a:p>
                  </a:txBody>
                  <a:tcPr anchor="ctr"/>
                </a:tc>
                <a:tc>
                  <a:txBody>
                    <a:bodyPr/>
                    <a:lstStyle/>
                    <a:p>
                      <a:r>
                        <a:rPr lang="en-GB" sz="1400" b="1"/>
                        <a:t>AI Concern</a:t>
                      </a:r>
                    </a:p>
                  </a:txBody>
                  <a:tcPr anchor="ctr"/>
                </a:tc>
                <a:tc>
                  <a:txBody>
                    <a:bodyPr/>
                    <a:lstStyle/>
                    <a:p>
                      <a:r>
                        <a:rPr lang="en-GB" sz="1400" b="1" dirty="0"/>
                        <a:t>Impact on Freedom &amp; Autonomy</a:t>
                      </a:r>
                    </a:p>
                  </a:txBody>
                  <a:tcPr anchor="ctr"/>
                </a:tc>
                <a:extLst>
                  <a:ext uri="{0D108BD9-81ED-4DB2-BD59-A6C34878D82A}">
                    <a16:rowId xmlns:a16="http://schemas.microsoft.com/office/drawing/2014/main" val="729843174"/>
                  </a:ext>
                </a:extLst>
              </a:tr>
              <a:tr h="447965">
                <a:tc>
                  <a:txBody>
                    <a:bodyPr/>
                    <a:lstStyle/>
                    <a:p>
                      <a:r>
                        <a:rPr lang="en-GB" sz="1400"/>
                        <a:t>Social Media</a:t>
                      </a:r>
                    </a:p>
                  </a:txBody>
                  <a:tcPr anchor="ctr"/>
                </a:tc>
                <a:tc>
                  <a:txBody>
                    <a:bodyPr/>
                    <a:lstStyle/>
                    <a:p>
                      <a:r>
                        <a:rPr lang="en-GB" sz="1400"/>
                        <a:t>Filter bubbles, manipulation</a:t>
                      </a:r>
                    </a:p>
                  </a:txBody>
                  <a:tcPr anchor="ctr"/>
                </a:tc>
                <a:tc>
                  <a:txBody>
                    <a:bodyPr/>
                    <a:lstStyle/>
                    <a:p>
                      <a:r>
                        <a:rPr lang="en-GB" sz="1400"/>
                        <a:t>Limits free thought &amp; informed choice</a:t>
                      </a:r>
                    </a:p>
                  </a:txBody>
                  <a:tcPr anchor="ctr"/>
                </a:tc>
                <a:extLst>
                  <a:ext uri="{0D108BD9-81ED-4DB2-BD59-A6C34878D82A}">
                    <a16:rowId xmlns:a16="http://schemas.microsoft.com/office/drawing/2014/main" val="1940382013"/>
                  </a:ext>
                </a:extLst>
              </a:tr>
              <a:tr h="447965">
                <a:tc>
                  <a:txBody>
                    <a:bodyPr/>
                    <a:lstStyle/>
                    <a:p>
                      <a:r>
                        <a:rPr lang="en-GB" sz="1400"/>
                        <a:t>Autonomous Weapons</a:t>
                      </a:r>
                    </a:p>
                  </a:txBody>
                  <a:tcPr anchor="ctr"/>
                </a:tc>
                <a:tc>
                  <a:txBody>
                    <a:bodyPr/>
                    <a:lstStyle/>
                    <a:p>
                      <a:r>
                        <a:rPr lang="en-GB" sz="1400"/>
                        <a:t>Lethal AI decisions without human input</a:t>
                      </a:r>
                    </a:p>
                  </a:txBody>
                  <a:tcPr anchor="ctr"/>
                </a:tc>
                <a:tc>
                  <a:txBody>
                    <a:bodyPr/>
                    <a:lstStyle/>
                    <a:p>
                      <a:r>
                        <a:rPr lang="en-GB" sz="1400"/>
                        <a:t>Violates human control &amp; dignity</a:t>
                      </a:r>
                    </a:p>
                  </a:txBody>
                  <a:tcPr anchor="ctr"/>
                </a:tc>
                <a:extLst>
                  <a:ext uri="{0D108BD9-81ED-4DB2-BD59-A6C34878D82A}">
                    <a16:rowId xmlns:a16="http://schemas.microsoft.com/office/drawing/2014/main" val="1863638798"/>
                  </a:ext>
                </a:extLst>
              </a:tr>
              <a:tr h="447965">
                <a:tc>
                  <a:txBody>
                    <a:bodyPr/>
                    <a:lstStyle/>
                    <a:p>
                      <a:r>
                        <a:rPr lang="en-GB" sz="1400"/>
                        <a:t>Job Displacement</a:t>
                      </a:r>
                    </a:p>
                  </a:txBody>
                  <a:tcPr anchor="ctr"/>
                </a:tc>
                <a:tc>
                  <a:txBody>
                    <a:bodyPr/>
                    <a:lstStyle/>
                    <a:p>
                      <a:r>
                        <a:rPr lang="en-GB" sz="1400"/>
                        <a:t>Automation without support for workers</a:t>
                      </a:r>
                    </a:p>
                  </a:txBody>
                  <a:tcPr anchor="ctr"/>
                </a:tc>
                <a:tc>
                  <a:txBody>
                    <a:bodyPr/>
                    <a:lstStyle/>
                    <a:p>
                      <a:r>
                        <a:rPr lang="en-GB" sz="1400" dirty="0"/>
                        <a:t>Undermines economic autonomy</a:t>
                      </a:r>
                    </a:p>
                  </a:txBody>
                  <a:tcPr anchor="ctr"/>
                </a:tc>
                <a:extLst>
                  <a:ext uri="{0D108BD9-81ED-4DB2-BD59-A6C34878D82A}">
                    <a16:rowId xmlns:a16="http://schemas.microsoft.com/office/drawing/2014/main" val="3470712509"/>
                  </a:ext>
                </a:extLst>
              </a:tr>
            </a:tbl>
          </a:graphicData>
        </a:graphic>
      </p:graphicFrame>
    </p:spTree>
    <p:extLst>
      <p:ext uri="{BB962C8B-B14F-4D97-AF65-F5344CB8AC3E}">
        <p14:creationId xmlns:p14="http://schemas.microsoft.com/office/powerpoint/2010/main" val="218760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E2D63A0D-5B93-3504-B0BE-B10970F50ED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4308B024-89F9-242B-3FE7-DDADF5CF2D57}"/>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20F43238-7A97-1E00-358D-FDF7C1E414B4}"/>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b="1" dirty="0"/>
              <a:t>Non-Discrimination &amp; Bias Mitigation</a:t>
            </a:r>
            <a:br>
              <a:rPr lang="en-GB" sz="24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9" name="TextBox 8">
            <a:extLst>
              <a:ext uri="{FF2B5EF4-FFF2-40B4-BE49-F238E27FC236}">
                <a16:creationId xmlns:a16="http://schemas.microsoft.com/office/drawing/2014/main" id="{5DFF783F-3512-2705-580E-637E2192713F}"/>
              </a:ext>
            </a:extLst>
          </p:cNvPr>
          <p:cNvSpPr txBox="1"/>
          <p:nvPr/>
        </p:nvSpPr>
        <p:spPr>
          <a:xfrm>
            <a:off x="462855" y="860394"/>
            <a:ext cx="6731232" cy="3323987"/>
          </a:xfrm>
          <a:prstGeom prst="rect">
            <a:avLst/>
          </a:prstGeom>
          <a:noFill/>
        </p:spPr>
        <p:txBody>
          <a:bodyPr wrap="square">
            <a:spAutoFit/>
          </a:bodyPr>
          <a:lstStyle/>
          <a:p>
            <a:pPr>
              <a:buNone/>
            </a:pPr>
            <a:r>
              <a:rPr lang="en-GB" dirty="0"/>
              <a:t>AI systems must be </a:t>
            </a:r>
            <a:r>
              <a:rPr lang="en-GB" b="1" dirty="0"/>
              <a:t>fair</a:t>
            </a:r>
            <a:r>
              <a:rPr lang="en-GB" dirty="0"/>
              <a:t>, </a:t>
            </a:r>
            <a:r>
              <a:rPr lang="en-GB" b="1" dirty="0"/>
              <a:t>just</a:t>
            </a:r>
            <a:r>
              <a:rPr lang="en-GB" dirty="0"/>
              <a:t>, and </a:t>
            </a:r>
            <a:r>
              <a:rPr lang="en-GB" b="1" dirty="0"/>
              <a:t>non-discriminatory</a:t>
            </a:r>
            <a:r>
              <a:rPr lang="en-GB" dirty="0"/>
              <a:t>. Unfortunately, many real-world systems unintentionally reinforce or even amplify biases. This section explores </a:t>
            </a:r>
            <a:r>
              <a:rPr lang="en-GB" b="1" dirty="0"/>
              <a:t>where bias comes from</a:t>
            </a:r>
            <a:r>
              <a:rPr lang="en-GB" dirty="0"/>
              <a:t> and </a:t>
            </a:r>
            <a:r>
              <a:rPr lang="en-GB" b="1" dirty="0"/>
              <a:t>how we can address it.</a:t>
            </a:r>
            <a:endParaRPr lang="en-GB" dirty="0"/>
          </a:p>
          <a:p>
            <a:pPr>
              <a:buNone/>
            </a:pPr>
            <a:r>
              <a:rPr lang="en-GB" b="1" dirty="0"/>
              <a:t>Sources of AI Bias</a:t>
            </a:r>
          </a:p>
          <a:p>
            <a:pPr>
              <a:buNone/>
            </a:pPr>
            <a:r>
              <a:rPr lang="en-GB" dirty="0"/>
              <a:t>AI bias doesn't just happen — it’s often the result of decisions made during development. Let’s break it down:</a:t>
            </a:r>
          </a:p>
          <a:p>
            <a:pPr>
              <a:buNone/>
            </a:pPr>
            <a:r>
              <a:rPr lang="en-GB" b="1" dirty="0"/>
              <a:t> 1. Biased Training Data</a:t>
            </a:r>
          </a:p>
          <a:p>
            <a:r>
              <a:rPr lang="en-GB" b="1" dirty="0"/>
              <a:t>What it means</a:t>
            </a:r>
            <a:r>
              <a:rPr lang="en-GB" dirty="0"/>
              <a:t>: If the historical data used to train the AI is biased, the AI learns those same patterns.</a:t>
            </a:r>
          </a:p>
          <a:p>
            <a:r>
              <a:rPr lang="en-GB" b="1" dirty="0"/>
              <a:t>Example</a:t>
            </a:r>
            <a:r>
              <a:rPr lang="en-GB" dirty="0"/>
              <a:t>:</a:t>
            </a:r>
          </a:p>
          <a:p>
            <a:pPr marL="742950" lvl="1" indent="-285750">
              <a:buFont typeface="Arial" panose="020B0604020202020204" pitchFamily="34" charset="0"/>
              <a:buChar char="•"/>
            </a:pPr>
            <a:r>
              <a:rPr lang="en-GB" dirty="0"/>
              <a:t>A hiring algorithm trained on past data that </a:t>
            </a:r>
            <a:r>
              <a:rPr lang="en-GB" dirty="0" err="1"/>
              <a:t>favored</a:t>
            </a:r>
            <a:r>
              <a:rPr lang="en-GB" dirty="0"/>
              <a:t> men over women might learn to prefer male candidates.</a:t>
            </a:r>
          </a:p>
          <a:p>
            <a:pPr marL="742950" lvl="1" indent="-285750">
              <a:buFont typeface="Arial" panose="020B0604020202020204" pitchFamily="34" charset="0"/>
              <a:buChar char="•"/>
            </a:pPr>
            <a:r>
              <a:rPr lang="en-GB" dirty="0"/>
              <a:t>Facial recognition systems that perform poorly on people with darker skin tones because the training data lacked diversity.</a:t>
            </a:r>
          </a:p>
          <a:p>
            <a:r>
              <a:rPr lang="en-GB" i="1" dirty="0"/>
              <a:t>Result</a:t>
            </a:r>
            <a:r>
              <a:rPr lang="en-GB" dirty="0"/>
              <a:t>: Discrimination in predictions or decisions — even if unintentional.</a:t>
            </a:r>
          </a:p>
        </p:txBody>
      </p:sp>
    </p:spTree>
    <p:extLst>
      <p:ext uri="{BB962C8B-B14F-4D97-AF65-F5344CB8AC3E}">
        <p14:creationId xmlns:p14="http://schemas.microsoft.com/office/powerpoint/2010/main" val="2060151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1E245C-17DD-8426-7E86-225321D38416}"/>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67DA5825-D171-C6C9-BDA7-CE6B9486639F}"/>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12EC5BCB-C707-1B44-6F65-65EAE68BC720}"/>
              </a:ext>
            </a:extLst>
          </p:cNvPr>
          <p:cNvSpPr txBox="1">
            <a:spLocks noGrp="1"/>
          </p:cNvSpPr>
          <p:nvPr>
            <p:ph type="title"/>
          </p:nvPr>
        </p:nvSpPr>
        <p:spPr>
          <a:xfrm>
            <a:off x="0" y="122160"/>
            <a:ext cx="7580350" cy="494528"/>
          </a:xfrm>
          <a:prstGeom prst="rect">
            <a:avLst/>
          </a:prstGeom>
          <a:noFill/>
          <a:ln>
            <a:noFill/>
          </a:ln>
        </p:spPr>
        <p:txBody>
          <a:bodyPr spcFirstLastPara="1" wrap="square" lIns="91425" tIns="91425" rIns="91425" bIns="91425" anchor="t" anchorCtr="0">
            <a:noAutofit/>
          </a:bodyPr>
          <a:lstStyle/>
          <a:p>
            <a:r>
              <a:rPr lang="en-GB" sz="2000" b="1" dirty="0"/>
              <a:t>2. Flawed Model Design</a:t>
            </a:r>
            <a:br>
              <a:rPr lang="en-GB" sz="2000" b="1" dirty="0"/>
            </a:br>
            <a:br>
              <a:rPr lang="en-GB" sz="2000" b="1" dirty="0"/>
            </a:br>
            <a:br>
              <a:rPr lang="en-GB" sz="2000" b="1" dirty="0"/>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1273E40-231D-0DD9-25B5-8ABE4DD98534}"/>
              </a:ext>
            </a:extLst>
          </p:cNvPr>
          <p:cNvSpPr txBox="1"/>
          <p:nvPr/>
        </p:nvSpPr>
        <p:spPr>
          <a:xfrm>
            <a:off x="89767" y="982448"/>
            <a:ext cx="4649209" cy="2800767"/>
          </a:xfrm>
          <a:prstGeom prst="rect">
            <a:avLst/>
          </a:prstGeom>
          <a:noFill/>
        </p:spPr>
        <p:txBody>
          <a:bodyPr wrap="square">
            <a:spAutoFit/>
          </a:bodyPr>
          <a:lstStyle/>
          <a:p>
            <a:r>
              <a:rPr lang="en-GB" sz="1600" b="1" dirty="0"/>
              <a:t>What it means</a:t>
            </a:r>
            <a:r>
              <a:rPr lang="en-GB" sz="1600" dirty="0"/>
              <a:t>: Sometimes, models indirectly learn sensitive attributes through proxies.</a:t>
            </a:r>
          </a:p>
          <a:p>
            <a:endParaRPr lang="en-GB" sz="1600" dirty="0"/>
          </a:p>
          <a:p>
            <a:r>
              <a:rPr lang="en-GB" sz="1600" b="1" dirty="0"/>
              <a:t>Example</a:t>
            </a:r>
            <a:r>
              <a:rPr lang="en-GB" sz="1600" dirty="0"/>
              <a:t>:</a:t>
            </a:r>
          </a:p>
          <a:p>
            <a:pPr marL="742950" lvl="1" indent="-285750">
              <a:buFont typeface="Arial" panose="020B0604020202020204" pitchFamily="34" charset="0"/>
              <a:buChar char="•"/>
            </a:pPr>
            <a:r>
              <a:rPr lang="en-GB" sz="1600" dirty="0"/>
              <a:t>A loan approval model may not use race explicitly but uses ZIP code — which can correlate with race or socioeconomic status.</a:t>
            </a:r>
          </a:p>
          <a:p>
            <a:r>
              <a:rPr lang="en-GB" sz="1600" i="1" dirty="0"/>
              <a:t>Ethical Risk</a:t>
            </a:r>
            <a:r>
              <a:rPr lang="en-GB" sz="1600" dirty="0"/>
              <a:t>: Even if sensitive features aren’t used, indirect bias can still creep in.</a:t>
            </a:r>
          </a:p>
          <a:p>
            <a:pPr>
              <a:buNone/>
            </a:pPr>
            <a:endParaRPr lang="en-GB" sz="1600" b="1" dirty="0"/>
          </a:p>
        </p:txBody>
      </p:sp>
      <p:pic>
        <p:nvPicPr>
          <p:cNvPr id="5" name="Picture 4">
            <a:extLst>
              <a:ext uri="{FF2B5EF4-FFF2-40B4-BE49-F238E27FC236}">
                <a16:creationId xmlns:a16="http://schemas.microsoft.com/office/drawing/2014/main" id="{BF56FCC3-BA93-76A7-91F6-EB87DAE94E3E}"/>
              </a:ext>
            </a:extLst>
          </p:cNvPr>
          <p:cNvPicPr>
            <a:picLocks noChangeAspect="1"/>
          </p:cNvPicPr>
          <p:nvPr/>
        </p:nvPicPr>
        <p:blipFill>
          <a:blip r:embed="rId4"/>
          <a:stretch>
            <a:fillRect/>
          </a:stretch>
        </p:blipFill>
        <p:spPr>
          <a:xfrm>
            <a:off x="4525810" y="865954"/>
            <a:ext cx="4009666" cy="3005863"/>
          </a:xfrm>
          <a:prstGeom prst="rect">
            <a:avLst/>
          </a:prstGeom>
        </p:spPr>
      </p:pic>
    </p:spTree>
    <p:extLst>
      <p:ext uri="{BB962C8B-B14F-4D97-AF65-F5344CB8AC3E}">
        <p14:creationId xmlns:p14="http://schemas.microsoft.com/office/powerpoint/2010/main" val="3459152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p:cNvSpPr txBox="1">
            <a:spLocks noGrp="1"/>
          </p:cNvSpPr>
          <p:nvPr>
            <p:ph type="title"/>
          </p:nvPr>
        </p:nvSpPr>
        <p:spPr>
          <a:xfrm>
            <a:off x="137160" y="122160"/>
            <a:ext cx="4368228" cy="494528"/>
          </a:xfrm>
          <a:prstGeom prst="rect">
            <a:avLst/>
          </a:prstGeom>
          <a:noFill/>
          <a:ln>
            <a:noFill/>
          </a:ln>
        </p:spPr>
        <p:txBody>
          <a:bodyPr spcFirstLastPara="1" wrap="square" lIns="91425" tIns="91425" rIns="91425" bIns="91425" anchor="t" anchorCtr="0">
            <a:noAutofit/>
          </a:bodyPr>
          <a:lstStyle/>
          <a:p>
            <a:r>
              <a:rPr lang="en-GB" sz="2400" b="1" dirty="0"/>
              <a:t>Mitigation Strategies</a:t>
            </a: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ACE1747A-F689-C978-401A-6B5351CB7EF7}"/>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EAD9EB96-EF39-DF28-7515-C2AE6E6083AE}"/>
              </a:ext>
            </a:extLst>
          </p:cNvPr>
          <p:cNvSpPr txBox="1"/>
          <p:nvPr/>
        </p:nvSpPr>
        <p:spPr>
          <a:xfrm>
            <a:off x="569229" y="889985"/>
            <a:ext cx="5425844" cy="4031873"/>
          </a:xfrm>
          <a:prstGeom prst="rect">
            <a:avLst/>
          </a:prstGeom>
          <a:noFill/>
        </p:spPr>
        <p:txBody>
          <a:bodyPr wrap="square">
            <a:spAutoFit/>
          </a:bodyPr>
          <a:lstStyle/>
          <a:p>
            <a:pPr>
              <a:buNone/>
            </a:pPr>
            <a:r>
              <a:rPr lang="en-GB" sz="1600" b="1" dirty="0"/>
              <a:t>Now let’s look at how we can prevent or reduce bias in AI systems.</a:t>
            </a:r>
          </a:p>
          <a:p>
            <a:pPr>
              <a:buNone/>
            </a:pPr>
            <a:r>
              <a:rPr lang="en-GB" sz="1600" b="1" dirty="0"/>
              <a:t>1. Fairness-Aware Machine Learning</a:t>
            </a:r>
          </a:p>
          <a:p>
            <a:pPr>
              <a:buNone/>
            </a:pPr>
            <a:r>
              <a:rPr lang="en-GB" sz="1600" dirty="0"/>
              <a:t>These are ML frameworks designed to measure and reduce bias in predictions.</a:t>
            </a:r>
          </a:p>
          <a:p>
            <a:r>
              <a:rPr lang="en-GB" sz="1600" b="1" dirty="0"/>
              <a:t>Popular Tools</a:t>
            </a:r>
            <a:r>
              <a:rPr lang="en-GB" sz="1600" dirty="0"/>
              <a:t>:</a:t>
            </a:r>
          </a:p>
          <a:p>
            <a:pPr marL="457200" lvl="1"/>
            <a:r>
              <a:rPr lang="en-GB" sz="1600" b="1" dirty="0"/>
              <a:t>IBM’s AIF360 (AI Fairness 360)</a:t>
            </a:r>
            <a:r>
              <a:rPr lang="en-GB" sz="1600" dirty="0"/>
              <a:t>:</a:t>
            </a:r>
          </a:p>
          <a:p>
            <a:pPr marL="1143000" lvl="2" indent="-228600">
              <a:buFont typeface="Arial" panose="020B0604020202020204" pitchFamily="34" charset="0"/>
              <a:buChar char="•"/>
            </a:pPr>
            <a:r>
              <a:rPr lang="en-GB" sz="1600" dirty="0"/>
              <a:t>Open-source library that helps detect and mitigate bias.</a:t>
            </a:r>
          </a:p>
          <a:p>
            <a:pPr marL="1143000" lvl="2" indent="-228600">
              <a:buFont typeface="Arial" panose="020B0604020202020204" pitchFamily="34" charset="0"/>
              <a:buChar char="•"/>
            </a:pPr>
            <a:r>
              <a:rPr lang="en-GB" sz="1600" dirty="0"/>
              <a:t>Provides fairness metrics and bias mitigation algorithms.</a:t>
            </a:r>
          </a:p>
          <a:p>
            <a:pPr marL="457200" lvl="1"/>
            <a:r>
              <a:rPr lang="en-GB" sz="1600" b="1" dirty="0"/>
              <a:t>Google’s Fairness Indicators</a:t>
            </a:r>
            <a:r>
              <a:rPr lang="en-GB" sz="1600" dirty="0"/>
              <a:t>:</a:t>
            </a:r>
          </a:p>
          <a:p>
            <a:pPr marL="1143000" lvl="2" indent="-228600">
              <a:buFont typeface="Arial" panose="020B0604020202020204" pitchFamily="34" charset="0"/>
              <a:buChar char="•"/>
            </a:pPr>
            <a:r>
              <a:rPr lang="en-GB" sz="1600" dirty="0"/>
              <a:t>Tools for TensorFlow that track performance across different subgroups.</a:t>
            </a:r>
          </a:p>
          <a:p>
            <a:r>
              <a:rPr lang="en-GB" sz="1600" i="1" dirty="0"/>
              <a:t>Use Case</a:t>
            </a:r>
            <a:r>
              <a:rPr lang="en-GB" sz="1600" dirty="0"/>
              <a:t>: Monitor whether your model treats all groups fairly before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FB27F4BC-8EB9-5B50-42F0-85289580E01F}"/>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9DF5430C-EA52-F4F5-28D8-710D2E3E7C52}"/>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EA7A79AD-E0FE-C89E-447C-8848785CC7D1}"/>
              </a:ext>
            </a:extLst>
          </p:cNvPr>
          <p:cNvSpPr txBox="1">
            <a:spLocks noGrp="1"/>
          </p:cNvSpPr>
          <p:nvPr>
            <p:ph type="title"/>
          </p:nvPr>
        </p:nvSpPr>
        <p:spPr>
          <a:xfrm>
            <a:off x="137160" y="122160"/>
            <a:ext cx="4368228" cy="494528"/>
          </a:xfrm>
          <a:prstGeom prst="rect">
            <a:avLst/>
          </a:prstGeom>
          <a:noFill/>
          <a:ln>
            <a:noFill/>
          </a:ln>
        </p:spPr>
        <p:txBody>
          <a:bodyPr spcFirstLastPara="1" wrap="square" lIns="91425" tIns="91425" rIns="91425" bIns="91425" anchor="t" anchorCtr="0">
            <a:noAutofit/>
          </a:bodyPr>
          <a:lstStyle/>
          <a:p>
            <a:r>
              <a:rPr lang="en-GB" sz="2400" b="1" dirty="0"/>
              <a:t>Mitigation Strategies</a:t>
            </a: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5D4FD454-A181-C6F7-9B12-CACF30C9716A}"/>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DB35F752-E8BE-7FA6-2B4C-730BA84D48B5}"/>
              </a:ext>
            </a:extLst>
          </p:cNvPr>
          <p:cNvSpPr txBox="1"/>
          <p:nvPr/>
        </p:nvSpPr>
        <p:spPr>
          <a:xfrm>
            <a:off x="569229" y="889985"/>
            <a:ext cx="5425844" cy="2308324"/>
          </a:xfrm>
          <a:prstGeom prst="rect">
            <a:avLst/>
          </a:prstGeom>
          <a:noFill/>
        </p:spPr>
        <p:txBody>
          <a:bodyPr wrap="square">
            <a:spAutoFit/>
          </a:bodyPr>
          <a:lstStyle/>
          <a:p>
            <a:pPr>
              <a:buNone/>
            </a:pPr>
            <a:r>
              <a:rPr lang="en-GB" b="1" dirty="0"/>
              <a:t>2. Bias Audits (Pre- and Post-Deployment)</a:t>
            </a:r>
          </a:p>
          <a:p>
            <a:r>
              <a:rPr lang="en-GB" b="1" dirty="0"/>
              <a:t>What it means: </a:t>
            </a:r>
            <a:r>
              <a:rPr lang="en-GB" dirty="0"/>
              <a:t>Regular checks to see if bias exists before launching the AI system (pre-deployment) and while it is running (post-deployment).</a:t>
            </a:r>
          </a:p>
          <a:p>
            <a:r>
              <a:rPr lang="en-GB" b="1" dirty="0"/>
              <a:t>Why important:</a:t>
            </a:r>
          </a:p>
          <a:p>
            <a:pPr marL="457200" lvl="1"/>
            <a:r>
              <a:rPr lang="en-GB" dirty="0"/>
              <a:t>Systems may become biased over time as they adapt to new data.</a:t>
            </a:r>
          </a:p>
          <a:p>
            <a:pPr marL="457200" lvl="1"/>
            <a:r>
              <a:rPr lang="en-GB" dirty="0"/>
              <a:t>Ethical &amp; legal accountability requires ongoing monitoring.</a:t>
            </a:r>
          </a:p>
          <a:p>
            <a:pPr>
              <a:buNone/>
            </a:pPr>
            <a:endParaRPr lang="en-GB" sz="1600" dirty="0"/>
          </a:p>
          <a:p>
            <a:pPr>
              <a:buNone/>
            </a:pPr>
            <a:endParaRPr lang="en-GB" sz="1600" dirty="0"/>
          </a:p>
        </p:txBody>
      </p:sp>
      <p:graphicFrame>
        <p:nvGraphicFramePr>
          <p:cNvPr id="13" name="Table 12">
            <a:extLst>
              <a:ext uri="{FF2B5EF4-FFF2-40B4-BE49-F238E27FC236}">
                <a16:creationId xmlns:a16="http://schemas.microsoft.com/office/drawing/2014/main" id="{98C2A5BF-D6BF-6ED8-0551-5B81195543AC}"/>
              </a:ext>
            </a:extLst>
          </p:cNvPr>
          <p:cNvGraphicFramePr>
            <a:graphicFrameLocks noGrp="1"/>
          </p:cNvGraphicFramePr>
          <p:nvPr>
            <p:extLst>
              <p:ext uri="{D42A27DB-BD31-4B8C-83A1-F6EECF244321}">
                <p14:modId xmlns:p14="http://schemas.microsoft.com/office/powerpoint/2010/main" val="3776268033"/>
              </p:ext>
            </p:extLst>
          </p:nvPr>
        </p:nvGraphicFramePr>
        <p:xfrm>
          <a:off x="1047212" y="2873391"/>
          <a:ext cx="6660297" cy="1859280"/>
        </p:xfrm>
        <a:graphic>
          <a:graphicData uri="http://schemas.openxmlformats.org/drawingml/2006/table">
            <a:tbl>
              <a:tblPr>
                <a:tableStyleId>{35758FB7-9AC5-4552-8A53-C91805E547FA}</a:tableStyleId>
              </a:tblPr>
              <a:tblGrid>
                <a:gridCol w="2220099">
                  <a:extLst>
                    <a:ext uri="{9D8B030D-6E8A-4147-A177-3AD203B41FA5}">
                      <a16:colId xmlns:a16="http://schemas.microsoft.com/office/drawing/2014/main" val="1962448665"/>
                    </a:ext>
                  </a:extLst>
                </a:gridCol>
                <a:gridCol w="2220099">
                  <a:extLst>
                    <a:ext uri="{9D8B030D-6E8A-4147-A177-3AD203B41FA5}">
                      <a16:colId xmlns:a16="http://schemas.microsoft.com/office/drawing/2014/main" val="4286686000"/>
                    </a:ext>
                  </a:extLst>
                </a:gridCol>
                <a:gridCol w="2220099">
                  <a:extLst>
                    <a:ext uri="{9D8B030D-6E8A-4147-A177-3AD203B41FA5}">
                      <a16:colId xmlns:a16="http://schemas.microsoft.com/office/drawing/2014/main" val="4219175932"/>
                    </a:ext>
                  </a:extLst>
                </a:gridCol>
              </a:tblGrid>
              <a:tr h="260596">
                <a:tc>
                  <a:txBody>
                    <a:bodyPr/>
                    <a:lstStyle/>
                    <a:p>
                      <a:r>
                        <a:rPr lang="en-GB" sz="1400" b="1"/>
                        <a:t>Source of Bias</a:t>
                      </a:r>
                    </a:p>
                  </a:txBody>
                  <a:tcPr anchor="ctr"/>
                </a:tc>
                <a:tc>
                  <a:txBody>
                    <a:bodyPr/>
                    <a:lstStyle/>
                    <a:p>
                      <a:r>
                        <a:rPr lang="en-GB" sz="1400" b="1"/>
                        <a:t>Example</a:t>
                      </a:r>
                    </a:p>
                  </a:txBody>
                  <a:tcPr anchor="ctr"/>
                </a:tc>
                <a:tc>
                  <a:txBody>
                    <a:bodyPr/>
                    <a:lstStyle/>
                    <a:p>
                      <a:r>
                        <a:rPr lang="en-GB" sz="1400" b="1" dirty="0"/>
                        <a:t>Solution</a:t>
                      </a:r>
                    </a:p>
                  </a:txBody>
                  <a:tcPr anchor="ctr"/>
                </a:tc>
                <a:extLst>
                  <a:ext uri="{0D108BD9-81ED-4DB2-BD59-A6C34878D82A}">
                    <a16:rowId xmlns:a16="http://schemas.microsoft.com/office/drawing/2014/main" val="2010383906"/>
                  </a:ext>
                </a:extLst>
              </a:tr>
              <a:tr h="443013">
                <a:tc>
                  <a:txBody>
                    <a:bodyPr/>
                    <a:lstStyle/>
                    <a:p>
                      <a:r>
                        <a:rPr lang="en-GB" sz="1400" dirty="0"/>
                        <a:t>Biased Training Data</a:t>
                      </a:r>
                    </a:p>
                  </a:txBody>
                  <a:tcPr anchor="ctr"/>
                </a:tc>
                <a:tc>
                  <a:txBody>
                    <a:bodyPr/>
                    <a:lstStyle/>
                    <a:p>
                      <a:r>
                        <a:rPr lang="en-GB" sz="1400"/>
                        <a:t>Historical discrimination in hiring data</a:t>
                      </a:r>
                    </a:p>
                  </a:txBody>
                  <a:tcPr anchor="ctr"/>
                </a:tc>
                <a:tc>
                  <a:txBody>
                    <a:bodyPr/>
                    <a:lstStyle/>
                    <a:p>
                      <a:r>
                        <a:rPr lang="en-GB" sz="1400"/>
                        <a:t>Diverse datasets, fairness-aware tools</a:t>
                      </a:r>
                    </a:p>
                  </a:txBody>
                  <a:tcPr anchor="ctr"/>
                </a:tc>
                <a:extLst>
                  <a:ext uri="{0D108BD9-81ED-4DB2-BD59-A6C34878D82A}">
                    <a16:rowId xmlns:a16="http://schemas.microsoft.com/office/drawing/2014/main" val="4067474928"/>
                  </a:ext>
                </a:extLst>
              </a:tr>
              <a:tr h="443013">
                <a:tc>
                  <a:txBody>
                    <a:bodyPr/>
                    <a:lstStyle/>
                    <a:p>
                      <a:r>
                        <a:rPr lang="en-GB" sz="1400"/>
                        <a:t>Flawed Model Design</a:t>
                      </a:r>
                    </a:p>
                  </a:txBody>
                  <a:tcPr anchor="ctr"/>
                </a:tc>
                <a:tc>
                  <a:txBody>
                    <a:bodyPr/>
                    <a:lstStyle/>
                    <a:p>
                      <a:r>
                        <a:rPr lang="en-GB" sz="1400"/>
                        <a:t>ZIP code as a race proxy</a:t>
                      </a:r>
                    </a:p>
                  </a:txBody>
                  <a:tcPr anchor="ctr"/>
                </a:tc>
                <a:tc>
                  <a:txBody>
                    <a:bodyPr/>
                    <a:lstStyle/>
                    <a:p>
                      <a:r>
                        <a:rPr lang="en-GB" sz="1400"/>
                        <a:t>Careful feature selection, bias testing</a:t>
                      </a:r>
                    </a:p>
                  </a:txBody>
                  <a:tcPr anchor="ctr"/>
                </a:tc>
                <a:extLst>
                  <a:ext uri="{0D108BD9-81ED-4DB2-BD59-A6C34878D82A}">
                    <a16:rowId xmlns:a16="http://schemas.microsoft.com/office/drawing/2014/main" val="3216319653"/>
                  </a:ext>
                </a:extLst>
              </a:tr>
              <a:tr h="260596">
                <a:tc>
                  <a:txBody>
                    <a:bodyPr/>
                    <a:lstStyle/>
                    <a:p>
                      <a:r>
                        <a:rPr lang="en-GB" sz="1400"/>
                        <a:t>Unchecked Post-Deployment</a:t>
                      </a:r>
                    </a:p>
                  </a:txBody>
                  <a:tcPr anchor="ctr"/>
                </a:tc>
                <a:tc>
                  <a:txBody>
                    <a:bodyPr/>
                    <a:lstStyle/>
                    <a:p>
                      <a:r>
                        <a:rPr lang="en-GB" sz="1400"/>
                        <a:t>Drift in predictions over time</a:t>
                      </a:r>
                    </a:p>
                  </a:txBody>
                  <a:tcPr anchor="ctr"/>
                </a:tc>
                <a:tc>
                  <a:txBody>
                    <a:bodyPr/>
                    <a:lstStyle/>
                    <a:p>
                      <a:r>
                        <a:rPr lang="en-GB" sz="1400" dirty="0"/>
                        <a:t>Regular bias audits</a:t>
                      </a:r>
                    </a:p>
                  </a:txBody>
                  <a:tcPr anchor="ctr"/>
                </a:tc>
                <a:extLst>
                  <a:ext uri="{0D108BD9-81ED-4DB2-BD59-A6C34878D82A}">
                    <a16:rowId xmlns:a16="http://schemas.microsoft.com/office/drawing/2014/main" val="2684246659"/>
                  </a:ext>
                </a:extLst>
              </a:tr>
            </a:tbl>
          </a:graphicData>
        </a:graphic>
      </p:graphicFrame>
    </p:spTree>
    <p:extLst>
      <p:ext uri="{BB962C8B-B14F-4D97-AF65-F5344CB8AC3E}">
        <p14:creationId xmlns:p14="http://schemas.microsoft.com/office/powerpoint/2010/main" val="291373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A5D96078-FB76-EFD4-CA13-9D1F375636C1}"/>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5B7F118A-8E6F-FB85-42F5-69DC3639B33F}"/>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69710283-0130-0C76-365B-F47C75794A34}"/>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Liability &amp; Accountability in AI Decisions</a:t>
            </a: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8A41C469-C56E-3175-3A7A-BAA6072FCB73}"/>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C1DD3966-FEF8-DCE3-CE5D-C0DAECE80B4B}"/>
              </a:ext>
            </a:extLst>
          </p:cNvPr>
          <p:cNvSpPr txBox="1"/>
          <p:nvPr/>
        </p:nvSpPr>
        <p:spPr>
          <a:xfrm>
            <a:off x="569229" y="889985"/>
            <a:ext cx="5425844" cy="1815882"/>
          </a:xfrm>
          <a:prstGeom prst="rect">
            <a:avLst/>
          </a:prstGeom>
          <a:noFill/>
        </p:spPr>
        <p:txBody>
          <a:bodyPr wrap="square">
            <a:spAutoFit/>
          </a:bodyPr>
          <a:lstStyle/>
          <a:p>
            <a:pPr>
              <a:buNone/>
            </a:pPr>
            <a:r>
              <a:rPr lang="en-GB" sz="1600" b="1" dirty="0"/>
              <a:t>Who is Responsible When AI Fails?</a:t>
            </a:r>
          </a:p>
          <a:p>
            <a:r>
              <a:rPr lang="en-GB" sz="1600" dirty="0"/>
              <a:t>As AI systems make increasingly impactful decisions — from medical diagnoses to loan approvals to driving vehicles — the question of liability becomes critical:</a:t>
            </a:r>
            <a:br>
              <a:rPr lang="en-GB" sz="1600" dirty="0"/>
            </a:br>
            <a:r>
              <a:rPr lang="en-GB" sz="1600" dirty="0"/>
              <a:t>Who should be held accountable when things go wrong?</a:t>
            </a:r>
          </a:p>
          <a:p>
            <a:pPr>
              <a:buNone/>
            </a:pPr>
            <a:endParaRPr lang="en-GB" sz="1600" dirty="0"/>
          </a:p>
          <a:p>
            <a:pPr>
              <a:buNone/>
            </a:pPr>
            <a:endParaRPr lang="en-GB" sz="1600" dirty="0"/>
          </a:p>
        </p:txBody>
      </p:sp>
      <p:graphicFrame>
        <p:nvGraphicFramePr>
          <p:cNvPr id="3" name="Table 2">
            <a:extLst>
              <a:ext uri="{FF2B5EF4-FFF2-40B4-BE49-F238E27FC236}">
                <a16:creationId xmlns:a16="http://schemas.microsoft.com/office/drawing/2014/main" id="{B804B71F-7D24-70FD-49BD-B221EE60AEDC}"/>
              </a:ext>
            </a:extLst>
          </p:cNvPr>
          <p:cNvGraphicFramePr>
            <a:graphicFrameLocks noGrp="1"/>
          </p:cNvGraphicFramePr>
          <p:nvPr>
            <p:extLst>
              <p:ext uri="{D42A27DB-BD31-4B8C-83A1-F6EECF244321}">
                <p14:modId xmlns:p14="http://schemas.microsoft.com/office/powerpoint/2010/main" val="1688853946"/>
              </p:ext>
            </p:extLst>
          </p:nvPr>
        </p:nvGraphicFramePr>
        <p:xfrm>
          <a:off x="271876" y="2679015"/>
          <a:ext cx="7839726" cy="1310640"/>
        </p:xfrm>
        <a:graphic>
          <a:graphicData uri="http://schemas.openxmlformats.org/drawingml/2006/table">
            <a:tbl>
              <a:tblPr>
                <a:tableStyleId>{35758FB7-9AC5-4552-8A53-C91805E547FA}</a:tableStyleId>
              </a:tblPr>
              <a:tblGrid>
                <a:gridCol w="3206773">
                  <a:extLst>
                    <a:ext uri="{9D8B030D-6E8A-4147-A177-3AD203B41FA5}">
                      <a16:colId xmlns:a16="http://schemas.microsoft.com/office/drawing/2014/main" val="1846843777"/>
                    </a:ext>
                  </a:extLst>
                </a:gridCol>
                <a:gridCol w="4632953">
                  <a:extLst>
                    <a:ext uri="{9D8B030D-6E8A-4147-A177-3AD203B41FA5}">
                      <a16:colId xmlns:a16="http://schemas.microsoft.com/office/drawing/2014/main" val="3068708591"/>
                    </a:ext>
                  </a:extLst>
                </a:gridCol>
              </a:tblGrid>
              <a:tr h="0">
                <a:tc>
                  <a:txBody>
                    <a:bodyPr/>
                    <a:lstStyle/>
                    <a:p>
                      <a:r>
                        <a:rPr lang="en-GB" b="1"/>
                        <a:t>Scenario</a:t>
                      </a:r>
                      <a:endParaRPr lang="en-GB"/>
                    </a:p>
                  </a:txBody>
                  <a:tcPr anchor="ctr"/>
                </a:tc>
                <a:tc>
                  <a:txBody>
                    <a:bodyPr/>
                    <a:lstStyle/>
                    <a:p>
                      <a:r>
                        <a:rPr lang="en-GB" b="1"/>
                        <a:t>Potential Liable Party</a:t>
                      </a:r>
                      <a:endParaRPr lang="en-GB"/>
                    </a:p>
                  </a:txBody>
                  <a:tcPr anchor="ctr"/>
                </a:tc>
                <a:extLst>
                  <a:ext uri="{0D108BD9-81ED-4DB2-BD59-A6C34878D82A}">
                    <a16:rowId xmlns:a16="http://schemas.microsoft.com/office/drawing/2014/main" val="3122948985"/>
                  </a:ext>
                </a:extLst>
              </a:tr>
              <a:tr h="0">
                <a:tc>
                  <a:txBody>
                    <a:bodyPr/>
                    <a:lstStyle/>
                    <a:p>
                      <a:r>
                        <a:rPr lang="en-GB" dirty="0"/>
                        <a:t>Faulty medical diagnosis AI</a:t>
                      </a:r>
                    </a:p>
                  </a:txBody>
                  <a:tcPr anchor="ctr"/>
                </a:tc>
                <a:tc>
                  <a:txBody>
                    <a:bodyPr/>
                    <a:lstStyle/>
                    <a:p>
                      <a:r>
                        <a:rPr lang="en-GB" sz="1600" b="0"/>
                        <a:t>Developer, Hospital, Regulatory Body</a:t>
                      </a:r>
                    </a:p>
                  </a:txBody>
                  <a:tcPr anchor="ctr"/>
                </a:tc>
                <a:extLst>
                  <a:ext uri="{0D108BD9-81ED-4DB2-BD59-A6C34878D82A}">
                    <a16:rowId xmlns:a16="http://schemas.microsoft.com/office/drawing/2014/main" val="3248591773"/>
                  </a:ext>
                </a:extLst>
              </a:tr>
              <a:tr h="0">
                <a:tc>
                  <a:txBody>
                    <a:bodyPr/>
                    <a:lstStyle/>
                    <a:p>
                      <a:r>
                        <a:rPr lang="en-GB" dirty="0"/>
                        <a:t>Autonomous car accident</a:t>
                      </a:r>
                    </a:p>
                  </a:txBody>
                  <a:tcPr anchor="ctr"/>
                </a:tc>
                <a:tc>
                  <a:txBody>
                    <a:bodyPr/>
                    <a:lstStyle/>
                    <a:p>
                      <a:r>
                        <a:rPr lang="en-GB" sz="1600" b="0"/>
                        <a:t>Car Manufacturer, Software Provider, Driver</a:t>
                      </a:r>
                    </a:p>
                  </a:txBody>
                  <a:tcPr anchor="ctr"/>
                </a:tc>
                <a:extLst>
                  <a:ext uri="{0D108BD9-81ED-4DB2-BD59-A6C34878D82A}">
                    <a16:rowId xmlns:a16="http://schemas.microsoft.com/office/drawing/2014/main" val="1773312735"/>
                  </a:ext>
                </a:extLst>
              </a:tr>
              <a:tr h="0">
                <a:tc>
                  <a:txBody>
                    <a:bodyPr/>
                    <a:lstStyle/>
                    <a:p>
                      <a:r>
                        <a:rPr lang="en-GB" dirty="0"/>
                        <a:t>Discriminatory hiring algorithm</a:t>
                      </a:r>
                    </a:p>
                  </a:txBody>
                  <a:tcPr anchor="ctr"/>
                </a:tc>
                <a:tc>
                  <a:txBody>
                    <a:bodyPr/>
                    <a:lstStyle/>
                    <a:p>
                      <a:r>
                        <a:rPr lang="en-GB" sz="1600" b="0" dirty="0"/>
                        <a:t>Company, HR Department, AI Vendor</a:t>
                      </a:r>
                    </a:p>
                  </a:txBody>
                  <a:tcPr anchor="ctr"/>
                </a:tc>
                <a:extLst>
                  <a:ext uri="{0D108BD9-81ED-4DB2-BD59-A6C34878D82A}">
                    <a16:rowId xmlns:a16="http://schemas.microsoft.com/office/drawing/2014/main" val="3917300689"/>
                  </a:ext>
                </a:extLst>
              </a:tr>
            </a:tbl>
          </a:graphicData>
        </a:graphic>
      </p:graphicFrame>
      <p:sp>
        <p:nvSpPr>
          <p:cNvPr id="4" name="Rectangle 1">
            <a:extLst>
              <a:ext uri="{FF2B5EF4-FFF2-40B4-BE49-F238E27FC236}">
                <a16:creationId xmlns:a16="http://schemas.microsoft.com/office/drawing/2014/main" id="{90854929-4643-EF4E-ED65-147194D7BAAC}"/>
              </a:ext>
            </a:extLst>
          </p:cNvPr>
          <p:cNvSpPr>
            <a:spLocks noChangeArrowheads="1"/>
          </p:cNvSpPr>
          <p:nvPr/>
        </p:nvSpPr>
        <p:spPr bwMode="auto">
          <a:xfrm>
            <a:off x="190526" y="1562308"/>
            <a:ext cx="755805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Scenario-Based Accountability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8741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1976D02C-1F4E-C631-521C-6E0A37B44870}"/>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266ED643-682F-DACE-3562-8F725A195692}"/>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516C3C70-85AF-D20E-D0E0-80D41283C92F}"/>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Explanation:</a:t>
            </a: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E843AA08-7A77-CAB9-7A21-DDF6E81B5D10}"/>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4738BB22-817F-231C-6F01-0A2A35357652}"/>
              </a:ext>
            </a:extLst>
          </p:cNvPr>
          <p:cNvSpPr txBox="1"/>
          <p:nvPr/>
        </p:nvSpPr>
        <p:spPr>
          <a:xfrm>
            <a:off x="569229" y="889985"/>
            <a:ext cx="5425844" cy="3046988"/>
          </a:xfrm>
          <a:prstGeom prst="rect">
            <a:avLst/>
          </a:prstGeom>
          <a:noFill/>
        </p:spPr>
        <p:txBody>
          <a:bodyPr wrap="square">
            <a:spAutoFit/>
          </a:bodyPr>
          <a:lstStyle/>
          <a:p>
            <a:pPr marL="342900" indent="-342900">
              <a:buFont typeface="Wingdings" pitchFamily="2" charset="2"/>
              <a:buChar char="Ø"/>
            </a:pPr>
            <a:r>
              <a:rPr lang="en-GB" sz="1600" b="1" dirty="0"/>
              <a:t>Developer</a:t>
            </a:r>
            <a:r>
              <a:rPr lang="en-GB" sz="1600" dirty="0"/>
              <a:t>: Poor model design, inadequate testing, or known flaws.</a:t>
            </a:r>
          </a:p>
          <a:p>
            <a:pPr marL="342900" indent="-342900">
              <a:buFont typeface="Wingdings" pitchFamily="2" charset="2"/>
              <a:buChar char="Ø"/>
            </a:pPr>
            <a:r>
              <a:rPr lang="en-GB" sz="1600" b="1" dirty="0"/>
              <a:t>Organization</a:t>
            </a:r>
            <a:r>
              <a:rPr lang="en-GB" sz="1600" dirty="0"/>
              <a:t> (Hospital/Company): Responsible for deploying and relying on the AI system.</a:t>
            </a:r>
          </a:p>
          <a:p>
            <a:pPr marL="342900" indent="-342900">
              <a:buFont typeface="Wingdings" pitchFamily="2" charset="2"/>
              <a:buChar char="Ø"/>
            </a:pPr>
            <a:r>
              <a:rPr lang="en-GB" sz="1600" b="1" dirty="0"/>
              <a:t>Regulatory Bodies</a:t>
            </a:r>
            <a:r>
              <a:rPr lang="en-GB" sz="1600" dirty="0"/>
              <a:t>: May share blame if oversight was insufficient.</a:t>
            </a:r>
          </a:p>
          <a:p>
            <a:pPr marL="342900" indent="-342900">
              <a:buFont typeface="Wingdings" pitchFamily="2" charset="2"/>
              <a:buChar char="Ø"/>
            </a:pPr>
            <a:r>
              <a:rPr lang="en-GB" sz="1600" b="1" dirty="0"/>
              <a:t>Vendors/Manufacturers</a:t>
            </a:r>
            <a:r>
              <a:rPr lang="en-GB" sz="1600" dirty="0"/>
              <a:t>: Liability for faulty hardware/software used in the AI system.</a:t>
            </a:r>
          </a:p>
          <a:p>
            <a:pPr marL="342900" indent="-342900">
              <a:buFont typeface="Wingdings" pitchFamily="2" charset="2"/>
              <a:buChar char="Ø"/>
            </a:pPr>
            <a:r>
              <a:rPr lang="en-GB" sz="1600" b="1" dirty="0"/>
              <a:t>End Users</a:t>
            </a:r>
            <a:r>
              <a:rPr lang="en-GB" sz="1600" dirty="0"/>
              <a:t>: When human override is possible but neglected.</a:t>
            </a:r>
          </a:p>
          <a:p>
            <a:pPr>
              <a:buNone/>
            </a:pPr>
            <a:endParaRPr lang="en-GB" sz="1600" dirty="0"/>
          </a:p>
          <a:p>
            <a:pPr>
              <a:buNone/>
            </a:pPr>
            <a:endParaRPr lang="en-GB" sz="1600" dirty="0"/>
          </a:p>
        </p:txBody>
      </p:sp>
    </p:spTree>
    <p:extLst>
      <p:ext uri="{BB962C8B-B14F-4D97-AF65-F5344CB8AC3E}">
        <p14:creationId xmlns:p14="http://schemas.microsoft.com/office/powerpoint/2010/main" val="1401567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C6EA2E75-2E78-A48A-F0E1-050784F81518}"/>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4C3FA613-AF10-BD91-FC47-9E734B27C1B6}"/>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C5C93792-A706-76BA-E1FB-41D3EFBC76D0}"/>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Legal Theories of AI Liability</a:t>
            </a:r>
            <a:br>
              <a:rPr lang="en-GB" sz="2400" b="1" dirty="0"/>
            </a:b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64C85B8D-8E13-5480-1D40-442E709381B6}"/>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6C4565E-2FDF-FDA1-6A1B-5F7210B7D81A}"/>
              </a:ext>
            </a:extLst>
          </p:cNvPr>
          <p:cNvSpPr txBox="1"/>
          <p:nvPr/>
        </p:nvSpPr>
        <p:spPr>
          <a:xfrm>
            <a:off x="569228" y="889985"/>
            <a:ext cx="6685415" cy="4278094"/>
          </a:xfrm>
          <a:prstGeom prst="rect">
            <a:avLst/>
          </a:prstGeom>
          <a:noFill/>
        </p:spPr>
        <p:txBody>
          <a:bodyPr wrap="square">
            <a:spAutoFit/>
          </a:bodyPr>
          <a:lstStyle/>
          <a:p>
            <a:pPr>
              <a:buNone/>
            </a:pPr>
            <a:r>
              <a:rPr lang="en-GB" sz="1600" b="1" dirty="0"/>
              <a:t>1. Product Liability</a:t>
            </a:r>
          </a:p>
          <a:p>
            <a:r>
              <a:rPr lang="en-GB" sz="1600" b="1" dirty="0"/>
              <a:t>Concept</a:t>
            </a:r>
            <a:r>
              <a:rPr lang="en-GB" sz="1600" dirty="0"/>
              <a:t>: If an AI system is sold as a product, and it's defective, it can be treated like a faulty product.</a:t>
            </a:r>
          </a:p>
          <a:p>
            <a:r>
              <a:rPr lang="en-GB" sz="1600" b="1" dirty="0"/>
              <a:t>Example</a:t>
            </a:r>
            <a:r>
              <a:rPr lang="en-GB" sz="1600" dirty="0"/>
              <a:t>: A medical device powered by AI gives a wrong dosage recommendation due to a bug.</a:t>
            </a:r>
          </a:p>
          <a:p>
            <a:pPr>
              <a:buNone/>
            </a:pPr>
            <a:r>
              <a:rPr lang="en-GB" sz="1600" b="1" dirty="0"/>
              <a:t>2. Negligence</a:t>
            </a:r>
          </a:p>
          <a:p>
            <a:r>
              <a:rPr lang="en-GB" sz="1600" b="1" dirty="0"/>
              <a:t>Concept</a:t>
            </a:r>
            <a:r>
              <a:rPr lang="en-GB" sz="1600" dirty="0"/>
              <a:t>: Failure to take reasonable care during AI development or deployment.</a:t>
            </a:r>
          </a:p>
          <a:p>
            <a:r>
              <a:rPr lang="en-GB" sz="1600" b="1" dirty="0"/>
              <a:t>Example</a:t>
            </a:r>
            <a:r>
              <a:rPr lang="en-GB" sz="1600" dirty="0"/>
              <a:t>: Ignoring testing warnings or skipping safety evaluations before launching an AI-powered feature.</a:t>
            </a:r>
          </a:p>
          <a:p>
            <a:pPr>
              <a:buNone/>
            </a:pPr>
            <a:r>
              <a:rPr lang="en-GB" sz="1600" b="1" dirty="0"/>
              <a:t>3. Strict Liability</a:t>
            </a:r>
          </a:p>
          <a:p>
            <a:r>
              <a:rPr lang="en-GB" sz="1600" b="1" dirty="0"/>
              <a:t>Concept</a:t>
            </a:r>
            <a:r>
              <a:rPr lang="en-GB" sz="1600" dirty="0"/>
              <a:t>: Applies to high-risk AI systems  liability is assigned even if no fault is proven.</a:t>
            </a:r>
          </a:p>
          <a:p>
            <a:r>
              <a:rPr lang="en-GB" sz="1600" b="1" dirty="0"/>
              <a:t>Example</a:t>
            </a:r>
            <a:r>
              <a:rPr lang="en-GB" sz="1600" dirty="0"/>
              <a:t>: An autonomous drone crashes into private property the owner/developer is liable regardless of intent.</a:t>
            </a:r>
          </a:p>
          <a:p>
            <a:pPr>
              <a:buNone/>
            </a:pPr>
            <a:endParaRPr lang="en-GB" sz="1600" dirty="0"/>
          </a:p>
          <a:p>
            <a:pPr>
              <a:buNone/>
            </a:pPr>
            <a:endParaRPr lang="en-GB" sz="1600" dirty="0"/>
          </a:p>
        </p:txBody>
      </p:sp>
    </p:spTree>
    <p:extLst>
      <p:ext uri="{BB962C8B-B14F-4D97-AF65-F5344CB8AC3E}">
        <p14:creationId xmlns:p14="http://schemas.microsoft.com/office/powerpoint/2010/main" val="54818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BAE27195-3B7A-BA11-0D57-14727F4195AD}"/>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C0F74BD3-E8F9-6FD3-7525-BA910510604D}"/>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72A011BB-5AD0-6240-46CA-85FC0BAAB9C1}"/>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Accountability Mechanisms in AI Systems</a:t>
            </a:r>
            <a:br>
              <a:rPr lang="en-GB" sz="2400" b="1" dirty="0"/>
            </a:br>
            <a:br>
              <a:rPr lang="en-GB" sz="2400" b="1" dirty="0"/>
            </a:b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EF04F054-8235-DFE8-D6DF-02F4BC865EB8}"/>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77C2787D-A47E-A598-ED0C-1B4F0CAD81BD}"/>
              </a:ext>
            </a:extLst>
          </p:cNvPr>
          <p:cNvSpPr txBox="1"/>
          <p:nvPr/>
        </p:nvSpPr>
        <p:spPr>
          <a:xfrm>
            <a:off x="569228" y="889985"/>
            <a:ext cx="8308324" cy="4031873"/>
          </a:xfrm>
          <a:prstGeom prst="rect">
            <a:avLst/>
          </a:prstGeom>
          <a:noFill/>
        </p:spPr>
        <p:txBody>
          <a:bodyPr wrap="square">
            <a:spAutoFit/>
          </a:bodyPr>
          <a:lstStyle/>
          <a:p>
            <a:pPr>
              <a:buNone/>
            </a:pPr>
            <a:r>
              <a:rPr lang="en-GB" sz="1600" dirty="0"/>
              <a:t>To address and prevent failures, organizations can implement the following:</a:t>
            </a:r>
          </a:p>
          <a:p>
            <a:pPr>
              <a:buNone/>
            </a:pPr>
            <a:r>
              <a:rPr lang="en-GB" sz="1600" b="1" dirty="0"/>
              <a:t>1. Audit Trails</a:t>
            </a:r>
          </a:p>
          <a:p>
            <a:r>
              <a:rPr lang="en-GB" sz="1600" dirty="0"/>
              <a:t>What: Logging each decision the AI makes and the data it used.</a:t>
            </a:r>
          </a:p>
          <a:p>
            <a:r>
              <a:rPr lang="en-GB" sz="1600" dirty="0"/>
              <a:t>Why: Enables post-incident analysis and compliance checks.</a:t>
            </a:r>
          </a:p>
          <a:p>
            <a:r>
              <a:rPr lang="en-GB" sz="1600" dirty="0"/>
              <a:t>Example: If a patient is denied care, logs can show why the AI decided so.</a:t>
            </a:r>
          </a:p>
          <a:p>
            <a:pPr>
              <a:buNone/>
            </a:pPr>
            <a:r>
              <a:rPr lang="en-GB" sz="1600" b="1" dirty="0"/>
              <a:t>2. Human-in-the-Loop (HITL)</a:t>
            </a:r>
          </a:p>
          <a:p>
            <a:r>
              <a:rPr lang="en-GB" sz="1600" dirty="0"/>
              <a:t>What: Human oversight on critical decisions (especially life-altering or high-risk ones).</a:t>
            </a:r>
          </a:p>
          <a:p>
            <a:r>
              <a:rPr lang="en-GB" sz="1600" dirty="0"/>
              <a:t>Example: An AI recommends surgery, but the final decision is reviewed by a doctor.</a:t>
            </a:r>
          </a:p>
          <a:p>
            <a:pPr>
              <a:buNone/>
            </a:pPr>
            <a:r>
              <a:rPr lang="en-GB" sz="1600" b="1" dirty="0"/>
              <a:t>3. Explainability Tools</a:t>
            </a:r>
          </a:p>
          <a:p>
            <a:r>
              <a:rPr lang="en-GB" sz="1600" b="1" dirty="0"/>
              <a:t>Tools</a:t>
            </a:r>
            <a:r>
              <a:rPr lang="en-GB" sz="1600" dirty="0"/>
              <a:t>:</a:t>
            </a:r>
          </a:p>
          <a:p>
            <a:pPr marL="457200" lvl="1"/>
            <a:r>
              <a:rPr lang="en-GB" sz="1600" b="1" dirty="0"/>
              <a:t>SHAP (</a:t>
            </a:r>
            <a:r>
              <a:rPr lang="en-GB" sz="1600" b="1" dirty="0" err="1"/>
              <a:t>SHapley</a:t>
            </a:r>
            <a:r>
              <a:rPr lang="en-GB" sz="1600" b="1" dirty="0"/>
              <a:t> Additive </a:t>
            </a:r>
            <a:r>
              <a:rPr lang="en-GB" sz="1600" b="1" dirty="0" err="1"/>
              <a:t>exPlanations</a:t>
            </a:r>
            <a:r>
              <a:rPr lang="en-GB" sz="1600" b="1" dirty="0"/>
              <a:t>)</a:t>
            </a:r>
            <a:r>
              <a:rPr lang="en-GB" sz="1600" dirty="0"/>
              <a:t> – Shows feature contribution to decisions.</a:t>
            </a:r>
          </a:p>
          <a:p>
            <a:pPr marL="457200" lvl="1"/>
            <a:r>
              <a:rPr lang="en-GB" sz="1600" b="1" dirty="0"/>
              <a:t>LIME (Local Interpretable Model-agnostic Explanations)</a:t>
            </a:r>
            <a:r>
              <a:rPr lang="en-GB" sz="1600" dirty="0"/>
              <a:t> – Explains predictions locally.</a:t>
            </a:r>
          </a:p>
          <a:p>
            <a:r>
              <a:rPr lang="en-GB" sz="1600" dirty="0"/>
              <a:t>Why: Helps justify and audit decisions, important for legal </a:t>
            </a:r>
            <a:r>
              <a:rPr lang="en-GB" sz="1600" dirty="0" err="1"/>
              <a:t>defense</a:t>
            </a:r>
            <a:r>
              <a:rPr lang="en-GB" sz="1600" dirty="0"/>
              <a:t> and public trust.</a:t>
            </a:r>
          </a:p>
          <a:p>
            <a:pPr>
              <a:buNone/>
            </a:pPr>
            <a:endParaRPr lang="en-GB" sz="1600" dirty="0"/>
          </a:p>
          <a:p>
            <a:pPr>
              <a:buNone/>
            </a:pPr>
            <a:endParaRPr lang="en-GB" sz="1600" dirty="0"/>
          </a:p>
        </p:txBody>
      </p:sp>
    </p:spTree>
    <p:extLst>
      <p:ext uri="{BB962C8B-B14F-4D97-AF65-F5344CB8AC3E}">
        <p14:creationId xmlns:p14="http://schemas.microsoft.com/office/powerpoint/2010/main" val="1202854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F3D8AE5C-B742-776F-BF30-3EB81DB62B8F}"/>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E9472D0F-6E65-BE83-7679-15BD246CCF9E}"/>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549BB57C-E57F-8D65-5043-61A91E7EAAE8}"/>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Accountability Mechanisms in AI Systems</a:t>
            </a:r>
            <a:br>
              <a:rPr lang="en-GB" sz="2400" b="1" dirty="0"/>
            </a:br>
            <a:br>
              <a:rPr lang="en-GB" sz="2400" b="1" dirty="0"/>
            </a:b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7B7737DA-FD05-315A-67D6-2185E9A07E58}"/>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5646B18-9D32-7B7B-31DC-47AC814B1C66}"/>
              </a:ext>
            </a:extLst>
          </p:cNvPr>
          <p:cNvSpPr txBox="1"/>
          <p:nvPr/>
        </p:nvSpPr>
        <p:spPr>
          <a:xfrm>
            <a:off x="569228" y="889985"/>
            <a:ext cx="8308324" cy="1077218"/>
          </a:xfrm>
          <a:prstGeom prst="rect">
            <a:avLst/>
          </a:prstGeom>
          <a:noFill/>
        </p:spPr>
        <p:txBody>
          <a:bodyPr wrap="square">
            <a:spAutoFit/>
          </a:bodyPr>
          <a:lstStyle/>
          <a:p>
            <a:pPr>
              <a:buNone/>
            </a:pPr>
            <a:r>
              <a:rPr lang="en-GB" sz="1600" dirty="0"/>
              <a:t>As AI becomes more autonomous, shared responsibility between developers, deployers, and regulators becomes essential. Clear documentation, transparent models, and human oversight are key pillars of AI accountability.</a:t>
            </a:r>
          </a:p>
          <a:p>
            <a:pPr>
              <a:buNone/>
            </a:pPr>
            <a:endParaRPr lang="en-GB" sz="1600" dirty="0"/>
          </a:p>
        </p:txBody>
      </p:sp>
      <p:graphicFrame>
        <p:nvGraphicFramePr>
          <p:cNvPr id="3" name="Table 2">
            <a:extLst>
              <a:ext uri="{FF2B5EF4-FFF2-40B4-BE49-F238E27FC236}">
                <a16:creationId xmlns:a16="http://schemas.microsoft.com/office/drawing/2014/main" id="{6211C9A4-507C-8745-5B1C-76E04F4A234A}"/>
              </a:ext>
            </a:extLst>
          </p:cNvPr>
          <p:cNvGraphicFramePr>
            <a:graphicFrameLocks noGrp="1"/>
          </p:cNvGraphicFramePr>
          <p:nvPr>
            <p:extLst>
              <p:ext uri="{D42A27DB-BD31-4B8C-83A1-F6EECF244321}">
                <p14:modId xmlns:p14="http://schemas.microsoft.com/office/powerpoint/2010/main" val="1724504970"/>
              </p:ext>
            </p:extLst>
          </p:nvPr>
        </p:nvGraphicFramePr>
        <p:xfrm>
          <a:off x="311150" y="2144395"/>
          <a:ext cx="8521701" cy="14325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3262150723"/>
                    </a:ext>
                  </a:extLst>
                </a:gridCol>
                <a:gridCol w="2840567">
                  <a:extLst>
                    <a:ext uri="{9D8B030D-6E8A-4147-A177-3AD203B41FA5}">
                      <a16:colId xmlns:a16="http://schemas.microsoft.com/office/drawing/2014/main" val="4235284849"/>
                    </a:ext>
                  </a:extLst>
                </a:gridCol>
                <a:gridCol w="2840567">
                  <a:extLst>
                    <a:ext uri="{9D8B030D-6E8A-4147-A177-3AD203B41FA5}">
                      <a16:colId xmlns:a16="http://schemas.microsoft.com/office/drawing/2014/main" val="717744449"/>
                    </a:ext>
                  </a:extLst>
                </a:gridCol>
              </a:tblGrid>
              <a:tr h="304800">
                <a:tc>
                  <a:txBody>
                    <a:bodyPr/>
                    <a:lstStyle/>
                    <a:p>
                      <a:r>
                        <a:rPr lang="en-GB" sz="1400" b="1"/>
                        <a:t>Failure Type</a:t>
                      </a:r>
                      <a:endParaRPr lang="en-GB" sz="1400"/>
                    </a:p>
                  </a:txBody>
                  <a:tcPr anchor="ctr"/>
                </a:tc>
                <a:tc>
                  <a:txBody>
                    <a:bodyPr/>
                    <a:lstStyle/>
                    <a:p>
                      <a:r>
                        <a:rPr lang="en-GB" sz="1400" b="1"/>
                        <a:t>Liability Pathway</a:t>
                      </a:r>
                      <a:endParaRPr lang="en-GB" sz="1400"/>
                    </a:p>
                  </a:txBody>
                  <a:tcPr anchor="ctr"/>
                </a:tc>
                <a:tc>
                  <a:txBody>
                    <a:bodyPr/>
                    <a:lstStyle/>
                    <a:p>
                      <a:r>
                        <a:rPr lang="en-GB" sz="1400" b="1"/>
                        <a:t>Mitigation Mechanism</a:t>
                      </a:r>
                      <a:endParaRPr lang="en-GB" sz="1400"/>
                    </a:p>
                  </a:txBody>
                  <a:tcPr anchor="ctr"/>
                </a:tc>
                <a:extLst>
                  <a:ext uri="{0D108BD9-81ED-4DB2-BD59-A6C34878D82A}">
                    <a16:rowId xmlns:a16="http://schemas.microsoft.com/office/drawing/2014/main" val="302639471"/>
                  </a:ext>
                </a:extLst>
              </a:tr>
              <a:tr h="304800">
                <a:tc>
                  <a:txBody>
                    <a:bodyPr/>
                    <a:lstStyle/>
                    <a:p>
                      <a:r>
                        <a:rPr lang="en-GB" sz="1400"/>
                        <a:t>AI misdiagnosis</a:t>
                      </a:r>
                    </a:p>
                  </a:txBody>
                  <a:tcPr anchor="ctr"/>
                </a:tc>
                <a:tc>
                  <a:txBody>
                    <a:bodyPr/>
                    <a:lstStyle/>
                    <a:p>
                      <a:r>
                        <a:rPr lang="en-GB" sz="1400"/>
                        <a:t>Negligence / Product Liability</a:t>
                      </a:r>
                    </a:p>
                  </a:txBody>
                  <a:tcPr anchor="ctr"/>
                </a:tc>
                <a:tc>
                  <a:txBody>
                    <a:bodyPr/>
                    <a:lstStyle/>
                    <a:p>
                      <a:r>
                        <a:rPr lang="en-GB" sz="1400"/>
                        <a:t>Audit logs, Explainability, HITL</a:t>
                      </a:r>
                    </a:p>
                  </a:txBody>
                  <a:tcPr anchor="ctr"/>
                </a:tc>
                <a:extLst>
                  <a:ext uri="{0D108BD9-81ED-4DB2-BD59-A6C34878D82A}">
                    <a16:rowId xmlns:a16="http://schemas.microsoft.com/office/drawing/2014/main" val="3182650480"/>
                  </a:ext>
                </a:extLst>
              </a:tr>
              <a:tr h="518160">
                <a:tc>
                  <a:txBody>
                    <a:bodyPr/>
                    <a:lstStyle/>
                    <a:p>
                      <a:r>
                        <a:rPr lang="en-GB" sz="1400"/>
                        <a:t>Self-driving crash</a:t>
                      </a:r>
                    </a:p>
                  </a:txBody>
                  <a:tcPr anchor="ctr"/>
                </a:tc>
                <a:tc>
                  <a:txBody>
                    <a:bodyPr/>
                    <a:lstStyle/>
                    <a:p>
                      <a:r>
                        <a:rPr lang="en-GB" sz="1400"/>
                        <a:t>Strict Liability / Manufacturer Fault</a:t>
                      </a:r>
                    </a:p>
                  </a:txBody>
                  <a:tcPr anchor="ctr"/>
                </a:tc>
                <a:tc>
                  <a:txBody>
                    <a:bodyPr/>
                    <a:lstStyle/>
                    <a:p>
                      <a:r>
                        <a:rPr lang="en-GB" sz="1400"/>
                        <a:t>Black boxes, Sensor audits, Human override</a:t>
                      </a:r>
                    </a:p>
                  </a:txBody>
                  <a:tcPr anchor="ctr"/>
                </a:tc>
                <a:extLst>
                  <a:ext uri="{0D108BD9-81ED-4DB2-BD59-A6C34878D82A}">
                    <a16:rowId xmlns:a16="http://schemas.microsoft.com/office/drawing/2014/main" val="1314954840"/>
                  </a:ext>
                </a:extLst>
              </a:tr>
              <a:tr h="304800">
                <a:tc>
                  <a:txBody>
                    <a:bodyPr/>
                    <a:lstStyle/>
                    <a:p>
                      <a:r>
                        <a:rPr lang="en-GB" sz="1400"/>
                        <a:t>Algorithmic discrimination</a:t>
                      </a:r>
                    </a:p>
                  </a:txBody>
                  <a:tcPr anchor="ctr"/>
                </a:tc>
                <a:tc>
                  <a:txBody>
                    <a:bodyPr/>
                    <a:lstStyle/>
                    <a:p>
                      <a:r>
                        <a:rPr lang="en-GB" sz="1400"/>
                        <a:t>Company &amp; Vendor negligence</a:t>
                      </a:r>
                    </a:p>
                  </a:txBody>
                  <a:tcPr anchor="ctr"/>
                </a:tc>
                <a:tc>
                  <a:txBody>
                    <a:bodyPr/>
                    <a:lstStyle/>
                    <a:p>
                      <a:r>
                        <a:rPr lang="en-GB" sz="1400" dirty="0"/>
                        <a:t>Bias audits, Transparency tools</a:t>
                      </a:r>
                    </a:p>
                  </a:txBody>
                  <a:tcPr anchor="ctr"/>
                </a:tc>
                <a:extLst>
                  <a:ext uri="{0D108BD9-81ED-4DB2-BD59-A6C34878D82A}">
                    <a16:rowId xmlns:a16="http://schemas.microsoft.com/office/drawing/2014/main" val="3491699015"/>
                  </a:ext>
                </a:extLst>
              </a:tr>
            </a:tbl>
          </a:graphicData>
        </a:graphic>
      </p:graphicFrame>
    </p:spTree>
    <p:extLst>
      <p:ext uri="{BB962C8B-B14F-4D97-AF65-F5344CB8AC3E}">
        <p14:creationId xmlns:p14="http://schemas.microsoft.com/office/powerpoint/2010/main" val="900896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C150F4ED-B042-B34B-CE9F-EA3F113B7252}"/>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D65606D8-C862-915B-4834-BD7E6AC61A58}"/>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BDD102DF-579D-B82D-E3DA-C574CDCA9041}"/>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Key Global AI Regulations</a:t>
            </a:r>
            <a:br>
              <a:rPr lang="en-GB" sz="2400" b="1" dirty="0"/>
            </a:br>
            <a:br>
              <a:rPr lang="en-GB" sz="2400" b="1" dirty="0"/>
            </a:br>
            <a:br>
              <a:rPr lang="en-GB" sz="2400" b="1" dirty="0"/>
            </a:b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EEA0A6CD-15FA-9D98-EDCD-94AA0D32362F}"/>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91596052-842B-31D3-D963-64BCFCC91075}"/>
              </a:ext>
            </a:extLst>
          </p:cNvPr>
          <p:cNvSpPr txBox="1"/>
          <p:nvPr/>
        </p:nvSpPr>
        <p:spPr>
          <a:xfrm>
            <a:off x="224057" y="689466"/>
            <a:ext cx="8259879" cy="738664"/>
          </a:xfrm>
          <a:prstGeom prst="rect">
            <a:avLst/>
          </a:prstGeom>
          <a:noFill/>
        </p:spPr>
        <p:txBody>
          <a:bodyPr wrap="square">
            <a:spAutoFit/>
          </a:bodyPr>
          <a:lstStyle/>
          <a:p>
            <a:r>
              <a:rPr lang="en-GB" dirty="0"/>
              <a:t>As AI becomes integrated into critical sectors like healthcare, finance, and transportation, governments are establishing regulations to protect citizens' rights, promote fairness, and reduce risks. Below is an overview of major global and industry-specific regulations.</a:t>
            </a:r>
          </a:p>
        </p:txBody>
      </p:sp>
      <p:graphicFrame>
        <p:nvGraphicFramePr>
          <p:cNvPr id="7" name="Table 6">
            <a:extLst>
              <a:ext uri="{FF2B5EF4-FFF2-40B4-BE49-F238E27FC236}">
                <a16:creationId xmlns:a16="http://schemas.microsoft.com/office/drawing/2014/main" id="{A326B50D-31A2-5C73-209D-C0611E74409F}"/>
              </a:ext>
            </a:extLst>
          </p:cNvPr>
          <p:cNvGraphicFramePr>
            <a:graphicFrameLocks noGrp="1"/>
          </p:cNvGraphicFramePr>
          <p:nvPr>
            <p:extLst>
              <p:ext uri="{D42A27DB-BD31-4B8C-83A1-F6EECF244321}">
                <p14:modId xmlns:p14="http://schemas.microsoft.com/office/powerpoint/2010/main" val="3451691442"/>
              </p:ext>
            </p:extLst>
          </p:nvPr>
        </p:nvGraphicFramePr>
        <p:xfrm>
          <a:off x="484537" y="1546051"/>
          <a:ext cx="6970029" cy="3470228"/>
        </p:xfrm>
        <a:graphic>
          <a:graphicData uri="http://schemas.openxmlformats.org/drawingml/2006/table">
            <a:tbl>
              <a:tblPr>
                <a:tableStyleId>{35758FB7-9AC5-4552-8A53-C91805E547FA}</a:tableStyleId>
              </a:tblPr>
              <a:tblGrid>
                <a:gridCol w="2323343">
                  <a:extLst>
                    <a:ext uri="{9D8B030D-6E8A-4147-A177-3AD203B41FA5}">
                      <a16:colId xmlns:a16="http://schemas.microsoft.com/office/drawing/2014/main" val="1759280269"/>
                    </a:ext>
                  </a:extLst>
                </a:gridCol>
                <a:gridCol w="2323343">
                  <a:extLst>
                    <a:ext uri="{9D8B030D-6E8A-4147-A177-3AD203B41FA5}">
                      <a16:colId xmlns:a16="http://schemas.microsoft.com/office/drawing/2014/main" val="397504554"/>
                    </a:ext>
                  </a:extLst>
                </a:gridCol>
                <a:gridCol w="2323343">
                  <a:extLst>
                    <a:ext uri="{9D8B030D-6E8A-4147-A177-3AD203B41FA5}">
                      <a16:colId xmlns:a16="http://schemas.microsoft.com/office/drawing/2014/main" val="2357083241"/>
                    </a:ext>
                  </a:extLst>
                </a:gridCol>
              </a:tblGrid>
              <a:tr h="273155">
                <a:tc>
                  <a:txBody>
                    <a:bodyPr/>
                    <a:lstStyle/>
                    <a:p>
                      <a:r>
                        <a:rPr lang="en-GB" sz="1200" b="1"/>
                        <a:t>Regulation</a:t>
                      </a:r>
                      <a:endParaRPr lang="en-GB" sz="1200"/>
                    </a:p>
                  </a:txBody>
                  <a:tcPr anchor="ctr"/>
                </a:tc>
                <a:tc>
                  <a:txBody>
                    <a:bodyPr/>
                    <a:lstStyle/>
                    <a:p>
                      <a:r>
                        <a:rPr lang="en-GB" sz="1200" b="1"/>
                        <a:t>Scope</a:t>
                      </a:r>
                      <a:endParaRPr lang="en-GB" sz="1200"/>
                    </a:p>
                  </a:txBody>
                  <a:tcPr anchor="ctr"/>
                </a:tc>
                <a:tc>
                  <a:txBody>
                    <a:bodyPr/>
                    <a:lstStyle/>
                    <a:p>
                      <a:r>
                        <a:rPr lang="en-GB" sz="1200" b="1"/>
                        <a:t>Key Requirements</a:t>
                      </a:r>
                      <a:endParaRPr lang="en-GB" sz="1200"/>
                    </a:p>
                  </a:txBody>
                  <a:tcPr anchor="ctr"/>
                </a:tc>
                <a:extLst>
                  <a:ext uri="{0D108BD9-81ED-4DB2-BD59-A6C34878D82A}">
                    <a16:rowId xmlns:a16="http://schemas.microsoft.com/office/drawing/2014/main" val="4268791483"/>
                  </a:ext>
                </a:extLst>
              </a:tr>
              <a:tr h="846779">
                <a:tc>
                  <a:txBody>
                    <a:bodyPr/>
                    <a:lstStyle/>
                    <a:p>
                      <a:r>
                        <a:rPr lang="en-GB" sz="1200" b="1"/>
                        <a:t>EU AI Act (2024)</a:t>
                      </a:r>
                      <a:endParaRPr lang="en-GB" sz="1200"/>
                    </a:p>
                  </a:txBody>
                  <a:tcPr anchor="ctr"/>
                </a:tc>
                <a:tc>
                  <a:txBody>
                    <a:bodyPr/>
                    <a:lstStyle/>
                    <a:p>
                      <a:r>
                        <a:rPr lang="en-GB" sz="1200" dirty="0"/>
                        <a:t>Risk-based regulation</a:t>
                      </a:r>
                    </a:p>
                  </a:txBody>
                  <a:tcPr anchor="ctr"/>
                </a:tc>
                <a:tc>
                  <a:txBody>
                    <a:bodyPr/>
                    <a:lstStyle/>
                    <a:p>
                      <a:r>
                        <a:rPr lang="en-GB" sz="1200"/>
                        <a:t>Bans harmful AI (e.g., </a:t>
                      </a:r>
                      <a:r>
                        <a:rPr lang="en-GB" sz="1200" b="1"/>
                        <a:t>social scoring</a:t>
                      </a:r>
                      <a:r>
                        <a:rPr lang="en-GB" sz="1200"/>
                        <a:t>); strict rules for </a:t>
                      </a:r>
                      <a:r>
                        <a:rPr lang="en-GB" sz="1200" b="1"/>
                        <a:t>high-risk AI systems</a:t>
                      </a:r>
                      <a:endParaRPr lang="en-GB" sz="1200"/>
                    </a:p>
                  </a:txBody>
                  <a:tcPr anchor="ctr"/>
                </a:tc>
                <a:extLst>
                  <a:ext uri="{0D108BD9-81ED-4DB2-BD59-A6C34878D82A}">
                    <a16:rowId xmlns:a16="http://schemas.microsoft.com/office/drawing/2014/main" val="357446628"/>
                  </a:ext>
                </a:extLst>
              </a:tr>
              <a:tr h="846779">
                <a:tc>
                  <a:txBody>
                    <a:bodyPr/>
                    <a:lstStyle/>
                    <a:p>
                      <a:r>
                        <a:rPr lang="en-GB" sz="1200" b="1"/>
                        <a:t>GDPR (EU, 2018)</a:t>
                      </a:r>
                      <a:endParaRPr lang="en-GB" sz="1200"/>
                    </a:p>
                  </a:txBody>
                  <a:tcPr anchor="ctr"/>
                </a:tc>
                <a:tc>
                  <a:txBody>
                    <a:bodyPr/>
                    <a:lstStyle/>
                    <a:p>
                      <a:r>
                        <a:rPr lang="en-GB" sz="1200"/>
                        <a:t>Data protection</a:t>
                      </a:r>
                    </a:p>
                  </a:txBody>
                  <a:tcPr anchor="ctr"/>
                </a:tc>
                <a:tc>
                  <a:txBody>
                    <a:bodyPr/>
                    <a:lstStyle/>
                    <a:p>
                      <a:r>
                        <a:rPr lang="en-GB" sz="1200" b="1" dirty="0"/>
                        <a:t>Right to explanation</a:t>
                      </a:r>
                      <a:r>
                        <a:rPr lang="en-GB" sz="1200" dirty="0"/>
                        <a:t>, </a:t>
                      </a:r>
                      <a:r>
                        <a:rPr lang="en-GB" sz="1200" b="1" dirty="0"/>
                        <a:t>data minimization</a:t>
                      </a:r>
                      <a:r>
                        <a:rPr lang="en-GB" sz="1200" dirty="0"/>
                        <a:t>, </a:t>
                      </a:r>
                      <a:r>
                        <a:rPr lang="en-GB" sz="1200" b="1" dirty="0"/>
                        <a:t>consent for automated processing</a:t>
                      </a:r>
                      <a:endParaRPr lang="en-GB" sz="1200" dirty="0"/>
                    </a:p>
                  </a:txBody>
                  <a:tcPr anchor="ctr"/>
                </a:tc>
                <a:extLst>
                  <a:ext uri="{0D108BD9-81ED-4DB2-BD59-A6C34878D82A}">
                    <a16:rowId xmlns:a16="http://schemas.microsoft.com/office/drawing/2014/main" val="2622850603"/>
                  </a:ext>
                </a:extLst>
              </a:tr>
              <a:tr h="846779">
                <a:tc>
                  <a:txBody>
                    <a:bodyPr/>
                    <a:lstStyle/>
                    <a:p>
                      <a:r>
                        <a:rPr lang="en-GB" sz="1200" b="1"/>
                        <a:t>Algorithmic Accountability Act</a:t>
                      </a:r>
                      <a:r>
                        <a:rPr lang="en-GB" sz="1200"/>
                        <a:t> (US, Proposed)</a:t>
                      </a:r>
                    </a:p>
                  </a:txBody>
                  <a:tcPr anchor="ctr"/>
                </a:tc>
                <a:tc>
                  <a:txBody>
                    <a:bodyPr/>
                    <a:lstStyle/>
                    <a:p>
                      <a:r>
                        <a:rPr lang="en-GB" sz="1200"/>
                        <a:t>Bias audits</a:t>
                      </a:r>
                    </a:p>
                  </a:txBody>
                  <a:tcPr anchor="ctr"/>
                </a:tc>
                <a:tc>
                  <a:txBody>
                    <a:bodyPr/>
                    <a:lstStyle/>
                    <a:p>
                      <a:r>
                        <a:rPr lang="en-GB" sz="1200"/>
                        <a:t>Requires </a:t>
                      </a:r>
                      <a:r>
                        <a:rPr lang="en-GB" sz="1200" b="1"/>
                        <a:t>impact assessments</a:t>
                      </a:r>
                      <a:r>
                        <a:rPr lang="en-GB" sz="1200"/>
                        <a:t> for AI &amp; </a:t>
                      </a:r>
                      <a:r>
                        <a:rPr lang="en-GB" sz="1200" b="1"/>
                        <a:t>automated decision systems</a:t>
                      </a:r>
                      <a:endParaRPr lang="en-GB" sz="1200"/>
                    </a:p>
                  </a:txBody>
                  <a:tcPr anchor="ctr"/>
                </a:tc>
                <a:extLst>
                  <a:ext uri="{0D108BD9-81ED-4DB2-BD59-A6C34878D82A}">
                    <a16:rowId xmlns:a16="http://schemas.microsoft.com/office/drawing/2014/main" val="78848356"/>
                  </a:ext>
                </a:extLst>
              </a:tr>
              <a:tr h="655571">
                <a:tc>
                  <a:txBody>
                    <a:bodyPr/>
                    <a:lstStyle/>
                    <a:p>
                      <a:r>
                        <a:rPr lang="en-GB" sz="1200" b="1"/>
                        <a:t>China’s AI Regulations</a:t>
                      </a:r>
                      <a:endParaRPr lang="en-GB" sz="1200"/>
                    </a:p>
                  </a:txBody>
                  <a:tcPr anchor="ctr"/>
                </a:tc>
                <a:tc>
                  <a:txBody>
                    <a:bodyPr/>
                    <a:lstStyle/>
                    <a:p>
                      <a:r>
                        <a:rPr lang="en-GB" sz="1200"/>
                        <a:t>Algorithmic transparency</a:t>
                      </a:r>
                    </a:p>
                  </a:txBody>
                  <a:tcPr anchor="ctr"/>
                </a:tc>
                <a:tc>
                  <a:txBody>
                    <a:bodyPr/>
                    <a:lstStyle/>
                    <a:p>
                      <a:r>
                        <a:rPr lang="en-GB" sz="1200" dirty="0"/>
                        <a:t>Requires </a:t>
                      </a:r>
                      <a:r>
                        <a:rPr lang="en-GB" sz="1200" b="1" dirty="0"/>
                        <a:t>disclosure of decision-making logic</a:t>
                      </a:r>
                      <a:r>
                        <a:rPr lang="en-GB" sz="1200" dirty="0"/>
                        <a:t> in some AI systems</a:t>
                      </a:r>
                    </a:p>
                  </a:txBody>
                  <a:tcPr anchor="ctr"/>
                </a:tc>
                <a:extLst>
                  <a:ext uri="{0D108BD9-81ED-4DB2-BD59-A6C34878D82A}">
                    <a16:rowId xmlns:a16="http://schemas.microsoft.com/office/drawing/2014/main" val="3857095549"/>
                  </a:ext>
                </a:extLst>
              </a:tr>
            </a:tbl>
          </a:graphicData>
        </a:graphic>
      </p:graphicFrame>
    </p:spTree>
    <p:extLst>
      <p:ext uri="{BB962C8B-B14F-4D97-AF65-F5344CB8AC3E}">
        <p14:creationId xmlns:p14="http://schemas.microsoft.com/office/powerpoint/2010/main" val="3098216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6A604543-BB14-35C8-57AD-92A058E52010}"/>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9EA3ADB8-3EB8-F14D-93A1-5CE8130F0FCE}"/>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976E23D8-3B84-385E-BEE5-322EACCCA8A3}"/>
              </a:ext>
            </a:extLst>
          </p:cNvPr>
          <p:cNvSpPr txBox="1">
            <a:spLocks noGrp="1"/>
          </p:cNvSpPr>
          <p:nvPr>
            <p:ph type="title"/>
          </p:nvPr>
        </p:nvSpPr>
        <p:spPr>
          <a:xfrm>
            <a:off x="137160" y="122160"/>
            <a:ext cx="6784424" cy="494528"/>
          </a:xfrm>
          <a:prstGeom prst="rect">
            <a:avLst/>
          </a:prstGeom>
          <a:noFill/>
          <a:ln>
            <a:noFill/>
          </a:ln>
        </p:spPr>
        <p:txBody>
          <a:bodyPr spcFirstLastPara="1" wrap="square" lIns="91425" tIns="91425" rIns="91425" bIns="91425" anchor="t" anchorCtr="0">
            <a:noAutofit/>
          </a:bodyPr>
          <a:lstStyle/>
          <a:p>
            <a:r>
              <a:rPr lang="en-GB" sz="2400" b="1" dirty="0"/>
              <a:t>Industry-Specific AI Regulations</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8716957C-AB34-2CAB-BE72-3EE9363145B0}"/>
              </a:ext>
            </a:extLst>
          </p:cNvPr>
          <p:cNvSpPr txBox="1"/>
          <p:nvPr/>
        </p:nvSpPr>
        <p:spPr>
          <a:xfrm>
            <a:off x="3730321" y="133264"/>
            <a:ext cx="184731" cy="307777"/>
          </a:xfrm>
          <a:prstGeom prst="rect">
            <a:avLst/>
          </a:prstGeom>
          <a:noFill/>
        </p:spPr>
        <p:txBody>
          <a:bodyPr wrap="none" rtlCol="0">
            <a:spAutoFit/>
          </a:bodyPr>
          <a:lstStyle/>
          <a:p>
            <a:endParaRPr lang="en-US" dirty="0"/>
          </a:p>
        </p:txBody>
      </p:sp>
      <p:graphicFrame>
        <p:nvGraphicFramePr>
          <p:cNvPr id="3" name="Table 2">
            <a:extLst>
              <a:ext uri="{FF2B5EF4-FFF2-40B4-BE49-F238E27FC236}">
                <a16:creationId xmlns:a16="http://schemas.microsoft.com/office/drawing/2014/main" id="{478C7EB6-8147-958C-10DB-F49EDDE51D30}"/>
              </a:ext>
            </a:extLst>
          </p:cNvPr>
          <p:cNvGraphicFramePr>
            <a:graphicFrameLocks noGrp="1"/>
          </p:cNvGraphicFramePr>
          <p:nvPr>
            <p:extLst>
              <p:ext uri="{D42A27DB-BD31-4B8C-83A1-F6EECF244321}">
                <p14:modId xmlns:p14="http://schemas.microsoft.com/office/powerpoint/2010/main" val="1577996385"/>
              </p:ext>
            </p:extLst>
          </p:nvPr>
        </p:nvGraphicFramePr>
        <p:xfrm>
          <a:off x="224057" y="1783896"/>
          <a:ext cx="8521701" cy="185928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3956822803"/>
                    </a:ext>
                  </a:extLst>
                </a:gridCol>
                <a:gridCol w="2840567">
                  <a:extLst>
                    <a:ext uri="{9D8B030D-6E8A-4147-A177-3AD203B41FA5}">
                      <a16:colId xmlns:a16="http://schemas.microsoft.com/office/drawing/2014/main" val="3796618822"/>
                    </a:ext>
                  </a:extLst>
                </a:gridCol>
                <a:gridCol w="2840567">
                  <a:extLst>
                    <a:ext uri="{9D8B030D-6E8A-4147-A177-3AD203B41FA5}">
                      <a16:colId xmlns:a16="http://schemas.microsoft.com/office/drawing/2014/main" val="4184444879"/>
                    </a:ext>
                  </a:extLst>
                </a:gridCol>
              </a:tblGrid>
              <a:tr h="304800">
                <a:tc>
                  <a:txBody>
                    <a:bodyPr/>
                    <a:lstStyle/>
                    <a:p>
                      <a:r>
                        <a:rPr lang="en-GB" sz="1400" b="1" dirty="0"/>
                        <a:t>Industry</a:t>
                      </a:r>
                      <a:endParaRPr lang="en-GB" sz="1400" dirty="0"/>
                    </a:p>
                  </a:txBody>
                  <a:tcPr anchor="ctr"/>
                </a:tc>
                <a:tc>
                  <a:txBody>
                    <a:bodyPr/>
                    <a:lstStyle/>
                    <a:p>
                      <a:r>
                        <a:rPr lang="en-GB" sz="1400" b="1"/>
                        <a:t>Regulation</a:t>
                      </a:r>
                      <a:endParaRPr lang="en-GB" sz="1400"/>
                    </a:p>
                  </a:txBody>
                  <a:tcPr anchor="ctr"/>
                </a:tc>
                <a:tc>
                  <a:txBody>
                    <a:bodyPr/>
                    <a:lstStyle/>
                    <a:p>
                      <a:r>
                        <a:rPr lang="en-GB" sz="1400" b="1"/>
                        <a:t>Focus</a:t>
                      </a:r>
                      <a:endParaRPr lang="en-GB" sz="1400"/>
                    </a:p>
                  </a:txBody>
                  <a:tcPr anchor="ctr"/>
                </a:tc>
                <a:extLst>
                  <a:ext uri="{0D108BD9-81ED-4DB2-BD59-A6C34878D82A}">
                    <a16:rowId xmlns:a16="http://schemas.microsoft.com/office/drawing/2014/main" val="3427411059"/>
                  </a:ext>
                </a:extLst>
              </a:tr>
              <a:tr h="518160">
                <a:tc>
                  <a:txBody>
                    <a:bodyPr/>
                    <a:lstStyle/>
                    <a:p>
                      <a:r>
                        <a:rPr lang="en-GB" sz="1400" b="1"/>
                        <a:t>Healthcare</a:t>
                      </a:r>
                      <a:endParaRPr lang="en-GB" sz="1400"/>
                    </a:p>
                  </a:txBody>
                  <a:tcPr anchor="ctr"/>
                </a:tc>
                <a:tc>
                  <a:txBody>
                    <a:bodyPr/>
                    <a:lstStyle/>
                    <a:p>
                      <a:r>
                        <a:rPr lang="en-GB" sz="1400"/>
                        <a:t>FDA AI/ML Software as a Medical Device</a:t>
                      </a:r>
                    </a:p>
                  </a:txBody>
                  <a:tcPr anchor="ctr"/>
                </a:tc>
                <a:tc>
                  <a:txBody>
                    <a:bodyPr/>
                    <a:lstStyle/>
                    <a:p>
                      <a:r>
                        <a:rPr lang="en-GB" sz="1400"/>
                        <a:t>Requires </a:t>
                      </a:r>
                      <a:r>
                        <a:rPr lang="en-GB" sz="1400" b="1"/>
                        <a:t>validation</a:t>
                      </a:r>
                      <a:r>
                        <a:rPr lang="en-GB" sz="1400"/>
                        <a:t>, </a:t>
                      </a:r>
                      <a:r>
                        <a:rPr lang="en-GB" sz="1400" b="1"/>
                        <a:t>monitoring</a:t>
                      </a:r>
                      <a:r>
                        <a:rPr lang="en-GB" sz="1400"/>
                        <a:t>, and </a:t>
                      </a:r>
                      <a:r>
                        <a:rPr lang="en-GB" sz="1400" b="1"/>
                        <a:t>post-market updates</a:t>
                      </a:r>
                      <a:endParaRPr lang="en-GB" sz="1400"/>
                    </a:p>
                  </a:txBody>
                  <a:tcPr anchor="ctr"/>
                </a:tc>
                <a:extLst>
                  <a:ext uri="{0D108BD9-81ED-4DB2-BD59-A6C34878D82A}">
                    <a16:rowId xmlns:a16="http://schemas.microsoft.com/office/drawing/2014/main" val="911478445"/>
                  </a:ext>
                </a:extLst>
              </a:tr>
              <a:tr h="518160">
                <a:tc>
                  <a:txBody>
                    <a:bodyPr/>
                    <a:lstStyle/>
                    <a:p>
                      <a:r>
                        <a:rPr lang="en-GB" sz="1400" b="1" dirty="0"/>
                        <a:t>Finance</a:t>
                      </a:r>
                      <a:endParaRPr lang="en-GB" sz="1400" dirty="0"/>
                    </a:p>
                  </a:txBody>
                  <a:tcPr anchor="ctr"/>
                </a:tc>
                <a:tc>
                  <a:txBody>
                    <a:bodyPr/>
                    <a:lstStyle/>
                    <a:p>
                      <a:r>
                        <a:rPr lang="en-GB" sz="1400"/>
                        <a:t>FRB / EU AI in Finance Guidelines</a:t>
                      </a:r>
                    </a:p>
                  </a:txBody>
                  <a:tcPr anchor="ctr"/>
                </a:tc>
                <a:tc>
                  <a:txBody>
                    <a:bodyPr/>
                    <a:lstStyle/>
                    <a:p>
                      <a:r>
                        <a:rPr lang="en-GB" sz="1400"/>
                        <a:t>Prevent </a:t>
                      </a:r>
                      <a:r>
                        <a:rPr lang="en-GB" sz="1400" b="1"/>
                        <a:t>discrimination</a:t>
                      </a:r>
                      <a:r>
                        <a:rPr lang="en-GB" sz="1400"/>
                        <a:t> in credit scoring &amp; lending</a:t>
                      </a:r>
                    </a:p>
                  </a:txBody>
                  <a:tcPr anchor="ctr"/>
                </a:tc>
                <a:extLst>
                  <a:ext uri="{0D108BD9-81ED-4DB2-BD59-A6C34878D82A}">
                    <a16:rowId xmlns:a16="http://schemas.microsoft.com/office/drawing/2014/main" val="331768853"/>
                  </a:ext>
                </a:extLst>
              </a:tr>
              <a:tr h="518160">
                <a:tc>
                  <a:txBody>
                    <a:bodyPr/>
                    <a:lstStyle/>
                    <a:p>
                      <a:r>
                        <a:rPr lang="en-GB" sz="1400" b="1"/>
                        <a:t>Automotive</a:t>
                      </a:r>
                      <a:endParaRPr lang="en-GB" sz="1400"/>
                    </a:p>
                  </a:txBody>
                  <a:tcPr anchor="ctr"/>
                </a:tc>
                <a:tc>
                  <a:txBody>
                    <a:bodyPr/>
                    <a:lstStyle/>
                    <a:p>
                      <a:r>
                        <a:rPr lang="en-GB" sz="1400"/>
                        <a:t>UNECE WP.29 (UN regulation)</a:t>
                      </a:r>
                    </a:p>
                  </a:txBody>
                  <a:tcPr anchor="ctr"/>
                </a:tc>
                <a:tc>
                  <a:txBody>
                    <a:bodyPr/>
                    <a:lstStyle/>
                    <a:p>
                      <a:r>
                        <a:rPr lang="en-GB" sz="1400" b="1" dirty="0"/>
                        <a:t>Cybersecurity</a:t>
                      </a:r>
                      <a:r>
                        <a:rPr lang="en-GB" sz="1400" dirty="0"/>
                        <a:t>, </a:t>
                      </a:r>
                      <a:r>
                        <a:rPr lang="en-GB" sz="1400" b="1" dirty="0"/>
                        <a:t>software updates</a:t>
                      </a:r>
                      <a:r>
                        <a:rPr lang="en-GB" sz="1400" dirty="0"/>
                        <a:t>, </a:t>
                      </a:r>
                      <a:r>
                        <a:rPr lang="en-GB" sz="1400" b="1" dirty="0"/>
                        <a:t>self-driving safety</a:t>
                      </a:r>
                      <a:endParaRPr lang="en-GB" sz="1400" dirty="0"/>
                    </a:p>
                  </a:txBody>
                  <a:tcPr anchor="ctr"/>
                </a:tc>
                <a:extLst>
                  <a:ext uri="{0D108BD9-81ED-4DB2-BD59-A6C34878D82A}">
                    <a16:rowId xmlns:a16="http://schemas.microsoft.com/office/drawing/2014/main" val="1332069264"/>
                  </a:ext>
                </a:extLst>
              </a:tr>
            </a:tbl>
          </a:graphicData>
        </a:graphic>
      </p:graphicFrame>
    </p:spTree>
    <p:extLst>
      <p:ext uri="{BB962C8B-B14F-4D97-AF65-F5344CB8AC3E}">
        <p14:creationId xmlns:p14="http://schemas.microsoft.com/office/powerpoint/2010/main" val="1336283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pPr marL="0" lvl="0" indent="0" algn="l" rtl="1">
              <a:lnSpc>
                <a:spcPct val="100000"/>
              </a:lnSpc>
              <a:spcBef>
                <a:spcPts val="0"/>
              </a:spcBef>
              <a:spcAft>
                <a:spcPts val="0"/>
              </a:spcAft>
              <a:buClr>
                <a:srgbClr val="543198"/>
              </a:buClr>
              <a:buSzPts val="2500"/>
              <a:buNone/>
            </a:pPr>
            <a:r>
              <a:rPr lang="en-US" sz="3200" dirty="0">
                <a:latin typeface="Arial"/>
                <a:ea typeface="Arial"/>
                <a:cs typeface="Arial"/>
                <a:sym typeface="Arial"/>
              </a:rPr>
              <a:t>RECAP</a:t>
            </a: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35F6B0B-CDF5-6247-EEAD-F2816EA369FC}"/>
              </a:ext>
            </a:extLst>
          </p:cNvPr>
          <p:cNvSpPr txBox="1"/>
          <p:nvPr/>
        </p:nvSpPr>
        <p:spPr>
          <a:xfrm>
            <a:off x="1260539" y="1215487"/>
            <a:ext cx="5961489" cy="2308324"/>
          </a:xfrm>
          <a:prstGeom prst="rect">
            <a:avLst/>
          </a:prstGeom>
          <a:noFill/>
        </p:spPr>
        <p:txBody>
          <a:bodyPr wrap="square">
            <a:spAutoFit/>
          </a:bodyPr>
          <a:lstStyle/>
          <a:p>
            <a:pPr marL="342900" indent="-342900">
              <a:buFont typeface="Wingdings" pitchFamily="2" charset="2"/>
              <a:buChar char="Ø"/>
            </a:pPr>
            <a:r>
              <a:rPr lang="en-GB" sz="1600" i="0" u="none" strike="noStrike" dirty="0">
                <a:solidFill>
                  <a:srgbClr val="404040"/>
                </a:solidFill>
                <a:effectLst/>
                <a:latin typeface="Inter" panose="02000503000000020004" pitchFamily="2" charset="0"/>
              </a:rPr>
              <a:t>Understand AI’s impact on privacy, freedom, and non-discrimination</a:t>
            </a:r>
          </a:p>
          <a:p>
            <a:pPr marL="342900" indent="-342900">
              <a:buFont typeface="Wingdings" pitchFamily="2" charset="2"/>
              <a:buChar char="Ø"/>
            </a:pPr>
            <a:r>
              <a:rPr lang="en-GB" sz="1600" i="0" u="none" strike="noStrike" dirty="0">
                <a:solidFill>
                  <a:srgbClr val="404040"/>
                </a:solidFill>
                <a:effectLst/>
                <a:latin typeface="Inter" panose="02000503000000020004" pitchFamily="2" charset="0"/>
              </a:rPr>
              <a:t>Learn legal liability models for AI-caused harm</a:t>
            </a:r>
          </a:p>
          <a:p>
            <a:pPr marL="342900" indent="-342900">
              <a:buFont typeface="Wingdings" pitchFamily="2" charset="2"/>
              <a:buChar char="Ø"/>
            </a:pPr>
            <a:r>
              <a:rPr lang="en-GB" sz="1600" i="0" u="none" strike="noStrike" dirty="0">
                <a:solidFill>
                  <a:srgbClr val="404040"/>
                </a:solidFill>
                <a:effectLst/>
                <a:latin typeface="Inter" panose="02000503000000020004" pitchFamily="2" charset="0"/>
              </a:rPr>
              <a:t>Compare global AI regulations (EU AI Act, GDPR, US proposals)</a:t>
            </a:r>
          </a:p>
          <a:p>
            <a:pPr marL="342900" indent="-342900">
              <a:buFont typeface="Wingdings" pitchFamily="2" charset="2"/>
              <a:buChar char="Ø"/>
            </a:pPr>
            <a:r>
              <a:rPr lang="en-GB" sz="1600" i="0" u="none" strike="noStrike" dirty="0" err="1">
                <a:solidFill>
                  <a:srgbClr val="404040"/>
                </a:solidFill>
                <a:effectLst/>
                <a:latin typeface="Inter" panose="02000503000000020004" pitchFamily="2" charset="0"/>
              </a:rPr>
              <a:t>Analyze</a:t>
            </a:r>
            <a:r>
              <a:rPr lang="en-GB" sz="1600" i="0" u="none" strike="noStrike" dirty="0">
                <a:solidFill>
                  <a:srgbClr val="404040"/>
                </a:solidFill>
                <a:effectLst/>
                <a:latin typeface="Inter" panose="02000503000000020004" pitchFamily="2" charset="0"/>
              </a:rPr>
              <a:t> real-world AI legal cases (Clearview AI, Tesla Autopilot)</a:t>
            </a:r>
          </a:p>
          <a:p>
            <a:pPr marL="342900" indent="-342900">
              <a:buFont typeface="Wingdings" pitchFamily="2" charset="2"/>
              <a:buChar char="Ø"/>
            </a:pPr>
            <a:r>
              <a:rPr lang="en-GB" sz="1600" i="0" u="none" strike="noStrike" dirty="0">
                <a:solidFill>
                  <a:srgbClr val="404040"/>
                </a:solidFill>
                <a:effectLst/>
                <a:latin typeface="Inter" panose="02000503000000020004" pitchFamily="2" charset="0"/>
              </a:rPr>
              <a:t>Implement bias detection &amp; compliance strategies</a:t>
            </a:r>
          </a:p>
          <a:p>
            <a:pPr marL="342900" indent="-342900">
              <a:buFont typeface="Wingdings" pitchFamily="2" charset="2"/>
              <a:buChar char="Ø"/>
            </a:pPr>
            <a:r>
              <a:rPr lang="en-GB" sz="1600" i="0" u="none" strike="noStrike" dirty="0">
                <a:solidFill>
                  <a:srgbClr val="404040"/>
                </a:solidFill>
                <a:effectLst/>
                <a:latin typeface="Inter" panose="02000503000000020004" pitchFamily="2" charset="0"/>
              </a:rPr>
              <a:t>Track emerging AI laws (UN, ISO standards)</a:t>
            </a:r>
            <a:endParaRPr lang="en-GB" sz="1600" i="0" u="none" strike="noStrike" dirty="0">
              <a:solidFill>
                <a:srgbClr val="000000"/>
              </a:solidFill>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a:extLst>
            <a:ext uri="{FF2B5EF4-FFF2-40B4-BE49-F238E27FC236}">
              <a16:creationId xmlns:a16="http://schemas.microsoft.com/office/drawing/2014/main" id="{69586EBE-1B86-2014-119D-B347B99FCA1F}"/>
            </a:ext>
          </a:extLst>
        </p:cNvPr>
        <p:cNvGrpSpPr/>
        <p:nvPr/>
      </p:nvGrpSpPr>
      <p:grpSpPr>
        <a:xfrm>
          <a:off x="0" y="0"/>
          <a:ext cx="0" cy="0"/>
          <a:chOff x="0" y="0"/>
          <a:chExt cx="0" cy="0"/>
        </a:xfrm>
      </p:grpSpPr>
      <p:pic>
        <p:nvPicPr>
          <p:cNvPr id="108" name="Google Shape;108;p10">
            <a:extLst>
              <a:ext uri="{FF2B5EF4-FFF2-40B4-BE49-F238E27FC236}">
                <a16:creationId xmlns:a16="http://schemas.microsoft.com/office/drawing/2014/main" id="{0D0A301F-6465-E916-608E-76C4F4921635}"/>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a:extLst>
              <a:ext uri="{FF2B5EF4-FFF2-40B4-BE49-F238E27FC236}">
                <a16:creationId xmlns:a16="http://schemas.microsoft.com/office/drawing/2014/main" id="{1D46B072-8E42-3F74-AB3A-23E960F17364}"/>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Resources for Further Study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AEACB99-25A5-41A5-42FE-4AD61E88DC07}"/>
              </a:ext>
            </a:extLst>
          </p:cNvPr>
          <p:cNvSpPr txBox="1"/>
          <p:nvPr/>
        </p:nvSpPr>
        <p:spPr>
          <a:xfrm>
            <a:off x="1121260" y="1354766"/>
            <a:ext cx="5961489" cy="2492990"/>
          </a:xfrm>
          <a:prstGeom prst="rect">
            <a:avLst/>
          </a:prstGeom>
          <a:noFill/>
        </p:spPr>
        <p:txBody>
          <a:bodyPr wrap="square">
            <a:spAutoFit/>
          </a:bodyPr>
          <a:lstStyle/>
          <a:p>
            <a:pPr>
              <a:buNone/>
            </a:pPr>
            <a:r>
              <a:rPr lang="en-GB" sz="2800" b="1" dirty="0"/>
              <a:t>Further Resources</a:t>
            </a:r>
          </a:p>
          <a:p>
            <a:pPr>
              <a:buFont typeface="Arial" panose="020B0604020202020204" pitchFamily="34" charset="0"/>
              <a:buChar char="•"/>
            </a:pPr>
            <a:r>
              <a:rPr lang="en-GB" sz="2800" dirty="0">
                <a:hlinkClick r:id="rId4"/>
              </a:rPr>
              <a:t>EU AI Act Documentation</a:t>
            </a:r>
            <a:endParaRPr lang="en-GB" sz="2800" dirty="0"/>
          </a:p>
          <a:p>
            <a:pPr>
              <a:buFont typeface="Arial" panose="020B0604020202020204" pitchFamily="34" charset="0"/>
              <a:buChar char="•"/>
            </a:pPr>
            <a:r>
              <a:rPr lang="en-GB" sz="2800" dirty="0">
                <a:hlinkClick r:id="rId5"/>
              </a:rPr>
              <a:t>OECD AI Principles</a:t>
            </a:r>
            <a:endParaRPr lang="en-GB" sz="2800" dirty="0"/>
          </a:p>
          <a:p>
            <a:pPr>
              <a:buFont typeface="Arial" panose="020B0604020202020204" pitchFamily="34" charset="0"/>
              <a:buChar char="•"/>
            </a:pPr>
            <a:r>
              <a:rPr lang="en-GB" sz="2800" dirty="0"/>
              <a:t>IBM AIF360 Toolkit</a:t>
            </a:r>
          </a:p>
          <a:p>
            <a:pPr>
              <a:buFont typeface="Arial" panose="020B0604020202020204" pitchFamily="34" charset="0"/>
              <a:buChar char="•"/>
            </a:pPr>
            <a:r>
              <a:rPr lang="en-GB" sz="2800" dirty="0">
                <a:hlinkClick r:id="rId6"/>
              </a:rPr>
              <a:t>SHAP Documentation</a:t>
            </a:r>
            <a:endParaRPr lang="en-GB" sz="2800" dirty="0"/>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032964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5307</TotalTime>
  <Words>1903</Words>
  <Application>Microsoft Macintosh PowerPoint</Application>
  <PresentationFormat>On-screen Show (16:9)</PresentationFormat>
  <Paragraphs>235</Paragraphs>
  <Slides>24</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IBM Plex Sans Arabic Medium</vt:lpstr>
      <vt:lpstr>Tajawal</vt:lpstr>
      <vt:lpstr>Times New Roman</vt:lpstr>
      <vt:lpstr>Inter</vt:lpstr>
      <vt:lpstr>IBM Plex Sans Arabic</vt:lpstr>
      <vt:lpstr>Calibri</vt:lpstr>
      <vt:lpstr>IBM Plex Sans Arabic SemiBold</vt:lpstr>
      <vt:lpstr>Wingdings</vt:lpstr>
      <vt:lpstr>Proxima Nova</vt:lpstr>
      <vt:lpstr>Arial</vt:lpstr>
      <vt:lpstr>Simple Light</vt:lpstr>
      <vt:lpstr>أكـــــاديميــــة طــــويـــق</vt:lpstr>
      <vt:lpstr>             Ethical and Legal Considerations in AI </vt:lpstr>
      <vt:lpstr>PowerPoint Presentation</vt:lpstr>
      <vt:lpstr>Introduction to AI Ethics &amp; Law       </vt:lpstr>
      <vt:lpstr>Core Ethical Principles in AI        </vt:lpstr>
      <vt:lpstr>AI and Human Rights      </vt:lpstr>
      <vt:lpstr>2. Freedom &amp; Autonomy      </vt:lpstr>
      <vt:lpstr>Autonomous Weapons: Ethical Concerns Over AI-Driven Warfare      </vt:lpstr>
      <vt:lpstr>Job Displacement: Ethical Responsibility in Workforce Automation      </vt:lpstr>
      <vt:lpstr>Non-Discrimination &amp; Bias Mitigation      </vt:lpstr>
      <vt:lpstr>2. Flawed Model Design       </vt:lpstr>
      <vt:lpstr>Mitigation Strategies  </vt:lpstr>
      <vt:lpstr>Mitigation Strategies  </vt:lpstr>
      <vt:lpstr>Liability &amp; Accountability in AI Decisions   </vt:lpstr>
      <vt:lpstr>Explanation:    </vt:lpstr>
      <vt:lpstr>Legal Theories of AI Liability     </vt:lpstr>
      <vt:lpstr>Accountability Mechanisms in AI Systems      </vt:lpstr>
      <vt:lpstr>Accountability Mechanisms in AI Systems      </vt:lpstr>
      <vt:lpstr>Key Global AI Regulations       </vt:lpstr>
      <vt:lpstr>Industry-Specific AI Regulations        </vt:lpstr>
      <vt:lpstr>RECAP </vt:lpstr>
      <vt:lpstr>Resources for Further Study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30</cp:revision>
  <dcterms:modified xsi:type="dcterms:W3CDTF">2025-04-04T18:15:28Z</dcterms:modified>
  <cp:category/>
</cp:coreProperties>
</file>