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3" r:id="rId4"/>
    <p:sldId id="278" r:id="rId5"/>
    <p:sldId id="330" r:id="rId6"/>
    <p:sldId id="262" r:id="rId7"/>
    <p:sldId id="336" r:id="rId8"/>
    <p:sldId id="321" r:id="rId9"/>
    <p:sldId id="337" r:id="rId10"/>
    <p:sldId id="323" r:id="rId11"/>
    <p:sldId id="338" r:id="rId12"/>
    <p:sldId id="339" r:id="rId13"/>
    <p:sldId id="340" r:id="rId14"/>
    <p:sldId id="324" r:id="rId15"/>
    <p:sldId id="341" r:id="rId16"/>
    <p:sldId id="342" r:id="rId17"/>
    <p:sldId id="343" r:id="rId18"/>
    <p:sldId id="277" r:id="rId19"/>
    <p:sldId id="26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265" r:id="rId29"/>
    <p:sldId id="320" r:id="rId30"/>
    <p:sldId id="275" r:id="rId31"/>
    <p:sldId id="276" r:id="rId32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34"/>
      <p:bold r:id="rId35"/>
    </p:embeddedFont>
    <p:embeddedFont>
      <p:font typeface="IBM Plex Sans Arabic Medium" panose="020B0603050203000203" pitchFamily="34" charset="-78"/>
      <p:regular r:id="rId36"/>
      <p:bold r:id="rId37"/>
    </p:embeddedFont>
    <p:embeddedFont>
      <p:font typeface="IBM Plex Sans Arabic SemiBold" panose="020B0603050203000203" pitchFamily="34" charset="-78"/>
      <p:regular r:id="rId38"/>
      <p:bold r:id="rId39"/>
    </p:embeddedFont>
    <p:embeddedFont>
      <p:font typeface="Inter" panose="02000503000000020004" pitchFamily="2" charset="0"/>
      <p:regular r:id="rId40"/>
      <p:bold r:id="rId41"/>
      <p:italic r:id="rId42"/>
      <p:boldItalic r:id="rId43"/>
    </p:embeddedFont>
    <p:embeddedFont>
      <p:font typeface="Proxima Nova" panose="02000506030000020004" pitchFamily="2" charset="0"/>
      <p:regular r:id="rId44"/>
      <p:bold r:id="rId45"/>
      <p:italic r:id="rId46"/>
      <p:boldItalic r:id="rId47"/>
    </p:embeddedFont>
    <p:embeddedFont>
      <p:font typeface="Tajawal" pitchFamily="2" charset="-78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0"/>
    <p:restoredTop sz="94809"/>
  </p:normalViewPr>
  <p:slideViewPr>
    <p:cSldViewPr snapToGrid="0">
      <p:cViewPr>
        <p:scale>
          <a:sx n="170" d="100"/>
          <a:sy n="170" d="100"/>
        </p:scale>
        <p:origin x="1632" y="832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4A78B76-62B2-720F-0663-7EA9E4AF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>
            <a:extLst>
              <a:ext uri="{FF2B5EF4-FFF2-40B4-BE49-F238E27FC236}">
                <a16:creationId xmlns:a16="http://schemas.microsoft.com/office/drawing/2014/main" id="{E71FD78D-B2F4-061B-E2CF-D4645C7CE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2D5F95AC-4BE9-592F-B9CC-7EA3E132D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51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77F6786-E629-BA89-B1A1-94BC1886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>
            <a:extLst>
              <a:ext uri="{FF2B5EF4-FFF2-40B4-BE49-F238E27FC236}">
                <a16:creationId xmlns:a16="http://schemas.microsoft.com/office/drawing/2014/main" id="{92B18A1D-EAE0-714C-D87F-8369E8A14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42CEA998-553D-4871-8631-63C51220C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53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15BDBAD-16E3-E89E-A16C-3C7AA175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86D1CF66-3D23-D95C-4CC5-62FD775CE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A6DD5F11-0B6F-C91C-4734-309F2E1F0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885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0846550-D021-2E3F-359C-C4694091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E5A79FD6-1EA4-E6F9-162C-5E047FB5E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95CC2B4F-02A4-9136-74FE-D034AFE99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5195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D59EDAA-B9AC-2299-F395-7A8F343FA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CA71EF9-4775-868A-CC3D-A79AD72171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517AE5B5-EF0F-A1D7-E44F-61C61FA67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221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BC49CF4-69FB-1AC1-0178-1646B28E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DC3EADCB-1536-0D9B-796C-2E7BBCE52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03C6BFD2-03B8-6A92-0F3F-50D7E8AD7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132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ACB8453-B228-280F-ECA1-AD21D740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8C1518FC-F894-489C-5F2F-691C3BCAF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9843C5E1-2946-3EF3-01FB-437C639D5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312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84713EB-D006-7417-F1CB-D6293A8F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D6D924E7-1369-A771-B67C-E74DE609A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3DD8D209-0009-19CF-BAFE-3EF908A87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625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6C51E59-C0F1-33B1-BC48-65ACAB66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49D6129-80F4-44D1-F1F5-4B4AAA0C8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A3D3186D-08A1-63CF-CE15-40FF1569B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43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FF2738B-584C-EB87-E286-9B9CBD54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466D38B-4441-F18C-E970-23A8531CB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905DA757-FE10-EB5B-8519-CEF366579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1020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CA3B13C-75C8-DCD0-AB40-B484578D6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7DB6C029-A227-9631-08F3-FB7CD0867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98637850-B57E-EE97-FA2D-CA2F916B0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039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9472782-51E6-B4CD-7D7D-0A855289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B62B08D8-C908-10BC-B497-1761959B49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3C1DA098-C8C1-4CCC-D20F-4DC121CE5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227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6060E87-9DFD-33F5-2692-5EF73315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0C058132-9307-CD3F-021A-702768CE69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7A912AD1-60C5-DC0A-85AF-9633CEDE8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690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33E31C8-D5E9-2017-AE3F-9CE690F7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71F4956-9A8B-D2BD-69BC-C7A200A2F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135EAFF3-6059-1547-52B9-ABA6113E5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2655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F6A696B-17DB-A2DE-792B-81F459C2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F6AF88F4-25EE-1083-A1F0-607EC40B6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953E77E3-6661-A517-96A0-F10DE3C13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776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865C7B8-82D8-BEF3-4963-988E25F9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810CE30F-A91B-4A31-6F89-54270550C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F1FED7CB-5DA9-59ED-ECDE-7C2B2FEEF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54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E53640C-F858-7147-B01A-4F94800B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6E734EEF-973E-ABB1-5A02-79A1F12B3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C1F80DEC-C0DF-2ECC-5AF5-4C7F88632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6415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17CFEEE-AFA9-98E3-DB1D-CC99B8C0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DB92008F-02E6-3FAC-A1D8-C44A922CB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479A60BD-33B6-E55D-65CE-F3D964376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6086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F618847-5620-79F3-4FF0-1FD32AED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6FFDC18F-8AA4-97F5-C190-C0F642694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C7C5D57D-BC69-6D3F-E460-6964C448E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6313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279A572-30AE-964B-CBB7-A895A14C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D20DFCE1-69B8-D58C-1090-3DA3CCE6A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F8EF7A89-7001-93D6-EF1E-BE4876E12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712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BC6DFE4-F6E5-43DE-C290-8074CBC0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962A859B-1737-83AC-4E2A-6A523D312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5FF89D4B-FE41-A557-70C6-C63C6DA55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33585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BCED6CE-F643-E9A3-3C55-A4255C42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>
            <a:extLst>
              <a:ext uri="{FF2B5EF4-FFF2-40B4-BE49-F238E27FC236}">
                <a16:creationId xmlns:a16="http://schemas.microsoft.com/office/drawing/2014/main" id="{DC0B44F9-2DF5-5BD0-3B01-626BE23AC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>
            <a:extLst>
              <a:ext uri="{FF2B5EF4-FFF2-40B4-BE49-F238E27FC236}">
                <a16:creationId xmlns:a16="http://schemas.microsoft.com/office/drawing/2014/main" id="{BB9F72E4-13A6-65AC-0A26-8149C09CF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335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7380419-3B83-6C5F-7037-D9C16B72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>
            <a:extLst>
              <a:ext uri="{FF2B5EF4-FFF2-40B4-BE49-F238E27FC236}">
                <a16:creationId xmlns:a16="http://schemas.microsoft.com/office/drawing/2014/main" id="{8F656EE4-F75A-8999-B3F4-7DF5B51DF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>
            <a:extLst>
              <a:ext uri="{FF2B5EF4-FFF2-40B4-BE49-F238E27FC236}">
                <a16:creationId xmlns:a16="http://schemas.microsoft.com/office/drawing/2014/main" id="{ED33E920-EE85-D545-6CAF-F08715C20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21566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52526"/>
              </a:buClr>
              <a:buSzPts val="1800"/>
              <a:buFont typeface="IBM Plex Sans Arabic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Artificial Intelligence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1137037"/>
            <a:ext cx="8520600" cy="166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GB" sz="4400" dirty="0">
                <a:latin typeface="Calibri"/>
                <a:ea typeface="Calibri"/>
                <a:cs typeface="Calibri"/>
                <a:sym typeface="Calibri"/>
              </a:rPr>
              <a:t>AI Accountability &amp; Transparency</a:t>
            </a:r>
            <a:br>
              <a:rPr lang="en-GB" sz="4400" dirty="0">
                <a:latin typeface="Calibri"/>
                <a:ea typeface="Calibri"/>
                <a:cs typeface="Calibri"/>
                <a:sym typeface="Calibri"/>
              </a:rPr>
            </a:b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355978" y="622430"/>
            <a:ext cx="8029070" cy="277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dirty="0"/>
              <a:t>Understand the importance of AI accountability and transparency.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dirty="0"/>
              <a:t>Explore explainability tools and governance mechanisms.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dirty="0"/>
              <a:t>Learn about real-world case studies.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dirty="0"/>
              <a:t>Identify future directions and challenges.</a:t>
            </a: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BBFEC59-2F9A-F1A0-822E-D0C14DF8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>
            <a:extLst>
              <a:ext uri="{FF2B5EF4-FFF2-40B4-BE49-F238E27FC236}">
                <a16:creationId xmlns:a16="http://schemas.microsoft.com/office/drawing/2014/main" id="{814E9543-CA25-5AF4-BD0C-4BBE3828E30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>
            <a:extLst>
              <a:ext uri="{FF2B5EF4-FFF2-40B4-BE49-F238E27FC236}">
                <a16:creationId xmlns:a16="http://schemas.microsoft.com/office/drawing/2014/main" id="{4025FB2A-478B-7FBC-5819-20CB112C3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77900"/>
            <a:ext cx="7367761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Foundations of AI Accountability</a:t>
            </a:r>
            <a:br>
              <a:rPr lang="en-GB" sz="14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1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endParaRPr sz="3200" dirty="0"/>
          </a:p>
        </p:txBody>
      </p:sp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8E7AD6B6-47C7-C90A-7843-8B2A94B3A678}"/>
              </a:ext>
            </a:extLst>
          </p:cNvPr>
          <p:cNvSpPr txBox="1"/>
          <p:nvPr/>
        </p:nvSpPr>
        <p:spPr>
          <a:xfrm>
            <a:off x="2371061" y="4038281"/>
            <a:ext cx="34422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F09E0-3E99-80F4-C083-9054BA5CC6A5}"/>
              </a:ext>
            </a:extLst>
          </p:cNvPr>
          <p:cNvSpPr txBox="1"/>
          <p:nvPr/>
        </p:nvSpPr>
        <p:spPr>
          <a:xfrm>
            <a:off x="298916" y="824238"/>
            <a:ext cx="7978392" cy="342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AI accountability refers to the mechanisms and principles that ensure individuals or organizations are answerable for AI systems' </a:t>
            </a:r>
            <a:r>
              <a:rPr lang="en-GB" sz="2000" dirty="0" err="1"/>
              <a:t>behavior</a:t>
            </a:r>
            <a:r>
              <a:rPr lang="en-GB" sz="2000" dirty="0"/>
              <a:t> and outcomes.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Core Concepts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Accountability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Traceability of AI decisions to responsible entities</a:t>
            </a:r>
          </a:p>
          <a:p>
            <a:pPr marL="342900" indent="-342900"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Transparency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Visibility into AI system operations and decision logic</a:t>
            </a:r>
          </a:p>
          <a:p>
            <a:pPr marL="342900" indent="-342900"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Explainability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Ability to interpret and justify AI outputs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Why It Matters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Prevents harm from biased/algorithms</a:t>
            </a:r>
          </a:p>
          <a:p>
            <a:pPr marL="342900" indent="-342900" algn="l">
              <a:spcBef>
                <a:spcPts val="300"/>
              </a:spcBef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Builds trust with users and regulators</a:t>
            </a:r>
          </a:p>
          <a:p>
            <a:pPr marL="342900" indent="-342900" algn="l">
              <a:spcBef>
                <a:spcPts val="300"/>
              </a:spcBef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Ensures compliance with evolving regulations (GDPR, EU AI Act)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3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AF3F722E-EEDB-89C0-8D8E-02EBFD62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>
            <a:extLst>
              <a:ext uri="{FF2B5EF4-FFF2-40B4-BE49-F238E27FC236}">
                <a16:creationId xmlns:a16="http://schemas.microsoft.com/office/drawing/2014/main" id="{0C4B1B0A-5791-DE35-D040-6D4064DECA7C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2494104" y="-672343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>
            <a:extLst>
              <a:ext uri="{FF2B5EF4-FFF2-40B4-BE49-F238E27FC236}">
                <a16:creationId xmlns:a16="http://schemas.microsoft.com/office/drawing/2014/main" id="{72F26621-B7CD-0288-6ED4-24C697C204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77900"/>
            <a:ext cx="7367761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Key Stakeholders</a:t>
            </a: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1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endParaRPr sz="3200" dirty="0"/>
          </a:p>
        </p:txBody>
      </p:sp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147349A6-CB07-D1E7-D67C-E6A953121F4A}"/>
              </a:ext>
            </a:extLst>
          </p:cNvPr>
          <p:cNvSpPr txBox="1"/>
          <p:nvPr/>
        </p:nvSpPr>
        <p:spPr>
          <a:xfrm>
            <a:off x="2371061" y="4038281"/>
            <a:ext cx="34422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7D4DB1-7DAE-0EB0-5C5B-8AE48150E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14" y="1846723"/>
            <a:ext cx="184731" cy="128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052AE5-C6C3-3F18-6084-7EFF667DC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37707"/>
              </p:ext>
            </p:extLst>
          </p:nvPr>
        </p:nvGraphicFramePr>
        <p:xfrm>
          <a:off x="296045" y="1618123"/>
          <a:ext cx="8521700" cy="1524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55798102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478253711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Stakeholder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Concerns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945008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Developers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Model fairness, technical debt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44531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Businesses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Legal risk, brand reputation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95594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Regulators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Compliance, public safety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3862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End Users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Privacy, fair 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38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3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Explainability in AI Governance</a:t>
            </a: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B9BB7-92C8-9AFE-9554-0613369D0319}"/>
              </a:ext>
            </a:extLst>
          </p:cNvPr>
          <p:cNvSpPr txBox="1"/>
          <p:nvPr/>
        </p:nvSpPr>
        <p:spPr>
          <a:xfrm>
            <a:off x="122396" y="755868"/>
            <a:ext cx="82445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Explainability ensures that AI models are transparent and understandable not only for developers, but also for stakeholders, regulators, and end-users.</a:t>
            </a:r>
          </a:p>
          <a:p>
            <a:r>
              <a:rPr lang="en-GB" sz="1600" dirty="0"/>
              <a:t>It plays a critical role in AI governance, which is about making sure AI systems are ethical, fair, and accountable.</a:t>
            </a:r>
          </a:p>
          <a:p>
            <a:pPr>
              <a:buNone/>
            </a:pPr>
            <a:r>
              <a:rPr lang="en-GB" sz="1600" b="1" dirty="0"/>
              <a:t>Technical Approaches to Explainability</a:t>
            </a:r>
          </a:p>
          <a:p>
            <a:pPr>
              <a:buNone/>
            </a:pPr>
            <a:r>
              <a:rPr lang="en-GB" sz="1600" dirty="0"/>
              <a:t>There are two main levels of explainability:</a:t>
            </a:r>
          </a:p>
          <a:p>
            <a:pPr>
              <a:buNone/>
            </a:pPr>
            <a:r>
              <a:rPr lang="en-GB" sz="1600" b="1" dirty="0"/>
              <a:t>1. Global Explanations</a:t>
            </a:r>
          </a:p>
          <a:p>
            <a:r>
              <a:rPr lang="en-GB" sz="1600" b="1" dirty="0"/>
              <a:t>Goal</a:t>
            </a:r>
            <a:r>
              <a:rPr lang="en-GB" sz="1600" dirty="0"/>
              <a:t>: Understand the </a:t>
            </a:r>
            <a:r>
              <a:rPr lang="en-GB" sz="1600" b="1" dirty="0"/>
              <a:t>overall </a:t>
            </a:r>
            <a:r>
              <a:rPr lang="en-GB" sz="1600" b="1" dirty="0" err="1"/>
              <a:t>behavior</a:t>
            </a:r>
            <a:r>
              <a:rPr lang="en-GB" sz="1600" dirty="0"/>
              <a:t> of a model.</a:t>
            </a:r>
          </a:p>
          <a:p>
            <a:r>
              <a:rPr lang="en-GB" sz="1600" b="1" dirty="0"/>
              <a:t>Examples</a:t>
            </a:r>
            <a:r>
              <a:rPr lang="en-GB" sz="1600" dirty="0"/>
              <a:t>:</a:t>
            </a:r>
          </a:p>
          <a:p>
            <a:pPr marL="457200" lvl="1"/>
            <a:r>
              <a:rPr lang="en-GB" sz="1600" b="1" dirty="0"/>
              <a:t>Feature importance</a:t>
            </a:r>
            <a:r>
              <a:rPr lang="en-GB" sz="1600" dirty="0"/>
              <a:t>: Which features influence the model the most?</a:t>
            </a:r>
          </a:p>
          <a:p>
            <a:pPr marL="457200" lvl="1"/>
            <a:r>
              <a:rPr lang="en-GB" sz="1600" b="1" dirty="0"/>
              <a:t>Decision rules</a:t>
            </a:r>
            <a:r>
              <a:rPr lang="en-GB" sz="1600" dirty="0"/>
              <a:t>: If using decision trees or rule-based systems.</a:t>
            </a:r>
          </a:p>
          <a:p>
            <a:r>
              <a:rPr lang="en-GB" sz="1600" dirty="0"/>
              <a:t>Use case: For developers, auditors, and data scientists to evaluate the model as a whole.</a:t>
            </a:r>
          </a:p>
          <a:p>
            <a:pPr algn="l"/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endParaRPr lang="en-GB" sz="1600" dirty="0"/>
          </a:p>
          <a:p>
            <a:endParaRPr lang="en-GB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DF305279-ED0B-2A11-09D4-DACC1947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8130C9EC-E6D9-1C75-D5C5-9C5FDEC2726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AD8E667D-1AC3-4750-4432-59C2411EC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Explainability in AI Governance</a:t>
            </a: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7251B-F6A6-068E-3906-FFFBE59B525A}"/>
              </a:ext>
            </a:extLst>
          </p:cNvPr>
          <p:cNvSpPr txBox="1"/>
          <p:nvPr/>
        </p:nvSpPr>
        <p:spPr>
          <a:xfrm>
            <a:off x="122396" y="755868"/>
            <a:ext cx="824459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2. Local Explanations</a:t>
            </a:r>
          </a:p>
          <a:p>
            <a:pPr>
              <a:buNone/>
            </a:pPr>
            <a:endParaRPr lang="en-GB" sz="1600" b="1" dirty="0"/>
          </a:p>
          <a:p>
            <a:r>
              <a:rPr lang="en-GB" sz="1600" b="1" dirty="0"/>
              <a:t>Goal</a:t>
            </a:r>
            <a:r>
              <a:rPr lang="en-GB" sz="1600" dirty="0"/>
              <a:t>: Explain </a:t>
            </a:r>
            <a:r>
              <a:rPr lang="en-GB" sz="1600" b="1" dirty="0"/>
              <a:t>why a specific prediction</a:t>
            </a:r>
            <a:r>
              <a:rPr lang="en-GB" sz="1600" dirty="0"/>
              <a:t> was made.</a:t>
            </a:r>
          </a:p>
          <a:p>
            <a:r>
              <a:rPr lang="en-GB" sz="1600" b="1" dirty="0"/>
              <a:t>Common methods</a:t>
            </a:r>
            <a:r>
              <a:rPr lang="en-GB" sz="1600" dirty="0"/>
              <a:t>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600" b="1" dirty="0"/>
              <a:t>LIME (Local Interpretable Model-Agnostic Explanations)</a:t>
            </a:r>
            <a:r>
              <a:rPr lang="en-GB" sz="1600" dirty="0"/>
              <a:t>: Builds a simple model around a single prediction to explain it.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600" b="1" dirty="0"/>
              <a:t>SHAP (</a:t>
            </a:r>
            <a:r>
              <a:rPr lang="en-GB" sz="1600" b="1" dirty="0" err="1"/>
              <a:t>SHapley</a:t>
            </a:r>
            <a:r>
              <a:rPr lang="en-GB" sz="1600" b="1" dirty="0"/>
              <a:t> Additive </a:t>
            </a:r>
            <a:r>
              <a:rPr lang="en-GB" sz="1600" b="1" dirty="0" err="1"/>
              <a:t>exPlanations</a:t>
            </a:r>
            <a:r>
              <a:rPr lang="en-GB" sz="1600" b="1" dirty="0"/>
              <a:t>)</a:t>
            </a:r>
            <a:r>
              <a:rPr lang="en-GB" sz="1600" dirty="0"/>
              <a:t>: Uses game theory to assign importance to each feature in a prediction.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600" b="1" dirty="0"/>
              <a:t>Counterfactuals</a:t>
            </a:r>
            <a:r>
              <a:rPr lang="en-GB" sz="1600" dirty="0"/>
              <a:t>: Show how a prediction would change if input features were different.</a:t>
            </a:r>
          </a:p>
          <a:p>
            <a:r>
              <a:rPr lang="en-GB" sz="1600" dirty="0"/>
              <a:t>Use case: For explaining individual decisions to users, e.g., why a loan was denied.</a:t>
            </a:r>
          </a:p>
          <a:p>
            <a:pPr algn="l"/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98588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0C076DA-C8F9-F189-D3BA-4542E2B4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71B60108-7221-667A-8008-3E4C80269052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6623E004-095A-538F-A3C8-78BA530DD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dirty="0"/>
              <a:t>Implementation Checklist</a:t>
            </a: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91713-AE9A-E8F9-04E2-B3286D53BECC}"/>
              </a:ext>
            </a:extLst>
          </p:cNvPr>
          <p:cNvSpPr txBox="1"/>
          <p:nvPr/>
        </p:nvSpPr>
        <p:spPr>
          <a:xfrm>
            <a:off x="535558" y="616688"/>
            <a:ext cx="748235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When implementing explainable AI in practice, consider:</a:t>
            </a:r>
          </a:p>
          <a:p>
            <a:pPr>
              <a:buNone/>
            </a:pPr>
            <a:r>
              <a:rPr lang="en-GB" b="1" dirty="0"/>
              <a:t>1. Document Model Purpose and Limitations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What is the model used for?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What are its known biases or limitations?</a:t>
            </a:r>
          </a:p>
          <a:p>
            <a:pPr marL="285750" indent="-285750">
              <a:buFont typeface="Wingdings" pitchFamily="2" charset="2"/>
              <a:buChar char="ü"/>
            </a:pPr>
            <a:endParaRPr lang="en-GB" dirty="0"/>
          </a:p>
          <a:p>
            <a:pPr>
              <a:buNone/>
            </a:pPr>
            <a:r>
              <a:rPr lang="en-GB" b="1" dirty="0"/>
              <a:t>2. Choose Appropriate XAI Methods Based On:</a:t>
            </a:r>
          </a:p>
          <a:p>
            <a:r>
              <a:rPr lang="en-GB" b="1" dirty="0"/>
              <a:t>Model complexity</a:t>
            </a:r>
            <a:r>
              <a:rPr lang="en-GB" dirty="0"/>
              <a:t>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Simple models (e.g., decision trees) may not need SHAP/LIME.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Complex models (e.g., neural networks) often do.</a:t>
            </a:r>
          </a:p>
          <a:p>
            <a:r>
              <a:rPr lang="en-GB" b="1" dirty="0"/>
              <a:t>Stakeholder </a:t>
            </a:r>
            <a:r>
              <a:rPr lang="en-GB" b="1" dirty="0" err="1"/>
              <a:t>needs</a:t>
            </a:r>
            <a:r>
              <a:rPr lang="en-GB" dirty="0" err="1"/>
              <a:t>:Data</a:t>
            </a:r>
            <a:r>
              <a:rPr lang="en-GB" dirty="0"/>
              <a:t> scientists vs business leaders vs customers.</a:t>
            </a:r>
          </a:p>
          <a:p>
            <a:r>
              <a:rPr lang="en-GB" b="1" dirty="0"/>
              <a:t>Regulatory </a:t>
            </a:r>
            <a:r>
              <a:rPr lang="en-GB" b="1" dirty="0" err="1"/>
              <a:t>requirements</a:t>
            </a:r>
            <a:r>
              <a:rPr lang="en-GB" dirty="0" err="1"/>
              <a:t>:Some</a:t>
            </a:r>
            <a:r>
              <a:rPr lang="en-GB" dirty="0"/>
              <a:t> sectors (like finance or healthcare) </a:t>
            </a:r>
            <a:r>
              <a:rPr lang="en-GB" b="1" dirty="0"/>
              <a:t>require explanations</a:t>
            </a:r>
            <a:r>
              <a:rPr lang="en-GB" dirty="0"/>
              <a:t> by law.</a:t>
            </a:r>
          </a:p>
          <a:p>
            <a:endParaRPr lang="en-GB" dirty="0"/>
          </a:p>
          <a:p>
            <a:pPr>
              <a:buNone/>
            </a:pPr>
            <a:r>
              <a:rPr lang="en-GB" b="1" dirty="0"/>
              <a:t>3. Establish Explanation Protocols</a:t>
            </a:r>
          </a:p>
          <a:p>
            <a:r>
              <a:rPr lang="en-GB" dirty="0"/>
              <a:t>Design different explanations for: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b="1" dirty="0"/>
              <a:t>Technical users</a:t>
            </a:r>
            <a:r>
              <a:rPr lang="en-GB" dirty="0"/>
              <a:t>: detailed insights.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b="1" dirty="0"/>
              <a:t>Non-technical users</a:t>
            </a:r>
            <a:r>
              <a:rPr lang="en-GB" dirty="0"/>
              <a:t>: simple summaries.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b="1" dirty="0"/>
              <a:t>Regulators</a:t>
            </a:r>
            <a:r>
              <a:rPr lang="en-GB" dirty="0"/>
              <a:t>: documentation and audit trails.</a:t>
            </a:r>
          </a:p>
          <a:p>
            <a:pPr marL="457200" lvl="1"/>
            <a:endParaRPr lang="en-GB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69176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029099FC-F4B0-441A-AA71-B7BDA068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53C7B19D-FEE5-E533-B3A1-3B1848A42429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B437B40E-92DF-2971-F225-023812D58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Explainability in AI Governance</a:t>
            </a: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6EA118-059C-8CBB-D89A-43F9D5B83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19600"/>
              </p:ext>
            </p:extLst>
          </p:nvPr>
        </p:nvGraphicFramePr>
        <p:xfrm>
          <a:off x="296160" y="1534795"/>
          <a:ext cx="8244590" cy="15544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954827">
                  <a:extLst>
                    <a:ext uri="{9D8B030D-6E8A-4147-A177-3AD203B41FA5}">
                      <a16:colId xmlns:a16="http://schemas.microsoft.com/office/drawing/2014/main" val="2074782506"/>
                    </a:ext>
                  </a:extLst>
                </a:gridCol>
                <a:gridCol w="5289763">
                  <a:extLst>
                    <a:ext uri="{9D8B030D-6E8A-4147-A177-3AD203B41FA5}">
                      <a16:colId xmlns:a16="http://schemas.microsoft.com/office/drawing/2014/main" val="2815028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42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Global Explanation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Understand overall model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647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Local Explanation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Justify individual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216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OECD &amp; IEEE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Governance frameworks pushing for transparency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659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Checklist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Align explanation methods with users, models, and legal needs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75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70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91EC5AB-30D3-2D7F-4AAA-2AEF4063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2A7384E5-84EA-9BD3-1907-876E5BFCA9E1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E7D6AEEF-E200-713C-6D6A-ACF64578B9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Tools for AI Transparency</a:t>
            </a: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dirty="0">
                <a:solidFill>
                  <a:srgbClr val="7030A0"/>
                </a:solidFill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B7AA5-61B9-7DE4-ABC7-B860F0EFF7E1}"/>
              </a:ext>
            </a:extLst>
          </p:cNvPr>
          <p:cNvSpPr txBox="1"/>
          <p:nvPr/>
        </p:nvSpPr>
        <p:spPr>
          <a:xfrm>
            <a:off x="443552" y="868897"/>
            <a:ext cx="74823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These are specialized </a:t>
            </a:r>
            <a:r>
              <a:rPr lang="en-GB" sz="1600" b="1" dirty="0"/>
              <a:t>toolkits and platforms</a:t>
            </a:r>
            <a:r>
              <a:rPr lang="en-GB" sz="1600" dirty="0"/>
              <a:t> that help make AI models more </a:t>
            </a:r>
            <a:r>
              <a:rPr lang="en-GB" sz="1600" b="1" dirty="0"/>
              <a:t>transparent, fair, and explainable</a:t>
            </a:r>
            <a:r>
              <a:rPr lang="en-GB" sz="1600" dirty="0"/>
              <a:t>.</a:t>
            </a:r>
          </a:p>
          <a:p>
            <a:pPr>
              <a:buNone/>
            </a:pPr>
            <a:r>
              <a:rPr lang="en-GB" sz="1600" dirty="0"/>
              <a:t>Transparency tools help users understand: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How a model works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Why it made a certain prediction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Whether it treats different groups fairly</a:t>
            </a:r>
          </a:p>
          <a:p>
            <a:pPr>
              <a:buNone/>
            </a:pPr>
            <a:r>
              <a:rPr lang="en-GB" sz="1600" b="1" dirty="0"/>
              <a:t>Toolkits and Platforms</a:t>
            </a:r>
          </a:p>
          <a:p>
            <a:pPr>
              <a:buNone/>
            </a:pPr>
            <a:r>
              <a:rPr lang="en-GB" sz="1600" dirty="0"/>
              <a:t>Here are some commonly used tools: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1. IBM AI Explainability 360 (AIX360)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Open-source library by IBM.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Provides algorithms to explain ML models.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Supports both global and local explainability.</a:t>
            </a:r>
          </a:p>
          <a:p>
            <a:r>
              <a:rPr lang="en-GB" sz="1600" dirty="0"/>
              <a:t>Example: Use AIX360 to understand which features most influence a loan approval model.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8760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96F7F8D5-0AAF-E1BC-7B5A-4D11A5E3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B751BABC-ED5C-269D-5D6F-46A1417AD375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84EC5D6A-2361-6B77-13AF-5FE2D520D2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Tools for AI Transparency</a:t>
            </a: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dirty="0">
                <a:solidFill>
                  <a:srgbClr val="7030A0"/>
                </a:solidFill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109EE-8DB6-32A1-76D8-E6CA1B3F6295}"/>
              </a:ext>
            </a:extLst>
          </p:cNvPr>
          <p:cNvSpPr txBox="1"/>
          <p:nvPr/>
        </p:nvSpPr>
        <p:spPr>
          <a:xfrm>
            <a:off x="443552" y="868897"/>
            <a:ext cx="74823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2. Google What-If Tool</a:t>
            </a:r>
          </a:p>
          <a:p>
            <a:r>
              <a:rPr lang="en-GB" sz="1600" dirty="0"/>
              <a:t>Interactive tool within </a:t>
            </a:r>
            <a:r>
              <a:rPr lang="en-GB" sz="1600" b="1" dirty="0" err="1"/>
              <a:t>TensorBoard</a:t>
            </a:r>
            <a:r>
              <a:rPr lang="en-GB" sz="1600" dirty="0"/>
              <a:t>.</a:t>
            </a:r>
          </a:p>
          <a:p>
            <a:r>
              <a:rPr lang="en-GB" sz="1600" dirty="0"/>
              <a:t>Allows users to: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Test model predictions by changing inputs.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Explore </a:t>
            </a:r>
            <a:r>
              <a:rPr lang="en-GB" sz="1600" b="1" dirty="0"/>
              <a:t>counterfactuals</a:t>
            </a:r>
            <a:r>
              <a:rPr lang="en-GB" sz="1600" dirty="0"/>
              <a:t> (What happens if this input changes?).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Visualize </a:t>
            </a:r>
            <a:r>
              <a:rPr lang="en-GB" sz="1600" b="1" dirty="0"/>
              <a:t>decision boundaries</a:t>
            </a:r>
            <a:r>
              <a:rPr lang="en-GB" sz="1600" dirty="0"/>
              <a:t>.</a:t>
            </a:r>
          </a:p>
          <a:p>
            <a:pPr>
              <a:buNone/>
            </a:pPr>
            <a:r>
              <a:rPr lang="en-GB" sz="1600" dirty="0"/>
              <a:t>Great for debugging and understanding models without writing code.</a:t>
            </a:r>
          </a:p>
          <a:p>
            <a:pPr>
              <a:buNone/>
            </a:pPr>
            <a:r>
              <a:rPr lang="en-GB" sz="1600" b="1" dirty="0"/>
              <a:t>3. Microsoft </a:t>
            </a:r>
            <a:r>
              <a:rPr lang="en-GB" sz="1600" b="1" dirty="0" err="1"/>
              <a:t>InterpretML</a:t>
            </a:r>
            <a:endParaRPr lang="en-GB" sz="1600" b="1" dirty="0"/>
          </a:p>
          <a:p>
            <a:r>
              <a:rPr lang="en-GB" sz="1600" dirty="0"/>
              <a:t>Library for model interpretability.</a:t>
            </a:r>
          </a:p>
          <a:p>
            <a:r>
              <a:rPr lang="en-GB" sz="1600" dirty="0"/>
              <a:t>Offers techniques like: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b="1" dirty="0"/>
              <a:t>SHAP</a:t>
            </a:r>
            <a:endParaRPr lang="en-GB" sz="16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b="1" dirty="0"/>
              <a:t>LIME</a:t>
            </a:r>
            <a:endParaRPr lang="en-GB" sz="16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b="1" dirty="0" err="1"/>
              <a:t>GlassBox</a:t>
            </a:r>
            <a:r>
              <a:rPr lang="en-GB" sz="1600" b="1" dirty="0"/>
              <a:t> models</a:t>
            </a:r>
            <a:r>
              <a:rPr lang="en-GB" sz="1600" dirty="0"/>
              <a:t> (interpretable models by design like Explainable Boosting Machines)</a:t>
            </a:r>
          </a:p>
          <a:p>
            <a:r>
              <a:rPr lang="en-GB" sz="1600" dirty="0"/>
              <a:t>Can be used with many scikit-learn-compatible models.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002142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6EEFCD32-CBA5-D0B6-D52E-95DB146E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FCFFA1C4-B14C-6BF5-8902-F7B37CED82C7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714A248A-89B8-1D42-5062-B56A97EE0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Tools for AI Transparency</a:t>
            </a: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dirty="0">
                <a:solidFill>
                  <a:srgbClr val="7030A0"/>
                </a:solidFill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5DC71-A57E-B159-410E-417BF388DEA8}"/>
              </a:ext>
            </a:extLst>
          </p:cNvPr>
          <p:cNvSpPr txBox="1"/>
          <p:nvPr/>
        </p:nvSpPr>
        <p:spPr>
          <a:xfrm>
            <a:off x="443552" y="868897"/>
            <a:ext cx="748235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4. </a:t>
            </a:r>
            <a:r>
              <a:rPr lang="en-GB" sz="1600" b="1" dirty="0" err="1"/>
              <a:t>Fairlearn</a:t>
            </a:r>
            <a:r>
              <a:rPr lang="en-GB" sz="1600" b="1" dirty="0"/>
              <a:t> &amp; AIF360</a:t>
            </a:r>
          </a:p>
          <a:p>
            <a:pPr>
              <a:buNone/>
            </a:pPr>
            <a:endParaRPr lang="en-GB" sz="1600" b="1" dirty="0"/>
          </a:p>
          <a:p>
            <a:r>
              <a:rPr lang="en-GB" sz="1600" b="1" dirty="0" err="1"/>
              <a:t>Fairlearn</a:t>
            </a:r>
            <a:r>
              <a:rPr lang="en-GB" sz="1600" dirty="0"/>
              <a:t> (by Microsoft): Focuses on fairness metrics and mitigation.</a:t>
            </a:r>
          </a:p>
          <a:p>
            <a:r>
              <a:rPr lang="en-GB" sz="1600" b="1" dirty="0"/>
              <a:t>AIF360</a:t>
            </a:r>
            <a:r>
              <a:rPr lang="en-GB" sz="1600" dirty="0"/>
              <a:t> (by IBM): Helps identify and mitigate </a:t>
            </a:r>
            <a:r>
              <a:rPr lang="en-GB" sz="1600" b="1" dirty="0"/>
              <a:t>bias</a:t>
            </a:r>
            <a:r>
              <a:rPr lang="en-GB" sz="1600" dirty="0"/>
              <a:t> in datasets and models.</a:t>
            </a:r>
          </a:p>
          <a:p>
            <a:r>
              <a:rPr lang="en-GB" sz="1600" dirty="0"/>
              <a:t>Example: Check if your model treats male and female users equally.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5. Model Cards &amp; Datasheets</a:t>
            </a:r>
          </a:p>
          <a:p>
            <a:r>
              <a:rPr lang="en-GB" sz="1600" b="1" dirty="0"/>
              <a:t>Model cards</a:t>
            </a:r>
            <a:r>
              <a:rPr lang="en-GB" sz="1600" dirty="0"/>
              <a:t>: Summarize details about an AI model: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Intended use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Performance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dirty="0"/>
              <a:t>Ethical considerations</a:t>
            </a:r>
          </a:p>
          <a:p>
            <a:r>
              <a:rPr lang="en-GB" sz="1600" b="1" dirty="0"/>
              <a:t>Datasheets</a:t>
            </a:r>
            <a:r>
              <a:rPr lang="en-GB" sz="1600" dirty="0"/>
              <a:t>: Similar concept for datasets—explains where the data came from, its limitations, biases, etc.</a:t>
            </a:r>
          </a:p>
          <a:p>
            <a:r>
              <a:rPr lang="en-GB" sz="1600" dirty="0"/>
              <a:t>Helps ensure responsible sharing and usage of models and data.</a:t>
            </a:r>
          </a:p>
          <a:p>
            <a:pPr>
              <a:buNone/>
            </a:pPr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08615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F1B8C657-97CE-A221-B363-9DA4A089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3F1961B5-7B5D-4D26-24B7-9AF9ACB60C9F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0F491406-55D1-8662-48DD-32B5C92C8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Functionality of These Tools</a:t>
            </a: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000" dirty="0">
                <a:solidFill>
                  <a:srgbClr val="7030A0"/>
                </a:solidFill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9CC30-2E06-4088-FD01-5640DF0A1C4F}"/>
              </a:ext>
            </a:extLst>
          </p:cNvPr>
          <p:cNvSpPr txBox="1"/>
          <p:nvPr/>
        </p:nvSpPr>
        <p:spPr>
          <a:xfrm>
            <a:off x="443552" y="868897"/>
            <a:ext cx="74823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9CA697-75D0-1571-A439-CB16A4175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340361"/>
              </p:ext>
            </p:extLst>
          </p:nvPr>
        </p:nvGraphicFramePr>
        <p:xfrm>
          <a:off x="190352" y="937894"/>
          <a:ext cx="8399012" cy="1676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121843">
                  <a:extLst>
                    <a:ext uri="{9D8B030D-6E8A-4147-A177-3AD203B41FA5}">
                      <a16:colId xmlns:a16="http://schemas.microsoft.com/office/drawing/2014/main" val="1555839314"/>
                    </a:ext>
                  </a:extLst>
                </a:gridCol>
                <a:gridCol w="5277169">
                  <a:extLst>
                    <a:ext uri="{9D8B030D-6E8A-4147-A177-3AD203B41FA5}">
                      <a16:colId xmlns:a16="http://schemas.microsoft.com/office/drawing/2014/main" val="3370585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What It Does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155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Model Behavior Visualization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Shows how inputs relate to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505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Bias Detection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Highlights unequal treatment across different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335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Fairness Auditing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Measures fairness metrics (e.g., demographic parity)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636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Prediction Explanation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Explains why a specific decision was made by the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254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AF58E6-3864-067F-9255-37B8BA484538}"/>
              </a:ext>
            </a:extLst>
          </p:cNvPr>
          <p:cNvSpPr txBox="1"/>
          <p:nvPr/>
        </p:nvSpPr>
        <p:spPr>
          <a:xfrm>
            <a:off x="190352" y="3112547"/>
            <a:ext cx="64577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Why Use These Tools?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Build </a:t>
            </a:r>
            <a:r>
              <a:rPr lang="en-GB" sz="1600" b="1" dirty="0"/>
              <a:t>trust</a:t>
            </a:r>
            <a:r>
              <a:rPr lang="en-GB" sz="1600" dirty="0"/>
              <a:t> with users and stakeholders.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Meet </a:t>
            </a:r>
            <a:r>
              <a:rPr lang="en-GB" sz="1600" b="1" dirty="0"/>
              <a:t>regulatory requirements</a:t>
            </a:r>
            <a:r>
              <a:rPr lang="en-GB" sz="1600" dirty="0"/>
              <a:t> (especially in sensitive sectors).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Help </a:t>
            </a:r>
            <a:r>
              <a:rPr lang="en-GB" sz="1600" b="1" dirty="0"/>
              <a:t>debug, improve, and document</a:t>
            </a:r>
            <a:r>
              <a:rPr lang="en-GB" sz="1600" dirty="0"/>
              <a:t> your models responsibly.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02619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2D63A0D-5B93-3504-B0BE-B10970F5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4308B024-89F9-242B-3FE7-DDADF5CF2D57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20F43238-7A97-1E00-358D-FDF7C1E414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Accountability Mechanisms in AI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F783F-3512-2705-580E-637E2192713F}"/>
              </a:ext>
            </a:extLst>
          </p:cNvPr>
          <p:cNvSpPr txBox="1"/>
          <p:nvPr/>
        </p:nvSpPr>
        <p:spPr>
          <a:xfrm>
            <a:off x="460453" y="987810"/>
            <a:ext cx="387679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Goal</a:t>
            </a:r>
            <a:r>
              <a:rPr lang="en-GB" sz="1600" dirty="0"/>
              <a:t>: Ensure that AI systems are </a:t>
            </a:r>
            <a:r>
              <a:rPr lang="en-GB" sz="1600" b="1" dirty="0"/>
              <a:t>responsible</a:t>
            </a:r>
            <a:r>
              <a:rPr lang="en-GB" sz="1600" dirty="0"/>
              <a:t>, </a:t>
            </a:r>
            <a:r>
              <a:rPr lang="en-GB" sz="1600" b="1" dirty="0"/>
              <a:t>ethical</a:t>
            </a:r>
            <a:r>
              <a:rPr lang="en-GB" sz="1600" dirty="0"/>
              <a:t>, and can be </a:t>
            </a:r>
            <a:r>
              <a:rPr lang="en-GB" sz="1600" b="1" dirty="0"/>
              <a:t>held accountable</a:t>
            </a:r>
            <a:r>
              <a:rPr lang="en-GB" sz="1600" dirty="0"/>
              <a:t> for their outcomes.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dirty="0"/>
              <a:t>To achieve this, organizations use </a:t>
            </a:r>
            <a:r>
              <a:rPr lang="en-GB" sz="1600" b="1" dirty="0"/>
              <a:t>mechanisms at three key stages</a:t>
            </a:r>
            <a:r>
              <a:rPr lang="en-GB" sz="1600" dirty="0"/>
              <a:t>:</a:t>
            </a:r>
          </a:p>
          <a:p>
            <a:pPr>
              <a:buNone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b="1" dirty="0"/>
              <a:t>Design-time</a:t>
            </a:r>
            <a:r>
              <a:rPr lang="en-GB" sz="1600" dirty="0"/>
              <a:t> (Before deployment)</a:t>
            </a:r>
          </a:p>
          <a:p>
            <a:pPr>
              <a:buFont typeface="+mj-lt"/>
              <a:buAutoNum type="arabicPeriod"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b="1" dirty="0"/>
              <a:t>Run-time</a:t>
            </a:r>
            <a:r>
              <a:rPr lang="en-GB" sz="1600" dirty="0"/>
              <a:t> (During operation)</a:t>
            </a:r>
          </a:p>
          <a:p>
            <a:pPr>
              <a:buFont typeface="+mj-lt"/>
              <a:buAutoNum type="arabicPeriod"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b="1" dirty="0"/>
              <a:t>Post-deployment</a:t>
            </a:r>
            <a:r>
              <a:rPr lang="en-GB" sz="1600" dirty="0"/>
              <a:t> (After release)</a:t>
            </a:r>
          </a:p>
          <a:p>
            <a:pPr>
              <a:buNone/>
            </a:pPr>
            <a:endParaRPr lang="en-GB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7361A8-2FFF-5E11-6321-B5C766386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816" y="555284"/>
            <a:ext cx="4610731" cy="418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5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7B1C827A-734D-9C92-6C9D-3A32C9615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67E1E692-AF66-B754-6388-40CEC53B32A2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23818878-ACF9-9AC5-4CA7-537263390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Accountability Mechanisms in AI</a:t>
            </a:r>
            <a:br>
              <a:rPr lang="en-GB" sz="24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F6B1E-F992-00A2-7D17-0DC493DF406D}"/>
              </a:ext>
            </a:extLst>
          </p:cNvPr>
          <p:cNvSpPr txBox="1"/>
          <p:nvPr/>
        </p:nvSpPr>
        <p:spPr>
          <a:xfrm>
            <a:off x="190352" y="717988"/>
            <a:ext cx="85387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1. Design-time Mechanisms</a:t>
            </a:r>
          </a:p>
          <a:p>
            <a:pPr>
              <a:buNone/>
            </a:pPr>
            <a:r>
              <a:rPr lang="en-GB" sz="1600" dirty="0"/>
              <a:t>These are practices used </a:t>
            </a:r>
            <a:r>
              <a:rPr lang="en-GB" sz="1600" b="1" dirty="0"/>
              <a:t>during the development phase</a:t>
            </a:r>
            <a:r>
              <a:rPr lang="en-GB" sz="1600" dirty="0"/>
              <a:t> to build responsibility into the system from the start.</a:t>
            </a:r>
          </a:p>
          <a:p>
            <a:pPr>
              <a:buNone/>
            </a:pPr>
            <a:r>
              <a:rPr lang="en-GB" sz="1600" b="1" dirty="0"/>
              <a:t>Examples:</a:t>
            </a:r>
          </a:p>
          <a:p>
            <a:r>
              <a:rPr lang="en-GB" sz="1600" b="1" dirty="0"/>
              <a:t>Documentation (Data Sheets, Model Cards)</a:t>
            </a:r>
            <a:endParaRPr lang="en-GB" sz="1600" dirty="0"/>
          </a:p>
          <a:p>
            <a:pPr marL="457200" lvl="1"/>
            <a:r>
              <a:rPr lang="en-GB" sz="1600" dirty="0"/>
              <a:t>Clearly explain:</a:t>
            </a:r>
          </a:p>
          <a:p>
            <a:pPr marL="914400" lvl="2"/>
            <a:r>
              <a:rPr lang="en-GB" sz="1600" dirty="0"/>
              <a:t>What the model does</a:t>
            </a:r>
          </a:p>
          <a:p>
            <a:pPr marL="914400" lvl="2"/>
            <a:r>
              <a:rPr lang="en-GB" sz="1600" dirty="0"/>
              <a:t>Who it’s for</a:t>
            </a:r>
          </a:p>
          <a:p>
            <a:pPr marL="914400" lvl="2"/>
            <a:r>
              <a:rPr lang="en-GB" sz="1600" dirty="0"/>
              <a:t>Its limitations, biases, and performance</a:t>
            </a:r>
          </a:p>
          <a:p>
            <a:pPr marL="457200" lvl="1"/>
            <a:r>
              <a:rPr lang="en-GB" sz="1600" dirty="0"/>
              <a:t>Helps reviewers and stakeholders understand the system.</a:t>
            </a:r>
          </a:p>
          <a:p>
            <a:r>
              <a:rPr lang="en-GB" sz="1600" b="1" dirty="0"/>
              <a:t>Ethical Risk Assessments</a:t>
            </a:r>
            <a:endParaRPr lang="en-GB" sz="1600" dirty="0"/>
          </a:p>
          <a:p>
            <a:pPr marL="457200" lvl="1"/>
            <a:r>
              <a:rPr lang="en-GB" sz="1600" dirty="0"/>
              <a:t>Identify possible </a:t>
            </a:r>
            <a:r>
              <a:rPr lang="en-GB" sz="1600" b="1" dirty="0"/>
              <a:t>ethical issues or harms</a:t>
            </a:r>
            <a:r>
              <a:rPr lang="en-GB" sz="1600" dirty="0"/>
              <a:t> (e.g., discrimination, surveillance, manipulation) before they happen.</a:t>
            </a:r>
          </a:p>
          <a:p>
            <a:pPr marL="457200" lvl="1"/>
            <a:r>
              <a:rPr lang="en-GB" sz="1600" dirty="0"/>
              <a:t>Evaluate the </a:t>
            </a:r>
            <a:r>
              <a:rPr lang="en-GB" sz="1600" b="1" dirty="0"/>
              <a:t>societal and legal risks</a:t>
            </a:r>
            <a:r>
              <a:rPr lang="en-GB" sz="1600" dirty="0"/>
              <a:t> of using the AI system.</a:t>
            </a:r>
          </a:p>
          <a:p>
            <a:r>
              <a:rPr lang="en-GB" sz="1600" b="1" dirty="0"/>
              <a:t>Inclusive Design Processes</a:t>
            </a:r>
            <a:endParaRPr lang="en-GB" sz="1600" dirty="0"/>
          </a:p>
          <a:p>
            <a:pPr marL="457200" lvl="1"/>
            <a:r>
              <a:rPr lang="en-GB" sz="1600" dirty="0"/>
              <a:t>Involve </a:t>
            </a:r>
            <a:r>
              <a:rPr lang="en-GB" sz="1600" b="1" dirty="0"/>
              <a:t>diverse voices</a:t>
            </a:r>
            <a:r>
              <a:rPr lang="en-GB" sz="1600" dirty="0"/>
              <a:t> (ethnicities, genders, abilities, communities) in model design to reduce bias and improve fairness.</a:t>
            </a:r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29243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B277436A-8867-71D9-C660-4F1E33B4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8C546B36-E9CE-8E53-12DD-77A7AAD5002A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81D1A2A7-14D7-F1D3-C4EC-FD7F419D3E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Accountability Mechanisms in AI</a:t>
            </a:r>
            <a:br>
              <a:rPr lang="en-GB" sz="24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46F96-91D8-DB13-BADF-354B2A0672EC}"/>
              </a:ext>
            </a:extLst>
          </p:cNvPr>
          <p:cNvSpPr txBox="1"/>
          <p:nvPr/>
        </p:nvSpPr>
        <p:spPr>
          <a:xfrm>
            <a:off x="462855" y="860394"/>
            <a:ext cx="673123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2. Run-time Mechanisms</a:t>
            </a:r>
          </a:p>
          <a:p>
            <a:pPr>
              <a:buNone/>
            </a:pPr>
            <a:r>
              <a:rPr lang="en-GB" sz="1600" dirty="0"/>
              <a:t>These are </a:t>
            </a:r>
            <a:r>
              <a:rPr lang="en-GB" sz="1600" b="1" dirty="0"/>
              <a:t>real-time tools and processes</a:t>
            </a:r>
            <a:r>
              <a:rPr lang="en-GB" sz="1600" dirty="0"/>
              <a:t> that monitor and manage the AI system while it's running.</a:t>
            </a:r>
          </a:p>
          <a:p>
            <a:pPr>
              <a:buNone/>
            </a:pPr>
            <a:r>
              <a:rPr lang="en-GB" sz="1600" b="1" dirty="0"/>
              <a:t>Examples:</a:t>
            </a:r>
          </a:p>
          <a:p>
            <a:r>
              <a:rPr lang="en-GB" sz="1600" b="1" dirty="0"/>
              <a:t>Logging and Audit Trails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Record </a:t>
            </a:r>
            <a:r>
              <a:rPr lang="en-GB" sz="1600" b="1" dirty="0"/>
              <a:t>what the model did</a:t>
            </a:r>
            <a:r>
              <a:rPr lang="en-GB" sz="1600" dirty="0"/>
              <a:t>, when, and why.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Critical for tracing back decisions if something goes wrong.</a:t>
            </a:r>
          </a:p>
          <a:p>
            <a:r>
              <a:rPr lang="en-GB" sz="1600" b="1" dirty="0"/>
              <a:t>Human-in-the-Loop Oversight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Keep a </a:t>
            </a:r>
            <a:r>
              <a:rPr lang="en-GB" sz="1600" b="1" dirty="0"/>
              <a:t>human supervisor</a:t>
            </a:r>
            <a:r>
              <a:rPr lang="en-GB" sz="1600" dirty="0"/>
              <a:t> in the process for sensitive or high-impact decisions (e.g., medical diagnoses, loan approvals).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Allows humans to override or verify AI decisions.</a:t>
            </a:r>
          </a:p>
          <a:p>
            <a:r>
              <a:rPr lang="en-GB" sz="1600" b="1" dirty="0"/>
              <a:t>Performance Monitoring and Anomaly Detection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Keep track of </a:t>
            </a:r>
            <a:r>
              <a:rPr lang="en-GB" sz="1600" b="1" dirty="0"/>
              <a:t>accuracy, fairness, drift</a:t>
            </a:r>
            <a:r>
              <a:rPr lang="en-GB" sz="1600" dirty="0"/>
              <a:t>, and </a:t>
            </a:r>
            <a:r>
              <a:rPr lang="en-GB" sz="1600" b="1" dirty="0"/>
              <a:t>unexpected </a:t>
            </a:r>
            <a:r>
              <a:rPr lang="en-GB" sz="1600" b="1" dirty="0" err="1"/>
              <a:t>behaviors</a:t>
            </a:r>
            <a:r>
              <a:rPr lang="en-GB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Alerts when performance drops or data changes significantly.</a:t>
            </a:r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0487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44A92EE5-E73B-106B-302E-D0762004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A37BACF3-3EC5-35BC-8B1E-73E6B7B1D06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62AE8242-633B-2568-0ED8-DF424E3225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Accountability Mechanisms in AI</a:t>
            </a:r>
            <a:br>
              <a:rPr lang="en-GB" sz="24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2400" dirty="0">
                <a:solidFill>
                  <a:srgbClr val="7030A0"/>
                </a:solidFill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73525-B3A9-29B0-E181-4E03AF74D1D2}"/>
              </a:ext>
            </a:extLst>
          </p:cNvPr>
          <p:cNvSpPr txBox="1"/>
          <p:nvPr/>
        </p:nvSpPr>
        <p:spPr>
          <a:xfrm>
            <a:off x="462855" y="860394"/>
            <a:ext cx="724958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3. Post-deployment Mechanisms</a:t>
            </a:r>
          </a:p>
          <a:p>
            <a:pPr>
              <a:buNone/>
            </a:pPr>
            <a:r>
              <a:rPr lang="en-GB" sz="1600" dirty="0"/>
              <a:t>These are actions taken </a:t>
            </a:r>
            <a:r>
              <a:rPr lang="en-GB" sz="1600" b="1" dirty="0"/>
              <a:t>after the AI system is live</a:t>
            </a:r>
            <a:r>
              <a:rPr lang="en-GB" sz="1600" dirty="0"/>
              <a:t> to ensure continuous accountability.</a:t>
            </a:r>
          </a:p>
          <a:p>
            <a:pPr>
              <a:buNone/>
            </a:pPr>
            <a:r>
              <a:rPr lang="en-GB" sz="1600" b="1" dirty="0"/>
              <a:t>Examples:</a:t>
            </a:r>
          </a:p>
          <a:p>
            <a:r>
              <a:rPr lang="en-GB" sz="1600" b="1" dirty="0"/>
              <a:t>Redressal Mechanisms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Allow users to </a:t>
            </a:r>
            <a:r>
              <a:rPr lang="en-GB" sz="1600" b="1" dirty="0"/>
              <a:t>challenge, report, or appeal</a:t>
            </a:r>
            <a:r>
              <a:rPr lang="en-GB" sz="1600" dirty="0"/>
              <a:t> decisions (e.g., if an AI system wrongly rejects a loan).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Ensures the system can be corrected or explained.</a:t>
            </a:r>
          </a:p>
          <a:p>
            <a:r>
              <a:rPr lang="en-GB" sz="1600" b="1" dirty="0"/>
              <a:t>Feedback Loops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Collect user feedback and use it to refine the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Helps adapt to real-world usage and changing needs.</a:t>
            </a:r>
          </a:p>
          <a:p>
            <a:r>
              <a:rPr lang="en-GB" sz="1600" b="1" dirty="0"/>
              <a:t>Continuous Improvement and Retraining</a:t>
            </a: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Regularly </a:t>
            </a:r>
            <a:r>
              <a:rPr lang="en-GB" sz="1600" b="1" dirty="0"/>
              <a:t>retrain the model</a:t>
            </a:r>
            <a:r>
              <a:rPr lang="en-GB" sz="1600" dirty="0"/>
              <a:t> with updated data to maintain fairness and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Avoids issues like data drift and outdated </a:t>
            </a:r>
            <a:r>
              <a:rPr lang="en-GB" sz="1600" dirty="0" err="1"/>
              <a:t>behavior</a:t>
            </a:r>
            <a:r>
              <a:rPr lang="en-GB" sz="1600" dirty="0"/>
              <a:t>.</a:t>
            </a:r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21639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D1E245C-17DD-8426-7E86-225321D3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67DA5825-D171-C6C9-BDA7-CE6B9486639F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645234" y="19631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12EC5BCB-C707-1B44-6F65-65EAE68BC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22160"/>
            <a:ext cx="758035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-GB" sz="2000" b="1" dirty="0"/>
            </a:br>
            <a:br>
              <a:rPr lang="en-GB" sz="2000" b="1" dirty="0"/>
            </a:br>
            <a:br>
              <a:rPr lang="en-GB" sz="2000" b="1" dirty="0"/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2E78ED-C162-E9F3-1902-469136C6F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927544"/>
              </p:ext>
            </p:extLst>
          </p:nvPr>
        </p:nvGraphicFramePr>
        <p:xfrm>
          <a:off x="311150" y="1931035"/>
          <a:ext cx="8521701" cy="20726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101845984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539038233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07583778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600" b="1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/>
                        <a:t>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21308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 b="1" dirty="0"/>
                        <a:t>Design-time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Data sheets, ethical assessments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Build responsible AI from the start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4748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 b="1"/>
                        <a:t>Run-time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Logging, human oversight,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Keep AI behavior safe during 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01297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 b="1"/>
                        <a:t>Post-deployment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Redressal, feedback, retraining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Ensure long-term accountability &amp; trust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1034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4DB997-9483-6C5B-137E-1191425088A4}"/>
              </a:ext>
            </a:extLst>
          </p:cNvPr>
          <p:cNvSpPr txBox="1"/>
          <p:nvPr/>
        </p:nvSpPr>
        <p:spPr>
          <a:xfrm>
            <a:off x="825208" y="340734"/>
            <a:ext cx="5920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7030A0"/>
                </a:solidFill>
              </a:rPr>
              <a:t>Accountability Mechanisms in AI- summary</a:t>
            </a:r>
            <a:endParaRPr lang="en-US" sz="2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152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624865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Implementation Frameworks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1747A-F689-C978-401A-6B5351CB7EF7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9EB96-EF39-DF28-7515-C2AE6E6083AE}"/>
              </a:ext>
            </a:extLst>
          </p:cNvPr>
          <p:cNvSpPr txBox="1"/>
          <p:nvPr/>
        </p:nvSpPr>
        <p:spPr>
          <a:xfrm>
            <a:off x="137160" y="889985"/>
            <a:ext cx="88164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These are </a:t>
            </a:r>
            <a:r>
              <a:rPr lang="en-GB" sz="1600" b="1" dirty="0"/>
              <a:t>guidelines, policies, and legal standards</a:t>
            </a:r>
            <a:r>
              <a:rPr lang="en-GB" sz="1600" dirty="0"/>
              <a:t> that organizations and governments use to ensure that AI systems are </a:t>
            </a:r>
            <a:r>
              <a:rPr lang="en-GB" sz="1600" b="1" dirty="0"/>
              <a:t>ethical, fair, transparent, and accountable</a:t>
            </a:r>
            <a:r>
              <a:rPr lang="en-GB" sz="1600" dirty="0"/>
              <a:t>.</a:t>
            </a:r>
          </a:p>
          <a:p>
            <a:pPr>
              <a:buNone/>
            </a:pPr>
            <a:r>
              <a:rPr lang="en-GB" sz="1600" dirty="0"/>
              <a:t>They help answer: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How do we </a:t>
            </a:r>
            <a:r>
              <a:rPr lang="en-GB" sz="1600" b="1" dirty="0"/>
              <a:t>build</a:t>
            </a:r>
            <a:r>
              <a:rPr lang="en-GB" sz="1600" dirty="0"/>
              <a:t> AI responsibly?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How do we </a:t>
            </a:r>
            <a:r>
              <a:rPr lang="en-GB" sz="1600" b="1" dirty="0"/>
              <a:t>govern</a:t>
            </a:r>
            <a:r>
              <a:rPr lang="en-GB" sz="1600" dirty="0"/>
              <a:t> it during use?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How do we </a:t>
            </a:r>
            <a:r>
              <a:rPr lang="en-GB" sz="1600" b="1" dirty="0"/>
              <a:t>respond</a:t>
            </a:r>
            <a:r>
              <a:rPr lang="en-GB" sz="1600" dirty="0"/>
              <a:t> when things go wrong?</a:t>
            </a:r>
          </a:p>
          <a:p>
            <a:pPr>
              <a:buNone/>
            </a:pPr>
            <a:r>
              <a:rPr lang="en-GB" sz="1600" b="1" dirty="0"/>
              <a:t>Framework Examples</a:t>
            </a:r>
          </a:p>
          <a:p>
            <a:pPr>
              <a:buNone/>
            </a:pPr>
            <a:r>
              <a:rPr lang="en-GB" sz="1600" b="1" dirty="0"/>
              <a:t>1. OECD AI Principles</a:t>
            </a:r>
          </a:p>
          <a:p>
            <a:r>
              <a:rPr lang="en-GB" sz="1600" dirty="0"/>
              <a:t>Developed by the </a:t>
            </a:r>
            <a:r>
              <a:rPr lang="en-GB" sz="1600" b="1" dirty="0"/>
              <a:t>Organisation for Economic Co-operation and Development</a:t>
            </a:r>
            <a:r>
              <a:rPr lang="en-GB" sz="1600" dirty="0"/>
              <a:t>.</a:t>
            </a:r>
          </a:p>
          <a:p>
            <a:r>
              <a:rPr lang="en-GB" sz="1600" dirty="0"/>
              <a:t>Focuses on: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GB" sz="1600" b="1" dirty="0"/>
              <a:t>Inclusive growth</a:t>
            </a:r>
            <a:endParaRPr lang="en-GB" sz="1600" dirty="0"/>
          </a:p>
          <a:p>
            <a:pPr marL="800100" lvl="1" indent="-342900">
              <a:buFont typeface="+mj-lt"/>
              <a:buAutoNum type="arabicParenR"/>
            </a:pPr>
            <a:r>
              <a:rPr lang="en-GB" sz="1600" b="1" dirty="0"/>
              <a:t>Human-</a:t>
            </a:r>
            <a:r>
              <a:rPr lang="en-GB" sz="1600" b="1" dirty="0" err="1"/>
              <a:t>centered</a:t>
            </a:r>
            <a:r>
              <a:rPr lang="en-GB" sz="1600" b="1" dirty="0"/>
              <a:t> values</a:t>
            </a:r>
            <a:endParaRPr lang="en-GB" sz="1600" dirty="0"/>
          </a:p>
          <a:p>
            <a:pPr marL="800100" lvl="1" indent="-342900">
              <a:buFont typeface="+mj-lt"/>
              <a:buAutoNum type="arabicParenR"/>
            </a:pPr>
            <a:r>
              <a:rPr lang="en-GB" sz="1600" b="1" dirty="0"/>
              <a:t>Transparency &amp; accountability</a:t>
            </a:r>
            <a:endParaRPr lang="en-GB" sz="1600" dirty="0"/>
          </a:p>
          <a:p>
            <a:pPr marL="800100" lvl="1" indent="-342900">
              <a:buFont typeface="+mj-lt"/>
              <a:buAutoNum type="arabicParenR"/>
            </a:pPr>
            <a:r>
              <a:rPr lang="en-GB" sz="1600" b="1" dirty="0"/>
              <a:t>Robustness &amp; security</a:t>
            </a:r>
            <a:endParaRPr lang="en-GB" sz="1600" dirty="0"/>
          </a:p>
          <a:p>
            <a:pPr marL="800100" lvl="1" indent="-342900">
              <a:buFont typeface="+mj-lt"/>
              <a:buAutoNum type="arabicParenR"/>
            </a:pPr>
            <a:r>
              <a:rPr lang="en-GB" sz="1600" b="1" dirty="0"/>
              <a:t>International cooperation</a:t>
            </a:r>
            <a:endParaRPr lang="en-GB" sz="1600" dirty="0"/>
          </a:p>
          <a:p>
            <a:r>
              <a:rPr lang="en-GB" sz="1600" dirty="0"/>
              <a:t>These principles are adopted by 40+ countries and form a foundation for </a:t>
            </a:r>
            <a:r>
              <a:rPr lang="en-GB" sz="1600" b="1" dirty="0"/>
              <a:t>responsible AI development</a:t>
            </a:r>
            <a:r>
              <a:rPr lang="en-GB" sz="1600" dirty="0"/>
              <a:t>.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2AC74AC-6C7E-9F76-1B5F-DA54BCA29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BF50FCF0-9234-5FBC-5D7A-AB4C205F0CDF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99198C24-9673-620E-FA7B-2D98AFE34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624865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Implementation Frameworks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77B10-E77C-F0BF-4582-F6B3E4B213AE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033EE-D6F5-5908-36D2-4A2E8DF28B17}"/>
              </a:ext>
            </a:extLst>
          </p:cNvPr>
          <p:cNvSpPr txBox="1"/>
          <p:nvPr/>
        </p:nvSpPr>
        <p:spPr>
          <a:xfrm>
            <a:off x="137160" y="777558"/>
            <a:ext cx="8816487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500" b="1" dirty="0"/>
              <a:t>2. EU AI Act (2024)</a:t>
            </a:r>
          </a:p>
          <a:p>
            <a:r>
              <a:rPr lang="en-GB" sz="1500" dirty="0"/>
              <a:t>A landmark </a:t>
            </a:r>
            <a:r>
              <a:rPr lang="en-GB" sz="1500" b="1" dirty="0"/>
              <a:t>regulation by the European Union</a:t>
            </a:r>
            <a:r>
              <a:rPr lang="en-GB" sz="1500" dirty="0"/>
              <a:t>.</a:t>
            </a:r>
          </a:p>
          <a:p>
            <a:r>
              <a:rPr lang="en-GB" sz="1500" dirty="0"/>
              <a:t>Classifies AI systems by </a:t>
            </a:r>
            <a:r>
              <a:rPr lang="en-GB" sz="1500" b="1" dirty="0"/>
              <a:t>risk level</a:t>
            </a:r>
            <a:r>
              <a:rPr lang="en-GB" sz="1500" dirty="0"/>
              <a:t> (unacceptable, high, limited, minimal).</a:t>
            </a:r>
          </a:p>
          <a:p>
            <a:r>
              <a:rPr lang="en-GB" sz="1500" dirty="0"/>
              <a:t>Imposes </a:t>
            </a:r>
            <a:r>
              <a:rPr lang="en-GB" sz="1500" b="1" dirty="0"/>
              <a:t>strict requirements</a:t>
            </a:r>
            <a:r>
              <a:rPr lang="en-GB" sz="1500" dirty="0"/>
              <a:t> for high-risk AI: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Transparency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Risk assessments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Human oversight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Documentation and logging</a:t>
            </a:r>
          </a:p>
          <a:p>
            <a:pPr>
              <a:buNone/>
            </a:pPr>
            <a:r>
              <a:rPr lang="en-GB" sz="1500" dirty="0"/>
              <a:t>First major </a:t>
            </a:r>
            <a:r>
              <a:rPr lang="en-GB" sz="1500" b="1" dirty="0"/>
              <a:t>legal framework</a:t>
            </a:r>
            <a:r>
              <a:rPr lang="en-GB" sz="1500" dirty="0"/>
              <a:t> in the world to regulate AI directly.</a:t>
            </a:r>
          </a:p>
          <a:p>
            <a:pPr>
              <a:buNone/>
            </a:pPr>
            <a:r>
              <a:rPr lang="en-GB" sz="1500" b="1" dirty="0"/>
              <a:t>3. NIST AI Risk Management Framework</a:t>
            </a:r>
          </a:p>
          <a:p>
            <a:r>
              <a:rPr lang="en-GB" sz="1500" dirty="0"/>
              <a:t>Created by the </a:t>
            </a:r>
            <a:r>
              <a:rPr lang="en-GB" sz="1500" b="1" dirty="0"/>
              <a:t>U.S. National Institute of Standards and Technology</a:t>
            </a:r>
            <a:r>
              <a:rPr lang="en-GB" sz="1500" dirty="0"/>
              <a:t>.</a:t>
            </a:r>
          </a:p>
          <a:p>
            <a:r>
              <a:rPr lang="en-GB" sz="1500" dirty="0"/>
              <a:t>Helps organizations </a:t>
            </a:r>
            <a:r>
              <a:rPr lang="en-GB" sz="1500" b="1" dirty="0"/>
              <a:t>identify, assess, manage, and monitor AI risks</a:t>
            </a:r>
            <a:r>
              <a:rPr lang="en-GB" sz="1500" dirty="0"/>
              <a:t>.</a:t>
            </a:r>
          </a:p>
          <a:p>
            <a:r>
              <a:rPr lang="en-GB" sz="1500" dirty="0"/>
              <a:t>Based on principles like: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Fairness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Explainability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Privacy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Trustworthiness</a:t>
            </a:r>
          </a:p>
          <a:p>
            <a:r>
              <a:rPr lang="en-GB" sz="1500" dirty="0"/>
              <a:t>It’s voluntary but widely adopted by enterprises and governments to build responsible AI systems.</a:t>
            </a:r>
          </a:p>
          <a:p>
            <a:pPr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245107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5E98BA9-3DD7-1331-F691-5D0CD813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32F145F3-80AC-51F9-D6FD-D9D186F24A40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CD853298-8046-3F66-8BB7-F59300A298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624865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Enterprise Adoption Strategies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F4821E-B3F3-084D-1AA5-AE99B2F2831F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6DC03-7F27-D7FC-AD04-00D1791D8E53}"/>
              </a:ext>
            </a:extLst>
          </p:cNvPr>
          <p:cNvSpPr txBox="1"/>
          <p:nvPr/>
        </p:nvSpPr>
        <p:spPr>
          <a:xfrm>
            <a:off x="137160" y="889985"/>
            <a:ext cx="881648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Here’s how companies can </a:t>
            </a:r>
            <a:r>
              <a:rPr lang="en-GB" sz="1600" b="1" dirty="0"/>
              <a:t>put these frameworks into practice</a:t>
            </a:r>
            <a:r>
              <a:rPr lang="en-GB" sz="1600" dirty="0"/>
              <a:t>:</a:t>
            </a:r>
          </a:p>
          <a:p>
            <a:pPr>
              <a:buNone/>
            </a:pPr>
            <a:r>
              <a:rPr lang="en-GB" sz="1600" b="1" dirty="0"/>
              <a:t>Integrate Accountability into ML Lifecycle</a:t>
            </a:r>
          </a:p>
          <a:p>
            <a:r>
              <a:rPr lang="en-GB" sz="1600" dirty="0"/>
              <a:t>Embed ethical checks and documentation at each stage: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Data collection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Model training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Deployment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Monitoring</a:t>
            </a:r>
            <a:endParaRPr lang="en-GB" sz="1600" dirty="0"/>
          </a:p>
          <a:p>
            <a:pPr>
              <a:buNone/>
            </a:pPr>
            <a:r>
              <a:rPr lang="en-GB" sz="1600" dirty="0"/>
              <a:t>Helps ensure </a:t>
            </a:r>
            <a:r>
              <a:rPr lang="en-GB" sz="1600" b="1" dirty="0"/>
              <a:t>traceability</a:t>
            </a:r>
            <a:r>
              <a:rPr lang="en-GB" sz="1600" dirty="0"/>
              <a:t> and </a:t>
            </a:r>
            <a:r>
              <a:rPr lang="en-GB" sz="1600" b="1" dirty="0"/>
              <a:t>ethical decision-making</a:t>
            </a:r>
            <a:r>
              <a:rPr lang="en-GB" sz="1600" dirty="0"/>
              <a:t> throughout the pipeline.</a:t>
            </a:r>
          </a:p>
          <a:p>
            <a:pPr>
              <a:buNone/>
            </a:pPr>
            <a:r>
              <a:rPr lang="en-GB" sz="1600" b="1" dirty="0"/>
              <a:t>Create Internal Ethics Review Boards</a:t>
            </a:r>
          </a:p>
          <a:p>
            <a:r>
              <a:rPr lang="en-GB" sz="1600" dirty="0"/>
              <a:t>Teams made of: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AI researchers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Policy experts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Legal and ethical advisors</a:t>
            </a:r>
            <a:endParaRPr lang="en-GB" sz="1600" dirty="0"/>
          </a:p>
          <a:p>
            <a:r>
              <a:rPr lang="en-GB" sz="1600" dirty="0"/>
              <a:t>Review sensitive projects before they launch.</a:t>
            </a:r>
          </a:p>
          <a:p>
            <a:r>
              <a:rPr lang="en-GB" sz="1600" dirty="0"/>
              <a:t>Ensures AI is </a:t>
            </a:r>
            <a:r>
              <a:rPr lang="en-GB" sz="1600" b="1" dirty="0"/>
              <a:t>aligned with company values</a:t>
            </a:r>
            <a:r>
              <a:rPr lang="en-GB" sz="1600" dirty="0"/>
              <a:t> and legal regulations.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44503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92ACBC1-C4CA-E193-785F-5AA020AE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CD6956C8-9140-2C91-8353-A62749C29402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B4D2A3D4-6DB1-C6A5-E386-8F7601861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624865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Enterprise Adoption Strategies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0EE7B6-5FAF-8DC0-5A2C-9FE303ED5E40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B0FE7-B433-A425-D424-9FCD8243558F}"/>
              </a:ext>
            </a:extLst>
          </p:cNvPr>
          <p:cNvSpPr txBox="1"/>
          <p:nvPr/>
        </p:nvSpPr>
        <p:spPr>
          <a:xfrm>
            <a:off x="137160" y="889985"/>
            <a:ext cx="88164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Conduct Impact Assessments</a:t>
            </a:r>
          </a:p>
          <a:p>
            <a:r>
              <a:rPr lang="en-GB" sz="1600" dirty="0"/>
              <a:t>Evaluate how AI systems affect: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b="1" dirty="0"/>
              <a:t>People's rights and freedoms</a:t>
            </a:r>
            <a:endParaRPr lang="en-GB" sz="16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b="1" dirty="0"/>
              <a:t>Marginalized communities</a:t>
            </a:r>
            <a:endParaRPr lang="en-GB" sz="16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600" b="1" dirty="0"/>
              <a:t>Business risks</a:t>
            </a:r>
            <a:endParaRPr lang="en-GB" sz="1600" dirty="0"/>
          </a:p>
          <a:p>
            <a:r>
              <a:rPr lang="en-GB" sz="1600" dirty="0"/>
              <a:t>Tools like </a:t>
            </a:r>
            <a:r>
              <a:rPr lang="en-GB" sz="1600" b="1" dirty="0"/>
              <a:t>Algorithmic Impact Assessments (AIAs)</a:t>
            </a:r>
            <a:r>
              <a:rPr lang="en-GB" sz="1600" dirty="0"/>
              <a:t> are used.</a:t>
            </a:r>
          </a:p>
          <a:p>
            <a:r>
              <a:rPr lang="en-GB" sz="1600" dirty="0"/>
              <a:t>Helps prevent harm and build public trust.</a:t>
            </a:r>
          </a:p>
          <a:p>
            <a:pPr>
              <a:buNone/>
            </a:pPr>
            <a:endParaRPr lang="en-GB" sz="1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8AB3C-7566-A1B6-B303-B93D5D74F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926832"/>
              </p:ext>
            </p:extLst>
          </p:nvPr>
        </p:nvGraphicFramePr>
        <p:xfrm>
          <a:off x="190352" y="2846434"/>
          <a:ext cx="8521700" cy="17373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63221231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902384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260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OECD AI Principles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Promote responsible AI globally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362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EU AI Act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Legally regulate high-risk AI in the EU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10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NIST Framework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Manage risks in AI systems in the U.S.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220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Enterprise Best Practices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Operationalize frameworks through ethics boards &amp; assessments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152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612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34EF16DA-B401-0766-0B28-93115680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EE3ED50F-1BE9-C079-D2F5-3E77799AB415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6D137A7B-A3F7-54F5-9286-B23BBD3C5B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260486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Challenges &amp; Future Directions in AI Governance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C3872-FEB4-659F-3377-B2844A4A4F66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86CE8-09A8-FD46-7185-EB969CA0F815}"/>
              </a:ext>
            </a:extLst>
          </p:cNvPr>
          <p:cNvSpPr txBox="1"/>
          <p:nvPr/>
        </p:nvSpPr>
        <p:spPr>
          <a:xfrm>
            <a:off x="137160" y="889985"/>
            <a:ext cx="88164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Current Issues</a:t>
            </a:r>
          </a:p>
          <a:p>
            <a:pPr>
              <a:buNone/>
            </a:pPr>
            <a:r>
              <a:rPr lang="en-GB" sz="1600" dirty="0"/>
              <a:t>These are the major obstacles faced today when building ethical, trustworthy, and explainable AI systems:</a:t>
            </a:r>
          </a:p>
          <a:p>
            <a:pPr>
              <a:buNone/>
            </a:pPr>
            <a:r>
              <a:rPr lang="en-GB" sz="1600" b="1" dirty="0"/>
              <a:t>1. Trade-off Between Accuracy and Interpretability</a:t>
            </a:r>
          </a:p>
          <a:p>
            <a:r>
              <a:rPr lang="en-GB" sz="1600" b="1" dirty="0"/>
              <a:t>Problem</a:t>
            </a:r>
            <a:r>
              <a:rPr lang="en-GB" sz="1600" dirty="0"/>
              <a:t>: Highly accurate models (like deep neural networks) are often complex and hard to explain.</a:t>
            </a:r>
          </a:p>
          <a:p>
            <a:r>
              <a:rPr lang="en-GB" sz="1600" b="1" dirty="0"/>
              <a:t>Example</a:t>
            </a:r>
            <a:r>
              <a:rPr lang="en-GB" sz="1600" dirty="0"/>
              <a:t>: A deep learning model might diagnose diseases better than a human but can't easily explain </a:t>
            </a:r>
            <a:r>
              <a:rPr lang="en-GB" sz="1600" i="1" dirty="0"/>
              <a:t>why</a:t>
            </a:r>
            <a:r>
              <a:rPr lang="en-GB" sz="1600" dirty="0"/>
              <a:t> it made a certain decision.</a:t>
            </a:r>
          </a:p>
          <a:p>
            <a:pPr>
              <a:buNone/>
            </a:pPr>
            <a:r>
              <a:rPr lang="en-GB" sz="1600" b="1" dirty="0"/>
              <a:t>Challenge</a:t>
            </a:r>
            <a:r>
              <a:rPr lang="en-GB" sz="1600" dirty="0"/>
              <a:t>: How do we balance the need for performance with the need for transparency and user trust?</a:t>
            </a:r>
          </a:p>
          <a:p>
            <a:pPr>
              <a:buNone/>
            </a:pPr>
            <a:r>
              <a:rPr lang="en-GB" sz="1600" b="1" dirty="0"/>
              <a:t>2. Proprietary Algorithms and Black-Box Models</a:t>
            </a:r>
          </a:p>
          <a:p>
            <a:r>
              <a:rPr lang="en-GB" sz="1600" dirty="0"/>
              <a:t>Many AI systems are built by private companies using </a:t>
            </a:r>
            <a:r>
              <a:rPr lang="en-GB" sz="1600" b="1" dirty="0"/>
              <a:t>closed-source</a:t>
            </a:r>
            <a:r>
              <a:rPr lang="en-GB" sz="1600" dirty="0"/>
              <a:t> or </a:t>
            </a:r>
            <a:r>
              <a:rPr lang="en-GB" sz="1600" b="1" dirty="0"/>
              <a:t>black-box</a:t>
            </a:r>
            <a:r>
              <a:rPr lang="en-GB" sz="1600" dirty="0"/>
              <a:t> algorithms.</a:t>
            </a:r>
          </a:p>
          <a:p>
            <a:r>
              <a:rPr lang="en-GB" sz="1600" dirty="0"/>
              <a:t>Users and even regulators often don’t know how the model works or what data it uses. Concern: Lack of transparency can lead to unfair, biased, or unaccountable decision-making (e.g., in hiring, credit, or justice systems).</a:t>
            </a:r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89505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22C14F3C-DF16-4F14-9B7B-B58D8207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7164B6D1-83B0-44AC-53CA-86DF9483F586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B6926F4A-FC51-3E9F-0152-F6566DD331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260486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Challenges &amp; Future Directions in AI Governance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9A417-DF0E-A904-F510-DDB56EF3C13A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980A5-A0B0-BD41-F0C7-9BDC07F1078B}"/>
              </a:ext>
            </a:extLst>
          </p:cNvPr>
          <p:cNvSpPr txBox="1"/>
          <p:nvPr/>
        </p:nvSpPr>
        <p:spPr>
          <a:xfrm>
            <a:off x="137161" y="889985"/>
            <a:ext cx="80249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/>
              <a:t>3. Lack of Universal Standards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800" dirty="0"/>
              <a:t>Different countries and companies follow different </a:t>
            </a:r>
            <a:r>
              <a:rPr lang="en-GB" sz="1800" b="1" dirty="0"/>
              <a:t>AI ethics guidelines</a:t>
            </a:r>
            <a:r>
              <a:rPr lang="en-GB" sz="1800" dirty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800" dirty="0"/>
              <a:t>Some follow OECD principles, others NIST, some none at all.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1800" dirty="0"/>
              <a:t>No </a:t>
            </a:r>
            <a:r>
              <a:rPr lang="en-GB" sz="1800" b="1" dirty="0"/>
              <a:t>global framework</a:t>
            </a:r>
            <a:r>
              <a:rPr lang="en-GB" sz="1800" dirty="0"/>
              <a:t> exists to guide everyone consistently.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1800" dirty="0"/>
          </a:p>
          <a:p>
            <a:r>
              <a:rPr lang="en-GB" sz="1800" b="1" dirty="0"/>
              <a:t>Result</a:t>
            </a:r>
            <a:r>
              <a:rPr lang="en-GB" sz="1800" dirty="0"/>
              <a:t>: Makes it hard to </a:t>
            </a:r>
            <a:r>
              <a:rPr lang="en-GB" sz="1800" b="1" dirty="0"/>
              <a:t>regulate AI across borders</a:t>
            </a:r>
            <a:r>
              <a:rPr lang="en-GB" sz="1800" dirty="0"/>
              <a:t>, especially for international applications (like social media, healthcare platforms).</a:t>
            </a:r>
          </a:p>
          <a:p>
            <a:pPr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35821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399B79EF-121D-1A98-8937-ACF8ADA90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5F79E482-4D02-13AF-5B69-4A9DF44266B1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4A1F0423-5134-9495-390F-E2BFD37D3B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260486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Future Directions</a:t>
            </a:r>
            <a:br>
              <a:rPr lang="en-GB" sz="20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1F5D3-0FDC-45C3-E739-2E305C290229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35F37-E679-5553-4F3A-C5B78EFB2FA6}"/>
              </a:ext>
            </a:extLst>
          </p:cNvPr>
          <p:cNvSpPr txBox="1"/>
          <p:nvPr/>
        </p:nvSpPr>
        <p:spPr>
          <a:xfrm>
            <a:off x="159450" y="561011"/>
            <a:ext cx="80249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500" dirty="0"/>
              <a:t>Here’s where AI governance is heading — these are key areas of development to make AI safer and more trustworthy:</a:t>
            </a:r>
          </a:p>
          <a:p>
            <a:pPr>
              <a:buNone/>
            </a:pPr>
            <a:r>
              <a:rPr lang="en-GB" sz="1500" b="1" dirty="0"/>
              <a:t>1. Regulatory Harmonization</a:t>
            </a:r>
          </a:p>
          <a:p>
            <a:r>
              <a:rPr lang="en-GB" sz="1500" b="1" dirty="0"/>
              <a:t>Goal</a:t>
            </a:r>
            <a:r>
              <a:rPr lang="en-GB" sz="1500" dirty="0"/>
              <a:t>: Align AI laws and standards across countries and regions.</a:t>
            </a:r>
          </a:p>
          <a:p>
            <a:r>
              <a:rPr lang="en-GB" sz="1500" dirty="0"/>
              <a:t>Efforts like: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500" b="1" dirty="0"/>
              <a:t>EU AI Act</a:t>
            </a:r>
            <a:endParaRPr lang="en-GB" sz="1500" dirty="0"/>
          </a:p>
          <a:p>
            <a:pPr marL="800100" lvl="1" indent="-342900">
              <a:buFont typeface="+mj-lt"/>
              <a:buAutoNum type="arabicPeriod"/>
            </a:pPr>
            <a:r>
              <a:rPr lang="en-GB" sz="1500" b="1" dirty="0"/>
              <a:t>OECD collaborations</a:t>
            </a:r>
            <a:endParaRPr lang="en-GB" sz="1500" dirty="0"/>
          </a:p>
          <a:p>
            <a:pPr marL="800100" lvl="1" indent="-342900">
              <a:buFont typeface="+mj-lt"/>
              <a:buAutoNum type="arabicPeriod"/>
            </a:pPr>
            <a:r>
              <a:rPr lang="en-GB" sz="1500" b="1" dirty="0"/>
              <a:t>UNESCO AI ethics guidance</a:t>
            </a:r>
            <a:endParaRPr lang="en-GB" sz="1500" dirty="0"/>
          </a:p>
          <a:p>
            <a:pPr>
              <a:buNone/>
            </a:pPr>
            <a:r>
              <a:rPr lang="en-GB" sz="1500" dirty="0"/>
              <a:t>Benefit: </a:t>
            </a:r>
            <a:r>
              <a:rPr lang="en-GB" sz="1500" b="1" dirty="0"/>
              <a:t>Encourages safe innovation, reduces compliance confusion, and builds global trust.</a:t>
            </a:r>
          </a:p>
          <a:p>
            <a:pPr>
              <a:buNone/>
            </a:pPr>
            <a:r>
              <a:rPr lang="en-GB" sz="1500" b="1" dirty="0"/>
              <a:t>2.  Interdisciplinary Governance</a:t>
            </a:r>
          </a:p>
          <a:p>
            <a:r>
              <a:rPr lang="en-GB" sz="1500" dirty="0"/>
              <a:t>Combine technology, law, and ethics in decision-making.</a:t>
            </a:r>
          </a:p>
          <a:p>
            <a:r>
              <a:rPr lang="en-GB" sz="1500" dirty="0"/>
              <a:t>Teams should include: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500" dirty="0"/>
              <a:t>AI Engineers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500" dirty="0"/>
              <a:t>Legal experts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500" dirty="0"/>
              <a:t>Social scientists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500" dirty="0"/>
              <a:t>Ethicists</a:t>
            </a:r>
          </a:p>
          <a:p>
            <a:r>
              <a:rPr lang="en-GB" sz="1500" dirty="0"/>
              <a:t>Purpose: Ensure that AI solutions are not just technically feasible, but also legally compliant and socially responsible.</a:t>
            </a:r>
          </a:p>
          <a:p>
            <a:pPr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063958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0D9ED58E-959D-057C-77F3-E6A6DEDC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17659769-DC3D-6FD5-6245-2C43A24461EC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2CADE04F-4B99-34AA-2A8E-125EB17854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260486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Future Directions</a:t>
            </a:r>
            <a:br>
              <a:rPr lang="en-GB" sz="20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A48BD-6943-82FD-D4B1-139B78DF2DFA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C5FE23-1677-5171-B108-5A28B14301D5}"/>
              </a:ext>
            </a:extLst>
          </p:cNvPr>
          <p:cNvSpPr txBox="1"/>
          <p:nvPr/>
        </p:nvSpPr>
        <p:spPr>
          <a:xfrm>
            <a:off x="145186" y="651433"/>
            <a:ext cx="733490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3. Public Engagement in AI Development</a:t>
            </a:r>
          </a:p>
          <a:p>
            <a:pPr>
              <a:buNone/>
            </a:pPr>
            <a:endParaRPr lang="en-GB" sz="1600" b="1" dirty="0"/>
          </a:p>
          <a:p>
            <a:r>
              <a:rPr lang="en-GB" sz="1600" dirty="0"/>
              <a:t>Involve citizens and communities in AI design, deployment, and evaluation.</a:t>
            </a:r>
          </a:p>
          <a:p>
            <a:endParaRPr lang="en-GB" sz="1600" dirty="0"/>
          </a:p>
          <a:p>
            <a:r>
              <a:rPr lang="en-GB" sz="1600" dirty="0"/>
              <a:t>Examples: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Public consultations for national AI policies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Participatory design workshops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Open forums for feedback on AI systems</a:t>
            </a:r>
          </a:p>
          <a:p>
            <a:pPr marL="457200" lvl="1"/>
            <a:endParaRPr lang="en-GB" sz="1600" dirty="0"/>
          </a:p>
          <a:p>
            <a:r>
              <a:rPr lang="en-GB" sz="1600" b="1" dirty="0"/>
              <a:t>Outcome: Builds trust, accountability, and inclusiveness in how AI impacts society.</a:t>
            </a:r>
          </a:p>
        </p:txBody>
      </p:sp>
    </p:spTree>
    <p:extLst>
      <p:ext uri="{BB962C8B-B14F-4D97-AF65-F5344CB8AC3E}">
        <p14:creationId xmlns:p14="http://schemas.microsoft.com/office/powerpoint/2010/main" val="945312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249C03F2-BFFC-0F6B-6B59-8DAB94CA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>
            <a:extLst>
              <a:ext uri="{FF2B5EF4-FFF2-40B4-BE49-F238E27FC236}">
                <a16:creationId xmlns:a16="http://schemas.microsoft.com/office/drawing/2014/main" id="{25C1FAAC-826F-E1CC-EACB-F9BE8E4BDC59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02C6C7CA-33EE-03F2-3CEA-B5051E691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260486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Future Directions</a:t>
            </a:r>
            <a:br>
              <a:rPr lang="en-GB" sz="20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CB23E5-650E-7DF6-784C-0336EB4C9864}"/>
              </a:ext>
            </a:extLst>
          </p:cNvPr>
          <p:cNvSpPr txBox="1"/>
          <p:nvPr/>
        </p:nvSpPr>
        <p:spPr>
          <a:xfrm>
            <a:off x="3784821" y="12722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D30053-999B-20E7-A298-C0FB71112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19990"/>
              </p:ext>
            </p:extLst>
          </p:nvPr>
        </p:nvGraphicFramePr>
        <p:xfrm>
          <a:off x="311150" y="1412875"/>
          <a:ext cx="8521701" cy="32308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293718780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9227102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17124693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600" b="1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/>
                        <a:t>Current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Future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59285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 dirty="0"/>
                        <a:t>Accuracy vs. 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Complex models are hard to explain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Develop explainable AI without losing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10029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/>
                        <a:t>Black-box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Lack of algorithm 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Push for open standards, model cards,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37038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/>
                        <a:t>No Global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Inconsistent regulations worldwide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Harmonize frameworks (EU AI Act, OECD,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4591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/>
                        <a:t>Narrow Governance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Tech-only leadership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Combine tech + law + ethics (interdisciplinary)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41500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/>
                        <a:t>Public Exclusion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Little user input on AI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Increase public involvement in AI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785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329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RECAP</a:t>
            </a: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F6B0B-CDF5-6247-EEAD-F2816EA369FC}"/>
              </a:ext>
            </a:extLst>
          </p:cNvPr>
          <p:cNvSpPr txBox="1"/>
          <p:nvPr/>
        </p:nvSpPr>
        <p:spPr>
          <a:xfrm>
            <a:off x="361129" y="1065586"/>
            <a:ext cx="68791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AI Accountability</a:t>
            </a:r>
            <a:r>
              <a:rPr lang="en-GB" sz="1600" dirty="0"/>
              <a:t> ensures responsible use of AI through principles like responsibility, traceability, and auditability.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Explainability</a:t>
            </a:r>
            <a:r>
              <a:rPr lang="en-GB" sz="1600" dirty="0"/>
              <a:t> helps stakeholders understand AI decisions, supporting ethical governance and legal compliance (e.g., GDPR).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Transparency Tools</a:t>
            </a:r>
            <a:r>
              <a:rPr lang="en-GB" sz="1600" dirty="0"/>
              <a:t> like SHAP, LIME, AIF360, and model cards visualize, audit, and explain AI </a:t>
            </a:r>
            <a:r>
              <a:rPr lang="en-GB" sz="1600" dirty="0" err="1"/>
              <a:t>behavior</a:t>
            </a:r>
            <a:r>
              <a:rPr lang="en-GB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Accountability Mechanisms</a:t>
            </a:r>
            <a:r>
              <a:rPr lang="en-GB" sz="1600" dirty="0"/>
              <a:t> span design-time (risk assessments), run-time (logging, HITL), and post-deployment (feedback, retraining).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Implementation Frameworks</a:t>
            </a:r>
            <a:r>
              <a:rPr lang="en-GB" sz="1600" dirty="0"/>
              <a:t> such as the EU AI Act, OECD Principles, and NIST RMF guide responsible AI practices.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Case Studies</a:t>
            </a:r>
            <a:r>
              <a:rPr lang="en-GB" sz="1600" dirty="0"/>
              <a:t> highlight real-world challenges (e.g., COMPAS bias, Amazon hiring tool, healthcare diagnostics).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Current Challenges</a:t>
            </a:r>
            <a:r>
              <a:rPr lang="en-GB" sz="1600" dirty="0"/>
              <a:t> include interpretability trade-offs, black-box models, and regulatory gaps.</a:t>
            </a: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69586EBE-1B86-2014-119D-B347B99F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0">
            <a:extLst>
              <a:ext uri="{FF2B5EF4-FFF2-40B4-BE49-F238E27FC236}">
                <a16:creationId xmlns:a16="http://schemas.microsoft.com/office/drawing/2014/main" id="{0D0A301F-6465-E916-608E-76C4F4921635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>
            <a:extLst>
              <a:ext uri="{FF2B5EF4-FFF2-40B4-BE49-F238E27FC236}">
                <a16:creationId xmlns:a16="http://schemas.microsoft.com/office/drawing/2014/main" id="{1D46B072-8E42-3F74-AB3A-23E960F173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200" b="1" dirty="0"/>
              <a:t>Resources for Further Study</a:t>
            </a:r>
            <a:br>
              <a:rPr lang="en-GB" sz="3200" b="1" dirty="0"/>
            </a:b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ACB99-25A5-41A5-42FE-4AD61E88DC07}"/>
              </a:ext>
            </a:extLst>
          </p:cNvPr>
          <p:cNvSpPr txBox="1"/>
          <p:nvPr/>
        </p:nvSpPr>
        <p:spPr>
          <a:xfrm>
            <a:off x="1260539" y="1215487"/>
            <a:ext cx="5961489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800" i="1" dirty="0"/>
              <a:t>The AI Now Institute Reports</a:t>
            </a:r>
            <a:endParaRPr lang="en-GB" sz="1800" dirty="0"/>
          </a:p>
          <a:p>
            <a:pPr marL="342900" indent="-342900">
              <a:buFont typeface="+mj-lt"/>
              <a:buAutoNum type="arabicPeriod"/>
            </a:pPr>
            <a:r>
              <a:rPr lang="en-GB" sz="1800" i="1" dirty="0"/>
              <a:t>OECD Principles on AI</a:t>
            </a:r>
            <a:endParaRPr lang="en-GB" sz="1800" dirty="0"/>
          </a:p>
          <a:p>
            <a:pPr marL="342900" indent="-342900">
              <a:buFont typeface="+mj-lt"/>
              <a:buAutoNum type="arabicPeriod"/>
            </a:pPr>
            <a:r>
              <a:rPr lang="en-GB" sz="1800" i="1" dirty="0"/>
              <a:t>NIST AI Risk Management Framework</a:t>
            </a:r>
            <a:endParaRPr lang="en-GB" sz="1800" dirty="0"/>
          </a:p>
          <a:p>
            <a:pPr marL="342900" indent="-342900">
              <a:buFont typeface="+mj-lt"/>
              <a:buAutoNum type="arabicPeriod"/>
            </a:pPr>
            <a:r>
              <a:rPr lang="en-GB" sz="1800" i="1" dirty="0"/>
              <a:t>"Weapons of Math Destruction" by Cathy O'Neil</a:t>
            </a:r>
            <a:endParaRPr lang="en-GB" sz="1800" dirty="0"/>
          </a:p>
          <a:p>
            <a:pPr marL="342900" indent="-342900">
              <a:buFont typeface="+mj-lt"/>
              <a:buAutoNum type="arabicPeriod"/>
            </a:pPr>
            <a:r>
              <a:rPr lang="en-GB" sz="1800" i="1" dirty="0"/>
              <a:t>Partnership on AI Guidelines</a:t>
            </a:r>
            <a:endParaRPr lang="en-GB" sz="1800" dirty="0"/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32964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5382</TotalTime>
  <Words>2542</Words>
  <Application>Microsoft Macintosh PowerPoint</Application>
  <PresentationFormat>On-screen Show (16:9)</PresentationFormat>
  <Paragraphs>361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IBM Plex Sans Arabic Medium</vt:lpstr>
      <vt:lpstr>Tajawal</vt:lpstr>
      <vt:lpstr>Times New Roman</vt:lpstr>
      <vt:lpstr>Inter</vt:lpstr>
      <vt:lpstr>IBM Plex Sans Arabic</vt:lpstr>
      <vt:lpstr>Calibri</vt:lpstr>
      <vt:lpstr>IBM Plex Sans Arabic SemiBold</vt:lpstr>
      <vt:lpstr>Wingdings</vt:lpstr>
      <vt:lpstr>Proxima Nova</vt:lpstr>
      <vt:lpstr>Arial</vt:lpstr>
      <vt:lpstr>Simple Light</vt:lpstr>
      <vt:lpstr>أكـــــاديميــــة طــــويـــق</vt:lpstr>
      <vt:lpstr>            AI Accountability &amp; Transparency </vt:lpstr>
      <vt:lpstr>PowerPoint Presentation</vt:lpstr>
      <vt:lpstr>Foundations of AI Accountability         </vt:lpstr>
      <vt:lpstr>Key Stakeholders        </vt:lpstr>
      <vt:lpstr>Explainability in AI Governance       </vt:lpstr>
      <vt:lpstr>Explainability in AI Governance       </vt:lpstr>
      <vt:lpstr>Implementation Checklist       </vt:lpstr>
      <vt:lpstr>Explainability in AI Governance       </vt:lpstr>
      <vt:lpstr>Tools for AI Transparency       </vt:lpstr>
      <vt:lpstr>Tools for AI Transparency       </vt:lpstr>
      <vt:lpstr>Tools for AI Transparency       </vt:lpstr>
      <vt:lpstr>Functionality of These Tools        </vt:lpstr>
      <vt:lpstr>Accountability Mechanisms in AI       </vt:lpstr>
      <vt:lpstr>Accountability Mechanisms in AI      </vt:lpstr>
      <vt:lpstr>Accountability Mechanisms in AI      </vt:lpstr>
      <vt:lpstr>Accountability Mechanisms in AI      </vt:lpstr>
      <vt:lpstr>       </vt:lpstr>
      <vt:lpstr>Implementation Frameworks   </vt:lpstr>
      <vt:lpstr>Implementation Frameworks   </vt:lpstr>
      <vt:lpstr>Enterprise Adoption Strategies    </vt:lpstr>
      <vt:lpstr>Enterprise Adoption Strategies    </vt:lpstr>
      <vt:lpstr>Challenges &amp; Future Directions in AI Governance     </vt:lpstr>
      <vt:lpstr>Challenges &amp; Future Directions in AI Governance     </vt:lpstr>
      <vt:lpstr>Future Directions      </vt:lpstr>
      <vt:lpstr>Future Directions      </vt:lpstr>
      <vt:lpstr>Future Directions      </vt:lpstr>
      <vt:lpstr>RECAP </vt:lpstr>
      <vt:lpstr>Resources for Further Study  </vt:lpstr>
      <vt:lpstr>الشراكات العالمية</vt:lpstr>
      <vt:lpstr>شــــــكــــرًا لكــــــم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/>
  <cp:lastModifiedBy>Afshan Hashmi</cp:lastModifiedBy>
  <cp:revision>42</cp:revision>
  <dcterms:modified xsi:type="dcterms:W3CDTF">2025-04-05T00:49:37Z</dcterms:modified>
  <cp:category/>
</cp:coreProperties>
</file>