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IBM Plex Sans Arabic Medium"/>
      <p:regular r:id="rId43"/>
      <p:bold r:id="rId44"/>
    </p:embeddedFont>
    <p:embeddedFont>
      <p:font typeface="IBM Plex Sans Arabic"/>
      <p:regular r:id="rId45"/>
      <p:bold r:id="rId46"/>
    </p:embeddedFont>
    <p:embeddedFont>
      <p:font typeface="Nunito"/>
      <p:regular r:id="rId47"/>
      <p:bold r:id="rId48"/>
      <p:italic r:id="rId49"/>
      <p:boldItalic r:id="rId50"/>
    </p:embeddedFont>
    <p:embeddedFont>
      <p:font typeface="Inter"/>
      <p:regular r:id="rId51"/>
      <p:bold r:id="rId52"/>
      <p:italic r:id="rId53"/>
      <p:boldItalic r:id="rId54"/>
    </p:embeddedFont>
    <p:embeddedFont>
      <p:font typeface="IBM Plex Sans Arabic SemiBold"/>
      <p:regular r:id="rId55"/>
      <p:bold r:id="rId56"/>
    </p:embeddedFont>
    <p:embeddedFont>
      <p:font typeface="IBM Plex Sans Medium"/>
      <p:regular r:id="rId57"/>
      <p:bold r:id="rId58"/>
      <p:italic r:id="rId59"/>
      <p:boldItalic r:id="rId60"/>
    </p:embeddedFont>
    <p:embeddedFont>
      <p:font typeface="Tajawal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r:id="rId63" roundtripDataSignature="AMtx7mgDCq+8+GXXQYtM4vjF+0KAFa1O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DCB24E-EAFF-4366-BF7D-ABE337FB7948}">
  <a:tblStyle styleId="{AEDCB24E-EAFF-4366-BF7D-ABE337FB794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4" orient="horz"/>
        <p:guide pos="2560" orient="horz"/>
        <p:guide pos="2880"/>
        <p:guide pos="759" orient="horz"/>
        <p:guide pos="2428" orient="horz"/>
        <p:guide pos="5325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IBMPlexSansArabicMedium-bold.fntdata"/><Relationship Id="rId43" Type="http://schemas.openxmlformats.org/officeDocument/2006/relationships/font" Target="fonts/IBMPlexSansArabicMedium-regular.fntdata"/><Relationship Id="rId46" Type="http://schemas.openxmlformats.org/officeDocument/2006/relationships/font" Target="fonts/IBMPlexSansArabic-bold.fntdata"/><Relationship Id="rId45" Type="http://schemas.openxmlformats.org/officeDocument/2006/relationships/font" Target="fonts/IBMPlexSansArabi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unito-bold.fntdata"/><Relationship Id="rId47" Type="http://schemas.openxmlformats.org/officeDocument/2006/relationships/font" Target="fonts/Nunito-regular.fntdata"/><Relationship Id="rId49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Tajawal-bold.fntdata"/><Relationship Id="rId61" Type="http://schemas.openxmlformats.org/officeDocument/2006/relationships/font" Target="fonts/Tajawal-regular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BMPlexSansMediu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nter-regular.fntdata"/><Relationship Id="rId50" Type="http://schemas.openxmlformats.org/officeDocument/2006/relationships/font" Target="fonts/Nunito-boldItalic.fntdata"/><Relationship Id="rId53" Type="http://schemas.openxmlformats.org/officeDocument/2006/relationships/font" Target="fonts/Inter-italic.fntdata"/><Relationship Id="rId52" Type="http://schemas.openxmlformats.org/officeDocument/2006/relationships/font" Target="fonts/Inter-bold.fntdata"/><Relationship Id="rId11" Type="http://schemas.openxmlformats.org/officeDocument/2006/relationships/slide" Target="slides/slide5.xml"/><Relationship Id="rId55" Type="http://schemas.openxmlformats.org/officeDocument/2006/relationships/font" Target="fonts/IBMPlexSansArabicSemiBold-regular.fntdata"/><Relationship Id="rId10" Type="http://schemas.openxmlformats.org/officeDocument/2006/relationships/slide" Target="slides/slide4.xml"/><Relationship Id="rId54" Type="http://schemas.openxmlformats.org/officeDocument/2006/relationships/font" Target="fonts/Inter-boldItalic.fntdata"/><Relationship Id="rId13" Type="http://schemas.openxmlformats.org/officeDocument/2006/relationships/slide" Target="slides/slide7.xml"/><Relationship Id="rId57" Type="http://schemas.openxmlformats.org/officeDocument/2006/relationships/font" Target="fonts/IBMPlexSansMedium-regular.fntdata"/><Relationship Id="rId12" Type="http://schemas.openxmlformats.org/officeDocument/2006/relationships/slide" Target="slides/slide6.xml"/><Relationship Id="rId56" Type="http://schemas.openxmlformats.org/officeDocument/2006/relationships/font" Target="fonts/IBMPlexSansArabicSemiBold-bold.fntdata"/><Relationship Id="rId15" Type="http://schemas.openxmlformats.org/officeDocument/2006/relationships/slide" Target="slides/slide9.xml"/><Relationship Id="rId59" Type="http://schemas.openxmlformats.org/officeDocument/2006/relationships/font" Target="fonts/IBMPlexSansMedium-italic.fntdata"/><Relationship Id="rId14" Type="http://schemas.openxmlformats.org/officeDocument/2006/relationships/slide" Target="slides/slide8.xml"/><Relationship Id="rId58" Type="http://schemas.openxmlformats.org/officeDocument/2006/relationships/font" Target="fonts/IBMPlexSans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b="1" sz="43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/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/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b="0" i="0" sz="2500" u="none" cap="none" strike="noStrik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b="0" i="0" sz="18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indent="-317500" lvl="1" marL="914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indent="-317500" lvl="2" marL="1371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indent="-317500" lvl="3" marL="1828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indent="-317500" lvl="4" marL="22860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indent="-317500" lvl="5" marL="2743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indent="-317500" lvl="6" marL="3200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indent="-317500" lvl="7" marL="3657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indent="-317500" lvl="8" marL="4114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hyperlink" Target="https://drive.google.com/file/d/1f2mjRj14-qVzfxO4fMyPbdX-vUmIjXsr/view?usp=sharing" TargetMode="External"/><Relationship Id="rId5" Type="http://schemas.openxmlformats.org/officeDocument/2006/relationships/image" Target="../media/image1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hyperlink" Target="https://www.ibm.com/think/topics/hyperparameter-tuning" TargetMode="External"/><Relationship Id="rId5" Type="http://schemas.openxmlformats.org/officeDocument/2006/relationships/hyperlink" Target="https://www.geeksforgeeks.org/hyperparameter-tuning/" TargetMode="External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20.png"/><Relationship Id="rId13" Type="http://schemas.openxmlformats.org/officeDocument/2006/relationships/image" Target="../media/image18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15" Type="http://schemas.openxmlformats.org/officeDocument/2006/relationships/image" Target="../media/image26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14.png"/><Relationship Id="rId5" Type="http://schemas.openxmlformats.org/officeDocument/2006/relationships/image" Target="../media/image23.png"/><Relationship Id="rId19" Type="http://schemas.openxmlformats.org/officeDocument/2006/relationships/image" Target="../media/image22.png"/><Relationship Id="rId6" Type="http://schemas.openxmlformats.org/officeDocument/2006/relationships/image" Target="../media/image24.png"/><Relationship Id="rId18" Type="http://schemas.openxmlformats.org/officeDocument/2006/relationships/image" Target="../media/image17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0" name="Google Shape;40;p1"/>
          <p:cNvSpPr txBox="1"/>
          <p:nvPr>
            <p:ph idx="4294967295" type="body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Deep Learning</a:t>
            </a:r>
            <a:endParaRPr sz="360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ctrTitle"/>
          </p:nvPr>
        </p:nvSpPr>
        <p:spPr>
          <a:xfrm>
            <a:off x="311700" y="1719944"/>
            <a:ext cx="8520600" cy="365983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444"/>
              <a:buFont typeface="Tajawal"/>
              <a:buNone/>
            </a:pPr>
            <a:br>
              <a:rPr b="1" lang="en-US" sz="4000"/>
            </a:br>
            <a:br>
              <a:rPr b="1" lang="en-US" sz="4000"/>
            </a:br>
            <a:br>
              <a:rPr b="1" lang="en-US" sz="4000"/>
            </a:br>
            <a:br>
              <a:rPr b="1" lang="en-US" sz="4000"/>
            </a:br>
            <a:br>
              <a:rPr b="1" lang="en-US" sz="4000"/>
            </a:br>
            <a:br>
              <a:rPr b="1" lang="en-US" sz="4000"/>
            </a:br>
            <a:br>
              <a:rPr b="1" lang="en-US" sz="4000"/>
            </a:br>
            <a:br>
              <a:rPr b="1" lang="en-US" sz="4000"/>
            </a:br>
            <a:br>
              <a:rPr b="1" lang="en-US" sz="4000"/>
            </a:br>
            <a:r>
              <a:rPr b="1" lang="en-US" sz="4000"/>
              <a:t>Hyperparameter Tuning and Regularization</a:t>
            </a:r>
            <a:br>
              <a:rPr b="1" lang="en-US" sz="4000"/>
            </a:br>
            <a:r>
              <a:rPr b="1" lang="en-US" sz="1800">
                <a:solidFill>
                  <a:schemeClr val="dk1"/>
                </a:solidFill>
              </a:rPr>
              <a:t>Dropout, Batch Normalization, L2/L1 Regularization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b="1" lang="en-US" sz="1800">
                <a:solidFill>
                  <a:schemeClr val="dk1"/>
                </a:solidFill>
              </a:rPr>
              <a:t>Optimizing learning rates and batch sizes</a:t>
            </a:r>
            <a:br>
              <a:rPr b="1" lang="en-US" sz="4000"/>
            </a:br>
            <a:br>
              <a:rPr b="1" lang="en-US" sz="4000"/>
            </a:br>
            <a:br>
              <a:rPr b="1" i="0" lang="en-US" sz="3200" u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 txBox="1"/>
          <p:nvPr/>
        </p:nvSpPr>
        <p:spPr>
          <a:xfrm>
            <a:off x="1555080" y="1359290"/>
            <a:ext cx="5673034" cy="2277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Topics Covered: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Hyperparameter Tuning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Hyperparameter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Optimization of Learning Rate and Batch Sizes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Importance of Hyperparameter Tuning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Techniques of Hyperparameter Tuning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 and challenges of Hyperparameter Tuning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>
            <a:off x="284775" y="0"/>
            <a:ext cx="6261168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Introduction to Hyperparameter Tuning</a:t>
            </a:r>
            <a:br>
              <a:rPr b="1" lang="en-US" sz="2800"/>
            </a:br>
            <a:br>
              <a:rPr i="0" lang="en-US" sz="2800" u="none" strike="noStrike">
                <a:solidFill>
                  <a:srgbClr val="7030A0"/>
                </a:solidFill>
              </a:rPr>
            </a:br>
            <a:endParaRPr sz="2800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57" name="Google Shape;57;p31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1"/>
          <p:cNvSpPr txBox="1"/>
          <p:nvPr/>
        </p:nvSpPr>
        <p:spPr>
          <a:xfrm>
            <a:off x="134478" y="496074"/>
            <a:ext cx="792024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machine learning, hyperparameters are the settings you define before training a model. These control how the learning process happens  like how fast or how often the model learns.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model parameters (like weights and biases, which the model learns during training), hyperparameters are set manually or optimized using search strategies.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These are a different type of parameter that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be learned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during regular training.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are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 </a:t>
            </a:r>
            <a:r>
              <a:rPr b="1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training process begins.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act as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settings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that control the learning process itself.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influence crucial aspects like the model's performance, its complexity, and its learning speed.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Learning rate, number of neurons/layers in a neural network, or kernel size in a Support Vector Machine.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 Tuning: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This is the critical process of selecting the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optimal values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for these hyperparameters.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To find the combination of hyperparameter values that leads to the best possible model performance (e.g., accuracy, generalization) on a given task.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Incorrect hyperparameter choices can lead to issues like slow convergence (low learning rate) or skipping optimal solutions (high learning rate)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 txBox="1"/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i="0" lang="en-US" sz="2800" u="none" strike="noStrike">
                <a:solidFill>
                  <a:srgbClr val="7030A0"/>
                </a:solidFill>
              </a:rPr>
              <a:t>Key Hyperparameters</a:t>
            </a:r>
            <a:endParaRPr/>
          </a:p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br>
              <a:rPr i="0" lang="en-US" sz="2800" u="none" strike="noStrike">
                <a:solidFill>
                  <a:srgbClr val="7030A0"/>
                </a:solidFill>
              </a:rPr>
            </a:br>
            <a:endParaRPr sz="2800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64" name="Google Shape;64;p32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2"/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32"/>
          <p:cNvGraphicFramePr/>
          <p:nvPr/>
        </p:nvGraphicFramePr>
        <p:xfrm>
          <a:off x="898383" y="1152526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CE7F5"/>
                    </a:gs>
                    <a:gs pos="35000">
                      <a:srgbClr val="BBEAF6"/>
                    </a:gs>
                    <a:gs pos="100000">
                      <a:srgbClr val="E4F9FC"/>
                    </a:gs>
                  </a:gsLst>
                  <a:lin ang="16200000" scaled="0"/>
                </a:gradFill>
                <a:tableStyleId>{AEDCB24E-EAFF-4366-BF7D-ABE337FB7948}</a:tableStyleId>
              </a:tblPr>
              <a:tblGrid>
                <a:gridCol w="2449075"/>
                <a:gridCol w="2449075"/>
                <a:gridCol w="2449075"/>
              </a:tblGrid>
              <a:tr h="26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Hyperparameter</a:t>
                      </a:r>
                      <a:endParaRPr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Role</a:t>
                      </a:r>
                      <a:endParaRPr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Common Values</a:t>
                      </a:r>
                      <a:endParaRPr/>
                    </a:p>
                  </a:txBody>
                  <a:tcPr marT="39425" marB="39425" marR="78850" marL="78850" anchor="ctr"/>
                </a:tc>
              </a:tr>
              <a:tr h="63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Learning Rate (η)</a:t>
                      </a:r>
                      <a:endParaRPr sz="1200" u="none" cap="none" strike="noStrike"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Controls the </a:t>
                      </a:r>
                      <a:r>
                        <a:rPr b="1" lang="en-US" sz="1200" u="none" cap="none" strike="noStrike"/>
                        <a:t>step size</a:t>
                      </a:r>
                      <a:r>
                        <a:rPr lang="en-US" sz="1200" u="none" cap="none" strike="noStrike"/>
                        <a:t> in gradient descent (how much the weights are updated at each step)</a:t>
                      </a:r>
                      <a:endParaRPr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0.1, 0.01, 0.001</a:t>
                      </a:r>
                      <a:endParaRPr/>
                    </a:p>
                  </a:txBody>
                  <a:tcPr marT="39425" marB="39425" marR="78850" marL="78850" anchor="ctr"/>
                </a:tc>
              </a:tr>
              <a:tr h="63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Batch Size</a:t>
                      </a:r>
                      <a:endParaRPr sz="1200" u="none" cap="none" strike="noStrike"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Number of </a:t>
                      </a:r>
                      <a:r>
                        <a:rPr b="1" lang="en-US" sz="1200" u="none" cap="none" strike="noStrike"/>
                        <a:t>training examples processed together</a:t>
                      </a:r>
                      <a:r>
                        <a:rPr lang="en-US" sz="1200" u="none" cap="none" strike="noStrike"/>
                        <a:t> before updating weights</a:t>
                      </a:r>
                      <a:endParaRPr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32, 64, 128</a:t>
                      </a:r>
                      <a:endParaRPr/>
                    </a:p>
                  </a:txBody>
                  <a:tcPr marT="39425" marB="39425" marR="78850" marL="78850" anchor="ctr"/>
                </a:tc>
              </a:tr>
              <a:tr h="63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Epochs</a:t>
                      </a:r>
                      <a:endParaRPr sz="1200" u="none" cap="none" strike="noStrike"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How many </a:t>
                      </a:r>
                      <a:r>
                        <a:rPr b="1" lang="en-US" sz="1200" u="none" cap="none" strike="noStrike"/>
                        <a:t>times the entire dataset</a:t>
                      </a:r>
                      <a:r>
                        <a:rPr lang="en-US" sz="1200" u="none" cap="none" strike="noStrike"/>
                        <a:t> is passed through the model</a:t>
                      </a:r>
                      <a:endParaRPr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 – 100+</a:t>
                      </a:r>
                      <a:endParaRPr/>
                    </a:p>
                  </a:txBody>
                  <a:tcPr marT="39425" marB="39425" marR="78850" marL="78850" anchor="ctr"/>
                </a:tc>
              </a:tr>
              <a:tr h="63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Dropout Rate</a:t>
                      </a:r>
                      <a:endParaRPr sz="1200" u="none" cap="none" strike="noStrike"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Fraction of neurons to </a:t>
                      </a:r>
                      <a:r>
                        <a:rPr b="1" lang="en-US" sz="1200" u="none" cap="none" strike="noStrike"/>
                        <a:t>randomly "turn off"</a:t>
                      </a:r>
                      <a:r>
                        <a:rPr lang="en-US" sz="1200" u="none" cap="none" strike="noStrike"/>
                        <a:t> during training to prevent overfitting</a:t>
                      </a:r>
                      <a:endParaRPr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0.2 – 0.5</a:t>
                      </a:r>
                      <a:endParaRPr/>
                    </a:p>
                  </a:txBody>
                  <a:tcPr marT="39425" marB="39425" marR="78850" marL="78850" anchor="ctr"/>
                </a:tc>
              </a:tr>
              <a:tr h="63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L2/L1 Lambda (λ)</a:t>
                      </a:r>
                      <a:endParaRPr sz="1200" u="none" cap="none" strike="noStrike"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Strength of </a:t>
                      </a:r>
                      <a:r>
                        <a:rPr b="1" lang="en-US" sz="1200" u="none" cap="none" strike="noStrike"/>
                        <a:t>regularization</a:t>
                      </a:r>
                      <a:r>
                        <a:rPr lang="en-US" sz="1200" u="none" cap="none" strike="noStrike"/>
                        <a:t> to reduce model complexity and overfitting</a:t>
                      </a:r>
                      <a:endParaRPr/>
                    </a:p>
                  </a:txBody>
                  <a:tcPr marT="39425" marB="39425" marR="78850" marL="78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0.01, 0.001</a:t>
                      </a:r>
                      <a:endParaRPr/>
                    </a:p>
                  </a:txBody>
                  <a:tcPr marT="39425" marB="39425" marR="78850" marL="788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i="0" lang="en-US" sz="2800" u="none" strike="noStrike">
                <a:solidFill>
                  <a:srgbClr val="7030A0"/>
                </a:solidFill>
              </a:rPr>
              <a:t>Key Hyperparameters</a:t>
            </a:r>
            <a:endParaRPr/>
          </a:p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br>
              <a:rPr i="0" lang="en-US" sz="2800" u="none" strike="noStrike">
                <a:solidFill>
                  <a:srgbClr val="7030A0"/>
                </a:solidFill>
              </a:rPr>
            </a:br>
            <a:endParaRPr sz="2800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72" name="Google Shape;72;p33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 txBox="1"/>
          <p:nvPr/>
        </p:nvSpPr>
        <p:spPr>
          <a:xfrm>
            <a:off x="192247" y="454178"/>
            <a:ext cx="8164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Techniques such as (Dropout, Batch Normalization, L1, and L2 regularization) are crucial in deep learning to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 overfitting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model generalization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to unseen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Dropout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Mechanism: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During the training phase, Dropout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randomly deactivates (sets to zero)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 certain percentage of neurons in selected layers.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This process forces the network to learn more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 and distributed representations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Since no single neuron can rely too heavily on the presence of another, the network becomes less sensitive to specific weights and learns more independently useful features.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training iteration (and each mini-batch), a "new" thinned network is effectively created.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neuron in a dropout-enabled layer has a specified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(e.g., typically 0.5) of being "dropped out" (temporarily ignored) for that specific iteration.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prevents "co-adaptation" among neurons, where neurons become overly specialized and reliant on specific other neurons.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Inference (Test) Time: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neurons are kept active.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their output is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scaled by the dropout probability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For example, if the dropout probability during training was 0.5, the output of each neuron is halved. This ensures that the expected output of a neuron at inference time remains consistent with its expected output during training.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i="0" lang="en-US" sz="2800" u="none" strike="noStrike">
                <a:solidFill>
                  <a:srgbClr val="7030A0"/>
                </a:solidFill>
              </a:rPr>
              <a:t>Key Hyperparameters</a:t>
            </a:r>
            <a:endParaRPr/>
          </a:p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br>
              <a:rPr i="0" lang="en-US" sz="2800" u="none" strike="noStrike">
                <a:solidFill>
                  <a:srgbClr val="7030A0"/>
                </a:solidFill>
              </a:rPr>
            </a:br>
            <a:endParaRPr sz="2800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80" name="Google Shape;80;p34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4"/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4"/>
          <p:cNvSpPr txBox="1"/>
          <p:nvPr/>
        </p:nvSpPr>
        <p:spPr>
          <a:xfrm>
            <a:off x="192247" y="454178"/>
            <a:ext cx="8164574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Batch Normalization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Mechanism: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Normalizes the activations (outputs) of a layer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within each mini-batch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during training. It typically involves normalizing the input to the activation function for each neuron.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internal covariate shift: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This is the phenomenon where the distribution of inputs to a layer changes during training due to the changing parameters of preceding layers. Batch Normalization stabilizes these inputs.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training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stable and faster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layers receive inputs from a more consistent distribution.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feature (neuron output) in a mini-batch, it calculates the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 the activations.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then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these activations by subtracting the mean and dividing by the standard deviation.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also introduces learnable scale (γ) and shift (β) parameters, allowing the network to learn optimal scaling and shifting of the normalized activations.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Benefits: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Often allows for the use of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learning rates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further accelerating training.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act as a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mild form of regularization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itself, subtly reducing overfitting.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5"/>
          <p:cNvSpPr txBox="1"/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i="0" lang="en-US" sz="2800" u="none" strike="noStrike">
                <a:solidFill>
                  <a:srgbClr val="7030A0"/>
                </a:solidFill>
              </a:rPr>
              <a:t>Key Hyperparameters</a:t>
            </a:r>
            <a:endParaRPr/>
          </a:p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br>
              <a:rPr i="0" lang="en-US" sz="2800" u="none" strike="noStrike">
                <a:solidFill>
                  <a:srgbClr val="7030A0"/>
                </a:solidFill>
              </a:rPr>
            </a:br>
            <a:endParaRPr sz="2800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88" name="Google Shape;88;p35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5"/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5"/>
          <p:cNvSpPr txBox="1"/>
          <p:nvPr/>
        </p:nvSpPr>
        <p:spPr>
          <a:xfrm>
            <a:off x="192247" y="454178"/>
            <a:ext cx="7751106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L1 Regularization (Lasso Regularization)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Mechanism: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Adds a penalty term to the model's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This penalty is proportional to the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absolute value of the weights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(|w|).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Encourages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sparsity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 the model's weights.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has the property of driving some weights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exactly to zero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effectively performing automatic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by eliminating the corresponding features from the model.</a:t>
            </a:r>
            <a:endParaRPr/>
          </a:p>
          <a:p>
            <a:pPr indent="-2413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Particularly useful when dealing with datasets that have many features, where many of those features might be irrelevant or redundant. It helps in building simpler, more interpretable models.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i="0" lang="en-US" sz="2800" u="none" strike="noStrike">
                <a:solidFill>
                  <a:srgbClr val="7030A0"/>
                </a:solidFill>
              </a:rPr>
              <a:t>Key Hyperparameters</a:t>
            </a:r>
            <a:endParaRPr/>
          </a:p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br>
              <a:rPr i="0" lang="en-US" sz="2800" u="none" strike="noStrike">
                <a:solidFill>
                  <a:srgbClr val="7030A0"/>
                </a:solidFill>
              </a:rPr>
            </a:br>
            <a:endParaRPr sz="2800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96" name="Google Shape;96;p36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6"/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6"/>
          <p:cNvSpPr txBox="1"/>
          <p:nvPr/>
        </p:nvSpPr>
        <p:spPr>
          <a:xfrm>
            <a:off x="192247" y="454178"/>
            <a:ext cx="7496664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L2 Regularization (Ridge Regularization or Weight Decay)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Mechanism: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Adds a penalty term to the model's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This penalty is proportional to the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square of the weights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(w^2).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the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magnitude of the weights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towards zero (but rarely exactly zero).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discourages individual weights from becoming very large, which helps to prevent the model from becoming overly complex and sensitive to small changes in input data.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Primarily used for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stabilizing the model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preventing overfitting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by keeping weight values small.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Especially effective when features are highly correlated, as it can distribute weight across correlated features rather than assigning all weight to just one.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7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b="1" i="0" lang="en-US" sz="2800" u="none" strike="noStrike">
                <a:solidFill>
                  <a:srgbClr val="7030A0"/>
                </a:solidFill>
              </a:rPr>
              <a:t>Learning Rate: The Training Pace Setter</a:t>
            </a: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0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04" name="Google Shape;104;p37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7"/>
          <p:cNvSpPr txBox="1"/>
          <p:nvPr/>
        </p:nvSpPr>
        <p:spPr>
          <a:xfrm>
            <a:off x="129619" y="717155"/>
            <a:ext cx="7948907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learning rate dictates the step size taken by the optimization algorithm as it adjusts model weights in response to calculated gradients.</a:t>
            </a:r>
            <a:endParaRPr/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It is arguably the most critical hyperparameter in training neural networks.</a:t>
            </a:r>
            <a:endParaRPr/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on Training: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Learning Rate: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Leads to faster parameter adjustments but risks unstable training performance and divergence (missing the optimal solution).</a:t>
            </a:r>
            <a:endParaRPr/>
          </a:p>
          <a:p>
            <a:pPr indent="-2413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Learning Rate: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Requires more computational time and data, but increases the likelihood of pinpointing the model's minimum loss.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8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b="1" i="0" lang="en-US" sz="2400" u="none" strike="noStrike">
                <a:solidFill>
                  <a:srgbClr val="7030A0"/>
                </a:solidFill>
              </a:rPr>
              <a:t>Optimizing the Learning Rate</a:t>
            </a: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0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11" name="Google Shape;111;p38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8"/>
          <p:cNvSpPr txBox="1"/>
          <p:nvPr/>
        </p:nvSpPr>
        <p:spPr>
          <a:xfrm>
            <a:off x="129619" y="717155"/>
            <a:ext cx="794890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Optimizing the Learning Rate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Identify the most effective learning rate, often found around half the value that causes training divergence.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 Search Strategy: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High Value: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Begin with a learning rate known to make the training algorithm diverge (e.g., 1.0).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Iterative Reduction: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Systematically reduce this value (e.g., divide by 3) and re-evaluate until training stabilizes.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Refinement: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stable range indicates proximity to the optimal learning rate.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Rate Scheduling: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often beneficial to gradually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the learning rate as training progresses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technique helps in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 the model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and achieving superior convergence, allowing for larger steps initially and smaller, more precise steps later.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9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b="1" i="0" lang="en-US" sz="2400" u="none" strike="noStrike">
                <a:solidFill>
                  <a:srgbClr val="7030A0"/>
                </a:solidFill>
              </a:rPr>
              <a:t>Optimizers: Refining the Learning Path</a:t>
            </a: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0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18" name="Google Shape;118;p39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9"/>
          <p:cNvSpPr txBox="1"/>
          <p:nvPr/>
        </p:nvSpPr>
        <p:spPr>
          <a:xfrm>
            <a:off x="129619" y="717155"/>
            <a:ext cx="7948907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Optimizers: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Choosing an advanced optimizer, beyond basic Mini-batch Gradient Descent (SGD), can significantly enhance model performance and training efficiency.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Popular Choices: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the strengths of AdaGrad and RMSProp.</a:t>
            </a:r>
            <a:endParaRPr/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Generally considered a robust and effective choice for a wide range of problems.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RMSProp: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Particularly well-suited for recurrent neural networks (RNNs) and online learning tasks.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Optimizer Hyperparameters: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Each specific optimizer also possesses its own set of hyperparameters (e.g., momentum, decay rates) that require careful tuning for optimal model performance.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0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b="1" i="0" lang="en-US" sz="2400" u="none" strike="noStrike">
                <a:solidFill>
                  <a:srgbClr val="7030A0"/>
                </a:solidFill>
              </a:rPr>
              <a:t>Batch Size: Managing Training Samples</a:t>
            </a: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0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25" name="Google Shape;125;p40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0"/>
          <p:cNvSpPr txBox="1"/>
          <p:nvPr/>
        </p:nvSpPr>
        <p:spPr>
          <a:xfrm>
            <a:off x="129619" y="717155"/>
            <a:ext cx="794890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 &amp; Impact: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Batch size is a critical hyperparameter that determines the number of samples processed by the model before its parameters are updated. It significantly affects both model performance and training time.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Batch Sizes (e.g., &lt; 32):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Often recommended.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noisier gradient estimates, which can help the optimization algorithm escape local minima in the loss landscape.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Optimal Range &amp; Hardware Considerations: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very small batches are beneficial, a batch size of at least 10 can leverage hardware and software optimizations (especially for matrix multiplications).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Normalization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batch size of no less than 20 is generally advisable for stable mean/variance estimates.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Expert Advice: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As famously advised by Yann LeCun, "Friends don't let friends use mini-batches larger than 32," emphasizing the benefits of smaller batch sizes in many scenarios.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1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b="1" i="0" lang="en-US" sz="2400" u="none" strike="noStrike">
                <a:solidFill>
                  <a:srgbClr val="7030A0"/>
                </a:solidFill>
              </a:rPr>
              <a:t>Activation Functions: Introducing Nonlinearity</a:t>
            </a: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0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32" name="Google Shape;132;p41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1"/>
          <p:cNvSpPr txBox="1"/>
          <p:nvPr/>
        </p:nvSpPr>
        <p:spPr>
          <a:xfrm>
            <a:off x="129619" y="717155"/>
            <a:ext cx="7948907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Activation functions introduce nonlinearity into a neural network, enabling it to learn and model complex, non-linear relationships within data. This allows models to generalize and adapt to a wider variety of data.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Layers - Default Choice: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ReLU (Rectified Linear Unit):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 strong default choice for hidden layers.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Simplicity, computational efficiency, and effectiveness in mitigating the vanishing gradient problem.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Layer Activations - Task-Dependent: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Softmax: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Used for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multi-class classification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tasks (e.g., predicting one of several categories). It outputs a probability distribution over the classes.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Sigmoid: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Suitable for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classification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tasks (e.g., predicting one of two outcomes). It squashes output to a 0-1 range.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(No Activation):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Typically used for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 tasks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(e.g., predicting a continuous numerical value).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2"/>
          <p:cNvSpPr txBox="1"/>
          <p:nvPr>
            <p:ph type="title"/>
          </p:nvPr>
        </p:nvSpPr>
        <p:spPr>
          <a:xfrm>
            <a:off x="0" y="0"/>
            <a:ext cx="8614425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b="1" i="0" lang="en-US" sz="2400" u="none" strike="noStrike">
                <a:solidFill>
                  <a:srgbClr val="7030A0"/>
                </a:solidFill>
              </a:rPr>
              <a:t>Number of Training Iterations: Leveraging Early Stopping</a:t>
            </a: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4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0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39" name="Google Shape;139;p42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2"/>
          <p:cNvSpPr txBox="1"/>
          <p:nvPr/>
        </p:nvSpPr>
        <p:spPr>
          <a:xfrm>
            <a:off x="129619" y="717155"/>
            <a:ext cx="794890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of Fixed Iterations: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Simply setting a fixed number of training iterations (epochs) can be suboptimal.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few: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Model might underfit (not learn enough).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many: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Model might overfit (memorize training data, perform poorly on new data).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 Strategy: Early Stopping: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Mechanism: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Instead of fixing epochs, early stopping monitors the model's performance on a separate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dataset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during training.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Stop: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Training is halted when there is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significant improvement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 the validation performance for a predefined number of epochs (patience).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This technique automatically determines the optimal stopping point, effectively preventing overfitting and leading to a more generalized model without manual trial-and-error for the ideal number of epochs.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3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Importance of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46" name="Google Shape;146;p43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3"/>
          <p:cNvSpPr txBox="1"/>
          <p:nvPr/>
        </p:nvSpPr>
        <p:spPr>
          <a:xfrm>
            <a:off x="137570" y="680740"/>
            <a:ext cx="7988663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 tuning is crucial as it establishes a model's fundamental structure, influences training efficiency, and ultimately determines its real-world performance. Optimal hyperparameter configurations are key to achieving strong model capabilities.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 in LLMOps: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 Large Language Model Operations (LLMOps), good tuning is particularly stressed for its efficiency aspect, aiming to minimize computational power requirements.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Balancing the Bias-Variance Trade-off (Core Goal):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Represents the divergence between a model's predictions and actual reality.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Bias (Underfitting):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Models are too simple, fail to capture key relationships in the data, leading to inaccurate predictions (e.g., an "undertuned" model).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Variance: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Reflects a model's sensitivity to new, unseen data.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Variance (Overfitting):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Models are too complex, essentially memorizing the training data, and thus perform inconsistently and poorly on new datasets.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Effective hyperparameter tuning aims to achieve a balance between low bias (ensuring accuracy) and low variance (ensuring consistency). This optimization creates the best-performing model for the task while simultaneously maximizing computational resource efficiency during training.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4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02880"/>
              <a:buNone/>
            </a:pPr>
            <a:r>
              <a:rPr b="1" i="0" lang="en-US" sz="2700" u="none" strike="noStrike">
                <a:solidFill>
                  <a:srgbClr val="7030A0"/>
                </a:solidFill>
              </a:rPr>
              <a:t>Hyperparameter Examples- Neural Network </a:t>
            </a: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53" name="Google Shape;153;p44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4"/>
          <p:cNvSpPr txBox="1"/>
          <p:nvPr/>
        </p:nvSpPr>
        <p:spPr>
          <a:xfrm>
            <a:off x="129618" y="481958"/>
            <a:ext cx="7988663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machine learning algorithm has its own set of hyper-parameters, and optimizing them often requires a conservative approach rather than simply maximizing values for better performance.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Neural Network Hyperparameters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Neural networks, inspired by the human brain, have interconnected nodes. Key hyperparameters for their training include: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Rate: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Sets the speed at which the model adjusts its parameters (steps) in each iteration.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Faster adjustment, but risk of unstable performance and missing the optimal solution.</a:t>
            </a:r>
            <a:endParaRPr/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Slower convergence, requires more time/data, but more likely to pinpoint minimum loss.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Crucial for gradient descent optimization.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Rate Decay: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Controls how quickly the learning rate decreases over training time.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Allows the model to learn quickly initially and then fine-tune more precisely as it converges towards optimal performance.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5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02880"/>
              <a:buNone/>
            </a:pPr>
            <a:r>
              <a:rPr b="1" i="0" lang="en-US" sz="2700" u="none" strike="noStrike">
                <a:solidFill>
                  <a:srgbClr val="7030A0"/>
                </a:solidFill>
              </a:rPr>
              <a:t>Hyperparameter Examples- Neural Network </a:t>
            </a: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60" name="Google Shape;160;p45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5"/>
          <p:cNvSpPr txBox="1"/>
          <p:nvPr/>
        </p:nvSpPr>
        <p:spPr>
          <a:xfrm>
            <a:off x="137569" y="528605"/>
            <a:ext cx="7988663" cy="4678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3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Size: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Determines the number of samples processed before the model's parameters are updated.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Affects computational efficiency and accuracy.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Can weaken overall performance if not combined with a scaled learning rate, but offers better computational efficiency.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More frequent updates, potentially better generalization, but slower training.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3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Hidden Layers: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Defines the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 the neural network.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Fewer layers: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Simpler, faster model.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layers (Deep Learning):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Increased complexity and learning ability, potentially better classification of complex input data.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Trade-off: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Speed versus accuracy.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3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Nodes or Neurons per Layer: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1" marL="857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Sets the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 the model at each layer.</a:t>
            </a:r>
            <a:endParaRPr/>
          </a:p>
          <a:p>
            <a:pPr indent="-400050" lvl="1" marL="857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More nodes increase the model's capacity to depict complex relationships between data points.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6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02880"/>
              <a:buNone/>
            </a:pPr>
            <a:r>
              <a:rPr b="1" i="0" lang="en-US" sz="2700" u="none" strike="noStrike">
                <a:solidFill>
                  <a:srgbClr val="7030A0"/>
                </a:solidFill>
              </a:rPr>
              <a:t>Hyperparameter Examples- Neural Network </a:t>
            </a: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67" name="Google Shape;167;p46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6"/>
          <p:cNvSpPr txBox="1"/>
          <p:nvPr/>
        </p:nvSpPr>
        <p:spPr>
          <a:xfrm>
            <a:off x="129618" y="481958"/>
            <a:ext cx="7988663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Momentum: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degree to which parameter updates continue in the same direction as previous iterations, rather than oscillating or reversing course.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Helps accelerate convergence in the right direction and overcome local minima.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Often started low and increased as needed to stabilize training.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Epochs: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Sets the number of times the entire training dataset is exposed to the model during training.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Can lead to improved performance.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many: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High risk of overfitting.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Activation Function: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Introduces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nonlinearity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into the model, allowing it to learn complex non-linear relationships.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Enables the model to handle more complex datasets, leading to better generalization and adaptability.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7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02880"/>
              <a:buNone/>
            </a:pPr>
            <a:r>
              <a:rPr b="1" i="0" lang="en-US" sz="2700" u="none" strike="noStrike">
                <a:solidFill>
                  <a:srgbClr val="7030A0"/>
                </a:solidFill>
              </a:rPr>
              <a:t>SVM (Support Vector Machine) Hyperparameters</a:t>
            </a: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74" name="Google Shape;174;p47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7"/>
          <p:cNvSpPr txBox="1"/>
          <p:nvPr/>
        </p:nvSpPr>
        <p:spPr>
          <a:xfrm>
            <a:off x="129618" y="481958"/>
            <a:ext cx="798866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SVMs are algorithms specializing in data classification, regression, and outlier detection.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SVM Hyperparameter: 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Represents the trade-off between allowing misclassifications (error tolerance) and maintaining a wide margin.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romanL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C: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Establishes a smoother decision boundary, higher error tolerance, more generalized performance (risk of incorrect classification on training data).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romanL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C: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Creates a narrower, "harder" decision boundary, penalizes misclassifications more strongly, leading to higher training accuracy but potential overfitting.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8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02880"/>
              <a:buNone/>
            </a:pPr>
            <a:r>
              <a:rPr b="1" i="0" lang="en-US" sz="2700" u="none" strike="noStrike">
                <a:solidFill>
                  <a:srgbClr val="7030A0"/>
                </a:solidFill>
              </a:rPr>
              <a:t>SVM (Support Vector Machine) Hyperparameters</a:t>
            </a: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81" name="Google Shape;181;p48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8"/>
          <p:cNvSpPr txBox="1"/>
          <p:nvPr/>
        </p:nvSpPr>
        <p:spPr>
          <a:xfrm>
            <a:off x="66007" y="489909"/>
            <a:ext cx="805227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SVM Hyperparameter: Kernel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 function that maps input data into a higher-dimensional feature space, establishing the nature of relationships between data points and separating them.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Linear, polynomial, radial basis function (RBF), sigmoid are common.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Strongly affects overall SVM model performance.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kernels: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Simpler, best for linearly separable data.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Nonlinear kernels: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Better for complex, non-linearly separable datasets.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SVM Hyperparameter: Gamma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(relevant for RBF, Polynomial, Sigmoid kernels)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Sets the level of influence a single training example has (or how far the influence of a single training example reaches).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Support vectors are data points closest to the decision boundary (hyperplane).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Gamma: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Stronger influence from nearby support vectors, leading to a more complex, wiggly decision boundary and potential overfitting.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Gamma: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Limits influence from more distant support vectors, resulting in a smoother decision boundary, but potentially "muddying" it if too low.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9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02880"/>
              <a:buNone/>
            </a:pPr>
            <a:r>
              <a:rPr b="1" i="0" lang="en-US" sz="2700" u="none" strike="noStrike">
                <a:solidFill>
                  <a:srgbClr val="7030A0"/>
                </a:solidFill>
              </a:rPr>
              <a:t>XGBoost Hyperparameters</a:t>
            </a: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88" name="Google Shape;188;p49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9"/>
          <p:cNvSpPr txBox="1"/>
          <p:nvPr/>
        </p:nvSpPr>
        <p:spPr>
          <a:xfrm>
            <a:off x="129618" y="481958"/>
            <a:ext cx="8052274" cy="4678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is an ensemble algorithm that blends predictions from multiple decision trees (gradient boosting) for highly accurate results.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learning_rate (or eta in original XGBoost):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Controls the step size at which each new tree contributes to the ensemble's prediction.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Faster learning, but risk of overshooting the optimal solution.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More precise learning, but slower convergence. Default is often 0.3.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n_estimators (or num_boost_rounds):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Sets the number of individual decision trees (boosting rounds) in the model.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More trees generally improve performance up to a point, but too many can lead to overfitting.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max_depth: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Determines the maximum number of nodes (levels) from the tree's root to any leaf.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More complex trees, capable of modeling more nuanced data classifications, but prone to overfitting.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Simpler trees, easier to interpret, and helps avoid overfitting.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02880"/>
              <a:buNone/>
            </a:pPr>
            <a:r>
              <a:rPr b="1" i="0" lang="en-US" sz="2700" u="none" strike="noStrike">
                <a:solidFill>
                  <a:srgbClr val="7030A0"/>
                </a:solidFill>
              </a:rPr>
              <a:t>XGBoost Hyperparameters</a:t>
            </a: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27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195" name="Google Shape;195;p50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0"/>
          <p:cNvSpPr txBox="1"/>
          <p:nvPr/>
        </p:nvSpPr>
        <p:spPr>
          <a:xfrm>
            <a:off x="129618" y="481958"/>
            <a:ext cx="8052274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4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min_child_weight: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minimum sum of instance weight (hessian) needed in a child node to make a new split.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More splits are allowed, creating more complex trees, with potential for overfitting.</a:t>
            </a:r>
            <a:endParaRPr/>
          </a:p>
          <a:p>
            <a:pPr indent="-400050" lvl="2" marL="1314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Requires more data/importance for a split to occur, simplifying the trees and helping to reduce complexity.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4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Sets the percentage of data samples used during each training round (for a single tree).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Reduces variance by preventing individual trees from overfitting to the entire dataset. Often set to values like 0.7-0.9.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colsample_bytree: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Fixes the percentage of features (columns) to use when constructing each tree.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Similar to Random Forests' feature randomness, it helps reduce correlation between trees and prevent overfitting to specific features.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1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Techniques for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02" name="Google Shape;202;p51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1"/>
          <p:cNvSpPr txBox="1"/>
          <p:nvPr/>
        </p:nvSpPr>
        <p:spPr>
          <a:xfrm>
            <a:off x="137570" y="680740"/>
            <a:ext cx="7438887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the best combination of hyperparameters can be viewed as a search problem.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GridSearchCV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Often considered a "brute force" approach to hyperparameter optimization.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Principle: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Creates a "grid" of all possible discrete values predefined for each hyperparameter.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is then fitted (trained) and evaluated for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single possible combination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 these hyperparameter values.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performance of each combination is logged.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combination that yields the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results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(e.g., highest accuracy on validation set) is selected as optimal.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Exhaustive: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Guarantees finding the best combination within the predefined search space.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Slow: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Can be computationally very expensive and time-consuming.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 Issue: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Not feasible for models with many hyperparameters or for large datasets, as the number of combinations grows exponentially.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2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Techniques for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09" name="Google Shape;209;p52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2"/>
          <p:cNvSpPr txBox="1"/>
          <p:nvPr/>
        </p:nvSpPr>
        <p:spPr>
          <a:xfrm>
            <a:off x="2849011" y="1113183"/>
            <a:ext cx="61745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idSearchCV" id="211" name="Google Shape;2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484" y="1761579"/>
            <a:ext cx="4659354" cy="285675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2"/>
          <p:cNvSpPr txBox="1"/>
          <p:nvPr/>
        </p:nvSpPr>
        <p:spPr>
          <a:xfrm>
            <a:off x="447261" y="737638"/>
            <a:ext cx="3647661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GridSearchCV Working Principles: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For example if we want to tune two hyperparameters C and Alpha for a Logistic Regression Classifier model with the following sets of values: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C = [0.1, 0.2, 0.3, 0.4, 0.5]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Alpha = [0.01, 0.1, 0.5, 1.0]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The grid search technique will construct multiple versions of the model with all possible combinations of C and Alpha, resulting in a total of 5 * 4 = 20 different models. The best-performing combination is then chosen.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Techniques for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18" name="Google Shape;218;p53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3"/>
          <p:cNvSpPr txBox="1"/>
          <p:nvPr/>
        </p:nvSpPr>
        <p:spPr>
          <a:xfrm>
            <a:off x="137570" y="680740"/>
            <a:ext cx="743888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the best combination of hyperparameters can be viewed as a search problem.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GridSearchCV- Code Implemntation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3"/>
          <p:cNvSpPr txBox="1"/>
          <p:nvPr/>
        </p:nvSpPr>
        <p:spPr>
          <a:xfrm>
            <a:off x="284776" y="1354217"/>
            <a:ext cx="4647536" cy="2862322"/>
          </a:xfrm>
          <a:prstGeom prst="rect">
            <a:avLst/>
          </a:prstGeom>
          <a:solidFill>
            <a:srgbClr val="FBFE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sklearn.linear_model import LogisticRegression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sklearn.model_selection import GridSearchCV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sklearn.datasets import make_classification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 y = make_classification(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n_samples=1000, n_features=20, n_informative=10, n_classes=2, random_state=42)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c_space = np.logspace(-5, 8, 15)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param_grid = {'C': c_space}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logreg = LogisticRegression()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logreg_cv = GridSearchCV(logreg, param_grid, cv=5)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logreg_cv.fit(X, 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print("Tuned Logistic Regression Parameters: {}".format(logreg_cv.best_params_))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print("Best score is {}".format(logreg_cv.best_score_))</a:t>
            </a:r>
            <a:endParaRPr/>
          </a:p>
        </p:txBody>
      </p:sp>
      <p:sp>
        <p:nvSpPr>
          <p:cNvPr id="221" name="Google Shape;221;p53"/>
          <p:cNvSpPr txBox="1"/>
          <p:nvPr/>
        </p:nvSpPr>
        <p:spPr>
          <a:xfrm>
            <a:off x="4984386" y="1354217"/>
            <a:ext cx="415961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b="0" i="0" sz="1400" u="none" cap="none" strike="noStrike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Tuned Logistic Regression Parameters: {'C': 0.006105402296585327}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score is 0.853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This represents the highest accuracy achieved by the model using the hyperparameter combination </a:t>
            </a:r>
            <a:r>
              <a:rPr b="1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C = 0.0061</a:t>
            </a: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 The best score of </a:t>
            </a:r>
            <a:r>
              <a:rPr b="1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0.853</a:t>
            </a: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means the model achieved 85.3% accuracy on the validation data during the grid search process.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Drawback</a:t>
            </a: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: GridSearchCV will go through all the intermediate combinations of hyperparameters which makes grid search computationally very expensive.   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4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Techniques for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27" name="Google Shape;227;p54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4"/>
          <p:cNvSpPr txBox="1"/>
          <p:nvPr/>
        </p:nvSpPr>
        <p:spPr>
          <a:xfrm>
            <a:off x="137570" y="680740"/>
            <a:ext cx="7948907" cy="4678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RandomizedSearchCV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Selects hyperparameter values at random from a predefined distribution, rather than exhaustively testing every combination.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Principle: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each iteration, it randomly samples a different set of hyperparameter values.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is trained and its performance is logged for each random set.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a fixed number of iterations (or a specified time limit), it returns the combination that yielded the best result.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Can explore a wider range of hyperparameter values in fewer iterations compared to GridSearchCV.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Often finds a good hyperparameter combination much faster than GridSearchCV, especially when the hyperparameter space is large or some hyperparameters have little impact.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Addresses Drawbacks of GridSearchCV: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Reduces the computational expense by not trying every single combination.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Exhaustive: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Does not guarantee finding the absolute best combination, as it doesn't search the entire space. It relies on random chance to find good regions.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5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Techniques for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34" name="Google Shape;234;p55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5"/>
          <p:cNvSpPr txBox="1"/>
          <p:nvPr/>
        </p:nvSpPr>
        <p:spPr>
          <a:xfrm>
            <a:off x="137570" y="680740"/>
            <a:ext cx="7948907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RandomizedSearchCV- Code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5"/>
          <p:cNvSpPr txBox="1"/>
          <p:nvPr/>
        </p:nvSpPr>
        <p:spPr>
          <a:xfrm>
            <a:off x="284775" y="1001499"/>
            <a:ext cx="4287225" cy="3785652"/>
          </a:xfrm>
          <a:prstGeom prst="rect">
            <a:avLst/>
          </a:prstGeom>
          <a:solidFill>
            <a:srgbClr val="FBFE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sklearn.datasets import make_classification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 y = make_classification(n_samples=1000, n_features=20, n_informative=10, n_classes=2, random_state=42)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scipy.stats import randint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sklearn.tree import DecisionTreeClassifier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sklearn.model_selection import RandomizedSearchCV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param_dist =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"max_depth": [3, None],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"max_features": randint(1, 9),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"min_samples_leaf": randint(1, 9),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"criterion": ["gini", "entropy"]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 = DecisionTreeClassifier()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tree_cv = RandomizedSearchCV(tree, param_dist, cv=5)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tree_cv.fit(X, 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print("Tuned Decision Tree Parameters: {}".format(tree_cv.best_params_))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print("Best score is {}".format(tree_cv.best_score_))</a:t>
            </a:r>
            <a:endParaRPr/>
          </a:p>
        </p:txBody>
      </p:sp>
      <p:sp>
        <p:nvSpPr>
          <p:cNvPr id="237" name="Google Shape;237;p55"/>
          <p:cNvSpPr txBox="1"/>
          <p:nvPr/>
        </p:nvSpPr>
        <p:spPr>
          <a:xfrm>
            <a:off x="4572000" y="1370831"/>
            <a:ext cx="464753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  <a:endParaRPr b="0" i="0" sz="1400" u="none" cap="none" strike="noStrike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Tuned Decision Tree Parameters: {'criterion': 'entropy', 'max_depth': None, 'max_features': 6, 'min_samples_leaf': 6}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score is 0.8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 score of </a:t>
            </a:r>
            <a:r>
              <a:rPr b="1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0.842</a:t>
            </a: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means the model performed with an accuracy of 84.2% on the validation set with following hyperparameters.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Drawback: </a:t>
            </a:r>
            <a:r>
              <a:rPr b="0" i="0" lang="en-US" sz="14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One potential drawback of RandomizedSearchCV is that since the search is random, it may not find the absolute best combination of hyperparameters. However, in practice it often generate a near-optimal result in a fraction of the time compared to grid search.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6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Techniques for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43" name="Google Shape;243;p56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6"/>
          <p:cNvSpPr txBox="1"/>
          <p:nvPr/>
        </p:nvSpPr>
        <p:spPr>
          <a:xfrm>
            <a:off x="137570" y="680740"/>
            <a:ext cx="7948907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Bayesian Optimization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Idea: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 more intelligent approach to hyperparameter search compared to Grid/Random search. It treats the optimization of hyperparameters as a formal optimization problem itself.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Addressing Inefficiency: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Unlike Grid/Random search, which evaluate combinations without considering past results, Bayesian optimization uses a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probabilistic model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to guide the search.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Principle: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Maintains a 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surrogate 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(or "probabilistic model") that predicts the performance (e.g., score) of new hyperparameter combinations based on all previous evaluation results.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surrogate function is an approximation of the expensive-to-compute objective function (e.g., model validation RMSE).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uses this surrogate model to estimate which combinations are most likely to yield good results.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iteratively updates the surrogate function with each new evaluation, making more informed decisions about where to sample next.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7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Techniques for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50" name="Google Shape;250;p57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7"/>
          <p:cNvSpPr txBox="1"/>
          <p:nvPr/>
        </p:nvSpPr>
        <p:spPr>
          <a:xfrm>
            <a:off x="137570" y="680740"/>
            <a:ext cx="7948907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 Intuition: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It models the probability P(score(y)∣hyperparameters(x)), showing the relationship between hyperparameters x and the resulting score 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Surrogate Models: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Gaussian Processes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Regression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Tree-structured Parzen Estimators (TPE)</a:t>
            </a:r>
            <a:endParaRPr/>
          </a:p>
          <a:p>
            <a:pPr indent="-2413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Significantly reduces the number of function evaluations (model trainings) needed to find optimal or near-optimal solutions, making it very efficient for complex models and large hyperparameter spaces.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Drawback: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Requires an understanding of the underlying probabilistic model and can be more complex to set up than simpler search methods.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8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89605"/>
              <a:buNone/>
            </a:pPr>
            <a:r>
              <a:rPr b="1" i="0" lang="en-US" sz="3100" u="none" strike="noStrike">
                <a:solidFill>
                  <a:srgbClr val="7030A0"/>
                </a:solidFill>
              </a:rPr>
              <a:t>Advantages of Hyperparameter Tuning</a:t>
            </a: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1" i="0" lang="en-US" sz="3100" u="none" strike="noStrike">
                <a:solidFill>
                  <a:srgbClr val="7030A0"/>
                </a:solidFill>
              </a:rPr>
            </a:br>
            <a:br>
              <a:rPr b="0" i="0" lang="en-US" sz="31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57" name="Google Shape;257;p58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8"/>
          <p:cNvSpPr txBox="1"/>
          <p:nvPr/>
        </p:nvSpPr>
        <p:spPr>
          <a:xfrm>
            <a:off x="137570" y="680740"/>
            <a:ext cx="794890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Model Performance: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Leads to a significant boost in model accuracy and overall robustness by finding the best combination of hyperparameter values.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Overfitting and Underfitting: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Proper tuning helps strike a balance, preventing the model from either memorizing the training data (overfitting) or being too simplistic to capture underlying patterns (underfitting).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Model Generalizability: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By optimizing performance on validation data, the tuned model is more likely to perform well on new, unseen data, ensuring better real-world applicability.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Resource Utilization: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Careful tuning allows for more efficient use of computational resources like training time and memory, avoiding unnecessary work and costs.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Model Interpretability: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 some cases, properly tuned hyperparameters can lead to simpler models, which are often easier to understand and interpret.</a:t>
            </a:r>
            <a:endParaRPr/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9"/>
          <p:cNvSpPr txBox="1"/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i="0" lang="en-US" sz="2800" u="none" strike="noStrike">
                <a:solidFill>
                  <a:srgbClr val="7030A0"/>
                </a:solidFill>
              </a:rPr>
              <a:t>Challenges in Hyperparameter Tuning</a:t>
            </a: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br>
              <a:rPr b="1" i="0" lang="en-US" sz="2800" u="none" strike="noStrike">
                <a:solidFill>
                  <a:srgbClr val="7030A0"/>
                </a:solidFill>
              </a:rPr>
            </a:br>
            <a:endParaRPr b="1" i="0" sz="2800" u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ptimized Python with Numba library" id="264" name="Google Shape;264;p59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9"/>
          <p:cNvSpPr txBox="1"/>
          <p:nvPr/>
        </p:nvSpPr>
        <p:spPr>
          <a:xfrm>
            <a:off x="79513" y="511689"/>
            <a:ext cx="8090266" cy="4647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High-Dimensional Hyperparameter Spaces: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the number of hyperparameters and their possible values increases, the search space grows exponentially.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makes the optimization process computationally expensive and time-consuming, especially for complex models.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Expensive Function Evaluations: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Evaluating a single set of hyperparameters (i.e., training and validating a model) can be very computationally intensive.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particularly true for large datasets or deep learning models that require many iterations.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Incorporating Domain Knowledge (as a Challenge &amp; Solution):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valuable for guiding the search and improving efficiency, effectively translating complex domain insights into actionable tuning strategies can itself be a challenge.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requires expertise to narrow down the search space and choose relevant hyperparameter ranges.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Developing Adaptive Hyperparameter Tuning Methods: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Creating methods that can dynamically adjust hyperparameters </a:t>
            </a: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training process (e.g., learning rate schedules, early stopping) is complex.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beneficial for performance, designing and implementing these adaptive strategies presents a challenge.</a:t>
            </a:r>
            <a:endParaRPr/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6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0"/>
          <p:cNvSpPr txBox="1"/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3200"/>
              <a:t>Hands On Exercise </a:t>
            </a:r>
            <a:br>
              <a:rPr lang="en-US" sz="3200"/>
            </a:br>
            <a:endParaRPr sz="3200"/>
          </a:p>
        </p:txBody>
      </p:sp>
      <p:sp>
        <p:nvSpPr>
          <p:cNvPr id="272" name="Google Shape;272;p60"/>
          <p:cNvSpPr txBox="1"/>
          <p:nvPr/>
        </p:nvSpPr>
        <p:spPr>
          <a:xfrm>
            <a:off x="49952" y="1837425"/>
            <a:ext cx="491341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The Implementation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https://drive.google.com/file/d/1f2mjRj14-qVzfxO4fMyPbdX-vUmIjXsr/view?usp=sharing</a:t>
            </a:r>
            <a:endParaRPr/>
          </a:p>
        </p:txBody>
      </p:sp>
      <p:pic>
        <p:nvPicPr>
          <p:cNvPr descr="A computer with a screen on it&#10;&#10;AI-generated content may be incorrect." id="273" name="Google Shape;273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3371" y="2468255"/>
            <a:ext cx="3859608" cy="2570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6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1"/>
          <p:cNvSpPr txBox="1"/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3200"/>
              <a:t>Books and References</a:t>
            </a:r>
            <a:br>
              <a:rPr lang="en-US" sz="3200"/>
            </a:br>
            <a:endParaRPr sz="3200"/>
          </a:p>
        </p:txBody>
      </p:sp>
      <p:sp>
        <p:nvSpPr>
          <p:cNvPr id="280" name="Google Shape;280;p61"/>
          <p:cNvSpPr txBox="1"/>
          <p:nvPr/>
        </p:nvSpPr>
        <p:spPr>
          <a:xfrm>
            <a:off x="755575" y="1098322"/>
            <a:ext cx="6931332" cy="340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"Neural Networks and Deep Learning" (Michael Nielsen)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Reinforcement Learning: An Introduction – Sutton &amp; Barto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Goodfellow, I., Bengio, Y., &amp; Courville, A. (2016). Deep Learning. MIT Press.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sng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https://www.ibm.com/think/topics/hyperparameter-tuning</a:t>
            </a:r>
            <a:endParaRPr b="0" i="0" sz="20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sng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https://www.geeksforgeeks.org/hyperparameter-tuning/</a:t>
            </a: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Chollet, F. (2017). Deep Learning with Python. Manning Publications.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Hochreiter, S., &amp; Schmidhuber, J. (1997). Long Short-Term Memory. Neural Computation.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0"/>
          <p:cNvPicPr preferRelativeResize="0"/>
          <p:nvPr/>
        </p:nvPicPr>
        <p:blipFill rotWithShape="1">
          <a:blip r:embed="rId3">
            <a:alphaModFix/>
          </a:blip>
          <a:srcRect b="0" l="8508" r="0" t="0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0"/>
          <p:cNvPicPr preferRelativeResize="0"/>
          <p:nvPr/>
        </p:nvPicPr>
        <p:blipFill rotWithShape="1">
          <a:blip r:embed="rId6">
            <a:alphaModFix/>
          </a:blip>
          <a:srcRect b="22522" l="11047" r="11047" t="22524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0"/>
          <p:cNvPicPr preferRelativeResize="0"/>
          <p:nvPr/>
        </p:nvPicPr>
        <p:blipFill rotWithShape="1">
          <a:blip r:embed="rId8">
            <a:alphaModFix/>
          </a:blip>
          <a:srcRect b="19777" l="2114" r="0" t="19775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low confidence" id="292" name="Google Shape;29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black sign&#10;&#10;Description automatically generated with low confidence" id="293" name="Google Shape;29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clipart, vector graphics&#10;&#10;Description automatically generated" id="294" name="Google Shape;29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/>
          <p:cNvPicPr preferRelativeResize="0"/>
          <p:nvPr/>
        </p:nvPicPr>
        <p:blipFill rotWithShape="1">
          <a:blip r:embed="rId13">
            <a:alphaModFix/>
          </a:blip>
          <a:srcRect b="18915" l="0" r="0" t="0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/>
          <p:cNvPicPr preferRelativeResize="0"/>
          <p:nvPr/>
        </p:nvPicPr>
        <p:blipFill rotWithShape="1">
          <a:blip r:embed="rId14">
            <a:alphaModFix/>
          </a:blip>
          <a:srcRect b="12261" l="12270" r="12261" t="12270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/>
          <p:cNvPicPr preferRelativeResize="0"/>
          <p:nvPr/>
        </p:nvPicPr>
        <p:blipFill rotWithShape="1">
          <a:blip r:embed="rId16">
            <a:alphaModFix/>
          </a:blip>
          <a:srcRect b="18903" l="0" r="0" t="18905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/>
          <p:cNvPicPr preferRelativeResize="0"/>
          <p:nvPr/>
        </p:nvPicPr>
        <p:blipFill rotWithShape="1">
          <a:blip r:embed="rId17">
            <a:alphaModFix/>
          </a:blip>
          <a:srcRect b="28892" l="2114" r="0" t="28897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>
            <p:ph idx="4294967295" type="title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/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b="1" lang="en-US" sz="40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b="1" sz="400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8" name="Google Shape;308;p21"/>
          <p:cNvSpPr txBox="1"/>
          <p:nvPr>
            <p:ph idx="4294967295" type="ctrTitle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b="1" i="0" sz="2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</cp:coreProperties>
</file>