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98" r:id="rId5"/>
    <p:sldId id="588" r:id="rId6"/>
    <p:sldId id="648" r:id="rId7"/>
    <p:sldId id="650" r:id="rId8"/>
    <p:sldId id="649" r:id="rId9"/>
    <p:sldId id="637" r:id="rId10"/>
    <p:sldId id="651" r:id="rId11"/>
    <p:sldId id="638" r:id="rId12"/>
    <p:sldId id="639" r:id="rId13"/>
    <p:sldId id="652" r:id="rId14"/>
    <p:sldId id="653" r:id="rId15"/>
    <p:sldId id="640" r:id="rId16"/>
    <p:sldId id="655" r:id="rId17"/>
    <p:sldId id="654" r:id="rId18"/>
    <p:sldId id="583" r:id="rId19"/>
    <p:sldId id="656" r:id="rId20"/>
    <p:sldId id="657" r:id="rId21"/>
    <p:sldId id="658" r:id="rId22"/>
    <p:sldId id="659" r:id="rId23"/>
    <p:sldId id="660" r:id="rId24"/>
    <p:sldId id="661" r:id="rId25"/>
    <p:sldId id="312" r:id="rId26"/>
    <p:sldId id="275" r:id="rId27"/>
    <p:sldId id="276" r:id="rId28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30"/>
      <p:bold r:id="rId31"/>
    </p:embeddedFont>
    <p:embeddedFont>
      <p:font typeface="IBM Plex Sans Arabic Medium" panose="020B0603050203000203" pitchFamily="34" charset="-78"/>
      <p:regular r:id="rId32"/>
      <p:bold r:id="rId33"/>
    </p:embeddedFont>
    <p:embeddedFont>
      <p:font typeface="IBM Plex Sans Arabic SemiBold" panose="020B0603050203000203" pitchFamily="34" charset="-78"/>
      <p:regular r:id="rId34"/>
      <p:bold r:id="rId35"/>
    </p:embeddedFont>
    <p:embeddedFont>
      <p:font typeface="Inter" panose="020F0502020204030204" pitchFamily="34" charset="0"/>
      <p:regular r:id="rId36"/>
      <p:bold r:id="rId37"/>
      <p:italic r:id="rId38"/>
      <p:boldItalic r:id="rId39"/>
    </p:embeddedFont>
    <p:embeddedFont>
      <p:font typeface="Tajawal" pitchFamily="2" charset="-78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/>
    <p:restoredTop sz="94247"/>
  </p:normalViewPr>
  <p:slideViewPr>
    <p:cSldViewPr snapToGrid="0">
      <p:cViewPr varScale="1">
        <p:scale>
          <a:sx n="160" d="100"/>
          <a:sy n="160" d="100"/>
        </p:scale>
        <p:origin x="1000" y="16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CE20816-1F24-46D9-89DD-6FFEE700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7CD495B-FC5A-F226-2523-6E0861CBC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B7203EE-8E11-9321-099D-0620FB183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81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62118B4-1173-7AFC-87E1-C65D8A3C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08809AF-4CA4-BFAD-BE36-3FBB248E0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B0B25C2-2E64-E05F-88BD-CABD5F7D7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9175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E94EF24-52F5-BC45-FD2F-7FD4227C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4876780-05B4-1A31-5591-7F6CB795F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3698752-8D64-7F1A-F5FF-0AE17EC273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44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1107A24-2B20-72E1-6421-712D26A3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DB84D64-DB95-529F-B782-E0C642894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71EE584B-EE95-BF9B-A7DD-E6D143998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2634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DECF3F5-4657-F6E4-C36E-C11C8D65A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1366D5A-9911-F9B7-7A98-82C19B223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963DC3C-4104-C1A8-3AEA-383835746A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7929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F19AF32-C5CF-458F-7F95-DCE54D9A3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66D78FE-2291-C907-BB28-5CB3EB469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9678C2D-B648-01B8-96E1-64F3A9F4E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7518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20730B6-B513-0015-DEB4-C7BCE9363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98E636E-7801-A537-4E45-CC095FAB4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AA18E42-8F72-3AB7-F267-F43BF0845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5905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CC5A9EC-58D4-D8B0-8681-0781C85D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B79101C-868C-6478-6CB6-673C34813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85A772F0-9F5B-7A08-984A-1D5EEB6986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5924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F9E8BDE-1BF6-EF7E-F88E-AC9DE64D8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519B343-1053-6D00-3343-F5A158BD5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E2E3131-69E2-D04F-F3DF-F096B7AD0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9059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97C2690-5081-CBE6-3D68-CA9B62F1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97191A2-090E-851D-5F1B-7A466AB6A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96A1449C-B7AC-3BA6-A35A-85EB886B3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6424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F313FDB-24B0-6828-6D01-BD663761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657CCE81-43D9-666A-DF21-896F83BA6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8833764-BA08-1730-6614-2D11B4BE7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24695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660D990-EB18-F9CA-3AE5-F00633122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B67E172-A275-322A-199A-67B3F7A43B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A598EDA-A78D-BA54-AFC4-50590AEFE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99734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B387E99-5258-625E-269E-712B10C8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BAFC8A9-80BD-BFE0-5157-47919FC28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14D6403-059F-E3EB-BC22-F3D167BEE8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8750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CAB6DE8-C0FA-2F4E-4B7B-FBAF3112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B93F3A6-767E-6B2B-4F3B-C8A06917C8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734BB95-5B43-DD6F-6386-F1C5D86524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37582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B836598-9389-0CAC-2F30-73155BAE6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22F0D46-87CC-3FBA-3915-801A91E40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FE17BCE-DBBB-C07A-CBA3-F17A0D6E5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219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25BE543-07AE-5EA8-B4C6-DBE8EECE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E696528-D64A-40CC-FDF5-DB9596EE3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84797AB-CF37-1B8A-DF83-98AEC3D21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248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27B4A52-CC29-8EF5-331B-965690F3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F61B66BE-DAEC-BB7C-DF38-C33F3C8EB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843851A-EF4E-E721-1E42-50B7284B5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833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3808127-F3D9-56ED-3CE3-BA21063E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E23239CB-C9D4-AD0F-A1F1-72D6CBE19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9606E02A-CEB9-E8B0-EC52-0C108ABC0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7723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DBDD134-F93F-810C-DFED-13EE0CF3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B9A9AC3B-CEDF-B9A0-5E17-F67DE7EC5F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2C65CF79-DE28-EAAB-7F1E-7820D4971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606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AB8EE31-B9B9-FF23-3754-3040574F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C2DF754B-EE5F-7E93-26E1-539E8D11F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223E732-ABB3-8937-7562-8FACB2D59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6127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E4AC111-70C9-F47A-89B2-4B034C8F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67E9FBA-35C3-A97F-C4B7-B01187477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F8793B8-A9EC-22EB-A497-F7F5F22C0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4411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BECD89B-AAA3-F8FE-DFBC-CC79A9A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F508F7A9-5506-B123-0264-14DD3EE90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CCD177CE-FC44-74CB-378D-8296859D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285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model_optimiza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medium.com/@heyamit10/how-to-build-lightweight-models-for-edge-devices-a-practical-guide-109ede62f480" TargetMode="External"/><Relationship Id="rId4" Type="http://schemas.openxmlformats.org/officeDocument/2006/relationships/hyperlink" Target="https://medium.com/@ajayverma23/model-compression-and-optimization-techniques-to-enhance-performance-and-reduce-size-3d697fd40f80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Deep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0" y="1719944"/>
            <a:ext cx="8520600" cy="365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br>
              <a:rPr lang="en-GB" sz="4000" b="1" dirty="0"/>
            </a:br>
            <a:r>
              <a:rPr lang="en-GB" sz="4000" b="1" dirty="0"/>
              <a:t>Model Compression and Efficiency</a:t>
            </a:r>
            <a:br>
              <a:rPr lang="en-GB" sz="4000" b="1" dirty="0"/>
            </a:br>
            <a:r>
              <a:rPr lang="en-GB" sz="2200" b="1" dirty="0">
                <a:solidFill>
                  <a:schemeClr val="tx1"/>
                </a:solidFill>
              </a:rPr>
              <a:t>Pruning and quantization techniques</a:t>
            </a:r>
            <a:br>
              <a:rPr lang="en-GB" sz="2200" b="1" dirty="0">
                <a:solidFill>
                  <a:schemeClr val="tx1"/>
                </a:solidFill>
              </a:rPr>
            </a:br>
            <a:r>
              <a:rPr lang="en-GB" sz="2200" b="1" dirty="0">
                <a:solidFill>
                  <a:schemeClr val="tx1"/>
                </a:solidFill>
              </a:rPr>
              <a:t>Deploying lightweight models on edge devices</a:t>
            </a:r>
            <a:br>
              <a:rPr lang="en-GB" sz="4000" b="1" dirty="0"/>
            </a:br>
            <a:br>
              <a:rPr lang="en-GB" sz="4000" b="1" dirty="0"/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1555080" y="1359290"/>
            <a:ext cx="5673034" cy="233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7030A0"/>
                </a:solidFill>
              </a:rPr>
              <a:t>Topics Covered</a:t>
            </a: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 rtl="0" fontAlgn="base">
              <a:spcBef>
                <a:spcPts val="1200"/>
              </a:spcBef>
              <a:buFont typeface="+mj-lt"/>
              <a:buAutoNum type="arabicPeriod"/>
            </a:pP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Model Compression and Efficiency</a:t>
            </a:r>
          </a:p>
          <a:p>
            <a:pPr algn="l" rtl="0" fontAlgn="base">
              <a:spcBef>
                <a:spcPts val="1200"/>
              </a:spcBef>
              <a:buFont typeface="+mj-lt"/>
              <a:buAutoNum type="arabicPeriod"/>
            </a:pPr>
            <a:r>
              <a:rPr lang="en-GB" sz="1200" dirty="0">
                <a:latin typeface="Times New Roman" panose="02020603050405020304" pitchFamily="18" charset="0"/>
              </a:rPr>
              <a:t>Techniques for Model compression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Pruning and quantization techniques</a:t>
            </a:r>
          </a:p>
          <a:p>
            <a:pPr fontAlgn="base">
              <a:spcBef>
                <a:spcPts val="1200"/>
              </a:spcBef>
              <a:buFont typeface="+mj-lt"/>
              <a:buAutoNum type="arabicPeriod"/>
            </a:pPr>
            <a:r>
              <a:rPr lang="en-GB" sz="12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Deploying lightweight models on edge devices</a:t>
            </a:r>
            <a:endParaRPr lang="en-GB" sz="12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en-GB" b="1" dirty="0"/>
          </a:p>
          <a:p>
            <a:pPr marL="342900" indent="-342900">
              <a:buFont typeface="+mj-lt"/>
              <a:buAutoNum type="arabicPeriod"/>
            </a:pPr>
            <a:endParaRPr lang="en-GB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4EF5623-6B09-C586-D026-E1815682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B8CE39D-1BAA-9EAF-5C66-19BBE6DD2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659" y="0"/>
            <a:ext cx="830116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Model Compression: Optimizing Deep Learning Models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4482F75-B306-CAB6-0919-E013D5E5A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168CB-0CDB-B6DB-AE67-BA9ABA3C3998}"/>
              </a:ext>
            </a:extLst>
          </p:cNvPr>
          <p:cNvSpPr txBox="1"/>
          <p:nvPr/>
        </p:nvSpPr>
        <p:spPr>
          <a:xfrm>
            <a:off x="174235" y="619185"/>
            <a:ext cx="79202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Model compression encompasses a set of techniques aimed at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reducing the size and computational requirements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of deep learning models.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Primary Goals: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Minimize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inference latency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(time taken for predictions).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Reduce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memory usage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Enable deployment on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resource-constrained edge devices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Core Principle: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Achieve these reductions while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maintaining essential performance metrics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(such as accuracy, precision, and recall).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Context in Performance Optimization: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To reduce model inference latency, one can either:</a:t>
            </a:r>
          </a:p>
          <a:p>
            <a:pPr marL="1200150" lvl="2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Make the model smaller (Model Compression)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Make the model do inference faster (Inference Optimization)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1200150" lvl="2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Use faster hardware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Model compression specifically focuses on the first point, but making models smaller often inherently leads to faster inference times as a valuable secondary benefit.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endParaRPr lang="en-GB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7717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303ED5D-96B5-8C6F-0E95-A2CA163D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55D29E0-CFCC-A20A-BF0B-3793B1B83B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726101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</a:rPr>
              <a:t>Techniques for Model Compression</a:t>
            </a: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8F532BA1-D990-5B01-4E53-AA0EC43A0C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751DC-FD4C-9486-788F-A69EBCFEE5E2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C5288-6EA2-3B30-FC86-DFD3140A54D1}"/>
              </a:ext>
            </a:extLst>
          </p:cNvPr>
          <p:cNvSpPr txBox="1"/>
          <p:nvPr/>
        </p:nvSpPr>
        <p:spPr>
          <a:xfrm>
            <a:off x="136588" y="505804"/>
            <a:ext cx="853828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While many new techniques are emerging, the following four types are commonly encountered: Pruning, Quantization, Knowledge Distillation, and Low-Rank Factorization.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1. Pruning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Origin &amp; Motivation: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Originally a method for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decision trees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(removing uncritical/redundant sections).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Applied to neural networks as they are often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over-parameterized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, seeking to reduce computational load from excess parameters.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Concepts in Neural Networks: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Architecture Pruning (Less Common):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Removing entire nodes (neurons) or layers, thereby altering the network's architecture and reducing the total parameter count.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Weight Pruning (More Common):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Identifying and setting "unimportant" weights to exactly zero.</a:t>
            </a:r>
          </a:p>
          <a:p>
            <a:pPr marL="1257300" lvl="2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Does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not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reduce the </a:t>
            </a:r>
            <a:r>
              <a:rPr lang="en-GB" sz="1600" b="0" i="1" u="none" strike="noStrike" dirty="0">
                <a:solidFill>
                  <a:srgbClr val="000000"/>
                </a:solidFill>
                <a:effectLst/>
              </a:rPr>
              <a:t>total number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of parameters, nor change the network's architecture.</a:t>
            </a:r>
          </a:p>
          <a:p>
            <a:pPr marL="1257300" lvl="2" indent="-342900" algn="l">
              <a:buFont typeface="+mj-lt"/>
              <a:buAutoNum type="alphaL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Makes the neural network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sparse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, meaning many weights are zero.</a:t>
            </a:r>
          </a:p>
          <a:p>
            <a:pPr marL="1257300" lvl="2" indent="-342900">
              <a:buFont typeface="+mj-lt"/>
              <a:buAutoNum type="alpha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Benefit: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Sparse architectures generally require less storage space than dense (non-sparse) structures.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161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B7BC567-002E-BD05-9045-4F1FF21C5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BEA4465-BD5E-D66C-AFA4-88AF3D7EFA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726101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Types of Pruning</a:t>
            </a:r>
            <a:br>
              <a:rPr lang="en-GB" sz="27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21B2A94-4D7D-63EE-D48D-3C1D04270E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437AA-222C-D294-032F-23B741180B89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DB29D-4CA5-C1CD-2139-533344B4108E}"/>
              </a:ext>
            </a:extLst>
          </p:cNvPr>
          <p:cNvSpPr txBox="1"/>
          <p:nvPr/>
        </p:nvSpPr>
        <p:spPr>
          <a:xfrm>
            <a:off x="192247" y="750730"/>
            <a:ext cx="774707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1. Weight Pruning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What it does</a:t>
            </a:r>
            <a:r>
              <a:rPr lang="en-GB" dirty="0"/>
              <a:t>: Removes individual weights in the network (i.e., connections between neurons).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How</a:t>
            </a:r>
            <a:r>
              <a:rPr lang="en-GB" dirty="0"/>
              <a:t>: If a weight has a small magnitude (close to zero), it's considered unimportant and set to zero.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Example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A weight like 0.0005 might be pruned if the threshold is 0.001.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Pros</a:t>
            </a:r>
            <a:r>
              <a:rPr lang="en-GB" dirty="0"/>
              <a:t>: Maintains network structure.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Cons</a:t>
            </a:r>
            <a:r>
              <a:rPr lang="en-GB" dirty="0"/>
              <a:t>: May create sparse matrices that are harder to optimize in hardware.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dirty="0"/>
          </a:p>
          <a:p>
            <a:pPr>
              <a:buNone/>
            </a:pPr>
            <a:r>
              <a:rPr lang="en-GB" b="1" dirty="0"/>
              <a:t>2. Neuron/Unit Pruning (also called Filter Pruning in CNNs)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What it does</a:t>
            </a:r>
            <a:r>
              <a:rPr lang="en-GB" dirty="0"/>
              <a:t>: Removes entire neurons or filters from the model.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How</a:t>
            </a:r>
            <a:r>
              <a:rPr lang="en-GB" dirty="0"/>
              <a:t>: If a neuron consistently has low output (low activation), it is considered less useful and removed.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Example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A neuron that outputs near-zero values across all training samples might be pruned.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 </a:t>
            </a:r>
            <a:r>
              <a:rPr lang="en-GB" b="1" dirty="0"/>
              <a:t>Pros</a:t>
            </a:r>
            <a:r>
              <a:rPr lang="en-GB" dirty="0"/>
              <a:t>: Leads to more structured and hardware-efficient models.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b="1" dirty="0"/>
              <a:t>Cons</a:t>
            </a:r>
            <a:r>
              <a:rPr lang="en-GB" dirty="0"/>
              <a:t>: More aggressive, can degrade performance if not done carefully.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629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D2479AD-B598-2F1A-A4C4-5B47A81E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3120D81-E76B-F59F-8E1F-EE3A5B0A7C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726101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Types of Pruning</a:t>
            </a:r>
            <a:br>
              <a:rPr lang="en-GB" sz="27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78D84B5-596B-B75B-191F-FF3AFE9DAE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4BDB2-E594-CE0B-1415-92A1356391C5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BF091-B5F0-980C-55A0-67B70327460A}"/>
              </a:ext>
            </a:extLst>
          </p:cNvPr>
          <p:cNvSpPr txBox="1"/>
          <p:nvPr/>
        </p:nvSpPr>
        <p:spPr>
          <a:xfrm>
            <a:off x="192247" y="750730"/>
            <a:ext cx="7747075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/>
              <a:t>3. Structured vs. Unstructured Pruning</a:t>
            </a:r>
          </a:p>
          <a:p>
            <a:endParaRPr lang="en-GB" b="1" dirty="0"/>
          </a:p>
          <a:p>
            <a:r>
              <a:rPr lang="en-GB" sz="1600" b="1" dirty="0"/>
              <a:t>Unstructured Pruning</a:t>
            </a:r>
          </a:p>
          <a:p>
            <a:r>
              <a:rPr lang="en-GB" b="1" dirty="0"/>
              <a:t>Removes</a:t>
            </a:r>
            <a:r>
              <a:rPr lang="en-GB" dirty="0"/>
              <a:t>: Individual weights anywhere in the network.</a:t>
            </a:r>
          </a:p>
          <a:p>
            <a:r>
              <a:rPr lang="en-GB" b="1" dirty="0"/>
              <a:t>Result</a:t>
            </a:r>
            <a:r>
              <a:rPr lang="en-GB" dirty="0"/>
              <a:t>: Creates sparsity in the weight matrices.</a:t>
            </a:r>
          </a:p>
          <a:p>
            <a:r>
              <a:rPr lang="en-GB" b="1" dirty="0"/>
              <a:t>Requires</a:t>
            </a:r>
            <a:r>
              <a:rPr lang="en-GB" dirty="0"/>
              <a:t>: Special support in hardware or frameworks for sparse matrix computations.</a:t>
            </a:r>
          </a:p>
          <a:p>
            <a:r>
              <a:rPr lang="en-GB" b="1" dirty="0"/>
              <a:t>Use Case</a:t>
            </a:r>
            <a:r>
              <a:rPr lang="en-GB" dirty="0"/>
              <a:t>: Research and fine-grained optimization.</a:t>
            </a:r>
          </a:p>
          <a:p>
            <a:endParaRPr lang="en-GB" b="1" dirty="0"/>
          </a:p>
          <a:p>
            <a:r>
              <a:rPr lang="en-GB" sz="1600" b="1" dirty="0"/>
              <a:t>Structured Pruning</a:t>
            </a:r>
          </a:p>
          <a:p>
            <a:r>
              <a:rPr lang="en-GB" b="1" dirty="0"/>
              <a:t>Removes</a:t>
            </a:r>
            <a:r>
              <a:rPr lang="en-GB" dirty="0"/>
              <a:t>: Whole structures like:</a:t>
            </a:r>
          </a:p>
          <a:p>
            <a:pPr marL="457200" lvl="1"/>
            <a:r>
              <a:rPr lang="en-GB" dirty="0"/>
              <a:t>Neurons</a:t>
            </a:r>
          </a:p>
          <a:p>
            <a:pPr marL="457200" lvl="1"/>
            <a:r>
              <a:rPr lang="en-GB" dirty="0"/>
              <a:t>Filters</a:t>
            </a:r>
          </a:p>
          <a:p>
            <a:pPr marL="457200" lvl="1"/>
            <a:r>
              <a:rPr lang="en-GB" dirty="0"/>
              <a:t>Channels</a:t>
            </a:r>
          </a:p>
          <a:p>
            <a:pPr marL="457200" lvl="1"/>
            <a:r>
              <a:rPr lang="en-GB" dirty="0"/>
              <a:t>Even full layers</a:t>
            </a:r>
          </a:p>
          <a:p>
            <a:r>
              <a:rPr lang="en-GB" b="1" dirty="0"/>
              <a:t>Result</a:t>
            </a:r>
            <a:r>
              <a:rPr lang="en-GB" dirty="0"/>
              <a:t>: Maintains regular model structure, easier for optimization and inference.</a:t>
            </a:r>
          </a:p>
          <a:p>
            <a:r>
              <a:rPr lang="en-GB" b="1" dirty="0"/>
              <a:t>Use Case</a:t>
            </a:r>
            <a:r>
              <a:rPr lang="en-GB" dirty="0"/>
              <a:t>: Practical deployment, e.g., on mobile devices or embedded systems.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4555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2E6A54D-A4A3-75F1-B087-12F5B0FE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671A952D-65EA-0C6B-9F10-E65F5E62F6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7261013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Types of Pruning</a:t>
            </a:r>
            <a:br>
              <a:rPr lang="en-GB" sz="2700" b="1" dirty="0"/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EE65FCE-4673-B81A-2FC7-CA91B806BF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AB90B0-F77B-ED54-A48C-C68D16CBBC03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CC3CDE2-E29C-6E07-5E08-ADB30B01A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095233"/>
              </p:ext>
            </p:extLst>
          </p:nvPr>
        </p:nvGraphicFramePr>
        <p:xfrm>
          <a:off x="311150" y="1245870"/>
          <a:ext cx="8521700" cy="26517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431195882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553919447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560087176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137965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Removes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Cons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02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Weight Pruning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Individual small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Keeps original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Irregular sparsity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301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Neuron/Filter Pruning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Entire units or filters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More speed-up potential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Bigger performance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82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Unstructured Pruning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Random weights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Higher compression 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Needs sparse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455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600"/>
                        <a:t>Structured Pruning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Whole channels/layers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Easy to implement on hardware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Less fine-grained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10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127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E148091-01BE-C66D-965A-17E352BC2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B75967EC-5462-34FA-9E12-080899573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6447991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</a:rPr>
              <a:t>Pruning Process in Neural Networks</a:t>
            </a: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1F0B2918-03DE-7CED-14F6-92251C7AD4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620F8A-6717-7C9C-97F7-409FA9F84F2B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7F35E-5317-217F-8F0E-0F143441DB0E}"/>
              </a:ext>
            </a:extLst>
          </p:cNvPr>
          <p:cNvSpPr txBox="1"/>
          <p:nvPr/>
        </p:nvSpPr>
        <p:spPr>
          <a:xfrm>
            <a:off x="284774" y="883549"/>
            <a:ext cx="816457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Pruning is a </a:t>
            </a:r>
            <a:r>
              <a:rPr lang="en-GB" b="1" dirty="0"/>
              <a:t>model compression technique</a:t>
            </a:r>
            <a:r>
              <a:rPr lang="en-GB" dirty="0"/>
              <a:t> that helps reduce the size and complexity of a neural network without significantly sacrificing accuracy. Here's how the process typically works:</a:t>
            </a:r>
          </a:p>
          <a:p>
            <a:pPr>
              <a:buNone/>
            </a:pPr>
            <a:r>
              <a:rPr lang="en-GB" b="1" dirty="0"/>
              <a:t>Step-by-Step Pruning Process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r>
              <a:rPr lang="en-GB" b="1" dirty="0"/>
              <a:t>1. Train a Large Model</a:t>
            </a:r>
          </a:p>
          <a:p>
            <a:pPr marL="342900" indent="-342900">
              <a:buFont typeface="+mj-lt"/>
              <a:buAutoNum type="alphaLcPeriod"/>
            </a:pPr>
            <a:r>
              <a:rPr lang="en-GB" dirty="0"/>
              <a:t>Start with a </a:t>
            </a:r>
            <a:r>
              <a:rPr lang="en-GB" b="1" dirty="0"/>
              <a:t>fully trained, over-parameterized model</a:t>
            </a:r>
            <a:r>
              <a:rPr lang="en-GB" dirty="0"/>
              <a:t> (i.e., a big model with many parameters).</a:t>
            </a:r>
          </a:p>
          <a:p>
            <a:pPr marL="342900" indent="-342900">
              <a:buFont typeface="+mj-lt"/>
              <a:buAutoNum type="alphaLcPeriod"/>
            </a:pPr>
            <a:r>
              <a:rPr lang="en-GB" dirty="0"/>
              <a:t>This model is usually highly accurate but not optimized for efficiency.</a:t>
            </a:r>
          </a:p>
          <a:p>
            <a:pPr marL="342900" indent="-342900">
              <a:buFont typeface="+mj-lt"/>
              <a:buAutoNum type="alphaLcPeriod"/>
            </a:pPr>
            <a:r>
              <a:rPr lang="en-GB" i="1" dirty="0"/>
              <a:t>Why?</a:t>
            </a:r>
            <a:r>
              <a:rPr lang="en-GB" dirty="0"/>
              <a:t> Larger models are more likely to have redundant or less important connections, making pruning more effective.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b="1" dirty="0"/>
              <a:t>2. Evaluate Importance</a:t>
            </a:r>
          </a:p>
          <a:p>
            <a:pPr marL="342900" indent="-342900">
              <a:buFont typeface="+mj-lt"/>
              <a:buAutoNum type="alphaLcPeriod"/>
            </a:pPr>
            <a:r>
              <a:rPr lang="en-GB" dirty="0"/>
              <a:t>Identify which </a:t>
            </a:r>
            <a:r>
              <a:rPr lang="en-GB" b="1" dirty="0"/>
              <a:t>weights or neurons</a:t>
            </a:r>
            <a:r>
              <a:rPr lang="en-GB" dirty="0"/>
              <a:t> are </a:t>
            </a:r>
            <a:r>
              <a:rPr lang="en-GB" b="1" dirty="0"/>
              <a:t>less important</a:t>
            </a:r>
            <a:r>
              <a:rPr lang="en-GB" dirty="0"/>
              <a:t> using criteria such as: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b="1" dirty="0"/>
              <a:t>Magnitude-based pruning</a:t>
            </a:r>
            <a:r>
              <a:rPr lang="en-GB" dirty="0"/>
              <a:t>: Remove weights with small absolute values (e.g., close to zero).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b="1" dirty="0"/>
              <a:t>Gradient-based pruning</a:t>
            </a:r>
            <a:r>
              <a:rPr lang="en-GB" dirty="0"/>
              <a:t>: Use gradients to determine how sensitive the loss is to each weight.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b="1" dirty="0"/>
              <a:t>Activation-based</a:t>
            </a:r>
            <a:r>
              <a:rPr lang="en-GB" dirty="0"/>
              <a:t>: Neurons with consistently low activation values may be removed.</a:t>
            </a:r>
          </a:p>
          <a:p>
            <a:pPr marL="342900" indent="-342900">
              <a:buFont typeface="+mj-lt"/>
              <a:buAutoNum type="alphaLcPeriod"/>
            </a:pPr>
            <a:r>
              <a:rPr lang="en-GB" i="1" dirty="0"/>
              <a:t>Goal:</a:t>
            </a:r>
            <a:r>
              <a:rPr lang="en-GB" dirty="0"/>
              <a:t> Detect which parts of the network contribute the least to output quality.</a:t>
            </a:r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9358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D8F385A-369C-25A7-BF11-1A8781FF4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068AB033-E2C7-A37D-F660-32AE7EA9D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4" y="0"/>
            <a:ext cx="6447991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</a:rPr>
              <a:t>Pruning Process in Neural Networks</a:t>
            </a: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D180982D-CC9E-2008-CC6B-086EF411CB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88BAA-6A1E-20D8-292C-39583E6CF45C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0A3104-D4E6-13D8-4552-3FCB4B733F9F}"/>
              </a:ext>
            </a:extLst>
          </p:cNvPr>
          <p:cNvSpPr txBox="1"/>
          <p:nvPr/>
        </p:nvSpPr>
        <p:spPr>
          <a:xfrm>
            <a:off x="284774" y="883549"/>
            <a:ext cx="816457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3. Remove Unimportant Weights/Neurons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dirty="0"/>
              <a:t>Based on the evaluation, prune (remove) the </a:t>
            </a:r>
            <a:r>
              <a:rPr lang="en-GB" sz="1600" b="1" dirty="0"/>
              <a:t>unimportant weights, filters, or layers</a:t>
            </a:r>
            <a:r>
              <a:rPr lang="en-GB" sz="1600" dirty="0"/>
              <a:t>.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dirty="0"/>
              <a:t>You can prune: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sz="1600" b="1" dirty="0"/>
              <a:t>Individually (Unstructured)</a:t>
            </a:r>
            <a:r>
              <a:rPr lang="en-GB" sz="1600" dirty="0"/>
              <a:t> — arbitrary weights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sz="1600" b="1" dirty="0"/>
              <a:t>In groups (Structured)</a:t>
            </a:r>
            <a:r>
              <a:rPr lang="en-GB" sz="1600" dirty="0"/>
              <a:t> — full filters, neurons, channels, etc.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i="1" dirty="0"/>
              <a:t>Result:</a:t>
            </a:r>
            <a:r>
              <a:rPr lang="en-GB" sz="1600" dirty="0"/>
              <a:t> A smaller, sparser network.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4. Fine-tune the Pruned Model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dirty="0"/>
              <a:t>After pruning, the model may suffer a </a:t>
            </a:r>
            <a:r>
              <a:rPr lang="en-GB" sz="1600" b="1" dirty="0"/>
              <a:t>drop in accuracy</a:t>
            </a:r>
            <a:r>
              <a:rPr lang="en-GB" sz="1600" dirty="0"/>
              <a:t>.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dirty="0"/>
              <a:t>Retrain (fine-tune) the pruned model using the training dataset.</a:t>
            </a:r>
          </a:p>
          <a:p>
            <a:pPr marL="342900" indent="-342900">
              <a:buFont typeface="+mj-lt"/>
              <a:buAutoNum type="alphaLcPeriod"/>
            </a:pPr>
            <a:r>
              <a:rPr lang="en-GB" sz="1600" dirty="0"/>
              <a:t>This helps the model </a:t>
            </a:r>
            <a:r>
              <a:rPr lang="en-GB" sz="1600" b="1" dirty="0"/>
              <a:t>recover lost performance</a:t>
            </a:r>
            <a:r>
              <a:rPr lang="en-GB" sz="1600" dirty="0"/>
              <a:t> and adapt to the new architecture.</a:t>
            </a:r>
          </a:p>
          <a:p>
            <a:r>
              <a:rPr lang="en-GB" sz="1600" i="1" dirty="0"/>
              <a:t>Tip:</a:t>
            </a:r>
            <a:r>
              <a:rPr lang="en-GB" sz="1600" dirty="0"/>
              <a:t> Use a lower learning rate for better stability during fine-tuning.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959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125E82C-1CD5-08E5-32CA-FC0FE09D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E77A839-5FFC-439A-2885-4F8BFF637F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</a:rPr>
              <a:t>Tools &amp; Libraries for Pruning</a:t>
            </a: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40E69097-010E-9E2E-33F7-8E81AFAF99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E5BCA-D360-30AD-00BE-722BEE605C58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6CD7D-2CC1-62F7-48B6-C4832A3E09BB}"/>
              </a:ext>
            </a:extLst>
          </p:cNvPr>
          <p:cNvSpPr txBox="1"/>
          <p:nvPr/>
        </p:nvSpPr>
        <p:spPr>
          <a:xfrm>
            <a:off x="397431" y="664283"/>
            <a:ext cx="819311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Here are popular libraries to implement pruning in deep learning frameworks:</a:t>
            </a:r>
          </a:p>
          <a:p>
            <a:pPr>
              <a:buNone/>
            </a:pPr>
            <a:r>
              <a:rPr lang="en-GB" sz="1600" b="1" dirty="0"/>
              <a:t> </a:t>
            </a:r>
          </a:p>
          <a:p>
            <a:pPr>
              <a:buNone/>
            </a:pPr>
            <a:r>
              <a:rPr lang="en-GB" sz="1600" b="1" dirty="0"/>
              <a:t>TensorFlow Model Optimization Toolkit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Part of the TensorFlow ecosystem.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Offers </a:t>
            </a:r>
            <a:r>
              <a:rPr lang="en-GB" sz="1600" b="1" dirty="0"/>
              <a:t>magnitude-based weight pruning</a:t>
            </a:r>
            <a:r>
              <a:rPr lang="en-GB" sz="1600" dirty="0"/>
              <a:t> and tools for quantization.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Website: </a:t>
            </a:r>
            <a:r>
              <a:rPr lang="en-GB" sz="1600" dirty="0">
                <a:hlinkClick r:id="rId3"/>
              </a:rPr>
              <a:t>https://www.tensorflow.org/model_optimization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buNone/>
            </a:pPr>
            <a:r>
              <a:rPr lang="en-GB" sz="1600" b="1" dirty="0" err="1"/>
              <a:t>PyTorch’s</a:t>
            </a:r>
            <a:r>
              <a:rPr lang="en-GB" sz="1600" b="1" dirty="0"/>
              <a:t> </a:t>
            </a:r>
            <a:r>
              <a:rPr lang="en-GB" sz="1600" b="1" dirty="0" err="1"/>
              <a:t>torch.nn.utils.prune</a:t>
            </a: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Native support for pruning in </a:t>
            </a:r>
            <a:r>
              <a:rPr lang="en-GB" sz="1600" dirty="0" err="1"/>
              <a:t>PyTorch</a:t>
            </a:r>
            <a:r>
              <a:rPr lang="en-GB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Allows both </a:t>
            </a:r>
            <a:r>
              <a:rPr lang="en-GB" sz="1600" b="1" dirty="0"/>
              <a:t>structured and unstructured</a:t>
            </a:r>
            <a:r>
              <a:rPr lang="en-GB" sz="1600" dirty="0"/>
              <a:t> pruning.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Easy to apply pruning masks and remove parameters.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996DB-9EB0-1488-15C4-5B19D98085B6}"/>
              </a:ext>
            </a:extLst>
          </p:cNvPr>
          <p:cNvSpPr txBox="1"/>
          <p:nvPr/>
        </p:nvSpPr>
        <p:spPr>
          <a:xfrm>
            <a:off x="948194" y="3775876"/>
            <a:ext cx="682818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torch.nn.utils.prune</a:t>
            </a:r>
            <a:r>
              <a:rPr lang="en-US" dirty="0"/>
              <a:t> as prune</a:t>
            </a:r>
          </a:p>
          <a:p>
            <a:endParaRPr lang="en-US" dirty="0"/>
          </a:p>
          <a:p>
            <a:r>
              <a:rPr lang="en-US" dirty="0"/>
              <a:t># Example: Prune 20% of weights with lowest magnitude in a linear layer</a:t>
            </a:r>
          </a:p>
          <a:p>
            <a:r>
              <a:rPr lang="en-US" dirty="0"/>
              <a:t>prune.l1_unstructured(model.fc1, name="weight", amount=0.2)</a:t>
            </a:r>
          </a:p>
        </p:txBody>
      </p:sp>
    </p:spTree>
    <p:extLst>
      <p:ext uri="{BB962C8B-B14F-4D97-AF65-F5344CB8AC3E}">
        <p14:creationId xmlns:p14="http://schemas.microsoft.com/office/powerpoint/2010/main" val="1779656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2F5F6CC0-CDA9-0068-5C1E-0E8EA08D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F39F8FE-B6FE-2E42-B679-83CE782243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buNone/>
            </a:pPr>
            <a:r>
              <a:rPr lang="en-GB" sz="2700" b="1" i="0" u="none" strike="noStrike" dirty="0">
                <a:solidFill>
                  <a:srgbClr val="7030A0"/>
                </a:solidFill>
                <a:effectLst/>
              </a:rPr>
              <a:t>Quantization</a:t>
            </a:r>
            <a:br>
              <a:rPr lang="en-GB" sz="27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0DB0B24-6665-B5AB-89BA-80DE87CC87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7A143-21E3-78EA-BCC6-0ECA3A3A2B9D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48BFE-C649-5223-F461-28F32FD7EB43}"/>
              </a:ext>
            </a:extLst>
          </p:cNvPr>
          <p:cNvSpPr txBox="1"/>
          <p:nvPr/>
        </p:nvSpPr>
        <p:spPr>
          <a:xfrm>
            <a:off x="192247" y="454178"/>
            <a:ext cx="7751106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Overview &amp; Nature: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Widely regarded as the most common and versatile model compression method.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It is generally straightforward to implement and applicable across various tasks and model architectures.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Core Principle: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Reduces a model's size by using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fewer bits to represent its parameters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(weights and activations).</a:t>
            </a:r>
          </a:p>
          <a:p>
            <a:pPr marL="800100" lvl="1" indent="-342900" algn="l">
              <a:buFont typeface="+mj-lt"/>
              <a:buAutoNum type="arabicPeriod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How it Works (Reducing Bit Precision):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By default, many deep learning frameworks use 32-bit floating-point numbers (single precision) to store parameters.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 model with 100 million 32-bit parameters would occupy 400 MB.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Half Precision: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Reducing to 16 bits per number (half precision) halves the memory footprint.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Fixed Point/Integer Quantization: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Further reduction to 8-bit integers is common. This method is also known as "fixed point" quantization.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Extreme Cases: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Some research explores 1-bit representation (binary weight neural networks), such as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BinaryConnect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and XNOR-Net (which led to the acquisition of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Xnor.ai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by Apple).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20094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741C3FD-1950-F7FC-7A19-64B13928A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7CDE413-A401-1E31-1FD1-910A9735A0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buNone/>
            </a:pPr>
            <a:r>
              <a:rPr lang="en-GB" sz="2700" b="1" i="0" u="none" strike="noStrike" dirty="0">
                <a:solidFill>
                  <a:srgbClr val="7030A0"/>
                </a:solidFill>
                <a:effectLst/>
              </a:rPr>
              <a:t>Types of Quantization</a:t>
            </a:r>
            <a:br>
              <a:rPr lang="en-GB" sz="27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1315DA4-5242-BF0E-8B74-8C422A9FE4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382DE-242E-D78E-3D0F-A9301A22D5CD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445D88-4BD5-717B-D535-776D1A20D0F7}"/>
              </a:ext>
            </a:extLst>
          </p:cNvPr>
          <p:cNvSpPr txBox="1"/>
          <p:nvPr/>
        </p:nvSpPr>
        <p:spPr>
          <a:xfrm>
            <a:off x="359225" y="510395"/>
            <a:ext cx="73773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A. Post-Training Quantization (PTQ)</a:t>
            </a:r>
          </a:p>
          <a:p>
            <a:pPr>
              <a:buNone/>
            </a:pPr>
            <a:r>
              <a:rPr lang="en-GB" b="1" dirty="0"/>
              <a:t>Definition:</a:t>
            </a:r>
            <a:br>
              <a:rPr lang="en-GB" dirty="0"/>
            </a:br>
            <a:r>
              <a:rPr lang="en-GB" dirty="0"/>
              <a:t>PTQ is applied </a:t>
            </a:r>
            <a:r>
              <a:rPr lang="en-GB" b="1" dirty="0"/>
              <a:t>after the model is trained</a:t>
            </a:r>
            <a:r>
              <a:rPr lang="en-GB" dirty="0"/>
              <a:t>. It converts a floating-point model (e.g., FP32) to a lower precision (e.g., INT8 or FP16) </a:t>
            </a:r>
            <a:r>
              <a:rPr lang="en-GB" b="1" dirty="0"/>
              <a:t>without retraining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/>
              <a:t>How it works: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The model is trained as usual in FP32.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After training, weights and/or activations are quantized to lower precision.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This reduces model size and computation, with </a:t>
            </a:r>
            <a:r>
              <a:rPr lang="en-GB" b="1" dirty="0"/>
              <a:t>minimal changes in accuracy</a:t>
            </a:r>
            <a:r>
              <a:rPr lang="en-GB" dirty="0"/>
              <a:t>.</a:t>
            </a:r>
          </a:p>
          <a:p>
            <a:r>
              <a:rPr lang="en-GB" b="1" dirty="0"/>
              <a:t>Use Case Example – TensorFlow Lite:</a:t>
            </a:r>
            <a:endParaRPr lang="en-GB" dirty="0"/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1A59C-755A-F1AE-0292-7F2955A5C93D}"/>
              </a:ext>
            </a:extLst>
          </p:cNvPr>
          <p:cNvSpPr txBox="1"/>
          <p:nvPr/>
        </p:nvSpPr>
        <p:spPr>
          <a:xfrm>
            <a:off x="646042" y="2528895"/>
            <a:ext cx="5929685" cy="738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converter = </a:t>
            </a:r>
            <a:r>
              <a:rPr lang="en-US" dirty="0" err="1"/>
              <a:t>tf.lite.TFLiteConverter.from_saved_model</a:t>
            </a:r>
            <a:r>
              <a:rPr lang="en-US" dirty="0"/>
              <a:t>('</a:t>
            </a:r>
            <a:r>
              <a:rPr lang="en-US" dirty="0" err="1"/>
              <a:t>model_path</a:t>
            </a:r>
            <a:r>
              <a:rPr lang="en-US" dirty="0"/>
              <a:t>')</a:t>
            </a:r>
          </a:p>
          <a:p>
            <a:r>
              <a:rPr lang="en-US" dirty="0" err="1"/>
              <a:t>converter.optimizations</a:t>
            </a:r>
            <a:r>
              <a:rPr lang="en-US" dirty="0"/>
              <a:t> = [</a:t>
            </a:r>
            <a:r>
              <a:rPr lang="en-US" dirty="0" err="1"/>
              <a:t>tf.lite.Optimize.DEFAULT</a:t>
            </a:r>
            <a:r>
              <a:rPr lang="en-US" dirty="0"/>
              <a:t>]</a:t>
            </a:r>
          </a:p>
          <a:p>
            <a:r>
              <a:rPr lang="en-US" dirty="0" err="1"/>
              <a:t>tflite_model</a:t>
            </a:r>
            <a:r>
              <a:rPr lang="en-US" dirty="0"/>
              <a:t> = </a:t>
            </a:r>
            <a:r>
              <a:rPr lang="en-US" dirty="0" err="1"/>
              <a:t>converter.convert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19397-E354-8208-822C-DC00C66CAF1F}"/>
              </a:ext>
            </a:extLst>
          </p:cNvPr>
          <p:cNvSpPr txBox="1"/>
          <p:nvPr/>
        </p:nvSpPr>
        <p:spPr>
          <a:xfrm>
            <a:off x="284775" y="3376797"/>
            <a:ext cx="68554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Benefits: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Simple and fast to implement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Great for </a:t>
            </a:r>
            <a:r>
              <a:rPr lang="en-GB" b="1" dirty="0"/>
              <a:t>deployment to mobile/edge devices</a:t>
            </a:r>
            <a:endParaRPr lang="en-GB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No need for retraining</a:t>
            </a:r>
          </a:p>
          <a:p>
            <a:pPr>
              <a:buNone/>
            </a:pPr>
            <a:r>
              <a:rPr lang="en-GB" dirty="0"/>
              <a:t>Drawbacks: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Accuracy might degrade, especially for sensitive models</a:t>
            </a:r>
          </a:p>
        </p:txBody>
      </p:sp>
    </p:spTree>
    <p:extLst>
      <p:ext uri="{BB962C8B-B14F-4D97-AF65-F5344CB8AC3E}">
        <p14:creationId xmlns:p14="http://schemas.microsoft.com/office/powerpoint/2010/main" val="297834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E85409D-E01B-0F8C-E2C7-EC1F5BEC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9C5D965-BE28-FB35-2EC6-32EA40488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buNone/>
            </a:pPr>
            <a:r>
              <a:rPr lang="en-GB" sz="2700" b="1" i="0" u="none" strike="noStrike" dirty="0">
                <a:solidFill>
                  <a:srgbClr val="7030A0"/>
                </a:solidFill>
                <a:effectLst/>
              </a:rPr>
              <a:t> Types of Quantization</a:t>
            </a:r>
            <a:br>
              <a:rPr lang="en-GB" sz="27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83913E7-95C7-5F92-7781-C0E3273508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E1E7A-8ECA-81E2-DC4E-DCA35B91D031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1BEE5-FCC2-3CFC-177E-158E1C83CBDD}"/>
              </a:ext>
            </a:extLst>
          </p:cNvPr>
          <p:cNvSpPr txBox="1"/>
          <p:nvPr/>
        </p:nvSpPr>
        <p:spPr>
          <a:xfrm>
            <a:off x="284775" y="377530"/>
            <a:ext cx="7377394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B. Quantization-Aware Training (QAT)</a:t>
            </a:r>
          </a:p>
          <a:p>
            <a:pPr>
              <a:buNone/>
            </a:pPr>
            <a:r>
              <a:rPr lang="en-GB" b="1" dirty="0"/>
              <a:t>Definition:</a:t>
            </a:r>
            <a:br>
              <a:rPr lang="en-GB" dirty="0"/>
            </a:br>
            <a:r>
              <a:rPr lang="en-GB" dirty="0"/>
              <a:t>QAT simulates the effects of quantization </a:t>
            </a:r>
            <a:r>
              <a:rPr lang="en-GB" b="1" dirty="0"/>
              <a:t>during the training phase</a:t>
            </a:r>
            <a:r>
              <a:rPr lang="en-GB" dirty="0"/>
              <a:t>. The model learns to adapt to quantized values, resulting in </a:t>
            </a:r>
            <a:r>
              <a:rPr lang="en-GB" b="1" dirty="0"/>
              <a:t>higher accuracy</a:t>
            </a:r>
            <a:r>
              <a:rPr lang="en-GB" dirty="0"/>
              <a:t> after deployment.</a:t>
            </a:r>
          </a:p>
          <a:p>
            <a:pPr>
              <a:buNone/>
            </a:pPr>
            <a:r>
              <a:rPr lang="en-GB" b="1" dirty="0"/>
              <a:t>How it works:</a:t>
            </a: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Quantization is emulated during forward and backward passes.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The model is trained with fake quantization nodes that mimic lower-precision arithmetic.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Once trained, it is converted to a real quantized model.</a:t>
            </a:r>
          </a:p>
          <a:p>
            <a:r>
              <a:rPr lang="en-GB" b="1" dirty="0"/>
              <a:t>Use Case Example – </a:t>
            </a:r>
            <a:r>
              <a:rPr lang="en-GB" b="1" dirty="0" err="1"/>
              <a:t>PyTorch</a:t>
            </a:r>
            <a:r>
              <a:rPr lang="en-GB" b="1" dirty="0"/>
              <a:t>:</a:t>
            </a:r>
            <a:endParaRPr lang="en-GB" dirty="0"/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DAAE1-92BF-641E-700B-E60390E91452}"/>
              </a:ext>
            </a:extLst>
          </p:cNvPr>
          <p:cNvSpPr txBox="1"/>
          <p:nvPr/>
        </p:nvSpPr>
        <p:spPr>
          <a:xfrm>
            <a:off x="3020467" y="2390447"/>
            <a:ext cx="492981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import </a:t>
            </a:r>
            <a:r>
              <a:rPr lang="en-US" sz="1200" dirty="0" err="1"/>
              <a:t>torch.quantization</a:t>
            </a:r>
            <a:endParaRPr lang="en-US" sz="1200" dirty="0"/>
          </a:p>
          <a:p>
            <a:r>
              <a:rPr lang="en-US" sz="1200" dirty="0"/>
              <a:t># Prepare the model for QAT</a:t>
            </a:r>
          </a:p>
          <a:p>
            <a:r>
              <a:rPr lang="en-US" sz="1200" dirty="0" err="1"/>
              <a:t>model.qconfig</a:t>
            </a:r>
            <a:r>
              <a:rPr lang="en-US" sz="1200" dirty="0"/>
              <a:t> = </a:t>
            </a:r>
            <a:r>
              <a:rPr lang="en-US" sz="1200" dirty="0" err="1"/>
              <a:t>torch.quantization.get_default_qat_qconfig</a:t>
            </a:r>
            <a:r>
              <a:rPr lang="en-US" sz="1200" dirty="0"/>
              <a:t>('</a:t>
            </a:r>
            <a:r>
              <a:rPr lang="en-US" sz="1200" dirty="0" err="1"/>
              <a:t>fbgemm</a:t>
            </a:r>
            <a:r>
              <a:rPr lang="en-US" sz="1200" dirty="0"/>
              <a:t>')</a:t>
            </a:r>
          </a:p>
          <a:p>
            <a:r>
              <a:rPr lang="en-US" sz="1200" dirty="0" err="1"/>
              <a:t>torch.quantization.prepare_qat</a:t>
            </a:r>
            <a:r>
              <a:rPr lang="en-US" sz="1200" dirty="0"/>
              <a:t>(model, </a:t>
            </a:r>
            <a:r>
              <a:rPr lang="en-US" sz="1200" dirty="0" err="1"/>
              <a:t>inplace</a:t>
            </a:r>
            <a:r>
              <a:rPr lang="en-US" sz="1200" dirty="0"/>
              <a:t>=True)</a:t>
            </a:r>
          </a:p>
          <a:p>
            <a:r>
              <a:rPr lang="en-US" sz="1200" dirty="0"/>
              <a:t># Train the model as usual</a:t>
            </a:r>
          </a:p>
          <a:p>
            <a:r>
              <a:rPr lang="en-US" sz="1200" dirty="0"/>
              <a:t># After training</a:t>
            </a:r>
          </a:p>
          <a:p>
            <a:r>
              <a:rPr lang="en-US" sz="1200" dirty="0" err="1"/>
              <a:t>torch.quantization.convert</a:t>
            </a:r>
            <a:r>
              <a:rPr lang="en-US" sz="1200" dirty="0"/>
              <a:t>(</a:t>
            </a:r>
            <a:r>
              <a:rPr lang="en-US" sz="1200" dirty="0" err="1"/>
              <a:t>model.eval</a:t>
            </a:r>
            <a:r>
              <a:rPr lang="en-US" sz="1200" dirty="0"/>
              <a:t>(), </a:t>
            </a:r>
            <a:r>
              <a:rPr lang="en-US" sz="1200" dirty="0" err="1"/>
              <a:t>inplace</a:t>
            </a:r>
            <a:r>
              <a:rPr lang="en-US" sz="1200" dirty="0"/>
              <a:t>=True)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D949C-C087-AF8B-B6CE-53448F84B9E4}"/>
              </a:ext>
            </a:extLst>
          </p:cNvPr>
          <p:cNvSpPr txBox="1"/>
          <p:nvPr/>
        </p:nvSpPr>
        <p:spPr>
          <a:xfrm>
            <a:off x="373134" y="3533311"/>
            <a:ext cx="46475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Benefits: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b="1" dirty="0"/>
              <a:t>Higher accuracy</a:t>
            </a:r>
            <a:r>
              <a:rPr lang="en-GB" dirty="0"/>
              <a:t> than PTQ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dirty="0"/>
              <a:t>Preferred when deploying models to </a:t>
            </a:r>
            <a:r>
              <a:rPr lang="en-GB" b="1" dirty="0"/>
              <a:t>latency-sensitive or critical systems</a:t>
            </a:r>
            <a:endParaRPr lang="en-GB" dirty="0"/>
          </a:p>
          <a:p>
            <a:pPr>
              <a:buNone/>
            </a:pPr>
            <a:r>
              <a:rPr lang="en-GB" b="1" dirty="0"/>
              <a:t>Drawbacks: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Requires </a:t>
            </a:r>
            <a:r>
              <a:rPr lang="en-GB" b="1" dirty="0"/>
              <a:t>additional training time</a:t>
            </a:r>
            <a:endParaRPr lang="en-GB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dirty="0"/>
              <a:t>More complex to implement</a:t>
            </a:r>
          </a:p>
        </p:txBody>
      </p:sp>
    </p:spTree>
    <p:extLst>
      <p:ext uri="{BB962C8B-B14F-4D97-AF65-F5344CB8AC3E}">
        <p14:creationId xmlns:p14="http://schemas.microsoft.com/office/powerpoint/2010/main" val="839116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E37624F-640B-D9C9-7179-0D101392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EB133F7-2F76-2A6E-5508-891E60628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652154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None/>
            </a:pPr>
            <a:r>
              <a:rPr lang="en-GB" sz="2800" b="1" dirty="0"/>
              <a:t>Precision Levels in Quantization</a:t>
            </a:r>
            <a:br>
              <a:rPr lang="en-GB" sz="2800" b="1" dirty="0"/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113926BB-5C42-601B-4328-20279EACD2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D595EB-6136-20D6-818B-287CEC0F1391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2B466-08F5-8C2C-3D6B-BE4A6ADD4B2A}"/>
              </a:ext>
            </a:extLst>
          </p:cNvPr>
          <p:cNvSpPr txBox="1"/>
          <p:nvPr/>
        </p:nvSpPr>
        <p:spPr>
          <a:xfrm>
            <a:off x="192247" y="454178"/>
            <a:ext cx="782266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Quantization works by </a:t>
            </a:r>
            <a:r>
              <a:rPr lang="en-GB" b="1" dirty="0"/>
              <a:t>reducing the numerical precision</a:t>
            </a:r>
            <a:r>
              <a:rPr lang="en-GB" dirty="0"/>
              <a:t> used in model computations (weights, activations). Here are the most common levels:</a:t>
            </a:r>
          </a:p>
          <a:p>
            <a:pPr>
              <a:buNone/>
            </a:pPr>
            <a:r>
              <a:rPr lang="en-GB" b="1" dirty="0"/>
              <a:t>FP32 → FP16 (Half-Precision Floating Point)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FP32 (32-bit)</a:t>
            </a:r>
            <a:r>
              <a:rPr lang="en-GB" dirty="0"/>
              <a:t> is the default in most deep learning frameworks.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FP16 (16-bit)</a:t>
            </a:r>
            <a:r>
              <a:rPr lang="en-GB" dirty="0"/>
              <a:t> uses less memory and is </a:t>
            </a:r>
            <a:r>
              <a:rPr lang="en-GB" b="1" dirty="0"/>
              <a:t>faster on modern GPUs</a:t>
            </a:r>
            <a:r>
              <a:rPr lang="en-GB" dirty="0"/>
              <a:t> (especially NVIDIA Tensor Cores).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Retains much of the accuracy of FP32.</a:t>
            </a:r>
          </a:p>
          <a:p>
            <a:pPr>
              <a:buNone/>
            </a:pPr>
            <a:r>
              <a:rPr lang="en-GB" b="1" dirty="0"/>
              <a:t>Best for</a:t>
            </a:r>
            <a:r>
              <a:rPr lang="en-GB" dirty="0"/>
              <a:t>: Training/inference on </a:t>
            </a:r>
            <a:r>
              <a:rPr lang="en-GB" b="1" dirty="0"/>
              <a:t>GPUs</a:t>
            </a:r>
            <a:r>
              <a:rPr lang="en-GB" dirty="0"/>
              <a:t> with good hardware support.</a:t>
            </a:r>
          </a:p>
          <a:p>
            <a:pPr>
              <a:buNone/>
            </a:pPr>
            <a:r>
              <a:rPr lang="en-GB" b="1" dirty="0"/>
              <a:t>FP32 → INT8 (Integer Quantization)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Converts weights and activations to 8-bit integers.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Significantly reduces model size and improves inference speed, especially on CPUs, microcontrollers, and mobile devices.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Works best with Quantization-Aware Training (QAT) to preserve accuracy.</a:t>
            </a:r>
          </a:p>
          <a:p>
            <a:pPr>
              <a:buNone/>
            </a:pPr>
            <a:r>
              <a:rPr lang="en-GB" b="1" dirty="0"/>
              <a:t>Best for</a:t>
            </a:r>
            <a:r>
              <a:rPr lang="en-GB" dirty="0"/>
              <a:t>: </a:t>
            </a:r>
            <a:r>
              <a:rPr lang="en-GB" b="1" dirty="0"/>
              <a:t>Edge devices</a:t>
            </a:r>
            <a:r>
              <a:rPr lang="en-GB" dirty="0"/>
              <a:t> like smartphones, Raspberry Pi, Arduino, etc.</a:t>
            </a:r>
          </a:p>
          <a:p>
            <a:pPr>
              <a:buNone/>
            </a:pPr>
            <a:r>
              <a:rPr lang="en-GB" b="1" dirty="0"/>
              <a:t>Binary / Ternary Quantization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Binary</a:t>
            </a:r>
            <a:r>
              <a:rPr lang="en-GB" dirty="0"/>
              <a:t>: Weights are either +1 or -1.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Ternary</a:t>
            </a:r>
            <a:r>
              <a:rPr lang="en-GB" dirty="0"/>
              <a:t>: Weights are +1, 0, or -1.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Extremely compact models minimal memory footprint.</a:t>
            </a:r>
          </a:p>
          <a:p>
            <a:r>
              <a:rPr lang="en-GB" b="1" dirty="0"/>
              <a:t>Limitation</a:t>
            </a:r>
            <a:r>
              <a:rPr lang="en-GB" dirty="0"/>
              <a:t>: Often leads to a significant drop in accuracy, suitable mainly for very constrained hardware or research experiments.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70058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CF88F73-C222-16E0-1EF0-875BFC51B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47D6837-1DA0-75A9-19B2-1CCF26056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6521542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Benefits of Quantization</a:t>
            </a:r>
            <a:br>
              <a:rPr lang="en-GB" sz="2000" b="1" dirty="0"/>
            </a:br>
            <a:br>
              <a:rPr lang="en-GB" sz="2800" b="1" dirty="0"/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8715D5F-D87B-F83D-503F-2DAD86FA17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D7367-9F9A-4A55-3F4E-0D33B924CA20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C6B32-99E3-D3CA-F047-E4654DB6876B}"/>
              </a:ext>
            </a:extLst>
          </p:cNvPr>
          <p:cNvSpPr txBox="1"/>
          <p:nvPr/>
        </p:nvSpPr>
        <p:spPr>
          <a:xfrm>
            <a:off x="192247" y="522150"/>
            <a:ext cx="78226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/>
              <a:t>Faster Inference</a:t>
            </a:r>
            <a:r>
              <a:rPr lang="en-GB" dirty="0"/>
              <a:t>: Lower precision means fewer bits to compute.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Smaller Model Size</a:t>
            </a:r>
            <a:r>
              <a:rPr lang="en-GB" dirty="0"/>
              <a:t>: Reduces memory usage dramatically (INT8 uses 75% less space than FP32).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Lower Power Consumption</a:t>
            </a:r>
            <a:r>
              <a:rPr lang="en-GB" dirty="0"/>
              <a:t>: Essential for mobile and IoT devices.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Challenges of Quantization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Potential Accuracy Drop</a:t>
            </a:r>
            <a:r>
              <a:rPr lang="en-GB" dirty="0"/>
              <a:t>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Models may lose precision, especially if </a:t>
            </a:r>
            <a:r>
              <a:rPr lang="en-GB" b="1" dirty="0"/>
              <a:t>not quantization-aware</a:t>
            </a:r>
            <a:r>
              <a:rPr lang="en-GB" dirty="0"/>
              <a:t>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Can be mitigated by </a:t>
            </a:r>
            <a:r>
              <a:rPr lang="en-GB" b="1" dirty="0"/>
              <a:t>Quantization-Aware Training (QAT)</a:t>
            </a:r>
            <a:r>
              <a:rPr lang="en-GB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Hardware Compatibility</a:t>
            </a:r>
            <a:r>
              <a:rPr lang="en-GB" dirty="0"/>
              <a:t>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Some hardware accelerators do not support all types of quantization.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You may need to </a:t>
            </a:r>
            <a:r>
              <a:rPr lang="en-GB" b="1" dirty="0"/>
              <a:t>fine-tune for deployment targets</a:t>
            </a:r>
            <a:r>
              <a:rPr lang="en-GB" dirty="0"/>
              <a:t>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B2FFED-F421-99FB-A268-C218F8AF86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72851"/>
              </p:ext>
            </p:extLst>
          </p:nvPr>
        </p:nvGraphicFramePr>
        <p:xfrm>
          <a:off x="311150" y="3389155"/>
          <a:ext cx="8521700" cy="14325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67872">
                  <a:extLst>
                    <a:ext uri="{9D8B030D-6E8A-4147-A177-3AD203B41FA5}">
                      <a16:colId xmlns:a16="http://schemas.microsoft.com/office/drawing/2014/main" val="2498854187"/>
                    </a:ext>
                  </a:extLst>
                </a:gridCol>
                <a:gridCol w="5653828">
                  <a:extLst>
                    <a:ext uri="{9D8B030D-6E8A-4147-A177-3AD203B41FA5}">
                      <a16:colId xmlns:a16="http://schemas.microsoft.com/office/drawing/2014/main" val="3636877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Framework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735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TensorFlow Lite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Ideal for mobile/edge deployment; supports PTQ and QAT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890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/>
                        <a:t>ONNX Runtime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Cross-platform inference engine; supports INT8 and FP16 quantization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3645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NVIDIA TensorRT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High-performance inference on NVIDIA GPUs (supports FP16, INT8)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5171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9738DBF-691A-38F8-8A0B-F338E0E0F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816" y="3065417"/>
            <a:ext cx="30668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&amp; Libraries for Quantization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44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687E597-D8D0-C88A-F8F1-38CAD8E1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60115D9-0AC3-1E06-470D-4F66F775B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150" y="217468"/>
            <a:ext cx="4824254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>
              <a:buNone/>
            </a:pPr>
            <a:r>
              <a:rPr lang="en-GB" sz="2700" dirty="0">
                <a:solidFill>
                  <a:srgbClr val="7030A0"/>
                </a:solidFill>
              </a:rPr>
              <a:t>Comparison of PTQ Vs QAT</a:t>
            </a:r>
            <a:br>
              <a:rPr lang="en-GB" sz="27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i="0" u="none" strike="noStrike" dirty="0">
                <a:solidFill>
                  <a:srgbClr val="7030A0"/>
                </a:solidFill>
                <a:effectLst/>
              </a:rPr>
            </a:b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83A129D7-AF56-9651-63D7-27803D742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DDF5F-E030-6B26-205A-07C4D31C5C70}"/>
              </a:ext>
            </a:extLst>
          </p:cNvPr>
          <p:cNvSpPr txBox="1"/>
          <p:nvPr/>
        </p:nvSpPr>
        <p:spPr>
          <a:xfrm>
            <a:off x="192247" y="1186008"/>
            <a:ext cx="4301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2400"/>
              </a:lnSpc>
              <a:buFont typeface="+mj-lt"/>
              <a:buAutoNum type="arabicPeriod"/>
            </a:pPr>
            <a:endParaRPr lang="en-GB" sz="1600" b="0" i="0" u="none" strike="noStrike" dirty="0">
              <a:solidFill>
                <a:srgbClr val="242424"/>
              </a:solidFill>
              <a:effectLst/>
              <a:latin typeface="source-serif-pro"/>
            </a:endParaRPr>
          </a:p>
          <a:p>
            <a:pPr marL="342900" indent="-342900">
              <a:buFont typeface="+mj-lt"/>
              <a:buAutoNum type="arabicPeriod"/>
            </a:pPr>
            <a:endParaRPr lang="en-GB" sz="1600" b="1" dirty="0"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B35D8C-92CB-061A-D90D-6FEFECF57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951635"/>
              </p:ext>
            </p:extLst>
          </p:nvPr>
        </p:nvGraphicFramePr>
        <p:xfrm>
          <a:off x="192247" y="884346"/>
          <a:ext cx="8394029" cy="22555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364285">
                  <a:extLst>
                    <a:ext uri="{9D8B030D-6E8A-4147-A177-3AD203B41FA5}">
                      <a16:colId xmlns:a16="http://schemas.microsoft.com/office/drawing/2014/main" val="2640434549"/>
                    </a:ext>
                  </a:extLst>
                </a:gridCol>
                <a:gridCol w="3231735">
                  <a:extLst>
                    <a:ext uri="{9D8B030D-6E8A-4147-A177-3AD203B41FA5}">
                      <a16:colId xmlns:a16="http://schemas.microsoft.com/office/drawing/2014/main" val="3818140973"/>
                    </a:ext>
                  </a:extLst>
                </a:gridCol>
                <a:gridCol w="2798009">
                  <a:extLst>
                    <a:ext uri="{9D8B030D-6E8A-4147-A177-3AD203B41FA5}">
                      <a16:colId xmlns:a16="http://schemas.microsoft.com/office/drawing/2014/main" val="2907552687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GB" sz="16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/>
                        <a:t>Post-Training Quantization (PTQ)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Quantization-Aware Training (QAT)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2518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Training Required?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22191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7290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Medium/High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89149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Quick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Production-quality apps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009002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600"/>
                        <a:t>Supported Frameworks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TensorFlow Lite, PyTorch, ONNX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TensorFlow, </a:t>
                      </a:r>
                      <a:r>
                        <a:rPr lang="en-GB" sz="1600" dirty="0" err="1"/>
                        <a:t>PyTorch</a:t>
                      </a:r>
                      <a:endParaRPr lang="en-GB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3617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51F75E-E1B5-A6DD-5E5C-29A348020583}"/>
              </a:ext>
            </a:extLst>
          </p:cNvPr>
          <p:cNvSpPr txBox="1"/>
          <p:nvPr/>
        </p:nvSpPr>
        <p:spPr>
          <a:xfrm>
            <a:off x="192247" y="3178844"/>
            <a:ext cx="87132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When to Use What?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Use </a:t>
            </a:r>
            <a:r>
              <a:rPr lang="en-GB" b="1" dirty="0"/>
              <a:t>PTQ</a:t>
            </a:r>
            <a:r>
              <a:rPr lang="en-GB" dirty="0"/>
              <a:t> if: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You need </a:t>
            </a:r>
            <a:r>
              <a:rPr lang="en-GB" b="1" dirty="0"/>
              <a:t>quick deployment</a:t>
            </a:r>
            <a:endParaRPr lang="en-GB" dirty="0"/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Your model is </a:t>
            </a:r>
            <a:r>
              <a:rPr lang="en-GB" b="1" dirty="0"/>
              <a:t>not too sensitive</a:t>
            </a:r>
            <a:r>
              <a:rPr lang="en-GB" dirty="0"/>
              <a:t> to precision loss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Use </a:t>
            </a:r>
            <a:r>
              <a:rPr lang="en-GB" b="1" dirty="0"/>
              <a:t>QAT</a:t>
            </a:r>
            <a:r>
              <a:rPr lang="en-GB" dirty="0"/>
              <a:t> if: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Accuracy is </a:t>
            </a:r>
            <a:r>
              <a:rPr lang="en-GB" b="1" dirty="0"/>
              <a:t>critical</a:t>
            </a:r>
            <a:endParaRPr lang="en-GB" dirty="0"/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You’re deploying to </a:t>
            </a:r>
            <a:r>
              <a:rPr lang="en-GB" b="1" dirty="0"/>
              <a:t>resource-constrained environments</a:t>
            </a:r>
            <a:r>
              <a:rPr lang="en-GB" dirty="0"/>
              <a:t> (e.g., mobile, embedded systems)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GB" dirty="0"/>
              <a:t>You're already training or fine-tuning the model</a:t>
            </a:r>
          </a:p>
        </p:txBody>
      </p:sp>
    </p:spTree>
    <p:extLst>
      <p:ext uri="{BB962C8B-B14F-4D97-AF65-F5344CB8AC3E}">
        <p14:creationId xmlns:p14="http://schemas.microsoft.com/office/powerpoint/2010/main" val="318193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E8FEA6-65F0-B9D4-B07A-025DE0E94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918C6AA-24AD-A805-B63B-3607E3CD1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</a:rPr>
              <a:t>Deploying Lightweight Models on Edge Devices</a:t>
            </a: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endParaRPr lang="en-GB" sz="28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65830205-9A81-73FF-C5E7-17950F1281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C88D6-F512-2293-0325-3BF6E9B1B933}"/>
              </a:ext>
            </a:extLst>
          </p:cNvPr>
          <p:cNvSpPr txBox="1"/>
          <p:nvPr/>
        </p:nvSpPr>
        <p:spPr>
          <a:xfrm>
            <a:off x="79513" y="511689"/>
            <a:ext cx="8062623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Edge devices like </a:t>
            </a:r>
            <a:r>
              <a:rPr lang="en-GB" b="1" dirty="0"/>
              <a:t>smartphones</a:t>
            </a:r>
            <a:r>
              <a:rPr lang="en-GB" dirty="0"/>
              <a:t>, </a:t>
            </a:r>
            <a:r>
              <a:rPr lang="en-GB" b="1" dirty="0"/>
              <a:t>Raspberry Pi</a:t>
            </a:r>
            <a:r>
              <a:rPr lang="en-GB" dirty="0"/>
              <a:t>, </a:t>
            </a:r>
            <a:r>
              <a:rPr lang="en-GB" b="1" dirty="0"/>
              <a:t>drones</a:t>
            </a:r>
            <a:r>
              <a:rPr lang="en-GB" dirty="0"/>
              <a:t>, and </a:t>
            </a:r>
            <a:r>
              <a:rPr lang="en-GB" b="1" dirty="0"/>
              <a:t>IoT sensors </a:t>
            </a:r>
            <a:r>
              <a:rPr lang="en-GB" dirty="0"/>
              <a:t>are resource-constrained. They lack the computational power of cloud servers, so deploying </a:t>
            </a:r>
            <a:r>
              <a:rPr lang="en-GB" b="1" dirty="0"/>
              <a:t>optimized, efficient models</a:t>
            </a:r>
            <a:r>
              <a:rPr lang="en-GB" dirty="0"/>
              <a:t> is crucial for </a:t>
            </a:r>
            <a:r>
              <a:rPr lang="en-GB" b="1" dirty="0"/>
              <a:t>real-time performance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/>
              <a:t>Key Considerations</a:t>
            </a:r>
          </a:p>
          <a:p>
            <a:pPr>
              <a:buNone/>
            </a:pPr>
            <a:r>
              <a:rPr lang="en-GB" b="1" dirty="0"/>
              <a:t>1. Hardware Constraints</a:t>
            </a:r>
          </a:p>
          <a:p>
            <a:r>
              <a:rPr lang="en-GB" dirty="0"/>
              <a:t>Edge devices may have: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Limited CPU/GPU</a:t>
            </a:r>
            <a:r>
              <a:rPr lang="en-GB" dirty="0"/>
              <a:t> capabilities.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Specialized chips like </a:t>
            </a:r>
            <a:r>
              <a:rPr lang="en-GB" b="1" dirty="0"/>
              <a:t>NPUs (Neural Processing Units)</a:t>
            </a:r>
            <a:r>
              <a:rPr lang="en-GB" dirty="0"/>
              <a:t> or </a:t>
            </a:r>
            <a:r>
              <a:rPr lang="en-GB" b="1" dirty="0"/>
              <a:t>TPUs (Tensor Processing Units)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Understanding the device’s </a:t>
            </a:r>
            <a:r>
              <a:rPr lang="en-GB" b="1" dirty="0"/>
              <a:t>hardware support</a:t>
            </a:r>
            <a:r>
              <a:rPr lang="en-GB" dirty="0"/>
              <a:t> is essential before deployment.</a:t>
            </a:r>
          </a:p>
          <a:p>
            <a:pPr>
              <a:buNone/>
            </a:pPr>
            <a:r>
              <a:rPr lang="en-GB" b="1" dirty="0"/>
              <a:t>2. Latency &amp; Power Efficiency</a:t>
            </a:r>
          </a:p>
          <a:p>
            <a:r>
              <a:rPr lang="en-GB" dirty="0"/>
              <a:t>Edge applications (e.g., real-time face detection, voice recognition) must: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Run </a:t>
            </a:r>
            <a:r>
              <a:rPr lang="en-GB" b="1" dirty="0"/>
              <a:t>inference quickly</a:t>
            </a:r>
            <a:r>
              <a:rPr lang="en-GB" dirty="0"/>
              <a:t> (low latency).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Consume </a:t>
            </a:r>
            <a:r>
              <a:rPr lang="en-GB" b="1" dirty="0"/>
              <a:t>minimal power</a:t>
            </a:r>
            <a:r>
              <a:rPr lang="en-GB" dirty="0"/>
              <a:t> (battery preservation).</a:t>
            </a:r>
          </a:p>
          <a:p>
            <a:pPr>
              <a:buNone/>
            </a:pPr>
            <a:r>
              <a:rPr lang="en-GB" b="1" dirty="0"/>
              <a:t>3. Framework Compatibility</a:t>
            </a:r>
          </a:p>
          <a:p>
            <a:pPr>
              <a:buNone/>
            </a:pPr>
            <a:r>
              <a:rPr lang="en-GB" dirty="0"/>
              <a:t>Choose a framework that:</a:t>
            </a:r>
          </a:p>
          <a:p>
            <a:pPr marL="400050" indent="-400050">
              <a:buFont typeface="+mj-lt"/>
              <a:buAutoNum type="romanLcPeriod"/>
            </a:pPr>
            <a:r>
              <a:rPr lang="en-GB" dirty="0"/>
              <a:t>Supports </a:t>
            </a:r>
            <a:r>
              <a:rPr lang="en-GB" b="1" dirty="0"/>
              <a:t>compression techniques</a:t>
            </a:r>
            <a:r>
              <a:rPr lang="en-GB" dirty="0"/>
              <a:t> (like quantization/pruning).</a:t>
            </a:r>
          </a:p>
          <a:p>
            <a:pPr marL="400050" indent="-400050">
              <a:buFont typeface="+mj-lt"/>
              <a:buAutoNum type="romanLcPeriod"/>
            </a:pPr>
            <a:r>
              <a:rPr lang="en-GB" dirty="0"/>
              <a:t>Offers conversion tools to </a:t>
            </a:r>
            <a:r>
              <a:rPr lang="en-GB" b="1" dirty="0"/>
              <a:t>edge-compatible formats</a:t>
            </a:r>
            <a:r>
              <a:rPr lang="en-GB" dirty="0"/>
              <a:t>.</a:t>
            </a:r>
          </a:p>
          <a:p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752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15B4A96-7E16-FA6F-AA64-776A5CEF4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3938637-6BB6-AEE9-414F-E3314DAB5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Setting Up the Right Environment for Edge Model Development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endParaRPr lang="en-GB" sz="20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86E0F528-B9DF-982A-EDE1-0555E06095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328D8-8500-CE71-8352-E49CB34BA3AA}"/>
              </a:ext>
            </a:extLst>
          </p:cNvPr>
          <p:cNvSpPr txBox="1"/>
          <p:nvPr/>
        </p:nvSpPr>
        <p:spPr>
          <a:xfrm>
            <a:off x="79513" y="511689"/>
            <a:ext cx="80626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Essential Tools and Libraries: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TensorFlow Lite: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Ideal for Android and embedded systems.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Core ML: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Best suited for iOS applications.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ONNX (Open Neural Network Exchange):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Serves as a crucial bridge for compatibility between various deep learning frameworks, facilitating cross-platform deployment.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Recommended Hardware: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Starting Point: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Raspberry Pi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is excellent for initial experimentation due to its simplicity and affordability.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Higher Performance: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NVIDIA Jetson boards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(e.g., Jetson Nano) are strong choices for projects demanding both high performance and edge deployment, offering a good balance of cost and capability.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Alternative ARM-based Boards: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Options like </a:t>
            </a:r>
            <a:r>
              <a:rPr lang="en-GB" sz="1600" b="1" i="0" u="none" strike="noStrike" dirty="0" err="1">
                <a:solidFill>
                  <a:srgbClr val="000000"/>
                </a:solidFill>
                <a:effectLst/>
              </a:rPr>
              <a:t>BeagleBone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or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Coral Dev Board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are also valuable for exploration.</a:t>
            </a:r>
          </a:p>
          <a:p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75052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5FBF3B6-1083-B439-77F7-9B167D1CE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A2D98CC9-7260-46EA-AD67-8ACC26C715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Setting Up the Right Environment for Edge Model Development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endParaRPr lang="en-GB" sz="20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48D64403-09ED-9BB8-973B-8492B4A19E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4AAB0-DEB9-5E05-97C2-07D7A6B0FFC4}"/>
              </a:ext>
            </a:extLst>
          </p:cNvPr>
          <p:cNvSpPr txBox="1"/>
          <p:nvPr/>
        </p:nvSpPr>
        <p:spPr>
          <a:xfrm>
            <a:off x="79513" y="511689"/>
            <a:ext cx="8062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0" dirty="0">
                <a:solidFill>
                  <a:srgbClr val="242424"/>
                </a:solidFill>
                <a:effectLst/>
                <a:latin typeface="source-serif-pro"/>
              </a:rPr>
              <a:t>Setting Up a Cross-Platform Pipeline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B8E0F-C1DB-F5E1-5C68-9F4EBCABA4EF}"/>
              </a:ext>
            </a:extLst>
          </p:cNvPr>
          <p:cNvSpPr txBox="1"/>
          <p:nvPr/>
        </p:nvSpPr>
        <p:spPr>
          <a:xfrm>
            <a:off x="284775" y="1020250"/>
            <a:ext cx="464753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007400"/>
                </a:solidFill>
                <a:effectLst/>
                <a:latin typeface="source-code-pro"/>
              </a:rPr>
              <a:t># Install TensorFlow and TensorFlow Lite</a:t>
            </a:r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pip install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code-pro"/>
              </a:rPr>
              <a:t>tensorflow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code-pro"/>
              </a:rPr>
              <a:t>tensorflow</a:t>
            </a: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-lite</a:t>
            </a:r>
            <a:br>
              <a:rPr lang="en-GB" dirty="0"/>
            </a:br>
            <a:r>
              <a:rPr lang="en-GB" b="0" i="0" dirty="0">
                <a:solidFill>
                  <a:srgbClr val="007400"/>
                </a:solidFill>
                <a:effectLst/>
                <a:latin typeface="source-code-pro"/>
              </a:rPr>
              <a:t># Install ONNX for model conversion</a:t>
            </a:r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pip install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code-pro"/>
              </a:rPr>
              <a:t>onnxruntime</a:t>
            </a:r>
            <a:br>
              <a:rPr lang="en-GB" dirty="0"/>
            </a:br>
            <a:r>
              <a:rPr lang="en-GB" b="0" i="0" dirty="0">
                <a:solidFill>
                  <a:srgbClr val="007400"/>
                </a:solidFill>
                <a:effectLst/>
                <a:latin typeface="source-code-pro"/>
              </a:rPr>
              <a:t># Install </a:t>
            </a:r>
            <a:r>
              <a:rPr lang="en-GB" b="0" i="0" dirty="0" err="1">
                <a:solidFill>
                  <a:srgbClr val="007400"/>
                </a:solidFill>
                <a:effectLst/>
                <a:latin typeface="source-code-pro"/>
              </a:rPr>
              <a:t>PyTorch</a:t>
            </a:r>
            <a:r>
              <a:rPr lang="en-GB" b="0" i="0" dirty="0">
                <a:solidFill>
                  <a:srgbClr val="007400"/>
                </a:solidFill>
                <a:effectLst/>
                <a:latin typeface="source-code-pro"/>
              </a:rPr>
              <a:t> Mobile</a:t>
            </a:r>
            <a:br>
              <a:rPr lang="en-GB" dirty="0"/>
            </a:br>
            <a:r>
              <a:rPr lang="en-GB" b="0" i="0" dirty="0">
                <a:solidFill>
                  <a:srgbClr val="242424"/>
                </a:solidFill>
                <a:effectLst/>
                <a:latin typeface="source-code-pro"/>
              </a:rPr>
              <a:t>pip install torch </a:t>
            </a:r>
            <a:r>
              <a:rPr lang="en-GB" b="0" i="0" dirty="0" err="1">
                <a:solidFill>
                  <a:srgbClr val="242424"/>
                </a:solidFill>
                <a:effectLst/>
                <a:latin typeface="source-code-pro"/>
              </a:rPr>
              <a:t>torchvision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BBA76-8378-9E78-6010-ED0AD3D3BA4D}"/>
              </a:ext>
            </a:extLst>
          </p:cNvPr>
          <p:cNvSpPr txBox="1"/>
          <p:nvPr/>
        </p:nvSpPr>
        <p:spPr>
          <a:xfrm>
            <a:off x="3985591" y="2961776"/>
            <a:ext cx="498348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AA0D91"/>
                </a:solidFill>
                <a:effectLst/>
                <a:latin typeface="source-code-pro"/>
              </a:rPr>
              <a:t>import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tensorflow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GB" sz="12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tf</a:t>
            </a:r>
            <a:br>
              <a:rPr lang="en-GB" sz="1200" dirty="0"/>
            </a:br>
            <a:r>
              <a:rPr lang="en-GB" sz="1200" b="0" i="0" dirty="0">
                <a:solidFill>
                  <a:srgbClr val="007400"/>
                </a:solidFill>
                <a:effectLst/>
                <a:latin typeface="source-code-pro"/>
              </a:rPr>
              <a:t># Load a sample model</a:t>
            </a:r>
            <a:br>
              <a:rPr lang="en-GB" sz="1200" dirty="0"/>
            </a:b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model = tf.keras.applications.MobileNetV2(weights=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 err="1">
                <a:solidFill>
                  <a:srgbClr val="C41A16"/>
                </a:solidFill>
                <a:effectLst/>
                <a:latin typeface="source-code-pro"/>
              </a:rPr>
              <a:t>imagenet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GB" sz="1200" dirty="0"/>
            </a:br>
            <a:r>
              <a:rPr lang="en-GB" sz="1200" b="0" i="0" dirty="0">
                <a:solidFill>
                  <a:srgbClr val="007400"/>
                </a:solidFill>
                <a:effectLst/>
                <a:latin typeface="source-code-pro"/>
              </a:rPr>
              <a:t># Save it as a TensorFlow Lite model</a:t>
            </a:r>
            <a:br>
              <a:rPr lang="en-GB" sz="1200" dirty="0"/>
            </a:b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converter = </a:t>
            </a: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tf.lite.TFLiteConverter.from_keras_model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(model)</a:t>
            </a:r>
            <a:br>
              <a:rPr lang="en-GB" sz="1200" dirty="0"/>
            </a:b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tflite_model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= </a:t>
            </a: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converter.convert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()</a:t>
            </a:r>
            <a:br>
              <a:rPr lang="en-GB" sz="1200" dirty="0"/>
            </a:br>
            <a:r>
              <a:rPr lang="en-GB" sz="1200" b="0" i="0" dirty="0">
                <a:solidFill>
                  <a:srgbClr val="007400"/>
                </a:solidFill>
                <a:effectLst/>
                <a:latin typeface="source-code-pro"/>
              </a:rPr>
              <a:t># Save the Lite model to a file</a:t>
            </a:r>
            <a:br>
              <a:rPr lang="en-GB" sz="1200" dirty="0"/>
            </a:br>
            <a:r>
              <a:rPr lang="en-GB" sz="1200" b="0" i="0" dirty="0">
                <a:solidFill>
                  <a:srgbClr val="AA0D91"/>
                </a:solidFill>
                <a:effectLst/>
                <a:latin typeface="source-code-pro"/>
              </a:rPr>
              <a:t>with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GB" sz="1200" b="0" i="0" dirty="0">
                <a:solidFill>
                  <a:srgbClr val="5C2699"/>
                </a:solidFill>
                <a:effectLst/>
                <a:latin typeface="source-code-pro"/>
              </a:rPr>
              <a:t>open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 err="1">
                <a:solidFill>
                  <a:srgbClr val="C41A16"/>
                </a:solidFill>
                <a:effectLst/>
                <a:latin typeface="source-code-pro"/>
              </a:rPr>
              <a:t>model.tflite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 err="1">
                <a:solidFill>
                  <a:srgbClr val="C41A16"/>
                </a:solidFill>
                <a:effectLst/>
                <a:latin typeface="source-code-pro"/>
              </a:rPr>
              <a:t>wb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) </a:t>
            </a:r>
            <a:r>
              <a:rPr lang="en-GB" sz="1200" b="0" i="0" dirty="0">
                <a:solidFill>
                  <a:srgbClr val="AA0D91"/>
                </a:solidFill>
                <a:effectLst/>
                <a:latin typeface="source-code-pro"/>
              </a:rPr>
              <a:t>as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 f:</a:t>
            </a:r>
            <a:br>
              <a:rPr lang="en-GB" sz="1200" dirty="0"/>
            </a:b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f.write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GB" sz="1200" b="0" i="0" dirty="0" err="1">
                <a:solidFill>
                  <a:srgbClr val="242424"/>
                </a:solidFill>
                <a:effectLst/>
                <a:latin typeface="source-code-pro"/>
              </a:rPr>
              <a:t>tflite_model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br>
              <a:rPr lang="en-GB" sz="1200" dirty="0"/>
            </a:br>
            <a:r>
              <a:rPr lang="en-GB" sz="1200" b="0" i="0" dirty="0">
                <a:solidFill>
                  <a:srgbClr val="5C2699"/>
                </a:solidFill>
                <a:effectLst/>
                <a:latin typeface="source-code-pro"/>
              </a:rPr>
              <a:t>print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"Model converted and saved as '</a:t>
            </a:r>
            <a:r>
              <a:rPr lang="en-GB" sz="1200" b="0" i="0" dirty="0" err="1">
                <a:solidFill>
                  <a:srgbClr val="C41A16"/>
                </a:solidFill>
                <a:effectLst/>
                <a:latin typeface="source-code-pro"/>
              </a:rPr>
              <a:t>model.tflite</a:t>
            </a:r>
            <a:r>
              <a:rPr lang="en-GB" sz="1200" b="0" i="0" dirty="0">
                <a:solidFill>
                  <a:srgbClr val="C41A16"/>
                </a:solidFill>
                <a:effectLst/>
                <a:latin typeface="source-code-pro"/>
              </a:rPr>
              <a:t>'"</a:t>
            </a:r>
            <a:r>
              <a:rPr lang="en-GB" sz="1200" b="0" i="0" dirty="0">
                <a:solidFill>
                  <a:srgbClr val="242424"/>
                </a:solidFill>
                <a:effectLst/>
                <a:latin typeface="source-code-pro"/>
              </a:rPr>
              <a:t>)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28537-E1D1-5A34-4719-315D72637FC6}"/>
              </a:ext>
            </a:extLst>
          </p:cNvPr>
          <p:cNvSpPr txBox="1"/>
          <p:nvPr/>
        </p:nvSpPr>
        <p:spPr>
          <a:xfrm>
            <a:off x="2323769" y="2418359"/>
            <a:ext cx="6290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dirty="0">
                <a:solidFill>
                  <a:srgbClr val="242424"/>
                </a:solidFill>
                <a:effectLst/>
                <a:latin typeface="source-serif-pro"/>
              </a:rPr>
              <a:t>Python snippet for loading and running a TensorFlow model: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519416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DDAAB91-AF85-8C7B-B631-69113E4C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C70B409-90C0-F4EF-5BAA-234CA3BD2E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2. Selecting the Right Model Architecture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endParaRPr lang="en-GB" sz="24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DB5F62E2-D6DB-5DCC-5C9F-01A58900B0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9E50C-BD2E-6D58-6AD3-A619900CE1E8}"/>
              </a:ext>
            </a:extLst>
          </p:cNvPr>
          <p:cNvSpPr txBox="1"/>
          <p:nvPr/>
        </p:nvSpPr>
        <p:spPr>
          <a:xfrm>
            <a:off x="284775" y="802035"/>
            <a:ext cx="780023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Core Challenge: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Choosing an edge-optimized model requires a delicate balance between its size, inference latency, and performance accuracy.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Key Criteria for Edge Optimization: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When selecting an architecture, critical questions to consider are: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Model Size: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How large is the model in terms of memory footprint? (e.g., will it fit on a Raspberry Pi's limited RAM?)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Inference Speed: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How fast does the model need to run? (e.g., will a 50ms delay render the application useless?)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Accuracy Trade-off: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Can some degree of accuracy be sacrificed for efficiency? (e.g., is 90% accuracy in 20ms better than 95% accuracy in 1 second for the real-world application?)</a:t>
            </a:r>
          </a:p>
          <a:p>
            <a:br>
              <a:rPr lang="en-GB" sz="1600" dirty="0"/>
            </a:b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00360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18468CB-D046-4CB5-2651-E944AE68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C0720C3-8D90-39FE-D2A7-8BDEB26A4F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dirty="0"/>
              <a:t>Recommended Architectures (and their strengths):</a:t>
            </a:r>
            <a:br>
              <a:rPr lang="en-GB" sz="2400" dirty="0"/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endParaRPr lang="en-GB" sz="24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DF28ADC4-EEEB-616B-857A-78A7E7E218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61A67-9CA4-CBC2-18A9-52F6F222F885}"/>
              </a:ext>
            </a:extLst>
          </p:cNvPr>
          <p:cNvSpPr txBox="1"/>
          <p:nvPr/>
        </p:nvSpPr>
        <p:spPr>
          <a:xfrm>
            <a:off x="93945" y="678924"/>
            <a:ext cx="78002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1600" b="1" dirty="0" err="1"/>
              <a:t>MobileNet</a:t>
            </a:r>
            <a:r>
              <a:rPr lang="en-GB" sz="1600" b="1" dirty="0"/>
              <a:t>:</a:t>
            </a:r>
            <a:r>
              <a:rPr lang="en-GB" sz="1600" dirty="0"/>
              <a:t> Ideal for mobile and embedded systems, suitable for tasks like image classification on drones where battery life is critical.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 err="1"/>
              <a:t>EfficientNet</a:t>
            </a:r>
            <a:r>
              <a:rPr lang="en-GB" sz="1600" b="1" dirty="0"/>
              <a:t>:</a:t>
            </a:r>
            <a:r>
              <a:rPr lang="en-GB" sz="1600" dirty="0"/>
              <a:t> Provides a good balance, offering slightly more accuracy without a significant increase in model size.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 err="1"/>
              <a:t>SqueezeNet</a:t>
            </a:r>
            <a:r>
              <a:rPr lang="en-GB" sz="1600" b="1" dirty="0"/>
              <a:t>:</a:t>
            </a:r>
            <a:r>
              <a:rPr lang="en-GB" sz="1600" dirty="0"/>
              <a:t> Excellent for extreme memory constraints, capable of deployment on tiny IoT sensor nodes.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Tiny YOLO:</a:t>
            </a:r>
            <a:r>
              <a:rPr lang="en-GB" sz="1600" dirty="0"/>
              <a:t> Best suited for object detection tasks where real-time speed is paramount, e.g., traffic monitoring on edge devices.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Customization &amp; Automation:</a:t>
            </a:r>
            <a:endParaRPr lang="en-GB" sz="1600" dirty="0"/>
          </a:p>
          <a:p>
            <a:pPr marL="457200" indent="-457200">
              <a:buFont typeface="+mj-lt"/>
              <a:buAutoNum type="arabicPeriod"/>
            </a:pPr>
            <a:r>
              <a:rPr lang="en-GB" sz="1600" dirty="0"/>
              <a:t>If standard architectures don't meet specific needs, consider developing </a:t>
            </a:r>
            <a:r>
              <a:rPr lang="en-GB" sz="1600" b="1" dirty="0"/>
              <a:t>custom lightweight models</a:t>
            </a:r>
            <a:r>
              <a:rPr lang="en-GB" sz="16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dirty="0"/>
              <a:t>Tools like </a:t>
            </a:r>
            <a:r>
              <a:rPr lang="en-GB" sz="1600" b="1" dirty="0" err="1"/>
              <a:t>AutoML</a:t>
            </a:r>
            <a:r>
              <a:rPr lang="en-GB" sz="1600" dirty="0"/>
              <a:t> or </a:t>
            </a:r>
            <a:r>
              <a:rPr lang="en-GB" sz="1600" b="1" dirty="0"/>
              <a:t>Neural Architecture Search (NAS)</a:t>
            </a:r>
            <a:r>
              <a:rPr lang="en-GB" sz="1600" dirty="0"/>
              <a:t> can help generate models that are highly optimized for specific tasks and edge requirements.</a:t>
            </a:r>
          </a:p>
          <a:p>
            <a:br>
              <a:rPr lang="en-GB" sz="1600" dirty="0"/>
            </a:b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81735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B20C758-8FD6-9494-E3B0-B1578BE9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FE82F0D5-02DF-BD27-5DDA-7770A460F5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3. Model Conversion and Deployment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dirty="0"/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endParaRPr lang="en-GB" sz="24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E57354F-67E7-6456-2035-313C3A1329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BB33C-5B0E-490A-83CF-9E11E9DBEB71}"/>
              </a:ext>
            </a:extLst>
          </p:cNvPr>
          <p:cNvSpPr txBox="1"/>
          <p:nvPr/>
        </p:nvSpPr>
        <p:spPr>
          <a:xfrm>
            <a:off x="93945" y="678924"/>
            <a:ext cx="780023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Initial Challenge: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Converting models for edge devices is often more complex than a simple export, as each platform has unique requirements and optimal formats.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Converting Models for Edge Devices: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800100" lvl="1" indent="-342900" algn="l">
              <a:buFont typeface="+mj-lt"/>
              <a:buAutoNum type="alphaL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Models need to be tailored to the specific edge platform for efficient deployment.</a:t>
            </a:r>
          </a:p>
          <a:p>
            <a:pPr marL="800100" lvl="1" indent="-342900" algn="l">
              <a:buFont typeface="+mj-lt"/>
              <a:buAutoNum type="alphaL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TensorFlow Lite: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Frequently used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Android devices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and embedded systems due to its optimized inference capabilities.</a:t>
            </a:r>
          </a:p>
          <a:p>
            <a:pPr marL="800100" lvl="1" indent="-342900" algn="l">
              <a:buFont typeface="+mj-lt"/>
              <a:buAutoNum type="alphaL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ONNX: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Serves as a versatile bridge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cross-platform compatibility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allowing models to be converted between different deep learning frameworks.</a:t>
            </a:r>
          </a:p>
          <a:p>
            <a:pPr marL="800100" lvl="1" indent="-342900" algn="l">
              <a:buFont typeface="+mj-lt"/>
              <a:buAutoNum type="alphaL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Core ML: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Specifically designed for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iOS applications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ensuring optimized performance on Apple hardware.</a:t>
            </a:r>
          </a:p>
          <a:p>
            <a:pPr marL="800100" lvl="1" indent="-342900" algn="l">
              <a:buFont typeface="+mj-lt"/>
              <a:buAutoNum type="alphaL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Selection: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The choice of tool depends entirely on the specific project needs and target deployment environment.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 Converting a TensorFlow Model to TensorFlow Lite: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This process is essential for deploying TensorFlow models efficiently on embedded systems.</a:t>
            </a:r>
          </a:p>
          <a:p>
            <a:br>
              <a:rPr lang="en-GB" sz="1600" dirty="0"/>
            </a:b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45335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77196CF-7DF9-27A7-562E-04D4D6676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A2144F3-5ACE-A618-820D-E6F2A6D0E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775" y="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3. Model Conversion and Deployment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dirty="0"/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endParaRPr lang="en-GB" sz="2400" b="1" i="0" u="none" strike="noStrike" dirty="0">
              <a:solidFill>
                <a:srgbClr val="7030A0"/>
              </a:solidFill>
              <a:effectLst/>
              <a:latin typeface="+mj-lt"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F119D760-977A-7F24-C758-F4BA776B0B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0ED9D3-DBE6-2CA4-1D0C-56D95FD0EEC3}"/>
              </a:ext>
            </a:extLst>
          </p:cNvPr>
          <p:cNvSpPr txBox="1"/>
          <p:nvPr/>
        </p:nvSpPr>
        <p:spPr>
          <a:xfrm>
            <a:off x="93945" y="678924"/>
            <a:ext cx="78002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600" dirty="0"/>
            </a:b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30A8D-BF1E-4059-6BED-B4068FA0356C}"/>
              </a:ext>
            </a:extLst>
          </p:cNvPr>
          <p:cNvSpPr txBox="1"/>
          <p:nvPr/>
        </p:nvSpPr>
        <p:spPr>
          <a:xfrm>
            <a:off x="462574" y="532489"/>
            <a:ext cx="6391449" cy="26776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import </a:t>
            </a:r>
            <a:r>
              <a:rPr lang="en-US" sz="1200" dirty="0" err="1"/>
              <a:t>tensorflow</a:t>
            </a:r>
            <a:r>
              <a:rPr lang="en-US" sz="1200" dirty="0"/>
              <a:t> as </a:t>
            </a:r>
            <a:r>
              <a:rPr lang="en-US" sz="1200" dirty="0" err="1"/>
              <a:t>tf</a:t>
            </a:r>
            <a:endParaRPr lang="en-US" sz="1200" dirty="0"/>
          </a:p>
          <a:p>
            <a:r>
              <a:rPr lang="en-US" sz="1200" dirty="0"/>
              <a:t># Assume 'model' is your trained TensorFlow </a:t>
            </a:r>
            <a:r>
              <a:rPr lang="en-US" sz="1200" dirty="0" err="1"/>
              <a:t>Keras</a:t>
            </a:r>
            <a:r>
              <a:rPr lang="en-US" sz="1200" dirty="0"/>
              <a:t> model</a:t>
            </a:r>
          </a:p>
          <a:p>
            <a:r>
              <a:rPr lang="en-US" sz="1200" dirty="0"/>
              <a:t># For demonstration, let's create a dummy model:</a:t>
            </a:r>
          </a:p>
          <a:p>
            <a:r>
              <a:rPr lang="en-US" sz="1200" dirty="0"/>
              <a:t>model = </a:t>
            </a:r>
            <a:r>
              <a:rPr lang="en-US" sz="1200" dirty="0" err="1"/>
              <a:t>tf.keras.Sequential</a:t>
            </a:r>
            <a:r>
              <a:rPr lang="en-US" sz="1200" dirty="0"/>
              <a:t>([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tf.keras.layers.Dense</a:t>
            </a:r>
            <a:r>
              <a:rPr lang="en-US" sz="1200" dirty="0"/>
              <a:t>(10, </a:t>
            </a:r>
            <a:r>
              <a:rPr lang="en-US" sz="1200" dirty="0" err="1"/>
              <a:t>input_shape</a:t>
            </a:r>
            <a:r>
              <a:rPr lang="en-US" sz="1200" dirty="0"/>
              <a:t>=(784,), activation='</a:t>
            </a:r>
            <a:r>
              <a:rPr lang="en-US" sz="1200" dirty="0" err="1"/>
              <a:t>softmax</a:t>
            </a:r>
            <a:r>
              <a:rPr lang="en-US" sz="1200" dirty="0"/>
              <a:t>')</a:t>
            </a:r>
          </a:p>
          <a:p>
            <a:r>
              <a:rPr lang="en-US" sz="1200" dirty="0"/>
              <a:t>])</a:t>
            </a:r>
          </a:p>
          <a:p>
            <a:r>
              <a:rPr lang="en-US" sz="1200" dirty="0" err="1"/>
              <a:t>model.build</a:t>
            </a:r>
            <a:r>
              <a:rPr lang="en-US" sz="1200" dirty="0"/>
              <a:t>() # Build the model to have weights</a:t>
            </a:r>
          </a:p>
          <a:p>
            <a:r>
              <a:rPr lang="en-US" sz="1200" dirty="0"/>
              <a:t># Convert the </a:t>
            </a:r>
            <a:r>
              <a:rPr lang="en-US" sz="1200" dirty="0" err="1"/>
              <a:t>Keras</a:t>
            </a:r>
            <a:r>
              <a:rPr lang="en-US" sz="1200" dirty="0"/>
              <a:t> model to a TensorFlow Lite model</a:t>
            </a:r>
          </a:p>
          <a:p>
            <a:r>
              <a:rPr lang="en-US" sz="1200" dirty="0"/>
              <a:t>converter = </a:t>
            </a:r>
            <a:r>
              <a:rPr lang="en-US" sz="1200" dirty="0" err="1"/>
              <a:t>tf.lite.TFLiteConverter.from_keras_model</a:t>
            </a:r>
            <a:r>
              <a:rPr lang="en-US" sz="1200" dirty="0"/>
              <a:t>(model)</a:t>
            </a:r>
          </a:p>
          <a:p>
            <a:r>
              <a:rPr lang="en-US" sz="1200" dirty="0" err="1"/>
              <a:t>tflite_model</a:t>
            </a:r>
            <a:r>
              <a:rPr lang="en-US" sz="1200" dirty="0"/>
              <a:t> = </a:t>
            </a:r>
            <a:r>
              <a:rPr lang="en-US" sz="1200" dirty="0" err="1"/>
              <a:t>converter.convert</a:t>
            </a:r>
            <a:r>
              <a:rPr lang="en-US" sz="1200" dirty="0"/>
              <a:t>()</a:t>
            </a:r>
          </a:p>
          <a:p>
            <a:r>
              <a:rPr lang="en-US" sz="1200" dirty="0"/>
              <a:t># Save the </a:t>
            </a:r>
            <a:r>
              <a:rPr lang="en-US" sz="1200" dirty="0" err="1"/>
              <a:t>TFLite</a:t>
            </a:r>
            <a:r>
              <a:rPr lang="en-US" sz="1200" dirty="0"/>
              <a:t> model to a file</a:t>
            </a:r>
          </a:p>
          <a:p>
            <a:r>
              <a:rPr lang="en-US" sz="1200" dirty="0"/>
              <a:t>with open('</a:t>
            </a:r>
            <a:r>
              <a:rPr lang="en-US" sz="1200" dirty="0" err="1"/>
              <a:t>model.tflite</a:t>
            </a:r>
            <a:r>
              <a:rPr lang="en-US" sz="1200" dirty="0"/>
              <a:t>', '</a:t>
            </a:r>
            <a:r>
              <a:rPr lang="en-US" sz="1200" dirty="0" err="1"/>
              <a:t>wb</a:t>
            </a:r>
            <a:r>
              <a:rPr lang="en-US" sz="1200" dirty="0"/>
              <a:t>') as f:</a:t>
            </a:r>
          </a:p>
          <a:p>
            <a:r>
              <a:rPr lang="en-US" sz="1200" dirty="0"/>
              <a:t>    </a:t>
            </a:r>
            <a:r>
              <a:rPr lang="en-US" sz="1200" dirty="0" err="1"/>
              <a:t>f.write</a:t>
            </a:r>
            <a:r>
              <a:rPr lang="en-US" sz="1200" dirty="0"/>
              <a:t>(</a:t>
            </a:r>
            <a:r>
              <a:rPr lang="en-US" sz="1200" dirty="0" err="1"/>
              <a:t>tflite_model</a:t>
            </a:r>
            <a:r>
              <a:rPr lang="en-US" sz="1200" dirty="0"/>
              <a:t>)</a:t>
            </a:r>
          </a:p>
          <a:p>
            <a:r>
              <a:rPr lang="en-US" sz="1200" dirty="0"/>
              <a:t>print("TensorFlow model converted to </a:t>
            </a:r>
            <a:r>
              <a:rPr lang="en-US" sz="1200" dirty="0" err="1"/>
              <a:t>model.tflite</a:t>
            </a:r>
            <a:r>
              <a:rPr lang="en-US" sz="1200" dirty="0"/>
              <a:t>")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C395F-6C44-D92A-78D0-C888C783BF09}"/>
              </a:ext>
            </a:extLst>
          </p:cNvPr>
          <p:cNvSpPr txBox="1"/>
          <p:nvPr/>
        </p:nvSpPr>
        <p:spPr>
          <a:xfrm>
            <a:off x="284775" y="3261169"/>
            <a:ext cx="84616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/>
              <a:t>tf.lite.TFLiteConverter.from_keras_model</a:t>
            </a:r>
            <a:r>
              <a:rPr lang="en-GB" b="1" dirty="0"/>
              <a:t>(model)</a:t>
            </a:r>
            <a:r>
              <a:rPr lang="en-GB" dirty="0"/>
              <a:t>: This line </a:t>
            </a:r>
            <a:r>
              <a:rPr lang="en-GB" b="1" dirty="0"/>
              <a:t>initializes the converter</a:t>
            </a:r>
            <a:r>
              <a:rPr lang="en-GB" dirty="0"/>
              <a:t>, preparing it to take your trained </a:t>
            </a:r>
            <a:r>
              <a:rPr lang="en-GB" dirty="0" err="1"/>
              <a:t>Keras</a:t>
            </a:r>
            <a:r>
              <a:rPr lang="en-GB" dirty="0"/>
              <a:t> model (model) as input for the conversion process.</a:t>
            </a:r>
          </a:p>
          <a:p>
            <a:r>
              <a:rPr lang="en-GB" b="1" dirty="0" err="1"/>
              <a:t>tflite_model</a:t>
            </a:r>
            <a:r>
              <a:rPr lang="en-GB" b="1" dirty="0"/>
              <a:t> = </a:t>
            </a:r>
            <a:r>
              <a:rPr lang="en-GB" b="1" dirty="0" err="1"/>
              <a:t>converter.convert</a:t>
            </a:r>
            <a:r>
              <a:rPr lang="en-GB" b="1" dirty="0"/>
              <a:t>()</a:t>
            </a:r>
            <a:r>
              <a:rPr lang="en-GB" dirty="0"/>
              <a:t>: This is the </a:t>
            </a:r>
            <a:r>
              <a:rPr lang="en-GB" b="1" dirty="0"/>
              <a:t>main conversion command</a:t>
            </a:r>
            <a:r>
              <a:rPr lang="en-GB" dirty="0"/>
              <a:t>. It executes the process, transforming the </a:t>
            </a:r>
            <a:r>
              <a:rPr lang="en-GB" dirty="0" err="1"/>
              <a:t>Keras</a:t>
            </a:r>
            <a:r>
              <a:rPr lang="en-GB" dirty="0"/>
              <a:t> model into a highly optimized, compact TensorFlow Lite format, ready for mobile and edge devices.</a:t>
            </a:r>
          </a:p>
          <a:p>
            <a:r>
              <a:rPr lang="en-GB" b="1" dirty="0"/>
              <a:t>with open('</a:t>
            </a:r>
            <a:r>
              <a:rPr lang="en-GB" b="1" dirty="0" err="1"/>
              <a:t>model.tflite</a:t>
            </a:r>
            <a:r>
              <a:rPr lang="en-GB" b="1" dirty="0"/>
              <a:t>', '</a:t>
            </a:r>
            <a:r>
              <a:rPr lang="en-GB" b="1" dirty="0" err="1"/>
              <a:t>wb</a:t>
            </a:r>
            <a:r>
              <a:rPr lang="en-GB" b="1" dirty="0"/>
              <a:t>') as f: </a:t>
            </a:r>
            <a:r>
              <a:rPr lang="en-GB" b="1" dirty="0" err="1"/>
              <a:t>f.write</a:t>
            </a:r>
            <a:r>
              <a:rPr lang="en-GB" b="1" dirty="0"/>
              <a:t>(</a:t>
            </a:r>
            <a:r>
              <a:rPr lang="en-GB" b="1" dirty="0" err="1"/>
              <a:t>tflite_model</a:t>
            </a:r>
            <a:r>
              <a:rPr lang="en-GB" b="1" dirty="0"/>
              <a:t>)</a:t>
            </a:r>
            <a:r>
              <a:rPr lang="en-GB" dirty="0"/>
              <a:t>: This block </a:t>
            </a:r>
            <a:r>
              <a:rPr lang="en-GB" b="1" dirty="0"/>
              <a:t>saves the converted model</a:t>
            </a:r>
            <a:r>
              <a:rPr lang="en-GB" dirty="0"/>
              <a:t>. It opens a file named '</a:t>
            </a:r>
            <a:r>
              <a:rPr lang="en-GB" dirty="0" err="1"/>
              <a:t>model.tflite</a:t>
            </a:r>
            <a:r>
              <a:rPr lang="en-GB" dirty="0"/>
              <a:t>' in binary write mode ('</a:t>
            </a:r>
            <a:r>
              <a:rPr lang="en-GB" dirty="0" err="1"/>
              <a:t>wb</a:t>
            </a:r>
            <a:r>
              <a:rPr lang="en-GB" dirty="0"/>
              <a:t>') and writes the optimized TensorFlow Lite model data into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606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7073A23-177A-F380-4E2C-BCE5184C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E3B61B0B-C8A6-4063-AA38-0D213B63371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CC369EC6-6544-C062-953A-68234137B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Books and References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6E5C5-A4EC-A514-661D-B1E7567D531F}"/>
              </a:ext>
            </a:extLst>
          </p:cNvPr>
          <p:cNvSpPr txBox="1"/>
          <p:nvPr/>
        </p:nvSpPr>
        <p:spPr>
          <a:xfrm>
            <a:off x="938455" y="1042663"/>
            <a:ext cx="6931332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"Neural Networks and Deep Learning" (Michael Nielsen)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Reinforcement Learning: An Introduction – Sutton &amp; Barto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Goodfellow, I., Bengio, Y., &amp; Courville, A. (2016). Deep Learning. MIT Press.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  <a:hlinkClick r:id="rId4"/>
              </a:rPr>
              <a:t>https://medium.com/@ajayverma23/model-compression-and-optimization-techniques-to-enhance-performance-and-reduce-size-3d697fd40f80</a:t>
            </a: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  <a:hlinkClick r:id="rId5"/>
              </a:rPr>
              <a:t>https://medium.com/@heyamit10/how-to-build-lightweight-models-for-edge-devices-a-practical-guide-109ede62f480</a:t>
            </a: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Chollet, F. (2017). Deep Learning with Python. Manning Publications.</a:t>
            </a:r>
          </a:p>
          <a:p>
            <a:pPr marL="457200" indent="-457200">
              <a:spcBef>
                <a:spcPts val="300"/>
              </a:spcBef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Hochreiter, S., &amp; </a:t>
            </a:r>
            <a:r>
              <a:rPr lang="en-GB" b="0" i="0" u="none" strike="noStrike" dirty="0" err="1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Schmidhuber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, J. (1997). Long Short-Term Memory. Neural Computation.</a:t>
            </a:r>
          </a:p>
        </p:txBody>
      </p:sp>
    </p:spTree>
    <p:extLst>
      <p:ext uri="{BB962C8B-B14F-4D97-AF65-F5344CB8AC3E}">
        <p14:creationId xmlns:p14="http://schemas.microsoft.com/office/powerpoint/2010/main" val="374039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42291</TotalTime>
  <Words>3379</Words>
  <Application>Microsoft Macintosh PowerPoint</Application>
  <PresentationFormat>On-screen Show (16:9)</PresentationFormat>
  <Paragraphs>332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IBM Plex Sans Arabic SemiBold</vt:lpstr>
      <vt:lpstr>source-code-pro</vt:lpstr>
      <vt:lpstr>Arial</vt:lpstr>
      <vt:lpstr>IBM Plex Sans Arabic</vt:lpstr>
      <vt:lpstr>Times New Roman</vt:lpstr>
      <vt:lpstr>IBM Plex Sans Arabic Medium</vt:lpstr>
      <vt:lpstr>source-serif-pro</vt:lpstr>
      <vt:lpstr>Calibri</vt:lpstr>
      <vt:lpstr>Inter</vt:lpstr>
      <vt:lpstr>Wingdings</vt:lpstr>
      <vt:lpstr>Tajawal</vt:lpstr>
      <vt:lpstr>Simple Light</vt:lpstr>
      <vt:lpstr>أكـــــاديميــــة طــــويـــق</vt:lpstr>
      <vt:lpstr>         Model Compression and Efficiency Pruning and quantization techniques Deploying lightweight models on edge devices    </vt:lpstr>
      <vt:lpstr>PowerPoint Presentation</vt:lpstr>
      <vt:lpstr>Model Compression: Optimizing Deep Learning Models   </vt:lpstr>
      <vt:lpstr>Techniques for Model Compression  </vt:lpstr>
      <vt:lpstr>Types of Pruning   </vt:lpstr>
      <vt:lpstr>Types of Pruning   </vt:lpstr>
      <vt:lpstr>Types of Pruning   </vt:lpstr>
      <vt:lpstr>Pruning Process in Neural Networks  </vt:lpstr>
      <vt:lpstr>Pruning Process in Neural Networks  </vt:lpstr>
      <vt:lpstr>Tools &amp; Libraries for Pruning  </vt:lpstr>
      <vt:lpstr>Quantization  </vt:lpstr>
      <vt:lpstr>Types of Quantization  </vt:lpstr>
      <vt:lpstr> Types of Quantization  </vt:lpstr>
      <vt:lpstr>Precision Levels in Quantization  </vt:lpstr>
      <vt:lpstr>Benefits of Quantization   </vt:lpstr>
      <vt:lpstr>Comparison of PTQ Vs QAT  </vt:lpstr>
      <vt:lpstr>Deploying Lightweight Models on Edge Devices      </vt:lpstr>
      <vt:lpstr>Setting Up the Right Environment for Edge Model Development       </vt:lpstr>
      <vt:lpstr>Setting Up the Right Environment for Edge Model Development       </vt:lpstr>
      <vt:lpstr>2. Selecting the Right Model Architecture        </vt:lpstr>
      <vt:lpstr>Recommended Architectures (and their strengths):         </vt:lpstr>
      <vt:lpstr>3. Model Conversion and Deployment          </vt:lpstr>
      <vt:lpstr>3. Model Conversion and Deployment          </vt:lpstr>
      <vt:lpstr>Books and References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87</cp:revision>
  <dcterms:modified xsi:type="dcterms:W3CDTF">2025-06-02T18:49:52Z</dcterms:modified>
</cp:coreProperties>
</file>