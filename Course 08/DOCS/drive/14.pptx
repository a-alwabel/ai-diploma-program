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98" r:id="rId5"/>
    <p:sldId id="474" r:id="rId6"/>
    <p:sldId id="476" r:id="rId7"/>
    <p:sldId id="438" r:id="rId8"/>
    <p:sldId id="475" r:id="rId9"/>
    <p:sldId id="477" r:id="rId10"/>
    <p:sldId id="478" r:id="rId11"/>
    <p:sldId id="479" r:id="rId12"/>
    <p:sldId id="481" r:id="rId13"/>
    <p:sldId id="480" r:id="rId14"/>
    <p:sldId id="439" r:id="rId15"/>
    <p:sldId id="455" r:id="rId16"/>
    <p:sldId id="482" r:id="rId17"/>
    <p:sldId id="483" r:id="rId18"/>
    <p:sldId id="484" r:id="rId19"/>
    <p:sldId id="485" r:id="rId20"/>
    <p:sldId id="486" r:id="rId21"/>
    <p:sldId id="487" r:id="rId22"/>
    <p:sldId id="488" r:id="rId23"/>
    <p:sldId id="489" r:id="rId24"/>
    <p:sldId id="490" r:id="rId25"/>
    <p:sldId id="370" r:id="rId26"/>
    <p:sldId id="312" r:id="rId27"/>
    <p:sldId id="275" r:id="rId28"/>
    <p:sldId id="276" r:id="rId29"/>
  </p:sldIdLst>
  <p:sldSz cx="9144000" cy="5143500" type="screen16x9"/>
  <p:notesSz cx="6858000" cy="9144000"/>
  <p:embeddedFontLs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F0502020204030204" pitchFamily="34" charset="0"/>
      <p:regular r:id="rId37"/>
      <p:bold r:id="rId38"/>
      <p:italic r:id="rId39"/>
      <p:boldItalic r:id="rId40"/>
    </p:embeddedFont>
    <p:embeddedFont>
      <p:font typeface="Nunito" pitchFamily="2" charset="77"/>
      <p:regular r:id="rId41"/>
      <p:bold r:id="rId42"/>
      <p:italic r:id="rId43"/>
      <p:boldItalic r:id="rId44"/>
    </p:embeddedFont>
    <p:embeddedFont>
      <p:font typeface="Tajawal" pitchFamily="2" charset="-78"/>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01"/>
    <p:restoredTop sz="94227"/>
  </p:normalViewPr>
  <p:slideViewPr>
    <p:cSldViewPr snapToGrid="0">
      <p:cViewPr varScale="1">
        <p:scale>
          <a:sx n="209" d="100"/>
          <a:sy n="209" d="100"/>
        </p:scale>
        <p:origin x="472"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3724D22-3E25-F7B7-1122-F4713356334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8B0ACFC-F110-CF74-3E0C-A3F7E2A82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D370751-7552-C5AC-4079-FBFAC3C5B5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757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928F5CC-EEA9-91E0-DB6B-B5CF7FCAC5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308DFC7-417B-FD3A-8AF1-5F5B496C46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6FD376C-AE62-CED1-3125-AB862EADE0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3379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7F5B022-814B-7020-BA05-D7A5959854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6F10DD8-C253-86B1-10C8-EE32C0258A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3AE8169-D477-E0F9-2E41-41C1E55F2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521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E8F51C3-9E1E-AE94-432A-C53886FD637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6BFB49-EC23-8D4A-B114-701A9464EB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A2FA0F9-2947-C080-F672-C6ED4261EC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2559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1789598-603F-21F7-156D-A51F29BDEF6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71289F3-DC4D-195F-C00A-90A13C2A6A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F8E4CDD-24CB-3CB1-BC3D-5715086EE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9933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484F6F5-9D93-58D4-FD99-7B89D140B34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739B27B-9F4B-55C0-75C2-1E6EB51D7B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C899A1E-5D5A-B964-C611-9F72C16299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6207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FC02757-6875-59E2-9CC2-89549CB5AFD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E40308-31DC-6E04-FF80-6183D67C00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0AD929F-BFF5-75E1-B8D6-0EEEA6D860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325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C3842A9-CC53-C24F-EFD9-36EEF627E6E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F369181-2AAF-3AE2-342E-089D6D4C69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7F0602C-560E-EE23-2D1A-5DFFC7DB5D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2498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A8961D8-E310-0495-6A8B-F9255FE0957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CE7498B-24F1-DCCB-B2BA-928E6AF267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77F7791-627F-937D-223A-CCDBDBF7E6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2832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0A4FAE6-2373-C4D8-AE10-93128DF05F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70CF024-EC64-36F7-A945-15F463855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0B16683-C35D-45A3-E3A1-5867D8D2A7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197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E1C34DB-470A-9A65-2774-1AA3142221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09552AA-70A0-2C07-F08B-0862211971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3862C83-587A-7100-F0F8-85D6CCBD71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0167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E25AA6B-E22E-0389-81B3-D357B828E1D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25BFD5E-E768-7B29-FA24-A1C644AAC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D93931E-5F80-2DBD-2A98-F8807838E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3304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724CDF3-79C0-183E-AF70-51EE34B3D31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6016D31-6F00-CE5C-974C-C239588669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27C7938-6AC5-02C9-B4CA-29027E8544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009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2F735BA-C367-AC94-D201-022361C584E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BB84E1F-71EF-5D32-AAC4-FD95ED73C0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61586B0-A8F6-4984-AFFD-2FA92BFE52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7430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C7D82CF-5631-D59C-5B85-91F1C515CEA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0F0BB39-C299-C670-CA1B-386CEA7612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A14118-CDE6-67CD-211D-410346B29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5300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749CE96-FDED-6628-ACD6-07C428CFB2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0F9C00C-07FB-2B33-7BE8-380B544AD7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16FF7E1-AA42-9F06-A44B-71B696B603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32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D0FCA46-2681-B32A-2CF7-BAFAEDD8ACD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4630EE1-A0EE-03AB-35AB-AE9DE6B621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3140680-1563-5C28-BD9E-D40820A899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960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85AB925-D109-FFFF-8B30-41FA75E7B06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26F1899-A7C1-D8F0-BA4F-3400DE0FA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6CE9D30-FBF3-A048-3F4A-4EED574A63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712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DD93DCD-7889-E588-21B9-6A0AA965BE5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9C0484-7045-1482-976F-1F97B6166E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36FA225-A2B6-74CD-B591-D5CCB0FA55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2194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F447DD-E2BC-ABA8-34E0-BE01157C50C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ACEAE8D-09B7-AC77-E81F-AE1D99FD36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35A892D-F851-FC3A-B432-D307B961EF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102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4.jpg"/><Relationship Id="rId4" Type="http://schemas.openxmlformats.org/officeDocument/2006/relationships/hyperlink" Target="https://drive.google.com/file/d/1PFRcwMSE9jDkYlX5PVytRvHLOLLQpylV/view?usp=share_lin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27.xml"/><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498670"/>
            <a:ext cx="8520600" cy="2052600"/>
          </a:xfrm>
          <a:prstGeom prst="rect">
            <a:avLst/>
          </a:prstGeom>
          <a:noFill/>
          <a:ln>
            <a:noFill/>
          </a:ln>
        </p:spPr>
        <p:txBody>
          <a:bodyPr spcFirstLastPara="1" wrap="square" lIns="91425" tIns="91425" rIns="91425" bIns="91425" anchor="b" anchorCtr="0">
            <a:normAutofit fontScale="90000"/>
          </a:bodyPr>
          <a:lstStyle/>
          <a:p>
            <a:r>
              <a:rPr lang="en-GB" sz="4000" dirty="0">
                <a:solidFill>
                  <a:srgbClr val="7030A0"/>
                </a:solidFill>
                <a:latin typeface="Times New Roman" panose="02020603050405020304" pitchFamily="18" charset="0"/>
              </a:rPr>
              <a:t>LSTM &amp; GRU </a:t>
            </a:r>
            <a:r>
              <a:rPr lang="en-GB" sz="4000" dirty="0" err="1">
                <a:solidFill>
                  <a:srgbClr val="7030A0"/>
                </a:solidFill>
                <a:latin typeface="Times New Roman" panose="02020603050405020304" pitchFamily="18" charset="0"/>
              </a:rPr>
              <a:t>Archiecture</a:t>
            </a:r>
            <a:r>
              <a:rPr lang="en-GB" sz="4000" dirty="0">
                <a:solidFill>
                  <a:srgbClr val="7030A0"/>
                </a:solidFill>
                <a:latin typeface="Times New Roman" panose="02020603050405020304" pitchFamily="18" charset="0"/>
              </a:rPr>
              <a:t>  </a:t>
            </a:r>
            <a:br>
              <a:rPr lang="en-GB" sz="4000" b="1" i="0" u="none" strike="noStrike" dirty="0">
                <a:solidFill>
                  <a:srgbClr val="7030A0"/>
                </a:solidFill>
                <a:effectLst/>
                <a:latin typeface="Times New Roman" panose="02020603050405020304" pitchFamily="18" charset="0"/>
              </a:rPr>
            </a:b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5691535" cy="792600"/>
          </a:xfrm>
          <a:prstGeom prst="rect">
            <a:avLst/>
          </a:prstGeom>
          <a:noFill/>
          <a:ln>
            <a:noFill/>
          </a:ln>
        </p:spPr>
        <p:txBody>
          <a:bodyPr spcFirstLastPara="1" wrap="square" lIns="91425" tIns="91425" rIns="91425" bIns="91425" anchor="t" anchorCtr="0">
            <a:normAutofit/>
          </a:bodyPr>
          <a:lstStyle/>
          <a:p>
            <a:pPr marL="114300" indent="0"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endParaRPr lang="en-GB" sz="1800" dirty="0">
              <a:solidFill>
                <a:srgbClr val="000000"/>
              </a:solidFill>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552146" y="691691"/>
            <a:ext cx="6634716" cy="3139281"/>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algn="l">
              <a:buNone/>
            </a:pPr>
            <a:endParaRPr lang="en-GB" b="0" i="0" u="none" strike="noStrike" dirty="0">
              <a:solidFill>
                <a:srgbClr val="000000"/>
              </a:solidFill>
              <a:effectLst/>
            </a:endParaRPr>
          </a:p>
          <a:p>
            <a:pPr algn="l" rtl="0">
              <a:buNone/>
            </a:pPr>
            <a:endParaRPr lang="en-GB" b="0" i="0" u="none" strike="noStrike" dirty="0">
              <a:solidFill>
                <a:srgbClr val="000000"/>
              </a:solidFill>
              <a:effectLst/>
            </a:endParaRPr>
          </a:p>
          <a:p>
            <a:pPr marL="342900" indent="-342900" algn="l" rtl="0">
              <a:buFont typeface="+mj-lt"/>
              <a:buAutoNum type="arabicPeriod"/>
            </a:pPr>
            <a:r>
              <a:rPr lang="en-GB" b="0" i="0" u="none" strike="noStrike" dirty="0">
                <a:solidFill>
                  <a:srgbClr val="000000"/>
                </a:solidFill>
                <a:effectLst/>
              </a:rPr>
              <a:t>Understand the architecture and function of Long Short-Term Memory (LSTM) networks, including the role of the memory cell and its associated gates.</a:t>
            </a:r>
          </a:p>
          <a:p>
            <a:pPr marL="342900" indent="-342900" algn="l" rtl="0">
              <a:buFont typeface="+mj-lt"/>
              <a:buAutoNum type="arabicPeriod"/>
            </a:pPr>
            <a:r>
              <a:rPr lang="en-GB" b="0" i="0" u="none" strike="noStrike" dirty="0">
                <a:solidFill>
                  <a:srgbClr val="000000"/>
                </a:solidFill>
                <a:effectLst/>
              </a:rPr>
              <a:t>Explain how Gated Recurrent Units (GRUs) simplify the LSTM architecture while effectively addressing the vanishing gradient problem in recurrent neural networks.</a:t>
            </a:r>
          </a:p>
          <a:p>
            <a:pPr marL="342900" indent="-342900" algn="l" rtl="0">
              <a:buFont typeface="+mj-lt"/>
              <a:buAutoNum type="arabicPeriod"/>
            </a:pPr>
            <a:r>
              <a:rPr lang="en-GB" b="0" i="0" u="none" strike="noStrike" dirty="0">
                <a:solidFill>
                  <a:srgbClr val="000000"/>
                </a:solidFill>
                <a:effectLst/>
              </a:rPr>
              <a:t>Compare and contrast the key differences and similarities between LSTMs and GRUs, including their computational costs and performance trade-offs.</a:t>
            </a:r>
          </a:p>
          <a:p>
            <a:pPr marL="342900" indent="-342900" algn="l" rtl="0">
              <a:buFont typeface="+mj-lt"/>
              <a:buAutoNum type="arabicPeriod"/>
            </a:pPr>
            <a:r>
              <a:rPr lang="en-GB" b="0" i="0" u="none" strike="noStrike" dirty="0">
                <a:solidFill>
                  <a:srgbClr val="000000"/>
                </a:solidFill>
                <a:effectLst/>
              </a:rPr>
              <a:t>Implementation of LSTMs </a:t>
            </a:r>
            <a:r>
              <a:rPr lang="en-GB"/>
              <a:t>and </a:t>
            </a:r>
            <a:r>
              <a:rPr lang="en-GB" b="0" i="0" u="none" strike="noStrike">
                <a:solidFill>
                  <a:srgbClr val="000000"/>
                </a:solidFill>
                <a:effectLst/>
              </a:rPr>
              <a:t>GRUs</a:t>
            </a:r>
            <a:endParaRPr lang="en-GB" sz="1400" dirty="0">
              <a:effectLst/>
            </a:endParaRPr>
          </a:p>
          <a:p>
            <a:pPr marL="342900" indent="-342900">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Long Short-Term Memory (LSTM)</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407175" y="811500"/>
            <a:ext cx="7545787" cy="3785652"/>
          </a:xfrm>
          <a:prstGeom prst="rect">
            <a:avLst/>
          </a:prstGeom>
          <a:noFill/>
        </p:spPr>
        <p:txBody>
          <a:bodyPr wrap="square">
            <a:spAutoFit/>
          </a:bodyPr>
          <a:lstStyle/>
          <a:p>
            <a:pPr algn="l">
              <a:buNone/>
            </a:pPr>
            <a:r>
              <a:rPr lang="en-GB" sz="1600" b="0" i="0" u="none" strike="noStrike" dirty="0">
                <a:solidFill>
                  <a:srgbClr val="000000"/>
                </a:solidFill>
                <a:effectLst/>
              </a:rPr>
              <a:t>Long Short-Term Memory (LSTM) is a sophisticated type of Recurrent Neural Network (RNN) specifically engineered to effectively learn long-term dependencies in sequential data. Developed by Hochreiter &amp; </a:t>
            </a:r>
            <a:r>
              <a:rPr lang="en-GB" sz="1600" b="0" i="0" u="none" strike="noStrike" dirty="0" err="1">
                <a:solidFill>
                  <a:srgbClr val="000000"/>
                </a:solidFill>
                <a:effectLst/>
              </a:rPr>
              <a:t>Schmidhuber</a:t>
            </a:r>
            <a:r>
              <a:rPr lang="en-GB" sz="1600" b="0" i="0" u="none" strike="noStrike" dirty="0">
                <a:solidFill>
                  <a:srgbClr val="000000"/>
                </a:solidFill>
                <a:effectLst/>
              </a:rPr>
              <a:t>, LSTMs excel in tasks like language translation, speech recognition, and time series forecasting where understanding context over extended sequences is crucial.</a:t>
            </a:r>
          </a:p>
          <a:p>
            <a:pPr algn="l">
              <a:buNone/>
            </a:pPr>
            <a:endParaRPr lang="en-GB" sz="1600" b="0" i="0" u="none" strike="noStrike" dirty="0">
              <a:solidFill>
                <a:srgbClr val="000000"/>
              </a:solidFill>
              <a:effectLst/>
            </a:endParaRPr>
          </a:p>
          <a:p>
            <a:pPr algn="l">
              <a:buNone/>
            </a:pPr>
            <a:r>
              <a:rPr lang="en-GB" sz="1600" b="0" i="0" u="none" strike="noStrike" dirty="0">
                <a:solidFill>
                  <a:srgbClr val="000000"/>
                </a:solidFill>
                <a:effectLst/>
              </a:rPr>
              <a:t>The key innovation of LSTMs lies in their introduction of a </a:t>
            </a:r>
            <a:r>
              <a:rPr lang="en-GB" sz="1600" b="1" i="0" u="none" strike="noStrike" dirty="0">
                <a:solidFill>
                  <a:srgbClr val="000000"/>
                </a:solidFill>
                <a:effectLst/>
              </a:rPr>
              <a:t>memory cell</a:t>
            </a:r>
            <a:r>
              <a:rPr lang="en-GB" sz="1600" b="0" i="0" u="none" strike="noStrike" dirty="0">
                <a:solidFill>
                  <a:srgbClr val="000000"/>
                </a:solidFill>
                <a:effectLst/>
              </a:rPr>
              <a:t>. Unlike traditional RNNs that rely solely on a hidden state that gets updated at each time step, LSTMs incorporate this memory cell, which has the capacity to retain information over prolonged durations. This architecture directly addresses the primary limitation of standard RNNs: the difficulty in learning long-term dependencies due to the vanishing or exploding gradient problems.</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76448EF-3786-83D9-3118-65E3B057A4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7FEEBA-960E-81E9-6F23-D82E5CC87BC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Long Short-Term Memory (LSTM)</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864701C-1291-6820-BC78-E5FB9903F75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C540911-A359-6E62-D0C0-DD4B0B739F83}"/>
              </a:ext>
            </a:extLst>
          </p:cNvPr>
          <p:cNvSpPr txBox="1"/>
          <p:nvPr/>
        </p:nvSpPr>
        <p:spPr>
          <a:xfrm>
            <a:off x="182881" y="713964"/>
            <a:ext cx="8113775" cy="4524315"/>
          </a:xfrm>
          <a:prstGeom prst="rect">
            <a:avLst/>
          </a:prstGeom>
          <a:noFill/>
        </p:spPr>
        <p:txBody>
          <a:bodyPr wrap="square">
            <a:spAutoFit/>
          </a:bodyPr>
          <a:lstStyle/>
          <a:p>
            <a:pPr algn="l">
              <a:buNone/>
            </a:pPr>
            <a:r>
              <a:rPr lang="en-GB" sz="1600" b="1" i="0" u="none" strike="noStrike" dirty="0">
                <a:solidFill>
                  <a:srgbClr val="000000"/>
                </a:solidFill>
                <a:effectLst/>
              </a:rPr>
              <a:t>The Problem with Long-Term Dependencies in Standard RNNs:</a:t>
            </a:r>
            <a:endParaRPr lang="en-GB" sz="1600" b="0" i="0" u="none" strike="noStrike" dirty="0">
              <a:solidFill>
                <a:srgbClr val="000000"/>
              </a:solidFill>
              <a:effectLst/>
            </a:endParaRPr>
          </a:p>
          <a:p>
            <a:pPr algn="l">
              <a:buNone/>
            </a:pPr>
            <a:r>
              <a:rPr lang="en-GB" sz="1600" b="0" i="0" u="none" strike="noStrike" dirty="0">
                <a:solidFill>
                  <a:srgbClr val="000000"/>
                </a:solidFill>
                <a:effectLst/>
              </a:rPr>
              <a:t>Traditional RNNs struggle with long-term dependencies because of how gradients are propagated back through time during training.</a:t>
            </a:r>
          </a:p>
          <a:p>
            <a:pPr marL="342900" indent="-342900" algn="l">
              <a:buFont typeface="+mj-lt"/>
              <a:buAutoNum type="arabicPeriod"/>
            </a:pPr>
            <a:r>
              <a:rPr lang="en-GB" sz="1600" b="1" i="0" u="none" strike="noStrike" dirty="0">
                <a:solidFill>
                  <a:srgbClr val="000000"/>
                </a:solidFill>
                <a:effectLst/>
              </a:rPr>
              <a:t>Vanishing Gradients:</a:t>
            </a:r>
            <a:r>
              <a:rPr lang="en-GB" sz="1600" b="0" i="0" u="none" strike="noStrike" dirty="0">
                <a:solidFill>
                  <a:srgbClr val="000000"/>
                </a:solidFill>
                <a:effectLst/>
              </a:rPr>
              <a:t> As gradients are backpropagated through many time steps, they can progressively shrink. This diminishing gradient makes it exceedingly difficult for the network to learn from information in earlier time steps, as the impact of those steps on the current learning becomes negligible. Consequently, the network struggles to capture long-range patterns.</a:t>
            </a:r>
          </a:p>
          <a:p>
            <a:pPr marL="342900" indent="-342900" algn="l">
              <a:buFont typeface="+mj-lt"/>
              <a:buAutoNum type="arabicPeriod"/>
            </a:pPr>
            <a:r>
              <a:rPr lang="en-GB" sz="1600" b="1" i="0" u="none" strike="noStrike" dirty="0">
                <a:solidFill>
                  <a:srgbClr val="000000"/>
                </a:solidFill>
                <a:effectLst/>
              </a:rPr>
              <a:t>Exploding Gradients:</a:t>
            </a:r>
            <a:r>
              <a:rPr lang="en-GB" sz="1600" b="0" i="0" u="none" strike="noStrike" dirty="0">
                <a:solidFill>
                  <a:srgbClr val="000000"/>
                </a:solidFill>
                <a:effectLst/>
              </a:rPr>
              <a:t> Conversely, gradients can sometimes grow exponentially large during backpropagation. This leads to unstable training, where weight updates become excessively large, causing the learning process to become erratic and potentially diverge.</a:t>
            </a:r>
          </a:p>
          <a:p>
            <a:pPr algn="l"/>
            <a:r>
              <a:rPr lang="en-GB" sz="1600" b="0" i="0" u="none" strike="noStrike" dirty="0">
                <a:solidFill>
                  <a:srgbClr val="000000"/>
                </a:solidFill>
                <a:effectLst/>
              </a:rPr>
              <a:t>By introducing the memory cell and associated gating mechanisms, LSTMs provide a more controlled pathway for information and gradients to flow through the network over time, significantly mitigating the vanishing and, to some extent, the exploding gradient problems, thus enabling the learning of genuine long-term dependencies.</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217804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74CC63C-31E8-C399-9967-0E46E8D47AD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51F97B8-9075-742F-454D-58A7C3F40EFA}"/>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A</a:t>
            </a:r>
            <a:r>
              <a:rPr lang="en-GB" sz="2400" i="0" u="none" strike="noStrike" dirty="0">
                <a:solidFill>
                  <a:srgbClr val="7030A0"/>
                </a:solidFill>
                <a:effectLst/>
              </a:rPr>
              <a:t>rchitecture of a Long Short-Term Memory (LSTM)</a:t>
            </a: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8EC9DA3-F5EF-C4D8-E7D3-74AF032B4A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30E9CBC-12F8-4FE9-4C22-92CECD202CE3}"/>
              </a:ext>
            </a:extLst>
          </p:cNvPr>
          <p:cNvSpPr txBox="1"/>
          <p:nvPr/>
        </p:nvSpPr>
        <p:spPr>
          <a:xfrm>
            <a:off x="1" y="610597"/>
            <a:ext cx="8247887" cy="4031873"/>
          </a:xfrm>
          <a:prstGeom prst="rect">
            <a:avLst/>
          </a:prstGeom>
          <a:noFill/>
        </p:spPr>
        <p:txBody>
          <a:bodyPr wrap="square">
            <a:spAutoFit/>
          </a:bodyPr>
          <a:lstStyle/>
          <a:p>
            <a:pPr algn="l">
              <a:buNone/>
            </a:pPr>
            <a:r>
              <a:rPr lang="en-GB" sz="1600" b="0" i="0" u="none" strike="noStrike" dirty="0">
                <a:solidFill>
                  <a:srgbClr val="000000"/>
                </a:solidFill>
                <a:effectLst/>
              </a:rPr>
              <a:t>The architecture of a Long Short-Term Memory (LSTM) network is </a:t>
            </a:r>
            <a:r>
              <a:rPr lang="en-GB" sz="1600" b="0" i="0" u="none" strike="noStrike" dirty="0" err="1">
                <a:solidFill>
                  <a:srgbClr val="000000"/>
                </a:solidFill>
                <a:effectLst/>
              </a:rPr>
              <a:t>centered</a:t>
            </a:r>
            <a:r>
              <a:rPr lang="en-GB" sz="1600" b="0" i="0" u="none" strike="noStrike" dirty="0">
                <a:solidFill>
                  <a:srgbClr val="000000"/>
                </a:solidFill>
                <a:effectLst/>
              </a:rPr>
              <a:t> around the </a:t>
            </a:r>
            <a:r>
              <a:rPr lang="en-GB" sz="1600" b="1" i="0" u="none" strike="noStrike" dirty="0">
                <a:solidFill>
                  <a:srgbClr val="000000"/>
                </a:solidFill>
                <a:effectLst/>
              </a:rPr>
              <a:t>memory cell</a:t>
            </a:r>
            <a:r>
              <a:rPr lang="en-GB" sz="1600" b="0" i="0" u="none" strike="noStrike" dirty="0">
                <a:solidFill>
                  <a:srgbClr val="000000"/>
                </a:solidFill>
                <a:effectLst/>
              </a:rPr>
              <a:t>, a key component that enables the network to retain information over extended periods. This memory cell's operation is carefully managed by three crucial regulatory mechanisms known as </a:t>
            </a:r>
            <a:r>
              <a:rPr lang="en-GB" sz="1600" b="1" i="0" u="none" strike="noStrike" dirty="0">
                <a:solidFill>
                  <a:srgbClr val="000000"/>
                </a:solidFill>
                <a:effectLst/>
              </a:rPr>
              <a:t>gates</a:t>
            </a:r>
            <a:r>
              <a:rPr lang="en-GB" sz="1600" b="0" i="0" u="none" strike="noStrike" dirty="0">
                <a:solidFill>
                  <a:srgbClr val="000000"/>
                </a:solidFill>
                <a:effectLst/>
              </a:rPr>
              <a:t>:</a:t>
            </a:r>
          </a:p>
          <a:p>
            <a:pPr marL="342900" indent="-342900" algn="l">
              <a:buFont typeface="+mj-lt"/>
              <a:buAutoNum type="arabicPeriod"/>
            </a:pPr>
            <a:r>
              <a:rPr lang="en-GB" sz="1600" b="1" i="0" u="none" strike="noStrike" dirty="0">
                <a:solidFill>
                  <a:srgbClr val="000000"/>
                </a:solidFill>
                <a:effectLst/>
              </a:rPr>
              <a:t>Input Gate:</a:t>
            </a:r>
            <a:r>
              <a:rPr lang="en-GB" sz="1600" b="0" i="0" u="none" strike="noStrike" dirty="0">
                <a:solidFill>
                  <a:srgbClr val="000000"/>
                </a:solidFill>
                <a:effectLst/>
              </a:rPr>
              <a:t> This gate plays a vital role in determining what new information from the current input should be incorporated into the memory cell. It selectively allows relevant information to be added, preventing irrelevant data from polluting the cell's state.</a:t>
            </a:r>
          </a:p>
          <a:p>
            <a:pPr marL="342900" indent="-342900" algn="l">
              <a:buFont typeface="+mj-lt"/>
              <a:buAutoNum type="arabicPeriod"/>
            </a:pPr>
            <a:r>
              <a:rPr lang="en-GB" sz="1600" b="1" i="0" u="none" strike="noStrike" dirty="0">
                <a:solidFill>
                  <a:srgbClr val="000000"/>
                </a:solidFill>
                <a:effectLst/>
              </a:rPr>
              <a:t>Forget Gate:</a:t>
            </a:r>
            <a:r>
              <a:rPr lang="en-GB" sz="1600" b="0" i="0" u="none" strike="noStrike" dirty="0">
                <a:solidFill>
                  <a:srgbClr val="000000"/>
                </a:solidFill>
                <a:effectLst/>
              </a:rPr>
              <a:t> As the name suggests, the forget gate decides which pieces of information currently stored in the memory cell are no longer relevant and should be discarded. This ability to forget outdated information is crucial for the LSTM to focus on the important aspects of the sequence.</a:t>
            </a:r>
          </a:p>
          <a:p>
            <a:pPr marL="342900" indent="-342900" algn="l">
              <a:buFont typeface="+mj-lt"/>
              <a:buAutoNum type="arabicPeriod"/>
            </a:pPr>
            <a:r>
              <a:rPr lang="en-GB" sz="1600" b="1" i="0" u="none" strike="noStrike" dirty="0">
                <a:solidFill>
                  <a:srgbClr val="000000"/>
                </a:solidFill>
                <a:effectLst/>
              </a:rPr>
              <a:t>Output Gate:</a:t>
            </a:r>
            <a:r>
              <a:rPr lang="en-GB" sz="1600" b="0" i="0" u="none" strike="noStrike" dirty="0">
                <a:solidFill>
                  <a:srgbClr val="000000"/>
                </a:solidFill>
                <a:effectLst/>
              </a:rPr>
              <a:t> The output gate controls what information from the memory cell is used to influence the current hidden state and, consequently, the output of the LSTM block. It selectively exposes the relevant parts of the memory cell's content.</a:t>
            </a:r>
          </a:p>
          <a:p>
            <a:pPr algn="l"/>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793189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80B975B-2CFF-AB94-4AF4-53D8351275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EC983B9-D48C-6ABC-3918-CD2216DBAA73}"/>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A</a:t>
            </a:r>
            <a:r>
              <a:rPr lang="en-GB" sz="2400" i="0" u="none" strike="noStrike" dirty="0">
                <a:solidFill>
                  <a:srgbClr val="7030A0"/>
                </a:solidFill>
                <a:effectLst/>
              </a:rPr>
              <a:t>rchitecture of a Long Short-Term Memory (LSTM)</a:t>
            </a: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2CD001-13B9-1AF1-E318-3480DEB0FC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D182DD0-1509-D6B5-DCDA-A62CBC37FF6B}"/>
              </a:ext>
            </a:extLst>
          </p:cNvPr>
          <p:cNvSpPr txBox="1"/>
          <p:nvPr/>
        </p:nvSpPr>
        <p:spPr>
          <a:xfrm>
            <a:off x="0" y="866629"/>
            <a:ext cx="8247887" cy="3539430"/>
          </a:xfrm>
          <a:prstGeom prst="rect">
            <a:avLst/>
          </a:prstGeom>
          <a:noFill/>
        </p:spPr>
        <p:txBody>
          <a:bodyPr wrap="square">
            <a:spAutoFit/>
          </a:bodyPr>
          <a:lstStyle/>
          <a:p>
            <a:pPr marL="285750" indent="-285750" algn="l">
              <a:buFont typeface="Wingdings" pitchFamily="2" charset="2"/>
              <a:buChar char="Ø"/>
            </a:pPr>
            <a:r>
              <a:rPr lang="en-GB" sz="1600" b="0" i="0" u="none" strike="noStrike" dirty="0">
                <a:solidFill>
                  <a:srgbClr val="000000"/>
                </a:solidFill>
                <a:effectLst/>
              </a:rPr>
              <a:t>Through the coordinated action of these three gates, LSTMs gain the ability to </a:t>
            </a:r>
            <a:r>
              <a:rPr lang="en-GB" sz="1600" b="1" i="0" u="none" strike="noStrike" dirty="0">
                <a:solidFill>
                  <a:srgbClr val="000000"/>
                </a:solidFill>
                <a:effectLst/>
              </a:rPr>
              <a:t>selectively retain or discard information </a:t>
            </a:r>
            <a:r>
              <a:rPr lang="en-GB" sz="1600" b="0" i="0" u="none" strike="noStrike" dirty="0">
                <a:solidFill>
                  <a:srgbClr val="000000"/>
                </a:solidFill>
                <a:effectLst/>
              </a:rPr>
              <a:t>as it propagates through the network. </a:t>
            </a:r>
          </a:p>
          <a:p>
            <a:pPr marL="285750" indent="-285750" algn="l">
              <a:buFont typeface="Wingdings" pitchFamily="2" charset="2"/>
              <a:buChar char="Ø"/>
            </a:pPr>
            <a:r>
              <a:rPr lang="en-GB" sz="1600" b="0" i="0" u="none" strike="noStrike" dirty="0">
                <a:solidFill>
                  <a:srgbClr val="000000"/>
                </a:solidFill>
                <a:effectLst/>
              </a:rPr>
              <a:t>This selective memory management is the fundamental reason why LSTMs are so effective at learning long-term dependencies in sequential data.</a:t>
            </a:r>
          </a:p>
          <a:p>
            <a:pPr marL="285750" indent="-285750" algn="l">
              <a:buFont typeface="Wingdings" pitchFamily="2" charset="2"/>
              <a:buChar char="Ø"/>
            </a:pPr>
            <a:r>
              <a:rPr lang="en-GB" sz="1600" b="0" i="0" u="none" strike="noStrike" dirty="0">
                <a:solidFill>
                  <a:srgbClr val="000000"/>
                </a:solidFill>
                <a:effectLst/>
              </a:rPr>
              <a:t>In addition to the memory cell, the LSTM network also maintains a </a:t>
            </a:r>
            <a:r>
              <a:rPr lang="en-GB" sz="1600" b="1" i="0" u="none" strike="noStrike" dirty="0">
                <a:solidFill>
                  <a:srgbClr val="000000"/>
                </a:solidFill>
                <a:effectLst/>
              </a:rPr>
              <a:t>hidden state</a:t>
            </a:r>
            <a:r>
              <a:rPr lang="en-GB" sz="1600" b="0" i="0" u="none" strike="noStrike" dirty="0">
                <a:solidFill>
                  <a:srgbClr val="000000"/>
                </a:solidFill>
                <a:effectLst/>
              </a:rPr>
              <a:t>. This hidden state can be thought of as the LSTM's short-term memory, which is updated at each time step. </a:t>
            </a:r>
          </a:p>
          <a:p>
            <a:pPr marL="285750" indent="-285750" algn="l">
              <a:buFont typeface="Wingdings" pitchFamily="2" charset="2"/>
              <a:buChar char="Ø"/>
            </a:pPr>
            <a:r>
              <a:rPr lang="en-GB" sz="1600" b="0" i="0" u="none" strike="noStrike" dirty="0">
                <a:solidFill>
                  <a:srgbClr val="000000"/>
                </a:solidFill>
                <a:effectLst/>
              </a:rPr>
              <a:t>The update process for the hidden state involves considering the current input, the previous hidden state, and the current state of the memory cell, as regulated by the input and output gates. </a:t>
            </a:r>
          </a:p>
          <a:p>
            <a:pPr marL="285750" indent="-285750" algn="l">
              <a:buFont typeface="Wingdings" pitchFamily="2" charset="2"/>
              <a:buChar char="Ø"/>
            </a:pPr>
            <a:r>
              <a:rPr lang="en-GB" sz="1600" b="0" i="0" u="none" strike="noStrike" dirty="0">
                <a:solidFill>
                  <a:srgbClr val="000000"/>
                </a:solidFill>
                <a:effectLst/>
              </a:rPr>
              <a:t>This interplay between the memory cell (long-term memory) and the hidden state (short-term memory) allows LSTMs to capture both immediate and long-range patterns within the sequential data.</a:t>
            </a:r>
          </a:p>
          <a:p>
            <a:pPr marL="285750" indent="-285750" algn="l">
              <a:buFont typeface="Wingdings" pitchFamily="2" charset="2"/>
              <a:buChar char="Ø"/>
            </a:pP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95528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9BCB5C1-3478-14D6-0AF0-D7F7E778E72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2D10954-3848-EDE2-0BCA-14AF56C4F604}"/>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LSTM </a:t>
            </a:r>
            <a:br>
              <a:rPr lang="en-GB" sz="2000" dirty="0"/>
            </a:br>
            <a:br>
              <a:rPr lang="en-GB" sz="1400" b="1" i="0" u="none" strike="noStrike" dirty="0">
                <a:solidFill>
                  <a:srgbClr val="273239"/>
                </a:solidFill>
                <a:effectLst/>
                <a:latin typeface="Nunito" pitchFamily="2" charset="77"/>
              </a:rPr>
            </a:br>
            <a:r>
              <a:rPr lang="en-GB" sz="1400" b="0" i="0" u="none" strike="noStrike" dirty="0">
                <a:solidFill>
                  <a:srgbClr val="273239"/>
                </a:solidFill>
                <a:effectLst/>
                <a:latin typeface="Nunito" pitchFamily="2" charset="77"/>
              </a:rPr>
              <a:t>LSTM architecture has a chain structure that contains four neural networks and different memory</a:t>
            </a:r>
            <a:br>
              <a:rPr lang="en-GB" sz="1400" b="0" i="0" u="none" strike="noStrike" dirty="0">
                <a:solidFill>
                  <a:srgbClr val="273239"/>
                </a:solidFill>
                <a:effectLst/>
                <a:latin typeface="Nunito" pitchFamily="2" charset="77"/>
              </a:rPr>
            </a:br>
            <a:r>
              <a:rPr lang="en-GB" sz="1400" b="0" i="0" u="none" strike="noStrike" dirty="0">
                <a:solidFill>
                  <a:srgbClr val="273239"/>
                </a:solidFill>
                <a:effectLst/>
                <a:latin typeface="Nunito" pitchFamily="2" charset="77"/>
              </a:rPr>
              <a:t> blocks called </a:t>
            </a:r>
            <a:r>
              <a:rPr lang="en-GB" sz="1400" b="1" i="0" u="none" strike="noStrike" dirty="0">
                <a:solidFill>
                  <a:srgbClr val="273239"/>
                </a:solidFill>
                <a:effectLst/>
                <a:latin typeface="Nunito" pitchFamily="2" charset="77"/>
              </a:rPr>
              <a:t>cells</a:t>
            </a:r>
            <a:r>
              <a:rPr lang="en-GB" sz="1400" b="0" i="0" u="none" strike="noStrike" dirty="0">
                <a:solidFill>
                  <a:srgbClr val="273239"/>
                </a:solidFill>
                <a:effectLst/>
                <a:latin typeface="Nunito" pitchFamily="2" charset="77"/>
              </a:rPr>
              <a:t>.</a:t>
            </a: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AD80E92-60AC-46BC-6B2B-CA044F33768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gate_of_lstm">
            <a:extLst>
              <a:ext uri="{FF2B5EF4-FFF2-40B4-BE49-F238E27FC236}">
                <a16:creationId xmlns:a16="http://schemas.microsoft.com/office/drawing/2014/main" id="{24420BE1-25A9-BBB7-B5AA-03B56D49E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058" y="1216550"/>
            <a:ext cx="7345017" cy="3672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041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19390DF-E993-03A7-A5E4-C45774C4E3A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73CFF7E-65A4-FBD8-A66A-5FB722DE0E52}"/>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GATES </a:t>
            </a:r>
            <a:br>
              <a:rPr lang="en-GB" sz="2000" dirty="0"/>
            </a:br>
            <a:br>
              <a:rPr lang="en-GB" sz="1400" b="1" i="0" u="none" strike="noStrike" dirty="0">
                <a:solidFill>
                  <a:srgbClr val="273239"/>
                </a:solidFill>
                <a:effectLst/>
                <a:latin typeface="Nunito" pitchFamily="2" charset="77"/>
              </a:rPr>
            </a:b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6856846-37CA-62DF-2C61-0EB15C11A26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310E38E-F765-7A9A-397B-BA147BA33BF8}"/>
              </a:ext>
            </a:extLst>
          </p:cNvPr>
          <p:cNvSpPr txBox="1"/>
          <p:nvPr/>
        </p:nvSpPr>
        <p:spPr>
          <a:xfrm>
            <a:off x="1" y="485031"/>
            <a:ext cx="7463144" cy="5186035"/>
          </a:xfrm>
          <a:prstGeom prst="rect">
            <a:avLst/>
          </a:prstGeom>
          <a:noFill/>
        </p:spPr>
        <p:txBody>
          <a:bodyPr wrap="square">
            <a:spAutoFit/>
          </a:bodyPr>
          <a:lstStyle/>
          <a:p>
            <a:pPr algn="l"/>
            <a:r>
              <a:rPr lang="en-GB" sz="2000" b="1" i="0" u="none" strike="noStrike" dirty="0">
                <a:solidFill>
                  <a:srgbClr val="000000"/>
                </a:solidFill>
                <a:effectLst/>
              </a:rPr>
              <a:t>Forget GATE</a:t>
            </a:r>
          </a:p>
          <a:p>
            <a:pPr algn="l"/>
            <a:r>
              <a:rPr lang="en-GB" b="1" i="0" u="none" strike="noStrike" dirty="0">
                <a:solidFill>
                  <a:srgbClr val="000000"/>
                </a:solidFill>
                <a:effectLst/>
              </a:rPr>
              <a:t>Purpose:</a:t>
            </a:r>
            <a:r>
              <a:rPr lang="en-GB" b="0" i="0" u="none" strike="noStrike" dirty="0">
                <a:solidFill>
                  <a:srgbClr val="000000"/>
                </a:solidFill>
                <a:effectLst/>
              </a:rPr>
              <a:t> To identify and remove information from the cell state that is no longer deemed useful.</a:t>
            </a:r>
          </a:p>
          <a:p>
            <a:pPr algn="l"/>
            <a:r>
              <a:rPr lang="en-GB" b="1" i="0" u="none" strike="noStrike" dirty="0">
                <a:solidFill>
                  <a:srgbClr val="000000"/>
                </a:solidFill>
                <a:effectLst/>
              </a:rPr>
              <a:t>Inputs:</a:t>
            </a:r>
            <a:r>
              <a:rPr lang="en-GB" b="0" i="0" u="none" strike="noStrike" dirty="0">
                <a:solidFill>
                  <a:srgbClr val="000000"/>
                </a:solidFill>
                <a:effectLst/>
              </a:rPr>
              <a:t> It receives two inputs at the current time step:</a:t>
            </a:r>
          </a:p>
          <a:p>
            <a:pPr marL="742950" lvl="1" indent="-285750" algn="l">
              <a:buFont typeface="Arial" panose="020B0604020202020204" pitchFamily="34" charset="0"/>
              <a:buChar char="•"/>
            </a:pPr>
            <a:r>
              <a:rPr lang="en-GB" b="0" i="0" u="none" strike="noStrike" dirty="0" err="1">
                <a:solidFill>
                  <a:srgbClr val="000000"/>
                </a:solidFill>
                <a:effectLst/>
              </a:rPr>
              <a:t>xt</a:t>
            </a:r>
            <a:r>
              <a:rPr lang="en-GB" b="0" i="0" u="none" strike="noStrike" dirty="0">
                <a:solidFill>
                  <a:srgbClr val="000000"/>
                </a:solidFill>
                <a:effectLst/>
              </a:rPr>
              <a:t>​: The current input to the LSTM unit.</a:t>
            </a:r>
          </a:p>
          <a:p>
            <a:pPr marL="742950" lvl="1" indent="-285750" algn="l">
              <a:buFont typeface="Arial" panose="020B0604020202020204" pitchFamily="34" charset="0"/>
              <a:buChar char="•"/>
            </a:pPr>
            <a:r>
              <a:rPr lang="en-GB" b="0" i="0" u="none" strike="noStrike" dirty="0">
                <a:solidFill>
                  <a:srgbClr val="000000"/>
                </a:solidFill>
                <a:effectLst/>
              </a:rPr>
              <a:t>ht−1​: The hidden state output from the previous time step.</a:t>
            </a:r>
          </a:p>
          <a:p>
            <a:pPr algn="l"/>
            <a:r>
              <a:rPr lang="en-GB" b="1" i="0" u="none" strike="noStrike" dirty="0">
                <a:solidFill>
                  <a:srgbClr val="000000"/>
                </a:solidFill>
                <a:effectLst/>
              </a:rPr>
              <a:t>Process:</a:t>
            </a:r>
            <a:endParaRPr lang="en-GB" b="0" i="0" u="none" strike="noStrike" dirty="0">
              <a:solidFill>
                <a:srgbClr val="000000"/>
              </a:solidFill>
              <a:effectLst/>
            </a:endParaRPr>
          </a:p>
          <a:p>
            <a:pPr marL="742950" lvl="1" indent="-285750" algn="l">
              <a:buFont typeface="Arial" panose="020B0604020202020204" pitchFamily="34" charset="0"/>
              <a:buChar char="•"/>
            </a:pPr>
            <a:r>
              <a:rPr lang="en-GB" b="0" i="0" u="none" strike="noStrike" dirty="0">
                <a:solidFill>
                  <a:srgbClr val="000000"/>
                </a:solidFill>
                <a:effectLst/>
              </a:rPr>
              <a:t>The inputs </a:t>
            </a:r>
            <a:r>
              <a:rPr lang="en-GB" b="0" i="0" u="none" strike="noStrike" dirty="0" err="1">
                <a:solidFill>
                  <a:srgbClr val="000000"/>
                </a:solidFill>
                <a:effectLst/>
              </a:rPr>
              <a:t>xt</a:t>
            </a:r>
            <a:r>
              <a:rPr lang="en-GB" b="0" i="0" u="none" strike="noStrike" dirty="0">
                <a:solidFill>
                  <a:srgbClr val="000000"/>
                </a:solidFill>
                <a:effectLst/>
              </a:rPr>
              <a:t>​ and ht−1​ are concatenated into a single vector [ht−1​,</a:t>
            </a:r>
            <a:r>
              <a:rPr lang="en-GB" b="0" i="0" u="none" strike="noStrike" dirty="0" err="1">
                <a:solidFill>
                  <a:srgbClr val="000000"/>
                </a:solidFill>
                <a:effectLst/>
              </a:rPr>
              <a:t>xt</a:t>
            </a:r>
            <a:r>
              <a:rPr lang="en-GB" b="0" i="0" u="none" strike="noStrike" dirty="0">
                <a:solidFill>
                  <a:srgbClr val="000000"/>
                </a:solidFill>
                <a:effectLst/>
              </a:rPr>
              <a:t>​].</a:t>
            </a:r>
          </a:p>
          <a:p>
            <a:pPr marL="742950" lvl="1" indent="-285750" algn="l">
              <a:buFont typeface="Arial" panose="020B0604020202020204" pitchFamily="34" charset="0"/>
              <a:buChar char="•"/>
            </a:pPr>
            <a:r>
              <a:rPr lang="en-GB" b="0" i="0" u="none" strike="noStrike" dirty="0">
                <a:solidFill>
                  <a:srgbClr val="000000"/>
                </a:solidFill>
                <a:effectLst/>
              </a:rPr>
              <a:t>This concatenated vector is multiplied by a weight matrix specific to the forget gate, </a:t>
            </a:r>
            <a:r>
              <a:rPr lang="en-GB" b="0" i="0" u="none" strike="noStrike" dirty="0" err="1">
                <a:solidFill>
                  <a:srgbClr val="000000"/>
                </a:solidFill>
                <a:effectLst/>
              </a:rPr>
              <a:t>Wf</a:t>
            </a:r>
            <a:r>
              <a:rPr lang="en-GB" b="0" i="0" u="none" strike="noStrike" dirty="0">
                <a:solidFill>
                  <a:srgbClr val="000000"/>
                </a:solidFill>
                <a:effectLst/>
              </a:rPr>
              <a:t>​.</a:t>
            </a:r>
          </a:p>
          <a:p>
            <a:pPr marL="742950" lvl="1" indent="-285750" algn="l">
              <a:buFont typeface="Arial" panose="020B0604020202020204" pitchFamily="34" charset="0"/>
              <a:buChar char="•"/>
            </a:pPr>
            <a:r>
              <a:rPr lang="en-GB" b="0" i="0" u="none" strike="noStrike" dirty="0">
                <a:solidFill>
                  <a:srgbClr val="000000"/>
                </a:solidFill>
                <a:effectLst/>
              </a:rPr>
              <a:t>A bias vector, bf​, is added to the result of the multiplication.</a:t>
            </a:r>
          </a:p>
          <a:p>
            <a:pPr marL="742950" lvl="1" indent="-285750" algn="l">
              <a:buFont typeface="Arial" panose="020B0604020202020204" pitchFamily="34" charset="0"/>
              <a:buChar char="•"/>
            </a:pPr>
            <a:r>
              <a:rPr lang="en-GB" b="0" i="0" u="none" strike="noStrike" dirty="0">
                <a:solidFill>
                  <a:srgbClr val="000000"/>
                </a:solidFill>
                <a:effectLst/>
              </a:rPr>
              <a:t>The resulting vector is then passed through a sigmoid activation function, </a:t>
            </a:r>
            <a:r>
              <a:rPr lang="el-GR" b="0" i="0" u="none" strike="noStrike" dirty="0">
                <a:solidFill>
                  <a:srgbClr val="000000"/>
                </a:solidFill>
                <a:effectLst/>
              </a:rPr>
              <a:t>σ.</a:t>
            </a:r>
          </a:p>
          <a:p>
            <a:pPr algn="l"/>
            <a:r>
              <a:rPr lang="en-GB" b="1" i="0" u="none" strike="noStrike" dirty="0">
                <a:solidFill>
                  <a:srgbClr val="000000"/>
                </a:solidFill>
                <a:effectLst/>
              </a:rPr>
              <a:t>Output:</a:t>
            </a:r>
            <a:r>
              <a:rPr lang="en-GB" b="0" i="0" u="none" strike="noStrike" dirty="0">
                <a:solidFill>
                  <a:srgbClr val="000000"/>
                </a:solidFill>
                <a:effectLst/>
              </a:rPr>
              <a:t> The output of the forget gate, ft​, is a vector of values between 0 and 1.</a:t>
            </a:r>
          </a:p>
          <a:p>
            <a:pPr marL="742950" lvl="1" indent="-285750" algn="l">
              <a:buFont typeface="Arial" panose="020B0604020202020204" pitchFamily="34" charset="0"/>
              <a:buChar char="•"/>
            </a:pPr>
            <a:r>
              <a:rPr lang="en-GB" b="0" i="0" u="none" strike="noStrike" dirty="0">
                <a:solidFill>
                  <a:srgbClr val="000000"/>
                </a:solidFill>
                <a:effectLst/>
              </a:rPr>
              <a:t>A value close to 0 indicates that the corresponding information in the previous cell state should be forgotten (removed).</a:t>
            </a:r>
          </a:p>
          <a:p>
            <a:pPr marL="742950" lvl="1" indent="-285750" algn="l">
              <a:buFont typeface="Arial" panose="020B0604020202020204" pitchFamily="34" charset="0"/>
              <a:buChar char="•"/>
            </a:pPr>
            <a:r>
              <a:rPr lang="en-GB" b="0" i="0" u="none" strike="noStrike" dirty="0">
                <a:solidFill>
                  <a:srgbClr val="000000"/>
                </a:solidFill>
                <a:effectLst/>
              </a:rPr>
              <a:t>A value close to 1 indicates that the corresponding information should be retained for future use.</a:t>
            </a:r>
          </a:p>
          <a:p>
            <a:pPr algn="l"/>
            <a:r>
              <a:rPr lang="en-GB" b="1" i="0" u="none" strike="noStrike" dirty="0">
                <a:solidFill>
                  <a:srgbClr val="000000"/>
                </a:solidFill>
                <a:effectLst/>
              </a:rPr>
              <a:t>Equation:</a:t>
            </a:r>
            <a:r>
              <a:rPr lang="en-GB" b="0" i="0" u="none" strike="noStrike" dirty="0">
                <a:solidFill>
                  <a:srgbClr val="000000"/>
                </a:solidFill>
                <a:effectLst/>
              </a:rPr>
              <a:t> The operation of the forget gate is mathematically represented as: </a:t>
            </a:r>
          </a:p>
          <a:p>
            <a:pPr algn="ctr"/>
            <a:r>
              <a:rPr lang="en-GB" b="0" i="1" u="none" strike="noStrike" dirty="0">
                <a:solidFill>
                  <a:srgbClr val="000000"/>
                </a:solidFill>
                <a:effectLst/>
              </a:rPr>
              <a:t>ft​=</a:t>
            </a:r>
            <a:r>
              <a:rPr lang="el-GR" b="0" i="1" u="none" strike="noStrike" dirty="0">
                <a:solidFill>
                  <a:srgbClr val="000000"/>
                </a:solidFill>
                <a:effectLst/>
              </a:rPr>
              <a:t>σ(</a:t>
            </a:r>
            <a:r>
              <a:rPr lang="en-GB" b="0" i="1" u="none" strike="noStrike" dirty="0" err="1">
                <a:solidFill>
                  <a:srgbClr val="000000"/>
                </a:solidFill>
                <a:effectLst/>
              </a:rPr>
              <a:t>Wf</a:t>
            </a:r>
            <a:r>
              <a:rPr lang="en-GB" b="0" i="1" u="none" strike="noStrike" dirty="0">
                <a:solidFill>
                  <a:srgbClr val="000000"/>
                </a:solidFill>
                <a:effectLst/>
              </a:rPr>
              <a:t>​⋅[ht−1​,</a:t>
            </a:r>
            <a:r>
              <a:rPr lang="en-GB" b="0" i="1" u="none" strike="noStrike" dirty="0" err="1">
                <a:solidFill>
                  <a:srgbClr val="000000"/>
                </a:solidFill>
                <a:effectLst/>
              </a:rPr>
              <a:t>xt</a:t>
            </a:r>
            <a:r>
              <a:rPr lang="en-GB" b="0" i="1" u="none" strike="noStrike" dirty="0">
                <a:solidFill>
                  <a:srgbClr val="000000"/>
                </a:solidFill>
                <a:effectLst/>
              </a:rPr>
              <a:t>​]+bf​)</a:t>
            </a:r>
          </a:p>
          <a:p>
            <a:pPr algn="l"/>
            <a:r>
              <a:rPr lang="en-GB" b="0" i="0" u="none" strike="noStrike" dirty="0">
                <a:solidFill>
                  <a:srgbClr val="000000"/>
                </a:solidFill>
                <a:effectLst/>
              </a:rPr>
              <a:t>This gate plays a crucial role in allowing the LSTM to selectively remember and forget information, which is essential for handling long-term dependencies in sequential data.</a:t>
            </a:r>
          </a:p>
          <a:p>
            <a:pPr algn="l" fontAlgn="base">
              <a:spcBef>
                <a:spcPts val="1800"/>
              </a:spcBef>
              <a:spcAft>
                <a:spcPts val="1800"/>
              </a:spcAft>
              <a:buNone/>
            </a:pPr>
            <a:endParaRPr lang="en-GB" sz="1600" b="0" i="0" u="none" strike="noStrike" dirty="0">
              <a:solidFill>
                <a:srgbClr val="273239"/>
              </a:solidFill>
              <a:effectLst/>
              <a:latin typeface="Nunito" pitchFamily="2" charset="77"/>
            </a:endParaRPr>
          </a:p>
        </p:txBody>
      </p:sp>
      <p:pic>
        <p:nvPicPr>
          <p:cNvPr id="3074" name="Picture 2" descr="forget_gate">
            <a:extLst>
              <a:ext uri="{FF2B5EF4-FFF2-40B4-BE49-F238E27FC236}">
                <a16:creationId xmlns:a16="http://schemas.microsoft.com/office/drawing/2014/main" id="{2A3540D9-B62E-BDC5-C6FC-C04B4BF19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3144" y="1410219"/>
            <a:ext cx="1625197" cy="3395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85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8B3EEE1-80BC-A034-56D7-87C3538EC75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799F01F-ADF0-CA46-6D30-CC110C556F6D}"/>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GATES </a:t>
            </a:r>
            <a:br>
              <a:rPr lang="en-GB" sz="2000" dirty="0"/>
            </a:br>
            <a:br>
              <a:rPr lang="en-GB" sz="1400" b="1" i="0" u="none" strike="noStrike" dirty="0">
                <a:solidFill>
                  <a:srgbClr val="273239"/>
                </a:solidFill>
                <a:effectLst/>
                <a:latin typeface="Nunito" pitchFamily="2" charset="77"/>
              </a:rPr>
            </a:b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0AF97CB-4725-5E57-78E9-D24C5510EED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5395B6F-1115-D70E-174B-9183E74749E3}"/>
              </a:ext>
            </a:extLst>
          </p:cNvPr>
          <p:cNvSpPr txBox="1"/>
          <p:nvPr/>
        </p:nvSpPr>
        <p:spPr>
          <a:xfrm>
            <a:off x="1" y="485031"/>
            <a:ext cx="6979919" cy="5155257"/>
          </a:xfrm>
          <a:prstGeom prst="rect">
            <a:avLst/>
          </a:prstGeom>
          <a:noFill/>
        </p:spPr>
        <p:txBody>
          <a:bodyPr wrap="square">
            <a:spAutoFit/>
          </a:bodyPr>
          <a:lstStyle/>
          <a:p>
            <a:pPr algn="l"/>
            <a:r>
              <a:rPr lang="en-GB" sz="2000" b="1" dirty="0"/>
              <a:t>Input</a:t>
            </a:r>
            <a:r>
              <a:rPr lang="en-GB" sz="2000" b="1" i="0" u="none" strike="noStrike" dirty="0">
                <a:solidFill>
                  <a:srgbClr val="000000"/>
                </a:solidFill>
                <a:effectLst/>
              </a:rPr>
              <a:t> GATE</a:t>
            </a:r>
          </a:p>
          <a:p>
            <a:pPr algn="l">
              <a:buNone/>
            </a:pPr>
            <a:endParaRPr lang="en-GB" b="0" i="0" u="none" strike="noStrike" dirty="0">
              <a:solidFill>
                <a:srgbClr val="000000"/>
              </a:solidFill>
              <a:effectLst/>
            </a:endParaRPr>
          </a:p>
          <a:p>
            <a:pPr algn="l"/>
            <a:r>
              <a:rPr lang="en-GB" b="1" i="0" u="none" strike="noStrike" dirty="0">
                <a:solidFill>
                  <a:srgbClr val="000000"/>
                </a:solidFill>
                <a:effectLst/>
              </a:rPr>
              <a:t>Purpose:</a:t>
            </a:r>
            <a:r>
              <a:rPr lang="en-GB" b="0" i="0" u="none" strike="noStrike" dirty="0">
                <a:solidFill>
                  <a:srgbClr val="000000"/>
                </a:solidFill>
                <a:effectLst/>
              </a:rPr>
              <a:t> To control the addition of new, useful information into the cell state. This involves two main steps: filtering relevant information and generating candidate updates.</a:t>
            </a:r>
          </a:p>
          <a:p>
            <a:pPr algn="l"/>
            <a:r>
              <a:rPr lang="en-GB" b="1" i="0" u="none" strike="noStrike" dirty="0">
                <a:solidFill>
                  <a:srgbClr val="000000"/>
                </a:solidFill>
                <a:effectLst/>
              </a:rPr>
              <a:t>Inputs:</a:t>
            </a:r>
            <a:r>
              <a:rPr lang="en-GB" b="0" i="0" u="none" strike="noStrike" dirty="0">
                <a:solidFill>
                  <a:srgbClr val="000000"/>
                </a:solidFill>
                <a:effectLst/>
              </a:rPr>
              <a:t> Similar to the forget gate, the input gate receives:</a:t>
            </a:r>
          </a:p>
          <a:p>
            <a:pPr marL="742950" lvl="1" indent="-285750" algn="l">
              <a:buFont typeface="Arial" panose="020B0604020202020204" pitchFamily="34" charset="0"/>
              <a:buChar char="•"/>
            </a:pP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 The current input to the LSTM unit.</a:t>
            </a:r>
          </a:p>
          <a:p>
            <a:pPr marL="742950" lvl="1" indent="-285750" algn="l">
              <a:buFont typeface="Arial" panose="020B0604020202020204" pitchFamily="34" charset="0"/>
              <a:buChar char="•"/>
            </a:pPr>
            <a:r>
              <a:rPr lang="en-GB" b="0" i="0" u="none" strike="noStrike" dirty="0">
                <a:solidFill>
                  <a:srgbClr val="000000"/>
                </a:solidFill>
                <a:effectLst/>
              </a:rPr>
              <a:t>h</a:t>
            </a:r>
            <a:r>
              <a:rPr lang="en-GB" b="0" i="0" u="none" strike="noStrike" baseline="-25000" dirty="0">
                <a:solidFill>
                  <a:srgbClr val="000000"/>
                </a:solidFill>
                <a:effectLst/>
              </a:rPr>
              <a:t>t−1​</a:t>
            </a:r>
            <a:r>
              <a:rPr lang="en-GB" b="0" i="0" u="none" strike="noStrike" dirty="0">
                <a:solidFill>
                  <a:srgbClr val="000000"/>
                </a:solidFill>
                <a:effectLst/>
              </a:rPr>
              <a:t>: The hidden state output from the previous time step.</a:t>
            </a:r>
          </a:p>
          <a:p>
            <a:pPr algn="l"/>
            <a:r>
              <a:rPr lang="en-GB" b="1" i="0" u="none" strike="noStrike" dirty="0">
                <a:solidFill>
                  <a:srgbClr val="000000"/>
                </a:solidFill>
                <a:effectLst/>
              </a:rPr>
              <a:t>Process:</a:t>
            </a:r>
            <a:endParaRPr lang="en-GB" b="0" i="0" u="none" strike="noStrike" dirty="0">
              <a:solidFill>
                <a:srgbClr val="000000"/>
              </a:solidFill>
              <a:effectLst/>
            </a:endParaRPr>
          </a:p>
          <a:p>
            <a:pPr marL="457200" lvl="1" algn="l"/>
            <a:r>
              <a:rPr lang="en-GB" b="1" i="0" u="none" strike="noStrike" dirty="0">
                <a:solidFill>
                  <a:srgbClr val="000000"/>
                </a:solidFill>
                <a:effectLst/>
              </a:rPr>
              <a:t>Filtering Relevant Information:</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0" i="0" u="none" strike="noStrike" dirty="0">
                <a:solidFill>
                  <a:srgbClr val="000000"/>
                </a:solidFill>
                <a:effectLst/>
              </a:rPr>
              <a:t>The inputs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 and h</a:t>
            </a:r>
            <a:r>
              <a:rPr lang="en-GB" b="0" i="0" u="none" strike="noStrike" baseline="-25000" dirty="0">
                <a:solidFill>
                  <a:srgbClr val="000000"/>
                </a:solidFill>
                <a:effectLst/>
              </a:rPr>
              <a:t>t−1​ </a:t>
            </a:r>
            <a:r>
              <a:rPr lang="en-GB" b="0" i="0" u="none" strike="noStrike" dirty="0">
                <a:solidFill>
                  <a:srgbClr val="000000"/>
                </a:solidFill>
                <a:effectLst/>
              </a:rPr>
              <a:t>are concatenated: [h</a:t>
            </a:r>
            <a:r>
              <a:rPr lang="en-GB" b="0" i="0" u="none" strike="noStrike" baseline="-25000" dirty="0">
                <a:solidFill>
                  <a:srgbClr val="000000"/>
                </a:solidFill>
                <a:effectLst/>
              </a:rPr>
              <a:t>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a:t>
            </a:r>
          </a:p>
          <a:p>
            <a:pPr marL="1143000" lvl="2" indent="-228600" algn="l">
              <a:buFont typeface="Arial" panose="020B0604020202020204" pitchFamily="34" charset="0"/>
              <a:buChar char="•"/>
            </a:pPr>
            <a:r>
              <a:rPr lang="en-GB" b="0" i="0" u="none" strike="noStrike" dirty="0">
                <a:solidFill>
                  <a:srgbClr val="000000"/>
                </a:solidFill>
                <a:effectLst/>
              </a:rPr>
              <a:t>This concatenated vector is multiplied by a weight matrix specific to the input gate, W</a:t>
            </a:r>
            <a:r>
              <a:rPr lang="en-GB" b="0" i="0" u="none" strike="noStrike" baseline="-25000" dirty="0">
                <a:solidFill>
                  <a:srgbClr val="000000"/>
                </a:solidFill>
                <a:effectLst/>
              </a:rPr>
              <a:t>i</a:t>
            </a:r>
            <a:r>
              <a:rPr lang="en-GB" b="0" i="0" u="none" strike="noStrike" dirty="0">
                <a:solidFill>
                  <a:srgbClr val="000000"/>
                </a:solidFill>
                <a:effectLst/>
              </a:rPr>
              <a:t>​.</a:t>
            </a:r>
          </a:p>
          <a:p>
            <a:pPr marL="1143000" lvl="2" indent="-228600" algn="l">
              <a:buFont typeface="Arial" panose="020B0604020202020204" pitchFamily="34" charset="0"/>
              <a:buChar char="•"/>
            </a:pPr>
            <a:r>
              <a:rPr lang="en-GB" b="0" i="0" u="none" strike="noStrike" dirty="0">
                <a:solidFill>
                  <a:srgbClr val="000000"/>
                </a:solidFill>
                <a:effectLst/>
              </a:rPr>
              <a:t>A bias vector, bi​, is added to the result.</a:t>
            </a:r>
          </a:p>
          <a:p>
            <a:pPr marL="1143000" lvl="2" indent="-228600" algn="l">
              <a:buFont typeface="Arial" panose="020B0604020202020204" pitchFamily="34" charset="0"/>
              <a:buChar char="•"/>
            </a:pPr>
            <a:r>
              <a:rPr lang="en-GB" b="0" i="0" u="none" strike="noStrike" dirty="0">
                <a:solidFill>
                  <a:srgbClr val="000000"/>
                </a:solidFill>
                <a:effectLst/>
              </a:rPr>
              <a:t>The result is passed through a sigmoid activation function, </a:t>
            </a:r>
            <a:r>
              <a:rPr lang="el-GR" b="0" i="0" u="none" strike="noStrike" dirty="0">
                <a:solidFill>
                  <a:srgbClr val="000000"/>
                </a:solidFill>
                <a:effectLst/>
              </a:rPr>
              <a:t>σ, </a:t>
            </a:r>
            <a:r>
              <a:rPr lang="en-GB" b="0" i="0" u="none" strike="noStrike" dirty="0">
                <a:solidFill>
                  <a:srgbClr val="000000"/>
                </a:solidFill>
                <a:effectLst/>
              </a:rPr>
              <a:t>producing the input gate's output, it​. This it​ acts as a filter, determining which candidate values should be considered for updating the cell state. Values in it​ close to 1 indicate that the corresponding candidate information should be added, while values close to 0 suggest it should be ignored.</a:t>
            </a:r>
          </a:p>
          <a:p>
            <a:pPr marL="1143000" lvl="2" indent="-228600" algn="l">
              <a:buFont typeface="Arial" panose="020B0604020202020204" pitchFamily="34" charset="0"/>
              <a:buChar char="•"/>
            </a:pPr>
            <a:r>
              <a:rPr lang="en-GB" b="0" i="0" u="none" strike="noStrike" dirty="0">
                <a:solidFill>
                  <a:srgbClr val="000000"/>
                </a:solidFill>
                <a:effectLst/>
              </a:rPr>
              <a:t>The equation for this filtering step is: i</a:t>
            </a:r>
            <a:r>
              <a:rPr lang="en-GB" b="0" i="0" u="none" strike="noStrike" baseline="-25000" dirty="0">
                <a:solidFill>
                  <a:srgbClr val="000000"/>
                </a:solidFill>
                <a:effectLst/>
              </a:rPr>
              <a:t>t</a:t>
            </a:r>
            <a:r>
              <a:rPr lang="en-GB" b="0" i="0" u="none" strike="noStrike" dirty="0">
                <a:solidFill>
                  <a:srgbClr val="000000"/>
                </a:solidFill>
                <a:effectLst/>
              </a:rPr>
              <a:t>​=</a:t>
            </a:r>
            <a:r>
              <a:rPr lang="el-GR" b="0" i="0" u="none" strike="noStrike" dirty="0">
                <a:solidFill>
                  <a:srgbClr val="000000"/>
                </a:solidFill>
                <a:effectLst/>
              </a:rPr>
              <a:t>σ(</a:t>
            </a:r>
            <a:r>
              <a:rPr lang="en-GB" b="0" i="0" u="none" strike="noStrike" dirty="0">
                <a:solidFill>
                  <a:srgbClr val="000000"/>
                </a:solidFill>
                <a:effectLst/>
              </a:rPr>
              <a:t>W</a:t>
            </a:r>
            <a:r>
              <a:rPr lang="en-GB" b="0" i="0" u="none" strike="noStrike" baseline="-25000" dirty="0">
                <a:solidFill>
                  <a:srgbClr val="000000"/>
                </a:solidFill>
                <a:effectLst/>
              </a:rPr>
              <a:t>i</a:t>
            </a:r>
            <a:r>
              <a:rPr lang="en-GB" b="0" i="0" u="none" strike="noStrike" dirty="0">
                <a:solidFill>
                  <a:srgbClr val="000000"/>
                </a:solidFill>
                <a:effectLst/>
              </a:rPr>
              <a:t>​⋅ [h</a:t>
            </a:r>
            <a:r>
              <a:rPr lang="en-GB" b="0" i="0" u="none" strike="noStrike" baseline="-25000" dirty="0">
                <a:solidFill>
                  <a:srgbClr val="000000"/>
                </a:solidFill>
                <a:effectLst/>
              </a:rPr>
              <a:t>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 +b</a:t>
            </a:r>
            <a:r>
              <a:rPr lang="en-GB" b="0" i="0" u="none" strike="noStrike" baseline="-25000" dirty="0">
                <a:solidFill>
                  <a:srgbClr val="000000"/>
                </a:solidFill>
                <a:effectLst/>
              </a:rPr>
              <a:t>i</a:t>
            </a:r>
            <a:r>
              <a:rPr lang="en-GB" b="0" i="0" u="none" strike="noStrike" dirty="0">
                <a:solidFill>
                  <a:srgbClr val="000000"/>
                </a:solidFill>
                <a:effectLst/>
              </a:rPr>
              <a:t>)</a:t>
            </a:r>
          </a:p>
          <a:p>
            <a:pPr algn="l" fontAlgn="base">
              <a:spcBef>
                <a:spcPts val="1800"/>
              </a:spcBef>
              <a:spcAft>
                <a:spcPts val="1800"/>
              </a:spcAft>
              <a:buNone/>
            </a:pPr>
            <a:endParaRPr lang="en-GB" b="0" i="0" u="none" strike="noStrike" dirty="0">
              <a:solidFill>
                <a:srgbClr val="273239"/>
              </a:solidFill>
              <a:effectLst/>
              <a:latin typeface="Nunito" pitchFamily="2" charset="77"/>
            </a:endParaRPr>
          </a:p>
        </p:txBody>
      </p:sp>
      <p:pic>
        <p:nvPicPr>
          <p:cNvPr id="2" name="Picture 2" descr="input_gate">
            <a:extLst>
              <a:ext uri="{FF2B5EF4-FFF2-40B4-BE49-F238E27FC236}">
                <a16:creationId xmlns:a16="http://schemas.microsoft.com/office/drawing/2014/main" id="{D0481048-55F1-19E7-043A-E66D31F7D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8807" y="1426464"/>
            <a:ext cx="1827656" cy="3168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795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20DCDED-281A-206A-3680-23EF826902E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4988348-1725-604F-D380-DF4748DA1DAE}"/>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GATES </a:t>
            </a:r>
            <a:br>
              <a:rPr lang="en-GB" sz="2000" dirty="0"/>
            </a:br>
            <a:br>
              <a:rPr lang="en-GB" sz="1400" b="1" i="0" u="none" strike="noStrike" dirty="0">
                <a:solidFill>
                  <a:srgbClr val="273239"/>
                </a:solidFill>
                <a:effectLst/>
                <a:latin typeface="Nunito" pitchFamily="2" charset="77"/>
              </a:rPr>
            </a:b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16B66B4-783C-DAC9-BC05-AAB49D5A1C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EB5C26C0-1260-BC2B-5014-2CE5D8215870}"/>
              </a:ext>
            </a:extLst>
          </p:cNvPr>
          <p:cNvSpPr txBox="1"/>
          <p:nvPr/>
        </p:nvSpPr>
        <p:spPr>
          <a:xfrm>
            <a:off x="-756966" y="546318"/>
            <a:ext cx="9602262" cy="4939814"/>
          </a:xfrm>
          <a:prstGeom prst="rect">
            <a:avLst/>
          </a:prstGeom>
          <a:noFill/>
        </p:spPr>
        <p:txBody>
          <a:bodyPr wrap="square">
            <a:spAutoFit/>
          </a:bodyPr>
          <a:lstStyle/>
          <a:p>
            <a:pPr algn="l"/>
            <a:r>
              <a:rPr lang="en-GB" sz="2000" b="1" dirty="0"/>
              <a:t>	Input</a:t>
            </a:r>
            <a:r>
              <a:rPr lang="en-GB" sz="2000" b="1" i="0" u="none" strike="noStrike" dirty="0">
                <a:solidFill>
                  <a:srgbClr val="000000"/>
                </a:solidFill>
                <a:effectLst/>
              </a:rPr>
              <a:t> GATE</a:t>
            </a:r>
            <a:endParaRPr lang="en-GB" sz="2000" dirty="0"/>
          </a:p>
          <a:p>
            <a:pPr algn="l"/>
            <a:r>
              <a:rPr lang="en-GB" b="1" i="0" u="none" strike="noStrike" dirty="0">
                <a:solidFill>
                  <a:srgbClr val="000000"/>
                </a:solidFill>
                <a:effectLst/>
              </a:rPr>
              <a:t>	Generating Candidate Cell State Values:</a:t>
            </a:r>
            <a:endParaRPr lang="en-GB" b="0" i="0" u="none" strike="noStrike" dirty="0">
              <a:solidFill>
                <a:srgbClr val="000000"/>
              </a:solidFill>
              <a:effectLst/>
            </a:endParaRPr>
          </a:p>
          <a:p>
            <a:pPr marL="914400" lvl="2" algn="l"/>
            <a:r>
              <a:rPr lang="en-GB" b="0" i="0" u="none" strike="noStrike" dirty="0">
                <a:solidFill>
                  <a:srgbClr val="000000"/>
                </a:solidFill>
                <a:effectLst/>
              </a:rPr>
              <a:t>The same concatenated input vector  [h</a:t>
            </a:r>
            <a:r>
              <a:rPr lang="en-GB" b="0" i="0" u="none" strike="noStrike" baseline="-25000" dirty="0">
                <a:solidFill>
                  <a:srgbClr val="000000"/>
                </a:solidFill>
                <a:effectLst/>
              </a:rPr>
              <a:t>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]is multiplied by another weight matrix, </a:t>
            </a:r>
            <a:r>
              <a:rPr lang="en-GB" b="0" i="0" u="none" strike="noStrike" dirty="0" err="1">
                <a:solidFill>
                  <a:srgbClr val="000000"/>
                </a:solidFill>
                <a:effectLst/>
              </a:rPr>
              <a:t>Wc</a:t>
            </a:r>
            <a:r>
              <a:rPr lang="en-GB" b="0" i="0" u="none" strike="noStrike" dirty="0">
                <a:solidFill>
                  <a:srgbClr val="000000"/>
                </a:solidFill>
                <a:effectLst/>
              </a:rPr>
              <a:t>​.</a:t>
            </a:r>
          </a:p>
          <a:p>
            <a:pPr marL="914400" lvl="2" algn="l"/>
            <a:r>
              <a:rPr lang="en-GB" b="0" i="0" u="none" strike="noStrike" dirty="0">
                <a:solidFill>
                  <a:srgbClr val="000000"/>
                </a:solidFill>
                <a:effectLst/>
              </a:rPr>
              <a:t>A bias vector, </a:t>
            </a:r>
            <a:r>
              <a:rPr lang="en-GB" b="0" i="0" u="none" strike="noStrike" dirty="0" err="1">
                <a:solidFill>
                  <a:srgbClr val="000000"/>
                </a:solidFill>
                <a:effectLst/>
              </a:rPr>
              <a:t>b</a:t>
            </a:r>
            <a:r>
              <a:rPr lang="en-GB" b="0" i="0" u="none" strike="noStrike" baseline="-25000" dirty="0" err="1">
                <a:solidFill>
                  <a:srgbClr val="000000"/>
                </a:solidFill>
                <a:effectLst/>
              </a:rPr>
              <a:t>c</a:t>
            </a:r>
            <a:r>
              <a:rPr lang="en-GB" b="0" i="0" u="none" strike="noStrike" dirty="0">
                <a:solidFill>
                  <a:srgbClr val="000000"/>
                </a:solidFill>
                <a:effectLst/>
              </a:rPr>
              <a:t>​, is added to this product.</a:t>
            </a:r>
          </a:p>
          <a:p>
            <a:pPr marL="914400" lvl="2" algn="l"/>
            <a:r>
              <a:rPr lang="en-GB" b="0" i="0" u="none" strike="noStrike" dirty="0">
                <a:solidFill>
                  <a:srgbClr val="000000"/>
                </a:solidFill>
                <a:effectLst/>
              </a:rPr>
              <a:t>The result is then passed through a hyperbolic tangent activation function, tanh, producing a vector of candidate cell state values, </a:t>
            </a:r>
            <a:r>
              <a:rPr lang="en-GB" b="0" i="0" u="none" strike="noStrike" dirty="0" err="1">
                <a:solidFill>
                  <a:srgbClr val="000000"/>
                </a:solidFill>
                <a:effectLst/>
              </a:rPr>
              <a:t>C</a:t>
            </a:r>
            <a:r>
              <a:rPr lang="en-GB" baseline="30000" dirty="0" err="1"/>
              <a:t>^</a:t>
            </a:r>
            <a:r>
              <a:rPr lang="en-GB" baseline="-25000" dirty="0" err="1"/>
              <a:t>t</a:t>
            </a:r>
            <a:r>
              <a:rPr lang="en-GB" b="0" i="0" u="none" strike="noStrike" dirty="0">
                <a:solidFill>
                  <a:srgbClr val="000000"/>
                </a:solidFill>
                <a:effectLst/>
              </a:rPr>
              <a:t>​. The tanh function outputs values between -1 and +1, representing potential updates to the cell state.</a:t>
            </a:r>
          </a:p>
          <a:p>
            <a:pPr marL="914400" lvl="2" algn="l"/>
            <a:r>
              <a:rPr lang="en-GB" b="0" i="0" u="none" strike="noStrike" dirty="0">
                <a:solidFill>
                  <a:srgbClr val="000000"/>
                </a:solidFill>
                <a:effectLst/>
              </a:rPr>
              <a:t>The equation for generating the candidate cell state is: </a:t>
            </a:r>
            <a:r>
              <a:rPr lang="en-GB" b="0" i="0" u="none" strike="noStrike" dirty="0" err="1">
                <a:solidFill>
                  <a:srgbClr val="000000"/>
                </a:solidFill>
                <a:effectLst/>
              </a:rPr>
              <a:t>C</a:t>
            </a:r>
            <a:r>
              <a:rPr lang="en-GB" baseline="30000" dirty="0" err="1"/>
              <a:t>^</a:t>
            </a:r>
            <a:r>
              <a:rPr lang="en-GB" baseline="-25000" dirty="0" err="1"/>
              <a:t>t</a:t>
            </a:r>
            <a:r>
              <a:rPr lang="en-GB" b="0" i="0" u="none" strike="noStrike" dirty="0">
                <a:solidFill>
                  <a:srgbClr val="000000"/>
                </a:solidFill>
                <a:effectLst/>
              </a:rPr>
              <a:t>​=tanh(</a:t>
            </a:r>
            <a:r>
              <a:rPr lang="en-GB" b="0" i="0" u="none" strike="noStrike" dirty="0" err="1">
                <a:solidFill>
                  <a:srgbClr val="000000"/>
                </a:solidFill>
                <a:effectLst/>
              </a:rPr>
              <a:t>Wc</a:t>
            </a:r>
            <a:r>
              <a:rPr lang="en-GB" b="0" i="0" u="none" strike="noStrike" dirty="0">
                <a:solidFill>
                  <a:srgbClr val="000000"/>
                </a:solidFill>
                <a:effectLst/>
              </a:rPr>
              <a:t>​⋅ [h</a:t>
            </a:r>
            <a:r>
              <a:rPr lang="en-GB" b="0" i="0" u="none" strike="noStrike" baseline="-25000" dirty="0">
                <a:solidFill>
                  <a:srgbClr val="000000"/>
                </a:solidFill>
                <a:effectLst/>
              </a:rPr>
              <a:t>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 +</a:t>
            </a:r>
            <a:r>
              <a:rPr lang="en-GB" b="0" i="0" u="none" strike="noStrike" dirty="0" err="1">
                <a:solidFill>
                  <a:srgbClr val="000000"/>
                </a:solidFill>
                <a:effectLst/>
              </a:rPr>
              <a:t>b</a:t>
            </a:r>
            <a:r>
              <a:rPr lang="en-GB" b="0" i="0" u="none" strike="noStrike" baseline="-25000" dirty="0" err="1">
                <a:solidFill>
                  <a:srgbClr val="000000"/>
                </a:solidFill>
                <a:effectLst/>
              </a:rPr>
              <a:t>c</a:t>
            </a:r>
            <a:r>
              <a:rPr lang="en-GB" b="0" i="0" u="none" strike="noStrike" dirty="0">
                <a:solidFill>
                  <a:srgbClr val="000000"/>
                </a:solidFill>
                <a:effectLst/>
              </a:rPr>
              <a:t>)</a:t>
            </a:r>
          </a:p>
          <a:p>
            <a:pPr marL="914400" lvl="2" algn="l"/>
            <a:r>
              <a:rPr lang="en-GB" b="1" i="0" u="none" strike="noStrike" dirty="0">
                <a:solidFill>
                  <a:srgbClr val="000000"/>
                </a:solidFill>
                <a:effectLst/>
              </a:rPr>
              <a:t>Updating the Cell State:</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0" i="0" u="none" strike="noStrike" dirty="0">
                <a:solidFill>
                  <a:srgbClr val="000000"/>
                </a:solidFill>
                <a:effectLst/>
              </a:rPr>
              <a:t>The previous cell state, C</a:t>
            </a:r>
            <a:r>
              <a:rPr lang="en-GB" b="0" i="0" u="none" strike="noStrike" baseline="-25000" dirty="0">
                <a:solidFill>
                  <a:srgbClr val="000000"/>
                </a:solidFill>
                <a:effectLst/>
              </a:rPr>
              <a:t>t−1​</a:t>
            </a:r>
            <a:r>
              <a:rPr lang="en-GB" b="0" i="0" u="none" strike="noStrike" dirty="0">
                <a:solidFill>
                  <a:srgbClr val="000000"/>
                </a:solidFill>
                <a:effectLst/>
              </a:rPr>
              <a:t>, is element-wise multiplied (denoted by ⊙) with the output of the forget gate, ft​. This step discards the information that the forget gate deemed irrelevant.</a:t>
            </a:r>
          </a:p>
          <a:p>
            <a:pPr marL="1143000" lvl="2" indent="-228600" algn="l">
              <a:buFont typeface="Arial" panose="020B0604020202020204" pitchFamily="34" charset="0"/>
              <a:buChar char="•"/>
            </a:pPr>
            <a:r>
              <a:rPr lang="en-GB" b="0" i="0" u="none" strike="noStrike" dirty="0">
                <a:solidFill>
                  <a:srgbClr val="000000"/>
                </a:solidFill>
                <a:effectLst/>
              </a:rPr>
              <a:t>The candidate cell state values, </a:t>
            </a:r>
            <a:r>
              <a:rPr lang="en-GB" b="0" i="0" u="none" strike="noStrike" dirty="0" err="1">
                <a:solidFill>
                  <a:srgbClr val="000000"/>
                </a:solidFill>
                <a:effectLst/>
              </a:rPr>
              <a:t>C</a:t>
            </a:r>
            <a:r>
              <a:rPr lang="en-GB" baseline="30000" dirty="0" err="1"/>
              <a:t>^</a:t>
            </a:r>
            <a:r>
              <a:rPr lang="en-GB" baseline="-25000" dirty="0" err="1"/>
              <a:t>t</a:t>
            </a:r>
            <a:r>
              <a:rPr lang="en-GB" b="0" i="0" u="none" strike="noStrike" dirty="0">
                <a:solidFill>
                  <a:srgbClr val="000000"/>
                </a:solidFill>
                <a:effectLst/>
              </a:rPr>
              <a:t>​, are element-wise multiplied with the output of the input gate, it​. This scales the candidate updates based on the input gate's decision of what new information is important.</a:t>
            </a:r>
          </a:p>
          <a:p>
            <a:pPr marL="1143000" lvl="2" indent="-228600" algn="l">
              <a:buFont typeface="Arial" panose="020B0604020202020204" pitchFamily="34" charset="0"/>
              <a:buChar char="•"/>
            </a:pPr>
            <a:r>
              <a:rPr lang="en-GB" b="0" i="0" u="none" strike="noStrike" dirty="0">
                <a:solidFill>
                  <a:srgbClr val="000000"/>
                </a:solidFill>
                <a:effectLst/>
              </a:rPr>
              <a:t>Finally, these two results are added together to produce the new cell state, C</a:t>
            </a:r>
            <a:r>
              <a:rPr lang="en-GB" b="0" i="0" u="none" strike="noStrike" baseline="-25000" dirty="0">
                <a:solidFill>
                  <a:srgbClr val="000000"/>
                </a:solidFill>
                <a:effectLst/>
              </a:rPr>
              <a:t>t</a:t>
            </a:r>
            <a:r>
              <a:rPr lang="en-GB" b="0" i="0" u="none" strike="noStrike" dirty="0">
                <a:solidFill>
                  <a:srgbClr val="000000"/>
                </a:solidFill>
                <a:effectLst/>
              </a:rPr>
              <a:t>. This new cell state now incorporates the retained information from the past and the newly added relevant information.</a:t>
            </a:r>
          </a:p>
          <a:p>
            <a:pPr marL="1143000" lvl="2" indent="-228600" algn="l">
              <a:buFont typeface="Arial" panose="020B0604020202020204" pitchFamily="34" charset="0"/>
              <a:buChar char="•"/>
            </a:pPr>
            <a:r>
              <a:rPr lang="en-GB" b="0" i="0" u="none" strike="noStrike" dirty="0">
                <a:solidFill>
                  <a:srgbClr val="000000"/>
                </a:solidFill>
                <a:effectLst/>
              </a:rPr>
              <a:t>The equation for updating the cell state is :  C</a:t>
            </a:r>
            <a:r>
              <a:rPr lang="en-GB" b="0" i="0" u="none" strike="noStrike" baseline="-25000" dirty="0">
                <a:solidFill>
                  <a:srgbClr val="000000"/>
                </a:solidFill>
                <a:effectLst/>
              </a:rPr>
              <a:t>t </a:t>
            </a:r>
            <a:r>
              <a:rPr lang="en-GB" b="0" i="0" u="none" strike="noStrike" dirty="0">
                <a:solidFill>
                  <a:srgbClr val="000000"/>
                </a:solidFill>
                <a:effectLst/>
              </a:rPr>
              <a:t>=f</a:t>
            </a:r>
            <a:r>
              <a:rPr lang="en-GB" b="0" i="0" u="none" strike="noStrike" baseline="-25000" dirty="0">
                <a:solidFill>
                  <a:srgbClr val="000000"/>
                </a:solidFill>
                <a:effectLst/>
              </a:rPr>
              <a:t>t</a:t>
            </a:r>
            <a:r>
              <a:rPr lang="en-GB" b="0" i="0" u="none" strike="noStrike" dirty="0">
                <a:solidFill>
                  <a:srgbClr val="000000"/>
                </a:solidFill>
                <a:effectLst/>
              </a:rPr>
              <a:t>⊙ C</a:t>
            </a:r>
            <a:r>
              <a:rPr lang="en-GB" b="0" i="0" u="none" strike="noStrike" baseline="-25000" dirty="0">
                <a:solidFill>
                  <a:srgbClr val="000000"/>
                </a:solidFill>
                <a:effectLst/>
              </a:rPr>
              <a:t>t </a:t>
            </a:r>
            <a:r>
              <a:rPr lang="en-GB" b="0" i="0" u="none" strike="noStrike" dirty="0">
                <a:solidFill>
                  <a:srgbClr val="000000"/>
                </a:solidFill>
                <a:effectLst/>
              </a:rPr>
              <a:t>−1​+i</a:t>
            </a:r>
            <a:r>
              <a:rPr lang="en-GB" b="0" i="0" u="none" strike="noStrike" baseline="-25000" dirty="0">
                <a:solidFill>
                  <a:srgbClr val="000000"/>
                </a:solidFill>
                <a:effectLst/>
              </a:rPr>
              <a:t>t</a:t>
            </a:r>
            <a:r>
              <a:rPr lang="en-GB" b="0" i="0" u="none" strike="noStrike" dirty="0">
                <a:solidFill>
                  <a:srgbClr val="000000"/>
                </a:solidFill>
                <a:effectLst/>
              </a:rPr>
              <a:t>​⊙</a:t>
            </a:r>
            <a:r>
              <a:rPr lang="en-GB" b="0" i="0" u="none" strike="noStrike" dirty="0" err="1">
                <a:solidFill>
                  <a:srgbClr val="000000"/>
                </a:solidFill>
                <a:effectLst/>
              </a:rPr>
              <a:t>C</a:t>
            </a:r>
            <a:r>
              <a:rPr lang="en-GB" baseline="30000" dirty="0" err="1"/>
              <a:t>^</a:t>
            </a:r>
            <a:r>
              <a:rPr lang="en-GB" baseline="-25000" dirty="0" err="1"/>
              <a:t>t</a:t>
            </a:r>
            <a:r>
              <a:rPr lang="en-GB" b="0" i="0" u="none" strike="noStrike" dirty="0">
                <a:solidFill>
                  <a:srgbClr val="000000"/>
                </a:solidFill>
                <a:effectLst/>
              </a:rPr>
              <a:t>​</a:t>
            </a:r>
          </a:p>
          <a:p>
            <a:pPr marL="914400" lvl="2" algn="l"/>
            <a:r>
              <a:rPr lang="en-GB" b="0" i="0" u="none" strike="noStrike" dirty="0">
                <a:solidFill>
                  <a:srgbClr val="000000"/>
                </a:solidFill>
                <a:effectLst/>
              </a:rPr>
              <a:t>In essence, the input gate works in conjunction with the candidate cell state to selectively introduce new information into the LSTM's long-term memory (the cell state), while the forget gate simultaneously manages the removal of outdated information. This careful regulation allows the LSTM to learn and retain relevant information over extended sequences.</a:t>
            </a:r>
          </a:p>
          <a:p>
            <a:pPr algn="l" fontAlgn="base">
              <a:spcBef>
                <a:spcPts val="1800"/>
              </a:spcBef>
              <a:spcAft>
                <a:spcPts val="1800"/>
              </a:spcAft>
              <a:buNone/>
            </a:pPr>
            <a:endParaRPr lang="en-GB" b="0" i="0" u="none" strike="noStrike" dirty="0">
              <a:solidFill>
                <a:srgbClr val="273239"/>
              </a:solidFill>
              <a:effectLst/>
              <a:latin typeface="Nunito" pitchFamily="2" charset="77"/>
            </a:endParaRPr>
          </a:p>
        </p:txBody>
      </p:sp>
    </p:spTree>
    <p:extLst>
      <p:ext uri="{BB962C8B-B14F-4D97-AF65-F5344CB8AC3E}">
        <p14:creationId xmlns:p14="http://schemas.microsoft.com/office/powerpoint/2010/main" val="2277578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D6FF5C5-D2BA-39DF-5760-358748962B2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485AE2E-DFB6-F6E5-C855-F62DEBD8DA53}"/>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GATES </a:t>
            </a:r>
            <a:br>
              <a:rPr lang="en-GB" sz="2000" dirty="0"/>
            </a:br>
            <a:br>
              <a:rPr lang="en-GB" sz="1400" b="1" i="0" u="none" strike="noStrike" dirty="0">
                <a:solidFill>
                  <a:srgbClr val="273239"/>
                </a:solidFill>
                <a:effectLst/>
                <a:latin typeface="Nunito" pitchFamily="2" charset="77"/>
              </a:rPr>
            </a:b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B424AE9-C3F1-9815-E9A0-EE3E595246BA}"/>
              </a:ext>
            </a:extLst>
          </p:cNvPr>
          <p:cNvSpPr>
            <a:spLocks noChangeAspect="1" noChangeArrowheads="1"/>
          </p:cNvSpPr>
          <p:nvPr/>
        </p:nvSpPr>
        <p:spPr bwMode="auto">
          <a:xfrm>
            <a:off x="4219072" y="2591501"/>
            <a:ext cx="2513694" cy="143881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5412F83-D726-1EE6-0EB4-01662C376F8D}"/>
              </a:ext>
            </a:extLst>
          </p:cNvPr>
          <p:cNvSpPr txBox="1"/>
          <p:nvPr/>
        </p:nvSpPr>
        <p:spPr>
          <a:xfrm>
            <a:off x="-756966" y="546318"/>
            <a:ext cx="9602262" cy="400110"/>
          </a:xfrm>
          <a:prstGeom prst="rect">
            <a:avLst/>
          </a:prstGeom>
          <a:noFill/>
        </p:spPr>
        <p:txBody>
          <a:bodyPr wrap="square">
            <a:spAutoFit/>
          </a:bodyPr>
          <a:lstStyle/>
          <a:p>
            <a:pPr algn="l"/>
            <a:r>
              <a:rPr lang="en-GB" sz="2000" b="1" dirty="0"/>
              <a:t>	</a:t>
            </a:r>
            <a:endParaRPr lang="en-GB" b="0" i="0" u="none" strike="noStrike" dirty="0">
              <a:solidFill>
                <a:srgbClr val="273239"/>
              </a:solidFill>
              <a:effectLst/>
              <a:latin typeface="Nunito" pitchFamily="2" charset="77"/>
            </a:endParaRPr>
          </a:p>
        </p:txBody>
      </p:sp>
      <p:pic>
        <p:nvPicPr>
          <p:cNvPr id="8194" name="Picture 2" descr="output_gate">
            <a:extLst>
              <a:ext uri="{FF2B5EF4-FFF2-40B4-BE49-F238E27FC236}">
                <a16:creationId xmlns:a16="http://schemas.microsoft.com/office/drawing/2014/main" id="{C04B3A03-0E76-25EB-D582-0C7333AE5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8545" y="1475232"/>
            <a:ext cx="1794287" cy="32923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0F3F647-1C0C-9D96-F8C8-600B2F24EE31}"/>
              </a:ext>
            </a:extLst>
          </p:cNvPr>
          <p:cNvSpPr txBox="1"/>
          <p:nvPr/>
        </p:nvSpPr>
        <p:spPr>
          <a:xfrm>
            <a:off x="-39264" y="450658"/>
            <a:ext cx="7449312" cy="4616648"/>
          </a:xfrm>
          <a:prstGeom prst="rect">
            <a:avLst/>
          </a:prstGeom>
          <a:noFill/>
        </p:spPr>
        <p:txBody>
          <a:bodyPr wrap="square">
            <a:spAutoFit/>
          </a:bodyPr>
          <a:lstStyle/>
          <a:p>
            <a:pPr algn="l">
              <a:buNone/>
            </a:pPr>
            <a:r>
              <a:rPr lang="en-GB" b="0" i="0" u="none" strike="noStrike" dirty="0">
                <a:solidFill>
                  <a:srgbClr val="000000"/>
                </a:solidFill>
                <a:effectLst/>
              </a:rPr>
              <a:t>The </a:t>
            </a:r>
            <a:r>
              <a:rPr lang="en-GB" b="1" i="0" u="none" strike="noStrike" dirty="0">
                <a:solidFill>
                  <a:srgbClr val="000000"/>
                </a:solidFill>
                <a:effectLst/>
              </a:rPr>
              <a:t>output gate</a:t>
            </a:r>
            <a:r>
              <a:rPr lang="en-GB" b="0" i="0" u="none" strike="noStrike" dirty="0">
                <a:solidFill>
                  <a:srgbClr val="000000"/>
                </a:solidFill>
                <a:effectLst/>
              </a:rPr>
              <a:t> in an LSTM unit is responsible for determining what information from the current cell state should be exposed as the output of the LSTM block at the current time step (</a:t>
            </a:r>
            <a:r>
              <a:rPr lang="en-GB" b="0" i="0" u="none" strike="noStrike" dirty="0" err="1">
                <a:solidFill>
                  <a:srgbClr val="000000"/>
                </a:solidFill>
                <a:effectLst/>
              </a:rPr>
              <a:t>h</a:t>
            </a:r>
            <a:r>
              <a:rPr lang="en-GB" b="0" i="0" u="none" strike="noStrike" baseline="-25000" dirty="0" err="1">
                <a:solidFill>
                  <a:srgbClr val="000000"/>
                </a:solidFill>
                <a:effectLst/>
              </a:rPr>
              <a:t>t</a:t>
            </a:r>
            <a:r>
              <a:rPr lang="en-GB" b="0" i="0" u="none" strike="noStrike" dirty="0">
                <a:solidFill>
                  <a:srgbClr val="000000"/>
                </a:solidFill>
                <a:effectLst/>
              </a:rPr>
              <a:t>) and also be passed as the hidden state to the next time step. Here's a breakdown based on your description:</a:t>
            </a:r>
          </a:p>
          <a:p>
            <a:pPr algn="l"/>
            <a:r>
              <a:rPr lang="en-GB" b="1" i="0" u="none" strike="noStrike" dirty="0">
                <a:solidFill>
                  <a:srgbClr val="000000"/>
                </a:solidFill>
                <a:effectLst/>
              </a:rPr>
              <a:t>Purpose:</a:t>
            </a:r>
            <a:r>
              <a:rPr lang="en-GB" b="0" i="0" u="none" strike="noStrike" dirty="0">
                <a:solidFill>
                  <a:srgbClr val="000000"/>
                </a:solidFill>
                <a:effectLst/>
              </a:rPr>
              <a:t> To extract and filter useful information from the current cell state (C</a:t>
            </a:r>
            <a:r>
              <a:rPr lang="en-GB" b="0" i="0" u="none" strike="noStrike" baseline="-25000" dirty="0">
                <a:solidFill>
                  <a:srgbClr val="000000"/>
                </a:solidFill>
                <a:effectLst/>
              </a:rPr>
              <a:t>t</a:t>
            </a:r>
            <a:r>
              <a:rPr lang="en-GB" b="0" i="0" u="none" strike="noStrike" dirty="0">
                <a:solidFill>
                  <a:srgbClr val="000000"/>
                </a:solidFill>
                <a:effectLst/>
              </a:rPr>
              <a:t>​) to produce the output (</a:t>
            </a:r>
            <a:r>
              <a:rPr lang="en-GB" b="0" i="0" u="none" strike="noStrike" dirty="0" err="1">
                <a:solidFill>
                  <a:srgbClr val="000000"/>
                </a:solidFill>
                <a:effectLst/>
              </a:rPr>
              <a:t>h</a:t>
            </a:r>
            <a:r>
              <a:rPr lang="en-GB" b="0" i="0" u="none" strike="noStrike" baseline="-25000" dirty="0" err="1">
                <a:solidFill>
                  <a:srgbClr val="000000"/>
                </a:solidFill>
                <a:effectLst/>
              </a:rPr>
              <a:t>t</a:t>
            </a:r>
            <a:r>
              <a:rPr lang="en-GB" b="0" i="0" u="none" strike="noStrike" dirty="0">
                <a:solidFill>
                  <a:srgbClr val="000000"/>
                </a:solidFill>
                <a:effectLst/>
              </a:rPr>
              <a:t>).</a:t>
            </a:r>
          </a:p>
          <a:p>
            <a:pPr algn="l"/>
            <a:r>
              <a:rPr lang="en-GB" b="1" i="0" u="none" strike="noStrike" dirty="0">
                <a:solidFill>
                  <a:srgbClr val="000000"/>
                </a:solidFill>
                <a:effectLst/>
              </a:rPr>
              <a:t>Inputs:</a:t>
            </a:r>
            <a:r>
              <a:rPr lang="en-GB" b="0" i="0" u="none" strike="noStrike" dirty="0">
                <a:solidFill>
                  <a:srgbClr val="000000"/>
                </a:solidFill>
                <a:effectLst/>
              </a:rPr>
              <a:t> Similar to the input and forget gates, the output gate receives:</a:t>
            </a:r>
          </a:p>
          <a:p>
            <a:pPr marL="742950" lvl="1" indent="-285750" algn="l">
              <a:buFont typeface="Arial" panose="020B0604020202020204" pitchFamily="34" charset="0"/>
              <a:buChar char="•"/>
            </a:pP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 The current input to the LSTM unit.</a:t>
            </a:r>
          </a:p>
          <a:p>
            <a:pPr marL="742950" lvl="1" indent="-285750" algn="l">
              <a:buFont typeface="Arial" panose="020B0604020202020204" pitchFamily="34" charset="0"/>
              <a:buChar char="•"/>
            </a:pPr>
            <a:r>
              <a:rPr lang="en-GB" b="0" i="0" u="none" strike="noStrike" dirty="0">
                <a:solidFill>
                  <a:srgbClr val="000000"/>
                </a:solidFill>
                <a:effectLst/>
              </a:rPr>
              <a:t>H</a:t>
            </a:r>
            <a:r>
              <a:rPr lang="en-GB" b="0" i="0" u="none" strike="noStrike" baseline="-25000" dirty="0">
                <a:solidFill>
                  <a:srgbClr val="000000"/>
                </a:solidFill>
                <a:effectLst/>
              </a:rPr>
              <a:t>t-1</a:t>
            </a:r>
            <a:r>
              <a:rPr lang="en-GB" b="0" i="0" u="none" strike="noStrike" dirty="0">
                <a:solidFill>
                  <a:srgbClr val="000000"/>
                </a:solidFill>
                <a:effectLst/>
              </a:rPr>
              <a:t>​: The hidden state output from the previous time step.</a:t>
            </a:r>
          </a:p>
          <a:p>
            <a:pPr algn="l"/>
            <a:r>
              <a:rPr lang="en-GB" b="1" i="0" u="none" strike="noStrike" dirty="0">
                <a:solidFill>
                  <a:srgbClr val="000000"/>
                </a:solidFill>
                <a:effectLst/>
              </a:rPr>
              <a:t>Process:</a:t>
            </a:r>
            <a:endParaRPr lang="en-GB" b="0" i="0" u="none" strike="noStrike" dirty="0">
              <a:solidFill>
                <a:srgbClr val="000000"/>
              </a:solidFill>
              <a:effectLst/>
            </a:endParaRPr>
          </a:p>
          <a:p>
            <a:pPr marL="457200" lvl="1" algn="l"/>
            <a:r>
              <a:rPr lang="en-GB" b="1" i="0" u="none" strike="noStrike" dirty="0">
                <a:solidFill>
                  <a:srgbClr val="000000"/>
                </a:solidFill>
                <a:effectLst/>
              </a:rPr>
              <a:t>Filtering Based on Input and Previous Hidden State:</a:t>
            </a:r>
            <a:endParaRPr lang="en-GB" b="0" i="0" u="none" strike="noStrike" dirty="0">
              <a:solidFill>
                <a:srgbClr val="000000"/>
              </a:solidFill>
              <a:effectLst/>
            </a:endParaRPr>
          </a:p>
          <a:p>
            <a:pPr marL="1200150" lvl="2" indent="-285750" algn="l">
              <a:buFont typeface="Wingdings" pitchFamily="2" charset="2"/>
              <a:buChar char="ü"/>
            </a:pPr>
            <a:r>
              <a:rPr lang="en-GB" b="0" i="0" u="none" strike="noStrike" dirty="0">
                <a:solidFill>
                  <a:srgbClr val="000000"/>
                </a:solidFill>
                <a:effectLst/>
              </a:rPr>
              <a:t>The inputs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 and  H</a:t>
            </a:r>
            <a:r>
              <a:rPr lang="en-GB" b="0" i="0" u="none" strike="noStrike" baseline="-25000" dirty="0">
                <a:solidFill>
                  <a:srgbClr val="000000"/>
                </a:solidFill>
                <a:effectLst/>
              </a:rPr>
              <a:t>t-1 </a:t>
            </a:r>
            <a:r>
              <a:rPr lang="en-GB" b="0" i="0" u="none" strike="noStrike" dirty="0">
                <a:solidFill>
                  <a:srgbClr val="000000"/>
                </a:solidFill>
                <a:effectLst/>
              </a:rPr>
              <a:t> are concatenated: [h</a:t>
            </a:r>
            <a:r>
              <a:rPr lang="en-GB" b="0" i="0" u="none" strike="noStrike" baseline="-25000" dirty="0">
                <a:solidFill>
                  <a:srgbClr val="000000"/>
                </a:solidFill>
                <a:effectLst/>
              </a:rPr>
              <a:t>t-1</a:t>
            </a:r>
            <a:r>
              <a:rPr lang="en-GB" b="0" i="0" u="none" strike="noStrike" dirty="0">
                <a:solidFill>
                  <a:srgbClr val="000000"/>
                </a:solidFill>
                <a:effectLst/>
              </a:rPr>
              <a:t>,x</a:t>
            </a:r>
            <a:r>
              <a:rPr lang="en-GB" b="0" i="0" u="none" strike="noStrike" baseline="-25000" dirty="0">
                <a:solidFill>
                  <a:srgbClr val="000000"/>
                </a:solidFill>
                <a:effectLst/>
              </a:rPr>
              <a:t>t</a:t>
            </a:r>
            <a:r>
              <a:rPr lang="en-GB" b="0" i="0" u="none" strike="noStrike" dirty="0">
                <a:solidFill>
                  <a:srgbClr val="000000"/>
                </a:solidFill>
                <a:effectLst/>
              </a:rPr>
              <a:t>].</a:t>
            </a:r>
          </a:p>
          <a:p>
            <a:pPr marL="1200150" lvl="2" indent="-285750" algn="l">
              <a:buFont typeface="Wingdings" pitchFamily="2" charset="2"/>
              <a:buChar char="ü"/>
            </a:pPr>
            <a:r>
              <a:rPr lang="en-GB" b="0" i="0" u="none" strike="noStrike" dirty="0">
                <a:solidFill>
                  <a:srgbClr val="000000"/>
                </a:solidFill>
                <a:effectLst/>
              </a:rPr>
              <a:t>This concatenated vector is multiplied by a weight matrix specific to the output gate, W</a:t>
            </a:r>
            <a:r>
              <a:rPr lang="en-GB" b="0" i="0" u="none" strike="noStrike" baseline="-25000" dirty="0">
                <a:solidFill>
                  <a:srgbClr val="000000"/>
                </a:solidFill>
                <a:effectLst/>
              </a:rPr>
              <a:t>o</a:t>
            </a:r>
            <a:r>
              <a:rPr lang="en-GB" b="0" i="0" u="none" strike="noStrike" dirty="0">
                <a:solidFill>
                  <a:srgbClr val="000000"/>
                </a:solidFill>
                <a:effectLst/>
              </a:rPr>
              <a:t>​.</a:t>
            </a:r>
          </a:p>
          <a:p>
            <a:pPr marL="1200150" lvl="2" indent="-285750" algn="l">
              <a:buFont typeface="Wingdings" pitchFamily="2" charset="2"/>
              <a:buChar char="ü"/>
            </a:pPr>
            <a:r>
              <a:rPr lang="en-GB" b="0" i="0" u="none" strike="noStrike" dirty="0">
                <a:solidFill>
                  <a:srgbClr val="000000"/>
                </a:solidFill>
                <a:effectLst/>
              </a:rPr>
              <a:t>A bias vector, </a:t>
            </a:r>
            <a:r>
              <a:rPr lang="en-GB" b="0" i="0" u="none" strike="noStrike" dirty="0" err="1">
                <a:solidFill>
                  <a:srgbClr val="000000"/>
                </a:solidFill>
                <a:effectLst/>
              </a:rPr>
              <a:t>b</a:t>
            </a:r>
            <a:r>
              <a:rPr lang="en-GB" b="0" i="0" u="none" strike="noStrike" baseline="-25000" dirty="0" err="1">
                <a:solidFill>
                  <a:srgbClr val="000000"/>
                </a:solidFill>
                <a:effectLst/>
              </a:rPr>
              <a:t>o</a:t>
            </a:r>
            <a:r>
              <a:rPr lang="en-GB" b="0" i="0" u="none" strike="noStrike" dirty="0">
                <a:solidFill>
                  <a:srgbClr val="000000"/>
                </a:solidFill>
                <a:effectLst/>
              </a:rPr>
              <a:t>, is added to the result.</a:t>
            </a:r>
          </a:p>
          <a:p>
            <a:pPr marL="1200150" lvl="2" indent="-285750" algn="l">
              <a:buFont typeface="Wingdings" pitchFamily="2" charset="2"/>
              <a:buChar char="ü"/>
            </a:pPr>
            <a:r>
              <a:rPr lang="en-GB" b="0" i="0" u="none" strike="noStrike" dirty="0">
                <a:solidFill>
                  <a:srgbClr val="000000"/>
                </a:solidFill>
                <a:effectLst/>
              </a:rPr>
              <a:t>The result is passed through a sigmoid activation function, </a:t>
            </a:r>
            <a:r>
              <a:rPr lang="el-GR" b="0" i="0" u="none" strike="noStrike" dirty="0">
                <a:solidFill>
                  <a:srgbClr val="000000"/>
                </a:solidFill>
                <a:effectLst/>
              </a:rPr>
              <a:t>σ, </a:t>
            </a:r>
            <a:r>
              <a:rPr lang="en-GB" b="0" i="0" u="none" strike="noStrike" dirty="0">
                <a:solidFill>
                  <a:srgbClr val="000000"/>
                </a:solidFill>
                <a:effectLst/>
              </a:rPr>
              <a:t>producing the output gate's activations, </a:t>
            </a:r>
            <a:r>
              <a:rPr lang="en-GB" dirty="0"/>
              <a:t>O</a:t>
            </a:r>
            <a:r>
              <a:rPr lang="en-GB" baseline="-25000" dirty="0"/>
              <a:t>t</a:t>
            </a:r>
            <a:r>
              <a:rPr lang="en-GB" b="0" i="0" u="none" strike="noStrike" dirty="0">
                <a:solidFill>
                  <a:srgbClr val="000000"/>
                </a:solidFill>
                <a:effectLst/>
              </a:rPr>
              <a:t>​. This </a:t>
            </a:r>
            <a:r>
              <a:rPr lang="en-GB" b="0" i="0" u="none" strike="noStrike" dirty="0" err="1">
                <a:solidFill>
                  <a:srgbClr val="000000"/>
                </a:solidFill>
                <a:effectLst/>
              </a:rPr>
              <a:t>ot</a:t>
            </a:r>
            <a:r>
              <a:rPr lang="en-GB" b="0" i="0" u="none" strike="noStrike" dirty="0">
                <a:solidFill>
                  <a:srgbClr val="000000"/>
                </a:solidFill>
                <a:effectLst/>
              </a:rPr>
              <a:t>​ acts as a filter, deciding which parts of the cell state will be outputted. Values in </a:t>
            </a:r>
            <a:r>
              <a:rPr lang="en-GB" dirty="0"/>
              <a:t>O</a:t>
            </a:r>
            <a:r>
              <a:rPr lang="en-GB" baseline="-25000" dirty="0"/>
              <a:t>t</a:t>
            </a:r>
            <a:r>
              <a:rPr lang="en-GB" b="0" i="0" u="none" strike="noStrike" dirty="0">
                <a:solidFill>
                  <a:srgbClr val="000000"/>
                </a:solidFill>
                <a:effectLst/>
              </a:rPr>
              <a:t>​ close to 1 indicate that the corresponding information in the cell state should be outputted, while values close to 0 suggest it should be suppressed.</a:t>
            </a:r>
          </a:p>
          <a:p>
            <a:pPr marL="1200150" lvl="2" indent="-285750" algn="l">
              <a:buFont typeface="Wingdings" pitchFamily="2" charset="2"/>
              <a:buChar char="ü"/>
            </a:pPr>
            <a:r>
              <a:rPr lang="en-GB" b="0" i="0" u="none" strike="noStrike" dirty="0">
                <a:solidFill>
                  <a:srgbClr val="000000"/>
                </a:solidFill>
                <a:effectLst/>
              </a:rPr>
              <a:t>The equation for this filtering step is: </a:t>
            </a:r>
            <a:r>
              <a:rPr lang="en-GB" dirty="0"/>
              <a:t>O</a:t>
            </a:r>
            <a:r>
              <a:rPr lang="en-GB" baseline="-25000" dirty="0"/>
              <a:t>t</a:t>
            </a:r>
            <a:r>
              <a:rPr lang="en-GB" b="0" i="0" u="none" strike="noStrike" dirty="0">
                <a:solidFill>
                  <a:srgbClr val="000000"/>
                </a:solidFill>
                <a:effectLst/>
              </a:rPr>
              <a:t>​​=</a:t>
            </a:r>
            <a:r>
              <a:rPr lang="el-GR" b="0" i="0" u="none" strike="noStrike" dirty="0">
                <a:solidFill>
                  <a:srgbClr val="000000"/>
                </a:solidFill>
                <a:effectLst/>
              </a:rPr>
              <a:t>σ(</a:t>
            </a:r>
            <a:r>
              <a:rPr lang="en-GB" b="0" i="0" u="none" strike="noStrike" dirty="0">
                <a:solidFill>
                  <a:srgbClr val="000000"/>
                </a:solidFill>
                <a:effectLst/>
              </a:rPr>
              <a:t>W</a:t>
            </a:r>
            <a:r>
              <a:rPr lang="en-GB" b="0" i="0" u="none" strike="noStrike" baseline="-25000" dirty="0">
                <a:solidFill>
                  <a:srgbClr val="000000"/>
                </a:solidFill>
                <a:effectLst/>
              </a:rPr>
              <a:t>o </a:t>
            </a:r>
            <a:r>
              <a:rPr lang="en-GB" b="0" i="0" u="none" strike="noStrike" dirty="0">
                <a:solidFill>
                  <a:srgbClr val="000000"/>
                </a:solidFill>
                <a:effectLst/>
              </a:rPr>
              <a:t>⋅ [h</a:t>
            </a:r>
            <a:r>
              <a:rPr lang="en-GB" b="0" i="0" u="none" strike="noStrike" baseline="-25000" dirty="0">
                <a:solidFill>
                  <a:srgbClr val="000000"/>
                </a:solidFill>
                <a:effectLst/>
              </a:rPr>
              <a:t>t-1</a:t>
            </a:r>
            <a:r>
              <a:rPr lang="en-GB" b="0" i="0" u="none" strike="noStrike" dirty="0">
                <a:solidFill>
                  <a:srgbClr val="000000"/>
                </a:solidFill>
                <a:effectLst/>
              </a:rPr>
              <a:t>,x</a:t>
            </a:r>
            <a:r>
              <a:rPr lang="en-GB" b="0" i="0" u="none" strike="noStrike" baseline="-25000" dirty="0">
                <a:solidFill>
                  <a:srgbClr val="000000"/>
                </a:solidFill>
                <a:effectLst/>
              </a:rPr>
              <a:t>t</a:t>
            </a:r>
            <a:r>
              <a:rPr lang="en-GB" b="0" i="0" u="none" strike="noStrike" dirty="0">
                <a:solidFill>
                  <a:srgbClr val="000000"/>
                </a:solidFill>
                <a:effectLst/>
              </a:rPr>
              <a:t>]+ </a:t>
            </a:r>
            <a:r>
              <a:rPr lang="en-GB" b="0" i="0" u="none" strike="noStrike" dirty="0" err="1">
                <a:solidFill>
                  <a:srgbClr val="000000"/>
                </a:solidFill>
                <a:effectLst/>
              </a:rPr>
              <a:t>b</a:t>
            </a:r>
            <a:r>
              <a:rPr lang="en-GB" b="0" i="0" u="none" strike="noStrike" baseline="-25000" dirty="0" err="1">
                <a:solidFill>
                  <a:srgbClr val="000000"/>
                </a:solidFill>
                <a:effectLst/>
              </a:rPr>
              <a:t>o</a:t>
            </a:r>
            <a:r>
              <a:rPr lang="en-GB" b="0" i="0" u="none" strike="noStrike" dirty="0">
                <a:solidFill>
                  <a:srgbClr val="000000"/>
                </a:solidFill>
                <a:effectLst/>
              </a:rPr>
              <a:t>)</a:t>
            </a:r>
          </a:p>
        </p:txBody>
      </p:sp>
    </p:spTree>
    <p:extLst>
      <p:ext uri="{BB962C8B-B14F-4D97-AF65-F5344CB8AC3E}">
        <p14:creationId xmlns:p14="http://schemas.microsoft.com/office/powerpoint/2010/main" val="1830146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46E6B46-6CE8-05F6-ACC9-2EF84FD57D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949E6DF-AB5E-7900-6987-5ADCB864348D}"/>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pPr fontAlgn="base"/>
            <a:r>
              <a:rPr lang="en-GB" sz="2000" dirty="0"/>
              <a:t>Working of GATES </a:t>
            </a:r>
            <a:br>
              <a:rPr lang="en-GB" sz="2000" dirty="0"/>
            </a:br>
            <a:br>
              <a:rPr lang="en-GB" sz="1400" b="1" i="0" u="none" strike="noStrike" dirty="0">
                <a:solidFill>
                  <a:srgbClr val="273239"/>
                </a:solidFill>
                <a:effectLst/>
                <a:latin typeface="Nunito" pitchFamily="2" charset="77"/>
              </a:rPr>
            </a:br>
            <a:br>
              <a:rPr lang="en-GB" sz="1400" b="0" i="0" u="none" strike="noStrike" dirty="0">
                <a:solidFill>
                  <a:srgbClr val="273239"/>
                </a:solidFill>
                <a:effectLst/>
                <a:latin typeface="Nunito" pitchFamily="2" charset="77"/>
              </a:rPr>
            </a:br>
            <a:br>
              <a:rPr lang="en-GB" sz="14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F5F92B1-3DC3-018B-937D-6ABFA383A845}"/>
              </a:ext>
            </a:extLst>
          </p:cNvPr>
          <p:cNvSpPr>
            <a:spLocks noChangeAspect="1" noChangeArrowheads="1"/>
          </p:cNvSpPr>
          <p:nvPr/>
        </p:nvSpPr>
        <p:spPr bwMode="auto">
          <a:xfrm>
            <a:off x="4219072" y="2591501"/>
            <a:ext cx="2513694" cy="143881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46A0899-D729-58DB-DF3F-BAAA74C0ADD5}"/>
              </a:ext>
            </a:extLst>
          </p:cNvPr>
          <p:cNvSpPr txBox="1"/>
          <p:nvPr/>
        </p:nvSpPr>
        <p:spPr>
          <a:xfrm>
            <a:off x="-756966" y="546318"/>
            <a:ext cx="9602262" cy="400110"/>
          </a:xfrm>
          <a:prstGeom prst="rect">
            <a:avLst/>
          </a:prstGeom>
          <a:noFill/>
        </p:spPr>
        <p:txBody>
          <a:bodyPr wrap="square">
            <a:spAutoFit/>
          </a:bodyPr>
          <a:lstStyle/>
          <a:p>
            <a:pPr algn="l"/>
            <a:r>
              <a:rPr lang="en-GB" sz="2000" b="1" dirty="0"/>
              <a:t>	</a:t>
            </a:r>
            <a:endParaRPr lang="en-GB" b="0" i="0" u="none" strike="noStrike" dirty="0">
              <a:solidFill>
                <a:srgbClr val="273239"/>
              </a:solidFill>
              <a:effectLst/>
              <a:latin typeface="Nunito" pitchFamily="2" charset="77"/>
            </a:endParaRPr>
          </a:p>
        </p:txBody>
      </p:sp>
      <p:sp>
        <p:nvSpPr>
          <p:cNvPr id="5" name="TextBox 4">
            <a:extLst>
              <a:ext uri="{FF2B5EF4-FFF2-40B4-BE49-F238E27FC236}">
                <a16:creationId xmlns:a16="http://schemas.microsoft.com/office/drawing/2014/main" id="{571F380D-24F4-4447-2CA6-5043F9379ED3}"/>
              </a:ext>
            </a:extLst>
          </p:cNvPr>
          <p:cNvSpPr txBox="1"/>
          <p:nvPr/>
        </p:nvSpPr>
        <p:spPr>
          <a:xfrm>
            <a:off x="0" y="546318"/>
            <a:ext cx="7857744" cy="4185761"/>
          </a:xfrm>
          <a:prstGeom prst="rect">
            <a:avLst/>
          </a:prstGeom>
          <a:noFill/>
        </p:spPr>
        <p:txBody>
          <a:bodyPr wrap="square">
            <a:spAutoFit/>
          </a:bodyPr>
          <a:lstStyle/>
          <a:p>
            <a:pPr marL="457200" lvl="1" algn="l"/>
            <a:r>
              <a:rPr lang="en-GB" b="1" i="0" u="none" strike="noStrike" dirty="0">
                <a:solidFill>
                  <a:srgbClr val="000000"/>
                </a:solidFill>
                <a:effectLst/>
              </a:rPr>
              <a:t>Preparing the Cell State for Output:</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0" i="0" u="none" strike="noStrike" dirty="0">
                <a:solidFill>
                  <a:srgbClr val="000000"/>
                </a:solidFill>
                <a:effectLst/>
              </a:rPr>
              <a:t>The current cell state, C</a:t>
            </a:r>
            <a:r>
              <a:rPr lang="en-GB" b="0" i="0" u="none" strike="noStrike" baseline="-25000" dirty="0">
                <a:solidFill>
                  <a:srgbClr val="000000"/>
                </a:solidFill>
                <a:effectLst/>
              </a:rPr>
              <a:t>t</a:t>
            </a:r>
            <a:r>
              <a:rPr lang="en-GB" b="0" i="0" u="none" strike="noStrike" dirty="0">
                <a:solidFill>
                  <a:srgbClr val="000000"/>
                </a:solidFill>
                <a:effectLst/>
              </a:rPr>
              <a:t>, is passed through a hyperbolic tangent activation function, tanh. This squashes the values in the cell state to a range between -1 and +1, preparing them for modulation by the output gate.</a:t>
            </a:r>
          </a:p>
          <a:p>
            <a:pPr marL="457200" lvl="1" algn="l"/>
            <a:r>
              <a:rPr lang="en-GB" b="1" i="0" u="none" strike="noStrike" dirty="0">
                <a:solidFill>
                  <a:srgbClr val="000000"/>
                </a:solidFill>
                <a:effectLst/>
              </a:rPr>
              <a:t>Generating the Output (Hidden State):</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0" i="0" u="none" strike="noStrike" dirty="0">
                <a:solidFill>
                  <a:srgbClr val="000000"/>
                </a:solidFill>
                <a:effectLst/>
              </a:rPr>
              <a:t>The output of the sigmoid gate (</a:t>
            </a:r>
            <a:r>
              <a:rPr lang="en-GB" dirty="0"/>
              <a:t>O</a:t>
            </a:r>
            <a:r>
              <a:rPr lang="en-GB" baseline="-25000" dirty="0"/>
              <a:t>t</a:t>
            </a:r>
            <a:r>
              <a:rPr lang="en-GB" b="0" i="0" u="none" strike="noStrike" dirty="0">
                <a:solidFill>
                  <a:srgbClr val="000000"/>
                </a:solidFill>
                <a:effectLst/>
              </a:rPr>
              <a:t>) is element-wise multiplied (⊙) with the tanh of the current cell state (tanh(C</a:t>
            </a:r>
            <a:r>
              <a:rPr lang="en-GB" b="0" i="0" u="none" strike="noStrike" baseline="-25000" dirty="0">
                <a:solidFill>
                  <a:srgbClr val="000000"/>
                </a:solidFill>
                <a:effectLst/>
              </a:rPr>
              <a:t>t</a:t>
            </a:r>
            <a:r>
              <a:rPr lang="en-GB" b="0" i="0" u="none" strike="noStrike" dirty="0">
                <a:solidFill>
                  <a:srgbClr val="000000"/>
                </a:solidFill>
                <a:effectLst/>
              </a:rPr>
              <a:t>)). This multiplication selectively outputs the parts of the cell state that the output gate has deemed important. The result of this multiplication becomes the current hidden state, </a:t>
            </a:r>
            <a:r>
              <a:rPr lang="en-GB" b="0" i="0" u="none" strike="noStrike" dirty="0" err="1">
                <a:solidFill>
                  <a:srgbClr val="000000"/>
                </a:solidFill>
                <a:effectLst/>
              </a:rPr>
              <a:t>h</a:t>
            </a:r>
            <a:r>
              <a:rPr lang="en-GB" b="0" i="0" u="none" strike="noStrike" baseline="-25000" dirty="0" err="1">
                <a:solidFill>
                  <a:srgbClr val="000000"/>
                </a:solidFill>
                <a:effectLst/>
              </a:rPr>
              <a:t>t</a:t>
            </a:r>
            <a:r>
              <a:rPr lang="en-GB" b="0" i="0" u="none" strike="noStrike" dirty="0">
                <a:solidFill>
                  <a:srgbClr val="000000"/>
                </a:solidFill>
                <a:effectLst/>
              </a:rPr>
              <a:t>, which is then passed as the output of the LSTM block at the current time step and also fed as the h</a:t>
            </a:r>
            <a:r>
              <a:rPr lang="en-GB" b="0" i="0" u="none" strike="noStrike" baseline="-25000" dirty="0">
                <a:solidFill>
                  <a:srgbClr val="000000"/>
                </a:solidFill>
                <a:effectLst/>
              </a:rPr>
              <a:t>t-1</a:t>
            </a:r>
            <a:r>
              <a:rPr lang="en-GB" b="0" i="0" u="none" strike="noStrike" dirty="0">
                <a:solidFill>
                  <a:srgbClr val="000000"/>
                </a:solidFill>
                <a:effectLst/>
              </a:rPr>
              <a:t>​ input to the LSTM block at the next time step.</a:t>
            </a:r>
          </a:p>
          <a:p>
            <a:pPr marL="1143000" lvl="2" indent="-228600" algn="l">
              <a:buFont typeface="Arial" panose="020B0604020202020204" pitchFamily="34" charset="0"/>
              <a:buChar char="•"/>
            </a:pPr>
            <a:r>
              <a:rPr lang="en-GB" b="0" i="0" u="none" strike="noStrike" dirty="0">
                <a:solidFill>
                  <a:srgbClr val="000000"/>
                </a:solidFill>
                <a:effectLst/>
              </a:rPr>
              <a:t>The equation for the current hidden state (output) is: </a:t>
            </a:r>
            <a:r>
              <a:rPr lang="en-GB" b="0" i="1" u="none" strike="noStrike" dirty="0" err="1">
                <a:solidFill>
                  <a:srgbClr val="000000"/>
                </a:solidFill>
                <a:effectLst/>
              </a:rPr>
              <a:t>h</a:t>
            </a:r>
            <a:r>
              <a:rPr lang="en-GB" b="0" i="1" u="none" strike="noStrike" baseline="-25000" dirty="0" err="1">
                <a:solidFill>
                  <a:srgbClr val="000000"/>
                </a:solidFill>
                <a:effectLst/>
              </a:rPr>
              <a:t>t</a:t>
            </a:r>
            <a:r>
              <a:rPr lang="en-GB" b="0" i="1" u="none" strike="noStrike" dirty="0">
                <a:solidFill>
                  <a:srgbClr val="000000"/>
                </a:solidFill>
                <a:effectLst/>
              </a:rPr>
              <a:t>​=</a:t>
            </a:r>
            <a:r>
              <a:rPr lang="en-GB" i="1" dirty="0" err="1"/>
              <a:t>O</a:t>
            </a:r>
            <a:r>
              <a:rPr lang="en-GB" i="1" baseline="-25000" dirty="0" err="1"/>
              <a:t>t</a:t>
            </a:r>
            <a:r>
              <a:rPr lang="en-GB" b="0" i="1" u="none" strike="noStrike" dirty="0" err="1">
                <a:solidFill>
                  <a:srgbClr val="000000"/>
                </a:solidFill>
                <a:effectLst/>
              </a:rPr>
              <a:t>⊙tanh</a:t>
            </a:r>
            <a:r>
              <a:rPr lang="en-GB" b="0" i="1" u="none" strike="noStrike" dirty="0">
                <a:solidFill>
                  <a:srgbClr val="000000"/>
                </a:solidFill>
                <a:effectLst/>
              </a:rPr>
              <a:t>(C</a:t>
            </a:r>
            <a:r>
              <a:rPr lang="en-GB" b="0" i="1" u="none" strike="noStrike" baseline="-25000" dirty="0">
                <a:solidFill>
                  <a:srgbClr val="000000"/>
                </a:solidFill>
                <a:effectLst/>
              </a:rPr>
              <a:t>t</a:t>
            </a:r>
            <a:r>
              <a:rPr lang="en-GB" b="0" i="1" u="none" strike="noStrike" dirty="0">
                <a:solidFill>
                  <a:srgbClr val="000000"/>
                </a:solidFill>
                <a:effectLst/>
              </a:rPr>
              <a:t>)</a:t>
            </a:r>
          </a:p>
          <a:p>
            <a:pPr algn="l">
              <a:buNone/>
            </a:pPr>
            <a:r>
              <a:rPr lang="en-GB" b="0" i="0" u="none" strike="noStrike" dirty="0">
                <a:solidFill>
                  <a:srgbClr val="000000"/>
                </a:solidFill>
                <a:effectLst/>
              </a:rPr>
              <a:t>So, the complete equation you started for the output gate is:</a:t>
            </a:r>
          </a:p>
          <a:p>
            <a:pPr algn="ctr">
              <a:buNone/>
            </a:pPr>
            <a:r>
              <a:rPr lang="en-GB" i="1" dirty="0"/>
              <a:t>O</a:t>
            </a:r>
            <a:r>
              <a:rPr lang="en-GB" i="1" baseline="-25000" dirty="0"/>
              <a:t>t </a:t>
            </a:r>
            <a:r>
              <a:rPr lang="en-GB" b="0" i="1" u="none" strike="noStrike" dirty="0">
                <a:solidFill>
                  <a:srgbClr val="000000"/>
                </a:solidFill>
                <a:effectLst/>
              </a:rPr>
              <a:t>​=</a:t>
            </a:r>
            <a:r>
              <a:rPr lang="el-GR" b="0" i="1" u="none" strike="noStrike" dirty="0">
                <a:solidFill>
                  <a:srgbClr val="000000"/>
                </a:solidFill>
                <a:effectLst/>
              </a:rPr>
              <a:t>σ(</a:t>
            </a:r>
            <a:r>
              <a:rPr lang="en-GB" b="0" i="1" u="none" strike="noStrike" dirty="0">
                <a:solidFill>
                  <a:srgbClr val="000000"/>
                </a:solidFill>
                <a:effectLst/>
              </a:rPr>
              <a:t>W</a:t>
            </a:r>
            <a:r>
              <a:rPr lang="en-GB" b="0" i="1" u="none" strike="noStrike" baseline="-25000" dirty="0">
                <a:solidFill>
                  <a:srgbClr val="000000"/>
                </a:solidFill>
                <a:effectLst/>
              </a:rPr>
              <a:t>o</a:t>
            </a:r>
            <a:r>
              <a:rPr lang="en-GB" b="0" i="1" u="none" strike="noStrike" dirty="0">
                <a:solidFill>
                  <a:srgbClr val="000000"/>
                </a:solidFill>
                <a:effectLst/>
              </a:rPr>
              <a:t>​⋅ [h</a:t>
            </a:r>
            <a:r>
              <a:rPr lang="en-GB" b="0" i="1" u="none" strike="noStrike" baseline="-25000" dirty="0">
                <a:solidFill>
                  <a:srgbClr val="000000"/>
                </a:solidFill>
                <a:effectLst/>
              </a:rPr>
              <a:t>t-1</a:t>
            </a:r>
            <a:r>
              <a:rPr lang="en-GB" b="0" i="1" u="none" strike="noStrike" dirty="0">
                <a:solidFill>
                  <a:srgbClr val="000000"/>
                </a:solidFill>
                <a:effectLst/>
              </a:rPr>
              <a:t>,x</a:t>
            </a:r>
            <a:r>
              <a:rPr lang="en-GB" b="0" i="1" u="none" strike="noStrike" baseline="-25000" dirty="0">
                <a:solidFill>
                  <a:srgbClr val="000000"/>
                </a:solidFill>
                <a:effectLst/>
              </a:rPr>
              <a:t>t</a:t>
            </a:r>
            <a:r>
              <a:rPr lang="en-GB" b="0" i="1" u="none" strike="noStrike" dirty="0">
                <a:solidFill>
                  <a:srgbClr val="000000"/>
                </a:solidFill>
                <a:effectLst/>
              </a:rPr>
              <a:t>]+</a:t>
            </a:r>
            <a:r>
              <a:rPr lang="en-GB" b="0" i="1" u="none" strike="noStrike" dirty="0" err="1">
                <a:solidFill>
                  <a:srgbClr val="000000"/>
                </a:solidFill>
                <a:effectLst/>
              </a:rPr>
              <a:t>b</a:t>
            </a:r>
            <a:r>
              <a:rPr lang="en-GB" b="0" i="1" u="none" strike="noStrike" baseline="-25000" dirty="0" err="1">
                <a:solidFill>
                  <a:srgbClr val="000000"/>
                </a:solidFill>
                <a:effectLst/>
              </a:rPr>
              <a:t>o</a:t>
            </a:r>
            <a:r>
              <a:rPr lang="en-GB" b="0" i="1" u="none" strike="noStrike" dirty="0">
                <a:solidFill>
                  <a:srgbClr val="000000"/>
                </a:solidFill>
                <a:effectLst/>
              </a:rPr>
              <a:t>​)</a:t>
            </a:r>
          </a:p>
          <a:p>
            <a:pPr algn="l">
              <a:buNone/>
            </a:pPr>
            <a:r>
              <a:rPr lang="en-GB" b="0" i="0" u="none" strike="noStrike" dirty="0">
                <a:solidFill>
                  <a:srgbClr val="000000"/>
                </a:solidFill>
                <a:effectLst/>
              </a:rPr>
              <a:t>And the equation for the resulting hidden state (output) is:</a:t>
            </a:r>
          </a:p>
          <a:p>
            <a:pPr marL="914400" lvl="2" algn="ctr"/>
            <a:r>
              <a:rPr lang="en-GB" b="0" i="1" u="none" strike="noStrike" dirty="0" err="1">
                <a:solidFill>
                  <a:srgbClr val="000000"/>
                </a:solidFill>
                <a:effectLst/>
              </a:rPr>
              <a:t>h</a:t>
            </a:r>
            <a:r>
              <a:rPr lang="en-GB" b="0" i="1" u="none" strike="noStrike" baseline="-25000" dirty="0" err="1">
                <a:solidFill>
                  <a:srgbClr val="000000"/>
                </a:solidFill>
                <a:effectLst/>
              </a:rPr>
              <a:t>t</a:t>
            </a:r>
            <a:r>
              <a:rPr lang="en-GB" b="0" i="1" u="none" strike="noStrike" dirty="0">
                <a:solidFill>
                  <a:srgbClr val="000000"/>
                </a:solidFill>
                <a:effectLst/>
              </a:rPr>
              <a:t>​=</a:t>
            </a:r>
            <a:r>
              <a:rPr lang="en-GB" i="1" dirty="0" err="1"/>
              <a:t>O</a:t>
            </a:r>
            <a:r>
              <a:rPr lang="en-GB" i="1" baseline="-25000" dirty="0" err="1"/>
              <a:t>t</a:t>
            </a:r>
            <a:r>
              <a:rPr lang="en-GB" b="0" i="1" u="none" strike="noStrike" dirty="0" err="1">
                <a:solidFill>
                  <a:srgbClr val="000000"/>
                </a:solidFill>
                <a:effectLst/>
              </a:rPr>
              <a:t>⊙tanh</a:t>
            </a:r>
            <a:r>
              <a:rPr lang="en-GB" b="0" i="1" u="none" strike="noStrike" dirty="0">
                <a:solidFill>
                  <a:srgbClr val="000000"/>
                </a:solidFill>
                <a:effectLst/>
              </a:rPr>
              <a:t>(C</a:t>
            </a:r>
            <a:r>
              <a:rPr lang="en-GB" b="0" i="1" u="none" strike="noStrike" baseline="-25000" dirty="0">
                <a:solidFill>
                  <a:srgbClr val="000000"/>
                </a:solidFill>
                <a:effectLst/>
              </a:rPr>
              <a:t>t</a:t>
            </a:r>
            <a:r>
              <a:rPr lang="en-GB" b="0" i="1" u="none" strike="noStrike" dirty="0">
                <a:solidFill>
                  <a:srgbClr val="000000"/>
                </a:solidFill>
                <a:effectLst/>
              </a:rPr>
              <a:t>)</a:t>
            </a:r>
          </a:p>
          <a:p>
            <a:pPr algn="l"/>
            <a:r>
              <a:rPr lang="en-GB" b="0" i="0" u="none" strike="noStrike" dirty="0">
                <a:solidFill>
                  <a:srgbClr val="000000"/>
                </a:solidFill>
                <a:effectLst/>
              </a:rPr>
              <a:t>The output gate is crucial for controlling what the LSTM exposes to the rest of the network at each time step, allowing it to make predictions based on the relevant information it has stored in its cell state.</a:t>
            </a:r>
          </a:p>
        </p:txBody>
      </p:sp>
    </p:spTree>
    <p:extLst>
      <p:ext uri="{BB962C8B-B14F-4D97-AF65-F5344CB8AC3E}">
        <p14:creationId xmlns:p14="http://schemas.microsoft.com/office/powerpoint/2010/main" val="175703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8919983-E05E-20D0-C4E2-6A8D718335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4138709-D96E-55B9-4533-70C30DB2813F}"/>
              </a:ext>
            </a:extLst>
          </p:cNvPr>
          <p:cNvSpPr txBox="1">
            <a:spLocks noGrp="1"/>
          </p:cNvSpPr>
          <p:nvPr>
            <p:ph type="title"/>
          </p:nvPr>
        </p:nvSpPr>
        <p:spPr>
          <a:xfrm>
            <a:off x="488345" y="164517"/>
            <a:ext cx="8329650" cy="627900"/>
          </a:xfrm>
          <a:prstGeom prst="rect">
            <a:avLst/>
          </a:prstGeom>
          <a:noFill/>
          <a:ln>
            <a:noFill/>
          </a:ln>
        </p:spPr>
        <p:txBody>
          <a:bodyPr spcFirstLastPara="1" wrap="square" lIns="91425" tIns="91425" rIns="91425" bIns="91425" anchor="t" anchorCtr="0">
            <a:normAutofit fontScale="90000"/>
          </a:bodyPr>
          <a:lstStyle/>
          <a:p>
            <a:r>
              <a:rPr lang="en-GB" sz="2200" dirty="0"/>
              <a:t>Bidirectional LSTMs</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0D1A6CF-2D5F-5D7D-9866-D819F940507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DC669A1-A7C3-DB1B-88C8-73B11D415E31}"/>
              </a:ext>
            </a:extLst>
          </p:cNvPr>
          <p:cNvSpPr txBox="1"/>
          <p:nvPr/>
        </p:nvSpPr>
        <p:spPr>
          <a:xfrm>
            <a:off x="326005" y="634451"/>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1B1A5FE8-8345-5231-AFB8-5AF6A61BE15A}"/>
              </a:ext>
            </a:extLst>
          </p:cNvPr>
          <p:cNvSpPr txBox="1"/>
          <p:nvPr/>
        </p:nvSpPr>
        <p:spPr>
          <a:xfrm>
            <a:off x="213360" y="816608"/>
            <a:ext cx="8223504" cy="4185761"/>
          </a:xfrm>
          <a:prstGeom prst="rect">
            <a:avLst/>
          </a:prstGeom>
          <a:noFill/>
        </p:spPr>
        <p:txBody>
          <a:bodyPr wrap="square">
            <a:spAutoFit/>
          </a:bodyPr>
          <a:lstStyle/>
          <a:p>
            <a:pPr>
              <a:buNone/>
            </a:pPr>
            <a:r>
              <a:rPr lang="en-GB" dirty="0"/>
              <a:t>Bidirectional LSTMs enhance the capability of standard LSTMs by processing sequential data in both forward and backward directions.</a:t>
            </a:r>
          </a:p>
          <a:p>
            <a:pPr>
              <a:buNone/>
            </a:pPr>
            <a:r>
              <a:rPr lang="en-GB" b="1" dirty="0"/>
              <a:t>Motivation:</a:t>
            </a:r>
            <a:r>
              <a:rPr lang="en-GB" dirty="0"/>
              <a:t> This bidirectional processing enables the model to capture longer-range</a:t>
            </a:r>
            <a:r>
              <a:rPr lang="en-GB" b="1" dirty="0"/>
              <a:t> dependencies</a:t>
            </a:r>
            <a:r>
              <a:rPr lang="en-GB" dirty="0"/>
              <a:t> more effectively than traditional unidirectional LSTMs, as it can consider context from both past and future time steps for any given point in the sequence.</a:t>
            </a:r>
          </a:p>
          <a:p>
            <a:pPr>
              <a:buNone/>
            </a:pPr>
            <a:r>
              <a:rPr lang="en-GB" b="1" dirty="0"/>
              <a:t>Architecture:</a:t>
            </a:r>
            <a:r>
              <a:rPr lang="en-GB" dirty="0"/>
              <a:t> A </a:t>
            </a:r>
            <a:r>
              <a:rPr lang="en-GB" dirty="0" err="1"/>
              <a:t>BiLSTM</a:t>
            </a:r>
            <a:r>
              <a:rPr lang="en-GB" dirty="0"/>
              <a:t> consists of two parallel LSTM networks:</a:t>
            </a:r>
          </a:p>
          <a:p>
            <a:pPr marL="342900" indent="-342900">
              <a:buFont typeface="+mj-lt"/>
              <a:buAutoNum type="arabicPeriod"/>
            </a:pPr>
            <a:r>
              <a:rPr lang="en-GB" dirty="0"/>
              <a:t>One LSTM processes the input sequence in the standard forward direction (from the beginning to the end).</a:t>
            </a:r>
          </a:p>
          <a:p>
            <a:pPr marL="342900" indent="-342900">
              <a:buFont typeface="+mj-lt"/>
              <a:buAutoNum type="arabicPeriod"/>
            </a:pPr>
            <a:r>
              <a:rPr lang="en-GB" dirty="0"/>
              <a:t>The other LSTM processes the reversed input sequence (from the end to the beginning).</a:t>
            </a:r>
          </a:p>
          <a:p>
            <a:pPr>
              <a:buNone/>
            </a:pPr>
            <a:r>
              <a:rPr lang="en-GB" b="1" dirty="0"/>
              <a:t>Output Combination:</a:t>
            </a:r>
            <a:r>
              <a:rPr lang="en-GB" dirty="0"/>
              <a:t> The outputs generated by the forward and backward LSTM networks at each time step are then </a:t>
            </a:r>
            <a:r>
              <a:rPr lang="en-GB" b="1" dirty="0"/>
              <a:t>combined</a:t>
            </a:r>
            <a:r>
              <a:rPr lang="en-GB" dirty="0"/>
              <a:t> (e.g., through concatenation, addition, or averaging) to produce the final output for that time step. This combined output encapsulates information from both past and future contexts.</a:t>
            </a:r>
          </a:p>
          <a:p>
            <a:pPr>
              <a:buNone/>
            </a:pPr>
            <a:r>
              <a:rPr lang="en-GB" b="1" dirty="0"/>
              <a:t>Performance:</a:t>
            </a:r>
            <a:r>
              <a:rPr lang="en-GB" dirty="0"/>
              <a:t> </a:t>
            </a:r>
            <a:r>
              <a:rPr lang="en-GB" dirty="0" err="1"/>
              <a:t>BiLSTM</a:t>
            </a:r>
            <a:r>
              <a:rPr lang="en-GB" dirty="0"/>
              <a:t> models, along with standard LSTMs, have achieved </a:t>
            </a:r>
            <a:r>
              <a:rPr lang="en-GB" b="1" dirty="0"/>
              <a:t>state-of-the-art performance</a:t>
            </a:r>
            <a:r>
              <a:rPr lang="en-GB" dirty="0"/>
              <a:t> in various sequence-related tasks, including machine translation, speech recognition, and text summarization, highlighting their effectiveness in understanding complex sequential patterns.</a:t>
            </a:r>
          </a:p>
          <a:p>
            <a:r>
              <a:rPr lang="en-GB" b="1" dirty="0"/>
              <a:t>Stacking:</a:t>
            </a:r>
            <a:r>
              <a:rPr lang="en-GB" dirty="0"/>
              <a:t> Like regular LSTMs, </a:t>
            </a:r>
            <a:r>
              <a:rPr lang="en-GB" dirty="0" err="1"/>
              <a:t>BiLSTMs</a:t>
            </a:r>
            <a:r>
              <a:rPr lang="en-GB" dirty="0"/>
              <a:t> can also be </a:t>
            </a:r>
            <a:r>
              <a:rPr lang="en-GB" b="1" dirty="0"/>
              <a:t>stacked</a:t>
            </a:r>
            <a:r>
              <a:rPr lang="en-GB" dirty="0"/>
              <a:t> to create deeper models. Each layer in a stacked </a:t>
            </a:r>
            <a:r>
              <a:rPr lang="en-GB" dirty="0" err="1"/>
              <a:t>BiLSTM</a:t>
            </a:r>
            <a:r>
              <a:rPr lang="en-GB" dirty="0"/>
              <a:t> can learn increasingly complex and hierarchical representations of the temporal relationships within the data.</a:t>
            </a:r>
          </a:p>
        </p:txBody>
      </p:sp>
    </p:spTree>
    <p:extLst>
      <p:ext uri="{BB962C8B-B14F-4D97-AF65-F5344CB8AC3E}">
        <p14:creationId xmlns:p14="http://schemas.microsoft.com/office/powerpoint/2010/main" val="332230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3069ADC-071B-08ED-A031-4DB66EF8CAB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1784E91-A421-2B4B-98B3-571D666B6895}"/>
              </a:ext>
            </a:extLst>
          </p:cNvPr>
          <p:cNvSpPr txBox="1">
            <a:spLocks noGrp="1"/>
          </p:cNvSpPr>
          <p:nvPr>
            <p:ph type="title"/>
          </p:nvPr>
        </p:nvSpPr>
        <p:spPr>
          <a:xfrm>
            <a:off x="77991" y="79968"/>
            <a:ext cx="8329650"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Applications of LSTM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1B10AD-A6B4-0F3B-7BB1-1006996FCDB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FB04BED-44D4-1182-D70F-781411D44B91}"/>
              </a:ext>
            </a:extLst>
          </p:cNvPr>
          <p:cNvSpPr txBox="1"/>
          <p:nvPr/>
        </p:nvSpPr>
        <p:spPr>
          <a:xfrm>
            <a:off x="0" y="393918"/>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0D40CDAA-7565-6AAA-1FA0-6333DE3885A9}"/>
              </a:ext>
            </a:extLst>
          </p:cNvPr>
          <p:cNvSpPr txBox="1"/>
          <p:nvPr/>
        </p:nvSpPr>
        <p:spPr>
          <a:xfrm>
            <a:off x="253879" y="554982"/>
            <a:ext cx="7977873" cy="5242461"/>
          </a:xfrm>
          <a:prstGeom prst="rect">
            <a:avLst/>
          </a:prstGeom>
          <a:noFill/>
        </p:spPr>
        <p:txBody>
          <a:bodyPr wrap="square">
            <a:spAutoFit/>
          </a:bodyPr>
          <a:lstStyle/>
          <a:p>
            <a:pPr algn="l" rtl="0" fontAlgn="base">
              <a:spcAft>
                <a:spcPts val="750"/>
              </a:spcAft>
            </a:pPr>
            <a:r>
              <a:rPr lang="en-GB" b="0" i="0" u="none" strike="noStrike" dirty="0">
                <a:solidFill>
                  <a:srgbClr val="273239"/>
                </a:solidFill>
                <a:effectLst/>
                <a:latin typeface="+mj-lt"/>
              </a:rPr>
              <a:t>Some of the famous applications of LSTM includes:</a:t>
            </a:r>
          </a:p>
          <a:p>
            <a:pPr marL="342900" indent="-342900" algn="l" fontAlgn="base">
              <a:spcAft>
                <a:spcPts val="1800"/>
              </a:spcAft>
              <a:buFont typeface="+mj-lt"/>
              <a:buAutoNum type="arabicPeriod"/>
            </a:pPr>
            <a:r>
              <a:rPr lang="en-GB" b="1" i="0" u="none" strike="noStrike" dirty="0">
                <a:solidFill>
                  <a:srgbClr val="273239"/>
                </a:solidFill>
                <a:effectLst/>
                <a:latin typeface="+mj-lt"/>
              </a:rPr>
              <a:t>Language </a:t>
            </a:r>
            <a:r>
              <a:rPr lang="en-GB" b="1" i="0" u="none" strike="noStrike" dirty="0" err="1">
                <a:solidFill>
                  <a:srgbClr val="273239"/>
                </a:solidFill>
                <a:effectLst/>
                <a:latin typeface="+mj-lt"/>
              </a:rPr>
              <a:t>Modeling</a:t>
            </a:r>
            <a:r>
              <a:rPr lang="en-GB" b="0" i="0" u="none" strike="noStrike" dirty="0">
                <a:solidFill>
                  <a:srgbClr val="273239"/>
                </a:solidFill>
                <a:effectLst/>
                <a:latin typeface="+mj-lt"/>
              </a:rPr>
              <a:t>: Used in tasks like language </a:t>
            </a:r>
            <a:r>
              <a:rPr lang="en-GB" b="0" i="0" u="none" strike="noStrike" dirty="0" err="1">
                <a:solidFill>
                  <a:srgbClr val="273239"/>
                </a:solidFill>
                <a:effectLst/>
                <a:latin typeface="+mj-lt"/>
              </a:rPr>
              <a:t>modeling</a:t>
            </a:r>
            <a:r>
              <a:rPr lang="en-GB" b="0" i="0" u="none" strike="noStrike" dirty="0">
                <a:solidFill>
                  <a:srgbClr val="273239"/>
                </a:solidFill>
                <a:effectLst/>
                <a:latin typeface="+mj-lt"/>
              </a:rPr>
              <a:t>, machine translation and text summarization. These networks learn the dependencies between words in a sentence to generate coherent and grammatically correct sentences.</a:t>
            </a:r>
          </a:p>
          <a:p>
            <a:pPr marL="342900" indent="-342900" algn="l" fontAlgn="base">
              <a:spcAft>
                <a:spcPts val="1800"/>
              </a:spcAft>
              <a:buFont typeface="+mj-lt"/>
              <a:buAutoNum type="arabicPeriod"/>
            </a:pPr>
            <a:r>
              <a:rPr lang="en-GB" b="1" i="0" u="none" strike="noStrike" dirty="0">
                <a:solidFill>
                  <a:srgbClr val="273239"/>
                </a:solidFill>
                <a:effectLst/>
                <a:latin typeface="+mj-lt"/>
              </a:rPr>
              <a:t>Speech Recognition</a:t>
            </a:r>
            <a:r>
              <a:rPr lang="en-GB" b="0" i="0" u="none" strike="noStrike" dirty="0">
                <a:solidFill>
                  <a:srgbClr val="273239"/>
                </a:solidFill>
                <a:effectLst/>
                <a:latin typeface="+mj-lt"/>
              </a:rPr>
              <a:t>: Used in transcribing speech to text and recognizing spoken commands. By learning speech patterns they can match spoken words to corresponding text.</a:t>
            </a:r>
          </a:p>
          <a:p>
            <a:pPr marL="342900" indent="-342900" algn="l" fontAlgn="base">
              <a:spcAft>
                <a:spcPts val="1800"/>
              </a:spcAft>
              <a:buFont typeface="+mj-lt"/>
              <a:buAutoNum type="arabicPeriod"/>
            </a:pPr>
            <a:r>
              <a:rPr lang="en-GB" b="1" i="0" u="none" strike="noStrike" dirty="0">
                <a:solidFill>
                  <a:srgbClr val="273239"/>
                </a:solidFill>
                <a:effectLst/>
                <a:latin typeface="+mj-lt"/>
              </a:rPr>
              <a:t>Time Series Forecasting</a:t>
            </a:r>
            <a:r>
              <a:rPr lang="en-GB" b="0" i="0" u="none" strike="noStrike" dirty="0">
                <a:solidFill>
                  <a:srgbClr val="273239"/>
                </a:solidFill>
                <a:effectLst/>
                <a:latin typeface="+mj-lt"/>
              </a:rPr>
              <a:t>: Used for predicting stock prices, weather and energy consumption. They learn patterns in time series data to predict future events.</a:t>
            </a:r>
          </a:p>
          <a:p>
            <a:pPr marL="342900" indent="-342900" algn="l" fontAlgn="base">
              <a:spcAft>
                <a:spcPts val="1800"/>
              </a:spcAft>
              <a:buFont typeface="+mj-lt"/>
              <a:buAutoNum type="arabicPeriod"/>
            </a:pPr>
            <a:r>
              <a:rPr lang="en-GB" b="1" i="0" u="none" strike="noStrike" dirty="0">
                <a:solidFill>
                  <a:srgbClr val="273239"/>
                </a:solidFill>
                <a:effectLst/>
                <a:latin typeface="+mj-lt"/>
              </a:rPr>
              <a:t>Anomaly Detection</a:t>
            </a:r>
            <a:r>
              <a:rPr lang="en-GB" b="0" i="0" u="none" strike="noStrike" dirty="0">
                <a:solidFill>
                  <a:srgbClr val="273239"/>
                </a:solidFill>
                <a:effectLst/>
                <a:latin typeface="+mj-lt"/>
              </a:rPr>
              <a:t>: Used for detecting fraud or network intrusions. These networks can identify patterns in data that deviate drastically and flag them as potential anomalies.</a:t>
            </a:r>
          </a:p>
          <a:p>
            <a:pPr marL="342900" indent="-342900" algn="l" fontAlgn="base">
              <a:spcAft>
                <a:spcPts val="1800"/>
              </a:spcAft>
              <a:buFont typeface="+mj-lt"/>
              <a:buAutoNum type="arabicPeriod"/>
            </a:pPr>
            <a:r>
              <a:rPr lang="en-GB" b="1" i="0" u="none" strike="noStrike" dirty="0">
                <a:solidFill>
                  <a:srgbClr val="273239"/>
                </a:solidFill>
                <a:effectLst/>
                <a:latin typeface="+mj-lt"/>
              </a:rPr>
              <a:t>Recommender Systems</a:t>
            </a:r>
            <a:r>
              <a:rPr lang="en-GB" b="0" i="0" u="none" strike="noStrike" dirty="0">
                <a:solidFill>
                  <a:srgbClr val="273239"/>
                </a:solidFill>
                <a:effectLst/>
                <a:latin typeface="+mj-lt"/>
              </a:rPr>
              <a:t>: In recommendation tasks like suggesting movies, music and books. They learn user </a:t>
            </a:r>
            <a:r>
              <a:rPr lang="en-GB" b="0" i="0" u="none" strike="noStrike" dirty="0" err="1">
                <a:solidFill>
                  <a:srgbClr val="273239"/>
                </a:solidFill>
                <a:effectLst/>
                <a:latin typeface="+mj-lt"/>
              </a:rPr>
              <a:t>behavior</a:t>
            </a:r>
            <a:r>
              <a:rPr lang="en-GB" b="0" i="0" u="none" strike="noStrike" dirty="0">
                <a:solidFill>
                  <a:srgbClr val="273239"/>
                </a:solidFill>
                <a:effectLst/>
                <a:latin typeface="+mj-lt"/>
              </a:rPr>
              <a:t> patterns to provide personalized suggestions.</a:t>
            </a:r>
          </a:p>
          <a:p>
            <a:pPr marL="342900" indent="-342900" algn="l" fontAlgn="base">
              <a:spcAft>
                <a:spcPts val="1800"/>
              </a:spcAft>
              <a:buFont typeface="+mj-lt"/>
              <a:buAutoNum type="arabicPeriod"/>
            </a:pPr>
            <a:r>
              <a:rPr lang="en-GB" b="1" i="0" u="none" strike="noStrike" dirty="0">
                <a:solidFill>
                  <a:srgbClr val="273239"/>
                </a:solidFill>
                <a:effectLst/>
                <a:latin typeface="+mj-lt"/>
              </a:rPr>
              <a:t>Video Analysis</a:t>
            </a:r>
            <a:r>
              <a:rPr lang="en-GB" b="0" i="0" u="none" strike="noStrike" dirty="0">
                <a:solidFill>
                  <a:srgbClr val="273239"/>
                </a:solidFill>
                <a:effectLst/>
                <a:latin typeface="+mj-lt"/>
              </a:rPr>
              <a:t>: Applied in tasks such as object detection, activity recognition and action classification. When combined with CNN they help </a:t>
            </a:r>
            <a:r>
              <a:rPr lang="en-GB" b="0" i="0" u="none" strike="noStrike" dirty="0" err="1">
                <a:solidFill>
                  <a:srgbClr val="273239"/>
                </a:solidFill>
                <a:effectLst/>
                <a:latin typeface="+mj-lt"/>
              </a:rPr>
              <a:t>analyze</a:t>
            </a:r>
            <a:r>
              <a:rPr lang="en-GB" b="0" i="0" u="none" strike="noStrike" dirty="0">
                <a:solidFill>
                  <a:srgbClr val="273239"/>
                </a:solidFill>
                <a:effectLst/>
                <a:latin typeface="+mj-lt"/>
              </a:rPr>
              <a:t> video data and extract useful information.</a:t>
            </a:r>
          </a:p>
          <a:p>
            <a:pPr marL="342900" indent="-342900">
              <a:buFont typeface="+mj-lt"/>
              <a:buAutoNum type="arabicPeriod"/>
            </a:pPr>
            <a:br>
              <a:rPr lang="en-GB" dirty="0">
                <a:latin typeface="+mj-lt"/>
              </a:rPr>
            </a:br>
            <a:endParaRPr lang="en-GB" dirty="0">
              <a:latin typeface="+mj-lt"/>
            </a:endParaRPr>
          </a:p>
        </p:txBody>
      </p:sp>
    </p:spTree>
    <p:extLst>
      <p:ext uri="{BB962C8B-B14F-4D97-AF65-F5344CB8AC3E}">
        <p14:creationId xmlns:p14="http://schemas.microsoft.com/office/powerpoint/2010/main" val="3397438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674DC7A-5223-0978-3C1F-2889C7D4FCF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2086720-50D6-DF4E-A1FC-CB98CC2CFF2A}"/>
              </a:ext>
            </a:extLst>
          </p:cNvPr>
          <p:cNvSpPr txBox="1">
            <a:spLocks noGrp="1"/>
          </p:cNvSpPr>
          <p:nvPr>
            <p:ph type="title"/>
          </p:nvPr>
        </p:nvSpPr>
        <p:spPr>
          <a:xfrm>
            <a:off x="84087" y="86064"/>
            <a:ext cx="6139929"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0A5557E-7D19-21BE-2398-CA1ABA0E4F2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E3E5BC8-AC35-E2DB-CBE0-98907B187B27}"/>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80C9B416-DC01-D5B4-CE9C-E05421ED00D3}"/>
              </a:ext>
            </a:extLst>
          </p:cNvPr>
          <p:cNvSpPr txBox="1"/>
          <p:nvPr/>
        </p:nvSpPr>
        <p:spPr>
          <a:xfrm>
            <a:off x="253879" y="554982"/>
            <a:ext cx="7977873" cy="1600438"/>
          </a:xfrm>
          <a:prstGeom prst="rect">
            <a:avLst/>
          </a:prstGeom>
          <a:noFill/>
        </p:spPr>
        <p:txBody>
          <a:bodyPr wrap="square">
            <a:spAutoFit/>
          </a:bodyPr>
          <a:lstStyle/>
          <a:p>
            <a:pPr algn="l">
              <a:buNone/>
            </a:pPr>
            <a:r>
              <a:rPr lang="en-GB" b="0" i="0" u="none" strike="noStrike" dirty="0">
                <a:solidFill>
                  <a:srgbClr val="000000"/>
                </a:solidFill>
                <a:effectLst/>
              </a:rPr>
              <a:t>LSTMs are powerful, their complex architecture does come with a significant computational cost. This is where </a:t>
            </a:r>
            <a:r>
              <a:rPr lang="en-GB" b="1" i="0" u="none" strike="noStrike" dirty="0">
                <a:solidFill>
                  <a:srgbClr val="000000"/>
                </a:solidFill>
                <a:effectLst/>
              </a:rPr>
              <a:t>Gated Recurrent Units (GRUs)</a:t>
            </a:r>
            <a:r>
              <a:rPr lang="en-GB" b="0" i="0" u="none" strike="noStrike" dirty="0">
                <a:solidFill>
                  <a:srgbClr val="000000"/>
                </a:solidFill>
                <a:effectLst/>
              </a:rPr>
              <a:t> come into play as a more streamlined and often more computationally efficient alternative.</a:t>
            </a:r>
          </a:p>
          <a:p>
            <a:pPr algn="l">
              <a:buNone/>
            </a:pPr>
            <a:r>
              <a:rPr lang="en-GB" b="0" i="0" u="none" strike="noStrike" dirty="0">
                <a:solidFill>
                  <a:srgbClr val="000000"/>
                </a:solidFill>
                <a:effectLst/>
              </a:rPr>
              <a:t>GRUs were introduced by Cho et al. in 2014 with the primary goal of achieving similar performance to LSTMs on many sequential tasks while having a simpler structure and thus a lower computational overhead.   </a:t>
            </a:r>
          </a:p>
          <a:p>
            <a:pPr algn="l">
              <a:buNone/>
            </a:pPr>
            <a:endParaRPr lang="en-GB" b="0" i="0" u="none" strike="noStrike" dirty="0">
              <a:solidFill>
                <a:srgbClr val="000000"/>
              </a:solidFill>
              <a:effectLst/>
            </a:endParaRPr>
          </a:p>
        </p:txBody>
      </p:sp>
      <p:pic>
        <p:nvPicPr>
          <p:cNvPr id="10244" name="Picture 4" descr="New-Project">
            <a:extLst>
              <a:ext uri="{FF2B5EF4-FFF2-40B4-BE49-F238E27FC236}">
                <a16:creationId xmlns:a16="http://schemas.microsoft.com/office/drawing/2014/main" id="{9EF96877-A625-03A3-DBC2-8B4B94C0E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912" y="1920921"/>
            <a:ext cx="6266688" cy="3133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55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29B9E75-BCFC-6A54-B7B7-3A0FED7E066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BB48816-AE0E-420E-5C57-FD87B3EE314C}"/>
              </a:ext>
            </a:extLst>
          </p:cNvPr>
          <p:cNvSpPr txBox="1">
            <a:spLocks noGrp="1"/>
          </p:cNvSpPr>
          <p:nvPr>
            <p:ph type="title"/>
          </p:nvPr>
        </p:nvSpPr>
        <p:spPr>
          <a:xfrm>
            <a:off x="77991" y="79968"/>
            <a:ext cx="6139929"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EBE49D4-C9D0-6272-496D-80F7AA8E6E2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BCCA95A-E055-A0E3-6A13-16E20D98A9F6}"/>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88B75F56-5B79-F0F6-0CEB-0209A53458C9}"/>
              </a:ext>
            </a:extLst>
          </p:cNvPr>
          <p:cNvSpPr txBox="1"/>
          <p:nvPr/>
        </p:nvSpPr>
        <p:spPr>
          <a:xfrm>
            <a:off x="253879" y="554982"/>
            <a:ext cx="7977873" cy="3754874"/>
          </a:xfrm>
          <a:prstGeom prst="rect">
            <a:avLst/>
          </a:prstGeom>
          <a:noFill/>
        </p:spPr>
        <p:txBody>
          <a:bodyPr wrap="square">
            <a:spAutoFit/>
          </a:bodyPr>
          <a:lstStyle/>
          <a:p>
            <a:pPr algn="l">
              <a:buNone/>
            </a:pPr>
            <a:r>
              <a:rPr lang="en-GB" b="0" i="0" u="none" strike="noStrike" dirty="0">
                <a:solidFill>
                  <a:srgbClr val="000000"/>
                </a:solidFill>
                <a:effectLst/>
              </a:rPr>
              <a:t> The key idea behind GRUs, much like LSTMs, is the use of </a:t>
            </a:r>
            <a:r>
              <a:rPr lang="en-GB" b="1" i="0" u="none" strike="noStrike" dirty="0">
                <a:solidFill>
                  <a:srgbClr val="000000"/>
                </a:solidFill>
                <a:effectLst/>
              </a:rPr>
              <a:t>gating mechanisms</a:t>
            </a:r>
            <a:r>
              <a:rPr lang="en-GB" b="0" i="0" u="none" strike="noStrike" dirty="0">
                <a:solidFill>
                  <a:srgbClr val="000000"/>
                </a:solidFill>
                <a:effectLst/>
              </a:rPr>
              <a:t>. These gates allow the GRU to selectively update its hidden state at each time step. This selective updating enables the GRU to:   </a:t>
            </a:r>
          </a:p>
          <a:p>
            <a:pPr marL="285750" indent="-285750" algn="l">
              <a:buFont typeface="Wingdings" pitchFamily="2" charset="2"/>
              <a:buChar char="ü"/>
            </a:pPr>
            <a:r>
              <a:rPr lang="en-GB" b="1" i="0" u="none" strike="noStrike" dirty="0">
                <a:solidFill>
                  <a:srgbClr val="000000"/>
                </a:solidFill>
                <a:effectLst/>
              </a:rPr>
              <a:t>Remember important information</a:t>
            </a:r>
            <a:r>
              <a:rPr lang="en-GB" b="0" i="0" u="none" strike="noStrike" dirty="0">
                <a:solidFill>
                  <a:srgbClr val="000000"/>
                </a:solidFill>
                <a:effectLst/>
              </a:rPr>
              <a:t> from earlier in the sequence.</a:t>
            </a:r>
          </a:p>
          <a:p>
            <a:pPr marL="285750" indent="-285750" algn="l">
              <a:buFont typeface="Wingdings" pitchFamily="2" charset="2"/>
              <a:buChar char="ü"/>
            </a:pPr>
            <a:r>
              <a:rPr lang="en-GB" b="1" i="0" u="none" strike="noStrike" dirty="0">
                <a:solidFill>
                  <a:srgbClr val="000000"/>
                </a:solidFill>
                <a:effectLst/>
              </a:rPr>
              <a:t>Discard irrelevant details</a:t>
            </a:r>
            <a:r>
              <a:rPr lang="en-GB" b="0" i="0" u="none" strike="noStrike" dirty="0">
                <a:solidFill>
                  <a:srgbClr val="000000"/>
                </a:solidFill>
                <a:effectLst/>
              </a:rPr>
              <a:t> that are no longer needed.   </a:t>
            </a:r>
          </a:p>
          <a:p>
            <a:pPr algn="l">
              <a:buNone/>
            </a:pPr>
            <a:r>
              <a:rPr lang="en-GB" b="0" i="0" u="none" strike="noStrike" dirty="0">
                <a:solidFill>
                  <a:srgbClr val="000000"/>
                </a:solidFill>
                <a:effectLst/>
              </a:rPr>
              <a:t>The main way GRUs simplify the LSTM architecture is by </a:t>
            </a:r>
            <a:r>
              <a:rPr lang="en-GB" b="1" i="0" u="none" strike="noStrike" dirty="0">
                <a:solidFill>
                  <a:srgbClr val="000000"/>
                </a:solidFill>
                <a:effectLst/>
              </a:rPr>
              <a:t>merging some of the gating mechanisms</a:t>
            </a:r>
            <a:r>
              <a:rPr lang="en-GB" b="0" i="0" u="none" strike="noStrike" dirty="0">
                <a:solidFill>
                  <a:srgbClr val="000000"/>
                </a:solidFill>
                <a:effectLst/>
              </a:rPr>
              <a:t>. Instead of the three separate gates (input, forget, and output) found in LSTMs, GRUs consolidate these into just </a:t>
            </a:r>
            <a:r>
              <a:rPr lang="en-GB" b="1" i="0" u="none" strike="noStrike" dirty="0">
                <a:solidFill>
                  <a:srgbClr val="000000"/>
                </a:solidFill>
                <a:effectLst/>
              </a:rPr>
              <a:t>two main gates</a:t>
            </a:r>
            <a:r>
              <a:rPr lang="en-GB" b="0" i="0" u="none" strike="noStrike" dirty="0">
                <a:solidFill>
                  <a:srgbClr val="000000"/>
                </a:solidFill>
                <a:effectLst/>
              </a:rPr>
              <a:t>:   </a:t>
            </a:r>
          </a:p>
          <a:p>
            <a:pPr marL="342900" indent="-342900" algn="l">
              <a:buFont typeface="+mj-lt"/>
              <a:buAutoNum type="arabicPeriod"/>
            </a:pPr>
            <a:r>
              <a:rPr lang="en-GB" b="1" i="0" u="none" strike="noStrike" dirty="0">
                <a:solidFill>
                  <a:srgbClr val="000000"/>
                </a:solidFill>
                <a:effectLst/>
              </a:rPr>
              <a:t>Update Gate:</a:t>
            </a:r>
            <a:r>
              <a:rPr lang="en-GB" b="0" i="0" u="none" strike="noStrike" dirty="0">
                <a:solidFill>
                  <a:srgbClr val="000000"/>
                </a:solidFill>
                <a:effectLst/>
              </a:rPr>
              <a:t> This gate controls how much of the previous hidden state should be retained and how much of the new candidate hidden state should be incorporated into the current hidden state. It essentially decides what to keep from the past and what to update with the present.</a:t>
            </a:r>
          </a:p>
          <a:p>
            <a:pPr marL="342900" indent="-342900" algn="l">
              <a:buFont typeface="+mj-lt"/>
              <a:buAutoNum type="arabicPeriod"/>
            </a:pPr>
            <a:r>
              <a:rPr lang="en-GB" b="1" i="0" u="none" strike="noStrike" dirty="0">
                <a:solidFill>
                  <a:srgbClr val="000000"/>
                </a:solidFill>
                <a:effectLst/>
              </a:rPr>
              <a:t>Reset Gate:</a:t>
            </a:r>
            <a:r>
              <a:rPr lang="en-GB" b="0" i="0" u="none" strike="noStrike" dirty="0">
                <a:solidFill>
                  <a:srgbClr val="000000"/>
                </a:solidFill>
                <a:effectLst/>
              </a:rPr>
              <a:t> This gate determines how much of the previous hidden state should be ignored (reset) when computing the new candidate hidden state. It helps the network to forget past information that is irrelevant to the current input.</a:t>
            </a:r>
          </a:p>
          <a:p>
            <a:br>
              <a:rPr lang="en-GB" dirty="0">
                <a:latin typeface="+mj-lt"/>
              </a:rPr>
            </a:br>
            <a:endParaRPr lang="en-GB" dirty="0">
              <a:latin typeface="+mj-lt"/>
            </a:endParaRPr>
          </a:p>
        </p:txBody>
      </p:sp>
    </p:spTree>
    <p:extLst>
      <p:ext uri="{BB962C8B-B14F-4D97-AF65-F5344CB8AC3E}">
        <p14:creationId xmlns:p14="http://schemas.microsoft.com/office/powerpoint/2010/main" val="2842303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DBA25B9-0C52-0BB1-47B1-DB83C170BB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F52442A-4EB2-9190-53D4-E1653A8A26A9}"/>
              </a:ext>
            </a:extLst>
          </p:cNvPr>
          <p:cNvSpPr txBox="1">
            <a:spLocks noGrp="1"/>
          </p:cNvSpPr>
          <p:nvPr>
            <p:ph type="title"/>
          </p:nvPr>
        </p:nvSpPr>
        <p:spPr>
          <a:xfrm>
            <a:off x="77991" y="79968"/>
            <a:ext cx="6139929"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AE6F5BE-5732-4596-3AAB-A146D2452E2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740EA42-2E1F-4106-52E4-DC3B104A7AA6}"/>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96663108-4D9E-B1DE-79EC-4BFF8CAD7C3C}"/>
              </a:ext>
            </a:extLst>
          </p:cNvPr>
          <p:cNvSpPr txBox="1"/>
          <p:nvPr/>
        </p:nvSpPr>
        <p:spPr>
          <a:xfrm>
            <a:off x="357511" y="890494"/>
            <a:ext cx="7378811" cy="2677656"/>
          </a:xfrm>
          <a:prstGeom prst="rect">
            <a:avLst/>
          </a:prstGeom>
          <a:noFill/>
        </p:spPr>
        <p:txBody>
          <a:bodyPr wrap="square">
            <a:spAutoFit/>
          </a:bodyPr>
          <a:lstStyle/>
          <a:p>
            <a:pPr algn="l">
              <a:buNone/>
            </a:pPr>
            <a:r>
              <a:rPr lang="en-GB" b="0" i="0" u="none" strike="noStrike" dirty="0">
                <a:solidFill>
                  <a:srgbClr val="000000"/>
                </a:solidFill>
                <a:effectLst/>
              </a:rPr>
              <a:t>By reducing the number of gates, GRUs have fewer parameters and simpler internal computations compared to </a:t>
            </a:r>
            <a:r>
              <a:rPr lang="en-GB" b="0" i="0" u="none" strike="noStrike" dirty="0" err="1">
                <a:solidFill>
                  <a:srgbClr val="000000"/>
                </a:solidFill>
                <a:effectLst/>
              </a:rPr>
              <a:t>LSTMs.This</a:t>
            </a:r>
            <a:r>
              <a:rPr lang="en-GB" b="0" i="0" u="none" strike="noStrike" dirty="0">
                <a:solidFill>
                  <a:srgbClr val="000000"/>
                </a:solidFill>
                <a:effectLst/>
              </a:rPr>
              <a:t> often translates to:   </a:t>
            </a:r>
          </a:p>
          <a:p>
            <a:pPr marL="285750" indent="-285750" algn="l">
              <a:buFont typeface="Wingdings" pitchFamily="2" charset="2"/>
              <a:buChar char="ü"/>
            </a:pPr>
            <a:r>
              <a:rPr lang="en-GB" b="1" i="0" u="none" strike="noStrike" dirty="0">
                <a:solidFill>
                  <a:srgbClr val="000000"/>
                </a:solidFill>
                <a:effectLst/>
              </a:rPr>
              <a:t>Faster training times.</a:t>
            </a:r>
            <a:endParaRPr lang="en-GB" b="0" i="0" u="none" strike="noStrike" dirty="0">
              <a:solidFill>
                <a:srgbClr val="000000"/>
              </a:solidFill>
              <a:effectLst/>
            </a:endParaRPr>
          </a:p>
          <a:p>
            <a:pPr marL="285750" indent="-285750" algn="l">
              <a:buFont typeface="Wingdings" pitchFamily="2" charset="2"/>
              <a:buChar char="ü"/>
            </a:pPr>
            <a:r>
              <a:rPr lang="en-GB" b="1" i="0" u="none" strike="noStrike" dirty="0">
                <a:solidFill>
                  <a:srgbClr val="000000"/>
                </a:solidFill>
                <a:effectLst/>
              </a:rPr>
              <a:t>Lower memory usage.</a:t>
            </a:r>
            <a:endParaRPr lang="en-GB" b="0" i="0" u="none" strike="noStrike" dirty="0">
              <a:solidFill>
                <a:srgbClr val="000000"/>
              </a:solidFill>
              <a:effectLst/>
            </a:endParaRPr>
          </a:p>
          <a:p>
            <a:pPr marL="285750" indent="-285750" algn="l">
              <a:buFont typeface="Wingdings" pitchFamily="2" charset="2"/>
              <a:buChar char="ü"/>
            </a:pPr>
            <a:r>
              <a:rPr lang="en-GB" b="1" i="0" u="none" strike="noStrike" dirty="0">
                <a:solidFill>
                  <a:srgbClr val="000000"/>
                </a:solidFill>
                <a:effectLst/>
              </a:rPr>
              <a:t>Potentially better performance on smaller datasets</a:t>
            </a:r>
            <a:r>
              <a:rPr lang="en-GB" b="0" i="0" u="none" strike="noStrike" dirty="0">
                <a:solidFill>
                  <a:srgbClr val="000000"/>
                </a:solidFill>
                <a:effectLst/>
              </a:rPr>
              <a:t> due to the reduced risk of overfitting.</a:t>
            </a:r>
          </a:p>
          <a:p>
            <a:pPr algn="l"/>
            <a:r>
              <a:rPr lang="en-GB" b="0" i="0" u="none" strike="noStrike" dirty="0">
                <a:solidFill>
                  <a:srgbClr val="000000"/>
                </a:solidFill>
                <a:effectLst/>
              </a:rPr>
              <a:t>Despite their simpler structure, GRUs have proven to be remarkably effective in a wide range of sequential tasks, often achieving comparable or even better performance than LSTMs. This makes them a popular choice when computational resources are limited or when faster training is desired without a significant drop in accuracy.</a:t>
            </a:r>
          </a:p>
          <a:p>
            <a:br>
              <a:rPr lang="en-GB" dirty="0">
                <a:latin typeface="+mj-lt"/>
              </a:rPr>
            </a:br>
            <a:endParaRPr lang="en-GB" dirty="0">
              <a:latin typeface="+mj-lt"/>
            </a:endParaRPr>
          </a:p>
        </p:txBody>
      </p:sp>
    </p:spTree>
    <p:extLst>
      <p:ext uri="{BB962C8B-B14F-4D97-AF65-F5344CB8AC3E}">
        <p14:creationId xmlns:p14="http://schemas.microsoft.com/office/powerpoint/2010/main" val="1504148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1EFB77C-F5F4-245B-76C7-1440C23E2B7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EA90B38-C77F-2DA1-F836-0977A8EF5B5B}"/>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Working of 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678AD6D-7457-8B84-A5D0-49B47ABAB19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BB5BBD1-B351-C265-CE8F-4F4B0C6CA84D}"/>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430A0BF8-6BFF-9628-2119-E76AD51F9393}"/>
              </a:ext>
            </a:extLst>
          </p:cNvPr>
          <p:cNvSpPr txBox="1"/>
          <p:nvPr/>
        </p:nvSpPr>
        <p:spPr>
          <a:xfrm>
            <a:off x="77991" y="482341"/>
            <a:ext cx="8054969" cy="5047536"/>
          </a:xfrm>
          <a:prstGeom prst="rect">
            <a:avLst/>
          </a:prstGeom>
          <a:noFill/>
        </p:spPr>
        <p:txBody>
          <a:bodyPr wrap="square">
            <a:spAutoFit/>
          </a:bodyPr>
          <a:lstStyle/>
          <a:p>
            <a:pPr algn="l"/>
            <a:r>
              <a:rPr lang="en-GB" b="1" i="0" u="none" strike="noStrike" dirty="0">
                <a:solidFill>
                  <a:srgbClr val="000000"/>
                </a:solidFill>
                <a:effectLst/>
              </a:rPr>
              <a:t>Reset Gate (r</a:t>
            </a:r>
            <a:r>
              <a:rPr lang="en-GB" b="1" i="0" u="none" strike="noStrike" baseline="-25000" dirty="0">
                <a:solidFill>
                  <a:srgbClr val="000000"/>
                </a:solidFill>
                <a:effectLst/>
              </a:rPr>
              <a:t>t</a:t>
            </a:r>
            <a:r>
              <a:rPr lang="en-GB" b="1" i="0" u="none" strike="noStrike" dirty="0">
                <a:solidFill>
                  <a:srgbClr val="000000"/>
                </a:solidFill>
                <a:effectLst/>
              </a:rPr>
              <a:t>):</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Determines the extent to which the previous hidden state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is "forgotten" or ignored when calculating the new candidate hidden state.</a:t>
            </a:r>
          </a:p>
          <a:p>
            <a:pPr marL="800100" lvl="1" indent="-342900" algn="l">
              <a:buFont typeface="+mj-lt"/>
              <a:buAutoNum type="arabicPeriod"/>
            </a:pPr>
            <a:r>
              <a:rPr lang="en-GB" b="0" i="0" u="none" strike="noStrike" dirty="0">
                <a:solidFill>
                  <a:srgbClr val="000000"/>
                </a:solidFill>
                <a:effectLst/>
              </a:rPr>
              <a:t>Inputs: Previous hidden state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and current input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Process: Concatenation of inputs, multiplication by weight matrix </a:t>
            </a:r>
            <a:r>
              <a:rPr lang="en-GB" b="0" i="0" u="none" strike="noStrike" dirty="0" err="1">
                <a:solidFill>
                  <a:srgbClr val="000000"/>
                </a:solidFill>
                <a:effectLst/>
              </a:rPr>
              <a:t>W</a:t>
            </a:r>
            <a:r>
              <a:rPr lang="en-GB" b="0" i="0" u="none" strike="noStrike" baseline="-25000" dirty="0" err="1">
                <a:solidFill>
                  <a:srgbClr val="000000"/>
                </a:solidFill>
                <a:effectLst/>
              </a:rPr>
              <a:t>r</a:t>
            </a:r>
            <a:r>
              <a:rPr lang="en-GB" b="0" i="0" u="none" strike="noStrike" dirty="0">
                <a:solidFill>
                  <a:srgbClr val="000000"/>
                </a:solidFill>
                <a:effectLst/>
              </a:rPr>
              <a:t>, application of sigmoid activation (</a:t>
            </a:r>
            <a:r>
              <a:rPr lang="el-GR" b="0" i="0" u="none" strike="noStrike" dirty="0">
                <a:solidFill>
                  <a:srgbClr val="000000"/>
                </a:solidFill>
                <a:effectLst/>
              </a:rPr>
              <a:t>σ).</a:t>
            </a:r>
          </a:p>
          <a:p>
            <a:pPr marL="800100" lvl="1" indent="-342900" algn="l">
              <a:buFont typeface="+mj-lt"/>
              <a:buAutoNum type="arabicPeriod"/>
            </a:pPr>
            <a:r>
              <a:rPr lang="en-GB" b="0" i="0" u="none" strike="noStrike" dirty="0">
                <a:solidFill>
                  <a:srgbClr val="000000"/>
                </a:solidFill>
                <a:effectLst/>
              </a:rPr>
              <a:t>Equation: r</a:t>
            </a:r>
            <a:r>
              <a:rPr lang="en-GB" b="0" i="0" u="none" strike="noStrike" baseline="-25000" dirty="0">
                <a:solidFill>
                  <a:srgbClr val="000000"/>
                </a:solidFill>
                <a:effectLst/>
              </a:rPr>
              <a:t>t</a:t>
            </a:r>
            <a:r>
              <a:rPr lang="en-GB" b="0" i="0" u="none" strike="noStrike" dirty="0">
                <a:solidFill>
                  <a:srgbClr val="000000"/>
                </a:solidFill>
                <a:effectLst/>
              </a:rPr>
              <a:t>=</a:t>
            </a:r>
            <a:r>
              <a:rPr lang="el-GR" b="0" i="0" u="none" strike="noStrike" dirty="0">
                <a:solidFill>
                  <a:srgbClr val="000000"/>
                </a:solidFill>
                <a:effectLst/>
              </a:rPr>
              <a:t>σ(</a:t>
            </a:r>
            <a:r>
              <a:rPr lang="en-GB" b="0" i="0" u="none" strike="noStrike" dirty="0" err="1">
                <a:solidFill>
                  <a:srgbClr val="000000"/>
                </a:solidFill>
                <a:effectLst/>
              </a:rPr>
              <a:t>W</a:t>
            </a:r>
            <a:r>
              <a:rPr lang="en-GB" b="0" i="0" u="none" strike="noStrike" baseline="-25000" dirty="0" err="1">
                <a:solidFill>
                  <a:srgbClr val="000000"/>
                </a:solidFill>
                <a:effectLst/>
              </a:rPr>
              <a:t>r</a:t>
            </a:r>
            <a:r>
              <a:rPr lang="en-GB" b="0" i="0" u="none" strike="noStrike" baseline="-25000" dirty="0">
                <a:solidFill>
                  <a:srgbClr val="000000"/>
                </a:solidFill>
                <a:effectLst/>
              </a:rPr>
              <a:t> </a:t>
            </a:r>
            <a:r>
              <a:rPr lang="en-GB" b="0" i="0" u="none" strike="noStrike" dirty="0">
                <a:solidFill>
                  <a:srgbClr val="000000"/>
                </a:solidFill>
                <a:effectLst/>
              </a:rPr>
              <a:t>⋅[h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Output: Values between 0 and 1. Closer to 0 means more of the past hidden state is reset.</a:t>
            </a:r>
          </a:p>
          <a:p>
            <a:pPr algn="l"/>
            <a:r>
              <a:rPr lang="en-GB" b="1" i="0" u="none" strike="noStrike" dirty="0">
                <a:solidFill>
                  <a:srgbClr val="000000"/>
                </a:solidFill>
                <a:effectLst/>
              </a:rPr>
              <a:t>Update Gate (</a:t>
            </a:r>
            <a:r>
              <a:rPr lang="en-GB" b="1" i="0" u="none" strike="noStrike" dirty="0" err="1">
                <a:solidFill>
                  <a:srgbClr val="000000"/>
                </a:solidFill>
                <a:effectLst/>
              </a:rPr>
              <a:t>z</a:t>
            </a:r>
            <a:r>
              <a:rPr lang="en-GB" b="1" i="0" u="none" strike="noStrike" baseline="-25000" dirty="0" err="1">
                <a:solidFill>
                  <a:srgbClr val="000000"/>
                </a:solidFill>
                <a:effectLst/>
              </a:rPr>
              <a:t>t</a:t>
            </a:r>
            <a:r>
              <a:rPr lang="en-GB" b="1" i="0" u="none" strike="noStrike" dirty="0">
                <a:solidFill>
                  <a:srgbClr val="000000"/>
                </a:solidFill>
                <a:effectLst/>
              </a:rPr>
              <a:t>​):</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Controls the degree to which the hidden state is updated with new information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 and how much of the previous hidden state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is retained.</a:t>
            </a:r>
          </a:p>
          <a:p>
            <a:pPr marL="800100" lvl="1" indent="-342900" algn="l">
              <a:buFont typeface="+mj-lt"/>
              <a:buAutoNum type="arabicPeriod"/>
            </a:pPr>
            <a:r>
              <a:rPr lang="en-GB" b="0" i="0" u="none" strike="noStrike" dirty="0">
                <a:solidFill>
                  <a:srgbClr val="000000"/>
                </a:solidFill>
                <a:effectLst/>
              </a:rPr>
              <a:t>Inputs: Previous hidden state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and current input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Process: Concatenation of inputs, multiplication by weight matrix </a:t>
            </a:r>
            <a:r>
              <a:rPr lang="en-GB" b="0" i="0" u="none" strike="noStrike" dirty="0" err="1">
                <a:solidFill>
                  <a:srgbClr val="000000"/>
                </a:solidFill>
                <a:effectLst/>
              </a:rPr>
              <a:t>W</a:t>
            </a:r>
            <a:r>
              <a:rPr lang="en-GB" b="0" i="0" u="none" strike="noStrike" baseline="-25000" dirty="0" err="1">
                <a:solidFill>
                  <a:srgbClr val="000000"/>
                </a:solidFill>
                <a:effectLst/>
              </a:rPr>
              <a:t>z</a:t>
            </a:r>
            <a:r>
              <a:rPr lang="en-GB" b="0" i="0" u="none" strike="noStrike" dirty="0">
                <a:solidFill>
                  <a:srgbClr val="000000"/>
                </a:solidFill>
                <a:effectLst/>
              </a:rPr>
              <a:t>, application of sigmoid activation (</a:t>
            </a:r>
            <a:r>
              <a:rPr lang="el-GR" b="0" i="0" u="none" strike="noStrike" dirty="0">
                <a:solidFill>
                  <a:srgbClr val="000000"/>
                </a:solidFill>
                <a:effectLst/>
              </a:rPr>
              <a:t>σ).</a:t>
            </a:r>
          </a:p>
          <a:p>
            <a:pPr marL="800100" lvl="1" indent="-342900" algn="l">
              <a:buFont typeface="+mj-lt"/>
              <a:buAutoNum type="arabicPeriod"/>
            </a:pPr>
            <a:r>
              <a:rPr lang="en-GB" b="0" i="0" u="none" strike="noStrike" dirty="0">
                <a:solidFill>
                  <a:srgbClr val="000000"/>
                </a:solidFill>
                <a:effectLst/>
              </a:rPr>
              <a:t>Equation: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dirty="0">
                <a:solidFill>
                  <a:srgbClr val="000000"/>
                </a:solidFill>
                <a:effectLst/>
              </a:rPr>
              <a:t>=</a:t>
            </a:r>
            <a:r>
              <a:rPr lang="el-GR" b="0" i="0" u="none" strike="noStrike" dirty="0">
                <a:solidFill>
                  <a:srgbClr val="000000"/>
                </a:solidFill>
                <a:effectLst/>
              </a:rPr>
              <a:t>σ(</a:t>
            </a:r>
            <a:r>
              <a:rPr lang="en-GB" b="0" i="0" u="none" strike="noStrike" dirty="0" err="1">
                <a:solidFill>
                  <a:srgbClr val="000000"/>
                </a:solidFill>
                <a:effectLst/>
              </a:rPr>
              <a:t>W</a:t>
            </a:r>
            <a:r>
              <a:rPr lang="en-GB" b="0" i="0" u="none" strike="noStrike" baseline="-25000" dirty="0" err="1">
                <a:solidFill>
                  <a:srgbClr val="000000"/>
                </a:solidFill>
                <a:effectLst/>
              </a:rPr>
              <a:t>z</a:t>
            </a:r>
            <a:r>
              <a:rPr lang="en-GB" b="0" i="0" u="none" strike="noStrike" baseline="-25000" dirty="0">
                <a:solidFill>
                  <a:srgbClr val="000000"/>
                </a:solidFill>
                <a:effectLst/>
              </a:rPr>
              <a:t> </a:t>
            </a:r>
            <a:r>
              <a:rPr lang="en-GB" b="0" i="0" u="none" strike="noStrike" dirty="0">
                <a:solidFill>
                  <a:srgbClr val="000000"/>
                </a:solidFill>
                <a:effectLst/>
              </a:rPr>
              <a:t>​⋅[h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Output: Values between 0 and 1. Closer to 1 means more of the previous hidden state is retained.</a:t>
            </a:r>
          </a:p>
          <a:p>
            <a:pPr algn="l"/>
            <a:r>
              <a:rPr lang="en-GB" b="0" i="0" u="none" strike="noStrike" dirty="0">
                <a:solidFill>
                  <a:srgbClr val="000000"/>
                </a:solidFill>
                <a:effectLst/>
              </a:rPr>
              <a:t>These two gates, the reset and update gates, are the fundamental mechanisms that allow GRUs to selectively remember and update information, addressing the long-term dependency problem more efficiently than standard RNNs.</a:t>
            </a:r>
          </a:p>
          <a:p>
            <a:br>
              <a:rPr lang="en-GB" dirty="0">
                <a:latin typeface="+mj-lt"/>
              </a:rPr>
            </a:br>
            <a:endParaRPr lang="en-GB" dirty="0">
              <a:latin typeface="+mj-lt"/>
            </a:endParaRPr>
          </a:p>
        </p:txBody>
      </p:sp>
    </p:spTree>
    <p:extLst>
      <p:ext uri="{BB962C8B-B14F-4D97-AF65-F5344CB8AC3E}">
        <p14:creationId xmlns:p14="http://schemas.microsoft.com/office/powerpoint/2010/main" val="3114277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0E8F31-6A1F-CBDF-D7DE-883298B5999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9170E62-1656-C348-289B-A2F93593A0CB}"/>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Working of 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F637C8F-A16B-5814-9CDF-51A828F5BA1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68555D78-C4E8-CE72-F807-7D08E105D5BD}"/>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1262F3E4-2BF9-ED18-34A2-0EB6051097D9}"/>
              </a:ext>
            </a:extLst>
          </p:cNvPr>
          <p:cNvSpPr txBox="1"/>
          <p:nvPr/>
        </p:nvSpPr>
        <p:spPr>
          <a:xfrm>
            <a:off x="77991" y="482341"/>
            <a:ext cx="8054969" cy="523220"/>
          </a:xfrm>
          <a:prstGeom prst="rect">
            <a:avLst/>
          </a:prstGeom>
          <a:noFill/>
        </p:spPr>
        <p:txBody>
          <a:bodyPr wrap="square">
            <a:spAutoFit/>
          </a:bodyPr>
          <a:lstStyle/>
          <a:p>
            <a:br>
              <a:rPr lang="en-GB" dirty="0">
                <a:latin typeface="+mj-lt"/>
              </a:rPr>
            </a:br>
            <a:endParaRPr lang="en-GB" dirty="0">
              <a:latin typeface="+mj-lt"/>
            </a:endParaRPr>
          </a:p>
        </p:txBody>
      </p:sp>
      <p:pic>
        <p:nvPicPr>
          <p:cNvPr id="11266" name="Picture 2" descr="New-Project-">
            <a:extLst>
              <a:ext uri="{FF2B5EF4-FFF2-40B4-BE49-F238E27FC236}">
                <a16:creationId xmlns:a16="http://schemas.microsoft.com/office/drawing/2014/main" id="{8B775461-7849-A548-9C77-5998D62D8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660654"/>
            <a:ext cx="8674608" cy="4337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799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B2A3BEE-A191-0D06-8392-D8C6911A5A5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1D57127-1D8E-20FC-2698-3CE3DEF64D7D}"/>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Working of 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10516A6-CE36-7B2F-494B-7D0F615A8AB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CF044A3-3536-C248-1B12-5F4A79DEBD0F}"/>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14B6B3B9-1771-940A-3715-A9287EE8D7D1}"/>
              </a:ext>
            </a:extLst>
          </p:cNvPr>
          <p:cNvSpPr txBox="1"/>
          <p:nvPr/>
        </p:nvSpPr>
        <p:spPr>
          <a:xfrm>
            <a:off x="77991" y="482341"/>
            <a:ext cx="8054969" cy="523220"/>
          </a:xfrm>
          <a:prstGeom prst="rect">
            <a:avLst/>
          </a:prstGeom>
          <a:noFill/>
        </p:spPr>
        <p:txBody>
          <a:bodyPr wrap="square">
            <a:spAutoFit/>
          </a:bodyPr>
          <a:lstStyle/>
          <a:p>
            <a:br>
              <a:rPr lang="en-GB" dirty="0">
                <a:latin typeface="+mj-lt"/>
              </a:rPr>
            </a:br>
            <a:endParaRPr lang="en-GB" dirty="0">
              <a:latin typeface="+mj-lt"/>
            </a:endParaRPr>
          </a:p>
        </p:txBody>
      </p:sp>
      <p:sp>
        <p:nvSpPr>
          <p:cNvPr id="6" name="TextBox 5">
            <a:extLst>
              <a:ext uri="{FF2B5EF4-FFF2-40B4-BE49-F238E27FC236}">
                <a16:creationId xmlns:a16="http://schemas.microsoft.com/office/drawing/2014/main" id="{8A3FD461-8CA9-0637-8059-FF4A9DBAED0A}"/>
              </a:ext>
            </a:extLst>
          </p:cNvPr>
          <p:cNvSpPr txBox="1"/>
          <p:nvPr/>
        </p:nvSpPr>
        <p:spPr>
          <a:xfrm>
            <a:off x="595884" y="847369"/>
            <a:ext cx="6182868" cy="3539430"/>
          </a:xfrm>
          <a:prstGeom prst="rect">
            <a:avLst/>
          </a:prstGeom>
          <a:noFill/>
        </p:spPr>
        <p:txBody>
          <a:bodyPr wrap="square">
            <a:spAutoFit/>
          </a:bodyPr>
          <a:lstStyle/>
          <a:p>
            <a:pPr algn="l">
              <a:buNone/>
            </a:pPr>
            <a:r>
              <a:rPr lang="en-GB" b="1" i="0" u="none" strike="noStrike" dirty="0">
                <a:solidFill>
                  <a:srgbClr val="000000"/>
                </a:solidFill>
                <a:effectLst/>
              </a:rPr>
              <a:t>Candidate Hidden State (</a:t>
            </a:r>
            <a:r>
              <a:rPr lang="en-GB" b="1" i="0" u="none" strike="noStrike" dirty="0" err="1">
                <a:solidFill>
                  <a:srgbClr val="000000"/>
                </a:solidFill>
                <a:effectLst/>
              </a:rPr>
              <a:t>ht</a:t>
            </a:r>
            <a:r>
              <a:rPr lang="en-GB" b="1" i="0" u="none" strike="noStrike" dirty="0">
                <a:solidFill>
                  <a:srgbClr val="000000"/>
                </a:solidFill>
                <a:effectLst/>
              </a:rPr>
              <a:t>′​):</a:t>
            </a: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Represents the potential new hidden state based on the current input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 and the </a:t>
            </a:r>
            <a:r>
              <a:rPr lang="en-GB" b="0" i="1" u="none" strike="noStrike" dirty="0">
                <a:solidFill>
                  <a:srgbClr val="000000"/>
                </a:solidFill>
                <a:effectLst/>
              </a:rPr>
              <a:t>reset</a:t>
            </a:r>
            <a:r>
              <a:rPr lang="en-GB" b="0" i="0" u="none" strike="noStrike" dirty="0">
                <a:solidFill>
                  <a:srgbClr val="000000"/>
                </a:solidFill>
                <a:effectLst/>
              </a:rPr>
              <a:t> previous hidden state (r</a:t>
            </a:r>
            <a:r>
              <a:rPr lang="en-GB" b="0" i="0" u="none" strike="noStrike" baseline="-25000" dirty="0">
                <a:solidFill>
                  <a:srgbClr val="000000"/>
                </a:solidFill>
                <a:effectLst/>
              </a:rPr>
              <a:t>t</a:t>
            </a:r>
            <a:r>
              <a:rPr lang="en-GB" b="0" i="0" u="none" strike="noStrike" dirty="0">
                <a:solidFill>
                  <a:srgbClr val="000000"/>
                </a:solidFill>
                <a:effectLst/>
              </a:rPr>
              <a:t>⋅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Inputs: Current input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dirty="0">
                <a:solidFill>
                  <a:srgbClr val="000000"/>
                </a:solidFill>
                <a:effectLst/>
              </a:rPr>
              <a:t>) and the element-wise product of the reset gate (r</a:t>
            </a:r>
            <a:r>
              <a:rPr lang="en-GB" b="0" i="0" u="none" strike="noStrike" baseline="-25000" dirty="0">
                <a:solidFill>
                  <a:srgbClr val="000000"/>
                </a:solidFill>
                <a:effectLst/>
              </a:rPr>
              <a:t>t</a:t>
            </a:r>
            <a:r>
              <a:rPr lang="en-GB" b="0" i="0" u="none" strike="noStrike" dirty="0">
                <a:solidFill>
                  <a:srgbClr val="000000"/>
                </a:solidFill>
                <a:effectLst/>
              </a:rPr>
              <a:t>) and the previous hidden state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a:t>
            </a:r>
            <a:br>
              <a:rPr lang="en-GB" b="0" i="0" u="none" strike="noStrike" dirty="0">
                <a:solidFill>
                  <a:srgbClr val="000000"/>
                </a:solidFill>
                <a:effectLst/>
              </a:rPr>
            </a:b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Process: Concatenation of inputs, multiplication by weight matrix </a:t>
            </a:r>
            <a:r>
              <a:rPr lang="en-GB" b="0" i="0" u="none" strike="noStrike" dirty="0" err="1">
                <a:solidFill>
                  <a:srgbClr val="000000"/>
                </a:solidFill>
                <a:effectLst/>
              </a:rPr>
              <a:t>Wh</a:t>
            </a:r>
            <a:r>
              <a:rPr lang="en-GB" b="0" i="0" u="none" strike="noStrike" dirty="0">
                <a:solidFill>
                  <a:srgbClr val="000000"/>
                </a:solidFill>
                <a:effectLst/>
              </a:rPr>
              <a:t>​, application of tanh activation.</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Equation: </a:t>
            </a:r>
            <a:r>
              <a:rPr lang="en-GB" i="0" u="none" strike="noStrike" dirty="0" err="1">
                <a:solidFill>
                  <a:srgbClr val="000000"/>
                </a:solidFill>
                <a:effectLst/>
              </a:rPr>
              <a:t>ht</a:t>
            </a:r>
            <a:r>
              <a:rPr lang="en-GB" i="0" u="none" strike="noStrike" dirty="0">
                <a:solidFill>
                  <a:srgbClr val="000000"/>
                </a:solidFill>
                <a:effectLst/>
              </a:rPr>
              <a:t>′​</a:t>
            </a:r>
            <a:r>
              <a:rPr lang="en-GB" b="0" i="0" u="none" strike="noStrike" dirty="0">
                <a:solidFill>
                  <a:srgbClr val="000000"/>
                </a:solidFill>
                <a:effectLst/>
              </a:rPr>
              <a:t>=tanh(</a:t>
            </a:r>
            <a:r>
              <a:rPr lang="en-GB" b="0" i="0" u="none" strike="noStrike" dirty="0" err="1">
                <a:solidFill>
                  <a:srgbClr val="000000"/>
                </a:solidFill>
                <a:effectLst/>
              </a:rPr>
              <a:t>W</a:t>
            </a:r>
            <a:r>
              <a:rPr lang="en-GB" b="0" i="0" u="none" strike="noStrike" baseline="-25000" dirty="0" err="1">
                <a:solidFill>
                  <a:srgbClr val="000000"/>
                </a:solidFill>
                <a:effectLst/>
              </a:rPr>
              <a:t>h</a:t>
            </a:r>
            <a:r>
              <a:rPr lang="en-GB" b="0" i="0" u="none" strike="noStrike" dirty="0">
                <a:solidFill>
                  <a:srgbClr val="000000"/>
                </a:solidFill>
                <a:effectLst/>
              </a:rPr>
              <a:t>​⋅[r</a:t>
            </a:r>
            <a:r>
              <a:rPr lang="en-GB" b="0" i="0" u="none" strike="noStrike" baseline="-25000" dirty="0">
                <a:solidFill>
                  <a:srgbClr val="000000"/>
                </a:solidFill>
                <a:effectLst/>
              </a:rPr>
              <a:t>t</a:t>
            </a:r>
            <a:r>
              <a:rPr lang="en-GB" b="0" i="0" u="none" strike="noStrike" dirty="0">
                <a:solidFill>
                  <a:srgbClr val="000000"/>
                </a:solidFill>
                <a:effectLst/>
              </a:rPr>
              <a:t>⊙ h</a:t>
            </a:r>
            <a:r>
              <a:rPr lang="en-GB" b="0" i="0" u="none" strike="noStrike" baseline="-25000" dirty="0">
                <a:solidFill>
                  <a:srgbClr val="000000"/>
                </a:solidFill>
                <a:effectLst/>
              </a:rPr>
              <a:t>t</a:t>
            </a:r>
            <a:r>
              <a:rPr lang="en-GB" baseline="-25000" dirty="0"/>
              <a:t>-1</a:t>
            </a:r>
            <a:r>
              <a:rPr lang="en-GB" b="0" i="0" u="none" strike="noStrike" dirty="0">
                <a:solidFill>
                  <a:srgbClr val="000000"/>
                </a:solidFill>
                <a:effectLst/>
              </a:rPr>
              <a:t>, </a:t>
            </a:r>
            <a:r>
              <a:rPr lang="en-GB" b="0" i="0" u="none" strike="noStrike" dirty="0" err="1">
                <a:solidFill>
                  <a:srgbClr val="000000"/>
                </a:solidFill>
                <a:effectLst/>
              </a:rPr>
              <a:t>x</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a:t>
            </a:r>
            <a:br>
              <a:rPr lang="en-GB" b="0" i="0" u="none" strike="noStrike" dirty="0">
                <a:solidFill>
                  <a:srgbClr val="000000"/>
                </a:solidFill>
                <a:effectLst/>
              </a:rPr>
            </a:b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Significance: The reset gate (r</a:t>
            </a:r>
            <a:r>
              <a:rPr lang="en-GB" b="0" i="0" u="none" strike="noStrike" baseline="-25000" dirty="0">
                <a:solidFill>
                  <a:srgbClr val="000000"/>
                </a:solidFill>
                <a:effectLst/>
              </a:rPr>
              <a:t>t</a:t>
            </a:r>
            <a:r>
              <a:rPr lang="en-GB" b="0" i="0" u="none" strike="noStrike" dirty="0">
                <a:solidFill>
                  <a:srgbClr val="000000"/>
                </a:solidFill>
                <a:effectLst/>
              </a:rPr>
              <a:t>) modulates the influence of the past hidden state on the calculation of this new candidate. If  r</a:t>
            </a:r>
            <a:r>
              <a:rPr lang="en-GB" b="0" i="0" u="none" strike="noStrike" baseline="-25000" dirty="0">
                <a:solidFill>
                  <a:srgbClr val="000000"/>
                </a:solidFill>
                <a:effectLst/>
              </a:rPr>
              <a:t>t </a:t>
            </a:r>
            <a:r>
              <a:rPr lang="en-GB" b="0" i="0" u="none" strike="noStrike" dirty="0">
                <a:solidFill>
                  <a:srgbClr val="000000"/>
                </a:solidFill>
                <a:effectLst/>
              </a:rPr>
              <a:t> is close to 0, the candidate hidden state primarily depends on the current input, effectively "resetting" the influence of the past.</a:t>
            </a:r>
          </a:p>
        </p:txBody>
      </p:sp>
    </p:spTree>
    <p:extLst>
      <p:ext uri="{BB962C8B-B14F-4D97-AF65-F5344CB8AC3E}">
        <p14:creationId xmlns:p14="http://schemas.microsoft.com/office/powerpoint/2010/main" val="368400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62F52E1-C97A-7453-55FE-2E68AC9ABD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927FD31-6866-6CA8-D73C-4ECDBD3A79FC}"/>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Working of Gated Recurrent Units (GRUs)  </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12A941C-40F4-F2B1-A2FD-B158D6A3740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541193E-F113-3059-F4A4-582AE01F8EAB}"/>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0751A7EA-AD95-60DE-C1BE-92A603918704}"/>
              </a:ext>
            </a:extLst>
          </p:cNvPr>
          <p:cNvSpPr txBox="1"/>
          <p:nvPr/>
        </p:nvSpPr>
        <p:spPr>
          <a:xfrm>
            <a:off x="77991" y="482341"/>
            <a:ext cx="8054969" cy="523220"/>
          </a:xfrm>
          <a:prstGeom prst="rect">
            <a:avLst/>
          </a:prstGeom>
          <a:noFill/>
        </p:spPr>
        <p:txBody>
          <a:bodyPr wrap="square">
            <a:spAutoFit/>
          </a:bodyPr>
          <a:lstStyle/>
          <a:p>
            <a:br>
              <a:rPr lang="en-GB" dirty="0">
                <a:latin typeface="+mj-lt"/>
              </a:rPr>
            </a:br>
            <a:endParaRPr lang="en-GB" dirty="0">
              <a:latin typeface="+mj-lt"/>
            </a:endParaRPr>
          </a:p>
        </p:txBody>
      </p:sp>
      <p:sp>
        <p:nvSpPr>
          <p:cNvPr id="6" name="TextBox 5">
            <a:extLst>
              <a:ext uri="{FF2B5EF4-FFF2-40B4-BE49-F238E27FC236}">
                <a16:creationId xmlns:a16="http://schemas.microsoft.com/office/drawing/2014/main" id="{91EF4849-00E5-424B-0C19-C072593F42F7}"/>
              </a:ext>
            </a:extLst>
          </p:cNvPr>
          <p:cNvSpPr txBox="1"/>
          <p:nvPr/>
        </p:nvSpPr>
        <p:spPr>
          <a:xfrm>
            <a:off x="595884" y="847369"/>
            <a:ext cx="6475476" cy="4185761"/>
          </a:xfrm>
          <a:prstGeom prst="rect">
            <a:avLst/>
          </a:prstGeom>
          <a:noFill/>
        </p:spPr>
        <p:txBody>
          <a:bodyPr wrap="square">
            <a:spAutoFit/>
          </a:bodyPr>
          <a:lstStyle/>
          <a:p>
            <a:pPr algn="l"/>
            <a:r>
              <a:rPr lang="en-GB" b="1" i="0" u="none" strike="noStrike" dirty="0">
                <a:solidFill>
                  <a:srgbClr val="000000"/>
                </a:solidFill>
                <a:effectLst/>
              </a:rPr>
              <a:t>Hidden State (</a:t>
            </a:r>
            <a:r>
              <a:rPr lang="en-GB" b="1" i="0" u="none" strike="noStrike" dirty="0" err="1">
                <a:solidFill>
                  <a:srgbClr val="000000"/>
                </a:solidFill>
                <a:effectLst/>
              </a:rPr>
              <a:t>h</a:t>
            </a:r>
            <a:r>
              <a:rPr lang="en-GB" b="1" i="0" u="none" strike="noStrike" baseline="-25000" dirty="0" err="1">
                <a:solidFill>
                  <a:srgbClr val="000000"/>
                </a:solidFill>
                <a:effectLst/>
              </a:rPr>
              <a:t>t</a:t>
            </a:r>
            <a:r>
              <a:rPr lang="en-GB" b="1" i="0" u="none" strike="noStrike" dirty="0">
                <a:solidFill>
                  <a:srgbClr val="000000"/>
                </a:solidFill>
                <a:effectLst/>
              </a:rPr>
              <a:t>​):</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The final hidden state at the current time step is a blend of the previous hidden state (h</a:t>
            </a:r>
            <a:r>
              <a:rPr lang="en-GB" b="0" i="0" u="none" strike="noStrike" baseline="-25000" dirty="0">
                <a:solidFill>
                  <a:srgbClr val="000000"/>
                </a:solidFill>
                <a:effectLst/>
              </a:rPr>
              <a:t>t-1</a:t>
            </a:r>
            <a:r>
              <a:rPr lang="en-GB" b="0" i="0" u="none" strike="noStrike" dirty="0">
                <a:solidFill>
                  <a:srgbClr val="000000"/>
                </a:solidFill>
                <a:effectLst/>
              </a:rPr>
              <a:t>​) and the candidate hidden state (</a:t>
            </a:r>
            <a:r>
              <a:rPr lang="en-GB" i="0" u="none" strike="noStrike" dirty="0" err="1">
                <a:solidFill>
                  <a:srgbClr val="000000"/>
                </a:solidFill>
                <a:effectLst/>
              </a:rPr>
              <a:t>ht</a:t>
            </a:r>
            <a:r>
              <a:rPr lang="en-GB" i="0" u="none" strike="noStrike" dirty="0">
                <a:solidFill>
                  <a:srgbClr val="000000"/>
                </a:solidFill>
                <a:effectLst/>
              </a:rPr>
              <a:t>′​</a:t>
            </a:r>
            <a:r>
              <a:rPr lang="en-GB" b="0" i="0" u="none" strike="noStrike" dirty="0">
                <a:solidFill>
                  <a:srgbClr val="000000"/>
                </a:solidFill>
                <a:effectLst/>
              </a:rPr>
              <a:t>​). The update gate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dirty="0">
                <a:solidFill>
                  <a:srgbClr val="000000"/>
                </a:solidFill>
                <a:effectLst/>
              </a:rPr>
              <a:t>) controls this blending.</a:t>
            </a:r>
          </a:p>
          <a:p>
            <a:pPr marL="800100" lvl="1" indent="-342900" algn="l">
              <a:buFont typeface="+mj-lt"/>
              <a:buAutoNum type="arabicPeriod"/>
            </a:pPr>
            <a:r>
              <a:rPr lang="en-GB" b="0" i="0" u="none" strike="noStrike" dirty="0">
                <a:solidFill>
                  <a:srgbClr val="000000"/>
                </a:solidFill>
                <a:effectLst/>
              </a:rPr>
              <a:t>Inputs: Previous hidden state (h</a:t>
            </a:r>
            <a:r>
              <a:rPr lang="en-GB" b="0" i="0" u="none" strike="noStrike" baseline="-25000" dirty="0">
                <a:solidFill>
                  <a:srgbClr val="000000"/>
                </a:solidFill>
                <a:effectLst/>
              </a:rPr>
              <a:t>t-1</a:t>
            </a:r>
            <a:r>
              <a:rPr lang="en-GB" b="0" i="0" u="none" strike="noStrike" dirty="0">
                <a:solidFill>
                  <a:srgbClr val="000000"/>
                </a:solidFill>
                <a:effectLst/>
              </a:rPr>
              <a:t>), candidate hidden state (</a:t>
            </a:r>
            <a:r>
              <a:rPr lang="en-GB" i="0" u="none" strike="noStrike" dirty="0" err="1">
                <a:solidFill>
                  <a:srgbClr val="000000"/>
                </a:solidFill>
                <a:effectLst/>
              </a:rPr>
              <a:t>ht</a:t>
            </a:r>
            <a:r>
              <a:rPr lang="en-GB" i="0" u="none" strike="noStrike" dirty="0">
                <a:solidFill>
                  <a:srgbClr val="000000"/>
                </a:solidFill>
                <a:effectLst/>
              </a:rPr>
              <a:t>′​</a:t>
            </a:r>
            <a:r>
              <a:rPr lang="en-GB" b="0" i="0" u="none" strike="noStrike" dirty="0">
                <a:solidFill>
                  <a:srgbClr val="000000"/>
                </a:solidFill>
                <a:effectLst/>
              </a:rPr>
              <a:t>​), and the update gate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Process: A weighted average where (1−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dirty="0">
                <a:solidFill>
                  <a:srgbClr val="000000"/>
                </a:solidFill>
                <a:effectLst/>
              </a:rPr>
              <a:t>) determines how much of the previous hidden state is retained, and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baseline="-25000" dirty="0">
                <a:solidFill>
                  <a:srgbClr val="000000"/>
                </a:solidFill>
                <a:effectLst/>
              </a:rPr>
              <a:t> </a:t>
            </a:r>
            <a:r>
              <a:rPr lang="en-GB" b="0" i="0" u="none" strike="noStrike" dirty="0">
                <a:solidFill>
                  <a:srgbClr val="000000"/>
                </a:solidFill>
                <a:effectLst/>
              </a:rPr>
              <a:t>determines how much of the new candidate hidden state is incorporated.</a:t>
            </a:r>
          </a:p>
          <a:p>
            <a:pPr marL="800100" lvl="1" indent="-342900" algn="l">
              <a:buFont typeface="+mj-lt"/>
              <a:buAutoNum type="arabicPeriod"/>
            </a:pPr>
            <a:r>
              <a:rPr lang="en-GB" b="0" i="0" u="none" strike="noStrike" dirty="0">
                <a:solidFill>
                  <a:srgbClr val="000000"/>
                </a:solidFill>
                <a:effectLst/>
              </a:rPr>
              <a:t>Equation: </a:t>
            </a:r>
            <a:r>
              <a:rPr lang="en-GB" b="0" i="1" u="none" strike="noStrike" dirty="0" err="1">
                <a:solidFill>
                  <a:srgbClr val="000000"/>
                </a:solidFill>
                <a:effectLst/>
              </a:rPr>
              <a:t>h</a:t>
            </a:r>
            <a:r>
              <a:rPr lang="en-GB" b="0" i="1" u="none" strike="noStrike" baseline="-25000" dirty="0" err="1">
                <a:solidFill>
                  <a:srgbClr val="000000"/>
                </a:solidFill>
                <a:effectLst/>
              </a:rPr>
              <a:t>t</a:t>
            </a:r>
            <a:r>
              <a:rPr lang="en-GB" b="0" i="1" u="none" strike="noStrike" dirty="0">
                <a:solidFill>
                  <a:srgbClr val="000000"/>
                </a:solidFill>
                <a:effectLst/>
              </a:rPr>
              <a:t>=(1−z</a:t>
            </a:r>
            <a:r>
              <a:rPr lang="en-GB" b="0" i="1" u="none" strike="noStrike" baseline="-25000" dirty="0">
                <a:solidFill>
                  <a:srgbClr val="000000"/>
                </a:solidFill>
                <a:effectLst/>
              </a:rPr>
              <a:t>t</a:t>
            </a:r>
            <a:r>
              <a:rPr lang="en-GB" b="0" i="1" u="none" strike="noStrike" dirty="0">
                <a:solidFill>
                  <a:srgbClr val="000000"/>
                </a:solidFill>
                <a:effectLst/>
              </a:rPr>
              <a:t>)⊙h</a:t>
            </a:r>
            <a:r>
              <a:rPr lang="en-GB" b="0" i="1" u="none" strike="noStrike" baseline="-25000" dirty="0">
                <a:solidFill>
                  <a:srgbClr val="000000"/>
                </a:solidFill>
                <a:effectLst/>
              </a:rPr>
              <a:t>t-1</a:t>
            </a:r>
            <a:r>
              <a:rPr lang="en-GB" b="0" i="1" u="none" strike="noStrike" dirty="0">
                <a:solidFill>
                  <a:srgbClr val="000000"/>
                </a:solidFill>
                <a:effectLst/>
              </a:rPr>
              <a:t>​+ </a:t>
            </a:r>
            <a:r>
              <a:rPr lang="en-GB" b="0" i="1" u="none" strike="noStrike" dirty="0" err="1">
                <a:solidFill>
                  <a:srgbClr val="000000"/>
                </a:solidFill>
                <a:effectLst/>
              </a:rPr>
              <a:t>z</a:t>
            </a:r>
            <a:r>
              <a:rPr lang="en-GB" b="0" i="1" u="none" strike="noStrike" baseline="-25000" dirty="0" err="1">
                <a:solidFill>
                  <a:srgbClr val="000000"/>
                </a:solidFill>
                <a:effectLst/>
              </a:rPr>
              <a:t>t</a:t>
            </a:r>
            <a:r>
              <a:rPr lang="en-GB" b="0" i="1" u="none" strike="noStrike" baseline="-25000" dirty="0">
                <a:solidFill>
                  <a:srgbClr val="000000"/>
                </a:solidFill>
                <a:effectLst/>
              </a:rPr>
              <a:t> </a:t>
            </a:r>
            <a:r>
              <a:rPr lang="en-GB" b="0" i="1" u="none" strike="noStrike" dirty="0">
                <a:solidFill>
                  <a:srgbClr val="000000"/>
                </a:solidFill>
                <a:effectLst/>
              </a:rPr>
              <a:t>​⊙</a:t>
            </a:r>
            <a:r>
              <a:rPr lang="en-GB" i="1" u="none" strike="noStrike" dirty="0" err="1">
                <a:solidFill>
                  <a:srgbClr val="000000"/>
                </a:solidFill>
                <a:effectLst/>
              </a:rPr>
              <a:t>ht</a:t>
            </a:r>
            <a:r>
              <a:rPr lang="en-GB" i="1" u="none" strike="noStrike" dirty="0">
                <a:solidFill>
                  <a:srgbClr val="000000"/>
                </a:solidFill>
                <a:effectLst/>
              </a:rPr>
              <a:t>′​</a:t>
            </a:r>
            <a:r>
              <a:rPr lang="en-GB" b="0" i="1"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Significance: The update gate (</a:t>
            </a:r>
            <a:r>
              <a:rPr lang="en-GB" b="0" i="0" u="none" strike="noStrike" dirty="0" err="1">
                <a:solidFill>
                  <a:srgbClr val="000000"/>
                </a:solidFill>
                <a:effectLst/>
              </a:rPr>
              <a:t>z</a:t>
            </a:r>
            <a:r>
              <a:rPr lang="en-GB" b="0" i="0" u="none" strike="noStrike" baseline="-25000" dirty="0" err="1">
                <a:solidFill>
                  <a:srgbClr val="000000"/>
                </a:solidFill>
                <a:effectLst/>
              </a:rPr>
              <a:t>t</a:t>
            </a:r>
            <a:r>
              <a:rPr lang="en-GB" b="0" i="0" u="none" strike="noStrike" dirty="0">
                <a:solidFill>
                  <a:srgbClr val="000000"/>
                </a:solidFill>
                <a:effectLst/>
              </a:rPr>
              <a:t>) decides how much of the past information (from  h</a:t>
            </a:r>
            <a:r>
              <a:rPr lang="en-GB" b="0" i="0" u="none" strike="noStrike" baseline="-25000" dirty="0">
                <a:solidFill>
                  <a:srgbClr val="000000"/>
                </a:solidFill>
                <a:effectLst/>
              </a:rPr>
              <a:t>t-1</a:t>
            </a:r>
            <a:r>
              <a:rPr lang="en-GB" b="0" i="0" u="none" strike="noStrike" dirty="0">
                <a:solidFill>
                  <a:srgbClr val="000000"/>
                </a:solidFill>
                <a:effectLst/>
              </a:rPr>
              <a:t>) should be carried forward and how much of the newly proposed information (from </a:t>
            </a:r>
            <a:r>
              <a:rPr lang="en-GB" i="0" u="none" strike="noStrike" dirty="0" err="1">
                <a:solidFill>
                  <a:srgbClr val="000000"/>
                </a:solidFill>
                <a:effectLst/>
              </a:rPr>
              <a:t>ht</a:t>
            </a:r>
            <a:r>
              <a:rPr lang="en-GB" i="0" u="none" strike="noStrike" dirty="0">
                <a:solidFill>
                  <a:srgbClr val="000000"/>
                </a:solidFill>
                <a:effectLst/>
              </a:rPr>
              <a:t>′​)</a:t>
            </a:r>
            <a:r>
              <a:rPr lang="en-GB" b="0" i="0" u="none" strike="noStrike" dirty="0">
                <a:solidFill>
                  <a:srgbClr val="000000"/>
                </a:solidFill>
                <a:effectLst/>
              </a:rPr>
              <a:t>should contribute to the current hidden state.</a:t>
            </a:r>
          </a:p>
          <a:p>
            <a:pPr algn="l"/>
            <a:r>
              <a:rPr lang="en-GB" b="0" i="0" u="none" strike="noStrike" dirty="0">
                <a:solidFill>
                  <a:srgbClr val="000000"/>
                </a:solidFill>
                <a:effectLst/>
              </a:rPr>
              <a:t>In summary, the GRU uses the reset gate to control the influence of the past when generating a new candidate state, and the update gate to decide how to combine the past state with this candidate to form the current hidden state. This mechanism allows GRUs to learn and manage long-term dependencies effectively with a simpler structure than LSTMs.</a:t>
            </a:r>
          </a:p>
        </p:txBody>
      </p:sp>
    </p:spTree>
    <p:extLst>
      <p:ext uri="{BB962C8B-B14F-4D97-AF65-F5344CB8AC3E}">
        <p14:creationId xmlns:p14="http://schemas.microsoft.com/office/powerpoint/2010/main" val="327498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9125F53-AEB8-5703-5AF8-82762231FAA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D21A898-2BF4-4D7D-B33B-AF9C14870684}"/>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GRUs Mitigate the Vanishing Gradient Problem</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AA7DD66-410C-2D30-07D0-55B8AAE8793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778CFF1-2F2B-D8AF-704E-E91ADC7613F8}"/>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2F985C48-06EB-1B73-5C80-59F9E0A20DB2}"/>
              </a:ext>
            </a:extLst>
          </p:cNvPr>
          <p:cNvSpPr txBox="1"/>
          <p:nvPr/>
        </p:nvSpPr>
        <p:spPr>
          <a:xfrm>
            <a:off x="77991" y="482341"/>
            <a:ext cx="8054969" cy="523220"/>
          </a:xfrm>
          <a:prstGeom prst="rect">
            <a:avLst/>
          </a:prstGeom>
          <a:noFill/>
        </p:spPr>
        <p:txBody>
          <a:bodyPr wrap="square">
            <a:spAutoFit/>
          </a:bodyPr>
          <a:lstStyle/>
          <a:p>
            <a:br>
              <a:rPr lang="en-GB" dirty="0">
                <a:latin typeface="+mj-lt"/>
              </a:rPr>
            </a:br>
            <a:endParaRPr lang="en-GB" dirty="0">
              <a:latin typeface="+mj-lt"/>
            </a:endParaRPr>
          </a:p>
        </p:txBody>
      </p:sp>
      <p:sp>
        <p:nvSpPr>
          <p:cNvPr id="6" name="TextBox 5">
            <a:extLst>
              <a:ext uri="{FF2B5EF4-FFF2-40B4-BE49-F238E27FC236}">
                <a16:creationId xmlns:a16="http://schemas.microsoft.com/office/drawing/2014/main" id="{F57B8A59-71DE-95F5-8EE6-693C12977E1A}"/>
              </a:ext>
            </a:extLst>
          </p:cNvPr>
          <p:cNvSpPr txBox="1"/>
          <p:nvPr/>
        </p:nvSpPr>
        <p:spPr>
          <a:xfrm>
            <a:off x="286512" y="847369"/>
            <a:ext cx="7949184" cy="4185761"/>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Gated Mechanisms:</a:t>
            </a:r>
            <a:r>
              <a:rPr lang="en-GB" b="0" i="0" u="none" strike="noStrike" dirty="0">
                <a:solidFill>
                  <a:srgbClr val="000000"/>
                </a:solidFill>
                <a:effectLst/>
              </a:rPr>
              <a:t> GRUs, similar to LSTMs, employ </a:t>
            </a:r>
            <a:r>
              <a:rPr lang="en-GB" b="1" i="0" u="none" strike="noStrike" dirty="0">
                <a:solidFill>
                  <a:srgbClr val="000000"/>
                </a:solidFill>
                <a:effectLst/>
              </a:rPr>
              <a:t>gates (update and reset)</a:t>
            </a:r>
            <a:r>
              <a:rPr lang="en-GB" b="0" i="0" u="none" strike="noStrike" dirty="0">
                <a:solidFill>
                  <a:srgbClr val="000000"/>
                </a:solidFill>
                <a:effectLst/>
              </a:rPr>
              <a:t> that control the flow of information and gradients through the network.   </a:t>
            </a:r>
          </a:p>
          <a:p>
            <a:pPr marL="342900" indent="-342900" algn="l">
              <a:buFont typeface="+mj-lt"/>
              <a:buAutoNum type="arabicPeriod"/>
            </a:pPr>
            <a:r>
              <a:rPr lang="en-GB" b="1" i="0" u="none" strike="noStrike" dirty="0">
                <a:solidFill>
                  <a:srgbClr val="000000"/>
                </a:solidFill>
                <a:effectLst/>
              </a:rPr>
              <a:t>Direct Pathway for Information:</a:t>
            </a:r>
            <a:r>
              <a:rPr lang="en-GB" b="0" i="0" u="none" strike="noStrike" dirty="0">
                <a:solidFill>
                  <a:srgbClr val="000000"/>
                </a:solidFill>
                <a:effectLst/>
              </a:rPr>
              <a:t> The </a:t>
            </a:r>
            <a:r>
              <a:rPr lang="en-GB" b="1" i="0" u="none" strike="noStrike" dirty="0">
                <a:solidFill>
                  <a:srgbClr val="000000"/>
                </a:solidFill>
                <a:effectLst/>
              </a:rPr>
              <a:t>update gate (</a:t>
            </a:r>
            <a:r>
              <a:rPr lang="en-GB" b="1" i="0" u="none" strike="noStrike" dirty="0" err="1">
                <a:solidFill>
                  <a:srgbClr val="000000"/>
                </a:solidFill>
                <a:effectLst/>
              </a:rPr>
              <a:t>z</a:t>
            </a:r>
            <a:r>
              <a:rPr lang="en-GB" b="1" i="0" u="none" strike="noStrike" baseline="-25000" dirty="0" err="1">
                <a:solidFill>
                  <a:srgbClr val="000000"/>
                </a:solidFill>
                <a:effectLst/>
              </a:rPr>
              <a:t>t</a:t>
            </a:r>
            <a:r>
              <a:rPr lang="en-GB" b="1" i="0" u="none" strike="noStrike" dirty="0">
                <a:solidFill>
                  <a:srgbClr val="000000"/>
                </a:solidFill>
                <a:effectLst/>
              </a:rPr>
              <a:t>)</a:t>
            </a:r>
            <a:r>
              <a:rPr lang="en-GB" b="0" i="0" u="none" strike="noStrike" dirty="0">
                <a:solidFill>
                  <a:srgbClr val="000000"/>
                </a:solidFill>
                <a:effectLst/>
              </a:rPr>
              <a:t> plays a crucial role in this mitigation. It allows the GRU to directly pass information from previous time steps into the current hidden state. If the update gate is close to 1, a significant portion of the previous hidden state is retained and carried forward.   </a:t>
            </a:r>
          </a:p>
          <a:p>
            <a:pPr marL="342900" indent="-342900" algn="l">
              <a:buFont typeface="+mj-lt"/>
              <a:buAutoNum type="arabicPeriod"/>
            </a:pPr>
            <a:r>
              <a:rPr lang="en-GB" b="1" i="0" u="none" strike="noStrike" dirty="0">
                <a:solidFill>
                  <a:srgbClr val="000000"/>
                </a:solidFill>
                <a:effectLst/>
              </a:rPr>
              <a:t>Gradient Flow:</a:t>
            </a:r>
            <a:r>
              <a:rPr lang="en-GB" b="0" i="0" u="none" strike="noStrike" dirty="0">
                <a:solidFill>
                  <a:srgbClr val="000000"/>
                </a:solidFill>
                <a:effectLst/>
              </a:rPr>
              <a:t> This direct pathway for information also facilitates a more direct flow of gradients during backpropagation. Gradients can flow more easily through the update gate without being repeatedly multiplied by potentially small values (as in standard RNNs without gating mechanisms).   </a:t>
            </a:r>
          </a:p>
          <a:p>
            <a:pPr marL="342900" indent="-342900" algn="l">
              <a:buFont typeface="+mj-lt"/>
              <a:buAutoNum type="arabicPeriod"/>
            </a:pPr>
            <a:r>
              <a:rPr lang="en-GB" b="1" i="0" u="none" strike="noStrike" dirty="0">
                <a:solidFill>
                  <a:srgbClr val="000000"/>
                </a:solidFill>
                <a:effectLst/>
              </a:rPr>
              <a:t>Preserving Long-Term Dependencies:</a:t>
            </a:r>
            <a:r>
              <a:rPr lang="en-GB" b="0" i="0" u="none" strike="noStrike" dirty="0">
                <a:solidFill>
                  <a:srgbClr val="000000"/>
                </a:solidFill>
                <a:effectLst/>
              </a:rPr>
              <a:t> By selectively retaining relevant information over many time steps through the update gate, GRUs ensure that the gradients associated with this important historical information are less likely to vanish. This allows the network to learn long-range dependencies more effectively.   </a:t>
            </a:r>
          </a:p>
          <a:p>
            <a:pPr marL="342900" indent="-342900" algn="l">
              <a:buFont typeface="+mj-lt"/>
              <a:buAutoNum type="arabicPeriod"/>
            </a:pPr>
            <a:r>
              <a:rPr lang="en-GB" b="1" i="0" u="none" strike="noStrike" dirty="0">
                <a:solidFill>
                  <a:srgbClr val="000000"/>
                </a:solidFill>
                <a:effectLst/>
              </a:rPr>
              <a:t>Balancing Memory and New Information:</a:t>
            </a:r>
            <a:r>
              <a:rPr lang="en-GB" b="0" i="0" u="none" strike="noStrike" dirty="0">
                <a:solidFill>
                  <a:srgbClr val="000000"/>
                </a:solidFill>
                <a:effectLst/>
              </a:rPr>
              <a:t> The interplay between the update and reset gates enables the GRU to maintain a balance between remembering important past information and incorporating new, relevant data. The reset gate helps in focusing on the current input when necessary, while the update gate ensures that crucial historical context is not lost.   </a:t>
            </a:r>
          </a:p>
          <a:p>
            <a:pPr marL="342900" indent="-342900" algn="l">
              <a:buFont typeface="+mj-lt"/>
              <a:buAutoNum type="arabicPeriod"/>
            </a:pPr>
            <a:endParaRPr lang="en-GB" b="0" i="0" u="none" strike="noStrike" dirty="0">
              <a:solidFill>
                <a:srgbClr val="000000"/>
              </a:solidFill>
              <a:effectLst/>
            </a:endParaRPr>
          </a:p>
        </p:txBody>
      </p:sp>
    </p:spTree>
    <p:extLst>
      <p:ext uri="{BB962C8B-B14F-4D97-AF65-F5344CB8AC3E}">
        <p14:creationId xmlns:p14="http://schemas.microsoft.com/office/powerpoint/2010/main" val="2875539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CA5E35B-142D-014C-3142-C2F86AD0C27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6EF98CD-720C-8519-0FAA-50595CE00B84}"/>
              </a:ext>
            </a:extLst>
          </p:cNvPr>
          <p:cNvSpPr txBox="1">
            <a:spLocks noGrp="1"/>
          </p:cNvSpPr>
          <p:nvPr>
            <p:ph type="title"/>
          </p:nvPr>
        </p:nvSpPr>
        <p:spPr>
          <a:xfrm>
            <a:off x="77991" y="79968"/>
            <a:ext cx="7804137" cy="627900"/>
          </a:xfrm>
          <a:prstGeom prst="rect">
            <a:avLst/>
          </a:prstGeom>
          <a:noFill/>
          <a:ln>
            <a:noFill/>
          </a:ln>
        </p:spPr>
        <p:txBody>
          <a:bodyPr spcFirstLastPara="1" wrap="square" lIns="91425" tIns="91425" rIns="91425" bIns="91425" anchor="t" anchorCtr="0">
            <a:noAutofit/>
          </a:bodyPr>
          <a:lstStyle/>
          <a:p>
            <a:r>
              <a:rPr lang="en-GB" sz="2400" i="0" u="none" strike="noStrike" dirty="0">
                <a:solidFill>
                  <a:srgbClr val="7030A0"/>
                </a:solidFill>
                <a:effectLst/>
                <a:latin typeface="Nunito" pitchFamily="2" charset="77"/>
              </a:rPr>
              <a:t>GRU Vs LSTM</a:t>
            </a: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49F6C9F-1DF3-576E-EEB5-7E005A1EB6A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48901C9-AA00-C35A-648D-C0689BCE0B54}"/>
              </a:ext>
            </a:extLst>
          </p:cNvPr>
          <p:cNvSpPr txBox="1"/>
          <p:nvPr/>
        </p:nvSpPr>
        <p:spPr>
          <a:xfrm>
            <a:off x="-2304288" y="262594"/>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8BF14C68-06C6-360D-70F3-CC5BCDEC9A24}"/>
              </a:ext>
            </a:extLst>
          </p:cNvPr>
          <p:cNvSpPr txBox="1"/>
          <p:nvPr/>
        </p:nvSpPr>
        <p:spPr>
          <a:xfrm>
            <a:off x="77991" y="482341"/>
            <a:ext cx="8054969" cy="523220"/>
          </a:xfrm>
          <a:prstGeom prst="rect">
            <a:avLst/>
          </a:prstGeom>
          <a:noFill/>
        </p:spPr>
        <p:txBody>
          <a:bodyPr wrap="square">
            <a:spAutoFit/>
          </a:bodyPr>
          <a:lstStyle/>
          <a:p>
            <a:br>
              <a:rPr lang="en-GB" dirty="0">
                <a:latin typeface="+mj-lt"/>
              </a:rPr>
            </a:br>
            <a:endParaRPr lang="en-GB" dirty="0">
              <a:latin typeface="+mj-lt"/>
            </a:endParaRPr>
          </a:p>
        </p:txBody>
      </p:sp>
      <p:graphicFrame>
        <p:nvGraphicFramePr>
          <p:cNvPr id="2" name="Table 1">
            <a:extLst>
              <a:ext uri="{FF2B5EF4-FFF2-40B4-BE49-F238E27FC236}">
                <a16:creationId xmlns:a16="http://schemas.microsoft.com/office/drawing/2014/main" id="{BE11DFCC-829E-A42D-1C3E-71C2D41DE80F}"/>
              </a:ext>
            </a:extLst>
          </p:cNvPr>
          <p:cNvGraphicFramePr>
            <a:graphicFrameLocks noGrp="1"/>
          </p:cNvGraphicFramePr>
          <p:nvPr>
            <p:extLst>
              <p:ext uri="{D42A27DB-BD31-4B8C-83A1-F6EECF244321}">
                <p14:modId xmlns:p14="http://schemas.microsoft.com/office/powerpoint/2010/main" val="1741279862"/>
              </p:ext>
            </p:extLst>
          </p:nvPr>
        </p:nvGraphicFramePr>
        <p:xfrm>
          <a:off x="311150" y="1342276"/>
          <a:ext cx="8521701" cy="3036798"/>
        </p:xfrm>
        <a:graphic>
          <a:graphicData uri="http://schemas.openxmlformats.org/drawingml/2006/table">
            <a:tbl>
              <a:tblPr>
                <a:tableStyleId>{35758FB7-9AC5-4552-8A53-C91805E547FA}</a:tableStyleId>
              </a:tblPr>
              <a:tblGrid>
                <a:gridCol w="1623181">
                  <a:extLst>
                    <a:ext uri="{9D8B030D-6E8A-4147-A177-3AD203B41FA5}">
                      <a16:colId xmlns:a16="http://schemas.microsoft.com/office/drawing/2014/main" val="1139032020"/>
                    </a:ext>
                  </a:extLst>
                </a:gridCol>
                <a:gridCol w="3449260">
                  <a:extLst>
                    <a:ext uri="{9D8B030D-6E8A-4147-A177-3AD203B41FA5}">
                      <a16:colId xmlns:a16="http://schemas.microsoft.com/office/drawing/2014/main" val="3529872808"/>
                    </a:ext>
                  </a:extLst>
                </a:gridCol>
                <a:gridCol w="3449260">
                  <a:extLst>
                    <a:ext uri="{9D8B030D-6E8A-4147-A177-3AD203B41FA5}">
                      <a16:colId xmlns:a16="http://schemas.microsoft.com/office/drawing/2014/main" val="1784312831"/>
                    </a:ext>
                  </a:extLst>
                </a:gridCol>
              </a:tblGrid>
              <a:tr h="403860">
                <a:tc>
                  <a:txBody>
                    <a:bodyPr/>
                    <a:lstStyle/>
                    <a:p>
                      <a:pPr algn="ctr" fontAlgn="base"/>
                      <a:r>
                        <a:rPr lang="en-GB" sz="1400" b="1">
                          <a:effectLst/>
                        </a:rPr>
                        <a:t>Feature</a:t>
                      </a:r>
                    </a:p>
                  </a:txBody>
                  <a:tcPr marL="38100" marR="38100" marT="95250" marB="95250" anchor="ctr"/>
                </a:tc>
                <a:tc>
                  <a:txBody>
                    <a:bodyPr/>
                    <a:lstStyle/>
                    <a:p>
                      <a:pPr algn="ctr" fontAlgn="base"/>
                      <a:r>
                        <a:rPr lang="en-GB" sz="1400" b="1">
                          <a:effectLst/>
                        </a:rPr>
                        <a:t>LSTM (Long Short-Term Memory)</a:t>
                      </a:r>
                    </a:p>
                  </a:txBody>
                  <a:tcPr marL="95250" marR="95250" marT="95250" marB="95250" anchor="ctr"/>
                </a:tc>
                <a:tc>
                  <a:txBody>
                    <a:bodyPr/>
                    <a:lstStyle/>
                    <a:p>
                      <a:pPr algn="ctr" fontAlgn="base"/>
                      <a:r>
                        <a:rPr lang="en-GB" sz="1400" b="1">
                          <a:effectLst/>
                        </a:rPr>
                        <a:t>GRU (Gated Recurrent Unit)</a:t>
                      </a:r>
                    </a:p>
                  </a:txBody>
                  <a:tcPr marL="95250" marR="95250" marT="95250" marB="95250" anchor="ctr"/>
                </a:tc>
                <a:extLst>
                  <a:ext uri="{0D108BD9-81ED-4DB2-BD59-A6C34878D82A}">
                    <a16:rowId xmlns:a16="http://schemas.microsoft.com/office/drawing/2014/main" val="3969174986"/>
                  </a:ext>
                </a:extLst>
              </a:tr>
              <a:tr h="457200">
                <a:tc>
                  <a:txBody>
                    <a:bodyPr/>
                    <a:lstStyle/>
                    <a:p>
                      <a:pPr algn="ctr" fontAlgn="base"/>
                      <a:r>
                        <a:rPr lang="en-GB" sz="1400" b="1">
                          <a:effectLst/>
                        </a:rPr>
                        <a:t>Gates</a:t>
                      </a:r>
                    </a:p>
                  </a:txBody>
                  <a:tcPr marL="38100" marR="38100" marT="93459" marB="93459" anchor="ctr"/>
                </a:tc>
                <a:tc>
                  <a:txBody>
                    <a:bodyPr/>
                    <a:lstStyle/>
                    <a:p>
                      <a:pPr algn="ctr" fontAlgn="ctr"/>
                      <a:r>
                        <a:rPr lang="en-GB" sz="1200" b="0">
                          <a:effectLst/>
                        </a:rPr>
                        <a:t>3 (Input, Forget, Output)</a:t>
                      </a:r>
                    </a:p>
                  </a:txBody>
                  <a:tcPr marL="95250" marR="95250" marT="133350" marB="133350" anchor="ctr"/>
                </a:tc>
                <a:tc>
                  <a:txBody>
                    <a:bodyPr/>
                    <a:lstStyle/>
                    <a:p>
                      <a:pPr algn="ctr" fontAlgn="ctr"/>
                      <a:r>
                        <a:rPr lang="en-GB" sz="1200" b="0">
                          <a:effectLst/>
                        </a:rPr>
                        <a:t>2 (Update, Reset)</a:t>
                      </a:r>
                    </a:p>
                  </a:txBody>
                  <a:tcPr marL="95250" marR="95250" marT="133350" marB="133350" anchor="ctr"/>
                </a:tc>
                <a:extLst>
                  <a:ext uri="{0D108BD9-81ED-4DB2-BD59-A6C34878D82A}">
                    <a16:rowId xmlns:a16="http://schemas.microsoft.com/office/drawing/2014/main" val="1627459309"/>
                  </a:ext>
                </a:extLst>
              </a:tr>
              <a:tr h="457200">
                <a:tc>
                  <a:txBody>
                    <a:bodyPr/>
                    <a:lstStyle/>
                    <a:p>
                      <a:pPr algn="ctr" fontAlgn="base"/>
                      <a:r>
                        <a:rPr lang="en-GB" sz="1400" b="1">
                          <a:effectLst/>
                        </a:rPr>
                        <a:t>Cell State</a:t>
                      </a:r>
                    </a:p>
                  </a:txBody>
                  <a:tcPr marL="38100" marR="38100" marT="93459" marB="93459" anchor="ctr"/>
                </a:tc>
                <a:tc>
                  <a:txBody>
                    <a:bodyPr/>
                    <a:lstStyle/>
                    <a:p>
                      <a:pPr algn="ctr" fontAlgn="ctr"/>
                      <a:r>
                        <a:rPr lang="en-GB" sz="1200" b="0">
                          <a:effectLst/>
                        </a:rPr>
                        <a:t>Yes it has cell state</a:t>
                      </a:r>
                    </a:p>
                  </a:txBody>
                  <a:tcPr marL="95250" marR="95250" marT="133350" marB="133350" anchor="ctr"/>
                </a:tc>
                <a:tc>
                  <a:txBody>
                    <a:bodyPr/>
                    <a:lstStyle/>
                    <a:p>
                      <a:pPr algn="ctr" fontAlgn="ctr"/>
                      <a:r>
                        <a:rPr lang="en-GB" sz="1200" b="0">
                          <a:effectLst/>
                        </a:rPr>
                        <a:t>No (Hidden state only)</a:t>
                      </a:r>
                    </a:p>
                  </a:txBody>
                  <a:tcPr marL="95250" marR="95250" marT="133350" marB="133350" anchor="ctr"/>
                </a:tc>
                <a:extLst>
                  <a:ext uri="{0D108BD9-81ED-4DB2-BD59-A6C34878D82A}">
                    <a16:rowId xmlns:a16="http://schemas.microsoft.com/office/drawing/2014/main" val="125130958"/>
                  </a:ext>
                </a:extLst>
              </a:tr>
              <a:tr h="457200">
                <a:tc>
                  <a:txBody>
                    <a:bodyPr/>
                    <a:lstStyle/>
                    <a:p>
                      <a:pPr algn="ctr" fontAlgn="base"/>
                      <a:r>
                        <a:rPr lang="en-GB" sz="1400" b="1">
                          <a:effectLst/>
                        </a:rPr>
                        <a:t>Training Speed</a:t>
                      </a:r>
                    </a:p>
                  </a:txBody>
                  <a:tcPr marL="38100" marR="38100" marT="93459" marB="93459" anchor="ctr"/>
                </a:tc>
                <a:tc>
                  <a:txBody>
                    <a:bodyPr/>
                    <a:lstStyle/>
                    <a:p>
                      <a:pPr algn="ctr" fontAlgn="ctr"/>
                      <a:r>
                        <a:rPr lang="en-GB" sz="1200" b="0" dirty="0">
                          <a:effectLst/>
                        </a:rPr>
                        <a:t>Slower due to complexity</a:t>
                      </a:r>
                    </a:p>
                  </a:txBody>
                  <a:tcPr marL="95250" marR="95250" marT="133350" marB="133350" anchor="ctr"/>
                </a:tc>
                <a:tc>
                  <a:txBody>
                    <a:bodyPr/>
                    <a:lstStyle/>
                    <a:p>
                      <a:pPr algn="ctr" fontAlgn="ctr"/>
                      <a:r>
                        <a:rPr lang="en-GB" sz="1200" b="0">
                          <a:effectLst/>
                        </a:rPr>
                        <a:t>Faster due to simpler architecture</a:t>
                      </a:r>
                    </a:p>
                  </a:txBody>
                  <a:tcPr marL="95250" marR="95250" marT="133350" marB="133350" anchor="ctr"/>
                </a:tc>
                <a:extLst>
                  <a:ext uri="{0D108BD9-81ED-4DB2-BD59-A6C34878D82A}">
                    <a16:rowId xmlns:a16="http://schemas.microsoft.com/office/drawing/2014/main" val="164009093"/>
                  </a:ext>
                </a:extLst>
              </a:tr>
              <a:tr h="613638">
                <a:tc>
                  <a:txBody>
                    <a:bodyPr/>
                    <a:lstStyle/>
                    <a:p>
                      <a:pPr algn="ctr" fontAlgn="base"/>
                      <a:r>
                        <a:rPr lang="en-GB" sz="1400" b="1">
                          <a:effectLst/>
                        </a:rPr>
                        <a:t>Computational Load</a:t>
                      </a:r>
                    </a:p>
                  </a:txBody>
                  <a:tcPr marL="38100" marR="38100" marT="93459" marB="93459" anchor="ctr"/>
                </a:tc>
                <a:tc>
                  <a:txBody>
                    <a:bodyPr/>
                    <a:lstStyle/>
                    <a:p>
                      <a:pPr algn="ctr" fontAlgn="ctr"/>
                      <a:r>
                        <a:rPr lang="en-GB" sz="1200" b="0">
                          <a:effectLst/>
                        </a:rPr>
                        <a:t>Higher due to more gates and parameters</a:t>
                      </a:r>
                    </a:p>
                  </a:txBody>
                  <a:tcPr marL="95250" marR="95250" marT="133350" marB="133350" anchor="ctr"/>
                </a:tc>
                <a:tc>
                  <a:txBody>
                    <a:bodyPr/>
                    <a:lstStyle/>
                    <a:p>
                      <a:pPr algn="ctr" fontAlgn="ctr"/>
                      <a:r>
                        <a:rPr lang="en-GB" sz="1200" b="0">
                          <a:effectLst/>
                        </a:rPr>
                        <a:t>Lower due to fewer gates and parameters</a:t>
                      </a:r>
                    </a:p>
                  </a:txBody>
                  <a:tcPr marL="95250" marR="95250" marT="133350" marB="133350" anchor="ctr"/>
                </a:tc>
                <a:extLst>
                  <a:ext uri="{0D108BD9-81ED-4DB2-BD59-A6C34878D82A}">
                    <a16:rowId xmlns:a16="http://schemas.microsoft.com/office/drawing/2014/main" val="1716468853"/>
                  </a:ext>
                </a:extLst>
              </a:tr>
              <a:tr h="647700">
                <a:tc>
                  <a:txBody>
                    <a:bodyPr/>
                    <a:lstStyle/>
                    <a:p>
                      <a:pPr algn="ctr" fontAlgn="base"/>
                      <a:r>
                        <a:rPr lang="en-GB" sz="1400" b="1">
                          <a:effectLst/>
                        </a:rPr>
                        <a:t>Performance</a:t>
                      </a:r>
                    </a:p>
                  </a:txBody>
                  <a:tcPr marL="38100" marR="38100" marT="93459" marB="93459" anchor="ctr"/>
                </a:tc>
                <a:tc>
                  <a:txBody>
                    <a:bodyPr/>
                    <a:lstStyle/>
                    <a:p>
                      <a:pPr algn="ctr" fontAlgn="ctr"/>
                      <a:r>
                        <a:rPr lang="en-GB" sz="1200" b="0">
                          <a:effectLst/>
                        </a:rPr>
                        <a:t>Often better in tasks requiring long-term memory</a:t>
                      </a:r>
                    </a:p>
                  </a:txBody>
                  <a:tcPr marL="95250" marR="95250" marT="133350" marB="133350" anchor="ctr"/>
                </a:tc>
                <a:tc>
                  <a:txBody>
                    <a:bodyPr/>
                    <a:lstStyle/>
                    <a:p>
                      <a:pPr algn="ctr" fontAlgn="ctr"/>
                      <a:r>
                        <a:rPr lang="en-GB" sz="1200" b="0" dirty="0">
                          <a:effectLst/>
                        </a:rPr>
                        <a:t>Performs similarly in many tasks with less complexity</a:t>
                      </a:r>
                    </a:p>
                  </a:txBody>
                  <a:tcPr marL="95250" marR="95250" marT="133350" marB="133350" anchor="ctr"/>
                </a:tc>
                <a:extLst>
                  <a:ext uri="{0D108BD9-81ED-4DB2-BD59-A6C34878D82A}">
                    <a16:rowId xmlns:a16="http://schemas.microsoft.com/office/drawing/2014/main" val="982298096"/>
                  </a:ext>
                </a:extLst>
              </a:tr>
            </a:tbl>
          </a:graphicData>
        </a:graphic>
      </p:graphicFrame>
    </p:spTree>
    <p:extLst>
      <p:ext uri="{BB962C8B-B14F-4D97-AF65-F5344CB8AC3E}">
        <p14:creationId xmlns:p14="http://schemas.microsoft.com/office/powerpoint/2010/main" val="2029934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/file/d/1PFRcwMSE9jDkYlX5PVytRvHLOLLQpylV/</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72000" y="1890944"/>
            <a:ext cx="4311517" cy="287118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https://</a:t>
            </a:r>
            <a:r>
              <a:rPr lang="en-GB" sz="2000" b="0" i="0" u="none" strike="noStrike" dirty="0" err="1">
                <a:solidFill>
                  <a:srgbClr val="404040"/>
                </a:solidFill>
                <a:effectLst/>
                <a:latin typeface="Inter" panose="02000503000000020004" pitchFamily="2" charset="0"/>
              </a:rPr>
              <a:t>www.geeksforgeeks.org</a:t>
            </a:r>
            <a:r>
              <a:rPr lang="en-GB" sz="2000" b="0" i="0" u="none" strike="noStrike" dirty="0">
                <a:solidFill>
                  <a:srgbClr val="404040"/>
                </a:solidFill>
                <a:effectLst/>
                <a:latin typeface="Inter" panose="02000503000000020004" pitchFamily="2" charset="0"/>
              </a:rPr>
              <a:t>/gated-recurrent-unit-networks/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16309</TotalTime>
  <Words>4148</Words>
  <Application>Microsoft Macintosh PowerPoint</Application>
  <PresentationFormat>On-screen Show (16:9)</PresentationFormat>
  <Paragraphs>229</Paragraphs>
  <Slides>28</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IBM Plex Sans Arabic SemiBold</vt:lpstr>
      <vt:lpstr>Arial</vt:lpstr>
      <vt:lpstr>IBM Plex Sans Arabic</vt:lpstr>
      <vt:lpstr>Times New Roman</vt:lpstr>
      <vt:lpstr>IBM Plex Sans Arabic Medium</vt:lpstr>
      <vt:lpstr>Calibri</vt:lpstr>
      <vt:lpstr>Inter</vt:lpstr>
      <vt:lpstr>Wingdings</vt:lpstr>
      <vt:lpstr>Nunito</vt:lpstr>
      <vt:lpstr>Tajawal</vt:lpstr>
      <vt:lpstr>Simple Light</vt:lpstr>
      <vt:lpstr>أكـــــاديميــــة طــــويـــق</vt:lpstr>
      <vt:lpstr>LSTM &amp; GRU Archiecture      </vt:lpstr>
      <vt:lpstr>PowerPoint Presentation</vt:lpstr>
      <vt:lpstr>Long Short-Term Memory (LSTM)    </vt:lpstr>
      <vt:lpstr>Long Short-Term Memory (LSTM)    </vt:lpstr>
      <vt:lpstr>Architecture of a Long Short-Term Memory (LSTM)    </vt:lpstr>
      <vt:lpstr>Architecture of a Long Short-Term Memory (LSTM)    </vt:lpstr>
      <vt:lpstr>Working of LSTM   LSTM architecture has a chain structure that contains four neural networks and different memory  blocks called cells.     </vt:lpstr>
      <vt:lpstr>Working of GATES        </vt:lpstr>
      <vt:lpstr>Working of GATES        </vt:lpstr>
      <vt:lpstr>Working of GATES        </vt:lpstr>
      <vt:lpstr>Working of GATES        </vt:lpstr>
      <vt:lpstr>Working of GATES        </vt:lpstr>
      <vt:lpstr>Bidirectional LSTMs    </vt:lpstr>
      <vt:lpstr>Applications of LSTM      </vt:lpstr>
      <vt:lpstr>Gated Recurrent Units (GRUs)       </vt:lpstr>
      <vt:lpstr>Gated Recurrent Units (GRUs)       </vt:lpstr>
      <vt:lpstr>Gated Recurrent Units (GRUs)       </vt:lpstr>
      <vt:lpstr>Working of Gated Recurrent Units (GRUs)       </vt:lpstr>
      <vt:lpstr>Working of Gated Recurrent Units (GRUs)       </vt:lpstr>
      <vt:lpstr>Working of Gated Recurrent Units (GRUs)       </vt:lpstr>
      <vt:lpstr>Working of Gated Recurrent Units (GRUs)       </vt:lpstr>
      <vt:lpstr>GRUs Mitigate the Vanishing Gradient Problem      </vt:lpstr>
      <vt:lpstr>GRU Vs LSTM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48</cp:revision>
  <dcterms:modified xsi:type="dcterms:W3CDTF">2025-05-14T16:32:45Z</dcterms:modified>
</cp:coreProperties>
</file>