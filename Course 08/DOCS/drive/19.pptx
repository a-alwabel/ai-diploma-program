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31"/>
  </p:notesMasterIdLst>
  <p:sldIdLst>
    <p:sldId id="256" r:id="rId2"/>
    <p:sldId id="257" r:id="rId3"/>
    <p:sldId id="258" r:id="rId4"/>
    <p:sldId id="298" r:id="rId5"/>
    <p:sldId id="588" r:id="rId6"/>
    <p:sldId id="539" r:id="rId7"/>
    <p:sldId id="583" r:id="rId8"/>
    <p:sldId id="567" r:id="rId9"/>
    <p:sldId id="568" r:id="rId10"/>
    <p:sldId id="585" r:id="rId11"/>
    <p:sldId id="607" r:id="rId12"/>
    <p:sldId id="608" r:id="rId13"/>
    <p:sldId id="619" r:id="rId14"/>
    <p:sldId id="620" r:id="rId15"/>
    <p:sldId id="621" r:id="rId16"/>
    <p:sldId id="609" r:id="rId17"/>
    <p:sldId id="610" r:id="rId18"/>
    <p:sldId id="611" r:id="rId19"/>
    <p:sldId id="612" r:id="rId20"/>
    <p:sldId id="613" r:id="rId21"/>
    <p:sldId id="614" r:id="rId22"/>
    <p:sldId id="615" r:id="rId23"/>
    <p:sldId id="616" r:id="rId24"/>
    <p:sldId id="617" r:id="rId25"/>
    <p:sldId id="618" r:id="rId26"/>
    <p:sldId id="370" r:id="rId27"/>
    <p:sldId id="312" r:id="rId28"/>
    <p:sldId id="275" r:id="rId29"/>
    <p:sldId id="276" r:id="rId30"/>
  </p:sldIdLst>
  <p:sldSz cx="9144000" cy="5143500" type="screen16x9"/>
  <p:notesSz cx="6858000" cy="9144000"/>
  <p:embeddedFontLst>
    <p:embeddedFont>
      <p:font typeface="IBM Plex Sans Arabic" panose="020B0603050203000203" pitchFamily="34" charset="-78"/>
      <p:regular r:id="rId32"/>
      <p:bold r:id="rId33"/>
    </p:embeddedFont>
    <p:embeddedFont>
      <p:font typeface="IBM Plex Sans Arabic Medium" panose="020B0603050203000203" pitchFamily="34" charset="-78"/>
      <p:regular r:id="rId34"/>
      <p:bold r:id="rId35"/>
    </p:embeddedFont>
    <p:embeddedFont>
      <p:font typeface="IBM Plex Sans Arabic SemiBold" panose="020B0603050203000203" pitchFamily="34" charset="-78"/>
      <p:regular r:id="rId36"/>
      <p:bold r:id="rId37"/>
    </p:embeddedFont>
    <p:embeddedFont>
      <p:font typeface="Inter" panose="020F0502020204030204" pitchFamily="34" charset="0"/>
      <p:regular r:id="rId38"/>
      <p:bold r:id="rId39"/>
      <p:italic r:id="rId40"/>
      <p:boldItalic r:id="rId41"/>
    </p:embeddedFont>
    <p:embeddedFont>
      <p:font typeface="Tajawal" pitchFamily="2" charset="-78"/>
      <p:regular r:id="rId42"/>
      <p:bold r:id="rId43"/>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524">
          <p15:clr>
            <a:srgbClr val="747775"/>
          </p15:clr>
        </p15:guide>
        <p15:guide id="2" orient="horz" pos="2560">
          <p15:clr>
            <a:srgbClr val="747775"/>
          </p15:clr>
        </p15:guide>
        <p15:guide id="3" pos="2880">
          <p15:clr>
            <a:srgbClr val="747775"/>
          </p15:clr>
        </p15:guide>
        <p15:guide id="4" orient="horz" pos="759">
          <p15:clr>
            <a:srgbClr val="747775"/>
          </p15:clr>
        </p15:guide>
        <p15:guide id="5" orient="horz" pos="2428">
          <p15:clr>
            <a:srgbClr val="747775"/>
          </p15:clr>
        </p15:guide>
        <p15:guide id="6" pos="5325">
          <p15:clr>
            <a:srgbClr val="747775"/>
          </p15:clr>
        </p15:guide>
        <p15:guide id="7" orient="horz" pos="960">
          <p15:clr>
            <a:srgbClr val="747775"/>
          </p15:clr>
        </p15:guide>
      </p15:sldGuideLst>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55" roundtripDataSignature="AMtx7mgKcFO/Xev719AjEfE5iQO6xfjKKQ=="/>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41E1F5B-7058-4A9B-AF8C-0847D0C7EE07}">
  <a:tblStyle styleId="{541E1F5B-7058-4A9B-AF8C-0847D0C7EE07}" styleName="Table_0">
    <a:wholeTbl>
      <a:tcTxStyle b="off" i="off">
        <a:font>
          <a:latin typeface="Arial"/>
          <a:ea typeface="Arial"/>
          <a:cs typeface="Arial"/>
        </a:font>
        <a:srgbClr val="000000"/>
      </a:tcTxStyle>
      <a:tcStyle>
        <a:tcBdr>
          <a:left>
            <a:ln w="12700" cap="flat" cmpd="sng">
              <a:solidFill>
                <a:srgbClr val="000000"/>
              </a:solidFill>
              <a:prstDash val="solid"/>
              <a:round/>
              <a:headEnd type="none" w="sm" len="sm"/>
              <a:tailEnd type="none" w="sm" len="sm"/>
            </a:ln>
          </a:left>
          <a:right>
            <a:ln w="12700" cap="flat" cmpd="sng">
              <a:solidFill>
                <a:srgbClr val="000000"/>
              </a:solidFill>
              <a:prstDash val="solid"/>
              <a:round/>
              <a:headEnd type="none" w="sm" len="sm"/>
              <a:tailEnd type="none" w="sm" len="sm"/>
            </a:ln>
          </a:right>
          <a:top>
            <a:ln w="12700" cap="flat" cmpd="sng">
              <a:solidFill>
                <a:srgbClr val="000000"/>
              </a:solidFill>
              <a:prstDash val="solid"/>
              <a:round/>
              <a:headEnd type="none" w="sm" len="sm"/>
              <a:tailEnd type="none" w="sm" len="sm"/>
            </a:ln>
          </a:top>
          <a:bottom>
            <a:ln w="12700" cap="flat" cmpd="sng">
              <a:solidFill>
                <a:srgbClr val="000000"/>
              </a:solidFill>
              <a:prstDash val="solid"/>
              <a:round/>
              <a:headEnd type="none" w="sm" len="sm"/>
              <a:tailEnd type="none" w="sm" len="sm"/>
            </a:ln>
          </a:bottom>
          <a:insideH>
            <a:ln w="12700" cap="flat" cmpd="sng">
              <a:solidFill>
                <a:srgbClr val="000000"/>
              </a:solidFill>
              <a:prstDash val="solid"/>
              <a:round/>
              <a:headEnd type="none" w="sm" len="sm"/>
              <a:tailEnd type="none" w="sm" len="sm"/>
            </a:ln>
          </a:insideH>
          <a:insideV>
            <a:ln w="12700" cap="flat" cmpd="sng">
              <a:solidFill>
                <a:srgbClr val="000000"/>
              </a:solidFill>
              <a:prstDash val="solid"/>
              <a:round/>
              <a:headEnd type="none" w="sm" len="sm"/>
              <a:tailEnd type="none" w="sm" len="sm"/>
            </a:ln>
          </a:insideV>
        </a:tcBdr>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 styleId="{327F97BB-C833-4FB7-BDE5-3F7075034690}" styleName="Themed Style 2 – Accent 5">
    <a:tblBg>
      <a:fillRef idx="3">
        <a:schemeClr val="accent5"/>
      </a:fillRef>
      <a:effectRef idx="3">
        <a:schemeClr val="accent5"/>
      </a:effectRef>
    </a:tblBg>
    <a:wholeTbl>
      <a:tcTxStyle>
        <a:fontRef idx="minor">
          <a:scrgbClr r="0" g="0" b="0"/>
        </a:fontRef>
        <a:schemeClr val="lt1"/>
      </a:tcTxStyle>
      <a:tcStyle>
        <a:tcBdr>
          <a:left>
            <a:lnRef idx="1">
              <a:schemeClr val="accent5">
                <a:tint val="50000"/>
              </a:schemeClr>
            </a:lnRef>
          </a:left>
          <a:right>
            <a:lnRef idx="1">
              <a:schemeClr val="accent5">
                <a:tint val="50000"/>
              </a:schemeClr>
            </a:lnRef>
          </a:right>
          <a:top>
            <a:lnRef idx="1">
              <a:schemeClr val="accent5">
                <a:tint val="50000"/>
              </a:schemeClr>
            </a:lnRef>
          </a:top>
          <a:bottom>
            <a:lnRef idx="1">
              <a:schemeClr val="accent5">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D03447BB-5D67-496B-8E87-E561075AD55C}" styleName="Dark Style 1 – Accent 3">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3"/>
          </a:solidFill>
        </a:fill>
      </a:tcStyle>
    </a:wholeTbl>
    <a:band1H>
      <a:tcStyle>
        <a:tcBdr/>
        <a:fill>
          <a:solidFill>
            <a:schemeClr val="accent3">
              <a:shade val="60000"/>
            </a:schemeClr>
          </a:solidFill>
        </a:fill>
      </a:tcStyle>
    </a:band1H>
    <a:band1V>
      <a:tcStyle>
        <a:tcBdr/>
        <a:fill>
          <a:solidFill>
            <a:schemeClr val="accent3">
              <a:shade val="60000"/>
            </a:schemeClr>
          </a:solidFill>
        </a:fill>
      </a:tcStyle>
    </a:band1V>
    <a:lastCol>
      <a:tcTxStyle b="on"/>
      <a:tcStyle>
        <a:tcBdr>
          <a:left>
            <a:ln w="25400" cmpd="sng">
              <a:solidFill>
                <a:schemeClr val="lt1"/>
              </a:solidFill>
            </a:ln>
          </a:left>
        </a:tcBdr>
        <a:fill>
          <a:solidFill>
            <a:schemeClr val="accent3">
              <a:shade val="60000"/>
            </a:schemeClr>
          </a:solidFill>
        </a:fill>
      </a:tcStyle>
    </a:lastCol>
    <a:firstCol>
      <a:tcTxStyle b="on"/>
      <a:tcStyle>
        <a:tcBdr>
          <a:right>
            <a:ln w="25400" cmpd="sng">
              <a:solidFill>
                <a:schemeClr val="lt1"/>
              </a:solidFill>
            </a:ln>
          </a:right>
        </a:tcBdr>
        <a:fill>
          <a:solidFill>
            <a:schemeClr val="accent3">
              <a:shade val="60000"/>
            </a:schemeClr>
          </a:solidFill>
        </a:fill>
      </a:tcStyle>
    </a:firstCol>
    <a:lastRow>
      <a:tcTxStyle b="on"/>
      <a:tcStyle>
        <a:tcBdr>
          <a:top>
            <a:ln w="25400" cmpd="sng">
              <a:solidFill>
                <a:schemeClr val="lt1"/>
              </a:solidFill>
            </a:ln>
          </a:top>
        </a:tcBdr>
        <a:fill>
          <a:solidFill>
            <a:schemeClr val="accent3">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0660B408-B3CF-4A94-85FC-2B1E0A45F4A2}" styleName="Dark Style 2 – Accent 1/Accent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1">
              <a:tint val="20000"/>
            </a:schemeClr>
          </a:solidFill>
        </a:fill>
      </a:tcStyle>
    </a:lastRow>
    <a:firstRow>
      <a:tcTxStyle b="on">
        <a:fontRef idx="minor">
          <a:scrgbClr r="0" g="0" b="0"/>
        </a:fontRef>
        <a:schemeClr val="lt1"/>
      </a:tcTxStyle>
      <a:tcStyle>
        <a:tcBdr/>
        <a:fill>
          <a:solidFill>
            <a:schemeClr val="accent2"/>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2147"/>
    <p:restoredTop sz="94227"/>
  </p:normalViewPr>
  <p:slideViewPr>
    <p:cSldViewPr snapToGrid="0">
      <p:cViewPr varScale="1">
        <p:scale>
          <a:sx n="175" d="100"/>
          <a:sy n="175" d="100"/>
        </p:scale>
        <p:origin x="176" y="720"/>
      </p:cViewPr>
      <p:guideLst>
        <p:guide orient="horz" pos="524"/>
        <p:guide orient="horz" pos="2560"/>
        <p:guide pos="2880"/>
        <p:guide orient="horz" pos="759"/>
        <p:guide orient="horz" pos="2428"/>
        <p:guide pos="5325"/>
        <p:guide orient="horz" pos="96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8.fntdata"/><Relationship Id="rId21" Type="http://schemas.openxmlformats.org/officeDocument/2006/relationships/slide" Target="slides/slide20.xml"/><Relationship Id="rId34" Type="http://schemas.openxmlformats.org/officeDocument/2006/relationships/font" Target="fonts/font3.fntdata"/><Relationship Id="rId42" Type="http://schemas.openxmlformats.org/officeDocument/2006/relationships/font" Target="fonts/font11.fntdata"/><Relationship Id="rId55" Type="http://customschemas.google.com/relationships/presentationmetadata" Target="metadata"/><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1.fntdata"/><Relationship Id="rId37" Type="http://schemas.openxmlformats.org/officeDocument/2006/relationships/font" Target="fonts/font6.fntdata"/><Relationship Id="rId40" Type="http://schemas.openxmlformats.org/officeDocument/2006/relationships/font" Target="fonts/font9.fntdata"/><Relationship Id="rId58"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font" Target="fonts/font5.fntdata"/><Relationship Id="rId57"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font" Target="fonts/font4.fntdata"/><Relationship Id="rId43" Type="http://schemas.openxmlformats.org/officeDocument/2006/relationships/font" Target="fonts/font12.fntdata"/><Relationship Id="rId56"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2.fntdata"/><Relationship Id="rId38" Type="http://schemas.openxmlformats.org/officeDocument/2006/relationships/font" Target="fonts/font7.fntdata"/><Relationship Id="rId59"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font" Target="fonts/font10.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
        <p:cNvGrpSpPr/>
        <p:nvPr/>
      </p:nvGrpSpPr>
      <p:grpSpPr>
        <a:xfrm>
          <a:off x="0" y="0"/>
          <a:ext cx="0" cy="0"/>
          <a:chOff x="0" y="0"/>
          <a:chExt cx="0" cy="0"/>
        </a:xfrm>
      </p:grpSpPr>
      <p:sp>
        <p:nvSpPr>
          <p:cNvPr id="40" name="Google Shape;40;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1" name="Google Shape;41;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
        <p:cNvGrpSpPr/>
        <p:nvPr/>
      </p:nvGrpSpPr>
      <p:grpSpPr>
        <a:xfrm>
          <a:off x="0" y="0"/>
          <a:ext cx="0" cy="0"/>
          <a:chOff x="0" y="0"/>
          <a:chExt cx="0" cy="0"/>
        </a:xfrm>
      </p:grpSpPr>
      <p:sp>
        <p:nvSpPr>
          <p:cNvPr id="46" name="Google Shape;46;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7" name="Google Shape;47;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
        <p:cNvGrpSpPr/>
        <p:nvPr/>
      </p:nvGrpSpPr>
      <p:grpSpPr>
        <a:xfrm>
          <a:off x="0" y="0"/>
          <a:ext cx="0" cy="0"/>
          <a:chOff x="0" y="0"/>
          <a:chExt cx="0" cy="0"/>
        </a:xfrm>
      </p:grpSpPr>
      <p:sp>
        <p:nvSpPr>
          <p:cNvPr id="53" name="Google Shape;53;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4" name="Google Shape;54;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a:extLst>
            <a:ext uri="{FF2B5EF4-FFF2-40B4-BE49-F238E27FC236}">
              <a16:creationId xmlns:a16="http://schemas.microsoft.com/office/drawing/2014/main" id="{1CE20816-1F24-46D9-89DD-6FFEE700F241}"/>
            </a:ext>
          </a:extLst>
        </p:cNvPr>
        <p:cNvGrpSpPr/>
        <p:nvPr/>
      </p:nvGrpSpPr>
      <p:grpSpPr>
        <a:xfrm>
          <a:off x="0" y="0"/>
          <a:ext cx="0" cy="0"/>
          <a:chOff x="0" y="0"/>
          <a:chExt cx="0" cy="0"/>
        </a:xfrm>
      </p:grpSpPr>
      <p:sp>
        <p:nvSpPr>
          <p:cNvPr id="58" name="Google Shape;58;p4:notes">
            <a:extLst>
              <a:ext uri="{FF2B5EF4-FFF2-40B4-BE49-F238E27FC236}">
                <a16:creationId xmlns:a16="http://schemas.microsoft.com/office/drawing/2014/main" id="{07CD495B-FC5A-F226-2523-6E0861CBC80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59" name="Google Shape;59;p4:notes">
            <a:extLst>
              <a:ext uri="{FF2B5EF4-FFF2-40B4-BE49-F238E27FC236}">
                <a16:creationId xmlns:a16="http://schemas.microsoft.com/office/drawing/2014/main" id="{6B7203EE-8E11-9321-099D-0620FB18387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93981759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a:extLst>
            <a:ext uri="{FF2B5EF4-FFF2-40B4-BE49-F238E27FC236}">
              <a16:creationId xmlns:a16="http://schemas.microsoft.com/office/drawing/2014/main" id="{B62118B4-1173-7AFC-87E1-C65D8A3C3F54}"/>
            </a:ext>
          </a:extLst>
        </p:cNvPr>
        <p:cNvGrpSpPr/>
        <p:nvPr/>
      </p:nvGrpSpPr>
      <p:grpSpPr>
        <a:xfrm>
          <a:off x="0" y="0"/>
          <a:ext cx="0" cy="0"/>
          <a:chOff x="0" y="0"/>
          <a:chExt cx="0" cy="0"/>
        </a:xfrm>
      </p:grpSpPr>
      <p:sp>
        <p:nvSpPr>
          <p:cNvPr id="58" name="Google Shape;58;p4:notes">
            <a:extLst>
              <a:ext uri="{FF2B5EF4-FFF2-40B4-BE49-F238E27FC236}">
                <a16:creationId xmlns:a16="http://schemas.microsoft.com/office/drawing/2014/main" id="{508809AF-4CA4-BFAD-BE36-3FBB248E084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59" name="Google Shape;59;p4:notes">
            <a:extLst>
              <a:ext uri="{FF2B5EF4-FFF2-40B4-BE49-F238E27FC236}">
                <a16:creationId xmlns:a16="http://schemas.microsoft.com/office/drawing/2014/main" id="{EB0B25C2-2E64-E05F-88BD-CABD5F7D7E6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91917563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a:extLst>
            <a:ext uri="{FF2B5EF4-FFF2-40B4-BE49-F238E27FC236}">
              <a16:creationId xmlns:a16="http://schemas.microsoft.com/office/drawing/2014/main" id="{D6B9BDE8-2C21-E8E2-343E-690C2E12EF02}"/>
            </a:ext>
          </a:extLst>
        </p:cNvPr>
        <p:cNvGrpSpPr/>
        <p:nvPr/>
      </p:nvGrpSpPr>
      <p:grpSpPr>
        <a:xfrm>
          <a:off x="0" y="0"/>
          <a:ext cx="0" cy="0"/>
          <a:chOff x="0" y="0"/>
          <a:chExt cx="0" cy="0"/>
        </a:xfrm>
      </p:grpSpPr>
      <p:sp>
        <p:nvSpPr>
          <p:cNvPr id="58" name="Google Shape;58;p4:notes">
            <a:extLst>
              <a:ext uri="{FF2B5EF4-FFF2-40B4-BE49-F238E27FC236}">
                <a16:creationId xmlns:a16="http://schemas.microsoft.com/office/drawing/2014/main" id="{2E229485-EB2F-925E-9172-598BFC53F1C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59" name="Google Shape;59;p4:notes">
            <a:extLst>
              <a:ext uri="{FF2B5EF4-FFF2-40B4-BE49-F238E27FC236}">
                <a16:creationId xmlns:a16="http://schemas.microsoft.com/office/drawing/2014/main" id="{5DB3474E-4E76-9301-6F58-CEFCA74FABC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27433960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a:extLst>
            <a:ext uri="{FF2B5EF4-FFF2-40B4-BE49-F238E27FC236}">
              <a16:creationId xmlns:a16="http://schemas.microsoft.com/office/drawing/2014/main" id="{5B836598-9389-0CAC-2F30-73155BAE667E}"/>
            </a:ext>
          </a:extLst>
        </p:cNvPr>
        <p:cNvGrpSpPr/>
        <p:nvPr/>
      </p:nvGrpSpPr>
      <p:grpSpPr>
        <a:xfrm>
          <a:off x="0" y="0"/>
          <a:ext cx="0" cy="0"/>
          <a:chOff x="0" y="0"/>
          <a:chExt cx="0" cy="0"/>
        </a:xfrm>
      </p:grpSpPr>
      <p:sp>
        <p:nvSpPr>
          <p:cNvPr id="58" name="Google Shape;58;p4:notes">
            <a:extLst>
              <a:ext uri="{FF2B5EF4-FFF2-40B4-BE49-F238E27FC236}">
                <a16:creationId xmlns:a16="http://schemas.microsoft.com/office/drawing/2014/main" id="{F22F0D46-87CC-3FBA-3915-801A91E40F9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59" name="Google Shape;59;p4:notes">
            <a:extLst>
              <a:ext uri="{FF2B5EF4-FFF2-40B4-BE49-F238E27FC236}">
                <a16:creationId xmlns:a16="http://schemas.microsoft.com/office/drawing/2014/main" id="{0FE17BCE-DBBB-C07A-CBA3-F17A0D6E5AB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53721923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a:extLst>
            <a:ext uri="{FF2B5EF4-FFF2-40B4-BE49-F238E27FC236}">
              <a16:creationId xmlns:a16="http://schemas.microsoft.com/office/drawing/2014/main" id="{33409D09-AE72-A11D-60FE-D7260A70AEBB}"/>
            </a:ext>
          </a:extLst>
        </p:cNvPr>
        <p:cNvGrpSpPr/>
        <p:nvPr/>
      </p:nvGrpSpPr>
      <p:grpSpPr>
        <a:xfrm>
          <a:off x="0" y="0"/>
          <a:ext cx="0" cy="0"/>
          <a:chOff x="0" y="0"/>
          <a:chExt cx="0" cy="0"/>
        </a:xfrm>
      </p:grpSpPr>
      <p:sp>
        <p:nvSpPr>
          <p:cNvPr id="58" name="Google Shape;58;p4:notes">
            <a:extLst>
              <a:ext uri="{FF2B5EF4-FFF2-40B4-BE49-F238E27FC236}">
                <a16:creationId xmlns:a16="http://schemas.microsoft.com/office/drawing/2014/main" id="{C9E99DA8-A180-9C9D-B77E-FCDA4C517B6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59" name="Google Shape;59;p4:notes">
            <a:extLst>
              <a:ext uri="{FF2B5EF4-FFF2-40B4-BE49-F238E27FC236}">
                <a16:creationId xmlns:a16="http://schemas.microsoft.com/office/drawing/2014/main" id="{1AC3140F-2990-F249-4B9A-9AA5B039C98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68194613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a:extLst>
            <a:ext uri="{FF2B5EF4-FFF2-40B4-BE49-F238E27FC236}">
              <a16:creationId xmlns:a16="http://schemas.microsoft.com/office/drawing/2014/main" id="{7C3CBAEE-3CA6-3524-EE2A-2CCE2EF127EF}"/>
            </a:ext>
          </a:extLst>
        </p:cNvPr>
        <p:cNvGrpSpPr/>
        <p:nvPr/>
      </p:nvGrpSpPr>
      <p:grpSpPr>
        <a:xfrm>
          <a:off x="0" y="0"/>
          <a:ext cx="0" cy="0"/>
          <a:chOff x="0" y="0"/>
          <a:chExt cx="0" cy="0"/>
        </a:xfrm>
      </p:grpSpPr>
      <p:sp>
        <p:nvSpPr>
          <p:cNvPr id="58" name="Google Shape;58;p4:notes">
            <a:extLst>
              <a:ext uri="{FF2B5EF4-FFF2-40B4-BE49-F238E27FC236}">
                <a16:creationId xmlns:a16="http://schemas.microsoft.com/office/drawing/2014/main" id="{FFCDCA62-EA06-9839-365E-35966829F78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59" name="Google Shape;59;p4:notes">
            <a:extLst>
              <a:ext uri="{FF2B5EF4-FFF2-40B4-BE49-F238E27FC236}">
                <a16:creationId xmlns:a16="http://schemas.microsoft.com/office/drawing/2014/main" id="{4FD1D454-EF54-B47F-B4BC-AA709624B0E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50002554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a:extLst>
            <a:ext uri="{FF2B5EF4-FFF2-40B4-BE49-F238E27FC236}">
              <a16:creationId xmlns:a16="http://schemas.microsoft.com/office/drawing/2014/main" id="{1463ECF7-ACB1-108C-A5FB-0A5670605DE9}"/>
            </a:ext>
          </a:extLst>
        </p:cNvPr>
        <p:cNvGrpSpPr/>
        <p:nvPr/>
      </p:nvGrpSpPr>
      <p:grpSpPr>
        <a:xfrm>
          <a:off x="0" y="0"/>
          <a:ext cx="0" cy="0"/>
          <a:chOff x="0" y="0"/>
          <a:chExt cx="0" cy="0"/>
        </a:xfrm>
      </p:grpSpPr>
      <p:sp>
        <p:nvSpPr>
          <p:cNvPr id="58" name="Google Shape;58;p4:notes">
            <a:extLst>
              <a:ext uri="{FF2B5EF4-FFF2-40B4-BE49-F238E27FC236}">
                <a16:creationId xmlns:a16="http://schemas.microsoft.com/office/drawing/2014/main" id="{4EAAE672-E659-E6D8-B768-4A8FE58DCCA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59" name="Google Shape;59;p4:notes">
            <a:extLst>
              <a:ext uri="{FF2B5EF4-FFF2-40B4-BE49-F238E27FC236}">
                <a16:creationId xmlns:a16="http://schemas.microsoft.com/office/drawing/2014/main" id="{498829AE-4D23-246B-902C-C23A0DFE18B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19254643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a:extLst>
            <a:ext uri="{FF2B5EF4-FFF2-40B4-BE49-F238E27FC236}">
              <a16:creationId xmlns:a16="http://schemas.microsoft.com/office/drawing/2014/main" id="{68F122E5-BCC2-3038-34EC-13DC690C7686}"/>
            </a:ext>
          </a:extLst>
        </p:cNvPr>
        <p:cNvGrpSpPr/>
        <p:nvPr/>
      </p:nvGrpSpPr>
      <p:grpSpPr>
        <a:xfrm>
          <a:off x="0" y="0"/>
          <a:ext cx="0" cy="0"/>
          <a:chOff x="0" y="0"/>
          <a:chExt cx="0" cy="0"/>
        </a:xfrm>
      </p:grpSpPr>
      <p:sp>
        <p:nvSpPr>
          <p:cNvPr id="58" name="Google Shape;58;p4:notes">
            <a:extLst>
              <a:ext uri="{FF2B5EF4-FFF2-40B4-BE49-F238E27FC236}">
                <a16:creationId xmlns:a16="http://schemas.microsoft.com/office/drawing/2014/main" id="{8756C5D4-BD26-E337-917D-A4DFB30084C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59" name="Google Shape;59;p4:notes">
            <a:extLst>
              <a:ext uri="{FF2B5EF4-FFF2-40B4-BE49-F238E27FC236}">
                <a16:creationId xmlns:a16="http://schemas.microsoft.com/office/drawing/2014/main" id="{BE69F336-8B20-BDD0-5534-230534391CE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24351643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a:extLst>
            <a:ext uri="{FF2B5EF4-FFF2-40B4-BE49-F238E27FC236}">
              <a16:creationId xmlns:a16="http://schemas.microsoft.com/office/drawing/2014/main" id="{12B32C10-FF77-95A3-92C8-33FAF90595BD}"/>
            </a:ext>
          </a:extLst>
        </p:cNvPr>
        <p:cNvGrpSpPr/>
        <p:nvPr/>
      </p:nvGrpSpPr>
      <p:grpSpPr>
        <a:xfrm>
          <a:off x="0" y="0"/>
          <a:ext cx="0" cy="0"/>
          <a:chOff x="0" y="0"/>
          <a:chExt cx="0" cy="0"/>
        </a:xfrm>
      </p:grpSpPr>
      <p:sp>
        <p:nvSpPr>
          <p:cNvPr id="58" name="Google Shape;58;p4:notes">
            <a:extLst>
              <a:ext uri="{FF2B5EF4-FFF2-40B4-BE49-F238E27FC236}">
                <a16:creationId xmlns:a16="http://schemas.microsoft.com/office/drawing/2014/main" id="{61D5FAFE-A5FF-DEB5-5EA8-B5B6AD75C43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59" name="Google Shape;59;p4:notes">
            <a:extLst>
              <a:ext uri="{FF2B5EF4-FFF2-40B4-BE49-F238E27FC236}">
                <a16:creationId xmlns:a16="http://schemas.microsoft.com/office/drawing/2014/main" id="{082149EA-81EA-EF8B-F365-C55A4619D89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00543624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a:extLst>
            <a:ext uri="{FF2B5EF4-FFF2-40B4-BE49-F238E27FC236}">
              <a16:creationId xmlns:a16="http://schemas.microsoft.com/office/drawing/2014/main" id="{E2DD2E33-2FD1-0C60-ED96-2AFEB00D0B03}"/>
            </a:ext>
          </a:extLst>
        </p:cNvPr>
        <p:cNvGrpSpPr/>
        <p:nvPr/>
      </p:nvGrpSpPr>
      <p:grpSpPr>
        <a:xfrm>
          <a:off x="0" y="0"/>
          <a:ext cx="0" cy="0"/>
          <a:chOff x="0" y="0"/>
          <a:chExt cx="0" cy="0"/>
        </a:xfrm>
      </p:grpSpPr>
      <p:sp>
        <p:nvSpPr>
          <p:cNvPr id="58" name="Google Shape;58;p4:notes">
            <a:extLst>
              <a:ext uri="{FF2B5EF4-FFF2-40B4-BE49-F238E27FC236}">
                <a16:creationId xmlns:a16="http://schemas.microsoft.com/office/drawing/2014/main" id="{D123A427-C8D7-D7ED-28C9-965BD845D14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59" name="Google Shape;59;p4:notes">
            <a:extLst>
              <a:ext uri="{FF2B5EF4-FFF2-40B4-BE49-F238E27FC236}">
                <a16:creationId xmlns:a16="http://schemas.microsoft.com/office/drawing/2014/main" id="{22D58835-65BA-1710-D1AF-F5502463F70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48040459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a:extLst>
            <a:ext uri="{FF2B5EF4-FFF2-40B4-BE49-F238E27FC236}">
              <a16:creationId xmlns:a16="http://schemas.microsoft.com/office/drawing/2014/main" id="{685873C5-0777-B1E7-15AF-16A894C73989}"/>
            </a:ext>
          </a:extLst>
        </p:cNvPr>
        <p:cNvGrpSpPr/>
        <p:nvPr/>
      </p:nvGrpSpPr>
      <p:grpSpPr>
        <a:xfrm>
          <a:off x="0" y="0"/>
          <a:ext cx="0" cy="0"/>
          <a:chOff x="0" y="0"/>
          <a:chExt cx="0" cy="0"/>
        </a:xfrm>
      </p:grpSpPr>
      <p:sp>
        <p:nvSpPr>
          <p:cNvPr id="58" name="Google Shape;58;p4:notes">
            <a:extLst>
              <a:ext uri="{FF2B5EF4-FFF2-40B4-BE49-F238E27FC236}">
                <a16:creationId xmlns:a16="http://schemas.microsoft.com/office/drawing/2014/main" id="{7A56E078-E590-5C4E-4B9D-B6878C5DC70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59" name="Google Shape;59;p4:notes">
            <a:extLst>
              <a:ext uri="{FF2B5EF4-FFF2-40B4-BE49-F238E27FC236}">
                <a16:creationId xmlns:a16="http://schemas.microsoft.com/office/drawing/2014/main" id="{D97F0C58-0E28-3A08-580C-700A9F4A5E2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4449594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a:extLst>
            <a:ext uri="{FF2B5EF4-FFF2-40B4-BE49-F238E27FC236}">
              <a16:creationId xmlns:a16="http://schemas.microsoft.com/office/drawing/2014/main" id="{09D89A90-8D16-9E90-3747-F8EA336E5C5D}"/>
            </a:ext>
          </a:extLst>
        </p:cNvPr>
        <p:cNvGrpSpPr/>
        <p:nvPr/>
      </p:nvGrpSpPr>
      <p:grpSpPr>
        <a:xfrm>
          <a:off x="0" y="0"/>
          <a:ext cx="0" cy="0"/>
          <a:chOff x="0" y="0"/>
          <a:chExt cx="0" cy="0"/>
        </a:xfrm>
      </p:grpSpPr>
      <p:sp>
        <p:nvSpPr>
          <p:cNvPr id="58" name="Google Shape;58;p4:notes">
            <a:extLst>
              <a:ext uri="{FF2B5EF4-FFF2-40B4-BE49-F238E27FC236}">
                <a16:creationId xmlns:a16="http://schemas.microsoft.com/office/drawing/2014/main" id="{19D334F5-6B02-790E-1518-7A6808B389E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59" name="Google Shape;59;p4:notes">
            <a:extLst>
              <a:ext uri="{FF2B5EF4-FFF2-40B4-BE49-F238E27FC236}">
                <a16:creationId xmlns:a16="http://schemas.microsoft.com/office/drawing/2014/main" id="{EA1274FC-BA84-F7CA-7EFC-1F2663C143E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2553604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a:extLst>
            <a:ext uri="{FF2B5EF4-FFF2-40B4-BE49-F238E27FC236}">
              <a16:creationId xmlns:a16="http://schemas.microsoft.com/office/drawing/2014/main" id="{B21CB680-D1B0-AAC3-F7F4-2E11C82602A7}"/>
            </a:ext>
          </a:extLst>
        </p:cNvPr>
        <p:cNvGrpSpPr/>
        <p:nvPr/>
      </p:nvGrpSpPr>
      <p:grpSpPr>
        <a:xfrm>
          <a:off x="0" y="0"/>
          <a:ext cx="0" cy="0"/>
          <a:chOff x="0" y="0"/>
          <a:chExt cx="0" cy="0"/>
        </a:xfrm>
      </p:grpSpPr>
      <p:sp>
        <p:nvSpPr>
          <p:cNvPr id="58" name="Google Shape;58;p4:notes">
            <a:extLst>
              <a:ext uri="{FF2B5EF4-FFF2-40B4-BE49-F238E27FC236}">
                <a16:creationId xmlns:a16="http://schemas.microsoft.com/office/drawing/2014/main" id="{B965B32B-433A-CB9B-E510-DB4F5BA661D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59" name="Google Shape;59;p4:notes">
            <a:extLst>
              <a:ext uri="{FF2B5EF4-FFF2-40B4-BE49-F238E27FC236}">
                <a16:creationId xmlns:a16="http://schemas.microsoft.com/office/drawing/2014/main" id="{1F65B22E-22F6-CBAE-C2A9-6020CB8B92A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22752712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a:extLst>
            <a:ext uri="{FF2B5EF4-FFF2-40B4-BE49-F238E27FC236}">
              <a16:creationId xmlns:a16="http://schemas.microsoft.com/office/drawing/2014/main" id="{737807C4-7C0E-6028-673E-E2A14B58C381}"/>
            </a:ext>
          </a:extLst>
        </p:cNvPr>
        <p:cNvGrpSpPr/>
        <p:nvPr/>
      </p:nvGrpSpPr>
      <p:grpSpPr>
        <a:xfrm>
          <a:off x="0" y="0"/>
          <a:ext cx="0" cy="0"/>
          <a:chOff x="0" y="0"/>
          <a:chExt cx="0" cy="0"/>
        </a:xfrm>
      </p:grpSpPr>
      <p:sp>
        <p:nvSpPr>
          <p:cNvPr id="58" name="Google Shape;58;p4:notes">
            <a:extLst>
              <a:ext uri="{FF2B5EF4-FFF2-40B4-BE49-F238E27FC236}">
                <a16:creationId xmlns:a16="http://schemas.microsoft.com/office/drawing/2014/main" id="{2D6C84CA-B3A8-A6F5-B4C1-9A79C350420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59" name="Google Shape;59;p4:notes">
            <a:extLst>
              <a:ext uri="{FF2B5EF4-FFF2-40B4-BE49-F238E27FC236}">
                <a16:creationId xmlns:a16="http://schemas.microsoft.com/office/drawing/2014/main" id="{7588D4F7-FBBC-84F8-DE4E-528AD471F0F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0692728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a:extLst>
            <a:ext uri="{FF2B5EF4-FFF2-40B4-BE49-F238E27FC236}">
              <a16:creationId xmlns:a16="http://schemas.microsoft.com/office/drawing/2014/main" id="{5875AF9C-1A52-FE7D-6789-CAF056575ED4}"/>
            </a:ext>
          </a:extLst>
        </p:cNvPr>
        <p:cNvGrpSpPr/>
        <p:nvPr/>
      </p:nvGrpSpPr>
      <p:grpSpPr>
        <a:xfrm>
          <a:off x="0" y="0"/>
          <a:ext cx="0" cy="0"/>
          <a:chOff x="0" y="0"/>
          <a:chExt cx="0" cy="0"/>
        </a:xfrm>
      </p:grpSpPr>
      <p:sp>
        <p:nvSpPr>
          <p:cNvPr id="58" name="Google Shape;58;p4:notes">
            <a:extLst>
              <a:ext uri="{FF2B5EF4-FFF2-40B4-BE49-F238E27FC236}">
                <a16:creationId xmlns:a16="http://schemas.microsoft.com/office/drawing/2014/main" id="{32D103B5-CBFE-C7D7-0C9D-E27BB9EAB19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59" name="Google Shape;59;p4:notes">
            <a:extLst>
              <a:ext uri="{FF2B5EF4-FFF2-40B4-BE49-F238E27FC236}">
                <a16:creationId xmlns:a16="http://schemas.microsoft.com/office/drawing/2014/main" id="{8CAF23DA-92E0-F2CC-8135-69C6F26D492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98270495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a:extLst>
            <a:ext uri="{FF2B5EF4-FFF2-40B4-BE49-F238E27FC236}">
              <a16:creationId xmlns:a16="http://schemas.microsoft.com/office/drawing/2014/main" id="{11CD5D44-6908-AE96-5651-1225C899B6EB}"/>
            </a:ext>
          </a:extLst>
        </p:cNvPr>
        <p:cNvGrpSpPr/>
        <p:nvPr/>
      </p:nvGrpSpPr>
      <p:grpSpPr>
        <a:xfrm>
          <a:off x="0" y="0"/>
          <a:ext cx="0" cy="0"/>
          <a:chOff x="0" y="0"/>
          <a:chExt cx="0" cy="0"/>
        </a:xfrm>
      </p:grpSpPr>
      <p:sp>
        <p:nvSpPr>
          <p:cNvPr id="58" name="Google Shape;58;p4:notes">
            <a:extLst>
              <a:ext uri="{FF2B5EF4-FFF2-40B4-BE49-F238E27FC236}">
                <a16:creationId xmlns:a16="http://schemas.microsoft.com/office/drawing/2014/main" id="{E6F77B74-FECE-7607-5B97-59E5CEA0FD8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59" name="Google Shape;59;p4:notes">
            <a:extLst>
              <a:ext uri="{FF2B5EF4-FFF2-40B4-BE49-F238E27FC236}">
                <a16:creationId xmlns:a16="http://schemas.microsoft.com/office/drawing/2014/main" id="{7418187E-600E-B849-C0CC-6A27EFE4DC1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97316735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a:extLst>
            <a:ext uri="{FF2B5EF4-FFF2-40B4-BE49-F238E27FC236}">
              <a16:creationId xmlns:a16="http://schemas.microsoft.com/office/drawing/2014/main" id="{0D45ABAE-3717-875E-0F65-27D19A165F21}"/>
            </a:ext>
          </a:extLst>
        </p:cNvPr>
        <p:cNvGrpSpPr/>
        <p:nvPr/>
      </p:nvGrpSpPr>
      <p:grpSpPr>
        <a:xfrm>
          <a:off x="0" y="0"/>
          <a:ext cx="0" cy="0"/>
          <a:chOff x="0" y="0"/>
          <a:chExt cx="0" cy="0"/>
        </a:xfrm>
      </p:grpSpPr>
      <p:sp>
        <p:nvSpPr>
          <p:cNvPr id="58" name="Google Shape;58;p4:notes">
            <a:extLst>
              <a:ext uri="{FF2B5EF4-FFF2-40B4-BE49-F238E27FC236}">
                <a16:creationId xmlns:a16="http://schemas.microsoft.com/office/drawing/2014/main" id="{A2B6D5B7-224E-2E41-9293-79107BD9AC6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59" name="Google Shape;59;p4:notes">
            <a:extLst>
              <a:ext uri="{FF2B5EF4-FFF2-40B4-BE49-F238E27FC236}">
                <a16:creationId xmlns:a16="http://schemas.microsoft.com/office/drawing/2014/main" id="{31D1A1AD-438B-FFF4-A1FC-17629269329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23369937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a:extLst>
            <a:ext uri="{FF2B5EF4-FFF2-40B4-BE49-F238E27FC236}">
              <a16:creationId xmlns:a16="http://schemas.microsoft.com/office/drawing/2014/main" id="{64EA9E90-2DE7-ED90-D660-0800797F0C53}"/>
            </a:ext>
          </a:extLst>
        </p:cNvPr>
        <p:cNvGrpSpPr/>
        <p:nvPr/>
      </p:nvGrpSpPr>
      <p:grpSpPr>
        <a:xfrm>
          <a:off x="0" y="0"/>
          <a:ext cx="0" cy="0"/>
          <a:chOff x="0" y="0"/>
          <a:chExt cx="0" cy="0"/>
        </a:xfrm>
      </p:grpSpPr>
      <p:sp>
        <p:nvSpPr>
          <p:cNvPr id="58" name="Google Shape;58;p4:notes">
            <a:extLst>
              <a:ext uri="{FF2B5EF4-FFF2-40B4-BE49-F238E27FC236}">
                <a16:creationId xmlns:a16="http://schemas.microsoft.com/office/drawing/2014/main" id="{47B8DD4F-861F-908F-F222-16D031EBF23C}"/>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59" name="Google Shape;59;p4:notes">
            <a:extLst>
              <a:ext uri="{FF2B5EF4-FFF2-40B4-BE49-F238E27FC236}">
                <a16:creationId xmlns:a16="http://schemas.microsoft.com/office/drawing/2014/main" id="{21987FE3-5FAC-3761-C619-C335DD20AD0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48648153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a:extLst>
            <a:ext uri="{FF2B5EF4-FFF2-40B4-BE49-F238E27FC236}">
              <a16:creationId xmlns:a16="http://schemas.microsoft.com/office/drawing/2014/main" id="{F09DEEBF-14D3-D801-ADCE-296FFC9D83E6}"/>
            </a:ext>
          </a:extLst>
        </p:cNvPr>
        <p:cNvGrpSpPr/>
        <p:nvPr/>
      </p:nvGrpSpPr>
      <p:grpSpPr>
        <a:xfrm>
          <a:off x="0" y="0"/>
          <a:ext cx="0" cy="0"/>
          <a:chOff x="0" y="0"/>
          <a:chExt cx="0" cy="0"/>
        </a:xfrm>
      </p:grpSpPr>
      <p:sp>
        <p:nvSpPr>
          <p:cNvPr id="58" name="Google Shape;58;p4:notes">
            <a:extLst>
              <a:ext uri="{FF2B5EF4-FFF2-40B4-BE49-F238E27FC236}">
                <a16:creationId xmlns:a16="http://schemas.microsoft.com/office/drawing/2014/main" id="{E43799B7-FFF0-516B-8321-1135113C1EA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59" name="Google Shape;59;p4:notes">
            <a:extLst>
              <a:ext uri="{FF2B5EF4-FFF2-40B4-BE49-F238E27FC236}">
                <a16:creationId xmlns:a16="http://schemas.microsoft.com/office/drawing/2014/main" id="{F04F852B-66BF-F069-B4F9-6229BE513F1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37908393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a:extLst>
            <a:ext uri="{FF2B5EF4-FFF2-40B4-BE49-F238E27FC236}">
              <a16:creationId xmlns:a16="http://schemas.microsoft.com/office/drawing/2014/main" id="{619F313E-5638-4B61-AD20-73890A51CFE4}"/>
            </a:ext>
          </a:extLst>
        </p:cNvPr>
        <p:cNvGrpSpPr/>
        <p:nvPr/>
      </p:nvGrpSpPr>
      <p:grpSpPr>
        <a:xfrm>
          <a:off x="0" y="0"/>
          <a:ext cx="0" cy="0"/>
          <a:chOff x="0" y="0"/>
          <a:chExt cx="0" cy="0"/>
        </a:xfrm>
      </p:grpSpPr>
      <p:sp>
        <p:nvSpPr>
          <p:cNvPr id="58" name="Google Shape;58;p4:notes">
            <a:extLst>
              <a:ext uri="{FF2B5EF4-FFF2-40B4-BE49-F238E27FC236}">
                <a16:creationId xmlns:a16="http://schemas.microsoft.com/office/drawing/2014/main" id="{5797425D-1ADA-D07D-3F17-803FBA1900F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59" name="Google Shape;59;p4:notes">
            <a:extLst>
              <a:ext uri="{FF2B5EF4-FFF2-40B4-BE49-F238E27FC236}">
                <a16:creationId xmlns:a16="http://schemas.microsoft.com/office/drawing/2014/main" id="{FF2B3E42-B543-2EA9-3B53-8DC58B09A98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92951306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a:extLst>
            <a:ext uri="{FF2B5EF4-FFF2-40B4-BE49-F238E27FC236}">
              <a16:creationId xmlns:a16="http://schemas.microsoft.com/office/drawing/2014/main" id="{5354DCE5-DE16-A9A4-5637-223EA6DDDDB3}"/>
            </a:ext>
          </a:extLst>
        </p:cNvPr>
        <p:cNvGrpSpPr/>
        <p:nvPr/>
      </p:nvGrpSpPr>
      <p:grpSpPr>
        <a:xfrm>
          <a:off x="0" y="0"/>
          <a:ext cx="0" cy="0"/>
          <a:chOff x="0" y="0"/>
          <a:chExt cx="0" cy="0"/>
        </a:xfrm>
      </p:grpSpPr>
      <p:sp>
        <p:nvSpPr>
          <p:cNvPr id="58" name="Google Shape;58;p4:notes">
            <a:extLst>
              <a:ext uri="{FF2B5EF4-FFF2-40B4-BE49-F238E27FC236}">
                <a16:creationId xmlns:a16="http://schemas.microsoft.com/office/drawing/2014/main" id="{ED779A66-FC09-A5E2-41B0-CCF82B9E5E0C}"/>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59" name="Google Shape;59;p4:notes">
            <a:extLst>
              <a:ext uri="{FF2B5EF4-FFF2-40B4-BE49-F238E27FC236}">
                <a16:creationId xmlns:a16="http://schemas.microsoft.com/office/drawing/2014/main" id="{1080E061-E456-D412-8D83-994D34E2B35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98613203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82" name="Google Shape;82;p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a:extLst>
            <a:ext uri="{FF2B5EF4-FFF2-40B4-BE49-F238E27FC236}">
              <a16:creationId xmlns:a16="http://schemas.microsoft.com/office/drawing/2014/main" id="{3BECD89B-AAA3-F8FE-DFBC-CC79A9A4E0AF}"/>
            </a:ext>
          </a:extLst>
        </p:cNvPr>
        <p:cNvGrpSpPr/>
        <p:nvPr/>
      </p:nvGrpSpPr>
      <p:grpSpPr>
        <a:xfrm>
          <a:off x="0" y="0"/>
          <a:ext cx="0" cy="0"/>
          <a:chOff x="0" y="0"/>
          <a:chExt cx="0" cy="0"/>
        </a:xfrm>
      </p:grpSpPr>
      <p:sp>
        <p:nvSpPr>
          <p:cNvPr id="81" name="Google Shape;81;p7:notes">
            <a:extLst>
              <a:ext uri="{FF2B5EF4-FFF2-40B4-BE49-F238E27FC236}">
                <a16:creationId xmlns:a16="http://schemas.microsoft.com/office/drawing/2014/main" id="{F508F7A9-5506-B123-0264-14DD3EE9026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82" name="Google Shape;82;p7:notes">
            <a:extLst>
              <a:ext uri="{FF2B5EF4-FFF2-40B4-BE49-F238E27FC236}">
                <a16:creationId xmlns:a16="http://schemas.microsoft.com/office/drawing/2014/main" id="{CCD177CE-FC44-74CB-378D-8296859D59C3}"/>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Tree>
    <p:extLst>
      <p:ext uri="{BB962C8B-B14F-4D97-AF65-F5344CB8AC3E}">
        <p14:creationId xmlns:p14="http://schemas.microsoft.com/office/powerpoint/2010/main" val="120285754"/>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0"/>
        <p:cNvGrpSpPr/>
        <p:nvPr/>
      </p:nvGrpSpPr>
      <p:grpSpPr>
        <a:xfrm>
          <a:off x="0" y="0"/>
          <a:ext cx="0" cy="0"/>
          <a:chOff x="0" y="0"/>
          <a:chExt cx="0" cy="0"/>
        </a:xfrm>
      </p:grpSpPr>
      <p:sp>
        <p:nvSpPr>
          <p:cNvPr id="191" name="Google Shape;191;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92" name="Google Shape;192;p2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2"/>
        <p:cNvGrpSpPr/>
        <p:nvPr/>
      </p:nvGrpSpPr>
      <p:grpSpPr>
        <a:xfrm>
          <a:off x="0" y="0"/>
          <a:ext cx="0" cy="0"/>
          <a:chOff x="0" y="0"/>
          <a:chExt cx="0" cy="0"/>
        </a:xfrm>
      </p:grpSpPr>
      <p:sp>
        <p:nvSpPr>
          <p:cNvPr id="213" name="Google Shape;213;p2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14" name="Google Shape;214;p2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ig number">
  <p:cSld name="BIG_NUMBER">
    <p:bg>
      <p:bgPr>
        <a:blipFill>
          <a:blip r:embed="rId2">
            <a:alphaModFix/>
          </a:blip>
          <a:stretch>
            <a:fillRect/>
          </a:stretch>
        </a:blipFill>
        <a:effectLst/>
      </p:bgPr>
    </p:bg>
    <p:spTree>
      <p:nvGrpSpPr>
        <p:cNvPr id="1" name="Shape 10"/>
        <p:cNvGrpSpPr/>
        <p:nvPr/>
      </p:nvGrpSpPr>
      <p:grpSpPr>
        <a:xfrm>
          <a:off x="0" y="0"/>
          <a:ext cx="0" cy="0"/>
          <a:chOff x="0" y="0"/>
          <a:chExt cx="0" cy="0"/>
        </a:xfrm>
      </p:grpSpPr>
      <p:sp>
        <p:nvSpPr>
          <p:cNvPr id="11" name="Google Shape;11;p23"/>
          <p:cNvSpPr txBox="1">
            <a:spLocks noGrp="1"/>
          </p:cNvSpPr>
          <p:nvPr>
            <p:ph type="title" hasCustomPrompt="1"/>
          </p:nvPr>
        </p:nvSpPr>
        <p:spPr>
          <a:xfrm>
            <a:off x="311700" y="1106125"/>
            <a:ext cx="8520600" cy="1963500"/>
          </a:xfrm>
          <a:prstGeom prst="rect">
            <a:avLst/>
          </a:prstGeom>
          <a:noFill/>
          <a:ln>
            <a:noFill/>
          </a:ln>
        </p:spPr>
        <p:txBody>
          <a:bodyPr spcFirstLastPara="1" wrap="square" lIns="91425" tIns="91425" rIns="91425" bIns="91425" anchor="b" anchorCtr="0">
            <a:normAutofit/>
          </a:bodyPr>
          <a:lstStyle>
            <a:lvl1pPr lvl="0" algn="ctr" rtl="1">
              <a:lnSpc>
                <a:spcPct val="100000"/>
              </a:lnSpc>
              <a:spcBef>
                <a:spcPts val="0"/>
              </a:spcBef>
              <a:spcAft>
                <a:spcPts val="0"/>
              </a:spcAft>
              <a:buSzPts val="12000"/>
              <a:buNone/>
              <a:defRPr sz="12000"/>
            </a:lvl1pPr>
            <a:lvl2pPr lvl="1" algn="ctr" rtl="1">
              <a:lnSpc>
                <a:spcPct val="100000"/>
              </a:lnSpc>
              <a:spcBef>
                <a:spcPts val="0"/>
              </a:spcBef>
              <a:spcAft>
                <a:spcPts val="0"/>
              </a:spcAft>
              <a:buSzPts val="12000"/>
              <a:buNone/>
              <a:defRPr sz="12000"/>
            </a:lvl2pPr>
            <a:lvl3pPr lvl="2" algn="ctr" rtl="1">
              <a:lnSpc>
                <a:spcPct val="100000"/>
              </a:lnSpc>
              <a:spcBef>
                <a:spcPts val="0"/>
              </a:spcBef>
              <a:spcAft>
                <a:spcPts val="0"/>
              </a:spcAft>
              <a:buSzPts val="12000"/>
              <a:buNone/>
              <a:defRPr sz="12000"/>
            </a:lvl3pPr>
            <a:lvl4pPr lvl="3" algn="ctr" rtl="1">
              <a:lnSpc>
                <a:spcPct val="100000"/>
              </a:lnSpc>
              <a:spcBef>
                <a:spcPts val="0"/>
              </a:spcBef>
              <a:spcAft>
                <a:spcPts val="0"/>
              </a:spcAft>
              <a:buSzPts val="12000"/>
              <a:buNone/>
              <a:defRPr sz="12000"/>
            </a:lvl4pPr>
            <a:lvl5pPr lvl="4" algn="ctr" rtl="1">
              <a:lnSpc>
                <a:spcPct val="100000"/>
              </a:lnSpc>
              <a:spcBef>
                <a:spcPts val="0"/>
              </a:spcBef>
              <a:spcAft>
                <a:spcPts val="0"/>
              </a:spcAft>
              <a:buSzPts val="12000"/>
              <a:buNone/>
              <a:defRPr sz="12000"/>
            </a:lvl5pPr>
            <a:lvl6pPr lvl="5" algn="ctr" rtl="1">
              <a:lnSpc>
                <a:spcPct val="100000"/>
              </a:lnSpc>
              <a:spcBef>
                <a:spcPts val="0"/>
              </a:spcBef>
              <a:spcAft>
                <a:spcPts val="0"/>
              </a:spcAft>
              <a:buSzPts val="12000"/>
              <a:buNone/>
              <a:defRPr sz="12000"/>
            </a:lvl6pPr>
            <a:lvl7pPr lvl="6" algn="ctr" rtl="1">
              <a:lnSpc>
                <a:spcPct val="100000"/>
              </a:lnSpc>
              <a:spcBef>
                <a:spcPts val="0"/>
              </a:spcBef>
              <a:spcAft>
                <a:spcPts val="0"/>
              </a:spcAft>
              <a:buSzPts val="12000"/>
              <a:buNone/>
              <a:defRPr sz="12000"/>
            </a:lvl7pPr>
            <a:lvl8pPr lvl="7" algn="ctr" rtl="1">
              <a:lnSpc>
                <a:spcPct val="100000"/>
              </a:lnSpc>
              <a:spcBef>
                <a:spcPts val="0"/>
              </a:spcBef>
              <a:spcAft>
                <a:spcPts val="0"/>
              </a:spcAft>
              <a:buSzPts val="12000"/>
              <a:buNone/>
              <a:defRPr sz="12000"/>
            </a:lvl8pPr>
            <a:lvl9pPr lvl="8" algn="ctr" rtl="1">
              <a:lnSpc>
                <a:spcPct val="100000"/>
              </a:lnSpc>
              <a:spcBef>
                <a:spcPts val="0"/>
              </a:spcBef>
              <a:spcAft>
                <a:spcPts val="0"/>
              </a:spcAft>
              <a:buSzPts val="12000"/>
              <a:buNone/>
              <a:defRPr sz="12000"/>
            </a:lvl9pPr>
          </a:lstStyle>
          <a:p>
            <a:r>
              <a:t>xx%</a:t>
            </a:r>
          </a:p>
        </p:txBody>
      </p:sp>
      <p:pic>
        <p:nvPicPr>
          <p:cNvPr id="12" name="Google Shape;12;p23"/>
          <p:cNvPicPr preferRelativeResize="0"/>
          <p:nvPr/>
        </p:nvPicPr>
        <p:blipFill rotWithShape="1">
          <a:blip r:embed="rId3">
            <a:alphaModFix/>
          </a:blip>
          <a:srcRect/>
          <a:stretch/>
        </p:blipFill>
        <p:spPr>
          <a:xfrm>
            <a:off x="7527371" y="317427"/>
            <a:ext cx="1356656" cy="265850"/>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3"/>
        <p:cNvGrpSpPr/>
        <p:nvPr/>
      </p:nvGrpSpPr>
      <p:grpSpPr>
        <a:xfrm>
          <a:off x="0" y="0"/>
          <a:ext cx="0" cy="0"/>
          <a:chOff x="0" y="0"/>
          <a:chExt cx="0" cy="0"/>
        </a:xfrm>
      </p:grpSpPr>
      <p:sp>
        <p:nvSpPr>
          <p:cNvPr id="14" name="Google Shape;14;p24"/>
          <p:cNvSpPr txBox="1">
            <a:spLocks noGrp="1"/>
          </p:cNvSpPr>
          <p:nvPr>
            <p:ph type="ctrTitle"/>
          </p:nvPr>
        </p:nvSpPr>
        <p:spPr>
          <a:xfrm>
            <a:off x="311708" y="744575"/>
            <a:ext cx="8520600" cy="2052600"/>
          </a:xfrm>
          <a:prstGeom prst="rect">
            <a:avLst/>
          </a:prstGeom>
          <a:noFill/>
          <a:ln>
            <a:noFill/>
          </a:ln>
        </p:spPr>
        <p:txBody>
          <a:bodyPr spcFirstLastPara="1" wrap="square" lIns="91425" tIns="91425" rIns="91425" bIns="91425" anchor="b" anchorCtr="0">
            <a:normAutofit/>
          </a:bodyPr>
          <a:lstStyle>
            <a:lvl1pPr lvl="0" algn="ctr" rtl="1">
              <a:lnSpc>
                <a:spcPct val="100000"/>
              </a:lnSpc>
              <a:spcBef>
                <a:spcPts val="0"/>
              </a:spcBef>
              <a:spcAft>
                <a:spcPts val="0"/>
              </a:spcAft>
              <a:buSzPts val="4300"/>
              <a:buFont typeface="Tajawal"/>
              <a:buNone/>
              <a:defRPr sz="4300" b="1">
                <a:latin typeface="Tajawal"/>
                <a:ea typeface="Tajawal"/>
                <a:cs typeface="Tajawal"/>
                <a:sym typeface="Tajawal"/>
              </a:defRPr>
            </a:lvl1pPr>
            <a:lvl2pPr lvl="1" algn="ctr" rtl="1">
              <a:lnSpc>
                <a:spcPct val="100000"/>
              </a:lnSpc>
              <a:spcBef>
                <a:spcPts val="0"/>
              </a:spcBef>
              <a:spcAft>
                <a:spcPts val="0"/>
              </a:spcAft>
              <a:buSzPts val="4900"/>
              <a:buFont typeface="Tajawal"/>
              <a:buNone/>
              <a:defRPr sz="4900">
                <a:latin typeface="Tajawal"/>
                <a:ea typeface="Tajawal"/>
                <a:cs typeface="Tajawal"/>
                <a:sym typeface="Tajawal"/>
              </a:defRPr>
            </a:lvl2pPr>
            <a:lvl3pPr lvl="2" algn="ctr" rtl="1">
              <a:lnSpc>
                <a:spcPct val="100000"/>
              </a:lnSpc>
              <a:spcBef>
                <a:spcPts val="0"/>
              </a:spcBef>
              <a:spcAft>
                <a:spcPts val="0"/>
              </a:spcAft>
              <a:buSzPts val="4900"/>
              <a:buFont typeface="Tajawal"/>
              <a:buNone/>
              <a:defRPr sz="4900">
                <a:latin typeface="Tajawal"/>
                <a:ea typeface="Tajawal"/>
                <a:cs typeface="Tajawal"/>
                <a:sym typeface="Tajawal"/>
              </a:defRPr>
            </a:lvl3pPr>
            <a:lvl4pPr lvl="3" algn="ctr" rtl="1">
              <a:lnSpc>
                <a:spcPct val="100000"/>
              </a:lnSpc>
              <a:spcBef>
                <a:spcPts val="0"/>
              </a:spcBef>
              <a:spcAft>
                <a:spcPts val="0"/>
              </a:spcAft>
              <a:buSzPts val="4900"/>
              <a:buFont typeface="Tajawal"/>
              <a:buNone/>
              <a:defRPr sz="4900">
                <a:latin typeface="Tajawal"/>
                <a:ea typeface="Tajawal"/>
                <a:cs typeface="Tajawal"/>
                <a:sym typeface="Tajawal"/>
              </a:defRPr>
            </a:lvl4pPr>
            <a:lvl5pPr lvl="4" algn="ctr" rtl="1">
              <a:lnSpc>
                <a:spcPct val="100000"/>
              </a:lnSpc>
              <a:spcBef>
                <a:spcPts val="0"/>
              </a:spcBef>
              <a:spcAft>
                <a:spcPts val="0"/>
              </a:spcAft>
              <a:buSzPts val="4900"/>
              <a:buFont typeface="Tajawal"/>
              <a:buNone/>
              <a:defRPr sz="4900">
                <a:latin typeface="Tajawal"/>
                <a:ea typeface="Tajawal"/>
                <a:cs typeface="Tajawal"/>
                <a:sym typeface="Tajawal"/>
              </a:defRPr>
            </a:lvl5pPr>
            <a:lvl6pPr lvl="5" algn="ctr" rtl="1">
              <a:lnSpc>
                <a:spcPct val="100000"/>
              </a:lnSpc>
              <a:spcBef>
                <a:spcPts val="0"/>
              </a:spcBef>
              <a:spcAft>
                <a:spcPts val="0"/>
              </a:spcAft>
              <a:buSzPts val="4900"/>
              <a:buFont typeface="Tajawal"/>
              <a:buNone/>
              <a:defRPr sz="4900">
                <a:latin typeface="Tajawal"/>
                <a:ea typeface="Tajawal"/>
                <a:cs typeface="Tajawal"/>
                <a:sym typeface="Tajawal"/>
              </a:defRPr>
            </a:lvl6pPr>
            <a:lvl7pPr lvl="6" algn="ctr" rtl="1">
              <a:lnSpc>
                <a:spcPct val="100000"/>
              </a:lnSpc>
              <a:spcBef>
                <a:spcPts val="0"/>
              </a:spcBef>
              <a:spcAft>
                <a:spcPts val="0"/>
              </a:spcAft>
              <a:buSzPts val="4900"/>
              <a:buFont typeface="Tajawal"/>
              <a:buNone/>
              <a:defRPr sz="4900">
                <a:latin typeface="Tajawal"/>
                <a:ea typeface="Tajawal"/>
                <a:cs typeface="Tajawal"/>
                <a:sym typeface="Tajawal"/>
              </a:defRPr>
            </a:lvl7pPr>
            <a:lvl8pPr lvl="7" algn="ctr" rtl="1">
              <a:lnSpc>
                <a:spcPct val="100000"/>
              </a:lnSpc>
              <a:spcBef>
                <a:spcPts val="0"/>
              </a:spcBef>
              <a:spcAft>
                <a:spcPts val="0"/>
              </a:spcAft>
              <a:buSzPts val="4900"/>
              <a:buFont typeface="Tajawal"/>
              <a:buNone/>
              <a:defRPr sz="4900">
                <a:latin typeface="Tajawal"/>
                <a:ea typeface="Tajawal"/>
                <a:cs typeface="Tajawal"/>
                <a:sym typeface="Tajawal"/>
              </a:defRPr>
            </a:lvl8pPr>
            <a:lvl9pPr lvl="8" algn="ctr" rtl="1">
              <a:lnSpc>
                <a:spcPct val="100000"/>
              </a:lnSpc>
              <a:spcBef>
                <a:spcPts val="0"/>
              </a:spcBef>
              <a:spcAft>
                <a:spcPts val="0"/>
              </a:spcAft>
              <a:buSzPts val="4900"/>
              <a:buFont typeface="Tajawal"/>
              <a:buNone/>
              <a:defRPr sz="4900">
                <a:latin typeface="Tajawal"/>
                <a:ea typeface="Tajawal"/>
                <a:cs typeface="Tajawal"/>
                <a:sym typeface="Tajawal"/>
              </a:defRPr>
            </a:lvl9pPr>
          </a:lstStyle>
          <a:p>
            <a:endParaRPr/>
          </a:p>
        </p:txBody>
      </p:sp>
      <p:sp>
        <p:nvSpPr>
          <p:cNvPr id="15" name="Google Shape;15;p24"/>
          <p:cNvSpPr txBox="1">
            <a:spLocks noGrp="1"/>
          </p:cNvSpPr>
          <p:nvPr>
            <p:ph type="subTitle" idx="1"/>
          </p:nvPr>
        </p:nvSpPr>
        <p:spPr>
          <a:xfrm>
            <a:off x="311700" y="2834125"/>
            <a:ext cx="8520600" cy="792600"/>
          </a:xfrm>
          <a:prstGeom prst="rect">
            <a:avLst/>
          </a:prstGeom>
          <a:noFill/>
          <a:ln>
            <a:noFill/>
          </a:ln>
        </p:spPr>
        <p:txBody>
          <a:bodyPr spcFirstLastPara="1" wrap="square" lIns="91425" tIns="91425" rIns="91425" bIns="91425" anchor="t" anchorCtr="0">
            <a:normAutofit/>
          </a:bodyPr>
          <a:lstStyle>
            <a:lvl1pPr lvl="0" algn="ctr" rtl="1">
              <a:lnSpc>
                <a:spcPct val="100000"/>
              </a:lnSpc>
              <a:spcBef>
                <a:spcPts val="0"/>
              </a:spcBef>
              <a:spcAft>
                <a:spcPts val="0"/>
              </a:spcAft>
              <a:buSzPts val="2500"/>
              <a:buFont typeface="Tajawal"/>
              <a:buNone/>
              <a:defRPr sz="2500">
                <a:latin typeface="Tajawal"/>
                <a:ea typeface="Tajawal"/>
                <a:cs typeface="Tajawal"/>
                <a:sym typeface="Tajawal"/>
              </a:defRPr>
            </a:lvl1pPr>
            <a:lvl2pPr lvl="1" algn="ctr" rtl="1">
              <a:lnSpc>
                <a:spcPct val="100000"/>
              </a:lnSpc>
              <a:spcBef>
                <a:spcPts val="0"/>
              </a:spcBef>
              <a:spcAft>
                <a:spcPts val="0"/>
              </a:spcAft>
              <a:buSzPts val="2500"/>
              <a:buFont typeface="Tajawal"/>
              <a:buNone/>
              <a:defRPr sz="2500">
                <a:latin typeface="Tajawal"/>
                <a:ea typeface="Tajawal"/>
                <a:cs typeface="Tajawal"/>
                <a:sym typeface="Tajawal"/>
              </a:defRPr>
            </a:lvl2pPr>
            <a:lvl3pPr lvl="2" algn="ctr" rtl="1">
              <a:lnSpc>
                <a:spcPct val="100000"/>
              </a:lnSpc>
              <a:spcBef>
                <a:spcPts val="0"/>
              </a:spcBef>
              <a:spcAft>
                <a:spcPts val="0"/>
              </a:spcAft>
              <a:buSzPts val="2500"/>
              <a:buFont typeface="Tajawal"/>
              <a:buNone/>
              <a:defRPr sz="2500">
                <a:latin typeface="Tajawal"/>
                <a:ea typeface="Tajawal"/>
                <a:cs typeface="Tajawal"/>
                <a:sym typeface="Tajawal"/>
              </a:defRPr>
            </a:lvl3pPr>
            <a:lvl4pPr lvl="3" algn="ctr" rtl="1">
              <a:lnSpc>
                <a:spcPct val="100000"/>
              </a:lnSpc>
              <a:spcBef>
                <a:spcPts val="0"/>
              </a:spcBef>
              <a:spcAft>
                <a:spcPts val="0"/>
              </a:spcAft>
              <a:buSzPts val="2500"/>
              <a:buFont typeface="Tajawal"/>
              <a:buNone/>
              <a:defRPr sz="2500">
                <a:latin typeface="Tajawal"/>
                <a:ea typeface="Tajawal"/>
                <a:cs typeface="Tajawal"/>
                <a:sym typeface="Tajawal"/>
              </a:defRPr>
            </a:lvl4pPr>
            <a:lvl5pPr lvl="4" algn="ctr" rtl="1">
              <a:lnSpc>
                <a:spcPct val="100000"/>
              </a:lnSpc>
              <a:spcBef>
                <a:spcPts val="0"/>
              </a:spcBef>
              <a:spcAft>
                <a:spcPts val="0"/>
              </a:spcAft>
              <a:buSzPts val="2500"/>
              <a:buFont typeface="Tajawal"/>
              <a:buNone/>
              <a:defRPr sz="2500">
                <a:latin typeface="Tajawal"/>
                <a:ea typeface="Tajawal"/>
                <a:cs typeface="Tajawal"/>
                <a:sym typeface="Tajawal"/>
              </a:defRPr>
            </a:lvl5pPr>
            <a:lvl6pPr lvl="5" algn="ctr" rtl="1">
              <a:lnSpc>
                <a:spcPct val="100000"/>
              </a:lnSpc>
              <a:spcBef>
                <a:spcPts val="0"/>
              </a:spcBef>
              <a:spcAft>
                <a:spcPts val="0"/>
              </a:spcAft>
              <a:buSzPts val="2500"/>
              <a:buFont typeface="Tajawal"/>
              <a:buNone/>
              <a:defRPr sz="2500">
                <a:latin typeface="Tajawal"/>
                <a:ea typeface="Tajawal"/>
                <a:cs typeface="Tajawal"/>
                <a:sym typeface="Tajawal"/>
              </a:defRPr>
            </a:lvl6pPr>
            <a:lvl7pPr lvl="6" algn="ctr" rtl="1">
              <a:lnSpc>
                <a:spcPct val="100000"/>
              </a:lnSpc>
              <a:spcBef>
                <a:spcPts val="0"/>
              </a:spcBef>
              <a:spcAft>
                <a:spcPts val="0"/>
              </a:spcAft>
              <a:buSzPts val="2500"/>
              <a:buFont typeface="Tajawal"/>
              <a:buNone/>
              <a:defRPr sz="2500">
                <a:latin typeface="Tajawal"/>
                <a:ea typeface="Tajawal"/>
                <a:cs typeface="Tajawal"/>
                <a:sym typeface="Tajawal"/>
              </a:defRPr>
            </a:lvl7pPr>
            <a:lvl8pPr lvl="7" algn="ctr" rtl="1">
              <a:lnSpc>
                <a:spcPct val="100000"/>
              </a:lnSpc>
              <a:spcBef>
                <a:spcPts val="0"/>
              </a:spcBef>
              <a:spcAft>
                <a:spcPts val="0"/>
              </a:spcAft>
              <a:buSzPts val="2500"/>
              <a:buFont typeface="Tajawal"/>
              <a:buNone/>
              <a:defRPr sz="2500">
                <a:latin typeface="Tajawal"/>
                <a:ea typeface="Tajawal"/>
                <a:cs typeface="Tajawal"/>
                <a:sym typeface="Tajawal"/>
              </a:defRPr>
            </a:lvl8pPr>
            <a:lvl9pPr lvl="8" algn="ctr" rtl="1">
              <a:lnSpc>
                <a:spcPct val="100000"/>
              </a:lnSpc>
              <a:spcBef>
                <a:spcPts val="0"/>
              </a:spcBef>
              <a:spcAft>
                <a:spcPts val="0"/>
              </a:spcAft>
              <a:buSzPts val="2500"/>
              <a:buFont typeface="Tajawal"/>
              <a:buNone/>
              <a:defRPr sz="2500">
                <a:latin typeface="Tajawal"/>
                <a:ea typeface="Tajawal"/>
                <a:cs typeface="Tajawal"/>
                <a:sym typeface="Tajawal"/>
              </a:defRPr>
            </a:lvl9pPr>
          </a:lstStyle>
          <a:p>
            <a:endParaRPr/>
          </a:p>
        </p:txBody>
      </p:sp>
      <p:sp>
        <p:nvSpPr>
          <p:cNvPr id="16" name="Google Shape;16;p24"/>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bg>
      <p:bgPr>
        <a:blipFill>
          <a:blip r:embed="rId2">
            <a:alphaModFix/>
          </a:blip>
          <a:stretch>
            <a:fillRect/>
          </a:stretch>
        </a:blipFill>
        <a:effectLst/>
      </p:bgPr>
    </p:bg>
    <p:spTree>
      <p:nvGrpSpPr>
        <p:cNvPr id="1" name="Shape 17"/>
        <p:cNvGrpSpPr/>
        <p:nvPr/>
      </p:nvGrpSpPr>
      <p:grpSpPr>
        <a:xfrm>
          <a:off x="0" y="0"/>
          <a:ext cx="0" cy="0"/>
          <a:chOff x="0" y="0"/>
          <a:chExt cx="0" cy="0"/>
        </a:xfrm>
      </p:grpSpPr>
      <p:sp>
        <p:nvSpPr>
          <p:cNvPr id="18" name="Google Shape;18;p25"/>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
        <p:nvSpPr>
          <p:cNvPr id="19" name="Google Shape;19;p25"/>
          <p:cNvSpPr txBox="1">
            <a:spLocks noGrp="1"/>
          </p:cNvSpPr>
          <p:nvPr>
            <p:ph type="title"/>
          </p:nvPr>
        </p:nvSpPr>
        <p:spPr>
          <a:xfrm>
            <a:off x="2079450" y="445025"/>
            <a:ext cx="6707400" cy="627900"/>
          </a:xfrm>
          <a:prstGeom prst="rect">
            <a:avLst/>
          </a:prstGeom>
          <a:noFill/>
          <a:ln>
            <a:noFill/>
          </a:ln>
        </p:spPr>
        <p:txBody>
          <a:bodyPr spcFirstLastPara="1" wrap="square" lIns="91425" tIns="91425" rIns="91425" bIns="91425" anchor="t" anchorCtr="0">
            <a:normAutofit/>
          </a:bodyPr>
          <a:lstStyle>
            <a:lvl1pPr lvl="0" algn="l" rtl="1">
              <a:lnSpc>
                <a:spcPct val="100000"/>
              </a:lnSpc>
              <a:spcBef>
                <a:spcPts val="0"/>
              </a:spcBef>
              <a:spcAft>
                <a:spcPts val="0"/>
              </a:spcAft>
              <a:buClr>
                <a:srgbClr val="543198"/>
              </a:buClr>
              <a:buSzPts val="2500"/>
              <a:buNone/>
              <a:defRPr b="1">
                <a:solidFill>
                  <a:srgbClr val="543198"/>
                </a:solidFill>
              </a:defRPr>
            </a:lvl1pPr>
            <a:lvl2pPr lvl="1" algn="l" rtl="1">
              <a:lnSpc>
                <a:spcPct val="100000"/>
              </a:lnSpc>
              <a:spcBef>
                <a:spcPts val="0"/>
              </a:spcBef>
              <a:spcAft>
                <a:spcPts val="0"/>
              </a:spcAft>
              <a:buClr>
                <a:srgbClr val="543198"/>
              </a:buClr>
              <a:buSzPts val="2800"/>
              <a:buNone/>
              <a:defRPr b="1">
                <a:solidFill>
                  <a:srgbClr val="543198"/>
                </a:solidFill>
              </a:defRPr>
            </a:lvl2pPr>
            <a:lvl3pPr lvl="2" algn="l" rtl="1">
              <a:lnSpc>
                <a:spcPct val="100000"/>
              </a:lnSpc>
              <a:spcBef>
                <a:spcPts val="0"/>
              </a:spcBef>
              <a:spcAft>
                <a:spcPts val="0"/>
              </a:spcAft>
              <a:buClr>
                <a:srgbClr val="543198"/>
              </a:buClr>
              <a:buSzPts val="2800"/>
              <a:buNone/>
              <a:defRPr b="1">
                <a:solidFill>
                  <a:srgbClr val="543198"/>
                </a:solidFill>
              </a:defRPr>
            </a:lvl3pPr>
            <a:lvl4pPr lvl="3" algn="l" rtl="1">
              <a:lnSpc>
                <a:spcPct val="100000"/>
              </a:lnSpc>
              <a:spcBef>
                <a:spcPts val="0"/>
              </a:spcBef>
              <a:spcAft>
                <a:spcPts val="0"/>
              </a:spcAft>
              <a:buClr>
                <a:srgbClr val="543198"/>
              </a:buClr>
              <a:buSzPts val="2800"/>
              <a:buNone/>
              <a:defRPr b="1">
                <a:solidFill>
                  <a:srgbClr val="543198"/>
                </a:solidFill>
              </a:defRPr>
            </a:lvl4pPr>
            <a:lvl5pPr lvl="4" algn="l" rtl="1">
              <a:lnSpc>
                <a:spcPct val="100000"/>
              </a:lnSpc>
              <a:spcBef>
                <a:spcPts val="0"/>
              </a:spcBef>
              <a:spcAft>
                <a:spcPts val="0"/>
              </a:spcAft>
              <a:buClr>
                <a:srgbClr val="543198"/>
              </a:buClr>
              <a:buSzPts val="2800"/>
              <a:buNone/>
              <a:defRPr b="1">
                <a:solidFill>
                  <a:srgbClr val="543198"/>
                </a:solidFill>
              </a:defRPr>
            </a:lvl5pPr>
            <a:lvl6pPr lvl="5" algn="l" rtl="1">
              <a:lnSpc>
                <a:spcPct val="100000"/>
              </a:lnSpc>
              <a:spcBef>
                <a:spcPts val="0"/>
              </a:spcBef>
              <a:spcAft>
                <a:spcPts val="0"/>
              </a:spcAft>
              <a:buClr>
                <a:srgbClr val="543198"/>
              </a:buClr>
              <a:buSzPts val="2800"/>
              <a:buNone/>
              <a:defRPr b="1">
                <a:solidFill>
                  <a:srgbClr val="543198"/>
                </a:solidFill>
              </a:defRPr>
            </a:lvl6pPr>
            <a:lvl7pPr lvl="6" algn="l" rtl="1">
              <a:lnSpc>
                <a:spcPct val="100000"/>
              </a:lnSpc>
              <a:spcBef>
                <a:spcPts val="0"/>
              </a:spcBef>
              <a:spcAft>
                <a:spcPts val="0"/>
              </a:spcAft>
              <a:buClr>
                <a:srgbClr val="543198"/>
              </a:buClr>
              <a:buSzPts val="2800"/>
              <a:buNone/>
              <a:defRPr b="1">
                <a:solidFill>
                  <a:srgbClr val="543198"/>
                </a:solidFill>
              </a:defRPr>
            </a:lvl7pPr>
            <a:lvl8pPr lvl="7" algn="l" rtl="1">
              <a:lnSpc>
                <a:spcPct val="100000"/>
              </a:lnSpc>
              <a:spcBef>
                <a:spcPts val="0"/>
              </a:spcBef>
              <a:spcAft>
                <a:spcPts val="0"/>
              </a:spcAft>
              <a:buClr>
                <a:srgbClr val="543198"/>
              </a:buClr>
              <a:buSzPts val="2800"/>
              <a:buNone/>
              <a:defRPr b="1">
                <a:solidFill>
                  <a:srgbClr val="543198"/>
                </a:solidFill>
              </a:defRPr>
            </a:lvl8pPr>
            <a:lvl9pPr lvl="8" algn="l" rtl="1">
              <a:lnSpc>
                <a:spcPct val="100000"/>
              </a:lnSpc>
              <a:spcBef>
                <a:spcPts val="0"/>
              </a:spcBef>
              <a:spcAft>
                <a:spcPts val="0"/>
              </a:spcAft>
              <a:buClr>
                <a:srgbClr val="543198"/>
              </a:buClr>
              <a:buSzPts val="2800"/>
              <a:buNone/>
              <a:defRPr b="1">
                <a:solidFill>
                  <a:srgbClr val="543198"/>
                </a:solidFill>
              </a:defRPr>
            </a:lvl9pPr>
          </a:lstStyle>
          <a:p>
            <a:endParaRPr/>
          </a:p>
        </p:txBody>
      </p:sp>
      <p:sp>
        <p:nvSpPr>
          <p:cNvPr id="20" name="Google Shape;20;p25"/>
          <p:cNvSpPr txBox="1">
            <a:spLocks noGrp="1"/>
          </p:cNvSpPr>
          <p:nvPr>
            <p:ph type="body" idx="1"/>
          </p:nvPr>
        </p:nvSpPr>
        <p:spPr>
          <a:xfrm>
            <a:off x="2758650" y="1334150"/>
            <a:ext cx="6028200" cy="1757400"/>
          </a:xfrm>
          <a:prstGeom prst="rect">
            <a:avLst/>
          </a:prstGeom>
          <a:noFill/>
          <a:ln>
            <a:noFill/>
          </a:ln>
        </p:spPr>
        <p:txBody>
          <a:bodyPr spcFirstLastPara="1" wrap="square" lIns="91425" tIns="91425" rIns="91425" bIns="91425" anchor="t" anchorCtr="0">
            <a:normAutofit/>
          </a:bodyPr>
          <a:lstStyle>
            <a:lvl1pPr marL="457200" lvl="0" indent="-342900" algn="l" rtl="1">
              <a:lnSpc>
                <a:spcPct val="115000"/>
              </a:lnSpc>
              <a:spcBef>
                <a:spcPts val="0"/>
              </a:spcBef>
              <a:spcAft>
                <a:spcPts val="0"/>
              </a:spcAft>
              <a:buClr>
                <a:srgbClr val="424242"/>
              </a:buClr>
              <a:buSzPts val="1800"/>
              <a:buChar char="●"/>
              <a:defRPr>
                <a:solidFill>
                  <a:srgbClr val="424242"/>
                </a:solidFill>
              </a:defRPr>
            </a:lvl1pPr>
            <a:lvl2pPr marL="914400" lvl="1" indent="-317500" algn="l" rtl="1">
              <a:lnSpc>
                <a:spcPct val="115000"/>
              </a:lnSpc>
              <a:spcBef>
                <a:spcPts val="0"/>
              </a:spcBef>
              <a:spcAft>
                <a:spcPts val="0"/>
              </a:spcAft>
              <a:buClr>
                <a:srgbClr val="424242"/>
              </a:buClr>
              <a:buSzPts val="1400"/>
              <a:buChar char="○"/>
              <a:defRPr>
                <a:solidFill>
                  <a:srgbClr val="424242"/>
                </a:solidFill>
              </a:defRPr>
            </a:lvl2pPr>
            <a:lvl3pPr marL="1371600" lvl="2" indent="-317500" algn="l" rtl="1">
              <a:lnSpc>
                <a:spcPct val="115000"/>
              </a:lnSpc>
              <a:spcBef>
                <a:spcPts val="0"/>
              </a:spcBef>
              <a:spcAft>
                <a:spcPts val="0"/>
              </a:spcAft>
              <a:buClr>
                <a:srgbClr val="424242"/>
              </a:buClr>
              <a:buSzPts val="1400"/>
              <a:buChar char="■"/>
              <a:defRPr>
                <a:solidFill>
                  <a:srgbClr val="424242"/>
                </a:solidFill>
              </a:defRPr>
            </a:lvl3pPr>
            <a:lvl4pPr marL="1828800" lvl="3" indent="-317500" algn="l" rtl="1">
              <a:lnSpc>
                <a:spcPct val="115000"/>
              </a:lnSpc>
              <a:spcBef>
                <a:spcPts val="0"/>
              </a:spcBef>
              <a:spcAft>
                <a:spcPts val="0"/>
              </a:spcAft>
              <a:buClr>
                <a:srgbClr val="424242"/>
              </a:buClr>
              <a:buSzPts val="1400"/>
              <a:buChar char="●"/>
              <a:defRPr>
                <a:solidFill>
                  <a:srgbClr val="424242"/>
                </a:solidFill>
              </a:defRPr>
            </a:lvl4pPr>
            <a:lvl5pPr marL="2286000" lvl="4" indent="-317500" algn="l" rtl="1">
              <a:lnSpc>
                <a:spcPct val="115000"/>
              </a:lnSpc>
              <a:spcBef>
                <a:spcPts val="0"/>
              </a:spcBef>
              <a:spcAft>
                <a:spcPts val="0"/>
              </a:spcAft>
              <a:buClr>
                <a:srgbClr val="424242"/>
              </a:buClr>
              <a:buSzPts val="1400"/>
              <a:buChar char="○"/>
              <a:defRPr>
                <a:solidFill>
                  <a:srgbClr val="424242"/>
                </a:solidFill>
              </a:defRPr>
            </a:lvl5pPr>
            <a:lvl6pPr marL="2743200" lvl="5" indent="-317500" algn="l" rtl="1">
              <a:lnSpc>
                <a:spcPct val="115000"/>
              </a:lnSpc>
              <a:spcBef>
                <a:spcPts val="0"/>
              </a:spcBef>
              <a:spcAft>
                <a:spcPts val="0"/>
              </a:spcAft>
              <a:buClr>
                <a:srgbClr val="424242"/>
              </a:buClr>
              <a:buSzPts val="1400"/>
              <a:buChar char="■"/>
              <a:defRPr>
                <a:solidFill>
                  <a:srgbClr val="424242"/>
                </a:solidFill>
              </a:defRPr>
            </a:lvl6pPr>
            <a:lvl7pPr marL="3200400" lvl="6" indent="-317500" algn="l" rtl="1">
              <a:lnSpc>
                <a:spcPct val="115000"/>
              </a:lnSpc>
              <a:spcBef>
                <a:spcPts val="0"/>
              </a:spcBef>
              <a:spcAft>
                <a:spcPts val="0"/>
              </a:spcAft>
              <a:buClr>
                <a:srgbClr val="424242"/>
              </a:buClr>
              <a:buSzPts val="1400"/>
              <a:buChar char="●"/>
              <a:defRPr>
                <a:solidFill>
                  <a:srgbClr val="424242"/>
                </a:solidFill>
              </a:defRPr>
            </a:lvl7pPr>
            <a:lvl8pPr marL="3657600" lvl="7" indent="-317500" algn="l" rtl="1">
              <a:lnSpc>
                <a:spcPct val="115000"/>
              </a:lnSpc>
              <a:spcBef>
                <a:spcPts val="0"/>
              </a:spcBef>
              <a:spcAft>
                <a:spcPts val="0"/>
              </a:spcAft>
              <a:buClr>
                <a:srgbClr val="424242"/>
              </a:buClr>
              <a:buSzPts val="1400"/>
              <a:buChar char="○"/>
              <a:defRPr>
                <a:solidFill>
                  <a:srgbClr val="424242"/>
                </a:solidFill>
              </a:defRPr>
            </a:lvl8pPr>
            <a:lvl9pPr marL="4114800" lvl="8" indent="-317500" algn="l" rtl="1">
              <a:lnSpc>
                <a:spcPct val="115000"/>
              </a:lnSpc>
              <a:spcBef>
                <a:spcPts val="0"/>
              </a:spcBef>
              <a:spcAft>
                <a:spcPts val="0"/>
              </a:spcAft>
              <a:buClr>
                <a:srgbClr val="424242"/>
              </a:buClr>
              <a:buSzPts val="1400"/>
              <a:buChar char="■"/>
              <a:defRPr>
                <a:solidFill>
                  <a:srgbClr val="424242"/>
                </a:solidFill>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Blank" type="blank">
  <p:cSld name="BLANK">
    <p:bg>
      <p:bgPr>
        <a:blipFill>
          <a:blip r:embed="rId2">
            <a:alphaModFix/>
          </a:blip>
          <a:stretch>
            <a:fillRect/>
          </a:stretch>
        </a:blipFill>
        <a:effectLst/>
      </p:bgPr>
    </p:bg>
    <p:spTree>
      <p:nvGrpSpPr>
        <p:cNvPr id="1" name="Shape 21"/>
        <p:cNvGrpSpPr/>
        <p:nvPr/>
      </p:nvGrpSpPr>
      <p:grpSpPr>
        <a:xfrm>
          <a:off x="0" y="0"/>
          <a:ext cx="0" cy="0"/>
          <a:chOff x="0" y="0"/>
          <a:chExt cx="0" cy="0"/>
        </a:xfrm>
      </p:grpSpPr>
      <p:sp>
        <p:nvSpPr>
          <p:cNvPr id="22" name="Google Shape;22;p26"/>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3"/>
        <p:cNvGrpSpPr/>
        <p:nvPr/>
      </p:nvGrpSpPr>
      <p:grpSpPr>
        <a:xfrm>
          <a:off x="0" y="0"/>
          <a:ext cx="0" cy="0"/>
          <a:chOff x="0" y="0"/>
          <a:chExt cx="0" cy="0"/>
        </a:xfrm>
      </p:grpSpPr>
      <p:sp>
        <p:nvSpPr>
          <p:cNvPr id="24" name="Google Shape;24;p27"/>
          <p:cNvSpPr txBox="1">
            <a:spLocks noGrp="1"/>
          </p:cNvSpPr>
          <p:nvPr>
            <p:ph type="title"/>
          </p:nvPr>
        </p:nvSpPr>
        <p:spPr>
          <a:xfrm>
            <a:off x="311700" y="2150850"/>
            <a:ext cx="8520600" cy="841800"/>
          </a:xfrm>
          <a:prstGeom prst="rect">
            <a:avLst/>
          </a:prstGeom>
          <a:noFill/>
          <a:ln>
            <a:noFill/>
          </a:ln>
        </p:spPr>
        <p:txBody>
          <a:bodyPr spcFirstLastPara="1" wrap="square" lIns="91425" tIns="91425" rIns="91425" bIns="91425" anchor="ctr" anchorCtr="0">
            <a:normAutofit/>
          </a:bodyPr>
          <a:lstStyle>
            <a:lvl1pPr lvl="0" algn="ctr" rtl="1">
              <a:lnSpc>
                <a:spcPct val="100000"/>
              </a:lnSpc>
              <a:spcBef>
                <a:spcPts val="0"/>
              </a:spcBef>
              <a:spcAft>
                <a:spcPts val="0"/>
              </a:spcAft>
              <a:buSzPts val="3600"/>
              <a:buFont typeface="Tajawal"/>
              <a:buNone/>
              <a:defRPr sz="3600">
                <a:latin typeface="Tajawal"/>
                <a:ea typeface="Tajawal"/>
                <a:cs typeface="Tajawal"/>
                <a:sym typeface="Tajawal"/>
              </a:defRPr>
            </a:lvl1pPr>
            <a:lvl2pPr lvl="1" algn="ctr" rtl="1">
              <a:lnSpc>
                <a:spcPct val="100000"/>
              </a:lnSpc>
              <a:spcBef>
                <a:spcPts val="0"/>
              </a:spcBef>
              <a:spcAft>
                <a:spcPts val="0"/>
              </a:spcAft>
              <a:buSzPts val="3600"/>
              <a:buFont typeface="Tajawal"/>
              <a:buNone/>
              <a:defRPr sz="3600">
                <a:latin typeface="Tajawal"/>
                <a:ea typeface="Tajawal"/>
                <a:cs typeface="Tajawal"/>
                <a:sym typeface="Tajawal"/>
              </a:defRPr>
            </a:lvl2pPr>
            <a:lvl3pPr lvl="2" algn="ctr" rtl="1">
              <a:lnSpc>
                <a:spcPct val="100000"/>
              </a:lnSpc>
              <a:spcBef>
                <a:spcPts val="0"/>
              </a:spcBef>
              <a:spcAft>
                <a:spcPts val="0"/>
              </a:spcAft>
              <a:buSzPts val="3600"/>
              <a:buFont typeface="Tajawal"/>
              <a:buNone/>
              <a:defRPr sz="3600">
                <a:latin typeface="Tajawal"/>
                <a:ea typeface="Tajawal"/>
                <a:cs typeface="Tajawal"/>
                <a:sym typeface="Tajawal"/>
              </a:defRPr>
            </a:lvl3pPr>
            <a:lvl4pPr lvl="3" algn="ctr" rtl="1">
              <a:lnSpc>
                <a:spcPct val="100000"/>
              </a:lnSpc>
              <a:spcBef>
                <a:spcPts val="0"/>
              </a:spcBef>
              <a:spcAft>
                <a:spcPts val="0"/>
              </a:spcAft>
              <a:buSzPts val="3600"/>
              <a:buFont typeface="Tajawal"/>
              <a:buNone/>
              <a:defRPr sz="3600">
                <a:latin typeface="Tajawal"/>
                <a:ea typeface="Tajawal"/>
                <a:cs typeface="Tajawal"/>
                <a:sym typeface="Tajawal"/>
              </a:defRPr>
            </a:lvl4pPr>
            <a:lvl5pPr lvl="4" algn="ctr" rtl="1">
              <a:lnSpc>
                <a:spcPct val="100000"/>
              </a:lnSpc>
              <a:spcBef>
                <a:spcPts val="0"/>
              </a:spcBef>
              <a:spcAft>
                <a:spcPts val="0"/>
              </a:spcAft>
              <a:buSzPts val="3600"/>
              <a:buFont typeface="Tajawal"/>
              <a:buNone/>
              <a:defRPr sz="3600">
                <a:latin typeface="Tajawal"/>
                <a:ea typeface="Tajawal"/>
                <a:cs typeface="Tajawal"/>
                <a:sym typeface="Tajawal"/>
              </a:defRPr>
            </a:lvl5pPr>
            <a:lvl6pPr lvl="5" algn="ctr" rtl="1">
              <a:lnSpc>
                <a:spcPct val="100000"/>
              </a:lnSpc>
              <a:spcBef>
                <a:spcPts val="0"/>
              </a:spcBef>
              <a:spcAft>
                <a:spcPts val="0"/>
              </a:spcAft>
              <a:buSzPts val="3600"/>
              <a:buFont typeface="Tajawal"/>
              <a:buNone/>
              <a:defRPr sz="3600">
                <a:latin typeface="Tajawal"/>
                <a:ea typeface="Tajawal"/>
                <a:cs typeface="Tajawal"/>
                <a:sym typeface="Tajawal"/>
              </a:defRPr>
            </a:lvl6pPr>
            <a:lvl7pPr lvl="6" algn="ctr" rtl="1">
              <a:lnSpc>
                <a:spcPct val="100000"/>
              </a:lnSpc>
              <a:spcBef>
                <a:spcPts val="0"/>
              </a:spcBef>
              <a:spcAft>
                <a:spcPts val="0"/>
              </a:spcAft>
              <a:buSzPts val="3600"/>
              <a:buFont typeface="Tajawal"/>
              <a:buNone/>
              <a:defRPr sz="3600">
                <a:latin typeface="Tajawal"/>
                <a:ea typeface="Tajawal"/>
                <a:cs typeface="Tajawal"/>
                <a:sym typeface="Tajawal"/>
              </a:defRPr>
            </a:lvl7pPr>
            <a:lvl8pPr lvl="7" algn="ctr" rtl="1">
              <a:lnSpc>
                <a:spcPct val="100000"/>
              </a:lnSpc>
              <a:spcBef>
                <a:spcPts val="0"/>
              </a:spcBef>
              <a:spcAft>
                <a:spcPts val="0"/>
              </a:spcAft>
              <a:buSzPts val="3600"/>
              <a:buFont typeface="Tajawal"/>
              <a:buNone/>
              <a:defRPr sz="3600">
                <a:latin typeface="Tajawal"/>
                <a:ea typeface="Tajawal"/>
                <a:cs typeface="Tajawal"/>
                <a:sym typeface="Tajawal"/>
              </a:defRPr>
            </a:lvl8pPr>
            <a:lvl9pPr lvl="8" algn="ctr" rtl="1">
              <a:lnSpc>
                <a:spcPct val="100000"/>
              </a:lnSpc>
              <a:spcBef>
                <a:spcPts val="0"/>
              </a:spcBef>
              <a:spcAft>
                <a:spcPts val="0"/>
              </a:spcAft>
              <a:buSzPts val="3600"/>
              <a:buFont typeface="Tajawal"/>
              <a:buNone/>
              <a:defRPr sz="3600">
                <a:latin typeface="Tajawal"/>
                <a:ea typeface="Tajawal"/>
                <a:cs typeface="Tajawal"/>
                <a:sym typeface="Tajawal"/>
              </a:defRPr>
            </a:lvl9pPr>
          </a:lstStyle>
          <a:p>
            <a:endParaRPr/>
          </a:p>
        </p:txBody>
      </p:sp>
      <p:sp>
        <p:nvSpPr>
          <p:cNvPr id="25" name="Google Shape;25;p27"/>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6"/>
        <p:cNvGrpSpPr/>
        <p:nvPr/>
      </p:nvGrpSpPr>
      <p:grpSpPr>
        <a:xfrm>
          <a:off x="0" y="0"/>
          <a:ext cx="0" cy="0"/>
          <a:chOff x="0" y="0"/>
          <a:chExt cx="0" cy="0"/>
        </a:xfrm>
      </p:grpSpPr>
      <p:sp>
        <p:nvSpPr>
          <p:cNvPr id="27" name="Google Shape;27;p28"/>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
        <p:nvSpPr>
          <p:cNvPr id="28" name="Google Shape;28;p28"/>
          <p:cNvSpPr txBox="1">
            <a:spLocks noGrp="1"/>
          </p:cNvSpPr>
          <p:nvPr>
            <p:ph type="title"/>
          </p:nvPr>
        </p:nvSpPr>
        <p:spPr>
          <a:xfrm>
            <a:off x="2079450" y="714175"/>
            <a:ext cx="6707400" cy="777300"/>
          </a:xfrm>
          <a:prstGeom prst="rect">
            <a:avLst/>
          </a:prstGeom>
          <a:noFill/>
          <a:ln>
            <a:noFill/>
          </a:ln>
        </p:spPr>
        <p:txBody>
          <a:bodyPr spcFirstLastPara="1" wrap="square" lIns="91425" tIns="91425" rIns="91425" bIns="91425" anchor="t" anchorCtr="0">
            <a:normAutofit/>
          </a:bodyPr>
          <a:lstStyle>
            <a:lvl1pPr lvl="0" algn="l" rtl="1">
              <a:lnSpc>
                <a:spcPct val="100000"/>
              </a:lnSpc>
              <a:spcBef>
                <a:spcPts val="0"/>
              </a:spcBef>
              <a:spcAft>
                <a:spcPts val="0"/>
              </a:spcAft>
              <a:buClr>
                <a:srgbClr val="543198"/>
              </a:buClr>
              <a:buSzPts val="2500"/>
              <a:buNone/>
              <a:defRPr b="1">
                <a:solidFill>
                  <a:srgbClr val="543198"/>
                </a:solidFill>
              </a:defRPr>
            </a:lvl1pPr>
            <a:lvl2pPr lvl="1" algn="l">
              <a:lnSpc>
                <a:spcPct val="100000"/>
              </a:lnSpc>
              <a:spcBef>
                <a:spcPts val="0"/>
              </a:spcBef>
              <a:spcAft>
                <a:spcPts val="0"/>
              </a:spcAft>
              <a:buClr>
                <a:srgbClr val="543198"/>
              </a:buClr>
              <a:buSzPts val="2800"/>
              <a:buNone/>
              <a:defRPr b="1">
                <a:solidFill>
                  <a:srgbClr val="543198"/>
                </a:solidFill>
              </a:defRPr>
            </a:lvl2pPr>
            <a:lvl3pPr lvl="2" algn="l">
              <a:lnSpc>
                <a:spcPct val="100000"/>
              </a:lnSpc>
              <a:spcBef>
                <a:spcPts val="0"/>
              </a:spcBef>
              <a:spcAft>
                <a:spcPts val="0"/>
              </a:spcAft>
              <a:buClr>
                <a:srgbClr val="543198"/>
              </a:buClr>
              <a:buSzPts val="2800"/>
              <a:buNone/>
              <a:defRPr b="1">
                <a:solidFill>
                  <a:srgbClr val="543198"/>
                </a:solidFill>
              </a:defRPr>
            </a:lvl3pPr>
            <a:lvl4pPr lvl="3" algn="l">
              <a:lnSpc>
                <a:spcPct val="100000"/>
              </a:lnSpc>
              <a:spcBef>
                <a:spcPts val="0"/>
              </a:spcBef>
              <a:spcAft>
                <a:spcPts val="0"/>
              </a:spcAft>
              <a:buClr>
                <a:srgbClr val="543198"/>
              </a:buClr>
              <a:buSzPts val="2800"/>
              <a:buNone/>
              <a:defRPr b="1">
                <a:solidFill>
                  <a:srgbClr val="543198"/>
                </a:solidFill>
              </a:defRPr>
            </a:lvl4pPr>
            <a:lvl5pPr lvl="4" algn="l">
              <a:lnSpc>
                <a:spcPct val="100000"/>
              </a:lnSpc>
              <a:spcBef>
                <a:spcPts val="0"/>
              </a:spcBef>
              <a:spcAft>
                <a:spcPts val="0"/>
              </a:spcAft>
              <a:buClr>
                <a:srgbClr val="543198"/>
              </a:buClr>
              <a:buSzPts val="2800"/>
              <a:buNone/>
              <a:defRPr b="1">
                <a:solidFill>
                  <a:srgbClr val="543198"/>
                </a:solidFill>
              </a:defRPr>
            </a:lvl5pPr>
            <a:lvl6pPr lvl="5" algn="l">
              <a:lnSpc>
                <a:spcPct val="100000"/>
              </a:lnSpc>
              <a:spcBef>
                <a:spcPts val="0"/>
              </a:spcBef>
              <a:spcAft>
                <a:spcPts val="0"/>
              </a:spcAft>
              <a:buClr>
                <a:srgbClr val="543198"/>
              </a:buClr>
              <a:buSzPts val="2800"/>
              <a:buNone/>
              <a:defRPr b="1">
                <a:solidFill>
                  <a:srgbClr val="543198"/>
                </a:solidFill>
              </a:defRPr>
            </a:lvl6pPr>
            <a:lvl7pPr lvl="6" algn="l">
              <a:lnSpc>
                <a:spcPct val="100000"/>
              </a:lnSpc>
              <a:spcBef>
                <a:spcPts val="0"/>
              </a:spcBef>
              <a:spcAft>
                <a:spcPts val="0"/>
              </a:spcAft>
              <a:buClr>
                <a:srgbClr val="543198"/>
              </a:buClr>
              <a:buSzPts val="2800"/>
              <a:buNone/>
              <a:defRPr b="1">
                <a:solidFill>
                  <a:srgbClr val="543198"/>
                </a:solidFill>
              </a:defRPr>
            </a:lvl7pPr>
            <a:lvl8pPr lvl="7" algn="l">
              <a:lnSpc>
                <a:spcPct val="100000"/>
              </a:lnSpc>
              <a:spcBef>
                <a:spcPts val="0"/>
              </a:spcBef>
              <a:spcAft>
                <a:spcPts val="0"/>
              </a:spcAft>
              <a:buClr>
                <a:srgbClr val="543198"/>
              </a:buClr>
              <a:buSzPts val="2800"/>
              <a:buNone/>
              <a:defRPr b="1">
                <a:solidFill>
                  <a:srgbClr val="543198"/>
                </a:solidFill>
              </a:defRPr>
            </a:lvl8pPr>
            <a:lvl9pPr lvl="8" algn="l">
              <a:lnSpc>
                <a:spcPct val="100000"/>
              </a:lnSpc>
              <a:spcBef>
                <a:spcPts val="0"/>
              </a:spcBef>
              <a:spcAft>
                <a:spcPts val="0"/>
              </a:spcAft>
              <a:buClr>
                <a:srgbClr val="543198"/>
              </a:buClr>
              <a:buSzPts val="2800"/>
              <a:buNone/>
              <a:defRPr b="1">
                <a:solidFill>
                  <a:srgbClr val="543198"/>
                </a:solidFill>
              </a:defRPr>
            </a:lvl9pPr>
          </a:lstStyle>
          <a:p>
            <a:endParaRPr/>
          </a:p>
        </p:txBody>
      </p:sp>
      <p:sp>
        <p:nvSpPr>
          <p:cNvPr id="29" name="Google Shape;29;p28"/>
          <p:cNvSpPr txBox="1">
            <a:spLocks noGrp="1"/>
          </p:cNvSpPr>
          <p:nvPr>
            <p:ph type="body" idx="1"/>
          </p:nvPr>
        </p:nvSpPr>
        <p:spPr>
          <a:xfrm>
            <a:off x="2758650" y="1526325"/>
            <a:ext cx="6028200" cy="1757400"/>
          </a:xfrm>
          <a:prstGeom prst="rect">
            <a:avLst/>
          </a:prstGeom>
          <a:noFill/>
          <a:ln>
            <a:noFill/>
          </a:ln>
        </p:spPr>
        <p:txBody>
          <a:bodyPr spcFirstLastPara="1" wrap="square" lIns="91425" tIns="91425" rIns="91425" bIns="91425" anchor="t" anchorCtr="0">
            <a:normAutofit/>
          </a:bodyPr>
          <a:lstStyle>
            <a:lvl1pPr marL="457200" lvl="0" indent="-342900" algn="l" rtl="1">
              <a:lnSpc>
                <a:spcPct val="115000"/>
              </a:lnSpc>
              <a:spcBef>
                <a:spcPts val="0"/>
              </a:spcBef>
              <a:spcAft>
                <a:spcPts val="0"/>
              </a:spcAft>
              <a:buClr>
                <a:srgbClr val="424242"/>
              </a:buClr>
              <a:buSzPts val="1800"/>
              <a:buChar char="●"/>
              <a:defRPr>
                <a:solidFill>
                  <a:srgbClr val="424242"/>
                </a:solidFill>
              </a:defRPr>
            </a:lvl1pPr>
            <a:lvl2pPr marL="914400" lvl="1" indent="-317500" algn="l" rtl="1">
              <a:lnSpc>
                <a:spcPct val="115000"/>
              </a:lnSpc>
              <a:spcBef>
                <a:spcPts val="0"/>
              </a:spcBef>
              <a:spcAft>
                <a:spcPts val="0"/>
              </a:spcAft>
              <a:buClr>
                <a:srgbClr val="424242"/>
              </a:buClr>
              <a:buSzPts val="1400"/>
              <a:buChar char="○"/>
              <a:defRPr>
                <a:solidFill>
                  <a:srgbClr val="424242"/>
                </a:solidFill>
              </a:defRPr>
            </a:lvl2pPr>
            <a:lvl3pPr marL="1371600" lvl="2" indent="-317500" algn="l" rtl="1">
              <a:lnSpc>
                <a:spcPct val="115000"/>
              </a:lnSpc>
              <a:spcBef>
                <a:spcPts val="0"/>
              </a:spcBef>
              <a:spcAft>
                <a:spcPts val="0"/>
              </a:spcAft>
              <a:buClr>
                <a:srgbClr val="424242"/>
              </a:buClr>
              <a:buSzPts val="1400"/>
              <a:buChar char="■"/>
              <a:defRPr>
                <a:solidFill>
                  <a:srgbClr val="424242"/>
                </a:solidFill>
              </a:defRPr>
            </a:lvl3pPr>
            <a:lvl4pPr marL="1828800" lvl="3" indent="-317500" algn="l" rtl="1">
              <a:lnSpc>
                <a:spcPct val="115000"/>
              </a:lnSpc>
              <a:spcBef>
                <a:spcPts val="0"/>
              </a:spcBef>
              <a:spcAft>
                <a:spcPts val="0"/>
              </a:spcAft>
              <a:buClr>
                <a:srgbClr val="424242"/>
              </a:buClr>
              <a:buSzPts val="1400"/>
              <a:buChar char="●"/>
              <a:defRPr>
                <a:solidFill>
                  <a:srgbClr val="424242"/>
                </a:solidFill>
              </a:defRPr>
            </a:lvl4pPr>
            <a:lvl5pPr marL="2286000" lvl="4" indent="-317500" algn="l" rtl="1">
              <a:lnSpc>
                <a:spcPct val="115000"/>
              </a:lnSpc>
              <a:spcBef>
                <a:spcPts val="0"/>
              </a:spcBef>
              <a:spcAft>
                <a:spcPts val="0"/>
              </a:spcAft>
              <a:buClr>
                <a:srgbClr val="424242"/>
              </a:buClr>
              <a:buSzPts val="1400"/>
              <a:buChar char="○"/>
              <a:defRPr>
                <a:solidFill>
                  <a:srgbClr val="424242"/>
                </a:solidFill>
              </a:defRPr>
            </a:lvl5pPr>
            <a:lvl6pPr marL="2743200" lvl="5" indent="-317500" algn="l" rtl="1">
              <a:lnSpc>
                <a:spcPct val="115000"/>
              </a:lnSpc>
              <a:spcBef>
                <a:spcPts val="0"/>
              </a:spcBef>
              <a:spcAft>
                <a:spcPts val="0"/>
              </a:spcAft>
              <a:buClr>
                <a:srgbClr val="424242"/>
              </a:buClr>
              <a:buSzPts val="1400"/>
              <a:buChar char="■"/>
              <a:defRPr>
                <a:solidFill>
                  <a:srgbClr val="424242"/>
                </a:solidFill>
              </a:defRPr>
            </a:lvl6pPr>
            <a:lvl7pPr marL="3200400" lvl="6" indent="-317500" algn="l" rtl="1">
              <a:lnSpc>
                <a:spcPct val="115000"/>
              </a:lnSpc>
              <a:spcBef>
                <a:spcPts val="0"/>
              </a:spcBef>
              <a:spcAft>
                <a:spcPts val="0"/>
              </a:spcAft>
              <a:buClr>
                <a:srgbClr val="424242"/>
              </a:buClr>
              <a:buSzPts val="1400"/>
              <a:buChar char="●"/>
              <a:defRPr>
                <a:solidFill>
                  <a:srgbClr val="424242"/>
                </a:solidFill>
              </a:defRPr>
            </a:lvl7pPr>
            <a:lvl8pPr marL="3657600" lvl="7" indent="-317500" algn="l" rtl="1">
              <a:lnSpc>
                <a:spcPct val="115000"/>
              </a:lnSpc>
              <a:spcBef>
                <a:spcPts val="0"/>
              </a:spcBef>
              <a:spcAft>
                <a:spcPts val="0"/>
              </a:spcAft>
              <a:buClr>
                <a:srgbClr val="424242"/>
              </a:buClr>
              <a:buSzPts val="1400"/>
              <a:buChar char="○"/>
              <a:defRPr>
                <a:solidFill>
                  <a:srgbClr val="424242"/>
                </a:solidFill>
              </a:defRPr>
            </a:lvl8pPr>
            <a:lvl9pPr marL="4114800" lvl="8" indent="-317500" algn="l" rtl="1">
              <a:lnSpc>
                <a:spcPct val="115000"/>
              </a:lnSpc>
              <a:spcBef>
                <a:spcPts val="0"/>
              </a:spcBef>
              <a:spcAft>
                <a:spcPts val="0"/>
              </a:spcAft>
              <a:buClr>
                <a:srgbClr val="424242"/>
              </a:buClr>
              <a:buSzPts val="1400"/>
              <a:buChar char="■"/>
              <a:defRPr>
                <a:solidFill>
                  <a:srgbClr val="424242"/>
                </a:solidFill>
              </a:defRPr>
            </a:lvl9p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4"/>
        <p:cNvGrpSpPr/>
        <p:nvPr/>
      </p:nvGrpSpPr>
      <p:grpSpPr>
        <a:xfrm>
          <a:off x="0" y="0"/>
          <a:ext cx="0" cy="0"/>
          <a:chOff x="0" y="0"/>
          <a:chExt cx="0" cy="0"/>
        </a:xfrm>
      </p:grpSpPr>
      <p:sp>
        <p:nvSpPr>
          <p:cNvPr id="35" name="Google Shape;35;p30"/>
          <p:cNvSpPr txBox="1">
            <a:spLocks noGrp="1"/>
          </p:cNvSpPr>
          <p:nvPr>
            <p:ph type="title"/>
          </p:nvPr>
        </p:nvSpPr>
        <p:spPr>
          <a:xfrm>
            <a:off x="265500" y="1233175"/>
            <a:ext cx="4045200" cy="1482300"/>
          </a:xfrm>
          <a:prstGeom prst="rect">
            <a:avLst/>
          </a:prstGeom>
          <a:noFill/>
          <a:ln>
            <a:noFill/>
          </a:ln>
        </p:spPr>
        <p:txBody>
          <a:bodyPr spcFirstLastPara="1" wrap="square" lIns="91425" tIns="91425" rIns="91425" bIns="91425" anchor="b" anchorCtr="0">
            <a:normAutofit/>
          </a:bodyPr>
          <a:lstStyle>
            <a:lvl1pPr lvl="0" algn="ctr" rtl="1">
              <a:lnSpc>
                <a:spcPct val="100000"/>
              </a:lnSpc>
              <a:spcBef>
                <a:spcPts val="0"/>
              </a:spcBef>
              <a:spcAft>
                <a:spcPts val="0"/>
              </a:spcAft>
              <a:buSzPts val="4200"/>
              <a:buNone/>
              <a:defRPr sz="4200"/>
            </a:lvl1pPr>
            <a:lvl2pPr lvl="1" algn="ctr" rtl="1">
              <a:lnSpc>
                <a:spcPct val="100000"/>
              </a:lnSpc>
              <a:spcBef>
                <a:spcPts val="0"/>
              </a:spcBef>
              <a:spcAft>
                <a:spcPts val="0"/>
              </a:spcAft>
              <a:buSzPts val="4200"/>
              <a:buNone/>
              <a:defRPr sz="4200"/>
            </a:lvl2pPr>
            <a:lvl3pPr lvl="2" algn="ctr" rtl="1">
              <a:lnSpc>
                <a:spcPct val="100000"/>
              </a:lnSpc>
              <a:spcBef>
                <a:spcPts val="0"/>
              </a:spcBef>
              <a:spcAft>
                <a:spcPts val="0"/>
              </a:spcAft>
              <a:buSzPts val="4200"/>
              <a:buNone/>
              <a:defRPr sz="4200"/>
            </a:lvl3pPr>
            <a:lvl4pPr lvl="3" algn="ctr" rtl="1">
              <a:lnSpc>
                <a:spcPct val="100000"/>
              </a:lnSpc>
              <a:spcBef>
                <a:spcPts val="0"/>
              </a:spcBef>
              <a:spcAft>
                <a:spcPts val="0"/>
              </a:spcAft>
              <a:buSzPts val="4200"/>
              <a:buNone/>
              <a:defRPr sz="4200"/>
            </a:lvl4pPr>
            <a:lvl5pPr lvl="4" algn="ctr" rtl="1">
              <a:lnSpc>
                <a:spcPct val="100000"/>
              </a:lnSpc>
              <a:spcBef>
                <a:spcPts val="0"/>
              </a:spcBef>
              <a:spcAft>
                <a:spcPts val="0"/>
              </a:spcAft>
              <a:buSzPts val="4200"/>
              <a:buNone/>
              <a:defRPr sz="4200"/>
            </a:lvl5pPr>
            <a:lvl6pPr lvl="5" algn="ctr" rtl="1">
              <a:lnSpc>
                <a:spcPct val="100000"/>
              </a:lnSpc>
              <a:spcBef>
                <a:spcPts val="0"/>
              </a:spcBef>
              <a:spcAft>
                <a:spcPts val="0"/>
              </a:spcAft>
              <a:buSzPts val="4200"/>
              <a:buNone/>
              <a:defRPr sz="4200"/>
            </a:lvl6pPr>
            <a:lvl7pPr lvl="6" algn="ctr" rtl="1">
              <a:lnSpc>
                <a:spcPct val="100000"/>
              </a:lnSpc>
              <a:spcBef>
                <a:spcPts val="0"/>
              </a:spcBef>
              <a:spcAft>
                <a:spcPts val="0"/>
              </a:spcAft>
              <a:buSzPts val="4200"/>
              <a:buNone/>
              <a:defRPr sz="4200"/>
            </a:lvl7pPr>
            <a:lvl8pPr lvl="7" algn="ctr" rtl="1">
              <a:lnSpc>
                <a:spcPct val="100000"/>
              </a:lnSpc>
              <a:spcBef>
                <a:spcPts val="0"/>
              </a:spcBef>
              <a:spcAft>
                <a:spcPts val="0"/>
              </a:spcAft>
              <a:buSzPts val="4200"/>
              <a:buNone/>
              <a:defRPr sz="4200"/>
            </a:lvl8pPr>
            <a:lvl9pPr lvl="8" algn="ctr" rtl="1">
              <a:lnSpc>
                <a:spcPct val="100000"/>
              </a:lnSpc>
              <a:spcBef>
                <a:spcPts val="0"/>
              </a:spcBef>
              <a:spcAft>
                <a:spcPts val="0"/>
              </a:spcAft>
              <a:buSzPts val="4200"/>
              <a:buNone/>
              <a:defRPr sz="4200"/>
            </a:lvl9pPr>
          </a:lstStyle>
          <a:p>
            <a:endParaRPr/>
          </a:p>
        </p:txBody>
      </p:sp>
      <p:sp>
        <p:nvSpPr>
          <p:cNvPr id="36" name="Google Shape;36;p30"/>
          <p:cNvSpPr txBox="1">
            <a:spLocks noGrp="1"/>
          </p:cNvSpPr>
          <p:nvPr>
            <p:ph type="subTitle" idx="1"/>
          </p:nvPr>
        </p:nvSpPr>
        <p:spPr>
          <a:xfrm>
            <a:off x="265500" y="2803075"/>
            <a:ext cx="4045200" cy="1235100"/>
          </a:xfrm>
          <a:prstGeom prst="rect">
            <a:avLst/>
          </a:prstGeom>
          <a:noFill/>
          <a:ln>
            <a:noFill/>
          </a:ln>
        </p:spPr>
        <p:txBody>
          <a:bodyPr spcFirstLastPara="1" wrap="square" lIns="91425" tIns="91425" rIns="91425" bIns="91425" anchor="t" anchorCtr="0">
            <a:normAutofit/>
          </a:bodyPr>
          <a:lstStyle>
            <a:lvl1pPr lvl="0" algn="ctr" rtl="1">
              <a:lnSpc>
                <a:spcPct val="100000"/>
              </a:lnSpc>
              <a:spcBef>
                <a:spcPts val="0"/>
              </a:spcBef>
              <a:spcAft>
                <a:spcPts val="0"/>
              </a:spcAft>
              <a:buSzPts val="2100"/>
              <a:buNone/>
              <a:defRPr sz="2100"/>
            </a:lvl1pPr>
            <a:lvl2pPr lvl="1" algn="ctr" rtl="1">
              <a:lnSpc>
                <a:spcPct val="100000"/>
              </a:lnSpc>
              <a:spcBef>
                <a:spcPts val="0"/>
              </a:spcBef>
              <a:spcAft>
                <a:spcPts val="0"/>
              </a:spcAft>
              <a:buSzPts val="2100"/>
              <a:buNone/>
              <a:defRPr sz="2100"/>
            </a:lvl2pPr>
            <a:lvl3pPr lvl="2" algn="ctr" rtl="1">
              <a:lnSpc>
                <a:spcPct val="100000"/>
              </a:lnSpc>
              <a:spcBef>
                <a:spcPts val="0"/>
              </a:spcBef>
              <a:spcAft>
                <a:spcPts val="0"/>
              </a:spcAft>
              <a:buSzPts val="2100"/>
              <a:buNone/>
              <a:defRPr sz="2100"/>
            </a:lvl3pPr>
            <a:lvl4pPr lvl="3" algn="ctr" rtl="1">
              <a:lnSpc>
                <a:spcPct val="100000"/>
              </a:lnSpc>
              <a:spcBef>
                <a:spcPts val="0"/>
              </a:spcBef>
              <a:spcAft>
                <a:spcPts val="0"/>
              </a:spcAft>
              <a:buSzPts val="2100"/>
              <a:buNone/>
              <a:defRPr sz="2100"/>
            </a:lvl4pPr>
            <a:lvl5pPr lvl="4" algn="ctr" rtl="1">
              <a:lnSpc>
                <a:spcPct val="100000"/>
              </a:lnSpc>
              <a:spcBef>
                <a:spcPts val="0"/>
              </a:spcBef>
              <a:spcAft>
                <a:spcPts val="0"/>
              </a:spcAft>
              <a:buSzPts val="2100"/>
              <a:buNone/>
              <a:defRPr sz="2100"/>
            </a:lvl5pPr>
            <a:lvl6pPr lvl="5" algn="ctr" rtl="1">
              <a:lnSpc>
                <a:spcPct val="100000"/>
              </a:lnSpc>
              <a:spcBef>
                <a:spcPts val="0"/>
              </a:spcBef>
              <a:spcAft>
                <a:spcPts val="0"/>
              </a:spcAft>
              <a:buSzPts val="2100"/>
              <a:buNone/>
              <a:defRPr sz="2100"/>
            </a:lvl6pPr>
            <a:lvl7pPr lvl="6" algn="ctr" rtl="1">
              <a:lnSpc>
                <a:spcPct val="100000"/>
              </a:lnSpc>
              <a:spcBef>
                <a:spcPts val="0"/>
              </a:spcBef>
              <a:spcAft>
                <a:spcPts val="0"/>
              </a:spcAft>
              <a:buSzPts val="2100"/>
              <a:buNone/>
              <a:defRPr sz="2100"/>
            </a:lvl7pPr>
            <a:lvl8pPr lvl="7" algn="ctr" rtl="1">
              <a:lnSpc>
                <a:spcPct val="100000"/>
              </a:lnSpc>
              <a:spcBef>
                <a:spcPts val="0"/>
              </a:spcBef>
              <a:spcAft>
                <a:spcPts val="0"/>
              </a:spcAft>
              <a:buSzPts val="2100"/>
              <a:buNone/>
              <a:defRPr sz="2100"/>
            </a:lvl8pPr>
            <a:lvl9pPr lvl="8" algn="ctr" rtl="1">
              <a:lnSpc>
                <a:spcPct val="100000"/>
              </a:lnSpc>
              <a:spcBef>
                <a:spcPts val="0"/>
              </a:spcBef>
              <a:spcAft>
                <a:spcPts val="0"/>
              </a:spcAft>
              <a:buSzPts val="2100"/>
              <a:buNone/>
              <a:defRPr sz="2100"/>
            </a:lvl9pPr>
          </a:lstStyle>
          <a:p>
            <a:endParaRPr/>
          </a:p>
        </p:txBody>
      </p:sp>
      <p:sp>
        <p:nvSpPr>
          <p:cNvPr id="37" name="Google Shape;37;p30"/>
          <p:cNvSpPr txBox="1">
            <a:spLocks noGrp="1"/>
          </p:cNvSpPr>
          <p:nvPr>
            <p:ph type="body" idx="2"/>
          </p:nvPr>
        </p:nvSpPr>
        <p:spPr>
          <a:xfrm>
            <a:off x="4939500" y="724075"/>
            <a:ext cx="3837000" cy="3695100"/>
          </a:xfrm>
          <a:prstGeom prst="rect">
            <a:avLst/>
          </a:prstGeom>
          <a:noFill/>
          <a:ln>
            <a:noFill/>
          </a:ln>
        </p:spPr>
        <p:txBody>
          <a:bodyPr spcFirstLastPara="1" wrap="square" lIns="91425" tIns="91425" rIns="91425" bIns="91425" anchor="ctr" anchorCtr="0">
            <a:normAutofit/>
          </a:bodyPr>
          <a:lstStyle>
            <a:lvl1pPr marL="457200" lvl="0" indent="-342900" algn="l" rtl="1">
              <a:lnSpc>
                <a:spcPct val="115000"/>
              </a:lnSpc>
              <a:spcBef>
                <a:spcPts val="0"/>
              </a:spcBef>
              <a:spcAft>
                <a:spcPts val="0"/>
              </a:spcAft>
              <a:buSzPts val="1800"/>
              <a:buChar char="●"/>
              <a:defRPr/>
            </a:lvl1pPr>
            <a:lvl2pPr marL="914400" lvl="1" indent="-317500" algn="l" rtl="1">
              <a:lnSpc>
                <a:spcPct val="115000"/>
              </a:lnSpc>
              <a:spcBef>
                <a:spcPts val="0"/>
              </a:spcBef>
              <a:spcAft>
                <a:spcPts val="0"/>
              </a:spcAft>
              <a:buSzPts val="1400"/>
              <a:buChar char="○"/>
              <a:defRPr/>
            </a:lvl2pPr>
            <a:lvl3pPr marL="1371600" lvl="2" indent="-317500" algn="l" rtl="1">
              <a:lnSpc>
                <a:spcPct val="115000"/>
              </a:lnSpc>
              <a:spcBef>
                <a:spcPts val="0"/>
              </a:spcBef>
              <a:spcAft>
                <a:spcPts val="0"/>
              </a:spcAft>
              <a:buSzPts val="1400"/>
              <a:buChar char="■"/>
              <a:defRPr/>
            </a:lvl3pPr>
            <a:lvl4pPr marL="1828800" lvl="3" indent="-317500" algn="l" rtl="1">
              <a:lnSpc>
                <a:spcPct val="115000"/>
              </a:lnSpc>
              <a:spcBef>
                <a:spcPts val="0"/>
              </a:spcBef>
              <a:spcAft>
                <a:spcPts val="0"/>
              </a:spcAft>
              <a:buSzPts val="1400"/>
              <a:buChar char="●"/>
              <a:defRPr/>
            </a:lvl4pPr>
            <a:lvl5pPr marL="2286000" lvl="4" indent="-317500" algn="l" rtl="1">
              <a:lnSpc>
                <a:spcPct val="115000"/>
              </a:lnSpc>
              <a:spcBef>
                <a:spcPts val="0"/>
              </a:spcBef>
              <a:spcAft>
                <a:spcPts val="0"/>
              </a:spcAft>
              <a:buSzPts val="1400"/>
              <a:buChar char="○"/>
              <a:defRPr/>
            </a:lvl5pPr>
            <a:lvl6pPr marL="2743200" lvl="5" indent="-317500" algn="l" rtl="1">
              <a:lnSpc>
                <a:spcPct val="115000"/>
              </a:lnSpc>
              <a:spcBef>
                <a:spcPts val="0"/>
              </a:spcBef>
              <a:spcAft>
                <a:spcPts val="0"/>
              </a:spcAft>
              <a:buSzPts val="1400"/>
              <a:buChar char="■"/>
              <a:defRPr/>
            </a:lvl6pPr>
            <a:lvl7pPr marL="3200400" lvl="6" indent="-317500" algn="l" rtl="1">
              <a:lnSpc>
                <a:spcPct val="115000"/>
              </a:lnSpc>
              <a:spcBef>
                <a:spcPts val="0"/>
              </a:spcBef>
              <a:spcAft>
                <a:spcPts val="0"/>
              </a:spcAft>
              <a:buSzPts val="1400"/>
              <a:buChar char="●"/>
              <a:defRPr/>
            </a:lvl7pPr>
            <a:lvl8pPr marL="3657600" lvl="7" indent="-317500" algn="l" rtl="1">
              <a:lnSpc>
                <a:spcPct val="115000"/>
              </a:lnSpc>
              <a:spcBef>
                <a:spcPts val="0"/>
              </a:spcBef>
              <a:spcAft>
                <a:spcPts val="0"/>
              </a:spcAft>
              <a:buSzPts val="1400"/>
              <a:buChar char="○"/>
              <a:defRPr/>
            </a:lvl8pPr>
            <a:lvl9pPr marL="4114800" lvl="8" indent="-317500" algn="l" rtl="1">
              <a:lnSpc>
                <a:spcPct val="115000"/>
              </a:lnSpc>
              <a:spcBef>
                <a:spcPts val="0"/>
              </a:spcBef>
              <a:spcAft>
                <a:spcPts val="0"/>
              </a:spcAft>
              <a:buSzPts val="1400"/>
              <a:buChar char="■"/>
              <a:defRPr/>
            </a:lvl9pPr>
          </a:lstStyle>
          <a:p>
            <a:endParaRPr/>
          </a:p>
        </p:txBody>
      </p:sp>
      <p:sp>
        <p:nvSpPr>
          <p:cNvPr id="38" name="Google Shape;38;p30"/>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blipFill>
          <a:blip r:embed="rId9">
            <a:alphaModFix/>
          </a:blip>
          <a:stretch>
            <a:fillRect/>
          </a:stretch>
        </a:blipFill>
        <a:effectLst/>
      </p:bgPr>
    </p:bg>
    <p:spTree>
      <p:nvGrpSpPr>
        <p:cNvPr id="1" name="Shape 5"/>
        <p:cNvGrpSpPr/>
        <p:nvPr/>
      </p:nvGrpSpPr>
      <p:grpSpPr>
        <a:xfrm>
          <a:off x="0" y="0"/>
          <a:ext cx="0" cy="0"/>
          <a:chOff x="0" y="0"/>
          <a:chExt cx="0" cy="0"/>
        </a:xfrm>
      </p:grpSpPr>
      <p:sp>
        <p:nvSpPr>
          <p:cNvPr id="6" name="Google Shape;6;p22"/>
          <p:cNvSpPr txBox="1">
            <a:spLocks noGrp="1"/>
          </p:cNvSpPr>
          <p:nvPr>
            <p:ph type="title"/>
          </p:nvPr>
        </p:nvSpPr>
        <p:spPr>
          <a:xfrm>
            <a:off x="311700" y="282450"/>
            <a:ext cx="8520600" cy="572700"/>
          </a:xfrm>
          <a:prstGeom prst="rect">
            <a:avLst/>
          </a:prstGeom>
          <a:noFill/>
          <a:ln>
            <a:noFill/>
          </a:ln>
        </p:spPr>
        <p:txBody>
          <a:bodyPr spcFirstLastPara="1" wrap="square" lIns="91425" tIns="91425" rIns="91425" bIns="91425" anchor="t" anchorCtr="0">
            <a:normAutofit/>
          </a:bodyPr>
          <a:lstStyle>
            <a:lvl1pPr marR="0" lvl="0" algn="l" rtl="1">
              <a:lnSpc>
                <a:spcPct val="100000"/>
              </a:lnSpc>
              <a:spcBef>
                <a:spcPts val="0"/>
              </a:spcBef>
              <a:spcAft>
                <a:spcPts val="0"/>
              </a:spcAft>
              <a:buClr>
                <a:srgbClr val="4F29B7"/>
              </a:buClr>
              <a:buSzPts val="2500"/>
              <a:buFont typeface="IBM Plex Sans Arabic Medium"/>
              <a:buNone/>
              <a:defRPr sz="2500" b="0" i="0" u="none" strike="noStrike" cap="none">
                <a:solidFill>
                  <a:srgbClr val="4F29B7"/>
                </a:solidFill>
                <a:latin typeface="IBM Plex Sans Arabic Medium"/>
                <a:ea typeface="IBM Plex Sans Arabic Medium"/>
                <a:cs typeface="IBM Plex Sans Arabic Medium"/>
                <a:sym typeface="IBM Plex Sans Arabic Medium"/>
              </a:defRPr>
            </a:lvl1pPr>
            <a:lvl2pPr marR="0" lvl="1" algn="l" rtl="1">
              <a:lnSpc>
                <a:spcPct val="100000"/>
              </a:lnSpc>
              <a:spcBef>
                <a:spcPts val="0"/>
              </a:spcBef>
              <a:spcAft>
                <a:spcPts val="0"/>
              </a:spcAft>
              <a:buClr>
                <a:schemeClr val="dk1"/>
              </a:buClr>
              <a:buSzPts val="2800"/>
              <a:buFont typeface="IBM Plex Sans Medium"/>
              <a:buNone/>
              <a:defRPr sz="2800" b="0" i="0" u="none" strike="noStrike" cap="none">
                <a:solidFill>
                  <a:schemeClr val="dk1"/>
                </a:solidFill>
                <a:latin typeface="IBM Plex Sans Medium"/>
                <a:ea typeface="IBM Plex Sans Medium"/>
                <a:cs typeface="IBM Plex Sans Medium"/>
                <a:sym typeface="IBM Plex Sans Medium"/>
              </a:defRPr>
            </a:lvl2pPr>
            <a:lvl3pPr marR="0" lvl="2" algn="l" rtl="1">
              <a:lnSpc>
                <a:spcPct val="100000"/>
              </a:lnSpc>
              <a:spcBef>
                <a:spcPts val="0"/>
              </a:spcBef>
              <a:spcAft>
                <a:spcPts val="0"/>
              </a:spcAft>
              <a:buClr>
                <a:schemeClr val="dk1"/>
              </a:buClr>
              <a:buSzPts val="2800"/>
              <a:buFont typeface="IBM Plex Sans Medium"/>
              <a:buNone/>
              <a:defRPr sz="2800" b="0" i="0" u="none" strike="noStrike" cap="none">
                <a:solidFill>
                  <a:schemeClr val="dk1"/>
                </a:solidFill>
                <a:latin typeface="IBM Plex Sans Medium"/>
                <a:ea typeface="IBM Plex Sans Medium"/>
                <a:cs typeface="IBM Plex Sans Medium"/>
                <a:sym typeface="IBM Plex Sans Medium"/>
              </a:defRPr>
            </a:lvl3pPr>
            <a:lvl4pPr marR="0" lvl="3" algn="l" rtl="1">
              <a:lnSpc>
                <a:spcPct val="100000"/>
              </a:lnSpc>
              <a:spcBef>
                <a:spcPts val="0"/>
              </a:spcBef>
              <a:spcAft>
                <a:spcPts val="0"/>
              </a:spcAft>
              <a:buClr>
                <a:schemeClr val="dk1"/>
              </a:buClr>
              <a:buSzPts val="2800"/>
              <a:buFont typeface="IBM Plex Sans Medium"/>
              <a:buNone/>
              <a:defRPr sz="2800" b="0" i="0" u="none" strike="noStrike" cap="none">
                <a:solidFill>
                  <a:schemeClr val="dk1"/>
                </a:solidFill>
                <a:latin typeface="IBM Plex Sans Medium"/>
                <a:ea typeface="IBM Plex Sans Medium"/>
                <a:cs typeface="IBM Plex Sans Medium"/>
                <a:sym typeface="IBM Plex Sans Medium"/>
              </a:defRPr>
            </a:lvl4pPr>
            <a:lvl5pPr marR="0" lvl="4" algn="l" rtl="1">
              <a:lnSpc>
                <a:spcPct val="100000"/>
              </a:lnSpc>
              <a:spcBef>
                <a:spcPts val="0"/>
              </a:spcBef>
              <a:spcAft>
                <a:spcPts val="0"/>
              </a:spcAft>
              <a:buClr>
                <a:schemeClr val="dk1"/>
              </a:buClr>
              <a:buSzPts val="2800"/>
              <a:buFont typeface="IBM Plex Sans Medium"/>
              <a:buNone/>
              <a:defRPr sz="2800" b="0" i="0" u="none" strike="noStrike" cap="none">
                <a:solidFill>
                  <a:schemeClr val="dk1"/>
                </a:solidFill>
                <a:latin typeface="IBM Plex Sans Medium"/>
                <a:ea typeface="IBM Plex Sans Medium"/>
                <a:cs typeface="IBM Plex Sans Medium"/>
                <a:sym typeface="IBM Plex Sans Medium"/>
              </a:defRPr>
            </a:lvl5pPr>
            <a:lvl6pPr marR="0" lvl="5" algn="l" rtl="1">
              <a:lnSpc>
                <a:spcPct val="100000"/>
              </a:lnSpc>
              <a:spcBef>
                <a:spcPts val="0"/>
              </a:spcBef>
              <a:spcAft>
                <a:spcPts val="0"/>
              </a:spcAft>
              <a:buClr>
                <a:schemeClr val="dk1"/>
              </a:buClr>
              <a:buSzPts val="2800"/>
              <a:buFont typeface="IBM Plex Sans Medium"/>
              <a:buNone/>
              <a:defRPr sz="2800" b="0" i="0" u="none" strike="noStrike" cap="none">
                <a:solidFill>
                  <a:schemeClr val="dk1"/>
                </a:solidFill>
                <a:latin typeface="IBM Plex Sans Medium"/>
                <a:ea typeface="IBM Plex Sans Medium"/>
                <a:cs typeface="IBM Plex Sans Medium"/>
                <a:sym typeface="IBM Plex Sans Medium"/>
              </a:defRPr>
            </a:lvl6pPr>
            <a:lvl7pPr marR="0" lvl="6" algn="l" rtl="1">
              <a:lnSpc>
                <a:spcPct val="100000"/>
              </a:lnSpc>
              <a:spcBef>
                <a:spcPts val="0"/>
              </a:spcBef>
              <a:spcAft>
                <a:spcPts val="0"/>
              </a:spcAft>
              <a:buClr>
                <a:schemeClr val="dk1"/>
              </a:buClr>
              <a:buSzPts val="2800"/>
              <a:buFont typeface="IBM Plex Sans Medium"/>
              <a:buNone/>
              <a:defRPr sz="2800" b="0" i="0" u="none" strike="noStrike" cap="none">
                <a:solidFill>
                  <a:schemeClr val="dk1"/>
                </a:solidFill>
                <a:latin typeface="IBM Plex Sans Medium"/>
                <a:ea typeface="IBM Plex Sans Medium"/>
                <a:cs typeface="IBM Plex Sans Medium"/>
                <a:sym typeface="IBM Plex Sans Medium"/>
              </a:defRPr>
            </a:lvl7pPr>
            <a:lvl8pPr marR="0" lvl="7" algn="l" rtl="1">
              <a:lnSpc>
                <a:spcPct val="100000"/>
              </a:lnSpc>
              <a:spcBef>
                <a:spcPts val="0"/>
              </a:spcBef>
              <a:spcAft>
                <a:spcPts val="0"/>
              </a:spcAft>
              <a:buClr>
                <a:schemeClr val="dk1"/>
              </a:buClr>
              <a:buSzPts val="2800"/>
              <a:buFont typeface="IBM Plex Sans Medium"/>
              <a:buNone/>
              <a:defRPr sz="2800" b="0" i="0" u="none" strike="noStrike" cap="none">
                <a:solidFill>
                  <a:schemeClr val="dk1"/>
                </a:solidFill>
                <a:latin typeface="IBM Plex Sans Medium"/>
                <a:ea typeface="IBM Plex Sans Medium"/>
                <a:cs typeface="IBM Plex Sans Medium"/>
                <a:sym typeface="IBM Plex Sans Medium"/>
              </a:defRPr>
            </a:lvl8pPr>
            <a:lvl9pPr marR="0" lvl="8" algn="l" rtl="1">
              <a:lnSpc>
                <a:spcPct val="100000"/>
              </a:lnSpc>
              <a:spcBef>
                <a:spcPts val="0"/>
              </a:spcBef>
              <a:spcAft>
                <a:spcPts val="0"/>
              </a:spcAft>
              <a:buClr>
                <a:schemeClr val="dk1"/>
              </a:buClr>
              <a:buSzPts val="2800"/>
              <a:buFont typeface="IBM Plex Sans Medium"/>
              <a:buNone/>
              <a:defRPr sz="2800" b="0" i="0" u="none" strike="noStrike" cap="none">
                <a:solidFill>
                  <a:schemeClr val="dk1"/>
                </a:solidFill>
                <a:latin typeface="IBM Plex Sans Medium"/>
                <a:ea typeface="IBM Plex Sans Medium"/>
                <a:cs typeface="IBM Plex Sans Medium"/>
                <a:sym typeface="IBM Plex Sans Medium"/>
              </a:defRPr>
            </a:lvl9pPr>
          </a:lstStyle>
          <a:p>
            <a:endParaRPr/>
          </a:p>
        </p:txBody>
      </p:sp>
      <p:sp>
        <p:nvSpPr>
          <p:cNvPr id="7" name="Google Shape;7;p22"/>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marR="0" lvl="0" indent="-342900" algn="l" rtl="1">
              <a:lnSpc>
                <a:spcPct val="115000"/>
              </a:lnSpc>
              <a:spcBef>
                <a:spcPts val="0"/>
              </a:spcBef>
              <a:spcAft>
                <a:spcPts val="0"/>
              </a:spcAft>
              <a:buClr>
                <a:srgbClr val="252526"/>
              </a:buClr>
              <a:buSzPts val="1800"/>
              <a:buFont typeface="IBM Plex Sans Arabic"/>
              <a:buChar char="●"/>
              <a:defRPr sz="1800" b="0" i="0" u="none" strike="noStrike" cap="none">
                <a:solidFill>
                  <a:srgbClr val="252526"/>
                </a:solidFill>
                <a:latin typeface="IBM Plex Sans Arabic"/>
                <a:ea typeface="IBM Plex Sans Arabic"/>
                <a:cs typeface="IBM Plex Sans Arabic"/>
                <a:sym typeface="IBM Plex Sans Arabic"/>
              </a:defRPr>
            </a:lvl1pPr>
            <a:lvl2pPr marL="914400" marR="0" lvl="1" indent="-317500" algn="l" rtl="1">
              <a:lnSpc>
                <a:spcPct val="115000"/>
              </a:lnSpc>
              <a:spcBef>
                <a:spcPts val="0"/>
              </a:spcBef>
              <a:spcAft>
                <a:spcPts val="0"/>
              </a:spcAft>
              <a:buClr>
                <a:srgbClr val="252526"/>
              </a:buClr>
              <a:buSzPts val="1400"/>
              <a:buFont typeface="IBM Plex Sans Arabic"/>
              <a:buChar char="○"/>
              <a:defRPr sz="1400" b="0" i="0" u="none" strike="noStrike" cap="none">
                <a:solidFill>
                  <a:srgbClr val="252526"/>
                </a:solidFill>
                <a:latin typeface="IBM Plex Sans Arabic"/>
                <a:ea typeface="IBM Plex Sans Arabic"/>
                <a:cs typeface="IBM Plex Sans Arabic"/>
                <a:sym typeface="IBM Plex Sans Arabic"/>
              </a:defRPr>
            </a:lvl2pPr>
            <a:lvl3pPr marL="1371600" marR="0" lvl="2" indent="-317500" algn="l" rtl="1">
              <a:lnSpc>
                <a:spcPct val="115000"/>
              </a:lnSpc>
              <a:spcBef>
                <a:spcPts val="0"/>
              </a:spcBef>
              <a:spcAft>
                <a:spcPts val="0"/>
              </a:spcAft>
              <a:buClr>
                <a:srgbClr val="252526"/>
              </a:buClr>
              <a:buSzPts val="1400"/>
              <a:buFont typeface="IBM Plex Sans Arabic"/>
              <a:buChar char="■"/>
              <a:defRPr sz="1400" b="0" i="0" u="none" strike="noStrike" cap="none">
                <a:solidFill>
                  <a:srgbClr val="252526"/>
                </a:solidFill>
                <a:latin typeface="IBM Plex Sans Arabic"/>
                <a:ea typeface="IBM Plex Sans Arabic"/>
                <a:cs typeface="IBM Plex Sans Arabic"/>
                <a:sym typeface="IBM Plex Sans Arabic"/>
              </a:defRPr>
            </a:lvl3pPr>
            <a:lvl4pPr marL="1828800" marR="0" lvl="3" indent="-317500" algn="l" rtl="1">
              <a:lnSpc>
                <a:spcPct val="115000"/>
              </a:lnSpc>
              <a:spcBef>
                <a:spcPts val="0"/>
              </a:spcBef>
              <a:spcAft>
                <a:spcPts val="0"/>
              </a:spcAft>
              <a:buClr>
                <a:srgbClr val="252526"/>
              </a:buClr>
              <a:buSzPts val="1400"/>
              <a:buFont typeface="IBM Plex Sans Arabic"/>
              <a:buChar char="●"/>
              <a:defRPr sz="1400" b="0" i="0" u="none" strike="noStrike" cap="none">
                <a:solidFill>
                  <a:srgbClr val="252526"/>
                </a:solidFill>
                <a:latin typeface="IBM Plex Sans Arabic"/>
                <a:ea typeface="IBM Plex Sans Arabic"/>
                <a:cs typeface="IBM Plex Sans Arabic"/>
                <a:sym typeface="IBM Plex Sans Arabic"/>
              </a:defRPr>
            </a:lvl4pPr>
            <a:lvl5pPr marL="2286000" marR="0" lvl="4" indent="-317500" algn="l" rtl="1">
              <a:lnSpc>
                <a:spcPct val="115000"/>
              </a:lnSpc>
              <a:spcBef>
                <a:spcPts val="0"/>
              </a:spcBef>
              <a:spcAft>
                <a:spcPts val="0"/>
              </a:spcAft>
              <a:buClr>
                <a:srgbClr val="252526"/>
              </a:buClr>
              <a:buSzPts val="1400"/>
              <a:buFont typeface="IBM Plex Sans Arabic"/>
              <a:buChar char="○"/>
              <a:defRPr sz="1400" b="0" i="0" u="none" strike="noStrike" cap="none">
                <a:solidFill>
                  <a:srgbClr val="252526"/>
                </a:solidFill>
                <a:latin typeface="IBM Plex Sans Arabic"/>
                <a:ea typeface="IBM Plex Sans Arabic"/>
                <a:cs typeface="IBM Plex Sans Arabic"/>
                <a:sym typeface="IBM Plex Sans Arabic"/>
              </a:defRPr>
            </a:lvl5pPr>
            <a:lvl6pPr marL="2743200" marR="0" lvl="5" indent="-317500" algn="l" rtl="1">
              <a:lnSpc>
                <a:spcPct val="115000"/>
              </a:lnSpc>
              <a:spcBef>
                <a:spcPts val="0"/>
              </a:spcBef>
              <a:spcAft>
                <a:spcPts val="0"/>
              </a:spcAft>
              <a:buClr>
                <a:srgbClr val="252526"/>
              </a:buClr>
              <a:buSzPts val="1400"/>
              <a:buFont typeface="IBM Plex Sans Arabic"/>
              <a:buChar char="■"/>
              <a:defRPr sz="1400" b="0" i="0" u="none" strike="noStrike" cap="none">
                <a:solidFill>
                  <a:srgbClr val="252526"/>
                </a:solidFill>
                <a:latin typeface="IBM Plex Sans Arabic"/>
                <a:ea typeface="IBM Plex Sans Arabic"/>
                <a:cs typeface="IBM Plex Sans Arabic"/>
                <a:sym typeface="IBM Plex Sans Arabic"/>
              </a:defRPr>
            </a:lvl6pPr>
            <a:lvl7pPr marL="3200400" marR="0" lvl="6" indent="-317500" algn="l" rtl="1">
              <a:lnSpc>
                <a:spcPct val="115000"/>
              </a:lnSpc>
              <a:spcBef>
                <a:spcPts val="0"/>
              </a:spcBef>
              <a:spcAft>
                <a:spcPts val="0"/>
              </a:spcAft>
              <a:buClr>
                <a:srgbClr val="252526"/>
              </a:buClr>
              <a:buSzPts val="1400"/>
              <a:buFont typeface="IBM Plex Sans Arabic"/>
              <a:buChar char="●"/>
              <a:defRPr sz="1400" b="0" i="0" u="none" strike="noStrike" cap="none">
                <a:solidFill>
                  <a:srgbClr val="252526"/>
                </a:solidFill>
                <a:latin typeface="IBM Plex Sans Arabic"/>
                <a:ea typeface="IBM Plex Sans Arabic"/>
                <a:cs typeface="IBM Plex Sans Arabic"/>
                <a:sym typeface="IBM Plex Sans Arabic"/>
              </a:defRPr>
            </a:lvl7pPr>
            <a:lvl8pPr marL="3657600" marR="0" lvl="7" indent="-317500" algn="l" rtl="1">
              <a:lnSpc>
                <a:spcPct val="115000"/>
              </a:lnSpc>
              <a:spcBef>
                <a:spcPts val="0"/>
              </a:spcBef>
              <a:spcAft>
                <a:spcPts val="0"/>
              </a:spcAft>
              <a:buClr>
                <a:srgbClr val="252526"/>
              </a:buClr>
              <a:buSzPts val="1400"/>
              <a:buFont typeface="IBM Plex Sans Arabic"/>
              <a:buChar char="○"/>
              <a:defRPr sz="1400" b="0" i="0" u="none" strike="noStrike" cap="none">
                <a:solidFill>
                  <a:srgbClr val="252526"/>
                </a:solidFill>
                <a:latin typeface="IBM Plex Sans Arabic"/>
                <a:ea typeface="IBM Plex Sans Arabic"/>
                <a:cs typeface="IBM Plex Sans Arabic"/>
                <a:sym typeface="IBM Plex Sans Arabic"/>
              </a:defRPr>
            </a:lvl8pPr>
            <a:lvl9pPr marL="4114800" marR="0" lvl="8" indent="-317500" algn="l" rtl="1">
              <a:lnSpc>
                <a:spcPct val="115000"/>
              </a:lnSpc>
              <a:spcBef>
                <a:spcPts val="0"/>
              </a:spcBef>
              <a:spcAft>
                <a:spcPts val="0"/>
              </a:spcAft>
              <a:buClr>
                <a:srgbClr val="252526"/>
              </a:buClr>
              <a:buSzPts val="1400"/>
              <a:buFont typeface="IBM Plex Sans Arabic"/>
              <a:buChar char="■"/>
              <a:defRPr sz="1400" b="0" i="0" u="none" strike="noStrike" cap="none">
                <a:solidFill>
                  <a:srgbClr val="252526"/>
                </a:solidFill>
                <a:latin typeface="IBM Plex Sans Arabic"/>
                <a:ea typeface="IBM Plex Sans Arabic"/>
                <a:cs typeface="IBM Plex Sans Arabic"/>
                <a:sym typeface="IBM Plex Sans Arabic"/>
              </a:defRPr>
            </a:lvl9pPr>
          </a:lstStyle>
          <a:p>
            <a:endParaRPr/>
          </a:p>
        </p:txBody>
      </p:sp>
      <p:sp>
        <p:nvSpPr>
          <p:cNvPr id="8" name="Google Shape;8;p2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pic>
        <p:nvPicPr>
          <p:cNvPr id="9" name="Google Shape;9;p22"/>
          <p:cNvPicPr preferRelativeResize="0"/>
          <p:nvPr/>
        </p:nvPicPr>
        <p:blipFill rotWithShape="1">
          <a:blip r:embed="rId10">
            <a:alphaModFix/>
          </a:blip>
          <a:srcRect/>
          <a:stretch/>
        </p:blipFill>
        <p:spPr>
          <a:xfrm>
            <a:off x="8030954" y="17475"/>
            <a:ext cx="1266092" cy="1007909"/>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6" r:id="rId7"/>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5.xml"/><Relationship Id="rId1" Type="http://schemas.openxmlformats.org/officeDocument/2006/relationships/slideLayout" Target="../slideLayouts/slideLayout3.xml"/><Relationship Id="rId6" Type="http://schemas.openxmlformats.org/officeDocument/2006/relationships/hyperlink" Target="https://www.wallpaperflare.com/wallpaper-programmer-coding-pattern-text-full-frame-backgrounds-wallpaper-pfdto" TargetMode="External"/><Relationship Id="rId5" Type="http://schemas.openxmlformats.org/officeDocument/2006/relationships/image" Target="../media/image10.jpg"/><Relationship Id="rId4" Type="http://schemas.openxmlformats.org/officeDocument/2006/relationships/hyperlink" Target="https://drive.google.com/file/d/111jus5y113A7lSLwc9M8rPmITSdQF6BM/view?usp=share_link" TargetMode="External"/></Relationships>
</file>

<file path=ppt/slides/_rels/slide2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6.xml"/><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8" Type="http://schemas.openxmlformats.org/officeDocument/2006/relationships/image" Target="../media/image16.png"/><Relationship Id="rId13" Type="http://schemas.openxmlformats.org/officeDocument/2006/relationships/image" Target="../media/image21.png"/><Relationship Id="rId18" Type="http://schemas.openxmlformats.org/officeDocument/2006/relationships/image" Target="../media/image26.png"/><Relationship Id="rId3" Type="http://schemas.openxmlformats.org/officeDocument/2006/relationships/image" Target="../media/image11.png"/><Relationship Id="rId7" Type="http://schemas.openxmlformats.org/officeDocument/2006/relationships/image" Target="../media/image15.png"/><Relationship Id="rId12" Type="http://schemas.openxmlformats.org/officeDocument/2006/relationships/image" Target="../media/image20.png"/><Relationship Id="rId17" Type="http://schemas.openxmlformats.org/officeDocument/2006/relationships/image" Target="../media/image25.png"/><Relationship Id="rId2" Type="http://schemas.openxmlformats.org/officeDocument/2006/relationships/notesSlide" Target="../notesSlides/notesSlide27.xml"/><Relationship Id="rId16" Type="http://schemas.openxmlformats.org/officeDocument/2006/relationships/image" Target="../media/image24.png"/><Relationship Id="rId1" Type="http://schemas.openxmlformats.org/officeDocument/2006/relationships/slideLayout" Target="../slideLayouts/slideLayout4.xml"/><Relationship Id="rId6" Type="http://schemas.openxmlformats.org/officeDocument/2006/relationships/image" Target="../media/image14.png"/><Relationship Id="rId11" Type="http://schemas.openxmlformats.org/officeDocument/2006/relationships/image" Target="../media/image19.png"/><Relationship Id="rId5" Type="http://schemas.openxmlformats.org/officeDocument/2006/relationships/image" Target="../media/image13.png"/><Relationship Id="rId15" Type="http://schemas.openxmlformats.org/officeDocument/2006/relationships/image" Target="../media/image23.png"/><Relationship Id="rId10" Type="http://schemas.openxmlformats.org/officeDocument/2006/relationships/image" Target="../media/image18.png"/><Relationship Id="rId19" Type="http://schemas.openxmlformats.org/officeDocument/2006/relationships/image" Target="../media/image27.png"/><Relationship Id="rId4" Type="http://schemas.openxmlformats.org/officeDocument/2006/relationships/image" Target="../media/image12.png"/><Relationship Id="rId9" Type="http://schemas.openxmlformats.org/officeDocument/2006/relationships/image" Target="../media/image17.png"/><Relationship Id="rId14" Type="http://schemas.openxmlformats.org/officeDocument/2006/relationships/image" Target="../media/image22.png"/></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42"/>
        <p:cNvGrpSpPr/>
        <p:nvPr/>
      </p:nvGrpSpPr>
      <p:grpSpPr>
        <a:xfrm>
          <a:off x="0" y="0"/>
          <a:ext cx="0" cy="0"/>
          <a:chOff x="0" y="0"/>
          <a:chExt cx="0" cy="0"/>
        </a:xfrm>
      </p:grpSpPr>
      <p:sp>
        <p:nvSpPr>
          <p:cNvPr id="43" name="Google Shape;43;p1"/>
          <p:cNvSpPr txBox="1">
            <a:spLocks noGrp="1"/>
          </p:cNvSpPr>
          <p:nvPr>
            <p:ph type="title"/>
          </p:nvPr>
        </p:nvSpPr>
        <p:spPr>
          <a:xfrm>
            <a:off x="5435226" y="867625"/>
            <a:ext cx="2974200" cy="2262000"/>
          </a:xfrm>
          <a:prstGeom prst="rect">
            <a:avLst/>
          </a:prstGeom>
          <a:noFill/>
          <a:ln>
            <a:noFill/>
          </a:ln>
        </p:spPr>
        <p:txBody>
          <a:bodyPr spcFirstLastPara="1" wrap="square" lIns="91425" tIns="91425" rIns="91425" bIns="91425" anchor="b" anchorCtr="0">
            <a:normAutofit/>
          </a:bodyPr>
          <a:lstStyle/>
          <a:p>
            <a:pPr marL="0" lvl="0" indent="0" algn="r" rtl="0">
              <a:lnSpc>
                <a:spcPct val="100000"/>
              </a:lnSpc>
              <a:spcBef>
                <a:spcPts val="0"/>
              </a:spcBef>
              <a:spcAft>
                <a:spcPts val="0"/>
              </a:spcAft>
              <a:buSzPts val="12000"/>
              <a:buNone/>
            </a:pPr>
            <a:r>
              <a:rPr lang="en-US" sz="4800">
                <a:solidFill>
                  <a:srgbClr val="58E3D8"/>
                </a:solidFill>
                <a:latin typeface="IBM Plex Sans Arabic SemiBold"/>
                <a:ea typeface="IBM Plex Sans Arabic SemiBold"/>
                <a:cs typeface="IBM Plex Sans Arabic SemiBold"/>
                <a:sym typeface="IBM Plex Sans Arabic SemiBold"/>
              </a:rPr>
              <a:t>أكـــــاديميــــة طــــويـــق</a:t>
            </a:r>
            <a:endParaRPr sz="4800">
              <a:solidFill>
                <a:srgbClr val="58E3D8"/>
              </a:solidFill>
              <a:latin typeface="IBM Plex Sans Arabic SemiBold"/>
              <a:ea typeface="IBM Plex Sans Arabic SemiBold"/>
              <a:cs typeface="IBM Plex Sans Arabic SemiBold"/>
              <a:sym typeface="IBM Plex Sans Arabic SemiBold"/>
            </a:endParaRPr>
          </a:p>
        </p:txBody>
      </p:sp>
      <p:sp>
        <p:nvSpPr>
          <p:cNvPr id="44" name="Google Shape;44;p1"/>
          <p:cNvSpPr txBox="1">
            <a:spLocks noGrp="1"/>
          </p:cNvSpPr>
          <p:nvPr>
            <p:ph type="body" idx="4294967295"/>
          </p:nvPr>
        </p:nvSpPr>
        <p:spPr>
          <a:xfrm>
            <a:off x="3902100" y="3253272"/>
            <a:ext cx="4447500" cy="1973484"/>
          </a:xfrm>
          <a:prstGeom prst="rect">
            <a:avLst/>
          </a:prstGeom>
          <a:noFill/>
          <a:ln>
            <a:noFill/>
          </a:ln>
        </p:spPr>
        <p:txBody>
          <a:bodyPr spcFirstLastPara="1" wrap="square" lIns="91425" tIns="91425" rIns="91425" bIns="91425" anchor="t" anchorCtr="0">
            <a:noAutofit/>
          </a:bodyPr>
          <a:lstStyle/>
          <a:p>
            <a:pPr marL="0" lvl="0" indent="0" algn="r" rtl="0">
              <a:lnSpc>
                <a:spcPct val="115000"/>
              </a:lnSpc>
              <a:spcBef>
                <a:spcPts val="0"/>
              </a:spcBef>
              <a:spcAft>
                <a:spcPts val="1200"/>
              </a:spcAft>
              <a:buSzPts val="1800"/>
              <a:buNone/>
            </a:pPr>
            <a:r>
              <a:rPr lang="en-US" sz="3600" dirty="0">
                <a:solidFill>
                  <a:schemeClr val="lt1"/>
                </a:solidFill>
                <a:latin typeface="IBM Plex Sans Arabic Medium"/>
                <a:ea typeface="IBM Plex Sans Arabic Medium"/>
                <a:cs typeface="IBM Plex Sans Arabic Medium"/>
                <a:sym typeface="IBM Plex Sans Arabic Medium"/>
              </a:rPr>
              <a:t>Deep Learning</a:t>
            </a:r>
            <a:endParaRPr sz="3600" dirty="0">
              <a:solidFill>
                <a:schemeClr val="lt1"/>
              </a:solidFill>
              <a:latin typeface="IBM Plex Sans Arabic Medium"/>
              <a:ea typeface="IBM Plex Sans Arabic Medium"/>
              <a:cs typeface="IBM Plex Sans Arabic Medium"/>
              <a:sym typeface="IBM Plex Sans Arabic Medium"/>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48"/>
        <p:cNvGrpSpPr/>
        <p:nvPr/>
      </p:nvGrpSpPr>
      <p:grpSpPr>
        <a:xfrm>
          <a:off x="0" y="0"/>
          <a:ext cx="0" cy="0"/>
          <a:chOff x="0" y="0"/>
          <a:chExt cx="0" cy="0"/>
        </a:xfrm>
      </p:grpSpPr>
      <p:sp>
        <p:nvSpPr>
          <p:cNvPr id="49" name="Google Shape;49;p2"/>
          <p:cNvSpPr txBox="1">
            <a:spLocks noGrp="1"/>
          </p:cNvSpPr>
          <p:nvPr>
            <p:ph type="ctrTitle"/>
          </p:nvPr>
        </p:nvSpPr>
        <p:spPr>
          <a:xfrm>
            <a:off x="311700" y="1719944"/>
            <a:ext cx="8520600" cy="3659835"/>
          </a:xfrm>
          <a:prstGeom prst="rect">
            <a:avLst/>
          </a:prstGeom>
          <a:noFill/>
          <a:ln>
            <a:noFill/>
          </a:ln>
        </p:spPr>
        <p:txBody>
          <a:bodyPr spcFirstLastPara="1" wrap="square" lIns="91425" tIns="91425" rIns="91425" bIns="91425" anchor="b" anchorCtr="0">
            <a:normAutofit fontScale="90000"/>
          </a:bodyPr>
          <a:lstStyle/>
          <a:p>
            <a:br>
              <a:rPr lang="en-GB" sz="4000" b="1" dirty="0"/>
            </a:br>
            <a:br>
              <a:rPr lang="en-GB" sz="4000" b="1" dirty="0"/>
            </a:br>
            <a:br>
              <a:rPr lang="en-GB" sz="4000" b="1" dirty="0"/>
            </a:br>
            <a:br>
              <a:rPr lang="en-GB" sz="4000" b="1" dirty="0"/>
            </a:br>
            <a:br>
              <a:rPr lang="en-GB" sz="4000" b="1" dirty="0"/>
            </a:br>
            <a:br>
              <a:rPr lang="en-GB" sz="4000" b="1" dirty="0"/>
            </a:br>
            <a:br>
              <a:rPr lang="en-GB" sz="4000" b="1" dirty="0"/>
            </a:br>
            <a:br>
              <a:rPr lang="en-GB" sz="4000" b="1" dirty="0"/>
            </a:br>
            <a:br>
              <a:rPr lang="en-GB" sz="4000" b="1" dirty="0"/>
            </a:br>
            <a:r>
              <a:rPr lang="en-GB" sz="4000" b="1" dirty="0"/>
              <a:t>Ethical Considerations in Deep Learning</a:t>
            </a:r>
            <a:br>
              <a:rPr lang="en-GB" sz="4000" b="1" dirty="0"/>
            </a:br>
            <a:r>
              <a:rPr lang="en-GB" sz="1800" b="1" dirty="0">
                <a:solidFill>
                  <a:schemeClr val="tx1"/>
                </a:solidFill>
              </a:rPr>
              <a:t>Bias and fairness in AI models</a:t>
            </a:r>
            <a:br>
              <a:rPr lang="en-GB" sz="1800" b="1" dirty="0">
                <a:solidFill>
                  <a:schemeClr val="tx1"/>
                </a:solidFill>
              </a:rPr>
            </a:br>
            <a:r>
              <a:rPr lang="en-GB" sz="1800" b="1" dirty="0">
                <a:solidFill>
                  <a:schemeClr val="tx1"/>
                </a:solidFill>
              </a:rPr>
              <a:t>Explainability and interpretability of deep learning mode</a:t>
            </a:r>
            <a:br>
              <a:rPr lang="en-GB" sz="4000" b="1" dirty="0"/>
            </a:br>
            <a:br>
              <a:rPr lang="en-GB" sz="4000" b="1" dirty="0"/>
            </a:br>
            <a:br>
              <a:rPr lang="en-GB" sz="4000" b="1" dirty="0"/>
            </a:br>
            <a:br>
              <a:rPr lang="en-GB" sz="3200" b="1" i="0" u="none" strike="noStrike" dirty="0">
                <a:solidFill>
                  <a:srgbClr val="7030A0"/>
                </a:solidFill>
                <a:effectLst/>
                <a:latin typeface="Arial" panose="020B0604020202020204" pitchFamily="34" charset="0"/>
              </a:rPr>
            </a:br>
            <a:br>
              <a:rPr lang="en-US" sz="1800" dirty="0">
                <a:latin typeface="Calibri"/>
                <a:ea typeface="Calibri"/>
                <a:cs typeface="Calibri"/>
                <a:sym typeface="Calibri"/>
              </a:rPr>
            </a:br>
            <a:endParaRPr dirty="0"/>
          </a:p>
        </p:txBody>
      </p:sp>
      <p:sp>
        <p:nvSpPr>
          <p:cNvPr id="51" name="Google Shape;51;p2"/>
          <p:cNvSpPr txBox="1"/>
          <p:nvPr/>
        </p:nvSpPr>
        <p:spPr>
          <a:xfrm>
            <a:off x="3527778" y="4245036"/>
            <a:ext cx="4572000" cy="3077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400" b="1" i="0" u="none" strike="noStrike" cap="none">
                <a:solidFill>
                  <a:srgbClr val="000000"/>
                </a:solidFill>
                <a:latin typeface="Calibri"/>
                <a:ea typeface="Calibri"/>
                <a:cs typeface="Calibri"/>
                <a:sym typeface="Calibri"/>
              </a:rPr>
              <a:t>By: Dr. Afshan Hashmi</a:t>
            </a:r>
            <a:endParaRPr sz="1400" b="1" i="0" u="none" strike="noStrike" cap="none">
              <a:solidFill>
                <a:srgbClr val="000000"/>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55"/>
        <p:cNvGrpSpPr/>
        <p:nvPr/>
      </p:nvGrpSpPr>
      <p:grpSpPr>
        <a:xfrm>
          <a:off x="0" y="0"/>
          <a:ext cx="0" cy="0"/>
          <a:chOff x="0" y="0"/>
          <a:chExt cx="0" cy="0"/>
        </a:xfrm>
      </p:grpSpPr>
      <p:sp>
        <p:nvSpPr>
          <p:cNvPr id="56" name="Google Shape;56;p3"/>
          <p:cNvSpPr txBox="1"/>
          <p:nvPr/>
        </p:nvSpPr>
        <p:spPr>
          <a:xfrm>
            <a:off x="1555080" y="1359290"/>
            <a:ext cx="5673034" cy="2062063"/>
          </a:xfrm>
          <a:prstGeom prst="rect">
            <a:avLst/>
          </a:prstGeom>
          <a:noFill/>
          <a:ln>
            <a:noFill/>
          </a:ln>
        </p:spPr>
        <p:txBody>
          <a:bodyPr spcFirstLastPara="1" wrap="square" lIns="91425" tIns="45700" rIns="91425" bIns="45700" anchor="t" anchorCtr="0">
            <a:spAutoFit/>
          </a:bodyPr>
          <a:lstStyle/>
          <a:p>
            <a:pPr marL="0" marR="0" lvl="0" indent="0" algn="just" rtl="0">
              <a:lnSpc>
                <a:spcPct val="125000"/>
              </a:lnSpc>
              <a:spcBef>
                <a:spcPts val="0"/>
              </a:spcBef>
              <a:spcAft>
                <a:spcPts val="0"/>
              </a:spcAft>
              <a:buNone/>
            </a:pPr>
            <a:r>
              <a:rPr lang="en-US" sz="2400" b="1" dirty="0">
                <a:solidFill>
                  <a:srgbClr val="7030A0"/>
                </a:solidFill>
              </a:rPr>
              <a:t>Topics Covered</a:t>
            </a:r>
            <a:r>
              <a:rPr lang="en-US" sz="2400" b="1" i="0" u="none" strike="noStrike" cap="none" dirty="0">
                <a:solidFill>
                  <a:srgbClr val="7030A0"/>
                </a:solidFill>
                <a:latin typeface="Arial"/>
                <a:ea typeface="Arial"/>
                <a:cs typeface="Arial"/>
                <a:sym typeface="Arial"/>
              </a:rPr>
              <a:t>:</a:t>
            </a:r>
            <a:endParaRPr lang="en-GB" b="0" i="0" u="none" strike="noStrike" dirty="0">
              <a:solidFill>
                <a:srgbClr val="000000"/>
              </a:solidFill>
              <a:effectLst/>
            </a:endParaRPr>
          </a:p>
          <a:p>
            <a:pPr marL="342900" indent="-342900">
              <a:buFont typeface="+mj-lt"/>
              <a:buAutoNum type="arabicPeriod"/>
            </a:pPr>
            <a:r>
              <a:rPr lang="en-GB" b="1" dirty="0"/>
              <a:t>Ethical Considerations of Deep Learning</a:t>
            </a:r>
          </a:p>
          <a:p>
            <a:pPr marL="342900" indent="-342900">
              <a:buFont typeface="+mj-lt"/>
              <a:buAutoNum type="arabicPeriod"/>
            </a:pPr>
            <a:r>
              <a:rPr lang="en-GB" b="1" dirty="0"/>
              <a:t>Data Privacy</a:t>
            </a:r>
          </a:p>
          <a:p>
            <a:pPr marL="342900" indent="-342900" algn="l" rtl="0">
              <a:buFont typeface="+mj-lt"/>
              <a:buAutoNum type="arabicPeriod"/>
            </a:pPr>
            <a:r>
              <a:rPr lang="en-GB" sz="1400" b="1" i="0" u="none" strike="noStrike" dirty="0">
                <a:solidFill>
                  <a:schemeClr val="tx1"/>
                </a:solidFill>
                <a:effectLst/>
              </a:rPr>
              <a:t>Transparency and Explainability (XAI) </a:t>
            </a:r>
          </a:p>
          <a:p>
            <a:pPr marL="342900" indent="-342900" algn="l" rtl="0">
              <a:buFont typeface="+mj-lt"/>
              <a:buAutoNum type="arabicPeriod"/>
            </a:pPr>
            <a:r>
              <a:rPr lang="en-GB" sz="1400" b="1" i="0" u="none" strike="noStrike" dirty="0">
                <a:solidFill>
                  <a:schemeClr val="tx1"/>
                </a:solidFill>
                <a:effectLst/>
              </a:rPr>
              <a:t>Autonomy and Human Oversight</a:t>
            </a:r>
          </a:p>
          <a:p>
            <a:pPr marL="342900" indent="-342900" algn="l" rtl="0">
              <a:buFont typeface="+mj-lt"/>
              <a:buAutoNum type="arabicPeriod"/>
            </a:pPr>
            <a:r>
              <a:rPr lang="en-GB" sz="1400" b="1" i="0" u="none" strike="noStrike" dirty="0">
                <a:solidFill>
                  <a:schemeClr val="tx1"/>
                </a:solidFill>
                <a:effectLst/>
              </a:rPr>
              <a:t>Accountability</a:t>
            </a:r>
          </a:p>
          <a:p>
            <a:pPr marL="342900" indent="-342900" algn="l" rtl="0">
              <a:buFont typeface="+mj-lt"/>
              <a:buAutoNum type="arabicPeriod"/>
            </a:pPr>
            <a:r>
              <a:rPr lang="en-GB" b="1" dirty="0"/>
              <a:t>Addressing Ethical Challenges in Deep Learning</a:t>
            </a:r>
          </a:p>
          <a:p>
            <a:pPr marL="342900" indent="-342900" algn="l" rtl="0">
              <a:buFont typeface="+mj-lt"/>
              <a:buAutoNum type="arabicPeriod"/>
            </a:pPr>
            <a:r>
              <a:rPr lang="en-GB" b="1" dirty="0"/>
              <a:t>Implementation of Mitigating Bias in Loan Approval System</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60">
          <a:extLst>
            <a:ext uri="{FF2B5EF4-FFF2-40B4-BE49-F238E27FC236}">
              <a16:creationId xmlns:a16="http://schemas.microsoft.com/office/drawing/2014/main" id="{44EF5623-6B09-C586-D026-E1815682342B}"/>
            </a:ext>
          </a:extLst>
        </p:cNvPr>
        <p:cNvGrpSpPr/>
        <p:nvPr/>
      </p:nvGrpSpPr>
      <p:grpSpPr>
        <a:xfrm>
          <a:off x="0" y="0"/>
          <a:ext cx="0" cy="0"/>
          <a:chOff x="0" y="0"/>
          <a:chExt cx="0" cy="0"/>
        </a:xfrm>
      </p:grpSpPr>
      <p:sp>
        <p:nvSpPr>
          <p:cNvPr id="61" name="Google Shape;61;p4">
            <a:extLst>
              <a:ext uri="{FF2B5EF4-FFF2-40B4-BE49-F238E27FC236}">
                <a16:creationId xmlns:a16="http://schemas.microsoft.com/office/drawing/2014/main" id="{1B8CE39D-1BAA-9EAF-5C66-19BBE6DD2056}"/>
              </a:ext>
            </a:extLst>
          </p:cNvPr>
          <p:cNvSpPr txBox="1">
            <a:spLocks noGrp="1"/>
          </p:cNvSpPr>
          <p:nvPr>
            <p:ph type="title"/>
          </p:nvPr>
        </p:nvSpPr>
        <p:spPr>
          <a:xfrm>
            <a:off x="284775" y="0"/>
            <a:ext cx="6261168" cy="627900"/>
          </a:xfrm>
          <a:prstGeom prst="rect">
            <a:avLst/>
          </a:prstGeom>
          <a:noFill/>
          <a:ln>
            <a:noFill/>
          </a:ln>
        </p:spPr>
        <p:txBody>
          <a:bodyPr spcFirstLastPara="1" wrap="square" lIns="91425" tIns="91425" rIns="91425" bIns="91425" anchor="t" anchorCtr="0">
            <a:normAutofit fontScale="90000"/>
          </a:bodyPr>
          <a:lstStyle/>
          <a:p>
            <a:pPr>
              <a:buNone/>
            </a:pPr>
            <a:r>
              <a:rPr lang="en-GB" sz="2800" i="0" u="none" strike="noStrike" dirty="0">
                <a:solidFill>
                  <a:srgbClr val="7030A0"/>
                </a:solidFill>
                <a:effectLst/>
              </a:rPr>
              <a:t>Ethical </a:t>
            </a:r>
            <a:r>
              <a:rPr lang="en-GB" sz="2800" dirty="0" err="1">
                <a:solidFill>
                  <a:srgbClr val="7030A0"/>
                </a:solidFill>
              </a:rPr>
              <a:t>Cosiderat</a:t>
            </a:r>
            <a:r>
              <a:rPr lang="en-GB" sz="2800" i="0" u="none" strike="noStrike" dirty="0" err="1">
                <a:solidFill>
                  <a:srgbClr val="7030A0"/>
                </a:solidFill>
                <a:effectLst/>
              </a:rPr>
              <a:t>ions</a:t>
            </a:r>
            <a:r>
              <a:rPr lang="en-GB" sz="2800" i="0" u="none" strike="noStrike" dirty="0">
                <a:solidFill>
                  <a:srgbClr val="7030A0"/>
                </a:solidFill>
                <a:effectLst/>
              </a:rPr>
              <a:t> of Deep Learning</a:t>
            </a:r>
            <a:br>
              <a:rPr lang="en-GB" sz="2800" i="0" u="none" strike="noStrike" dirty="0">
                <a:solidFill>
                  <a:srgbClr val="7030A0"/>
                </a:solidFill>
                <a:effectLst/>
              </a:rPr>
            </a:br>
            <a:endParaRPr lang="en-GB" sz="2800" dirty="0">
              <a:solidFill>
                <a:srgbClr val="7030A0"/>
              </a:solidFill>
            </a:endParaRPr>
          </a:p>
        </p:txBody>
      </p:sp>
      <p:sp>
        <p:nvSpPr>
          <p:cNvPr id="4" name="AutoShape 2" descr="Optimized Python with Numba library">
            <a:extLst>
              <a:ext uri="{FF2B5EF4-FFF2-40B4-BE49-F238E27FC236}">
                <a16:creationId xmlns:a16="http://schemas.microsoft.com/office/drawing/2014/main" id="{A4482F75-B306-CAB6-0919-E013D5E5A039}"/>
              </a:ext>
            </a:extLst>
          </p:cNvPr>
          <p:cNvSpPr>
            <a:spLocks noChangeAspect="1" noChangeArrowheads="1"/>
          </p:cNvSpPr>
          <p:nvPr/>
        </p:nvSpPr>
        <p:spPr bwMode="auto">
          <a:xfrm>
            <a:off x="2960866" y="1871317"/>
            <a:ext cx="3771900" cy="21590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 name="TextBox 2">
            <a:extLst>
              <a:ext uri="{FF2B5EF4-FFF2-40B4-BE49-F238E27FC236}">
                <a16:creationId xmlns:a16="http://schemas.microsoft.com/office/drawing/2014/main" id="{91F168CB-0CDB-B6DB-AE67-BA9ABA3C3998}"/>
              </a:ext>
            </a:extLst>
          </p:cNvPr>
          <p:cNvSpPr txBox="1"/>
          <p:nvPr/>
        </p:nvSpPr>
        <p:spPr>
          <a:xfrm>
            <a:off x="134478" y="496074"/>
            <a:ext cx="7920240" cy="4647426"/>
          </a:xfrm>
          <a:prstGeom prst="rect">
            <a:avLst/>
          </a:prstGeom>
          <a:noFill/>
        </p:spPr>
        <p:txBody>
          <a:bodyPr wrap="square">
            <a:spAutoFit/>
          </a:bodyPr>
          <a:lstStyle/>
          <a:p>
            <a:pPr algn="l">
              <a:buNone/>
            </a:pPr>
            <a:r>
              <a:rPr lang="en-GB" b="0" i="0" u="none" strike="noStrike" dirty="0">
                <a:solidFill>
                  <a:srgbClr val="000000"/>
                </a:solidFill>
                <a:effectLst/>
              </a:rPr>
              <a:t>Deep learning, a powerful branch of artificial intelligence, has driven significant advancements across various sectors, from health to finance. However, these technological strides bring forth critical ethical dilemmas that necessitate responsible development.</a:t>
            </a:r>
          </a:p>
          <a:p>
            <a:pPr algn="l">
              <a:buNone/>
            </a:pPr>
            <a:r>
              <a:rPr lang="en-GB" b="1" i="0" u="none" strike="noStrike" dirty="0">
                <a:solidFill>
                  <a:srgbClr val="000000"/>
                </a:solidFill>
                <a:effectLst/>
              </a:rPr>
              <a:t>I. Bias and Fairness</a:t>
            </a:r>
            <a:endParaRPr lang="en-GB" b="0" i="0" u="none" strike="noStrike" dirty="0">
              <a:solidFill>
                <a:srgbClr val="000000"/>
              </a:solidFill>
              <a:effectLst/>
            </a:endParaRPr>
          </a:p>
          <a:p>
            <a:pPr marL="342900" indent="-342900" algn="l">
              <a:buFont typeface="+mj-lt"/>
              <a:buAutoNum type="alphaLcPeriod"/>
            </a:pPr>
            <a:r>
              <a:rPr lang="en-GB" b="1" i="0" u="none" strike="noStrike" dirty="0">
                <a:solidFill>
                  <a:srgbClr val="000000"/>
                </a:solidFill>
                <a:effectLst/>
              </a:rPr>
              <a:t>Core Concept:</a:t>
            </a:r>
            <a:r>
              <a:rPr lang="en-GB" b="0" i="0" u="none" strike="noStrike" dirty="0">
                <a:solidFill>
                  <a:srgbClr val="000000"/>
                </a:solidFill>
                <a:effectLst/>
              </a:rPr>
              <a:t> AI models can inadvertently learn and perpetuate biases present in their training data, which often reflect historical prejudices or lack representational diversity.</a:t>
            </a:r>
          </a:p>
          <a:p>
            <a:pPr marL="342900" indent="-342900" algn="l">
              <a:buFont typeface="+mj-lt"/>
              <a:buAutoNum type="alphaLcPeriod"/>
            </a:pPr>
            <a:r>
              <a:rPr lang="en-GB" b="1" i="0" u="none" strike="noStrike" dirty="0">
                <a:solidFill>
                  <a:srgbClr val="000000"/>
                </a:solidFill>
                <a:effectLst/>
              </a:rPr>
              <a:t>Manifestations/Examples:</a:t>
            </a:r>
            <a:endParaRPr lang="en-GB" b="0" i="0" u="none" strike="noStrike" dirty="0">
              <a:solidFill>
                <a:srgbClr val="000000"/>
              </a:solidFill>
              <a:effectLst/>
            </a:endParaRPr>
          </a:p>
          <a:p>
            <a:pPr marL="857250" lvl="1" indent="-400050" algn="l">
              <a:buFont typeface="+mj-lt"/>
              <a:buAutoNum type="romanLcPeriod"/>
            </a:pPr>
            <a:r>
              <a:rPr lang="en-GB" b="1" i="0" u="none" strike="noStrike" dirty="0">
                <a:solidFill>
                  <a:srgbClr val="000000"/>
                </a:solidFill>
                <a:effectLst/>
              </a:rPr>
              <a:t>Recruitment Software:</a:t>
            </a:r>
            <a:r>
              <a:rPr lang="en-GB" b="0" i="0" u="none" strike="noStrike" dirty="0">
                <a:solidFill>
                  <a:srgbClr val="000000"/>
                </a:solidFill>
                <a:effectLst/>
              </a:rPr>
              <a:t> AI tools used in hiring processes can develop biases based on historical hiring patterns, potentially leading to discriminatory outcomes against certain demographic groups.</a:t>
            </a:r>
          </a:p>
          <a:p>
            <a:pPr marL="857250" lvl="1" indent="-400050" algn="l">
              <a:buFont typeface="+mj-lt"/>
              <a:buAutoNum type="romanLcPeriod"/>
            </a:pPr>
            <a:r>
              <a:rPr lang="en-GB" b="1" i="0" u="none" strike="noStrike" dirty="0">
                <a:solidFill>
                  <a:srgbClr val="000000"/>
                </a:solidFill>
                <a:effectLst/>
              </a:rPr>
              <a:t>Financial Algorithms:</a:t>
            </a:r>
            <a:r>
              <a:rPr lang="en-GB" b="0" i="0" u="none" strike="noStrike" dirty="0">
                <a:solidFill>
                  <a:srgbClr val="000000"/>
                </a:solidFill>
                <a:effectLst/>
              </a:rPr>
              <a:t> Loan approval systems, trained on past data, might inadvertently exhibit unfair preferences towards or against specific demographics.</a:t>
            </a:r>
          </a:p>
          <a:p>
            <a:pPr marL="857250" lvl="1" indent="-400050" algn="l">
              <a:buFont typeface="+mj-lt"/>
              <a:buAutoNum type="romanLcPeriod"/>
            </a:pPr>
            <a:r>
              <a:rPr lang="en-GB" b="1" i="0" u="none" strike="noStrike" dirty="0">
                <a:solidFill>
                  <a:srgbClr val="000000"/>
                </a:solidFill>
                <a:effectLst/>
              </a:rPr>
              <a:t>Facial Recognition:</a:t>
            </a:r>
            <a:r>
              <a:rPr lang="en-GB" b="0" i="0" u="none" strike="noStrike" dirty="0">
                <a:solidFill>
                  <a:srgbClr val="000000"/>
                </a:solidFill>
                <a:effectLst/>
              </a:rPr>
              <a:t> Performance disparities exist, with systems often showing lower accuracy in identifying individuals from certain racial backgrounds or women compared to white men. For instance, studies have shown error rates for darker-skinned women can be significantly higher (e.g., over 30%) compared to lighter-skinned men (e.g., less than 1%).</a:t>
            </a:r>
          </a:p>
          <a:p>
            <a:pPr marL="857250" lvl="1" indent="-400050" algn="l">
              <a:buFont typeface="+mj-lt"/>
              <a:buAutoNum type="romanLcPeriod"/>
            </a:pPr>
            <a:r>
              <a:rPr lang="en-GB" b="1" i="0" u="none" strike="noStrike" dirty="0">
                <a:solidFill>
                  <a:srgbClr val="000000"/>
                </a:solidFill>
                <a:effectLst/>
              </a:rPr>
              <a:t>Healthcare AI:</a:t>
            </a:r>
            <a:r>
              <a:rPr lang="en-GB" b="0" i="0" u="none" strike="noStrike" dirty="0">
                <a:solidFill>
                  <a:srgbClr val="000000"/>
                </a:solidFill>
                <a:effectLst/>
              </a:rPr>
              <a:t> AI systems in healthcare could potentially overlook or misdiagnose conditions more prevalent in underrepresented patient populations if training data is not sufficiently diverse.</a:t>
            </a:r>
          </a:p>
          <a:p>
            <a:endParaRPr lang="en-GB" sz="1600" b="1" dirty="0">
              <a:latin typeface="+mj-lt"/>
            </a:endParaRPr>
          </a:p>
        </p:txBody>
      </p:sp>
    </p:spTree>
    <p:extLst>
      <p:ext uri="{BB962C8B-B14F-4D97-AF65-F5344CB8AC3E}">
        <p14:creationId xmlns:p14="http://schemas.microsoft.com/office/powerpoint/2010/main" val="237717684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60">
          <a:extLst>
            <a:ext uri="{FF2B5EF4-FFF2-40B4-BE49-F238E27FC236}">
              <a16:creationId xmlns:a16="http://schemas.microsoft.com/office/drawing/2014/main" id="{B303ED5D-96B5-8C6F-0E95-A2CA163DA2FF}"/>
            </a:ext>
          </a:extLst>
        </p:cNvPr>
        <p:cNvGrpSpPr/>
        <p:nvPr/>
      </p:nvGrpSpPr>
      <p:grpSpPr>
        <a:xfrm>
          <a:off x="0" y="0"/>
          <a:ext cx="0" cy="0"/>
          <a:chOff x="0" y="0"/>
          <a:chExt cx="0" cy="0"/>
        </a:xfrm>
      </p:grpSpPr>
      <p:sp>
        <p:nvSpPr>
          <p:cNvPr id="61" name="Google Shape;61;p4">
            <a:extLst>
              <a:ext uri="{FF2B5EF4-FFF2-40B4-BE49-F238E27FC236}">
                <a16:creationId xmlns:a16="http://schemas.microsoft.com/office/drawing/2014/main" id="{855D29E0-CFCC-A20A-BF0B-3793B1B83BB7}"/>
              </a:ext>
            </a:extLst>
          </p:cNvPr>
          <p:cNvSpPr txBox="1">
            <a:spLocks noGrp="1"/>
          </p:cNvSpPr>
          <p:nvPr>
            <p:ph type="title"/>
          </p:nvPr>
        </p:nvSpPr>
        <p:spPr>
          <a:xfrm>
            <a:off x="284775" y="0"/>
            <a:ext cx="4824254" cy="627900"/>
          </a:xfrm>
          <a:prstGeom prst="rect">
            <a:avLst/>
          </a:prstGeom>
          <a:noFill/>
          <a:ln>
            <a:noFill/>
          </a:ln>
        </p:spPr>
        <p:txBody>
          <a:bodyPr spcFirstLastPara="1" wrap="square" lIns="91425" tIns="91425" rIns="91425" bIns="91425" anchor="t" anchorCtr="0">
            <a:normAutofit fontScale="90000"/>
          </a:bodyPr>
          <a:lstStyle/>
          <a:p>
            <a:pPr>
              <a:buNone/>
            </a:pPr>
            <a:r>
              <a:rPr lang="en-GB" sz="2800" b="1" i="0" u="none" strike="noStrike" dirty="0">
                <a:solidFill>
                  <a:srgbClr val="7030A0"/>
                </a:solidFill>
                <a:effectLst/>
              </a:rPr>
              <a:t>Mitigation Strategies:</a:t>
            </a:r>
            <a:br>
              <a:rPr lang="en-GB" sz="2800" i="0" u="none" strike="noStrike" dirty="0">
                <a:solidFill>
                  <a:srgbClr val="7030A0"/>
                </a:solidFill>
                <a:effectLst/>
              </a:rPr>
            </a:br>
            <a:endParaRPr lang="en-GB" sz="2800" dirty="0">
              <a:solidFill>
                <a:srgbClr val="7030A0"/>
              </a:solidFill>
            </a:endParaRPr>
          </a:p>
        </p:txBody>
      </p:sp>
      <p:sp>
        <p:nvSpPr>
          <p:cNvPr id="4" name="AutoShape 2" descr="Optimized Python with Numba library">
            <a:extLst>
              <a:ext uri="{FF2B5EF4-FFF2-40B4-BE49-F238E27FC236}">
                <a16:creationId xmlns:a16="http://schemas.microsoft.com/office/drawing/2014/main" id="{8F532BA1-D990-5B01-4E53-AA0EC43A0C3E}"/>
              </a:ext>
            </a:extLst>
          </p:cNvPr>
          <p:cNvSpPr>
            <a:spLocks noChangeAspect="1" noChangeArrowheads="1"/>
          </p:cNvSpPr>
          <p:nvPr/>
        </p:nvSpPr>
        <p:spPr bwMode="auto">
          <a:xfrm>
            <a:off x="2960866" y="1871317"/>
            <a:ext cx="3771900" cy="21590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 name="TextBox 2">
            <a:extLst>
              <a:ext uri="{FF2B5EF4-FFF2-40B4-BE49-F238E27FC236}">
                <a16:creationId xmlns:a16="http://schemas.microsoft.com/office/drawing/2014/main" id="{896751DC-FD4C-9486-788F-A69EBCFEE5E2}"/>
              </a:ext>
            </a:extLst>
          </p:cNvPr>
          <p:cNvSpPr txBox="1"/>
          <p:nvPr/>
        </p:nvSpPr>
        <p:spPr>
          <a:xfrm>
            <a:off x="192247" y="1186008"/>
            <a:ext cx="4301740" cy="2369880"/>
          </a:xfrm>
          <a:prstGeom prst="rect">
            <a:avLst/>
          </a:prstGeom>
          <a:noFill/>
        </p:spPr>
        <p:txBody>
          <a:bodyPr wrap="square">
            <a:spAutoFit/>
          </a:bodyPr>
          <a:lstStyle/>
          <a:p>
            <a:pPr marL="342900" indent="-342900" algn="l">
              <a:buFont typeface="+mj-lt"/>
              <a:buAutoNum type="arabicPeriod"/>
            </a:pPr>
            <a:r>
              <a:rPr lang="en-GB" sz="1600" b="0" i="0" u="none" strike="noStrike" dirty="0">
                <a:solidFill>
                  <a:srgbClr val="000000"/>
                </a:solidFill>
                <a:effectLst/>
              </a:rPr>
              <a:t>Prioritize the use of diverse, representative, and carefully curated datasets.</a:t>
            </a:r>
          </a:p>
          <a:p>
            <a:pPr marL="342900" indent="-342900" algn="l">
              <a:buFont typeface="+mj-lt"/>
              <a:buAutoNum type="arabicPeriod"/>
            </a:pPr>
            <a:endParaRPr lang="en-GB" sz="1600" b="0" i="0" u="none" strike="noStrike" dirty="0">
              <a:solidFill>
                <a:srgbClr val="000000"/>
              </a:solidFill>
              <a:effectLst/>
            </a:endParaRPr>
          </a:p>
          <a:p>
            <a:pPr marL="342900" indent="-342900" algn="l">
              <a:buFont typeface="+mj-lt"/>
              <a:buAutoNum type="arabicPeriod"/>
            </a:pPr>
            <a:r>
              <a:rPr lang="en-GB" sz="1600" b="0" i="0" u="none" strike="noStrike" dirty="0">
                <a:solidFill>
                  <a:srgbClr val="000000"/>
                </a:solidFill>
                <a:effectLst/>
              </a:rPr>
              <a:t>Implement and research fairness-aware algorithms designed to detect and reduce algorithmic bias.</a:t>
            </a:r>
          </a:p>
          <a:p>
            <a:pPr marL="342900" indent="-342900" algn="l">
              <a:lnSpc>
                <a:spcPts val="2400"/>
              </a:lnSpc>
              <a:buFont typeface="+mj-lt"/>
              <a:buAutoNum type="arabicPeriod"/>
            </a:pPr>
            <a:endParaRPr lang="en-GB" sz="1600" b="0" i="0" u="none" strike="noStrike" dirty="0">
              <a:solidFill>
                <a:srgbClr val="242424"/>
              </a:solidFill>
              <a:effectLst/>
              <a:latin typeface="source-serif-pro"/>
            </a:endParaRPr>
          </a:p>
          <a:p>
            <a:pPr marL="342900" indent="-342900">
              <a:buFont typeface="+mj-lt"/>
              <a:buAutoNum type="arabicPeriod"/>
            </a:pPr>
            <a:endParaRPr lang="en-GB" sz="1600" b="1" dirty="0">
              <a:latin typeface="+mj-lt"/>
            </a:endParaRPr>
          </a:p>
        </p:txBody>
      </p:sp>
      <p:pic>
        <p:nvPicPr>
          <p:cNvPr id="18434" name="Picture 2" descr="IT Risk Mitigation Strategy">
            <a:extLst>
              <a:ext uri="{FF2B5EF4-FFF2-40B4-BE49-F238E27FC236}">
                <a16:creationId xmlns:a16="http://schemas.microsoft.com/office/drawing/2014/main" id="{1B1FD56D-63C1-8391-984E-FAB8DC1A6A0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444619" y="1027211"/>
            <a:ext cx="4507134" cy="236988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5161061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60">
          <a:extLst>
            <a:ext uri="{FF2B5EF4-FFF2-40B4-BE49-F238E27FC236}">
              <a16:creationId xmlns:a16="http://schemas.microsoft.com/office/drawing/2014/main" id="{2C179245-137F-67F9-2E05-2A73F9E590A4}"/>
            </a:ext>
          </a:extLst>
        </p:cNvPr>
        <p:cNvGrpSpPr/>
        <p:nvPr/>
      </p:nvGrpSpPr>
      <p:grpSpPr>
        <a:xfrm>
          <a:off x="0" y="0"/>
          <a:ext cx="0" cy="0"/>
          <a:chOff x="0" y="0"/>
          <a:chExt cx="0" cy="0"/>
        </a:xfrm>
      </p:grpSpPr>
      <p:sp>
        <p:nvSpPr>
          <p:cNvPr id="61" name="Google Shape;61;p4">
            <a:extLst>
              <a:ext uri="{FF2B5EF4-FFF2-40B4-BE49-F238E27FC236}">
                <a16:creationId xmlns:a16="http://schemas.microsoft.com/office/drawing/2014/main" id="{B4895422-AF95-F2F7-FACD-DCF1236BFB89}"/>
              </a:ext>
            </a:extLst>
          </p:cNvPr>
          <p:cNvSpPr txBox="1">
            <a:spLocks noGrp="1"/>
          </p:cNvSpPr>
          <p:nvPr>
            <p:ph type="title"/>
          </p:nvPr>
        </p:nvSpPr>
        <p:spPr>
          <a:xfrm>
            <a:off x="284775" y="0"/>
            <a:ext cx="8329650" cy="627900"/>
          </a:xfrm>
          <a:prstGeom prst="rect">
            <a:avLst/>
          </a:prstGeom>
          <a:noFill/>
          <a:ln>
            <a:noFill/>
          </a:ln>
        </p:spPr>
        <p:txBody>
          <a:bodyPr spcFirstLastPara="1" wrap="square" lIns="91425" tIns="91425" rIns="91425" bIns="91425" anchor="t" anchorCtr="0">
            <a:normAutofit fontScale="90000"/>
          </a:bodyPr>
          <a:lstStyle/>
          <a:p>
            <a:r>
              <a:rPr lang="en-GB" sz="3100" b="1" i="0" u="none" strike="noStrike" dirty="0">
                <a:solidFill>
                  <a:srgbClr val="7030A0"/>
                </a:solidFill>
                <a:effectLst/>
              </a:rPr>
              <a:t>Data Privacy</a:t>
            </a:r>
            <a:br>
              <a:rPr lang="en-GB" sz="3100" b="0" i="0" u="none" strike="noStrike" dirty="0">
                <a:solidFill>
                  <a:srgbClr val="7030A0"/>
                </a:solidFill>
                <a:effectLst/>
              </a:rPr>
            </a:br>
            <a:br>
              <a:rPr lang="en-GB" sz="2800" b="1" i="0" u="none" strike="noStrike" dirty="0">
                <a:solidFill>
                  <a:srgbClr val="7030A0"/>
                </a:solidFill>
                <a:effectLst/>
              </a:rPr>
            </a:br>
            <a:br>
              <a:rPr lang="en-GB" sz="2800" b="1" i="0" u="none" strike="noStrike" dirty="0">
                <a:solidFill>
                  <a:srgbClr val="7030A0"/>
                </a:solidFill>
                <a:effectLst/>
              </a:rPr>
            </a:br>
            <a:br>
              <a:rPr lang="en-GB" sz="2800" b="1" i="0" u="none" strike="noStrike" dirty="0">
                <a:solidFill>
                  <a:srgbClr val="7030A0"/>
                </a:solidFill>
                <a:effectLst/>
              </a:rPr>
            </a:br>
            <a:endParaRPr lang="en-GB" sz="2800" b="1" i="0" u="none" strike="noStrike" dirty="0">
              <a:solidFill>
                <a:srgbClr val="7030A0"/>
              </a:solidFill>
              <a:effectLst/>
              <a:latin typeface="+mj-lt"/>
            </a:endParaRPr>
          </a:p>
        </p:txBody>
      </p:sp>
      <p:sp>
        <p:nvSpPr>
          <p:cNvPr id="4" name="AutoShape 2" descr="Optimized Python with Numba library">
            <a:extLst>
              <a:ext uri="{FF2B5EF4-FFF2-40B4-BE49-F238E27FC236}">
                <a16:creationId xmlns:a16="http://schemas.microsoft.com/office/drawing/2014/main" id="{53142855-31B3-B00B-D5F7-C77B4057FEA1}"/>
              </a:ext>
            </a:extLst>
          </p:cNvPr>
          <p:cNvSpPr>
            <a:spLocks noChangeAspect="1" noChangeArrowheads="1"/>
          </p:cNvSpPr>
          <p:nvPr/>
        </p:nvSpPr>
        <p:spPr bwMode="auto">
          <a:xfrm>
            <a:off x="2960866" y="1871317"/>
            <a:ext cx="3771900" cy="21590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 name="TextBox 2">
            <a:extLst>
              <a:ext uri="{FF2B5EF4-FFF2-40B4-BE49-F238E27FC236}">
                <a16:creationId xmlns:a16="http://schemas.microsoft.com/office/drawing/2014/main" id="{82CF73AC-550B-53A3-1A6F-6F1C60520B55}"/>
              </a:ext>
            </a:extLst>
          </p:cNvPr>
          <p:cNvSpPr txBox="1"/>
          <p:nvPr/>
        </p:nvSpPr>
        <p:spPr>
          <a:xfrm>
            <a:off x="137570" y="680740"/>
            <a:ext cx="7438887" cy="4462760"/>
          </a:xfrm>
          <a:prstGeom prst="rect">
            <a:avLst/>
          </a:prstGeom>
          <a:noFill/>
        </p:spPr>
        <p:txBody>
          <a:bodyPr wrap="square">
            <a:spAutoFit/>
          </a:bodyPr>
          <a:lstStyle/>
          <a:p>
            <a:pPr marL="342900" indent="-342900" algn="l">
              <a:buFont typeface="+mj-lt"/>
              <a:buAutoNum type="arabicPeriod"/>
            </a:pPr>
            <a:r>
              <a:rPr lang="en-GB" b="1" i="0" u="none" strike="noStrike" dirty="0">
                <a:solidFill>
                  <a:srgbClr val="000000"/>
                </a:solidFill>
                <a:effectLst/>
              </a:rPr>
              <a:t>Core Concept:</a:t>
            </a:r>
            <a:r>
              <a:rPr lang="en-GB" b="0" i="0" u="none" strike="noStrike" dirty="0">
                <a:solidFill>
                  <a:srgbClr val="000000"/>
                </a:solidFill>
                <a:effectLst/>
              </a:rPr>
              <a:t> The ethical handling and use of personal and sensitive data in AI applications, particularly in highly regulated sectors like healthcare or finance, present substantial privacy concerns.</a:t>
            </a:r>
          </a:p>
          <a:p>
            <a:pPr marL="342900" indent="-342900" algn="l">
              <a:buFont typeface="+mj-lt"/>
              <a:buAutoNum type="arabicPeriod"/>
            </a:pPr>
            <a:r>
              <a:rPr lang="en-GB" b="1" i="0" u="none" strike="noStrike" dirty="0">
                <a:solidFill>
                  <a:srgbClr val="000000"/>
                </a:solidFill>
                <a:effectLst/>
              </a:rPr>
              <a:t>Manifestations/Examples:</a:t>
            </a:r>
            <a:endParaRPr lang="en-GB" b="0" i="0" u="none" strike="noStrike" dirty="0">
              <a:solidFill>
                <a:srgbClr val="000000"/>
              </a:solidFill>
              <a:effectLst/>
            </a:endParaRPr>
          </a:p>
          <a:p>
            <a:pPr marL="800100" lvl="1" indent="-342900" algn="l">
              <a:buFont typeface="+mj-lt"/>
              <a:buAutoNum type="alphaLcPeriod"/>
            </a:pPr>
            <a:r>
              <a:rPr lang="en-GB" b="1" i="0" u="none" strike="noStrike" dirty="0">
                <a:solidFill>
                  <a:srgbClr val="000000"/>
                </a:solidFill>
                <a:effectLst/>
              </a:rPr>
              <a:t>Healthcare AI:</a:t>
            </a:r>
            <a:r>
              <a:rPr lang="en-GB" b="0" i="0" u="none" strike="noStrike" dirty="0">
                <a:solidFill>
                  <a:srgbClr val="000000"/>
                </a:solidFill>
                <a:effectLst/>
              </a:rPr>
              <a:t> Utilization of patient health records for disease prediction or personalized treatment plans can risk breaches of patient confidentiality and sensitive medical information.</a:t>
            </a:r>
          </a:p>
          <a:p>
            <a:pPr marL="800100" lvl="1" indent="-342900" algn="l">
              <a:buFont typeface="+mj-lt"/>
              <a:buAutoNum type="alphaLcPeriod"/>
            </a:pPr>
            <a:r>
              <a:rPr lang="en-GB" b="1" i="0" u="none" strike="noStrike" dirty="0">
                <a:solidFill>
                  <a:srgbClr val="000000"/>
                </a:solidFill>
                <a:effectLst/>
              </a:rPr>
              <a:t>Consumer Data:</a:t>
            </a:r>
            <a:r>
              <a:rPr lang="en-GB" b="0" i="0" u="none" strike="noStrike" dirty="0">
                <a:solidFill>
                  <a:srgbClr val="000000"/>
                </a:solidFill>
                <a:effectLst/>
              </a:rPr>
              <a:t> AI-driven marketing or financial </a:t>
            </a:r>
            <a:r>
              <a:rPr lang="en-GB" b="0" i="0" u="none" strike="noStrike" dirty="0" err="1">
                <a:solidFill>
                  <a:srgbClr val="000000"/>
                </a:solidFill>
                <a:effectLst/>
              </a:rPr>
              <a:t>modeling</a:t>
            </a:r>
            <a:r>
              <a:rPr lang="en-GB" b="0" i="0" u="none" strike="noStrike" dirty="0">
                <a:solidFill>
                  <a:srgbClr val="000000"/>
                </a:solidFill>
                <a:effectLst/>
              </a:rPr>
              <a:t> that relies on extensive consumer data collection may inadvertently expose individuals' private habits, preferences, or financial details.</a:t>
            </a:r>
          </a:p>
          <a:p>
            <a:pPr marL="800100" lvl="1" indent="-342900" algn="l">
              <a:buFont typeface="+mj-lt"/>
              <a:buAutoNum type="alphaLcPeriod"/>
            </a:pPr>
            <a:r>
              <a:rPr lang="en-GB" b="1" i="0" u="none" strike="noStrike" dirty="0">
                <a:solidFill>
                  <a:srgbClr val="000000"/>
                </a:solidFill>
                <a:effectLst/>
              </a:rPr>
              <a:t>Genetic Information:</a:t>
            </a:r>
            <a:r>
              <a:rPr lang="en-GB" b="0" i="0" u="none" strike="noStrike" dirty="0">
                <a:solidFill>
                  <a:srgbClr val="000000"/>
                </a:solidFill>
                <a:effectLst/>
              </a:rPr>
              <a:t> The use of genetic data in research or diagnostics without explicit, informed, and ongoing patient consent.</a:t>
            </a:r>
          </a:p>
          <a:p>
            <a:pPr marL="342900" indent="-342900" algn="l">
              <a:buFont typeface="+mj-lt"/>
              <a:buAutoNum type="arabicPeriod"/>
            </a:pPr>
            <a:r>
              <a:rPr lang="en-GB" b="1" i="0" u="none" strike="noStrike" dirty="0">
                <a:solidFill>
                  <a:srgbClr val="000000"/>
                </a:solidFill>
                <a:effectLst/>
              </a:rPr>
              <a:t>Mitigation Strategies:</a:t>
            </a:r>
            <a:endParaRPr lang="en-GB" b="0" i="0" u="none" strike="noStrike" dirty="0">
              <a:solidFill>
                <a:srgbClr val="000000"/>
              </a:solidFill>
              <a:effectLst/>
            </a:endParaRPr>
          </a:p>
          <a:p>
            <a:pPr marL="800100" lvl="1" indent="-342900" algn="l">
              <a:buFont typeface="+mj-lt"/>
              <a:buAutoNum type="alphaLcPeriod"/>
            </a:pPr>
            <a:r>
              <a:rPr lang="en-GB" b="0" i="0" u="none" strike="noStrike" dirty="0">
                <a:solidFill>
                  <a:srgbClr val="000000"/>
                </a:solidFill>
                <a:effectLst/>
              </a:rPr>
              <a:t>Establish and adhere to stringent data governance and handling protocols.</a:t>
            </a:r>
          </a:p>
          <a:p>
            <a:pPr marL="800100" lvl="1" indent="-342900" algn="l">
              <a:buFont typeface="+mj-lt"/>
              <a:buAutoNum type="alphaLcPeriod"/>
            </a:pPr>
            <a:r>
              <a:rPr lang="en-GB" b="0" i="0" u="none" strike="noStrike" dirty="0">
                <a:solidFill>
                  <a:srgbClr val="000000"/>
                </a:solidFill>
                <a:effectLst/>
              </a:rPr>
              <a:t>Employ robust data anonymization and pseudonymization techniques to protect individual identities.</a:t>
            </a:r>
          </a:p>
          <a:p>
            <a:pPr marL="800100" lvl="1" indent="-342900" algn="l">
              <a:buFont typeface="+mj-lt"/>
              <a:buAutoNum type="alphaLcPeriod"/>
            </a:pPr>
            <a:r>
              <a:rPr lang="en-GB" b="0" i="0" u="none" strike="noStrike" dirty="0">
                <a:solidFill>
                  <a:srgbClr val="000000"/>
                </a:solidFill>
                <a:effectLst/>
              </a:rPr>
              <a:t>Ensure transparent processes for obtaining and managing informed consent from data subjects.</a:t>
            </a:r>
          </a:p>
          <a:p>
            <a:br>
              <a:rPr lang="en-GB" sz="1600" dirty="0"/>
            </a:br>
            <a:endParaRPr lang="en-GB" sz="1600" b="0" i="0" u="none" strike="noStrike" dirty="0">
              <a:solidFill>
                <a:srgbClr val="000000"/>
              </a:solidFill>
              <a:effectLst/>
            </a:endParaRPr>
          </a:p>
        </p:txBody>
      </p:sp>
    </p:spTree>
    <p:extLst>
      <p:ext uri="{BB962C8B-B14F-4D97-AF65-F5344CB8AC3E}">
        <p14:creationId xmlns:p14="http://schemas.microsoft.com/office/powerpoint/2010/main" val="219406050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60">
          <a:extLst>
            <a:ext uri="{FF2B5EF4-FFF2-40B4-BE49-F238E27FC236}">
              <a16:creationId xmlns:a16="http://schemas.microsoft.com/office/drawing/2014/main" id="{59E8FEA6-65F0-B9D4-B07A-025DE0E94926}"/>
            </a:ext>
          </a:extLst>
        </p:cNvPr>
        <p:cNvGrpSpPr/>
        <p:nvPr/>
      </p:nvGrpSpPr>
      <p:grpSpPr>
        <a:xfrm>
          <a:off x="0" y="0"/>
          <a:ext cx="0" cy="0"/>
          <a:chOff x="0" y="0"/>
          <a:chExt cx="0" cy="0"/>
        </a:xfrm>
      </p:grpSpPr>
      <p:sp>
        <p:nvSpPr>
          <p:cNvPr id="61" name="Google Shape;61;p4">
            <a:extLst>
              <a:ext uri="{FF2B5EF4-FFF2-40B4-BE49-F238E27FC236}">
                <a16:creationId xmlns:a16="http://schemas.microsoft.com/office/drawing/2014/main" id="{8918C6AA-24AD-A805-B63B-3607E3CD1BD6}"/>
              </a:ext>
            </a:extLst>
          </p:cNvPr>
          <p:cNvSpPr txBox="1">
            <a:spLocks noGrp="1"/>
          </p:cNvSpPr>
          <p:nvPr>
            <p:ph type="title"/>
          </p:nvPr>
        </p:nvSpPr>
        <p:spPr>
          <a:xfrm>
            <a:off x="284775" y="0"/>
            <a:ext cx="8329650" cy="627900"/>
          </a:xfrm>
          <a:prstGeom prst="rect">
            <a:avLst/>
          </a:prstGeom>
          <a:noFill/>
          <a:ln>
            <a:noFill/>
          </a:ln>
        </p:spPr>
        <p:txBody>
          <a:bodyPr spcFirstLastPara="1" wrap="square" lIns="91425" tIns="91425" rIns="91425" bIns="91425" anchor="t" anchorCtr="0">
            <a:normAutofit fontScale="90000"/>
          </a:bodyPr>
          <a:lstStyle/>
          <a:p>
            <a:r>
              <a:rPr lang="en-GB" sz="2800" b="1" i="0" u="none" strike="noStrike" dirty="0">
                <a:solidFill>
                  <a:srgbClr val="7030A0"/>
                </a:solidFill>
                <a:effectLst/>
              </a:rPr>
              <a:t>Transparency and Explainability (XAI)</a:t>
            </a:r>
            <a:br>
              <a:rPr lang="en-GB" sz="2800" b="1" i="0" u="none" strike="noStrike" dirty="0">
                <a:solidFill>
                  <a:srgbClr val="7030A0"/>
                </a:solidFill>
                <a:effectLst/>
              </a:rPr>
            </a:br>
            <a:br>
              <a:rPr lang="en-GB" sz="2800" b="1" i="0" u="none" strike="noStrike" dirty="0">
                <a:solidFill>
                  <a:srgbClr val="7030A0"/>
                </a:solidFill>
                <a:effectLst/>
              </a:rPr>
            </a:br>
            <a:br>
              <a:rPr lang="en-GB" sz="2800" b="1" i="0" u="none" strike="noStrike" dirty="0">
                <a:solidFill>
                  <a:srgbClr val="7030A0"/>
                </a:solidFill>
                <a:effectLst/>
              </a:rPr>
            </a:br>
            <a:br>
              <a:rPr lang="en-GB" sz="2800" b="1" i="0" u="none" strike="noStrike" dirty="0">
                <a:solidFill>
                  <a:srgbClr val="7030A0"/>
                </a:solidFill>
                <a:effectLst/>
              </a:rPr>
            </a:br>
            <a:endParaRPr lang="en-GB" sz="2800" b="1" i="0" u="none" strike="noStrike" dirty="0">
              <a:solidFill>
                <a:srgbClr val="7030A0"/>
              </a:solidFill>
              <a:effectLst/>
              <a:latin typeface="+mj-lt"/>
            </a:endParaRPr>
          </a:p>
        </p:txBody>
      </p:sp>
      <p:sp>
        <p:nvSpPr>
          <p:cNvPr id="4" name="AutoShape 2" descr="Optimized Python with Numba library">
            <a:extLst>
              <a:ext uri="{FF2B5EF4-FFF2-40B4-BE49-F238E27FC236}">
                <a16:creationId xmlns:a16="http://schemas.microsoft.com/office/drawing/2014/main" id="{65830205-9A81-73FF-C5E7-17950F1281F5}"/>
              </a:ext>
            </a:extLst>
          </p:cNvPr>
          <p:cNvSpPr>
            <a:spLocks noChangeAspect="1" noChangeArrowheads="1"/>
          </p:cNvSpPr>
          <p:nvPr/>
        </p:nvSpPr>
        <p:spPr bwMode="auto">
          <a:xfrm>
            <a:off x="2960866" y="1871317"/>
            <a:ext cx="3771900" cy="21590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 name="TextBox 2">
            <a:extLst>
              <a:ext uri="{FF2B5EF4-FFF2-40B4-BE49-F238E27FC236}">
                <a16:creationId xmlns:a16="http://schemas.microsoft.com/office/drawing/2014/main" id="{425C88D6-F512-2293-0325-3BF6E9B1B933}"/>
              </a:ext>
            </a:extLst>
          </p:cNvPr>
          <p:cNvSpPr txBox="1"/>
          <p:nvPr/>
        </p:nvSpPr>
        <p:spPr>
          <a:xfrm>
            <a:off x="79513" y="511689"/>
            <a:ext cx="8090266" cy="4431983"/>
          </a:xfrm>
          <a:prstGeom prst="rect">
            <a:avLst/>
          </a:prstGeom>
          <a:noFill/>
        </p:spPr>
        <p:txBody>
          <a:bodyPr wrap="square">
            <a:spAutoFit/>
          </a:bodyPr>
          <a:lstStyle/>
          <a:p>
            <a:pPr marL="342900" indent="-342900" algn="l">
              <a:buFont typeface="+mj-lt"/>
              <a:buAutoNum type="arabicPeriod"/>
            </a:pPr>
            <a:r>
              <a:rPr lang="en-GB" b="1" i="0" u="none" strike="noStrike" dirty="0">
                <a:solidFill>
                  <a:srgbClr val="000000"/>
                </a:solidFill>
                <a:effectLst/>
              </a:rPr>
              <a:t>Core Concept:</a:t>
            </a:r>
            <a:r>
              <a:rPr lang="en-GB" b="0" i="0" u="none" strike="noStrike" dirty="0">
                <a:solidFill>
                  <a:srgbClr val="000000"/>
                </a:solidFill>
                <a:effectLst/>
              </a:rPr>
              <a:t> Many advanced AI systems, particularly deep learning models, operate as "black boxes," making their decision-making processes opaque. This lack of transparency undermines trust and complicates accountability.</a:t>
            </a:r>
          </a:p>
          <a:p>
            <a:pPr marL="342900" indent="-342900" algn="l">
              <a:buFont typeface="+mj-lt"/>
              <a:buAutoNum type="arabicPeriod"/>
            </a:pPr>
            <a:r>
              <a:rPr lang="en-GB" b="1" i="0" u="none" strike="noStrike" dirty="0">
                <a:solidFill>
                  <a:srgbClr val="000000"/>
                </a:solidFill>
                <a:effectLst/>
              </a:rPr>
              <a:t>Manifestations/Examples:</a:t>
            </a:r>
            <a:endParaRPr lang="en-GB" b="0" i="0" u="none" strike="noStrike" dirty="0">
              <a:solidFill>
                <a:srgbClr val="000000"/>
              </a:solidFill>
              <a:effectLst/>
            </a:endParaRPr>
          </a:p>
          <a:p>
            <a:pPr marL="800100" lvl="1" indent="-342900" algn="l">
              <a:buFont typeface="+mj-lt"/>
              <a:buAutoNum type="alphaLcPeriod"/>
            </a:pPr>
            <a:r>
              <a:rPr lang="en-GB" b="1" i="0" u="none" strike="noStrike" dirty="0">
                <a:solidFill>
                  <a:srgbClr val="000000"/>
                </a:solidFill>
                <a:effectLst/>
              </a:rPr>
              <a:t>Credit Scoring AI:</a:t>
            </a:r>
            <a:r>
              <a:rPr lang="en-GB" b="0" i="0" u="none" strike="noStrike" dirty="0">
                <a:solidFill>
                  <a:srgbClr val="000000"/>
                </a:solidFill>
                <a:effectLst/>
              </a:rPr>
              <a:t> An AI system determining creditworthiness might not disclose the underlying reasons or features that led to a specific loan decision, leaving applicants without recourse.</a:t>
            </a:r>
          </a:p>
          <a:p>
            <a:pPr marL="800100" lvl="1" indent="-342900" algn="l">
              <a:buFont typeface="+mj-lt"/>
              <a:buAutoNum type="alphaLcPeriod"/>
            </a:pPr>
            <a:r>
              <a:rPr lang="en-GB" b="1" i="0" u="none" strike="noStrike" dirty="0">
                <a:solidFill>
                  <a:srgbClr val="000000"/>
                </a:solidFill>
                <a:effectLst/>
              </a:rPr>
              <a:t>Criminal Justice AI:</a:t>
            </a:r>
            <a:r>
              <a:rPr lang="en-GB" b="0" i="0" u="none" strike="noStrike" dirty="0">
                <a:solidFill>
                  <a:srgbClr val="000000"/>
                </a:solidFill>
                <a:effectLst/>
              </a:rPr>
              <a:t> AI tools used for risk assessment in sentencing or parole decisions may produce conclusions without clear explanations, raising concerns about fairness and due process.</a:t>
            </a:r>
          </a:p>
          <a:p>
            <a:pPr marL="800100" lvl="1" indent="-342900" algn="l">
              <a:buFont typeface="+mj-lt"/>
              <a:buAutoNum type="alphaLcPeriod"/>
            </a:pPr>
            <a:r>
              <a:rPr lang="en-GB" b="1" i="0" u="none" strike="noStrike" dirty="0">
                <a:solidFill>
                  <a:srgbClr val="000000"/>
                </a:solidFill>
                <a:effectLst/>
              </a:rPr>
              <a:t>Content Moderation:</a:t>
            </a:r>
            <a:r>
              <a:rPr lang="en-GB" b="0" i="0" u="none" strike="noStrike" dirty="0">
                <a:solidFill>
                  <a:srgbClr val="000000"/>
                </a:solidFill>
                <a:effectLst/>
              </a:rPr>
              <a:t> Automated content moderation systems on social media platforms can enforce rules inconsistently or censor content without transparent justification, leading to accusations of bias or censorship.</a:t>
            </a:r>
          </a:p>
          <a:p>
            <a:pPr marL="342900" indent="-342900" algn="l">
              <a:buFont typeface="+mj-lt"/>
              <a:buAutoNum type="arabicPeriod"/>
            </a:pPr>
            <a:r>
              <a:rPr lang="en-GB" b="1" i="0" u="none" strike="noStrike" dirty="0">
                <a:solidFill>
                  <a:srgbClr val="000000"/>
                </a:solidFill>
                <a:effectLst/>
              </a:rPr>
              <a:t>Mitigation Strategies:</a:t>
            </a:r>
            <a:endParaRPr lang="en-GB" b="0" i="0" u="none" strike="noStrike" dirty="0">
              <a:solidFill>
                <a:srgbClr val="000000"/>
              </a:solidFill>
              <a:effectLst/>
            </a:endParaRPr>
          </a:p>
          <a:p>
            <a:pPr marL="800100" lvl="1" indent="-342900" algn="l">
              <a:buFont typeface="+mj-lt"/>
              <a:buAutoNum type="alphaLcPeriod"/>
            </a:pPr>
            <a:r>
              <a:rPr lang="en-GB" b="0" i="0" u="none" strike="noStrike" dirty="0">
                <a:solidFill>
                  <a:srgbClr val="000000"/>
                </a:solidFill>
                <a:effectLst/>
              </a:rPr>
              <a:t>Develop AI models with </a:t>
            </a:r>
            <a:r>
              <a:rPr lang="en-GB" b="1" i="0" u="none" strike="noStrike" dirty="0">
                <a:solidFill>
                  <a:srgbClr val="000000"/>
                </a:solidFill>
                <a:effectLst/>
              </a:rPr>
              <a:t>explainability (XAI)</a:t>
            </a:r>
            <a:r>
              <a:rPr lang="en-GB" b="0" i="0" u="none" strike="noStrike" dirty="0">
                <a:solidFill>
                  <a:srgbClr val="000000"/>
                </a:solidFill>
                <a:effectLst/>
              </a:rPr>
              <a:t> as a design principle, allowing insights into their reasoning.</a:t>
            </a:r>
          </a:p>
          <a:p>
            <a:pPr marL="800100" lvl="1" indent="-342900" algn="l">
              <a:buFont typeface="+mj-lt"/>
              <a:buAutoNum type="alphaLcPeriod"/>
            </a:pPr>
            <a:r>
              <a:rPr lang="en-GB" b="0" i="0" u="none" strike="noStrike" dirty="0">
                <a:solidFill>
                  <a:srgbClr val="000000"/>
                </a:solidFill>
                <a:effectLst/>
              </a:rPr>
              <a:t>Implement and enforce regulations requiring transparency and auditability for AI systems, especially in high-stakes applications.</a:t>
            </a:r>
          </a:p>
          <a:p>
            <a:br>
              <a:rPr lang="en-GB" dirty="0"/>
            </a:br>
            <a:endParaRPr lang="en-GB" sz="1600" b="0" i="0" u="none" strike="noStrike" dirty="0">
              <a:solidFill>
                <a:srgbClr val="000000"/>
              </a:solidFill>
              <a:effectLst/>
            </a:endParaRPr>
          </a:p>
        </p:txBody>
      </p:sp>
    </p:spTree>
    <p:extLst>
      <p:ext uri="{BB962C8B-B14F-4D97-AF65-F5344CB8AC3E}">
        <p14:creationId xmlns:p14="http://schemas.microsoft.com/office/powerpoint/2010/main" val="150752170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60">
          <a:extLst>
            <a:ext uri="{FF2B5EF4-FFF2-40B4-BE49-F238E27FC236}">
              <a16:creationId xmlns:a16="http://schemas.microsoft.com/office/drawing/2014/main" id="{32E869E3-5FE7-A655-147B-4587AE981B75}"/>
            </a:ext>
          </a:extLst>
        </p:cNvPr>
        <p:cNvGrpSpPr/>
        <p:nvPr/>
      </p:nvGrpSpPr>
      <p:grpSpPr>
        <a:xfrm>
          <a:off x="0" y="0"/>
          <a:ext cx="0" cy="0"/>
          <a:chOff x="0" y="0"/>
          <a:chExt cx="0" cy="0"/>
        </a:xfrm>
      </p:grpSpPr>
      <p:sp>
        <p:nvSpPr>
          <p:cNvPr id="61" name="Google Shape;61;p4">
            <a:extLst>
              <a:ext uri="{FF2B5EF4-FFF2-40B4-BE49-F238E27FC236}">
                <a16:creationId xmlns:a16="http://schemas.microsoft.com/office/drawing/2014/main" id="{9186ECF3-5789-6B9B-E7D7-37890C921ACA}"/>
              </a:ext>
            </a:extLst>
          </p:cNvPr>
          <p:cNvSpPr txBox="1">
            <a:spLocks noGrp="1"/>
          </p:cNvSpPr>
          <p:nvPr>
            <p:ph type="title"/>
          </p:nvPr>
        </p:nvSpPr>
        <p:spPr>
          <a:xfrm>
            <a:off x="284775" y="0"/>
            <a:ext cx="8329650" cy="627900"/>
          </a:xfrm>
          <a:prstGeom prst="rect">
            <a:avLst/>
          </a:prstGeom>
          <a:noFill/>
          <a:ln>
            <a:noFill/>
          </a:ln>
        </p:spPr>
        <p:txBody>
          <a:bodyPr spcFirstLastPara="1" wrap="square" lIns="91425" tIns="91425" rIns="91425" bIns="91425" anchor="t" anchorCtr="0">
            <a:normAutofit fontScale="90000"/>
          </a:bodyPr>
          <a:lstStyle/>
          <a:p>
            <a:r>
              <a:rPr lang="en-GB" sz="2800" b="1" i="0" u="none" strike="noStrike" dirty="0">
                <a:solidFill>
                  <a:srgbClr val="7030A0"/>
                </a:solidFill>
                <a:effectLst/>
              </a:rPr>
              <a:t>Autonomy and Human Oversight</a:t>
            </a:r>
            <a:br>
              <a:rPr lang="en-GB" sz="2800" b="1" i="0" u="none" strike="noStrike" dirty="0">
                <a:solidFill>
                  <a:srgbClr val="7030A0"/>
                </a:solidFill>
                <a:effectLst/>
              </a:rPr>
            </a:br>
            <a:br>
              <a:rPr lang="en-GB" sz="2800" b="1" i="0" u="none" strike="noStrike" dirty="0">
                <a:solidFill>
                  <a:srgbClr val="7030A0"/>
                </a:solidFill>
                <a:effectLst/>
              </a:rPr>
            </a:br>
            <a:br>
              <a:rPr lang="en-GB" sz="2800" b="1" i="0" u="none" strike="noStrike" dirty="0">
                <a:solidFill>
                  <a:srgbClr val="7030A0"/>
                </a:solidFill>
                <a:effectLst/>
              </a:rPr>
            </a:br>
            <a:br>
              <a:rPr lang="en-GB" sz="2800" b="1" i="0" u="none" strike="noStrike" dirty="0">
                <a:solidFill>
                  <a:srgbClr val="7030A0"/>
                </a:solidFill>
                <a:effectLst/>
              </a:rPr>
            </a:br>
            <a:endParaRPr lang="en-GB" sz="2800" b="1" i="0" u="none" strike="noStrike" dirty="0">
              <a:solidFill>
                <a:srgbClr val="7030A0"/>
              </a:solidFill>
              <a:effectLst/>
              <a:latin typeface="+mj-lt"/>
            </a:endParaRPr>
          </a:p>
        </p:txBody>
      </p:sp>
      <p:sp>
        <p:nvSpPr>
          <p:cNvPr id="4" name="AutoShape 2" descr="Optimized Python with Numba library">
            <a:extLst>
              <a:ext uri="{FF2B5EF4-FFF2-40B4-BE49-F238E27FC236}">
                <a16:creationId xmlns:a16="http://schemas.microsoft.com/office/drawing/2014/main" id="{7E6A667A-2DB8-9E5C-F623-5CA5D79482E7}"/>
              </a:ext>
            </a:extLst>
          </p:cNvPr>
          <p:cNvSpPr>
            <a:spLocks noChangeAspect="1" noChangeArrowheads="1"/>
          </p:cNvSpPr>
          <p:nvPr/>
        </p:nvSpPr>
        <p:spPr bwMode="auto">
          <a:xfrm>
            <a:off x="2960866" y="1871317"/>
            <a:ext cx="3771900" cy="21590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 name="TextBox 2">
            <a:extLst>
              <a:ext uri="{FF2B5EF4-FFF2-40B4-BE49-F238E27FC236}">
                <a16:creationId xmlns:a16="http://schemas.microsoft.com/office/drawing/2014/main" id="{2C531382-20D4-23FE-AEF6-E6B8C9C25C1E}"/>
              </a:ext>
            </a:extLst>
          </p:cNvPr>
          <p:cNvSpPr txBox="1"/>
          <p:nvPr/>
        </p:nvSpPr>
        <p:spPr>
          <a:xfrm>
            <a:off x="137570" y="765689"/>
            <a:ext cx="8090266" cy="4031873"/>
          </a:xfrm>
          <a:prstGeom prst="rect">
            <a:avLst/>
          </a:prstGeom>
          <a:noFill/>
        </p:spPr>
        <p:txBody>
          <a:bodyPr wrap="square">
            <a:spAutoFit/>
          </a:bodyPr>
          <a:lstStyle/>
          <a:p>
            <a:pPr marL="342900" indent="-342900" algn="l">
              <a:buFont typeface="+mj-lt"/>
              <a:buAutoNum type="arabicPeriod"/>
            </a:pPr>
            <a:r>
              <a:rPr lang="en-GB" sz="1600" b="1" i="0" u="none" strike="noStrike" dirty="0">
                <a:solidFill>
                  <a:srgbClr val="000000"/>
                </a:solidFill>
                <a:effectLst/>
              </a:rPr>
              <a:t>Core Concept:</a:t>
            </a:r>
            <a:r>
              <a:rPr lang="en-GB" sz="1600" b="0" i="0" u="none" strike="noStrike" dirty="0">
                <a:solidFill>
                  <a:srgbClr val="000000"/>
                </a:solidFill>
                <a:effectLst/>
              </a:rPr>
              <a:t> The increasing delegation of critical decision-making authority to AI systems without adequate human oversight introduces significant ethical risks regarding control and potential for unintended consequences.</a:t>
            </a:r>
          </a:p>
          <a:p>
            <a:pPr marL="342900" indent="-342900" algn="l">
              <a:buFont typeface="+mj-lt"/>
              <a:buAutoNum type="arabicPeriod"/>
            </a:pPr>
            <a:r>
              <a:rPr lang="en-GB" sz="1600" b="1" i="0" u="none" strike="noStrike" dirty="0">
                <a:solidFill>
                  <a:srgbClr val="000000"/>
                </a:solidFill>
                <a:effectLst/>
              </a:rPr>
              <a:t>Manifestations/Examples:</a:t>
            </a:r>
            <a:endParaRPr lang="en-GB" sz="1600" b="0" i="0" u="none" strike="noStrike" dirty="0">
              <a:solidFill>
                <a:srgbClr val="000000"/>
              </a:solidFill>
              <a:effectLst/>
            </a:endParaRPr>
          </a:p>
          <a:p>
            <a:pPr marL="800100" lvl="1" indent="-342900" algn="l">
              <a:buFont typeface="+mj-lt"/>
              <a:buAutoNum type="alphaLcPeriod"/>
            </a:pPr>
            <a:r>
              <a:rPr lang="en-GB" sz="1600" b="1" i="0" u="none" strike="noStrike" dirty="0">
                <a:solidFill>
                  <a:srgbClr val="000000"/>
                </a:solidFill>
                <a:effectLst/>
              </a:rPr>
              <a:t>Autonomous Military Drones:</a:t>
            </a:r>
            <a:r>
              <a:rPr lang="en-GB" sz="1600" b="0" i="0" u="none" strike="noStrike" dirty="0">
                <a:solidFill>
                  <a:srgbClr val="000000"/>
                </a:solidFill>
                <a:effectLst/>
              </a:rPr>
              <a:t> AI-powered military drones making lethal target decisions without direct human intervention raise profound ethical questions about war and accountability.</a:t>
            </a:r>
          </a:p>
          <a:p>
            <a:pPr marL="800100" lvl="1" indent="-342900" algn="l">
              <a:buFont typeface="+mj-lt"/>
              <a:buAutoNum type="alphaLcPeriod"/>
            </a:pPr>
            <a:r>
              <a:rPr lang="en-GB" sz="1600" b="1" i="0" u="none" strike="noStrike" dirty="0">
                <a:solidFill>
                  <a:srgbClr val="000000"/>
                </a:solidFill>
                <a:effectLst/>
              </a:rPr>
              <a:t>Healthcare AI:</a:t>
            </a:r>
            <a:r>
              <a:rPr lang="en-GB" sz="1600" b="0" i="0" u="none" strike="noStrike" dirty="0">
                <a:solidFill>
                  <a:srgbClr val="000000"/>
                </a:solidFill>
                <a:effectLst/>
              </a:rPr>
              <a:t> AI systems making independent, critical decisions regarding patient care, such as end-of-life treatment plans, without continuous human review and override capabilities.</a:t>
            </a:r>
          </a:p>
          <a:p>
            <a:pPr marL="342900" indent="-342900" algn="l">
              <a:buFont typeface="+mj-lt"/>
              <a:buAutoNum type="arabicPeriod"/>
            </a:pPr>
            <a:r>
              <a:rPr lang="en-GB" sz="1600" b="1" i="0" u="none" strike="noStrike" dirty="0">
                <a:solidFill>
                  <a:srgbClr val="000000"/>
                </a:solidFill>
                <a:effectLst/>
              </a:rPr>
              <a:t>Mitigation Strategies:</a:t>
            </a:r>
            <a:endParaRPr lang="en-GB" sz="1600" b="0" i="0" u="none" strike="noStrike" dirty="0">
              <a:solidFill>
                <a:srgbClr val="000000"/>
              </a:solidFill>
              <a:effectLst/>
            </a:endParaRPr>
          </a:p>
          <a:p>
            <a:pPr marL="800100" lvl="1" indent="-342900" algn="l">
              <a:buFont typeface="+mj-lt"/>
              <a:buAutoNum type="alphaLcPeriod"/>
            </a:pPr>
            <a:r>
              <a:rPr lang="en-GB" sz="1600" b="0" i="0" u="none" strike="noStrike" dirty="0">
                <a:solidFill>
                  <a:srgbClr val="000000"/>
                </a:solidFill>
                <a:effectLst/>
              </a:rPr>
              <a:t>Design and implement "human-in-the-loop" checkpoints, ensuring human review and intervention capabilities in automated processes.</a:t>
            </a:r>
          </a:p>
          <a:p>
            <a:pPr marL="800100" lvl="1" indent="-342900" algn="l">
              <a:buFont typeface="+mj-lt"/>
              <a:buAutoNum type="alphaLcPeriod"/>
            </a:pPr>
            <a:r>
              <a:rPr lang="en-GB" sz="1600" b="0" i="0" u="none" strike="noStrike" dirty="0">
                <a:solidFill>
                  <a:srgbClr val="000000"/>
                </a:solidFill>
                <a:effectLst/>
              </a:rPr>
              <a:t>Establish clear ethical guidelines and operational protocols for appropriate levels of human oversight in AI-driven systems.</a:t>
            </a:r>
          </a:p>
          <a:p>
            <a:pPr marL="342900" indent="-342900" algn="l">
              <a:buFont typeface="+mj-lt"/>
              <a:buAutoNum type="arabicPeriod"/>
            </a:pPr>
            <a:endParaRPr lang="en-GB" sz="1600" b="0" i="0" u="none" strike="noStrike" dirty="0">
              <a:solidFill>
                <a:srgbClr val="000000"/>
              </a:solidFill>
              <a:effectLst/>
            </a:endParaRPr>
          </a:p>
        </p:txBody>
      </p:sp>
    </p:spTree>
    <p:extLst>
      <p:ext uri="{BB962C8B-B14F-4D97-AF65-F5344CB8AC3E}">
        <p14:creationId xmlns:p14="http://schemas.microsoft.com/office/powerpoint/2010/main" val="313106146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60">
          <a:extLst>
            <a:ext uri="{FF2B5EF4-FFF2-40B4-BE49-F238E27FC236}">
              <a16:creationId xmlns:a16="http://schemas.microsoft.com/office/drawing/2014/main" id="{A5311E50-1C1F-C4F0-1363-D00998BC5853}"/>
            </a:ext>
          </a:extLst>
        </p:cNvPr>
        <p:cNvGrpSpPr/>
        <p:nvPr/>
      </p:nvGrpSpPr>
      <p:grpSpPr>
        <a:xfrm>
          <a:off x="0" y="0"/>
          <a:ext cx="0" cy="0"/>
          <a:chOff x="0" y="0"/>
          <a:chExt cx="0" cy="0"/>
        </a:xfrm>
      </p:grpSpPr>
      <p:sp>
        <p:nvSpPr>
          <p:cNvPr id="61" name="Google Shape;61;p4">
            <a:extLst>
              <a:ext uri="{FF2B5EF4-FFF2-40B4-BE49-F238E27FC236}">
                <a16:creationId xmlns:a16="http://schemas.microsoft.com/office/drawing/2014/main" id="{E67CD5D3-38AB-61C8-7613-DBEA8C17E7BB}"/>
              </a:ext>
            </a:extLst>
          </p:cNvPr>
          <p:cNvSpPr txBox="1">
            <a:spLocks noGrp="1"/>
          </p:cNvSpPr>
          <p:nvPr>
            <p:ph type="title"/>
          </p:nvPr>
        </p:nvSpPr>
        <p:spPr>
          <a:xfrm>
            <a:off x="284775" y="0"/>
            <a:ext cx="8329650" cy="627900"/>
          </a:xfrm>
          <a:prstGeom prst="rect">
            <a:avLst/>
          </a:prstGeom>
          <a:noFill/>
          <a:ln>
            <a:noFill/>
          </a:ln>
        </p:spPr>
        <p:txBody>
          <a:bodyPr spcFirstLastPara="1" wrap="square" lIns="91425" tIns="91425" rIns="91425" bIns="91425" anchor="t" anchorCtr="0">
            <a:normAutofit fontScale="90000"/>
          </a:bodyPr>
          <a:lstStyle/>
          <a:p>
            <a:r>
              <a:rPr lang="en-GB" sz="3100" b="1" i="0" u="none" strike="noStrike" dirty="0">
                <a:solidFill>
                  <a:srgbClr val="7030A0"/>
                </a:solidFill>
                <a:effectLst/>
              </a:rPr>
              <a:t>Accountability</a:t>
            </a:r>
            <a:br>
              <a:rPr lang="en-GB" sz="3100" b="0" i="0" u="none" strike="noStrike" dirty="0">
                <a:solidFill>
                  <a:srgbClr val="7030A0"/>
                </a:solidFill>
                <a:effectLst/>
              </a:rPr>
            </a:br>
            <a:br>
              <a:rPr lang="en-GB" sz="2800" b="1" i="0" u="none" strike="noStrike" dirty="0">
                <a:solidFill>
                  <a:srgbClr val="7030A0"/>
                </a:solidFill>
                <a:effectLst/>
              </a:rPr>
            </a:br>
            <a:br>
              <a:rPr lang="en-GB" sz="2800" b="1" i="0" u="none" strike="noStrike" dirty="0">
                <a:solidFill>
                  <a:srgbClr val="7030A0"/>
                </a:solidFill>
                <a:effectLst/>
              </a:rPr>
            </a:br>
            <a:br>
              <a:rPr lang="en-GB" sz="2800" b="1" i="0" u="none" strike="noStrike" dirty="0">
                <a:solidFill>
                  <a:srgbClr val="7030A0"/>
                </a:solidFill>
                <a:effectLst/>
              </a:rPr>
            </a:br>
            <a:br>
              <a:rPr lang="en-GB" sz="2800" b="1" i="0" u="none" strike="noStrike" dirty="0">
                <a:solidFill>
                  <a:srgbClr val="7030A0"/>
                </a:solidFill>
                <a:effectLst/>
              </a:rPr>
            </a:br>
            <a:endParaRPr lang="en-GB" sz="2800" b="1" i="0" u="none" strike="noStrike" dirty="0">
              <a:solidFill>
                <a:srgbClr val="7030A0"/>
              </a:solidFill>
              <a:effectLst/>
              <a:latin typeface="+mj-lt"/>
            </a:endParaRPr>
          </a:p>
        </p:txBody>
      </p:sp>
      <p:sp>
        <p:nvSpPr>
          <p:cNvPr id="4" name="AutoShape 2" descr="Optimized Python with Numba library">
            <a:extLst>
              <a:ext uri="{FF2B5EF4-FFF2-40B4-BE49-F238E27FC236}">
                <a16:creationId xmlns:a16="http://schemas.microsoft.com/office/drawing/2014/main" id="{387FCE14-EAF2-7370-FDD5-6B568ADB6ECA}"/>
              </a:ext>
            </a:extLst>
          </p:cNvPr>
          <p:cNvSpPr>
            <a:spLocks noChangeAspect="1" noChangeArrowheads="1"/>
          </p:cNvSpPr>
          <p:nvPr/>
        </p:nvSpPr>
        <p:spPr bwMode="auto">
          <a:xfrm>
            <a:off x="2960866" y="1871317"/>
            <a:ext cx="3771900" cy="21590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 name="TextBox 2">
            <a:extLst>
              <a:ext uri="{FF2B5EF4-FFF2-40B4-BE49-F238E27FC236}">
                <a16:creationId xmlns:a16="http://schemas.microsoft.com/office/drawing/2014/main" id="{F538E8B3-44E5-D250-EBC5-FFE9C3D97E39}"/>
              </a:ext>
            </a:extLst>
          </p:cNvPr>
          <p:cNvSpPr txBox="1"/>
          <p:nvPr/>
        </p:nvSpPr>
        <p:spPr>
          <a:xfrm>
            <a:off x="130313" y="714889"/>
            <a:ext cx="8090266" cy="4201150"/>
          </a:xfrm>
          <a:prstGeom prst="rect">
            <a:avLst/>
          </a:prstGeom>
          <a:noFill/>
        </p:spPr>
        <p:txBody>
          <a:bodyPr wrap="square">
            <a:spAutoFit/>
          </a:bodyPr>
          <a:lstStyle/>
          <a:p>
            <a:pPr marL="342900" indent="-342900" algn="l">
              <a:buFont typeface="+mj-lt"/>
              <a:buAutoNum type="arabicPeriod"/>
            </a:pPr>
            <a:r>
              <a:rPr lang="en-GB" b="1" i="0" u="none" strike="noStrike" dirty="0">
                <a:solidFill>
                  <a:srgbClr val="000000"/>
                </a:solidFill>
                <a:effectLst/>
              </a:rPr>
              <a:t>Core Concept:</a:t>
            </a:r>
            <a:r>
              <a:rPr lang="en-GB" b="0" i="0" u="none" strike="noStrike" dirty="0">
                <a:solidFill>
                  <a:srgbClr val="000000"/>
                </a:solidFill>
                <a:effectLst/>
              </a:rPr>
              <a:t> The complex and distributed nature of AI systems can obscure lines of responsibility, making it challenging to establish clear accountability when errors, harm, or unintended outcomes occur.</a:t>
            </a:r>
          </a:p>
          <a:p>
            <a:pPr marL="342900" indent="-342900" algn="l">
              <a:buFont typeface="+mj-lt"/>
              <a:buAutoNum type="arabicPeriod"/>
            </a:pPr>
            <a:r>
              <a:rPr lang="en-GB" b="1" i="0" u="none" strike="noStrike" dirty="0">
                <a:solidFill>
                  <a:srgbClr val="000000"/>
                </a:solidFill>
                <a:effectLst/>
              </a:rPr>
              <a:t>Manifestations/Examples:</a:t>
            </a:r>
            <a:endParaRPr lang="en-GB" b="0" i="0" u="none" strike="noStrike" dirty="0">
              <a:solidFill>
                <a:srgbClr val="000000"/>
              </a:solidFill>
              <a:effectLst/>
            </a:endParaRPr>
          </a:p>
          <a:p>
            <a:pPr marL="800100" lvl="1" indent="-342900" algn="l">
              <a:buFont typeface="+mj-lt"/>
              <a:buAutoNum type="alphaLcPeriod"/>
            </a:pPr>
            <a:r>
              <a:rPr lang="en-GB" b="1" i="0" u="none" strike="noStrike" dirty="0">
                <a:solidFill>
                  <a:srgbClr val="000000"/>
                </a:solidFill>
                <a:effectLst/>
              </a:rPr>
              <a:t>Self-Driving Car Accidents:</a:t>
            </a:r>
            <a:r>
              <a:rPr lang="en-GB" b="0" i="0" u="none" strike="noStrike" dirty="0">
                <a:solidFill>
                  <a:srgbClr val="000000"/>
                </a:solidFill>
                <a:effectLst/>
              </a:rPr>
              <a:t> When autonomous vehicles are involved in accidents, questions of liability become complex, spanning manufacturers, software developers, algorithm designers, and even vehicle owners.</a:t>
            </a:r>
          </a:p>
          <a:p>
            <a:pPr marL="800100" lvl="1" indent="-342900" algn="l">
              <a:buFont typeface="+mj-lt"/>
              <a:buAutoNum type="alphaLcPeriod"/>
            </a:pPr>
            <a:r>
              <a:rPr lang="en-GB" b="1" i="0" u="none" strike="noStrike" dirty="0">
                <a:solidFill>
                  <a:srgbClr val="000000"/>
                </a:solidFill>
                <a:effectLst/>
              </a:rPr>
              <a:t>AI-Driven Financial Advice:</a:t>
            </a:r>
            <a:r>
              <a:rPr lang="en-GB" b="0" i="0" u="none" strike="noStrike" dirty="0">
                <a:solidFill>
                  <a:srgbClr val="000000"/>
                </a:solidFill>
                <a:effectLst/>
              </a:rPr>
              <a:t> If AI-powered financial advisors lead to client losses, it can be unclear whether the algorithm, the data it was trained on, the institution deploying it, or the end-user bears ultimate responsibility.</a:t>
            </a:r>
          </a:p>
          <a:p>
            <a:pPr marL="800100" lvl="1" indent="-342900" algn="l">
              <a:buFont typeface="+mj-lt"/>
              <a:buAutoNum type="alphaLcPeriod"/>
            </a:pPr>
            <a:r>
              <a:rPr lang="en-GB" b="1" i="0" u="none" strike="noStrike" dirty="0">
                <a:solidFill>
                  <a:srgbClr val="000000"/>
                </a:solidFill>
                <a:effectLst/>
              </a:rPr>
              <a:t>Erroneous Medical Diagnoses:</a:t>
            </a:r>
            <a:r>
              <a:rPr lang="en-GB" b="0" i="0" u="none" strike="noStrike" dirty="0">
                <a:solidFill>
                  <a:srgbClr val="000000"/>
                </a:solidFill>
                <a:effectLst/>
              </a:rPr>
              <a:t> Medical AI providing an incorrect diagnosis that leads to patient harm can create ambiguity in determining who is accountable—the diagnosing physician, the AI developer, or the hospital.</a:t>
            </a:r>
          </a:p>
          <a:p>
            <a:pPr marL="342900" indent="-342900" algn="l">
              <a:buFont typeface="+mj-lt"/>
              <a:buAutoNum type="arabicPeriod"/>
            </a:pPr>
            <a:r>
              <a:rPr lang="en-GB" b="1" i="0" u="none" strike="noStrike" dirty="0">
                <a:solidFill>
                  <a:srgbClr val="000000"/>
                </a:solidFill>
                <a:effectLst/>
              </a:rPr>
              <a:t>Mitigation Strategies:</a:t>
            </a:r>
            <a:endParaRPr lang="en-GB" b="0" i="0" u="none" strike="noStrike" dirty="0">
              <a:solidFill>
                <a:srgbClr val="000000"/>
              </a:solidFill>
              <a:effectLst/>
            </a:endParaRPr>
          </a:p>
          <a:p>
            <a:pPr marL="800100" lvl="1" indent="-342900" algn="l">
              <a:buFont typeface="+mj-lt"/>
              <a:buAutoNum type="alphaLcPeriod"/>
            </a:pPr>
            <a:r>
              <a:rPr lang="en-GB" b="0" i="0" u="none" strike="noStrike" dirty="0">
                <a:solidFill>
                  <a:srgbClr val="000000"/>
                </a:solidFill>
                <a:effectLst/>
              </a:rPr>
              <a:t>Develop robust legal frameworks that clearly define responsibility for AI systems.</a:t>
            </a:r>
          </a:p>
          <a:p>
            <a:pPr marL="800100" lvl="1" indent="-342900" algn="l">
              <a:buFont typeface="+mj-lt"/>
              <a:buAutoNum type="alphaLcPeriod"/>
            </a:pPr>
            <a:r>
              <a:rPr lang="en-GB" b="0" i="0" u="none" strike="noStrike" dirty="0">
                <a:solidFill>
                  <a:srgbClr val="000000"/>
                </a:solidFill>
                <a:effectLst/>
              </a:rPr>
              <a:t>Establish comprehensive ethical guidelines and industry standards to address accountability at every stage of the AI lifecycle.</a:t>
            </a:r>
          </a:p>
          <a:p>
            <a:pPr marL="800100" lvl="1" indent="-342900" algn="l">
              <a:buFont typeface="+mj-lt"/>
              <a:buAutoNum type="alphaLcPeriod"/>
            </a:pPr>
            <a:r>
              <a:rPr lang="en-GB" b="0" i="0" u="none" strike="noStrike" dirty="0">
                <a:solidFill>
                  <a:srgbClr val="000000"/>
                </a:solidFill>
                <a:effectLst/>
              </a:rPr>
              <a:t>Ensure clear documentation and audit trails for AI decisions.</a:t>
            </a:r>
          </a:p>
          <a:p>
            <a:pPr marL="342900" indent="-342900" algn="l">
              <a:buFont typeface="+mj-lt"/>
              <a:buAutoNum type="arabicPeriod"/>
            </a:pPr>
            <a:endParaRPr lang="en-GB" sz="1500" b="0" i="0" u="none" strike="noStrike" dirty="0">
              <a:solidFill>
                <a:srgbClr val="000000"/>
              </a:solidFill>
              <a:effectLst/>
            </a:endParaRPr>
          </a:p>
        </p:txBody>
      </p:sp>
    </p:spTree>
    <p:extLst>
      <p:ext uri="{BB962C8B-B14F-4D97-AF65-F5344CB8AC3E}">
        <p14:creationId xmlns:p14="http://schemas.microsoft.com/office/powerpoint/2010/main" val="60768344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60">
          <a:extLst>
            <a:ext uri="{FF2B5EF4-FFF2-40B4-BE49-F238E27FC236}">
              <a16:creationId xmlns:a16="http://schemas.microsoft.com/office/drawing/2014/main" id="{2B89A358-4B3F-24A0-3665-15189AC5653F}"/>
            </a:ext>
          </a:extLst>
        </p:cNvPr>
        <p:cNvGrpSpPr/>
        <p:nvPr/>
      </p:nvGrpSpPr>
      <p:grpSpPr>
        <a:xfrm>
          <a:off x="0" y="0"/>
          <a:ext cx="0" cy="0"/>
          <a:chOff x="0" y="0"/>
          <a:chExt cx="0" cy="0"/>
        </a:xfrm>
      </p:grpSpPr>
      <p:sp>
        <p:nvSpPr>
          <p:cNvPr id="61" name="Google Shape;61;p4">
            <a:extLst>
              <a:ext uri="{FF2B5EF4-FFF2-40B4-BE49-F238E27FC236}">
                <a16:creationId xmlns:a16="http://schemas.microsoft.com/office/drawing/2014/main" id="{7C799722-D184-78EC-86F8-D59AE0F1F6E2}"/>
              </a:ext>
            </a:extLst>
          </p:cNvPr>
          <p:cNvSpPr txBox="1">
            <a:spLocks noGrp="1"/>
          </p:cNvSpPr>
          <p:nvPr>
            <p:ph type="title"/>
          </p:nvPr>
        </p:nvSpPr>
        <p:spPr>
          <a:xfrm>
            <a:off x="284775" y="0"/>
            <a:ext cx="8329650" cy="627900"/>
          </a:xfrm>
          <a:prstGeom prst="rect">
            <a:avLst/>
          </a:prstGeom>
          <a:noFill/>
          <a:ln>
            <a:noFill/>
          </a:ln>
        </p:spPr>
        <p:txBody>
          <a:bodyPr spcFirstLastPara="1" wrap="square" lIns="91425" tIns="91425" rIns="91425" bIns="91425" anchor="t" anchorCtr="0">
            <a:normAutofit fontScale="90000"/>
          </a:bodyPr>
          <a:lstStyle/>
          <a:p>
            <a:r>
              <a:rPr lang="en-GB" sz="2800" b="1" i="0" u="none" strike="noStrike" dirty="0">
                <a:solidFill>
                  <a:srgbClr val="7030A0"/>
                </a:solidFill>
                <a:effectLst/>
              </a:rPr>
              <a:t>Addressing Ethical Challenges in Deep Learning</a:t>
            </a:r>
            <a:br>
              <a:rPr lang="en-GB" sz="2800" b="1" i="0" u="none" strike="noStrike" dirty="0">
                <a:solidFill>
                  <a:srgbClr val="7030A0"/>
                </a:solidFill>
                <a:effectLst/>
              </a:rPr>
            </a:br>
            <a:br>
              <a:rPr lang="en-GB" sz="2800" b="1" i="0" u="none" strike="noStrike" dirty="0">
                <a:solidFill>
                  <a:srgbClr val="7030A0"/>
                </a:solidFill>
                <a:effectLst/>
              </a:rPr>
            </a:br>
            <a:br>
              <a:rPr lang="en-GB" sz="2800" b="1" i="0" u="none" strike="noStrike" dirty="0">
                <a:solidFill>
                  <a:srgbClr val="7030A0"/>
                </a:solidFill>
                <a:effectLst/>
              </a:rPr>
            </a:br>
            <a:br>
              <a:rPr lang="en-GB" sz="2800" b="1" i="0" u="none" strike="noStrike" dirty="0">
                <a:solidFill>
                  <a:srgbClr val="7030A0"/>
                </a:solidFill>
                <a:effectLst/>
              </a:rPr>
            </a:br>
            <a:br>
              <a:rPr lang="en-GB" sz="2800" b="1" i="0" u="none" strike="noStrike" dirty="0">
                <a:solidFill>
                  <a:srgbClr val="7030A0"/>
                </a:solidFill>
                <a:effectLst/>
              </a:rPr>
            </a:br>
            <a:endParaRPr lang="en-GB" sz="2800" b="1" i="0" u="none" strike="noStrike" dirty="0">
              <a:solidFill>
                <a:srgbClr val="7030A0"/>
              </a:solidFill>
              <a:effectLst/>
              <a:latin typeface="+mj-lt"/>
            </a:endParaRPr>
          </a:p>
        </p:txBody>
      </p:sp>
      <p:sp>
        <p:nvSpPr>
          <p:cNvPr id="4" name="AutoShape 2" descr="Optimized Python with Numba library">
            <a:extLst>
              <a:ext uri="{FF2B5EF4-FFF2-40B4-BE49-F238E27FC236}">
                <a16:creationId xmlns:a16="http://schemas.microsoft.com/office/drawing/2014/main" id="{8839B8F0-219C-B72C-C333-FA8BE40D0060}"/>
              </a:ext>
            </a:extLst>
          </p:cNvPr>
          <p:cNvSpPr>
            <a:spLocks noChangeAspect="1" noChangeArrowheads="1"/>
          </p:cNvSpPr>
          <p:nvPr/>
        </p:nvSpPr>
        <p:spPr bwMode="auto">
          <a:xfrm>
            <a:off x="2960866" y="1871317"/>
            <a:ext cx="3771900" cy="21590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 name="TextBox 2">
            <a:extLst>
              <a:ext uri="{FF2B5EF4-FFF2-40B4-BE49-F238E27FC236}">
                <a16:creationId xmlns:a16="http://schemas.microsoft.com/office/drawing/2014/main" id="{BB2EB174-13DD-076C-3A01-A6939B4DBC57}"/>
              </a:ext>
            </a:extLst>
          </p:cNvPr>
          <p:cNvSpPr txBox="1"/>
          <p:nvPr/>
        </p:nvSpPr>
        <p:spPr>
          <a:xfrm>
            <a:off x="130313" y="714889"/>
            <a:ext cx="8090266" cy="4031873"/>
          </a:xfrm>
          <a:prstGeom prst="rect">
            <a:avLst/>
          </a:prstGeom>
          <a:noFill/>
        </p:spPr>
        <p:txBody>
          <a:bodyPr wrap="square">
            <a:spAutoFit/>
          </a:bodyPr>
          <a:lstStyle/>
          <a:p>
            <a:pPr algn="l">
              <a:buNone/>
            </a:pPr>
            <a:r>
              <a:rPr lang="en-GB" sz="1600" b="0" i="0" u="none" strike="noStrike" dirty="0">
                <a:solidFill>
                  <a:srgbClr val="000000"/>
                </a:solidFill>
                <a:effectLst/>
              </a:rPr>
              <a:t>Tackling the ethical complexities of AI requires a multifaceted approach:</a:t>
            </a:r>
          </a:p>
          <a:p>
            <a:pPr marL="342900" indent="-342900" algn="l">
              <a:buFont typeface="+mj-lt"/>
              <a:buAutoNum type="arabicPeriod"/>
            </a:pPr>
            <a:r>
              <a:rPr lang="en-GB" sz="1600" b="1" i="0" u="none" strike="noStrike" dirty="0">
                <a:solidFill>
                  <a:srgbClr val="000000"/>
                </a:solidFill>
                <a:effectLst/>
              </a:rPr>
              <a:t>Implement Ethical Guidelines:</a:t>
            </a:r>
            <a:endParaRPr lang="en-GB" sz="1600" b="0" i="0" u="none" strike="noStrike" dirty="0">
              <a:solidFill>
                <a:srgbClr val="000000"/>
              </a:solidFill>
              <a:effectLst/>
            </a:endParaRPr>
          </a:p>
          <a:p>
            <a:pPr marL="800100" lvl="1" indent="-342900" algn="l">
              <a:buFont typeface="+mj-lt"/>
              <a:buAutoNum type="alphaLcPeriod"/>
            </a:pPr>
            <a:r>
              <a:rPr lang="en-GB" sz="1600" b="0" i="0" u="none" strike="noStrike" dirty="0">
                <a:solidFill>
                  <a:srgbClr val="000000"/>
                </a:solidFill>
                <a:effectLst/>
              </a:rPr>
              <a:t>Establish and enforce clear ethical standards for AI development and deployment.</a:t>
            </a:r>
          </a:p>
          <a:p>
            <a:pPr marL="800100" lvl="1" indent="-342900" algn="l">
              <a:buFont typeface="+mj-lt"/>
              <a:buAutoNum type="alphaLcPeriod"/>
            </a:pPr>
            <a:r>
              <a:rPr lang="en-GB" sz="1600" b="0" i="0" u="none" strike="noStrike" dirty="0">
                <a:solidFill>
                  <a:srgbClr val="000000"/>
                </a:solidFill>
                <a:effectLst/>
              </a:rPr>
              <a:t>Prioritize human dignity, privacy, and rights.</a:t>
            </a:r>
          </a:p>
          <a:p>
            <a:pPr marL="800100" lvl="1" indent="-342900" algn="l">
              <a:buFont typeface="+mj-lt"/>
              <a:buAutoNum type="alphaLcPeriod"/>
            </a:pPr>
            <a:r>
              <a:rPr lang="en-GB" sz="1600" b="0" i="0" u="none" strike="noStrike" dirty="0">
                <a:solidFill>
                  <a:srgbClr val="000000"/>
                </a:solidFill>
                <a:effectLst/>
              </a:rPr>
              <a:t>Examples: Mandate transparent data usage policies and impact assessments to evaluate AI's effects on diverse groups.</a:t>
            </a:r>
          </a:p>
          <a:p>
            <a:pPr marL="800100" lvl="1" indent="-342900" algn="l">
              <a:buFont typeface="+mj-lt"/>
              <a:buAutoNum type="alphaLcPeriod"/>
            </a:pPr>
            <a:r>
              <a:rPr lang="en-GB" sz="1600" b="1" i="0" u="none" strike="noStrike" dirty="0">
                <a:solidFill>
                  <a:srgbClr val="000000"/>
                </a:solidFill>
                <a:effectLst/>
              </a:rPr>
              <a:t>Goal:</a:t>
            </a:r>
            <a:r>
              <a:rPr lang="en-GB" sz="1600" b="0" i="0" u="none" strike="noStrike" dirty="0">
                <a:solidFill>
                  <a:srgbClr val="000000"/>
                </a:solidFill>
                <a:effectLst/>
              </a:rPr>
              <a:t> Ensure ethical compliance and build public trust.</a:t>
            </a:r>
          </a:p>
          <a:p>
            <a:pPr marL="342900" indent="-342900" algn="l">
              <a:buFont typeface="+mj-lt"/>
              <a:buAutoNum type="arabicPeriod"/>
            </a:pPr>
            <a:r>
              <a:rPr lang="en-GB" sz="1600" b="1" i="0" u="none" strike="noStrike" dirty="0">
                <a:solidFill>
                  <a:srgbClr val="000000"/>
                </a:solidFill>
                <a:effectLst/>
              </a:rPr>
              <a:t>Utilize Diverse and Inclusive Data Sets:</a:t>
            </a:r>
          </a:p>
          <a:p>
            <a:pPr marL="342900" lvl="4" indent="-342900">
              <a:buFont typeface="+mj-lt"/>
              <a:buAutoNum type="alphaLcPeriod"/>
            </a:pPr>
            <a:r>
              <a:rPr lang="en-GB" sz="1600" b="0" i="0" u="none" strike="noStrike" dirty="0">
                <a:solidFill>
                  <a:srgbClr val="000000"/>
                </a:solidFill>
                <a:effectLst/>
              </a:rPr>
              <a:t>Crucial for combating inherent biases in AI models.</a:t>
            </a:r>
          </a:p>
          <a:p>
            <a:pPr marL="342900" lvl="4" indent="-342900">
              <a:buFont typeface="+mj-lt"/>
              <a:buAutoNum type="alphaLcPeriod"/>
            </a:pPr>
            <a:r>
              <a:rPr lang="en-GB" sz="1600" b="0" i="0" u="none" strike="noStrike" dirty="0">
                <a:solidFill>
                  <a:srgbClr val="000000"/>
                </a:solidFill>
                <a:effectLst/>
              </a:rPr>
              <a:t>Involves training models on data representative of various populations (e.g., diverse ethnicities, genders, ages).</a:t>
            </a:r>
          </a:p>
          <a:p>
            <a:pPr marL="342900" lvl="4" indent="-342900">
              <a:buFont typeface="+mj-lt"/>
              <a:buAutoNum type="alphaLcPeriod"/>
            </a:pPr>
            <a:r>
              <a:rPr lang="en-GB" sz="1600" b="0" i="0" u="none" strike="noStrike" dirty="0">
                <a:solidFill>
                  <a:srgbClr val="000000"/>
                </a:solidFill>
                <a:effectLst/>
              </a:rPr>
              <a:t>Benefit: Enables AI models to accurately reflect and serve a wider range of needs, promoting equitable outcomes (e.g., diagnostic tools effective across different racial groups in healthcare).</a:t>
            </a:r>
          </a:p>
          <a:p>
            <a:pPr marL="342900" indent="-342900" algn="l">
              <a:buFont typeface="+mj-lt"/>
              <a:buAutoNum type="arabicPeriod"/>
            </a:pPr>
            <a:endParaRPr lang="en-GB" sz="1600" b="0" i="0" u="none" strike="noStrike" dirty="0">
              <a:solidFill>
                <a:srgbClr val="000000"/>
              </a:solidFill>
              <a:effectLst/>
            </a:endParaRPr>
          </a:p>
        </p:txBody>
      </p:sp>
    </p:spTree>
    <p:extLst>
      <p:ext uri="{BB962C8B-B14F-4D97-AF65-F5344CB8AC3E}">
        <p14:creationId xmlns:p14="http://schemas.microsoft.com/office/powerpoint/2010/main" val="372735824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60">
          <a:extLst>
            <a:ext uri="{FF2B5EF4-FFF2-40B4-BE49-F238E27FC236}">
              <a16:creationId xmlns:a16="http://schemas.microsoft.com/office/drawing/2014/main" id="{DDB0EDE5-5628-4E72-856F-F79BCA84E8F0}"/>
            </a:ext>
          </a:extLst>
        </p:cNvPr>
        <p:cNvGrpSpPr/>
        <p:nvPr/>
      </p:nvGrpSpPr>
      <p:grpSpPr>
        <a:xfrm>
          <a:off x="0" y="0"/>
          <a:ext cx="0" cy="0"/>
          <a:chOff x="0" y="0"/>
          <a:chExt cx="0" cy="0"/>
        </a:xfrm>
      </p:grpSpPr>
      <p:sp>
        <p:nvSpPr>
          <p:cNvPr id="61" name="Google Shape;61;p4">
            <a:extLst>
              <a:ext uri="{FF2B5EF4-FFF2-40B4-BE49-F238E27FC236}">
                <a16:creationId xmlns:a16="http://schemas.microsoft.com/office/drawing/2014/main" id="{16353383-4DFE-D7F6-0C3F-CE8E6EE0F3AF}"/>
              </a:ext>
            </a:extLst>
          </p:cNvPr>
          <p:cNvSpPr txBox="1">
            <a:spLocks noGrp="1"/>
          </p:cNvSpPr>
          <p:nvPr>
            <p:ph type="title"/>
          </p:nvPr>
        </p:nvSpPr>
        <p:spPr>
          <a:xfrm>
            <a:off x="284775" y="0"/>
            <a:ext cx="8329650" cy="627900"/>
          </a:xfrm>
          <a:prstGeom prst="rect">
            <a:avLst/>
          </a:prstGeom>
          <a:noFill/>
          <a:ln>
            <a:noFill/>
          </a:ln>
        </p:spPr>
        <p:txBody>
          <a:bodyPr spcFirstLastPara="1" wrap="square" lIns="91425" tIns="91425" rIns="91425" bIns="91425" anchor="t" anchorCtr="0">
            <a:normAutofit fontScale="90000"/>
          </a:bodyPr>
          <a:lstStyle/>
          <a:p>
            <a:r>
              <a:rPr lang="en-GB" sz="2800" b="1" i="0" u="none" strike="noStrike" dirty="0">
                <a:solidFill>
                  <a:srgbClr val="7030A0"/>
                </a:solidFill>
                <a:effectLst/>
              </a:rPr>
              <a:t>Addressing Ethical Challenges in Deep Learning</a:t>
            </a:r>
            <a:br>
              <a:rPr lang="en-GB" sz="2800" b="1" i="0" u="none" strike="noStrike" dirty="0">
                <a:solidFill>
                  <a:srgbClr val="7030A0"/>
                </a:solidFill>
                <a:effectLst/>
              </a:rPr>
            </a:br>
            <a:br>
              <a:rPr lang="en-GB" sz="2800" b="1" i="0" u="none" strike="noStrike" dirty="0">
                <a:solidFill>
                  <a:srgbClr val="7030A0"/>
                </a:solidFill>
                <a:effectLst/>
              </a:rPr>
            </a:br>
            <a:br>
              <a:rPr lang="en-GB" sz="2800" b="1" i="0" u="none" strike="noStrike" dirty="0">
                <a:solidFill>
                  <a:srgbClr val="7030A0"/>
                </a:solidFill>
                <a:effectLst/>
              </a:rPr>
            </a:br>
            <a:br>
              <a:rPr lang="en-GB" sz="2800" b="1" i="0" u="none" strike="noStrike" dirty="0">
                <a:solidFill>
                  <a:srgbClr val="7030A0"/>
                </a:solidFill>
                <a:effectLst/>
              </a:rPr>
            </a:br>
            <a:br>
              <a:rPr lang="en-GB" sz="2800" b="1" i="0" u="none" strike="noStrike" dirty="0">
                <a:solidFill>
                  <a:srgbClr val="7030A0"/>
                </a:solidFill>
                <a:effectLst/>
              </a:rPr>
            </a:br>
            <a:endParaRPr lang="en-GB" sz="2800" b="1" i="0" u="none" strike="noStrike" dirty="0">
              <a:solidFill>
                <a:srgbClr val="7030A0"/>
              </a:solidFill>
              <a:effectLst/>
              <a:latin typeface="+mj-lt"/>
            </a:endParaRPr>
          </a:p>
        </p:txBody>
      </p:sp>
      <p:sp>
        <p:nvSpPr>
          <p:cNvPr id="4" name="AutoShape 2" descr="Optimized Python with Numba library">
            <a:extLst>
              <a:ext uri="{FF2B5EF4-FFF2-40B4-BE49-F238E27FC236}">
                <a16:creationId xmlns:a16="http://schemas.microsoft.com/office/drawing/2014/main" id="{A1754A7E-F621-8DB4-4052-93B07ADC519B}"/>
              </a:ext>
            </a:extLst>
          </p:cNvPr>
          <p:cNvSpPr>
            <a:spLocks noChangeAspect="1" noChangeArrowheads="1"/>
          </p:cNvSpPr>
          <p:nvPr/>
        </p:nvSpPr>
        <p:spPr bwMode="auto">
          <a:xfrm>
            <a:off x="2960866" y="1871317"/>
            <a:ext cx="3771900" cy="21590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 name="TextBox 2">
            <a:extLst>
              <a:ext uri="{FF2B5EF4-FFF2-40B4-BE49-F238E27FC236}">
                <a16:creationId xmlns:a16="http://schemas.microsoft.com/office/drawing/2014/main" id="{1D1B1397-265E-E44D-4C3E-307904C061BB}"/>
              </a:ext>
            </a:extLst>
          </p:cNvPr>
          <p:cNvSpPr txBox="1"/>
          <p:nvPr/>
        </p:nvSpPr>
        <p:spPr>
          <a:xfrm>
            <a:off x="284775" y="627900"/>
            <a:ext cx="8090266" cy="3539430"/>
          </a:xfrm>
          <a:prstGeom prst="rect">
            <a:avLst/>
          </a:prstGeom>
          <a:noFill/>
        </p:spPr>
        <p:txBody>
          <a:bodyPr wrap="square">
            <a:spAutoFit/>
          </a:bodyPr>
          <a:lstStyle/>
          <a:p>
            <a:pPr marL="342900" indent="-342900">
              <a:buFont typeface="+mj-lt"/>
              <a:buAutoNum type="arabicPeriod" startAt="3"/>
            </a:pPr>
            <a:r>
              <a:rPr lang="en-GB" sz="1600" b="1" dirty="0"/>
              <a:t>Continuous Monitoring and Auditing:</a:t>
            </a:r>
            <a:endParaRPr lang="en-GB" sz="1600" dirty="0"/>
          </a:p>
          <a:p>
            <a:pPr marL="342900" indent="-342900">
              <a:buFont typeface="+mj-lt"/>
              <a:buAutoNum type="alphaLcPeriod"/>
            </a:pPr>
            <a:r>
              <a:rPr lang="en-GB" sz="1600" dirty="0"/>
              <a:t>Essential for maintaining ethical AI systems throughout their lifecycle.</a:t>
            </a:r>
          </a:p>
          <a:p>
            <a:pPr marL="342900" indent="-342900">
              <a:buFont typeface="+mj-lt"/>
              <a:buAutoNum type="alphaLcPeriod"/>
            </a:pPr>
            <a:r>
              <a:rPr lang="en-GB" sz="1600" dirty="0"/>
              <a:t>Involves regular review of AI algorithms and their outputs for biases, errors, or unethical </a:t>
            </a:r>
            <a:r>
              <a:rPr lang="en-GB" sz="1600" dirty="0" err="1"/>
              <a:t>behaviors</a:t>
            </a:r>
            <a:r>
              <a:rPr lang="en-GB" sz="1600" dirty="0"/>
              <a:t> (e.g., discriminatory decisions, privacy breaches).</a:t>
            </a:r>
          </a:p>
          <a:p>
            <a:pPr marL="342900" indent="-342900">
              <a:buFont typeface="+mj-lt"/>
              <a:buAutoNum type="alphaLcPeriod"/>
            </a:pPr>
            <a:r>
              <a:rPr lang="en-GB" sz="1600" b="1" dirty="0"/>
              <a:t>Requirement:</a:t>
            </a:r>
            <a:r>
              <a:rPr lang="en-GB" sz="1600" dirty="0"/>
              <a:t> Must be coupled with mechanisms for accountability and prompt rectification of identified issues.</a:t>
            </a:r>
          </a:p>
          <a:p>
            <a:endParaRPr lang="en-GB" sz="1600" dirty="0"/>
          </a:p>
          <a:p>
            <a:pPr marL="342900" indent="-342900">
              <a:buFont typeface="+mj-lt"/>
              <a:buAutoNum type="arabicPeriod" startAt="4"/>
            </a:pPr>
            <a:r>
              <a:rPr lang="en-GB" sz="1600" b="1" dirty="0"/>
              <a:t>Foster Collaboration Between Stakeholders:</a:t>
            </a:r>
            <a:endParaRPr lang="en-GB" sz="1600" dirty="0"/>
          </a:p>
          <a:p>
            <a:pPr marL="342900" indent="-342900">
              <a:buFont typeface="+mj-lt"/>
              <a:buAutoNum type="alphaLcPeriod"/>
            </a:pPr>
            <a:r>
              <a:rPr lang="en-GB" sz="1600" dirty="0"/>
              <a:t>Addressing ethical concerns necessitates a collaborative approach.</a:t>
            </a:r>
          </a:p>
          <a:p>
            <a:pPr marL="342900" indent="-342900">
              <a:buFont typeface="+mj-lt"/>
              <a:buAutoNum type="alphaLcPeriod"/>
            </a:pPr>
            <a:r>
              <a:rPr lang="en-GB" sz="1600" dirty="0"/>
              <a:t>Bring together diverse groups: AI developers, ethicists, legal experts, policymakers, and end-users.</a:t>
            </a:r>
          </a:p>
          <a:p>
            <a:pPr marL="342900" indent="-342900">
              <a:buFont typeface="+mj-lt"/>
              <a:buAutoNum type="alphaLcPeriod"/>
            </a:pPr>
            <a:r>
              <a:rPr lang="en-GB" sz="1600" b="1" dirty="0"/>
              <a:t>Outcome:</a:t>
            </a:r>
            <a:r>
              <a:rPr lang="en-GB" sz="1600" dirty="0"/>
              <a:t> Leads to the development of more balanced, fair, and responsible AI systems that consider various perspectives.</a:t>
            </a:r>
          </a:p>
          <a:p>
            <a:pPr marL="342900" indent="-342900" algn="l">
              <a:buFont typeface="+mj-lt"/>
              <a:buAutoNum type="arabicPeriod"/>
            </a:pPr>
            <a:endParaRPr lang="en-GB" sz="1600" b="0" i="0" u="none" strike="noStrike" dirty="0">
              <a:solidFill>
                <a:srgbClr val="000000"/>
              </a:solidFill>
              <a:effectLst/>
            </a:endParaRPr>
          </a:p>
        </p:txBody>
      </p:sp>
    </p:spTree>
    <p:extLst>
      <p:ext uri="{BB962C8B-B14F-4D97-AF65-F5344CB8AC3E}">
        <p14:creationId xmlns:p14="http://schemas.microsoft.com/office/powerpoint/2010/main" val="108710547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60">
          <a:extLst>
            <a:ext uri="{FF2B5EF4-FFF2-40B4-BE49-F238E27FC236}">
              <a16:creationId xmlns:a16="http://schemas.microsoft.com/office/drawing/2014/main" id="{4DC683EC-0C20-214F-17B4-BFBA8C5F0692}"/>
            </a:ext>
          </a:extLst>
        </p:cNvPr>
        <p:cNvGrpSpPr/>
        <p:nvPr/>
      </p:nvGrpSpPr>
      <p:grpSpPr>
        <a:xfrm>
          <a:off x="0" y="0"/>
          <a:ext cx="0" cy="0"/>
          <a:chOff x="0" y="0"/>
          <a:chExt cx="0" cy="0"/>
        </a:xfrm>
      </p:grpSpPr>
      <p:sp>
        <p:nvSpPr>
          <p:cNvPr id="61" name="Google Shape;61;p4">
            <a:extLst>
              <a:ext uri="{FF2B5EF4-FFF2-40B4-BE49-F238E27FC236}">
                <a16:creationId xmlns:a16="http://schemas.microsoft.com/office/drawing/2014/main" id="{8F202D72-C2C7-4848-00A3-7C16857C9791}"/>
              </a:ext>
            </a:extLst>
          </p:cNvPr>
          <p:cNvSpPr txBox="1">
            <a:spLocks noGrp="1"/>
          </p:cNvSpPr>
          <p:nvPr>
            <p:ph type="title"/>
          </p:nvPr>
        </p:nvSpPr>
        <p:spPr>
          <a:xfrm>
            <a:off x="284775" y="0"/>
            <a:ext cx="8329650" cy="627900"/>
          </a:xfrm>
          <a:prstGeom prst="rect">
            <a:avLst/>
          </a:prstGeom>
          <a:noFill/>
          <a:ln>
            <a:noFill/>
          </a:ln>
        </p:spPr>
        <p:txBody>
          <a:bodyPr spcFirstLastPara="1" wrap="square" lIns="91425" tIns="91425" rIns="91425" bIns="91425" anchor="t" anchorCtr="0">
            <a:normAutofit fontScale="90000"/>
          </a:bodyPr>
          <a:lstStyle/>
          <a:p>
            <a:r>
              <a:rPr lang="en-GB" sz="2800" b="1" i="0" u="none" strike="noStrike" dirty="0">
                <a:solidFill>
                  <a:srgbClr val="7030A0"/>
                </a:solidFill>
                <a:effectLst/>
              </a:rPr>
              <a:t>Addressing Ethical Challenges in Deep Learning</a:t>
            </a:r>
            <a:br>
              <a:rPr lang="en-GB" sz="2800" b="1" i="0" u="none" strike="noStrike" dirty="0">
                <a:solidFill>
                  <a:srgbClr val="7030A0"/>
                </a:solidFill>
                <a:effectLst/>
              </a:rPr>
            </a:br>
            <a:br>
              <a:rPr lang="en-GB" sz="2800" b="1" i="0" u="none" strike="noStrike" dirty="0">
                <a:solidFill>
                  <a:srgbClr val="7030A0"/>
                </a:solidFill>
                <a:effectLst/>
              </a:rPr>
            </a:br>
            <a:br>
              <a:rPr lang="en-GB" sz="2800" b="1" i="0" u="none" strike="noStrike" dirty="0">
                <a:solidFill>
                  <a:srgbClr val="7030A0"/>
                </a:solidFill>
                <a:effectLst/>
              </a:rPr>
            </a:br>
            <a:br>
              <a:rPr lang="en-GB" sz="2800" b="1" i="0" u="none" strike="noStrike" dirty="0">
                <a:solidFill>
                  <a:srgbClr val="7030A0"/>
                </a:solidFill>
                <a:effectLst/>
              </a:rPr>
            </a:br>
            <a:br>
              <a:rPr lang="en-GB" sz="2800" b="1" i="0" u="none" strike="noStrike" dirty="0">
                <a:solidFill>
                  <a:srgbClr val="7030A0"/>
                </a:solidFill>
                <a:effectLst/>
              </a:rPr>
            </a:br>
            <a:endParaRPr lang="en-GB" sz="2800" b="1" i="0" u="none" strike="noStrike" dirty="0">
              <a:solidFill>
                <a:srgbClr val="7030A0"/>
              </a:solidFill>
              <a:effectLst/>
              <a:latin typeface="+mj-lt"/>
            </a:endParaRPr>
          </a:p>
        </p:txBody>
      </p:sp>
      <p:sp>
        <p:nvSpPr>
          <p:cNvPr id="4" name="AutoShape 2" descr="Optimized Python with Numba library">
            <a:extLst>
              <a:ext uri="{FF2B5EF4-FFF2-40B4-BE49-F238E27FC236}">
                <a16:creationId xmlns:a16="http://schemas.microsoft.com/office/drawing/2014/main" id="{BD3BE800-AC4E-3143-23C1-A0A41BC8E110}"/>
              </a:ext>
            </a:extLst>
          </p:cNvPr>
          <p:cNvSpPr>
            <a:spLocks noChangeAspect="1" noChangeArrowheads="1"/>
          </p:cNvSpPr>
          <p:nvPr/>
        </p:nvSpPr>
        <p:spPr bwMode="auto">
          <a:xfrm>
            <a:off x="2960866" y="1871317"/>
            <a:ext cx="3771900" cy="21590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 name="TextBox 2">
            <a:extLst>
              <a:ext uri="{FF2B5EF4-FFF2-40B4-BE49-F238E27FC236}">
                <a16:creationId xmlns:a16="http://schemas.microsoft.com/office/drawing/2014/main" id="{C0D4A469-D1C2-2998-B20E-59394F4648EF}"/>
              </a:ext>
            </a:extLst>
          </p:cNvPr>
          <p:cNvSpPr txBox="1"/>
          <p:nvPr/>
        </p:nvSpPr>
        <p:spPr>
          <a:xfrm>
            <a:off x="284775" y="627900"/>
            <a:ext cx="4163854" cy="3293209"/>
          </a:xfrm>
          <a:prstGeom prst="rect">
            <a:avLst/>
          </a:prstGeom>
          <a:noFill/>
        </p:spPr>
        <p:txBody>
          <a:bodyPr wrap="square">
            <a:spAutoFit/>
          </a:bodyPr>
          <a:lstStyle/>
          <a:p>
            <a:pPr marL="457200" indent="-457200" algn="l">
              <a:buFont typeface="+mj-lt"/>
              <a:buAutoNum type="arabicPeriod" startAt="5"/>
            </a:pPr>
            <a:r>
              <a:rPr lang="en-GB" sz="1600" b="1" i="0" u="none" strike="noStrike" dirty="0">
                <a:solidFill>
                  <a:srgbClr val="000000"/>
                </a:solidFill>
                <a:effectLst/>
              </a:rPr>
              <a:t>Promote Education and Awareness:</a:t>
            </a:r>
            <a:endParaRPr lang="en-GB" sz="1600" b="0" i="0" u="none" strike="noStrike" dirty="0">
              <a:solidFill>
                <a:srgbClr val="000000"/>
              </a:solidFill>
              <a:effectLst/>
            </a:endParaRPr>
          </a:p>
          <a:p>
            <a:pPr marL="457200" indent="-457200" algn="l">
              <a:buFont typeface="+mj-lt"/>
              <a:buAutoNum type="alphaLcPeriod"/>
            </a:pPr>
            <a:r>
              <a:rPr lang="en-GB" sz="1600" b="0" i="0" u="none" strike="noStrike" dirty="0">
                <a:solidFill>
                  <a:srgbClr val="000000"/>
                </a:solidFill>
                <a:effectLst/>
              </a:rPr>
              <a:t>Crucial for building a shared understanding of AI's ethical aspects.</a:t>
            </a:r>
          </a:p>
          <a:p>
            <a:pPr marL="457200" indent="-457200" algn="l">
              <a:buFont typeface="+mj-lt"/>
              <a:buAutoNum type="alphaLcPeriod"/>
            </a:pPr>
            <a:r>
              <a:rPr lang="en-GB" sz="1600" b="0" i="0" u="none" strike="noStrike" dirty="0">
                <a:solidFill>
                  <a:srgbClr val="000000"/>
                </a:solidFill>
                <a:effectLst/>
              </a:rPr>
              <a:t>Includes training developers in ethical AI design, informing users about AI decision-making, and educating policymakers on AI implications.</a:t>
            </a:r>
          </a:p>
          <a:p>
            <a:pPr marL="457200" indent="-457200" algn="l">
              <a:buFont typeface="+mj-lt"/>
              <a:buAutoNum type="alphaLcPeriod"/>
            </a:pPr>
            <a:r>
              <a:rPr lang="en-GB" sz="1600" b="1" i="0" u="none" strike="noStrike" dirty="0">
                <a:solidFill>
                  <a:srgbClr val="000000"/>
                </a:solidFill>
                <a:effectLst/>
              </a:rPr>
              <a:t>Goal:</a:t>
            </a:r>
            <a:r>
              <a:rPr lang="en-GB" sz="1600" b="0" i="0" u="none" strike="noStrike" dirty="0">
                <a:solidFill>
                  <a:srgbClr val="000000"/>
                </a:solidFill>
                <a:effectLst/>
              </a:rPr>
              <a:t> Demystify AI, correct misconceptions, encourage informed discussions, and cultivate future responsible AI practitioners by embedding ethics in curricula.</a:t>
            </a:r>
          </a:p>
          <a:p>
            <a:pPr marL="342900" indent="-342900" algn="l">
              <a:buFont typeface="+mj-lt"/>
              <a:buAutoNum type="arabicPeriod"/>
            </a:pPr>
            <a:endParaRPr lang="en-GB" sz="1600" b="0" i="0" u="none" strike="noStrike" dirty="0">
              <a:solidFill>
                <a:srgbClr val="000000"/>
              </a:solidFill>
              <a:effectLst/>
            </a:endParaRPr>
          </a:p>
        </p:txBody>
      </p:sp>
      <p:pic>
        <p:nvPicPr>
          <p:cNvPr id="19458" name="Picture 2" descr="Top Ethical Issues with AI and Machine ...">
            <a:extLst>
              <a:ext uri="{FF2B5EF4-FFF2-40B4-BE49-F238E27FC236}">
                <a16:creationId xmlns:a16="http://schemas.microsoft.com/office/drawing/2014/main" id="{4F6DA7DA-4A61-BAC9-7CF8-CFE1624DBED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842279" y="1303564"/>
            <a:ext cx="4078869" cy="304346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6463697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60">
          <a:extLst>
            <a:ext uri="{FF2B5EF4-FFF2-40B4-BE49-F238E27FC236}">
              <a16:creationId xmlns:a16="http://schemas.microsoft.com/office/drawing/2014/main" id="{0EA33F79-4091-C0FB-75BF-20A35C5E3849}"/>
            </a:ext>
          </a:extLst>
        </p:cNvPr>
        <p:cNvGrpSpPr/>
        <p:nvPr/>
      </p:nvGrpSpPr>
      <p:grpSpPr>
        <a:xfrm>
          <a:off x="0" y="0"/>
          <a:ext cx="0" cy="0"/>
          <a:chOff x="0" y="0"/>
          <a:chExt cx="0" cy="0"/>
        </a:xfrm>
      </p:grpSpPr>
      <p:sp>
        <p:nvSpPr>
          <p:cNvPr id="61" name="Google Shape;61;p4">
            <a:extLst>
              <a:ext uri="{FF2B5EF4-FFF2-40B4-BE49-F238E27FC236}">
                <a16:creationId xmlns:a16="http://schemas.microsoft.com/office/drawing/2014/main" id="{FEF14E53-6149-3C16-FAD8-5667A7B3552E}"/>
              </a:ext>
            </a:extLst>
          </p:cNvPr>
          <p:cNvSpPr txBox="1">
            <a:spLocks noGrp="1"/>
          </p:cNvSpPr>
          <p:nvPr>
            <p:ph type="title"/>
          </p:nvPr>
        </p:nvSpPr>
        <p:spPr>
          <a:xfrm>
            <a:off x="284775" y="0"/>
            <a:ext cx="8329650" cy="627900"/>
          </a:xfrm>
          <a:prstGeom prst="rect">
            <a:avLst/>
          </a:prstGeom>
          <a:noFill/>
          <a:ln>
            <a:noFill/>
          </a:ln>
        </p:spPr>
        <p:txBody>
          <a:bodyPr spcFirstLastPara="1" wrap="square" lIns="91425" tIns="91425" rIns="91425" bIns="91425" anchor="t" anchorCtr="0">
            <a:normAutofit fontScale="90000"/>
          </a:bodyPr>
          <a:lstStyle/>
          <a:p>
            <a:r>
              <a:rPr lang="en-GB" sz="3100" b="1" i="0" u="none" strike="noStrike" dirty="0">
                <a:solidFill>
                  <a:srgbClr val="7030A0"/>
                </a:solidFill>
                <a:effectLst/>
              </a:rPr>
              <a:t>Disparate Impact Ratio (DIR)</a:t>
            </a:r>
            <a:r>
              <a:rPr lang="en-GB" sz="3100" b="0" i="0" u="none" strike="noStrike" dirty="0">
                <a:solidFill>
                  <a:srgbClr val="7030A0"/>
                </a:solidFill>
                <a:effectLst/>
              </a:rPr>
              <a:t> </a:t>
            </a:r>
            <a:br>
              <a:rPr lang="en-GB" sz="2800" b="1" i="0" u="none" strike="noStrike" dirty="0">
                <a:solidFill>
                  <a:srgbClr val="7030A0"/>
                </a:solidFill>
                <a:effectLst/>
              </a:rPr>
            </a:br>
            <a:br>
              <a:rPr lang="en-GB" sz="2800" b="1" i="0" u="none" strike="noStrike" dirty="0">
                <a:solidFill>
                  <a:srgbClr val="7030A0"/>
                </a:solidFill>
                <a:effectLst/>
              </a:rPr>
            </a:br>
            <a:br>
              <a:rPr lang="en-GB" sz="2800" b="1" i="0" u="none" strike="noStrike" dirty="0">
                <a:solidFill>
                  <a:srgbClr val="7030A0"/>
                </a:solidFill>
                <a:effectLst/>
              </a:rPr>
            </a:br>
            <a:br>
              <a:rPr lang="en-GB" sz="2800" b="1" i="0" u="none" strike="noStrike" dirty="0">
                <a:solidFill>
                  <a:srgbClr val="7030A0"/>
                </a:solidFill>
                <a:effectLst/>
              </a:rPr>
            </a:br>
            <a:br>
              <a:rPr lang="en-GB" sz="2800" b="1" i="0" u="none" strike="noStrike" dirty="0">
                <a:solidFill>
                  <a:srgbClr val="7030A0"/>
                </a:solidFill>
                <a:effectLst/>
              </a:rPr>
            </a:br>
            <a:endParaRPr lang="en-GB" sz="2800" b="1" i="0" u="none" strike="noStrike" dirty="0">
              <a:solidFill>
                <a:srgbClr val="7030A0"/>
              </a:solidFill>
              <a:effectLst/>
              <a:latin typeface="+mj-lt"/>
            </a:endParaRPr>
          </a:p>
        </p:txBody>
      </p:sp>
      <p:sp>
        <p:nvSpPr>
          <p:cNvPr id="4" name="AutoShape 2" descr="Optimized Python with Numba library">
            <a:extLst>
              <a:ext uri="{FF2B5EF4-FFF2-40B4-BE49-F238E27FC236}">
                <a16:creationId xmlns:a16="http://schemas.microsoft.com/office/drawing/2014/main" id="{52A05D28-5C51-79BF-3A5D-48A2EC86B56D}"/>
              </a:ext>
            </a:extLst>
          </p:cNvPr>
          <p:cNvSpPr>
            <a:spLocks noChangeAspect="1" noChangeArrowheads="1"/>
          </p:cNvSpPr>
          <p:nvPr/>
        </p:nvSpPr>
        <p:spPr bwMode="auto">
          <a:xfrm>
            <a:off x="2960866" y="1871317"/>
            <a:ext cx="3771900" cy="21590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 name="TextBox 2">
            <a:extLst>
              <a:ext uri="{FF2B5EF4-FFF2-40B4-BE49-F238E27FC236}">
                <a16:creationId xmlns:a16="http://schemas.microsoft.com/office/drawing/2014/main" id="{F65FA287-17B5-D39D-02B6-AAE43DAFA7C7}"/>
              </a:ext>
            </a:extLst>
          </p:cNvPr>
          <p:cNvSpPr txBox="1"/>
          <p:nvPr/>
        </p:nvSpPr>
        <p:spPr>
          <a:xfrm>
            <a:off x="79829" y="558800"/>
            <a:ext cx="9274629" cy="4647426"/>
          </a:xfrm>
          <a:prstGeom prst="rect">
            <a:avLst/>
          </a:prstGeom>
          <a:noFill/>
        </p:spPr>
        <p:txBody>
          <a:bodyPr wrap="square">
            <a:spAutoFit/>
          </a:bodyPr>
          <a:lstStyle/>
          <a:p>
            <a:pPr algn="l">
              <a:buNone/>
            </a:pPr>
            <a:r>
              <a:rPr lang="en-GB" b="0" i="0" u="none" strike="noStrike" dirty="0">
                <a:solidFill>
                  <a:srgbClr val="000000"/>
                </a:solidFill>
                <a:effectLst/>
              </a:rPr>
              <a:t>The </a:t>
            </a:r>
            <a:r>
              <a:rPr lang="en-GB" b="1" i="0" u="none" strike="noStrike" dirty="0">
                <a:solidFill>
                  <a:srgbClr val="000000"/>
                </a:solidFill>
                <a:effectLst/>
              </a:rPr>
              <a:t>Disparate Impact Ratio (DIR)</a:t>
            </a:r>
            <a:r>
              <a:rPr lang="en-GB" b="0" i="0" u="none" strike="noStrike" dirty="0">
                <a:solidFill>
                  <a:srgbClr val="000000"/>
                </a:solidFill>
                <a:effectLst/>
              </a:rPr>
              <a:t> is a widely used metric in the field of fairness in Artificial</a:t>
            </a:r>
          </a:p>
          <a:p>
            <a:pPr algn="l">
              <a:buNone/>
            </a:pPr>
            <a:r>
              <a:rPr lang="en-GB" b="0" i="0" u="none" strike="noStrike" dirty="0">
                <a:solidFill>
                  <a:srgbClr val="000000"/>
                </a:solidFill>
                <a:effectLst/>
              </a:rPr>
              <a:t> Intelligence (AI) and beyond (e.g., in legal contexts related to employment discrimination). It helps to </a:t>
            </a:r>
          </a:p>
          <a:p>
            <a:pPr algn="l">
              <a:buNone/>
            </a:pPr>
            <a:r>
              <a:rPr lang="en-GB" b="0" i="0" u="none" strike="noStrike" dirty="0">
                <a:solidFill>
                  <a:srgbClr val="000000"/>
                </a:solidFill>
                <a:effectLst/>
              </a:rPr>
              <a:t>quantify whether an AI system (or any decision-making process) has a disproportionately negative impact on a specific unprivileged group compared to a privileged group.</a:t>
            </a:r>
          </a:p>
          <a:p>
            <a:pPr algn="l">
              <a:buNone/>
            </a:pPr>
            <a:r>
              <a:rPr lang="en-GB" b="0" i="0" u="none" strike="noStrike" dirty="0">
                <a:solidFill>
                  <a:srgbClr val="000000"/>
                </a:solidFill>
                <a:effectLst/>
              </a:rPr>
              <a:t>Here's a breakdown:</a:t>
            </a:r>
          </a:p>
          <a:p>
            <a:pPr algn="l">
              <a:buNone/>
            </a:pPr>
            <a:r>
              <a:rPr lang="en-GB" b="1" i="0" u="none" strike="noStrike" dirty="0">
                <a:solidFill>
                  <a:srgbClr val="000000"/>
                </a:solidFill>
                <a:effectLst/>
              </a:rPr>
              <a:t>Disparate Impact Ratio (DIR)</a:t>
            </a:r>
          </a:p>
          <a:p>
            <a:pPr marL="342900" indent="-342900" algn="l">
              <a:buAutoNum type="arabicPeriod"/>
            </a:pPr>
            <a:r>
              <a:rPr lang="en-GB" b="1" i="0" u="none" strike="noStrike" dirty="0">
                <a:solidFill>
                  <a:srgbClr val="000000"/>
                </a:solidFill>
                <a:effectLst/>
              </a:rPr>
              <a:t>Definition:</a:t>
            </a:r>
            <a:r>
              <a:rPr lang="en-GB" b="0" i="0" u="none" strike="noStrike" dirty="0">
                <a:solidFill>
                  <a:srgbClr val="000000"/>
                </a:solidFill>
                <a:effectLst/>
              </a:rPr>
              <a:t> The Disparate Impact Ratio compares the </a:t>
            </a:r>
            <a:r>
              <a:rPr lang="en-GB" b="0" i="0" u="none" strike="noStrike" dirty="0" err="1">
                <a:solidFill>
                  <a:srgbClr val="000000"/>
                </a:solidFill>
                <a:effectLst/>
              </a:rPr>
              <a:t>favorable</a:t>
            </a:r>
            <a:r>
              <a:rPr lang="en-GB" b="0" i="0" u="none" strike="noStrike" dirty="0">
                <a:solidFill>
                  <a:srgbClr val="000000"/>
                </a:solidFill>
                <a:effectLst/>
              </a:rPr>
              <a:t> outcome rate for an </a:t>
            </a:r>
            <a:r>
              <a:rPr lang="en-GB" b="1" i="0" u="none" strike="noStrike" dirty="0">
                <a:solidFill>
                  <a:srgbClr val="000000"/>
                </a:solidFill>
                <a:effectLst/>
              </a:rPr>
              <a:t>unprivileged </a:t>
            </a:r>
          </a:p>
          <a:p>
            <a:pPr algn="l"/>
            <a:r>
              <a:rPr lang="en-GB" b="1" i="0" u="none" strike="noStrike" dirty="0">
                <a:solidFill>
                  <a:srgbClr val="000000"/>
                </a:solidFill>
                <a:effectLst/>
              </a:rPr>
              <a:t>(or protected) group</a:t>
            </a:r>
            <a:r>
              <a:rPr lang="en-GB" b="0" i="0" u="none" strike="noStrike" dirty="0">
                <a:solidFill>
                  <a:srgbClr val="000000"/>
                </a:solidFill>
                <a:effectLst/>
              </a:rPr>
              <a:t> to the </a:t>
            </a:r>
            <a:r>
              <a:rPr lang="en-GB" b="0" i="0" u="none" strike="noStrike" dirty="0" err="1">
                <a:solidFill>
                  <a:srgbClr val="000000"/>
                </a:solidFill>
                <a:effectLst/>
              </a:rPr>
              <a:t>favorable</a:t>
            </a:r>
            <a:r>
              <a:rPr lang="en-GB" b="0" i="0" u="none" strike="noStrike" dirty="0">
                <a:solidFill>
                  <a:srgbClr val="000000"/>
                </a:solidFill>
                <a:effectLst/>
              </a:rPr>
              <a:t> outcome rate for a </a:t>
            </a:r>
            <a:r>
              <a:rPr lang="en-GB" b="1" i="0" u="none" strike="noStrike" dirty="0">
                <a:solidFill>
                  <a:srgbClr val="000000"/>
                </a:solidFill>
                <a:effectLst/>
              </a:rPr>
              <a:t>privileged (or baseline) group</a:t>
            </a:r>
            <a:r>
              <a:rPr lang="en-GB" b="0" i="0" u="none" strike="noStrike" dirty="0">
                <a:solidFill>
                  <a:srgbClr val="000000"/>
                </a:solidFill>
                <a:effectLst/>
              </a:rPr>
              <a:t>.</a:t>
            </a:r>
          </a:p>
          <a:p>
            <a:pPr algn="l">
              <a:buNone/>
            </a:pPr>
            <a:r>
              <a:rPr lang="en-GB" b="1" i="0" u="none" strike="noStrike" dirty="0">
                <a:solidFill>
                  <a:srgbClr val="000000"/>
                </a:solidFill>
                <a:effectLst/>
              </a:rPr>
              <a:t>2. Purpose:</a:t>
            </a:r>
            <a:r>
              <a:rPr lang="en-GB" b="0" i="0" u="none" strike="noStrike" dirty="0">
                <a:solidFill>
                  <a:srgbClr val="000000"/>
                </a:solidFill>
                <a:effectLst/>
              </a:rPr>
              <a:t> It's used to detect </a:t>
            </a:r>
            <a:r>
              <a:rPr lang="en-GB" b="1" i="0" u="none" strike="noStrike" dirty="0">
                <a:solidFill>
                  <a:srgbClr val="000000"/>
                </a:solidFill>
                <a:effectLst/>
              </a:rPr>
              <a:t>disparate impact</a:t>
            </a:r>
            <a:r>
              <a:rPr lang="en-GB" b="0" i="0" u="none" strike="noStrike" dirty="0">
                <a:solidFill>
                  <a:srgbClr val="000000"/>
                </a:solidFill>
                <a:effectLst/>
              </a:rPr>
              <a:t>, which occurs when a seemingly neutral policy or practice (like an AI model) has a disproportionately adverse effect on individuals belonging to a protected class. It helps to identify if a model's decisions are fair across different demographic groups.</a:t>
            </a:r>
          </a:p>
          <a:p>
            <a:pPr algn="l">
              <a:buNone/>
            </a:pPr>
            <a:r>
              <a:rPr lang="en-GB" b="1" i="0" u="none" strike="noStrike" dirty="0">
                <a:solidFill>
                  <a:srgbClr val="000000"/>
                </a:solidFill>
                <a:effectLst/>
              </a:rPr>
              <a:t>3. Calculation:</a:t>
            </a:r>
            <a:endParaRPr lang="en-GB" b="0" i="0" u="none" strike="noStrike" dirty="0">
              <a:solidFill>
                <a:srgbClr val="000000"/>
              </a:solidFill>
              <a:effectLst/>
            </a:endParaRPr>
          </a:p>
          <a:p>
            <a:pPr algn="l">
              <a:buNone/>
            </a:pPr>
            <a:r>
              <a:rPr lang="en-GB" b="0" i="0" u="none" strike="noStrike" dirty="0">
                <a:solidFill>
                  <a:srgbClr val="000000"/>
                </a:solidFill>
                <a:effectLst/>
              </a:rPr>
              <a:t>The formula for the Disparate Impact Ratio is:</a:t>
            </a:r>
          </a:p>
          <a:p>
            <a:pPr algn="l">
              <a:buNone/>
            </a:pPr>
            <a:r>
              <a:rPr lang="en-GB" b="0" i="0" u="none" strike="noStrike" dirty="0">
                <a:solidFill>
                  <a:srgbClr val="000000"/>
                </a:solidFill>
                <a:effectLst/>
              </a:rPr>
              <a:t>DIR=</a:t>
            </a:r>
            <a:r>
              <a:rPr lang="en-GB" b="0" i="0" u="none" strike="noStrike" dirty="0" err="1">
                <a:solidFill>
                  <a:srgbClr val="000000"/>
                </a:solidFill>
                <a:effectLst/>
              </a:rPr>
              <a:t>Favorable</a:t>
            </a:r>
            <a:r>
              <a:rPr lang="en-GB" b="0" i="0" u="none" strike="noStrike" dirty="0">
                <a:solidFill>
                  <a:srgbClr val="000000"/>
                </a:solidFill>
                <a:effectLst/>
              </a:rPr>
              <a:t> Outcome Rate for </a:t>
            </a:r>
            <a:r>
              <a:rPr lang="en-GB" b="0" i="0" u="none" strike="noStrike">
                <a:solidFill>
                  <a:srgbClr val="000000"/>
                </a:solidFill>
                <a:effectLst/>
              </a:rPr>
              <a:t>Privileged Group/Favorable</a:t>
            </a:r>
            <a:r>
              <a:rPr lang="en-GB" b="0" i="0" u="none" strike="noStrike" dirty="0">
                <a:solidFill>
                  <a:srgbClr val="000000"/>
                </a:solidFill>
                <a:effectLst/>
              </a:rPr>
              <a:t> Outcome Rate for Unprivileged Group​</a:t>
            </a:r>
          </a:p>
          <a:p>
            <a:pPr algn="l">
              <a:buNone/>
            </a:pPr>
            <a:r>
              <a:rPr lang="en-GB" b="0" i="0" u="none" strike="noStrike" dirty="0">
                <a:solidFill>
                  <a:srgbClr val="000000"/>
                </a:solidFill>
                <a:effectLst/>
              </a:rPr>
              <a:t>Where:</a:t>
            </a:r>
          </a:p>
          <a:p>
            <a:pPr marL="342900" indent="-342900" algn="l">
              <a:buFont typeface="+mj-lt"/>
              <a:buAutoNum type="alphaLcPeriod"/>
            </a:pPr>
            <a:r>
              <a:rPr lang="en-GB" b="1" i="0" u="none" strike="noStrike" dirty="0" err="1">
                <a:solidFill>
                  <a:srgbClr val="000000"/>
                </a:solidFill>
                <a:effectLst/>
              </a:rPr>
              <a:t>Favorable</a:t>
            </a:r>
            <a:r>
              <a:rPr lang="en-GB" b="1" i="0" u="none" strike="noStrike" dirty="0">
                <a:solidFill>
                  <a:srgbClr val="000000"/>
                </a:solidFill>
                <a:effectLst/>
              </a:rPr>
              <a:t> Outcome Rate:</a:t>
            </a:r>
            <a:r>
              <a:rPr lang="en-GB" b="0" i="0" u="none" strike="noStrike" dirty="0">
                <a:solidFill>
                  <a:srgbClr val="000000"/>
                </a:solidFill>
                <a:effectLst/>
              </a:rPr>
              <a:t> The proportion of individuals within a specific group who receive a </a:t>
            </a:r>
            <a:r>
              <a:rPr lang="en-GB" b="0" i="0" u="none" strike="noStrike" dirty="0" err="1">
                <a:solidFill>
                  <a:srgbClr val="000000"/>
                </a:solidFill>
                <a:effectLst/>
              </a:rPr>
              <a:t>favorable</a:t>
            </a:r>
            <a:r>
              <a:rPr lang="en-GB" b="0" i="0" u="none" strike="noStrike" dirty="0">
                <a:solidFill>
                  <a:srgbClr val="000000"/>
                </a:solidFill>
                <a:effectLst/>
              </a:rPr>
              <a:t> outcome (e.g., loan approved, job offer, positive diagnosis).</a:t>
            </a:r>
          </a:p>
          <a:p>
            <a:pPr marL="342900" indent="-342900" algn="l">
              <a:buFont typeface="+mj-lt"/>
              <a:buAutoNum type="alphaLcPeriod"/>
            </a:pPr>
            <a:r>
              <a:rPr lang="en-GB" b="1" i="0" u="none" strike="noStrike" dirty="0">
                <a:solidFill>
                  <a:srgbClr val="000000"/>
                </a:solidFill>
                <a:effectLst/>
              </a:rPr>
              <a:t>Unprivileged Group:</a:t>
            </a:r>
            <a:r>
              <a:rPr lang="en-GB" b="0" i="0" u="none" strike="noStrike" dirty="0">
                <a:solidFill>
                  <a:srgbClr val="000000"/>
                </a:solidFill>
                <a:effectLst/>
              </a:rPr>
              <a:t> The group that is historically or contextually disadvantaged or protected (e.g., women, certain racial minorities, older adults).</a:t>
            </a:r>
          </a:p>
          <a:p>
            <a:pPr marL="342900" indent="-342900" algn="l">
              <a:buFont typeface="+mj-lt"/>
              <a:buAutoNum type="alphaLcPeriod"/>
            </a:pPr>
            <a:r>
              <a:rPr lang="en-GB" b="1" i="0" u="none" strike="noStrike" dirty="0">
                <a:solidFill>
                  <a:srgbClr val="000000"/>
                </a:solidFill>
                <a:effectLst/>
              </a:rPr>
              <a:t>Privileged Group:</a:t>
            </a:r>
            <a:r>
              <a:rPr lang="en-GB" b="0" i="0" u="none" strike="noStrike" dirty="0">
                <a:solidFill>
                  <a:srgbClr val="000000"/>
                </a:solidFill>
                <a:effectLst/>
              </a:rPr>
              <a:t> The comparison group (e.g., men, the majority racial group, younger adults).</a:t>
            </a:r>
          </a:p>
          <a:p>
            <a:pPr marL="342900" indent="-342900" algn="l">
              <a:buFont typeface="+mj-lt"/>
              <a:buAutoNum type="arabicPeriod"/>
            </a:pPr>
            <a:endParaRPr lang="en-GB" sz="1600" b="0" i="0" u="none" strike="noStrike" dirty="0">
              <a:solidFill>
                <a:srgbClr val="000000"/>
              </a:solidFill>
              <a:effectLst/>
            </a:endParaRPr>
          </a:p>
        </p:txBody>
      </p:sp>
    </p:spTree>
    <p:extLst>
      <p:ext uri="{BB962C8B-B14F-4D97-AF65-F5344CB8AC3E}">
        <p14:creationId xmlns:p14="http://schemas.microsoft.com/office/powerpoint/2010/main" val="75833863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60">
          <a:extLst>
            <a:ext uri="{FF2B5EF4-FFF2-40B4-BE49-F238E27FC236}">
              <a16:creationId xmlns:a16="http://schemas.microsoft.com/office/drawing/2014/main" id="{1BD455F7-44F6-A9BB-5657-238A9DD40682}"/>
            </a:ext>
          </a:extLst>
        </p:cNvPr>
        <p:cNvGrpSpPr/>
        <p:nvPr/>
      </p:nvGrpSpPr>
      <p:grpSpPr>
        <a:xfrm>
          <a:off x="0" y="0"/>
          <a:ext cx="0" cy="0"/>
          <a:chOff x="0" y="0"/>
          <a:chExt cx="0" cy="0"/>
        </a:xfrm>
      </p:grpSpPr>
      <p:sp>
        <p:nvSpPr>
          <p:cNvPr id="61" name="Google Shape;61;p4">
            <a:extLst>
              <a:ext uri="{FF2B5EF4-FFF2-40B4-BE49-F238E27FC236}">
                <a16:creationId xmlns:a16="http://schemas.microsoft.com/office/drawing/2014/main" id="{26A7186A-81CA-3F9B-F420-554D09B8DF30}"/>
              </a:ext>
            </a:extLst>
          </p:cNvPr>
          <p:cNvSpPr txBox="1">
            <a:spLocks noGrp="1"/>
          </p:cNvSpPr>
          <p:nvPr>
            <p:ph type="title"/>
          </p:nvPr>
        </p:nvSpPr>
        <p:spPr>
          <a:xfrm>
            <a:off x="284775" y="0"/>
            <a:ext cx="8329650" cy="627900"/>
          </a:xfrm>
          <a:prstGeom prst="rect">
            <a:avLst/>
          </a:prstGeom>
          <a:noFill/>
          <a:ln>
            <a:noFill/>
          </a:ln>
        </p:spPr>
        <p:txBody>
          <a:bodyPr spcFirstLastPara="1" wrap="square" lIns="91425" tIns="91425" rIns="91425" bIns="91425" anchor="t" anchorCtr="0">
            <a:normAutofit fontScale="90000"/>
          </a:bodyPr>
          <a:lstStyle/>
          <a:p>
            <a:r>
              <a:rPr lang="en-GB" sz="3100" b="1" i="0" u="none" strike="noStrike" dirty="0">
                <a:solidFill>
                  <a:srgbClr val="7030A0"/>
                </a:solidFill>
                <a:effectLst/>
              </a:rPr>
              <a:t>Disparate Impact Ratio (DIR)</a:t>
            </a:r>
            <a:r>
              <a:rPr lang="en-GB" sz="3100" b="0" i="0" u="none" strike="noStrike" dirty="0">
                <a:solidFill>
                  <a:srgbClr val="7030A0"/>
                </a:solidFill>
                <a:effectLst/>
              </a:rPr>
              <a:t> </a:t>
            </a:r>
            <a:br>
              <a:rPr lang="en-GB" sz="2800" b="1" i="0" u="none" strike="noStrike" dirty="0">
                <a:solidFill>
                  <a:srgbClr val="7030A0"/>
                </a:solidFill>
                <a:effectLst/>
              </a:rPr>
            </a:br>
            <a:br>
              <a:rPr lang="en-GB" sz="2800" b="1" i="0" u="none" strike="noStrike" dirty="0">
                <a:solidFill>
                  <a:srgbClr val="7030A0"/>
                </a:solidFill>
                <a:effectLst/>
              </a:rPr>
            </a:br>
            <a:br>
              <a:rPr lang="en-GB" sz="2800" b="1" i="0" u="none" strike="noStrike" dirty="0">
                <a:solidFill>
                  <a:srgbClr val="7030A0"/>
                </a:solidFill>
                <a:effectLst/>
              </a:rPr>
            </a:br>
            <a:br>
              <a:rPr lang="en-GB" sz="2800" b="1" i="0" u="none" strike="noStrike" dirty="0">
                <a:solidFill>
                  <a:srgbClr val="7030A0"/>
                </a:solidFill>
                <a:effectLst/>
              </a:rPr>
            </a:br>
            <a:br>
              <a:rPr lang="en-GB" sz="2800" b="1" i="0" u="none" strike="noStrike" dirty="0">
                <a:solidFill>
                  <a:srgbClr val="7030A0"/>
                </a:solidFill>
                <a:effectLst/>
              </a:rPr>
            </a:br>
            <a:endParaRPr lang="en-GB" sz="2800" b="1" i="0" u="none" strike="noStrike" dirty="0">
              <a:solidFill>
                <a:srgbClr val="7030A0"/>
              </a:solidFill>
              <a:effectLst/>
              <a:latin typeface="+mj-lt"/>
            </a:endParaRPr>
          </a:p>
        </p:txBody>
      </p:sp>
      <p:sp>
        <p:nvSpPr>
          <p:cNvPr id="4" name="AutoShape 2" descr="Optimized Python with Numba library">
            <a:extLst>
              <a:ext uri="{FF2B5EF4-FFF2-40B4-BE49-F238E27FC236}">
                <a16:creationId xmlns:a16="http://schemas.microsoft.com/office/drawing/2014/main" id="{B23D51C3-244B-7540-605A-46FBBD618C6D}"/>
              </a:ext>
            </a:extLst>
          </p:cNvPr>
          <p:cNvSpPr>
            <a:spLocks noChangeAspect="1" noChangeArrowheads="1"/>
          </p:cNvSpPr>
          <p:nvPr/>
        </p:nvSpPr>
        <p:spPr bwMode="auto">
          <a:xfrm>
            <a:off x="2960866" y="1871317"/>
            <a:ext cx="3771900" cy="21590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 name="TextBox 2">
            <a:extLst>
              <a:ext uri="{FF2B5EF4-FFF2-40B4-BE49-F238E27FC236}">
                <a16:creationId xmlns:a16="http://schemas.microsoft.com/office/drawing/2014/main" id="{8DF8C397-21ED-3FBE-AB6B-C65BB0AFB001}"/>
              </a:ext>
            </a:extLst>
          </p:cNvPr>
          <p:cNvSpPr txBox="1"/>
          <p:nvPr/>
        </p:nvSpPr>
        <p:spPr>
          <a:xfrm>
            <a:off x="284774" y="627900"/>
            <a:ext cx="8155283" cy="4647426"/>
          </a:xfrm>
          <a:prstGeom prst="rect">
            <a:avLst/>
          </a:prstGeom>
          <a:noFill/>
        </p:spPr>
        <p:txBody>
          <a:bodyPr wrap="square">
            <a:spAutoFit/>
          </a:bodyPr>
          <a:lstStyle/>
          <a:p>
            <a:pPr algn="l">
              <a:buNone/>
            </a:pPr>
            <a:r>
              <a:rPr lang="en-GB" b="1" i="0" u="none" strike="noStrike" dirty="0">
                <a:solidFill>
                  <a:srgbClr val="000000"/>
                </a:solidFill>
                <a:effectLst/>
              </a:rPr>
              <a:t>4. Interpretation of Values:</a:t>
            </a:r>
            <a:endParaRPr lang="en-GB" b="0" i="0" u="none" strike="noStrike" dirty="0">
              <a:solidFill>
                <a:srgbClr val="000000"/>
              </a:solidFill>
              <a:effectLst/>
            </a:endParaRPr>
          </a:p>
          <a:p>
            <a:pPr marL="342900" indent="-342900" algn="l">
              <a:buFont typeface="+mj-lt"/>
              <a:buAutoNum type="alphaLcPeriod"/>
            </a:pPr>
            <a:r>
              <a:rPr lang="en-GB" b="1" i="0" u="none" strike="noStrike" dirty="0">
                <a:solidFill>
                  <a:srgbClr val="000000"/>
                </a:solidFill>
                <a:effectLst/>
              </a:rPr>
              <a:t>DIR = 1.0 (or very close to 1.0):</a:t>
            </a:r>
            <a:r>
              <a:rPr lang="en-GB" b="0" i="0" u="none" strike="noStrike" dirty="0">
                <a:solidFill>
                  <a:srgbClr val="000000"/>
                </a:solidFill>
                <a:effectLst/>
              </a:rPr>
              <a:t> Indicates </a:t>
            </a:r>
            <a:r>
              <a:rPr lang="en-GB" b="1" i="0" u="none" strike="noStrike" dirty="0">
                <a:solidFill>
                  <a:srgbClr val="000000"/>
                </a:solidFill>
                <a:effectLst/>
              </a:rPr>
              <a:t>perfect fairness or parity</a:t>
            </a:r>
            <a:r>
              <a:rPr lang="en-GB" b="0" i="0" u="none" strike="noStrike" dirty="0">
                <a:solidFill>
                  <a:srgbClr val="000000"/>
                </a:solidFill>
                <a:effectLst/>
              </a:rPr>
              <a:t>. The </a:t>
            </a:r>
            <a:r>
              <a:rPr lang="en-GB" b="0" i="0" u="none" strike="noStrike" dirty="0" err="1">
                <a:solidFill>
                  <a:srgbClr val="000000"/>
                </a:solidFill>
                <a:effectLst/>
              </a:rPr>
              <a:t>favorable</a:t>
            </a:r>
            <a:r>
              <a:rPr lang="en-GB" b="0" i="0" u="none" strike="noStrike" dirty="0">
                <a:solidFill>
                  <a:srgbClr val="000000"/>
                </a:solidFill>
                <a:effectLst/>
              </a:rPr>
              <a:t> outcome rate is essentially the same for both groups.</a:t>
            </a:r>
          </a:p>
          <a:p>
            <a:pPr marL="342900" indent="-342900" algn="l">
              <a:buFont typeface="+mj-lt"/>
              <a:buAutoNum type="alphaLcPeriod"/>
            </a:pPr>
            <a:r>
              <a:rPr lang="en-GB" b="1" i="0" u="none" strike="noStrike" dirty="0">
                <a:solidFill>
                  <a:srgbClr val="000000"/>
                </a:solidFill>
                <a:effectLst/>
              </a:rPr>
              <a:t>DIR &lt; 1.0:</a:t>
            </a:r>
            <a:r>
              <a:rPr lang="en-GB" b="0" i="0" u="none" strike="noStrike" dirty="0">
                <a:solidFill>
                  <a:srgbClr val="000000"/>
                </a:solidFill>
                <a:effectLst/>
              </a:rPr>
              <a:t> Indicates </a:t>
            </a:r>
            <a:r>
              <a:rPr lang="en-GB" b="1" i="0" u="none" strike="noStrike" dirty="0">
                <a:solidFill>
                  <a:srgbClr val="000000"/>
                </a:solidFill>
                <a:effectLst/>
              </a:rPr>
              <a:t>disparate impact against the unprivileged group</a:t>
            </a:r>
            <a:r>
              <a:rPr lang="en-GB" b="0" i="0" u="none" strike="noStrike" dirty="0">
                <a:solidFill>
                  <a:srgbClr val="000000"/>
                </a:solidFill>
                <a:effectLst/>
              </a:rPr>
              <a:t>. The unprivileged group receives the </a:t>
            </a:r>
            <a:r>
              <a:rPr lang="en-GB" b="0" i="0" u="none" strike="noStrike" dirty="0" err="1">
                <a:solidFill>
                  <a:srgbClr val="000000"/>
                </a:solidFill>
                <a:effectLst/>
              </a:rPr>
              <a:t>favorable</a:t>
            </a:r>
            <a:r>
              <a:rPr lang="en-GB" b="0" i="0" u="none" strike="noStrike" dirty="0">
                <a:solidFill>
                  <a:srgbClr val="000000"/>
                </a:solidFill>
                <a:effectLst/>
              </a:rPr>
              <a:t> outcome at a lower rate than the privileged group.</a:t>
            </a:r>
          </a:p>
          <a:p>
            <a:pPr marL="457200" lvl="1" algn="l"/>
            <a:r>
              <a:rPr lang="en-GB" b="1" i="0" u="none" strike="noStrike" dirty="0">
                <a:solidFill>
                  <a:srgbClr val="000000"/>
                </a:solidFill>
                <a:effectLst/>
              </a:rPr>
              <a:t>The "80% Rule" (or "Four-Fifths Rule"):</a:t>
            </a:r>
            <a:r>
              <a:rPr lang="en-GB" b="0" i="0" u="none" strike="noStrike" dirty="0">
                <a:solidFill>
                  <a:srgbClr val="000000"/>
                </a:solidFill>
                <a:effectLst/>
              </a:rPr>
              <a:t> A common rule of thumb (often cited in US employment law) states that if the DIR is less than 0.8 (or 80%), it is generally considered evidence of potential disparate impact. This means the unprivileged group's success rate is less than 80% of the privileged group's success rate.</a:t>
            </a:r>
          </a:p>
          <a:p>
            <a:pPr marL="342900" indent="-342900" algn="l">
              <a:buFont typeface="+mj-lt"/>
              <a:buAutoNum type="alphaLcPeriod"/>
            </a:pPr>
            <a:r>
              <a:rPr lang="en-GB" b="1" i="0" u="none" strike="noStrike" dirty="0">
                <a:solidFill>
                  <a:srgbClr val="000000"/>
                </a:solidFill>
                <a:effectLst/>
              </a:rPr>
              <a:t>DIR &gt; 1.0:</a:t>
            </a:r>
            <a:r>
              <a:rPr lang="en-GB" b="0" i="0" u="none" strike="noStrike" dirty="0">
                <a:solidFill>
                  <a:srgbClr val="000000"/>
                </a:solidFill>
                <a:effectLst/>
              </a:rPr>
              <a:t> Indicates </a:t>
            </a:r>
            <a:r>
              <a:rPr lang="en-GB" b="1" i="0" u="none" strike="noStrike" dirty="0">
                <a:solidFill>
                  <a:srgbClr val="000000"/>
                </a:solidFill>
                <a:effectLst/>
              </a:rPr>
              <a:t>disparate impact against the privileged group</a:t>
            </a:r>
            <a:r>
              <a:rPr lang="en-GB" b="0" i="0" u="none" strike="noStrike" dirty="0">
                <a:solidFill>
                  <a:srgbClr val="000000"/>
                </a:solidFill>
                <a:effectLst/>
              </a:rPr>
              <a:t>. The unprivileged group receives the </a:t>
            </a:r>
            <a:r>
              <a:rPr lang="en-GB" b="0" i="0" u="none" strike="noStrike" dirty="0" err="1">
                <a:solidFill>
                  <a:srgbClr val="000000"/>
                </a:solidFill>
                <a:effectLst/>
              </a:rPr>
              <a:t>favorable</a:t>
            </a:r>
            <a:r>
              <a:rPr lang="en-GB" b="0" i="0" u="none" strike="noStrike" dirty="0">
                <a:solidFill>
                  <a:srgbClr val="000000"/>
                </a:solidFill>
                <a:effectLst/>
              </a:rPr>
              <a:t> outcome at a </a:t>
            </a:r>
            <a:r>
              <a:rPr lang="en-GB" b="0" i="1" u="none" strike="noStrike" dirty="0">
                <a:solidFill>
                  <a:srgbClr val="000000"/>
                </a:solidFill>
                <a:effectLst/>
              </a:rPr>
              <a:t>higher</a:t>
            </a:r>
            <a:r>
              <a:rPr lang="en-GB" b="0" i="0" u="none" strike="noStrike" dirty="0">
                <a:solidFill>
                  <a:srgbClr val="000000"/>
                </a:solidFill>
                <a:effectLst/>
              </a:rPr>
              <a:t> rate than the privileged group. While less common to focus on as a "bias against privileged" metric, it still signifies a lack of parity.</a:t>
            </a:r>
          </a:p>
          <a:p>
            <a:pPr algn="l">
              <a:buNone/>
            </a:pPr>
            <a:r>
              <a:rPr lang="en-GB" b="1" i="0" u="none" strike="noStrike" dirty="0">
                <a:solidFill>
                  <a:srgbClr val="000000"/>
                </a:solidFill>
                <a:effectLst/>
              </a:rPr>
              <a:t>5. Significance in AI Fairness:</a:t>
            </a:r>
            <a:endParaRPr lang="en-GB" b="0" i="0" u="none" strike="noStrike" dirty="0">
              <a:solidFill>
                <a:srgbClr val="000000"/>
              </a:solidFill>
              <a:effectLst/>
            </a:endParaRPr>
          </a:p>
          <a:p>
            <a:pPr marL="342900" indent="-342900" algn="l">
              <a:buFont typeface="+mj-lt"/>
              <a:buAutoNum type="alphaLcPeriod"/>
            </a:pPr>
            <a:r>
              <a:rPr lang="en-GB" b="1" i="0" u="none" strike="noStrike" dirty="0">
                <a:solidFill>
                  <a:srgbClr val="000000"/>
                </a:solidFill>
                <a:effectLst/>
              </a:rPr>
              <a:t>Detection:</a:t>
            </a:r>
            <a:r>
              <a:rPr lang="en-GB" b="0" i="0" u="none" strike="noStrike" dirty="0">
                <a:solidFill>
                  <a:srgbClr val="000000"/>
                </a:solidFill>
                <a:effectLst/>
              </a:rPr>
              <a:t> DIR is a primary metric used in the </a:t>
            </a:r>
            <a:r>
              <a:rPr lang="en-GB" b="1" i="0" u="none" strike="noStrike" dirty="0">
                <a:solidFill>
                  <a:srgbClr val="000000"/>
                </a:solidFill>
                <a:effectLst/>
              </a:rPr>
              <a:t>auditing and evaluation</a:t>
            </a:r>
            <a:r>
              <a:rPr lang="en-GB" b="0" i="0" u="none" strike="noStrike" dirty="0">
                <a:solidFill>
                  <a:srgbClr val="000000"/>
                </a:solidFill>
                <a:effectLst/>
              </a:rPr>
              <a:t> phases of AI development to detect unintended biases in model predictions.</a:t>
            </a:r>
          </a:p>
          <a:p>
            <a:pPr marL="342900" indent="-342900" algn="l">
              <a:buFont typeface="+mj-lt"/>
              <a:buAutoNum type="alphaLcPeriod"/>
            </a:pPr>
            <a:r>
              <a:rPr lang="en-GB" b="1" i="0" u="none" strike="noStrike" dirty="0">
                <a:solidFill>
                  <a:srgbClr val="000000"/>
                </a:solidFill>
                <a:effectLst/>
              </a:rPr>
              <a:t>Monitoring:</a:t>
            </a:r>
            <a:r>
              <a:rPr lang="en-GB" b="0" i="0" u="none" strike="noStrike" dirty="0">
                <a:solidFill>
                  <a:srgbClr val="000000"/>
                </a:solidFill>
                <a:effectLst/>
              </a:rPr>
              <a:t> It's also crucial for </a:t>
            </a:r>
            <a:r>
              <a:rPr lang="en-GB" b="1" i="0" u="none" strike="noStrike" dirty="0">
                <a:solidFill>
                  <a:srgbClr val="000000"/>
                </a:solidFill>
                <a:effectLst/>
              </a:rPr>
              <a:t>monitoring deployed AI models</a:t>
            </a:r>
            <a:r>
              <a:rPr lang="en-GB" b="0" i="0" u="none" strike="noStrike" dirty="0">
                <a:solidFill>
                  <a:srgbClr val="000000"/>
                </a:solidFill>
                <a:effectLst/>
              </a:rPr>
              <a:t> over time, as data drift or changes in population demographics could reintroduce or amplify bias.</a:t>
            </a:r>
          </a:p>
          <a:p>
            <a:pPr marL="342900" indent="-342900" algn="l">
              <a:buFont typeface="+mj-lt"/>
              <a:buAutoNum type="alphaLcPeriod"/>
            </a:pPr>
            <a:r>
              <a:rPr lang="en-GB" b="1" i="0" u="none" strike="noStrike" dirty="0">
                <a:solidFill>
                  <a:srgbClr val="000000"/>
                </a:solidFill>
                <a:effectLst/>
              </a:rPr>
              <a:t>Mitigation Target:</a:t>
            </a:r>
            <a:r>
              <a:rPr lang="en-GB" b="0" i="0" u="none" strike="noStrike" dirty="0">
                <a:solidFill>
                  <a:srgbClr val="000000"/>
                </a:solidFill>
                <a:effectLst/>
              </a:rPr>
              <a:t> When implementing fairness mitigation strategies (like the data balancing we discussed), the goal is often to bring the DIR closer to 1.0 without significantly sacrificing overall model performance.</a:t>
            </a:r>
          </a:p>
          <a:p>
            <a:pPr marL="342900" indent="-342900" algn="l">
              <a:buFont typeface="+mj-lt"/>
              <a:buAutoNum type="arabicPeriod"/>
            </a:pPr>
            <a:endParaRPr lang="en-GB" sz="1600" b="0" i="0" u="none" strike="noStrike" dirty="0">
              <a:solidFill>
                <a:srgbClr val="000000"/>
              </a:solidFill>
              <a:effectLst/>
            </a:endParaRPr>
          </a:p>
        </p:txBody>
      </p:sp>
    </p:spTree>
    <p:extLst>
      <p:ext uri="{BB962C8B-B14F-4D97-AF65-F5344CB8AC3E}">
        <p14:creationId xmlns:p14="http://schemas.microsoft.com/office/powerpoint/2010/main" val="235845030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60">
          <a:extLst>
            <a:ext uri="{FF2B5EF4-FFF2-40B4-BE49-F238E27FC236}">
              <a16:creationId xmlns:a16="http://schemas.microsoft.com/office/drawing/2014/main" id="{1C48A518-E239-0CD3-CA5E-C1688E5A686C}"/>
            </a:ext>
          </a:extLst>
        </p:cNvPr>
        <p:cNvGrpSpPr/>
        <p:nvPr/>
      </p:nvGrpSpPr>
      <p:grpSpPr>
        <a:xfrm>
          <a:off x="0" y="0"/>
          <a:ext cx="0" cy="0"/>
          <a:chOff x="0" y="0"/>
          <a:chExt cx="0" cy="0"/>
        </a:xfrm>
      </p:grpSpPr>
      <p:sp>
        <p:nvSpPr>
          <p:cNvPr id="61" name="Google Shape;61;p4">
            <a:extLst>
              <a:ext uri="{FF2B5EF4-FFF2-40B4-BE49-F238E27FC236}">
                <a16:creationId xmlns:a16="http://schemas.microsoft.com/office/drawing/2014/main" id="{0FDB6E02-AA05-7609-7BC8-2FA4E7A90BA6}"/>
              </a:ext>
            </a:extLst>
          </p:cNvPr>
          <p:cNvSpPr txBox="1">
            <a:spLocks noGrp="1"/>
          </p:cNvSpPr>
          <p:nvPr>
            <p:ph type="title"/>
          </p:nvPr>
        </p:nvSpPr>
        <p:spPr>
          <a:xfrm>
            <a:off x="284775" y="0"/>
            <a:ext cx="8329650" cy="627900"/>
          </a:xfrm>
          <a:prstGeom prst="rect">
            <a:avLst/>
          </a:prstGeom>
          <a:noFill/>
          <a:ln>
            <a:noFill/>
          </a:ln>
        </p:spPr>
        <p:txBody>
          <a:bodyPr spcFirstLastPara="1" wrap="square" lIns="91425" tIns="91425" rIns="91425" bIns="91425" anchor="t" anchorCtr="0">
            <a:normAutofit fontScale="90000"/>
          </a:bodyPr>
          <a:lstStyle/>
          <a:p>
            <a:r>
              <a:rPr lang="en-GB" sz="3100" b="1" i="0" u="none" strike="noStrike" dirty="0">
                <a:solidFill>
                  <a:srgbClr val="7030A0"/>
                </a:solidFill>
                <a:effectLst/>
              </a:rPr>
              <a:t>Limitations of Disparate Impact Ratio (DIR)</a:t>
            </a:r>
            <a:r>
              <a:rPr lang="en-GB" sz="3100" b="0" i="0" u="none" strike="noStrike" dirty="0">
                <a:solidFill>
                  <a:srgbClr val="7030A0"/>
                </a:solidFill>
                <a:effectLst/>
              </a:rPr>
              <a:t> </a:t>
            </a:r>
            <a:br>
              <a:rPr lang="en-GB" sz="2800" b="1" i="0" u="none" strike="noStrike" dirty="0">
                <a:solidFill>
                  <a:srgbClr val="7030A0"/>
                </a:solidFill>
                <a:effectLst/>
              </a:rPr>
            </a:br>
            <a:br>
              <a:rPr lang="en-GB" sz="2800" b="1" i="0" u="none" strike="noStrike" dirty="0">
                <a:solidFill>
                  <a:srgbClr val="7030A0"/>
                </a:solidFill>
                <a:effectLst/>
              </a:rPr>
            </a:br>
            <a:br>
              <a:rPr lang="en-GB" sz="2800" b="1" i="0" u="none" strike="noStrike" dirty="0">
                <a:solidFill>
                  <a:srgbClr val="7030A0"/>
                </a:solidFill>
                <a:effectLst/>
              </a:rPr>
            </a:br>
            <a:br>
              <a:rPr lang="en-GB" sz="2800" b="1" i="0" u="none" strike="noStrike" dirty="0">
                <a:solidFill>
                  <a:srgbClr val="7030A0"/>
                </a:solidFill>
                <a:effectLst/>
              </a:rPr>
            </a:br>
            <a:br>
              <a:rPr lang="en-GB" sz="2800" b="1" i="0" u="none" strike="noStrike" dirty="0">
                <a:solidFill>
                  <a:srgbClr val="7030A0"/>
                </a:solidFill>
                <a:effectLst/>
              </a:rPr>
            </a:br>
            <a:endParaRPr lang="en-GB" sz="2800" b="1" i="0" u="none" strike="noStrike" dirty="0">
              <a:solidFill>
                <a:srgbClr val="7030A0"/>
              </a:solidFill>
              <a:effectLst/>
              <a:latin typeface="+mj-lt"/>
            </a:endParaRPr>
          </a:p>
        </p:txBody>
      </p:sp>
      <p:sp>
        <p:nvSpPr>
          <p:cNvPr id="4" name="AutoShape 2" descr="Optimized Python with Numba library">
            <a:extLst>
              <a:ext uri="{FF2B5EF4-FFF2-40B4-BE49-F238E27FC236}">
                <a16:creationId xmlns:a16="http://schemas.microsoft.com/office/drawing/2014/main" id="{781C4FD6-AE47-FDE9-8133-07337F2B25DD}"/>
              </a:ext>
            </a:extLst>
          </p:cNvPr>
          <p:cNvSpPr>
            <a:spLocks noChangeAspect="1" noChangeArrowheads="1"/>
          </p:cNvSpPr>
          <p:nvPr/>
        </p:nvSpPr>
        <p:spPr bwMode="auto">
          <a:xfrm>
            <a:off x="2960866" y="1871317"/>
            <a:ext cx="3771900" cy="21590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 name="TextBox 4">
            <a:extLst>
              <a:ext uri="{FF2B5EF4-FFF2-40B4-BE49-F238E27FC236}">
                <a16:creationId xmlns:a16="http://schemas.microsoft.com/office/drawing/2014/main" id="{ACCDD50B-5FB3-3A1D-59AB-ECF496FF0966}"/>
              </a:ext>
            </a:extLst>
          </p:cNvPr>
          <p:cNvSpPr txBox="1"/>
          <p:nvPr/>
        </p:nvSpPr>
        <p:spPr>
          <a:xfrm>
            <a:off x="763813" y="555813"/>
            <a:ext cx="6203044" cy="4278094"/>
          </a:xfrm>
          <a:prstGeom prst="rect">
            <a:avLst/>
          </a:prstGeom>
          <a:noFill/>
        </p:spPr>
        <p:txBody>
          <a:bodyPr wrap="square">
            <a:spAutoFit/>
          </a:bodyPr>
          <a:lstStyle/>
          <a:p>
            <a:pPr marL="342900" indent="-342900" algn="l">
              <a:buFont typeface="+mj-lt"/>
              <a:buAutoNum type="arabicPeriod"/>
            </a:pPr>
            <a:r>
              <a:rPr lang="en-GB" sz="1600" b="1" i="0" u="none" strike="noStrike" dirty="0">
                <a:solidFill>
                  <a:srgbClr val="000000"/>
                </a:solidFill>
                <a:effectLst/>
              </a:rPr>
              <a:t>Only One Metric:</a:t>
            </a:r>
            <a:r>
              <a:rPr lang="en-GB" sz="1600" b="0" i="0" u="none" strike="noStrike" dirty="0">
                <a:solidFill>
                  <a:srgbClr val="000000"/>
                </a:solidFill>
                <a:effectLst/>
              </a:rPr>
              <a:t> DIR is a valuable </a:t>
            </a:r>
            <a:r>
              <a:rPr lang="en-GB" sz="1600" b="1" i="0" u="none" strike="noStrike" dirty="0">
                <a:solidFill>
                  <a:srgbClr val="000000"/>
                </a:solidFill>
                <a:effectLst/>
              </a:rPr>
              <a:t>group-level</a:t>
            </a:r>
            <a:r>
              <a:rPr lang="en-GB" sz="1600" b="0" i="0" u="none" strike="noStrike" dirty="0">
                <a:solidFill>
                  <a:srgbClr val="000000"/>
                </a:solidFill>
                <a:effectLst/>
              </a:rPr>
              <a:t> fairness metric, but it doesn't capture all nuances of fairness. Other metrics like Equalized Odds, Equal Opportunity, or individual fairness measures might also be necessary.</a:t>
            </a:r>
          </a:p>
          <a:p>
            <a:pPr marL="342900" indent="-342900" algn="l">
              <a:buFont typeface="+mj-lt"/>
              <a:buAutoNum type="arabicPeriod"/>
            </a:pPr>
            <a:endParaRPr lang="en-GB" sz="1600" b="0" i="0" u="none" strike="noStrike" dirty="0">
              <a:solidFill>
                <a:srgbClr val="000000"/>
              </a:solidFill>
              <a:effectLst/>
            </a:endParaRPr>
          </a:p>
          <a:p>
            <a:pPr marL="342900" indent="-342900" algn="l">
              <a:buFont typeface="+mj-lt"/>
              <a:buAutoNum type="arabicPeriod"/>
            </a:pPr>
            <a:r>
              <a:rPr lang="en-GB" sz="1600" b="1" i="0" u="none" strike="noStrike" dirty="0">
                <a:solidFill>
                  <a:srgbClr val="000000"/>
                </a:solidFill>
                <a:effectLst/>
              </a:rPr>
              <a:t>Causality vs. Correlation:</a:t>
            </a:r>
            <a:r>
              <a:rPr lang="en-GB" sz="1600" b="0" i="0" u="none" strike="noStrike" dirty="0">
                <a:solidFill>
                  <a:srgbClr val="000000"/>
                </a:solidFill>
                <a:effectLst/>
              </a:rPr>
              <a:t> A low DIR indicates a </a:t>
            </a:r>
            <a:r>
              <a:rPr lang="en-GB" sz="1600" b="0" i="1" u="none" strike="noStrike" dirty="0">
                <a:solidFill>
                  <a:srgbClr val="000000"/>
                </a:solidFill>
                <a:effectLst/>
              </a:rPr>
              <a:t>disparity</a:t>
            </a:r>
            <a:r>
              <a:rPr lang="en-GB" sz="1600" b="0" i="0" u="none" strike="noStrike" dirty="0">
                <a:solidFill>
                  <a:srgbClr val="000000"/>
                </a:solidFill>
                <a:effectLst/>
              </a:rPr>
              <a:t> but doesn't </a:t>
            </a:r>
            <a:r>
              <a:rPr lang="en-GB" sz="1600" b="0" i="1" u="none" strike="noStrike" dirty="0">
                <a:solidFill>
                  <a:srgbClr val="000000"/>
                </a:solidFill>
                <a:effectLst/>
              </a:rPr>
              <a:t>directly</a:t>
            </a:r>
            <a:r>
              <a:rPr lang="en-GB" sz="1600" b="0" i="0" u="none" strike="noStrike" dirty="0">
                <a:solidFill>
                  <a:srgbClr val="000000"/>
                </a:solidFill>
                <a:effectLst/>
              </a:rPr>
              <a:t> explain the cause. It prompts further investigation into the data, model, and historical context.</a:t>
            </a:r>
          </a:p>
          <a:p>
            <a:pPr marL="342900" indent="-342900" algn="l">
              <a:buFont typeface="+mj-lt"/>
              <a:buAutoNum type="arabicPeriod"/>
            </a:pPr>
            <a:endParaRPr lang="en-GB" sz="1600" b="0" i="0" u="none" strike="noStrike" dirty="0">
              <a:solidFill>
                <a:srgbClr val="000000"/>
              </a:solidFill>
              <a:effectLst/>
            </a:endParaRPr>
          </a:p>
          <a:p>
            <a:pPr marL="342900" indent="-342900" algn="l">
              <a:buFont typeface="+mj-lt"/>
              <a:buAutoNum type="arabicPeriod"/>
            </a:pPr>
            <a:r>
              <a:rPr lang="en-GB" sz="1600" b="1" i="0" u="none" strike="noStrike" dirty="0">
                <a:solidFill>
                  <a:srgbClr val="000000"/>
                </a:solidFill>
                <a:effectLst/>
              </a:rPr>
              <a:t>Sensitive Attribute Dependence:</a:t>
            </a:r>
            <a:r>
              <a:rPr lang="en-GB" sz="1600" b="0" i="0" u="none" strike="noStrike" dirty="0">
                <a:solidFill>
                  <a:srgbClr val="000000"/>
                </a:solidFill>
                <a:effectLst/>
              </a:rPr>
              <a:t> It relies on having a defined "sensitive attribute" and "privileged/unprivileged" groups, which can be complex in diverse populations.</a:t>
            </a:r>
          </a:p>
          <a:p>
            <a:pPr marL="342900" indent="-342900" algn="l">
              <a:buFont typeface="+mj-lt"/>
              <a:buAutoNum type="arabicPeriod"/>
            </a:pPr>
            <a:endParaRPr lang="en-GB" sz="1600" b="0" i="0" u="none" strike="noStrike" dirty="0">
              <a:solidFill>
                <a:srgbClr val="000000"/>
              </a:solidFill>
              <a:effectLst/>
            </a:endParaRPr>
          </a:p>
          <a:p>
            <a:pPr marL="342900" indent="-342900" algn="l">
              <a:buFont typeface="+mj-lt"/>
              <a:buAutoNum type="arabicPeriod"/>
            </a:pPr>
            <a:r>
              <a:rPr lang="en-GB" sz="1600" b="0" i="0" u="none" strike="noStrike" dirty="0">
                <a:solidFill>
                  <a:srgbClr val="000000"/>
                </a:solidFill>
                <a:effectLst/>
              </a:rPr>
              <a:t>In summary, the Disparate Impact Ratio is a fundamental tool for quantifying whether an AI model's decisions are fair across different groups, serving as a critical indicator for identifying and working to reduce algorithmic bias.</a:t>
            </a:r>
          </a:p>
        </p:txBody>
      </p:sp>
    </p:spTree>
    <p:extLst>
      <p:ext uri="{BB962C8B-B14F-4D97-AF65-F5344CB8AC3E}">
        <p14:creationId xmlns:p14="http://schemas.microsoft.com/office/powerpoint/2010/main" val="274608586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60">
          <a:extLst>
            <a:ext uri="{FF2B5EF4-FFF2-40B4-BE49-F238E27FC236}">
              <a16:creationId xmlns:a16="http://schemas.microsoft.com/office/drawing/2014/main" id="{95F054E6-EBEE-EF93-2677-5AE7D9FC3E37}"/>
            </a:ext>
          </a:extLst>
        </p:cNvPr>
        <p:cNvGrpSpPr/>
        <p:nvPr/>
      </p:nvGrpSpPr>
      <p:grpSpPr>
        <a:xfrm>
          <a:off x="0" y="0"/>
          <a:ext cx="0" cy="0"/>
          <a:chOff x="0" y="0"/>
          <a:chExt cx="0" cy="0"/>
        </a:xfrm>
      </p:grpSpPr>
      <p:sp>
        <p:nvSpPr>
          <p:cNvPr id="61" name="Google Shape;61;p4">
            <a:extLst>
              <a:ext uri="{FF2B5EF4-FFF2-40B4-BE49-F238E27FC236}">
                <a16:creationId xmlns:a16="http://schemas.microsoft.com/office/drawing/2014/main" id="{D55D2614-CC15-C643-BEBB-252A07D31C97}"/>
              </a:ext>
            </a:extLst>
          </p:cNvPr>
          <p:cNvSpPr txBox="1">
            <a:spLocks noGrp="1"/>
          </p:cNvSpPr>
          <p:nvPr>
            <p:ph type="title"/>
          </p:nvPr>
        </p:nvSpPr>
        <p:spPr>
          <a:xfrm>
            <a:off x="284775" y="0"/>
            <a:ext cx="8329650" cy="627900"/>
          </a:xfrm>
          <a:prstGeom prst="rect">
            <a:avLst/>
          </a:prstGeom>
          <a:noFill/>
          <a:ln>
            <a:noFill/>
          </a:ln>
        </p:spPr>
        <p:txBody>
          <a:bodyPr spcFirstLastPara="1" wrap="square" lIns="91425" tIns="91425" rIns="91425" bIns="91425" anchor="t" anchorCtr="0">
            <a:normAutofit fontScale="90000"/>
          </a:bodyPr>
          <a:lstStyle/>
          <a:p>
            <a:r>
              <a:rPr lang="en-GB" sz="2800" dirty="0">
                <a:solidFill>
                  <a:srgbClr val="7030A0"/>
                </a:solidFill>
              </a:rPr>
              <a:t>M</a:t>
            </a:r>
            <a:r>
              <a:rPr lang="en-GB" sz="2800" b="1" i="0" u="none" strike="noStrike" dirty="0">
                <a:solidFill>
                  <a:srgbClr val="7030A0"/>
                </a:solidFill>
                <a:effectLst/>
              </a:rPr>
              <a:t>itigate bias in an AI loan approval system</a:t>
            </a:r>
            <a:br>
              <a:rPr lang="en-GB" sz="2800" b="1" i="0" u="none" strike="noStrike" dirty="0">
                <a:solidFill>
                  <a:srgbClr val="7030A0"/>
                </a:solidFill>
                <a:effectLst/>
              </a:rPr>
            </a:br>
            <a:br>
              <a:rPr lang="en-GB" sz="2800" b="1" i="0" u="none" strike="noStrike" dirty="0">
                <a:solidFill>
                  <a:srgbClr val="7030A0"/>
                </a:solidFill>
                <a:effectLst/>
              </a:rPr>
            </a:br>
            <a:br>
              <a:rPr lang="en-GB" sz="2800" b="1" i="0" u="none" strike="noStrike" dirty="0">
                <a:solidFill>
                  <a:srgbClr val="7030A0"/>
                </a:solidFill>
                <a:effectLst/>
              </a:rPr>
            </a:br>
            <a:br>
              <a:rPr lang="en-GB" sz="2800" b="1" i="0" u="none" strike="noStrike" dirty="0">
                <a:solidFill>
                  <a:srgbClr val="7030A0"/>
                </a:solidFill>
                <a:effectLst/>
              </a:rPr>
            </a:br>
            <a:br>
              <a:rPr lang="en-GB" sz="2800" b="1" i="0" u="none" strike="noStrike" dirty="0">
                <a:solidFill>
                  <a:srgbClr val="7030A0"/>
                </a:solidFill>
                <a:effectLst/>
              </a:rPr>
            </a:br>
            <a:endParaRPr lang="en-GB" sz="2800" b="1" i="0" u="none" strike="noStrike" dirty="0">
              <a:solidFill>
                <a:srgbClr val="7030A0"/>
              </a:solidFill>
              <a:effectLst/>
              <a:latin typeface="+mj-lt"/>
            </a:endParaRPr>
          </a:p>
        </p:txBody>
      </p:sp>
      <p:sp>
        <p:nvSpPr>
          <p:cNvPr id="4" name="AutoShape 2" descr="Optimized Python with Numba library">
            <a:extLst>
              <a:ext uri="{FF2B5EF4-FFF2-40B4-BE49-F238E27FC236}">
                <a16:creationId xmlns:a16="http://schemas.microsoft.com/office/drawing/2014/main" id="{0DFF499A-6EDC-FC57-C769-E940DBFCECF4}"/>
              </a:ext>
            </a:extLst>
          </p:cNvPr>
          <p:cNvSpPr>
            <a:spLocks noChangeAspect="1" noChangeArrowheads="1"/>
          </p:cNvSpPr>
          <p:nvPr/>
        </p:nvSpPr>
        <p:spPr bwMode="auto">
          <a:xfrm>
            <a:off x="2960866" y="1871317"/>
            <a:ext cx="3771900" cy="21590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 name="TextBox 2">
            <a:extLst>
              <a:ext uri="{FF2B5EF4-FFF2-40B4-BE49-F238E27FC236}">
                <a16:creationId xmlns:a16="http://schemas.microsoft.com/office/drawing/2014/main" id="{AA0862FF-5C6E-3037-21C7-ECA34001E85B}"/>
              </a:ext>
            </a:extLst>
          </p:cNvPr>
          <p:cNvSpPr txBox="1"/>
          <p:nvPr/>
        </p:nvSpPr>
        <p:spPr>
          <a:xfrm>
            <a:off x="284775" y="627900"/>
            <a:ext cx="6551454" cy="4524315"/>
          </a:xfrm>
          <a:prstGeom prst="rect">
            <a:avLst/>
          </a:prstGeom>
          <a:noFill/>
        </p:spPr>
        <p:txBody>
          <a:bodyPr wrap="square">
            <a:spAutoFit/>
          </a:bodyPr>
          <a:lstStyle/>
          <a:p>
            <a:pPr algn="l">
              <a:buNone/>
            </a:pPr>
            <a:r>
              <a:rPr lang="en-GB" sz="1600" dirty="0"/>
              <a:t>S</a:t>
            </a:r>
            <a:r>
              <a:rPr lang="en-GB" sz="1600" b="0" i="0" u="none" strike="noStrike" dirty="0">
                <a:solidFill>
                  <a:srgbClr val="000000"/>
                </a:solidFill>
                <a:effectLst/>
              </a:rPr>
              <a:t>imulate and then try to mitigate bias in an AI loan approval system.</a:t>
            </a:r>
          </a:p>
          <a:p>
            <a:pPr algn="l">
              <a:buNone/>
            </a:pPr>
            <a:r>
              <a:rPr lang="en-GB" sz="1600" b="0" i="0" u="none" strike="noStrike" dirty="0">
                <a:solidFill>
                  <a:srgbClr val="000000"/>
                </a:solidFill>
                <a:effectLst/>
              </a:rPr>
              <a:t>The overall goal of this code is to:</a:t>
            </a:r>
          </a:p>
          <a:p>
            <a:pPr algn="l">
              <a:buNone/>
            </a:pPr>
            <a:endParaRPr lang="en-GB" sz="1600" b="0" i="0" u="none" strike="noStrike" dirty="0">
              <a:solidFill>
                <a:srgbClr val="000000"/>
              </a:solidFill>
              <a:effectLst/>
            </a:endParaRPr>
          </a:p>
          <a:p>
            <a:pPr algn="l">
              <a:buFont typeface="+mj-lt"/>
              <a:buAutoNum type="arabicPeriod"/>
            </a:pPr>
            <a:r>
              <a:rPr lang="en-GB" sz="1600" b="1" i="0" u="none" strike="noStrike" dirty="0">
                <a:solidFill>
                  <a:srgbClr val="000000"/>
                </a:solidFill>
                <a:effectLst/>
              </a:rPr>
              <a:t>Create a synthetic dataset</a:t>
            </a:r>
            <a:r>
              <a:rPr lang="en-GB" sz="1600" b="0" i="0" u="none" strike="noStrike" dirty="0">
                <a:solidFill>
                  <a:srgbClr val="000000"/>
                </a:solidFill>
                <a:effectLst/>
              </a:rPr>
              <a:t> with an inherent bias against a specific demographic group (let's call them "Group B").</a:t>
            </a:r>
          </a:p>
          <a:p>
            <a:pPr algn="l">
              <a:buFont typeface="+mj-lt"/>
              <a:buAutoNum type="arabicPeriod"/>
            </a:pPr>
            <a:endParaRPr lang="en-GB" sz="1600" b="0" i="0" u="none" strike="noStrike" dirty="0">
              <a:solidFill>
                <a:srgbClr val="000000"/>
              </a:solidFill>
              <a:effectLst/>
            </a:endParaRPr>
          </a:p>
          <a:p>
            <a:pPr algn="l">
              <a:buFont typeface="+mj-lt"/>
              <a:buAutoNum type="arabicPeriod"/>
            </a:pPr>
            <a:r>
              <a:rPr lang="en-GB" sz="1600" b="1" i="0" u="none" strike="noStrike" dirty="0">
                <a:solidFill>
                  <a:srgbClr val="000000"/>
                </a:solidFill>
                <a:effectLst/>
              </a:rPr>
              <a:t>Train a baseline deep learning model</a:t>
            </a:r>
            <a:r>
              <a:rPr lang="en-GB" sz="1600" b="0" i="0" u="none" strike="noStrike" dirty="0">
                <a:solidFill>
                  <a:srgbClr val="000000"/>
                </a:solidFill>
                <a:effectLst/>
              </a:rPr>
              <a:t> (simulated by an </a:t>
            </a:r>
            <a:r>
              <a:rPr lang="en-GB" sz="1600" b="0" i="0" u="none" strike="noStrike" dirty="0" err="1">
                <a:solidFill>
                  <a:srgbClr val="000000"/>
                </a:solidFill>
                <a:effectLst/>
              </a:rPr>
              <a:t>MLPClassifier</a:t>
            </a:r>
            <a:r>
              <a:rPr lang="en-GB" sz="1600" b="0" i="0" u="none" strike="noStrike" dirty="0">
                <a:solidFill>
                  <a:srgbClr val="000000"/>
                </a:solidFill>
                <a:effectLst/>
              </a:rPr>
              <a:t>) on this biased data and show how it perpetuates or even amplifies the bias.</a:t>
            </a:r>
          </a:p>
          <a:p>
            <a:pPr algn="l">
              <a:buFont typeface="+mj-lt"/>
              <a:buAutoNum type="arabicPeriod"/>
            </a:pPr>
            <a:endParaRPr lang="en-GB" sz="1600" b="0" i="0" u="none" strike="noStrike" dirty="0">
              <a:solidFill>
                <a:srgbClr val="000000"/>
              </a:solidFill>
              <a:effectLst/>
            </a:endParaRPr>
          </a:p>
          <a:p>
            <a:pPr algn="l">
              <a:buFont typeface="+mj-lt"/>
              <a:buAutoNum type="arabicPeriod"/>
            </a:pPr>
            <a:r>
              <a:rPr lang="en-GB" sz="1600" b="1" i="0" u="none" strike="noStrike" dirty="0">
                <a:solidFill>
                  <a:srgbClr val="000000"/>
                </a:solidFill>
                <a:effectLst/>
              </a:rPr>
              <a:t>Implement a targeted data balancing strategy</a:t>
            </a:r>
            <a:r>
              <a:rPr lang="en-GB" sz="1600" b="0" i="0" u="none" strike="noStrike" dirty="0">
                <a:solidFill>
                  <a:srgbClr val="000000"/>
                </a:solidFill>
                <a:effectLst/>
              </a:rPr>
              <a:t> in the training data to mitigate this bias.</a:t>
            </a:r>
          </a:p>
          <a:p>
            <a:pPr algn="l">
              <a:buFont typeface="+mj-lt"/>
              <a:buAutoNum type="arabicPeriod"/>
            </a:pPr>
            <a:endParaRPr lang="en-GB" sz="1600" b="0" i="0" u="none" strike="noStrike" dirty="0">
              <a:solidFill>
                <a:srgbClr val="000000"/>
              </a:solidFill>
              <a:effectLst/>
            </a:endParaRPr>
          </a:p>
          <a:p>
            <a:pPr algn="l">
              <a:buFont typeface="+mj-lt"/>
              <a:buAutoNum type="arabicPeriod"/>
            </a:pPr>
            <a:r>
              <a:rPr lang="en-GB" sz="1600" b="1" i="0" u="none" strike="noStrike" dirty="0">
                <a:solidFill>
                  <a:srgbClr val="000000"/>
                </a:solidFill>
                <a:effectLst/>
              </a:rPr>
              <a:t>Train a new model</a:t>
            </a:r>
            <a:r>
              <a:rPr lang="en-GB" sz="1600" b="0" i="0" u="none" strike="noStrike" dirty="0">
                <a:solidFill>
                  <a:srgbClr val="000000"/>
                </a:solidFill>
                <a:effectLst/>
              </a:rPr>
              <a:t> on the balanced data.</a:t>
            </a:r>
          </a:p>
          <a:p>
            <a:pPr algn="l">
              <a:buFont typeface="+mj-lt"/>
              <a:buAutoNum type="arabicPeriod"/>
            </a:pPr>
            <a:endParaRPr lang="en-GB" sz="1600" b="0" i="0" u="none" strike="noStrike" dirty="0">
              <a:solidFill>
                <a:srgbClr val="000000"/>
              </a:solidFill>
              <a:effectLst/>
            </a:endParaRPr>
          </a:p>
          <a:p>
            <a:pPr algn="l">
              <a:buFont typeface="+mj-lt"/>
              <a:buAutoNum type="arabicPeriod"/>
            </a:pPr>
            <a:r>
              <a:rPr lang="en-GB" sz="1600" b="1" i="0" u="none" strike="noStrike" dirty="0">
                <a:solidFill>
                  <a:srgbClr val="000000"/>
                </a:solidFill>
                <a:effectLst/>
              </a:rPr>
              <a:t>Evaluate</a:t>
            </a:r>
            <a:r>
              <a:rPr lang="en-GB" sz="1600" b="0" i="0" u="none" strike="noStrike" dirty="0">
                <a:solidFill>
                  <a:srgbClr val="000000"/>
                </a:solidFill>
                <a:effectLst/>
              </a:rPr>
              <a:t> if the bias has been reduced in the new model's predictions.</a:t>
            </a:r>
          </a:p>
          <a:p>
            <a:pPr marL="342900" indent="-342900" algn="l">
              <a:buFont typeface="+mj-lt"/>
              <a:buAutoNum type="arabicPeriod"/>
            </a:pPr>
            <a:endParaRPr lang="en-GB" sz="1600" b="0" i="0" u="none" strike="noStrike" dirty="0">
              <a:solidFill>
                <a:srgbClr val="000000"/>
              </a:solidFill>
              <a:effectLst/>
            </a:endParaRPr>
          </a:p>
        </p:txBody>
      </p:sp>
    </p:spTree>
    <p:extLst>
      <p:ext uri="{BB962C8B-B14F-4D97-AF65-F5344CB8AC3E}">
        <p14:creationId xmlns:p14="http://schemas.microsoft.com/office/powerpoint/2010/main" val="83356949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60">
          <a:extLst>
            <a:ext uri="{FF2B5EF4-FFF2-40B4-BE49-F238E27FC236}">
              <a16:creationId xmlns:a16="http://schemas.microsoft.com/office/drawing/2014/main" id="{578E4680-499F-37B7-53FC-A3CCC1CED81D}"/>
            </a:ext>
          </a:extLst>
        </p:cNvPr>
        <p:cNvGrpSpPr/>
        <p:nvPr/>
      </p:nvGrpSpPr>
      <p:grpSpPr>
        <a:xfrm>
          <a:off x="0" y="0"/>
          <a:ext cx="0" cy="0"/>
          <a:chOff x="0" y="0"/>
          <a:chExt cx="0" cy="0"/>
        </a:xfrm>
      </p:grpSpPr>
      <p:sp>
        <p:nvSpPr>
          <p:cNvPr id="61" name="Google Shape;61;p4">
            <a:extLst>
              <a:ext uri="{FF2B5EF4-FFF2-40B4-BE49-F238E27FC236}">
                <a16:creationId xmlns:a16="http://schemas.microsoft.com/office/drawing/2014/main" id="{3ADB14CF-8772-2644-7676-0A0D366B33C5}"/>
              </a:ext>
            </a:extLst>
          </p:cNvPr>
          <p:cNvSpPr txBox="1">
            <a:spLocks noGrp="1"/>
          </p:cNvSpPr>
          <p:nvPr>
            <p:ph type="title"/>
          </p:nvPr>
        </p:nvSpPr>
        <p:spPr>
          <a:xfrm>
            <a:off x="284775" y="0"/>
            <a:ext cx="8329650" cy="627900"/>
          </a:xfrm>
          <a:prstGeom prst="rect">
            <a:avLst/>
          </a:prstGeom>
          <a:noFill/>
          <a:ln>
            <a:noFill/>
          </a:ln>
        </p:spPr>
        <p:txBody>
          <a:bodyPr spcFirstLastPara="1" wrap="square" lIns="91425" tIns="91425" rIns="91425" bIns="91425" anchor="t" anchorCtr="0">
            <a:normAutofit fontScale="90000"/>
          </a:bodyPr>
          <a:lstStyle/>
          <a:p>
            <a:r>
              <a:rPr lang="en-GB" sz="2800" b="1" i="0" u="none" strike="noStrike" dirty="0">
                <a:solidFill>
                  <a:srgbClr val="7030A0"/>
                </a:solidFill>
                <a:effectLst/>
              </a:rPr>
              <a:t>Ethical AI: Addressing Bias in Loan Approval Models</a:t>
            </a:r>
            <a:br>
              <a:rPr lang="en-GB" sz="2800" b="1" i="0" u="none" strike="noStrike" dirty="0">
                <a:solidFill>
                  <a:srgbClr val="7030A0"/>
                </a:solidFill>
                <a:effectLst/>
              </a:rPr>
            </a:br>
            <a:br>
              <a:rPr lang="en-GB" sz="2800" b="1" i="0" u="none" strike="noStrike" dirty="0">
                <a:solidFill>
                  <a:srgbClr val="7030A0"/>
                </a:solidFill>
                <a:effectLst/>
              </a:rPr>
            </a:br>
            <a:br>
              <a:rPr lang="en-GB" sz="2800" b="1" i="0" u="none" strike="noStrike" dirty="0">
                <a:solidFill>
                  <a:srgbClr val="7030A0"/>
                </a:solidFill>
                <a:effectLst/>
              </a:rPr>
            </a:br>
            <a:br>
              <a:rPr lang="en-GB" sz="2800" b="1" i="0" u="none" strike="noStrike" dirty="0">
                <a:solidFill>
                  <a:srgbClr val="7030A0"/>
                </a:solidFill>
                <a:effectLst/>
              </a:rPr>
            </a:br>
            <a:br>
              <a:rPr lang="en-GB" sz="2800" b="1" i="0" u="none" strike="noStrike" dirty="0">
                <a:solidFill>
                  <a:srgbClr val="7030A0"/>
                </a:solidFill>
                <a:effectLst/>
              </a:rPr>
            </a:br>
            <a:br>
              <a:rPr lang="en-GB" sz="2800" b="1" i="0" u="none" strike="noStrike" dirty="0">
                <a:solidFill>
                  <a:srgbClr val="7030A0"/>
                </a:solidFill>
                <a:effectLst/>
              </a:rPr>
            </a:br>
            <a:endParaRPr lang="en-GB" sz="2800" b="1" i="0" u="none" strike="noStrike" dirty="0">
              <a:solidFill>
                <a:srgbClr val="7030A0"/>
              </a:solidFill>
              <a:effectLst/>
              <a:latin typeface="+mj-lt"/>
            </a:endParaRPr>
          </a:p>
        </p:txBody>
      </p:sp>
      <p:sp>
        <p:nvSpPr>
          <p:cNvPr id="4" name="AutoShape 2" descr="Optimized Python with Numba library">
            <a:extLst>
              <a:ext uri="{FF2B5EF4-FFF2-40B4-BE49-F238E27FC236}">
                <a16:creationId xmlns:a16="http://schemas.microsoft.com/office/drawing/2014/main" id="{42D5089F-3B78-1F48-FA7C-77A4EBCA0D9C}"/>
              </a:ext>
            </a:extLst>
          </p:cNvPr>
          <p:cNvSpPr>
            <a:spLocks noChangeAspect="1" noChangeArrowheads="1"/>
          </p:cNvSpPr>
          <p:nvPr/>
        </p:nvSpPr>
        <p:spPr bwMode="auto">
          <a:xfrm>
            <a:off x="2960866" y="1871317"/>
            <a:ext cx="3771900" cy="21590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 name="TextBox 2">
            <a:extLst>
              <a:ext uri="{FF2B5EF4-FFF2-40B4-BE49-F238E27FC236}">
                <a16:creationId xmlns:a16="http://schemas.microsoft.com/office/drawing/2014/main" id="{2115C4F5-F7A1-62DE-0942-43E5A84FD006}"/>
              </a:ext>
            </a:extLst>
          </p:cNvPr>
          <p:cNvSpPr txBox="1"/>
          <p:nvPr/>
        </p:nvSpPr>
        <p:spPr>
          <a:xfrm>
            <a:off x="284775" y="627900"/>
            <a:ext cx="6551454" cy="2862322"/>
          </a:xfrm>
          <a:prstGeom prst="rect">
            <a:avLst/>
          </a:prstGeom>
          <a:noFill/>
        </p:spPr>
        <p:txBody>
          <a:bodyPr wrap="square">
            <a:spAutoFit/>
          </a:bodyPr>
          <a:lstStyle/>
          <a:p>
            <a:pPr algn="l">
              <a:buFont typeface="Arial" panose="020B0604020202020204" pitchFamily="34" charset="0"/>
              <a:buChar char="•"/>
            </a:pPr>
            <a:r>
              <a:rPr lang="en-GB" sz="2000" b="1" i="0" u="none" strike="noStrike" dirty="0">
                <a:solidFill>
                  <a:srgbClr val="000000"/>
                </a:solidFill>
                <a:effectLst/>
              </a:rPr>
              <a:t>Problem:</a:t>
            </a:r>
            <a:r>
              <a:rPr lang="en-GB" sz="2000" b="0" i="0" u="none" strike="noStrike" dirty="0">
                <a:solidFill>
                  <a:srgbClr val="000000"/>
                </a:solidFill>
                <a:effectLst/>
              </a:rPr>
              <a:t> AI models can inadvertently learn and perpetuate human biases from historical data.</a:t>
            </a:r>
          </a:p>
          <a:p>
            <a:pPr algn="l">
              <a:buFont typeface="Arial" panose="020B0604020202020204" pitchFamily="34" charset="0"/>
              <a:buChar char="•"/>
            </a:pPr>
            <a:r>
              <a:rPr lang="en-GB" sz="2000" b="1" i="0" u="none" strike="noStrike" dirty="0">
                <a:solidFill>
                  <a:srgbClr val="000000"/>
                </a:solidFill>
                <a:effectLst/>
              </a:rPr>
              <a:t>Scenario:</a:t>
            </a:r>
            <a:r>
              <a:rPr lang="en-GB" sz="2000" b="0" i="0" u="none" strike="noStrike" dirty="0">
                <a:solidFill>
                  <a:srgbClr val="000000"/>
                </a:solidFill>
                <a:effectLst/>
              </a:rPr>
              <a:t> Simulating a Deep Learning model used for Loan Approvals, exhibiting racial bias.</a:t>
            </a:r>
          </a:p>
          <a:p>
            <a:pPr algn="l">
              <a:buFont typeface="Arial" panose="020B0604020202020204" pitchFamily="34" charset="0"/>
              <a:buChar char="•"/>
            </a:pPr>
            <a:r>
              <a:rPr lang="en-GB" sz="2000" b="1" i="0" u="none" strike="noStrike" dirty="0">
                <a:solidFill>
                  <a:srgbClr val="000000"/>
                </a:solidFill>
                <a:effectLst/>
              </a:rPr>
              <a:t>Goal:</a:t>
            </a:r>
            <a:endParaRPr lang="en-GB" sz="2000" b="0" i="0" u="none" strike="noStrike" dirty="0">
              <a:solidFill>
                <a:srgbClr val="000000"/>
              </a:solidFill>
              <a:effectLst/>
            </a:endParaRPr>
          </a:p>
          <a:p>
            <a:pPr marL="742950" lvl="1" indent="-285750" algn="l">
              <a:buFont typeface="Arial" panose="020B0604020202020204" pitchFamily="34" charset="0"/>
              <a:buChar char="•"/>
            </a:pPr>
            <a:r>
              <a:rPr lang="en-GB" sz="2000" b="0" i="0" u="none" strike="noStrike" dirty="0">
                <a:solidFill>
                  <a:srgbClr val="000000"/>
                </a:solidFill>
                <a:effectLst/>
              </a:rPr>
              <a:t>Demonstrate inherent bias.</a:t>
            </a:r>
          </a:p>
          <a:p>
            <a:pPr marL="742950" lvl="1" indent="-285750" algn="l">
              <a:buFont typeface="Arial" panose="020B0604020202020204" pitchFamily="34" charset="0"/>
              <a:buChar char="•"/>
            </a:pPr>
            <a:r>
              <a:rPr lang="en-GB" sz="2000" b="0" i="0" u="none" strike="noStrike" dirty="0">
                <a:solidFill>
                  <a:srgbClr val="000000"/>
                </a:solidFill>
                <a:effectLst/>
              </a:rPr>
              <a:t>Amplify bias with a baseline model.</a:t>
            </a:r>
          </a:p>
          <a:p>
            <a:pPr marL="742950" lvl="1" indent="-285750" algn="l">
              <a:buFont typeface="Arial" panose="020B0604020202020204" pitchFamily="34" charset="0"/>
              <a:buChar char="•"/>
            </a:pPr>
            <a:r>
              <a:rPr lang="en-GB" sz="2000" b="0" i="0" u="none" strike="noStrike" dirty="0">
                <a:solidFill>
                  <a:srgbClr val="000000"/>
                </a:solidFill>
                <a:effectLst/>
              </a:rPr>
              <a:t>Mitigate bias using a data-centric approach.</a:t>
            </a:r>
          </a:p>
          <a:p>
            <a:pPr marL="342900" indent="-342900" algn="l">
              <a:buFont typeface="+mj-lt"/>
              <a:buAutoNum type="arabicPeriod"/>
            </a:pPr>
            <a:endParaRPr lang="en-GB" sz="2000" b="0" i="0" u="none" strike="noStrike" dirty="0">
              <a:solidFill>
                <a:srgbClr val="000000"/>
              </a:solidFill>
              <a:effectLst/>
            </a:endParaRPr>
          </a:p>
        </p:txBody>
      </p:sp>
    </p:spTree>
    <p:extLst>
      <p:ext uri="{BB962C8B-B14F-4D97-AF65-F5344CB8AC3E}">
        <p14:creationId xmlns:p14="http://schemas.microsoft.com/office/powerpoint/2010/main" val="236985041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60">
          <a:extLst>
            <a:ext uri="{FF2B5EF4-FFF2-40B4-BE49-F238E27FC236}">
              <a16:creationId xmlns:a16="http://schemas.microsoft.com/office/drawing/2014/main" id="{E0DE3088-3CDC-F336-EF33-47A78742FD3D}"/>
            </a:ext>
          </a:extLst>
        </p:cNvPr>
        <p:cNvGrpSpPr/>
        <p:nvPr/>
      </p:nvGrpSpPr>
      <p:grpSpPr>
        <a:xfrm>
          <a:off x="0" y="0"/>
          <a:ext cx="0" cy="0"/>
          <a:chOff x="0" y="0"/>
          <a:chExt cx="0" cy="0"/>
        </a:xfrm>
      </p:grpSpPr>
      <p:sp>
        <p:nvSpPr>
          <p:cNvPr id="61" name="Google Shape;61;p4">
            <a:extLst>
              <a:ext uri="{FF2B5EF4-FFF2-40B4-BE49-F238E27FC236}">
                <a16:creationId xmlns:a16="http://schemas.microsoft.com/office/drawing/2014/main" id="{346768AE-3460-3079-3F7E-C22DA78D686F}"/>
              </a:ext>
            </a:extLst>
          </p:cNvPr>
          <p:cNvSpPr txBox="1">
            <a:spLocks noGrp="1"/>
          </p:cNvSpPr>
          <p:nvPr>
            <p:ph type="title"/>
          </p:nvPr>
        </p:nvSpPr>
        <p:spPr>
          <a:xfrm>
            <a:off x="284775" y="0"/>
            <a:ext cx="8329650" cy="627900"/>
          </a:xfrm>
          <a:prstGeom prst="rect">
            <a:avLst/>
          </a:prstGeom>
          <a:noFill/>
          <a:ln>
            <a:noFill/>
          </a:ln>
        </p:spPr>
        <p:txBody>
          <a:bodyPr spcFirstLastPara="1" wrap="square" lIns="91425" tIns="91425" rIns="91425" bIns="91425" anchor="t" anchorCtr="0">
            <a:normAutofit fontScale="90000"/>
          </a:bodyPr>
          <a:lstStyle/>
          <a:p>
            <a:r>
              <a:rPr lang="en-GB" sz="2800" b="1" i="0" u="none" strike="noStrike" dirty="0">
                <a:solidFill>
                  <a:srgbClr val="7030A0"/>
                </a:solidFill>
                <a:effectLst/>
              </a:rPr>
              <a:t>Ethical AI: Addressing Bias in Loan Approval Models</a:t>
            </a:r>
            <a:br>
              <a:rPr lang="en-GB" sz="2800" b="1" i="0" u="none" strike="noStrike" dirty="0">
                <a:solidFill>
                  <a:srgbClr val="7030A0"/>
                </a:solidFill>
                <a:effectLst/>
              </a:rPr>
            </a:br>
            <a:br>
              <a:rPr lang="en-GB" sz="2800" b="1" i="0" u="none" strike="noStrike" dirty="0">
                <a:solidFill>
                  <a:srgbClr val="7030A0"/>
                </a:solidFill>
                <a:effectLst/>
              </a:rPr>
            </a:br>
            <a:br>
              <a:rPr lang="en-GB" sz="2800" b="1" i="0" u="none" strike="noStrike" dirty="0">
                <a:solidFill>
                  <a:srgbClr val="7030A0"/>
                </a:solidFill>
                <a:effectLst/>
              </a:rPr>
            </a:br>
            <a:br>
              <a:rPr lang="en-GB" sz="2800" b="1" i="0" u="none" strike="noStrike" dirty="0">
                <a:solidFill>
                  <a:srgbClr val="7030A0"/>
                </a:solidFill>
                <a:effectLst/>
              </a:rPr>
            </a:br>
            <a:br>
              <a:rPr lang="en-GB" sz="2800" b="1" i="0" u="none" strike="noStrike" dirty="0">
                <a:solidFill>
                  <a:srgbClr val="7030A0"/>
                </a:solidFill>
                <a:effectLst/>
              </a:rPr>
            </a:br>
            <a:br>
              <a:rPr lang="en-GB" sz="2800" b="1" i="0" u="none" strike="noStrike" dirty="0">
                <a:solidFill>
                  <a:srgbClr val="7030A0"/>
                </a:solidFill>
                <a:effectLst/>
              </a:rPr>
            </a:br>
            <a:endParaRPr lang="en-GB" sz="2800" b="1" i="0" u="none" strike="noStrike" dirty="0">
              <a:solidFill>
                <a:srgbClr val="7030A0"/>
              </a:solidFill>
              <a:effectLst/>
              <a:latin typeface="+mj-lt"/>
            </a:endParaRPr>
          </a:p>
        </p:txBody>
      </p:sp>
      <p:sp>
        <p:nvSpPr>
          <p:cNvPr id="4" name="AutoShape 2" descr="Optimized Python with Numba library">
            <a:extLst>
              <a:ext uri="{FF2B5EF4-FFF2-40B4-BE49-F238E27FC236}">
                <a16:creationId xmlns:a16="http://schemas.microsoft.com/office/drawing/2014/main" id="{104457EA-8305-A697-AA8B-8F7F4FE9EFBC}"/>
              </a:ext>
            </a:extLst>
          </p:cNvPr>
          <p:cNvSpPr>
            <a:spLocks noChangeAspect="1" noChangeArrowheads="1"/>
          </p:cNvSpPr>
          <p:nvPr/>
        </p:nvSpPr>
        <p:spPr bwMode="auto">
          <a:xfrm>
            <a:off x="2960866" y="1871317"/>
            <a:ext cx="3771900" cy="21590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 name="TextBox 2">
            <a:extLst>
              <a:ext uri="{FF2B5EF4-FFF2-40B4-BE49-F238E27FC236}">
                <a16:creationId xmlns:a16="http://schemas.microsoft.com/office/drawing/2014/main" id="{6B5CA1B9-6953-D2DC-38F2-8BD1E36D71E9}"/>
              </a:ext>
            </a:extLst>
          </p:cNvPr>
          <p:cNvSpPr txBox="1"/>
          <p:nvPr/>
        </p:nvSpPr>
        <p:spPr>
          <a:xfrm>
            <a:off x="284775" y="627900"/>
            <a:ext cx="6551454" cy="1384995"/>
          </a:xfrm>
          <a:prstGeom prst="rect">
            <a:avLst/>
          </a:prstGeom>
          <a:noFill/>
        </p:spPr>
        <p:txBody>
          <a:bodyPr wrap="square">
            <a:spAutoFit/>
          </a:bodyPr>
          <a:lstStyle/>
          <a:p>
            <a:pPr algn="l">
              <a:buNone/>
            </a:pPr>
            <a:r>
              <a:rPr lang="en-GB" b="1" i="0" u="none" strike="noStrike" dirty="0">
                <a:solidFill>
                  <a:srgbClr val="000000"/>
                </a:solidFill>
                <a:effectLst/>
              </a:rPr>
              <a:t>Simulating Bias: The Dataset</a:t>
            </a:r>
          </a:p>
          <a:p>
            <a:pPr algn="l"/>
            <a:r>
              <a:rPr lang="en-GB" b="1" i="0" u="none" strike="noStrike" dirty="0">
                <a:solidFill>
                  <a:srgbClr val="000000"/>
                </a:solidFill>
                <a:effectLst/>
              </a:rPr>
              <a:t>Concept:</a:t>
            </a:r>
            <a:r>
              <a:rPr lang="en-GB" b="0" i="0" u="none" strike="noStrike" dirty="0">
                <a:solidFill>
                  <a:srgbClr val="000000"/>
                </a:solidFill>
                <a:effectLst/>
              </a:rPr>
              <a:t> We create synthetic loan application data with features (income, credit score, age) and a sensitive attribute (race: Group A=0, Group B=1).</a:t>
            </a:r>
          </a:p>
          <a:p>
            <a:pPr algn="l"/>
            <a:r>
              <a:rPr lang="en-GB" b="1" i="0" u="none" strike="noStrike" dirty="0">
                <a:solidFill>
                  <a:srgbClr val="000000"/>
                </a:solidFill>
                <a:effectLst/>
              </a:rPr>
              <a:t>Bias Injection:</a:t>
            </a:r>
            <a:r>
              <a:rPr lang="en-GB" b="0" i="0" u="none" strike="noStrike" dirty="0">
                <a:solidFill>
                  <a:srgbClr val="000000"/>
                </a:solidFill>
                <a:effectLst/>
              </a:rPr>
              <a:t> We </a:t>
            </a:r>
            <a:r>
              <a:rPr lang="en-GB" b="0" i="1" u="none" strike="noStrike" dirty="0">
                <a:solidFill>
                  <a:srgbClr val="000000"/>
                </a:solidFill>
                <a:effectLst/>
              </a:rPr>
              <a:t>intentionally reduce</a:t>
            </a:r>
            <a:r>
              <a:rPr lang="en-GB" b="0" i="0" u="none" strike="noStrike" dirty="0">
                <a:solidFill>
                  <a:srgbClr val="000000"/>
                </a:solidFill>
                <a:effectLst/>
              </a:rPr>
              <a:t> the base loan approval probability for Group B in the data.</a:t>
            </a:r>
          </a:p>
          <a:p>
            <a:pPr marL="342900" indent="-342900" algn="l">
              <a:buFont typeface="+mj-lt"/>
              <a:buAutoNum type="arabicPeriod"/>
            </a:pPr>
            <a:endParaRPr lang="en-GB" b="0" i="0" u="none" strike="noStrike" dirty="0">
              <a:solidFill>
                <a:srgbClr val="000000"/>
              </a:solidFill>
              <a:effectLst/>
            </a:endParaRPr>
          </a:p>
        </p:txBody>
      </p:sp>
      <p:sp>
        <p:nvSpPr>
          <p:cNvPr id="5" name="TextBox 4">
            <a:extLst>
              <a:ext uri="{FF2B5EF4-FFF2-40B4-BE49-F238E27FC236}">
                <a16:creationId xmlns:a16="http://schemas.microsoft.com/office/drawing/2014/main" id="{C26B0A98-E6C4-63FF-FDFD-D9235083E6AB}"/>
              </a:ext>
            </a:extLst>
          </p:cNvPr>
          <p:cNvSpPr txBox="1"/>
          <p:nvPr/>
        </p:nvSpPr>
        <p:spPr>
          <a:xfrm>
            <a:off x="367567" y="1871317"/>
            <a:ext cx="4346929" cy="2970044"/>
          </a:xfrm>
          <a:prstGeom prst="rect">
            <a:avLst/>
          </a:prstGeom>
          <a:solidFill>
            <a:schemeClr val="accent6">
              <a:lumMod val="20000"/>
              <a:lumOff val="80000"/>
            </a:schemeClr>
          </a:solidFill>
        </p:spPr>
        <p:txBody>
          <a:bodyPr wrap="square">
            <a:spAutoFit/>
          </a:bodyPr>
          <a:lstStyle/>
          <a:p>
            <a:r>
              <a:rPr lang="en-US" sz="1100" dirty="0" err="1"/>
              <a:t>num_samples</a:t>
            </a:r>
            <a:r>
              <a:rPr lang="en-US" sz="1100" dirty="0"/>
              <a:t> = 10000</a:t>
            </a:r>
          </a:p>
          <a:p>
            <a:r>
              <a:rPr lang="en-US" sz="1100" dirty="0"/>
              <a:t># ... (lines for creating income, </a:t>
            </a:r>
            <a:r>
              <a:rPr lang="en-US" sz="1100" dirty="0" err="1"/>
              <a:t>credit_score</a:t>
            </a:r>
            <a:r>
              <a:rPr lang="en-US" sz="1100" dirty="0"/>
              <a:t>, age features)</a:t>
            </a:r>
          </a:p>
          <a:p>
            <a:r>
              <a:rPr lang="en-US" sz="1100" dirty="0"/>
              <a:t>race = </a:t>
            </a:r>
            <a:r>
              <a:rPr lang="en-US" sz="1100" dirty="0" err="1"/>
              <a:t>np.random.choice</a:t>
            </a:r>
            <a:r>
              <a:rPr lang="en-US" sz="1100" dirty="0"/>
              <a:t>([0, 1], size=</a:t>
            </a:r>
            <a:r>
              <a:rPr lang="en-US" sz="1100" dirty="0" err="1"/>
              <a:t>num_samples</a:t>
            </a:r>
            <a:r>
              <a:rPr lang="en-US" sz="1100" dirty="0"/>
              <a:t>, p=[0.7, 0.3]) # Group B is minority</a:t>
            </a:r>
          </a:p>
          <a:p>
            <a:r>
              <a:rPr lang="en-US" sz="1100" dirty="0"/>
              <a:t># ...</a:t>
            </a:r>
          </a:p>
          <a:p>
            <a:r>
              <a:rPr lang="en-US" sz="1100" dirty="0" err="1"/>
              <a:t>prob_approval</a:t>
            </a:r>
            <a:r>
              <a:rPr lang="en-US" sz="1100" dirty="0"/>
              <a:t> -= 0.20 # THIS LINE INTRODUCES BIAS for race=1</a:t>
            </a:r>
          </a:p>
          <a:p>
            <a:r>
              <a:rPr lang="en-US" sz="1100" dirty="0"/>
              <a:t># ...</a:t>
            </a:r>
          </a:p>
          <a:p>
            <a:r>
              <a:rPr lang="en-US" sz="1100" dirty="0"/>
              <a:t>data = </a:t>
            </a:r>
            <a:r>
              <a:rPr lang="en-US" sz="1100" dirty="0" err="1"/>
              <a:t>pd.DataFrame</a:t>
            </a:r>
            <a:r>
              <a:rPr lang="en-US" sz="1100" dirty="0"/>
              <a:t>({</a:t>
            </a:r>
          </a:p>
          <a:p>
            <a:r>
              <a:rPr lang="en-US" sz="1100" dirty="0"/>
              <a:t>    'income': income, '</a:t>
            </a:r>
            <a:r>
              <a:rPr lang="en-US" sz="1100" dirty="0" err="1"/>
              <a:t>credit_score</a:t>
            </a:r>
            <a:r>
              <a:rPr lang="en-US" sz="1100" dirty="0"/>
              <a:t>': </a:t>
            </a:r>
            <a:r>
              <a:rPr lang="en-US" sz="1100" dirty="0" err="1"/>
              <a:t>credit_score</a:t>
            </a:r>
            <a:r>
              <a:rPr lang="en-US" sz="1100" dirty="0"/>
              <a:t>, 'age': age,</a:t>
            </a:r>
          </a:p>
          <a:p>
            <a:r>
              <a:rPr lang="en-US" sz="1100" dirty="0"/>
              <a:t>    'race': race, '</a:t>
            </a:r>
            <a:r>
              <a:rPr lang="en-US" sz="1100" dirty="0" err="1"/>
              <a:t>loan_approval</a:t>
            </a:r>
            <a:r>
              <a:rPr lang="en-US" sz="1100" dirty="0"/>
              <a:t>': </a:t>
            </a:r>
            <a:r>
              <a:rPr lang="en-US" sz="1100" dirty="0" err="1"/>
              <a:t>loan_approval</a:t>
            </a:r>
            <a:endParaRPr lang="en-US" sz="1100" dirty="0"/>
          </a:p>
          <a:p>
            <a:r>
              <a:rPr lang="en-US" sz="1100" dirty="0"/>
              <a:t>})</a:t>
            </a:r>
          </a:p>
          <a:p>
            <a:endParaRPr lang="en-US" sz="1100" dirty="0"/>
          </a:p>
          <a:p>
            <a:r>
              <a:rPr lang="en-US" sz="1100" dirty="0"/>
              <a:t>print(</a:t>
            </a:r>
            <a:r>
              <a:rPr lang="en-US" sz="1100" dirty="0" err="1"/>
              <a:t>f"Loan</a:t>
            </a:r>
            <a:r>
              <a:rPr lang="en-US" sz="1100" dirty="0"/>
              <a:t> approval rate Group A (race=0): {data[data['race']==0]['</a:t>
            </a:r>
            <a:r>
              <a:rPr lang="en-US" sz="1100" dirty="0" err="1"/>
              <a:t>loan_approval</a:t>
            </a:r>
            <a:r>
              <a:rPr lang="en-US" sz="1100" dirty="0"/>
              <a:t>'].mean():.2f}")</a:t>
            </a:r>
          </a:p>
          <a:p>
            <a:r>
              <a:rPr lang="en-US" sz="1100" dirty="0"/>
              <a:t>print(</a:t>
            </a:r>
            <a:r>
              <a:rPr lang="en-US" sz="1100" dirty="0" err="1"/>
              <a:t>f"Loan</a:t>
            </a:r>
            <a:r>
              <a:rPr lang="en-US" sz="1100" dirty="0"/>
              <a:t> approval rate Group B (race=1): {data[data['race']==1]['</a:t>
            </a:r>
            <a:r>
              <a:rPr lang="en-US" sz="1100" dirty="0" err="1"/>
              <a:t>loan_approval</a:t>
            </a:r>
            <a:r>
              <a:rPr lang="en-US" sz="1100" dirty="0"/>
              <a:t>'].mean():.2f}")</a:t>
            </a:r>
          </a:p>
        </p:txBody>
      </p:sp>
      <p:sp>
        <p:nvSpPr>
          <p:cNvPr id="7" name="TextBox 6">
            <a:extLst>
              <a:ext uri="{FF2B5EF4-FFF2-40B4-BE49-F238E27FC236}">
                <a16:creationId xmlns:a16="http://schemas.microsoft.com/office/drawing/2014/main" id="{C55612AB-0950-C1B9-2DCE-5CC1BEC2468C}"/>
              </a:ext>
            </a:extLst>
          </p:cNvPr>
          <p:cNvSpPr txBox="1"/>
          <p:nvPr/>
        </p:nvSpPr>
        <p:spPr>
          <a:xfrm>
            <a:off x="4764486" y="2012895"/>
            <a:ext cx="3936560" cy="1815882"/>
          </a:xfrm>
          <a:prstGeom prst="rect">
            <a:avLst/>
          </a:prstGeom>
          <a:noFill/>
        </p:spPr>
        <p:txBody>
          <a:bodyPr wrap="square">
            <a:spAutoFit/>
          </a:bodyPr>
          <a:lstStyle/>
          <a:p>
            <a:r>
              <a:rPr lang="en-GB" b="1" dirty="0"/>
              <a:t>Initial Data Output: </a:t>
            </a:r>
            <a:r>
              <a:rPr lang="en-GB" dirty="0"/>
              <a:t>Loan approval rate Group A (race=0): 0.68</a:t>
            </a:r>
          </a:p>
          <a:p>
            <a:r>
              <a:rPr lang="en-GB" dirty="0"/>
              <a:t>Loan approval rate Group B (race=1): 0.48</a:t>
            </a:r>
          </a:p>
          <a:p>
            <a:r>
              <a:rPr lang="en-GB" b="1" dirty="0"/>
              <a:t>Calculated Disparate Impact Ratio (DIR):</a:t>
            </a:r>
            <a:r>
              <a:rPr lang="en-GB" dirty="0"/>
              <a:t> (0.48 / 0.68) = </a:t>
            </a:r>
            <a:r>
              <a:rPr lang="en-GB" b="1" dirty="0"/>
              <a:t>0.70</a:t>
            </a:r>
          </a:p>
          <a:p>
            <a:r>
              <a:rPr lang="en-GB" i="1" dirty="0"/>
              <a:t>Interpretation:</a:t>
            </a:r>
            <a:r>
              <a:rPr lang="en-GB" dirty="0"/>
              <a:t> Even in the raw data, Group B is approved at only 70% the rate of Group A. This is our baseline bias.</a:t>
            </a:r>
          </a:p>
        </p:txBody>
      </p:sp>
    </p:spTree>
    <p:extLst>
      <p:ext uri="{BB962C8B-B14F-4D97-AF65-F5344CB8AC3E}">
        <p14:creationId xmlns:p14="http://schemas.microsoft.com/office/powerpoint/2010/main" val="227305578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60">
          <a:extLst>
            <a:ext uri="{FF2B5EF4-FFF2-40B4-BE49-F238E27FC236}">
              <a16:creationId xmlns:a16="http://schemas.microsoft.com/office/drawing/2014/main" id="{9D19A9FE-D986-754E-A689-80545BF033C9}"/>
            </a:ext>
          </a:extLst>
        </p:cNvPr>
        <p:cNvGrpSpPr/>
        <p:nvPr/>
      </p:nvGrpSpPr>
      <p:grpSpPr>
        <a:xfrm>
          <a:off x="0" y="0"/>
          <a:ext cx="0" cy="0"/>
          <a:chOff x="0" y="0"/>
          <a:chExt cx="0" cy="0"/>
        </a:xfrm>
      </p:grpSpPr>
      <p:sp>
        <p:nvSpPr>
          <p:cNvPr id="61" name="Google Shape;61;p4">
            <a:extLst>
              <a:ext uri="{FF2B5EF4-FFF2-40B4-BE49-F238E27FC236}">
                <a16:creationId xmlns:a16="http://schemas.microsoft.com/office/drawing/2014/main" id="{9C356C74-447A-9D13-DF4A-4351CF35926A}"/>
              </a:ext>
            </a:extLst>
          </p:cNvPr>
          <p:cNvSpPr txBox="1">
            <a:spLocks noGrp="1"/>
          </p:cNvSpPr>
          <p:nvPr>
            <p:ph type="title"/>
          </p:nvPr>
        </p:nvSpPr>
        <p:spPr>
          <a:xfrm>
            <a:off x="284775" y="0"/>
            <a:ext cx="8329650" cy="627900"/>
          </a:xfrm>
          <a:prstGeom prst="rect">
            <a:avLst/>
          </a:prstGeom>
          <a:noFill/>
          <a:ln>
            <a:noFill/>
          </a:ln>
        </p:spPr>
        <p:txBody>
          <a:bodyPr spcFirstLastPara="1" wrap="square" lIns="91425" tIns="91425" rIns="91425" bIns="91425" anchor="t" anchorCtr="0">
            <a:normAutofit fontScale="90000"/>
          </a:bodyPr>
          <a:lstStyle/>
          <a:p>
            <a:r>
              <a:rPr lang="en-GB" sz="2800" b="1" i="0" u="none" strike="noStrike" dirty="0">
                <a:solidFill>
                  <a:srgbClr val="7030A0"/>
                </a:solidFill>
                <a:effectLst/>
              </a:rPr>
              <a:t>Ethical AI: Addressing Bias in Loan Approval Models</a:t>
            </a:r>
            <a:br>
              <a:rPr lang="en-GB" sz="2800" b="1" i="0" u="none" strike="noStrike" dirty="0">
                <a:solidFill>
                  <a:srgbClr val="7030A0"/>
                </a:solidFill>
                <a:effectLst/>
              </a:rPr>
            </a:br>
            <a:br>
              <a:rPr lang="en-GB" sz="2800" b="1" i="0" u="none" strike="noStrike" dirty="0">
                <a:solidFill>
                  <a:srgbClr val="7030A0"/>
                </a:solidFill>
                <a:effectLst/>
              </a:rPr>
            </a:br>
            <a:br>
              <a:rPr lang="en-GB" sz="2800" b="1" i="0" u="none" strike="noStrike" dirty="0">
                <a:solidFill>
                  <a:srgbClr val="7030A0"/>
                </a:solidFill>
                <a:effectLst/>
              </a:rPr>
            </a:br>
            <a:br>
              <a:rPr lang="en-GB" sz="2800" b="1" i="0" u="none" strike="noStrike" dirty="0">
                <a:solidFill>
                  <a:srgbClr val="7030A0"/>
                </a:solidFill>
                <a:effectLst/>
              </a:rPr>
            </a:br>
            <a:br>
              <a:rPr lang="en-GB" sz="2800" b="1" i="0" u="none" strike="noStrike" dirty="0">
                <a:solidFill>
                  <a:srgbClr val="7030A0"/>
                </a:solidFill>
                <a:effectLst/>
              </a:rPr>
            </a:br>
            <a:br>
              <a:rPr lang="en-GB" sz="2800" b="1" i="0" u="none" strike="noStrike" dirty="0">
                <a:solidFill>
                  <a:srgbClr val="7030A0"/>
                </a:solidFill>
                <a:effectLst/>
              </a:rPr>
            </a:br>
            <a:endParaRPr lang="en-GB" sz="2800" b="1" i="0" u="none" strike="noStrike" dirty="0">
              <a:solidFill>
                <a:srgbClr val="7030A0"/>
              </a:solidFill>
              <a:effectLst/>
              <a:latin typeface="+mj-lt"/>
            </a:endParaRPr>
          </a:p>
        </p:txBody>
      </p:sp>
      <p:sp>
        <p:nvSpPr>
          <p:cNvPr id="4" name="AutoShape 2" descr="Optimized Python with Numba library">
            <a:extLst>
              <a:ext uri="{FF2B5EF4-FFF2-40B4-BE49-F238E27FC236}">
                <a16:creationId xmlns:a16="http://schemas.microsoft.com/office/drawing/2014/main" id="{7B23E4B3-0E8D-92BC-9441-DC9195784926}"/>
              </a:ext>
            </a:extLst>
          </p:cNvPr>
          <p:cNvSpPr>
            <a:spLocks noChangeAspect="1" noChangeArrowheads="1"/>
          </p:cNvSpPr>
          <p:nvPr/>
        </p:nvSpPr>
        <p:spPr bwMode="auto">
          <a:xfrm>
            <a:off x="2960866" y="1871317"/>
            <a:ext cx="3771900" cy="21590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 name="TextBox 2">
            <a:extLst>
              <a:ext uri="{FF2B5EF4-FFF2-40B4-BE49-F238E27FC236}">
                <a16:creationId xmlns:a16="http://schemas.microsoft.com/office/drawing/2014/main" id="{2C5F9447-FAC4-F9F7-FBEA-18D5555D6939}"/>
              </a:ext>
            </a:extLst>
          </p:cNvPr>
          <p:cNvSpPr txBox="1"/>
          <p:nvPr/>
        </p:nvSpPr>
        <p:spPr>
          <a:xfrm>
            <a:off x="284775" y="627900"/>
            <a:ext cx="6551454" cy="1169551"/>
          </a:xfrm>
          <a:prstGeom prst="rect">
            <a:avLst/>
          </a:prstGeom>
          <a:noFill/>
        </p:spPr>
        <p:txBody>
          <a:bodyPr wrap="square">
            <a:spAutoFit/>
          </a:bodyPr>
          <a:lstStyle/>
          <a:p>
            <a:pPr algn="l">
              <a:buNone/>
            </a:pPr>
            <a:r>
              <a:rPr lang="en-GB" b="1" i="0" u="none" strike="noStrike" dirty="0">
                <a:solidFill>
                  <a:srgbClr val="000000"/>
                </a:solidFill>
                <a:effectLst/>
              </a:rPr>
              <a:t>Baseline Model: Learning and Amplifying Bias</a:t>
            </a:r>
          </a:p>
          <a:p>
            <a:pPr algn="l"/>
            <a:r>
              <a:rPr lang="en-GB" b="1" i="0" u="none" strike="noStrike" dirty="0">
                <a:solidFill>
                  <a:srgbClr val="000000"/>
                </a:solidFill>
                <a:effectLst/>
              </a:rPr>
              <a:t>Model:</a:t>
            </a:r>
            <a:r>
              <a:rPr lang="en-GB" b="0" i="0" u="none" strike="noStrike" dirty="0">
                <a:solidFill>
                  <a:srgbClr val="000000"/>
                </a:solidFill>
                <a:effectLst/>
              </a:rPr>
              <a:t> A simple Neural Network (</a:t>
            </a:r>
            <a:r>
              <a:rPr lang="en-GB" b="0" i="0" u="none" strike="noStrike" dirty="0" err="1">
                <a:solidFill>
                  <a:srgbClr val="000000"/>
                </a:solidFill>
                <a:effectLst/>
              </a:rPr>
              <a:t>MLPClassifier</a:t>
            </a:r>
            <a:r>
              <a:rPr lang="en-GB" b="0" i="0" u="none" strike="noStrike" dirty="0">
                <a:solidFill>
                  <a:srgbClr val="000000"/>
                </a:solidFill>
                <a:effectLst/>
              </a:rPr>
              <a:t>) simulates our deep learning model.</a:t>
            </a:r>
          </a:p>
          <a:p>
            <a:pPr algn="l"/>
            <a:r>
              <a:rPr lang="en-GB" b="1" i="0" u="none" strike="noStrike" dirty="0">
                <a:solidFill>
                  <a:srgbClr val="000000"/>
                </a:solidFill>
                <a:effectLst/>
              </a:rPr>
              <a:t>Training:</a:t>
            </a:r>
            <a:r>
              <a:rPr lang="en-GB" b="0" i="0" u="none" strike="noStrike" dirty="0">
                <a:solidFill>
                  <a:srgbClr val="000000"/>
                </a:solidFill>
                <a:effectLst/>
              </a:rPr>
              <a:t> The model is trained on the </a:t>
            </a:r>
            <a:r>
              <a:rPr lang="en-GB" b="0" i="1" u="none" strike="noStrike" dirty="0">
                <a:solidFill>
                  <a:srgbClr val="000000"/>
                </a:solidFill>
                <a:effectLst/>
              </a:rPr>
              <a:t>biased</a:t>
            </a:r>
            <a:r>
              <a:rPr lang="en-GB" b="0" i="0" u="none" strike="noStrike" dirty="0">
                <a:solidFill>
                  <a:srgbClr val="000000"/>
                </a:solidFill>
                <a:effectLst/>
              </a:rPr>
              <a:t> synthetic data</a:t>
            </a:r>
          </a:p>
          <a:p>
            <a:pPr marL="342900" indent="-342900" algn="l">
              <a:buFont typeface="+mj-lt"/>
              <a:buAutoNum type="arabicPeriod"/>
            </a:pPr>
            <a:endParaRPr lang="en-GB" b="0" i="0" u="none" strike="noStrike" dirty="0">
              <a:solidFill>
                <a:srgbClr val="000000"/>
              </a:solidFill>
              <a:effectLst/>
            </a:endParaRPr>
          </a:p>
        </p:txBody>
      </p:sp>
      <p:sp>
        <p:nvSpPr>
          <p:cNvPr id="5" name="TextBox 4">
            <a:extLst>
              <a:ext uri="{FF2B5EF4-FFF2-40B4-BE49-F238E27FC236}">
                <a16:creationId xmlns:a16="http://schemas.microsoft.com/office/drawing/2014/main" id="{11A75E1B-D24B-4DF9-52E1-FA22F8CFB8FE}"/>
              </a:ext>
            </a:extLst>
          </p:cNvPr>
          <p:cNvSpPr txBox="1"/>
          <p:nvPr/>
        </p:nvSpPr>
        <p:spPr>
          <a:xfrm>
            <a:off x="367567" y="1602803"/>
            <a:ext cx="7818490" cy="1277273"/>
          </a:xfrm>
          <a:prstGeom prst="rect">
            <a:avLst/>
          </a:prstGeom>
          <a:solidFill>
            <a:schemeClr val="accent6">
              <a:lumMod val="20000"/>
              <a:lumOff val="80000"/>
            </a:schemeClr>
          </a:solidFill>
        </p:spPr>
        <p:txBody>
          <a:bodyPr wrap="square">
            <a:spAutoFit/>
          </a:bodyPr>
          <a:lstStyle/>
          <a:p>
            <a:r>
              <a:rPr lang="en-US" sz="1100" dirty="0"/>
              <a:t># Code Snippet: Training Baseline Model</a:t>
            </a:r>
          </a:p>
          <a:p>
            <a:r>
              <a:rPr lang="en-US" sz="1100" dirty="0"/>
              <a:t>X = data[['income', '</a:t>
            </a:r>
            <a:r>
              <a:rPr lang="en-US" sz="1100" dirty="0" err="1"/>
              <a:t>credit_score</a:t>
            </a:r>
            <a:r>
              <a:rPr lang="en-US" sz="1100" dirty="0"/>
              <a:t>', 'age', 'race']]</a:t>
            </a:r>
          </a:p>
          <a:p>
            <a:r>
              <a:rPr lang="en-US" sz="1100" dirty="0"/>
              <a:t>y = data['</a:t>
            </a:r>
            <a:r>
              <a:rPr lang="en-US" sz="1100" dirty="0" err="1"/>
              <a:t>loan_approval</a:t>
            </a:r>
            <a:r>
              <a:rPr lang="en-US" sz="1100" dirty="0"/>
              <a:t>']</a:t>
            </a:r>
          </a:p>
          <a:p>
            <a:r>
              <a:rPr lang="en-US" sz="1100" dirty="0"/>
              <a:t>X_train, </a:t>
            </a:r>
            <a:r>
              <a:rPr lang="en-US" sz="1100" dirty="0" err="1"/>
              <a:t>X_test</a:t>
            </a:r>
            <a:r>
              <a:rPr lang="en-US" sz="1100" dirty="0"/>
              <a:t>, </a:t>
            </a:r>
            <a:r>
              <a:rPr lang="en-US" sz="1100" dirty="0" err="1"/>
              <a:t>y_train</a:t>
            </a:r>
            <a:r>
              <a:rPr lang="en-US" sz="1100" dirty="0"/>
              <a:t>, </a:t>
            </a:r>
            <a:r>
              <a:rPr lang="en-US" sz="1100" dirty="0" err="1"/>
              <a:t>y_test</a:t>
            </a:r>
            <a:r>
              <a:rPr lang="en-US" sz="1100" dirty="0"/>
              <a:t> = </a:t>
            </a:r>
            <a:r>
              <a:rPr lang="en-US" sz="1100" dirty="0" err="1"/>
              <a:t>train_test_split</a:t>
            </a:r>
            <a:r>
              <a:rPr lang="en-US" sz="1100" dirty="0"/>
              <a:t>(X, y, </a:t>
            </a:r>
            <a:r>
              <a:rPr lang="en-US" sz="1100" dirty="0" err="1"/>
              <a:t>test_size</a:t>
            </a:r>
            <a:r>
              <a:rPr lang="en-US" sz="1100" dirty="0"/>
              <a:t>=0.2, </a:t>
            </a:r>
            <a:r>
              <a:rPr lang="en-US" sz="1100" dirty="0" err="1"/>
              <a:t>random_state</a:t>
            </a:r>
            <a:r>
              <a:rPr lang="en-US" sz="1100" dirty="0"/>
              <a:t>=42)</a:t>
            </a:r>
          </a:p>
          <a:p>
            <a:endParaRPr lang="en-US" sz="1100" dirty="0"/>
          </a:p>
          <a:p>
            <a:r>
              <a:rPr lang="en-US" sz="1100" dirty="0" err="1"/>
              <a:t>baseline_model</a:t>
            </a:r>
            <a:r>
              <a:rPr lang="en-US" sz="1100" dirty="0"/>
              <a:t> = </a:t>
            </a:r>
            <a:r>
              <a:rPr lang="en-US" sz="1100" dirty="0" err="1"/>
              <a:t>MLPClassifier</a:t>
            </a:r>
            <a:r>
              <a:rPr lang="en-US" sz="1100" dirty="0"/>
              <a:t>(</a:t>
            </a:r>
            <a:r>
              <a:rPr lang="en-US" sz="1100" dirty="0" err="1"/>
              <a:t>hidden_layer_sizes</a:t>
            </a:r>
            <a:r>
              <a:rPr lang="en-US" sz="1100" dirty="0"/>
              <a:t>=(10, 5), </a:t>
            </a:r>
            <a:r>
              <a:rPr lang="en-US" sz="1100" dirty="0" err="1"/>
              <a:t>max_iter</a:t>
            </a:r>
            <a:r>
              <a:rPr lang="en-US" sz="1100" dirty="0"/>
              <a:t>=200, </a:t>
            </a:r>
            <a:r>
              <a:rPr lang="en-US" sz="1100" dirty="0" err="1"/>
              <a:t>random_state</a:t>
            </a:r>
            <a:r>
              <a:rPr lang="en-US" sz="1100" dirty="0"/>
              <a:t>=42)</a:t>
            </a:r>
          </a:p>
          <a:p>
            <a:r>
              <a:rPr lang="en-US" sz="1100" dirty="0" err="1"/>
              <a:t>baseline_model.fit</a:t>
            </a:r>
            <a:r>
              <a:rPr lang="en-US" sz="1100" dirty="0"/>
              <a:t>(X_train, </a:t>
            </a:r>
            <a:r>
              <a:rPr lang="en-US" sz="1100" dirty="0" err="1"/>
              <a:t>y_train</a:t>
            </a:r>
            <a:r>
              <a:rPr lang="en-US" sz="1100" dirty="0"/>
              <a:t>) # Training on the original, biased data</a:t>
            </a:r>
          </a:p>
        </p:txBody>
      </p:sp>
      <p:sp>
        <p:nvSpPr>
          <p:cNvPr id="6" name="TextBox 5">
            <a:extLst>
              <a:ext uri="{FF2B5EF4-FFF2-40B4-BE49-F238E27FC236}">
                <a16:creationId xmlns:a16="http://schemas.microsoft.com/office/drawing/2014/main" id="{9B4FE46A-4622-A8F0-0A11-B3F0AFC0CCC3}"/>
              </a:ext>
            </a:extLst>
          </p:cNvPr>
          <p:cNvSpPr txBox="1"/>
          <p:nvPr/>
        </p:nvSpPr>
        <p:spPr>
          <a:xfrm>
            <a:off x="79830" y="2880076"/>
            <a:ext cx="9064170" cy="307777"/>
          </a:xfrm>
          <a:prstGeom prst="rect">
            <a:avLst/>
          </a:prstGeom>
          <a:noFill/>
        </p:spPr>
        <p:txBody>
          <a:bodyPr wrap="square">
            <a:spAutoFit/>
          </a:bodyPr>
          <a:lstStyle/>
          <a:p>
            <a:pPr algn="l"/>
            <a:r>
              <a:rPr lang="en-GB" b="1" i="0" u="none" strike="noStrike" dirty="0">
                <a:solidFill>
                  <a:srgbClr val="000000"/>
                </a:solidFill>
                <a:effectLst/>
              </a:rPr>
              <a:t>Evaluating Bias (on Test Set):</a:t>
            </a:r>
            <a:r>
              <a:rPr lang="en-GB" b="0" i="0" u="none" strike="noStrike" dirty="0">
                <a:solidFill>
                  <a:srgbClr val="000000"/>
                </a:solidFill>
                <a:effectLst/>
              </a:rPr>
              <a:t> We calculate the predicted approval rates for each group on an unseen test set.</a:t>
            </a:r>
          </a:p>
        </p:txBody>
      </p:sp>
      <p:sp>
        <p:nvSpPr>
          <p:cNvPr id="9" name="TextBox 8">
            <a:extLst>
              <a:ext uri="{FF2B5EF4-FFF2-40B4-BE49-F238E27FC236}">
                <a16:creationId xmlns:a16="http://schemas.microsoft.com/office/drawing/2014/main" id="{9711B665-8B04-4CBD-69D6-F248B06AF8AA}"/>
              </a:ext>
            </a:extLst>
          </p:cNvPr>
          <p:cNvSpPr txBox="1"/>
          <p:nvPr/>
        </p:nvSpPr>
        <p:spPr>
          <a:xfrm>
            <a:off x="284775" y="3377925"/>
            <a:ext cx="8140768" cy="1169551"/>
          </a:xfrm>
          <a:prstGeom prst="rect">
            <a:avLst/>
          </a:prstGeom>
          <a:solidFill>
            <a:schemeClr val="accent6">
              <a:lumMod val="20000"/>
              <a:lumOff val="80000"/>
            </a:schemeClr>
          </a:solidFill>
        </p:spPr>
        <p:txBody>
          <a:bodyPr wrap="square">
            <a:spAutoFit/>
          </a:bodyPr>
          <a:lstStyle/>
          <a:p>
            <a:r>
              <a:rPr lang="en-US" dirty="0" err="1"/>
              <a:t>df_test</a:t>
            </a:r>
            <a:r>
              <a:rPr lang="en-US" dirty="0"/>
              <a:t>['</a:t>
            </a:r>
            <a:r>
              <a:rPr lang="en-US" dirty="0" err="1"/>
              <a:t>predicted_approval</a:t>
            </a:r>
            <a:r>
              <a:rPr lang="en-US" dirty="0"/>
              <a:t>'] = </a:t>
            </a:r>
            <a:r>
              <a:rPr lang="en-US" dirty="0" err="1"/>
              <a:t>baseline_model.predict</a:t>
            </a:r>
            <a:r>
              <a:rPr lang="en-US" dirty="0"/>
              <a:t>(</a:t>
            </a:r>
            <a:r>
              <a:rPr lang="en-US" dirty="0" err="1"/>
              <a:t>X_test</a:t>
            </a:r>
            <a:r>
              <a:rPr lang="en-US" dirty="0"/>
              <a:t>)</a:t>
            </a:r>
          </a:p>
          <a:p>
            <a:r>
              <a:rPr lang="en-US" dirty="0" err="1"/>
              <a:t>approval_rates_baseline</a:t>
            </a:r>
            <a:r>
              <a:rPr lang="en-US" dirty="0"/>
              <a:t> = </a:t>
            </a:r>
            <a:r>
              <a:rPr lang="en-US" dirty="0" err="1"/>
              <a:t>df_test.groupby</a:t>
            </a:r>
            <a:r>
              <a:rPr lang="en-US" dirty="0"/>
              <a:t>('race')['</a:t>
            </a:r>
            <a:r>
              <a:rPr lang="en-US" dirty="0" err="1"/>
              <a:t>predicted_approval</a:t>
            </a:r>
            <a:r>
              <a:rPr lang="en-US" dirty="0"/>
              <a:t>'].mean()</a:t>
            </a:r>
          </a:p>
          <a:p>
            <a:endParaRPr lang="en-US" dirty="0"/>
          </a:p>
          <a:p>
            <a:r>
              <a:rPr lang="en-US" dirty="0"/>
              <a:t>print(</a:t>
            </a:r>
            <a:r>
              <a:rPr lang="en-US" dirty="0" err="1"/>
              <a:t>f"Predicted</a:t>
            </a:r>
            <a:r>
              <a:rPr lang="en-US" dirty="0"/>
              <a:t> Approval Rate for Group A (race=0): {</a:t>
            </a:r>
            <a:r>
              <a:rPr lang="en-US" dirty="0" err="1"/>
              <a:t>approval_rates_baseline.get</a:t>
            </a:r>
            <a:r>
              <a:rPr lang="en-US" dirty="0"/>
              <a:t>(0, 0):.2f}")</a:t>
            </a:r>
          </a:p>
          <a:p>
            <a:r>
              <a:rPr lang="en-US" dirty="0"/>
              <a:t>print(</a:t>
            </a:r>
            <a:r>
              <a:rPr lang="en-US" dirty="0" err="1"/>
              <a:t>f"Predicted</a:t>
            </a:r>
            <a:r>
              <a:rPr lang="en-US" dirty="0"/>
              <a:t> Approval Rate for Group B (race=1): {</a:t>
            </a:r>
            <a:r>
              <a:rPr lang="en-US" dirty="0" err="1"/>
              <a:t>approval_rates_baseline.get</a:t>
            </a:r>
            <a:r>
              <a:rPr lang="en-US" dirty="0"/>
              <a:t>(1, 0):.2f}")</a:t>
            </a:r>
          </a:p>
        </p:txBody>
      </p:sp>
    </p:spTree>
    <p:extLst>
      <p:ext uri="{BB962C8B-B14F-4D97-AF65-F5344CB8AC3E}">
        <p14:creationId xmlns:p14="http://schemas.microsoft.com/office/powerpoint/2010/main" val="298786590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60">
          <a:extLst>
            <a:ext uri="{FF2B5EF4-FFF2-40B4-BE49-F238E27FC236}">
              <a16:creationId xmlns:a16="http://schemas.microsoft.com/office/drawing/2014/main" id="{6BC7FAED-22D7-D717-0AEC-07D0ADEDFB36}"/>
            </a:ext>
          </a:extLst>
        </p:cNvPr>
        <p:cNvGrpSpPr/>
        <p:nvPr/>
      </p:nvGrpSpPr>
      <p:grpSpPr>
        <a:xfrm>
          <a:off x="0" y="0"/>
          <a:ext cx="0" cy="0"/>
          <a:chOff x="0" y="0"/>
          <a:chExt cx="0" cy="0"/>
        </a:xfrm>
      </p:grpSpPr>
      <p:sp>
        <p:nvSpPr>
          <p:cNvPr id="61" name="Google Shape;61;p4">
            <a:extLst>
              <a:ext uri="{FF2B5EF4-FFF2-40B4-BE49-F238E27FC236}">
                <a16:creationId xmlns:a16="http://schemas.microsoft.com/office/drawing/2014/main" id="{618CBDE4-5051-DBD3-9CB3-1745DB99A7D1}"/>
              </a:ext>
            </a:extLst>
          </p:cNvPr>
          <p:cNvSpPr txBox="1">
            <a:spLocks noGrp="1"/>
          </p:cNvSpPr>
          <p:nvPr>
            <p:ph type="title"/>
          </p:nvPr>
        </p:nvSpPr>
        <p:spPr>
          <a:xfrm>
            <a:off x="284775" y="0"/>
            <a:ext cx="8329650" cy="627900"/>
          </a:xfrm>
          <a:prstGeom prst="rect">
            <a:avLst/>
          </a:prstGeom>
          <a:noFill/>
          <a:ln>
            <a:noFill/>
          </a:ln>
        </p:spPr>
        <p:txBody>
          <a:bodyPr spcFirstLastPara="1" wrap="square" lIns="91425" tIns="91425" rIns="91425" bIns="91425" anchor="t" anchorCtr="0">
            <a:normAutofit fontScale="90000"/>
          </a:bodyPr>
          <a:lstStyle/>
          <a:p>
            <a:r>
              <a:rPr lang="en-GB" sz="2800" b="1" i="0" u="none" strike="noStrike" dirty="0">
                <a:solidFill>
                  <a:srgbClr val="7030A0"/>
                </a:solidFill>
                <a:effectLst/>
              </a:rPr>
              <a:t>Ethical AI: Addressing Bias in Loan Approval Models</a:t>
            </a:r>
            <a:br>
              <a:rPr lang="en-GB" sz="2800" b="1" i="0" u="none" strike="noStrike" dirty="0">
                <a:solidFill>
                  <a:srgbClr val="7030A0"/>
                </a:solidFill>
                <a:effectLst/>
              </a:rPr>
            </a:br>
            <a:br>
              <a:rPr lang="en-GB" sz="2800" b="1" i="0" u="none" strike="noStrike" dirty="0">
                <a:solidFill>
                  <a:srgbClr val="7030A0"/>
                </a:solidFill>
                <a:effectLst/>
              </a:rPr>
            </a:br>
            <a:br>
              <a:rPr lang="en-GB" sz="2800" b="1" i="0" u="none" strike="noStrike" dirty="0">
                <a:solidFill>
                  <a:srgbClr val="7030A0"/>
                </a:solidFill>
                <a:effectLst/>
              </a:rPr>
            </a:br>
            <a:br>
              <a:rPr lang="en-GB" sz="2800" b="1" i="0" u="none" strike="noStrike" dirty="0">
                <a:solidFill>
                  <a:srgbClr val="7030A0"/>
                </a:solidFill>
                <a:effectLst/>
              </a:rPr>
            </a:br>
            <a:br>
              <a:rPr lang="en-GB" sz="2800" b="1" i="0" u="none" strike="noStrike" dirty="0">
                <a:solidFill>
                  <a:srgbClr val="7030A0"/>
                </a:solidFill>
                <a:effectLst/>
              </a:rPr>
            </a:br>
            <a:br>
              <a:rPr lang="en-GB" sz="2800" b="1" i="0" u="none" strike="noStrike" dirty="0">
                <a:solidFill>
                  <a:srgbClr val="7030A0"/>
                </a:solidFill>
                <a:effectLst/>
              </a:rPr>
            </a:br>
            <a:endParaRPr lang="en-GB" sz="2800" b="1" i="0" u="none" strike="noStrike" dirty="0">
              <a:solidFill>
                <a:srgbClr val="7030A0"/>
              </a:solidFill>
              <a:effectLst/>
              <a:latin typeface="+mj-lt"/>
            </a:endParaRPr>
          </a:p>
        </p:txBody>
      </p:sp>
      <p:sp>
        <p:nvSpPr>
          <p:cNvPr id="4" name="AutoShape 2" descr="Optimized Python with Numba library">
            <a:extLst>
              <a:ext uri="{FF2B5EF4-FFF2-40B4-BE49-F238E27FC236}">
                <a16:creationId xmlns:a16="http://schemas.microsoft.com/office/drawing/2014/main" id="{D813518C-CDD8-45C5-B175-92EEFEA8E27C}"/>
              </a:ext>
            </a:extLst>
          </p:cNvPr>
          <p:cNvSpPr>
            <a:spLocks noChangeAspect="1" noChangeArrowheads="1"/>
          </p:cNvSpPr>
          <p:nvPr/>
        </p:nvSpPr>
        <p:spPr bwMode="auto">
          <a:xfrm>
            <a:off x="2960866" y="1871317"/>
            <a:ext cx="3771900" cy="21590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 name="TextBox 2">
            <a:extLst>
              <a:ext uri="{FF2B5EF4-FFF2-40B4-BE49-F238E27FC236}">
                <a16:creationId xmlns:a16="http://schemas.microsoft.com/office/drawing/2014/main" id="{38AC5A28-A589-E417-55ED-4FF3CAFDEF64}"/>
              </a:ext>
            </a:extLst>
          </p:cNvPr>
          <p:cNvSpPr txBox="1"/>
          <p:nvPr/>
        </p:nvSpPr>
        <p:spPr>
          <a:xfrm>
            <a:off x="50731" y="961728"/>
            <a:ext cx="8859225" cy="2862322"/>
          </a:xfrm>
          <a:prstGeom prst="rect">
            <a:avLst/>
          </a:prstGeom>
          <a:noFill/>
        </p:spPr>
        <p:txBody>
          <a:bodyPr wrap="square">
            <a:spAutoFit/>
          </a:bodyPr>
          <a:lstStyle/>
          <a:p>
            <a:r>
              <a:rPr lang="en-GB" sz="2000" b="1" dirty="0"/>
              <a:t>Baseline Model Output:</a:t>
            </a:r>
          </a:p>
          <a:p>
            <a:r>
              <a:rPr lang="en-GB" sz="2000" dirty="0"/>
              <a:t>Predicted Approval Rate for Group A (race=0): 0.99</a:t>
            </a:r>
          </a:p>
          <a:p>
            <a:r>
              <a:rPr lang="en-GB" sz="2000" dirty="0"/>
              <a:t>Predicted Approval Rate for Group B (race=1): 0.39</a:t>
            </a:r>
          </a:p>
          <a:p>
            <a:r>
              <a:rPr lang="en-GB" sz="2000" b="1" dirty="0"/>
              <a:t>Calculated Disparate Impact Ratio (Baseline Model):</a:t>
            </a:r>
            <a:r>
              <a:rPr lang="en-GB" sz="2000" dirty="0"/>
              <a:t> (0.39 / 0.99) = </a:t>
            </a:r>
            <a:r>
              <a:rPr lang="en-GB" sz="2000" b="1" dirty="0"/>
              <a:t>0.39</a:t>
            </a:r>
          </a:p>
          <a:p>
            <a:r>
              <a:rPr lang="en-GB" sz="2000" i="1" dirty="0"/>
              <a:t>Interpretation:</a:t>
            </a:r>
            <a:r>
              <a:rPr lang="en-GB" sz="2000" dirty="0"/>
              <a:t> The model not only learned the bias but </a:t>
            </a:r>
            <a:r>
              <a:rPr lang="en-GB" sz="2000" b="1" dirty="0"/>
              <a:t>significantly amplified it</a:t>
            </a:r>
            <a:r>
              <a:rPr lang="en-GB" sz="2000" dirty="0"/>
              <a:t>! Group B is now approved at only 39% the rate of Group A, compared to 70% in the raw data. This highlights how models can exacerbate existing unfairness.</a:t>
            </a:r>
          </a:p>
          <a:p>
            <a:pPr algn="l"/>
            <a:endParaRPr lang="en-GB" sz="2000" b="0" i="0" u="none" strike="noStrike" dirty="0">
              <a:solidFill>
                <a:srgbClr val="000000"/>
              </a:solidFill>
              <a:effectLst/>
            </a:endParaRPr>
          </a:p>
        </p:txBody>
      </p:sp>
    </p:spTree>
    <p:extLst>
      <p:ext uri="{BB962C8B-B14F-4D97-AF65-F5344CB8AC3E}">
        <p14:creationId xmlns:p14="http://schemas.microsoft.com/office/powerpoint/2010/main" val="50810385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60">
          <a:extLst>
            <a:ext uri="{FF2B5EF4-FFF2-40B4-BE49-F238E27FC236}">
              <a16:creationId xmlns:a16="http://schemas.microsoft.com/office/drawing/2014/main" id="{575D6E40-4439-0BCA-EFF0-A0DC2780F4D5}"/>
            </a:ext>
          </a:extLst>
        </p:cNvPr>
        <p:cNvGrpSpPr/>
        <p:nvPr/>
      </p:nvGrpSpPr>
      <p:grpSpPr>
        <a:xfrm>
          <a:off x="0" y="0"/>
          <a:ext cx="0" cy="0"/>
          <a:chOff x="0" y="0"/>
          <a:chExt cx="0" cy="0"/>
        </a:xfrm>
      </p:grpSpPr>
      <p:sp>
        <p:nvSpPr>
          <p:cNvPr id="61" name="Google Shape;61;p4">
            <a:extLst>
              <a:ext uri="{FF2B5EF4-FFF2-40B4-BE49-F238E27FC236}">
                <a16:creationId xmlns:a16="http://schemas.microsoft.com/office/drawing/2014/main" id="{28DDF094-65E0-5EA0-2E47-C1948E13A3C5}"/>
              </a:ext>
            </a:extLst>
          </p:cNvPr>
          <p:cNvSpPr txBox="1">
            <a:spLocks noGrp="1"/>
          </p:cNvSpPr>
          <p:nvPr>
            <p:ph type="title"/>
          </p:nvPr>
        </p:nvSpPr>
        <p:spPr>
          <a:xfrm>
            <a:off x="284775" y="0"/>
            <a:ext cx="8329650" cy="627900"/>
          </a:xfrm>
          <a:prstGeom prst="rect">
            <a:avLst/>
          </a:prstGeom>
          <a:noFill/>
          <a:ln>
            <a:noFill/>
          </a:ln>
        </p:spPr>
        <p:txBody>
          <a:bodyPr spcFirstLastPara="1" wrap="square" lIns="91425" tIns="91425" rIns="91425" bIns="91425" anchor="t" anchorCtr="0">
            <a:normAutofit fontScale="90000"/>
          </a:bodyPr>
          <a:lstStyle/>
          <a:p>
            <a:r>
              <a:rPr lang="en-GB" sz="2800" b="1" i="0" u="none" strike="noStrike" dirty="0">
                <a:solidFill>
                  <a:srgbClr val="7030A0"/>
                </a:solidFill>
                <a:effectLst/>
              </a:rPr>
              <a:t>Ethical AI: Addressing Bias in Loan Approval Models</a:t>
            </a:r>
            <a:br>
              <a:rPr lang="en-GB" sz="2800" b="1" i="0" u="none" strike="noStrike" dirty="0">
                <a:solidFill>
                  <a:srgbClr val="7030A0"/>
                </a:solidFill>
                <a:effectLst/>
              </a:rPr>
            </a:br>
            <a:br>
              <a:rPr lang="en-GB" sz="2800" b="1" i="0" u="none" strike="noStrike" dirty="0">
                <a:solidFill>
                  <a:srgbClr val="7030A0"/>
                </a:solidFill>
                <a:effectLst/>
              </a:rPr>
            </a:br>
            <a:br>
              <a:rPr lang="en-GB" sz="2800" b="1" i="0" u="none" strike="noStrike" dirty="0">
                <a:solidFill>
                  <a:srgbClr val="7030A0"/>
                </a:solidFill>
                <a:effectLst/>
              </a:rPr>
            </a:br>
            <a:br>
              <a:rPr lang="en-GB" sz="2800" b="1" i="0" u="none" strike="noStrike" dirty="0">
                <a:solidFill>
                  <a:srgbClr val="7030A0"/>
                </a:solidFill>
                <a:effectLst/>
              </a:rPr>
            </a:br>
            <a:br>
              <a:rPr lang="en-GB" sz="2800" b="1" i="0" u="none" strike="noStrike" dirty="0">
                <a:solidFill>
                  <a:srgbClr val="7030A0"/>
                </a:solidFill>
                <a:effectLst/>
              </a:rPr>
            </a:br>
            <a:br>
              <a:rPr lang="en-GB" sz="2800" b="1" i="0" u="none" strike="noStrike" dirty="0">
                <a:solidFill>
                  <a:srgbClr val="7030A0"/>
                </a:solidFill>
                <a:effectLst/>
              </a:rPr>
            </a:br>
            <a:endParaRPr lang="en-GB" sz="2800" b="1" i="0" u="none" strike="noStrike" dirty="0">
              <a:solidFill>
                <a:srgbClr val="7030A0"/>
              </a:solidFill>
              <a:effectLst/>
              <a:latin typeface="+mj-lt"/>
            </a:endParaRPr>
          </a:p>
        </p:txBody>
      </p:sp>
      <p:sp>
        <p:nvSpPr>
          <p:cNvPr id="4" name="AutoShape 2" descr="Optimized Python with Numba library">
            <a:extLst>
              <a:ext uri="{FF2B5EF4-FFF2-40B4-BE49-F238E27FC236}">
                <a16:creationId xmlns:a16="http://schemas.microsoft.com/office/drawing/2014/main" id="{92B19018-09CB-96D4-8ECF-AB766D82C40F}"/>
              </a:ext>
            </a:extLst>
          </p:cNvPr>
          <p:cNvSpPr>
            <a:spLocks noChangeAspect="1" noChangeArrowheads="1"/>
          </p:cNvSpPr>
          <p:nvPr/>
        </p:nvSpPr>
        <p:spPr bwMode="auto">
          <a:xfrm>
            <a:off x="2960866" y="1871317"/>
            <a:ext cx="3771900" cy="21590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 name="TextBox 2">
            <a:extLst>
              <a:ext uri="{FF2B5EF4-FFF2-40B4-BE49-F238E27FC236}">
                <a16:creationId xmlns:a16="http://schemas.microsoft.com/office/drawing/2014/main" id="{B2A3E597-C75B-5190-9446-8A83DB70DD7D}"/>
              </a:ext>
            </a:extLst>
          </p:cNvPr>
          <p:cNvSpPr txBox="1"/>
          <p:nvPr/>
        </p:nvSpPr>
        <p:spPr>
          <a:xfrm>
            <a:off x="19987" y="471821"/>
            <a:ext cx="8859225" cy="1600438"/>
          </a:xfrm>
          <a:prstGeom prst="rect">
            <a:avLst/>
          </a:prstGeom>
          <a:noFill/>
        </p:spPr>
        <p:txBody>
          <a:bodyPr wrap="square">
            <a:spAutoFit/>
          </a:bodyPr>
          <a:lstStyle/>
          <a:p>
            <a:pPr algn="l">
              <a:buNone/>
            </a:pPr>
            <a:r>
              <a:rPr lang="en-GB" b="1" i="0" u="none" strike="noStrike" dirty="0">
                <a:solidFill>
                  <a:srgbClr val="000000"/>
                </a:solidFill>
                <a:effectLst/>
              </a:rPr>
              <a:t>Mitigation Strategy: Targeted Data Balancing</a:t>
            </a:r>
          </a:p>
          <a:p>
            <a:pPr marL="342900" indent="-342900" algn="l">
              <a:buFont typeface="+mj-lt"/>
              <a:buAutoNum type="arabicPeriod"/>
            </a:pPr>
            <a:r>
              <a:rPr lang="en-GB" b="1" i="0" u="none" strike="noStrike" dirty="0">
                <a:solidFill>
                  <a:srgbClr val="000000"/>
                </a:solidFill>
                <a:effectLst/>
              </a:rPr>
              <a:t>Challenge:</a:t>
            </a:r>
            <a:r>
              <a:rPr lang="en-GB" b="0" i="0" u="none" strike="noStrike" dirty="0">
                <a:solidFill>
                  <a:srgbClr val="000000"/>
                </a:solidFill>
                <a:effectLst/>
              </a:rPr>
              <a:t> The model learned the biased </a:t>
            </a:r>
            <a:r>
              <a:rPr lang="en-GB" b="0" i="1" u="none" strike="noStrike" dirty="0">
                <a:solidFill>
                  <a:srgbClr val="000000"/>
                </a:solidFill>
                <a:effectLst/>
              </a:rPr>
              <a:t>outcome distribution</a:t>
            </a:r>
            <a:r>
              <a:rPr lang="en-GB" b="0" i="0" u="none" strike="noStrike" dirty="0">
                <a:solidFill>
                  <a:srgbClr val="000000"/>
                </a:solidFill>
                <a:effectLst/>
              </a:rPr>
              <a:t> for Group B (lower approval rates).</a:t>
            </a:r>
          </a:p>
          <a:p>
            <a:pPr marL="342900" indent="-342900" algn="l">
              <a:buFont typeface="+mj-lt"/>
              <a:buAutoNum type="arabicPeriod"/>
            </a:pPr>
            <a:r>
              <a:rPr lang="en-GB" b="1" i="0" u="none" strike="noStrike" dirty="0">
                <a:solidFill>
                  <a:srgbClr val="000000"/>
                </a:solidFill>
                <a:effectLst/>
              </a:rPr>
              <a:t>Strategy:</a:t>
            </a:r>
            <a:r>
              <a:rPr lang="en-GB" b="0" i="0" u="none" strike="noStrike" dirty="0">
                <a:solidFill>
                  <a:srgbClr val="000000"/>
                </a:solidFill>
                <a:effectLst/>
              </a:rPr>
              <a:t> We need to "teach" the model that Group B </a:t>
            </a:r>
            <a:r>
              <a:rPr lang="en-GB" b="0" i="1" u="none" strike="noStrike" dirty="0">
                <a:solidFill>
                  <a:srgbClr val="000000"/>
                </a:solidFill>
                <a:effectLst/>
              </a:rPr>
              <a:t>can also</a:t>
            </a:r>
            <a:r>
              <a:rPr lang="en-GB" b="0" i="0" u="none" strike="noStrike" dirty="0">
                <a:solidFill>
                  <a:srgbClr val="000000"/>
                </a:solidFill>
                <a:effectLst/>
              </a:rPr>
              <a:t> have high approval rates by making the training data more equitable regarding approval outcomes.</a:t>
            </a:r>
          </a:p>
          <a:p>
            <a:pPr marL="342900" indent="-342900" algn="l">
              <a:buFont typeface="+mj-lt"/>
              <a:buAutoNum type="arabicPeriod"/>
            </a:pPr>
            <a:r>
              <a:rPr lang="en-GB" b="1" i="0" u="none" strike="noStrike" dirty="0">
                <a:solidFill>
                  <a:srgbClr val="000000"/>
                </a:solidFill>
                <a:effectLst/>
              </a:rPr>
              <a:t>Method:</a:t>
            </a:r>
            <a:r>
              <a:rPr lang="en-GB" b="0" i="0" u="none" strike="noStrike" dirty="0">
                <a:solidFill>
                  <a:srgbClr val="000000"/>
                </a:solidFill>
                <a:effectLst/>
              </a:rPr>
              <a:t> </a:t>
            </a:r>
            <a:r>
              <a:rPr lang="en-GB" b="1" i="0" u="none" strike="noStrike" dirty="0">
                <a:solidFill>
                  <a:srgbClr val="000000"/>
                </a:solidFill>
                <a:effectLst/>
              </a:rPr>
              <a:t>Oversample (duplicate) the </a:t>
            </a:r>
            <a:r>
              <a:rPr lang="en-GB" b="1" i="1" u="none" strike="noStrike" dirty="0">
                <a:solidFill>
                  <a:srgbClr val="000000"/>
                </a:solidFill>
                <a:effectLst/>
              </a:rPr>
              <a:t>approved</a:t>
            </a:r>
            <a:r>
              <a:rPr lang="en-GB" b="1" i="0" u="none" strike="noStrike" dirty="0">
                <a:solidFill>
                  <a:srgbClr val="000000"/>
                </a:solidFill>
                <a:effectLst/>
              </a:rPr>
              <a:t> cases from the disadvantaged group (Group B)</a:t>
            </a:r>
            <a:r>
              <a:rPr lang="en-GB" b="0" i="0" u="none" strike="noStrike" dirty="0">
                <a:solidFill>
                  <a:srgbClr val="000000"/>
                </a:solidFill>
                <a:effectLst/>
              </a:rPr>
              <a:t> in the training dataset.</a:t>
            </a:r>
          </a:p>
          <a:p>
            <a:pPr algn="l"/>
            <a:endParaRPr lang="en-GB" b="0" i="0" u="none" strike="noStrike" dirty="0">
              <a:solidFill>
                <a:srgbClr val="000000"/>
              </a:solidFill>
              <a:effectLst/>
            </a:endParaRPr>
          </a:p>
        </p:txBody>
      </p:sp>
      <p:sp>
        <p:nvSpPr>
          <p:cNvPr id="5" name="TextBox 4">
            <a:extLst>
              <a:ext uri="{FF2B5EF4-FFF2-40B4-BE49-F238E27FC236}">
                <a16:creationId xmlns:a16="http://schemas.microsoft.com/office/drawing/2014/main" id="{50B78EE1-637C-2F3A-5088-31D70B86EAE3}"/>
              </a:ext>
            </a:extLst>
          </p:cNvPr>
          <p:cNvSpPr txBox="1"/>
          <p:nvPr/>
        </p:nvSpPr>
        <p:spPr>
          <a:xfrm>
            <a:off x="464555" y="1819513"/>
            <a:ext cx="8214889" cy="3323987"/>
          </a:xfrm>
          <a:prstGeom prst="rect">
            <a:avLst/>
          </a:prstGeom>
          <a:solidFill>
            <a:schemeClr val="accent6">
              <a:lumMod val="20000"/>
              <a:lumOff val="80000"/>
            </a:schemeClr>
          </a:solidFill>
        </p:spPr>
        <p:txBody>
          <a:bodyPr wrap="square">
            <a:spAutoFit/>
          </a:bodyPr>
          <a:lstStyle/>
          <a:p>
            <a:r>
              <a:rPr lang="en-US" sz="1000" dirty="0"/>
              <a:t># Separate data by race and outcome for precise balancing</a:t>
            </a:r>
          </a:p>
          <a:p>
            <a:r>
              <a:rPr lang="en-US" sz="1000" dirty="0" err="1"/>
              <a:t>df_train</a:t>
            </a:r>
            <a:r>
              <a:rPr lang="en-US" sz="1000" dirty="0"/>
              <a:t> = </a:t>
            </a:r>
            <a:r>
              <a:rPr lang="en-US" sz="1000" dirty="0" err="1"/>
              <a:t>pd.DataFrame</a:t>
            </a:r>
            <a:r>
              <a:rPr lang="en-US" sz="1000" dirty="0"/>
              <a:t>(X_train, columns=</a:t>
            </a:r>
            <a:r>
              <a:rPr lang="en-US" sz="1000" dirty="0" err="1"/>
              <a:t>X.columns</a:t>
            </a:r>
            <a:r>
              <a:rPr lang="en-US" sz="1000" dirty="0"/>
              <a:t>)</a:t>
            </a:r>
          </a:p>
          <a:p>
            <a:r>
              <a:rPr lang="en-US" sz="1000" dirty="0" err="1"/>
              <a:t>df_train</a:t>
            </a:r>
            <a:r>
              <a:rPr lang="en-US" sz="1000" dirty="0"/>
              <a:t>['</a:t>
            </a:r>
            <a:r>
              <a:rPr lang="en-US" sz="1000" dirty="0" err="1"/>
              <a:t>loan_approval</a:t>
            </a:r>
            <a:r>
              <a:rPr lang="en-US" sz="1000" dirty="0"/>
              <a:t>'] = </a:t>
            </a:r>
            <a:r>
              <a:rPr lang="en-US" sz="1000" dirty="0" err="1"/>
              <a:t>y_train</a:t>
            </a:r>
            <a:endParaRPr lang="en-US" sz="1000" dirty="0"/>
          </a:p>
          <a:p>
            <a:endParaRPr lang="en-US" sz="1000" dirty="0"/>
          </a:p>
          <a:p>
            <a:r>
              <a:rPr lang="en-US" sz="1000" dirty="0" err="1"/>
              <a:t>X_train_group_A_approved</a:t>
            </a:r>
            <a:r>
              <a:rPr lang="en-US" sz="1000" dirty="0"/>
              <a:t> = </a:t>
            </a:r>
            <a:r>
              <a:rPr lang="en-US" sz="1000" dirty="0" err="1"/>
              <a:t>df_train</a:t>
            </a:r>
            <a:r>
              <a:rPr lang="en-US" sz="1000" dirty="0"/>
              <a:t>[(</a:t>
            </a:r>
            <a:r>
              <a:rPr lang="en-US" sz="1000" dirty="0" err="1"/>
              <a:t>df_train</a:t>
            </a:r>
            <a:r>
              <a:rPr lang="en-US" sz="1000" dirty="0"/>
              <a:t>['race'] == 0) &amp; (</a:t>
            </a:r>
            <a:r>
              <a:rPr lang="en-US" sz="1000" dirty="0" err="1"/>
              <a:t>df_train</a:t>
            </a:r>
            <a:r>
              <a:rPr lang="en-US" sz="1000" dirty="0"/>
              <a:t>['</a:t>
            </a:r>
            <a:r>
              <a:rPr lang="en-US" sz="1000" dirty="0" err="1"/>
              <a:t>loan_approval</a:t>
            </a:r>
            <a:r>
              <a:rPr lang="en-US" sz="1000" dirty="0"/>
              <a:t>'] == 1)].drop(columns=['</a:t>
            </a:r>
            <a:r>
              <a:rPr lang="en-US" sz="1000" dirty="0" err="1"/>
              <a:t>loan_approval</a:t>
            </a:r>
            <a:r>
              <a:rPr lang="en-US" sz="1000" dirty="0"/>
              <a:t>'])</a:t>
            </a:r>
          </a:p>
          <a:p>
            <a:r>
              <a:rPr lang="en-US" sz="1000" dirty="0"/>
              <a:t># ... similar lines for </a:t>
            </a:r>
            <a:r>
              <a:rPr lang="en-US" sz="1000" dirty="0" err="1"/>
              <a:t>A_denied</a:t>
            </a:r>
            <a:r>
              <a:rPr lang="en-US" sz="1000" dirty="0"/>
              <a:t>, </a:t>
            </a:r>
            <a:r>
              <a:rPr lang="en-US" sz="1000" dirty="0" err="1"/>
              <a:t>B_approved</a:t>
            </a:r>
            <a:r>
              <a:rPr lang="en-US" sz="1000" dirty="0"/>
              <a:t>, </a:t>
            </a:r>
            <a:r>
              <a:rPr lang="en-US" sz="1000" dirty="0" err="1"/>
              <a:t>B_denied</a:t>
            </a:r>
            <a:endParaRPr lang="en-US" sz="1000" dirty="0"/>
          </a:p>
          <a:p>
            <a:endParaRPr lang="en-US" sz="1000" dirty="0"/>
          </a:p>
          <a:p>
            <a:r>
              <a:rPr lang="en-US" sz="1000" dirty="0"/>
              <a:t># Oversample Group B's approved cases to match Group A's approved count</a:t>
            </a:r>
          </a:p>
          <a:p>
            <a:r>
              <a:rPr lang="en-US" sz="1000" dirty="0" err="1"/>
              <a:t>target_approved_B_count</a:t>
            </a:r>
            <a:r>
              <a:rPr lang="en-US" sz="1000" dirty="0"/>
              <a:t> = </a:t>
            </a:r>
            <a:r>
              <a:rPr lang="en-US" sz="1000" dirty="0" err="1"/>
              <a:t>len</a:t>
            </a:r>
            <a:r>
              <a:rPr lang="en-US" sz="1000" dirty="0"/>
              <a:t>(</a:t>
            </a:r>
            <a:r>
              <a:rPr lang="en-US" sz="1000" dirty="0" err="1"/>
              <a:t>X_train_group_A_approved</a:t>
            </a:r>
            <a:r>
              <a:rPr lang="en-US" sz="1000" dirty="0"/>
              <a:t>) </a:t>
            </a:r>
          </a:p>
          <a:p>
            <a:r>
              <a:rPr lang="en-US" sz="1000" dirty="0" err="1"/>
              <a:t>X_train_group_B_approved_oversampled</a:t>
            </a:r>
            <a:r>
              <a:rPr lang="en-US" sz="1000" dirty="0"/>
              <a:t> = </a:t>
            </a:r>
            <a:r>
              <a:rPr lang="en-US" sz="1000" dirty="0" err="1"/>
              <a:t>X_train_group_B_approved.sample</a:t>
            </a:r>
            <a:r>
              <a:rPr lang="en-US" sz="1000" dirty="0"/>
              <a:t>(n=</a:t>
            </a:r>
            <a:r>
              <a:rPr lang="en-US" sz="1000" dirty="0" err="1"/>
              <a:t>target_approved_B_count</a:t>
            </a:r>
            <a:r>
              <a:rPr lang="en-US" sz="1000" dirty="0"/>
              <a:t>, replace=True, </a:t>
            </a:r>
            <a:r>
              <a:rPr lang="en-US" sz="1000" dirty="0" err="1"/>
              <a:t>random_state</a:t>
            </a:r>
            <a:r>
              <a:rPr lang="en-US" sz="1000" dirty="0"/>
              <a:t>=42)</a:t>
            </a:r>
          </a:p>
          <a:p>
            <a:r>
              <a:rPr lang="en-US" sz="1000" dirty="0" err="1"/>
              <a:t>y_train_group_B_approved_oversampled</a:t>
            </a:r>
            <a:r>
              <a:rPr lang="en-US" sz="1000" dirty="0"/>
              <a:t> = </a:t>
            </a:r>
            <a:r>
              <a:rPr lang="en-US" sz="1000" dirty="0" err="1"/>
              <a:t>y_train_group_B_approved.loc</a:t>
            </a:r>
            <a:r>
              <a:rPr lang="en-US" sz="1000" dirty="0"/>
              <a:t>[</a:t>
            </a:r>
            <a:r>
              <a:rPr lang="en-US" sz="1000" dirty="0" err="1"/>
              <a:t>X_train_group_B_approved_oversampled.index</a:t>
            </a:r>
            <a:r>
              <a:rPr lang="en-US" sz="1000" dirty="0"/>
              <a:t>]</a:t>
            </a:r>
          </a:p>
          <a:p>
            <a:endParaRPr lang="en-US" sz="1000" dirty="0"/>
          </a:p>
          <a:p>
            <a:r>
              <a:rPr lang="en-US" sz="1000" dirty="0"/>
              <a:t># Concatenate all parts to form the new, balanced training set</a:t>
            </a:r>
          </a:p>
          <a:p>
            <a:r>
              <a:rPr lang="en-US" sz="1000" dirty="0" err="1"/>
              <a:t>X_train_balanced</a:t>
            </a:r>
            <a:r>
              <a:rPr lang="en-US" sz="1000" dirty="0"/>
              <a:t> = </a:t>
            </a:r>
            <a:r>
              <a:rPr lang="en-US" sz="1000" dirty="0" err="1"/>
              <a:t>pd.concat</a:t>
            </a:r>
            <a:r>
              <a:rPr lang="en-US" sz="1000" dirty="0"/>
              <a:t>([</a:t>
            </a:r>
            <a:r>
              <a:rPr lang="en-US" sz="1000" dirty="0" err="1"/>
              <a:t>X_train_group_A_approved</a:t>
            </a:r>
            <a:r>
              <a:rPr lang="en-US" sz="1000" dirty="0"/>
              <a:t>, </a:t>
            </a:r>
            <a:r>
              <a:rPr lang="en-US" sz="1000" dirty="0" err="1"/>
              <a:t>X_train_group_A_denied</a:t>
            </a:r>
            <a:r>
              <a:rPr lang="en-US" sz="1000" dirty="0"/>
              <a:t>,</a:t>
            </a:r>
          </a:p>
          <a:p>
            <a:r>
              <a:rPr lang="en-US" sz="1000" dirty="0"/>
              <a:t>                              </a:t>
            </a:r>
            <a:r>
              <a:rPr lang="en-US" sz="1000" dirty="0" err="1"/>
              <a:t>X_train_group_B_approved_oversampled</a:t>
            </a:r>
            <a:r>
              <a:rPr lang="en-US" sz="1000" dirty="0"/>
              <a:t>, </a:t>
            </a:r>
            <a:r>
              <a:rPr lang="en-US" sz="1000" dirty="0" err="1"/>
              <a:t>X_train_group_B_denied</a:t>
            </a:r>
            <a:r>
              <a:rPr lang="en-US" sz="1000" dirty="0"/>
              <a:t>], </a:t>
            </a:r>
            <a:r>
              <a:rPr lang="en-US" sz="1000" dirty="0" err="1"/>
              <a:t>ignore_index</a:t>
            </a:r>
            <a:r>
              <a:rPr lang="en-US" sz="1000" dirty="0"/>
              <a:t>=True)</a:t>
            </a:r>
          </a:p>
          <a:p>
            <a:r>
              <a:rPr lang="en-US" sz="1000" dirty="0" err="1"/>
              <a:t>y_train_balanced</a:t>
            </a:r>
            <a:r>
              <a:rPr lang="en-US" sz="1000" dirty="0"/>
              <a:t> = </a:t>
            </a:r>
            <a:r>
              <a:rPr lang="en-US" sz="1000" dirty="0" err="1"/>
              <a:t>pd.concat</a:t>
            </a:r>
            <a:r>
              <a:rPr lang="en-US" sz="1000" dirty="0"/>
              <a:t>([</a:t>
            </a:r>
            <a:r>
              <a:rPr lang="en-US" sz="1000" dirty="0" err="1"/>
              <a:t>y_train_group_A_approved</a:t>
            </a:r>
            <a:r>
              <a:rPr lang="en-US" sz="1000" dirty="0"/>
              <a:t>, </a:t>
            </a:r>
            <a:r>
              <a:rPr lang="en-US" sz="1000" dirty="0" err="1"/>
              <a:t>y_train_group_A_denied</a:t>
            </a:r>
            <a:r>
              <a:rPr lang="en-US" sz="1000" dirty="0"/>
              <a:t>,</a:t>
            </a:r>
          </a:p>
          <a:p>
            <a:r>
              <a:rPr lang="en-US" sz="1000" dirty="0"/>
              <a:t>                              </a:t>
            </a:r>
            <a:r>
              <a:rPr lang="en-US" sz="1000" dirty="0" err="1"/>
              <a:t>y_train_group_B_approved_oversampled</a:t>
            </a:r>
            <a:r>
              <a:rPr lang="en-US" sz="1000" dirty="0"/>
              <a:t>, </a:t>
            </a:r>
            <a:r>
              <a:rPr lang="en-US" sz="1000" dirty="0" err="1"/>
              <a:t>y_train_group_B_denied</a:t>
            </a:r>
            <a:r>
              <a:rPr lang="en-US" sz="1000" dirty="0"/>
              <a:t>], </a:t>
            </a:r>
            <a:r>
              <a:rPr lang="en-US" sz="1000" dirty="0" err="1"/>
              <a:t>ignore_index</a:t>
            </a:r>
            <a:r>
              <a:rPr lang="en-US" sz="1000" dirty="0"/>
              <a:t>=True)</a:t>
            </a:r>
          </a:p>
          <a:p>
            <a:endParaRPr lang="en-US" sz="1000" dirty="0"/>
          </a:p>
          <a:p>
            <a:r>
              <a:rPr lang="en-US" sz="1000" dirty="0"/>
              <a:t>print(</a:t>
            </a:r>
            <a:r>
              <a:rPr lang="en-US" sz="1000" dirty="0" err="1"/>
              <a:t>f"Balanced</a:t>
            </a:r>
            <a:r>
              <a:rPr lang="en-US" sz="1000" dirty="0"/>
              <a:t> Training Data Approval Rates (what the model now sees):")</a:t>
            </a:r>
          </a:p>
          <a:p>
            <a:r>
              <a:rPr lang="en-US" sz="1000" dirty="0"/>
              <a:t>print(f"  Group A (race=0): {</a:t>
            </a:r>
            <a:r>
              <a:rPr lang="en-US" sz="1000" dirty="0" err="1"/>
              <a:t>y_train_balanced</a:t>
            </a:r>
            <a:r>
              <a:rPr lang="en-US" sz="1000" dirty="0"/>
              <a:t>[</a:t>
            </a:r>
            <a:r>
              <a:rPr lang="en-US" sz="1000" dirty="0" err="1"/>
              <a:t>X_train_balanced</a:t>
            </a:r>
            <a:r>
              <a:rPr lang="en-US" sz="1000" dirty="0"/>
              <a:t>['race']==0].mean():.2f}")</a:t>
            </a:r>
          </a:p>
          <a:p>
            <a:r>
              <a:rPr lang="en-US" sz="1000" dirty="0"/>
              <a:t>print(f"  Group B (race=1): {</a:t>
            </a:r>
            <a:r>
              <a:rPr lang="en-US" sz="1000" dirty="0" err="1"/>
              <a:t>y_train_balanced</a:t>
            </a:r>
            <a:r>
              <a:rPr lang="en-US" sz="1000" dirty="0"/>
              <a:t>[</a:t>
            </a:r>
            <a:r>
              <a:rPr lang="en-US" sz="1000" dirty="0" err="1"/>
              <a:t>X_train_balanced</a:t>
            </a:r>
            <a:r>
              <a:rPr lang="en-US" sz="1000" dirty="0"/>
              <a:t>['race']==1].mean():.2f}")</a:t>
            </a:r>
          </a:p>
        </p:txBody>
      </p:sp>
    </p:spTree>
    <p:extLst>
      <p:ext uri="{BB962C8B-B14F-4D97-AF65-F5344CB8AC3E}">
        <p14:creationId xmlns:p14="http://schemas.microsoft.com/office/powerpoint/2010/main" val="99766237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60">
          <a:extLst>
            <a:ext uri="{FF2B5EF4-FFF2-40B4-BE49-F238E27FC236}">
              <a16:creationId xmlns:a16="http://schemas.microsoft.com/office/drawing/2014/main" id="{6B28BB0C-E664-ED86-93FC-D465350F44E7}"/>
            </a:ext>
          </a:extLst>
        </p:cNvPr>
        <p:cNvGrpSpPr/>
        <p:nvPr/>
      </p:nvGrpSpPr>
      <p:grpSpPr>
        <a:xfrm>
          <a:off x="0" y="0"/>
          <a:ext cx="0" cy="0"/>
          <a:chOff x="0" y="0"/>
          <a:chExt cx="0" cy="0"/>
        </a:xfrm>
      </p:grpSpPr>
      <p:sp>
        <p:nvSpPr>
          <p:cNvPr id="61" name="Google Shape;61;p4">
            <a:extLst>
              <a:ext uri="{FF2B5EF4-FFF2-40B4-BE49-F238E27FC236}">
                <a16:creationId xmlns:a16="http://schemas.microsoft.com/office/drawing/2014/main" id="{85004109-71AD-470C-93B7-8F9088F50AFC}"/>
              </a:ext>
            </a:extLst>
          </p:cNvPr>
          <p:cNvSpPr txBox="1">
            <a:spLocks noGrp="1"/>
          </p:cNvSpPr>
          <p:nvPr>
            <p:ph type="title"/>
          </p:nvPr>
        </p:nvSpPr>
        <p:spPr>
          <a:xfrm>
            <a:off x="284775" y="0"/>
            <a:ext cx="8329650" cy="627900"/>
          </a:xfrm>
          <a:prstGeom prst="rect">
            <a:avLst/>
          </a:prstGeom>
          <a:noFill/>
          <a:ln>
            <a:noFill/>
          </a:ln>
        </p:spPr>
        <p:txBody>
          <a:bodyPr spcFirstLastPara="1" wrap="square" lIns="91425" tIns="91425" rIns="91425" bIns="91425" anchor="t" anchorCtr="0">
            <a:normAutofit fontScale="90000"/>
          </a:bodyPr>
          <a:lstStyle/>
          <a:p>
            <a:r>
              <a:rPr lang="en-GB" sz="2800" b="1" i="0" u="none" strike="noStrike" dirty="0">
                <a:solidFill>
                  <a:srgbClr val="7030A0"/>
                </a:solidFill>
                <a:effectLst/>
              </a:rPr>
              <a:t>Ethical AI: Addressing Bias in Loan Approval Models</a:t>
            </a:r>
            <a:br>
              <a:rPr lang="en-GB" sz="2800" b="1" i="0" u="none" strike="noStrike" dirty="0">
                <a:solidFill>
                  <a:srgbClr val="7030A0"/>
                </a:solidFill>
                <a:effectLst/>
              </a:rPr>
            </a:br>
            <a:br>
              <a:rPr lang="en-GB" sz="2800" b="1" i="0" u="none" strike="noStrike" dirty="0">
                <a:solidFill>
                  <a:srgbClr val="7030A0"/>
                </a:solidFill>
                <a:effectLst/>
              </a:rPr>
            </a:br>
            <a:br>
              <a:rPr lang="en-GB" sz="2800" b="1" i="0" u="none" strike="noStrike" dirty="0">
                <a:solidFill>
                  <a:srgbClr val="7030A0"/>
                </a:solidFill>
                <a:effectLst/>
              </a:rPr>
            </a:br>
            <a:br>
              <a:rPr lang="en-GB" sz="2800" b="1" i="0" u="none" strike="noStrike" dirty="0">
                <a:solidFill>
                  <a:srgbClr val="7030A0"/>
                </a:solidFill>
                <a:effectLst/>
              </a:rPr>
            </a:br>
            <a:br>
              <a:rPr lang="en-GB" sz="2800" b="1" i="0" u="none" strike="noStrike" dirty="0">
                <a:solidFill>
                  <a:srgbClr val="7030A0"/>
                </a:solidFill>
                <a:effectLst/>
              </a:rPr>
            </a:br>
            <a:br>
              <a:rPr lang="en-GB" sz="2800" b="1" i="0" u="none" strike="noStrike" dirty="0">
                <a:solidFill>
                  <a:srgbClr val="7030A0"/>
                </a:solidFill>
                <a:effectLst/>
              </a:rPr>
            </a:br>
            <a:endParaRPr lang="en-GB" sz="2800" b="1" i="0" u="none" strike="noStrike" dirty="0">
              <a:solidFill>
                <a:srgbClr val="7030A0"/>
              </a:solidFill>
              <a:effectLst/>
              <a:latin typeface="+mj-lt"/>
            </a:endParaRPr>
          </a:p>
        </p:txBody>
      </p:sp>
      <p:sp>
        <p:nvSpPr>
          <p:cNvPr id="4" name="AutoShape 2" descr="Optimized Python with Numba library">
            <a:extLst>
              <a:ext uri="{FF2B5EF4-FFF2-40B4-BE49-F238E27FC236}">
                <a16:creationId xmlns:a16="http://schemas.microsoft.com/office/drawing/2014/main" id="{4AD0F64D-154A-018C-0EED-0BE9CD6384B9}"/>
              </a:ext>
            </a:extLst>
          </p:cNvPr>
          <p:cNvSpPr>
            <a:spLocks noChangeAspect="1" noChangeArrowheads="1"/>
          </p:cNvSpPr>
          <p:nvPr/>
        </p:nvSpPr>
        <p:spPr bwMode="auto">
          <a:xfrm>
            <a:off x="2960866" y="1871317"/>
            <a:ext cx="3771900" cy="21590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 name="TextBox 2">
            <a:extLst>
              <a:ext uri="{FF2B5EF4-FFF2-40B4-BE49-F238E27FC236}">
                <a16:creationId xmlns:a16="http://schemas.microsoft.com/office/drawing/2014/main" id="{215962EF-405A-BDF5-0E2A-4A90020AF163}"/>
              </a:ext>
            </a:extLst>
          </p:cNvPr>
          <p:cNvSpPr txBox="1"/>
          <p:nvPr/>
        </p:nvSpPr>
        <p:spPr>
          <a:xfrm>
            <a:off x="142387" y="1233821"/>
            <a:ext cx="8859225" cy="2308324"/>
          </a:xfrm>
          <a:prstGeom prst="rect">
            <a:avLst/>
          </a:prstGeom>
          <a:noFill/>
        </p:spPr>
        <p:txBody>
          <a:bodyPr wrap="square">
            <a:spAutoFit/>
          </a:bodyPr>
          <a:lstStyle/>
          <a:p>
            <a:pPr algn="l"/>
            <a:r>
              <a:rPr lang="en-GB" sz="1800" b="1" i="0" u="none" strike="noStrike" dirty="0">
                <a:solidFill>
                  <a:srgbClr val="000000"/>
                </a:solidFill>
                <a:effectLst/>
              </a:rPr>
              <a:t>Impact on Training Data Output:</a:t>
            </a:r>
          </a:p>
          <a:p>
            <a:pPr marL="342900" indent="-342900" algn="l">
              <a:buFont typeface="+mj-lt"/>
              <a:buAutoNum type="alphaLcPeriod"/>
            </a:pPr>
            <a:r>
              <a:rPr lang="en-GB" sz="1800" b="0" i="0" u="none" strike="noStrike" dirty="0">
                <a:solidFill>
                  <a:srgbClr val="000000"/>
                </a:solidFill>
                <a:effectLst/>
              </a:rPr>
              <a:t>Original Training Data Approval Rates: Group A=0.68, Group B=0.47</a:t>
            </a:r>
          </a:p>
          <a:p>
            <a:pPr marL="342900" indent="-342900" algn="l">
              <a:buFont typeface="+mj-lt"/>
              <a:buAutoNum type="alphaLcPeriod"/>
            </a:pPr>
            <a:r>
              <a:rPr lang="en-GB" sz="1800" b="0" i="0" u="none" strike="noStrike" dirty="0">
                <a:solidFill>
                  <a:srgbClr val="000000"/>
                </a:solidFill>
                <a:effectLst/>
              </a:rPr>
              <a:t>Balanced Training Data Approval Rates: Group A=0.68, Group B=0.75</a:t>
            </a:r>
          </a:p>
          <a:p>
            <a:pPr marL="342900" indent="-342900" algn="l">
              <a:buFont typeface="+mj-lt"/>
              <a:buAutoNum type="alphaLcPeriod"/>
            </a:pPr>
            <a:endParaRPr lang="en-GB" sz="1800" b="0" i="0" u="none" strike="noStrike" dirty="0">
              <a:solidFill>
                <a:srgbClr val="000000"/>
              </a:solidFill>
              <a:effectLst/>
            </a:endParaRPr>
          </a:p>
          <a:p>
            <a:pPr marL="342900" indent="-342900" algn="l">
              <a:buFont typeface="+mj-lt"/>
              <a:buAutoNum type="alphaLcPeriod"/>
            </a:pPr>
            <a:r>
              <a:rPr lang="en-GB" sz="1800" b="0" i="1" u="none" strike="noStrike" dirty="0">
                <a:solidFill>
                  <a:srgbClr val="000000"/>
                </a:solidFill>
                <a:effectLst/>
              </a:rPr>
              <a:t>Interpretation:</a:t>
            </a:r>
            <a:r>
              <a:rPr lang="en-GB" sz="1800" b="0" i="0" u="none" strike="noStrike" dirty="0">
                <a:solidFill>
                  <a:srgbClr val="000000"/>
                </a:solidFill>
                <a:effectLst/>
              </a:rPr>
              <a:t> We've successfully raised Group B's perceived approval rate in the training data to be much closer to Group A's. This is the crucial step in teaching the model a fairer reality.</a:t>
            </a:r>
          </a:p>
          <a:p>
            <a:pPr algn="l"/>
            <a:endParaRPr lang="en-GB" sz="1800" b="0" i="0" u="none" strike="noStrike" dirty="0">
              <a:solidFill>
                <a:srgbClr val="000000"/>
              </a:solidFill>
              <a:effectLst/>
            </a:endParaRPr>
          </a:p>
        </p:txBody>
      </p:sp>
    </p:spTree>
    <p:extLst>
      <p:ext uri="{BB962C8B-B14F-4D97-AF65-F5344CB8AC3E}">
        <p14:creationId xmlns:p14="http://schemas.microsoft.com/office/powerpoint/2010/main" val="27518519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60">
          <a:extLst>
            <a:ext uri="{FF2B5EF4-FFF2-40B4-BE49-F238E27FC236}">
              <a16:creationId xmlns:a16="http://schemas.microsoft.com/office/drawing/2014/main" id="{4D483DB7-DA20-A0A1-3796-5E37DC2EADC0}"/>
            </a:ext>
          </a:extLst>
        </p:cNvPr>
        <p:cNvGrpSpPr/>
        <p:nvPr/>
      </p:nvGrpSpPr>
      <p:grpSpPr>
        <a:xfrm>
          <a:off x="0" y="0"/>
          <a:ext cx="0" cy="0"/>
          <a:chOff x="0" y="0"/>
          <a:chExt cx="0" cy="0"/>
        </a:xfrm>
      </p:grpSpPr>
      <p:sp>
        <p:nvSpPr>
          <p:cNvPr id="61" name="Google Shape;61;p4">
            <a:extLst>
              <a:ext uri="{FF2B5EF4-FFF2-40B4-BE49-F238E27FC236}">
                <a16:creationId xmlns:a16="http://schemas.microsoft.com/office/drawing/2014/main" id="{3C522831-EB1A-8046-5E33-F9FA08044ABA}"/>
              </a:ext>
            </a:extLst>
          </p:cNvPr>
          <p:cNvSpPr txBox="1">
            <a:spLocks noGrp="1"/>
          </p:cNvSpPr>
          <p:nvPr>
            <p:ph type="title"/>
          </p:nvPr>
        </p:nvSpPr>
        <p:spPr>
          <a:xfrm>
            <a:off x="284775" y="0"/>
            <a:ext cx="8329650" cy="627900"/>
          </a:xfrm>
          <a:prstGeom prst="rect">
            <a:avLst/>
          </a:prstGeom>
          <a:noFill/>
          <a:ln>
            <a:noFill/>
          </a:ln>
        </p:spPr>
        <p:txBody>
          <a:bodyPr spcFirstLastPara="1" wrap="square" lIns="91425" tIns="91425" rIns="91425" bIns="91425" anchor="t" anchorCtr="0">
            <a:normAutofit fontScale="90000"/>
          </a:bodyPr>
          <a:lstStyle/>
          <a:p>
            <a:r>
              <a:rPr lang="en-GB" sz="2800" b="1" i="0" u="none" strike="noStrike" dirty="0">
                <a:solidFill>
                  <a:srgbClr val="7030A0"/>
                </a:solidFill>
                <a:effectLst/>
              </a:rPr>
              <a:t>Ethical AI: Addressing Bias in Loan Approval Models</a:t>
            </a:r>
            <a:br>
              <a:rPr lang="en-GB" sz="2800" b="1" i="0" u="none" strike="noStrike" dirty="0">
                <a:solidFill>
                  <a:srgbClr val="7030A0"/>
                </a:solidFill>
                <a:effectLst/>
              </a:rPr>
            </a:br>
            <a:br>
              <a:rPr lang="en-GB" sz="2800" b="1" i="0" u="none" strike="noStrike" dirty="0">
                <a:solidFill>
                  <a:srgbClr val="7030A0"/>
                </a:solidFill>
                <a:effectLst/>
              </a:rPr>
            </a:br>
            <a:br>
              <a:rPr lang="en-GB" sz="2800" b="1" i="0" u="none" strike="noStrike" dirty="0">
                <a:solidFill>
                  <a:srgbClr val="7030A0"/>
                </a:solidFill>
                <a:effectLst/>
              </a:rPr>
            </a:br>
            <a:br>
              <a:rPr lang="en-GB" sz="2800" b="1" i="0" u="none" strike="noStrike" dirty="0">
                <a:solidFill>
                  <a:srgbClr val="7030A0"/>
                </a:solidFill>
                <a:effectLst/>
              </a:rPr>
            </a:br>
            <a:br>
              <a:rPr lang="en-GB" sz="2800" b="1" i="0" u="none" strike="noStrike" dirty="0">
                <a:solidFill>
                  <a:srgbClr val="7030A0"/>
                </a:solidFill>
                <a:effectLst/>
              </a:rPr>
            </a:br>
            <a:br>
              <a:rPr lang="en-GB" sz="2800" b="1" i="0" u="none" strike="noStrike" dirty="0">
                <a:solidFill>
                  <a:srgbClr val="7030A0"/>
                </a:solidFill>
                <a:effectLst/>
              </a:rPr>
            </a:br>
            <a:endParaRPr lang="en-GB" sz="2800" b="1" i="0" u="none" strike="noStrike" dirty="0">
              <a:solidFill>
                <a:srgbClr val="7030A0"/>
              </a:solidFill>
              <a:effectLst/>
              <a:latin typeface="+mj-lt"/>
            </a:endParaRPr>
          </a:p>
        </p:txBody>
      </p:sp>
      <p:sp>
        <p:nvSpPr>
          <p:cNvPr id="4" name="AutoShape 2" descr="Optimized Python with Numba library">
            <a:extLst>
              <a:ext uri="{FF2B5EF4-FFF2-40B4-BE49-F238E27FC236}">
                <a16:creationId xmlns:a16="http://schemas.microsoft.com/office/drawing/2014/main" id="{A284B118-C6E4-C6BF-F25E-DBBC6FE1B11A}"/>
              </a:ext>
            </a:extLst>
          </p:cNvPr>
          <p:cNvSpPr>
            <a:spLocks noChangeAspect="1" noChangeArrowheads="1"/>
          </p:cNvSpPr>
          <p:nvPr/>
        </p:nvSpPr>
        <p:spPr bwMode="auto">
          <a:xfrm>
            <a:off x="2960866" y="1871317"/>
            <a:ext cx="3771900" cy="21590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 name="TextBox 2">
            <a:extLst>
              <a:ext uri="{FF2B5EF4-FFF2-40B4-BE49-F238E27FC236}">
                <a16:creationId xmlns:a16="http://schemas.microsoft.com/office/drawing/2014/main" id="{67855CAE-8B0C-63C4-33DC-26D1EC677A97}"/>
              </a:ext>
            </a:extLst>
          </p:cNvPr>
          <p:cNvSpPr txBox="1"/>
          <p:nvPr/>
        </p:nvSpPr>
        <p:spPr>
          <a:xfrm>
            <a:off x="142388" y="710999"/>
            <a:ext cx="7760642" cy="1077218"/>
          </a:xfrm>
          <a:prstGeom prst="rect">
            <a:avLst/>
          </a:prstGeom>
          <a:noFill/>
        </p:spPr>
        <p:txBody>
          <a:bodyPr wrap="square">
            <a:spAutoFit/>
          </a:bodyPr>
          <a:lstStyle/>
          <a:p>
            <a:pPr algn="l">
              <a:buNone/>
            </a:pPr>
            <a:r>
              <a:rPr lang="en-GB" sz="1600" b="1" i="0" u="none" strike="noStrike" dirty="0">
                <a:solidFill>
                  <a:srgbClr val="000000"/>
                </a:solidFill>
                <a:effectLst/>
              </a:rPr>
              <a:t>Mitigated Model: Training and Evaluation</a:t>
            </a:r>
          </a:p>
          <a:p>
            <a:pPr algn="l"/>
            <a:r>
              <a:rPr lang="en-GB" sz="1600" b="1" i="0" u="none" strike="noStrike" dirty="0">
                <a:solidFill>
                  <a:srgbClr val="000000"/>
                </a:solidFill>
                <a:effectLst/>
              </a:rPr>
              <a:t>Training:</a:t>
            </a:r>
            <a:r>
              <a:rPr lang="en-GB" sz="1600" b="0" i="0" u="none" strike="noStrike" dirty="0">
                <a:solidFill>
                  <a:srgbClr val="000000"/>
                </a:solidFill>
                <a:effectLst/>
              </a:rPr>
              <a:t> The same Neural Network is trained on the </a:t>
            </a:r>
            <a:r>
              <a:rPr lang="en-GB" sz="1600" b="0" i="1" u="none" strike="noStrike" dirty="0">
                <a:solidFill>
                  <a:srgbClr val="000000"/>
                </a:solidFill>
                <a:effectLst/>
              </a:rPr>
              <a:t>newly balanced</a:t>
            </a:r>
            <a:r>
              <a:rPr lang="en-GB" sz="1600" b="0" i="0" u="none" strike="noStrike" dirty="0">
                <a:solidFill>
                  <a:srgbClr val="000000"/>
                </a:solidFill>
                <a:effectLst/>
              </a:rPr>
              <a:t> training data.</a:t>
            </a:r>
          </a:p>
          <a:p>
            <a:pPr algn="l"/>
            <a:r>
              <a:rPr lang="en-GB" sz="1600" b="1" i="0" u="none" strike="noStrike" dirty="0">
                <a:solidFill>
                  <a:srgbClr val="000000"/>
                </a:solidFill>
                <a:effectLst/>
              </a:rPr>
              <a:t>Evaluation:</a:t>
            </a:r>
            <a:r>
              <a:rPr lang="en-GB" sz="1600" b="0" i="0" u="none" strike="noStrike" dirty="0">
                <a:solidFill>
                  <a:srgbClr val="000000"/>
                </a:solidFill>
                <a:effectLst/>
              </a:rPr>
              <a:t> We re-evaluate its fairness on the </a:t>
            </a:r>
            <a:r>
              <a:rPr lang="en-GB" sz="1600" b="0" i="1" u="none" strike="noStrike" dirty="0">
                <a:solidFill>
                  <a:srgbClr val="000000"/>
                </a:solidFill>
                <a:effectLst/>
              </a:rPr>
              <a:t>original, unbiased test set</a:t>
            </a:r>
            <a:r>
              <a:rPr lang="en-GB" sz="1600" b="0" i="0" u="none" strike="noStrike" dirty="0">
                <a:solidFill>
                  <a:srgbClr val="000000"/>
                </a:solidFill>
                <a:effectLst/>
              </a:rPr>
              <a:t>.</a:t>
            </a:r>
          </a:p>
          <a:p>
            <a:pPr algn="l"/>
            <a:endParaRPr lang="en-GB" sz="1600" b="0" i="0" u="none" strike="noStrike" dirty="0">
              <a:solidFill>
                <a:srgbClr val="000000"/>
              </a:solidFill>
              <a:effectLst/>
            </a:endParaRPr>
          </a:p>
        </p:txBody>
      </p:sp>
      <p:sp>
        <p:nvSpPr>
          <p:cNvPr id="5" name="TextBox 4">
            <a:extLst>
              <a:ext uri="{FF2B5EF4-FFF2-40B4-BE49-F238E27FC236}">
                <a16:creationId xmlns:a16="http://schemas.microsoft.com/office/drawing/2014/main" id="{A71C77BE-E4F0-0EAF-73AE-2D6B58922F44}"/>
              </a:ext>
            </a:extLst>
          </p:cNvPr>
          <p:cNvSpPr txBox="1"/>
          <p:nvPr/>
        </p:nvSpPr>
        <p:spPr>
          <a:xfrm>
            <a:off x="204750" y="1568104"/>
            <a:ext cx="7760642" cy="1785104"/>
          </a:xfrm>
          <a:prstGeom prst="rect">
            <a:avLst/>
          </a:prstGeom>
          <a:solidFill>
            <a:schemeClr val="accent6">
              <a:lumMod val="20000"/>
              <a:lumOff val="80000"/>
            </a:schemeClr>
          </a:solidFill>
        </p:spPr>
        <p:txBody>
          <a:bodyPr wrap="square">
            <a:spAutoFit/>
          </a:bodyPr>
          <a:lstStyle/>
          <a:p>
            <a:r>
              <a:rPr lang="en-US" sz="1000" dirty="0"/>
              <a:t># Code Snippet: Training Mitigated Model</a:t>
            </a:r>
          </a:p>
          <a:p>
            <a:r>
              <a:rPr lang="en-US" sz="1000" dirty="0" err="1"/>
              <a:t>mitigated_model</a:t>
            </a:r>
            <a:r>
              <a:rPr lang="en-US" sz="1000" dirty="0"/>
              <a:t> = </a:t>
            </a:r>
            <a:r>
              <a:rPr lang="en-US" sz="1000" dirty="0" err="1"/>
              <a:t>MLPClassifier</a:t>
            </a:r>
            <a:r>
              <a:rPr lang="en-US" sz="1000" dirty="0"/>
              <a:t>(</a:t>
            </a:r>
            <a:r>
              <a:rPr lang="en-US" sz="1000" dirty="0" err="1"/>
              <a:t>hidden_layer_sizes</a:t>
            </a:r>
            <a:r>
              <a:rPr lang="en-US" sz="1000" dirty="0"/>
              <a:t>=(10, 5), </a:t>
            </a:r>
            <a:r>
              <a:rPr lang="en-US" sz="1000" dirty="0" err="1"/>
              <a:t>max_iter</a:t>
            </a:r>
            <a:r>
              <a:rPr lang="en-US" sz="1000" dirty="0"/>
              <a:t>=200, </a:t>
            </a:r>
            <a:r>
              <a:rPr lang="en-US" sz="1000" dirty="0" err="1"/>
              <a:t>random_state</a:t>
            </a:r>
            <a:r>
              <a:rPr lang="en-US" sz="1000" dirty="0"/>
              <a:t>=42)</a:t>
            </a:r>
          </a:p>
          <a:p>
            <a:r>
              <a:rPr lang="en-US" sz="1000" dirty="0" err="1"/>
              <a:t>mitigated_model.fit</a:t>
            </a:r>
            <a:r>
              <a:rPr lang="en-US" sz="1000" dirty="0"/>
              <a:t>(</a:t>
            </a:r>
            <a:r>
              <a:rPr lang="en-US" sz="1000" dirty="0" err="1"/>
              <a:t>X_train_balanced</a:t>
            </a:r>
            <a:r>
              <a:rPr lang="en-US" sz="1000" dirty="0"/>
              <a:t>, </a:t>
            </a:r>
            <a:r>
              <a:rPr lang="en-US" sz="1000" dirty="0" err="1"/>
              <a:t>y_train_balanced</a:t>
            </a:r>
            <a:r>
              <a:rPr lang="en-US" sz="1000" dirty="0"/>
              <a:t>) # Training on the BALANCED data</a:t>
            </a:r>
          </a:p>
          <a:p>
            <a:endParaRPr lang="en-US" sz="1000" dirty="0"/>
          </a:p>
          <a:p>
            <a:r>
              <a:rPr lang="en-US" sz="1000" dirty="0"/>
              <a:t># Code Snippet: Evaluating Mitigated Bias</a:t>
            </a:r>
          </a:p>
          <a:p>
            <a:r>
              <a:rPr lang="en-US" sz="1000" dirty="0" err="1"/>
              <a:t>df_test_mitigated</a:t>
            </a:r>
            <a:r>
              <a:rPr lang="en-US" sz="1000" dirty="0"/>
              <a:t> = </a:t>
            </a:r>
            <a:r>
              <a:rPr lang="en-US" sz="1000" dirty="0" err="1"/>
              <a:t>X_test.copy</a:t>
            </a:r>
            <a:r>
              <a:rPr lang="en-US" sz="1000" dirty="0"/>
              <a:t>()</a:t>
            </a:r>
          </a:p>
          <a:p>
            <a:r>
              <a:rPr lang="en-US" sz="1000" dirty="0" err="1"/>
              <a:t>df_test_mitigated</a:t>
            </a:r>
            <a:r>
              <a:rPr lang="en-US" sz="1000" dirty="0"/>
              <a:t>['</a:t>
            </a:r>
            <a:r>
              <a:rPr lang="en-US" sz="1000" dirty="0" err="1"/>
              <a:t>predicted_approval</a:t>
            </a:r>
            <a:r>
              <a:rPr lang="en-US" sz="1000" dirty="0"/>
              <a:t>'] = </a:t>
            </a:r>
            <a:r>
              <a:rPr lang="en-US" sz="1000" dirty="0" err="1"/>
              <a:t>mitigated_model.predict</a:t>
            </a:r>
            <a:r>
              <a:rPr lang="en-US" sz="1000" dirty="0"/>
              <a:t>(</a:t>
            </a:r>
            <a:r>
              <a:rPr lang="en-US" sz="1000" dirty="0" err="1"/>
              <a:t>X_test</a:t>
            </a:r>
            <a:r>
              <a:rPr lang="en-US" sz="1000" dirty="0"/>
              <a:t>)</a:t>
            </a:r>
          </a:p>
          <a:p>
            <a:r>
              <a:rPr lang="en-US" sz="1000" dirty="0" err="1"/>
              <a:t>approval_rates_mitigated</a:t>
            </a:r>
            <a:r>
              <a:rPr lang="en-US" sz="1000" dirty="0"/>
              <a:t> = </a:t>
            </a:r>
            <a:r>
              <a:rPr lang="en-US" sz="1000" dirty="0" err="1"/>
              <a:t>df_test_mitigated.groupby</a:t>
            </a:r>
            <a:r>
              <a:rPr lang="en-US" sz="1000" dirty="0"/>
              <a:t>('race')['</a:t>
            </a:r>
            <a:r>
              <a:rPr lang="en-US" sz="1000" dirty="0" err="1"/>
              <a:t>predicted_approval</a:t>
            </a:r>
            <a:r>
              <a:rPr lang="en-US" sz="1000" dirty="0"/>
              <a:t>'].mean()</a:t>
            </a:r>
          </a:p>
          <a:p>
            <a:endParaRPr lang="en-US" sz="1000" dirty="0"/>
          </a:p>
          <a:p>
            <a:r>
              <a:rPr lang="en-US" sz="1000" dirty="0"/>
              <a:t>print(</a:t>
            </a:r>
            <a:r>
              <a:rPr lang="en-US" sz="1000" dirty="0" err="1"/>
              <a:t>f"Predicted</a:t>
            </a:r>
            <a:r>
              <a:rPr lang="en-US" sz="1000" dirty="0"/>
              <a:t> Approval Rate for Group A (race=0): {</a:t>
            </a:r>
            <a:r>
              <a:rPr lang="en-US" sz="1000" dirty="0" err="1"/>
              <a:t>approval_rates_mitigated.get</a:t>
            </a:r>
            <a:r>
              <a:rPr lang="en-US" sz="1000" dirty="0"/>
              <a:t>(0, 0):.2f}")</a:t>
            </a:r>
          </a:p>
          <a:p>
            <a:r>
              <a:rPr lang="en-US" sz="1000" dirty="0"/>
              <a:t>print(</a:t>
            </a:r>
            <a:r>
              <a:rPr lang="en-US" sz="1000" dirty="0" err="1"/>
              <a:t>f"Predicted</a:t>
            </a:r>
            <a:r>
              <a:rPr lang="en-US" sz="1000" dirty="0"/>
              <a:t> Approval Rate for Group B (race=1): {</a:t>
            </a:r>
            <a:r>
              <a:rPr lang="en-US" sz="1000" dirty="0" err="1"/>
              <a:t>approval_rates_mitigated.get</a:t>
            </a:r>
            <a:r>
              <a:rPr lang="en-US" sz="1000" dirty="0"/>
              <a:t>(1, 0):.2f}")</a:t>
            </a:r>
          </a:p>
        </p:txBody>
      </p:sp>
      <p:sp>
        <p:nvSpPr>
          <p:cNvPr id="7" name="TextBox 6">
            <a:extLst>
              <a:ext uri="{FF2B5EF4-FFF2-40B4-BE49-F238E27FC236}">
                <a16:creationId xmlns:a16="http://schemas.microsoft.com/office/drawing/2014/main" id="{9F90AFB2-2BE3-D3D1-5035-306579FCA2DB}"/>
              </a:ext>
            </a:extLst>
          </p:cNvPr>
          <p:cNvSpPr txBox="1"/>
          <p:nvPr/>
        </p:nvSpPr>
        <p:spPr>
          <a:xfrm>
            <a:off x="371928" y="3420919"/>
            <a:ext cx="7760642" cy="1384995"/>
          </a:xfrm>
          <a:prstGeom prst="rect">
            <a:avLst/>
          </a:prstGeom>
          <a:noFill/>
        </p:spPr>
        <p:txBody>
          <a:bodyPr wrap="square">
            <a:spAutoFit/>
          </a:bodyPr>
          <a:lstStyle/>
          <a:p>
            <a:pPr marL="342900" indent="-342900">
              <a:buFont typeface="+mj-lt"/>
              <a:buAutoNum type="arabicPeriod"/>
            </a:pPr>
            <a:r>
              <a:rPr lang="en-GB" b="1" dirty="0"/>
              <a:t>Mitigated Model Output: </a:t>
            </a:r>
            <a:r>
              <a:rPr lang="en-GB" dirty="0"/>
              <a:t>Predicted Approval Rate for Group A (race=0): 0.99</a:t>
            </a:r>
          </a:p>
          <a:p>
            <a:pPr marL="342900" indent="-342900">
              <a:buFont typeface="+mj-lt"/>
              <a:buAutoNum type="arabicPeriod"/>
            </a:pPr>
            <a:r>
              <a:rPr lang="en-GB" dirty="0"/>
              <a:t> Predicted Approval Rate for Group B (race=1): 1.00</a:t>
            </a:r>
          </a:p>
          <a:p>
            <a:pPr marL="342900" indent="-342900">
              <a:buFont typeface="+mj-lt"/>
              <a:buAutoNum type="arabicPeriod"/>
            </a:pPr>
            <a:r>
              <a:rPr lang="en-GB" b="1" dirty="0"/>
              <a:t>Calculated Disparate Impact Ratio (Mitigated Model):</a:t>
            </a:r>
            <a:r>
              <a:rPr lang="en-GB" dirty="0"/>
              <a:t> (1.00 / 0.99) = </a:t>
            </a:r>
            <a:r>
              <a:rPr lang="en-GB" b="1" dirty="0"/>
              <a:t>1.01</a:t>
            </a:r>
          </a:p>
          <a:p>
            <a:r>
              <a:rPr lang="en-GB" i="1" dirty="0"/>
              <a:t>Interpretation:</a:t>
            </a:r>
            <a:r>
              <a:rPr lang="en-GB" dirty="0"/>
              <a:t> The DIR is now very close to 1.0 (or slightly above), indicating that the model now predicts approval for Group B at essentially the same rate as Group A. The bias has been significantly reduced!</a:t>
            </a:r>
          </a:p>
        </p:txBody>
      </p:sp>
    </p:spTree>
    <p:extLst>
      <p:ext uri="{BB962C8B-B14F-4D97-AF65-F5344CB8AC3E}">
        <p14:creationId xmlns:p14="http://schemas.microsoft.com/office/powerpoint/2010/main" val="154264172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60">
          <a:extLst>
            <a:ext uri="{FF2B5EF4-FFF2-40B4-BE49-F238E27FC236}">
              <a16:creationId xmlns:a16="http://schemas.microsoft.com/office/drawing/2014/main" id="{B356B4FB-CEC7-3B9E-CB9E-79FF573CF222}"/>
            </a:ext>
          </a:extLst>
        </p:cNvPr>
        <p:cNvGrpSpPr/>
        <p:nvPr/>
      </p:nvGrpSpPr>
      <p:grpSpPr>
        <a:xfrm>
          <a:off x="0" y="0"/>
          <a:ext cx="0" cy="0"/>
          <a:chOff x="0" y="0"/>
          <a:chExt cx="0" cy="0"/>
        </a:xfrm>
      </p:grpSpPr>
      <p:sp>
        <p:nvSpPr>
          <p:cNvPr id="61" name="Google Shape;61;p4">
            <a:extLst>
              <a:ext uri="{FF2B5EF4-FFF2-40B4-BE49-F238E27FC236}">
                <a16:creationId xmlns:a16="http://schemas.microsoft.com/office/drawing/2014/main" id="{3BD6B71E-5DC8-EE96-8FD9-16FA0C27ED56}"/>
              </a:ext>
            </a:extLst>
          </p:cNvPr>
          <p:cNvSpPr txBox="1">
            <a:spLocks noGrp="1"/>
          </p:cNvSpPr>
          <p:nvPr>
            <p:ph type="title"/>
          </p:nvPr>
        </p:nvSpPr>
        <p:spPr>
          <a:xfrm>
            <a:off x="284775" y="0"/>
            <a:ext cx="8329650" cy="627900"/>
          </a:xfrm>
          <a:prstGeom prst="rect">
            <a:avLst/>
          </a:prstGeom>
          <a:noFill/>
          <a:ln>
            <a:noFill/>
          </a:ln>
        </p:spPr>
        <p:txBody>
          <a:bodyPr spcFirstLastPara="1" wrap="square" lIns="91425" tIns="91425" rIns="91425" bIns="91425" anchor="t" anchorCtr="0">
            <a:normAutofit fontScale="90000"/>
          </a:bodyPr>
          <a:lstStyle/>
          <a:p>
            <a:r>
              <a:rPr lang="en-GB" sz="2800" b="1" i="0" u="none" strike="noStrike" dirty="0">
                <a:solidFill>
                  <a:srgbClr val="7030A0"/>
                </a:solidFill>
                <a:effectLst/>
              </a:rPr>
              <a:t>Ethical AI: Addressing Bias in Loan Approval Models</a:t>
            </a:r>
            <a:br>
              <a:rPr lang="en-GB" sz="2800" b="1" i="0" u="none" strike="noStrike" dirty="0">
                <a:solidFill>
                  <a:srgbClr val="7030A0"/>
                </a:solidFill>
                <a:effectLst/>
              </a:rPr>
            </a:br>
            <a:br>
              <a:rPr lang="en-GB" sz="2800" b="1" i="0" u="none" strike="noStrike" dirty="0">
                <a:solidFill>
                  <a:srgbClr val="7030A0"/>
                </a:solidFill>
                <a:effectLst/>
              </a:rPr>
            </a:br>
            <a:br>
              <a:rPr lang="en-GB" sz="2800" b="1" i="0" u="none" strike="noStrike" dirty="0">
                <a:solidFill>
                  <a:srgbClr val="7030A0"/>
                </a:solidFill>
                <a:effectLst/>
              </a:rPr>
            </a:br>
            <a:br>
              <a:rPr lang="en-GB" sz="2800" b="1" i="0" u="none" strike="noStrike" dirty="0">
                <a:solidFill>
                  <a:srgbClr val="7030A0"/>
                </a:solidFill>
                <a:effectLst/>
              </a:rPr>
            </a:br>
            <a:br>
              <a:rPr lang="en-GB" sz="2800" b="1" i="0" u="none" strike="noStrike" dirty="0">
                <a:solidFill>
                  <a:srgbClr val="7030A0"/>
                </a:solidFill>
                <a:effectLst/>
              </a:rPr>
            </a:br>
            <a:br>
              <a:rPr lang="en-GB" sz="2800" b="1" i="0" u="none" strike="noStrike" dirty="0">
                <a:solidFill>
                  <a:srgbClr val="7030A0"/>
                </a:solidFill>
                <a:effectLst/>
              </a:rPr>
            </a:br>
            <a:endParaRPr lang="en-GB" sz="2800" b="1" i="0" u="none" strike="noStrike" dirty="0">
              <a:solidFill>
                <a:srgbClr val="7030A0"/>
              </a:solidFill>
              <a:effectLst/>
              <a:latin typeface="+mj-lt"/>
            </a:endParaRPr>
          </a:p>
        </p:txBody>
      </p:sp>
      <p:sp>
        <p:nvSpPr>
          <p:cNvPr id="4" name="AutoShape 2" descr="Optimized Python with Numba library">
            <a:extLst>
              <a:ext uri="{FF2B5EF4-FFF2-40B4-BE49-F238E27FC236}">
                <a16:creationId xmlns:a16="http://schemas.microsoft.com/office/drawing/2014/main" id="{44BF486C-7530-5F0A-B58D-6F8D01F42B9F}"/>
              </a:ext>
            </a:extLst>
          </p:cNvPr>
          <p:cNvSpPr>
            <a:spLocks noChangeAspect="1" noChangeArrowheads="1"/>
          </p:cNvSpPr>
          <p:nvPr/>
        </p:nvSpPr>
        <p:spPr bwMode="auto">
          <a:xfrm>
            <a:off x="2960866" y="1871317"/>
            <a:ext cx="3771900" cy="21590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aphicFrame>
        <p:nvGraphicFramePr>
          <p:cNvPr id="2" name="Table 1">
            <a:extLst>
              <a:ext uri="{FF2B5EF4-FFF2-40B4-BE49-F238E27FC236}">
                <a16:creationId xmlns:a16="http://schemas.microsoft.com/office/drawing/2014/main" id="{44A0B172-CF3C-CC6F-1BD9-3CBDCE1C0C1C}"/>
              </a:ext>
            </a:extLst>
          </p:cNvPr>
          <p:cNvGraphicFramePr>
            <a:graphicFrameLocks noGrp="1"/>
          </p:cNvGraphicFramePr>
          <p:nvPr>
            <p:extLst>
              <p:ext uri="{D42A27DB-BD31-4B8C-83A1-F6EECF244321}">
                <p14:modId xmlns:p14="http://schemas.microsoft.com/office/powerpoint/2010/main" val="442966528"/>
              </p:ext>
            </p:extLst>
          </p:nvPr>
        </p:nvGraphicFramePr>
        <p:xfrm>
          <a:off x="188232" y="2102761"/>
          <a:ext cx="8767536" cy="1127760"/>
        </p:xfrm>
        <a:graphic>
          <a:graphicData uri="http://schemas.openxmlformats.org/drawingml/2006/table">
            <a:tbl>
              <a:tblPr>
                <a:tableStyleId>{35758FB7-9AC5-4552-8A53-C91805E547FA}</a:tableStyleId>
              </a:tblPr>
              <a:tblGrid>
                <a:gridCol w="2191884">
                  <a:extLst>
                    <a:ext uri="{9D8B030D-6E8A-4147-A177-3AD203B41FA5}">
                      <a16:colId xmlns:a16="http://schemas.microsoft.com/office/drawing/2014/main" val="3377404517"/>
                    </a:ext>
                  </a:extLst>
                </a:gridCol>
                <a:gridCol w="2191884">
                  <a:extLst>
                    <a:ext uri="{9D8B030D-6E8A-4147-A177-3AD203B41FA5}">
                      <a16:colId xmlns:a16="http://schemas.microsoft.com/office/drawing/2014/main" val="1775528719"/>
                    </a:ext>
                  </a:extLst>
                </a:gridCol>
                <a:gridCol w="2191884">
                  <a:extLst>
                    <a:ext uri="{9D8B030D-6E8A-4147-A177-3AD203B41FA5}">
                      <a16:colId xmlns:a16="http://schemas.microsoft.com/office/drawing/2014/main" val="3946545084"/>
                    </a:ext>
                  </a:extLst>
                </a:gridCol>
                <a:gridCol w="2191884">
                  <a:extLst>
                    <a:ext uri="{9D8B030D-6E8A-4147-A177-3AD203B41FA5}">
                      <a16:colId xmlns:a16="http://schemas.microsoft.com/office/drawing/2014/main" val="125484805"/>
                    </a:ext>
                  </a:extLst>
                </a:gridCol>
              </a:tblGrid>
              <a:tr h="0">
                <a:tc>
                  <a:txBody>
                    <a:bodyPr/>
                    <a:lstStyle/>
                    <a:p>
                      <a:pPr algn="l"/>
                      <a:r>
                        <a:rPr lang="en-GB" b="1"/>
                        <a:t>Metric / Stage</a:t>
                      </a:r>
                    </a:p>
                  </a:txBody>
                  <a:tcPr anchor="ctr"/>
                </a:tc>
                <a:tc>
                  <a:txBody>
                    <a:bodyPr/>
                    <a:lstStyle/>
                    <a:p>
                      <a:pPr algn="l"/>
                      <a:r>
                        <a:rPr lang="en-GB" b="1"/>
                        <a:t>Initial Data</a:t>
                      </a:r>
                    </a:p>
                  </a:txBody>
                  <a:tcPr anchor="ctr"/>
                </a:tc>
                <a:tc>
                  <a:txBody>
                    <a:bodyPr/>
                    <a:lstStyle/>
                    <a:p>
                      <a:pPr algn="l"/>
                      <a:r>
                        <a:rPr lang="en-GB" b="1"/>
                        <a:t>Baseline Model</a:t>
                      </a:r>
                    </a:p>
                  </a:txBody>
                  <a:tcPr anchor="ctr"/>
                </a:tc>
                <a:tc>
                  <a:txBody>
                    <a:bodyPr/>
                    <a:lstStyle/>
                    <a:p>
                      <a:pPr algn="l"/>
                      <a:r>
                        <a:rPr lang="en-GB" b="1" dirty="0"/>
                        <a:t>Mitigated Model</a:t>
                      </a:r>
                    </a:p>
                  </a:txBody>
                  <a:tcPr anchor="ctr"/>
                </a:tc>
                <a:extLst>
                  <a:ext uri="{0D108BD9-81ED-4DB2-BD59-A6C34878D82A}">
                    <a16:rowId xmlns:a16="http://schemas.microsoft.com/office/drawing/2014/main" val="1091015743"/>
                  </a:ext>
                </a:extLst>
              </a:tr>
              <a:tr h="0">
                <a:tc>
                  <a:txBody>
                    <a:bodyPr/>
                    <a:lstStyle/>
                    <a:p>
                      <a:pPr algn="l"/>
                      <a:r>
                        <a:rPr lang="en-GB" b="1"/>
                        <a:t>Disparate Impact Ratio</a:t>
                      </a:r>
                      <a:endParaRPr lang="en-GB"/>
                    </a:p>
                  </a:txBody>
                  <a:tcPr anchor="ctr"/>
                </a:tc>
                <a:tc>
                  <a:txBody>
                    <a:bodyPr/>
                    <a:lstStyle/>
                    <a:p>
                      <a:pPr algn="l"/>
                      <a:r>
                        <a:rPr lang="en-GB" b="1" dirty="0"/>
                        <a:t>0.70</a:t>
                      </a:r>
                      <a:endParaRPr lang="en-GB" dirty="0"/>
                    </a:p>
                  </a:txBody>
                  <a:tcPr anchor="ctr"/>
                </a:tc>
                <a:tc>
                  <a:txBody>
                    <a:bodyPr/>
                    <a:lstStyle/>
                    <a:p>
                      <a:pPr algn="l"/>
                      <a:r>
                        <a:rPr lang="en-GB" b="1" dirty="0"/>
                        <a:t>0.39</a:t>
                      </a:r>
                      <a:endParaRPr lang="en-GB" dirty="0"/>
                    </a:p>
                  </a:txBody>
                  <a:tcPr anchor="ctr"/>
                </a:tc>
                <a:tc>
                  <a:txBody>
                    <a:bodyPr/>
                    <a:lstStyle/>
                    <a:p>
                      <a:pPr algn="l"/>
                      <a:r>
                        <a:rPr lang="en-GB" b="1" dirty="0"/>
                        <a:t>1.01</a:t>
                      </a:r>
                      <a:endParaRPr lang="en-GB" dirty="0"/>
                    </a:p>
                  </a:txBody>
                  <a:tcPr anchor="ctr"/>
                </a:tc>
                <a:extLst>
                  <a:ext uri="{0D108BD9-81ED-4DB2-BD59-A6C34878D82A}">
                    <a16:rowId xmlns:a16="http://schemas.microsoft.com/office/drawing/2014/main" val="2253546472"/>
                  </a:ext>
                </a:extLst>
              </a:tr>
              <a:tr h="0">
                <a:tc>
                  <a:txBody>
                    <a:bodyPr/>
                    <a:lstStyle/>
                    <a:p>
                      <a:pPr algn="l"/>
                      <a:r>
                        <a:rPr lang="en-GB"/>
                        <a:t>Interpretation (Group B vs A)</a:t>
                      </a:r>
                    </a:p>
                  </a:txBody>
                  <a:tcPr anchor="ctr"/>
                </a:tc>
                <a:tc>
                  <a:txBody>
                    <a:bodyPr/>
                    <a:lstStyle/>
                    <a:p>
                      <a:pPr algn="l"/>
                      <a:r>
                        <a:rPr lang="en-GB" dirty="0"/>
                        <a:t>70% Rate</a:t>
                      </a:r>
                    </a:p>
                  </a:txBody>
                  <a:tcPr anchor="ctr"/>
                </a:tc>
                <a:tc>
                  <a:txBody>
                    <a:bodyPr/>
                    <a:lstStyle/>
                    <a:p>
                      <a:pPr algn="l"/>
                      <a:r>
                        <a:rPr lang="en-GB"/>
                        <a:t>39% Rate</a:t>
                      </a:r>
                    </a:p>
                  </a:txBody>
                  <a:tcPr anchor="ctr"/>
                </a:tc>
                <a:tc>
                  <a:txBody>
                    <a:bodyPr/>
                    <a:lstStyle/>
                    <a:p>
                      <a:pPr algn="l"/>
                      <a:r>
                        <a:rPr lang="en-GB" b="1" dirty="0"/>
                        <a:t>101% Rate (Near Parity)</a:t>
                      </a:r>
                      <a:endParaRPr lang="en-GB" dirty="0"/>
                    </a:p>
                  </a:txBody>
                  <a:tcPr anchor="ctr"/>
                </a:tc>
                <a:extLst>
                  <a:ext uri="{0D108BD9-81ED-4DB2-BD59-A6C34878D82A}">
                    <a16:rowId xmlns:a16="http://schemas.microsoft.com/office/drawing/2014/main" val="1550192553"/>
                  </a:ext>
                </a:extLst>
              </a:tr>
            </a:tbl>
          </a:graphicData>
        </a:graphic>
      </p:graphicFrame>
      <p:sp>
        <p:nvSpPr>
          <p:cNvPr id="6" name="Rectangle 1">
            <a:extLst>
              <a:ext uri="{FF2B5EF4-FFF2-40B4-BE49-F238E27FC236}">
                <a16:creationId xmlns:a16="http://schemas.microsoft.com/office/drawing/2014/main" id="{36CBC546-775C-3816-9196-7F74BF7051F7}"/>
              </a:ext>
            </a:extLst>
          </p:cNvPr>
          <p:cNvSpPr>
            <a:spLocks noChangeArrowheads="1"/>
          </p:cNvSpPr>
          <p:nvPr/>
        </p:nvSpPr>
        <p:spPr bwMode="auto">
          <a:xfrm>
            <a:off x="369207" y="665391"/>
            <a:ext cx="6481536"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dirty="0">
                <a:ln>
                  <a:noFill/>
                </a:ln>
                <a:solidFill>
                  <a:srgbClr val="000000"/>
                </a:solidFill>
                <a:effectLst/>
                <a:latin typeface="Arial" panose="020B0604020202020204" pitchFamily="34" charset="0"/>
              </a:rPr>
              <a:t>Impact of Mitigation: Before &amp; After</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1800" b="1" i="0" u="none" strike="noStrike" cap="none" normalizeH="0" baseline="0" dirty="0">
              <a:ln>
                <a:noFill/>
              </a:ln>
              <a:solidFill>
                <a:srgbClr val="000000"/>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r>
              <a:rPr kumimoji="0" lang="en-US" altLang="en-US" sz="1600" i="0" u="none" strike="noStrike" cap="none" normalizeH="0" baseline="0" dirty="0">
                <a:ln>
                  <a:noFill/>
                </a:ln>
                <a:solidFill>
                  <a:srgbClr val="000000"/>
                </a:solidFill>
                <a:effectLst/>
                <a:latin typeface="Arial" panose="020B0604020202020204" pitchFamily="34" charset="0"/>
              </a:rPr>
              <a:t>Visualizing the Change in Fairness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06810080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4C0085-210F-9B96-6168-0D6E296B0085}"/>
              </a:ext>
            </a:extLst>
          </p:cNvPr>
          <p:cNvSpPr>
            <a:spLocks noGrp="1"/>
          </p:cNvSpPr>
          <p:nvPr>
            <p:ph type="title"/>
          </p:nvPr>
        </p:nvSpPr>
        <p:spPr/>
        <p:txBody>
          <a:bodyPr/>
          <a:lstStyle/>
          <a:p>
            <a:pPr marR="0" algn="l" rtl="0">
              <a:lnSpc>
                <a:spcPct val="100000"/>
              </a:lnSpc>
              <a:spcBef>
                <a:spcPts val="0"/>
              </a:spcBef>
              <a:spcAft>
                <a:spcPts val="0"/>
              </a:spcAft>
              <a:buClr>
                <a:srgbClr val="543198"/>
              </a:buClr>
              <a:buSzPts val="2500"/>
              <a:buFont typeface="IBM Plex Sans Arabic Medium"/>
              <a:buNone/>
            </a:pPr>
            <a:r>
              <a:rPr lang="en-US" dirty="0"/>
              <a:t>Summary</a:t>
            </a:r>
          </a:p>
        </p:txBody>
      </p:sp>
      <p:sp>
        <p:nvSpPr>
          <p:cNvPr id="6" name="TextBox 5">
            <a:extLst>
              <a:ext uri="{FF2B5EF4-FFF2-40B4-BE49-F238E27FC236}">
                <a16:creationId xmlns:a16="http://schemas.microsoft.com/office/drawing/2014/main" id="{39C4CE81-887C-BA23-F73E-39376B2C9C0E}"/>
              </a:ext>
            </a:extLst>
          </p:cNvPr>
          <p:cNvSpPr txBox="1"/>
          <p:nvPr/>
        </p:nvSpPr>
        <p:spPr>
          <a:xfrm>
            <a:off x="930728" y="1091333"/>
            <a:ext cx="6028199" cy="3293209"/>
          </a:xfrm>
          <a:prstGeom prst="rect">
            <a:avLst/>
          </a:prstGeom>
          <a:noFill/>
        </p:spPr>
        <p:txBody>
          <a:bodyPr wrap="square">
            <a:spAutoFit/>
          </a:bodyPr>
          <a:lstStyle/>
          <a:p>
            <a:pPr marL="342900" indent="-342900">
              <a:buFont typeface="+mj-lt"/>
              <a:buAutoNum type="arabicPeriod"/>
            </a:pPr>
            <a:r>
              <a:rPr lang="en-GB" sz="1600" b="1" dirty="0"/>
              <a:t>Bias Amplification:</a:t>
            </a:r>
            <a:r>
              <a:rPr lang="en-GB" sz="1600" dirty="0"/>
              <a:t> AI models can learn and significantly amplify biases present in historical training data.</a:t>
            </a:r>
          </a:p>
          <a:p>
            <a:pPr marL="342900" indent="-342900">
              <a:buFont typeface="+mj-lt"/>
              <a:buAutoNum type="arabicPeriod"/>
            </a:pPr>
            <a:r>
              <a:rPr lang="en-GB" sz="1600" b="1" dirty="0"/>
              <a:t>Data-Centric Solutions:</a:t>
            </a:r>
            <a:r>
              <a:rPr lang="en-GB" sz="1600" dirty="0"/>
              <a:t> Targeted data interventions (like oversampling disadvantaged groups' positive outcomes) are powerful tools for bias mitigation.</a:t>
            </a:r>
          </a:p>
          <a:p>
            <a:pPr marL="342900" indent="-342900">
              <a:buFont typeface="+mj-lt"/>
              <a:buAutoNum type="arabicPeriod"/>
            </a:pPr>
            <a:r>
              <a:rPr lang="en-GB" sz="1600" b="1" dirty="0"/>
              <a:t>Fairness vs. Accuracy:</a:t>
            </a:r>
            <a:r>
              <a:rPr lang="en-GB" sz="1600" dirty="0"/>
              <a:t> Sometimes, achieving fairness might involve a slight trade-off in overall accuracy (e.g., baseline accuracy 0.65 vs. mitigated 0.63 in this example), but ensuring ethical outcomes is paramount.</a:t>
            </a:r>
          </a:p>
          <a:p>
            <a:pPr marL="342900" indent="-342900">
              <a:buFont typeface="+mj-lt"/>
              <a:buAutoNum type="arabicPeriod"/>
            </a:pPr>
            <a:r>
              <a:rPr lang="en-GB" sz="1600" b="1" dirty="0"/>
              <a:t>Continuous Effort:</a:t>
            </a:r>
            <a:r>
              <a:rPr lang="en-GB" sz="1600" dirty="0"/>
              <a:t> Addressing bias is an ongoing process </a:t>
            </a:r>
            <a:r>
              <a:rPr lang="en-GB" sz="1600" dirty="0" err="1"/>
              <a:t>requiring:Careful</a:t>
            </a:r>
            <a:r>
              <a:rPr lang="en-GB" sz="1600" dirty="0"/>
              <a:t> data collection and auditing.</a:t>
            </a:r>
          </a:p>
          <a:p>
            <a:pPr marL="342900" lvl="1" indent="-342900">
              <a:buFont typeface="+mj-lt"/>
              <a:buAutoNum type="alphaLcPeriod"/>
            </a:pPr>
            <a:r>
              <a:rPr lang="en-GB" sz="1600" dirty="0"/>
              <a:t>Conscious model design and training.</a:t>
            </a:r>
          </a:p>
          <a:p>
            <a:pPr marL="342900" lvl="1" indent="-342900">
              <a:buFont typeface="+mj-lt"/>
              <a:buAutoNum type="alphaLcPeriod"/>
            </a:pPr>
            <a:r>
              <a:rPr lang="en-GB" sz="1600" dirty="0"/>
              <a:t>Continuous monitoring of deployed models for fairness drift.</a:t>
            </a:r>
          </a:p>
        </p:txBody>
      </p:sp>
    </p:spTree>
    <p:extLst>
      <p:ext uri="{BB962C8B-B14F-4D97-AF65-F5344CB8AC3E}">
        <p14:creationId xmlns:p14="http://schemas.microsoft.com/office/powerpoint/2010/main" val="66974765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pic>
        <p:nvPicPr>
          <p:cNvPr id="84" name="Google Shape;84;p7"/>
          <p:cNvPicPr preferRelativeResize="0"/>
          <p:nvPr/>
        </p:nvPicPr>
        <p:blipFill rotWithShape="1">
          <a:blip r:embed="rId3">
            <a:alphaModFix amt="60000"/>
          </a:blip>
          <a:srcRect/>
          <a:stretch/>
        </p:blipFill>
        <p:spPr>
          <a:xfrm>
            <a:off x="3080321" y="122160"/>
            <a:ext cx="5408998" cy="2939569"/>
          </a:xfrm>
          <a:prstGeom prst="rect">
            <a:avLst/>
          </a:prstGeom>
          <a:noFill/>
          <a:ln>
            <a:noFill/>
          </a:ln>
        </p:spPr>
      </p:pic>
      <p:sp>
        <p:nvSpPr>
          <p:cNvPr id="85" name="Google Shape;85;p7"/>
          <p:cNvSpPr txBox="1">
            <a:spLocks noGrp="1"/>
          </p:cNvSpPr>
          <p:nvPr>
            <p:ph type="title"/>
          </p:nvPr>
        </p:nvSpPr>
        <p:spPr>
          <a:xfrm>
            <a:off x="872950" y="122160"/>
            <a:ext cx="6707400" cy="494528"/>
          </a:xfrm>
          <a:prstGeom prst="rect">
            <a:avLst/>
          </a:prstGeom>
          <a:noFill/>
          <a:ln>
            <a:noFill/>
          </a:ln>
        </p:spPr>
        <p:txBody>
          <a:bodyPr spcFirstLastPara="1" wrap="square" lIns="91425" tIns="91425" rIns="91425" bIns="91425" anchor="t" anchorCtr="0">
            <a:noAutofit/>
          </a:bodyPr>
          <a:lstStyle/>
          <a:p>
            <a:pPr rtl="0"/>
            <a:r>
              <a:rPr lang="en-GB" sz="3200" dirty="0"/>
              <a:t>Hands On Exercise </a:t>
            </a:r>
            <a:br>
              <a:rPr lang="en-GB" sz="3200" dirty="0"/>
            </a:br>
            <a:endParaRPr lang="en-GB" sz="3200" dirty="0"/>
          </a:p>
        </p:txBody>
      </p:sp>
      <p:sp>
        <p:nvSpPr>
          <p:cNvPr id="3" name="TextBox 2">
            <a:extLst>
              <a:ext uri="{FF2B5EF4-FFF2-40B4-BE49-F238E27FC236}">
                <a16:creationId xmlns:a16="http://schemas.microsoft.com/office/drawing/2014/main" id="{FD29B7B1-87C3-1A19-1CD5-4DC342054D89}"/>
              </a:ext>
            </a:extLst>
          </p:cNvPr>
          <p:cNvSpPr txBox="1"/>
          <p:nvPr/>
        </p:nvSpPr>
        <p:spPr>
          <a:xfrm>
            <a:off x="49952" y="1837425"/>
            <a:ext cx="4913417" cy="1323439"/>
          </a:xfrm>
          <a:prstGeom prst="rect">
            <a:avLst/>
          </a:prstGeom>
          <a:noFill/>
        </p:spPr>
        <p:txBody>
          <a:bodyPr wrap="square">
            <a:spAutoFit/>
          </a:bodyPr>
          <a:lstStyle/>
          <a:p>
            <a:pPr algn="ctr"/>
            <a:r>
              <a:rPr lang="en-GB" sz="2000" dirty="0">
                <a:hlinkClick r:id="rId4"/>
              </a:rPr>
              <a:t>Click Here For The Implementation </a:t>
            </a:r>
            <a:r>
              <a:rPr lang="en-GB" sz="2000" dirty="0"/>
              <a:t>https://</a:t>
            </a:r>
            <a:r>
              <a:rPr lang="en-GB" sz="2000" dirty="0" err="1"/>
              <a:t>drive.google.com</a:t>
            </a:r>
            <a:r>
              <a:rPr lang="en-GB" sz="2000" dirty="0"/>
              <a:t>/file/d/111jus5y113A7lSLwc9M8rPmITSdQF6BM/</a:t>
            </a:r>
            <a:r>
              <a:rPr lang="en-GB" sz="2000" dirty="0" err="1"/>
              <a:t>view?usp</a:t>
            </a:r>
            <a:r>
              <a:rPr lang="en-GB" sz="2000" dirty="0"/>
              <a:t>=</a:t>
            </a:r>
            <a:r>
              <a:rPr lang="en-GB" sz="2000" dirty="0" err="1"/>
              <a:t>share_link</a:t>
            </a:r>
            <a:endParaRPr lang="en-GB" sz="2000" dirty="0"/>
          </a:p>
        </p:txBody>
      </p:sp>
      <p:pic>
        <p:nvPicPr>
          <p:cNvPr id="4" name="Picture 3" descr="A computer with a screen on it&#10;&#10;AI-generated content may be incorrect.">
            <a:extLst>
              <a:ext uri="{FF2B5EF4-FFF2-40B4-BE49-F238E27FC236}">
                <a16:creationId xmlns:a16="http://schemas.microsoft.com/office/drawing/2014/main" id="{DFCACE6B-93A9-2C0B-6504-0868FF90065B}"/>
              </a:ext>
            </a:extLst>
          </p:cNvPr>
          <p:cNvPicPr>
            <a:picLocks noChangeAspect="1"/>
          </p:cNvPicPr>
          <p:nvPr/>
        </p:nvPicPr>
        <p:blipFill>
          <a:blip r:embed="rId5">
            <a:extLst>
              <a:ext uri="{837473B0-CC2E-450A-ABE3-18F120FF3D39}">
                <a1611:picAttrSrcUrl xmlns:a1611="http://schemas.microsoft.com/office/drawing/2016/11/main" r:id="rId6"/>
              </a:ext>
            </a:extLst>
          </a:blip>
          <a:stretch>
            <a:fillRect/>
          </a:stretch>
        </p:blipFill>
        <p:spPr>
          <a:xfrm>
            <a:off x="5203371" y="2468255"/>
            <a:ext cx="3859608" cy="2570245"/>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5F6FA"/>
        </a:solidFill>
        <a:effectLst/>
      </p:bgPr>
    </p:bg>
    <p:spTree>
      <p:nvGrpSpPr>
        <p:cNvPr id="1" name="Shape 83">
          <a:extLst>
            <a:ext uri="{FF2B5EF4-FFF2-40B4-BE49-F238E27FC236}">
              <a16:creationId xmlns:a16="http://schemas.microsoft.com/office/drawing/2014/main" id="{C7073A23-177A-F380-4E2C-BCE5184CC92A}"/>
            </a:ext>
          </a:extLst>
        </p:cNvPr>
        <p:cNvGrpSpPr/>
        <p:nvPr/>
      </p:nvGrpSpPr>
      <p:grpSpPr>
        <a:xfrm>
          <a:off x="0" y="0"/>
          <a:ext cx="0" cy="0"/>
          <a:chOff x="0" y="0"/>
          <a:chExt cx="0" cy="0"/>
        </a:xfrm>
      </p:grpSpPr>
      <p:pic>
        <p:nvPicPr>
          <p:cNvPr id="84" name="Google Shape;84;p7">
            <a:extLst>
              <a:ext uri="{FF2B5EF4-FFF2-40B4-BE49-F238E27FC236}">
                <a16:creationId xmlns:a16="http://schemas.microsoft.com/office/drawing/2014/main" id="{E3B61B0B-C8A6-4063-AA38-0D213B633718}"/>
              </a:ext>
            </a:extLst>
          </p:cNvPr>
          <p:cNvPicPr preferRelativeResize="0"/>
          <p:nvPr/>
        </p:nvPicPr>
        <p:blipFill rotWithShape="1">
          <a:blip r:embed="rId3">
            <a:alphaModFix amt="60000"/>
          </a:blip>
          <a:srcRect/>
          <a:stretch/>
        </p:blipFill>
        <p:spPr>
          <a:xfrm>
            <a:off x="3080321" y="122160"/>
            <a:ext cx="5408998" cy="2939569"/>
          </a:xfrm>
          <a:prstGeom prst="rect">
            <a:avLst/>
          </a:prstGeom>
          <a:noFill/>
          <a:ln>
            <a:noFill/>
          </a:ln>
        </p:spPr>
      </p:pic>
      <p:sp>
        <p:nvSpPr>
          <p:cNvPr id="85" name="Google Shape;85;p7">
            <a:extLst>
              <a:ext uri="{FF2B5EF4-FFF2-40B4-BE49-F238E27FC236}">
                <a16:creationId xmlns:a16="http://schemas.microsoft.com/office/drawing/2014/main" id="{CC369EC6-6544-C062-953A-68234137BAFF}"/>
              </a:ext>
            </a:extLst>
          </p:cNvPr>
          <p:cNvSpPr txBox="1">
            <a:spLocks noGrp="1"/>
          </p:cNvSpPr>
          <p:nvPr>
            <p:ph type="title"/>
          </p:nvPr>
        </p:nvSpPr>
        <p:spPr>
          <a:xfrm>
            <a:off x="872950" y="122160"/>
            <a:ext cx="6707400" cy="494528"/>
          </a:xfrm>
          <a:prstGeom prst="rect">
            <a:avLst/>
          </a:prstGeom>
          <a:noFill/>
          <a:ln>
            <a:noFill/>
          </a:ln>
        </p:spPr>
        <p:txBody>
          <a:bodyPr spcFirstLastPara="1" wrap="square" lIns="91425" tIns="91425" rIns="91425" bIns="91425" anchor="t" anchorCtr="0">
            <a:noAutofit/>
          </a:bodyPr>
          <a:lstStyle/>
          <a:p>
            <a:pPr rtl="0"/>
            <a:r>
              <a:rPr lang="en-GB" sz="3200" dirty="0"/>
              <a:t>Books and References</a:t>
            </a:r>
            <a:br>
              <a:rPr lang="en-GB" sz="3200" dirty="0"/>
            </a:br>
            <a:endParaRPr lang="en-GB" sz="3200" dirty="0"/>
          </a:p>
        </p:txBody>
      </p:sp>
      <p:sp>
        <p:nvSpPr>
          <p:cNvPr id="3" name="TextBox 2">
            <a:extLst>
              <a:ext uri="{FF2B5EF4-FFF2-40B4-BE49-F238E27FC236}">
                <a16:creationId xmlns:a16="http://schemas.microsoft.com/office/drawing/2014/main" id="{BD36E5C5-A4EC-A514-661D-B1E7567D531F}"/>
              </a:ext>
            </a:extLst>
          </p:cNvPr>
          <p:cNvSpPr txBox="1"/>
          <p:nvPr/>
        </p:nvSpPr>
        <p:spPr>
          <a:xfrm>
            <a:off x="755575" y="1098322"/>
            <a:ext cx="6931332" cy="2708434"/>
          </a:xfrm>
          <a:prstGeom prst="rect">
            <a:avLst/>
          </a:prstGeom>
          <a:noFill/>
        </p:spPr>
        <p:txBody>
          <a:bodyPr wrap="square">
            <a:spAutoFit/>
          </a:bodyPr>
          <a:lstStyle/>
          <a:p>
            <a:pPr marL="457200" indent="-457200" algn="l">
              <a:spcBef>
                <a:spcPts val="300"/>
              </a:spcBef>
              <a:buFont typeface="+mj-lt"/>
              <a:buAutoNum type="arabicPeriod"/>
            </a:pPr>
            <a:r>
              <a:rPr lang="en-GB" sz="2000" b="0" i="0" u="none" strike="noStrike" dirty="0">
                <a:solidFill>
                  <a:srgbClr val="404040"/>
                </a:solidFill>
                <a:effectLst/>
                <a:latin typeface="Inter" panose="02000503000000020004" pitchFamily="2" charset="0"/>
              </a:rPr>
              <a:t>"Neural Networks and Deep Learning" (Michael Nielsen)</a:t>
            </a:r>
          </a:p>
          <a:p>
            <a:pPr marL="457200" indent="-457200">
              <a:spcBef>
                <a:spcPts val="300"/>
              </a:spcBef>
              <a:buFont typeface="+mj-lt"/>
              <a:buAutoNum type="arabicPeriod"/>
            </a:pPr>
            <a:r>
              <a:rPr lang="en-GB" sz="2000" b="0" i="0" u="none" strike="noStrike" dirty="0">
                <a:solidFill>
                  <a:srgbClr val="404040"/>
                </a:solidFill>
                <a:effectLst/>
                <a:latin typeface="Inter" panose="02000503000000020004" pitchFamily="2" charset="0"/>
              </a:rPr>
              <a:t>Reinforcement Learning: An Introduction – Sutton &amp; Barto</a:t>
            </a:r>
          </a:p>
          <a:p>
            <a:pPr marL="457200" indent="-457200">
              <a:spcBef>
                <a:spcPts val="300"/>
              </a:spcBef>
              <a:buFont typeface="+mj-lt"/>
              <a:buAutoNum type="arabicPeriod"/>
            </a:pPr>
            <a:r>
              <a:rPr lang="en-GB" sz="2000" b="0" i="0" u="none" strike="noStrike" dirty="0">
                <a:solidFill>
                  <a:srgbClr val="404040"/>
                </a:solidFill>
                <a:effectLst/>
                <a:latin typeface="Inter" panose="02000503000000020004" pitchFamily="2" charset="0"/>
              </a:rPr>
              <a:t>Goodfellow, I., Bengio, Y., &amp; Courville, A. (2016). Deep Learning. MIT Press.</a:t>
            </a:r>
          </a:p>
          <a:p>
            <a:pPr marL="457200" indent="-457200">
              <a:spcBef>
                <a:spcPts val="300"/>
              </a:spcBef>
              <a:buFont typeface="+mj-lt"/>
              <a:buAutoNum type="arabicPeriod"/>
            </a:pPr>
            <a:r>
              <a:rPr lang="en-GB" sz="2000" b="0" i="0" u="none" strike="noStrike" dirty="0">
                <a:solidFill>
                  <a:srgbClr val="404040"/>
                </a:solidFill>
                <a:effectLst/>
                <a:latin typeface="Inter" panose="02000503000000020004" pitchFamily="2" charset="0"/>
              </a:rPr>
              <a:t>Chollet, F. (2017). Deep Learning with Python. Manning Publications.</a:t>
            </a:r>
          </a:p>
          <a:p>
            <a:pPr marL="457200" indent="-457200">
              <a:spcBef>
                <a:spcPts val="300"/>
              </a:spcBef>
              <a:buFont typeface="+mj-lt"/>
              <a:buAutoNum type="arabicPeriod"/>
            </a:pPr>
            <a:r>
              <a:rPr lang="en-GB" sz="2000" b="0" i="0" u="none" strike="noStrike" dirty="0">
                <a:solidFill>
                  <a:srgbClr val="404040"/>
                </a:solidFill>
                <a:effectLst/>
                <a:latin typeface="Inter" panose="02000503000000020004" pitchFamily="2" charset="0"/>
              </a:rPr>
              <a:t>Hochreiter, S., &amp; </a:t>
            </a:r>
            <a:r>
              <a:rPr lang="en-GB" sz="2000" b="0" i="0" u="none" strike="noStrike" dirty="0" err="1">
                <a:solidFill>
                  <a:srgbClr val="404040"/>
                </a:solidFill>
                <a:effectLst/>
                <a:latin typeface="Inter" panose="02000503000000020004" pitchFamily="2" charset="0"/>
              </a:rPr>
              <a:t>Schmidhuber</a:t>
            </a:r>
            <a:r>
              <a:rPr lang="en-GB" sz="2000" b="0" i="0" u="none" strike="noStrike" dirty="0">
                <a:solidFill>
                  <a:srgbClr val="404040"/>
                </a:solidFill>
                <a:effectLst/>
                <a:latin typeface="Inter" panose="02000503000000020004" pitchFamily="2" charset="0"/>
              </a:rPr>
              <a:t>, J. (1997). Long Short-Term Memory. Neural Computation.</a:t>
            </a:r>
          </a:p>
        </p:txBody>
      </p:sp>
    </p:spTree>
    <p:extLst>
      <p:ext uri="{BB962C8B-B14F-4D97-AF65-F5344CB8AC3E}">
        <p14:creationId xmlns:p14="http://schemas.microsoft.com/office/powerpoint/2010/main" val="37403989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Shape 193"/>
        <p:cNvGrpSpPr/>
        <p:nvPr/>
      </p:nvGrpSpPr>
      <p:grpSpPr>
        <a:xfrm>
          <a:off x="0" y="0"/>
          <a:ext cx="0" cy="0"/>
          <a:chOff x="0" y="0"/>
          <a:chExt cx="0" cy="0"/>
        </a:xfrm>
      </p:grpSpPr>
      <p:pic>
        <p:nvPicPr>
          <p:cNvPr id="194" name="Google Shape;194;p20"/>
          <p:cNvPicPr preferRelativeResize="0"/>
          <p:nvPr/>
        </p:nvPicPr>
        <p:blipFill rotWithShape="1">
          <a:blip r:embed="rId3">
            <a:alphaModFix/>
          </a:blip>
          <a:srcRect l="8508"/>
          <a:stretch/>
        </p:blipFill>
        <p:spPr>
          <a:xfrm>
            <a:off x="6248550" y="1551586"/>
            <a:ext cx="1357692" cy="509366"/>
          </a:xfrm>
          <a:prstGeom prst="rect">
            <a:avLst/>
          </a:prstGeom>
          <a:noFill/>
          <a:ln>
            <a:noFill/>
          </a:ln>
        </p:spPr>
      </p:pic>
      <p:pic>
        <p:nvPicPr>
          <p:cNvPr id="195" name="Google Shape;195;p20"/>
          <p:cNvPicPr preferRelativeResize="0"/>
          <p:nvPr/>
        </p:nvPicPr>
        <p:blipFill rotWithShape="1">
          <a:blip r:embed="rId4">
            <a:alphaModFix/>
          </a:blip>
          <a:srcRect/>
          <a:stretch/>
        </p:blipFill>
        <p:spPr>
          <a:xfrm>
            <a:off x="1647216" y="2992069"/>
            <a:ext cx="995950" cy="405885"/>
          </a:xfrm>
          <a:prstGeom prst="rect">
            <a:avLst/>
          </a:prstGeom>
          <a:noFill/>
          <a:ln>
            <a:noFill/>
          </a:ln>
        </p:spPr>
      </p:pic>
      <p:pic>
        <p:nvPicPr>
          <p:cNvPr id="196" name="Google Shape;196;p20"/>
          <p:cNvPicPr preferRelativeResize="0"/>
          <p:nvPr/>
        </p:nvPicPr>
        <p:blipFill rotWithShape="1">
          <a:blip r:embed="rId5">
            <a:alphaModFix/>
          </a:blip>
          <a:srcRect/>
          <a:stretch/>
        </p:blipFill>
        <p:spPr>
          <a:xfrm>
            <a:off x="6319974" y="3081645"/>
            <a:ext cx="1214843" cy="226732"/>
          </a:xfrm>
          <a:prstGeom prst="rect">
            <a:avLst/>
          </a:prstGeom>
          <a:noFill/>
          <a:ln>
            <a:noFill/>
          </a:ln>
        </p:spPr>
      </p:pic>
      <p:pic>
        <p:nvPicPr>
          <p:cNvPr id="197" name="Google Shape;197;p20"/>
          <p:cNvPicPr preferRelativeResize="0"/>
          <p:nvPr/>
        </p:nvPicPr>
        <p:blipFill rotWithShape="1">
          <a:blip r:embed="rId6">
            <a:alphaModFix/>
          </a:blip>
          <a:srcRect l="11047" t="22524" r="11047" b="22523"/>
          <a:stretch/>
        </p:blipFill>
        <p:spPr>
          <a:xfrm>
            <a:off x="3316327" y="2249012"/>
            <a:ext cx="688702" cy="395541"/>
          </a:xfrm>
          <a:prstGeom prst="rect">
            <a:avLst/>
          </a:prstGeom>
          <a:noFill/>
          <a:ln>
            <a:noFill/>
          </a:ln>
        </p:spPr>
      </p:pic>
      <p:pic>
        <p:nvPicPr>
          <p:cNvPr id="198" name="Google Shape;198;p20"/>
          <p:cNvPicPr preferRelativeResize="0"/>
          <p:nvPr/>
        </p:nvPicPr>
        <p:blipFill rotWithShape="1">
          <a:blip r:embed="rId7">
            <a:alphaModFix/>
          </a:blip>
          <a:srcRect/>
          <a:stretch/>
        </p:blipFill>
        <p:spPr>
          <a:xfrm>
            <a:off x="6360782" y="2325188"/>
            <a:ext cx="1133228" cy="243189"/>
          </a:xfrm>
          <a:prstGeom prst="rect">
            <a:avLst/>
          </a:prstGeom>
          <a:noFill/>
          <a:ln>
            <a:noFill/>
          </a:ln>
        </p:spPr>
      </p:pic>
      <p:pic>
        <p:nvPicPr>
          <p:cNvPr id="199" name="Google Shape;199;p20"/>
          <p:cNvPicPr preferRelativeResize="0"/>
          <p:nvPr/>
        </p:nvPicPr>
        <p:blipFill rotWithShape="1">
          <a:blip r:embed="rId8">
            <a:alphaModFix/>
          </a:blip>
          <a:srcRect l="2114" t="19776" b="19777"/>
          <a:stretch/>
        </p:blipFill>
        <p:spPr>
          <a:xfrm>
            <a:off x="3094065" y="1608499"/>
            <a:ext cx="1133226" cy="395540"/>
          </a:xfrm>
          <a:prstGeom prst="rect">
            <a:avLst/>
          </a:prstGeom>
          <a:noFill/>
          <a:ln>
            <a:noFill/>
          </a:ln>
        </p:spPr>
      </p:pic>
      <p:pic>
        <p:nvPicPr>
          <p:cNvPr id="200" name="Google Shape;200;p20"/>
          <p:cNvPicPr preferRelativeResize="0"/>
          <p:nvPr/>
        </p:nvPicPr>
        <p:blipFill rotWithShape="1">
          <a:blip r:embed="rId9">
            <a:alphaModFix/>
          </a:blip>
          <a:srcRect/>
          <a:stretch/>
        </p:blipFill>
        <p:spPr>
          <a:xfrm>
            <a:off x="3183573" y="3074674"/>
            <a:ext cx="954210" cy="240673"/>
          </a:xfrm>
          <a:prstGeom prst="rect">
            <a:avLst/>
          </a:prstGeom>
          <a:noFill/>
          <a:ln>
            <a:noFill/>
          </a:ln>
        </p:spPr>
      </p:pic>
      <p:pic>
        <p:nvPicPr>
          <p:cNvPr id="201" name="Google Shape;201;p20" descr="Text&#10;&#10;Description automatically generated with low confidence"/>
          <p:cNvPicPr preferRelativeResize="0"/>
          <p:nvPr/>
        </p:nvPicPr>
        <p:blipFill rotWithShape="1">
          <a:blip r:embed="rId10">
            <a:alphaModFix/>
          </a:blip>
          <a:srcRect/>
          <a:stretch/>
        </p:blipFill>
        <p:spPr>
          <a:xfrm>
            <a:off x="4992620" y="3040838"/>
            <a:ext cx="750589" cy="308346"/>
          </a:xfrm>
          <a:prstGeom prst="rect">
            <a:avLst/>
          </a:prstGeom>
          <a:noFill/>
          <a:ln>
            <a:noFill/>
          </a:ln>
        </p:spPr>
      </p:pic>
      <p:pic>
        <p:nvPicPr>
          <p:cNvPr id="202" name="Google Shape;202;p20" descr="A red and black sign&#10;&#10;Description automatically generated with low confidence"/>
          <p:cNvPicPr preferRelativeResize="0"/>
          <p:nvPr/>
        </p:nvPicPr>
        <p:blipFill rotWithShape="1">
          <a:blip r:embed="rId11">
            <a:alphaModFix/>
          </a:blip>
          <a:srcRect/>
          <a:stretch/>
        </p:blipFill>
        <p:spPr>
          <a:xfrm>
            <a:off x="3183572" y="3696038"/>
            <a:ext cx="954213" cy="202631"/>
          </a:xfrm>
          <a:prstGeom prst="rect">
            <a:avLst/>
          </a:prstGeom>
          <a:noFill/>
          <a:ln>
            <a:noFill/>
          </a:ln>
        </p:spPr>
      </p:pic>
      <p:pic>
        <p:nvPicPr>
          <p:cNvPr id="203" name="Google Shape;203;p20" descr="A picture containing text, clipart, vector graphics&#10;&#10;Description automatically generated"/>
          <p:cNvPicPr preferRelativeResize="0"/>
          <p:nvPr/>
        </p:nvPicPr>
        <p:blipFill rotWithShape="1">
          <a:blip r:embed="rId12">
            <a:alphaModFix/>
          </a:blip>
          <a:srcRect/>
          <a:stretch/>
        </p:blipFill>
        <p:spPr>
          <a:xfrm>
            <a:off x="5018971" y="3677016"/>
            <a:ext cx="697888" cy="240674"/>
          </a:xfrm>
          <a:prstGeom prst="rect">
            <a:avLst/>
          </a:prstGeom>
          <a:noFill/>
          <a:ln>
            <a:noFill/>
          </a:ln>
        </p:spPr>
      </p:pic>
      <p:pic>
        <p:nvPicPr>
          <p:cNvPr id="204" name="Google Shape;204;p20"/>
          <p:cNvPicPr preferRelativeResize="0"/>
          <p:nvPr/>
        </p:nvPicPr>
        <p:blipFill rotWithShape="1">
          <a:blip r:embed="rId13">
            <a:alphaModFix/>
          </a:blip>
          <a:srcRect b="18915"/>
          <a:stretch/>
        </p:blipFill>
        <p:spPr>
          <a:xfrm>
            <a:off x="6450290" y="3643177"/>
            <a:ext cx="954212" cy="308352"/>
          </a:xfrm>
          <a:prstGeom prst="rect">
            <a:avLst/>
          </a:prstGeom>
          <a:noFill/>
          <a:ln>
            <a:noFill/>
          </a:ln>
        </p:spPr>
      </p:pic>
      <p:pic>
        <p:nvPicPr>
          <p:cNvPr id="205" name="Google Shape;205;p20"/>
          <p:cNvPicPr preferRelativeResize="0"/>
          <p:nvPr/>
        </p:nvPicPr>
        <p:blipFill rotWithShape="1">
          <a:blip r:embed="rId14">
            <a:alphaModFix/>
          </a:blip>
          <a:srcRect l="12270" t="12270" r="12262" b="12262"/>
          <a:stretch/>
        </p:blipFill>
        <p:spPr>
          <a:xfrm>
            <a:off x="3885746" y="4245539"/>
            <a:ext cx="1133228" cy="382770"/>
          </a:xfrm>
          <a:prstGeom prst="rect">
            <a:avLst/>
          </a:prstGeom>
          <a:noFill/>
          <a:ln>
            <a:noFill/>
          </a:ln>
        </p:spPr>
      </p:pic>
      <p:pic>
        <p:nvPicPr>
          <p:cNvPr id="206" name="Google Shape;206;p20"/>
          <p:cNvPicPr preferRelativeResize="0"/>
          <p:nvPr/>
        </p:nvPicPr>
        <p:blipFill rotWithShape="1">
          <a:blip r:embed="rId15">
            <a:alphaModFix/>
          </a:blip>
          <a:srcRect/>
          <a:stretch/>
        </p:blipFill>
        <p:spPr>
          <a:xfrm>
            <a:off x="1798086" y="3621493"/>
            <a:ext cx="694210" cy="351721"/>
          </a:xfrm>
          <a:prstGeom prst="rect">
            <a:avLst/>
          </a:prstGeom>
          <a:noFill/>
          <a:ln>
            <a:noFill/>
          </a:ln>
        </p:spPr>
      </p:pic>
      <p:pic>
        <p:nvPicPr>
          <p:cNvPr id="207" name="Google Shape;207;p20"/>
          <p:cNvPicPr preferRelativeResize="0"/>
          <p:nvPr/>
        </p:nvPicPr>
        <p:blipFill rotWithShape="1">
          <a:blip r:embed="rId16">
            <a:alphaModFix/>
          </a:blip>
          <a:srcRect t="18905" b="18904"/>
          <a:stretch/>
        </p:blipFill>
        <p:spPr>
          <a:xfrm>
            <a:off x="1537771" y="1614885"/>
            <a:ext cx="1214840" cy="382767"/>
          </a:xfrm>
          <a:prstGeom prst="rect">
            <a:avLst/>
          </a:prstGeom>
          <a:noFill/>
          <a:ln>
            <a:noFill/>
          </a:ln>
        </p:spPr>
      </p:pic>
      <p:pic>
        <p:nvPicPr>
          <p:cNvPr id="208" name="Google Shape;208;p20"/>
          <p:cNvPicPr preferRelativeResize="0"/>
          <p:nvPr/>
        </p:nvPicPr>
        <p:blipFill rotWithShape="1">
          <a:blip r:embed="rId17">
            <a:alphaModFix/>
          </a:blip>
          <a:srcRect l="2114" t="28897" b="28892"/>
          <a:stretch/>
        </p:blipFill>
        <p:spPr>
          <a:xfrm>
            <a:off x="4740627" y="1652095"/>
            <a:ext cx="1254574" cy="308347"/>
          </a:xfrm>
          <a:prstGeom prst="rect">
            <a:avLst/>
          </a:prstGeom>
          <a:noFill/>
          <a:ln>
            <a:noFill/>
          </a:ln>
        </p:spPr>
      </p:pic>
      <p:pic>
        <p:nvPicPr>
          <p:cNvPr id="209" name="Google Shape;209;p20"/>
          <p:cNvPicPr preferRelativeResize="0"/>
          <p:nvPr/>
        </p:nvPicPr>
        <p:blipFill rotWithShape="1">
          <a:blip r:embed="rId18">
            <a:alphaModFix/>
          </a:blip>
          <a:srcRect/>
          <a:stretch/>
        </p:blipFill>
        <p:spPr>
          <a:xfrm>
            <a:off x="4760495" y="2253777"/>
            <a:ext cx="1214839" cy="386012"/>
          </a:xfrm>
          <a:prstGeom prst="rect">
            <a:avLst/>
          </a:prstGeom>
          <a:noFill/>
          <a:ln>
            <a:noFill/>
          </a:ln>
        </p:spPr>
      </p:pic>
      <p:pic>
        <p:nvPicPr>
          <p:cNvPr id="210" name="Google Shape;210;p20"/>
          <p:cNvPicPr preferRelativeResize="0"/>
          <p:nvPr/>
        </p:nvPicPr>
        <p:blipFill rotWithShape="1">
          <a:blip r:embed="rId19">
            <a:alphaModFix/>
          </a:blip>
          <a:srcRect/>
          <a:stretch/>
        </p:blipFill>
        <p:spPr>
          <a:xfrm>
            <a:off x="1647215" y="2294778"/>
            <a:ext cx="995952" cy="304010"/>
          </a:xfrm>
          <a:prstGeom prst="rect">
            <a:avLst/>
          </a:prstGeom>
          <a:noFill/>
          <a:ln>
            <a:noFill/>
          </a:ln>
        </p:spPr>
      </p:pic>
      <p:sp>
        <p:nvSpPr>
          <p:cNvPr id="211" name="Google Shape;211;p20"/>
          <p:cNvSpPr txBox="1">
            <a:spLocks noGrp="1"/>
          </p:cNvSpPr>
          <p:nvPr>
            <p:ph type="title" idx="4294967295"/>
          </p:nvPr>
        </p:nvSpPr>
        <p:spPr>
          <a:xfrm>
            <a:off x="2079450" y="745725"/>
            <a:ext cx="6373800" cy="511500"/>
          </a:xfrm>
          <a:prstGeom prst="rect">
            <a:avLst/>
          </a:prstGeom>
          <a:noFill/>
          <a:ln>
            <a:noFill/>
          </a:ln>
        </p:spPr>
        <p:txBody>
          <a:bodyPr spcFirstLastPara="1" wrap="square" lIns="91425" tIns="91425" rIns="91425" bIns="91425" anchor="t" anchorCtr="0">
            <a:noAutofit/>
          </a:bodyPr>
          <a:lstStyle/>
          <a:p>
            <a:pPr marL="0" lvl="0" indent="0" algn="r" rtl="1">
              <a:lnSpc>
                <a:spcPct val="100000"/>
              </a:lnSpc>
              <a:spcBef>
                <a:spcPts val="0"/>
              </a:spcBef>
              <a:spcAft>
                <a:spcPts val="0"/>
              </a:spcAft>
              <a:buSzPts val="990"/>
              <a:buNone/>
            </a:pPr>
            <a:r>
              <a:rPr lang="en-US">
                <a:solidFill>
                  <a:srgbClr val="4F29B6"/>
                </a:solidFill>
                <a:latin typeface="IBM Plex Sans Arabic SemiBold"/>
                <a:ea typeface="IBM Plex Sans Arabic SemiBold"/>
                <a:cs typeface="IBM Plex Sans Arabic SemiBold"/>
                <a:sym typeface="IBM Plex Sans Arabic SemiBold"/>
              </a:rPr>
              <a:t>الشراكات العالمية</a:t>
            </a:r>
            <a:endParaRPr>
              <a:solidFill>
                <a:srgbClr val="4F29B6"/>
              </a:solidFill>
              <a:latin typeface="IBM Plex Sans Arabic SemiBold"/>
              <a:ea typeface="IBM Plex Sans Arabic SemiBold"/>
              <a:cs typeface="IBM Plex Sans Arabic SemiBold"/>
              <a:sym typeface="IBM Plex Sans Arabic SemiBold"/>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215"/>
        <p:cNvGrpSpPr/>
        <p:nvPr/>
      </p:nvGrpSpPr>
      <p:grpSpPr>
        <a:xfrm>
          <a:off x="0" y="0"/>
          <a:ext cx="0" cy="0"/>
          <a:chOff x="0" y="0"/>
          <a:chExt cx="0" cy="0"/>
        </a:xfrm>
      </p:grpSpPr>
      <p:sp>
        <p:nvSpPr>
          <p:cNvPr id="216" name="Google Shape;216;p21"/>
          <p:cNvSpPr txBox="1">
            <a:spLocks noGrp="1"/>
          </p:cNvSpPr>
          <p:nvPr>
            <p:ph type="title"/>
          </p:nvPr>
        </p:nvSpPr>
        <p:spPr>
          <a:xfrm>
            <a:off x="5548225" y="2230950"/>
            <a:ext cx="3062100" cy="681600"/>
          </a:xfrm>
          <a:prstGeom prst="rect">
            <a:avLst/>
          </a:prstGeom>
          <a:noFill/>
          <a:ln>
            <a:noFill/>
          </a:ln>
        </p:spPr>
        <p:txBody>
          <a:bodyPr spcFirstLastPara="1" wrap="square" lIns="91425" tIns="91425" rIns="91425" bIns="91425" anchor="b" anchorCtr="0">
            <a:normAutofit fontScale="90000"/>
          </a:bodyPr>
          <a:lstStyle/>
          <a:p>
            <a:pPr marL="0" lvl="0" indent="0" algn="r" rtl="0">
              <a:lnSpc>
                <a:spcPct val="100000"/>
              </a:lnSpc>
              <a:spcBef>
                <a:spcPts val="0"/>
              </a:spcBef>
              <a:spcAft>
                <a:spcPts val="0"/>
              </a:spcAft>
              <a:buSzPct val="333333"/>
              <a:buNone/>
            </a:pPr>
            <a:r>
              <a:rPr lang="en-US" sz="4000" b="1">
                <a:solidFill>
                  <a:schemeClr val="lt1"/>
                </a:solidFill>
                <a:latin typeface="IBM Plex Sans Arabic"/>
                <a:ea typeface="IBM Plex Sans Arabic"/>
                <a:cs typeface="IBM Plex Sans Arabic"/>
                <a:sym typeface="IBM Plex Sans Arabic"/>
              </a:rPr>
              <a:t>شــــــكــــرًا لكــــــم</a:t>
            </a:r>
            <a:endParaRPr sz="4000" b="1">
              <a:solidFill>
                <a:schemeClr val="lt1"/>
              </a:solidFill>
              <a:latin typeface="IBM Plex Sans Arabic"/>
              <a:ea typeface="IBM Plex Sans Arabic"/>
              <a:cs typeface="IBM Plex Sans Arabic"/>
              <a:sym typeface="IBM Plex Sans Arabic"/>
            </a:endParaRPr>
          </a:p>
        </p:txBody>
      </p:sp>
      <p:sp>
        <p:nvSpPr>
          <p:cNvPr id="217" name="Google Shape;217;p21"/>
          <p:cNvSpPr txBox="1">
            <a:spLocks noGrp="1"/>
          </p:cNvSpPr>
          <p:nvPr>
            <p:ph type="ctrTitle" idx="4294967295"/>
          </p:nvPr>
        </p:nvSpPr>
        <p:spPr>
          <a:xfrm>
            <a:off x="4166050" y="2870075"/>
            <a:ext cx="4444200" cy="576600"/>
          </a:xfrm>
          <a:prstGeom prst="rect">
            <a:avLst/>
          </a:prstGeom>
          <a:noFill/>
          <a:ln>
            <a:noFill/>
          </a:ln>
        </p:spPr>
        <p:txBody>
          <a:bodyPr spcFirstLastPara="1" wrap="square" lIns="91425" tIns="91425" rIns="91425" bIns="91425" anchor="t" anchorCtr="0">
            <a:noAutofit/>
          </a:bodyPr>
          <a:lstStyle/>
          <a:p>
            <a:pPr marL="0" marR="0" lvl="0" indent="0" algn="r" rtl="0">
              <a:lnSpc>
                <a:spcPct val="100000"/>
              </a:lnSpc>
              <a:spcBef>
                <a:spcPts val="0"/>
              </a:spcBef>
              <a:spcAft>
                <a:spcPts val="0"/>
              </a:spcAft>
              <a:buClr>
                <a:srgbClr val="4F29B7"/>
              </a:buClr>
              <a:buSzPts val="990"/>
              <a:buFont typeface="IBM Plex Sans Arabic Medium"/>
              <a:buNone/>
            </a:pPr>
            <a:r>
              <a:rPr lang="en-US" sz="2900" b="1" i="0" u="none" strike="noStrike" cap="none">
                <a:solidFill>
                  <a:schemeClr val="lt1"/>
                </a:solidFill>
                <a:latin typeface="IBM Plex Sans Arabic"/>
                <a:ea typeface="IBM Plex Sans Arabic"/>
                <a:cs typeface="IBM Plex Sans Arabic"/>
                <a:sym typeface="IBM Plex Sans Arabic"/>
              </a:rPr>
              <a:t>THANK YOU</a:t>
            </a:r>
            <a:endParaRPr sz="2900" b="1" i="0" u="none" strike="noStrike" cap="none">
              <a:solidFill>
                <a:schemeClr val="lt1"/>
              </a:solidFill>
              <a:latin typeface="IBM Plex Sans Arabic"/>
              <a:ea typeface="IBM Plex Sans Arabic"/>
              <a:cs typeface="IBM Plex Sans Arabic"/>
              <a:sym typeface="IBM Plex Sans Arabic"/>
            </a:endParaRPr>
          </a:p>
        </p:txBody>
      </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34991</TotalTime>
  <Words>4146</Words>
  <Application>Microsoft Macintosh PowerPoint</Application>
  <PresentationFormat>On-screen Show (16:9)</PresentationFormat>
  <Paragraphs>273</Paragraphs>
  <Slides>29</Slides>
  <Notes>28</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29</vt:i4>
      </vt:variant>
    </vt:vector>
  </HeadingPairs>
  <TitlesOfParts>
    <vt:vector size="38" baseType="lpstr">
      <vt:lpstr>IBM Plex Sans Arabic SemiBold</vt:lpstr>
      <vt:lpstr>Arial</vt:lpstr>
      <vt:lpstr>IBM Plex Sans Arabic</vt:lpstr>
      <vt:lpstr>IBM Plex Sans Arabic Medium</vt:lpstr>
      <vt:lpstr>source-serif-pro</vt:lpstr>
      <vt:lpstr>Calibri</vt:lpstr>
      <vt:lpstr>Inter</vt:lpstr>
      <vt:lpstr>Tajawal</vt:lpstr>
      <vt:lpstr>Simple Light</vt:lpstr>
      <vt:lpstr>أكـــــاديميــــة طــــويـــق</vt:lpstr>
      <vt:lpstr>         Ethical Considerations in Deep Learning Bias and fairness in AI models Explainability and interpretability of deep learning mode     </vt:lpstr>
      <vt:lpstr>PowerPoint Presentation</vt:lpstr>
      <vt:lpstr>Ethical Cosiderations of Deep Learning </vt:lpstr>
      <vt:lpstr>Mitigation Strategies: </vt:lpstr>
      <vt:lpstr>Data Privacy    </vt:lpstr>
      <vt:lpstr>Transparency and Explainability (XAI)    </vt:lpstr>
      <vt:lpstr>Autonomy and Human Oversight    </vt:lpstr>
      <vt:lpstr>Accountability     </vt:lpstr>
      <vt:lpstr>Addressing Ethical Challenges in Deep Learning     </vt:lpstr>
      <vt:lpstr>Addressing Ethical Challenges in Deep Learning     </vt:lpstr>
      <vt:lpstr>Addressing Ethical Challenges in Deep Learning     </vt:lpstr>
      <vt:lpstr>Disparate Impact Ratio (DIR)      </vt:lpstr>
      <vt:lpstr>Disparate Impact Ratio (DIR)      </vt:lpstr>
      <vt:lpstr>Limitations of Disparate Impact Ratio (DIR)      </vt:lpstr>
      <vt:lpstr>Mitigate bias in an AI loan approval system     </vt:lpstr>
      <vt:lpstr>Ethical AI: Addressing Bias in Loan Approval Models      </vt:lpstr>
      <vt:lpstr>Ethical AI: Addressing Bias in Loan Approval Models      </vt:lpstr>
      <vt:lpstr>Ethical AI: Addressing Bias in Loan Approval Models      </vt:lpstr>
      <vt:lpstr>Ethical AI: Addressing Bias in Loan Approval Models      </vt:lpstr>
      <vt:lpstr>Ethical AI: Addressing Bias in Loan Approval Models      </vt:lpstr>
      <vt:lpstr>Ethical AI: Addressing Bias in Loan Approval Models      </vt:lpstr>
      <vt:lpstr>Ethical AI: Addressing Bias in Loan Approval Models      </vt:lpstr>
      <vt:lpstr>Ethical AI: Addressing Bias in Loan Approval Models      </vt:lpstr>
      <vt:lpstr>Summary</vt:lpstr>
      <vt:lpstr>Hands On Exercise  </vt:lpstr>
      <vt:lpstr>Books and References </vt:lpstr>
      <vt:lpstr>الشراكات العالمية</vt:lpstr>
      <vt:lpstr>شــــــكــــرًا لكــــــم</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asus</dc:creator>
  <cp:lastModifiedBy>Afshan Hashmi</cp:lastModifiedBy>
  <cp:revision>83</cp:revision>
  <dcterms:modified xsi:type="dcterms:W3CDTF">2025-05-28T14:42:12Z</dcterms:modified>
</cp:coreProperties>
</file>