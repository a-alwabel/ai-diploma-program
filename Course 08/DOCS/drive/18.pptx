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98" r:id="rId5"/>
    <p:sldId id="539" r:id="rId6"/>
    <p:sldId id="540" r:id="rId7"/>
    <p:sldId id="503" r:id="rId8"/>
    <p:sldId id="518" r:id="rId9"/>
    <p:sldId id="525" r:id="rId10"/>
    <p:sldId id="541" r:id="rId11"/>
    <p:sldId id="504" r:id="rId12"/>
    <p:sldId id="542" r:id="rId13"/>
    <p:sldId id="544" r:id="rId14"/>
    <p:sldId id="545" r:id="rId15"/>
    <p:sldId id="546" r:id="rId16"/>
    <p:sldId id="547" r:id="rId17"/>
    <p:sldId id="548" r:id="rId18"/>
    <p:sldId id="549" r:id="rId19"/>
    <p:sldId id="550" r:id="rId20"/>
    <p:sldId id="370" r:id="rId21"/>
    <p:sldId id="312" r:id="rId22"/>
    <p:sldId id="275" r:id="rId23"/>
    <p:sldId id="276" r:id="rId24"/>
  </p:sldIdLst>
  <p:sldSz cx="9144000" cy="5143500" type="screen16x9"/>
  <p:notesSz cx="6858000" cy="9144000"/>
  <p:embeddedFontLst>
    <p:embeddedFont>
      <p:font typeface="IBM Plex Sans Arabic" panose="020B0603050203000203" pitchFamily="34" charset="-78"/>
      <p:regular r:id="rId26"/>
      <p:bold r:id="rId27"/>
    </p:embeddedFont>
    <p:embeddedFont>
      <p:font typeface="IBM Plex Sans Arabic Medium" panose="020B0603050203000203" pitchFamily="34" charset="-78"/>
      <p:regular r:id="rId28"/>
      <p:bold r:id="rId29"/>
    </p:embeddedFont>
    <p:embeddedFont>
      <p:font typeface="IBM Plex Sans Arabic SemiBold" panose="020B0603050203000203" pitchFamily="34" charset="-78"/>
      <p:regular r:id="rId30"/>
      <p:bold r:id="rId31"/>
    </p:embeddedFont>
    <p:embeddedFont>
      <p:font typeface="Inter" panose="020F0502020204030204" pitchFamily="34" charset="0"/>
      <p:regular r:id="rId32"/>
      <p:bold r:id="rId33"/>
      <p:italic r:id="rId34"/>
      <p:boldItalic r:id="rId35"/>
    </p:embeddedFont>
    <p:embeddedFont>
      <p:font typeface="Tajawal" pitchFamily="2" charset="-78"/>
      <p:regular r:id="rId36"/>
      <p:bold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17"/>
    <p:restoredTop sz="94247"/>
  </p:normalViewPr>
  <p:slideViewPr>
    <p:cSldViewPr snapToGrid="0">
      <p:cViewPr varScale="1">
        <p:scale>
          <a:sx n="160" d="100"/>
          <a:sy n="160" d="100"/>
        </p:scale>
        <p:origin x="1056" y="168"/>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font" Target="fonts/font9.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6B9BDE8-2C21-E8E2-343E-690C2E12EF0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E229485-EB2F-925E-9172-598BFC53F1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DB3474E-4E76-9301-6F58-CEFCA74FAB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4339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A520ABD-1559-E12F-8427-2C2DB73B9D3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84A938E-2BB5-2630-E22B-23B7B3A110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92BD475-9C93-A9F5-E647-21681F8AA6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9142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065B93A-00C4-D41B-06F0-133DF88855B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C4C2858-DCCF-786B-55FC-B62762E27E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B6DD939-FEC6-2679-455E-7BE150A274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1007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CBAC49F-E8BA-5CF9-2EE8-634D4A0B7CA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64E7AFF-8380-E297-29B1-2B74370741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6810974-39C8-D48B-DE20-A08FC8735B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1546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003D590-2161-B1D4-5B79-B825CB3BF6C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B39CDDA-B6BE-E0B6-737F-E4222ED0E6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EF975B8-F3F0-0F8E-BB48-C47D2D292B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16401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3F89FF8-E3C6-6EAC-9FB9-8F502314BEA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CA7C465-EF94-B828-3F40-24DAD800E8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6D66558-1FAC-F2AF-E6BE-0BDDE6ECD5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3238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3A209BA-8FFB-3612-9EE1-DFA08C4FBFB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A9E66AC-B9FB-6360-E472-ACAB08571D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48E2480-0A65-000A-0E22-213D020348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0581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0A581F6-57DA-A657-4DE8-C7D575302D2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21BFE3B-A317-4DDA-0DDD-5024732186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C743AD2-67D2-ED4E-4083-49C62E6F62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3400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930A302-472B-9ADB-9422-A14988228AE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666F0F4-B6E7-5613-8D58-CAE7BD2C64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7CB93D1-B688-FB5B-A61A-AC58D97514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34332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B90C358-660D-2904-F914-9608FE4E537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1BF7C69-2D37-521F-EE43-1175A3BBF3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6B4FB52-7F98-F5DA-94C1-C3A5D70859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09348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87364FE-F8C7-C49F-A9B4-D9F75BFDE44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7DB2084-ACDE-9AA8-5511-33A893BEDB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DDA232A-1509-32DB-EAF8-F52486D285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7629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60D5516-120B-7B6A-5A27-ED344BAF751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C8414DB-39C6-2328-7916-871A4F4600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A09037A-86BE-8053-B17F-20903F7F64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24820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63479D9-AAAA-9D6E-89B9-410AA7C0A41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00B8951-263E-2644-EF2A-86944A2C6A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7619857-BE46-6BBD-3E42-387E8031E7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85235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147AB0A-3A3B-25AC-C372-F5372392CB6E}"/>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0616A55-1F6C-5ED9-2D7C-0C2043DE38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98D0B01-A116-F3DA-FD6A-5187505101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99660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C5703A7-E9E2-3CAE-F5CD-4EA02823B99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7DF51EA-1CA2-87B9-16AF-39F73E9E38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CCEEE02-4A46-C2DD-0854-9FBDDEB84E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9612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hyperlink" Target="https://www.wallpaperflare.com/wallpaper-programmer-coding-pattern-text-full-frame-backgrounds-wallpaper-pfdto" TargetMode="External"/><Relationship Id="rId5" Type="http://schemas.openxmlformats.org/officeDocument/2006/relationships/image" Target="../media/image11.jpg"/><Relationship Id="rId4" Type="http://schemas.openxmlformats.org/officeDocument/2006/relationships/hyperlink" Target="https://drive.google.com/file/d/1PiOm8C_iKyRlnpc_lxibehgEqTTGMsDX/view?usp=share_link"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hyperlink" Target="https://www.geeksforgeeks.org/generative-adversarial-network-gan/"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22.xml"/><Relationship Id="rId16"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0" y="656623"/>
            <a:ext cx="8520600" cy="3112070"/>
          </a:xfrm>
          <a:prstGeom prst="rect">
            <a:avLst/>
          </a:prstGeom>
          <a:noFill/>
          <a:ln>
            <a:noFill/>
          </a:ln>
        </p:spPr>
        <p:txBody>
          <a:bodyPr spcFirstLastPara="1" wrap="square" lIns="91425" tIns="91425" rIns="91425" bIns="91425" anchor="b" anchorCtr="0">
            <a:normAutofit/>
          </a:bodyPr>
          <a:lstStyle/>
          <a:p>
            <a:r>
              <a:rPr lang="en-GB" sz="4000" dirty="0" err="1">
                <a:solidFill>
                  <a:srgbClr val="7030A0"/>
                </a:solidFill>
                <a:latin typeface="Times New Roman" panose="02020603050405020304" pitchFamily="18" charset="0"/>
              </a:rPr>
              <a:t>AutoEncoders</a:t>
            </a: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838658" y="1343963"/>
            <a:ext cx="6634716" cy="1846619"/>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dirty="0">
                <a:solidFill>
                  <a:srgbClr val="7030A0"/>
                </a:solidFill>
              </a:rPr>
              <a:t>Topics Covered</a:t>
            </a:r>
            <a:r>
              <a:rPr lang="en-US" sz="2400" b="1" i="0" u="none" strike="noStrike" cap="none" dirty="0">
                <a:solidFill>
                  <a:srgbClr val="7030A0"/>
                </a:solidFill>
                <a:latin typeface="Arial"/>
                <a:ea typeface="Arial"/>
                <a:cs typeface="Arial"/>
                <a:sym typeface="Arial"/>
              </a:rPr>
              <a:t>:</a:t>
            </a:r>
            <a:endParaRPr lang="en-GB" b="0" i="0" u="none" strike="noStrike" dirty="0">
              <a:solidFill>
                <a:srgbClr val="000000"/>
              </a:solidFill>
              <a:effectLst/>
            </a:endParaRPr>
          </a:p>
          <a:p>
            <a:pPr marL="342900" indent="-342900" algn="l" rtl="0">
              <a:buFont typeface="+mj-lt"/>
              <a:buAutoNum type="arabicPeriod"/>
            </a:pPr>
            <a:r>
              <a:rPr lang="en-GB" b="1" dirty="0"/>
              <a:t>What is an Autoencoder</a:t>
            </a:r>
            <a:endParaRPr lang="en-GB" dirty="0"/>
          </a:p>
          <a:p>
            <a:pPr marL="342900" indent="-342900" algn="l" rtl="0">
              <a:buFont typeface="+mj-lt"/>
              <a:buAutoNum type="arabicPeriod"/>
            </a:pPr>
            <a:r>
              <a:rPr lang="en-GB" b="1" dirty="0"/>
              <a:t>Architecture of Autoencoders</a:t>
            </a:r>
            <a:r>
              <a:rPr lang="en-GB" dirty="0"/>
              <a:t> </a:t>
            </a:r>
          </a:p>
          <a:p>
            <a:pPr marL="342900" indent="-342900" algn="l" rtl="0">
              <a:buFont typeface="+mj-lt"/>
              <a:buAutoNum type="arabicPeriod"/>
            </a:pPr>
            <a:r>
              <a:rPr lang="en-GB" b="1" dirty="0"/>
              <a:t>Loss Functions in Autoencoder Training</a:t>
            </a:r>
          </a:p>
          <a:p>
            <a:pPr marL="342900" indent="-342900" algn="l" rtl="0">
              <a:buFont typeface="+mj-lt"/>
              <a:buAutoNum type="arabicPeriod"/>
            </a:pPr>
            <a:r>
              <a:rPr lang="en-GB" b="1" dirty="0"/>
              <a:t>Types of Autoencoders</a:t>
            </a:r>
            <a:endParaRPr lang="en-GB" dirty="0"/>
          </a:p>
          <a:p>
            <a:pPr marL="342900" indent="-342900" algn="l" rtl="0">
              <a:buFont typeface="+mj-lt"/>
              <a:buAutoNum type="arabicPeriod"/>
            </a:pPr>
            <a:r>
              <a:rPr lang="en-GB" b="1" dirty="0"/>
              <a:t>Implementation of Autoencoders</a:t>
            </a:r>
            <a:endParaRPr lang="en-GB" dirty="0"/>
          </a:p>
          <a:p>
            <a:pPr marL="342900" indent="-342900" algn="l" rtl="0">
              <a:buFont typeface="+mj-lt"/>
              <a:buAutoNum type="arabicPeriod"/>
            </a:pPr>
            <a:r>
              <a:rPr lang="en-GB" b="1" dirty="0"/>
              <a:t>Limitations of Autoencoders</a:t>
            </a:r>
            <a:endParaRPr lang="en-GB" b="0" i="0" u="none" strike="noStrike" dirty="0">
              <a:solidFill>
                <a:srgbClr val="000000"/>
              </a:solidFill>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a:bodyPr>
          <a:lstStyle/>
          <a:p>
            <a:pPr algn="l">
              <a:buNone/>
            </a:pPr>
            <a:r>
              <a:rPr lang="en-GB" sz="2800" b="1" i="0" u="none" strike="noStrike" dirty="0">
                <a:solidFill>
                  <a:srgbClr val="7030A0"/>
                </a:solidFill>
                <a:effectLst/>
              </a:rPr>
              <a:t>Autoencoder</a:t>
            </a: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91F168CB-0CDB-B6DB-AE67-BA9ABA3C3998}"/>
              </a:ext>
            </a:extLst>
          </p:cNvPr>
          <p:cNvSpPr txBox="1"/>
          <p:nvPr/>
        </p:nvSpPr>
        <p:spPr>
          <a:xfrm>
            <a:off x="127221" y="686618"/>
            <a:ext cx="7920240" cy="3770263"/>
          </a:xfrm>
          <a:prstGeom prst="rect">
            <a:avLst/>
          </a:prstGeom>
          <a:noFill/>
        </p:spPr>
        <p:txBody>
          <a:bodyPr wrap="square">
            <a:spAutoFit/>
          </a:bodyPr>
          <a:lstStyle/>
          <a:p>
            <a:pPr algn="l">
              <a:buNone/>
            </a:pPr>
            <a:r>
              <a:rPr lang="en-GB" b="0" i="0" u="none" strike="noStrike" dirty="0">
                <a:solidFill>
                  <a:srgbClr val="000000"/>
                </a:solidFill>
                <a:effectLst/>
              </a:rPr>
              <a:t>An autoencoder is a type of artificial neural network designed to learn a compressed, efficient representation of input data and then reconstruct that data as accurately as possible.</a:t>
            </a:r>
          </a:p>
          <a:p>
            <a:pPr algn="l">
              <a:buNone/>
            </a:pPr>
            <a:r>
              <a:rPr lang="en-GB" b="1" i="0" u="none" strike="noStrike" dirty="0">
                <a:solidFill>
                  <a:srgbClr val="000000"/>
                </a:solidFill>
                <a:effectLst/>
              </a:rPr>
              <a:t>Components:</a:t>
            </a:r>
            <a:endParaRPr lang="en-GB" b="0" i="0" u="none" strike="noStrike" dirty="0">
              <a:solidFill>
                <a:srgbClr val="000000"/>
              </a:solidFill>
              <a:effectLst/>
            </a:endParaRPr>
          </a:p>
          <a:p>
            <a:pPr algn="l"/>
            <a:r>
              <a:rPr lang="en-GB" b="1" i="0" u="none" strike="noStrike" dirty="0">
                <a:solidFill>
                  <a:srgbClr val="000000"/>
                </a:solidFill>
                <a:effectLst/>
              </a:rPr>
              <a:t>Encoder:</a:t>
            </a:r>
            <a:endParaRPr lang="en-GB" b="0" i="0" u="none" strike="noStrike" dirty="0">
              <a:solidFill>
                <a:srgbClr val="000000"/>
              </a:solidFill>
              <a:effectLst/>
            </a:endParaRPr>
          </a:p>
          <a:p>
            <a:pPr marL="742950" lvl="1" indent="-285750" algn="l">
              <a:buFont typeface="Wingdings" pitchFamily="2" charset="2"/>
              <a:buChar char="ü"/>
            </a:pPr>
            <a:r>
              <a:rPr lang="en-GB" b="0" i="0" u="none" strike="noStrike" dirty="0">
                <a:solidFill>
                  <a:srgbClr val="000000"/>
                </a:solidFill>
                <a:effectLst/>
              </a:rPr>
              <a:t>Compresses the original input data into a lower-dimensional, compact representation (often called the "latent space" or "bottleneck layer").</a:t>
            </a:r>
          </a:p>
          <a:p>
            <a:pPr marL="742950" lvl="1" indent="-285750" algn="l">
              <a:buFont typeface="Wingdings" pitchFamily="2" charset="2"/>
              <a:buChar char="ü"/>
            </a:pPr>
            <a:r>
              <a:rPr lang="en-GB" b="0" i="0" u="none" strike="noStrike" dirty="0">
                <a:solidFill>
                  <a:srgbClr val="000000"/>
                </a:solidFill>
                <a:effectLst/>
              </a:rPr>
              <a:t>Its goal is to capture the most relevant and essential features of the input.</a:t>
            </a:r>
          </a:p>
          <a:p>
            <a:pPr algn="l"/>
            <a:r>
              <a:rPr lang="en-GB" b="1" i="0" u="none" strike="noStrike" dirty="0">
                <a:solidFill>
                  <a:srgbClr val="000000"/>
                </a:solidFill>
                <a:effectLst/>
              </a:rPr>
              <a:t>Decoder:</a:t>
            </a:r>
            <a:endParaRPr lang="en-GB" b="0" i="0" u="none" strike="noStrike" dirty="0">
              <a:solidFill>
                <a:srgbClr val="000000"/>
              </a:solidFill>
              <a:effectLst/>
            </a:endParaRPr>
          </a:p>
          <a:p>
            <a:pPr marL="742950" lvl="1" indent="-285750" algn="l">
              <a:buFont typeface="Wingdings" pitchFamily="2" charset="2"/>
              <a:buChar char="ü"/>
            </a:pPr>
            <a:r>
              <a:rPr lang="en-GB" b="0" i="0" u="none" strike="noStrike" dirty="0">
                <a:solidFill>
                  <a:srgbClr val="000000"/>
                </a:solidFill>
                <a:effectLst/>
              </a:rPr>
              <a:t>Takes the compressed representation from the encoder as input.</a:t>
            </a:r>
          </a:p>
          <a:p>
            <a:pPr marL="742950" lvl="1" indent="-285750" algn="l">
              <a:buFont typeface="Wingdings" pitchFamily="2" charset="2"/>
              <a:buChar char="ü"/>
            </a:pPr>
            <a:r>
              <a:rPr lang="en-GB" b="0" i="0" u="none" strike="noStrike" dirty="0">
                <a:solidFill>
                  <a:srgbClr val="000000"/>
                </a:solidFill>
                <a:effectLst/>
              </a:rPr>
              <a:t>Reconstructs the data, aiming to make the output as similar as possible to the original input.</a:t>
            </a:r>
          </a:p>
          <a:p>
            <a:pPr algn="l">
              <a:buNone/>
            </a:pPr>
            <a:r>
              <a:rPr lang="en-GB" b="1" i="0" u="none" strike="noStrike" dirty="0">
                <a:solidFill>
                  <a:srgbClr val="000000"/>
                </a:solidFill>
                <a:effectLst/>
              </a:rPr>
              <a:t>How it Works (Example):</a:t>
            </a:r>
            <a:endParaRPr lang="en-GB" b="0" i="0" u="none" strike="noStrike" dirty="0">
              <a:solidFill>
                <a:srgbClr val="000000"/>
              </a:solidFill>
              <a:effectLst/>
            </a:endParaRPr>
          </a:p>
          <a:p>
            <a:pPr algn="l"/>
            <a:r>
              <a:rPr lang="en-GB" b="0" i="0" u="none" strike="noStrike" dirty="0">
                <a:solidFill>
                  <a:srgbClr val="000000"/>
                </a:solidFill>
                <a:effectLst/>
              </a:rPr>
              <a:t>If you input a noisy image of handwritten digits, the autoencoder will learn to:</a:t>
            </a:r>
          </a:p>
          <a:p>
            <a:pPr marL="742950" lvl="1" indent="-285750" algn="l">
              <a:buFont typeface="Wingdings" pitchFamily="2" charset="2"/>
              <a:buChar char="ü"/>
            </a:pPr>
            <a:r>
              <a:rPr lang="en-GB" b="1" i="0" u="none" strike="noStrike" dirty="0">
                <a:solidFill>
                  <a:srgbClr val="000000"/>
                </a:solidFill>
                <a:effectLst/>
              </a:rPr>
              <a:t>Compress</a:t>
            </a:r>
            <a:r>
              <a:rPr lang="en-GB" b="0" i="0" u="none" strike="noStrike" dirty="0">
                <a:solidFill>
                  <a:srgbClr val="000000"/>
                </a:solidFill>
                <a:effectLst/>
              </a:rPr>
              <a:t> the noisy image into a smaller set of features (encoder).</a:t>
            </a:r>
          </a:p>
          <a:p>
            <a:pPr marL="742950" lvl="1" indent="-285750" algn="l">
              <a:buFont typeface="Wingdings" pitchFamily="2" charset="2"/>
              <a:buChar char="ü"/>
            </a:pPr>
            <a:r>
              <a:rPr lang="en-GB" b="1" i="0" u="none" strike="noStrike" dirty="0">
                <a:solidFill>
                  <a:srgbClr val="000000"/>
                </a:solidFill>
                <a:effectLst/>
              </a:rPr>
              <a:t>Reconstruct</a:t>
            </a:r>
            <a:r>
              <a:rPr lang="en-GB" b="0" i="0" u="none" strike="noStrike" dirty="0">
                <a:solidFill>
                  <a:srgbClr val="000000"/>
                </a:solidFill>
                <a:effectLst/>
              </a:rPr>
              <a:t> a cleaner version of the original image from these features (decoder), effectively removing the noise.</a:t>
            </a:r>
          </a:p>
          <a:p>
            <a:endParaRPr lang="en-GB" sz="1500" b="1" dirty="0">
              <a:latin typeface="+mj-lt"/>
            </a:endParaRP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C179245-137F-67F9-2E05-2A73F9E590A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4895422-AF95-F2F7-FACD-DCF1236BFB89}"/>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a:bodyPr>
          <a:lstStyle/>
          <a:p>
            <a:pPr algn="l">
              <a:buNone/>
            </a:pPr>
            <a:r>
              <a:rPr lang="en-GB" sz="2800" b="1" i="0" u="none" strike="noStrike" dirty="0">
                <a:solidFill>
                  <a:srgbClr val="7030A0"/>
                </a:solidFill>
                <a:effectLst/>
              </a:rPr>
              <a:t>Autoencoder</a:t>
            </a: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3142855-31B3-B00B-D5F7-C77B4057FEA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2CF73AC-550B-53A3-1A6F-6F1C60520B55}"/>
              </a:ext>
            </a:extLst>
          </p:cNvPr>
          <p:cNvSpPr txBox="1"/>
          <p:nvPr/>
        </p:nvSpPr>
        <p:spPr>
          <a:xfrm>
            <a:off x="127221" y="686618"/>
            <a:ext cx="7920240" cy="3785652"/>
          </a:xfrm>
          <a:prstGeom prst="rect">
            <a:avLst/>
          </a:prstGeom>
          <a:noFill/>
        </p:spPr>
        <p:txBody>
          <a:bodyPr wrap="square">
            <a:spAutoFit/>
          </a:bodyPr>
          <a:lstStyle/>
          <a:p>
            <a:pPr algn="l">
              <a:buNone/>
            </a:pPr>
            <a:r>
              <a:rPr lang="en-GB" sz="1600" b="1" i="0" u="none" strike="noStrike" dirty="0">
                <a:solidFill>
                  <a:srgbClr val="000000"/>
                </a:solidFill>
                <a:effectLst/>
              </a:rPr>
              <a:t>Training Objective:</a:t>
            </a:r>
            <a:endParaRPr lang="en-GB" sz="1600" b="0" i="0" u="none" strike="noStrike" dirty="0">
              <a:solidFill>
                <a:srgbClr val="000000"/>
              </a:solidFill>
              <a:effectLst/>
            </a:endParaRPr>
          </a:p>
          <a:p>
            <a:pPr algn="l"/>
            <a:r>
              <a:rPr lang="en-GB" sz="1600" b="1" i="0" u="none" strike="noStrike" dirty="0">
                <a:solidFill>
                  <a:srgbClr val="000000"/>
                </a:solidFill>
                <a:effectLst/>
              </a:rPr>
              <a:t>Goal:</a:t>
            </a:r>
            <a:r>
              <a:rPr lang="en-GB" sz="1600" b="0" i="0" u="none" strike="noStrike" dirty="0">
                <a:solidFill>
                  <a:srgbClr val="000000"/>
                </a:solidFill>
                <a:effectLst/>
              </a:rPr>
              <a:t> Minimize the </a:t>
            </a:r>
            <a:r>
              <a:rPr lang="en-GB" sz="1600" b="1" i="0" u="none" strike="noStrike" dirty="0">
                <a:solidFill>
                  <a:srgbClr val="000000"/>
                </a:solidFill>
                <a:effectLst/>
              </a:rPr>
              <a:t>reconstruction error</a:t>
            </a:r>
            <a:r>
              <a:rPr lang="en-GB" sz="1600" b="0" i="0" u="none" strike="noStrike" dirty="0">
                <a:solidFill>
                  <a:srgbClr val="000000"/>
                </a:solidFill>
                <a:effectLst/>
              </a:rPr>
              <a:t>, which is the difference between the original input and the autoencoder's reconstructed output.</a:t>
            </a:r>
          </a:p>
          <a:p>
            <a:pPr algn="l"/>
            <a:r>
              <a:rPr lang="en-GB" sz="1600" b="1" i="0" u="none" strike="noStrike" dirty="0">
                <a:solidFill>
                  <a:srgbClr val="000000"/>
                </a:solidFill>
                <a:effectLst/>
              </a:rPr>
              <a:t>Loss Functions:</a:t>
            </a:r>
            <a:r>
              <a:rPr lang="en-GB" sz="1600" b="0" i="0" u="none" strike="noStrike" dirty="0">
                <a:solidFill>
                  <a:srgbClr val="000000"/>
                </a:solidFill>
                <a:effectLst/>
              </a:rPr>
              <a:t> Commonly uses Mean Squared Error (MSE) for continuous data or Binary Cross-Entropy (BCE) for binary data.</a:t>
            </a:r>
          </a:p>
          <a:p>
            <a:pPr algn="l"/>
            <a:r>
              <a:rPr lang="en-GB" sz="1600" b="1" i="0" u="none" strike="noStrike" dirty="0">
                <a:solidFill>
                  <a:srgbClr val="000000"/>
                </a:solidFill>
                <a:effectLst/>
              </a:rPr>
              <a:t>Optimization:</a:t>
            </a:r>
            <a:r>
              <a:rPr lang="en-GB" sz="1600" b="0" i="0" u="none" strike="noStrike" dirty="0">
                <a:solidFill>
                  <a:srgbClr val="000000"/>
                </a:solidFill>
                <a:effectLst/>
              </a:rPr>
              <a:t> Trained using </a:t>
            </a:r>
            <a:r>
              <a:rPr lang="en-GB" sz="1600" b="1" i="0" u="none" strike="noStrike" dirty="0">
                <a:solidFill>
                  <a:srgbClr val="000000"/>
                </a:solidFill>
                <a:effectLst/>
              </a:rPr>
              <a:t>backpropagation</a:t>
            </a:r>
            <a:r>
              <a:rPr lang="en-GB" sz="1600" b="0" i="0" u="none" strike="noStrike" dirty="0">
                <a:solidFill>
                  <a:srgbClr val="000000"/>
                </a:solidFill>
                <a:effectLst/>
              </a:rPr>
              <a:t> and </a:t>
            </a:r>
            <a:r>
              <a:rPr lang="en-GB" sz="1600" b="1" i="0" u="none" strike="noStrike" dirty="0">
                <a:solidFill>
                  <a:srgbClr val="000000"/>
                </a:solidFill>
                <a:effectLst/>
              </a:rPr>
              <a:t>gradient descent</a:t>
            </a:r>
            <a:r>
              <a:rPr lang="en-GB" sz="1600" b="0" i="0" u="none" strike="noStrike" dirty="0">
                <a:solidFill>
                  <a:srgbClr val="000000"/>
                </a:solidFill>
                <a:effectLst/>
              </a:rPr>
              <a:t> to adjust its internal parameters.</a:t>
            </a:r>
          </a:p>
          <a:p>
            <a:pPr algn="l">
              <a:buNone/>
            </a:pPr>
            <a:r>
              <a:rPr lang="en-GB" sz="1600" b="1" i="0" u="none" strike="noStrike" dirty="0">
                <a:solidFill>
                  <a:srgbClr val="000000"/>
                </a:solidFill>
                <a:effectLst/>
              </a:rPr>
              <a:t>Applications:</a:t>
            </a:r>
            <a:endParaRPr lang="en-GB" sz="1600" b="0" i="0" u="none" strike="noStrike" dirty="0">
              <a:solidFill>
                <a:srgbClr val="000000"/>
              </a:solidFill>
              <a:effectLst/>
            </a:endParaRPr>
          </a:p>
          <a:p>
            <a:pPr algn="l"/>
            <a:r>
              <a:rPr lang="en-GB" sz="1600" b="1" i="0" u="none" strike="noStrike" dirty="0">
                <a:solidFill>
                  <a:srgbClr val="000000"/>
                </a:solidFill>
                <a:effectLst/>
              </a:rPr>
              <a:t>Image Processing:</a:t>
            </a:r>
            <a:r>
              <a:rPr lang="en-GB" sz="1600" b="0" i="0" u="none" strike="noStrike" dirty="0">
                <a:solidFill>
                  <a:srgbClr val="000000"/>
                </a:solidFill>
                <a:effectLst/>
              </a:rPr>
              <a:t> Denoising, image compression.</a:t>
            </a:r>
          </a:p>
          <a:p>
            <a:pPr algn="l"/>
            <a:r>
              <a:rPr lang="en-GB" sz="1600" b="1" i="0" u="none" strike="noStrike" dirty="0">
                <a:solidFill>
                  <a:srgbClr val="000000"/>
                </a:solidFill>
                <a:effectLst/>
              </a:rPr>
              <a:t>Anomaly Detection:</a:t>
            </a:r>
            <a:r>
              <a:rPr lang="en-GB" sz="1600" b="0" i="0" u="none" strike="noStrike" dirty="0">
                <a:solidFill>
                  <a:srgbClr val="000000"/>
                </a:solidFill>
                <a:effectLst/>
              </a:rPr>
              <a:t> Identifying data points that deviate significantly from learned patterns.</a:t>
            </a:r>
          </a:p>
          <a:p>
            <a:pPr algn="l"/>
            <a:r>
              <a:rPr lang="en-GB" sz="1600" b="1" i="0" u="none" strike="noStrike" dirty="0">
                <a:solidFill>
                  <a:srgbClr val="000000"/>
                </a:solidFill>
                <a:effectLst/>
              </a:rPr>
              <a:t>Noise Removal:</a:t>
            </a:r>
            <a:r>
              <a:rPr lang="en-GB" sz="1600" b="0" i="0" u="none" strike="noStrike" dirty="0">
                <a:solidFill>
                  <a:srgbClr val="000000"/>
                </a:solidFill>
                <a:effectLst/>
              </a:rPr>
              <a:t> As in the example, cleaning up corrupted data.</a:t>
            </a:r>
          </a:p>
          <a:p>
            <a:pPr algn="l"/>
            <a:r>
              <a:rPr lang="en-GB" sz="1600" b="1" i="0" u="none" strike="noStrike" dirty="0">
                <a:solidFill>
                  <a:srgbClr val="000000"/>
                </a:solidFill>
                <a:effectLst/>
              </a:rPr>
              <a:t>Feature Extraction:</a:t>
            </a:r>
            <a:r>
              <a:rPr lang="en-GB" sz="1600" b="0" i="0" u="none" strike="noStrike" dirty="0">
                <a:solidFill>
                  <a:srgbClr val="000000"/>
                </a:solidFill>
                <a:effectLst/>
              </a:rPr>
              <a:t> Learning meaningful, lower-dimensional representations of data that can be used for other machine learning tasks.</a:t>
            </a:r>
          </a:p>
          <a:p>
            <a:endParaRPr lang="en-GB" sz="1600" b="1" dirty="0">
              <a:latin typeface="+mj-lt"/>
            </a:endParaRPr>
          </a:p>
        </p:txBody>
      </p:sp>
    </p:spTree>
    <p:extLst>
      <p:ext uri="{BB962C8B-B14F-4D97-AF65-F5344CB8AC3E}">
        <p14:creationId xmlns:p14="http://schemas.microsoft.com/office/powerpoint/2010/main" val="2194060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752CC4D-BE4E-1791-3A39-8D0E71877C7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26045BB-D6FF-569C-35ED-AD4D676B3682}"/>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pPr>
            <a:r>
              <a:rPr lang="en-GB" sz="2400" i="0" u="none" strike="noStrike" dirty="0">
                <a:solidFill>
                  <a:srgbClr val="7030A0"/>
                </a:solidFill>
                <a:effectLst/>
                <a:latin typeface="+mj-lt"/>
              </a:rPr>
              <a:t>Architecture of Autoencoder in Deep Learning</a:t>
            </a: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5C5EFAD-BACD-0726-F550-70999947888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DE3A2864-E31B-9B05-4C25-02C12CA7F63E}"/>
              </a:ext>
            </a:extLst>
          </p:cNvPr>
          <p:cNvSpPr txBox="1"/>
          <p:nvPr/>
        </p:nvSpPr>
        <p:spPr>
          <a:xfrm>
            <a:off x="7868" y="529186"/>
            <a:ext cx="5052950" cy="5478423"/>
          </a:xfrm>
          <a:prstGeom prst="rect">
            <a:avLst/>
          </a:prstGeom>
          <a:noFill/>
        </p:spPr>
        <p:txBody>
          <a:bodyPr wrap="square">
            <a:spAutoFit/>
          </a:bodyPr>
          <a:lstStyle/>
          <a:p>
            <a:pPr algn="l">
              <a:buNone/>
            </a:pPr>
            <a:r>
              <a:rPr lang="en-GB" b="0" i="0" u="none" strike="noStrike" dirty="0">
                <a:solidFill>
                  <a:srgbClr val="000000"/>
                </a:solidFill>
                <a:effectLst/>
              </a:rPr>
              <a:t>An autoencoder's architecture is composed of three primary interconnected components: the Encoder, the Bottleneck (Latent Space), and the Decoder.</a:t>
            </a:r>
          </a:p>
          <a:p>
            <a:pPr algn="l">
              <a:buFont typeface="+mj-lt"/>
              <a:buAutoNum type="arabicPeriod"/>
            </a:pPr>
            <a:r>
              <a:rPr lang="en-GB" b="1" i="0" u="none" strike="noStrike" dirty="0">
                <a:solidFill>
                  <a:srgbClr val="000000"/>
                </a:solidFill>
                <a:effectLst/>
              </a:rPr>
              <a:t>Encoder:</a:t>
            </a:r>
            <a:endParaRPr lang="en-GB" b="0" i="0" u="none" strike="noStrike" dirty="0">
              <a:solidFill>
                <a:srgbClr val="000000"/>
              </a:solidFill>
              <a:effectLst/>
            </a:endParaRPr>
          </a:p>
          <a:p>
            <a:pPr marL="800100" lvl="1" indent="-342900" algn="l">
              <a:buFont typeface="+mj-lt"/>
              <a:buAutoNum type="alphaLcPeriod"/>
            </a:pPr>
            <a:r>
              <a:rPr lang="en-GB" b="1" i="0" u="none" strike="noStrike" dirty="0">
                <a:solidFill>
                  <a:srgbClr val="000000"/>
                </a:solidFill>
                <a:effectLst/>
              </a:rPr>
              <a:t>Function:</a:t>
            </a:r>
            <a:r>
              <a:rPr lang="en-GB" b="0" i="0" u="none" strike="noStrike" dirty="0">
                <a:solidFill>
                  <a:srgbClr val="000000"/>
                </a:solidFill>
                <a:effectLst/>
              </a:rPr>
              <a:t> This is the initial part of the network responsible for taking the raw input data and compressing it into a smaller, lower-dimensional representation.</a:t>
            </a:r>
          </a:p>
          <a:p>
            <a:pPr marL="800100" lvl="1" indent="-342900" algn="l">
              <a:buFont typeface="+mj-lt"/>
              <a:buAutoNum type="alphaLcPeriod"/>
            </a:pPr>
            <a:r>
              <a:rPr lang="en-GB" b="1" i="0" u="none" strike="noStrike" dirty="0">
                <a:solidFill>
                  <a:srgbClr val="000000"/>
                </a:solidFill>
                <a:effectLst/>
              </a:rPr>
              <a:t>Input Layer:</a:t>
            </a:r>
            <a:r>
              <a:rPr lang="en-GB" b="0" i="0" u="none" strike="noStrike" dirty="0">
                <a:solidFill>
                  <a:srgbClr val="000000"/>
                </a:solidFill>
                <a:effectLst/>
              </a:rPr>
              <a:t> The entry point for the original data into the network (e.g., pixel values of an image, or a vector of features).</a:t>
            </a:r>
          </a:p>
          <a:p>
            <a:pPr marL="800100" lvl="1" indent="-342900" algn="l">
              <a:buFont typeface="+mj-lt"/>
              <a:buAutoNum type="alphaLcPeriod"/>
            </a:pPr>
            <a:r>
              <a:rPr lang="en-GB" b="1" i="0" u="none" strike="noStrike" dirty="0">
                <a:solidFill>
                  <a:srgbClr val="000000"/>
                </a:solidFill>
                <a:effectLst/>
              </a:rPr>
              <a:t>Hidden Layers:</a:t>
            </a:r>
            <a:r>
              <a:rPr lang="en-GB" b="0" i="0" u="none" strike="noStrike" dirty="0">
                <a:solidFill>
                  <a:srgbClr val="000000"/>
                </a:solidFill>
                <a:effectLst/>
              </a:rPr>
              <a:t> A series of layers that apply non-linear transformations to the input data. These layers progressively reduce the dimensionality of the data, extracting essential features and patterns.</a:t>
            </a:r>
          </a:p>
          <a:p>
            <a:pPr marL="800100" lvl="1" indent="-342900" algn="l">
              <a:buFont typeface="+mj-lt"/>
              <a:buAutoNum type="alphaLcPeriod"/>
            </a:pPr>
            <a:r>
              <a:rPr lang="en-GB" b="1" i="0" u="none" strike="noStrike" dirty="0">
                <a:solidFill>
                  <a:srgbClr val="000000"/>
                </a:solidFill>
                <a:effectLst/>
              </a:rPr>
              <a:t>Output of Encoder (Latent Space):</a:t>
            </a:r>
            <a:r>
              <a:rPr lang="en-GB" b="0" i="0" u="none" strike="noStrike" dirty="0">
                <a:solidFill>
                  <a:srgbClr val="000000"/>
                </a:solidFill>
                <a:effectLst/>
              </a:rPr>
              <a:t> The final output of the encoder is the compressed version of the data, often referred to as the </a:t>
            </a:r>
            <a:r>
              <a:rPr lang="en-GB" b="1" i="0" u="none" strike="noStrike" dirty="0">
                <a:solidFill>
                  <a:srgbClr val="000000"/>
                </a:solidFill>
                <a:effectLst/>
              </a:rPr>
              <a:t>latent representation</a:t>
            </a:r>
            <a:r>
              <a:rPr lang="en-GB" b="0" i="0" u="none" strike="noStrike" dirty="0">
                <a:solidFill>
                  <a:srgbClr val="000000"/>
                </a:solidFill>
                <a:effectLst/>
              </a:rPr>
              <a:t> or </a:t>
            </a:r>
            <a:r>
              <a:rPr lang="en-GB" b="1" i="0" u="none" strike="noStrike" dirty="0">
                <a:solidFill>
                  <a:srgbClr val="000000"/>
                </a:solidFill>
                <a:effectLst/>
              </a:rPr>
              <a:t>encoding</a:t>
            </a:r>
            <a:r>
              <a:rPr lang="en-GB" b="0" i="0" u="none" strike="noStrike" dirty="0">
                <a:solidFill>
                  <a:srgbClr val="000000"/>
                </a:solidFill>
                <a:effectLst/>
              </a:rPr>
              <a:t>. This is a condensed, feature-rich summary of the input, retaining only the most critical information.</a:t>
            </a:r>
          </a:p>
          <a:p>
            <a:pPr>
              <a:buNone/>
            </a:pPr>
            <a:br>
              <a:rPr lang="en-GB" dirty="0"/>
            </a:br>
            <a:endParaRPr lang="en-GB" b="0" i="0" u="none" strike="noStrike" dirty="0">
              <a:solidFill>
                <a:srgbClr val="000000"/>
              </a:solidFill>
              <a:effectLst/>
            </a:endParaRPr>
          </a:p>
          <a:p>
            <a:br>
              <a:rPr lang="en-GB" dirty="0">
                <a:latin typeface="+mj-lt"/>
              </a:rPr>
            </a:br>
            <a:endParaRPr lang="en-GB" b="1" dirty="0">
              <a:latin typeface="+mj-lt"/>
            </a:endParaRPr>
          </a:p>
        </p:txBody>
      </p:sp>
      <p:pic>
        <p:nvPicPr>
          <p:cNvPr id="1026" name="Picture 2" descr="Autoencoder in Deep Learning">
            <a:extLst>
              <a:ext uri="{FF2B5EF4-FFF2-40B4-BE49-F238E27FC236}">
                <a16:creationId xmlns:a16="http://schemas.microsoft.com/office/drawing/2014/main" id="{5F5004D6-60C1-5086-A40E-7444F4D5BD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7232" y="1224501"/>
            <a:ext cx="4108900" cy="3918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850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F9843F9-E148-AB48-C841-5EC02E1EF5B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78FAB56-5485-39E6-610F-927AF1C41EB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pPr>
            <a:r>
              <a:rPr lang="en-GB" sz="2400" i="0" u="none" strike="noStrike" dirty="0">
                <a:solidFill>
                  <a:srgbClr val="7030A0"/>
                </a:solidFill>
                <a:effectLst/>
                <a:latin typeface="+mj-lt"/>
              </a:rPr>
              <a:t>Architecture of Autoencoder in Deep Learning</a:t>
            </a: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84F0D10E-D6A5-859E-3392-AA2AAC610AD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D1F50204-6D17-217E-B945-C52E0703DD63}"/>
              </a:ext>
            </a:extLst>
          </p:cNvPr>
          <p:cNvSpPr txBox="1"/>
          <p:nvPr/>
        </p:nvSpPr>
        <p:spPr>
          <a:xfrm>
            <a:off x="186960" y="521235"/>
            <a:ext cx="8042640" cy="4616648"/>
          </a:xfrm>
          <a:prstGeom prst="rect">
            <a:avLst/>
          </a:prstGeom>
          <a:noFill/>
        </p:spPr>
        <p:txBody>
          <a:bodyPr wrap="square">
            <a:spAutoFit/>
          </a:bodyPr>
          <a:lstStyle/>
          <a:p>
            <a:pPr marL="342900" indent="-342900" algn="l">
              <a:buFont typeface="+mj-lt"/>
              <a:buAutoNum type="arabicPeriod" startAt="2"/>
            </a:pPr>
            <a:r>
              <a:rPr lang="en-GB" b="1" i="0" u="none" strike="noStrike" dirty="0">
                <a:solidFill>
                  <a:srgbClr val="000000"/>
                </a:solidFill>
                <a:effectLst/>
              </a:rPr>
              <a:t>Bottleneck (Latent Space / Code):</a:t>
            </a:r>
            <a:endParaRPr lang="en-GB" b="0" i="0" u="none" strike="noStrike" dirty="0">
              <a:solidFill>
                <a:srgbClr val="000000"/>
              </a:solidFill>
              <a:effectLst/>
            </a:endParaRPr>
          </a:p>
          <a:p>
            <a:pPr marL="800100" lvl="1" indent="-342900" algn="l">
              <a:buFont typeface="+mj-lt"/>
              <a:buAutoNum type="alphaLcPeriod"/>
            </a:pPr>
            <a:r>
              <a:rPr lang="en-GB" b="1" i="0" u="none" strike="noStrike" dirty="0">
                <a:solidFill>
                  <a:srgbClr val="000000"/>
                </a:solidFill>
                <a:effectLst/>
              </a:rPr>
              <a:t>Function:</a:t>
            </a:r>
            <a:r>
              <a:rPr lang="en-GB" b="0" i="0" u="none" strike="noStrike" dirty="0">
                <a:solidFill>
                  <a:srgbClr val="000000"/>
                </a:solidFill>
                <a:effectLst/>
              </a:rPr>
              <a:t> This is the central, smallest layer of the autoencoder. It represents the point where the data is in its most compressed form.</a:t>
            </a:r>
          </a:p>
          <a:p>
            <a:pPr marL="800100" lvl="1" indent="-342900" algn="l">
              <a:buFont typeface="+mj-lt"/>
              <a:buAutoNum type="alphaLcPeriod"/>
            </a:pPr>
            <a:r>
              <a:rPr lang="en-GB" b="1" i="0" u="none" strike="noStrike" dirty="0">
                <a:solidFill>
                  <a:srgbClr val="000000"/>
                </a:solidFill>
                <a:effectLst/>
              </a:rPr>
              <a:t>Characteristics:</a:t>
            </a:r>
            <a:r>
              <a:rPr lang="en-GB" b="0" i="0" u="none" strike="noStrike" dirty="0">
                <a:solidFill>
                  <a:srgbClr val="000000"/>
                </a:solidFill>
                <a:effectLst/>
              </a:rPr>
              <a:t> It contains a reduced set of features that capture the most important information and underlying patterns from the input data.</a:t>
            </a:r>
          </a:p>
          <a:p>
            <a:pPr marL="800100" lvl="1" indent="-342900" algn="l">
              <a:buFont typeface="+mj-lt"/>
              <a:buAutoNum type="alphaLcPeriod"/>
            </a:pPr>
            <a:r>
              <a:rPr lang="en-GB" b="1" i="0" u="none" strike="noStrike" dirty="0">
                <a:solidFill>
                  <a:srgbClr val="000000"/>
                </a:solidFill>
                <a:effectLst/>
              </a:rPr>
              <a:t>Significance:</a:t>
            </a:r>
            <a:r>
              <a:rPr lang="en-GB" b="0" i="0" u="none" strike="noStrike" dirty="0">
                <a:solidFill>
                  <a:srgbClr val="000000"/>
                </a:solidFill>
                <a:effectLst/>
              </a:rPr>
              <a:t> The forced compression through this bottleneck layer compels the network to learn the most salient and meaningful structures within the input data, discarding noise and redundancy.</a:t>
            </a:r>
          </a:p>
          <a:p>
            <a:pPr algn="l">
              <a:buFont typeface="+mj-lt"/>
              <a:buAutoNum type="arabicPeriod" startAt="2"/>
            </a:pPr>
            <a:r>
              <a:rPr lang="en-GB" b="1" i="0" u="none" strike="noStrike" dirty="0">
                <a:solidFill>
                  <a:srgbClr val="000000"/>
                </a:solidFill>
                <a:effectLst/>
              </a:rPr>
              <a:t>Decoder:</a:t>
            </a:r>
            <a:endParaRPr lang="en-GB" b="0" i="0" u="none" strike="noStrike" dirty="0">
              <a:solidFill>
                <a:srgbClr val="000000"/>
              </a:solidFill>
              <a:effectLst/>
            </a:endParaRPr>
          </a:p>
          <a:p>
            <a:pPr marL="800100" lvl="1" indent="-342900" algn="l">
              <a:buFont typeface="+mj-lt"/>
              <a:buAutoNum type="alphaLcPeriod"/>
            </a:pPr>
            <a:r>
              <a:rPr lang="en-GB" b="1" i="0" u="none" strike="noStrike" dirty="0">
                <a:solidFill>
                  <a:srgbClr val="000000"/>
                </a:solidFill>
                <a:effectLst/>
              </a:rPr>
              <a:t>Function:</a:t>
            </a:r>
            <a:r>
              <a:rPr lang="en-GB" b="0" i="0" u="none" strike="noStrike" dirty="0">
                <a:solidFill>
                  <a:srgbClr val="000000"/>
                </a:solidFill>
                <a:effectLst/>
              </a:rPr>
              <a:t> The decoder's role is to take the compressed representation from the latent space and reconstruct it back into a form that closely resembles the original input data.</a:t>
            </a:r>
          </a:p>
          <a:p>
            <a:pPr marL="800100" lvl="1" indent="-342900" algn="l">
              <a:buFont typeface="+mj-lt"/>
              <a:buAutoNum type="alphaLcPeriod"/>
            </a:pPr>
            <a:r>
              <a:rPr lang="en-GB" b="1" i="0" u="none" strike="noStrike" dirty="0">
                <a:solidFill>
                  <a:srgbClr val="000000"/>
                </a:solidFill>
                <a:effectLst/>
              </a:rPr>
              <a:t>Hidden Layers:</a:t>
            </a:r>
            <a:r>
              <a:rPr lang="en-GB" b="0" i="0" u="none" strike="noStrike" dirty="0">
                <a:solidFill>
                  <a:srgbClr val="000000"/>
                </a:solidFill>
                <a:effectLst/>
              </a:rPr>
              <a:t> A series of layers that gradually expand the dimensionality of the compressed data. These layers reverse the compression process performed by the encoder, attempting to recreate the original input's features.</a:t>
            </a:r>
          </a:p>
          <a:p>
            <a:pPr marL="800100" lvl="1" indent="-342900" algn="l">
              <a:buFont typeface="+mj-lt"/>
              <a:buAutoNum type="alphaLcPeriod"/>
            </a:pPr>
            <a:r>
              <a:rPr lang="en-GB" b="1" i="0" u="none" strike="noStrike" dirty="0">
                <a:solidFill>
                  <a:srgbClr val="000000"/>
                </a:solidFill>
                <a:effectLst/>
              </a:rPr>
              <a:t>Output Layer:</a:t>
            </a:r>
            <a:r>
              <a:rPr lang="en-GB" b="0" i="0" u="none" strike="noStrike" dirty="0">
                <a:solidFill>
                  <a:srgbClr val="000000"/>
                </a:solidFill>
                <a:effectLst/>
              </a:rPr>
              <a:t> The final layer of the decoder produces the </a:t>
            </a:r>
            <a:r>
              <a:rPr lang="en-GB" b="1" i="0" u="none" strike="noStrike" dirty="0">
                <a:solidFill>
                  <a:srgbClr val="000000"/>
                </a:solidFill>
                <a:effectLst/>
              </a:rPr>
              <a:t>reconstructed data</a:t>
            </a:r>
            <a:r>
              <a:rPr lang="en-GB" b="0" i="0" u="none" strike="noStrike" dirty="0">
                <a:solidFill>
                  <a:srgbClr val="000000"/>
                </a:solidFill>
                <a:effectLst/>
              </a:rPr>
              <a:t>. The autoencoder is trained such that this reconstructed output is as similar as possible to the original input.</a:t>
            </a:r>
          </a:p>
          <a:p>
            <a:pPr>
              <a:buNone/>
            </a:pPr>
            <a:br>
              <a:rPr lang="en-GB" dirty="0"/>
            </a:br>
            <a:endParaRPr lang="en-GB" b="0" i="0" u="none" strike="noStrike" dirty="0">
              <a:solidFill>
                <a:srgbClr val="000000"/>
              </a:solidFill>
              <a:effectLst/>
            </a:endParaRPr>
          </a:p>
          <a:p>
            <a:br>
              <a:rPr lang="en-GB" dirty="0">
                <a:latin typeface="+mj-lt"/>
              </a:rPr>
            </a:br>
            <a:endParaRPr lang="en-GB" b="1" dirty="0">
              <a:latin typeface="+mj-lt"/>
            </a:endParaRPr>
          </a:p>
        </p:txBody>
      </p:sp>
    </p:spTree>
    <p:extLst>
      <p:ext uri="{BB962C8B-B14F-4D97-AF65-F5344CB8AC3E}">
        <p14:creationId xmlns:p14="http://schemas.microsoft.com/office/powerpoint/2010/main" val="3262270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C900F1F-4CDA-E9C2-E7F9-89A41D2D91C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9BBBEBF-895E-F17E-0C16-9D41E4C8C34D}"/>
              </a:ext>
            </a:extLst>
          </p:cNvPr>
          <p:cNvSpPr txBox="1">
            <a:spLocks noGrp="1"/>
          </p:cNvSpPr>
          <p:nvPr>
            <p:ph type="title"/>
          </p:nvPr>
        </p:nvSpPr>
        <p:spPr>
          <a:xfrm>
            <a:off x="89122" y="0"/>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pPr>
            <a:r>
              <a:rPr lang="en-GB" sz="2400" i="0" u="none" strike="noStrike" dirty="0">
                <a:solidFill>
                  <a:srgbClr val="7030A0"/>
                </a:solidFill>
                <a:effectLst/>
                <a:latin typeface="+mj-lt"/>
              </a:rPr>
              <a:t>Loss Function in Autoencoder Training</a:t>
            </a: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5394C66-B9C6-ADFC-BFEE-BA456908403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F01E9A33-D5DE-F6C8-20DB-2E051D6F6D4F}"/>
              </a:ext>
            </a:extLst>
          </p:cNvPr>
          <p:cNvSpPr txBox="1"/>
          <p:nvPr/>
        </p:nvSpPr>
        <p:spPr>
          <a:xfrm>
            <a:off x="-1" y="400014"/>
            <a:ext cx="8261405" cy="5262979"/>
          </a:xfrm>
          <a:prstGeom prst="rect">
            <a:avLst/>
          </a:prstGeom>
          <a:noFill/>
        </p:spPr>
        <p:txBody>
          <a:bodyPr wrap="square">
            <a:spAutoFit/>
          </a:bodyPr>
          <a:lstStyle/>
          <a:p>
            <a:pPr algn="l">
              <a:buNone/>
            </a:pPr>
            <a:r>
              <a:rPr lang="en-GB" b="0" i="0" u="none" strike="noStrike" dirty="0">
                <a:solidFill>
                  <a:srgbClr val="000000"/>
                </a:solidFill>
                <a:effectLst/>
              </a:rPr>
              <a:t>During the training process, an autoencoder's primary objective is to </a:t>
            </a:r>
            <a:r>
              <a:rPr lang="en-GB" b="1" i="0" u="none" strike="noStrike" dirty="0">
                <a:solidFill>
                  <a:srgbClr val="000000"/>
                </a:solidFill>
                <a:effectLst/>
              </a:rPr>
              <a:t>minimize the reconstruction loss</a:t>
            </a:r>
            <a:r>
              <a:rPr lang="en-GB" b="0" i="0" u="none" strike="noStrike" dirty="0">
                <a:solidFill>
                  <a:srgbClr val="000000"/>
                </a:solidFill>
                <a:effectLst/>
              </a:rPr>
              <a:t>. This loss quantifies the discrepancy between the original input data and its reconstructed output. The selection of the appropriate loss function is dependent on the nature of the data being processed:</a:t>
            </a:r>
          </a:p>
          <a:p>
            <a:pPr algn="l"/>
            <a:r>
              <a:rPr lang="en-GB" b="1" i="0" u="none" strike="noStrike" dirty="0">
                <a:solidFill>
                  <a:srgbClr val="000000"/>
                </a:solidFill>
                <a:effectLst/>
              </a:rPr>
              <a:t>Mean Squared Error (MSE):</a:t>
            </a:r>
            <a:endParaRPr lang="en-GB" b="0" i="0" u="none" strike="noStrike" dirty="0">
              <a:solidFill>
                <a:srgbClr val="000000"/>
              </a:solidFill>
              <a:effectLst/>
            </a:endParaRPr>
          </a:p>
          <a:p>
            <a:pPr marL="800100" lvl="1" indent="-342900" algn="l">
              <a:buFont typeface="+mj-lt"/>
              <a:buAutoNum type="arabicPeriod"/>
            </a:pPr>
            <a:r>
              <a:rPr lang="en-GB" b="1" i="0" u="none" strike="noStrike" dirty="0">
                <a:solidFill>
                  <a:srgbClr val="000000"/>
                </a:solidFill>
                <a:effectLst/>
              </a:rPr>
              <a:t>Application:</a:t>
            </a:r>
            <a:r>
              <a:rPr lang="en-GB" b="0" i="0" u="none" strike="noStrike" dirty="0">
                <a:solidFill>
                  <a:srgbClr val="000000"/>
                </a:solidFill>
                <a:effectLst/>
              </a:rPr>
              <a:t> Commonly employed for </a:t>
            </a:r>
            <a:r>
              <a:rPr lang="en-GB" b="1" i="0" u="none" strike="noStrike" dirty="0">
                <a:solidFill>
                  <a:srgbClr val="000000"/>
                </a:solidFill>
                <a:effectLst/>
              </a:rPr>
              <a:t>continuous data</a:t>
            </a:r>
            <a:r>
              <a:rPr lang="en-GB" b="0" i="0" u="none" strike="noStrike" dirty="0">
                <a:solidFill>
                  <a:srgbClr val="000000"/>
                </a:solidFill>
                <a:effectLst/>
              </a:rPr>
              <a:t> (e.g., pixel values in an image, numerical features).</a:t>
            </a:r>
          </a:p>
          <a:p>
            <a:pPr marL="800100" lvl="1" indent="-342900" algn="l">
              <a:buFont typeface="+mj-lt"/>
              <a:buAutoNum type="arabicPeriod"/>
            </a:pPr>
            <a:r>
              <a:rPr lang="en-GB" b="1" i="0" u="none" strike="noStrike" dirty="0">
                <a:solidFill>
                  <a:srgbClr val="000000"/>
                </a:solidFill>
                <a:effectLst/>
              </a:rPr>
              <a:t>Calculation:</a:t>
            </a:r>
            <a:r>
              <a:rPr lang="en-GB" b="0" i="0" u="none" strike="noStrike" dirty="0">
                <a:solidFill>
                  <a:srgbClr val="000000"/>
                </a:solidFill>
                <a:effectLst/>
              </a:rPr>
              <a:t> It measures the average of the squared differences between corresponding values of the original input and the reconstructed output.</a:t>
            </a:r>
          </a:p>
          <a:p>
            <a:pPr marL="800100" lvl="1" indent="-342900" algn="l">
              <a:buFont typeface="+mj-lt"/>
              <a:buAutoNum type="arabicPeriod"/>
            </a:pPr>
            <a:r>
              <a:rPr lang="en-GB" b="1" i="0" u="none" strike="noStrike" dirty="0">
                <a:solidFill>
                  <a:srgbClr val="000000"/>
                </a:solidFill>
                <a:effectLst/>
              </a:rPr>
              <a:t>Goal:</a:t>
            </a:r>
            <a:r>
              <a:rPr lang="en-GB" b="0" i="0" u="none" strike="noStrike" dirty="0">
                <a:solidFill>
                  <a:srgbClr val="000000"/>
                </a:solidFill>
                <a:effectLst/>
              </a:rPr>
              <a:t> Drives the model to produce reconstructions that are numerically very close to the original inputs.</a:t>
            </a:r>
          </a:p>
          <a:p>
            <a:pPr algn="l"/>
            <a:r>
              <a:rPr lang="en-GB" b="1" i="0" u="none" strike="noStrike" dirty="0">
                <a:solidFill>
                  <a:srgbClr val="000000"/>
                </a:solidFill>
                <a:effectLst/>
              </a:rPr>
              <a:t>Binary Cross-Entropy (BCE):</a:t>
            </a:r>
            <a:endParaRPr lang="en-GB" b="0" i="0" u="none" strike="noStrike" dirty="0">
              <a:solidFill>
                <a:srgbClr val="000000"/>
              </a:solidFill>
              <a:effectLst/>
            </a:endParaRPr>
          </a:p>
          <a:p>
            <a:pPr marL="800100" lvl="1" indent="-342900" algn="l">
              <a:buFont typeface="+mj-lt"/>
              <a:buAutoNum type="arabicPeriod"/>
            </a:pPr>
            <a:r>
              <a:rPr lang="en-GB" b="1" i="0" u="none" strike="noStrike" dirty="0">
                <a:solidFill>
                  <a:srgbClr val="000000"/>
                </a:solidFill>
                <a:effectLst/>
              </a:rPr>
              <a:t>Application:</a:t>
            </a:r>
            <a:r>
              <a:rPr lang="en-GB" b="0" i="0" u="none" strike="noStrike" dirty="0">
                <a:solidFill>
                  <a:srgbClr val="000000"/>
                </a:solidFill>
                <a:effectLst/>
              </a:rPr>
              <a:t> Used for </a:t>
            </a:r>
            <a:r>
              <a:rPr lang="en-GB" b="1" i="0" u="none" strike="noStrike" dirty="0">
                <a:solidFill>
                  <a:srgbClr val="000000"/>
                </a:solidFill>
                <a:effectLst/>
              </a:rPr>
              <a:t>binary data</a:t>
            </a:r>
            <a:r>
              <a:rPr lang="en-GB" b="0" i="0" u="none" strike="noStrike" dirty="0">
                <a:solidFill>
                  <a:srgbClr val="000000"/>
                </a:solidFill>
                <a:effectLst/>
              </a:rPr>
              <a:t> (data points with values of 0 or 1, such as black and white images or categorical binary features).</a:t>
            </a:r>
          </a:p>
          <a:p>
            <a:pPr marL="800100" lvl="1" indent="-342900" algn="l">
              <a:buFont typeface="+mj-lt"/>
              <a:buAutoNum type="arabicPeriod"/>
            </a:pPr>
            <a:r>
              <a:rPr lang="en-GB" b="1" i="0" u="none" strike="noStrike" dirty="0">
                <a:solidFill>
                  <a:srgbClr val="000000"/>
                </a:solidFill>
                <a:effectLst/>
              </a:rPr>
              <a:t>Calculation:</a:t>
            </a:r>
            <a:r>
              <a:rPr lang="en-GB" b="0" i="0" u="none" strike="noStrike" dirty="0">
                <a:solidFill>
                  <a:srgbClr val="000000"/>
                </a:solidFill>
                <a:effectLst/>
              </a:rPr>
              <a:t> It quantifies the difference in probability distributions between the original binary input and the reconstructed binary output.</a:t>
            </a:r>
          </a:p>
          <a:p>
            <a:pPr marL="800100" lvl="1" indent="-342900" algn="l">
              <a:buFont typeface="+mj-lt"/>
              <a:buAutoNum type="arabicPeriod"/>
            </a:pPr>
            <a:r>
              <a:rPr lang="en-GB" b="1" i="0" u="none" strike="noStrike" dirty="0">
                <a:solidFill>
                  <a:srgbClr val="000000"/>
                </a:solidFill>
                <a:effectLst/>
              </a:rPr>
              <a:t>Goal:</a:t>
            </a:r>
            <a:r>
              <a:rPr lang="en-GB" b="0" i="0" u="none" strike="noStrike" dirty="0">
                <a:solidFill>
                  <a:srgbClr val="000000"/>
                </a:solidFill>
                <a:effectLst/>
              </a:rPr>
              <a:t> Encourages the model to predict probabilities for the reconstructed output that closely match the binary values of the original input.</a:t>
            </a:r>
          </a:p>
          <a:p>
            <a:pPr algn="l"/>
            <a:r>
              <a:rPr lang="en-GB" b="0" i="0" u="none" strike="noStrike" dirty="0">
                <a:solidFill>
                  <a:srgbClr val="000000"/>
                </a:solidFill>
                <a:effectLst/>
              </a:rPr>
              <a:t>By minimizing this chosen reconstruction loss, the autoencoder iteratively adjusts its internal weights. This learning process enables the network to effectively extract and retain only the most crucial and representative features of the input data, which are then compactly stored in the bottleneck (latent space) layer.</a:t>
            </a:r>
          </a:p>
          <a:p>
            <a:pPr algn="ctr"/>
            <a:endParaRPr lang="en-GB" b="0" i="1" u="none" strike="noStrike" dirty="0">
              <a:solidFill>
                <a:srgbClr val="000000"/>
              </a:solidFill>
              <a:effectLst/>
            </a:endParaRPr>
          </a:p>
          <a:p>
            <a:br>
              <a:rPr lang="en-GB" dirty="0">
                <a:latin typeface="+mj-lt"/>
              </a:rPr>
            </a:br>
            <a:endParaRPr lang="en-GB" b="1" dirty="0">
              <a:latin typeface="+mj-lt"/>
            </a:endParaRPr>
          </a:p>
        </p:txBody>
      </p:sp>
    </p:spTree>
    <p:extLst>
      <p:ext uri="{BB962C8B-B14F-4D97-AF65-F5344CB8AC3E}">
        <p14:creationId xmlns:p14="http://schemas.microsoft.com/office/powerpoint/2010/main" val="2567180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C16DEFC-DCFC-092A-B05A-7DB7979EDBE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78BEDFF-16C6-4DFC-5901-A68A0AC032D1}"/>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pPr>
            <a:r>
              <a:rPr lang="en-GB" sz="2400" i="0" u="none" strike="noStrike" dirty="0">
                <a:solidFill>
                  <a:srgbClr val="7030A0"/>
                </a:solidFill>
                <a:effectLst/>
                <a:latin typeface="+mj-lt"/>
              </a:rPr>
              <a:t>Autoencoder: Learning Efficient Representations</a:t>
            </a: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D7AB00CD-10DF-75AA-39BF-07963FC372C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61FCA2B-F227-1CBA-75B3-7EAA0990B6CD}"/>
              </a:ext>
            </a:extLst>
          </p:cNvPr>
          <p:cNvSpPr txBox="1"/>
          <p:nvPr/>
        </p:nvSpPr>
        <p:spPr>
          <a:xfrm>
            <a:off x="63610" y="802035"/>
            <a:ext cx="8484042" cy="4278094"/>
          </a:xfrm>
          <a:prstGeom prst="rect">
            <a:avLst/>
          </a:prstGeom>
          <a:noFill/>
        </p:spPr>
        <p:txBody>
          <a:bodyPr wrap="square">
            <a:spAutoFit/>
          </a:bodyPr>
          <a:lstStyle/>
          <a:p>
            <a:pPr algn="l">
              <a:buNone/>
            </a:pPr>
            <a:r>
              <a:rPr lang="en-GB" sz="1600" b="0" i="0" u="none" strike="noStrike" dirty="0">
                <a:solidFill>
                  <a:srgbClr val="000000"/>
                </a:solidFill>
                <a:effectLst/>
              </a:rPr>
              <a:t>The goal of an autoencoder is to learn </a:t>
            </a:r>
            <a:r>
              <a:rPr lang="en-GB" sz="1600" b="1" i="0" u="none" strike="noStrike" dirty="0">
                <a:solidFill>
                  <a:srgbClr val="000000"/>
                </a:solidFill>
                <a:effectLst/>
              </a:rPr>
              <a:t>meaningful, compact, and useful features</a:t>
            </a:r>
            <a:r>
              <a:rPr lang="en-GB" sz="1600" b="0" i="0" u="none" strike="noStrike" dirty="0">
                <a:solidFill>
                  <a:srgbClr val="000000"/>
                </a:solidFill>
                <a:effectLst/>
              </a:rPr>
              <a:t> (efficient representations) from input data. This is achieved by </a:t>
            </a:r>
            <a:r>
              <a:rPr lang="en-GB" sz="1600" b="1" i="0" u="none" strike="noStrike" dirty="0">
                <a:solidFill>
                  <a:srgbClr val="000000"/>
                </a:solidFill>
                <a:effectLst/>
              </a:rPr>
              <a:t>constraining</a:t>
            </a:r>
            <a:r>
              <a:rPr lang="en-GB" sz="1600" b="0" i="0" u="none" strike="noStrike" dirty="0">
                <a:solidFill>
                  <a:srgbClr val="000000"/>
                </a:solidFill>
                <a:effectLst/>
              </a:rPr>
              <a:t> the network during training. After training, typically only the encoder part is used for feature extraction on new, similar data.</a:t>
            </a:r>
          </a:p>
          <a:p>
            <a:pPr algn="l">
              <a:buNone/>
            </a:pPr>
            <a:r>
              <a:rPr lang="en-GB" sz="1600" b="0" i="0" u="none" strike="noStrike" dirty="0">
                <a:solidFill>
                  <a:srgbClr val="000000"/>
                </a:solidFill>
                <a:effectLst/>
              </a:rPr>
              <a:t>Several techniques are employed to encourage efficient representation learning:</a:t>
            </a:r>
          </a:p>
          <a:p>
            <a:pPr algn="l"/>
            <a:r>
              <a:rPr lang="en-GB" sz="1600" b="1" i="0" u="none" strike="noStrike" dirty="0">
                <a:solidFill>
                  <a:srgbClr val="000000"/>
                </a:solidFill>
                <a:effectLst/>
              </a:rPr>
              <a:t>Small Hidden Layers (Bottleneck):</a:t>
            </a:r>
            <a:endParaRPr lang="en-GB" sz="1600" b="0" i="0" u="none" strike="noStrike" dirty="0">
              <a:solidFill>
                <a:srgbClr val="000000"/>
              </a:solidFill>
              <a:effectLst/>
            </a:endParaRPr>
          </a:p>
          <a:p>
            <a:pPr marL="742950" lvl="1" indent="-285750" algn="l">
              <a:buFont typeface="Wingdings" pitchFamily="2" charset="2"/>
              <a:buChar char="ü"/>
            </a:pPr>
            <a:r>
              <a:rPr lang="en-GB" sz="1600" b="0" i="0" u="none" strike="noStrike" dirty="0">
                <a:solidFill>
                  <a:srgbClr val="000000"/>
                </a:solidFill>
                <a:effectLst/>
              </a:rPr>
              <a:t>By making the bottleneck layer (and sometimes other hidden layers) as small as possible, the network is </a:t>
            </a:r>
            <a:r>
              <a:rPr lang="en-GB" sz="1600" b="1" i="0" u="none" strike="noStrike" dirty="0">
                <a:solidFill>
                  <a:srgbClr val="000000"/>
                </a:solidFill>
                <a:effectLst/>
              </a:rPr>
              <a:t>forced to compress</a:t>
            </a:r>
            <a:r>
              <a:rPr lang="en-GB" sz="1600" b="0" i="0" u="none" strike="noStrike" dirty="0">
                <a:solidFill>
                  <a:srgbClr val="000000"/>
                </a:solidFill>
                <a:effectLst/>
              </a:rPr>
              <a:t> the input significantly.</a:t>
            </a:r>
          </a:p>
          <a:p>
            <a:pPr marL="742950" lvl="1" indent="-285750" algn="l">
              <a:buFont typeface="Wingdings" pitchFamily="2" charset="2"/>
              <a:buChar char="ü"/>
            </a:pPr>
            <a:r>
              <a:rPr lang="en-GB" sz="1600" b="0" i="0" u="none" strike="noStrike" dirty="0">
                <a:solidFill>
                  <a:srgbClr val="000000"/>
                </a:solidFill>
                <a:effectLst/>
              </a:rPr>
              <a:t>This compression compels the autoencoder to learn only the most essential and non-redundant features, leading to a more efficient encoding.</a:t>
            </a:r>
          </a:p>
          <a:p>
            <a:pPr algn="l"/>
            <a:r>
              <a:rPr lang="en-GB" sz="1600" b="1" i="0" u="none" strike="noStrike" dirty="0">
                <a:solidFill>
                  <a:srgbClr val="000000"/>
                </a:solidFill>
                <a:effectLst/>
              </a:rPr>
              <a:t>Regularization (L1 or L2):</a:t>
            </a:r>
            <a:endParaRPr lang="en-GB" sz="1600" b="0" i="0" u="none" strike="noStrike" dirty="0">
              <a:solidFill>
                <a:srgbClr val="000000"/>
              </a:solidFill>
              <a:effectLst/>
            </a:endParaRPr>
          </a:p>
          <a:p>
            <a:pPr marL="742950" lvl="1" indent="-285750" algn="l">
              <a:buFont typeface="Wingdings" pitchFamily="2" charset="2"/>
              <a:buChar char="ü"/>
            </a:pPr>
            <a:r>
              <a:rPr lang="en-GB" sz="1600" b="0" i="0" u="none" strike="noStrike" dirty="0">
                <a:solidFill>
                  <a:srgbClr val="000000"/>
                </a:solidFill>
                <a:effectLst/>
              </a:rPr>
              <a:t>Adding penalty terms (L1 or L2 regularization) to the loss function discourages the network from assigning excessively large weights.</a:t>
            </a:r>
          </a:p>
          <a:p>
            <a:pPr marL="742950" lvl="1" indent="-285750" algn="l">
              <a:buFont typeface="Wingdings" pitchFamily="2" charset="2"/>
              <a:buChar char="ü"/>
            </a:pPr>
            <a:r>
              <a:rPr lang="en-GB" sz="1600" b="0" i="0" u="none" strike="noStrike" dirty="0">
                <a:solidFill>
                  <a:srgbClr val="000000"/>
                </a:solidFill>
                <a:effectLst/>
              </a:rPr>
              <a:t>This prevents overfitting and ensures that the learned representations are more generalizable and robust, rather than memorizing specific training examples.</a:t>
            </a: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2862814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E05C8CA7-38B0-6349-098A-3624B257788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BC55669-1498-1BF2-5118-3014570CE129}"/>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pPr>
            <a:r>
              <a:rPr lang="en-GB" sz="2400" i="0" u="none" strike="noStrike" dirty="0">
                <a:solidFill>
                  <a:srgbClr val="7030A0"/>
                </a:solidFill>
                <a:effectLst/>
                <a:latin typeface="+mj-lt"/>
              </a:rPr>
              <a:t>Autoencoder: Learning Efficient Representations</a:t>
            </a: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108DAC48-4FF6-5E76-42B9-26D2EF21802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600CBF65-DC64-D444-B55C-BB65545CC174}"/>
              </a:ext>
            </a:extLst>
          </p:cNvPr>
          <p:cNvSpPr txBox="1"/>
          <p:nvPr/>
        </p:nvSpPr>
        <p:spPr>
          <a:xfrm>
            <a:off x="63610" y="802035"/>
            <a:ext cx="8484042" cy="4031873"/>
          </a:xfrm>
          <a:prstGeom prst="rect">
            <a:avLst/>
          </a:prstGeom>
          <a:noFill/>
        </p:spPr>
        <p:txBody>
          <a:bodyPr wrap="square">
            <a:spAutoFit/>
          </a:bodyPr>
          <a:lstStyle/>
          <a:p>
            <a:pPr algn="l"/>
            <a:r>
              <a:rPr lang="en-GB" sz="1600" b="1" i="0" u="none" strike="noStrike" dirty="0">
                <a:solidFill>
                  <a:srgbClr val="000000"/>
                </a:solidFill>
                <a:effectLst/>
              </a:rPr>
              <a:t>Denoising Autoencoders:</a:t>
            </a:r>
            <a:endParaRPr lang="en-GB" sz="1600" b="0" i="0" u="none" strike="noStrike" dirty="0">
              <a:solidFill>
                <a:srgbClr val="000000"/>
              </a:solidFill>
              <a:effectLst/>
            </a:endParaRPr>
          </a:p>
          <a:p>
            <a:pPr marL="742950" lvl="1" indent="-285750" algn="l">
              <a:buFont typeface="Wingdings" pitchFamily="2" charset="2"/>
              <a:buChar char="ü"/>
            </a:pPr>
            <a:r>
              <a:rPr lang="en-GB" sz="1600" b="0" i="0" u="none" strike="noStrike" dirty="0">
                <a:solidFill>
                  <a:srgbClr val="000000"/>
                </a:solidFill>
                <a:effectLst/>
              </a:rPr>
              <a:t>During training, </a:t>
            </a:r>
            <a:r>
              <a:rPr lang="en-GB" sz="1600" b="1" i="0" u="none" strike="noStrike" dirty="0">
                <a:solidFill>
                  <a:srgbClr val="000000"/>
                </a:solidFill>
                <a:effectLst/>
              </a:rPr>
              <a:t>random noise is intentionally added to the input data</a:t>
            </a:r>
            <a:r>
              <a:rPr lang="en-GB" sz="1600" b="0" i="0" u="none" strike="noStrike" dirty="0">
                <a:solidFill>
                  <a:srgbClr val="000000"/>
                </a:solidFill>
                <a:effectLst/>
              </a:rPr>
              <a:t>.</a:t>
            </a:r>
          </a:p>
          <a:p>
            <a:pPr marL="742950" lvl="1" indent="-285750" algn="l">
              <a:buFont typeface="Wingdings" pitchFamily="2" charset="2"/>
              <a:buChar char="ü"/>
            </a:pPr>
            <a:r>
              <a:rPr lang="en-GB" sz="1600" b="0" i="0" u="none" strike="noStrike" dirty="0">
                <a:solidFill>
                  <a:srgbClr val="000000"/>
                </a:solidFill>
                <a:effectLst/>
              </a:rPr>
              <a:t>The autoencoder is then tasked with </a:t>
            </a:r>
            <a:r>
              <a:rPr lang="en-GB" sz="1600" b="1" i="0" u="none" strike="noStrike" dirty="0">
                <a:solidFill>
                  <a:srgbClr val="000000"/>
                </a:solidFill>
                <a:effectLst/>
              </a:rPr>
              <a:t>reconstructing the original, clean input</a:t>
            </a:r>
            <a:r>
              <a:rPr lang="en-GB" sz="1600" b="0" i="0" u="none" strike="noStrike" dirty="0">
                <a:solidFill>
                  <a:srgbClr val="000000"/>
                </a:solidFill>
                <a:effectLst/>
              </a:rPr>
              <a:t> from this corrupted version.</a:t>
            </a:r>
          </a:p>
          <a:p>
            <a:pPr marL="742950" lvl="1" indent="-285750" algn="l">
              <a:buFont typeface="Wingdings" pitchFamily="2" charset="2"/>
              <a:buChar char="ü"/>
            </a:pPr>
            <a:r>
              <a:rPr lang="en-GB" sz="1600" b="0" i="0" u="none" strike="noStrike" dirty="0">
                <a:solidFill>
                  <a:srgbClr val="000000"/>
                </a:solidFill>
                <a:effectLst/>
              </a:rPr>
              <a:t>This forces the network to learn robust features that represent the true underlying data structure, rather than just copying the noisy input.</a:t>
            </a:r>
          </a:p>
          <a:p>
            <a:pPr algn="l"/>
            <a:r>
              <a:rPr lang="en-GB" sz="1600" b="1" i="0" u="none" strike="noStrike" dirty="0">
                <a:solidFill>
                  <a:srgbClr val="000000"/>
                </a:solidFill>
                <a:effectLst/>
              </a:rPr>
              <a:t>Tuning Activation Functions (Sparsity):</a:t>
            </a:r>
            <a:endParaRPr lang="en-GB" sz="1600" b="0" i="0" u="none" strike="noStrike" dirty="0">
              <a:solidFill>
                <a:srgbClr val="000000"/>
              </a:solidFill>
              <a:effectLst/>
            </a:endParaRPr>
          </a:p>
          <a:p>
            <a:pPr marL="742950" lvl="1" indent="-285750" algn="l">
              <a:buFont typeface="Wingdings" pitchFamily="2" charset="2"/>
              <a:buChar char="ü"/>
            </a:pPr>
            <a:r>
              <a:rPr lang="en-GB" sz="1600" b="0" i="0" u="none" strike="noStrike" dirty="0">
                <a:solidFill>
                  <a:srgbClr val="000000"/>
                </a:solidFill>
                <a:effectLst/>
              </a:rPr>
              <a:t>Modifying activation functions (e.g., using sparse activations or applying sparsity penalties) can encourage </a:t>
            </a:r>
            <a:r>
              <a:rPr lang="en-GB" sz="1600" b="1" i="0" u="none" strike="noStrike" dirty="0">
                <a:solidFill>
                  <a:srgbClr val="000000"/>
                </a:solidFill>
                <a:effectLst/>
              </a:rPr>
              <a:t>sparsity in the hidden layer</a:t>
            </a:r>
            <a:r>
              <a:rPr lang="en-GB" sz="1600" b="0" i="0" u="none" strike="noStrike" dirty="0">
                <a:solidFill>
                  <a:srgbClr val="000000"/>
                </a:solidFill>
                <a:effectLst/>
              </a:rPr>
              <a:t>.</a:t>
            </a:r>
          </a:p>
          <a:p>
            <a:pPr marL="742950" lvl="1" indent="-285750" algn="l">
              <a:buFont typeface="Wingdings" pitchFamily="2" charset="2"/>
              <a:buChar char="ü"/>
            </a:pPr>
            <a:r>
              <a:rPr lang="en-GB" sz="1600" b="0" i="0" u="none" strike="noStrike" dirty="0">
                <a:solidFill>
                  <a:srgbClr val="000000"/>
                </a:solidFill>
                <a:effectLst/>
              </a:rPr>
              <a:t>Sparsity means that only a few neurons in the hidden layer are active at any given time. This forces the network to learn highly discriminative and relevant features, reducing model complexity and improving efficiency.</a:t>
            </a:r>
          </a:p>
          <a:p>
            <a:pPr algn="l"/>
            <a:r>
              <a:rPr lang="en-GB" sz="1600" b="0" i="0" u="none" strike="noStrike" dirty="0">
                <a:solidFill>
                  <a:srgbClr val="000000"/>
                </a:solidFill>
                <a:effectLst/>
              </a:rPr>
              <a:t>By implementing these constraints and techniques, autoencoders are compelled to extract the most salient features, resulting in powerful and compact data representations.</a:t>
            </a: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1850007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C60F688-C594-B199-ABB8-B4096D52A9A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CDCA9F7-EE96-C93B-72F8-30AB9320C53B}"/>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a:bodyPr>
          <a:lstStyle/>
          <a:p>
            <a:pPr algn="l">
              <a:buNone/>
            </a:pPr>
            <a:r>
              <a:rPr lang="en-GB" sz="2400" b="1" i="0" u="none" strike="noStrike" dirty="0">
                <a:solidFill>
                  <a:srgbClr val="7030A0"/>
                </a:solidFill>
                <a:effectLst/>
              </a:rPr>
              <a:t>Types of Autoencoders</a:t>
            </a: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CC781ED3-0810-D561-D150-3BFD176FA73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B5098AF1-4316-B113-12A7-16AADB3469EF}"/>
              </a:ext>
            </a:extLst>
          </p:cNvPr>
          <p:cNvSpPr txBox="1"/>
          <p:nvPr/>
        </p:nvSpPr>
        <p:spPr>
          <a:xfrm>
            <a:off x="0" y="678924"/>
            <a:ext cx="7725600" cy="3785652"/>
          </a:xfrm>
          <a:prstGeom prst="rect">
            <a:avLst/>
          </a:prstGeom>
          <a:noFill/>
        </p:spPr>
        <p:txBody>
          <a:bodyPr wrap="square">
            <a:spAutoFit/>
          </a:bodyPr>
          <a:lstStyle/>
          <a:p>
            <a:pPr algn="l">
              <a:buFont typeface="+mj-lt"/>
              <a:buAutoNum type="arabicPeriod"/>
            </a:pPr>
            <a:r>
              <a:rPr lang="en-GB" sz="1600" b="1" i="0" u="none" strike="noStrike" dirty="0">
                <a:solidFill>
                  <a:srgbClr val="000000"/>
                </a:solidFill>
                <a:effectLst/>
              </a:rPr>
              <a:t>Denoising Autoencoder:</a:t>
            </a:r>
            <a:endParaRPr lang="en-GB" sz="1600" b="0" i="0" u="none" strike="noStrike" dirty="0">
              <a:solidFill>
                <a:srgbClr val="000000"/>
              </a:solidFill>
              <a:effectLst/>
            </a:endParaRPr>
          </a:p>
          <a:p>
            <a:pPr marL="457200" lvl="1" algn="l"/>
            <a:r>
              <a:rPr lang="en-GB" sz="1600" b="1" i="0" u="none" strike="noStrike" dirty="0">
                <a:solidFill>
                  <a:srgbClr val="000000"/>
                </a:solidFill>
                <a:effectLst/>
              </a:rPr>
              <a:t>Purpose:</a:t>
            </a:r>
            <a:r>
              <a:rPr lang="en-GB" sz="1600" b="0" i="0" u="none" strike="noStrike" dirty="0">
                <a:solidFill>
                  <a:srgbClr val="000000"/>
                </a:solidFill>
                <a:effectLst/>
              </a:rPr>
              <a:t> Learns to remove noise from corrupted input data.</a:t>
            </a:r>
          </a:p>
          <a:p>
            <a:pPr marL="457200" lvl="1" algn="l"/>
            <a:r>
              <a:rPr lang="en-GB" sz="1600" b="1" i="0" u="none" strike="noStrike" dirty="0">
                <a:solidFill>
                  <a:srgbClr val="000000"/>
                </a:solidFill>
                <a:effectLst/>
              </a:rPr>
              <a:t>Training:</a:t>
            </a:r>
            <a:r>
              <a:rPr lang="en-GB" sz="1600" b="0" i="0" u="none" strike="noStrike" dirty="0">
                <a:solidFill>
                  <a:srgbClr val="000000"/>
                </a:solidFill>
                <a:effectLst/>
              </a:rPr>
              <a:t> Random noise is intentionally added to the input during training.</a:t>
            </a:r>
          </a:p>
          <a:p>
            <a:pPr marL="457200" lvl="1" algn="l"/>
            <a:r>
              <a:rPr lang="en-GB" sz="1600" b="1" i="0" u="none" strike="noStrike" dirty="0">
                <a:solidFill>
                  <a:srgbClr val="000000"/>
                </a:solidFill>
                <a:effectLst/>
              </a:rPr>
              <a:t>Benefit:</a:t>
            </a:r>
            <a:r>
              <a:rPr lang="en-GB" sz="1600" b="0" i="0" u="none" strike="noStrike" dirty="0">
                <a:solidFill>
                  <a:srgbClr val="000000"/>
                </a:solidFill>
                <a:effectLst/>
              </a:rPr>
              <a:t> Forces the network to learn robust, core features of the data, rather than just memorizing the input.</a:t>
            </a:r>
          </a:p>
          <a:p>
            <a:pPr algn="l">
              <a:buFont typeface="+mj-lt"/>
              <a:buAutoNum type="arabicPeriod"/>
            </a:pPr>
            <a:r>
              <a:rPr lang="en-GB" sz="1600" b="1" i="0" u="none" strike="noStrike" dirty="0">
                <a:solidFill>
                  <a:srgbClr val="000000"/>
                </a:solidFill>
                <a:effectLst/>
              </a:rPr>
              <a:t>Sparse Autoencoder:</a:t>
            </a:r>
            <a:endParaRPr lang="en-GB" sz="1600" b="0" i="0" u="none" strike="noStrike" dirty="0">
              <a:solidFill>
                <a:srgbClr val="000000"/>
              </a:solidFill>
              <a:effectLst/>
            </a:endParaRPr>
          </a:p>
          <a:p>
            <a:pPr marL="457200" lvl="1" algn="l"/>
            <a:r>
              <a:rPr lang="en-GB" sz="1600" b="1" i="0" u="none" strike="noStrike" dirty="0">
                <a:solidFill>
                  <a:srgbClr val="000000"/>
                </a:solidFill>
                <a:effectLst/>
              </a:rPr>
              <a:t>Characteristic:</a:t>
            </a:r>
            <a:r>
              <a:rPr lang="en-GB" sz="1600" b="0" i="0" u="none" strike="noStrike" dirty="0">
                <a:solidFill>
                  <a:srgbClr val="000000"/>
                </a:solidFill>
                <a:effectLst/>
              </a:rPr>
              <a:t> Has more hidden units than input units, but only a small fraction of them are allowed to be "active" at any given time (sparsity).</a:t>
            </a:r>
          </a:p>
          <a:p>
            <a:pPr marL="457200" lvl="1" algn="l"/>
            <a:r>
              <a:rPr lang="en-GB" sz="1600" b="1" i="0" u="none" strike="noStrike" dirty="0">
                <a:solidFill>
                  <a:srgbClr val="000000"/>
                </a:solidFill>
                <a:effectLst/>
              </a:rPr>
              <a:t>Control:</a:t>
            </a:r>
            <a:r>
              <a:rPr lang="en-GB" sz="1600" b="0" i="0" u="none" strike="noStrike" dirty="0">
                <a:solidFill>
                  <a:srgbClr val="000000"/>
                </a:solidFill>
                <a:effectLst/>
              </a:rPr>
              <a:t> Sparsity can be enforced by:</a:t>
            </a:r>
          </a:p>
          <a:p>
            <a:pPr marL="1257300" lvl="2" indent="-342900" algn="l">
              <a:buFont typeface="+mj-lt"/>
              <a:buAutoNum type="alphaLcPeriod"/>
            </a:pPr>
            <a:r>
              <a:rPr lang="en-GB" sz="1600" b="0" i="0" u="none" strike="noStrike" dirty="0">
                <a:solidFill>
                  <a:srgbClr val="000000"/>
                </a:solidFill>
                <a:effectLst/>
              </a:rPr>
              <a:t>Manually zeroing out hidden units.</a:t>
            </a:r>
          </a:p>
          <a:p>
            <a:pPr marL="1257300" lvl="2" indent="-342900" algn="l">
              <a:buFont typeface="+mj-lt"/>
              <a:buAutoNum type="alphaLcPeriod"/>
            </a:pPr>
            <a:r>
              <a:rPr lang="en-GB" sz="1600" b="0" i="0" u="none" strike="noStrike" dirty="0">
                <a:solidFill>
                  <a:srgbClr val="000000"/>
                </a:solidFill>
                <a:effectLst/>
              </a:rPr>
              <a:t>Tuning activation functions.</a:t>
            </a:r>
          </a:p>
          <a:p>
            <a:pPr marL="1257300" lvl="2" indent="-342900" algn="l">
              <a:buFont typeface="+mj-lt"/>
              <a:buAutoNum type="alphaLcPeriod"/>
            </a:pPr>
            <a:r>
              <a:rPr lang="en-GB" sz="1600" b="0" i="0" u="none" strike="noStrike" dirty="0">
                <a:solidFill>
                  <a:srgbClr val="000000"/>
                </a:solidFill>
                <a:effectLst/>
              </a:rPr>
              <a:t>Adding a sparsity penalty term to the loss function.</a:t>
            </a:r>
          </a:p>
          <a:p>
            <a:pPr marL="457200" lvl="1" algn="l"/>
            <a:r>
              <a:rPr lang="en-GB" sz="1600" b="1" i="0" u="none" strike="noStrike" dirty="0">
                <a:solidFill>
                  <a:srgbClr val="000000"/>
                </a:solidFill>
                <a:effectLst/>
              </a:rPr>
              <a:t>Benefit:</a:t>
            </a:r>
            <a:r>
              <a:rPr lang="en-GB" sz="1600" b="0" i="0" u="none" strike="noStrike" dirty="0">
                <a:solidFill>
                  <a:srgbClr val="000000"/>
                </a:solidFill>
                <a:effectLst/>
              </a:rPr>
              <a:t> Encourages the learning of highly discriminative and efficient features, reducing model complexity.</a:t>
            </a:r>
          </a:p>
          <a:p>
            <a:pPr algn="l">
              <a:buNone/>
            </a:pPr>
            <a:endParaRPr lang="en-GB" sz="1600" b="1" dirty="0">
              <a:latin typeface="+mj-lt"/>
            </a:endParaRPr>
          </a:p>
        </p:txBody>
      </p:sp>
    </p:spTree>
    <p:extLst>
      <p:ext uri="{BB962C8B-B14F-4D97-AF65-F5344CB8AC3E}">
        <p14:creationId xmlns:p14="http://schemas.microsoft.com/office/powerpoint/2010/main" val="3075872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8E3AE15-3A1E-B1A0-8914-050CB77ADBC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35AEFEC-C810-5B21-D50C-B0071D2A1F73}"/>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a:bodyPr>
          <a:lstStyle/>
          <a:p>
            <a:pPr algn="l">
              <a:buNone/>
            </a:pPr>
            <a:r>
              <a:rPr lang="en-GB" sz="2400" b="1" i="0" u="none" strike="noStrike" dirty="0">
                <a:solidFill>
                  <a:srgbClr val="7030A0"/>
                </a:solidFill>
                <a:effectLst/>
              </a:rPr>
              <a:t>Types of Autoencoders</a:t>
            </a: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D65E77F2-3C08-6362-C81F-8A31179C6BB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A6819682-B62A-6ED1-5794-57DE112A1421}"/>
              </a:ext>
            </a:extLst>
          </p:cNvPr>
          <p:cNvSpPr txBox="1"/>
          <p:nvPr/>
        </p:nvSpPr>
        <p:spPr>
          <a:xfrm>
            <a:off x="0" y="526457"/>
            <a:ext cx="7725600" cy="4401205"/>
          </a:xfrm>
          <a:prstGeom prst="rect">
            <a:avLst/>
          </a:prstGeom>
          <a:noFill/>
        </p:spPr>
        <p:txBody>
          <a:bodyPr wrap="square">
            <a:spAutoFit/>
          </a:bodyPr>
          <a:lstStyle/>
          <a:p>
            <a:pPr marL="342900" indent="-342900" algn="l">
              <a:buFont typeface="+mj-lt"/>
              <a:buAutoNum type="arabicPeriod" startAt="3"/>
            </a:pPr>
            <a:r>
              <a:rPr lang="en-GB" b="1" i="0" u="none" strike="noStrike" dirty="0">
                <a:solidFill>
                  <a:srgbClr val="000000"/>
                </a:solidFill>
                <a:effectLst/>
              </a:rPr>
              <a:t>Variational Autoencoder (VAE):</a:t>
            </a:r>
            <a:endParaRPr lang="en-GB" b="0" i="0" u="none" strike="noStrike" dirty="0">
              <a:solidFill>
                <a:srgbClr val="000000"/>
              </a:solidFill>
              <a:effectLst/>
            </a:endParaRPr>
          </a:p>
          <a:p>
            <a:pPr marL="457200" lvl="1" algn="l"/>
            <a:r>
              <a:rPr lang="en-GB" b="1" i="0" u="none" strike="noStrike" dirty="0">
                <a:solidFill>
                  <a:srgbClr val="000000"/>
                </a:solidFill>
                <a:effectLst/>
              </a:rPr>
              <a:t>Nature:</a:t>
            </a:r>
            <a:r>
              <a:rPr lang="en-GB" b="0" i="0" u="none" strike="noStrike" dirty="0">
                <a:solidFill>
                  <a:srgbClr val="000000"/>
                </a:solidFill>
                <a:effectLst/>
              </a:rPr>
              <a:t> A generative model that makes assumptions about the underlying probability distribution of the data.</a:t>
            </a:r>
          </a:p>
          <a:p>
            <a:pPr marL="457200" lvl="1" algn="l"/>
            <a:r>
              <a:rPr lang="en-GB" b="1" i="0" u="none" strike="noStrike" dirty="0">
                <a:solidFill>
                  <a:srgbClr val="000000"/>
                </a:solidFill>
                <a:effectLst/>
              </a:rPr>
              <a:t>Objective:</a:t>
            </a:r>
            <a:r>
              <a:rPr lang="en-GB" b="0" i="0" u="none" strike="noStrike" dirty="0">
                <a:solidFill>
                  <a:srgbClr val="000000"/>
                </a:solidFill>
                <a:effectLst/>
              </a:rPr>
              <a:t> Learns to approximate the data's distribution, specifically the conditional probability p</a:t>
            </a:r>
            <a:r>
              <a:rPr lang="el-GR" b="0" i="0" u="none" strike="noStrike" dirty="0">
                <a:solidFill>
                  <a:srgbClr val="000000"/>
                </a:solidFill>
                <a:effectLst/>
              </a:rPr>
              <a:t>θ​(</a:t>
            </a:r>
            <a:r>
              <a:rPr lang="en-GB" b="0" i="0" u="none" strike="noStrike" dirty="0" err="1">
                <a:solidFill>
                  <a:srgbClr val="000000"/>
                </a:solidFill>
                <a:effectLst/>
              </a:rPr>
              <a:t>x∣z</a:t>
            </a:r>
            <a:r>
              <a:rPr lang="en-GB" b="0" i="0" u="none" strike="noStrike" dirty="0">
                <a:solidFill>
                  <a:srgbClr val="000000"/>
                </a:solidFill>
                <a:effectLst/>
              </a:rPr>
              <a:t>)(decoder) and an approximation to the posterior q</a:t>
            </a:r>
            <a:r>
              <a:rPr lang="el-GR" b="0" i="0" u="none" strike="noStrike" dirty="0" err="1">
                <a:solidFill>
                  <a:srgbClr val="000000"/>
                </a:solidFill>
                <a:effectLst/>
              </a:rPr>
              <a:t>ϕ</a:t>
            </a:r>
            <a:r>
              <a:rPr lang="el-GR" b="0" i="0" u="none" strike="noStrike" dirty="0">
                <a:solidFill>
                  <a:srgbClr val="000000"/>
                </a:solidFill>
                <a:effectLst/>
              </a:rPr>
              <a:t>​(</a:t>
            </a:r>
            <a:r>
              <a:rPr lang="en-GB" b="0" i="0" u="none" strike="noStrike" dirty="0" err="1">
                <a:solidFill>
                  <a:srgbClr val="000000"/>
                </a:solidFill>
                <a:effectLst/>
              </a:rPr>
              <a:t>z∣x</a:t>
            </a:r>
            <a:r>
              <a:rPr lang="en-GB" b="0" i="0" u="none" strike="noStrike" dirty="0">
                <a:solidFill>
                  <a:srgbClr val="000000"/>
                </a:solidFill>
                <a:effectLst/>
              </a:rPr>
              <a:t>) (encoder).</a:t>
            </a:r>
          </a:p>
          <a:p>
            <a:pPr marL="457200" lvl="1" algn="l"/>
            <a:r>
              <a:rPr lang="en-GB" b="1" i="0" u="none" strike="noStrike" dirty="0">
                <a:solidFill>
                  <a:srgbClr val="000000"/>
                </a:solidFill>
                <a:effectLst/>
              </a:rPr>
              <a:t>Optimization:</a:t>
            </a:r>
            <a:r>
              <a:rPr lang="en-GB" b="0" i="0" u="none" strike="noStrike" dirty="0">
                <a:solidFill>
                  <a:srgbClr val="000000"/>
                </a:solidFill>
                <a:effectLst/>
              </a:rPr>
              <a:t> Uses stochastic gradient descent to learn the distribution of latent variables.</a:t>
            </a:r>
          </a:p>
          <a:p>
            <a:pPr marL="457200" lvl="1" algn="l"/>
            <a:r>
              <a:rPr lang="en-GB" b="1" i="0" u="none" strike="noStrike" dirty="0">
                <a:solidFill>
                  <a:srgbClr val="000000"/>
                </a:solidFill>
                <a:effectLst/>
              </a:rPr>
              <a:t>Application:</a:t>
            </a:r>
            <a:r>
              <a:rPr lang="en-GB" b="0" i="0" u="none" strike="noStrike" dirty="0">
                <a:solidFill>
                  <a:srgbClr val="000000"/>
                </a:solidFill>
                <a:effectLst/>
              </a:rPr>
              <a:t> Often used for generating new, realistic data (e.g., images, text) by sampling from the learned latent distribution.</a:t>
            </a:r>
          </a:p>
          <a:p>
            <a:pPr marL="457200" lvl="1" algn="l"/>
            <a:r>
              <a:rPr lang="en-GB" b="1" i="0" u="none" strike="noStrike" dirty="0">
                <a:solidFill>
                  <a:srgbClr val="000000"/>
                </a:solidFill>
                <a:effectLst/>
              </a:rPr>
              <a:t>Key Idea:</a:t>
            </a:r>
            <a:r>
              <a:rPr lang="en-GB" b="0" i="0" u="none" strike="noStrike" dirty="0">
                <a:solidFill>
                  <a:srgbClr val="000000"/>
                </a:solidFill>
                <a:effectLst/>
              </a:rPr>
              <a:t> Assumes data is generated by a Directed Graphical Model, and aims to learn q</a:t>
            </a:r>
            <a:r>
              <a:rPr lang="el-GR" b="0" i="0" u="none" strike="noStrike" dirty="0" err="1">
                <a:solidFill>
                  <a:srgbClr val="000000"/>
                </a:solidFill>
                <a:effectLst/>
              </a:rPr>
              <a:t>ϕ</a:t>
            </a:r>
            <a:r>
              <a:rPr lang="el-GR" b="0" i="0" u="none" strike="noStrike" dirty="0">
                <a:solidFill>
                  <a:srgbClr val="000000"/>
                </a:solidFill>
                <a:effectLst/>
              </a:rPr>
              <a:t>​(</a:t>
            </a:r>
            <a:r>
              <a:rPr lang="en-GB" b="0" i="0" u="none" strike="noStrike" dirty="0" err="1">
                <a:solidFill>
                  <a:srgbClr val="000000"/>
                </a:solidFill>
                <a:effectLst/>
              </a:rPr>
              <a:t>z∣x</a:t>
            </a:r>
            <a:r>
              <a:rPr lang="en-GB" b="0" i="0" u="none" strike="noStrike" dirty="0">
                <a:solidFill>
                  <a:srgbClr val="000000"/>
                </a:solidFill>
                <a:effectLst/>
              </a:rPr>
              <a:t>) as an approximation to p</a:t>
            </a:r>
            <a:r>
              <a:rPr lang="el-GR" b="0" i="0" u="none" strike="noStrike" dirty="0">
                <a:solidFill>
                  <a:srgbClr val="000000"/>
                </a:solidFill>
                <a:effectLst/>
              </a:rPr>
              <a:t>θ​(</a:t>
            </a:r>
            <a:r>
              <a:rPr lang="en-GB" b="0" i="0" u="none" strike="noStrike" dirty="0" err="1">
                <a:solidFill>
                  <a:srgbClr val="000000"/>
                </a:solidFill>
                <a:effectLst/>
              </a:rPr>
              <a:t>z∣x</a:t>
            </a:r>
            <a:r>
              <a:rPr lang="en-GB" b="0" i="0" u="none" strike="noStrike" dirty="0">
                <a:solidFill>
                  <a:srgbClr val="000000"/>
                </a:solidFill>
                <a:effectLst/>
              </a:rPr>
              <a:t>), where </a:t>
            </a:r>
            <a:r>
              <a:rPr lang="el-GR" b="0" i="0" u="none" strike="noStrike" dirty="0" err="1">
                <a:solidFill>
                  <a:srgbClr val="000000"/>
                </a:solidFill>
                <a:effectLst/>
              </a:rPr>
              <a:t>ϕ</a:t>
            </a:r>
            <a:r>
              <a:rPr lang="el-GR" b="0" i="0" u="none" strike="noStrike" dirty="0">
                <a:solidFill>
                  <a:srgbClr val="000000"/>
                </a:solidFill>
                <a:effectLst/>
              </a:rPr>
              <a:t> </a:t>
            </a:r>
            <a:r>
              <a:rPr lang="en-GB" b="0" i="0" u="none" strike="noStrike" dirty="0">
                <a:solidFill>
                  <a:srgbClr val="000000"/>
                </a:solidFill>
                <a:effectLst/>
              </a:rPr>
              <a:t>and </a:t>
            </a:r>
            <a:r>
              <a:rPr lang="el-GR" b="0" i="0" u="none" strike="noStrike" dirty="0">
                <a:solidFill>
                  <a:srgbClr val="000000"/>
                </a:solidFill>
                <a:effectLst/>
              </a:rPr>
              <a:t>θ </a:t>
            </a:r>
            <a:r>
              <a:rPr lang="en-GB" b="0" i="0" u="none" strike="noStrike" dirty="0">
                <a:solidFill>
                  <a:srgbClr val="000000"/>
                </a:solidFill>
                <a:effectLst/>
              </a:rPr>
              <a:t>are encoder and decoder parameters respectively.</a:t>
            </a:r>
          </a:p>
          <a:p>
            <a:pPr algn="l">
              <a:buFont typeface="+mj-lt"/>
              <a:buAutoNum type="arabicPeriod" startAt="3"/>
            </a:pPr>
            <a:r>
              <a:rPr lang="en-GB" b="1" i="0" u="none" strike="noStrike" dirty="0">
                <a:solidFill>
                  <a:srgbClr val="000000"/>
                </a:solidFill>
                <a:effectLst/>
              </a:rPr>
              <a:t>Convolutional Autoencoder:</a:t>
            </a:r>
            <a:endParaRPr lang="en-GB" b="0" i="0" u="none" strike="noStrike" dirty="0">
              <a:solidFill>
                <a:srgbClr val="000000"/>
              </a:solidFill>
              <a:effectLst/>
            </a:endParaRPr>
          </a:p>
          <a:p>
            <a:pPr marL="457200" lvl="1" algn="l"/>
            <a:r>
              <a:rPr lang="en-GB" b="1" i="0" u="none" strike="noStrike" dirty="0">
                <a:solidFill>
                  <a:srgbClr val="000000"/>
                </a:solidFill>
                <a:effectLst/>
              </a:rPr>
              <a:t>Architecture:</a:t>
            </a:r>
            <a:r>
              <a:rPr lang="en-GB" b="0" i="0" u="none" strike="noStrike" dirty="0">
                <a:solidFill>
                  <a:srgbClr val="000000"/>
                </a:solidFill>
                <a:effectLst/>
              </a:rPr>
              <a:t> Specifically designed for processing image data.</a:t>
            </a:r>
          </a:p>
          <a:p>
            <a:pPr marL="457200" lvl="1" algn="l"/>
            <a:r>
              <a:rPr lang="en-GB" b="1" i="0" u="none" strike="noStrike" dirty="0">
                <a:solidFill>
                  <a:srgbClr val="000000"/>
                </a:solidFill>
                <a:effectLst/>
              </a:rPr>
              <a:t>Encoder:</a:t>
            </a:r>
            <a:r>
              <a:rPr lang="en-GB" b="0" i="0" u="none" strike="noStrike" dirty="0">
                <a:solidFill>
                  <a:srgbClr val="000000"/>
                </a:solidFill>
                <a:effectLst/>
              </a:rPr>
              <a:t> Uses </a:t>
            </a:r>
            <a:r>
              <a:rPr lang="en-GB" b="1" i="0" u="none" strike="noStrike" dirty="0">
                <a:solidFill>
                  <a:srgbClr val="000000"/>
                </a:solidFill>
                <a:effectLst/>
              </a:rPr>
              <a:t>convolutional layers</a:t>
            </a:r>
            <a:r>
              <a:rPr lang="en-GB" b="0" i="0" u="none" strike="noStrike" dirty="0">
                <a:solidFill>
                  <a:srgbClr val="000000"/>
                </a:solidFill>
                <a:effectLst/>
              </a:rPr>
              <a:t> to extract hierarchical features from images.</a:t>
            </a:r>
          </a:p>
          <a:p>
            <a:pPr marL="457200" lvl="1" algn="l"/>
            <a:r>
              <a:rPr lang="en-GB" b="1" i="0" u="none" strike="noStrike" dirty="0">
                <a:solidFill>
                  <a:srgbClr val="000000"/>
                </a:solidFill>
                <a:effectLst/>
              </a:rPr>
              <a:t>Decoder:</a:t>
            </a:r>
            <a:r>
              <a:rPr lang="en-GB" b="0" i="0" u="none" strike="noStrike" dirty="0">
                <a:solidFill>
                  <a:srgbClr val="000000"/>
                </a:solidFill>
                <a:effectLst/>
              </a:rPr>
              <a:t> Employs </a:t>
            </a:r>
            <a:r>
              <a:rPr lang="en-GB" b="1" i="0" u="none" strike="noStrike" dirty="0">
                <a:solidFill>
                  <a:srgbClr val="000000"/>
                </a:solidFill>
                <a:effectLst/>
              </a:rPr>
              <a:t>deconvolutional layers</a:t>
            </a:r>
            <a:r>
              <a:rPr lang="en-GB" b="0" i="0" u="none" strike="noStrike" dirty="0">
                <a:solidFill>
                  <a:srgbClr val="000000"/>
                </a:solidFill>
                <a:effectLst/>
              </a:rPr>
              <a:t> (also known as </a:t>
            </a:r>
            <a:r>
              <a:rPr lang="en-GB" b="0" i="0" u="none" strike="noStrike" dirty="0" err="1">
                <a:solidFill>
                  <a:srgbClr val="000000"/>
                </a:solidFill>
                <a:effectLst/>
              </a:rPr>
              <a:t>upsampling</a:t>
            </a:r>
            <a:r>
              <a:rPr lang="en-GB" b="0" i="0" u="none" strike="noStrike" dirty="0">
                <a:solidFill>
                  <a:srgbClr val="000000"/>
                </a:solidFill>
                <a:effectLst/>
              </a:rPr>
              <a:t> or transposed convolutions) to reconstruct the image from the learned features.</a:t>
            </a:r>
          </a:p>
          <a:p>
            <a:pPr marL="457200" lvl="1" algn="l"/>
            <a:r>
              <a:rPr lang="en-GB" b="1" i="0" u="none" strike="noStrike" dirty="0">
                <a:solidFill>
                  <a:srgbClr val="000000"/>
                </a:solidFill>
                <a:effectLst/>
              </a:rPr>
              <a:t>Benefit:</a:t>
            </a:r>
            <a:r>
              <a:rPr lang="en-GB" b="0" i="0" u="none" strike="noStrike" dirty="0">
                <a:solidFill>
                  <a:srgbClr val="000000"/>
                </a:solidFill>
                <a:effectLst/>
              </a:rPr>
              <a:t> Leverages the strengths of CNNs for spatial data, making it highly effective for image-related tasks like compression and denoising.</a:t>
            </a:r>
          </a:p>
          <a:p>
            <a:pPr algn="l">
              <a:buNone/>
            </a:pPr>
            <a:endParaRPr lang="en-GB" b="1" dirty="0">
              <a:latin typeface="+mj-lt"/>
            </a:endParaRPr>
          </a:p>
        </p:txBody>
      </p:sp>
    </p:spTree>
    <p:extLst>
      <p:ext uri="{BB962C8B-B14F-4D97-AF65-F5344CB8AC3E}">
        <p14:creationId xmlns:p14="http://schemas.microsoft.com/office/powerpoint/2010/main" val="1769713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81E56A8-3612-965A-AF18-B2D77869E8C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7EA20C7-7EF2-4937-AFCA-AD33F9469BBC}"/>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fontScale="90000"/>
          </a:bodyPr>
          <a:lstStyle/>
          <a:p>
            <a:pPr algn="l">
              <a:buNone/>
            </a:pPr>
            <a:r>
              <a:rPr lang="en-GB" sz="2400" b="1" i="0" u="none" strike="noStrike" dirty="0">
                <a:solidFill>
                  <a:srgbClr val="7030A0"/>
                </a:solidFill>
                <a:effectLst/>
              </a:rPr>
              <a:t>Creation of a basic autoencoder using </a:t>
            </a:r>
            <a:r>
              <a:rPr lang="en-GB" sz="2400" b="1" i="0" u="none" strike="noStrike" dirty="0" err="1">
                <a:solidFill>
                  <a:srgbClr val="7030A0"/>
                </a:solidFill>
                <a:effectLst/>
              </a:rPr>
              <a:t>Keras</a:t>
            </a:r>
            <a:r>
              <a:rPr lang="en-GB" sz="2400" b="1" i="0" u="none" strike="noStrike" dirty="0">
                <a:solidFill>
                  <a:srgbClr val="7030A0"/>
                </a:solidFill>
                <a:effectLst/>
              </a:rPr>
              <a:t> and TensorFlow</a:t>
            </a: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C3455C6-AF93-9204-C3B7-F52F03ABA3F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06ABA801-5D99-7778-B03B-5356C88AF04E}"/>
              </a:ext>
            </a:extLst>
          </p:cNvPr>
          <p:cNvSpPr txBox="1"/>
          <p:nvPr/>
        </p:nvSpPr>
        <p:spPr>
          <a:xfrm>
            <a:off x="159026" y="637776"/>
            <a:ext cx="7887694" cy="2062103"/>
          </a:xfrm>
          <a:prstGeom prst="rect">
            <a:avLst/>
          </a:prstGeom>
          <a:noFill/>
        </p:spPr>
        <p:txBody>
          <a:bodyPr wrap="square">
            <a:spAutoFit/>
          </a:bodyPr>
          <a:lstStyle/>
          <a:p>
            <a:pPr algn="l">
              <a:buNone/>
            </a:pPr>
            <a:r>
              <a:rPr lang="en-GB" sz="1600" b="0" i="0" u="none" strike="noStrike" dirty="0">
                <a:solidFill>
                  <a:srgbClr val="000000"/>
                </a:solidFill>
                <a:effectLst/>
              </a:rPr>
              <a:t>Our autoencoder will consist of two dense layers: an encoder that compresses input images into a 64-dimensional latent vector, and a decoder that reconstructs the original image from this compressed latent space.</a:t>
            </a:r>
          </a:p>
          <a:p>
            <a:pPr algn="l">
              <a:buNone/>
            </a:pPr>
            <a:endParaRPr lang="en-GB" sz="1600" b="0" i="0" u="none" strike="noStrike" dirty="0">
              <a:solidFill>
                <a:srgbClr val="000000"/>
              </a:solidFill>
              <a:effectLst/>
            </a:endParaRPr>
          </a:p>
          <a:p>
            <a:pPr algn="l">
              <a:buNone/>
            </a:pPr>
            <a:r>
              <a:rPr lang="en-GB" sz="1600" b="1" i="0" u="none" strike="noStrike" dirty="0">
                <a:solidFill>
                  <a:srgbClr val="000000"/>
                </a:solidFill>
                <a:effectLst/>
              </a:rPr>
              <a:t>Step 1: Import Necessary Libraries</a:t>
            </a:r>
          </a:p>
          <a:p>
            <a:pPr algn="l"/>
            <a:r>
              <a:rPr lang="en-GB" sz="1600" b="0" i="0" u="none" strike="noStrike" dirty="0">
                <a:solidFill>
                  <a:srgbClr val="000000"/>
                </a:solidFill>
                <a:effectLst/>
              </a:rPr>
              <a:t>We begin by importing the essential Python libraries for numerical operations, plotting, and building our neural network with TensorFlow and </a:t>
            </a:r>
            <a:r>
              <a:rPr lang="en-GB" sz="1600" b="0" i="0" u="none" strike="noStrike" dirty="0" err="1">
                <a:solidFill>
                  <a:srgbClr val="000000"/>
                </a:solidFill>
                <a:effectLst/>
              </a:rPr>
              <a:t>Keras</a:t>
            </a:r>
            <a:r>
              <a:rPr lang="en-GB" sz="1600" b="0" i="0" u="none" strike="noStrike" dirty="0">
                <a:solidFill>
                  <a:srgbClr val="000000"/>
                </a:solidFill>
                <a:effectLst/>
              </a:rPr>
              <a:t>.</a:t>
            </a:r>
          </a:p>
          <a:p>
            <a:pPr algn="l">
              <a:buNone/>
            </a:pPr>
            <a:endParaRPr lang="en-GB" sz="1600" b="1" dirty="0">
              <a:latin typeface="+mj-lt"/>
            </a:endParaRPr>
          </a:p>
        </p:txBody>
      </p:sp>
      <p:sp>
        <p:nvSpPr>
          <p:cNvPr id="5" name="TextBox 4">
            <a:extLst>
              <a:ext uri="{FF2B5EF4-FFF2-40B4-BE49-F238E27FC236}">
                <a16:creationId xmlns:a16="http://schemas.microsoft.com/office/drawing/2014/main" id="{1E409AC1-5115-2AAB-5964-BF852DBB68AE}"/>
              </a:ext>
            </a:extLst>
          </p:cNvPr>
          <p:cNvSpPr txBox="1"/>
          <p:nvPr/>
        </p:nvSpPr>
        <p:spPr>
          <a:xfrm>
            <a:off x="1097280" y="2666815"/>
            <a:ext cx="4687294" cy="1169551"/>
          </a:xfrm>
          <a:prstGeom prst="rect">
            <a:avLst/>
          </a:prstGeom>
          <a:solidFill>
            <a:schemeClr val="accent6">
              <a:lumMod val="20000"/>
              <a:lumOff val="80000"/>
            </a:schemeClr>
          </a:solidFill>
        </p:spPr>
        <p:txBody>
          <a:bodyPr wrap="square">
            <a:spAutoFit/>
          </a:bodyPr>
          <a:lstStyle/>
          <a:p>
            <a:r>
              <a:rPr lang="en-GB" b="0" i="0" u="none" strike="noStrike" dirty="0">
                <a:solidFill>
                  <a:srgbClr val="000000"/>
                </a:solidFill>
                <a:effectLst/>
              </a:rPr>
              <a:t>import </a:t>
            </a:r>
            <a:r>
              <a:rPr lang="en-GB" b="0" i="0" u="none" strike="noStrike" dirty="0" err="1">
                <a:solidFill>
                  <a:srgbClr val="000000"/>
                </a:solidFill>
                <a:effectLst/>
              </a:rPr>
              <a:t>numpy</a:t>
            </a:r>
            <a:r>
              <a:rPr lang="en-GB" b="0" i="0" u="none" strike="noStrike" dirty="0">
                <a:solidFill>
                  <a:srgbClr val="000000"/>
                </a:solidFill>
                <a:effectLst/>
              </a:rPr>
              <a:t> as np import </a:t>
            </a:r>
            <a:r>
              <a:rPr lang="en-GB" b="0" i="0" u="none" strike="noStrike" dirty="0" err="1">
                <a:solidFill>
                  <a:srgbClr val="000000"/>
                </a:solidFill>
                <a:effectLst/>
              </a:rPr>
              <a:t>matplotlib.pyplot</a:t>
            </a:r>
            <a:r>
              <a:rPr lang="en-GB" b="0" i="0" u="none" strike="noStrike" dirty="0">
                <a:solidFill>
                  <a:srgbClr val="000000"/>
                </a:solidFill>
                <a:effectLst/>
              </a:rPr>
              <a:t> as </a:t>
            </a:r>
            <a:r>
              <a:rPr lang="en-GB" b="0" i="0" u="none" strike="noStrike" dirty="0" err="1">
                <a:solidFill>
                  <a:srgbClr val="000000"/>
                </a:solidFill>
                <a:effectLst/>
              </a:rPr>
              <a:t>plt</a:t>
            </a:r>
            <a:r>
              <a:rPr lang="en-GB" b="0" i="0" u="none" strike="noStrike" dirty="0">
                <a:solidFill>
                  <a:srgbClr val="000000"/>
                </a:solidFill>
                <a:effectLst/>
              </a:rPr>
              <a:t> import </a:t>
            </a:r>
            <a:r>
              <a:rPr lang="en-GB" b="0" i="0" u="none" strike="noStrike" dirty="0" err="1">
                <a:solidFill>
                  <a:srgbClr val="000000"/>
                </a:solidFill>
                <a:effectLst/>
              </a:rPr>
              <a:t>tensorflow</a:t>
            </a:r>
            <a:r>
              <a:rPr lang="en-GB" b="0" i="0" u="none" strike="noStrike" dirty="0">
                <a:solidFill>
                  <a:srgbClr val="000000"/>
                </a:solidFill>
                <a:effectLst/>
              </a:rPr>
              <a:t> as </a:t>
            </a:r>
            <a:r>
              <a:rPr lang="en-GB" b="0" i="0" u="none" strike="noStrike" dirty="0" err="1">
                <a:solidFill>
                  <a:srgbClr val="000000"/>
                </a:solidFill>
                <a:effectLst/>
              </a:rPr>
              <a:t>tf</a:t>
            </a:r>
            <a:r>
              <a:rPr lang="en-GB" b="0" i="0" u="none" strike="noStrike" dirty="0">
                <a:solidFill>
                  <a:srgbClr val="000000"/>
                </a:solidFill>
                <a:effectLst/>
              </a:rPr>
              <a:t> from </a:t>
            </a:r>
            <a:r>
              <a:rPr lang="en-GB" b="0" i="0" u="none" strike="noStrike" dirty="0" err="1">
                <a:solidFill>
                  <a:srgbClr val="000000"/>
                </a:solidFill>
                <a:effectLst/>
              </a:rPr>
              <a:t>tensorflow</a:t>
            </a:r>
            <a:r>
              <a:rPr lang="en-GB" b="0" i="0" u="none" strike="noStrike" dirty="0">
                <a:solidFill>
                  <a:srgbClr val="000000"/>
                </a:solidFill>
                <a:effectLst/>
              </a:rPr>
              <a:t> import </a:t>
            </a:r>
            <a:r>
              <a:rPr lang="en-GB" b="0" i="0" u="none" strike="noStrike" dirty="0" err="1">
                <a:solidFill>
                  <a:srgbClr val="000000"/>
                </a:solidFill>
                <a:effectLst/>
              </a:rPr>
              <a:t>keras</a:t>
            </a:r>
            <a:r>
              <a:rPr lang="en-GB" b="0" i="0" u="none" strike="noStrike" dirty="0">
                <a:solidFill>
                  <a:srgbClr val="000000"/>
                </a:solidFill>
                <a:effectLst/>
              </a:rPr>
              <a:t> from </a:t>
            </a:r>
            <a:r>
              <a:rPr lang="en-GB" b="0" i="0" u="none" strike="noStrike" dirty="0" err="1">
                <a:solidFill>
                  <a:srgbClr val="000000"/>
                </a:solidFill>
                <a:effectLst/>
              </a:rPr>
              <a:t>tensorflow.keras</a:t>
            </a:r>
            <a:r>
              <a:rPr lang="en-GB" b="0" i="0" u="none" strike="noStrike" dirty="0">
                <a:solidFill>
                  <a:srgbClr val="000000"/>
                </a:solidFill>
                <a:effectLst/>
              </a:rPr>
              <a:t> import layers, losses from </a:t>
            </a:r>
            <a:r>
              <a:rPr lang="en-GB" b="0" i="0" u="none" strike="noStrike" dirty="0" err="1">
                <a:solidFill>
                  <a:srgbClr val="000000"/>
                </a:solidFill>
                <a:effectLst/>
              </a:rPr>
              <a:t>tensorflow.keras.models</a:t>
            </a:r>
            <a:r>
              <a:rPr lang="en-GB" b="0" i="0" u="none" strike="noStrike" dirty="0">
                <a:solidFill>
                  <a:srgbClr val="000000"/>
                </a:solidFill>
                <a:effectLst/>
              </a:rPr>
              <a:t> import Model from </a:t>
            </a:r>
            <a:r>
              <a:rPr lang="en-GB" b="0" i="0" u="none" strike="noStrike" dirty="0" err="1">
                <a:solidFill>
                  <a:srgbClr val="000000"/>
                </a:solidFill>
                <a:effectLst/>
              </a:rPr>
              <a:t>keras.datasets</a:t>
            </a:r>
            <a:r>
              <a:rPr lang="en-GB" b="0" i="0" u="none" strike="noStrike" dirty="0">
                <a:solidFill>
                  <a:srgbClr val="000000"/>
                </a:solidFill>
                <a:effectLst/>
              </a:rPr>
              <a:t> import </a:t>
            </a:r>
            <a:r>
              <a:rPr lang="en-GB" b="0" i="0" u="none" strike="noStrike" dirty="0" err="1">
                <a:solidFill>
                  <a:srgbClr val="000000"/>
                </a:solidFill>
                <a:effectLst/>
              </a:rPr>
              <a:t>mnist</a:t>
            </a:r>
            <a:endParaRPr lang="en-US" dirty="0"/>
          </a:p>
        </p:txBody>
      </p:sp>
    </p:spTree>
    <p:extLst>
      <p:ext uri="{BB962C8B-B14F-4D97-AF65-F5344CB8AC3E}">
        <p14:creationId xmlns:p14="http://schemas.microsoft.com/office/powerpoint/2010/main" val="1435316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75D8369-3CAE-1651-9658-B11A58E8494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95DF792-1BF6-BA0D-8974-BE9D5BF03EC8}"/>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fontScale="90000"/>
          </a:bodyPr>
          <a:lstStyle/>
          <a:p>
            <a:pPr algn="l">
              <a:buNone/>
            </a:pPr>
            <a:r>
              <a:rPr lang="en-GB" sz="2400" b="1" i="0" u="none" strike="noStrike" dirty="0">
                <a:solidFill>
                  <a:srgbClr val="7030A0"/>
                </a:solidFill>
                <a:effectLst/>
              </a:rPr>
              <a:t>Creation of a basic autoencoder using </a:t>
            </a:r>
            <a:r>
              <a:rPr lang="en-GB" sz="2400" b="1" i="0" u="none" strike="noStrike" dirty="0" err="1">
                <a:solidFill>
                  <a:srgbClr val="7030A0"/>
                </a:solidFill>
                <a:effectLst/>
              </a:rPr>
              <a:t>Keras</a:t>
            </a:r>
            <a:r>
              <a:rPr lang="en-GB" sz="2400" b="1" i="0" u="none" strike="noStrike" dirty="0">
                <a:solidFill>
                  <a:srgbClr val="7030A0"/>
                </a:solidFill>
                <a:effectLst/>
              </a:rPr>
              <a:t> and TensorFlow</a:t>
            </a: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DBAFC785-709E-D63B-9295-7494E99CFB3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C4F8F124-BDAC-0977-166C-A1A989EE0E81}"/>
              </a:ext>
            </a:extLst>
          </p:cNvPr>
          <p:cNvSpPr txBox="1"/>
          <p:nvPr/>
        </p:nvSpPr>
        <p:spPr>
          <a:xfrm>
            <a:off x="159026" y="637776"/>
            <a:ext cx="7887694" cy="1169551"/>
          </a:xfrm>
          <a:prstGeom prst="rect">
            <a:avLst/>
          </a:prstGeom>
          <a:noFill/>
        </p:spPr>
        <p:txBody>
          <a:bodyPr wrap="square">
            <a:spAutoFit/>
          </a:bodyPr>
          <a:lstStyle/>
          <a:p>
            <a:pPr algn="l">
              <a:buNone/>
            </a:pPr>
            <a:r>
              <a:rPr lang="en-GB" b="1" i="0" u="none" strike="noStrike" dirty="0">
                <a:solidFill>
                  <a:srgbClr val="000000"/>
                </a:solidFill>
                <a:effectLst/>
              </a:rPr>
              <a:t>Step 2: Load the MNIST Dataset</a:t>
            </a:r>
          </a:p>
          <a:p>
            <a:pPr algn="l"/>
            <a:r>
              <a:rPr lang="en-GB" b="0" i="0" u="none" strike="noStrike" dirty="0">
                <a:solidFill>
                  <a:srgbClr val="000000"/>
                </a:solidFill>
                <a:effectLst/>
              </a:rPr>
              <a:t>Next, we'll load the widely used MNIST dataset, which consists of grayscale images of handwritten digits. We'll preprocess the data by normalizing pixel values to a range between 0 and 1 and reshaping the images to include a channel dimension, suitable for our model.</a:t>
            </a:r>
          </a:p>
          <a:p>
            <a:pPr algn="l">
              <a:buNone/>
            </a:pPr>
            <a:endParaRPr lang="en-GB" b="1" dirty="0">
              <a:latin typeface="+mj-lt"/>
            </a:endParaRPr>
          </a:p>
        </p:txBody>
      </p:sp>
      <p:sp>
        <p:nvSpPr>
          <p:cNvPr id="6" name="TextBox 5">
            <a:extLst>
              <a:ext uri="{FF2B5EF4-FFF2-40B4-BE49-F238E27FC236}">
                <a16:creationId xmlns:a16="http://schemas.microsoft.com/office/drawing/2014/main" id="{61462166-31BB-2A9E-11D6-918EA4E4AB2F}"/>
              </a:ext>
            </a:extLst>
          </p:cNvPr>
          <p:cNvSpPr txBox="1"/>
          <p:nvPr/>
        </p:nvSpPr>
        <p:spPr>
          <a:xfrm>
            <a:off x="2228353" y="2012786"/>
            <a:ext cx="4687294" cy="1600438"/>
          </a:xfrm>
          <a:prstGeom prst="rect">
            <a:avLst/>
          </a:prstGeom>
          <a:solidFill>
            <a:schemeClr val="accent6">
              <a:lumMod val="20000"/>
              <a:lumOff val="80000"/>
            </a:schemeClr>
          </a:solidFill>
        </p:spPr>
        <p:txBody>
          <a:bodyPr wrap="square">
            <a:spAutoFit/>
          </a:bodyPr>
          <a:lstStyle/>
          <a:p>
            <a:r>
              <a:rPr lang="en-GB" dirty="0"/>
              <a:t>(</a:t>
            </a:r>
            <a:r>
              <a:rPr lang="en-GB" dirty="0" err="1"/>
              <a:t>x_train</a:t>
            </a:r>
            <a:r>
              <a:rPr lang="en-GB" dirty="0"/>
              <a:t>, _), (</a:t>
            </a:r>
            <a:r>
              <a:rPr lang="en-GB" dirty="0" err="1"/>
              <a:t>x_test</a:t>
            </a:r>
            <a:r>
              <a:rPr lang="en-GB" dirty="0"/>
              <a:t>, _) = </a:t>
            </a:r>
            <a:r>
              <a:rPr lang="en-GB" dirty="0" err="1"/>
              <a:t>mnist.load_data</a:t>
            </a:r>
            <a:r>
              <a:rPr lang="en-GB" dirty="0"/>
              <a:t>() </a:t>
            </a:r>
            <a:r>
              <a:rPr lang="en-GB" dirty="0" err="1"/>
              <a:t>x_train</a:t>
            </a:r>
            <a:r>
              <a:rPr lang="en-GB" dirty="0"/>
              <a:t> = </a:t>
            </a:r>
            <a:r>
              <a:rPr lang="en-GB" dirty="0" err="1"/>
              <a:t>x_train.astype</a:t>
            </a:r>
            <a:r>
              <a:rPr lang="en-GB" dirty="0"/>
              <a:t>('float32') / 255. </a:t>
            </a:r>
            <a:r>
              <a:rPr lang="en-GB" dirty="0" err="1"/>
              <a:t>x_test</a:t>
            </a:r>
            <a:r>
              <a:rPr lang="en-GB" dirty="0"/>
              <a:t> = </a:t>
            </a:r>
            <a:r>
              <a:rPr lang="en-GB" dirty="0" err="1"/>
              <a:t>x_test.astype</a:t>
            </a:r>
            <a:r>
              <a:rPr lang="en-GB" dirty="0"/>
              <a:t>('float32') / 255. </a:t>
            </a:r>
            <a:r>
              <a:rPr lang="en-GB" dirty="0" err="1"/>
              <a:t>x_train</a:t>
            </a:r>
            <a:r>
              <a:rPr lang="en-GB" dirty="0"/>
              <a:t> = </a:t>
            </a:r>
            <a:r>
              <a:rPr lang="en-GB" dirty="0" err="1"/>
              <a:t>np.reshape</a:t>
            </a:r>
            <a:r>
              <a:rPr lang="en-GB" dirty="0"/>
              <a:t>(</a:t>
            </a:r>
            <a:r>
              <a:rPr lang="en-GB" dirty="0" err="1"/>
              <a:t>x_train</a:t>
            </a:r>
            <a:r>
              <a:rPr lang="en-GB" dirty="0"/>
              <a:t>, (</a:t>
            </a:r>
            <a:r>
              <a:rPr lang="en-GB" dirty="0" err="1"/>
              <a:t>len</a:t>
            </a:r>
            <a:r>
              <a:rPr lang="en-GB" dirty="0"/>
              <a:t>(</a:t>
            </a:r>
            <a:r>
              <a:rPr lang="en-GB" dirty="0" err="1"/>
              <a:t>x_train</a:t>
            </a:r>
            <a:r>
              <a:rPr lang="en-GB" dirty="0"/>
              <a:t>), 28, 28, 1)) </a:t>
            </a:r>
            <a:r>
              <a:rPr lang="en-GB" dirty="0" err="1"/>
              <a:t>x_test</a:t>
            </a:r>
            <a:r>
              <a:rPr lang="en-GB" dirty="0"/>
              <a:t> = </a:t>
            </a:r>
            <a:r>
              <a:rPr lang="en-GB" dirty="0" err="1"/>
              <a:t>np.reshape</a:t>
            </a:r>
            <a:r>
              <a:rPr lang="en-GB" dirty="0"/>
              <a:t>(</a:t>
            </a:r>
            <a:r>
              <a:rPr lang="en-GB" dirty="0" err="1"/>
              <a:t>x_test</a:t>
            </a:r>
            <a:r>
              <a:rPr lang="en-GB" dirty="0"/>
              <a:t>, (</a:t>
            </a:r>
            <a:r>
              <a:rPr lang="en-GB" dirty="0" err="1"/>
              <a:t>len</a:t>
            </a:r>
            <a:r>
              <a:rPr lang="en-GB" dirty="0"/>
              <a:t>(</a:t>
            </a:r>
            <a:r>
              <a:rPr lang="en-GB" dirty="0" err="1"/>
              <a:t>x_test</a:t>
            </a:r>
            <a:r>
              <a:rPr lang="en-GB" dirty="0"/>
              <a:t>), 28, 28, 1)) </a:t>
            </a:r>
            <a:br>
              <a:rPr lang="en-GB" dirty="0"/>
            </a:br>
            <a:br>
              <a:rPr lang="en-GB" dirty="0"/>
            </a:br>
            <a:endParaRPr lang="en-US" dirty="0"/>
          </a:p>
        </p:txBody>
      </p:sp>
      <p:sp>
        <p:nvSpPr>
          <p:cNvPr id="8" name="TextBox 7">
            <a:extLst>
              <a:ext uri="{FF2B5EF4-FFF2-40B4-BE49-F238E27FC236}">
                <a16:creationId xmlns:a16="http://schemas.microsoft.com/office/drawing/2014/main" id="{1BD63F3C-9CB7-AF95-D352-340B61E8046F}"/>
              </a:ext>
            </a:extLst>
          </p:cNvPr>
          <p:cNvSpPr txBox="1"/>
          <p:nvPr/>
        </p:nvSpPr>
        <p:spPr>
          <a:xfrm>
            <a:off x="2228353" y="3910176"/>
            <a:ext cx="4687294" cy="523220"/>
          </a:xfrm>
          <a:prstGeom prst="rect">
            <a:avLst/>
          </a:prstGeom>
          <a:noFill/>
        </p:spPr>
        <p:txBody>
          <a:bodyPr wrap="square">
            <a:spAutoFit/>
          </a:bodyPr>
          <a:lstStyle/>
          <a:p>
            <a:r>
              <a:rPr lang="en-GB" b="0" i="0" u="none" strike="noStrike" dirty="0">
                <a:solidFill>
                  <a:srgbClr val="000000"/>
                </a:solidFill>
                <a:effectLst/>
              </a:rPr>
              <a:t>Output: Shape of the training data: (60000, 28, 28) Shape of the testing data: (10000, 28, 28)</a:t>
            </a:r>
            <a:endParaRPr lang="en-US" dirty="0"/>
          </a:p>
        </p:txBody>
      </p:sp>
      <p:sp>
        <p:nvSpPr>
          <p:cNvPr id="9" name="TextBox 8">
            <a:extLst>
              <a:ext uri="{FF2B5EF4-FFF2-40B4-BE49-F238E27FC236}">
                <a16:creationId xmlns:a16="http://schemas.microsoft.com/office/drawing/2014/main" id="{26C38562-BDB8-ADA6-E082-E308D13C7D94}"/>
              </a:ext>
            </a:extLst>
          </p:cNvPr>
          <p:cNvSpPr txBox="1"/>
          <p:nvPr/>
        </p:nvSpPr>
        <p:spPr>
          <a:xfrm>
            <a:off x="2316810" y="3570404"/>
            <a:ext cx="1288111" cy="307777"/>
          </a:xfrm>
          <a:prstGeom prst="rect">
            <a:avLst/>
          </a:prstGeom>
          <a:noFill/>
        </p:spPr>
        <p:txBody>
          <a:bodyPr wrap="square" rtlCol="0">
            <a:spAutoFit/>
          </a:bodyPr>
          <a:lstStyle/>
          <a:p>
            <a:r>
              <a:rPr lang="en-US" b="1" dirty="0"/>
              <a:t>OUTPUT</a:t>
            </a:r>
          </a:p>
        </p:txBody>
      </p:sp>
    </p:spTree>
    <p:extLst>
      <p:ext uri="{BB962C8B-B14F-4D97-AF65-F5344CB8AC3E}">
        <p14:creationId xmlns:p14="http://schemas.microsoft.com/office/powerpoint/2010/main" val="4282956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9373852-029E-78F2-2E44-F4B6AE0D631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7DE7C0F-3A37-9439-5986-8476593F3F86}"/>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fontScale="90000"/>
          </a:bodyPr>
          <a:lstStyle/>
          <a:p>
            <a:pPr algn="l">
              <a:buNone/>
            </a:pPr>
            <a:r>
              <a:rPr lang="en-GB" sz="2400" b="1" i="0" u="none" strike="noStrike" dirty="0">
                <a:solidFill>
                  <a:srgbClr val="7030A0"/>
                </a:solidFill>
                <a:effectLst/>
              </a:rPr>
              <a:t>Creation of a basic autoencoder using </a:t>
            </a:r>
            <a:r>
              <a:rPr lang="en-GB" sz="2400" b="1" i="0" u="none" strike="noStrike" dirty="0" err="1">
                <a:solidFill>
                  <a:srgbClr val="7030A0"/>
                </a:solidFill>
                <a:effectLst/>
              </a:rPr>
              <a:t>Keras</a:t>
            </a:r>
            <a:r>
              <a:rPr lang="en-GB" sz="2400" b="1" i="0" u="none" strike="noStrike" dirty="0">
                <a:solidFill>
                  <a:srgbClr val="7030A0"/>
                </a:solidFill>
                <a:effectLst/>
              </a:rPr>
              <a:t> and TensorFlow</a:t>
            </a: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2ABA5CC6-F2A0-D585-B1A0-A676FDC0B49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7F8848A-CF87-35C4-52BC-790B656996FB}"/>
              </a:ext>
            </a:extLst>
          </p:cNvPr>
          <p:cNvSpPr txBox="1"/>
          <p:nvPr/>
        </p:nvSpPr>
        <p:spPr>
          <a:xfrm>
            <a:off x="159026" y="637776"/>
            <a:ext cx="7887694" cy="2246769"/>
          </a:xfrm>
          <a:prstGeom prst="rect">
            <a:avLst/>
          </a:prstGeom>
          <a:noFill/>
        </p:spPr>
        <p:txBody>
          <a:bodyPr wrap="square">
            <a:spAutoFit/>
          </a:bodyPr>
          <a:lstStyle/>
          <a:p>
            <a:pPr algn="l">
              <a:buNone/>
            </a:pPr>
            <a:r>
              <a:rPr lang="en-GB" b="1" i="0" u="none" strike="noStrike" dirty="0">
                <a:solidFill>
                  <a:srgbClr val="000000"/>
                </a:solidFill>
                <a:effectLst/>
              </a:rPr>
              <a:t>Step 3: Define a Basic Autoencoder</a:t>
            </a:r>
          </a:p>
          <a:p>
            <a:pPr algn="l">
              <a:buNone/>
            </a:pPr>
            <a:r>
              <a:rPr lang="en-GB" b="0" i="0" u="none" strike="noStrike" dirty="0">
                <a:solidFill>
                  <a:srgbClr val="000000"/>
                </a:solidFill>
                <a:effectLst/>
              </a:rPr>
              <a:t>We define a custom </a:t>
            </a:r>
            <a:r>
              <a:rPr lang="en-GB" b="0" i="0" u="none" strike="noStrike" dirty="0" err="1">
                <a:solidFill>
                  <a:srgbClr val="000000"/>
                </a:solidFill>
                <a:effectLst/>
              </a:rPr>
              <a:t>SimpleAutoencoder</a:t>
            </a:r>
            <a:r>
              <a:rPr lang="en-GB" b="0" i="0" u="none" strike="noStrike" dirty="0">
                <a:solidFill>
                  <a:srgbClr val="000000"/>
                </a:solidFill>
                <a:effectLst/>
              </a:rPr>
              <a:t> class, inheriting from </a:t>
            </a:r>
            <a:r>
              <a:rPr lang="en-GB" b="0" i="0" u="none" strike="noStrike" dirty="0" err="1">
                <a:solidFill>
                  <a:srgbClr val="000000"/>
                </a:solidFill>
                <a:effectLst/>
              </a:rPr>
              <a:t>tf.keras.Model</a:t>
            </a:r>
            <a:r>
              <a:rPr lang="en-GB" b="0" i="0" u="none" strike="noStrike" dirty="0">
                <a:solidFill>
                  <a:srgbClr val="000000"/>
                </a:solidFill>
                <a:effectLst/>
              </a:rPr>
              <a:t>.</a:t>
            </a:r>
          </a:p>
          <a:p>
            <a:pPr marL="342900" indent="-342900" algn="l">
              <a:buFont typeface="+mj-lt"/>
              <a:buAutoNum type="alphaLcPeriod"/>
            </a:pPr>
            <a:r>
              <a:rPr lang="en-GB" b="0" i="0" u="none" strike="noStrike" dirty="0">
                <a:solidFill>
                  <a:srgbClr val="000000"/>
                </a:solidFill>
                <a:effectLst/>
              </a:rPr>
              <a:t>The constructor initializes the autoencoder, taking </a:t>
            </a:r>
            <a:r>
              <a:rPr lang="en-GB" b="0" i="0" u="none" strike="noStrike" dirty="0" err="1">
                <a:solidFill>
                  <a:srgbClr val="000000"/>
                </a:solidFill>
                <a:effectLst/>
              </a:rPr>
              <a:t>latent_dimensions</a:t>
            </a:r>
            <a:r>
              <a:rPr lang="en-GB" b="0" i="0" u="none" strike="noStrike" dirty="0">
                <a:solidFill>
                  <a:srgbClr val="000000"/>
                </a:solidFill>
                <a:effectLst/>
              </a:rPr>
              <a:t> as an argument.</a:t>
            </a:r>
          </a:p>
          <a:p>
            <a:pPr marL="342900" indent="-342900" algn="l">
              <a:buFont typeface="+mj-lt"/>
              <a:buAutoNum type="alphaLcPeriod"/>
            </a:pPr>
            <a:r>
              <a:rPr lang="en-GB" b="0" i="0" u="none" strike="noStrike" dirty="0">
                <a:solidFill>
                  <a:srgbClr val="000000"/>
                </a:solidFill>
                <a:effectLst/>
              </a:rPr>
              <a:t>It sets up the encoder and decoder architectures using </a:t>
            </a:r>
            <a:r>
              <a:rPr lang="en-GB" b="0" i="0" u="none" strike="noStrike" dirty="0" err="1">
                <a:solidFill>
                  <a:srgbClr val="000000"/>
                </a:solidFill>
                <a:effectLst/>
              </a:rPr>
              <a:t>tf.keras.Sequential</a:t>
            </a:r>
            <a:r>
              <a:rPr lang="en-GB" b="0" i="0" u="none" strike="noStrike" dirty="0">
                <a:solidFill>
                  <a:srgbClr val="000000"/>
                </a:solidFill>
                <a:effectLst/>
              </a:rPr>
              <a:t> models. The encoder flattens the input image and maps it to the latent space. The decoder reshapes the latent vector back into an image-like structure.</a:t>
            </a:r>
          </a:p>
          <a:p>
            <a:pPr marL="342900" indent="-342900" algn="l">
              <a:buFont typeface="+mj-lt"/>
              <a:buAutoNum type="alphaLcPeriod"/>
            </a:pPr>
            <a:r>
              <a:rPr lang="en-GB" b="0" i="0" u="none" strike="noStrike" dirty="0">
                <a:solidFill>
                  <a:srgbClr val="000000"/>
                </a:solidFill>
                <a:effectLst/>
              </a:rPr>
              <a:t>The call method describes the forward pass: input data is first processed by the encoder to yield an encoded representation, which is then fed through the decoder to produce the reconstructed output.</a:t>
            </a:r>
          </a:p>
          <a:p>
            <a:pPr algn="l">
              <a:buNone/>
            </a:pPr>
            <a:endParaRPr lang="en-GB" b="1" dirty="0">
              <a:latin typeface="+mj-lt"/>
            </a:endParaRPr>
          </a:p>
        </p:txBody>
      </p:sp>
      <p:sp>
        <p:nvSpPr>
          <p:cNvPr id="6" name="TextBox 5">
            <a:extLst>
              <a:ext uri="{FF2B5EF4-FFF2-40B4-BE49-F238E27FC236}">
                <a16:creationId xmlns:a16="http://schemas.microsoft.com/office/drawing/2014/main" id="{EFDE967E-784B-9AD5-880D-FCF4879AB68D}"/>
              </a:ext>
            </a:extLst>
          </p:cNvPr>
          <p:cNvSpPr txBox="1"/>
          <p:nvPr/>
        </p:nvSpPr>
        <p:spPr>
          <a:xfrm>
            <a:off x="2349775" y="2465844"/>
            <a:ext cx="6476173" cy="2677656"/>
          </a:xfrm>
          <a:prstGeom prst="rect">
            <a:avLst/>
          </a:prstGeom>
          <a:solidFill>
            <a:schemeClr val="accent6">
              <a:lumMod val="20000"/>
              <a:lumOff val="80000"/>
            </a:schemeClr>
          </a:solidFill>
        </p:spPr>
        <p:txBody>
          <a:bodyPr wrap="square">
            <a:spAutoFit/>
          </a:bodyPr>
          <a:lstStyle/>
          <a:p>
            <a:r>
              <a:rPr lang="en-GB" b="0" i="0" u="none" strike="noStrike" dirty="0">
                <a:solidFill>
                  <a:srgbClr val="000000"/>
                </a:solidFill>
                <a:effectLst/>
                <a:latin typeface="-webkit-standard"/>
              </a:rPr>
              <a:t>class </a:t>
            </a:r>
            <a:r>
              <a:rPr lang="en-GB" b="0" i="0" u="none" strike="noStrike" dirty="0" err="1">
                <a:solidFill>
                  <a:srgbClr val="000000"/>
                </a:solidFill>
                <a:effectLst/>
                <a:latin typeface="-webkit-standard"/>
              </a:rPr>
              <a:t>SimpleAutoencoder</a:t>
            </a:r>
            <a:r>
              <a:rPr lang="en-GB" b="0" i="0" u="none" strike="noStrike" dirty="0">
                <a:solidFill>
                  <a:srgbClr val="000000"/>
                </a:solidFill>
                <a:effectLst/>
                <a:latin typeface="-webkit-standard"/>
              </a:rPr>
              <a:t>(Model):</a:t>
            </a:r>
          </a:p>
          <a:p>
            <a:r>
              <a:rPr lang="en-GB" b="0" i="0" u="none" strike="noStrike" dirty="0">
                <a:solidFill>
                  <a:srgbClr val="000000"/>
                </a:solidFill>
                <a:effectLst/>
                <a:latin typeface="-webkit-standard"/>
              </a:rPr>
              <a:t> def __</a:t>
            </a:r>
            <a:r>
              <a:rPr lang="en-GB" b="0" i="0" u="none" strike="noStrike" dirty="0" err="1">
                <a:solidFill>
                  <a:srgbClr val="000000"/>
                </a:solidFill>
                <a:effectLst/>
                <a:latin typeface="-webkit-standard"/>
              </a:rPr>
              <a:t>init</a:t>
            </a:r>
            <a:r>
              <a:rPr lang="en-GB" b="0" i="0" u="none" strike="noStrike" dirty="0">
                <a:solidFill>
                  <a:srgbClr val="000000"/>
                </a:solidFill>
                <a:effectLst/>
                <a:latin typeface="-webkit-standard"/>
              </a:rPr>
              <a:t>__(self, </a:t>
            </a:r>
            <a:r>
              <a:rPr lang="en-GB" b="0" i="0" u="none" strike="noStrike" dirty="0" err="1">
                <a:solidFill>
                  <a:srgbClr val="000000"/>
                </a:solidFill>
                <a:effectLst/>
                <a:latin typeface="-webkit-standard"/>
              </a:rPr>
              <a:t>latent_dimensions</a:t>
            </a:r>
            <a:r>
              <a:rPr lang="en-GB" b="0" i="0" u="none" strike="noStrike" dirty="0">
                <a:solidFill>
                  <a:srgbClr val="000000"/>
                </a:solidFill>
                <a:effectLst/>
                <a:latin typeface="-webkit-standard"/>
              </a:rPr>
              <a:t>): </a:t>
            </a:r>
          </a:p>
          <a:p>
            <a:r>
              <a:rPr lang="en-GB" b="0" i="0" u="none" strike="noStrike" dirty="0">
                <a:solidFill>
                  <a:srgbClr val="000000"/>
                </a:solidFill>
                <a:effectLst/>
                <a:latin typeface="-webkit-standard"/>
              </a:rPr>
              <a:t>super(</a:t>
            </a:r>
            <a:r>
              <a:rPr lang="en-GB" b="0" i="0" u="none" strike="noStrike" dirty="0" err="1">
                <a:solidFill>
                  <a:srgbClr val="000000"/>
                </a:solidFill>
                <a:effectLst/>
                <a:latin typeface="-webkit-standard"/>
              </a:rPr>
              <a:t>SimpleAutoencoder</a:t>
            </a:r>
            <a:r>
              <a:rPr lang="en-GB" b="0" i="0" u="none" strike="noStrike" dirty="0">
                <a:solidFill>
                  <a:srgbClr val="000000"/>
                </a:solidFill>
                <a:effectLst/>
                <a:latin typeface="-webkit-standard"/>
              </a:rPr>
              <a:t>, self).__</a:t>
            </a:r>
            <a:r>
              <a:rPr lang="en-GB" b="0" i="0" u="none" strike="noStrike" dirty="0" err="1">
                <a:solidFill>
                  <a:srgbClr val="000000"/>
                </a:solidFill>
                <a:effectLst/>
                <a:latin typeface="-webkit-standard"/>
              </a:rPr>
              <a:t>init</a:t>
            </a:r>
            <a:r>
              <a:rPr lang="en-GB" b="0" i="0" u="none" strike="noStrike" dirty="0">
                <a:solidFill>
                  <a:srgbClr val="000000"/>
                </a:solidFill>
                <a:effectLst/>
                <a:latin typeface="-webkit-standard"/>
              </a:rPr>
              <a:t>__() </a:t>
            </a:r>
          </a:p>
          <a:p>
            <a:r>
              <a:rPr lang="en-GB" b="0" i="0" u="none" strike="noStrike" dirty="0" err="1">
                <a:solidFill>
                  <a:srgbClr val="000000"/>
                </a:solidFill>
                <a:effectLst/>
                <a:latin typeface="-webkit-standard"/>
              </a:rPr>
              <a:t>self.encoder</a:t>
            </a:r>
            <a:r>
              <a:rPr lang="en-GB" b="0" i="0" u="none" strike="noStrike" dirty="0">
                <a:solidFill>
                  <a:srgbClr val="000000"/>
                </a:solidFill>
                <a:effectLst/>
                <a:latin typeface="-webkit-standard"/>
              </a:rPr>
              <a:t> = </a:t>
            </a:r>
            <a:r>
              <a:rPr lang="en-GB" b="0" i="0" u="none" strike="noStrike" dirty="0" err="1">
                <a:solidFill>
                  <a:srgbClr val="000000"/>
                </a:solidFill>
                <a:effectLst/>
                <a:latin typeface="-webkit-standard"/>
              </a:rPr>
              <a:t>tf.keras.Sequential</a:t>
            </a:r>
            <a:r>
              <a:rPr lang="en-GB" b="0" i="0" u="none" strike="noStrike" dirty="0">
                <a:solidFill>
                  <a:srgbClr val="000000"/>
                </a:solidFill>
                <a:effectLst/>
                <a:latin typeface="-webkit-standard"/>
              </a:rPr>
              <a:t>([ </a:t>
            </a:r>
            <a:r>
              <a:rPr lang="en-GB" b="0" i="0" u="none" strike="noStrike" dirty="0" err="1">
                <a:solidFill>
                  <a:srgbClr val="000000"/>
                </a:solidFill>
                <a:effectLst/>
                <a:latin typeface="-webkit-standard"/>
              </a:rPr>
              <a:t>layers.Input</a:t>
            </a:r>
            <a:r>
              <a:rPr lang="en-GB" b="0" i="0" u="none" strike="noStrike" dirty="0">
                <a:solidFill>
                  <a:srgbClr val="000000"/>
                </a:solidFill>
                <a:effectLst/>
                <a:latin typeface="-webkit-standard"/>
              </a:rPr>
              <a:t>(shape=(28, 28, 1)), </a:t>
            </a:r>
            <a:r>
              <a:rPr lang="en-GB" b="0" i="0" u="none" strike="noStrike" dirty="0" err="1">
                <a:solidFill>
                  <a:srgbClr val="000000"/>
                </a:solidFill>
                <a:effectLst/>
                <a:latin typeface="-webkit-standard"/>
              </a:rPr>
              <a:t>layers.Flatten</a:t>
            </a:r>
            <a:r>
              <a:rPr lang="en-GB" b="0" i="0" u="none" strike="noStrike" dirty="0">
                <a:solidFill>
                  <a:srgbClr val="000000"/>
                </a:solidFill>
                <a:effectLst/>
                <a:latin typeface="-webkit-standard"/>
              </a:rPr>
              <a:t>(), </a:t>
            </a:r>
            <a:r>
              <a:rPr lang="en-GB" b="0" i="0" u="none" strike="noStrike" dirty="0" err="1">
                <a:solidFill>
                  <a:srgbClr val="000000"/>
                </a:solidFill>
                <a:effectLst/>
                <a:latin typeface="-webkit-standard"/>
              </a:rPr>
              <a:t>layers.Dense</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latent_dimensions</a:t>
            </a:r>
            <a:r>
              <a:rPr lang="en-GB" b="0" i="0" u="none" strike="noStrike" dirty="0">
                <a:solidFill>
                  <a:srgbClr val="000000"/>
                </a:solidFill>
                <a:effectLst/>
                <a:latin typeface="-webkit-standard"/>
              </a:rPr>
              <a:t>, activation='</a:t>
            </a:r>
            <a:r>
              <a:rPr lang="en-GB" b="0" i="0" u="none" strike="noStrike" dirty="0" err="1">
                <a:solidFill>
                  <a:srgbClr val="000000"/>
                </a:solidFill>
                <a:effectLst/>
                <a:latin typeface="-webkit-standard"/>
              </a:rPr>
              <a:t>relu</a:t>
            </a:r>
            <a:r>
              <a:rPr lang="en-GB" b="0" i="0" u="none" strike="noStrike" dirty="0">
                <a:solidFill>
                  <a:srgbClr val="000000"/>
                </a:solidFill>
                <a:effectLst/>
                <a:latin typeface="-webkit-standard"/>
              </a:rPr>
              <a:t>'), ])</a:t>
            </a:r>
          </a:p>
          <a:p>
            <a:r>
              <a:rPr lang="en-GB" b="0" i="0" u="none" strike="noStrike" dirty="0">
                <a:solidFill>
                  <a:srgbClr val="000000"/>
                </a:solidFill>
                <a:effectLst/>
                <a:latin typeface="-webkit-standard"/>
              </a:rPr>
              <a:t> </a:t>
            </a:r>
            <a:r>
              <a:rPr lang="en-GB" b="0" i="0" u="none" strike="noStrike" dirty="0" err="1">
                <a:solidFill>
                  <a:srgbClr val="000000"/>
                </a:solidFill>
                <a:effectLst/>
                <a:latin typeface="-webkit-standard"/>
              </a:rPr>
              <a:t>self.decoder</a:t>
            </a:r>
            <a:r>
              <a:rPr lang="en-GB" b="0" i="0" u="none" strike="noStrike" dirty="0">
                <a:solidFill>
                  <a:srgbClr val="000000"/>
                </a:solidFill>
                <a:effectLst/>
                <a:latin typeface="-webkit-standard"/>
              </a:rPr>
              <a:t> = </a:t>
            </a:r>
            <a:r>
              <a:rPr lang="en-GB" b="0" i="0" u="none" strike="noStrike" dirty="0" err="1">
                <a:solidFill>
                  <a:srgbClr val="000000"/>
                </a:solidFill>
                <a:effectLst/>
                <a:latin typeface="-webkit-standard"/>
              </a:rPr>
              <a:t>tf.keras.Sequential</a:t>
            </a:r>
            <a:r>
              <a:rPr lang="en-GB" b="0" i="0" u="none" strike="noStrike" dirty="0">
                <a:solidFill>
                  <a:srgbClr val="000000"/>
                </a:solidFill>
                <a:effectLst/>
                <a:latin typeface="-webkit-standard"/>
              </a:rPr>
              <a:t>([ </a:t>
            </a:r>
            <a:r>
              <a:rPr lang="en-GB" b="0" i="0" u="none" strike="noStrike" dirty="0" err="1">
                <a:solidFill>
                  <a:srgbClr val="000000"/>
                </a:solidFill>
                <a:effectLst/>
                <a:latin typeface="-webkit-standard"/>
              </a:rPr>
              <a:t>layers.Dense</a:t>
            </a:r>
            <a:r>
              <a:rPr lang="en-GB" b="0" i="0" u="none" strike="noStrike" dirty="0">
                <a:solidFill>
                  <a:srgbClr val="000000"/>
                </a:solidFill>
                <a:effectLst/>
                <a:latin typeface="-webkit-standard"/>
              </a:rPr>
              <a:t>(28 * 28, activation='sigmoid'), </a:t>
            </a:r>
            <a:r>
              <a:rPr lang="en-GB" b="0" i="0" u="none" strike="noStrike" dirty="0" err="1">
                <a:solidFill>
                  <a:srgbClr val="000000"/>
                </a:solidFill>
                <a:effectLst/>
                <a:latin typeface="-webkit-standard"/>
              </a:rPr>
              <a:t>layers.Reshape</a:t>
            </a:r>
            <a:r>
              <a:rPr lang="en-GB" b="0" i="0" u="none" strike="noStrike" dirty="0">
                <a:solidFill>
                  <a:srgbClr val="000000"/>
                </a:solidFill>
                <a:effectLst/>
                <a:latin typeface="-webkit-standard"/>
              </a:rPr>
              <a:t>((28, 28, 1)) ]) </a:t>
            </a:r>
          </a:p>
          <a:p>
            <a:r>
              <a:rPr lang="en-GB" b="0" i="0" u="none" strike="noStrike" dirty="0">
                <a:solidFill>
                  <a:srgbClr val="000000"/>
                </a:solidFill>
                <a:effectLst/>
                <a:latin typeface="-webkit-standard"/>
              </a:rPr>
              <a:t>def call(self, </a:t>
            </a:r>
            <a:r>
              <a:rPr lang="en-GB" b="0" i="0" u="none" strike="noStrike" dirty="0" err="1">
                <a:solidFill>
                  <a:srgbClr val="000000"/>
                </a:solidFill>
                <a:effectLst/>
                <a:latin typeface="-webkit-standard"/>
              </a:rPr>
              <a:t>input_data</a:t>
            </a:r>
            <a:r>
              <a:rPr lang="en-GB" b="0" i="0" u="none" strike="noStrike" dirty="0">
                <a:solidFill>
                  <a:srgbClr val="000000"/>
                </a:solidFill>
                <a:effectLst/>
                <a:latin typeface="-webkit-standard"/>
              </a:rPr>
              <a:t>): </a:t>
            </a:r>
          </a:p>
          <a:p>
            <a:r>
              <a:rPr lang="en-GB" b="0" i="0" u="none" strike="noStrike" dirty="0">
                <a:solidFill>
                  <a:srgbClr val="000000"/>
                </a:solidFill>
                <a:effectLst/>
                <a:latin typeface="-webkit-standard"/>
              </a:rPr>
              <a:t>encoded = </a:t>
            </a:r>
            <a:r>
              <a:rPr lang="en-GB" b="0" i="0" u="none" strike="noStrike" dirty="0" err="1">
                <a:solidFill>
                  <a:srgbClr val="000000"/>
                </a:solidFill>
                <a:effectLst/>
                <a:latin typeface="-webkit-standard"/>
              </a:rPr>
              <a:t>self.encoder</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input_data</a:t>
            </a:r>
            <a:r>
              <a:rPr lang="en-GB" b="0" i="0" u="none" strike="noStrike" dirty="0">
                <a:solidFill>
                  <a:srgbClr val="000000"/>
                </a:solidFill>
                <a:effectLst/>
                <a:latin typeface="-webkit-standard"/>
              </a:rPr>
              <a:t>) </a:t>
            </a:r>
          </a:p>
          <a:p>
            <a:r>
              <a:rPr lang="en-GB" b="0" i="0" u="none" strike="noStrike" dirty="0">
                <a:solidFill>
                  <a:srgbClr val="000000"/>
                </a:solidFill>
                <a:effectLst/>
                <a:latin typeface="-webkit-standard"/>
              </a:rPr>
              <a:t>decoded = </a:t>
            </a:r>
            <a:r>
              <a:rPr lang="en-GB" b="0" i="0" u="none" strike="noStrike" dirty="0" err="1">
                <a:solidFill>
                  <a:srgbClr val="000000"/>
                </a:solidFill>
                <a:effectLst/>
                <a:latin typeface="-webkit-standard"/>
              </a:rPr>
              <a:t>self.decoder</a:t>
            </a:r>
            <a:r>
              <a:rPr lang="en-GB" b="0" i="0" u="none" strike="noStrike" dirty="0">
                <a:solidFill>
                  <a:srgbClr val="000000"/>
                </a:solidFill>
                <a:effectLst/>
                <a:latin typeface="-webkit-standard"/>
              </a:rPr>
              <a:t>(encoded) </a:t>
            </a:r>
          </a:p>
          <a:p>
            <a:r>
              <a:rPr lang="en-GB" b="0" i="0" u="none" strike="noStrike" dirty="0">
                <a:solidFill>
                  <a:srgbClr val="000000"/>
                </a:solidFill>
                <a:effectLst/>
                <a:latin typeface="-webkit-standard"/>
              </a:rPr>
              <a:t>return decoded</a:t>
            </a:r>
            <a:br>
              <a:rPr lang="en-GB" dirty="0"/>
            </a:br>
            <a:endParaRPr lang="en-US" dirty="0"/>
          </a:p>
        </p:txBody>
      </p:sp>
    </p:spTree>
    <p:extLst>
      <p:ext uri="{BB962C8B-B14F-4D97-AF65-F5344CB8AC3E}">
        <p14:creationId xmlns:p14="http://schemas.microsoft.com/office/powerpoint/2010/main" val="1479605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49D53ED-D3EA-EA4E-0738-3F381757EF7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554937D-DFF3-9D93-FF74-4B700089F7A0}"/>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fontScale="90000"/>
          </a:bodyPr>
          <a:lstStyle/>
          <a:p>
            <a:pPr algn="l">
              <a:buNone/>
            </a:pPr>
            <a:r>
              <a:rPr lang="en-GB" sz="2400" b="1" i="0" u="none" strike="noStrike" dirty="0">
                <a:solidFill>
                  <a:srgbClr val="7030A0"/>
                </a:solidFill>
                <a:effectLst/>
              </a:rPr>
              <a:t>Creation of a basic autoencoder using </a:t>
            </a:r>
            <a:r>
              <a:rPr lang="en-GB" sz="2400" b="1" i="0" u="none" strike="noStrike" dirty="0" err="1">
                <a:solidFill>
                  <a:srgbClr val="7030A0"/>
                </a:solidFill>
                <a:effectLst/>
              </a:rPr>
              <a:t>Keras</a:t>
            </a:r>
            <a:r>
              <a:rPr lang="en-GB" sz="2400" b="1" i="0" u="none" strike="noStrike" dirty="0">
                <a:solidFill>
                  <a:srgbClr val="7030A0"/>
                </a:solidFill>
                <a:effectLst/>
              </a:rPr>
              <a:t> and TensorFlow</a:t>
            </a: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2F9874B-A3D3-4470-C260-0FCC02F445B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B36A9AAE-09F8-9FAB-3EB6-7EEDDD67E041}"/>
              </a:ext>
            </a:extLst>
          </p:cNvPr>
          <p:cNvSpPr txBox="1"/>
          <p:nvPr/>
        </p:nvSpPr>
        <p:spPr>
          <a:xfrm>
            <a:off x="159026" y="637776"/>
            <a:ext cx="7887694" cy="1600438"/>
          </a:xfrm>
          <a:prstGeom prst="rect">
            <a:avLst/>
          </a:prstGeom>
          <a:noFill/>
        </p:spPr>
        <p:txBody>
          <a:bodyPr wrap="square">
            <a:spAutoFit/>
          </a:bodyPr>
          <a:lstStyle/>
          <a:p>
            <a:pPr algn="l">
              <a:buNone/>
            </a:pPr>
            <a:r>
              <a:rPr lang="en-GB" b="1" i="0" u="none" strike="noStrike" dirty="0">
                <a:solidFill>
                  <a:srgbClr val="000000"/>
                </a:solidFill>
                <a:effectLst/>
              </a:rPr>
              <a:t>Step 4: Compiling and Fitting the Autoencoder</a:t>
            </a:r>
          </a:p>
          <a:p>
            <a:pPr algn="l"/>
            <a:r>
              <a:rPr lang="en-GB" b="0" i="0" u="none" strike="noStrike" dirty="0">
                <a:solidFill>
                  <a:srgbClr val="000000"/>
                </a:solidFill>
                <a:effectLst/>
              </a:rPr>
              <a:t>Here, we instantiate our </a:t>
            </a:r>
            <a:r>
              <a:rPr lang="en-GB" b="0" i="0" u="none" strike="noStrike" dirty="0" err="1">
                <a:solidFill>
                  <a:srgbClr val="000000"/>
                </a:solidFill>
                <a:effectLst/>
              </a:rPr>
              <a:t>SimpleAutoencoder</a:t>
            </a:r>
            <a:r>
              <a:rPr lang="en-GB" b="0" i="0" u="none" strike="noStrike" dirty="0">
                <a:solidFill>
                  <a:srgbClr val="000000"/>
                </a:solidFill>
                <a:effectLst/>
              </a:rPr>
              <a:t> with a latent dimension of 64. We then compile the model, specifying the Adam optimizer and Mean Squared Error (MSE) as the loss function, as our goal is to minimize the difference between original and reconstructed images. Finally, we train the autoencoder on the MNIST training data, using the training data itself as both input and target, and validate its performance on the test set.</a:t>
            </a:r>
          </a:p>
          <a:p>
            <a:pPr algn="l">
              <a:buNone/>
            </a:pPr>
            <a:endParaRPr lang="en-GB" b="1" dirty="0">
              <a:latin typeface="+mj-lt"/>
            </a:endParaRPr>
          </a:p>
        </p:txBody>
      </p:sp>
      <p:sp>
        <p:nvSpPr>
          <p:cNvPr id="5" name="TextBox 4">
            <a:extLst>
              <a:ext uri="{FF2B5EF4-FFF2-40B4-BE49-F238E27FC236}">
                <a16:creationId xmlns:a16="http://schemas.microsoft.com/office/drawing/2014/main" id="{7C1663BE-49A5-85AC-96AE-5990BE51C4F9}"/>
              </a:ext>
            </a:extLst>
          </p:cNvPr>
          <p:cNvSpPr txBox="1"/>
          <p:nvPr/>
        </p:nvSpPr>
        <p:spPr>
          <a:xfrm>
            <a:off x="0" y="2095327"/>
            <a:ext cx="4516341" cy="1384995"/>
          </a:xfrm>
          <a:prstGeom prst="rect">
            <a:avLst/>
          </a:prstGeom>
          <a:solidFill>
            <a:schemeClr val="accent6">
              <a:lumMod val="20000"/>
              <a:lumOff val="80000"/>
            </a:schemeClr>
          </a:solidFill>
        </p:spPr>
        <p:txBody>
          <a:bodyPr wrap="square">
            <a:spAutoFit/>
          </a:bodyPr>
          <a:lstStyle/>
          <a:p>
            <a:r>
              <a:rPr lang="en-GB" b="0" i="0" u="none" strike="noStrike" dirty="0" err="1">
                <a:solidFill>
                  <a:srgbClr val="000000"/>
                </a:solidFill>
                <a:effectLst/>
                <a:latin typeface="-webkit-standard"/>
              </a:rPr>
              <a:t>latent_dimensions</a:t>
            </a:r>
            <a:r>
              <a:rPr lang="en-GB" b="0" i="0" u="none" strike="noStrike" dirty="0">
                <a:solidFill>
                  <a:srgbClr val="000000"/>
                </a:solidFill>
                <a:effectLst/>
                <a:latin typeface="-webkit-standard"/>
              </a:rPr>
              <a:t> = 64 </a:t>
            </a:r>
          </a:p>
          <a:p>
            <a:r>
              <a:rPr lang="en-GB" b="0" i="0" u="none" strike="noStrike" dirty="0">
                <a:solidFill>
                  <a:srgbClr val="000000"/>
                </a:solidFill>
                <a:effectLst/>
                <a:latin typeface="-webkit-standard"/>
              </a:rPr>
              <a:t>autoencoder = </a:t>
            </a:r>
            <a:r>
              <a:rPr lang="en-GB" b="0" i="0" u="none" strike="noStrike" dirty="0" err="1">
                <a:solidFill>
                  <a:srgbClr val="000000"/>
                </a:solidFill>
                <a:effectLst/>
                <a:latin typeface="-webkit-standard"/>
              </a:rPr>
              <a:t>SimpleAutoencoder</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latent_dimensions</a:t>
            </a:r>
            <a:r>
              <a:rPr lang="en-GB" b="0" i="0" u="none" strike="noStrike" dirty="0">
                <a:solidFill>
                  <a:srgbClr val="000000"/>
                </a:solidFill>
                <a:effectLst/>
                <a:latin typeface="-webkit-standard"/>
              </a:rPr>
              <a:t>) </a:t>
            </a:r>
            <a:r>
              <a:rPr lang="en-GB" b="0" i="0" u="none" strike="noStrike" dirty="0" err="1">
                <a:solidFill>
                  <a:srgbClr val="000000"/>
                </a:solidFill>
                <a:effectLst/>
                <a:latin typeface="-webkit-standard"/>
              </a:rPr>
              <a:t>autoencoder.compile</a:t>
            </a:r>
            <a:r>
              <a:rPr lang="en-GB" b="0" i="0" u="none" strike="noStrike" dirty="0">
                <a:solidFill>
                  <a:srgbClr val="000000"/>
                </a:solidFill>
                <a:effectLst/>
                <a:latin typeface="-webkit-standard"/>
              </a:rPr>
              <a:t>(optimizer='</a:t>
            </a:r>
            <a:r>
              <a:rPr lang="en-GB" b="0" i="0" u="none" strike="noStrike" dirty="0" err="1">
                <a:solidFill>
                  <a:srgbClr val="000000"/>
                </a:solidFill>
                <a:effectLst/>
                <a:latin typeface="-webkit-standard"/>
              </a:rPr>
              <a:t>adam</a:t>
            </a:r>
            <a:r>
              <a:rPr lang="en-GB" b="0" i="0" u="none" strike="noStrike" dirty="0">
                <a:solidFill>
                  <a:srgbClr val="000000"/>
                </a:solidFill>
                <a:effectLst/>
                <a:latin typeface="-webkit-standard"/>
              </a:rPr>
              <a:t>', loss=</a:t>
            </a:r>
            <a:r>
              <a:rPr lang="en-GB" b="0" i="0" u="none" strike="noStrike" dirty="0" err="1">
                <a:solidFill>
                  <a:srgbClr val="000000"/>
                </a:solidFill>
                <a:effectLst/>
                <a:latin typeface="-webkit-standard"/>
              </a:rPr>
              <a:t>losses.MeanSquaredError</a:t>
            </a:r>
            <a:r>
              <a:rPr lang="en-GB" b="0" i="0" u="none" strike="noStrike" dirty="0">
                <a:solidFill>
                  <a:srgbClr val="000000"/>
                </a:solidFill>
                <a:effectLst/>
                <a:latin typeface="-webkit-standard"/>
              </a:rPr>
              <a:t>()) </a:t>
            </a:r>
            <a:r>
              <a:rPr lang="en-GB" b="0" i="0" u="none" strike="noStrike" dirty="0" err="1">
                <a:solidFill>
                  <a:srgbClr val="000000"/>
                </a:solidFill>
                <a:effectLst/>
                <a:latin typeface="-webkit-standard"/>
              </a:rPr>
              <a:t>autoencoder.fit</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x_train</a:t>
            </a:r>
            <a:r>
              <a:rPr lang="en-GB" b="0" i="0" u="none" strike="noStrike" dirty="0">
                <a:solidFill>
                  <a:srgbClr val="000000"/>
                </a:solidFill>
                <a:effectLst/>
                <a:latin typeface="-webkit-standard"/>
              </a:rPr>
              <a:t>, </a:t>
            </a:r>
            <a:r>
              <a:rPr lang="en-GB" b="0" i="0" u="none" strike="noStrike" dirty="0" err="1">
                <a:solidFill>
                  <a:srgbClr val="000000"/>
                </a:solidFill>
                <a:effectLst/>
                <a:latin typeface="-webkit-standard"/>
              </a:rPr>
              <a:t>x_train</a:t>
            </a:r>
            <a:r>
              <a:rPr lang="en-GB" b="0" i="0" u="none" strike="noStrike" dirty="0">
                <a:solidFill>
                  <a:srgbClr val="000000"/>
                </a:solidFill>
                <a:effectLst/>
                <a:latin typeface="-webkit-standard"/>
              </a:rPr>
              <a:t>, epochs=10, </a:t>
            </a:r>
            <a:r>
              <a:rPr lang="en-GB" b="0" i="0" u="none" strike="noStrike" dirty="0" err="1">
                <a:solidFill>
                  <a:srgbClr val="000000"/>
                </a:solidFill>
                <a:effectLst/>
                <a:latin typeface="-webkit-standard"/>
              </a:rPr>
              <a:t>batch_size</a:t>
            </a:r>
            <a:r>
              <a:rPr lang="en-GB" b="0" i="0" u="none" strike="noStrike" dirty="0">
                <a:solidFill>
                  <a:srgbClr val="000000"/>
                </a:solidFill>
                <a:effectLst/>
                <a:latin typeface="-webkit-standard"/>
              </a:rPr>
              <a:t>=256, shuffle=True, </a:t>
            </a:r>
            <a:r>
              <a:rPr lang="en-GB" b="0" i="0" u="none" strike="noStrike" dirty="0" err="1">
                <a:solidFill>
                  <a:srgbClr val="000000"/>
                </a:solidFill>
                <a:effectLst/>
                <a:latin typeface="-webkit-standard"/>
              </a:rPr>
              <a:t>validation_data</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x_test</a:t>
            </a:r>
            <a:r>
              <a:rPr lang="en-GB" b="0" i="0" u="none" strike="noStrike" dirty="0">
                <a:solidFill>
                  <a:srgbClr val="000000"/>
                </a:solidFill>
                <a:effectLst/>
                <a:latin typeface="-webkit-standard"/>
              </a:rPr>
              <a:t>, </a:t>
            </a:r>
            <a:r>
              <a:rPr lang="en-GB" b="0" i="0" u="none" strike="noStrike" dirty="0" err="1">
                <a:solidFill>
                  <a:srgbClr val="000000"/>
                </a:solidFill>
                <a:effectLst/>
                <a:latin typeface="-webkit-standard"/>
              </a:rPr>
              <a:t>x_test</a:t>
            </a:r>
            <a:r>
              <a:rPr lang="en-GB" b="0" i="0" u="none" strike="noStrike" dirty="0">
                <a:solidFill>
                  <a:srgbClr val="000000"/>
                </a:solidFill>
                <a:effectLst/>
                <a:latin typeface="-webkit-standard"/>
              </a:rPr>
              <a:t>))</a:t>
            </a:r>
            <a:endParaRPr lang="en-US" dirty="0"/>
          </a:p>
        </p:txBody>
      </p:sp>
      <p:pic>
        <p:nvPicPr>
          <p:cNvPr id="7" name="Picture 6">
            <a:extLst>
              <a:ext uri="{FF2B5EF4-FFF2-40B4-BE49-F238E27FC236}">
                <a16:creationId xmlns:a16="http://schemas.microsoft.com/office/drawing/2014/main" id="{D16A1DDF-E3CE-E9F1-27EB-3DA7E1057407}"/>
              </a:ext>
            </a:extLst>
          </p:cNvPr>
          <p:cNvPicPr>
            <a:picLocks noChangeAspect="1"/>
          </p:cNvPicPr>
          <p:nvPr/>
        </p:nvPicPr>
        <p:blipFill>
          <a:blip r:embed="rId3"/>
          <a:stretch>
            <a:fillRect/>
          </a:stretch>
        </p:blipFill>
        <p:spPr>
          <a:xfrm>
            <a:off x="4516341" y="2524901"/>
            <a:ext cx="4565043" cy="2618599"/>
          </a:xfrm>
          <a:prstGeom prst="rect">
            <a:avLst/>
          </a:prstGeom>
        </p:spPr>
      </p:pic>
      <p:sp>
        <p:nvSpPr>
          <p:cNvPr id="8" name="TextBox 7">
            <a:extLst>
              <a:ext uri="{FF2B5EF4-FFF2-40B4-BE49-F238E27FC236}">
                <a16:creationId xmlns:a16="http://schemas.microsoft.com/office/drawing/2014/main" id="{D79D8918-DE75-6E94-A7D4-7BC7057C6869}"/>
              </a:ext>
            </a:extLst>
          </p:cNvPr>
          <p:cNvSpPr txBox="1"/>
          <p:nvPr/>
        </p:nvSpPr>
        <p:spPr>
          <a:xfrm>
            <a:off x="5046594" y="2158287"/>
            <a:ext cx="1288111" cy="307777"/>
          </a:xfrm>
          <a:prstGeom prst="rect">
            <a:avLst/>
          </a:prstGeom>
          <a:noFill/>
        </p:spPr>
        <p:txBody>
          <a:bodyPr wrap="square" rtlCol="0">
            <a:spAutoFit/>
          </a:bodyPr>
          <a:lstStyle/>
          <a:p>
            <a:r>
              <a:rPr lang="en-US" b="1" dirty="0"/>
              <a:t>OUTPUT</a:t>
            </a:r>
          </a:p>
        </p:txBody>
      </p:sp>
    </p:spTree>
    <p:extLst>
      <p:ext uri="{BB962C8B-B14F-4D97-AF65-F5344CB8AC3E}">
        <p14:creationId xmlns:p14="http://schemas.microsoft.com/office/powerpoint/2010/main" val="3925182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B876500-2F91-ECCE-2583-B32371AE5BA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DECFBA2-FDC7-216C-FEC9-D76055BF44B1}"/>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fontScale="90000"/>
          </a:bodyPr>
          <a:lstStyle/>
          <a:p>
            <a:pPr algn="l">
              <a:buNone/>
            </a:pPr>
            <a:r>
              <a:rPr lang="en-GB" sz="2400" b="1" i="0" u="none" strike="noStrike" dirty="0">
                <a:solidFill>
                  <a:srgbClr val="7030A0"/>
                </a:solidFill>
                <a:effectLst/>
              </a:rPr>
              <a:t>Creation of a basic autoencoder using </a:t>
            </a:r>
            <a:r>
              <a:rPr lang="en-GB" sz="2400" b="1" i="0" u="none" strike="noStrike" dirty="0" err="1">
                <a:solidFill>
                  <a:srgbClr val="7030A0"/>
                </a:solidFill>
                <a:effectLst/>
              </a:rPr>
              <a:t>Keras</a:t>
            </a:r>
            <a:r>
              <a:rPr lang="en-GB" sz="2400" b="1" i="0" u="none" strike="noStrike" dirty="0">
                <a:solidFill>
                  <a:srgbClr val="7030A0"/>
                </a:solidFill>
                <a:effectLst/>
              </a:rPr>
              <a:t> and TensorFlow</a:t>
            </a: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ED10F6DC-F0BC-E883-5F4C-9D7D1675496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F455FD24-68CC-6FF8-78F4-DA292FB6C212}"/>
              </a:ext>
            </a:extLst>
          </p:cNvPr>
          <p:cNvSpPr txBox="1"/>
          <p:nvPr/>
        </p:nvSpPr>
        <p:spPr>
          <a:xfrm>
            <a:off x="159026" y="637776"/>
            <a:ext cx="7887694" cy="1384995"/>
          </a:xfrm>
          <a:prstGeom prst="rect">
            <a:avLst/>
          </a:prstGeom>
          <a:noFill/>
        </p:spPr>
        <p:txBody>
          <a:bodyPr wrap="square">
            <a:spAutoFit/>
          </a:bodyPr>
          <a:lstStyle/>
          <a:p>
            <a:pPr algn="l">
              <a:buNone/>
            </a:pPr>
            <a:r>
              <a:rPr lang="en-GB" b="1" i="0" u="none" strike="noStrike" dirty="0">
                <a:solidFill>
                  <a:srgbClr val="000000"/>
                </a:solidFill>
                <a:effectLst/>
              </a:rPr>
              <a:t>Step 5: Visualize Original and Reconstructed Data</a:t>
            </a:r>
          </a:p>
          <a:p>
            <a:pPr algn="l"/>
            <a:r>
              <a:rPr lang="en-GB" b="0" i="0" u="none" strike="noStrike" dirty="0">
                <a:solidFill>
                  <a:srgbClr val="000000"/>
                </a:solidFill>
                <a:effectLst/>
              </a:rPr>
              <a:t>After training, we can visualize the autoencoder's performance. We'll use the encoder to get the compressed representations of test images and then use the decoder to reconstruct them. The plot will show a comparison between a few original test images and their reconstructed counterparts.</a:t>
            </a:r>
          </a:p>
          <a:p>
            <a:pPr algn="l">
              <a:buNone/>
            </a:pPr>
            <a:endParaRPr lang="en-GB" b="1" dirty="0">
              <a:latin typeface="+mj-lt"/>
            </a:endParaRPr>
          </a:p>
        </p:txBody>
      </p:sp>
      <p:sp>
        <p:nvSpPr>
          <p:cNvPr id="6" name="TextBox 5">
            <a:extLst>
              <a:ext uri="{FF2B5EF4-FFF2-40B4-BE49-F238E27FC236}">
                <a16:creationId xmlns:a16="http://schemas.microsoft.com/office/drawing/2014/main" id="{2B9DD687-D92B-CFC0-1FA3-E47F4422D073}"/>
              </a:ext>
            </a:extLst>
          </p:cNvPr>
          <p:cNvSpPr txBox="1"/>
          <p:nvPr/>
        </p:nvSpPr>
        <p:spPr>
          <a:xfrm>
            <a:off x="1449124" y="1604070"/>
            <a:ext cx="4836382" cy="3539430"/>
          </a:xfrm>
          <a:prstGeom prst="rect">
            <a:avLst/>
          </a:prstGeom>
          <a:solidFill>
            <a:schemeClr val="accent6">
              <a:lumMod val="20000"/>
              <a:lumOff val="80000"/>
            </a:schemeClr>
          </a:solidFill>
        </p:spPr>
        <p:txBody>
          <a:bodyPr wrap="square">
            <a:spAutoFit/>
          </a:bodyPr>
          <a:lstStyle/>
          <a:p>
            <a:r>
              <a:rPr lang="en-GB" b="0" i="0" u="none" strike="noStrike" dirty="0" err="1">
                <a:solidFill>
                  <a:srgbClr val="000000"/>
                </a:solidFill>
                <a:effectLst/>
                <a:latin typeface="-webkit-standard"/>
              </a:rPr>
              <a:t>encoded_imgs</a:t>
            </a:r>
            <a:r>
              <a:rPr lang="en-GB" b="0" i="0" u="none" strike="noStrike" dirty="0">
                <a:solidFill>
                  <a:srgbClr val="000000"/>
                </a:solidFill>
                <a:effectLst/>
                <a:latin typeface="-webkit-standard"/>
              </a:rPr>
              <a:t> = </a:t>
            </a:r>
            <a:r>
              <a:rPr lang="en-GB" b="0" i="0" u="none" strike="noStrike" dirty="0" err="1">
                <a:solidFill>
                  <a:srgbClr val="000000"/>
                </a:solidFill>
                <a:effectLst/>
                <a:latin typeface="-webkit-standard"/>
              </a:rPr>
              <a:t>autoencoder.encoder</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x_test</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numpy</a:t>
            </a:r>
            <a:r>
              <a:rPr lang="en-GB" b="0" i="0" u="none" strike="noStrike" dirty="0">
                <a:solidFill>
                  <a:srgbClr val="000000"/>
                </a:solidFill>
                <a:effectLst/>
                <a:latin typeface="-webkit-standard"/>
              </a:rPr>
              <a:t>() </a:t>
            </a:r>
          </a:p>
          <a:p>
            <a:r>
              <a:rPr lang="en-GB" b="0" i="0" u="none" strike="noStrike" dirty="0" err="1">
                <a:solidFill>
                  <a:srgbClr val="000000"/>
                </a:solidFill>
                <a:effectLst/>
                <a:latin typeface="-webkit-standard"/>
              </a:rPr>
              <a:t>decoded_imgs</a:t>
            </a:r>
            <a:r>
              <a:rPr lang="en-GB" b="0" i="0" u="none" strike="noStrike" dirty="0">
                <a:solidFill>
                  <a:srgbClr val="000000"/>
                </a:solidFill>
                <a:effectLst/>
                <a:latin typeface="-webkit-standard"/>
              </a:rPr>
              <a:t> = </a:t>
            </a:r>
            <a:r>
              <a:rPr lang="en-GB" b="0" i="0" u="none" strike="noStrike" dirty="0" err="1">
                <a:solidFill>
                  <a:srgbClr val="000000"/>
                </a:solidFill>
                <a:effectLst/>
                <a:latin typeface="-webkit-standard"/>
              </a:rPr>
              <a:t>autoencoder.decoder</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encoded_imgs</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numpy</a:t>
            </a:r>
            <a:r>
              <a:rPr lang="en-GB" b="0" i="0" u="none" strike="noStrike" dirty="0">
                <a:solidFill>
                  <a:srgbClr val="000000"/>
                </a:solidFill>
                <a:effectLst/>
                <a:latin typeface="-webkit-standard"/>
              </a:rPr>
              <a:t>() </a:t>
            </a:r>
          </a:p>
          <a:p>
            <a:r>
              <a:rPr lang="en-GB" b="0" i="0" u="none" strike="noStrike" dirty="0">
                <a:solidFill>
                  <a:srgbClr val="000000"/>
                </a:solidFill>
                <a:effectLst/>
                <a:latin typeface="-webkit-standard"/>
              </a:rPr>
              <a:t>n = 6</a:t>
            </a:r>
          </a:p>
          <a:p>
            <a:r>
              <a:rPr lang="en-GB" b="0" i="0" u="none" strike="noStrike" dirty="0">
                <a:solidFill>
                  <a:srgbClr val="000000"/>
                </a:solidFill>
                <a:effectLst/>
                <a:latin typeface="-webkit-standard"/>
              </a:rPr>
              <a:t> </a:t>
            </a:r>
            <a:r>
              <a:rPr lang="en-GB" b="0" i="0" u="none" strike="noStrike" dirty="0" err="1">
                <a:solidFill>
                  <a:srgbClr val="000000"/>
                </a:solidFill>
                <a:effectLst/>
                <a:latin typeface="-webkit-standard"/>
              </a:rPr>
              <a:t>plt.figure</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figsize</a:t>
            </a:r>
            <a:r>
              <a:rPr lang="en-GB" b="0" i="0" u="none" strike="noStrike" dirty="0">
                <a:solidFill>
                  <a:srgbClr val="000000"/>
                </a:solidFill>
                <a:effectLst/>
                <a:latin typeface="-webkit-standard"/>
              </a:rPr>
              <a:t>=(12, 6)) </a:t>
            </a:r>
          </a:p>
          <a:p>
            <a:r>
              <a:rPr lang="en-GB" b="0" i="0" u="none" strike="noStrike" dirty="0">
                <a:solidFill>
                  <a:srgbClr val="000000"/>
                </a:solidFill>
                <a:effectLst/>
                <a:latin typeface="-webkit-standard"/>
              </a:rPr>
              <a:t>for </a:t>
            </a:r>
            <a:r>
              <a:rPr lang="en-GB" b="0" i="0" u="none" strike="noStrike" dirty="0" err="1">
                <a:solidFill>
                  <a:srgbClr val="000000"/>
                </a:solidFill>
                <a:effectLst/>
                <a:latin typeface="-webkit-standard"/>
              </a:rPr>
              <a:t>i</a:t>
            </a:r>
            <a:r>
              <a:rPr lang="en-GB" b="0" i="0" u="none" strike="noStrike" dirty="0">
                <a:solidFill>
                  <a:srgbClr val="000000"/>
                </a:solidFill>
                <a:effectLst/>
                <a:latin typeface="-webkit-standard"/>
              </a:rPr>
              <a:t> in range(n): </a:t>
            </a:r>
          </a:p>
          <a:p>
            <a:r>
              <a:rPr lang="en-GB" b="0" i="0" u="none" strike="noStrike" dirty="0">
                <a:solidFill>
                  <a:srgbClr val="000000"/>
                </a:solidFill>
                <a:effectLst/>
                <a:latin typeface="-webkit-standard"/>
              </a:rPr>
              <a:t># Display original images </a:t>
            </a:r>
          </a:p>
          <a:p>
            <a:r>
              <a:rPr lang="en-GB" b="0" i="0" u="none" strike="noStrike" dirty="0" err="1">
                <a:solidFill>
                  <a:srgbClr val="000000"/>
                </a:solidFill>
                <a:effectLst/>
                <a:latin typeface="-webkit-standard"/>
              </a:rPr>
              <a:t>ax</a:t>
            </a:r>
            <a:r>
              <a:rPr lang="en-GB" b="0" i="0" u="none" strike="noStrike" dirty="0">
                <a:solidFill>
                  <a:srgbClr val="000000"/>
                </a:solidFill>
                <a:effectLst/>
                <a:latin typeface="-webkit-standard"/>
              </a:rPr>
              <a:t> = </a:t>
            </a:r>
            <a:r>
              <a:rPr lang="en-GB" b="0" i="0" u="none" strike="noStrike" dirty="0" err="1">
                <a:solidFill>
                  <a:srgbClr val="000000"/>
                </a:solidFill>
                <a:effectLst/>
                <a:latin typeface="-webkit-standard"/>
              </a:rPr>
              <a:t>plt.subplot</a:t>
            </a:r>
            <a:r>
              <a:rPr lang="en-GB" b="0" i="0" u="none" strike="noStrike" dirty="0">
                <a:solidFill>
                  <a:srgbClr val="000000"/>
                </a:solidFill>
                <a:effectLst/>
                <a:latin typeface="-webkit-standard"/>
              </a:rPr>
              <a:t>(2, n, </a:t>
            </a:r>
            <a:r>
              <a:rPr lang="en-GB" b="0" i="0" u="none" strike="noStrike" dirty="0" err="1">
                <a:solidFill>
                  <a:srgbClr val="000000"/>
                </a:solidFill>
                <a:effectLst/>
                <a:latin typeface="-webkit-standard"/>
              </a:rPr>
              <a:t>i</a:t>
            </a:r>
            <a:r>
              <a:rPr lang="en-GB" b="0" i="0" u="none" strike="noStrike" dirty="0">
                <a:solidFill>
                  <a:srgbClr val="000000"/>
                </a:solidFill>
                <a:effectLst/>
                <a:latin typeface="-webkit-standard"/>
              </a:rPr>
              <a:t> + 1) </a:t>
            </a:r>
          </a:p>
          <a:p>
            <a:r>
              <a:rPr lang="en-GB" b="0" i="0" u="none" strike="noStrike" dirty="0" err="1">
                <a:solidFill>
                  <a:srgbClr val="000000"/>
                </a:solidFill>
                <a:effectLst/>
                <a:latin typeface="-webkit-standard"/>
              </a:rPr>
              <a:t>plt.imshow</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x_test</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i</a:t>
            </a:r>
            <a:r>
              <a:rPr lang="en-GB" b="0" i="0" u="none" strike="noStrike" dirty="0">
                <a:solidFill>
                  <a:srgbClr val="000000"/>
                </a:solidFill>
                <a:effectLst/>
                <a:latin typeface="-webkit-standard"/>
              </a:rPr>
              <a:t>].reshape(28, 28), </a:t>
            </a:r>
            <a:r>
              <a:rPr lang="en-GB" b="0" i="0" u="none" strike="noStrike" dirty="0" err="1">
                <a:solidFill>
                  <a:srgbClr val="000000"/>
                </a:solidFill>
                <a:effectLst/>
                <a:latin typeface="-webkit-standard"/>
              </a:rPr>
              <a:t>cmap</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gray</a:t>
            </a:r>
            <a:r>
              <a:rPr lang="en-GB" b="0" i="0" u="none" strike="noStrike" dirty="0">
                <a:solidFill>
                  <a:srgbClr val="000000"/>
                </a:solidFill>
                <a:effectLst/>
                <a:latin typeface="-webkit-standard"/>
              </a:rPr>
              <a:t>’)</a:t>
            </a:r>
          </a:p>
          <a:p>
            <a:r>
              <a:rPr lang="en-GB" b="0" i="0" u="none" strike="noStrike" dirty="0">
                <a:solidFill>
                  <a:srgbClr val="000000"/>
                </a:solidFill>
                <a:effectLst/>
                <a:latin typeface="-webkit-standard"/>
              </a:rPr>
              <a:t> </a:t>
            </a:r>
            <a:r>
              <a:rPr lang="en-GB" b="0" i="0" u="none" strike="noStrike" dirty="0" err="1">
                <a:solidFill>
                  <a:srgbClr val="000000"/>
                </a:solidFill>
                <a:effectLst/>
                <a:latin typeface="-webkit-standard"/>
              </a:rPr>
              <a:t>plt.title</a:t>
            </a:r>
            <a:r>
              <a:rPr lang="en-GB" b="0" i="0" u="none" strike="noStrike" dirty="0">
                <a:solidFill>
                  <a:srgbClr val="000000"/>
                </a:solidFill>
                <a:effectLst/>
                <a:latin typeface="-webkit-standard"/>
              </a:rPr>
              <a:t>("Original")</a:t>
            </a:r>
          </a:p>
          <a:p>
            <a:r>
              <a:rPr lang="en-GB" b="0" i="0" u="none" strike="noStrike" dirty="0">
                <a:solidFill>
                  <a:srgbClr val="000000"/>
                </a:solidFill>
                <a:effectLst/>
                <a:latin typeface="-webkit-standard"/>
              </a:rPr>
              <a:t> </a:t>
            </a:r>
            <a:r>
              <a:rPr lang="en-GB" b="0" i="0" u="none" strike="noStrike" dirty="0" err="1">
                <a:solidFill>
                  <a:srgbClr val="000000"/>
                </a:solidFill>
                <a:effectLst/>
                <a:latin typeface="-webkit-standard"/>
              </a:rPr>
              <a:t>plt.axis</a:t>
            </a:r>
            <a:r>
              <a:rPr lang="en-GB" b="0" i="0" u="none" strike="noStrike" dirty="0">
                <a:solidFill>
                  <a:srgbClr val="000000"/>
                </a:solidFill>
                <a:effectLst/>
                <a:latin typeface="-webkit-standard"/>
              </a:rPr>
              <a:t>('off’) </a:t>
            </a:r>
          </a:p>
          <a:p>
            <a:r>
              <a:rPr lang="en-GB" b="0" i="0" u="none" strike="noStrike" dirty="0">
                <a:solidFill>
                  <a:srgbClr val="000000"/>
                </a:solidFill>
                <a:effectLst/>
                <a:latin typeface="-webkit-standard"/>
              </a:rPr>
              <a:t># Display reconstructed images</a:t>
            </a:r>
          </a:p>
          <a:p>
            <a:r>
              <a:rPr lang="en-GB" b="0" i="0" u="none" strike="noStrike" dirty="0">
                <a:solidFill>
                  <a:srgbClr val="000000"/>
                </a:solidFill>
                <a:effectLst/>
                <a:latin typeface="-webkit-standard"/>
              </a:rPr>
              <a:t> </a:t>
            </a:r>
            <a:r>
              <a:rPr lang="en-GB" b="0" i="0" u="none" strike="noStrike" dirty="0" err="1">
                <a:solidFill>
                  <a:srgbClr val="000000"/>
                </a:solidFill>
                <a:effectLst/>
                <a:latin typeface="-webkit-standard"/>
              </a:rPr>
              <a:t>ax</a:t>
            </a:r>
            <a:r>
              <a:rPr lang="en-GB" b="0" i="0" u="none" strike="noStrike" dirty="0">
                <a:solidFill>
                  <a:srgbClr val="000000"/>
                </a:solidFill>
                <a:effectLst/>
                <a:latin typeface="-webkit-standard"/>
              </a:rPr>
              <a:t> = </a:t>
            </a:r>
            <a:r>
              <a:rPr lang="en-GB" b="0" i="0" u="none" strike="noStrike" dirty="0" err="1">
                <a:solidFill>
                  <a:srgbClr val="000000"/>
                </a:solidFill>
                <a:effectLst/>
                <a:latin typeface="-webkit-standard"/>
              </a:rPr>
              <a:t>plt.subplot</a:t>
            </a:r>
            <a:r>
              <a:rPr lang="en-GB" b="0" i="0" u="none" strike="noStrike" dirty="0">
                <a:solidFill>
                  <a:srgbClr val="000000"/>
                </a:solidFill>
                <a:effectLst/>
                <a:latin typeface="-webkit-standard"/>
              </a:rPr>
              <a:t>(2, n, </a:t>
            </a:r>
            <a:r>
              <a:rPr lang="en-GB" b="0" i="0" u="none" strike="noStrike" dirty="0" err="1">
                <a:solidFill>
                  <a:srgbClr val="000000"/>
                </a:solidFill>
                <a:effectLst/>
                <a:latin typeface="-webkit-standard"/>
              </a:rPr>
              <a:t>i</a:t>
            </a:r>
            <a:r>
              <a:rPr lang="en-GB" b="0" i="0" u="none" strike="noStrike" dirty="0">
                <a:solidFill>
                  <a:srgbClr val="000000"/>
                </a:solidFill>
                <a:effectLst/>
                <a:latin typeface="-webkit-standard"/>
              </a:rPr>
              <a:t> + 1 + n) </a:t>
            </a:r>
          </a:p>
          <a:p>
            <a:r>
              <a:rPr lang="en-GB" b="0" i="0" u="none" strike="noStrike" dirty="0" err="1">
                <a:solidFill>
                  <a:srgbClr val="000000"/>
                </a:solidFill>
                <a:effectLst/>
                <a:latin typeface="-webkit-standard"/>
              </a:rPr>
              <a:t>plt.imshow</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decoded_imgs</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i</a:t>
            </a:r>
            <a:r>
              <a:rPr lang="en-GB" b="0" i="0" u="none" strike="noStrike" dirty="0">
                <a:solidFill>
                  <a:srgbClr val="000000"/>
                </a:solidFill>
                <a:effectLst/>
                <a:latin typeface="-webkit-standard"/>
              </a:rPr>
              <a:t>].reshape(28, 28), </a:t>
            </a:r>
            <a:r>
              <a:rPr lang="en-GB" b="0" i="0" u="none" strike="noStrike" dirty="0" err="1">
                <a:solidFill>
                  <a:srgbClr val="000000"/>
                </a:solidFill>
                <a:effectLst/>
                <a:latin typeface="-webkit-standard"/>
              </a:rPr>
              <a:t>cmap</a:t>
            </a:r>
            <a:r>
              <a:rPr lang="en-GB" b="0" i="0" u="none" strike="noStrike" dirty="0">
                <a:solidFill>
                  <a:srgbClr val="000000"/>
                </a:solidFill>
                <a:effectLst/>
                <a:latin typeface="-webkit-standard"/>
              </a:rPr>
              <a:t>='</a:t>
            </a:r>
            <a:r>
              <a:rPr lang="en-GB" b="0" i="0" u="none" strike="noStrike" dirty="0" err="1">
                <a:solidFill>
                  <a:srgbClr val="000000"/>
                </a:solidFill>
                <a:effectLst/>
                <a:latin typeface="-webkit-standard"/>
              </a:rPr>
              <a:t>gray</a:t>
            </a:r>
            <a:r>
              <a:rPr lang="en-GB" b="0" i="0" u="none" strike="noStrike" dirty="0">
                <a:solidFill>
                  <a:srgbClr val="000000"/>
                </a:solidFill>
                <a:effectLst/>
                <a:latin typeface="-webkit-standard"/>
              </a:rPr>
              <a:t>’)</a:t>
            </a:r>
          </a:p>
          <a:p>
            <a:r>
              <a:rPr lang="en-GB" b="0" i="0" u="none" strike="noStrike" dirty="0">
                <a:solidFill>
                  <a:srgbClr val="000000"/>
                </a:solidFill>
                <a:effectLst/>
                <a:latin typeface="-webkit-standard"/>
              </a:rPr>
              <a:t> </a:t>
            </a:r>
            <a:r>
              <a:rPr lang="en-GB" b="0" i="0" u="none" strike="noStrike" dirty="0" err="1">
                <a:solidFill>
                  <a:srgbClr val="000000"/>
                </a:solidFill>
                <a:effectLst/>
                <a:latin typeface="-webkit-standard"/>
              </a:rPr>
              <a:t>plt.title</a:t>
            </a:r>
            <a:r>
              <a:rPr lang="en-GB" b="0" i="0" u="none" strike="noStrike" dirty="0">
                <a:solidFill>
                  <a:srgbClr val="000000"/>
                </a:solidFill>
                <a:effectLst/>
                <a:latin typeface="-webkit-standard"/>
              </a:rPr>
              <a:t>("Reconstructed") </a:t>
            </a:r>
          </a:p>
          <a:p>
            <a:r>
              <a:rPr lang="en-GB" b="0" i="0" u="none" strike="noStrike" dirty="0" err="1">
                <a:solidFill>
                  <a:srgbClr val="000000"/>
                </a:solidFill>
                <a:effectLst/>
                <a:latin typeface="-webkit-standard"/>
              </a:rPr>
              <a:t>plt.axis</a:t>
            </a:r>
            <a:r>
              <a:rPr lang="en-GB" b="0" i="0" u="none" strike="noStrike" dirty="0">
                <a:solidFill>
                  <a:srgbClr val="000000"/>
                </a:solidFill>
                <a:effectLst/>
                <a:latin typeface="-webkit-standard"/>
              </a:rPr>
              <a:t>('off’)</a:t>
            </a:r>
          </a:p>
          <a:p>
            <a:r>
              <a:rPr lang="en-GB" b="0" i="0" u="none" strike="noStrike" dirty="0">
                <a:solidFill>
                  <a:srgbClr val="000000"/>
                </a:solidFill>
                <a:effectLst/>
                <a:latin typeface="-webkit-standard"/>
              </a:rPr>
              <a:t> </a:t>
            </a:r>
            <a:r>
              <a:rPr lang="en-GB" b="0" i="0" u="none" strike="noStrike" dirty="0" err="1">
                <a:solidFill>
                  <a:srgbClr val="000000"/>
                </a:solidFill>
                <a:effectLst/>
                <a:latin typeface="-webkit-standard"/>
              </a:rPr>
              <a:t>plt.show</a:t>
            </a:r>
            <a:r>
              <a:rPr lang="en-GB" b="0" i="0" u="none" strike="noStrike" dirty="0">
                <a:solidFill>
                  <a:srgbClr val="000000"/>
                </a:solidFill>
                <a:effectLst/>
                <a:latin typeface="-webkit-standard"/>
              </a:rPr>
              <a:t>()</a:t>
            </a:r>
            <a:endParaRPr lang="en-US" dirty="0"/>
          </a:p>
        </p:txBody>
      </p:sp>
    </p:spTree>
    <p:extLst>
      <p:ext uri="{BB962C8B-B14F-4D97-AF65-F5344CB8AC3E}">
        <p14:creationId xmlns:p14="http://schemas.microsoft.com/office/powerpoint/2010/main" val="2697958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BF88389-D634-23D2-6593-6F4A2131EEF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CB99815-EBCE-B0F3-532F-C70530A82B6A}"/>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fontScale="90000"/>
          </a:bodyPr>
          <a:lstStyle/>
          <a:p>
            <a:pPr algn="l">
              <a:buNone/>
            </a:pPr>
            <a:r>
              <a:rPr lang="en-GB" sz="2400" b="1" i="0" u="none" strike="noStrike" dirty="0">
                <a:solidFill>
                  <a:srgbClr val="7030A0"/>
                </a:solidFill>
                <a:effectLst/>
              </a:rPr>
              <a:t>Creation of a basic autoencoder using </a:t>
            </a:r>
            <a:r>
              <a:rPr lang="en-GB" sz="2400" b="1" i="0" u="none" strike="noStrike" dirty="0" err="1">
                <a:solidFill>
                  <a:srgbClr val="7030A0"/>
                </a:solidFill>
                <a:effectLst/>
              </a:rPr>
              <a:t>Keras</a:t>
            </a:r>
            <a:r>
              <a:rPr lang="en-GB" sz="2400" b="1" i="0" u="none" strike="noStrike" dirty="0">
                <a:solidFill>
                  <a:srgbClr val="7030A0"/>
                </a:solidFill>
                <a:effectLst/>
              </a:rPr>
              <a:t> and TensorFlow</a:t>
            </a: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6A725102-5EE1-2545-5971-55707FC239E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a:extLst>
              <a:ext uri="{FF2B5EF4-FFF2-40B4-BE49-F238E27FC236}">
                <a16:creationId xmlns:a16="http://schemas.microsoft.com/office/drawing/2014/main" id="{E40DE233-1889-93ED-30D1-C316D3CEB0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47399"/>
            <a:ext cx="9144000" cy="41100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E13DE20-BBEB-BC1E-E31D-C7180FCAB927}"/>
              </a:ext>
            </a:extLst>
          </p:cNvPr>
          <p:cNvSpPr txBox="1"/>
          <p:nvPr/>
        </p:nvSpPr>
        <p:spPr>
          <a:xfrm>
            <a:off x="326004" y="560075"/>
            <a:ext cx="1288111" cy="307777"/>
          </a:xfrm>
          <a:prstGeom prst="rect">
            <a:avLst/>
          </a:prstGeom>
          <a:noFill/>
        </p:spPr>
        <p:txBody>
          <a:bodyPr wrap="square" rtlCol="0">
            <a:spAutoFit/>
          </a:bodyPr>
          <a:lstStyle/>
          <a:p>
            <a:r>
              <a:rPr lang="en-US" b="1" dirty="0"/>
              <a:t>OUTPUT</a:t>
            </a:r>
          </a:p>
        </p:txBody>
      </p:sp>
    </p:spTree>
    <p:extLst>
      <p:ext uri="{BB962C8B-B14F-4D97-AF65-F5344CB8AC3E}">
        <p14:creationId xmlns:p14="http://schemas.microsoft.com/office/powerpoint/2010/main" val="3481708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EBC0CC20-F7AB-2F22-8E1D-047FCAE90C8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6BF67CD-E64F-7A83-6A3B-C4A4A45AB545}"/>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a:bodyPr>
          <a:lstStyle/>
          <a:p>
            <a:pPr algn="l">
              <a:buNone/>
            </a:pPr>
            <a:r>
              <a:rPr lang="en-GB" sz="2400" dirty="0">
                <a:solidFill>
                  <a:srgbClr val="7030A0"/>
                </a:solidFill>
              </a:rPr>
              <a:t>Limitations of Autoencoders</a:t>
            </a: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BDC6A337-C403-70F6-23FB-62484181AEF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D981ACA3-E3EF-C7FA-460C-916BFF1A192E}"/>
              </a:ext>
            </a:extLst>
          </p:cNvPr>
          <p:cNvSpPr txBox="1"/>
          <p:nvPr/>
        </p:nvSpPr>
        <p:spPr>
          <a:xfrm>
            <a:off x="236550" y="602991"/>
            <a:ext cx="7182017" cy="3785652"/>
          </a:xfrm>
          <a:prstGeom prst="rect">
            <a:avLst/>
          </a:prstGeom>
          <a:noFill/>
        </p:spPr>
        <p:txBody>
          <a:bodyPr wrap="square">
            <a:spAutoFit/>
          </a:bodyPr>
          <a:lstStyle/>
          <a:p>
            <a:pPr marL="342900" indent="-342900">
              <a:buFont typeface="+mj-lt"/>
              <a:buAutoNum type="arabicPeriod"/>
            </a:pPr>
            <a:r>
              <a:rPr lang="en-GB" sz="1600" b="1" dirty="0"/>
              <a:t>Memorizing Instead of Learning Patterns:</a:t>
            </a:r>
            <a:r>
              <a:rPr lang="en-GB" sz="1600" dirty="0"/>
              <a:t> Autoencoders can sometimes simply "memorize" the training data, learning to copy the input directly rather than extracting meaningful, generalized patterns. This leads to poor performance on new, unseen data, limiting their ability to generalize.</a:t>
            </a:r>
          </a:p>
          <a:p>
            <a:pPr marL="342900" indent="-342900">
              <a:buFont typeface="+mj-lt"/>
              <a:buAutoNum type="arabicPeriod"/>
            </a:pPr>
            <a:r>
              <a:rPr lang="en-GB" sz="1600" b="1" dirty="0"/>
              <a:t>Imperfect Reconstructed Data:</a:t>
            </a:r>
            <a:r>
              <a:rPr lang="en-GB" sz="1600" dirty="0"/>
              <a:t> The reconstructed output from an autoencoder might not always be perfect; it can sometimes appear blurry or distorted. This occurs when the model struggles to capture fine details, especially with noisy input or if the architecture isn't complex enough for the data.</a:t>
            </a:r>
          </a:p>
          <a:p>
            <a:pPr marL="342900" indent="-342900">
              <a:buFont typeface="+mj-lt"/>
              <a:buAutoNum type="arabicPeriod"/>
            </a:pPr>
            <a:r>
              <a:rPr lang="en-GB" sz="1600" b="1" dirty="0"/>
              <a:t>Dependency on Data Size and Parameter Tuning:</a:t>
            </a:r>
            <a:r>
              <a:rPr lang="en-GB" sz="1600" dirty="0"/>
              <a:t> Effective performance of an autoencoder typically requires a large dataset and meticulous tuning of its parameters (such as the latent space size or learning rate). Insufficient data or poor tuning can prevent the model from learning useful representations, leading to suboptimal results.</a:t>
            </a:r>
            <a:endParaRPr lang="en-US" sz="1600" dirty="0"/>
          </a:p>
        </p:txBody>
      </p:sp>
    </p:spTree>
    <p:extLst>
      <p:ext uri="{BB962C8B-B14F-4D97-AF65-F5344CB8AC3E}">
        <p14:creationId xmlns:p14="http://schemas.microsoft.com/office/powerpoint/2010/main" val="971299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Hands On Exercise </a:t>
            </a:r>
            <a:br>
              <a:rPr lang="en-GB" sz="3200" dirty="0"/>
            </a:br>
            <a:endParaRPr lang="en-GB" sz="3200" dirty="0"/>
          </a:p>
        </p:txBody>
      </p:sp>
      <p:sp>
        <p:nvSpPr>
          <p:cNvPr id="3" name="TextBox 2">
            <a:extLst>
              <a:ext uri="{FF2B5EF4-FFF2-40B4-BE49-F238E27FC236}">
                <a16:creationId xmlns:a16="http://schemas.microsoft.com/office/drawing/2014/main" id="{FD29B7B1-87C3-1A19-1CD5-4DC342054D89}"/>
              </a:ext>
            </a:extLst>
          </p:cNvPr>
          <p:cNvSpPr txBox="1"/>
          <p:nvPr/>
        </p:nvSpPr>
        <p:spPr>
          <a:xfrm>
            <a:off x="182139" y="1334239"/>
            <a:ext cx="4649490" cy="1631216"/>
          </a:xfrm>
          <a:prstGeom prst="rect">
            <a:avLst/>
          </a:prstGeom>
          <a:noFill/>
        </p:spPr>
        <p:txBody>
          <a:bodyPr wrap="square">
            <a:spAutoFit/>
          </a:bodyPr>
          <a:lstStyle/>
          <a:p>
            <a:pPr algn="ctr"/>
            <a:r>
              <a:rPr lang="en-GB" sz="2000" dirty="0">
                <a:hlinkClick r:id="rId4"/>
              </a:rPr>
              <a:t>Click Here For The Implementation on Google Colab</a:t>
            </a:r>
            <a:endParaRPr lang="en-GB" sz="2000" dirty="0"/>
          </a:p>
          <a:p>
            <a:pPr algn="ctr"/>
            <a:r>
              <a:rPr lang="en-GB" sz="2000" dirty="0"/>
              <a:t>https://</a:t>
            </a:r>
            <a:r>
              <a:rPr lang="en-GB" sz="2000" dirty="0" err="1"/>
              <a:t>drive.google.com</a:t>
            </a:r>
            <a:r>
              <a:rPr lang="en-GB" sz="2000" dirty="0"/>
              <a:t>/file/d/1PiOm8C_iKyRlnpc_lxibehgEqTTGMsDX/</a:t>
            </a:r>
            <a:r>
              <a:rPr lang="en-GB" sz="2000" dirty="0" err="1"/>
              <a:t>view?usp</a:t>
            </a:r>
            <a:r>
              <a:rPr lang="en-GB" sz="2000" dirty="0"/>
              <a:t>=</a:t>
            </a:r>
            <a:r>
              <a:rPr lang="en-GB" sz="2000" dirty="0" err="1"/>
              <a:t>share_link</a:t>
            </a:r>
            <a:endParaRPr lang="en-GB" sz="2000" dirty="0"/>
          </a:p>
        </p:txBody>
      </p:sp>
      <p:pic>
        <p:nvPicPr>
          <p:cNvPr id="4" name="Picture 3" descr="A computer with a screen on it&#10;&#10;AI-generated content may be incorrect.">
            <a:extLst>
              <a:ext uri="{FF2B5EF4-FFF2-40B4-BE49-F238E27FC236}">
                <a16:creationId xmlns:a16="http://schemas.microsoft.com/office/drawing/2014/main" id="{DFCACE6B-93A9-2C0B-6504-0868FF90065B}"/>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792226" y="2037600"/>
            <a:ext cx="4091291" cy="27245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6931332" cy="3670236"/>
          </a:xfrm>
          <a:prstGeom prst="rect">
            <a:avLst/>
          </a:prstGeom>
          <a:noFill/>
        </p:spPr>
        <p:txBody>
          <a:bodyPr wrap="square">
            <a:spAutoFit/>
          </a:bodyPr>
          <a:lstStyle/>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Deep Learning for Computer Vision (</a:t>
            </a:r>
            <a:r>
              <a:rPr lang="en-GB" sz="2000" b="0" i="0" u="none" strike="noStrike" dirty="0" err="1">
                <a:solidFill>
                  <a:srgbClr val="404040"/>
                </a:solidFill>
                <a:effectLst/>
                <a:latin typeface="Inter" panose="02000503000000020004" pitchFamily="2" charset="0"/>
              </a:rPr>
              <a:t>Rajalingappaa</a:t>
            </a:r>
            <a:r>
              <a:rPr lang="en-GB" sz="2000" b="0" i="0" u="none" strike="noStrike" dirty="0">
                <a:solidFill>
                  <a:srgbClr val="404040"/>
                </a:solidFill>
                <a:effectLst/>
                <a:latin typeface="Inter" panose="02000503000000020004" pitchFamily="2" charset="0"/>
              </a:rPr>
              <a:t> Shanmugamani)</a:t>
            </a:r>
          </a:p>
          <a:p>
            <a:pPr marL="457200" indent="-457200">
              <a:spcBef>
                <a:spcPts val="300"/>
              </a:spcBef>
              <a:buFont typeface="+mj-lt"/>
              <a:buAutoNum type="arabicPeriod"/>
            </a:pPr>
            <a:r>
              <a:rPr lang="en-GB" sz="2000" b="0" i="0" strike="noStrike" dirty="0">
                <a:solidFill>
                  <a:schemeClr val="tx1"/>
                </a:solidFill>
                <a:effectLst/>
                <a:latin typeface="Inter" panose="02000503000000020004" pitchFamily="2" charset="0"/>
                <a:hlinkClick r:id="rId4">
                  <a:extLst>
                    <a:ext uri="{A12FA001-AC4F-418D-AE19-62706E023703}">
                      <ahyp:hlinkClr xmlns:ahyp="http://schemas.microsoft.com/office/drawing/2018/hyperlinkcolor" val="tx"/>
                    </a:ext>
                  </a:extLst>
                </a:hlinkClick>
              </a:rPr>
              <a:t>https://www.geeksforgeeks.org/generative-adversarial-network-gan/</a:t>
            </a:r>
            <a:endParaRPr lang="en-GB" sz="2000" b="0" i="0" strike="noStrike" dirty="0">
              <a:solidFill>
                <a:schemeClr val="tx1"/>
              </a:solidFill>
              <a:effectLst/>
              <a:latin typeface="Inter" panose="02000503000000020004" pitchFamily="2" charset="0"/>
            </a:endParaRP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Goodfellow, I., Bengio, Y., &amp; Courville, A. (2016). Deep Learning. MIT Press.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Chollet, F. (2017). Deep Learning with Python. Manning Publications.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Hochreiter, S., &amp; </a:t>
            </a:r>
            <a:r>
              <a:rPr lang="en-GB" sz="2000" b="0" i="0" u="none" strike="noStrike" dirty="0" err="1">
                <a:solidFill>
                  <a:srgbClr val="404040"/>
                </a:solidFill>
                <a:effectLst/>
                <a:latin typeface="Inter" panose="02000503000000020004" pitchFamily="2" charset="0"/>
              </a:rPr>
              <a:t>Schmidhuber</a:t>
            </a:r>
            <a:r>
              <a:rPr lang="en-GB" sz="2000" b="0" i="0" u="none" strike="noStrike" dirty="0">
                <a:solidFill>
                  <a:srgbClr val="404040"/>
                </a:solidFill>
                <a:effectLst/>
                <a:latin typeface="Inter" panose="02000503000000020004" pitchFamily="2" charset="0"/>
              </a:rPr>
              <a:t>, J. (1997). Long Short-Term Memory. Neural Computation.</a:t>
            </a:r>
          </a:p>
        </p:txBody>
      </p:sp>
    </p:spTree>
    <p:extLst>
      <p:ext uri="{BB962C8B-B14F-4D97-AF65-F5344CB8AC3E}">
        <p14:creationId xmlns:p14="http://schemas.microsoft.com/office/powerpoint/2010/main" val="374039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26477</TotalTime>
  <Words>2864</Words>
  <Application>Microsoft Macintosh PowerPoint</Application>
  <PresentationFormat>On-screen Show (16:9)</PresentationFormat>
  <Paragraphs>182</Paragraphs>
  <Slides>23</Slides>
  <Notes>23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IBM Plex Sans Arabic SemiBold</vt:lpstr>
      <vt:lpstr>Arial</vt:lpstr>
      <vt:lpstr>IBM Plex Sans Arabic</vt:lpstr>
      <vt:lpstr>Times New Roman</vt:lpstr>
      <vt:lpstr>IBM Plex Sans Arabic Medium</vt:lpstr>
      <vt:lpstr>Calibri</vt:lpstr>
      <vt:lpstr>Inter</vt:lpstr>
      <vt:lpstr>Wingdings</vt:lpstr>
      <vt:lpstr>-webkit-standard</vt:lpstr>
      <vt:lpstr>Tajawal</vt:lpstr>
      <vt:lpstr>Simple Light</vt:lpstr>
      <vt:lpstr>أكـــــاديميــــة طــــويـــق</vt:lpstr>
      <vt:lpstr>AutoEncoders  </vt:lpstr>
      <vt:lpstr>PowerPoint Presentation</vt:lpstr>
      <vt:lpstr>Autoencoder</vt:lpstr>
      <vt:lpstr>Autoencoder</vt:lpstr>
      <vt:lpstr>Architecture of Autoencoder in Deep Learning  </vt:lpstr>
      <vt:lpstr>Architecture of Autoencoder in Deep Learning  </vt:lpstr>
      <vt:lpstr>Loss Function in Autoencoder Training  </vt:lpstr>
      <vt:lpstr>Autoencoder: Learning Efficient Representations  </vt:lpstr>
      <vt:lpstr>Autoencoder: Learning Efficient Representations  </vt:lpstr>
      <vt:lpstr>Types of Autoencoders</vt:lpstr>
      <vt:lpstr>Types of Autoencoders</vt:lpstr>
      <vt:lpstr>Creation of a basic autoencoder using Keras and TensorFlow</vt:lpstr>
      <vt:lpstr>Creation of a basic autoencoder using Keras and TensorFlow</vt:lpstr>
      <vt:lpstr>Creation of a basic autoencoder using Keras and TensorFlow</vt:lpstr>
      <vt:lpstr>Creation of a basic autoencoder using Keras and TensorFlow</vt:lpstr>
      <vt:lpstr>Creation of a basic autoencoder using Keras and TensorFlow</vt:lpstr>
      <vt:lpstr>Creation of a basic autoencoder using Keras and TensorFlow</vt:lpstr>
      <vt:lpstr>Limitations of Autoencoders</vt:lpstr>
      <vt:lpstr>Hands On Exercise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69</cp:revision>
  <dcterms:modified xsi:type="dcterms:W3CDTF">2025-05-22T16:48:14Z</dcterms:modified>
</cp:coreProperties>
</file>