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98" r:id="rId5"/>
    <p:sldId id="503" r:id="rId6"/>
    <p:sldId id="518" r:id="rId7"/>
    <p:sldId id="525" r:id="rId8"/>
    <p:sldId id="504" r:id="rId9"/>
    <p:sldId id="526" r:id="rId10"/>
    <p:sldId id="528" r:id="rId11"/>
    <p:sldId id="527" r:id="rId12"/>
    <p:sldId id="529" r:id="rId13"/>
    <p:sldId id="530" r:id="rId14"/>
    <p:sldId id="531" r:id="rId15"/>
    <p:sldId id="533" r:id="rId16"/>
    <p:sldId id="532" r:id="rId17"/>
    <p:sldId id="534" r:id="rId18"/>
    <p:sldId id="535" r:id="rId19"/>
    <p:sldId id="536" r:id="rId20"/>
    <p:sldId id="537" r:id="rId21"/>
    <p:sldId id="538" r:id="rId22"/>
    <p:sldId id="370" r:id="rId23"/>
    <p:sldId id="312" r:id="rId24"/>
    <p:sldId id="275" r:id="rId25"/>
    <p:sldId id="276" r:id="rId26"/>
  </p:sldIdLst>
  <p:sldSz cx="9144000" cy="5143500" type="screen16x9"/>
  <p:notesSz cx="6858000" cy="9144000"/>
  <p:embeddedFontLst>
    <p:embeddedFont>
      <p:font typeface="IBM Plex Sans Arabic" panose="020B0603050203000203" pitchFamily="34" charset="-78"/>
      <p:regular r:id="rId28"/>
      <p:bold r:id="rId29"/>
    </p:embeddedFont>
    <p:embeddedFont>
      <p:font typeface="IBM Plex Sans Arabic Medium" panose="020B0603050203000203" pitchFamily="34" charset="-78"/>
      <p:regular r:id="rId30"/>
      <p:bold r:id="rId31"/>
    </p:embeddedFont>
    <p:embeddedFont>
      <p:font typeface="IBM Plex Sans Arabic SemiBold" panose="020B0603050203000203" pitchFamily="34" charset="-78"/>
      <p:regular r:id="rId32"/>
      <p:bold r:id="rId33"/>
    </p:embeddedFont>
    <p:embeddedFont>
      <p:font typeface="Inter" panose="020F0502020204030204" pitchFamily="34" charset="0"/>
      <p:regular r:id="rId34"/>
      <p:bold r:id="rId35"/>
      <p:italic r:id="rId36"/>
      <p:boldItalic r:id="rId37"/>
    </p:embeddedFont>
    <p:embeddedFont>
      <p:font typeface="Nunito" pitchFamily="2" charset="77"/>
      <p:regular r:id="rId38"/>
      <p:bold r:id="rId39"/>
      <p:italic r:id="rId40"/>
      <p:boldItalic r:id="rId41"/>
    </p:embeddedFont>
    <p:embeddedFont>
      <p:font typeface="Tajawal" pitchFamily="2" charset="-78"/>
      <p:regular r:id="rId42"/>
      <p:bold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524">
          <p15:clr>
            <a:srgbClr val="747775"/>
          </p15:clr>
        </p15:guide>
        <p15:guide id="2" orient="horz" pos="2560">
          <p15:clr>
            <a:srgbClr val="747775"/>
          </p15:clr>
        </p15:guide>
        <p15:guide id="3" pos="2880">
          <p15:clr>
            <a:srgbClr val="747775"/>
          </p15:clr>
        </p15:guide>
        <p15:guide id="4" orient="horz" pos="759">
          <p15:clr>
            <a:srgbClr val="747775"/>
          </p15:clr>
        </p15:guide>
        <p15:guide id="5" orient="horz" pos="2428">
          <p15:clr>
            <a:srgbClr val="747775"/>
          </p15:clr>
        </p15:guide>
        <p15:guide id="6" pos="5325">
          <p15:clr>
            <a:srgbClr val="747775"/>
          </p15:clr>
        </p15:guide>
        <p15:guide id="7" orient="horz" pos="96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gKcFO/Xev719AjEfE5iQO6xfjKK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41E1F5B-7058-4A9B-AF8C-0847D0C7EE07}">
  <a:tblStyle styleId="{541E1F5B-7058-4A9B-AF8C-0847D0C7EE07}" styleName="Table_0">
    <a:wholeTbl>
      <a:tcTxStyle b="off" i="off">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06"/>
    <p:restoredTop sz="94227"/>
  </p:normalViewPr>
  <p:slideViewPr>
    <p:cSldViewPr snapToGrid="0">
      <p:cViewPr varScale="1">
        <p:scale>
          <a:sx n="177" d="100"/>
          <a:sy n="177" d="100"/>
        </p:scale>
        <p:origin x="192" y="696"/>
      </p:cViewPr>
      <p:guideLst>
        <p:guide orient="horz" pos="524"/>
        <p:guide orient="horz" pos="2560"/>
        <p:guide pos="2880"/>
        <p:guide orient="horz" pos="759"/>
        <p:guide orient="horz" pos="2428"/>
        <p:guide pos="5325"/>
        <p:guide orient="horz" pos="9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 name="Google Shape;4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CE20816-1F24-46D9-89DD-6FFEE700F24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7CD495B-FC5A-F226-2523-6E0861CBC8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B7203EE-8E11-9321-099D-0620FB183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39817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0065B93A-00C4-D41B-06F0-133DF88855B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2C4C2858-DCCF-786B-55FC-B62762E27E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DB6DD939-FEC6-2679-455E-7BE150A274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10076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5CBAC49F-E8BA-5CF9-2EE8-634D4A0B7CAD}"/>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64E7AFF-8380-E297-29B1-2B74370741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B6810974-39C8-D48B-DE20-A08FC8735B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71546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003D590-2161-B1D4-5B79-B825CB3BF6CB}"/>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B39CDDA-B6BE-E0B6-737F-E4222ED0E6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EF975B8-F3F0-0F8E-BB48-C47D2D292B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116401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3A209BA-8FFB-3612-9EE1-DFA08C4FBFB1}"/>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A9E66AC-B9FB-6360-E472-ACAB08571D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48E2480-0A65-000A-0E22-213D020348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0581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A9D5BDA-8867-86C5-A367-7D62A9D5427E}"/>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9164FAF9-1250-3FB2-3236-F97444A327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B16F4C05-6516-FEB3-8C8E-CCA80212B5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96172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C183F65-06A4-F9E9-F38C-FC80ECDBD73F}"/>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DEDBEBA1-147E-E875-B16D-F72EF31FC8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EA59017F-5DEF-334E-069E-D9A90BF393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8291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CF818E2-6BC3-FA5E-2CA5-B18BC32D4439}"/>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3433A79-30AB-790A-2807-452285AAAF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5DB14CC1-7068-E80D-984C-6038C019103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603192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460B7EF-FF05-C104-993E-CF11BD262ADA}"/>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4CBB3ED-8DBB-3812-CE20-065924023B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CA065259-0443-BCBA-246D-57BD63921E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509256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7E3B172A-B158-CD6E-3D53-043DB8394B68}"/>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A08DFF9F-D46E-DFC5-2EE2-97FB834346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7FC670D1-7936-7EA6-9B07-39850AD7C8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80432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991614C-9FC1-0176-AF30-2A093BE1F116}"/>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876F9D5-1CC9-9A4E-5548-07501CBC28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107A5A03-EFB1-6AB3-B246-0719709E04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49436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430BF550-E187-06BC-C2A6-C474A815DF1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E1134B9-D9C5-BB04-BC7A-B096AD82BC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83C9632E-DC13-B285-7FFE-DF1261471E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65533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1D35F11-694F-7529-5C04-C94873D2F61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0419BED-B3CE-732C-79A1-001B24AB97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4BCBFCD6-A931-5296-585A-A200BA894D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8165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ACC31AB4-C45E-FC9E-1482-3096DD5D915D}"/>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5068D788-1E28-4749-CD1E-EF5AD67A36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609C5B54-BF8B-569A-0157-AB9A301779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03979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D79515AC-E61E-31A1-7118-4CA3DD83C034}"/>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B76203E9-D616-C9EC-7225-0414A26D9F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9940BE8A-4327-D460-F50A-DC654FF303E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75345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8EFBE3F-8DA6-4CD5-BA78-DEE8FA8D9CD0}"/>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45FD3D5E-4880-BF4C-54A4-01B216BFA6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AF85F5D9-36FC-AE2A-45FF-03E64869AA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061420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2250B7FE-A31C-375B-C4FC-84D4CD33117C}"/>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0599E2B2-23E6-C8F2-8F0C-55C3DA56993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F2A15455-7E31-D522-CF48-C394345CC2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01763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E0105467-8A25-0934-8E49-AF47CFB6D1F2}"/>
            </a:ext>
          </a:extLst>
        </p:cNvPr>
        <p:cNvGrpSpPr/>
        <p:nvPr/>
      </p:nvGrpSpPr>
      <p:grpSpPr>
        <a:xfrm>
          <a:off x="0" y="0"/>
          <a:ext cx="0" cy="0"/>
          <a:chOff x="0" y="0"/>
          <a:chExt cx="0" cy="0"/>
        </a:xfrm>
      </p:grpSpPr>
      <p:sp>
        <p:nvSpPr>
          <p:cNvPr id="58" name="Google Shape;58;p4:notes">
            <a:extLst>
              <a:ext uri="{FF2B5EF4-FFF2-40B4-BE49-F238E27FC236}">
                <a16:creationId xmlns:a16="http://schemas.microsoft.com/office/drawing/2014/main" id="{C9642DDC-3D8B-4109-1E26-3BB58C796A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p4:notes">
            <a:extLst>
              <a:ext uri="{FF2B5EF4-FFF2-40B4-BE49-F238E27FC236}">
                <a16:creationId xmlns:a16="http://schemas.microsoft.com/office/drawing/2014/main" id="{378353D6-ABCE-0851-B270-75E6DBFCAC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411644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3BECD89B-AAA3-F8FE-DFBC-CC79A9A4E0AF}"/>
            </a:ext>
          </a:extLst>
        </p:cNvPr>
        <p:cNvGrpSpPr/>
        <p:nvPr/>
      </p:nvGrpSpPr>
      <p:grpSpPr>
        <a:xfrm>
          <a:off x="0" y="0"/>
          <a:ext cx="0" cy="0"/>
          <a:chOff x="0" y="0"/>
          <a:chExt cx="0" cy="0"/>
        </a:xfrm>
      </p:grpSpPr>
      <p:sp>
        <p:nvSpPr>
          <p:cNvPr id="81" name="Google Shape;81;p7:notes">
            <a:extLst>
              <a:ext uri="{FF2B5EF4-FFF2-40B4-BE49-F238E27FC236}">
                <a16:creationId xmlns:a16="http://schemas.microsoft.com/office/drawing/2014/main" id="{F508F7A9-5506-B123-0264-14DD3EE9026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7:notes">
            <a:extLst>
              <a:ext uri="{FF2B5EF4-FFF2-40B4-BE49-F238E27FC236}">
                <a16:creationId xmlns:a16="http://schemas.microsoft.com/office/drawing/2014/main" id="{CCD177CE-FC44-74CB-378D-8296859D59C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202857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4" name="Google Shape;214;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number">
  <p:cSld name="BIG_NUMBER">
    <p:bg>
      <p:bgPr>
        <a:blipFill>
          <a:blip r:embed="rId2">
            <a:alphaModFix/>
          </a:blip>
          <a:stretch>
            <a:fillRect/>
          </a:stretch>
        </a:blipFill>
        <a:effectLst/>
      </p:bgPr>
    </p:bg>
    <p:spTree>
      <p:nvGrpSpPr>
        <p:cNvPr id="1" name="Shape 10"/>
        <p:cNvGrpSpPr/>
        <p:nvPr/>
      </p:nvGrpSpPr>
      <p:grpSpPr>
        <a:xfrm>
          <a:off x="0" y="0"/>
          <a:ext cx="0" cy="0"/>
          <a:chOff x="0" y="0"/>
          <a:chExt cx="0" cy="0"/>
        </a:xfrm>
      </p:grpSpPr>
      <p:sp>
        <p:nvSpPr>
          <p:cNvPr id="11" name="Google Shape;11;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12000"/>
              <a:buNone/>
              <a:defRPr sz="12000"/>
            </a:lvl1pPr>
            <a:lvl2pPr lvl="1" algn="ctr" rtl="1">
              <a:lnSpc>
                <a:spcPct val="100000"/>
              </a:lnSpc>
              <a:spcBef>
                <a:spcPts val="0"/>
              </a:spcBef>
              <a:spcAft>
                <a:spcPts val="0"/>
              </a:spcAft>
              <a:buSzPts val="12000"/>
              <a:buNone/>
              <a:defRPr sz="12000"/>
            </a:lvl2pPr>
            <a:lvl3pPr lvl="2" algn="ctr" rtl="1">
              <a:lnSpc>
                <a:spcPct val="100000"/>
              </a:lnSpc>
              <a:spcBef>
                <a:spcPts val="0"/>
              </a:spcBef>
              <a:spcAft>
                <a:spcPts val="0"/>
              </a:spcAft>
              <a:buSzPts val="12000"/>
              <a:buNone/>
              <a:defRPr sz="12000"/>
            </a:lvl3pPr>
            <a:lvl4pPr lvl="3" algn="ctr" rtl="1">
              <a:lnSpc>
                <a:spcPct val="100000"/>
              </a:lnSpc>
              <a:spcBef>
                <a:spcPts val="0"/>
              </a:spcBef>
              <a:spcAft>
                <a:spcPts val="0"/>
              </a:spcAft>
              <a:buSzPts val="12000"/>
              <a:buNone/>
              <a:defRPr sz="12000"/>
            </a:lvl4pPr>
            <a:lvl5pPr lvl="4" algn="ctr" rtl="1">
              <a:lnSpc>
                <a:spcPct val="100000"/>
              </a:lnSpc>
              <a:spcBef>
                <a:spcPts val="0"/>
              </a:spcBef>
              <a:spcAft>
                <a:spcPts val="0"/>
              </a:spcAft>
              <a:buSzPts val="12000"/>
              <a:buNone/>
              <a:defRPr sz="12000"/>
            </a:lvl5pPr>
            <a:lvl6pPr lvl="5" algn="ctr" rtl="1">
              <a:lnSpc>
                <a:spcPct val="100000"/>
              </a:lnSpc>
              <a:spcBef>
                <a:spcPts val="0"/>
              </a:spcBef>
              <a:spcAft>
                <a:spcPts val="0"/>
              </a:spcAft>
              <a:buSzPts val="12000"/>
              <a:buNone/>
              <a:defRPr sz="12000"/>
            </a:lvl6pPr>
            <a:lvl7pPr lvl="6" algn="ctr" rtl="1">
              <a:lnSpc>
                <a:spcPct val="100000"/>
              </a:lnSpc>
              <a:spcBef>
                <a:spcPts val="0"/>
              </a:spcBef>
              <a:spcAft>
                <a:spcPts val="0"/>
              </a:spcAft>
              <a:buSzPts val="12000"/>
              <a:buNone/>
              <a:defRPr sz="12000"/>
            </a:lvl7pPr>
            <a:lvl8pPr lvl="7" algn="ctr" rtl="1">
              <a:lnSpc>
                <a:spcPct val="100000"/>
              </a:lnSpc>
              <a:spcBef>
                <a:spcPts val="0"/>
              </a:spcBef>
              <a:spcAft>
                <a:spcPts val="0"/>
              </a:spcAft>
              <a:buSzPts val="12000"/>
              <a:buNone/>
              <a:defRPr sz="12000"/>
            </a:lvl8pPr>
            <a:lvl9pPr lvl="8" algn="ctr" rtl="1">
              <a:lnSpc>
                <a:spcPct val="100000"/>
              </a:lnSpc>
              <a:spcBef>
                <a:spcPts val="0"/>
              </a:spcBef>
              <a:spcAft>
                <a:spcPts val="0"/>
              </a:spcAft>
              <a:buSzPts val="12000"/>
              <a:buNone/>
              <a:defRPr sz="12000"/>
            </a:lvl9pPr>
          </a:lstStyle>
          <a:p>
            <a:r>
              <a:t>xx%</a:t>
            </a:r>
          </a:p>
        </p:txBody>
      </p:sp>
      <p:pic>
        <p:nvPicPr>
          <p:cNvPr id="12" name="Google Shape;12;p23"/>
          <p:cNvPicPr preferRelativeResize="0"/>
          <p:nvPr/>
        </p:nvPicPr>
        <p:blipFill rotWithShape="1">
          <a:blip r:embed="rId3">
            <a:alphaModFix/>
          </a:blip>
          <a:srcRect/>
          <a:stretch/>
        </p:blipFill>
        <p:spPr>
          <a:xfrm>
            <a:off x="7527371" y="317427"/>
            <a:ext cx="1356656" cy="265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300"/>
              <a:buFont typeface="Tajawal"/>
              <a:buNone/>
              <a:defRPr sz="4300" b="1">
                <a:latin typeface="Tajawal"/>
                <a:ea typeface="Tajawal"/>
                <a:cs typeface="Tajawal"/>
                <a:sym typeface="Tajawal"/>
              </a:defRPr>
            </a:lvl1pPr>
            <a:lvl2pPr lvl="1" algn="ctr" rtl="1">
              <a:lnSpc>
                <a:spcPct val="100000"/>
              </a:lnSpc>
              <a:spcBef>
                <a:spcPts val="0"/>
              </a:spcBef>
              <a:spcAft>
                <a:spcPts val="0"/>
              </a:spcAft>
              <a:buSzPts val="4900"/>
              <a:buFont typeface="Tajawal"/>
              <a:buNone/>
              <a:defRPr sz="4900">
                <a:latin typeface="Tajawal"/>
                <a:ea typeface="Tajawal"/>
                <a:cs typeface="Tajawal"/>
                <a:sym typeface="Tajawal"/>
              </a:defRPr>
            </a:lvl2pPr>
            <a:lvl3pPr lvl="2" algn="ctr" rtl="1">
              <a:lnSpc>
                <a:spcPct val="100000"/>
              </a:lnSpc>
              <a:spcBef>
                <a:spcPts val="0"/>
              </a:spcBef>
              <a:spcAft>
                <a:spcPts val="0"/>
              </a:spcAft>
              <a:buSzPts val="4900"/>
              <a:buFont typeface="Tajawal"/>
              <a:buNone/>
              <a:defRPr sz="4900">
                <a:latin typeface="Tajawal"/>
                <a:ea typeface="Tajawal"/>
                <a:cs typeface="Tajawal"/>
                <a:sym typeface="Tajawal"/>
              </a:defRPr>
            </a:lvl3pPr>
            <a:lvl4pPr lvl="3" algn="ctr" rtl="1">
              <a:lnSpc>
                <a:spcPct val="100000"/>
              </a:lnSpc>
              <a:spcBef>
                <a:spcPts val="0"/>
              </a:spcBef>
              <a:spcAft>
                <a:spcPts val="0"/>
              </a:spcAft>
              <a:buSzPts val="4900"/>
              <a:buFont typeface="Tajawal"/>
              <a:buNone/>
              <a:defRPr sz="4900">
                <a:latin typeface="Tajawal"/>
                <a:ea typeface="Tajawal"/>
                <a:cs typeface="Tajawal"/>
                <a:sym typeface="Tajawal"/>
              </a:defRPr>
            </a:lvl4pPr>
            <a:lvl5pPr lvl="4" algn="ctr" rtl="1">
              <a:lnSpc>
                <a:spcPct val="100000"/>
              </a:lnSpc>
              <a:spcBef>
                <a:spcPts val="0"/>
              </a:spcBef>
              <a:spcAft>
                <a:spcPts val="0"/>
              </a:spcAft>
              <a:buSzPts val="4900"/>
              <a:buFont typeface="Tajawal"/>
              <a:buNone/>
              <a:defRPr sz="4900">
                <a:latin typeface="Tajawal"/>
                <a:ea typeface="Tajawal"/>
                <a:cs typeface="Tajawal"/>
                <a:sym typeface="Tajawal"/>
              </a:defRPr>
            </a:lvl5pPr>
            <a:lvl6pPr lvl="5" algn="ctr" rtl="1">
              <a:lnSpc>
                <a:spcPct val="100000"/>
              </a:lnSpc>
              <a:spcBef>
                <a:spcPts val="0"/>
              </a:spcBef>
              <a:spcAft>
                <a:spcPts val="0"/>
              </a:spcAft>
              <a:buSzPts val="4900"/>
              <a:buFont typeface="Tajawal"/>
              <a:buNone/>
              <a:defRPr sz="4900">
                <a:latin typeface="Tajawal"/>
                <a:ea typeface="Tajawal"/>
                <a:cs typeface="Tajawal"/>
                <a:sym typeface="Tajawal"/>
              </a:defRPr>
            </a:lvl6pPr>
            <a:lvl7pPr lvl="6" algn="ctr" rtl="1">
              <a:lnSpc>
                <a:spcPct val="100000"/>
              </a:lnSpc>
              <a:spcBef>
                <a:spcPts val="0"/>
              </a:spcBef>
              <a:spcAft>
                <a:spcPts val="0"/>
              </a:spcAft>
              <a:buSzPts val="4900"/>
              <a:buFont typeface="Tajawal"/>
              <a:buNone/>
              <a:defRPr sz="4900">
                <a:latin typeface="Tajawal"/>
                <a:ea typeface="Tajawal"/>
                <a:cs typeface="Tajawal"/>
                <a:sym typeface="Tajawal"/>
              </a:defRPr>
            </a:lvl7pPr>
            <a:lvl8pPr lvl="7" algn="ctr" rtl="1">
              <a:lnSpc>
                <a:spcPct val="100000"/>
              </a:lnSpc>
              <a:spcBef>
                <a:spcPts val="0"/>
              </a:spcBef>
              <a:spcAft>
                <a:spcPts val="0"/>
              </a:spcAft>
              <a:buSzPts val="4900"/>
              <a:buFont typeface="Tajawal"/>
              <a:buNone/>
              <a:defRPr sz="4900">
                <a:latin typeface="Tajawal"/>
                <a:ea typeface="Tajawal"/>
                <a:cs typeface="Tajawal"/>
                <a:sym typeface="Tajawal"/>
              </a:defRPr>
            </a:lvl8pPr>
            <a:lvl9pPr lvl="8" algn="ctr" rtl="1">
              <a:lnSpc>
                <a:spcPct val="100000"/>
              </a:lnSpc>
              <a:spcBef>
                <a:spcPts val="0"/>
              </a:spcBef>
              <a:spcAft>
                <a:spcPts val="0"/>
              </a:spcAft>
              <a:buSzPts val="4900"/>
              <a:buFont typeface="Tajawal"/>
              <a:buNone/>
              <a:defRPr sz="4900">
                <a:latin typeface="Tajawal"/>
                <a:ea typeface="Tajawal"/>
                <a:cs typeface="Tajawal"/>
                <a:sym typeface="Tajawal"/>
              </a:defRPr>
            </a:lvl9pPr>
          </a:lstStyle>
          <a:p>
            <a:endParaRPr/>
          </a:p>
        </p:txBody>
      </p:sp>
      <p:sp>
        <p:nvSpPr>
          <p:cNvPr id="15" name="Google Shape;15;p2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500"/>
              <a:buFont typeface="Tajawal"/>
              <a:buNone/>
              <a:defRPr sz="2500">
                <a:latin typeface="Tajawal"/>
                <a:ea typeface="Tajawal"/>
                <a:cs typeface="Tajawal"/>
                <a:sym typeface="Tajawal"/>
              </a:defRPr>
            </a:lvl1pPr>
            <a:lvl2pPr lvl="1" algn="ctr" rtl="1">
              <a:lnSpc>
                <a:spcPct val="100000"/>
              </a:lnSpc>
              <a:spcBef>
                <a:spcPts val="0"/>
              </a:spcBef>
              <a:spcAft>
                <a:spcPts val="0"/>
              </a:spcAft>
              <a:buSzPts val="2500"/>
              <a:buFont typeface="Tajawal"/>
              <a:buNone/>
              <a:defRPr sz="2500">
                <a:latin typeface="Tajawal"/>
                <a:ea typeface="Tajawal"/>
                <a:cs typeface="Tajawal"/>
                <a:sym typeface="Tajawal"/>
              </a:defRPr>
            </a:lvl2pPr>
            <a:lvl3pPr lvl="2" algn="ctr" rtl="1">
              <a:lnSpc>
                <a:spcPct val="100000"/>
              </a:lnSpc>
              <a:spcBef>
                <a:spcPts val="0"/>
              </a:spcBef>
              <a:spcAft>
                <a:spcPts val="0"/>
              </a:spcAft>
              <a:buSzPts val="2500"/>
              <a:buFont typeface="Tajawal"/>
              <a:buNone/>
              <a:defRPr sz="2500">
                <a:latin typeface="Tajawal"/>
                <a:ea typeface="Tajawal"/>
                <a:cs typeface="Tajawal"/>
                <a:sym typeface="Tajawal"/>
              </a:defRPr>
            </a:lvl3pPr>
            <a:lvl4pPr lvl="3" algn="ctr" rtl="1">
              <a:lnSpc>
                <a:spcPct val="100000"/>
              </a:lnSpc>
              <a:spcBef>
                <a:spcPts val="0"/>
              </a:spcBef>
              <a:spcAft>
                <a:spcPts val="0"/>
              </a:spcAft>
              <a:buSzPts val="2500"/>
              <a:buFont typeface="Tajawal"/>
              <a:buNone/>
              <a:defRPr sz="2500">
                <a:latin typeface="Tajawal"/>
                <a:ea typeface="Tajawal"/>
                <a:cs typeface="Tajawal"/>
                <a:sym typeface="Tajawal"/>
              </a:defRPr>
            </a:lvl4pPr>
            <a:lvl5pPr lvl="4" algn="ctr" rtl="1">
              <a:lnSpc>
                <a:spcPct val="100000"/>
              </a:lnSpc>
              <a:spcBef>
                <a:spcPts val="0"/>
              </a:spcBef>
              <a:spcAft>
                <a:spcPts val="0"/>
              </a:spcAft>
              <a:buSzPts val="2500"/>
              <a:buFont typeface="Tajawal"/>
              <a:buNone/>
              <a:defRPr sz="2500">
                <a:latin typeface="Tajawal"/>
                <a:ea typeface="Tajawal"/>
                <a:cs typeface="Tajawal"/>
                <a:sym typeface="Tajawal"/>
              </a:defRPr>
            </a:lvl5pPr>
            <a:lvl6pPr lvl="5" algn="ctr" rtl="1">
              <a:lnSpc>
                <a:spcPct val="100000"/>
              </a:lnSpc>
              <a:spcBef>
                <a:spcPts val="0"/>
              </a:spcBef>
              <a:spcAft>
                <a:spcPts val="0"/>
              </a:spcAft>
              <a:buSzPts val="2500"/>
              <a:buFont typeface="Tajawal"/>
              <a:buNone/>
              <a:defRPr sz="2500">
                <a:latin typeface="Tajawal"/>
                <a:ea typeface="Tajawal"/>
                <a:cs typeface="Tajawal"/>
                <a:sym typeface="Tajawal"/>
              </a:defRPr>
            </a:lvl6pPr>
            <a:lvl7pPr lvl="6" algn="ctr" rtl="1">
              <a:lnSpc>
                <a:spcPct val="100000"/>
              </a:lnSpc>
              <a:spcBef>
                <a:spcPts val="0"/>
              </a:spcBef>
              <a:spcAft>
                <a:spcPts val="0"/>
              </a:spcAft>
              <a:buSzPts val="2500"/>
              <a:buFont typeface="Tajawal"/>
              <a:buNone/>
              <a:defRPr sz="2500">
                <a:latin typeface="Tajawal"/>
                <a:ea typeface="Tajawal"/>
                <a:cs typeface="Tajawal"/>
                <a:sym typeface="Tajawal"/>
              </a:defRPr>
            </a:lvl7pPr>
            <a:lvl8pPr lvl="7" algn="ctr" rtl="1">
              <a:lnSpc>
                <a:spcPct val="100000"/>
              </a:lnSpc>
              <a:spcBef>
                <a:spcPts val="0"/>
              </a:spcBef>
              <a:spcAft>
                <a:spcPts val="0"/>
              </a:spcAft>
              <a:buSzPts val="2500"/>
              <a:buFont typeface="Tajawal"/>
              <a:buNone/>
              <a:defRPr sz="2500">
                <a:latin typeface="Tajawal"/>
                <a:ea typeface="Tajawal"/>
                <a:cs typeface="Tajawal"/>
                <a:sym typeface="Tajawal"/>
              </a:defRPr>
            </a:lvl8pPr>
            <a:lvl9pPr lvl="8" algn="ctr" rtl="1">
              <a:lnSpc>
                <a:spcPct val="100000"/>
              </a:lnSpc>
              <a:spcBef>
                <a:spcPts val="0"/>
              </a:spcBef>
              <a:spcAft>
                <a:spcPts val="0"/>
              </a:spcAft>
              <a:buSzPts val="2500"/>
              <a:buFont typeface="Tajawal"/>
              <a:buNone/>
              <a:defRPr sz="2500">
                <a:latin typeface="Tajawal"/>
                <a:ea typeface="Tajawal"/>
                <a:cs typeface="Tajawal"/>
                <a:sym typeface="Tajawal"/>
              </a:defRPr>
            </a:lvl9pPr>
          </a:lstStyle>
          <a:p>
            <a:endParaRPr/>
          </a:p>
        </p:txBody>
      </p:sp>
      <p:sp>
        <p:nvSpPr>
          <p:cNvPr id="16" name="Google Shape;1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25"/>
          <p:cNvSpPr txBox="1">
            <a:spLocks noGrp="1"/>
          </p:cNvSpPr>
          <p:nvPr>
            <p:ph type="title"/>
          </p:nvPr>
        </p:nvSpPr>
        <p:spPr>
          <a:xfrm>
            <a:off x="2079450" y="445025"/>
            <a:ext cx="6707400" cy="6279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rtl="1">
              <a:lnSpc>
                <a:spcPct val="100000"/>
              </a:lnSpc>
              <a:spcBef>
                <a:spcPts val="0"/>
              </a:spcBef>
              <a:spcAft>
                <a:spcPts val="0"/>
              </a:spcAft>
              <a:buClr>
                <a:srgbClr val="543198"/>
              </a:buClr>
              <a:buSzPts val="2800"/>
              <a:buNone/>
              <a:defRPr b="1">
                <a:solidFill>
                  <a:srgbClr val="543198"/>
                </a:solidFill>
              </a:defRPr>
            </a:lvl2pPr>
            <a:lvl3pPr lvl="2" algn="l" rtl="1">
              <a:lnSpc>
                <a:spcPct val="100000"/>
              </a:lnSpc>
              <a:spcBef>
                <a:spcPts val="0"/>
              </a:spcBef>
              <a:spcAft>
                <a:spcPts val="0"/>
              </a:spcAft>
              <a:buClr>
                <a:srgbClr val="543198"/>
              </a:buClr>
              <a:buSzPts val="2800"/>
              <a:buNone/>
              <a:defRPr b="1">
                <a:solidFill>
                  <a:srgbClr val="543198"/>
                </a:solidFill>
              </a:defRPr>
            </a:lvl3pPr>
            <a:lvl4pPr lvl="3" algn="l" rtl="1">
              <a:lnSpc>
                <a:spcPct val="100000"/>
              </a:lnSpc>
              <a:spcBef>
                <a:spcPts val="0"/>
              </a:spcBef>
              <a:spcAft>
                <a:spcPts val="0"/>
              </a:spcAft>
              <a:buClr>
                <a:srgbClr val="543198"/>
              </a:buClr>
              <a:buSzPts val="2800"/>
              <a:buNone/>
              <a:defRPr b="1">
                <a:solidFill>
                  <a:srgbClr val="543198"/>
                </a:solidFill>
              </a:defRPr>
            </a:lvl4pPr>
            <a:lvl5pPr lvl="4" algn="l" rtl="1">
              <a:lnSpc>
                <a:spcPct val="100000"/>
              </a:lnSpc>
              <a:spcBef>
                <a:spcPts val="0"/>
              </a:spcBef>
              <a:spcAft>
                <a:spcPts val="0"/>
              </a:spcAft>
              <a:buClr>
                <a:srgbClr val="543198"/>
              </a:buClr>
              <a:buSzPts val="2800"/>
              <a:buNone/>
              <a:defRPr b="1">
                <a:solidFill>
                  <a:srgbClr val="543198"/>
                </a:solidFill>
              </a:defRPr>
            </a:lvl5pPr>
            <a:lvl6pPr lvl="5" algn="l" rtl="1">
              <a:lnSpc>
                <a:spcPct val="100000"/>
              </a:lnSpc>
              <a:spcBef>
                <a:spcPts val="0"/>
              </a:spcBef>
              <a:spcAft>
                <a:spcPts val="0"/>
              </a:spcAft>
              <a:buClr>
                <a:srgbClr val="543198"/>
              </a:buClr>
              <a:buSzPts val="2800"/>
              <a:buNone/>
              <a:defRPr b="1">
                <a:solidFill>
                  <a:srgbClr val="543198"/>
                </a:solidFill>
              </a:defRPr>
            </a:lvl6pPr>
            <a:lvl7pPr lvl="6" algn="l" rtl="1">
              <a:lnSpc>
                <a:spcPct val="100000"/>
              </a:lnSpc>
              <a:spcBef>
                <a:spcPts val="0"/>
              </a:spcBef>
              <a:spcAft>
                <a:spcPts val="0"/>
              </a:spcAft>
              <a:buClr>
                <a:srgbClr val="543198"/>
              </a:buClr>
              <a:buSzPts val="2800"/>
              <a:buNone/>
              <a:defRPr b="1">
                <a:solidFill>
                  <a:srgbClr val="543198"/>
                </a:solidFill>
              </a:defRPr>
            </a:lvl7pPr>
            <a:lvl8pPr lvl="7" algn="l" rtl="1">
              <a:lnSpc>
                <a:spcPct val="100000"/>
              </a:lnSpc>
              <a:spcBef>
                <a:spcPts val="0"/>
              </a:spcBef>
              <a:spcAft>
                <a:spcPts val="0"/>
              </a:spcAft>
              <a:buClr>
                <a:srgbClr val="543198"/>
              </a:buClr>
              <a:buSzPts val="2800"/>
              <a:buNone/>
              <a:defRPr b="1">
                <a:solidFill>
                  <a:srgbClr val="543198"/>
                </a:solidFill>
              </a:defRPr>
            </a:lvl8pPr>
            <a:lvl9pPr lvl="8" algn="l" rtl="1">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0" name="Google Shape;20;p25"/>
          <p:cNvSpPr txBox="1">
            <a:spLocks noGrp="1"/>
          </p:cNvSpPr>
          <p:nvPr>
            <p:ph type="body" idx="1"/>
          </p:nvPr>
        </p:nvSpPr>
        <p:spPr>
          <a:xfrm>
            <a:off x="2758650" y="1334150"/>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blipFill>
          <a:blip r:embed="rId2">
            <a:alphaModFix/>
          </a:blip>
          <a:stretch>
            <a:fillRect/>
          </a:stretch>
        </a:blipFill>
        <a:effectLst/>
      </p:bgPr>
    </p:bg>
    <p:spTree>
      <p:nvGrpSpPr>
        <p:cNvPr id="1" name="Shape 21"/>
        <p:cNvGrpSpPr/>
        <p:nvPr/>
      </p:nvGrpSpPr>
      <p:grpSpPr>
        <a:xfrm>
          <a:off x="0" y="0"/>
          <a:ext cx="0" cy="0"/>
          <a:chOff x="0" y="0"/>
          <a:chExt cx="0" cy="0"/>
        </a:xfrm>
      </p:grpSpPr>
      <p:sp>
        <p:nvSpPr>
          <p:cNvPr id="22" name="Google Shape;22;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rtl="1">
              <a:lnSpc>
                <a:spcPct val="100000"/>
              </a:lnSpc>
              <a:spcBef>
                <a:spcPts val="0"/>
              </a:spcBef>
              <a:spcAft>
                <a:spcPts val="0"/>
              </a:spcAft>
              <a:buSzPts val="3600"/>
              <a:buFont typeface="Tajawal"/>
              <a:buNone/>
              <a:defRPr sz="3600">
                <a:latin typeface="Tajawal"/>
                <a:ea typeface="Tajawal"/>
                <a:cs typeface="Tajawal"/>
                <a:sym typeface="Tajawal"/>
              </a:defRPr>
            </a:lvl1pPr>
            <a:lvl2pPr lvl="1" algn="ctr" rtl="1">
              <a:lnSpc>
                <a:spcPct val="100000"/>
              </a:lnSpc>
              <a:spcBef>
                <a:spcPts val="0"/>
              </a:spcBef>
              <a:spcAft>
                <a:spcPts val="0"/>
              </a:spcAft>
              <a:buSzPts val="3600"/>
              <a:buFont typeface="Tajawal"/>
              <a:buNone/>
              <a:defRPr sz="3600">
                <a:latin typeface="Tajawal"/>
                <a:ea typeface="Tajawal"/>
                <a:cs typeface="Tajawal"/>
                <a:sym typeface="Tajawal"/>
              </a:defRPr>
            </a:lvl2pPr>
            <a:lvl3pPr lvl="2" algn="ctr" rtl="1">
              <a:lnSpc>
                <a:spcPct val="100000"/>
              </a:lnSpc>
              <a:spcBef>
                <a:spcPts val="0"/>
              </a:spcBef>
              <a:spcAft>
                <a:spcPts val="0"/>
              </a:spcAft>
              <a:buSzPts val="3600"/>
              <a:buFont typeface="Tajawal"/>
              <a:buNone/>
              <a:defRPr sz="3600">
                <a:latin typeface="Tajawal"/>
                <a:ea typeface="Tajawal"/>
                <a:cs typeface="Tajawal"/>
                <a:sym typeface="Tajawal"/>
              </a:defRPr>
            </a:lvl3pPr>
            <a:lvl4pPr lvl="3" algn="ctr" rtl="1">
              <a:lnSpc>
                <a:spcPct val="100000"/>
              </a:lnSpc>
              <a:spcBef>
                <a:spcPts val="0"/>
              </a:spcBef>
              <a:spcAft>
                <a:spcPts val="0"/>
              </a:spcAft>
              <a:buSzPts val="3600"/>
              <a:buFont typeface="Tajawal"/>
              <a:buNone/>
              <a:defRPr sz="3600">
                <a:latin typeface="Tajawal"/>
                <a:ea typeface="Tajawal"/>
                <a:cs typeface="Tajawal"/>
                <a:sym typeface="Tajawal"/>
              </a:defRPr>
            </a:lvl4pPr>
            <a:lvl5pPr lvl="4" algn="ctr" rtl="1">
              <a:lnSpc>
                <a:spcPct val="100000"/>
              </a:lnSpc>
              <a:spcBef>
                <a:spcPts val="0"/>
              </a:spcBef>
              <a:spcAft>
                <a:spcPts val="0"/>
              </a:spcAft>
              <a:buSzPts val="3600"/>
              <a:buFont typeface="Tajawal"/>
              <a:buNone/>
              <a:defRPr sz="3600">
                <a:latin typeface="Tajawal"/>
                <a:ea typeface="Tajawal"/>
                <a:cs typeface="Tajawal"/>
                <a:sym typeface="Tajawal"/>
              </a:defRPr>
            </a:lvl5pPr>
            <a:lvl6pPr lvl="5" algn="ctr" rtl="1">
              <a:lnSpc>
                <a:spcPct val="100000"/>
              </a:lnSpc>
              <a:spcBef>
                <a:spcPts val="0"/>
              </a:spcBef>
              <a:spcAft>
                <a:spcPts val="0"/>
              </a:spcAft>
              <a:buSzPts val="3600"/>
              <a:buFont typeface="Tajawal"/>
              <a:buNone/>
              <a:defRPr sz="3600">
                <a:latin typeface="Tajawal"/>
                <a:ea typeface="Tajawal"/>
                <a:cs typeface="Tajawal"/>
                <a:sym typeface="Tajawal"/>
              </a:defRPr>
            </a:lvl6pPr>
            <a:lvl7pPr lvl="6" algn="ctr" rtl="1">
              <a:lnSpc>
                <a:spcPct val="100000"/>
              </a:lnSpc>
              <a:spcBef>
                <a:spcPts val="0"/>
              </a:spcBef>
              <a:spcAft>
                <a:spcPts val="0"/>
              </a:spcAft>
              <a:buSzPts val="3600"/>
              <a:buFont typeface="Tajawal"/>
              <a:buNone/>
              <a:defRPr sz="3600">
                <a:latin typeface="Tajawal"/>
                <a:ea typeface="Tajawal"/>
                <a:cs typeface="Tajawal"/>
                <a:sym typeface="Tajawal"/>
              </a:defRPr>
            </a:lvl7pPr>
            <a:lvl8pPr lvl="7" algn="ctr" rtl="1">
              <a:lnSpc>
                <a:spcPct val="100000"/>
              </a:lnSpc>
              <a:spcBef>
                <a:spcPts val="0"/>
              </a:spcBef>
              <a:spcAft>
                <a:spcPts val="0"/>
              </a:spcAft>
              <a:buSzPts val="3600"/>
              <a:buFont typeface="Tajawal"/>
              <a:buNone/>
              <a:defRPr sz="3600">
                <a:latin typeface="Tajawal"/>
                <a:ea typeface="Tajawal"/>
                <a:cs typeface="Tajawal"/>
                <a:sym typeface="Tajawal"/>
              </a:defRPr>
            </a:lvl8pPr>
            <a:lvl9pPr lvl="8" algn="ctr" rtl="1">
              <a:lnSpc>
                <a:spcPct val="100000"/>
              </a:lnSpc>
              <a:spcBef>
                <a:spcPts val="0"/>
              </a:spcBef>
              <a:spcAft>
                <a:spcPts val="0"/>
              </a:spcAft>
              <a:buSzPts val="3600"/>
              <a:buFont typeface="Tajawal"/>
              <a:buNone/>
              <a:defRPr sz="3600">
                <a:latin typeface="Tajawal"/>
                <a:ea typeface="Tajawal"/>
                <a:cs typeface="Tajawal"/>
                <a:sym typeface="Tajawal"/>
              </a:defRPr>
            </a:lvl9pPr>
          </a:lstStyle>
          <a:p>
            <a:endParaRPr/>
          </a:p>
        </p:txBody>
      </p:sp>
      <p:sp>
        <p:nvSpPr>
          <p:cNvPr id="25" name="Google Shape;25;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8" name="Google Shape;28;p28"/>
          <p:cNvSpPr txBox="1">
            <a:spLocks noGrp="1"/>
          </p:cNvSpPr>
          <p:nvPr>
            <p:ph type="title"/>
          </p:nvPr>
        </p:nvSpPr>
        <p:spPr>
          <a:xfrm>
            <a:off x="2079450" y="714175"/>
            <a:ext cx="6707400" cy="777300"/>
          </a:xfrm>
          <a:prstGeom prst="rect">
            <a:avLst/>
          </a:prstGeom>
          <a:noFill/>
          <a:ln>
            <a:noFill/>
          </a:ln>
        </p:spPr>
        <p:txBody>
          <a:bodyPr spcFirstLastPara="1" wrap="square" lIns="91425" tIns="91425" rIns="91425" bIns="91425" anchor="t" anchorCtr="0">
            <a:normAutofit/>
          </a:bodyPr>
          <a:lstStyle>
            <a:lvl1pPr lvl="0" algn="l" rtl="1">
              <a:lnSpc>
                <a:spcPct val="100000"/>
              </a:lnSpc>
              <a:spcBef>
                <a:spcPts val="0"/>
              </a:spcBef>
              <a:spcAft>
                <a:spcPts val="0"/>
              </a:spcAft>
              <a:buClr>
                <a:srgbClr val="543198"/>
              </a:buClr>
              <a:buSzPts val="2500"/>
              <a:buNone/>
              <a:defRPr b="1">
                <a:solidFill>
                  <a:srgbClr val="543198"/>
                </a:solidFill>
              </a:defRPr>
            </a:lvl1pPr>
            <a:lvl2pPr lvl="1" algn="l">
              <a:lnSpc>
                <a:spcPct val="100000"/>
              </a:lnSpc>
              <a:spcBef>
                <a:spcPts val="0"/>
              </a:spcBef>
              <a:spcAft>
                <a:spcPts val="0"/>
              </a:spcAft>
              <a:buClr>
                <a:srgbClr val="543198"/>
              </a:buClr>
              <a:buSzPts val="2800"/>
              <a:buNone/>
              <a:defRPr b="1">
                <a:solidFill>
                  <a:srgbClr val="543198"/>
                </a:solidFill>
              </a:defRPr>
            </a:lvl2pPr>
            <a:lvl3pPr lvl="2" algn="l">
              <a:lnSpc>
                <a:spcPct val="100000"/>
              </a:lnSpc>
              <a:spcBef>
                <a:spcPts val="0"/>
              </a:spcBef>
              <a:spcAft>
                <a:spcPts val="0"/>
              </a:spcAft>
              <a:buClr>
                <a:srgbClr val="543198"/>
              </a:buClr>
              <a:buSzPts val="2800"/>
              <a:buNone/>
              <a:defRPr b="1">
                <a:solidFill>
                  <a:srgbClr val="543198"/>
                </a:solidFill>
              </a:defRPr>
            </a:lvl3pPr>
            <a:lvl4pPr lvl="3" algn="l">
              <a:lnSpc>
                <a:spcPct val="100000"/>
              </a:lnSpc>
              <a:spcBef>
                <a:spcPts val="0"/>
              </a:spcBef>
              <a:spcAft>
                <a:spcPts val="0"/>
              </a:spcAft>
              <a:buClr>
                <a:srgbClr val="543198"/>
              </a:buClr>
              <a:buSzPts val="2800"/>
              <a:buNone/>
              <a:defRPr b="1">
                <a:solidFill>
                  <a:srgbClr val="543198"/>
                </a:solidFill>
              </a:defRPr>
            </a:lvl4pPr>
            <a:lvl5pPr lvl="4" algn="l">
              <a:lnSpc>
                <a:spcPct val="100000"/>
              </a:lnSpc>
              <a:spcBef>
                <a:spcPts val="0"/>
              </a:spcBef>
              <a:spcAft>
                <a:spcPts val="0"/>
              </a:spcAft>
              <a:buClr>
                <a:srgbClr val="543198"/>
              </a:buClr>
              <a:buSzPts val="2800"/>
              <a:buNone/>
              <a:defRPr b="1">
                <a:solidFill>
                  <a:srgbClr val="543198"/>
                </a:solidFill>
              </a:defRPr>
            </a:lvl5pPr>
            <a:lvl6pPr lvl="5" algn="l">
              <a:lnSpc>
                <a:spcPct val="100000"/>
              </a:lnSpc>
              <a:spcBef>
                <a:spcPts val="0"/>
              </a:spcBef>
              <a:spcAft>
                <a:spcPts val="0"/>
              </a:spcAft>
              <a:buClr>
                <a:srgbClr val="543198"/>
              </a:buClr>
              <a:buSzPts val="2800"/>
              <a:buNone/>
              <a:defRPr b="1">
                <a:solidFill>
                  <a:srgbClr val="543198"/>
                </a:solidFill>
              </a:defRPr>
            </a:lvl6pPr>
            <a:lvl7pPr lvl="6" algn="l">
              <a:lnSpc>
                <a:spcPct val="100000"/>
              </a:lnSpc>
              <a:spcBef>
                <a:spcPts val="0"/>
              </a:spcBef>
              <a:spcAft>
                <a:spcPts val="0"/>
              </a:spcAft>
              <a:buClr>
                <a:srgbClr val="543198"/>
              </a:buClr>
              <a:buSzPts val="2800"/>
              <a:buNone/>
              <a:defRPr b="1">
                <a:solidFill>
                  <a:srgbClr val="543198"/>
                </a:solidFill>
              </a:defRPr>
            </a:lvl7pPr>
            <a:lvl8pPr lvl="7" algn="l">
              <a:lnSpc>
                <a:spcPct val="100000"/>
              </a:lnSpc>
              <a:spcBef>
                <a:spcPts val="0"/>
              </a:spcBef>
              <a:spcAft>
                <a:spcPts val="0"/>
              </a:spcAft>
              <a:buClr>
                <a:srgbClr val="543198"/>
              </a:buClr>
              <a:buSzPts val="2800"/>
              <a:buNone/>
              <a:defRPr b="1">
                <a:solidFill>
                  <a:srgbClr val="543198"/>
                </a:solidFill>
              </a:defRPr>
            </a:lvl8pPr>
            <a:lvl9pPr lvl="8" algn="l">
              <a:lnSpc>
                <a:spcPct val="100000"/>
              </a:lnSpc>
              <a:spcBef>
                <a:spcPts val="0"/>
              </a:spcBef>
              <a:spcAft>
                <a:spcPts val="0"/>
              </a:spcAft>
              <a:buClr>
                <a:srgbClr val="543198"/>
              </a:buClr>
              <a:buSzPts val="2800"/>
              <a:buNone/>
              <a:defRPr b="1">
                <a:solidFill>
                  <a:srgbClr val="543198"/>
                </a:solidFill>
              </a:defRPr>
            </a:lvl9pPr>
          </a:lstStyle>
          <a:p>
            <a:endParaRPr/>
          </a:p>
        </p:txBody>
      </p:sp>
      <p:sp>
        <p:nvSpPr>
          <p:cNvPr id="29" name="Google Shape;29;p28"/>
          <p:cNvSpPr txBox="1">
            <a:spLocks noGrp="1"/>
          </p:cNvSpPr>
          <p:nvPr>
            <p:ph type="body" idx="1"/>
          </p:nvPr>
        </p:nvSpPr>
        <p:spPr>
          <a:xfrm>
            <a:off x="2758650" y="1526325"/>
            <a:ext cx="6028200" cy="1757400"/>
          </a:xfrm>
          <a:prstGeom prst="rect">
            <a:avLst/>
          </a:prstGeom>
          <a:noFill/>
          <a:ln>
            <a:noFill/>
          </a:ln>
        </p:spPr>
        <p:txBody>
          <a:bodyPr spcFirstLastPara="1" wrap="square" lIns="91425" tIns="91425" rIns="91425" bIns="91425" anchor="t" anchorCtr="0">
            <a:normAutofit/>
          </a:bodyPr>
          <a:lstStyle>
            <a:lvl1pPr marL="457200" lvl="0" indent="-342900" algn="l" rtl="1">
              <a:lnSpc>
                <a:spcPct val="115000"/>
              </a:lnSpc>
              <a:spcBef>
                <a:spcPts val="0"/>
              </a:spcBef>
              <a:spcAft>
                <a:spcPts val="0"/>
              </a:spcAft>
              <a:buClr>
                <a:srgbClr val="424242"/>
              </a:buClr>
              <a:buSzPts val="1800"/>
              <a:buChar char="●"/>
              <a:defRPr>
                <a:solidFill>
                  <a:srgbClr val="424242"/>
                </a:solidFill>
              </a:defRPr>
            </a:lvl1pPr>
            <a:lvl2pPr marL="914400" lvl="1" indent="-317500" algn="l" rtl="1">
              <a:lnSpc>
                <a:spcPct val="115000"/>
              </a:lnSpc>
              <a:spcBef>
                <a:spcPts val="0"/>
              </a:spcBef>
              <a:spcAft>
                <a:spcPts val="0"/>
              </a:spcAft>
              <a:buClr>
                <a:srgbClr val="424242"/>
              </a:buClr>
              <a:buSzPts val="1400"/>
              <a:buChar char="○"/>
              <a:defRPr>
                <a:solidFill>
                  <a:srgbClr val="424242"/>
                </a:solidFill>
              </a:defRPr>
            </a:lvl2pPr>
            <a:lvl3pPr marL="1371600" lvl="2" indent="-317500" algn="l" rtl="1">
              <a:lnSpc>
                <a:spcPct val="115000"/>
              </a:lnSpc>
              <a:spcBef>
                <a:spcPts val="0"/>
              </a:spcBef>
              <a:spcAft>
                <a:spcPts val="0"/>
              </a:spcAft>
              <a:buClr>
                <a:srgbClr val="424242"/>
              </a:buClr>
              <a:buSzPts val="1400"/>
              <a:buChar char="■"/>
              <a:defRPr>
                <a:solidFill>
                  <a:srgbClr val="424242"/>
                </a:solidFill>
              </a:defRPr>
            </a:lvl3pPr>
            <a:lvl4pPr marL="1828800" lvl="3" indent="-317500" algn="l" rtl="1">
              <a:lnSpc>
                <a:spcPct val="115000"/>
              </a:lnSpc>
              <a:spcBef>
                <a:spcPts val="0"/>
              </a:spcBef>
              <a:spcAft>
                <a:spcPts val="0"/>
              </a:spcAft>
              <a:buClr>
                <a:srgbClr val="424242"/>
              </a:buClr>
              <a:buSzPts val="1400"/>
              <a:buChar char="●"/>
              <a:defRPr>
                <a:solidFill>
                  <a:srgbClr val="424242"/>
                </a:solidFill>
              </a:defRPr>
            </a:lvl4pPr>
            <a:lvl5pPr marL="2286000" lvl="4" indent="-317500" algn="l" rtl="1">
              <a:lnSpc>
                <a:spcPct val="115000"/>
              </a:lnSpc>
              <a:spcBef>
                <a:spcPts val="0"/>
              </a:spcBef>
              <a:spcAft>
                <a:spcPts val="0"/>
              </a:spcAft>
              <a:buClr>
                <a:srgbClr val="424242"/>
              </a:buClr>
              <a:buSzPts val="1400"/>
              <a:buChar char="○"/>
              <a:defRPr>
                <a:solidFill>
                  <a:srgbClr val="424242"/>
                </a:solidFill>
              </a:defRPr>
            </a:lvl5pPr>
            <a:lvl6pPr marL="2743200" lvl="5" indent="-317500" algn="l" rtl="1">
              <a:lnSpc>
                <a:spcPct val="115000"/>
              </a:lnSpc>
              <a:spcBef>
                <a:spcPts val="0"/>
              </a:spcBef>
              <a:spcAft>
                <a:spcPts val="0"/>
              </a:spcAft>
              <a:buClr>
                <a:srgbClr val="424242"/>
              </a:buClr>
              <a:buSzPts val="1400"/>
              <a:buChar char="■"/>
              <a:defRPr>
                <a:solidFill>
                  <a:srgbClr val="424242"/>
                </a:solidFill>
              </a:defRPr>
            </a:lvl6pPr>
            <a:lvl7pPr marL="3200400" lvl="6" indent="-317500" algn="l" rtl="1">
              <a:lnSpc>
                <a:spcPct val="115000"/>
              </a:lnSpc>
              <a:spcBef>
                <a:spcPts val="0"/>
              </a:spcBef>
              <a:spcAft>
                <a:spcPts val="0"/>
              </a:spcAft>
              <a:buClr>
                <a:srgbClr val="424242"/>
              </a:buClr>
              <a:buSzPts val="1400"/>
              <a:buChar char="●"/>
              <a:defRPr>
                <a:solidFill>
                  <a:srgbClr val="424242"/>
                </a:solidFill>
              </a:defRPr>
            </a:lvl7pPr>
            <a:lvl8pPr marL="3657600" lvl="7" indent="-317500" algn="l" rtl="1">
              <a:lnSpc>
                <a:spcPct val="115000"/>
              </a:lnSpc>
              <a:spcBef>
                <a:spcPts val="0"/>
              </a:spcBef>
              <a:spcAft>
                <a:spcPts val="0"/>
              </a:spcAft>
              <a:buClr>
                <a:srgbClr val="424242"/>
              </a:buClr>
              <a:buSzPts val="1400"/>
              <a:buChar char="○"/>
              <a:defRPr>
                <a:solidFill>
                  <a:srgbClr val="424242"/>
                </a:solidFill>
              </a:defRPr>
            </a:lvl8pPr>
            <a:lvl9pPr marL="4114800" lvl="8" indent="-317500" algn="l" rtl="1">
              <a:lnSpc>
                <a:spcPct val="115000"/>
              </a:lnSpc>
              <a:spcBef>
                <a:spcPts val="0"/>
              </a:spcBef>
              <a:spcAft>
                <a:spcPts val="0"/>
              </a:spcAft>
              <a:buClr>
                <a:srgbClr val="424242"/>
              </a:buClr>
              <a:buSzPts val="1400"/>
              <a:buChar char="■"/>
              <a:defRPr>
                <a:solidFill>
                  <a:srgbClr val="424242"/>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3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rtl="1">
              <a:lnSpc>
                <a:spcPct val="100000"/>
              </a:lnSpc>
              <a:spcBef>
                <a:spcPts val="0"/>
              </a:spcBef>
              <a:spcAft>
                <a:spcPts val="0"/>
              </a:spcAft>
              <a:buSzPts val="4200"/>
              <a:buNone/>
              <a:defRPr sz="4200"/>
            </a:lvl1pPr>
            <a:lvl2pPr lvl="1" algn="ctr" rtl="1">
              <a:lnSpc>
                <a:spcPct val="100000"/>
              </a:lnSpc>
              <a:spcBef>
                <a:spcPts val="0"/>
              </a:spcBef>
              <a:spcAft>
                <a:spcPts val="0"/>
              </a:spcAft>
              <a:buSzPts val="4200"/>
              <a:buNone/>
              <a:defRPr sz="4200"/>
            </a:lvl2pPr>
            <a:lvl3pPr lvl="2" algn="ctr" rtl="1">
              <a:lnSpc>
                <a:spcPct val="100000"/>
              </a:lnSpc>
              <a:spcBef>
                <a:spcPts val="0"/>
              </a:spcBef>
              <a:spcAft>
                <a:spcPts val="0"/>
              </a:spcAft>
              <a:buSzPts val="4200"/>
              <a:buNone/>
              <a:defRPr sz="4200"/>
            </a:lvl3pPr>
            <a:lvl4pPr lvl="3" algn="ctr" rtl="1">
              <a:lnSpc>
                <a:spcPct val="100000"/>
              </a:lnSpc>
              <a:spcBef>
                <a:spcPts val="0"/>
              </a:spcBef>
              <a:spcAft>
                <a:spcPts val="0"/>
              </a:spcAft>
              <a:buSzPts val="4200"/>
              <a:buNone/>
              <a:defRPr sz="4200"/>
            </a:lvl4pPr>
            <a:lvl5pPr lvl="4" algn="ctr" rtl="1">
              <a:lnSpc>
                <a:spcPct val="100000"/>
              </a:lnSpc>
              <a:spcBef>
                <a:spcPts val="0"/>
              </a:spcBef>
              <a:spcAft>
                <a:spcPts val="0"/>
              </a:spcAft>
              <a:buSzPts val="4200"/>
              <a:buNone/>
              <a:defRPr sz="4200"/>
            </a:lvl5pPr>
            <a:lvl6pPr lvl="5" algn="ctr" rtl="1">
              <a:lnSpc>
                <a:spcPct val="100000"/>
              </a:lnSpc>
              <a:spcBef>
                <a:spcPts val="0"/>
              </a:spcBef>
              <a:spcAft>
                <a:spcPts val="0"/>
              </a:spcAft>
              <a:buSzPts val="4200"/>
              <a:buNone/>
              <a:defRPr sz="4200"/>
            </a:lvl6pPr>
            <a:lvl7pPr lvl="6" algn="ctr" rtl="1">
              <a:lnSpc>
                <a:spcPct val="100000"/>
              </a:lnSpc>
              <a:spcBef>
                <a:spcPts val="0"/>
              </a:spcBef>
              <a:spcAft>
                <a:spcPts val="0"/>
              </a:spcAft>
              <a:buSzPts val="4200"/>
              <a:buNone/>
              <a:defRPr sz="4200"/>
            </a:lvl7pPr>
            <a:lvl8pPr lvl="7" algn="ctr" rtl="1">
              <a:lnSpc>
                <a:spcPct val="100000"/>
              </a:lnSpc>
              <a:spcBef>
                <a:spcPts val="0"/>
              </a:spcBef>
              <a:spcAft>
                <a:spcPts val="0"/>
              </a:spcAft>
              <a:buSzPts val="4200"/>
              <a:buNone/>
              <a:defRPr sz="4200"/>
            </a:lvl8pPr>
            <a:lvl9pPr lvl="8" algn="ctr" rtl="1">
              <a:lnSpc>
                <a:spcPct val="100000"/>
              </a:lnSpc>
              <a:spcBef>
                <a:spcPts val="0"/>
              </a:spcBef>
              <a:spcAft>
                <a:spcPts val="0"/>
              </a:spcAft>
              <a:buSzPts val="4200"/>
              <a:buNone/>
              <a:defRPr sz="4200"/>
            </a:lvl9pPr>
          </a:lstStyle>
          <a:p>
            <a:endParaRPr/>
          </a:p>
        </p:txBody>
      </p:sp>
      <p:sp>
        <p:nvSpPr>
          <p:cNvPr id="36" name="Google Shape;36;p3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rtl="1">
              <a:lnSpc>
                <a:spcPct val="100000"/>
              </a:lnSpc>
              <a:spcBef>
                <a:spcPts val="0"/>
              </a:spcBef>
              <a:spcAft>
                <a:spcPts val="0"/>
              </a:spcAft>
              <a:buSzPts val="2100"/>
              <a:buNone/>
              <a:defRPr sz="2100"/>
            </a:lvl1pPr>
            <a:lvl2pPr lvl="1" algn="ctr" rtl="1">
              <a:lnSpc>
                <a:spcPct val="100000"/>
              </a:lnSpc>
              <a:spcBef>
                <a:spcPts val="0"/>
              </a:spcBef>
              <a:spcAft>
                <a:spcPts val="0"/>
              </a:spcAft>
              <a:buSzPts val="2100"/>
              <a:buNone/>
              <a:defRPr sz="2100"/>
            </a:lvl2pPr>
            <a:lvl3pPr lvl="2" algn="ctr" rtl="1">
              <a:lnSpc>
                <a:spcPct val="100000"/>
              </a:lnSpc>
              <a:spcBef>
                <a:spcPts val="0"/>
              </a:spcBef>
              <a:spcAft>
                <a:spcPts val="0"/>
              </a:spcAft>
              <a:buSzPts val="2100"/>
              <a:buNone/>
              <a:defRPr sz="2100"/>
            </a:lvl3pPr>
            <a:lvl4pPr lvl="3" algn="ctr" rtl="1">
              <a:lnSpc>
                <a:spcPct val="100000"/>
              </a:lnSpc>
              <a:spcBef>
                <a:spcPts val="0"/>
              </a:spcBef>
              <a:spcAft>
                <a:spcPts val="0"/>
              </a:spcAft>
              <a:buSzPts val="2100"/>
              <a:buNone/>
              <a:defRPr sz="2100"/>
            </a:lvl4pPr>
            <a:lvl5pPr lvl="4" algn="ctr" rtl="1">
              <a:lnSpc>
                <a:spcPct val="100000"/>
              </a:lnSpc>
              <a:spcBef>
                <a:spcPts val="0"/>
              </a:spcBef>
              <a:spcAft>
                <a:spcPts val="0"/>
              </a:spcAft>
              <a:buSzPts val="2100"/>
              <a:buNone/>
              <a:defRPr sz="2100"/>
            </a:lvl5pPr>
            <a:lvl6pPr lvl="5" algn="ctr" rtl="1">
              <a:lnSpc>
                <a:spcPct val="100000"/>
              </a:lnSpc>
              <a:spcBef>
                <a:spcPts val="0"/>
              </a:spcBef>
              <a:spcAft>
                <a:spcPts val="0"/>
              </a:spcAft>
              <a:buSzPts val="2100"/>
              <a:buNone/>
              <a:defRPr sz="2100"/>
            </a:lvl6pPr>
            <a:lvl7pPr lvl="6" algn="ctr" rtl="1">
              <a:lnSpc>
                <a:spcPct val="100000"/>
              </a:lnSpc>
              <a:spcBef>
                <a:spcPts val="0"/>
              </a:spcBef>
              <a:spcAft>
                <a:spcPts val="0"/>
              </a:spcAft>
              <a:buSzPts val="2100"/>
              <a:buNone/>
              <a:defRPr sz="2100"/>
            </a:lvl7pPr>
            <a:lvl8pPr lvl="7" algn="ctr" rtl="1">
              <a:lnSpc>
                <a:spcPct val="100000"/>
              </a:lnSpc>
              <a:spcBef>
                <a:spcPts val="0"/>
              </a:spcBef>
              <a:spcAft>
                <a:spcPts val="0"/>
              </a:spcAft>
              <a:buSzPts val="2100"/>
              <a:buNone/>
              <a:defRPr sz="2100"/>
            </a:lvl8pPr>
            <a:lvl9pPr lvl="8" algn="ctr" rtl="1">
              <a:lnSpc>
                <a:spcPct val="100000"/>
              </a:lnSpc>
              <a:spcBef>
                <a:spcPts val="0"/>
              </a:spcBef>
              <a:spcAft>
                <a:spcPts val="0"/>
              </a:spcAft>
              <a:buSzPts val="2100"/>
              <a:buNone/>
              <a:defRPr sz="2100"/>
            </a:lvl9pPr>
          </a:lstStyle>
          <a:p>
            <a:endParaRPr/>
          </a:p>
        </p:txBody>
      </p:sp>
      <p:sp>
        <p:nvSpPr>
          <p:cNvPr id="37" name="Google Shape;37;p3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rtl="1">
              <a:lnSpc>
                <a:spcPct val="115000"/>
              </a:lnSpc>
              <a:spcBef>
                <a:spcPts val="0"/>
              </a:spcBef>
              <a:spcAft>
                <a:spcPts val="0"/>
              </a:spcAft>
              <a:buSzPts val="1800"/>
              <a:buChar char="●"/>
              <a:defRPr/>
            </a:lvl1pPr>
            <a:lvl2pPr marL="914400" lvl="1" indent="-317500" algn="l" rtl="1">
              <a:lnSpc>
                <a:spcPct val="115000"/>
              </a:lnSpc>
              <a:spcBef>
                <a:spcPts val="0"/>
              </a:spcBef>
              <a:spcAft>
                <a:spcPts val="0"/>
              </a:spcAft>
              <a:buSzPts val="1400"/>
              <a:buChar char="○"/>
              <a:defRPr/>
            </a:lvl2pPr>
            <a:lvl3pPr marL="1371600" lvl="2" indent="-317500" algn="l" rtl="1">
              <a:lnSpc>
                <a:spcPct val="115000"/>
              </a:lnSpc>
              <a:spcBef>
                <a:spcPts val="0"/>
              </a:spcBef>
              <a:spcAft>
                <a:spcPts val="0"/>
              </a:spcAft>
              <a:buSzPts val="1400"/>
              <a:buChar char="■"/>
              <a:defRPr/>
            </a:lvl3pPr>
            <a:lvl4pPr marL="1828800" lvl="3" indent="-317500" algn="l" rtl="1">
              <a:lnSpc>
                <a:spcPct val="115000"/>
              </a:lnSpc>
              <a:spcBef>
                <a:spcPts val="0"/>
              </a:spcBef>
              <a:spcAft>
                <a:spcPts val="0"/>
              </a:spcAft>
              <a:buSzPts val="1400"/>
              <a:buChar char="●"/>
              <a:defRPr/>
            </a:lvl4pPr>
            <a:lvl5pPr marL="2286000" lvl="4" indent="-317500" algn="l" rtl="1">
              <a:lnSpc>
                <a:spcPct val="115000"/>
              </a:lnSpc>
              <a:spcBef>
                <a:spcPts val="0"/>
              </a:spcBef>
              <a:spcAft>
                <a:spcPts val="0"/>
              </a:spcAft>
              <a:buSzPts val="1400"/>
              <a:buChar char="○"/>
              <a:defRPr/>
            </a:lvl5pPr>
            <a:lvl6pPr marL="2743200" lvl="5" indent="-317500" algn="l" rtl="1">
              <a:lnSpc>
                <a:spcPct val="115000"/>
              </a:lnSpc>
              <a:spcBef>
                <a:spcPts val="0"/>
              </a:spcBef>
              <a:spcAft>
                <a:spcPts val="0"/>
              </a:spcAft>
              <a:buSzPts val="1400"/>
              <a:buChar char="■"/>
              <a:defRPr/>
            </a:lvl6pPr>
            <a:lvl7pPr marL="3200400" lvl="6" indent="-317500" algn="l" rtl="1">
              <a:lnSpc>
                <a:spcPct val="115000"/>
              </a:lnSpc>
              <a:spcBef>
                <a:spcPts val="0"/>
              </a:spcBef>
              <a:spcAft>
                <a:spcPts val="0"/>
              </a:spcAft>
              <a:buSzPts val="1400"/>
              <a:buChar char="●"/>
              <a:defRPr/>
            </a:lvl7pPr>
            <a:lvl8pPr marL="3657600" lvl="7" indent="-317500" algn="l" rtl="1">
              <a:lnSpc>
                <a:spcPct val="115000"/>
              </a:lnSpc>
              <a:spcBef>
                <a:spcPts val="0"/>
              </a:spcBef>
              <a:spcAft>
                <a:spcPts val="0"/>
              </a:spcAft>
              <a:buSzPts val="1400"/>
              <a:buChar char="○"/>
              <a:defRPr/>
            </a:lvl8pPr>
            <a:lvl9pPr marL="4114800" lvl="8" indent="-317500" algn="l" rtl="1">
              <a:lnSpc>
                <a:spcPct val="115000"/>
              </a:lnSpc>
              <a:spcBef>
                <a:spcPts val="0"/>
              </a:spcBef>
              <a:spcAft>
                <a:spcPts val="0"/>
              </a:spcAft>
              <a:buSzPts val="1400"/>
              <a:buChar char="■"/>
              <a:defRPr/>
            </a:lvl9pPr>
          </a:lstStyle>
          <a:p>
            <a:endParaRPr/>
          </a:p>
        </p:txBody>
      </p:sp>
      <p:sp>
        <p:nvSpPr>
          <p:cNvPr id="38" name="Google Shape;38;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9">
            <a:alphaModFix/>
          </a:blip>
          <a:stretch>
            <a:fillRect/>
          </a:stretch>
        </a:blipFill>
        <a:effectLst/>
      </p:bgPr>
    </p:bg>
    <p:spTree>
      <p:nvGrpSpPr>
        <p:cNvPr id="1" name="Shape 5"/>
        <p:cNvGrpSpPr/>
        <p:nvPr/>
      </p:nvGrpSpPr>
      <p:grpSpPr>
        <a:xfrm>
          <a:off x="0" y="0"/>
          <a:ext cx="0" cy="0"/>
          <a:chOff x="0" y="0"/>
          <a:chExt cx="0" cy="0"/>
        </a:xfrm>
      </p:grpSpPr>
      <p:sp>
        <p:nvSpPr>
          <p:cNvPr id="6" name="Google Shape;6;p22"/>
          <p:cNvSpPr txBox="1">
            <a:spLocks noGrp="1"/>
          </p:cNvSpPr>
          <p:nvPr>
            <p:ph type="title"/>
          </p:nvPr>
        </p:nvSpPr>
        <p:spPr>
          <a:xfrm>
            <a:off x="311700" y="282450"/>
            <a:ext cx="8520600" cy="572700"/>
          </a:xfrm>
          <a:prstGeom prst="rect">
            <a:avLst/>
          </a:prstGeom>
          <a:noFill/>
          <a:ln>
            <a:noFill/>
          </a:ln>
        </p:spPr>
        <p:txBody>
          <a:bodyPr spcFirstLastPara="1" wrap="square" lIns="91425" tIns="91425" rIns="91425" bIns="91425" anchor="t" anchorCtr="0">
            <a:normAutofit/>
          </a:bodyPr>
          <a:lstStyle>
            <a:lvl1pPr marR="0" lvl="0" algn="l" rtl="1">
              <a:lnSpc>
                <a:spcPct val="100000"/>
              </a:lnSpc>
              <a:spcBef>
                <a:spcPts val="0"/>
              </a:spcBef>
              <a:spcAft>
                <a:spcPts val="0"/>
              </a:spcAft>
              <a:buClr>
                <a:srgbClr val="4F29B7"/>
              </a:buClr>
              <a:buSzPts val="2500"/>
              <a:buFont typeface="IBM Plex Sans Arabic Medium"/>
              <a:buNone/>
              <a:defRPr sz="2500" b="0" i="0" u="none" strike="noStrike" cap="none">
                <a:solidFill>
                  <a:srgbClr val="4F29B7"/>
                </a:solidFill>
                <a:latin typeface="IBM Plex Sans Arabic Medium"/>
                <a:ea typeface="IBM Plex Sans Arabic Medium"/>
                <a:cs typeface="IBM Plex Sans Arabic Medium"/>
                <a:sym typeface="IBM Plex Sans Arabic Medium"/>
              </a:defRPr>
            </a:lvl1pPr>
            <a:lvl2pPr marR="0" lvl="1"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2pPr>
            <a:lvl3pPr marR="0" lvl="2"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3pPr>
            <a:lvl4pPr marR="0" lvl="3"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4pPr>
            <a:lvl5pPr marR="0" lvl="4"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5pPr>
            <a:lvl6pPr marR="0" lvl="5"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6pPr>
            <a:lvl7pPr marR="0" lvl="6"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7pPr>
            <a:lvl8pPr marR="0" lvl="7"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8pPr>
            <a:lvl9pPr marR="0" lvl="8" algn="l" rtl="1">
              <a:lnSpc>
                <a:spcPct val="100000"/>
              </a:lnSpc>
              <a:spcBef>
                <a:spcPts val="0"/>
              </a:spcBef>
              <a:spcAft>
                <a:spcPts val="0"/>
              </a:spcAft>
              <a:buClr>
                <a:schemeClr val="dk1"/>
              </a:buClr>
              <a:buSzPts val="2800"/>
              <a:buFont typeface="IBM Plex Sans Medium"/>
              <a:buNone/>
              <a:defRPr sz="2800" b="0" i="0" u="none" strike="noStrike" cap="none">
                <a:solidFill>
                  <a:schemeClr val="dk1"/>
                </a:solidFill>
                <a:latin typeface="IBM Plex Sans Medium"/>
                <a:ea typeface="IBM Plex Sans Medium"/>
                <a:cs typeface="IBM Plex Sans Medium"/>
                <a:sym typeface="IBM Plex Sans Medium"/>
              </a:defRPr>
            </a:lvl9pPr>
          </a:lstStyle>
          <a:p>
            <a:endParaRPr/>
          </a:p>
        </p:txBody>
      </p:sp>
      <p:sp>
        <p:nvSpPr>
          <p:cNvPr id="7" name="Google Shape;7;p22"/>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1">
              <a:lnSpc>
                <a:spcPct val="115000"/>
              </a:lnSpc>
              <a:spcBef>
                <a:spcPts val="0"/>
              </a:spcBef>
              <a:spcAft>
                <a:spcPts val="0"/>
              </a:spcAft>
              <a:buClr>
                <a:srgbClr val="252526"/>
              </a:buClr>
              <a:buSzPts val="1800"/>
              <a:buFont typeface="IBM Plex Sans Arabic"/>
              <a:buChar char="●"/>
              <a:defRPr sz="1800" b="0" i="0" u="none" strike="noStrike" cap="none">
                <a:solidFill>
                  <a:srgbClr val="252526"/>
                </a:solidFill>
                <a:latin typeface="IBM Plex Sans Arabic"/>
                <a:ea typeface="IBM Plex Sans Arabic"/>
                <a:cs typeface="IBM Plex Sans Arabic"/>
                <a:sym typeface="IBM Plex Sans Arabic"/>
              </a:defRPr>
            </a:lvl1pPr>
            <a:lvl2pPr marL="914400" marR="0" lvl="1"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2pPr>
            <a:lvl3pPr marL="1371600" marR="0" lvl="2"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3pPr>
            <a:lvl4pPr marL="1828800" marR="0" lvl="3"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4pPr>
            <a:lvl5pPr marL="2286000" marR="0" lvl="4"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5pPr>
            <a:lvl6pPr marL="2743200" marR="0" lvl="5"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6pPr>
            <a:lvl7pPr marL="3200400" marR="0" lvl="6"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7pPr>
            <a:lvl8pPr marL="3657600" marR="0" lvl="7"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8pPr>
            <a:lvl9pPr marL="4114800" marR="0" lvl="8" indent="-317500" algn="l" rtl="1">
              <a:lnSpc>
                <a:spcPct val="115000"/>
              </a:lnSpc>
              <a:spcBef>
                <a:spcPts val="0"/>
              </a:spcBef>
              <a:spcAft>
                <a:spcPts val="0"/>
              </a:spcAft>
              <a:buClr>
                <a:srgbClr val="252526"/>
              </a:buClr>
              <a:buSzPts val="1400"/>
              <a:buFont typeface="IBM Plex Sans Arabic"/>
              <a:buChar char="■"/>
              <a:defRPr sz="1400" b="0" i="0" u="none" strike="noStrike" cap="none">
                <a:solidFill>
                  <a:srgbClr val="252526"/>
                </a:solidFill>
                <a:latin typeface="IBM Plex Sans Arabic"/>
                <a:ea typeface="IBM Plex Sans Arabic"/>
                <a:cs typeface="IBM Plex Sans Arabic"/>
                <a:sym typeface="IBM Plex Sans Arabic"/>
              </a:defRPr>
            </a:lvl9pPr>
          </a:lstStyle>
          <a:p>
            <a:endParaRPr/>
          </a:p>
        </p:txBody>
      </p:sp>
      <p:sp>
        <p:nvSpPr>
          <p:cNvPr id="8" name="Google Shape;8;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pic>
        <p:nvPicPr>
          <p:cNvPr id="9" name="Google Shape;9;p22"/>
          <p:cNvPicPr preferRelativeResize="0"/>
          <p:nvPr/>
        </p:nvPicPr>
        <p:blipFill rotWithShape="1">
          <a:blip r:embed="rId10">
            <a:alphaModFix/>
          </a:blip>
          <a:srcRect/>
          <a:stretch/>
        </p:blipFill>
        <p:spPr>
          <a:xfrm>
            <a:off x="8030954" y="17475"/>
            <a:ext cx="1266092" cy="100790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3.xml"/><Relationship Id="rId6" Type="http://schemas.openxmlformats.org/officeDocument/2006/relationships/hyperlink" Target="https://www.wallpaperflare.com/wallpaper-programmer-coding-pattern-text-full-frame-backgrounds-wallpaper-pfdto" TargetMode="External"/><Relationship Id="rId5" Type="http://schemas.openxmlformats.org/officeDocument/2006/relationships/image" Target="../media/image10.jpg"/><Relationship Id="rId4" Type="http://schemas.openxmlformats.org/officeDocument/2006/relationships/hyperlink" Target="https://drive.google.com/file/d/144LdLXIGlouWjXTOBsq6faM2YrEaSdeT/view?usp=share_link"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hyperlink" Target="https://www.geeksforgeeks.org/generative-adversarial-network-gan/" TargetMode="External"/></Relationships>
</file>

<file path=ppt/slides/_rels/slide2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notesSlide" Target="../notesSlides/notesSlide24.xml"/><Relationship Id="rId16" Type="http://schemas.openxmlformats.org/officeDocument/2006/relationships/image" Target="../media/image24.png"/><Relationship Id="rId1" Type="http://schemas.openxmlformats.org/officeDocument/2006/relationships/slideLayout" Target="../slideLayouts/slideLayout4.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1"/>
          <p:cNvSpPr txBox="1">
            <a:spLocks noGrp="1"/>
          </p:cNvSpPr>
          <p:nvPr>
            <p:ph type="title"/>
          </p:nvPr>
        </p:nvSpPr>
        <p:spPr>
          <a:xfrm>
            <a:off x="5435226" y="867625"/>
            <a:ext cx="2974200" cy="2262000"/>
          </a:xfrm>
          <a:prstGeom prst="rect">
            <a:avLst/>
          </a:prstGeom>
          <a:noFill/>
          <a:ln>
            <a:noFill/>
          </a:ln>
        </p:spPr>
        <p:txBody>
          <a:bodyPr spcFirstLastPara="1" wrap="square" lIns="91425" tIns="91425" rIns="91425" bIns="91425" anchor="b" anchorCtr="0">
            <a:normAutofit/>
          </a:bodyPr>
          <a:lstStyle/>
          <a:p>
            <a:pPr marL="0" lvl="0" indent="0" algn="r" rtl="0">
              <a:lnSpc>
                <a:spcPct val="100000"/>
              </a:lnSpc>
              <a:spcBef>
                <a:spcPts val="0"/>
              </a:spcBef>
              <a:spcAft>
                <a:spcPts val="0"/>
              </a:spcAft>
              <a:buSzPts val="12000"/>
              <a:buNone/>
            </a:pPr>
            <a:r>
              <a:rPr lang="en-US" sz="4800">
                <a:solidFill>
                  <a:srgbClr val="58E3D8"/>
                </a:solidFill>
                <a:latin typeface="IBM Plex Sans Arabic SemiBold"/>
                <a:ea typeface="IBM Plex Sans Arabic SemiBold"/>
                <a:cs typeface="IBM Plex Sans Arabic SemiBold"/>
                <a:sym typeface="IBM Plex Sans Arabic SemiBold"/>
              </a:rPr>
              <a:t>أكـــــاديميــــة طــــويـــق</a:t>
            </a:r>
            <a:endParaRPr sz="4800">
              <a:solidFill>
                <a:srgbClr val="58E3D8"/>
              </a:solidFill>
              <a:latin typeface="IBM Plex Sans Arabic SemiBold"/>
              <a:ea typeface="IBM Plex Sans Arabic SemiBold"/>
              <a:cs typeface="IBM Plex Sans Arabic SemiBold"/>
              <a:sym typeface="IBM Plex Sans Arabic SemiBold"/>
            </a:endParaRPr>
          </a:p>
        </p:txBody>
      </p:sp>
      <p:sp>
        <p:nvSpPr>
          <p:cNvPr id="44" name="Google Shape;44;p1"/>
          <p:cNvSpPr txBox="1">
            <a:spLocks noGrp="1"/>
          </p:cNvSpPr>
          <p:nvPr>
            <p:ph type="body" idx="4294967295"/>
          </p:nvPr>
        </p:nvSpPr>
        <p:spPr>
          <a:xfrm>
            <a:off x="3902100" y="3253272"/>
            <a:ext cx="4447500" cy="1973484"/>
          </a:xfrm>
          <a:prstGeom prst="rect">
            <a:avLst/>
          </a:prstGeom>
          <a:noFill/>
          <a:ln>
            <a:noFill/>
          </a:ln>
        </p:spPr>
        <p:txBody>
          <a:bodyPr spcFirstLastPara="1" wrap="square" lIns="91425" tIns="91425" rIns="91425" bIns="91425" anchor="t" anchorCtr="0">
            <a:noAutofit/>
          </a:bodyPr>
          <a:lstStyle/>
          <a:p>
            <a:pPr marL="0" lvl="0" indent="0" algn="r" rtl="0">
              <a:lnSpc>
                <a:spcPct val="115000"/>
              </a:lnSpc>
              <a:spcBef>
                <a:spcPts val="0"/>
              </a:spcBef>
              <a:spcAft>
                <a:spcPts val="1200"/>
              </a:spcAft>
              <a:buSzPts val="1800"/>
              <a:buNone/>
            </a:pPr>
            <a:r>
              <a:rPr lang="en-US" sz="3600" dirty="0">
                <a:solidFill>
                  <a:schemeClr val="lt1"/>
                </a:solidFill>
                <a:latin typeface="IBM Plex Sans Arabic Medium"/>
                <a:ea typeface="IBM Plex Sans Arabic Medium"/>
                <a:cs typeface="IBM Plex Sans Arabic Medium"/>
                <a:sym typeface="IBM Plex Sans Arabic Medium"/>
              </a:rPr>
              <a:t>Deep Learning</a:t>
            </a:r>
            <a:endParaRPr sz="3600" dirty="0">
              <a:solidFill>
                <a:schemeClr val="lt1"/>
              </a:solidFill>
              <a:latin typeface="IBM Plex Sans Arabic Medium"/>
              <a:ea typeface="IBM Plex Sans Arabic Medium"/>
              <a:cs typeface="IBM Plex Sans Arabic Medium"/>
              <a:sym typeface="IBM Plex Sans Arabic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2"/>
          <p:cNvSpPr txBox="1">
            <a:spLocks noGrp="1"/>
          </p:cNvSpPr>
          <p:nvPr>
            <p:ph type="ctrTitle"/>
          </p:nvPr>
        </p:nvSpPr>
        <p:spPr>
          <a:xfrm>
            <a:off x="131700" y="1674390"/>
            <a:ext cx="8520600" cy="3112070"/>
          </a:xfrm>
          <a:prstGeom prst="rect">
            <a:avLst/>
          </a:prstGeom>
          <a:noFill/>
          <a:ln>
            <a:noFill/>
          </a:ln>
        </p:spPr>
        <p:txBody>
          <a:bodyPr spcFirstLastPara="1" wrap="square" lIns="91425" tIns="91425" rIns="91425" bIns="91425" anchor="b" anchorCtr="0">
            <a:normAutofit/>
          </a:bodyPr>
          <a:lstStyle/>
          <a:p>
            <a:r>
              <a:rPr lang="en-GB" sz="4000" dirty="0">
                <a:solidFill>
                  <a:srgbClr val="7030A0"/>
                </a:solidFill>
                <a:latin typeface="Times New Roman" panose="02020603050405020304" pitchFamily="18" charset="0"/>
              </a:rPr>
              <a:t>Generative Adversarial Networks (GANs)</a:t>
            </a:r>
            <a:r>
              <a:rPr lang="en-GB" sz="3200" b="1" i="0" u="none" strike="noStrike" dirty="0">
                <a:solidFill>
                  <a:srgbClr val="7030A0"/>
                </a:solidFill>
                <a:effectLst/>
                <a:latin typeface="Arial" panose="020B0604020202020204" pitchFamily="34" charset="0"/>
              </a:rPr>
              <a:t> </a:t>
            </a:r>
            <a:br>
              <a:rPr lang="en-GB" sz="3200" b="1" i="0" u="none" strike="noStrike" dirty="0">
                <a:solidFill>
                  <a:srgbClr val="7030A0"/>
                </a:solidFill>
                <a:effectLst/>
                <a:latin typeface="Arial" panose="020B0604020202020204" pitchFamily="34" charset="0"/>
              </a:rPr>
            </a:br>
            <a:br>
              <a:rPr lang="en-US" sz="1800" dirty="0">
                <a:latin typeface="Calibri"/>
                <a:ea typeface="Calibri"/>
                <a:cs typeface="Calibri"/>
                <a:sym typeface="Calibri"/>
              </a:rPr>
            </a:br>
            <a:endParaRPr dirty="0"/>
          </a:p>
        </p:txBody>
      </p:sp>
      <p:sp>
        <p:nvSpPr>
          <p:cNvPr id="51" name="Google Shape;51;p2"/>
          <p:cNvSpPr txBox="1"/>
          <p:nvPr/>
        </p:nvSpPr>
        <p:spPr>
          <a:xfrm>
            <a:off x="3527778" y="4245036"/>
            <a:ext cx="45720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000000"/>
                </a:solidFill>
                <a:latin typeface="Calibri"/>
                <a:ea typeface="Calibri"/>
                <a:cs typeface="Calibri"/>
                <a:sym typeface="Calibri"/>
              </a:rPr>
              <a:t>By: Dr. Afshan Hashmi</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3"/>
          <p:cNvSpPr txBox="1"/>
          <p:nvPr/>
        </p:nvSpPr>
        <p:spPr>
          <a:xfrm>
            <a:off x="838658" y="1343963"/>
            <a:ext cx="6634716" cy="2277506"/>
          </a:xfrm>
          <a:prstGeom prst="rect">
            <a:avLst/>
          </a:prstGeom>
          <a:noFill/>
          <a:ln>
            <a:noFill/>
          </a:ln>
        </p:spPr>
        <p:txBody>
          <a:bodyPr spcFirstLastPara="1" wrap="square" lIns="91425" tIns="45700" rIns="91425" bIns="45700" anchor="t" anchorCtr="0">
            <a:spAutoFit/>
          </a:bodyPr>
          <a:lstStyle/>
          <a:p>
            <a:pPr marL="0" marR="0" lvl="0" indent="0" algn="just" rtl="0">
              <a:lnSpc>
                <a:spcPct val="125000"/>
              </a:lnSpc>
              <a:spcBef>
                <a:spcPts val="0"/>
              </a:spcBef>
              <a:spcAft>
                <a:spcPts val="0"/>
              </a:spcAft>
              <a:buNone/>
            </a:pPr>
            <a:r>
              <a:rPr lang="en-US" sz="2400" b="1" dirty="0">
                <a:solidFill>
                  <a:srgbClr val="7030A0"/>
                </a:solidFill>
              </a:rPr>
              <a:t>Topics Covered</a:t>
            </a:r>
            <a:r>
              <a:rPr lang="en-US" sz="2400" b="1" i="0" u="none" strike="noStrike" cap="none" dirty="0">
                <a:solidFill>
                  <a:srgbClr val="7030A0"/>
                </a:solidFill>
                <a:latin typeface="Arial"/>
                <a:ea typeface="Arial"/>
                <a:cs typeface="Arial"/>
                <a:sym typeface="Arial"/>
              </a:rPr>
              <a:t>:</a:t>
            </a:r>
            <a:endParaRPr lang="en-GB" b="0" i="0" u="none" strike="noStrike" dirty="0">
              <a:solidFill>
                <a:srgbClr val="000000"/>
              </a:solidFill>
              <a:effectLst/>
            </a:endParaRPr>
          </a:p>
          <a:p>
            <a:pPr algn="l" rtl="0">
              <a:buNone/>
            </a:pPr>
            <a:endParaRPr lang="en-GB" b="0" i="0" u="none" strike="noStrike" dirty="0">
              <a:solidFill>
                <a:srgbClr val="000000"/>
              </a:solidFill>
              <a:effectLst/>
            </a:endParaRPr>
          </a:p>
          <a:p>
            <a:pPr marL="342900" indent="-342900">
              <a:buFont typeface="+mj-lt"/>
              <a:buAutoNum type="arabicPeriod"/>
            </a:pPr>
            <a:r>
              <a:rPr lang="en-GB" b="0" i="0" u="none" strike="noStrike" dirty="0">
                <a:solidFill>
                  <a:srgbClr val="000000"/>
                </a:solidFill>
                <a:effectLst/>
              </a:rPr>
              <a:t>Understanding Generative Adversarial Networks (GANs) .</a:t>
            </a:r>
          </a:p>
          <a:p>
            <a:pPr marL="342900" indent="-342900">
              <a:buFont typeface="+mj-lt"/>
              <a:buAutoNum type="arabicPeriod"/>
            </a:pPr>
            <a:r>
              <a:rPr lang="en-GB" b="0" i="0" u="none" strike="noStrike" dirty="0">
                <a:solidFill>
                  <a:srgbClr val="000000"/>
                </a:solidFill>
                <a:effectLst/>
              </a:rPr>
              <a:t>Generator Model </a:t>
            </a:r>
          </a:p>
          <a:p>
            <a:pPr marL="342900" indent="-342900" algn="l" rtl="0">
              <a:buFont typeface="+mj-lt"/>
              <a:buAutoNum type="arabicPeriod"/>
            </a:pPr>
            <a:r>
              <a:rPr lang="en-GB" dirty="0"/>
              <a:t>Discriminator Model</a:t>
            </a:r>
          </a:p>
          <a:p>
            <a:pPr marL="342900" indent="-342900">
              <a:buFont typeface="+mj-lt"/>
              <a:buAutoNum type="arabicPeriod"/>
            </a:pPr>
            <a:r>
              <a:rPr lang="en-US" dirty="0"/>
              <a:t>Working of Generative Adversarial Networks (GANs) </a:t>
            </a:r>
          </a:p>
          <a:p>
            <a:pPr marL="342900" indent="-342900">
              <a:buFont typeface="+mj-lt"/>
              <a:buAutoNum type="arabicPeriod"/>
            </a:pPr>
            <a:r>
              <a:rPr lang="en-US" dirty="0"/>
              <a:t>Types of Generative Adversarial Networks (GANs) </a:t>
            </a:r>
          </a:p>
          <a:p>
            <a:pPr marL="342900" indent="-342900">
              <a:buFont typeface="+mj-lt"/>
              <a:buAutoNum type="arabicPeriod"/>
            </a:pPr>
            <a:r>
              <a:rPr lang="en-US" dirty="0"/>
              <a:t>Advantages and Limitation of GAN</a:t>
            </a:r>
          </a:p>
          <a:p>
            <a:pPr marL="342900" indent="-342900">
              <a:buFont typeface="+mj-lt"/>
              <a:buAutoNum type="arabicPeriod"/>
            </a:pPr>
            <a:r>
              <a:rPr lang="en-US" sz="1400" b="0" i="0" u="none" strike="noStrike" cap="none" dirty="0">
                <a:solidFill>
                  <a:srgbClr val="000000"/>
                </a:solidFill>
                <a:latin typeface="Arial"/>
                <a:ea typeface="Arial"/>
                <a:cs typeface="Arial"/>
                <a:sym typeface="Arial"/>
              </a:rPr>
              <a:t>Image Generation with GAN(Implementation)</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4EF5623-6B09-C586-D026-E1815682342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B8CE39D-1BAA-9EAF-5C66-19BBE6DD2056}"/>
              </a:ext>
            </a:extLst>
          </p:cNvPr>
          <p:cNvSpPr txBox="1">
            <a:spLocks noGrp="1"/>
          </p:cNvSpPr>
          <p:nvPr>
            <p:ph type="title"/>
          </p:nvPr>
        </p:nvSpPr>
        <p:spPr>
          <a:xfrm>
            <a:off x="284775" y="0"/>
            <a:ext cx="8329650" cy="627900"/>
          </a:xfrm>
          <a:prstGeom prst="rect">
            <a:avLst/>
          </a:prstGeom>
          <a:noFill/>
          <a:ln>
            <a:noFill/>
          </a:ln>
        </p:spPr>
        <p:txBody>
          <a:bodyPr spcFirstLastPara="1" wrap="square" lIns="91425" tIns="91425" rIns="91425" bIns="91425" anchor="t" anchorCtr="0">
            <a:normAutofit fontScale="90000"/>
          </a:bodyPr>
          <a:lstStyle/>
          <a:p>
            <a:pPr algn="l">
              <a:buNone/>
            </a:pPr>
            <a:r>
              <a:rPr lang="en-GB" sz="2400" b="1" i="0" u="none" strike="noStrike" dirty="0">
                <a:solidFill>
                  <a:srgbClr val="7030A0"/>
                </a:solidFill>
                <a:effectLst/>
                <a:latin typeface="+mj-lt"/>
              </a:rPr>
              <a:t>Understanding GPT (Generative Pre-trained Transformer)</a:t>
            </a:r>
          </a:p>
        </p:txBody>
      </p:sp>
      <p:sp>
        <p:nvSpPr>
          <p:cNvPr id="4" name="AutoShape 2" descr="Optimized Python with Numba library">
            <a:extLst>
              <a:ext uri="{FF2B5EF4-FFF2-40B4-BE49-F238E27FC236}">
                <a16:creationId xmlns:a16="http://schemas.microsoft.com/office/drawing/2014/main" id="{A4482F75-B306-CAB6-0919-E013D5E5A039}"/>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91F168CB-0CDB-B6DB-AE67-BA9ABA3C3998}"/>
              </a:ext>
            </a:extLst>
          </p:cNvPr>
          <p:cNvSpPr txBox="1"/>
          <p:nvPr/>
        </p:nvSpPr>
        <p:spPr>
          <a:xfrm>
            <a:off x="0" y="416209"/>
            <a:ext cx="7920240" cy="2631490"/>
          </a:xfrm>
          <a:prstGeom prst="rect">
            <a:avLst/>
          </a:prstGeom>
          <a:noFill/>
        </p:spPr>
        <p:txBody>
          <a:bodyPr wrap="square">
            <a:spAutoFit/>
          </a:bodyPr>
          <a:lstStyle/>
          <a:p>
            <a:pPr algn="l">
              <a:buNone/>
            </a:pPr>
            <a:r>
              <a:rPr lang="en-GB" sz="1500" b="0" i="0" u="none" strike="noStrike" dirty="0">
                <a:solidFill>
                  <a:srgbClr val="000000"/>
                </a:solidFill>
                <a:effectLst/>
              </a:rPr>
              <a:t>Generative Adversarial Networks (GANs), introduced by Ian Goodfellow and colleagues in 2014, are a class of neural networks designed to autonomously learn patterns from input data and generate new examples that resemble the original dataset.</a:t>
            </a:r>
          </a:p>
          <a:p>
            <a:pPr algn="l">
              <a:buNone/>
            </a:pPr>
            <a:r>
              <a:rPr lang="en-GB" sz="1500" b="0" i="0" u="none" strike="noStrike" dirty="0">
                <a:solidFill>
                  <a:srgbClr val="000000"/>
                </a:solidFill>
                <a:effectLst/>
              </a:rPr>
              <a:t>The architecture of a GAN comprises two competing neural networks:</a:t>
            </a:r>
          </a:p>
          <a:p>
            <a:pPr marL="457200" indent="-457200" algn="l">
              <a:buFont typeface="+mj-lt"/>
              <a:buAutoNum type="arabicPeriod"/>
            </a:pPr>
            <a:r>
              <a:rPr lang="en-GB" sz="1500" b="1" i="0" u="none" strike="noStrike" dirty="0">
                <a:solidFill>
                  <a:srgbClr val="000000"/>
                </a:solidFill>
                <a:effectLst/>
              </a:rPr>
              <a:t>Generator:</a:t>
            </a:r>
            <a:r>
              <a:rPr lang="en-GB" sz="1500" b="0" i="0" u="none" strike="noStrike" dirty="0">
                <a:solidFill>
                  <a:srgbClr val="000000"/>
                </a:solidFill>
                <a:effectLst/>
              </a:rPr>
              <a:t> This network's role is to create synthetic data from random noise. Its objective is to produce data that is so realistic that the discriminator cannot differentiate it from real data.</a:t>
            </a:r>
          </a:p>
          <a:p>
            <a:pPr marL="457200" indent="-457200" algn="l">
              <a:buFont typeface="+mj-lt"/>
              <a:buAutoNum type="arabicPeriod"/>
            </a:pPr>
            <a:r>
              <a:rPr lang="en-GB" sz="1500" b="1" i="0" u="none" strike="noStrike" dirty="0">
                <a:solidFill>
                  <a:srgbClr val="000000"/>
                </a:solidFill>
                <a:effectLst/>
              </a:rPr>
              <a:t>Discriminator:</a:t>
            </a:r>
            <a:r>
              <a:rPr lang="en-GB" sz="1500" b="0" i="0" u="none" strike="noStrike" dirty="0">
                <a:solidFill>
                  <a:srgbClr val="000000"/>
                </a:solidFill>
                <a:effectLst/>
              </a:rPr>
              <a:t> Acting as a critic, this network evaluates the data it receives (which can be either real data from the dataset or synthetic data from the generator) and determines whether it is real or fake.</a:t>
            </a:r>
          </a:p>
          <a:p>
            <a:endParaRPr lang="en-GB" sz="1500" b="1" dirty="0">
              <a:latin typeface="+mj-lt"/>
            </a:endParaRPr>
          </a:p>
        </p:txBody>
      </p:sp>
      <p:pic>
        <p:nvPicPr>
          <p:cNvPr id="30724" name="Picture 4" descr="Generative-Adverarial-network-Gans">
            <a:extLst>
              <a:ext uri="{FF2B5EF4-FFF2-40B4-BE49-F238E27FC236}">
                <a16:creationId xmlns:a16="http://schemas.microsoft.com/office/drawing/2014/main" id="{E784A385-31AD-A94F-03F2-7C4E02229BA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046" r="2954"/>
          <a:stretch/>
        </p:blipFill>
        <p:spPr bwMode="auto">
          <a:xfrm>
            <a:off x="3657600" y="2564173"/>
            <a:ext cx="5486400" cy="25793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7176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F9843F9-E148-AB48-C841-5EC02E1EF5B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78FAB56-5485-39E6-610F-927AF1C41EB6}"/>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pPr>
              <a:spcAft>
                <a:spcPts val="300"/>
              </a:spcAft>
            </a:pPr>
            <a:r>
              <a:rPr lang="en-GB" sz="2400" i="0" u="none" strike="noStrike" dirty="0">
                <a:solidFill>
                  <a:srgbClr val="7030A0"/>
                </a:solidFill>
                <a:effectLst/>
                <a:latin typeface="+mj-lt"/>
              </a:rPr>
              <a:t>1. Generator Model</a:t>
            </a: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84F0D10E-D6A5-859E-3392-AA2AAC610ADF}"/>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D1F50204-6D17-217E-B945-C52E0703DD63}"/>
              </a:ext>
            </a:extLst>
          </p:cNvPr>
          <p:cNvSpPr txBox="1"/>
          <p:nvPr/>
        </p:nvSpPr>
        <p:spPr>
          <a:xfrm>
            <a:off x="186960" y="521235"/>
            <a:ext cx="8193840" cy="5401479"/>
          </a:xfrm>
          <a:prstGeom prst="rect">
            <a:avLst/>
          </a:prstGeom>
          <a:noFill/>
        </p:spPr>
        <p:txBody>
          <a:bodyPr wrap="square">
            <a:spAutoFit/>
          </a:bodyPr>
          <a:lstStyle/>
          <a:p>
            <a:pPr algn="l">
              <a:buNone/>
            </a:pPr>
            <a:r>
              <a:rPr lang="en-GB" sz="1500" b="0" i="0" u="none" strike="noStrike" dirty="0">
                <a:solidFill>
                  <a:srgbClr val="000000"/>
                </a:solidFill>
                <a:effectLst/>
              </a:rPr>
              <a:t>The </a:t>
            </a:r>
            <a:r>
              <a:rPr lang="en-GB" sz="1500" b="1" i="0" u="none" strike="noStrike" dirty="0">
                <a:solidFill>
                  <a:srgbClr val="000000"/>
                </a:solidFill>
                <a:effectLst/>
              </a:rPr>
              <a:t>Generator</a:t>
            </a:r>
            <a:r>
              <a:rPr lang="en-GB" sz="1500" b="0" i="0" u="none" strike="noStrike" dirty="0">
                <a:solidFill>
                  <a:srgbClr val="000000"/>
                </a:solidFill>
                <a:effectLst/>
              </a:rPr>
              <a:t> is a deep neural network responsible for creating synthetic data samples.</a:t>
            </a:r>
          </a:p>
          <a:p>
            <a:pPr marL="285750" indent="-285750" algn="l">
              <a:buFont typeface="Wingdings" pitchFamily="2" charset="2"/>
              <a:buChar char="Ø"/>
            </a:pPr>
            <a:r>
              <a:rPr lang="en-GB" sz="1500" b="1" i="0" u="none" strike="noStrike" dirty="0">
                <a:solidFill>
                  <a:srgbClr val="000000"/>
                </a:solidFill>
                <a:effectLst/>
              </a:rPr>
              <a:t>Input:</a:t>
            </a:r>
            <a:r>
              <a:rPr lang="en-GB" sz="1500" b="0" i="0" u="none" strike="noStrike" dirty="0">
                <a:solidFill>
                  <a:srgbClr val="000000"/>
                </a:solidFill>
                <a:effectLst/>
              </a:rPr>
              <a:t> It takes </a:t>
            </a:r>
            <a:r>
              <a:rPr lang="en-GB" sz="1500" b="1" i="0" u="none" strike="noStrike" dirty="0">
                <a:solidFill>
                  <a:srgbClr val="000000"/>
                </a:solidFill>
                <a:effectLst/>
              </a:rPr>
              <a:t>random noise</a:t>
            </a:r>
            <a:r>
              <a:rPr lang="en-GB" sz="1500" b="0" i="0" u="none" strike="noStrike" dirty="0">
                <a:solidFill>
                  <a:srgbClr val="000000"/>
                </a:solidFill>
                <a:effectLst/>
              </a:rPr>
              <a:t> (often a latent vector z) as its input.</a:t>
            </a:r>
          </a:p>
          <a:p>
            <a:pPr marL="285750" indent="-285750" algn="l">
              <a:buFont typeface="Wingdings" pitchFamily="2" charset="2"/>
              <a:buChar char="Ø"/>
            </a:pPr>
            <a:r>
              <a:rPr lang="en-GB" sz="1500" b="1" i="0" u="none" strike="noStrike" dirty="0">
                <a:solidFill>
                  <a:srgbClr val="000000"/>
                </a:solidFill>
                <a:effectLst/>
              </a:rPr>
              <a:t>Output:</a:t>
            </a:r>
            <a:r>
              <a:rPr lang="en-GB" sz="1500" b="0" i="0" u="none" strike="noStrike" dirty="0">
                <a:solidFill>
                  <a:srgbClr val="000000"/>
                </a:solidFill>
                <a:effectLst/>
              </a:rPr>
              <a:t> It produces </a:t>
            </a:r>
            <a:r>
              <a:rPr lang="en-GB" sz="1500" b="1" i="0" u="none" strike="noStrike" dirty="0">
                <a:solidFill>
                  <a:srgbClr val="000000"/>
                </a:solidFill>
                <a:effectLst/>
              </a:rPr>
              <a:t>realistic data samples</a:t>
            </a:r>
            <a:r>
              <a:rPr lang="en-GB" sz="1500" b="0" i="0" u="none" strike="noStrike" dirty="0">
                <a:solidFill>
                  <a:srgbClr val="000000"/>
                </a:solidFill>
                <a:effectLst/>
              </a:rPr>
              <a:t> (e.g., images, text, audio) that aim to mimic the real data distribution.</a:t>
            </a:r>
          </a:p>
          <a:p>
            <a:pPr marL="285750" indent="-285750" algn="l">
              <a:buFont typeface="Wingdings" pitchFamily="2" charset="2"/>
              <a:buChar char="Ø"/>
            </a:pPr>
            <a:r>
              <a:rPr lang="en-GB" sz="1500" b="1" i="0" u="none" strike="noStrike" dirty="0">
                <a:solidFill>
                  <a:srgbClr val="000000"/>
                </a:solidFill>
                <a:effectLst/>
              </a:rPr>
              <a:t>Learning Process:</a:t>
            </a:r>
            <a:r>
              <a:rPr lang="en-GB" sz="1500" b="0" i="0" u="none" strike="noStrike" dirty="0">
                <a:solidFill>
                  <a:srgbClr val="000000"/>
                </a:solidFill>
                <a:effectLst/>
              </a:rPr>
              <a:t> The Generator learns the underlying data distribution by adjusting its parameters through </a:t>
            </a:r>
            <a:r>
              <a:rPr lang="en-GB" sz="1500" b="1" i="0" u="none" strike="noStrike" dirty="0">
                <a:solidFill>
                  <a:srgbClr val="000000"/>
                </a:solidFill>
                <a:effectLst/>
              </a:rPr>
              <a:t>backpropagation</a:t>
            </a:r>
            <a:r>
              <a:rPr lang="en-GB" sz="1500" b="0" i="0" u="none" strike="noStrike" dirty="0">
                <a:solidFill>
                  <a:srgbClr val="000000"/>
                </a:solidFill>
                <a:effectLst/>
              </a:rPr>
              <a:t>.</a:t>
            </a:r>
          </a:p>
          <a:p>
            <a:pPr marL="285750" indent="-285750" algn="l">
              <a:buFont typeface="Wingdings" pitchFamily="2" charset="2"/>
              <a:buChar char="Ø"/>
            </a:pPr>
            <a:r>
              <a:rPr lang="en-GB" sz="1500" b="1" i="0" u="none" strike="noStrike" dirty="0">
                <a:solidFill>
                  <a:srgbClr val="000000"/>
                </a:solidFill>
                <a:effectLst/>
              </a:rPr>
              <a:t>Objective:</a:t>
            </a:r>
            <a:r>
              <a:rPr lang="en-GB" sz="1500" b="0" i="0" u="none" strike="noStrike" dirty="0">
                <a:solidFill>
                  <a:srgbClr val="000000"/>
                </a:solidFill>
                <a:effectLst/>
              </a:rPr>
              <a:t> The Generator's primary goal is to produce samples that the Discriminator classifies as </a:t>
            </a:r>
            <a:r>
              <a:rPr lang="en-GB" sz="1500" b="0" i="1" u="none" strike="noStrike" dirty="0">
                <a:solidFill>
                  <a:srgbClr val="000000"/>
                </a:solidFill>
                <a:effectLst/>
              </a:rPr>
              <a:t>real</a:t>
            </a:r>
            <a:r>
              <a:rPr lang="en-GB" sz="1500" b="0" i="0" u="none" strike="noStrike" dirty="0">
                <a:solidFill>
                  <a:srgbClr val="000000"/>
                </a:solidFill>
                <a:effectLst/>
              </a:rPr>
              <a:t>. It wants to "fool" the Discriminator.</a:t>
            </a:r>
          </a:p>
          <a:p>
            <a:pPr algn="l">
              <a:buNone/>
            </a:pPr>
            <a:r>
              <a:rPr lang="en-GB" sz="1500" b="1" i="0" u="none" strike="noStrike" dirty="0">
                <a:solidFill>
                  <a:srgbClr val="000000"/>
                </a:solidFill>
                <a:effectLst/>
              </a:rPr>
              <a:t>Loss Function:</a:t>
            </a:r>
            <a:endParaRPr lang="en-GB" sz="1500" b="0" i="0" u="none" strike="noStrike" dirty="0">
              <a:solidFill>
                <a:srgbClr val="000000"/>
              </a:solidFill>
              <a:effectLst/>
            </a:endParaRPr>
          </a:p>
          <a:p>
            <a:pPr algn="l">
              <a:buNone/>
            </a:pPr>
            <a:r>
              <a:rPr lang="en-GB" sz="1500" b="0" i="0" u="none" strike="noStrike" dirty="0">
                <a:solidFill>
                  <a:srgbClr val="000000"/>
                </a:solidFill>
                <a:effectLst/>
              </a:rPr>
              <a:t>The Generator aims to minimize the following loss function:</a:t>
            </a:r>
          </a:p>
          <a:p>
            <a:pPr algn="ctr">
              <a:buNone/>
            </a:pPr>
            <a:r>
              <a:rPr lang="en-GB" sz="1500" b="0" i="1" u="none" strike="noStrike" dirty="0">
                <a:solidFill>
                  <a:srgbClr val="000000"/>
                </a:solidFill>
                <a:effectLst/>
              </a:rPr>
              <a:t>J_G = - (1/m) * Sum(log D(G(</a:t>
            </a:r>
            <a:r>
              <a:rPr lang="en-GB" sz="1500" b="0" i="1" u="none" strike="noStrike" dirty="0" err="1">
                <a:solidFill>
                  <a:srgbClr val="000000"/>
                </a:solidFill>
                <a:effectLst/>
              </a:rPr>
              <a:t>z_i</a:t>
            </a:r>
            <a:r>
              <a:rPr lang="en-GB" sz="1500" b="0" i="1" u="none" strike="noStrike" dirty="0">
                <a:solidFill>
                  <a:srgbClr val="000000"/>
                </a:solidFill>
                <a:effectLst/>
              </a:rPr>
              <a:t>)))</a:t>
            </a:r>
          </a:p>
          <a:p>
            <a:pPr algn="l">
              <a:buNone/>
            </a:pPr>
            <a:r>
              <a:rPr lang="en-GB" sz="1500" b="0" i="0" u="none" strike="noStrike" dirty="0">
                <a:solidFill>
                  <a:srgbClr val="000000"/>
                </a:solidFill>
                <a:effectLst/>
              </a:rPr>
              <a:t>Where:</a:t>
            </a:r>
          </a:p>
          <a:p>
            <a:pPr marL="285750" indent="-285750" algn="l">
              <a:buFont typeface="Wingdings" pitchFamily="2" charset="2"/>
              <a:buChar char="Ø"/>
            </a:pPr>
            <a:r>
              <a:rPr lang="en-GB" sz="1500" b="0" i="0" u="none" strike="noStrike" dirty="0">
                <a:solidFill>
                  <a:srgbClr val="000000"/>
                </a:solidFill>
                <a:effectLst/>
              </a:rPr>
              <a:t>J_G: Measures how well the Generator is fooling the Discriminator.</a:t>
            </a:r>
          </a:p>
          <a:p>
            <a:pPr marL="285750" indent="-285750" algn="l">
              <a:buFont typeface="Wingdings" pitchFamily="2" charset="2"/>
              <a:buChar char="Ø"/>
            </a:pPr>
            <a:r>
              <a:rPr lang="en-GB" sz="1500" b="0" i="0" u="none" strike="noStrike" dirty="0">
                <a:solidFill>
                  <a:srgbClr val="000000"/>
                </a:solidFill>
                <a:effectLst/>
              </a:rPr>
              <a:t>D(G(</a:t>
            </a:r>
            <a:r>
              <a:rPr lang="en-GB" sz="1500" b="0" i="0" u="none" strike="noStrike" dirty="0" err="1">
                <a:solidFill>
                  <a:srgbClr val="000000"/>
                </a:solidFill>
                <a:effectLst/>
              </a:rPr>
              <a:t>z_i</a:t>
            </a:r>
            <a:r>
              <a:rPr lang="en-GB" sz="1500" b="0" i="0" u="none" strike="noStrike" dirty="0">
                <a:solidFill>
                  <a:srgbClr val="000000"/>
                </a:solidFill>
                <a:effectLst/>
              </a:rPr>
              <a:t>)): Represents the Discriminator's output (probability) that a generated sample G(</a:t>
            </a:r>
            <a:r>
              <a:rPr lang="en-GB" sz="1500" b="0" i="0" u="none" strike="noStrike" dirty="0" err="1">
                <a:solidFill>
                  <a:srgbClr val="000000"/>
                </a:solidFill>
                <a:effectLst/>
              </a:rPr>
              <a:t>z_i</a:t>
            </a:r>
            <a:r>
              <a:rPr lang="en-GB" sz="1500" b="0" i="0" u="none" strike="noStrike" dirty="0">
                <a:solidFill>
                  <a:srgbClr val="000000"/>
                </a:solidFill>
                <a:effectLst/>
              </a:rPr>
              <a:t>) is real.</a:t>
            </a:r>
          </a:p>
          <a:p>
            <a:pPr marL="285750" indent="-285750" algn="l">
              <a:buFont typeface="Wingdings" pitchFamily="2" charset="2"/>
              <a:buChar char="Ø"/>
            </a:pPr>
            <a:r>
              <a:rPr lang="en-GB" sz="1500" b="0" i="0" u="none" strike="noStrike" dirty="0">
                <a:solidFill>
                  <a:srgbClr val="000000"/>
                </a:solidFill>
                <a:effectLst/>
              </a:rPr>
              <a:t>log D(G(</a:t>
            </a:r>
            <a:r>
              <a:rPr lang="en-GB" sz="1500" b="0" i="0" u="none" strike="noStrike" dirty="0" err="1">
                <a:solidFill>
                  <a:srgbClr val="000000"/>
                </a:solidFill>
                <a:effectLst/>
              </a:rPr>
              <a:t>z_i</a:t>
            </a:r>
            <a:r>
              <a:rPr lang="en-GB" sz="1500" b="0" i="0" u="none" strike="noStrike" dirty="0">
                <a:solidFill>
                  <a:srgbClr val="000000"/>
                </a:solidFill>
                <a:effectLst/>
              </a:rPr>
              <a:t>)): The logarithm of this probability.</a:t>
            </a:r>
          </a:p>
          <a:p>
            <a:pPr marL="285750" indent="-285750" algn="l">
              <a:buFont typeface="Wingdings" pitchFamily="2" charset="2"/>
              <a:buChar char="Ø"/>
            </a:pPr>
            <a:r>
              <a:rPr lang="en-GB" sz="1500" b="0" i="0" u="none" strike="noStrike" dirty="0">
                <a:solidFill>
                  <a:srgbClr val="000000"/>
                </a:solidFill>
                <a:effectLst/>
              </a:rPr>
              <a:t>m: The number of samples in the batch.</a:t>
            </a:r>
          </a:p>
          <a:p>
            <a:pPr algn="l"/>
            <a:r>
              <a:rPr lang="en-GB" sz="1500" b="0" i="0" u="none" strike="noStrike" dirty="0">
                <a:solidFill>
                  <a:srgbClr val="000000"/>
                </a:solidFill>
                <a:effectLst/>
              </a:rPr>
              <a:t>The Generator aims to make D(G(</a:t>
            </a:r>
            <a:r>
              <a:rPr lang="en-GB" sz="1500" b="0" i="0" u="none" strike="noStrike" dirty="0" err="1">
                <a:solidFill>
                  <a:srgbClr val="000000"/>
                </a:solidFill>
                <a:effectLst/>
              </a:rPr>
              <a:t>z_i</a:t>
            </a:r>
            <a:r>
              <a:rPr lang="en-GB" sz="1500" b="0" i="0" u="none" strike="noStrike" dirty="0">
                <a:solidFill>
                  <a:srgbClr val="000000"/>
                </a:solidFill>
                <a:effectLst/>
              </a:rPr>
              <a:t>)) as close to 1 as possible, meaning the Discriminator believes the generated samples are real. Minimizing -log D(G(</a:t>
            </a:r>
            <a:r>
              <a:rPr lang="en-GB" sz="1500" b="0" i="0" u="none" strike="noStrike" dirty="0" err="1">
                <a:solidFill>
                  <a:srgbClr val="000000"/>
                </a:solidFill>
                <a:effectLst/>
              </a:rPr>
              <a:t>z_i</a:t>
            </a:r>
            <a:r>
              <a:rPr lang="en-GB" sz="1500" b="0" i="0" u="none" strike="noStrike" dirty="0">
                <a:solidFill>
                  <a:srgbClr val="000000"/>
                </a:solidFill>
                <a:effectLst/>
              </a:rPr>
              <a:t>)) achieves this.</a:t>
            </a:r>
          </a:p>
          <a:p>
            <a:pPr>
              <a:buNone/>
            </a:pPr>
            <a:br>
              <a:rPr lang="en-GB" sz="1500" dirty="0"/>
            </a:br>
            <a:endParaRPr lang="en-GB" sz="1500" b="0" i="0" u="none" strike="noStrike" dirty="0">
              <a:solidFill>
                <a:srgbClr val="000000"/>
              </a:solidFill>
              <a:effectLst/>
            </a:endParaRPr>
          </a:p>
          <a:p>
            <a:br>
              <a:rPr lang="en-GB" sz="1500" dirty="0">
                <a:latin typeface="+mj-lt"/>
              </a:rPr>
            </a:br>
            <a:endParaRPr lang="en-GB" sz="1500" b="1" dirty="0">
              <a:latin typeface="+mj-lt"/>
            </a:endParaRPr>
          </a:p>
        </p:txBody>
      </p:sp>
    </p:spTree>
    <p:extLst>
      <p:ext uri="{BB962C8B-B14F-4D97-AF65-F5344CB8AC3E}">
        <p14:creationId xmlns:p14="http://schemas.microsoft.com/office/powerpoint/2010/main" val="3262270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C900F1F-4CDA-E9C2-E7F9-89A41D2D91C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D9BBBEBF-895E-F17E-0C16-9D41E4C8C34D}"/>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pPr>
              <a:spcAft>
                <a:spcPts val="300"/>
              </a:spcAft>
            </a:pPr>
            <a:r>
              <a:rPr lang="en-GB" sz="2400" i="0" u="none" strike="noStrike" dirty="0">
                <a:solidFill>
                  <a:srgbClr val="7030A0"/>
                </a:solidFill>
                <a:effectLst/>
                <a:latin typeface="+mj-lt"/>
              </a:rPr>
              <a:t>2. Discriminator Model</a:t>
            </a: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55394C66-B9C6-ADFC-BFEE-BA456908403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F01E9A33-D5DE-F6C8-20DB-2E051D6F6D4F}"/>
              </a:ext>
            </a:extLst>
          </p:cNvPr>
          <p:cNvSpPr txBox="1"/>
          <p:nvPr/>
        </p:nvSpPr>
        <p:spPr>
          <a:xfrm>
            <a:off x="482160" y="586035"/>
            <a:ext cx="7704240" cy="5047536"/>
          </a:xfrm>
          <a:prstGeom prst="rect">
            <a:avLst/>
          </a:prstGeom>
          <a:noFill/>
        </p:spPr>
        <p:txBody>
          <a:bodyPr wrap="square">
            <a:spAutoFit/>
          </a:bodyPr>
          <a:lstStyle/>
          <a:p>
            <a:pPr algn="l">
              <a:buNone/>
            </a:pPr>
            <a:r>
              <a:rPr lang="en-GB" b="0" i="0" u="none" strike="noStrike" dirty="0">
                <a:solidFill>
                  <a:srgbClr val="000000"/>
                </a:solidFill>
                <a:effectLst/>
              </a:rPr>
              <a:t>The </a:t>
            </a:r>
            <a:r>
              <a:rPr lang="en-GB" b="1" i="0" u="none" strike="noStrike" dirty="0">
                <a:solidFill>
                  <a:srgbClr val="000000"/>
                </a:solidFill>
                <a:effectLst/>
              </a:rPr>
              <a:t>Discriminator</a:t>
            </a:r>
            <a:r>
              <a:rPr lang="en-GB" b="0" i="0" u="none" strike="noStrike" dirty="0">
                <a:solidFill>
                  <a:srgbClr val="000000"/>
                </a:solidFill>
                <a:effectLst/>
              </a:rPr>
              <a:t> acts as a </a:t>
            </a:r>
            <a:r>
              <a:rPr lang="en-GB" b="1" i="0" u="none" strike="noStrike" dirty="0">
                <a:solidFill>
                  <a:srgbClr val="000000"/>
                </a:solidFill>
                <a:effectLst/>
              </a:rPr>
              <a:t>binary classifier</a:t>
            </a:r>
            <a:r>
              <a:rPr lang="en-GB" b="0" i="0" u="none" strike="noStrike" dirty="0">
                <a:solidFill>
                  <a:srgbClr val="000000"/>
                </a:solidFill>
                <a:effectLst/>
              </a:rPr>
              <a:t>, tasked with distinguishing between real and generated data.</a:t>
            </a:r>
          </a:p>
          <a:p>
            <a:pPr marL="342900" indent="-342900" algn="l">
              <a:buFont typeface="Wingdings" pitchFamily="2" charset="2"/>
              <a:buChar char="Ø"/>
            </a:pPr>
            <a:r>
              <a:rPr lang="en-GB" b="1" i="0" u="none" strike="noStrike" dirty="0">
                <a:solidFill>
                  <a:srgbClr val="000000"/>
                </a:solidFill>
                <a:effectLst/>
              </a:rPr>
              <a:t>Role:</a:t>
            </a:r>
            <a:r>
              <a:rPr lang="en-GB" b="0" i="0" u="none" strike="noStrike" dirty="0">
                <a:solidFill>
                  <a:srgbClr val="000000"/>
                </a:solidFill>
                <a:effectLst/>
              </a:rPr>
              <a:t> It learns to improve its classification ability through training, refining its parameters to detect fake samples more accurately.</a:t>
            </a:r>
          </a:p>
          <a:p>
            <a:pPr marL="342900" indent="-342900" algn="l">
              <a:buFont typeface="Wingdings" pitchFamily="2" charset="2"/>
              <a:buChar char="Ø"/>
            </a:pPr>
            <a:r>
              <a:rPr lang="en-GB" b="1" i="0" u="none" strike="noStrike" dirty="0">
                <a:solidFill>
                  <a:srgbClr val="000000"/>
                </a:solidFill>
                <a:effectLst/>
              </a:rPr>
              <a:t>Architecture:</a:t>
            </a:r>
            <a:r>
              <a:rPr lang="en-GB" b="0" i="0" u="none" strike="noStrike" dirty="0">
                <a:solidFill>
                  <a:srgbClr val="000000"/>
                </a:solidFill>
                <a:effectLst/>
              </a:rPr>
              <a:t> When dealing with image data, the Discriminator often employs </a:t>
            </a:r>
            <a:r>
              <a:rPr lang="en-GB" b="1" i="0" u="none" strike="noStrike" dirty="0">
                <a:solidFill>
                  <a:srgbClr val="000000"/>
                </a:solidFill>
                <a:effectLst/>
              </a:rPr>
              <a:t>convolutional layers</a:t>
            </a:r>
            <a:r>
              <a:rPr lang="en-GB" b="0" i="0" u="none" strike="noStrike" dirty="0">
                <a:solidFill>
                  <a:srgbClr val="000000"/>
                </a:solidFill>
                <a:effectLst/>
              </a:rPr>
              <a:t> or other relevant architectures suited to the data type. These layers help extract features crucial for differentiation.</a:t>
            </a:r>
          </a:p>
          <a:p>
            <a:pPr marL="342900" indent="-342900" algn="l">
              <a:buFont typeface="Wingdings" pitchFamily="2" charset="2"/>
              <a:buChar char="Ø"/>
            </a:pPr>
            <a:r>
              <a:rPr lang="en-GB" b="1" i="0" u="none" strike="noStrike" dirty="0">
                <a:solidFill>
                  <a:srgbClr val="000000"/>
                </a:solidFill>
                <a:effectLst/>
              </a:rPr>
              <a:t>Objective:</a:t>
            </a:r>
            <a:r>
              <a:rPr lang="en-GB" b="0" i="0" u="none" strike="noStrike" dirty="0">
                <a:solidFill>
                  <a:srgbClr val="000000"/>
                </a:solidFill>
                <a:effectLst/>
              </a:rPr>
              <a:t> The Discriminator aims to maximize its ability to correctly classify real samples as real and generated samples as fake.</a:t>
            </a:r>
          </a:p>
          <a:p>
            <a:pPr algn="l">
              <a:buNone/>
            </a:pPr>
            <a:r>
              <a:rPr lang="en-GB" b="1" i="0" u="none" strike="noStrike" dirty="0">
                <a:solidFill>
                  <a:srgbClr val="000000"/>
                </a:solidFill>
                <a:effectLst/>
              </a:rPr>
              <a:t>Loss Function:</a:t>
            </a:r>
            <a:endParaRPr lang="en-GB" b="0" i="0" u="none" strike="noStrike" dirty="0">
              <a:solidFill>
                <a:srgbClr val="000000"/>
              </a:solidFill>
              <a:effectLst/>
            </a:endParaRPr>
          </a:p>
          <a:p>
            <a:pPr algn="l">
              <a:buNone/>
            </a:pPr>
            <a:r>
              <a:rPr lang="en-GB" b="0" i="0" u="none" strike="noStrike" dirty="0">
                <a:solidFill>
                  <a:srgbClr val="000000"/>
                </a:solidFill>
                <a:effectLst/>
              </a:rPr>
              <a:t>The Discriminator minimizes the negative log likelihood of correctly classifying both produced and real samples. This loss incentivizes the Discriminator to accurately categorize generated samples as fake and real samples as real.</a:t>
            </a:r>
          </a:p>
          <a:p>
            <a:pPr algn="ctr"/>
            <a:r>
              <a:rPr lang="en-GB" b="0" i="1" u="none" strike="noStrike" dirty="0">
                <a:solidFill>
                  <a:srgbClr val="000000"/>
                </a:solidFill>
                <a:effectLst/>
              </a:rPr>
              <a:t>J_D = - (1/m) * Sum(log D(</a:t>
            </a:r>
            <a:r>
              <a:rPr lang="en-GB" b="0" i="1" u="none" strike="noStrike" dirty="0" err="1">
                <a:solidFill>
                  <a:srgbClr val="000000"/>
                </a:solidFill>
                <a:effectLst/>
              </a:rPr>
              <a:t>x_i</a:t>
            </a:r>
            <a:r>
              <a:rPr lang="en-GB" b="0" i="1" u="none" strike="noStrike" dirty="0">
                <a:solidFill>
                  <a:srgbClr val="000000"/>
                </a:solidFill>
                <a:effectLst/>
              </a:rPr>
              <a:t>)) - (1/m) * Sum(log(1 - D(G(</a:t>
            </a:r>
            <a:r>
              <a:rPr lang="en-GB" b="0" i="1" u="none" strike="noStrike" dirty="0" err="1">
                <a:solidFill>
                  <a:srgbClr val="000000"/>
                </a:solidFill>
                <a:effectLst/>
              </a:rPr>
              <a:t>z_i</a:t>
            </a:r>
            <a:r>
              <a:rPr lang="en-GB" b="0" i="1" u="none" strike="noStrike" dirty="0">
                <a:solidFill>
                  <a:srgbClr val="000000"/>
                </a:solidFill>
                <a:effectLst/>
              </a:rPr>
              <a:t>))))</a:t>
            </a:r>
          </a:p>
          <a:p>
            <a:pPr algn="l">
              <a:buNone/>
            </a:pPr>
            <a:r>
              <a:rPr lang="en-GB" b="0" i="0" u="none" strike="noStrike" dirty="0">
                <a:solidFill>
                  <a:srgbClr val="000000"/>
                </a:solidFill>
                <a:effectLst/>
              </a:rPr>
              <a:t>Where:</a:t>
            </a:r>
          </a:p>
          <a:p>
            <a:pPr marL="285750" indent="-285750" algn="l">
              <a:buFont typeface="Wingdings" pitchFamily="2" charset="2"/>
              <a:buChar char="Ø"/>
            </a:pPr>
            <a:r>
              <a:rPr lang="en-GB" b="0" i="0" u="none" strike="noStrike" dirty="0">
                <a:solidFill>
                  <a:srgbClr val="000000"/>
                </a:solidFill>
                <a:effectLst/>
              </a:rPr>
              <a:t>J_D: Assesses the Discriminator's ability to discern between produced and actual samples.</a:t>
            </a:r>
          </a:p>
          <a:p>
            <a:pPr marL="285750" indent="-285750" algn="l">
              <a:buFont typeface="Wingdings" pitchFamily="2" charset="2"/>
              <a:buChar char="Ø"/>
            </a:pPr>
            <a:r>
              <a:rPr lang="en-GB" b="0" i="0" u="none" strike="noStrike" dirty="0">
                <a:solidFill>
                  <a:srgbClr val="000000"/>
                </a:solidFill>
                <a:effectLst/>
              </a:rPr>
              <a:t>log D(</a:t>
            </a:r>
            <a:r>
              <a:rPr lang="en-GB" b="0" i="0" u="none" strike="noStrike" dirty="0" err="1">
                <a:solidFill>
                  <a:srgbClr val="000000"/>
                </a:solidFill>
                <a:effectLst/>
              </a:rPr>
              <a:t>x_i</a:t>
            </a:r>
            <a:r>
              <a:rPr lang="en-GB" b="0" i="0" u="none" strike="noStrike" dirty="0">
                <a:solidFill>
                  <a:srgbClr val="000000"/>
                </a:solidFill>
                <a:effectLst/>
              </a:rPr>
              <a:t>): Represents the log probability that the Discriminator will accurately categorize real data (</a:t>
            </a:r>
            <a:r>
              <a:rPr lang="en-GB" b="0" i="0" u="none" strike="noStrike" dirty="0" err="1">
                <a:solidFill>
                  <a:srgbClr val="000000"/>
                </a:solidFill>
                <a:effectLst/>
              </a:rPr>
              <a:t>x_i</a:t>
            </a:r>
            <a:r>
              <a:rPr lang="en-GB" b="0" i="0" u="none" strike="noStrike" dirty="0">
                <a:solidFill>
                  <a:srgbClr val="000000"/>
                </a:solidFill>
                <a:effectLst/>
              </a:rPr>
              <a:t>) as real.</a:t>
            </a:r>
          </a:p>
          <a:p>
            <a:pPr marL="285750" indent="-285750" algn="l">
              <a:buFont typeface="Wingdings" pitchFamily="2" charset="2"/>
              <a:buChar char="Ø"/>
            </a:pPr>
            <a:r>
              <a:rPr lang="en-GB" b="0" i="0" u="none" strike="noStrike" dirty="0">
                <a:solidFill>
                  <a:srgbClr val="000000"/>
                </a:solidFill>
                <a:effectLst/>
              </a:rPr>
              <a:t>log(1 - D(G(</a:t>
            </a:r>
            <a:r>
              <a:rPr lang="en-GB" b="0" i="0" u="none" strike="noStrike" dirty="0" err="1">
                <a:solidFill>
                  <a:srgbClr val="000000"/>
                </a:solidFill>
                <a:effectLst/>
              </a:rPr>
              <a:t>z_i</a:t>
            </a:r>
            <a:r>
              <a:rPr lang="en-GB" b="0" i="0" u="none" strike="noStrike" dirty="0">
                <a:solidFill>
                  <a:srgbClr val="000000"/>
                </a:solidFill>
                <a:effectLst/>
              </a:rPr>
              <a:t>))): Represents the log probability that the Discriminator would correctly categorize generated samples (G(</a:t>
            </a:r>
            <a:r>
              <a:rPr lang="en-GB" b="0" i="0" u="none" strike="noStrike" dirty="0" err="1">
                <a:solidFill>
                  <a:srgbClr val="000000"/>
                </a:solidFill>
                <a:effectLst/>
              </a:rPr>
              <a:t>z_i</a:t>
            </a:r>
            <a:r>
              <a:rPr lang="en-GB" b="0" i="0" u="none" strike="noStrike" dirty="0">
                <a:solidFill>
                  <a:srgbClr val="000000"/>
                </a:solidFill>
                <a:effectLst/>
              </a:rPr>
              <a:t>)) as fake.</a:t>
            </a:r>
          </a:p>
          <a:p>
            <a:pPr algn="ctr"/>
            <a:endParaRPr lang="en-GB" b="0" i="1" u="none" strike="noStrike" dirty="0">
              <a:solidFill>
                <a:srgbClr val="000000"/>
              </a:solidFill>
              <a:effectLst/>
            </a:endParaRPr>
          </a:p>
          <a:p>
            <a:br>
              <a:rPr lang="en-GB" dirty="0">
                <a:latin typeface="+mj-lt"/>
              </a:rPr>
            </a:br>
            <a:endParaRPr lang="en-GB" b="1" dirty="0">
              <a:latin typeface="+mj-lt"/>
            </a:endParaRPr>
          </a:p>
        </p:txBody>
      </p:sp>
    </p:spTree>
    <p:extLst>
      <p:ext uri="{BB962C8B-B14F-4D97-AF65-F5344CB8AC3E}">
        <p14:creationId xmlns:p14="http://schemas.microsoft.com/office/powerpoint/2010/main" val="2567180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C16DEFC-DCFC-092A-B05A-7DB7979EDBE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78BEDFF-16C6-4DFC-5901-A68A0AC032D1}"/>
              </a:ext>
            </a:extLst>
          </p:cNvPr>
          <p:cNvSpPr txBox="1">
            <a:spLocks noGrp="1"/>
          </p:cNvSpPr>
          <p:nvPr>
            <p:ph type="title"/>
          </p:nvPr>
        </p:nvSpPr>
        <p:spPr>
          <a:xfrm>
            <a:off x="407175" y="86064"/>
            <a:ext cx="8329650" cy="627900"/>
          </a:xfrm>
          <a:prstGeom prst="rect">
            <a:avLst/>
          </a:prstGeom>
          <a:noFill/>
          <a:ln>
            <a:noFill/>
          </a:ln>
        </p:spPr>
        <p:txBody>
          <a:bodyPr spcFirstLastPara="1" wrap="square" lIns="91425" tIns="91425" rIns="91425" bIns="91425" anchor="t" anchorCtr="0">
            <a:normAutofit fontScale="90000"/>
          </a:bodyPr>
          <a:lstStyle/>
          <a:p>
            <a:pPr>
              <a:spcAft>
                <a:spcPts val="300"/>
              </a:spcAft>
            </a:pPr>
            <a:r>
              <a:rPr lang="en-GB" sz="2400" i="0" u="none" strike="noStrike" dirty="0">
                <a:solidFill>
                  <a:srgbClr val="7030A0"/>
                </a:solidFill>
                <a:effectLst/>
                <a:latin typeface="+mj-lt"/>
              </a:rPr>
              <a:t>2. Discriminator Model</a:t>
            </a:r>
            <a:br>
              <a:rPr lang="en-GB" sz="2400" i="0" u="none" strike="noStrike" dirty="0">
                <a:solidFill>
                  <a:srgbClr val="7030A0"/>
                </a:solidFill>
                <a:effectLst/>
                <a:latin typeface="+mj-lt"/>
              </a:rPr>
            </a:br>
            <a:endParaRPr lang="en-GB" sz="2400" i="0" u="none" strike="noStrike" dirty="0">
              <a:solidFill>
                <a:srgbClr val="7030A0"/>
              </a:solidFill>
              <a:effectLst/>
              <a:latin typeface="+mj-lt"/>
            </a:endParaRPr>
          </a:p>
        </p:txBody>
      </p:sp>
      <p:sp>
        <p:nvSpPr>
          <p:cNvPr id="4" name="AutoShape 2" descr="Optimized Python with Numba library">
            <a:extLst>
              <a:ext uri="{FF2B5EF4-FFF2-40B4-BE49-F238E27FC236}">
                <a16:creationId xmlns:a16="http://schemas.microsoft.com/office/drawing/2014/main" id="{D7AB00CD-10DF-75AA-39BF-07963FC372CB}"/>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261FCA2B-F227-1CBA-75B3-7EAA0990B6CD}"/>
              </a:ext>
            </a:extLst>
          </p:cNvPr>
          <p:cNvSpPr txBox="1"/>
          <p:nvPr/>
        </p:nvSpPr>
        <p:spPr>
          <a:xfrm>
            <a:off x="518160" y="802035"/>
            <a:ext cx="7510272" cy="4708981"/>
          </a:xfrm>
          <a:prstGeom prst="rect">
            <a:avLst/>
          </a:prstGeom>
          <a:noFill/>
        </p:spPr>
        <p:txBody>
          <a:bodyPr wrap="square">
            <a:spAutoFit/>
          </a:bodyPr>
          <a:lstStyle/>
          <a:p>
            <a:pPr algn="l">
              <a:buNone/>
            </a:pPr>
            <a:r>
              <a:rPr lang="en-GB" sz="1500" b="0" i="0" u="none" strike="noStrike" dirty="0">
                <a:solidFill>
                  <a:srgbClr val="000000"/>
                </a:solidFill>
                <a:effectLst/>
              </a:rPr>
              <a:t>By </a:t>
            </a:r>
            <a:r>
              <a:rPr lang="en-GB" sz="1500" b="1" i="0" u="none" strike="noStrike" dirty="0">
                <a:solidFill>
                  <a:srgbClr val="000000"/>
                </a:solidFill>
                <a:effectLst/>
              </a:rPr>
              <a:t>minimizing this loss</a:t>
            </a:r>
            <a:r>
              <a:rPr lang="en-GB" sz="1500" b="0" i="0" u="none" strike="noStrike" dirty="0">
                <a:solidFill>
                  <a:srgbClr val="000000"/>
                </a:solidFill>
                <a:effectLst/>
              </a:rPr>
              <a:t>, the Discriminator becomes more effective at distinguishing between real and generated samples.</a:t>
            </a:r>
          </a:p>
          <a:p>
            <a:pPr algn="l">
              <a:buNone/>
            </a:pPr>
            <a:r>
              <a:rPr lang="en-GB" sz="1500" b="1" i="0" u="none" strike="noStrike" dirty="0">
                <a:solidFill>
                  <a:srgbClr val="000000"/>
                </a:solidFill>
                <a:effectLst/>
              </a:rPr>
              <a:t>Minimax Loss</a:t>
            </a:r>
            <a:endParaRPr lang="en-GB" sz="1500" b="0" i="0" u="none" strike="noStrike" dirty="0">
              <a:solidFill>
                <a:srgbClr val="000000"/>
              </a:solidFill>
              <a:effectLst/>
            </a:endParaRPr>
          </a:p>
          <a:p>
            <a:pPr algn="l">
              <a:buNone/>
            </a:pPr>
            <a:r>
              <a:rPr lang="en-GB" sz="1500" b="0" i="0" u="none" strike="noStrike" dirty="0">
                <a:solidFill>
                  <a:srgbClr val="000000"/>
                </a:solidFill>
                <a:effectLst/>
              </a:rPr>
              <a:t>GANs operate on a </a:t>
            </a:r>
            <a:r>
              <a:rPr lang="en-GB" sz="1500" b="1" i="0" u="none" strike="noStrike" dirty="0">
                <a:solidFill>
                  <a:srgbClr val="000000"/>
                </a:solidFill>
                <a:effectLst/>
              </a:rPr>
              <a:t>minimax optimization</a:t>
            </a:r>
            <a:r>
              <a:rPr lang="en-GB" sz="1500" b="0" i="0" u="none" strike="noStrike" dirty="0">
                <a:solidFill>
                  <a:srgbClr val="000000"/>
                </a:solidFill>
                <a:effectLst/>
              </a:rPr>
              <a:t> framework, where the Generator and Discriminator are adversaries in a zero-sum game:</a:t>
            </a:r>
          </a:p>
          <a:p>
            <a:pPr algn="l">
              <a:buNone/>
            </a:pPr>
            <a:r>
              <a:rPr lang="en-GB" sz="1500" b="0" i="0" u="none" strike="noStrike" dirty="0" err="1">
                <a:solidFill>
                  <a:srgbClr val="000000"/>
                </a:solidFill>
                <a:effectLst/>
              </a:rPr>
              <a:t>min_G</a:t>
            </a:r>
            <a:r>
              <a:rPr lang="en-GB" sz="1500" b="0" i="0" u="none" strike="noStrike" dirty="0">
                <a:solidFill>
                  <a:srgbClr val="000000"/>
                </a:solidFill>
                <a:effectLst/>
              </a:rPr>
              <a:t> </a:t>
            </a:r>
            <a:r>
              <a:rPr lang="en-GB" sz="1500" b="0" i="0" u="none" strike="noStrike" dirty="0" err="1">
                <a:solidFill>
                  <a:srgbClr val="000000"/>
                </a:solidFill>
                <a:effectLst/>
              </a:rPr>
              <a:t>max_D</a:t>
            </a:r>
            <a:r>
              <a:rPr lang="en-GB" sz="1500" b="0" i="0" u="none" strike="noStrike" dirty="0">
                <a:solidFill>
                  <a:srgbClr val="000000"/>
                </a:solidFill>
                <a:effectLst/>
              </a:rPr>
              <a:t> V(G, D) = </a:t>
            </a:r>
            <a:r>
              <a:rPr lang="en-GB" sz="1500" b="0" i="0" u="none" strike="noStrike" dirty="0" err="1">
                <a:solidFill>
                  <a:srgbClr val="000000"/>
                </a:solidFill>
                <a:effectLst/>
              </a:rPr>
              <a:t>E_x~p_data</a:t>
            </a:r>
            <a:r>
              <a:rPr lang="en-GB" sz="1500" b="0" i="0" u="none" strike="noStrike" dirty="0">
                <a:solidFill>
                  <a:srgbClr val="000000"/>
                </a:solidFill>
                <a:effectLst/>
              </a:rPr>
              <a:t>(x)[log D(x)] + </a:t>
            </a:r>
            <a:r>
              <a:rPr lang="en-GB" sz="1500" b="0" i="0" u="none" strike="noStrike" dirty="0" err="1">
                <a:solidFill>
                  <a:srgbClr val="000000"/>
                </a:solidFill>
                <a:effectLst/>
              </a:rPr>
              <a:t>E_z~p_z</a:t>
            </a:r>
            <a:r>
              <a:rPr lang="en-GB" sz="1500" b="0" i="0" u="none" strike="noStrike" dirty="0">
                <a:solidFill>
                  <a:srgbClr val="000000"/>
                </a:solidFill>
                <a:effectLst/>
              </a:rPr>
              <a:t>(z)[log(1 - D(g(z)))]</a:t>
            </a:r>
          </a:p>
          <a:p>
            <a:pPr algn="l">
              <a:buNone/>
            </a:pPr>
            <a:r>
              <a:rPr lang="en-GB" sz="1500" b="0" i="0" u="none" strike="noStrike" dirty="0">
                <a:solidFill>
                  <a:srgbClr val="000000"/>
                </a:solidFill>
                <a:effectLst/>
              </a:rPr>
              <a:t>Where:</a:t>
            </a:r>
          </a:p>
          <a:p>
            <a:pPr marL="285750" indent="-285750" algn="l">
              <a:buFont typeface="Wingdings" pitchFamily="2" charset="2"/>
              <a:buChar char="Ø"/>
            </a:pPr>
            <a:r>
              <a:rPr lang="en-GB" sz="1500" b="0" i="0" u="none" strike="noStrike" dirty="0">
                <a:solidFill>
                  <a:srgbClr val="000000"/>
                </a:solidFill>
                <a:effectLst/>
              </a:rPr>
              <a:t>G: Represents the Generator network.</a:t>
            </a:r>
          </a:p>
          <a:p>
            <a:pPr marL="285750" indent="-285750" algn="l">
              <a:buFont typeface="Wingdings" pitchFamily="2" charset="2"/>
              <a:buChar char="Ø"/>
            </a:pPr>
            <a:r>
              <a:rPr lang="en-GB" sz="1500" b="0" i="0" u="none" strike="noStrike" dirty="0">
                <a:solidFill>
                  <a:srgbClr val="000000"/>
                </a:solidFill>
                <a:effectLst/>
              </a:rPr>
              <a:t>D: Represents the Discriminator network.</a:t>
            </a:r>
          </a:p>
          <a:p>
            <a:pPr marL="285750" indent="-285750" algn="l">
              <a:buFont typeface="Wingdings" pitchFamily="2" charset="2"/>
              <a:buChar char="Ø"/>
            </a:pPr>
            <a:r>
              <a:rPr lang="en-GB" sz="1500" b="0" i="0" u="none" strike="noStrike" dirty="0">
                <a:solidFill>
                  <a:srgbClr val="000000"/>
                </a:solidFill>
                <a:effectLst/>
              </a:rPr>
              <a:t>x: Actual data samples obtained from the true data distribution </a:t>
            </a:r>
            <a:r>
              <a:rPr lang="en-GB" sz="1500" b="0" i="0" u="none" strike="noStrike" dirty="0" err="1">
                <a:solidFill>
                  <a:srgbClr val="000000"/>
                </a:solidFill>
                <a:effectLst/>
              </a:rPr>
              <a:t>p_data</a:t>
            </a:r>
            <a:r>
              <a:rPr lang="en-GB" sz="1500" b="0" i="0" u="none" strike="noStrike" dirty="0">
                <a:solidFill>
                  <a:srgbClr val="000000"/>
                </a:solidFill>
                <a:effectLst/>
              </a:rPr>
              <a:t>(x).</a:t>
            </a:r>
          </a:p>
          <a:p>
            <a:pPr marL="285750" indent="-285750" algn="l">
              <a:buFont typeface="Wingdings" pitchFamily="2" charset="2"/>
              <a:buChar char="Ø"/>
            </a:pPr>
            <a:r>
              <a:rPr lang="en-GB" sz="1500" b="0" i="0" u="none" strike="noStrike" dirty="0">
                <a:solidFill>
                  <a:srgbClr val="000000"/>
                </a:solidFill>
                <a:effectLst/>
              </a:rPr>
              <a:t>z: Random noise sampled from a prior distribution </a:t>
            </a:r>
            <a:r>
              <a:rPr lang="en-GB" sz="1500" b="0" i="0" u="none" strike="noStrike" dirty="0" err="1">
                <a:solidFill>
                  <a:srgbClr val="000000"/>
                </a:solidFill>
                <a:effectLst/>
              </a:rPr>
              <a:t>p_z</a:t>
            </a:r>
            <a:r>
              <a:rPr lang="en-GB" sz="1500" b="0" i="0" u="none" strike="noStrike" dirty="0">
                <a:solidFill>
                  <a:srgbClr val="000000"/>
                </a:solidFill>
                <a:effectLst/>
              </a:rPr>
              <a:t>(z) (usually a normal or uniform distribution).</a:t>
            </a:r>
          </a:p>
          <a:p>
            <a:pPr marL="285750" indent="-285750" algn="l">
              <a:buFont typeface="Wingdings" pitchFamily="2" charset="2"/>
              <a:buChar char="Ø"/>
            </a:pPr>
            <a:r>
              <a:rPr lang="en-GB" sz="1500" b="0" i="0" u="none" strike="noStrike" dirty="0">
                <a:solidFill>
                  <a:srgbClr val="000000"/>
                </a:solidFill>
                <a:effectLst/>
              </a:rPr>
              <a:t>D(x): Represents the Discriminator's likelihood of correctly identifying actual data x as real.</a:t>
            </a:r>
          </a:p>
          <a:p>
            <a:pPr marL="285750" indent="-285750" algn="l">
              <a:buFont typeface="Wingdings" pitchFamily="2" charset="2"/>
              <a:buChar char="Ø"/>
            </a:pPr>
            <a:r>
              <a:rPr lang="en-GB" sz="1500" b="0" i="0" u="none" strike="noStrike" dirty="0">
                <a:solidFill>
                  <a:srgbClr val="000000"/>
                </a:solidFill>
                <a:effectLst/>
              </a:rPr>
              <a:t>D(G(z)): Is the likelihood that the Discriminator will identify generated data G(z) (coming from the Generator) as authentic.</a:t>
            </a:r>
          </a:p>
          <a:p>
            <a:pPr algn="l"/>
            <a:r>
              <a:rPr lang="en-GB" sz="1500" b="0" i="0" u="none" strike="noStrike" dirty="0">
                <a:solidFill>
                  <a:srgbClr val="273239"/>
                </a:solidFill>
                <a:effectLst/>
                <a:latin typeface="Nunito" pitchFamily="2" charset="77"/>
              </a:rPr>
              <a:t>The generator aims to </a:t>
            </a:r>
            <a:r>
              <a:rPr lang="en-GB" sz="1500" b="1" i="0" u="none" strike="noStrike" dirty="0">
                <a:solidFill>
                  <a:srgbClr val="273239"/>
                </a:solidFill>
                <a:effectLst/>
                <a:latin typeface="Nunito" pitchFamily="2" charset="77"/>
              </a:rPr>
              <a:t>minimize</a:t>
            </a:r>
            <a:r>
              <a:rPr lang="en-GB" sz="1500" b="0" i="0" u="none" strike="noStrike" dirty="0">
                <a:solidFill>
                  <a:srgbClr val="273239"/>
                </a:solidFill>
                <a:effectLst/>
                <a:latin typeface="Nunito" pitchFamily="2" charset="77"/>
              </a:rPr>
              <a:t> the loss, while the discriminator tries to </a:t>
            </a:r>
            <a:r>
              <a:rPr lang="en-GB" sz="1500" b="1" i="0" u="none" strike="noStrike" dirty="0">
                <a:solidFill>
                  <a:srgbClr val="273239"/>
                </a:solidFill>
                <a:effectLst/>
                <a:latin typeface="Nunito" pitchFamily="2" charset="77"/>
              </a:rPr>
              <a:t>maximize</a:t>
            </a:r>
            <a:r>
              <a:rPr lang="en-GB" sz="1500" b="0" i="0" u="none" strike="noStrike" dirty="0">
                <a:solidFill>
                  <a:srgbClr val="273239"/>
                </a:solidFill>
                <a:effectLst/>
                <a:latin typeface="Nunito" pitchFamily="2" charset="77"/>
              </a:rPr>
              <a:t> its classification accuracy.</a:t>
            </a:r>
            <a:endParaRPr lang="en-GB" sz="1500" b="0" i="0" u="none" strike="noStrike" dirty="0">
              <a:solidFill>
                <a:srgbClr val="000000"/>
              </a:solidFill>
              <a:effectLst/>
            </a:endParaRPr>
          </a:p>
          <a:p>
            <a:br>
              <a:rPr lang="en-GB" sz="1500" dirty="0">
                <a:latin typeface="+mj-lt"/>
              </a:rPr>
            </a:br>
            <a:endParaRPr lang="en-GB" sz="1500" b="1" dirty="0">
              <a:latin typeface="+mj-lt"/>
            </a:endParaRPr>
          </a:p>
        </p:txBody>
      </p:sp>
    </p:spTree>
    <p:extLst>
      <p:ext uri="{BB962C8B-B14F-4D97-AF65-F5344CB8AC3E}">
        <p14:creationId xmlns:p14="http://schemas.microsoft.com/office/powerpoint/2010/main" val="2862814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C60F688-C594-B199-ABB8-B4096D52A9A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7CDCA9F7-EE96-C93B-72F8-30AB9320C53B}"/>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rmAutofit/>
          </a:bodyPr>
          <a:lstStyle/>
          <a:p>
            <a:pPr algn="l">
              <a:buNone/>
            </a:pPr>
            <a:r>
              <a:rPr lang="en-GB" sz="2400" b="1" i="0" u="none" strike="noStrike" dirty="0">
                <a:solidFill>
                  <a:srgbClr val="7030A0"/>
                </a:solidFill>
                <a:effectLst/>
              </a:rPr>
              <a:t>How a GAN Works: The Adversarial Training Loop</a:t>
            </a: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CC781ED3-0810-D561-D150-3BFD176FA738}"/>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B5098AF1-4316-B113-12A7-16AADB3469EF}"/>
              </a:ext>
            </a:extLst>
          </p:cNvPr>
          <p:cNvSpPr txBox="1"/>
          <p:nvPr/>
        </p:nvSpPr>
        <p:spPr>
          <a:xfrm>
            <a:off x="0" y="526457"/>
            <a:ext cx="7725600" cy="1815882"/>
          </a:xfrm>
          <a:prstGeom prst="rect">
            <a:avLst/>
          </a:prstGeom>
          <a:noFill/>
        </p:spPr>
        <p:txBody>
          <a:bodyPr wrap="square">
            <a:spAutoFit/>
          </a:bodyPr>
          <a:lstStyle/>
          <a:p>
            <a:pPr algn="l">
              <a:buNone/>
            </a:pPr>
            <a:r>
              <a:rPr lang="en-GB" b="0" i="0" u="none" strike="noStrike" dirty="0">
                <a:solidFill>
                  <a:srgbClr val="000000"/>
                </a:solidFill>
                <a:effectLst/>
              </a:rPr>
              <a:t>GANs learn through a continuous, competitive game between two neural networks: the Generator (G) and the Discriminator (D).</a:t>
            </a:r>
          </a:p>
          <a:p>
            <a:pPr algn="l">
              <a:buFont typeface="+mj-lt"/>
              <a:buAutoNum type="arabicPeriod"/>
            </a:pPr>
            <a:r>
              <a:rPr lang="en-GB" b="1" i="0" u="none" strike="noStrike" dirty="0">
                <a:solidFill>
                  <a:srgbClr val="000000"/>
                </a:solidFill>
                <a:effectLst/>
              </a:rPr>
              <a:t>Generator's First Move (Generating Fakes):</a:t>
            </a:r>
            <a:endParaRPr lang="en-GB" b="0" i="0" u="none" strike="noStrike" dirty="0">
              <a:solidFill>
                <a:srgbClr val="000000"/>
              </a:solidFill>
              <a:effectLst/>
            </a:endParaRPr>
          </a:p>
          <a:p>
            <a:pPr marL="742950" lvl="1" indent="-285750" algn="l">
              <a:buFont typeface="+mj-lt"/>
              <a:buAutoNum type="arabicPeriod"/>
            </a:pPr>
            <a:r>
              <a:rPr lang="en-GB" b="0" i="0" u="none" strike="noStrike" dirty="0">
                <a:solidFill>
                  <a:srgbClr val="000000"/>
                </a:solidFill>
                <a:effectLst/>
              </a:rPr>
              <a:t>The </a:t>
            </a:r>
            <a:r>
              <a:rPr lang="en-GB" b="1" i="0" u="none" strike="noStrike" dirty="0">
                <a:solidFill>
                  <a:srgbClr val="000000"/>
                </a:solidFill>
                <a:effectLst/>
              </a:rPr>
              <a:t>Generator (G)</a:t>
            </a:r>
            <a:r>
              <a:rPr lang="en-GB" b="0" i="0" u="none" strike="noStrike" dirty="0">
                <a:solidFill>
                  <a:srgbClr val="000000"/>
                </a:solidFill>
                <a:effectLst/>
              </a:rPr>
              <a:t> takes a </a:t>
            </a:r>
            <a:r>
              <a:rPr lang="en-GB" b="1" i="0" u="none" strike="noStrike" dirty="0">
                <a:solidFill>
                  <a:srgbClr val="000000"/>
                </a:solidFill>
                <a:effectLst/>
              </a:rPr>
              <a:t>random noise vector</a:t>
            </a:r>
            <a:r>
              <a:rPr lang="en-GB" b="0" i="0" u="none" strike="noStrike" dirty="0">
                <a:solidFill>
                  <a:srgbClr val="000000"/>
                </a:solidFill>
                <a:effectLst/>
              </a:rPr>
              <a:t> (e.g., a random set of numbers) as input.</a:t>
            </a:r>
          </a:p>
          <a:p>
            <a:pPr marL="742950" lvl="1" indent="-285750" algn="l">
              <a:buFont typeface="+mj-lt"/>
              <a:buAutoNum type="arabicPeriod"/>
            </a:pPr>
            <a:r>
              <a:rPr lang="en-GB" b="0" i="0" u="none" strike="noStrike" dirty="0">
                <a:solidFill>
                  <a:srgbClr val="000000"/>
                </a:solidFill>
                <a:effectLst/>
              </a:rPr>
              <a:t>Using its learned internal layers, G transforms this noise into a </a:t>
            </a:r>
            <a:r>
              <a:rPr lang="en-GB" b="1" i="0" u="none" strike="noStrike" dirty="0">
                <a:solidFill>
                  <a:srgbClr val="000000"/>
                </a:solidFill>
                <a:effectLst/>
              </a:rPr>
              <a:t>synthetic data sample</a:t>
            </a:r>
            <a:r>
              <a:rPr lang="en-GB" b="0" i="0" u="none" strike="noStrike" dirty="0">
                <a:solidFill>
                  <a:srgbClr val="000000"/>
                </a:solidFill>
                <a:effectLst/>
              </a:rPr>
              <a:t> (e.g., a generated image, a piece of text). Initially, these generated samples are often poor quality.</a:t>
            </a:r>
            <a:endParaRPr lang="en-GB" sz="1600" b="1" dirty="0">
              <a:latin typeface="+mj-lt"/>
            </a:endParaRPr>
          </a:p>
        </p:txBody>
      </p:sp>
      <p:pic>
        <p:nvPicPr>
          <p:cNvPr id="36868" name="Picture 4" descr="gans_gfg-(1)">
            <a:extLst>
              <a:ext uri="{FF2B5EF4-FFF2-40B4-BE49-F238E27FC236}">
                <a16:creationId xmlns:a16="http://schemas.microsoft.com/office/drawing/2014/main" id="{3DBBE875-99E8-44A2-A6D7-AE495D28223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44" t="6299" r="4422" b="8591"/>
          <a:stretch/>
        </p:blipFill>
        <p:spPr bwMode="auto">
          <a:xfrm>
            <a:off x="1755564" y="2342339"/>
            <a:ext cx="5163636" cy="2731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58729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79BBB94-BE4E-5A64-F247-D66846FC81A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B651C9C-4EEA-64EB-6251-E65B21F18A55}"/>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rmAutofit/>
          </a:bodyPr>
          <a:lstStyle/>
          <a:p>
            <a:pPr algn="l">
              <a:buNone/>
            </a:pPr>
            <a:r>
              <a:rPr lang="en-GB" sz="2400" b="1" i="0" u="none" strike="noStrike" dirty="0">
                <a:solidFill>
                  <a:srgbClr val="7030A0"/>
                </a:solidFill>
                <a:effectLst/>
              </a:rPr>
              <a:t>How a GAN Works: The Adversarial Training Loop</a:t>
            </a: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31EFB615-A226-D6C2-27EA-3AEBB6FEEE24}"/>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531DAE25-F20C-0716-C74E-FC4F891513E5}"/>
              </a:ext>
            </a:extLst>
          </p:cNvPr>
          <p:cNvSpPr txBox="1"/>
          <p:nvPr/>
        </p:nvSpPr>
        <p:spPr>
          <a:xfrm>
            <a:off x="152692" y="432703"/>
            <a:ext cx="8431440" cy="4278094"/>
          </a:xfrm>
          <a:prstGeom prst="rect">
            <a:avLst/>
          </a:prstGeom>
          <a:noFill/>
        </p:spPr>
        <p:txBody>
          <a:bodyPr wrap="square">
            <a:spAutoFit/>
          </a:bodyPr>
          <a:lstStyle/>
          <a:p>
            <a:pPr marL="742950" lvl="1" indent="-285750" algn="l">
              <a:buFont typeface="+mj-lt"/>
              <a:buAutoNum type="arabicPeriod"/>
            </a:pPr>
            <a:endParaRPr lang="en-GB" sz="1600" b="0" i="0" u="none" strike="noStrike" dirty="0">
              <a:solidFill>
                <a:srgbClr val="000000"/>
              </a:solidFill>
              <a:effectLst/>
            </a:endParaRPr>
          </a:p>
          <a:p>
            <a:pPr marL="342900" indent="-342900" algn="l">
              <a:buFont typeface="+mj-lt"/>
              <a:buAutoNum type="arabicPeriod" startAt="2"/>
            </a:pPr>
            <a:r>
              <a:rPr lang="en-GB" sz="1600" b="1" i="0" u="none" strike="noStrike" dirty="0">
                <a:solidFill>
                  <a:srgbClr val="000000"/>
                </a:solidFill>
                <a:effectLst/>
              </a:rPr>
              <a:t>Discriminator's Turn (Critiquing Data):</a:t>
            </a:r>
            <a:endParaRPr lang="en-GB" sz="1600" b="0" i="0" u="none" strike="noStrike" dirty="0">
              <a:solidFill>
                <a:srgbClr val="000000"/>
              </a:solidFill>
              <a:effectLst/>
            </a:endParaRPr>
          </a:p>
          <a:p>
            <a:pPr marL="742950" lvl="1" indent="-285750" algn="l">
              <a:buFont typeface="+mj-lt"/>
              <a:buAutoNum type="arabicPeriod"/>
            </a:pPr>
            <a:r>
              <a:rPr lang="en-GB" sz="1600" b="0" i="0" u="none" strike="noStrike" dirty="0">
                <a:solidFill>
                  <a:srgbClr val="000000"/>
                </a:solidFill>
                <a:effectLst/>
              </a:rPr>
              <a:t>The </a:t>
            </a:r>
            <a:r>
              <a:rPr lang="en-GB" sz="1600" b="1" i="0" u="none" strike="noStrike" dirty="0">
                <a:solidFill>
                  <a:srgbClr val="000000"/>
                </a:solidFill>
                <a:effectLst/>
              </a:rPr>
              <a:t>Discriminator (D)</a:t>
            </a:r>
            <a:r>
              <a:rPr lang="en-GB" sz="1600" b="0" i="0" u="none" strike="noStrike" dirty="0">
                <a:solidFill>
                  <a:srgbClr val="000000"/>
                </a:solidFill>
                <a:effectLst/>
              </a:rPr>
              <a:t> receives two types of data:</a:t>
            </a:r>
          </a:p>
          <a:p>
            <a:pPr marL="1143000" lvl="2" indent="-228600" algn="l">
              <a:buFont typeface="+mj-lt"/>
              <a:buAutoNum type="arabicPeriod"/>
            </a:pPr>
            <a:r>
              <a:rPr lang="en-GB" sz="1600" b="1" i="0" u="none" strike="noStrike" dirty="0">
                <a:solidFill>
                  <a:srgbClr val="000000"/>
                </a:solidFill>
                <a:effectLst/>
              </a:rPr>
              <a:t>Real data samples</a:t>
            </a:r>
            <a:r>
              <a:rPr lang="en-GB" sz="1600" b="0" i="0" u="none" strike="noStrike" dirty="0">
                <a:solidFill>
                  <a:srgbClr val="000000"/>
                </a:solidFill>
                <a:effectLst/>
              </a:rPr>
              <a:t> directly from the training dataset.</a:t>
            </a:r>
          </a:p>
          <a:p>
            <a:pPr marL="1143000" lvl="2" indent="-228600" algn="l">
              <a:buFont typeface="+mj-lt"/>
              <a:buAutoNum type="arabicPeriod"/>
            </a:pPr>
            <a:r>
              <a:rPr lang="en-GB" sz="1600" b="0" i="0" u="none" strike="noStrike" dirty="0">
                <a:solidFill>
                  <a:srgbClr val="000000"/>
                </a:solidFill>
                <a:effectLst/>
              </a:rPr>
              <a:t>The </a:t>
            </a:r>
            <a:r>
              <a:rPr lang="en-GB" sz="1600" b="1" i="0" u="none" strike="noStrike" dirty="0">
                <a:solidFill>
                  <a:srgbClr val="000000"/>
                </a:solidFill>
                <a:effectLst/>
              </a:rPr>
              <a:t>fake data samples</a:t>
            </a:r>
            <a:r>
              <a:rPr lang="en-GB" sz="1600" b="0" i="0" u="none" strike="noStrike" dirty="0">
                <a:solidFill>
                  <a:srgbClr val="000000"/>
                </a:solidFill>
                <a:effectLst/>
              </a:rPr>
              <a:t> generated by G in the previous step.</a:t>
            </a:r>
          </a:p>
          <a:p>
            <a:pPr marL="742950" lvl="1" indent="-285750" algn="l">
              <a:buFont typeface="+mj-lt"/>
              <a:buAutoNum type="arabicPeriod"/>
            </a:pPr>
            <a:r>
              <a:rPr lang="en-GB" sz="1600" b="0" i="0" u="none" strike="noStrike" dirty="0">
                <a:solidFill>
                  <a:srgbClr val="000000"/>
                </a:solidFill>
                <a:effectLst/>
              </a:rPr>
              <a:t>D's task is to act as a binary classifier: for each input, it outputs a </a:t>
            </a:r>
            <a:r>
              <a:rPr lang="en-GB" sz="1600" b="1" i="0" u="none" strike="noStrike" dirty="0">
                <a:solidFill>
                  <a:srgbClr val="000000"/>
                </a:solidFill>
                <a:effectLst/>
              </a:rPr>
              <a:t>probability score between 0 and 1</a:t>
            </a:r>
            <a:r>
              <a:rPr lang="en-GB" sz="1600" b="0" i="0" u="none" strike="noStrike" dirty="0">
                <a:solidFill>
                  <a:srgbClr val="000000"/>
                </a:solidFill>
                <a:effectLst/>
              </a:rPr>
              <a:t>. A score closer to 1 means D believes the data is real, while a score closer to 0 means D believes it's fake.</a:t>
            </a:r>
            <a:endParaRPr lang="en-GB" sz="1600" b="1" dirty="0">
              <a:latin typeface="+mj-lt"/>
            </a:endParaRPr>
          </a:p>
          <a:p>
            <a:pPr marL="342900" indent="-342900" algn="l">
              <a:buFont typeface="+mj-lt"/>
              <a:buAutoNum type="arabicPeriod" startAt="3"/>
            </a:pPr>
            <a:endParaRPr lang="en-GB" sz="1600" b="1" i="0" u="none" strike="noStrike" dirty="0">
              <a:solidFill>
                <a:srgbClr val="000000"/>
              </a:solidFill>
              <a:effectLst/>
            </a:endParaRPr>
          </a:p>
          <a:p>
            <a:pPr marL="342900" indent="-342900" algn="l">
              <a:buFont typeface="+mj-lt"/>
              <a:buAutoNum type="arabicPeriod" startAt="3"/>
            </a:pPr>
            <a:r>
              <a:rPr lang="en-GB" sz="1600" b="1" i="0" u="none" strike="noStrike" dirty="0">
                <a:solidFill>
                  <a:srgbClr val="000000"/>
                </a:solidFill>
                <a:effectLst/>
              </a:rPr>
              <a:t>Adversarial Learning (Updating Networks):</a:t>
            </a:r>
            <a:endParaRPr lang="en-GB" sz="1600" b="0" i="0" u="none" strike="noStrike" dirty="0">
              <a:solidFill>
                <a:srgbClr val="000000"/>
              </a:solidFill>
              <a:effectLst/>
            </a:endParaRPr>
          </a:p>
          <a:p>
            <a:pPr marL="742950" lvl="1" indent="-285750" algn="l">
              <a:buFont typeface="+mj-lt"/>
              <a:buAutoNum type="arabicPeriod"/>
            </a:pPr>
            <a:r>
              <a:rPr lang="en-GB" sz="1600" b="1" i="0" u="none" strike="noStrike" dirty="0">
                <a:solidFill>
                  <a:srgbClr val="000000"/>
                </a:solidFill>
                <a:effectLst/>
              </a:rPr>
              <a:t>Discriminator Update:</a:t>
            </a:r>
            <a:r>
              <a:rPr lang="en-GB" sz="1600" b="0" i="0" u="none" strike="noStrike" dirty="0">
                <a:solidFill>
                  <a:srgbClr val="000000"/>
                </a:solidFill>
                <a:effectLst/>
              </a:rPr>
              <a:t> If D correctly classifies real data as real and fake data as fake, its parameters are adjusted slightly to improve its detection capabilities.</a:t>
            </a:r>
          </a:p>
          <a:p>
            <a:pPr marL="742950" lvl="1" indent="-285750" algn="l">
              <a:buFont typeface="+mj-lt"/>
              <a:buAutoNum type="arabicPeriod"/>
            </a:pPr>
            <a:r>
              <a:rPr lang="en-GB" sz="1600" b="1" i="0" u="none" strike="noStrike" dirty="0">
                <a:solidFill>
                  <a:srgbClr val="000000"/>
                </a:solidFill>
                <a:effectLst/>
              </a:rPr>
              <a:t>Generator Update:</a:t>
            </a:r>
            <a:r>
              <a:rPr lang="en-GB" sz="1600" b="0" i="0" u="none" strike="noStrike" dirty="0">
                <a:solidFill>
                  <a:srgbClr val="000000"/>
                </a:solidFill>
                <a:effectLst/>
              </a:rPr>
              <a:t> If G successfully "fools" D (meaning D classifies G's fake data as real), G receives a positive update to its parameters, encouraging it to generate even more convincing fakes. Conversely, D is penalized for its misclassification.</a:t>
            </a:r>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22323544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BC486659-BFCD-5A3B-1695-C09F93DE1ABC}"/>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0AC3708-72FC-6316-3E18-667B0D781293}"/>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rmAutofit/>
          </a:bodyPr>
          <a:lstStyle/>
          <a:p>
            <a:pPr algn="l">
              <a:buNone/>
            </a:pPr>
            <a:r>
              <a:rPr lang="en-GB" sz="2400" b="1" i="0" u="none" strike="noStrike" dirty="0">
                <a:solidFill>
                  <a:srgbClr val="7030A0"/>
                </a:solidFill>
                <a:effectLst/>
              </a:rPr>
              <a:t>How a GAN Works: The Adversarial Training Loop</a:t>
            </a: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7EE172DB-2B49-6B62-59D2-367A9E8219C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F7A0BF4C-210B-A277-7F79-E84E561558CA}"/>
              </a:ext>
            </a:extLst>
          </p:cNvPr>
          <p:cNvSpPr txBox="1"/>
          <p:nvPr/>
        </p:nvSpPr>
        <p:spPr>
          <a:xfrm>
            <a:off x="152692" y="516378"/>
            <a:ext cx="8431440" cy="5016758"/>
          </a:xfrm>
          <a:prstGeom prst="rect">
            <a:avLst/>
          </a:prstGeom>
          <a:noFill/>
        </p:spPr>
        <p:txBody>
          <a:bodyPr wrap="square">
            <a:spAutoFit/>
          </a:bodyPr>
          <a:lstStyle/>
          <a:p>
            <a:pPr marL="342900" indent="-342900" algn="l">
              <a:buFont typeface="+mj-lt"/>
              <a:buAutoNum type="arabicPeriod" startAt="4"/>
            </a:pPr>
            <a:r>
              <a:rPr lang="en-GB" sz="1600" b="1" i="0" u="none" strike="noStrike" dirty="0">
                <a:solidFill>
                  <a:srgbClr val="000000"/>
                </a:solidFill>
                <a:effectLst/>
              </a:rPr>
              <a:t>Generator's Improvement:</a:t>
            </a:r>
            <a:endParaRPr lang="en-GB" sz="1600" b="0" i="0" u="none" strike="noStrike" dirty="0">
              <a:solidFill>
                <a:srgbClr val="000000"/>
              </a:solidFill>
              <a:effectLst/>
            </a:endParaRPr>
          </a:p>
          <a:p>
            <a:pPr marL="742950" lvl="1" indent="-285750" algn="l">
              <a:buFont typeface="+mj-lt"/>
              <a:buAutoNum type="arabicPeriod"/>
            </a:pPr>
            <a:r>
              <a:rPr lang="en-GB" sz="1600" b="0" i="0" u="none" strike="noStrike" dirty="0">
                <a:solidFill>
                  <a:srgbClr val="000000"/>
                </a:solidFill>
                <a:effectLst/>
              </a:rPr>
              <a:t>With each successful "fooling" of the Discriminator, the Generator learns and refines its ability to produce more realistic synthetic samples. It adjusts its weights to better capture the underlying patterns of the real data.</a:t>
            </a:r>
          </a:p>
          <a:p>
            <a:pPr algn="l">
              <a:buFont typeface="+mj-lt"/>
              <a:buAutoNum type="arabicPeriod" startAt="4"/>
            </a:pPr>
            <a:r>
              <a:rPr lang="en-GB" sz="1600" b="1" i="0" u="none" strike="noStrike" dirty="0">
                <a:solidFill>
                  <a:srgbClr val="000000"/>
                </a:solidFill>
                <a:effectLst/>
              </a:rPr>
              <a:t>Discriminator's Adaptation:</a:t>
            </a:r>
            <a:endParaRPr lang="en-GB" sz="1600" b="0" i="0" u="none" strike="noStrike" dirty="0">
              <a:solidFill>
                <a:srgbClr val="000000"/>
              </a:solidFill>
              <a:effectLst/>
            </a:endParaRPr>
          </a:p>
          <a:p>
            <a:pPr marL="742950" lvl="1" indent="-285750" algn="l">
              <a:buFont typeface="+mj-lt"/>
              <a:buAutoNum type="arabicPeriod"/>
            </a:pPr>
            <a:r>
              <a:rPr lang="en-GB" sz="1600" b="0" i="0" u="none" strike="noStrike" dirty="0">
                <a:solidFill>
                  <a:srgbClr val="000000"/>
                </a:solidFill>
                <a:effectLst/>
              </a:rPr>
              <a:t>As the Generator improves, the Discriminator continuously adapts and refines its own parameters. It becomes better at identifying the increasingly sophisticated fake samples generated by G. This ongoing challenge forces D to learn more subtle features that differentiate real from fake.</a:t>
            </a:r>
          </a:p>
          <a:p>
            <a:pPr algn="l">
              <a:buFont typeface="+mj-lt"/>
              <a:buAutoNum type="arabicPeriod" startAt="4"/>
            </a:pPr>
            <a:r>
              <a:rPr lang="en-GB" sz="1600" b="1" i="0" u="none" strike="noStrike" dirty="0">
                <a:solidFill>
                  <a:srgbClr val="000000"/>
                </a:solidFill>
                <a:effectLst/>
              </a:rPr>
              <a:t>Training Progression and Convergence:</a:t>
            </a:r>
            <a:endParaRPr lang="en-GB" sz="1600" b="0" i="0" u="none" strike="noStrike" dirty="0">
              <a:solidFill>
                <a:srgbClr val="000000"/>
              </a:solidFill>
              <a:effectLst/>
            </a:endParaRPr>
          </a:p>
          <a:p>
            <a:pPr marL="742950" lvl="1" indent="-285750" algn="l">
              <a:buFont typeface="+mj-lt"/>
              <a:buAutoNum type="arabicPeriod"/>
            </a:pPr>
            <a:r>
              <a:rPr lang="en-GB" sz="1600" b="0" i="0" u="none" strike="noStrike" dirty="0">
                <a:solidFill>
                  <a:srgbClr val="000000"/>
                </a:solidFill>
                <a:effectLst/>
              </a:rPr>
              <a:t>This continuous "duel" drives both networks to improve. As training progresses, the Generator becomes highly proficient at producing data that is visually (or otherwise) indistinguishable from real data.</a:t>
            </a:r>
          </a:p>
          <a:p>
            <a:pPr marL="742950" lvl="1" indent="-285750" algn="l">
              <a:buFont typeface="+mj-lt"/>
              <a:buAutoNum type="arabicPeriod"/>
            </a:pPr>
            <a:r>
              <a:rPr lang="en-GB" sz="1600" b="0" i="0" u="none" strike="noStrike" dirty="0">
                <a:solidFill>
                  <a:srgbClr val="000000"/>
                </a:solidFill>
                <a:effectLst/>
              </a:rPr>
              <a:t>Eventually, the Discriminator's accuracy in distinguishing real from fake approaches 50% (random guessing), indicating that the Generator has reached a point where it can consistently produce highly realistic data.</a:t>
            </a:r>
          </a:p>
          <a:p>
            <a:pPr marL="742950" lvl="1" indent="-285750" algn="l">
              <a:buFont typeface="+mj-lt"/>
              <a:buAutoNum type="arabicPeriod"/>
            </a:pPr>
            <a:r>
              <a:rPr lang="en-GB" sz="1600" b="0" i="0" u="none" strike="noStrike" dirty="0">
                <a:solidFill>
                  <a:srgbClr val="000000"/>
                </a:solidFill>
                <a:effectLst/>
              </a:rPr>
              <a:t>At this well-trained state, the Generator can be used independently to generate high-quality synthetic data for various applications.</a:t>
            </a:r>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2255108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17F4DAF-9774-41A2-E9A5-4C76E52CAE3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E567FC41-C4AF-AC49-EA44-DCE263151188}"/>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rmAutofit/>
          </a:bodyPr>
          <a:lstStyle/>
          <a:p>
            <a:pPr algn="l">
              <a:buNone/>
            </a:pPr>
            <a:r>
              <a:rPr lang="en-GB" sz="2800" b="1" i="0" u="none" strike="noStrike" dirty="0">
                <a:solidFill>
                  <a:srgbClr val="7030A0"/>
                </a:solidFill>
                <a:effectLst/>
              </a:rPr>
              <a:t>Types of GANs</a:t>
            </a:r>
            <a:endParaRPr lang="en-GB" sz="28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143AE9C1-B22F-DD9D-7C6A-D383E17736A0}"/>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F896E066-972E-7AE5-CD91-1CB2A225C746}"/>
              </a:ext>
            </a:extLst>
          </p:cNvPr>
          <p:cNvSpPr txBox="1"/>
          <p:nvPr/>
        </p:nvSpPr>
        <p:spPr>
          <a:xfrm>
            <a:off x="237360" y="771257"/>
            <a:ext cx="6854640" cy="4462760"/>
          </a:xfrm>
          <a:prstGeom prst="rect">
            <a:avLst/>
          </a:prstGeom>
          <a:noFill/>
        </p:spPr>
        <p:txBody>
          <a:bodyPr wrap="square">
            <a:spAutoFit/>
          </a:bodyPr>
          <a:lstStyle/>
          <a:p>
            <a:pPr algn="l">
              <a:buFont typeface="+mj-lt"/>
              <a:buAutoNum type="arabicPeriod"/>
            </a:pPr>
            <a:r>
              <a:rPr lang="en-GB" b="1" i="0" u="none" strike="noStrike" dirty="0">
                <a:solidFill>
                  <a:srgbClr val="000000"/>
                </a:solidFill>
                <a:effectLst/>
              </a:rPr>
              <a:t>Vanilla GAN:</a:t>
            </a:r>
            <a:endParaRPr lang="en-GB" b="0" i="0" u="none" strike="noStrike" dirty="0">
              <a:solidFill>
                <a:srgbClr val="000000"/>
              </a:solidFill>
              <a:effectLst/>
            </a:endParaRPr>
          </a:p>
          <a:p>
            <a:pPr marL="457200" lvl="1" algn="l"/>
            <a:r>
              <a:rPr lang="en-GB" b="1" i="0" u="none" strike="noStrike" dirty="0">
                <a:solidFill>
                  <a:srgbClr val="000000"/>
                </a:solidFill>
                <a:effectLst/>
              </a:rPr>
              <a:t>Simplest form</a:t>
            </a:r>
            <a:r>
              <a:rPr lang="en-GB" b="0" i="0" u="none" strike="noStrike" dirty="0">
                <a:solidFill>
                  <a:srgbClr val="000000"/>
                </a:solidFill>
                <a:effectLst/>
              </a:rPr>
              <a:t> of GAN.</a:t>
            </a:r>
          </a:p>
          <a:p>
            <a:pPr marL="457200" lvl="1" algn="l"/>
            <a:r>
              <a:rPr lang="en-GB" b="0" i="0" u="none" strike="noStrike" dirty="0">
                <a:solidFill>
                  <a:srgbClr val="000000"/>
                </a:solidFill>
                <a:effectLst/>
              </a:rPr>
              <a:t>Both Generator and Discriminator are built using </a:t>
            </a:r>
            <a:r>
              <a:rPr lang="en-GB" b="1" i="0" u="none" strike="noStrike" dirty="0">
                <a:solidFill>
                  <a:srgbClr val="000000"/>
                </a:solidFill>
                <a:effectLst/>
              </a:rPr>
              <a:t>Multi-Layer </a:t>
            </a:r>
            <a:r>
              <a:rPr lang="en-GB" b="1" i="0" u="none" strike="noStrike" dirty="0" err="1">
                <a:solidFill>
                  <a:srgbClr val="000000"/>
                </a:solidFill>
                <a:effectLst/>
              </a:rPr>
              <a:t>Perceptrons</a:t>
            </a:r>
            <a:r>
              <a:rPr lang="en-GB" b="1" i="0" u="none" strike="noStrike" dirty="0">
                <a:solidFill>
                  <a:srgbClr val="000000"/>
                </a:solidFill>
                <a:effectLst/>
              </a:rPr>
              <a:t> (MLPs)</a:t>
            </a:r>
            <a:r>
              <a:rPr lang="en-GB" b="0" i="0" u="none" strike="noStrike" dirty="0">
                <a:solidFill>
                  <a:srgbClr val="000000"/>
                </a:solidFill>
                <a:effectLst/>
              </a:rPr>
              <a:t>.</a:t>
            </a:r>
          </a:p>
          <a:p>
            <a:pPr marL="457200" lvl="1" algn="l"/>
            <a:r>
              <a:rPr lang="en-GB" b="0" i="0" u="none" strike="noStrike" dirty="0">
                <a:solidFill>
                  <a:srgbClr val="000000"/>
                </a:solidFill>
                <a:effectLst/>
              </a:rPr>
              <a:t>Optimized using </a:t>
            </a:r>
            <a:r>
              <a:rPr lang="en-GB" b="1" i="0" u="none" strike="noStrike" dirty="0">
                <a:solidFill>
                  <a:srgbClr val="000000"/>
                </a:solidFill>
                <a:effectLst/>
              </a:rPr>
              <a:t>Stochastic Gradient Descent (SGD)</a:t>
            </a:r>
            <a:r>
              <a:rPr lang="en-GB" b="0" i="0" u="none" strike="noStrike" dirty="0">
                <a:solidFill>
                  <a:srgbClr val="000000"/>
                </a:solidFill>
                <a:effectLst/>
              </a:rPr>
              <a:t>.</a:t>
            </a:r>
          </a:p>
          <a:p>
            <a:pPr marL="457200" lvl="1" algn="l"/>
            <a:r>
              <a:rPr lang="en-GB" b="1" i="0" u="none" strike="noStrike" dirty="0">
                <a:solidFill>
                  <a:srgbClr val="000000"/>
                </a:solidFill>
                <a:effectLst/>
              </a:rPr>
              <a:t>Limitations:</a:t>
            </a:r>
            <a:r>
              <a:rPr lang="en-GB" b="0" i="0" u="none" strike="noStrike" dirty="0">
                <a:solidFill>
                  <a:srgbClr val="000000"/>
                </a:solidFill>
                <a:effectLst/>
              </a:rPr>
              <a:t> Often suffers from issues like mode collapse (Generator produces limited variety of outputs) and unstable training.</a:t>
            </a:r>
          </a:p>
          <a:p>
            <a:pPr algn="l">
              <a:buFont typeface="+mj-lt"/>
              <a:buAutoNum type="arabicPeriod"/>
            </a:pPr>
            <a:r>
              <a:rPr lang="en-GB" b="1" i="0" u="none" strike="noStrike" dirty="0">
                <a:solidFill>
                  <a:srgbClr val="000000"/>
                </a:solidFill>
                <a:effectLst/>
              </a:rPr>
              <a:t>Conditional GAN (CGAN):</a:t>
            </a:r>
            <a:endParaRPr lang="en-GB" b="0" i="0" u="none" strike="noStrike" dirty="0">
              <a:solidFill>
                <a:srgbClr val="000000"/>
              </a:solidFill>
              <a:effectLst/>
            </a:endParaRPr>
          </a:p>
          <a:p>
            <a:pPr marL="457200" lvl="1" algn="l"/>
            <a:r>
              <a:rPr lang="en-GB" b="0" i="0" u="none" strike="noStrike" dirty="0">
                <a:solidFill>
                  <a:srgbClr val="000000"/>
                </a:solidFill>
                <a:effectLst/>
              </a:rPr>
              <a:t>Introduces an </a:t>
            </a:r>
            <a:r>
              <a:rPr lang="en-GB" b="1" i="0" u="none" strike="noStrike" dirty="0">
                <a:solidFill>
                  <a:srgbClr val="000000"/>
                </a:solidFill>
                <a:effectLst/>
              </a:rPr>
              <a:t>additional conditional parameter (y)</a:t>
            </a:r>
            <a:r>
              <a:rPr lang="en-GB" b="0" i="0" u="none" strike="noStrike" dirty="0">
                <a:solidFill>
                  <a:srgbClr val="000000"/>
                </a:solidFill>
                <a:effectLst/>
              </a:rPr>
              <a:t> to guide the generation process.</a:t>
            </a:r>
          </a:p>
          <a:p>
            <a:pPr marL="457200" lvl="1" algn="l"/>
            <a:r>
              <a:rPr lang="en-GB" b="1" i="0" u="none" strike="noStrike" dirty="0">
                <a:solidFill>
                  <a:srgbClr val="000000"/>
                </a:solidFill>
                <a:effectLst/>
              </a:rPr>
              <a:t>Working:</a:t>
            </a:r>
            <a:r>
              <a:rPr lang="en-GB" b="0" i="0" u="none" strike="noStrike" dirty="0">
                <a:solidFill>
                  <a:srgbClr val="000000"/>
                </a:solidFill>
                <a:effectLst/>
              </a:rPr>
              <a:t> The conditional variable y is fed into </a:t>
            </a:r>
            <a:r>
              <a:rPr lang="en-GB" b="0" i="1" u="none" strike="noStrike" dirty="0">
                <a:solidFill>
                  <a:srgbClr val="000000"/>
                </a:solidFill>
                <a:effectLst/>
              </a:rPr>
              <a:t>both</a:t>
            </a:r>
            <a:r>
              <a:rPr lang="en-GB" b="0" i="0" u="none" strike="noStrike" dirty="0">
                <a:solidFill>
                  <a:srgbClr val="000000"/>
                </a:solidFill>
                <a:effectLst/>
              </a:rPr>
              <a:t> the Generator and the Discriminator.</a:t>
            </a:r>
          </a:p>
          <a:p>
            <a:pPr marL="1143000" lvl="2" indent="-228600" algn="l">
              <a:buFont typeface="+mj-lt"/>
              <a:buAutoNum type="arabicPeriod"/>
            </a:pPr>
            <a:r>
              <a:rPr lang="en-GB" b="0" i="0" u="none" strike="noStrike" dirty="0">
                <a:solidFill>
                  <a:srgbClr val="000000"/>
                </a:solidFill>
                <a:effectLst/>
              </a:rPr>
              <a:t>Generator creates data corresponding to the given condition (e.g., generating images of specific objects/classes).</a:t>
            </a:r>
          </a:p>
          <a:p>
            <a:pPr marL="1143000" lvl="2" indent="-228600" algn="l">
              <a:buFont typeface="+mj-lt"/>
              <a:buAutoNum type="arabicPeriod"/>
            </a:pPr>
            <a:r>
              <a:rPr lang="en-GB" b="0" i="0" u="none" strike="noStrike" dirty="0">
                <a:solidFill>
                  <a:srgbClr val="000000"/>
                </a:solidFill>
                <a:effectLst/>
              </a:rPr>
              <a:t>Discriminator also receives the labels (y) to help distinguish between real and fake data </a:t>
            </a:r>
            <a:r>
              <a:rPr lang="en-GB" b="0" i="1" u="none" strike="noStrike" dirty="0">
                <a:solidFill>
                  <a:srgbClr val="000000"/>
                </a:solidFill>
                <a:effectLst/>
              </a:rPr>
              <a:t>for that specific condition</a:t>
            </a:r>
            <a:r>
              <a:rPr lang="en-GB" b="0" i="0" u="none" strike="noStrike" dirty="0">
                <a:solidFill>
                  <a:srgbClr val="000000"/>
                </a:solidFill>
                <a:effectLst/>
              </a:rPr>
              <a:t>.</a:t>
            </a:r>
          </a:p>
          <a:p>
            <a:pPr marL="457200" lvl="1" algn="l"/>
            <a:r>
              <a:rPr lang="en-GB" b="1" i="0" u="none" strike="noStrike" dirty="0">
                <a:solidFill>
                  <a:srgbClr val="000000"/>
                </a:solidFill>
                <a:effectLst/>
              </a:rPr>
              <a:t>Benefit:</a:t>
            </a:r>
            <a:r>
              <a:rPr lang="en-GB" b="0" i="0" u="none" strike="noStrike" dirty="0">
                <a:solidFill>
                  <a:srgbClr val="000000"/>
                </a:solidFill>
                <a:effectLst/>
              </a:rPr>
              <a:t> Allows for controlled generation of specific types of outputs, rather than just random samples.</a:t>
            </a:r>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1984181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C96CB9C-285F-0764-58E2-25BE6FD86E8D}"/>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CF912683-A2BB-FFBA-6CBF-5CB18C9B855C}"/>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rmAutofit/>
          </a:bodyPr>
          <a:lstStyle/>
          <a:p>
            <a:pPr algn="l">
              <a:buNone/>
            </a:pPr>
            <a:r>
              <a:rPr lang="en-GB" sz="2800" b="1" i="0" u="none" strike="noStrike" dirty="0">
                <a:solidFill>
                  <a:srgbClr val="7030A0"/>
                </a:solidFill>
                <a:effectLst/>
              </a:rPr>
              <a:t>Types of GANs</a:t>
            </a:r>
            <a:endParaRPr lang="en-GB" sz="28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B059E05A-C69C-0483-C50B-0484C55A672F}"/>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8A1E259D-08DE-3B08-39BD-572F19C539B3}"/>
              </a:ext>
            </a:extLst>
          </p:cNvPr>
          <p:cNvSpPr txBox="1"/>
          <p:nvPr/>
        </p:nvSpPr>
        <p:spPr>
          <a:xfrm>
            <a:off x="237360" y="771257"/>
            <a:ext cx="8736824" cy="4462760"/>
          </a:xfrm>
          <a:prstGeom prst="rect">
            <a:avLst/>
          </a:prstGeom>
          <a:noFill/>
        </p:spPr>
        <p:txBody>
          <a:bodyPr wrap="square">
            <a:spAutoFit/>
          </a:bodyPr>
          <a:lstStyle/>
          <a:p>
            <a:pPr marL="342900" indent="-342900">
              <a:buFont typeface="+mj-lt"/>
              <a:buAutoNum type="arabicPeriod" startAt="3"/>
            </a:pPr>
            <a:r>
              <a:rPr lang="en-GB" b="1" dirty="0"/>
              <a:t>Deep Convolutional GAN (DCGAN):</a:t>
            </a:r>
            <a:endParaRPr lang="en-GB" dirty="0"/>
          </a:p>
          <a:p>
            <a:r>
              <a:rPr lang="en-GB" dirty="0"/>
              <a:t>One of the most popular and widely used GAN types, especially for </a:t>
            </a:r>
            <a:r>
              <a:rPr lang="en-GB" b="1" dirty="0"/>
              <a:t>image generation</a:t>
            </a:r>
            <a:r>
              <a:rPr lang="en-GB" dirty="0"/>
              <a:t>.</a:t>
            </a:r>
          </a:p>
          <a:p>
            <a:r>
              <a:rPr lang="en-GB" b="1" dirty="0"/>
              <a:t>Key Features:</a:t>
            </a:r>
            <a:endParaRPr lang="en-GB" dirty="0"/>
          </a:p>
          <a:p>
            <a:pPr marL="742950" lvl="1" indent="-285750">
              <a:buFont typeface="Wingdings" pitchFamily="2" charset="2"/>
              <a:buChar char="ü"/>
            </a:pPr>
            <a:r>
              <a:rPr lang="en-GB" dirty="0"/>
              <a:t>Utilizes </a:t>
            </a:r>
            <a:r>
              <a:rPr lang="en-GB" b="1" dirty="0"/>
              <a:t>Convolutional Neural Networks (CNNs)</a:t>
            </a:r>
            <a:r>
              <a:rPr lang="en-GB" dirty="0"/>
              <a:t> for both Generator and Discriminator, replacing MLPs.</a:t>
            </a:r>
          </a:p>
          <a:p>
            <a:pPr marL="742950" lvl="1" indent="-285750">
              <a:buFont typeface="Wingdings" pitchFamily="2" charset="2"/>
              <a:buChar char="ü"/>
            </a:pPr>
            <a:r>
              <a:rPr lang="en-GB" dirty="0"/>
              <a:t>Replaces max-pooling layers with </a:t>
            </a:r>
            <a:r>
              <a:rPr lang="en-GB" b="1" dirty="0"/>
              <a:t>convolutional strides</a:t>
            </a:r>
            <a:r>
              <a:rPr lang="en-GB" dirty="0"/>
              <a:t> for efficiency.</a:t>
            </a:r>
          </a:p>
          <a:p>
            <a:pPr marL="742950" lvl="1" indent="-285750">
              <a:buFont typeface="Wingdings" pitchFamily="2" charset="2"/>
              <a:buChar char="ü"/>
            </a:pPr>
            <a:r>
              <a:rPr lang="en-GB" dirty="0"/>
              <a:t>Removes fully connected layers (except for the final output layer in the Discriminator), improving spatial understanding.</a:t>
            </a:r>
          </a:p>
          <a:p>
            <a:r>
              <a:rPr lang="en-GB" b="1" dirty="0"/>
              <a:t>Benefit:</a:t>
            </a:r>
            <a:r>
              <a:rPr lang="en-GB" dirty="0"/>
              <a:t> Highly successful in generating high-quality images.</a:t>
            </a:r>
          </a:p>
          <a:p>
            <a:pPr>
              <a:buNone/>
            </a:pPr>
            <a:r>
              <a:rPr lang="en-GB" b="1" dirty="0"/>
              <a:t>4. Laplacian Pyramid GAN (LAPGAN):</a:t>
            </a:r>
            <a:endParaRPr lang="en-GB" dirty="0"/>
          </a:p>
          <a:p>
            <a:r>
              <a:rPr lang="en-GB" dirty="0"/>
              <a:t>Designed for generating </a:t>
            </a:r>
            <a:r>
              <a:rPr lang="en-GB" b="1" dirty="0"/>
              <a:t>ultra-high-quality images</a:t>
            </a:r>
            <a:r>
              <a:rPr lang="en-GB" dirty="0"/>
              <a:t> using a multi-resolution approach.</a:t>
            </a:r>
          </a:p>
          <a:p>
            <a:r>
              <a:rPr lang="en-GB" b="1" dirty="0"/>
              <a:t>Working:</a:t>
            </a:r>
            <a:endParaRPr lang="en-GB" dirty="0"/>
          </a:p>
          <a:p>
            <a:pPr marL="742950" lvl="1" indent="-285750">
              <a:buFont typeface="Wingdings" pitchFamily="2" charset="2"/>
              <a:buChar char="ü"/>
            </a:pPr>
            <a:r>
              <a:rPr lang="en-GB" dirty="0"/>
              <a:t>Employs </a:t>
            </a:r>
            <a:r>
              <a:rPr lang="en-GB" b="1" dirty="0"/>
              <a:t>multiple Generator-Discriminator pairs</a:t>
            </a:r>
            <a:r>
              <a:rPr lang="en-GB" dirty="0"/>
              <a:t> operating at different levels of a Laplacian pyramid.</a:t>
            </a:r>
          </a:p>
          <a:p>
            <a:pPr marL="742950" lvl="1" indent="-285750">
              <a:buFont typeface="Wingdings" pitchFamily="2" charset="2"/>
              <a:buChar char="ü"/>
            </a:pPr>
            <a:r>
              <a:rPr lang="en-GB" dirty="0"/>
              <a:t>Images are progressively refined: </a:t>
            </a:r>
            <a:r>
              <a:rPr lang="en-GB" dirty="0" err="1"/>
              <a:t>downsampled</a:t>
            </a:r>
            <a:r>
              <a:rPr lang="en-GB" dirty="0"/>
              <a:t> at each layer and then upscaled using Conditional GANs (CGANs).</a:t>
            </a:r>
          </a:p>
          <a:p>
            <a:r>
              <a:rPr lang="en-GB" b="1" dirty="0"/>
              <a:t>Benefit:</a:t>
            </a:r>
            <a:r>
              <a:rPr lang="en-GB" dirty="0"/>
              <a:t> Gradually refines image details, reducing noise and improving clarity, leading to photorealistic results.</a:t>
            </a:r>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7626030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11D1E39-6D9F-30D1-1CC6-2B22783F00D2}"/>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91F69F6D-5B53-4032-A513-FA5AB39620BB}"/>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rmAutofit/>
          </a:bodyPr>
          <a:lstStyle/>
          <a:p>
            <a:pPr algn="l">
              <a:buNone/>
            </a:pPr>
            <a:r>
              <a:rPr lang="en-GB" sz="2800" b="1" i="0" u="none" strike="noStrike" dirty="0">
                <a:solidFill>
                  <a:srgbClr val="7030A0"/>
                </a:solidFill>
                <a:effectLst/>
              </a:rPr>
              <a:t>Types of GANs</a:t>
            </a:r>
            <a:endParaRPr lang="en-GB" sz="28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571A95C6-E215-2EAA-81D9-45F9A6769ACB}"/>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62BFF26A-2086-AB63-B810-F53DF8FFAFA0}"/>
              </a:ext>
            </a:extLst>
          </p:cNvPr>
          <p:cNvSpPr txBox="1"/>
          <p:nvPr/>
        </p:nvSpPr>
        <p:spPr>
          <a:xfrm>
            <a:off x="203588" y="987257"/>
            <a:ext cx="8736824" cy="2092881"/>
          </a:xfrm>
          <a:prstGeom prst="rect">
            <a:avLst/>
          </a:prstGeom>
          <a:noFill/>
        </p:spPr>
        <p:txBody>
          <a:bodyPr wrap="square">
            <a:spAutoFit/>
          </a:bodyPr>
          <a:lstStyle/>
          <a:p>
            <a:pPr>
              <a:buNone/>
            </a:pPr>
            <a:r>
              <a:rPr lang="en-GB" b="1" dirty="0"/>
              <a:t>5. Super-Resolution GAN (SRGAN):</a:t>
            </a:r>
            <a:endParaRPr lang="en-GB" dirty="0"/>
          </a:p>
          <a:p>
            <a:r>
              <a:rPr lang="en-GB" dirty="0"/>
              <a:t>Specifically designed to </a:t>
            </a:r>
            <a:r>
              <a:rPr lang="en-GB" b="1" dirty="0"/>
              <a:t>increase the resolution of low-quality images</a:t>
            </a:r>
            <a:r>
              <a:rPr lang="en-GB" dirty="0"/>
              <a:t> while preserving details.</a:t>
            </a:r>
          </a:p>
          <a:p>
            <a:r>
              <a:rPr lang="en-GB" b="1" dirty="0"/>
              <a:t>Working:</a:t>
            </a:r>
            <a:endParaRPr lang="en-GB" dirty="0"/>
          </a:p>
          <a:p>
            <a:pPr marL="457200" lvl="1"/>
            <a:r>
              <a:rPr lang="en-GB" dirty="0"/>
              <a:t>Combines a deep neural network with an adversarial loss function.</a:t>
            </a:r>
          </a:p>
          <a:p>
            <a:pPr marL="457200" lvl="1"/>
            <a:r>
              <a:rPr lang="en-GB" dirty="0"/>
              <a:t>Enhances low-resolution images by adding finer details, making them appear sharper and more realistic.</a:t>
            </a:r>
          </a:p>
          <a:p>
            <a:r>
              <a:rPr lang="en-GB" b="1" dirty="0"/>
              <a:t>Benefit:</a:t>
            </a:r>
            <a:r>
              <a:rPr lang="en-GB" dirty="0"/>
              <a:t> Helps reduce common image upscaling artifacts like blurriness and pixelation.</a:t>
            </a:r>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1589317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95CAF79-09D7-2C69-C1B8-99E9A8D2FB6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69742D4-B4BC-CF91-7895-BA11869AF2A7}"/>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Autofit/>
          </a:bodyPr>
          <a:lstStyle/>
          <a:p>
            <a:pPr algn="l">
              <a:buNone/>
            </a:pPr>
            <a:r>
              <a:rPr lang="en-GB" sz="2400" b="1" i="0" u="none" strike="noStrike" dirty="0">
                <a:solidFill>
                  <a:srgbClr val="7030A0"/>
                </a:solidFill>
                <a:effectLst/>
              </a:rPr>
              <a:t>Applications of Generative Adversarial Networks (GANs)</a:t>
            </a: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86EEE185-A043-D6CA-EE6F-09A160554EE6}"/>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EF6BF22F-BB6C-79E7-D258-8DD810108030}"/>
              </a:ext>
            </a:extLst>
          </p:cNvPr>
          <p:cNvSpPr txBox="1"/>
          <p:nvPr/>
        </p:nvSpPr>
        <p:spPr>
          <a:xfrm>
            <a:off x="237360" y="771257"/>
            <a:ext cx="8736824" cy="4678204"/>
          </a:xfrm>
          <a:prstGeom prst="rect">
            <a:avLst/>
          </a:prstGeom>
          <a:noFill/>
        </p:spPr>
        <p:txBody>
          <a:bodyPr wrap="square">
            <a:spAutoFit/>
          </a:bodyPr>
          <a:lstStyle/>
          <a:p>
            <a:pPr marL="342900" indent="-342900" algn="l">
              <a:buFont typeface="+mj-lt"/>
              <a:buAutoNum type="arabicPeriod"/>
            </a:pPr>
            <a:r>
              <a:rPr lang="en-GB" b="1" i="0" u="none" strike="noStrike" dirty="0">
                <a:solidFill>
                  <a:srgbClr val="000000"/>
                </a:solidFill>
                <a:effectLst/>
              </a:rPr>
              <a:t>Image Synthesis &amp; Generation:</a:t>
            </a:r>
            <a:endParaRPr lang="en-GB" b="0" i="0" u="none" strike="noStrike" dirty="0">
              <a:solidFill>
                <a:srgbClr val="000000"/>
              </a:solidFill>
              <a:effectLst/>
            </a:endParaRPr>
          </a:p>
          <a:p>
            <a:pPr marL="800100" lvl="1" indent="-342900" algn="l">
              <a:buFont typeface="+mj-lt"/>
              <a:buAutoNum type="alphaLcPeriod"/>
            </a:pPr>
            <a:r>
              <a:rPr lang="en-GB" b="0" i="0" u="none" strike="noStrike" dirty="0">
                <a:solidFill>
                  <a:srgbClr val="000000"/>
                </a:solidFill>
                <a:effectLst/>
              </a:rPr>
              <a:t>Generate realistic images, avatars, and high-resolution visuals by learning patterns from training data.</a:t>
            </a:r>
          </a:p>
          <a:p>
            <a:pPr marL="800100" lvl="1" indent="-342900" algn="l">
              <a:buFont typeface="+mj-lt"/>
              <a:buAutoNum type="alphaLcPeriod"/>
            </a:pPr>
            <a:r>
              <a:rPr lang="en-GB" b="0" i="0" u="none" strike="noStrike" dirty="0">
                <a:solidFill>
                  <a:srgbClr val="000000"/>
                </a:solidFill>
                <a:effectLst/>
              </a:rPr>
              <a:t>Widely used in digital art, gaming, and AI-driven design.</a:t>
            </a:r>
          </a:p>
          <a:p>
            <a:pPr marL="342900" indent="-342900" algn="l">
              <a:buFont typeface="+mj-lt"/>
              <a:buAutoNum type="arabicPeriod"/>
            </a:pPr>
            <a:r>
              <a:rPr lang="en-GB" b="1" i="0" u="none" strike="noStrike" dirty="0">
                <a:solidFill>
                  <a:srgbClr val="000000"/>
                </a:solidFill>
                <a:effectLst/>
              </a:rPr>
              <a:t>Image-to-Image Translation:</a:t>
            </a:r>
            <a:endParaRPr lang="en-GB" b="0" i="0" u="none" strike="noStrike" dirty="0">
              <a:solidFill>
                <a:srgbClr val="000000"/>
              </a:solidFill>
              <a:effectLst/>
            </a:endParaRPr>
          </a:p>
          <a:p>
            <a:pPr marL="800100" lvl="1" indent="-342900" algn="l">
              <a:buFont typeface="+mj-lt"/>
              <a:buAutoNum type="alphaLcPeriod"/>
            </a:pPr>
            <a:r>
              <a:rPr lang="en-GB" b="0" i="0" u="none" strike="noStrike" dirty="0">
                <a:solidFill>
                  <a:srgbClr val="000000"/>
                </a:solidFill>
                <a:effectLst/>
              </a:rPr>
              <a:t>Transform images between different domains while preserving essential features.</a:t>
            </a:r>
          </a:p>
          <a:p>
            <a:pPr marL="800100" lvl="1" indent="-342900" algn="l">
              <a:buFont typeface="+mj-lt"/>
              <a:buAutoNum type="alphaLcPeriod"/>
            </a:pPr>
            <a:r>
              <a:rPr lang="en-GB" b="0" i="0" u="none" strike="noStrike" dirty="0">
                <a:solidFill>
                  <a:srgbClr val="000000"/>
                </a:solidFill>
                <a:effectLst/>
              </a:rPr>
              <a:t>Examples: converting day scenes to night, turning sketches into realistic images, or applying different artistic styles.</a:t>
            </a:r>
          </a:p>
          <a:p>
            <a:pPr marL="342900" indent="-342900" algn="l">
              <a:buFont typeface="+mj-lt"/>
              <a:buAutoNum type="arabicPeriod"/>
            </a:pPr>
            <a:r>
              <a:rPr lang="en-GB" b="1" i="0" u="none" strike="noStrike" dirty="0">
                <a:solidFill>
                  <a:srgbClr val="000000"/>
                </a:solidFill>
                <a:effectLst/>
              </a:rPr>
              <a:t>Text-to-Image Synthesis:</a:t>
            </a:r>
            <a:endParaRPr lang="en-GB" b="0" i="0" u="none" strike="noStrike" dirty="0">
              <a:solidFill>
                <a:srgbClr val="000000"/>
              </a:solidFill>
              <a:effectLst/>
            </a:endParaRPr>
          </a:p>
          <a:p>
            <a:pPr marL="800100" lvl="1" indent="-342900" algn="l">
              <a:buFont typeface="+mj-lt"/>
              <a:buAutoNum type="alphaLcPeriod"/>
            </a:pPr>
            <a:r>
              <a:rPr lang="en-GB" b="0" i="0" u="none" strike="noStrike" dirty="0">
                <a:solidFill>
                  <a:srgbClr val="000000"/>
                </a:solidFill>
                <a:effectLst/>
              </a:rPr>
              <a:t>Create visual content directly from textual descriptions.</a:t>
            </a:r>
          </a:p>
          <a:p>
            <a:pPr marL="800100" lvl="1" indent="-342900" algn="l">
              <a:buFont typeface="+mj-lt"/>
              <a:buAutoNum type="alphaLcPeriod"/>
            </a:pPr>
            <a:r>
              <a:rPr lang="en-GB" b="0" i="0" u="none" strike="noStrike" dirty="0">
                <a:solidFill>
                  <a:srgbClr val="000000"/>
                </a:solidFill>
                <a:effectLst/>
              </a:rPr>
              <a:t>Enables applications in AI-generated art, automated design, and innovative content creation.</a:t>
            </a:r>
          </a:p>
          <a:p>
            <a:pPr marL="342900" indent="-342900" algn="l">
              <a:buFont typeface="+mj-lt"/>
              <a:buAutoNum type="arabicPeriod"/>
            </a:pPr>
            <a:r>
              <a:rPr lang="en-GB" b="1" i="0" u="none" strike="noStrike" dirty="0">
                <a:solidFill>
                  <a:srgbClr val="000000"/>
                </a:solidFill>
                <a:effectLst/>
              </a:rPr>
              <a:t>Data Augmentation:</a:t>
            </a:r>
            <a:endParaRPr lang="en-GB" b="0" i="0" u="none" strike="noStrike" dirty="0">
              <a:solidFill>
                <a:srgbClr val="000000"/>
              </a:solidFill>
              <a:effectLst/>
            </a:endParaRPr>
          </a:p>
          <a:p>
            <a:pPr marL="800100" lvl="1" indent="-342900" algn="l">
              <a:buFont typeface="+mj-lt"/>
              <a:buAutoNum type="alphaLcPeriod"/>
            </a:pPr>
            <a:r>
              <a:rPr lang="en-GB" b="0" i="0" u="none" strike="noStrike" dirty="0">
                <a:solidFill>
                  <a:srgbClr val="000000"/>
                </a:solidFill>
                <a:effectLst/>
              </a:rPr>
              <a:t>Generate synthetic data samples to expand training datasets for machine learning models.</a:t>
            </a:r>
          </a:p>
          <a:p>
            <a:pPr marL="800100" lvl="1" indent="-342900" algn="l">
              <a:buFont typeface="+mj-lt"/>
              <a:buAutoNum type="alphaLcPeriod"/>
            </a:pPr>
            <a:r>
              <a:rPr lang="en-GB" b="0" i="0" u="none" strike="noStrike" dirty="0">
                <a:solidFill>
                  <a:srgbClr val="000000"/>
                </a:solidFill>
                <a:effectLst/>
              </a:rPr>
              <a:t>Improves model robustness and generalizability, particularly valuable in domains with limited </a:t>
            </a:r>
            <a:r>
              <a:rPr lang="en-GB" b="0" i="0" u="none" strike="noStrike" dirty="0" err="1">
                <a:solidFill>
                  <a:srgbClr val="000000"/>
                </a:solidFill>
                <a:effectLst/>
              </a:rPr>
              <a:t>labeled</a:t>
            </a:r>
            <a:r>
              <a:rPr lang="en-GB" b="0" i="0" u="none" strike="noStrike" dirty="0">
                <a:solidFill>
                  <a:srgbClr val="000000"/>
                </a:solidFill>
                <a:effectLst/>
              </a:rPr>
              <a:t> data.</a:t>
            </a:r>
          </a:p>
          <a:p>
            <a:pPr marL="342900" indent="-342900" algn="l">
              <a:buFont typeface="+mj-lt"/>
              <a:buAutoNum type="arabicPeriod"/>
            </a:pPr>
            <a:r>
              <a:rPr lang="en-GB" b="1" i="0" u="none" strike="noStrike" dirty="0">
                <a:solidFill>
                  <a:srgbClr val="000000"/>
                </a:solidFill>
                <a:effectLst/>
              </a:rPr>
              <a:t>High-Resolution Image Enhancement (Super-Resolution):</a:t>
            </a:r>
            <a:endParaRPr lang="en-GB" b="0" i="0" u="none" strike="noStrike" dirty="0">
              <a:solidFill>
                <a:srgbClr val="000000"/>
              </a:solidFill>
              <a:effectLst/>
            </a:endParaRPr>
          </a:p>
          <a:p>
            <a:pPr marL="800100" lvl="1" indent="-342900" algn="l">
              <a:buFont typeface="+mj-lt"/>
              <a:buAutoNum type="alphaLcPeriod"/>
            </a:pPr>
            <a:r>
              <a:rPr lang="en-GB" b="0" i="0" u="none" strike="noStrike" dirty="0">
                <a:solidFill>
                  <a:srgbClr val="000000"/>
                </a:solidFill>
                <a:effectLst/>
              </a:rPr>
              <a:t>Upscale low-resolution images to higher resolutions, significantly improving clarity and detail.</a:t>
            </a:r>
          </a:p>
          <a:p>
            <a:pPr marL="800100" lvl="1" indent="-342900" algn="l">
              <a:buFont typeface="+mj-lt"/>
              <a:buAutoNum type="alphaLcPeriod"/>
            </a:pPr>
            <a:r>
              <a:rPr lang="en-GB" b="0" i="0" u="none" strike="noStrike" dirty="0">
                <a:solidFill>
                  <a:srgbClr val="000000"/>
                </a:solidFill>
                <a:effectLst/>
              </a:rPr>
              <a:t>Applications include medical imaging, satellite imagery analysis, and video enhancement.</a:t>
            </a:r>
          </a:p>
          <a:p>
            <a:pPr marL="342900" indent="-342900">
              <a:buFont typeface="+mj-lt"/>
              <a:buAutoNum type="arabicPeriod"/>
            </a:pPr>
            <a:endParaRPr lang="en-GB" dirty="0"/>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1006341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6657C42-5CC2-365F-4C6D-9B944183ACF7}"/>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668BB083-B55A-C07C-9277-093FB06A428E}"/>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Autofit/>
          </a:bodyPr>
          <a:lstStyle/>
          <a:p>
            <a:pPr algn="l">
              <a:buNone/>
            </a:pPr>
            <a:r>
              <a:rPr lang="en-GB" sz="2400" b="1" i="0" u="none" strike="noStrike" dirty="0">
                <a:solidFill>
                  <a:srgbClr val="7030A0"/>
                </a:solidFill>
                <a:effectLst/>
              </a:rPr>
              <a:t>Evaluation metrics of GAN</a:t>
            </a: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A1B39533-B4EA-A7DB-5035-B45AF7C8E330}"/>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378C45F4-9C54-9CB1-D040-6731B1B14AF2}"/>
              </a:ext>
            </a:extLst>
          </p:cNvPr>
          <p:cNvSpPr txBox="1"/>
          <p:nvPr/>
        </p:nvSpPr>
        <p:spPr>
          <a:xfrm>
            <a:off x="237360" y="771257"/>
            <a:ext cx="8736824" cy="800219"/>
          </a:xfrm>
          <a:prstGeom prst="rect">
            <a:avLst/>
          </a:prstGeom>
          <a:noFill/>
        </p:spPr>
        <p:txBody>
          <a:bodyPr wrap="square">
            <a:spAutoFit/>
          </a:bodyPr>
          <a:lstStyle/>
          <a:p>
            <a:pPr marL="342900" indent="-342900">
              <a:buFont typeface="+mj-lt"/>
              <a:buAutoNum type="arabicPeriod"/>
            </a:pPr>
            <a:endParaRPr lang="en-GB" dirty="0"/>
          </a:p>
          <a:p>
            <a:br>
              <a:rPr lang="en-GB" sz="1600" dirty="0">
                <a:latin typeface="+mj-lt"/>
              </a:rPr>
            </a:br>
            <a:endParaRPr lang="en-GB" sz="1600" b="1" dirty="0">
              <a:latin typeface="+mj-lt"/>
            </a:endParaRPr>
          </a:p>
        </p:txBody>
      </p:sp>
      <p:graphicFrame>
        <p:nvGraphicFramePr>
          <p:cNvPr id="2" name="Table 1">
            <a:extLst>
              <a:ext uri="{FF2B5EF4-FFF2-40B4-BE49-F238E27FC236}">
                <a16:creationId xmlns:a16="http://schemas.microsoft.com/office/drawing/2014/main" id="{C850BEBA-70A4-5880-2216-7671331A0649}"/>
              </a:ext>
            </a:extLst>
          </p:cNvPr>
          <p:cNvGraphicFramePr>
            <a:graphicFrameLocks noGrp="1"/>
          </p:cNvGraphicFramePr>
          <p:nvPr>
            <p:extLst>
              <p:ext uri="{D42A27DB-BD31-4B8C-83A1-F6EECF244321}">
                <p14:modId xmlns:p14="http://schemas.microsoft.com/office/powerpoint/2010/main" val="1278021448"/>
              </p:ext>
            </p:extLst>
          </p:nvPr>
        </p:nvGraphicFramePr>
        <p:xfrm>
          <a:off x="237360" y="1359528"/>
          <a:ext cx="8215638" cy="2499360"/>
        </p:xfrm>
        <a:graphic>
          <a:graphicData uri="http://schemas.openxmlformats.org/drawingml/2006/table">
            <a:tbl>
              <a:tblPr>
                <a:tableStyleId>{35758FB7-9AC5-4552-8A53-C91805E547FA}</a:tableStyleId>
              </a:tblPr>
              <a:tblGrid>
                <a:gridCol w="4395680">
                  <a:extLst>
                    <a:ext uri="{9D8B030D-6E8A-4147-A177-3AD203B41FA5}">
                      <a16:colId xmlns:a16="http://schemas.microsoft.com/office/drawing/2014/main" val="780916541"/>
                    </a:ext>
                  </a:extLst>
                </a:gridCol>
                <a:gridCol w="3819958">
                  <a:extLst>
                    <a:ext uri="{9D8B030D-6E8A-4147-A177-3AD203B41FA5}">
                      <a16:colId xmlns:a16="http://schemas.microsoft.com/office/drawing/2014/main" val="512361635"/>
                    </a:ext>
                  </a:extLst>
                </a:gridCol>
              </a:tblGrid>
              <a:tr h="353608">
                <a:tc>
                  <a:txBody>
                    <a:bodyPr/>
                    <a:lstStyle/>
                    <a:p>
                      <a:r>
                        <a:rPr lang="en-GB" sz="2000" b="1"/>
                        <a:t>Metric</a:t>
                      </a:r>
                    </a:p>
                  </a:txBody>
                  <a:tcPr anchor="ctr"/>
                </a:tc>
                <a:tc>
                  <a:txBody>
                    <a:bodyPr/>
                    <a:lstStyle/>
                    <a:p>
                      <a:r>
                        <a:rPr lang="en-GB" sz="2000" b="1" dirty="0"/>
                        <a:t>Purpose</a:t>
                      </a:r>
                    </a:p>
                  </a:txBody>
                  <a:tcPr anchor="ctr"/>
                </a:tc>
                <a:extLst>
                  <a:ext uri="{0D108BD9-81ED-4DB2-BD59-A6C34878D82A}">
                    <a16:rowId xmlns:a16="http://schemas.microsoft.com/office/drawing/2014/main" val="913939967"/>
                  </a:ext>
                </a:extLst>
              </a:tr>
              <a:tr h="353608">
                <a:tc>
                  <a:txBody>
                    <a:bodyPr/>
                    <a:lstStyle/>
                    <a:p>
                      <a:r>
                        <a:rPr lang="en-GB" sz="2000" dirty="0"/>
                        <a:t>Inception Score (IS)</a:t>
                      </a:r>
                    </a:p>
                  </a:txBody>
                  <a:tcPr anchor="ctr"/>
                </a:tc>
                <a:tc>
                  <a:txBody>
                    <a:bodyPr/>
                    <a:lstStyle/>
                    <a:p>
                      <a:r>
                        <a:rPr lang="en-GB" sz="2000"/>
                        <a:t>Measures image quality and diversity</a:t>
                      </a:r>
                    </a:p>
                  </a:txBody>
                  <a:tcPr anchor="ctr"/>
                </a:tc>
                <a:extLst>
                  <a:ext uri="{0D108BD9-81ED-4DB2-BD59-A6C34878D82A}">
                    <a16:rowId xmlns:a16="http://schemas.microsoft.com/office/drawing/2014/main" val="1918002436"/>
                  </a:ext>
                </a:extLst>
              </a:tr>
              <a:tr h="353608">
                <a:tc>
                  <a:txBody>
                    <a:bodyPr/>
                    <a:lstStyle/>
                    <a:p>
                      <a:r>
                        <a:rPr lang="en-GB" sz="2000"/>
                        <a:t>Frechet Inception Distance (FID)</a:t>
                      </a:r>
                    </a:p>
                  </a:txBody>
                  <a:tcPr anchor="ctr"/>
                </a:tc>
                <a:tc>
                  <a:txBody>
                    <a:bodyPr/>
                    <a:lstStyle/>
                    <a:p>
                      <a:r>
                        <a:rPr lang="en-GB" sz="2000"/>
                        <a:t>Measures similarity to real data distribution</a:t>
                      </a:r>
                    </a:p>
                  </a:txBody>
                  <a:tcPr anchor="ctr"/>
                </a:tc>
                <a:extLst>
                  <a:ext uri="{0D108BD9-81ED-4DB2-BD59-A6C34878D82A}">
                    <a16:rowId xmlns:a16="http://schemas.microsoft.com/office/drawing/2014/main" val="898600338"/>
                  </a:ext>
                </a:extLst>
              </a:tr>
              <a:tr h="353608">
                <a:tc>
                  <a:txBody>
                    <a:bodyPr/>
                    <a:lstStyle/>
                    <a:p>
                      <a:r>
                        <a:rPr lang="en-GB" sz="2000"/>
                        <a:t>Visual Turing Test</a:t>
                      </a:r>
                    </a:p>
                  </a:txBody>
                  <a:tcPr anchor="ctr"/>
                </a:tc>
                <a:tc>
                  <a:txBody>
                    <a:bodyPr/>
                    <a:lstStyle/>
                    <a:p>
                      <a:r>
                        <a:rPr lang="en-GB" sz="2000" dirty="0"/>
                        <a:t>Human-based evaluation of realism</a:t>
                      </a:r>
                    </a:p>
                  </a:txBody>
                  <a:tcPr anchor="ctr"/>
                </a:tc>
                <a:extLst>
                  <a:ext uri="{0D108BD9-81ED-4DB2-BD59-A6C34878D82A}">
                    <a16:rowId xmlns:a16="http://schemas.microsoft.com/office/drawing/2014/main" val="1003821450"/>
                  </a:ext>
                </a:extLst>
              </a:tr>
            </a:tbl>
          </a:graphicData>
        </a:graphic>
      </p:graphicFrame>
    </p:spTree>
    <p:extLst>
      <p:ext uri="{BB962C8B-B14F-4D97-AF65-F5344CB8AC3E}">
        <p14:creationId xmlns:p14="http://schemas.microsoft.com/office/powerpoint/2010/main" val="3830130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4214BE6C-9AC4-8208-312B-F031CB1A2C09}"/>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8ABBB606-EB7C-6594-6D73-157D8C1AAC2B}"/>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Autofit/>
          </a:bodyPr>
          <a:lstStyle/>
          <a:p>
            <a:r>
              <a:rPr lang="en-GB" sz="2400" b="1" i="0" u="none" strike="noStrike" dirty="0">
                <a:solidFill>
                  <a:srgbClr val="7030A0"/>
                </a:solidFill>
                <a:effectLst/>
              </a:rPr>
              <a:t>Advantages of Generative Adversarial Networks (GANs)</a:t>
            </a: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9028802E-E2A3-9593-996F-326DE1A3469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D1E57F3F-D15C-2EEA-2BC5-6D6930AA2EE6}"/>
              </a:ext>
            </a:extLst>
          </p:cNvPr>
          <p:cNvSpPr txBox="1"/>
          <p:nvPr/>
        </p:nvSpPr>
        <p:spPr>
          <a:xfrm>
            <a:off x="237360" y="771257"/>
            <a:ext cx="7394640" cy="4524315"/>
          </a:xfrm>
          <a:prstGeom prst="rect">
            <a:avLst/>
          </a:prstGeom>
          <a:noFill/>
        </p:spPr>
        <p:txBody>
          <a:bodyPr wrap="square">
            <a:spAutoFit/>
          </a:bodyPr>
          <a:lstStyle/>
          <a:p>
            <a:pPr marL="342900" indent="-342900" algn="l">
              <a:buFont typeface="+mj-lt"/>
              <a:buAutoNum type="arabicPeriod"/>
            </a:pPr>
            <a:r>
              <a:rPr lang="en-GB" sz="1600" b="1" i="0" u="none" strike="noStrike" dirty="0">
                <a:solidFill>
                  <a:srgbClr val="000000"/>
                </a:solidFill>
                <a:effectLst/>
              </a:rPr>
              <a:t>Synthetic Data Generation:</a:t>
            </a:r>
            <a:r>
              <a:rPr lang="en-GB" sz="1600" b="0" i="0" u="none" strike="noStrike" dirty="0">
                <a:solidFill>
                  <a:srgbClr val="000000"/>
                </a:solidFill>
                <a:effectLst/>
              </a:rPr>
              <a:t> GANs excel at creating new, synthetic data samples that closely resemble a known data distribution. This is highly beneficial for data augmentation, anomaly detection, and various creative applications.</a:t>
            </a:r>
          </a:p>
          <a:p>
            <a:pPr marL="342900" indent="-342900" algn="l">
              <a:buFont typeface="+mj-lt"/>
              <a:buAutoNum type="arabicPeriod"/>
            </a:pPr>
            <a:r>
              <a:rPr lang="en-GB" sz="1600" b="1" i="0" u="none" strike="noStrike" dirty="0">
                <a:solidFill>
                  <a:srgbClr val="000000"/>
                </a:solidFill>
                <a:effectLst/>
              </a:rPr>
              <a:t>High-Quality Results:</a:t>
            </a:r>
            <a:r>
              <a:rPr lang="en-GB" sz="1600" b="0" i="0" u="none" strike="noStrike" dirty="0">
                <a:solidFill>
                  <a:srgbClr val="000000"/>
                </a:solidFill>
                <a:effectLst/>
              </a:rPr>
              <a:t> They are capable of producing exceptionally high-quality and often photorealistic outputs in diverse domains such as image synthesis, video synthesis, and music synthesis.</a:t>
            </a:r>
          </a:p>
          <a:p>
            <a:pPr marL="342900" indent="-342900" algn="l">
              <a:buFont typeface="+mj-lt"/>
              <a:buAutoNum type="arabicPeriod"/>
            </a:pPr>
            <a:r>
              <a:rPr lang="en-GB" sz="1600" b="1" i="0" u="none" strike="noStrike" dirty="0">
                <a:solidFill>
                  <a:srgbClr val="000000"/>
                </a:solidFill>
                <a:effectLst/>
              </a:rPr>
              <a:t>Unsupervised Learning:</a:t>
            </a:r>
            <a:r>
              <a:rPr lang="en-GB" sz="1600" b="0" i="0" u="none" strike="noStrike" dirty="0">
                <a:solidFill>
                  <a:srgbClr val="000000"/>
                </a:solidFill>
                <a:effectLst/>
              </a:rPr>
              <a:t> A significant advantage is their ability to be trained without the need for </a:t>
            </a:r>
            <a:r>
              <a:rPr lang="en-GB" sz="1600" b="0" i="0" u="none" strike="noStrike" dirty="0" err="1">
                <a:solidFill>
                  <a:srgbClr val="000000"/>
                </a:solidFill>
                <a:effectLst/>
              </a:rPr>
              <a:t>labeled</a:t>
            </a:r>
            <a:r>
              <a:rPr lang="en-GB" sz="1600" b="0" i="0" u="none" strike="noStrike" dirty="0">
                <a:solidFill>
                  <a:srgbClr val="000000"/>
                </a:solidFill>
                <a:effectLst/>
              </a:rPr>
              <a:t> data. This makes GANs particularly valuable for unsupervised learning tasks where obtaining large, </a:t>
            </a:r>
            <a:r>
              <a:rPr lang="en-GB" sz="1600" b="0" i="0" u="none" strike="noStrike" dirty="0" err="1">
                <a:solidFill>
                  <a:srgbClr val="000000"/>
                </a:solidFill>
                <a:effectLst/>
              </a:rPr>
              <a:t>labeled</a:t>
            </a:r>
            <a:r>
              <a:rPr lang="en-GB" sz="1600" b="0" i="0" u="none" strike="noStrike" dirty="0">
                <a:solidFill>
                  <a:srgbClr val="000000"/>
                </a:solidFill>
                <a:effectLst/>
              </a:rPr>
              <a:t> datasets is challenging or impractical.</a:t>
            </a:r>
          </a:p>
          <a:p>
            <a:pPr marL="342900" indent="-342900" algn="l">
              <a:buFont typeface="+mj-lt"/>
              <a:buAutoNum type="arabicPeriod"/>
            </a:pPr>
            <a:r>
              <a:rPr lang="en-GB" sz="1600" b="1" i="0" u="none" strike="noStrike" dirty="0">
                <a:solidFill>
                  <a:srgbClr val="000000"/>
                </a:solidFill>
                <a:effectLst/>
              </a:rPr>
              <a:t>Versatility:</a:t>
            </a:r>
            <a:r>
              <a:rPr lang="en-GB" sz="1600" b="0" i="0" u="none" strike="noStrike" dirty="0">
                <a:solidFill>
                  <a:srgbClr val="000000"/>
                </a:solidFill>
                <a:effectLst/>
              </a:rPr>
              <a:t> GANs demonstrate broad applicability across a wide spectrum of tasks, including but not limited to image synthesis, text-to-image generation, image-to-image translation, anomaly detection, and data augmentation.</a:t>
            </a:r>
          </a:p>
          <a:p>
            <a:pPr marL="342900" indent="-342900">
              <a:buFont typeface="+mj-lt"/>
              <a:buAutoNum type="arabicPeriod"/>
            </a:pPr>
            <a:endParaRPr lang="en-GB" sz="1600" dirty="0"/>
          </a:p>
          <a:p>
            <a:br>
              <a:rPr lang="en-GB" sz="1600" dirty="0">
                <a:latin typeface="+mj-lt"/>
              </a:rPr>
            </a:br>
            <a:endParaRPr lang="en-GB" sz="1600" b="1" dirty="0">
              <a:latin typeface="+mj-lt"/>
            </a:endParaRPr>
          </a:p>
        </p:txBody>
      </p:sp>
    </p:spTree>
    <p:extLst>
      <p:ext uri="{BB962C8B-B14F-4D97-AF65-F5344CB8AC3E}">
        <p14:creationId xmlns:p14="http://schemas.microsoft.com/office/powerpoint/2010/main" val="3151408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9534CF7-33D7-D217-E978-F657A4D5C92F}"/>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1A43756C-9E66-E06C-B512-EAD98EAB9FD6}"/>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Autofit/>
          </a:bodyPr>
          <a:lstStyle/>
          <a:p>
            <a:r>
              <a:rPr lang="en-GB" sz="2400" dirty="0">
                <a:solidFill>
                  <a:srgbClr val="7030A0"/>
                </a:solidFill>
              </a:rPr>
              <a:t>Limitations</a:t>
            </a:r>
            <a:r>
              <a:rPr lang="en-GB" sz="2400" b="1" i="0" u="none" strike="noStrike" dirty="0">
                <a:solidFill>
                  <a:srgbClr val="7030A0"/>
                </a:solidFill>
                <a:effectLst/>
              </a:rPr>
              <a:t> of Generative Adversarial Networks (GANs)</a:t>
            </a: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FE97F680-2A87-0E6C-5BE4-D909461A771B}"/>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415F0CC0-BF5A-65D4-8D6B-1526E9792374}"/>
              </a:ext>
            </a:extLst>
          </p:cNvPr>
          <p:cNvSpPr txBox="1"/>
          <p:nvPr/>
        </p:nvSpPr>
        <p:spPr>
          <a:xfrm>
            <a:off x="215760" y="489585"/>
            <a:ext cx="7567440" cy="4524315"/>
          </a:xfrm>
          <a:prstGeom prst="rect">
            <a:avLst/>
          </a:prstGeom>
          <a:noFill/>
        </p:spPr>
        <p:txBody>
          <a:bodyPr wrap="square">
            <a:spAutoFit/>
          </a:bodyPr>
          <a:lstStyle/>
          <a:p>
            <a:pPr>
              <a:buNone/>
            </a:pPr>
            <a:r>
              <a:rPr lang="en-GB" sz="1600" b="1" dirty="0"/>
              <a:t>1. Training Instability</a:t>
            </a:r>
          </a:p>
          <a:p>
            <a:pPr>
              <a:buNone/>
            </a:pPr>
            <a:r>
              <a:rPr lang="en-GB" sz="1600" dirty="0"/>
              <a:t>GANs are notoriously difficult to train. The generator and discriminator are locked in a </a:t>
            </a:r>
            <a:r>
              <a:rPr lang="en-GB" sz="1600" b="1" dirty="0"/>
              <a:t>two-player minimax game</a:t>
            </a:r>
            <a:r>
              <a:rPr lang="en-GB" sz="1600" dirty="0"/>
              <a:t>, where the success of one depends on the failure of the other. This adversarial dynamic can lead to:</a:t>
            </a:r>
          </a:p>
          <a:p>
            <a:pPr marL="342900" indent="-342900">
              <a:buFont typeface="+mj-lt"/>
              <a:buAutoNum type="alphaLcPeriod"/>
            </a:pPr>
            <a:r>
              <a:rPr lang="en-GB" sz="1600" b="1" dirty="0"/>
              <a:t>Non-convergence</a:t>
            </a:r>
            <a:r>
              <a:rPr lang="en-GB" sz="1600" dirty="0"/>
              <a:t>: The model may never reach a stable state.</a:t>
            </a:r>
          </a:p>
          <a:p>
            <a:pPr marL="342900" indent="-342900">
              <a:buFont typeface="+mj-lt"/>
              <a:buAutoNum type="alphaLcPeriod"/>
            </a:pPr>
            <a:r>
              <a:rPr lang="en-GB" sz="1600" b="1" dirty="0"/>
              <a:t>Oscillations</a:t>
            </a:r>
            <a:r>
              <a:rPr lang="en-GB" sz="1600" dirty="0"/>
              <a:t>: The generator and discriminator may oscillate without making real progress.</a:t>
            </a:r>
          </a:p>
          <a:p>
            <a:pPr marL="342900" indent="-342900">
              <a:buFont typeface="+mj-lt"/>
              <a:buAutoNum type="alphaLcPeriod"/>
            </a:pPr>
            <a:r>
              <a:rPr lang="en-GB" sz="1600" b="1" dirty="0"/>
              <a:t>Vanishing gradients</a:t>
            </a:r>
            <a:r>
              <a:rPr lang="en-GB" sz="1600" dirty="0"/>
              <a:t>: If the discriminator becomes too strong, the generator receives little to no feedback, slowing or halting learning.</a:t>
            </a:r>
          </a:p>
          <a:p>
            <a:pPr>
              <a:buNone/>
            </a:pPr>
            <a:r>
              <a:rPr lang="en-GB" sz="1600" b="1" dirty="0"/>
              <a:t>2. Mode Collapse</a:t>
            </a:r>
          </a:p>
          <a:p>
            <a:pPr>
              <a:buNone/>
            </a:pPr>
            <a:r>
              <a:rPr lang="en-GB" sz="1600" dirty="0"/>
              <a:t>In mode collapse, the </a:t>
            </a:r>
            <a:r>
              <a:rPr lang="en-GB" sz="1600" b="1" dirty="0"/>
              <a:t>generator starts producing a limited variety of outputs</a:t>
            </a:r>
            <a:r>
              <a:rPr lang="en-GB" sz="1600" dirty="0"/>
              <a:t>, even when the input noise is different. This happens when:</a:t>
            </a:r>
          </a:p>
          <a:p>
            <a:pPr marL="342900" indent="-342900">
              <a:buFont typeface="+mj-lt"/>
              <a:buAutoNum type="alphaLcPeriod"/>
            </a:pPr>
            <a:r>
              <a:rPr lang="en-GB" sz="1600" dirty="0"/>
              <a:t>The generator finds a small set of outputs that consistently fool the discriminator.</a:t>
            </a:r>
          </a:p>
          <a:p>
            <a:pPr marL="342900" indent="-342900">
              <a:buFont typeface="+mj-lt"/>
              <a:buAutoNum type="alphaLcPeriod"/>
            </a:pPr>
            <a:r>
              <a:rPr lang="en-GB" sz="1600" dirty="0"/>
              <a:t>It continues to exploit this weakness, reducing diversity in the generated data.</a:t>
            </a:r>
          </a:p>
          <a:p>
            <a:pPr marL="342900" indent="-342900">
              <a:buFont typeface="+mj-lt"/>
              <a:buAutoNum type="alphaLcPeriod"/>
            </a:pPr>
            <a:r>
              <a:rPr lang="en-GB" sz="1600" dirty="0"/>
              <a:t>As a result, the GAN fails to capture the full range of patterns or classes in the dataset (e.g., generating only one type of face when trained on a diverse face dataset).</a:t>
            </a:r>
          </a:p>
        </p:txBody>
      </p:sp>
    </p:spTree>
    <p:extLst>
      <p:ext uri="{BB962C8B-B14F-4D97-AF65-F5344CB8AC3E}">
        <p14:creationId xmlns:p14="http://schemas.microsoft.com/office/powerpoint/2010/main" val="39112474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F5B35885-66F3-595E-0F1B-540B765D3303}"/>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BAFB5FA9-5BEC-1DC9-DC92-CF8E4C6DE9D2}"/>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Autofit/>
          </a:bodyPr>
          <a:lstStyle/>
          <a:p>
            <a:r>
              <a:rPr lang="en-GB" sz="2400" dirty="0">
                <a:solidFill>
                  <a:srgbClr val="7030A0"/>
                </a:solidFill>
              </a:rPr>
              <a:t>Limitations</a:t>
            </a:r>
            <a:r>
              <a:rPr lang="en-GB" sz="2400" b="1" i="0" u="none" strike="noStrike" dirty="0">
                <a:solidFill>
                  <a:srgbClr val="7030A0"/>
                </a:solidFill>
                <a:effectLst/>
              </a:rPr>
              <a:t> of Generative Adversarial Networks (GANs)</a:t>
            </a: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74933D3A-748D-B7CD-4759-1241648E8E0A}"/>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56543A61-93F9-9853-FEBA-8A3CABB6779F}"/>
              </a:ext>
            </a:extLst>
          </p:cNvPr>
          <p:cNvSpPr txBox="1"/>
          <p:nvPr/>
        </p:nvSpPr>
        <p:spPr>
          <a:xfrm>
            <a:off x="237360" y="771257"/>
            <a:ext cx="7394640" cy="4031873"/>
          </a:xfrm>
          <a:prstGeom prst="rect">
            <a:avLst/>
          </a:prstGeom>
          <a:noFill/>
        </p:spPr>
        <p:txBody>
          <a:bodyPr wrap="square">
            <a:spAutoFit/>
          </a:bodyPr>
          <a:lstStyle/>
          <a:p>
            <a:pPr>
              <a:buNone/>
            </a:pPr>
            <a:r>
              <a:rPr lang="en-GB" sz="1600" b="1" dirty="0"/>
              <a:t>3. Lack of Interpretability</a:t>
            </a:r>
          </a:p>
          <a:p>
            <a:pPr>
              <a:buNone/>
            </a:pPr>
            <a:r>
              <a:rPr lang="en-GB" sz="1600" dirty="0"/>
              <a:t>Unlike supervised models where outputs can be traced to specific features or labels, GANs function as </a:t>
            </a:r>
            <a:r>
              <a:rPr lang="en-GB" sz="1600" b="1" dirty="0"/>
              <a:t>black boxes</a:t>
            </a:r>
            <a:r>
              <a:rPr lang="en-GB" sz="1600" dirty="0"/>
              <a:t>:</a:t>
            </a:r>
          </a:p>
          <a:p>
            <a:pPr marL="342900" indent="-342900">
              <a:buFont typeface="+mj-lt"/>
              <a:buAutoNum type="alphaLcPeriod"/>
            </a:pPr>
            <a:r>
              <a:rPr lang="en-GB" sz="1600" dirty="0"/>
              <a:t>There is </a:t>
            </a:r>
            <a:r>
              <a:rPr lang="en-GB" sz="1600" b="1" dirty="0"/>
              <a:t>no clear way to understand</a:t>
            </a:r>
            <a:r>
              <a:rPr lang="en-GB" sz="1600" dirty="0"/>
              <a:t> what each neuron or layer in the generator/discriminator is learning.</a:t>
            </a:r>
          </a:p>
          <a:p>
            <a:pPr marL="342900" indent="-342900">
              <a:buFont typeface="+mj-lt"/>
              <a:buAutoNum type="alphaLcPeriod"/>
            </a:pPr>
            <a:r>
              <a:rPr lang="en-GB" sz="1600" dirty="0"/>
              <a:t>It is hard to diagnose what causes failures such as mode collapse or poor image quality.</a:t>
            </a:r>
          </a:p>
          <a:p>
            <a:pPr>
              <a:buNone/>
            </a:pPr>
            <a:r>
              <a:rPr lang="en-GB" sz="1600" dirty="0"/>
              <a:t>This lack of transparency makes debugging and improving GANs more difficult.</a:t>
            </a:r>
          </a:p>
          <a:p>
            <a:pPr>
              <a:buNone/>
            </a:pPr>
            <a:r>
              <a:rPr lang="en-GB" sz="1600" b="1" dirty="0"/>
              <a:t>4. High Data and Computational Requirements</a:t>
            </a:r>
          </a:p>
          <a:p>
            <a:pPr>
              <a:buNone/>
            </a:pPr>
            <a:r>
              <a:rPr lang="en-GB" sz="1600" dirty="0"/>
              <a:t>Training GANs typically requires:</a:t>
            </a:r>
          </a:p>
          <a:p>
            <a:pPr marL="342900" indent="-342900">
              <a:buFont typeface="+mj-lt"/>
              <a:buAutoNum type="alphaLcPeriod"/>
            </a:pPr>
            <a:r>
              <a:rPr lang="en-GB" sz="1600" b="1" dirty="0"/>
              <a:t>Large volumes of high-quality data</a:t>
            </a:r>
            <a:r>
              <a:rPr lang="en-GB" sz="1600" dirty="0"/>
              <a:t> to capture complex distributions and generate realistic outputs.</a:t>
            </a:r>
          </a:p>
          <a:p>
            <a:pPr marL="342900" indent="-342900">
              <a:buFont typeface="+mj-lt"/>
              <a:buAutoNum type="alphaLcPeriod"/>
            </a:pPr>
            <a:r>
              <a:rPr lang="en-GB" sz="1600" b="1" dirty="0"/>
              <a:t>Significant computational power</a:t>
            </a:r>
            <a:r>
              <a:rPr lang="en-GB" sz="1600" dirty="0"/>
              <a:t>, often involving GPUs or TPUs, especially for deep GAN architectures like StyleGAN or </a:t>
            </a:r>
            <a:r>
              <a:rPr lang="en-GB" sz="1600" dirty="0" err="1"/>
              <a:t>BigGAN</a:t>
            </a:r>
            <a:r>
              <a:rPr lang="en-GB" sz="1600" dirty="0"/>
              <a:t>.</a:t>
            </a:r>
          </a:p>
          <a:p>
            <a:r>
              <a:rPr lang="en-GB" sz="1600" dirty="0"/>
              <a:t>This limits their use in low-resource environments or for applications with limited training data.</a:t>
            </a:r>
          </a:p>
        </p:txBody>
      </p:sp>
    </p:spTree>
    <p:extLst>
      <p:ext uri="{BB962C8B-B14F-4D97-AF65-F5344CB8AC3E}">
        <p14:creationId xmlns:p14="http://schemas.microsoft.com/office/powerpoint/2010/main" val="3780060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5CA7E77-51E1-009F-E162-DCA4E01C09B5}"/>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FE88021F-75F5-28AC-D4EA-949188EE757C}"/>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Autofit/>
          </a:bodyPr>
          <a:lstStyle/>
          <a:p>
            <a:r>
              <a:rPr lang="en-GB" sz="2400" b="1" dirty="0"/>
              <a:t>Strategies and Variants to Overcome GAN Limitations</a:t>
            </a:r>
            <a:br>
              <a:rPr lang="en-GB" sz="2400" b="1" dirty="0"/>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510E6DF9-B537-3C62-B4E7-661EC84E5572}"/>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598597F9-58F8-D7DA-595E-4D81689592E4}"/>
              </a:ext>
            </a:extLst>
          </p:cNvPr>
          <p:cNvSpPr txBox="1"/>
          <p:nvPr/>
        </p:nvSpPr>
        <p:spPr>
          <a:xfrm>
            <a:off x="215760" y="490457"/>
            <a:ext cx="7394640" cy="4401205"/>
          </a:xfrm>
          <a:prstGeom prst="rect">
            <a:avLst/>
          </a:prstGeom>
          <a:noFill/>
        </p:spPr>
        <p:txBody>
          <a:bodyPr wrap="square">
            <a:spAutoFit/>
          </a:bodyPr>
          <a:lstStyle/>
          <a:p>
            <a:pPr>
              <a:buNone/>
            </a:pPr>
            <a:r>
              <a:rPr lang="en-GB" dirty="0"/>
              <a:t>Researchers have proposed various </a:t>
            </a:r>
            <a:r>
              <a:rPr lang="en-GB" b="1" dirty="0"/>
              <a:t>modifications and architectural improvements</a:t>
            </a:r>
            <a:r>
              <a:rPr lang="en-GB" dirty="0"/>
              <a:t> to tackle the challenges of training GANs effectively:</a:t>
            </a:r>
          </a:p>
          <a:p>
            <a:pPr>
              <a:buNone/>
            </a:pPr>
            <a:r>
              <a:rPr lang="en-GB" b="1" dirty="0"/>
              <a:t>1. Wasserstein GAN (WGAN)</a:t>
            </a:r>
          </a:p>
          <a:p>
            <a:pPr>
              <a:buNone/>
            </a:pPr>
            <a:r>
              <a:rPr lang="en-GB" dirty="0"/>
              <a:t>To address </a:t>
            </a:r>
            <a:r>
              <a:rPr lang="en-GB" b="1" dirty="0"/>
              <a:t>training instability</a:t>
            </a:r>
            <a:r>
              <a:rPr lang="en-GB" dirty="0"/>
              <a:t> and </a:t>
            </a:r>
            <a:r>
              <a:rPr lang="en-GB" b="1" dirty="0"/>
              <a:t>mode collapse</a:t>
            </a:r>
            <a:r>
              <a:rPr lang="en-GB" dirty="0"/>
              <a:t>, the </a:t>
            </a:r>
            <a:r>
              <a:rPr lang="en-GB" b="1" dirty="0"/>
              <a:t>Wasserstein GAN</a:t>
            </a:r>
            <a:r>
              <a:rPr lang="en-GB" dirty="0"/>
              <a:t> replaces the traditional loss function with the </a:t>
            </a:r>
            <a:r>
              <a:rPr lang="en-GB" b="1" dirty="0"/>
              <a:t>Wasserstein distance (Earth Mover's Distance)</a:t>
            </a:r>
            <a:r>
              <a:rPr lang="en-GB" dirty="0"/>
              <a:t>, providing a smoother and more meaningful gradient signal.</a:t>
            </a:r>
          </a:p>
          <a:p>
            <a:pPr>
              <a:buNone/>
            </a:pPr>
            <a:r>
              <a:rPr lang="en-GB" b="1" dirty="0"/>
              <a:t>Benefits</a:t>
            </a:r>
            <a:r>
              <a:rPr lang="en-GB" dirty="0"/>
              <a:t>:</a:t>
            </a:r>
          </a:p>
          <a:p>
            <a:pPr>
              <a:buFont typeface="Arial" panose="020B0604020202020204" pitchFamily="34" charset="0"/>
              <a:buChar char="•"/>
            </a:pPr>
            <a:r>
              <a:rPr lang="en-GB" dirty="0"/>
              <a:t>More stable training.</a:t>
            </a:r>
          </a:p>
          <a:p>
            <a:pPr>
              <a:buFont typeface="Arial" panose="020B0604020202020204" pitchFamily="34" charset="0"/>
              <a:buChar char="•"/>
            </a:pPr>
            <a:r>
              <a:rPr lang="en-GB" dirty="0"/>
              <a:t>Improved convergence </a:t>
            </a:r>
            <a:r>
              <a:rPr lang="en-GB" dirty="0" err="1"/>
              <a:t>behavior</a:t>
            </a:r>
            <a:r>
              <a:rPr lang="en-GB" dirty="0"/>
              <a:t>.</a:t>
            </a:r>
          </a:p>
          <a:p>
            <a:pPr>
              <a:buFont typeface="Arial" panose="020B0604020202020204" pitchFamily="34" charset="0"/>
              <a:buChar char="•"/>
            </a:pPr>
            <a:r>
              <a:rPr lang="en-GB" dirty="0"/>
              <a:t>Better correlation between loss value and image quality.</a:t>
            </a:r>
          </a:p>
          <a:p>
            <a:pPr>
              <a:buNone/>
            </a:pPr>
            <a:r>
              <a:rPr lang="en-GB" b="1" dirty="0"/>
              <a:t>Improvement</a:t>
            </a:r>
            <a:r>
              <a:rPr lang="en-GB" dirty="0"/>
              <a:t>:</a:t>
            </a:r>
            <a:br>
              <a:rPr lang="en-GB" dirty="0"/>
            </a:br>
            <a:r>
              <a:rPr lang="en-GB" dirty="0"/>
              <a:t>Later versions like </a:t>
            </a:r>
            <a:r>
              <a:rPr lang="en-GB" b="1" dirty="0"/>
              <a:t>WGAN-GP (Gradient Penalty)</a:t>
            </a:r>
            <a:r>
              <a:rPr lang="en-GB" dirty="0"/>
              <a:t> added regularization to enforce the Lipschitz constraint without weight clipping.</a:t>
            </a:r>
          </a:p>
          <a:p>
            <a:pPr>
              <a:buNone/>
            </a:pPr>
            <a:r>
              <a:rPr lang="en-GB" b="1" dirty="0"/>
              <a:t>2. Mini-batch Discrimination</a:t>
            </a:r>
          </a:p>
          <a:p>
            <a:pPr>
              <a:buNone/>
            </a:pPr>
            <a:r>
              <a:rPr lang="en-GB" dirty="0"/>
              <a:t>This technique reduces </a:t>
            </a:r>
            <a:r>
              <a:rPr lang="en-GB" b="1" dirty="0"/>
              <a:t>mode collapse</a:t>
            </a:r>
            <a:r>
              <a:rPr lang="en-GB" dirty="0"/>
              <a:t> by enabling the </a:t>
            </a:r>
            <a:r>
              <a:rPr lang="en-GB" b="1" dirty="0"/>
              <a:t>discriminator to look at a batch of samples together</a:t>
            </a:r>
            <a:r>
              <a:rPr lang="en-GB" dirty="0"/>
              <a:t> instead of independently.</a:t>
            </a:r>
          </a:p>
          <a:p>
            <a:pPr>
              <a:buNone/>
            </a:pPr>
            <a:r>
              <a:rPr lang="en-GB" b="1" dirty="0"/>
              <a:t>How it helps</a:t>
            </a:r>
            <a:r>
              <a:rPr lang="en-GB" dirty="0"/>
              <a:t>:</a:t>
            </a:r>
          </a:p>
          <a:p>
            <a:pPr>
              <a:buFont typeface="Arial" panose="020B0604020202020204" pitchFamily="34" charset="0"/>
              <a:buChar char="•"/>
            </a:pPr>
            <a:r>
              <a:rPr lang="en-GB" dirty="0"/>
              <a:t>Encourages the generator to produce a diverse set of outputs within a mini-batch.</a:t>
            </a:r>
          </a:p>
          <a:p>
            <a:pPr>
              <a:buFont typeface="Arial" panose="020B0604020202020204" pitchFamily="34" charset="0"/>
              <a:buChar char="•"/>
            </a:pPr>
            <a:r>
              <a:rPr lang="en-GB" dirty="0"/>
              <a:t>Penalizes the generator if it generates samples that are too similar.</a:t>
            </a:r>
          </a:p>
          <a:p>
            <a:pPr>
              <a:buNone/>
            </a:pPr>
            <a:endParaRPr lang="en-GB" dirty="0"/>
          </a:p>
        </p:txBody>
      </p:sp>
    </p:spTree>
    <p:extLst>
      <p:ext uri="{BB962C8B-B14F-4D97-AF65-F5344CB8AC3E}">
        <p14:creationId xmlns:p14="http://schemas.microsoft.com/office/powerpoint/2010/main" val="4962475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2B86A99-B047-DC10-0B26-A613B9942C31}"/>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32EC273E-4BDE-8EF3-9946-342AA692CCF5}"/>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Autofit/>
          </a:bodyPr>
          <a:lstStyle/>
          <a:p>
            <a:r>
              <a:rPr lang="en-GB" sz="2400" b="1" dirty="0"/>
              <a:t>Strategies and Variants to Overcome GAN Limitations</a:t>
            </a:r>
            <a:br>
              <a:rPr lang="en-GB" sz="2400" b="1" dirty="0"/>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5E343A01-2820-E3F8-AAE0-DC4CECA3950C}"/>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5ECA3819-7AE6-6F57-AD88-AE960AFC1C9E}"/>
              </a:ext>
            </a:extLst>
          </p:cNvPr>
          <p:cNvSpPr txBox="1"/>
          <p:nvPr/>
        </p:nvSpPr>
        <p:spPr>
          <a:xfrm>
            <a:off x="215760" y="490457"/>
            <a:ext cx="7394640" cy="4832092"/>
          </a:xfrm>
          <a:prstGeom prst="rect">
            <a:avLst/>
          </a:prstGeom>
          <a:noFill/>
        </p:spPr>
        <p:txBody>
          <a:bodyPr wrap="square">
            <a:spAutoFit/>
          </a:bodyPr>
          <a:lstStyle/>
          <a:p>
            <a:pPr>
              <a:buNone/>
            </a:pPr>
            <a:r>
              <a:rPr lang="en-GB" b="1" dirty="0"/>
              <a:t>3. Unrolled GANs</a:t>
            </a:r>
          </a:p>
          <a:p>
            <a:pPr>
              <a:buNone/>
            </a:pPr>
            <a:r>
              <a:rPr lang="en-GB" dirty="0"/>
              <a:t>Unrolled GANs help stabilize training by simulating several updates of the discriminator ahead of time.</a:t>
            </a:r>
          </a:p>
          <a:p>
            <a:pPr>
              <a:buNone/>
            </a:pPr>
            <a:r>
              <a:rPr lang="en-GB" b="1" dirty="0"/>
              <a:t>Key idea</a:t>
            </a:r>
            <a:r>
              <a:rPr lang="en-GB" dirty="0"/>
              <a:t>:</a:t>
            </a:r>
          </a:p>
          <a:p>
            <a:pPr>
              <a:buFont typeface="Arial" panose="020B0604020202020204" pitchFamily="34" charset="0"/>
              <a:buChar char="•"/>
            </a:pPr>
            <a:r>
              <a:rPr lang="en-GB" dirty="0"/>
              <a:t>During generator updates, unroll the discriminator for a few steps to provide a more </a:t>
            </a:r>
            <a:r>
              <a:rPr lang="en-GB" b="1" dirty="0"/>
              <a:t>responsive gradient</a:t>
            </a:r>
            <a:r>
              <a:rPr lang="en-GB" dirty="0"/>
              <a:t> signal.</a:t>
            </a:r>
          </a:p>
          <a:p>
            <a:pPr>
              <a:buFont typeface="Arial" panose="020B0604020202020204" pitchFamily="34" charset="0"/>
              <a:buChar char="•"/>
            </a:pPr>
            <a:r>
              <a:rPr lang="en-GB" dirty="0"/>
              <a:t>Reduces training instability and mode collapse.</a:t>
            </a:r>
          </a:p>
          <a:p>
            <a:pPr>
              <a:buNone/>
            </a:pPr>
            <a:r>
              <a:rPr lang="en-GB" b="1" dirty="0"/>
              <a:t>4. Spectral Normalization</a:t>
            </a:r>
          </a:p>
          <a:p>
            <a:pPr>
              <a:buNone/>
            </a:pPr>
            <a:r>
              <a:rPr lang="en-GB" dirty="0"/>
              <a:t>Proposed as a regularization technique to improve </a:t>
            </a:r>
            <a:r>
              <a:rPr lang="en-GB" b="1" dirty="0"/>
              <a:t>discriminator stability</a:t>
            </a:r>
            <a:r>
              <a:rPr lang="en-GB" dirty="0"/>
              <a:t>, spectral normalization constrains the </a:t>
            </a:r>
            <a:r>
              <a:rPr lang="en-GB" b="1" dirty="0"/>
              <a:t>Lipschitz constant</a:t>
            </a:r>
            <a:r>
              <a:rPr lang="en-GB" dirty="0"/>
              <a:t> of the discriminator.</a:t>
            </a:r>
          </a:p>
          <a:p>
            <a:pPr>
              <a:buNone/>
            </a:pPr>
            <a:r>
              <a:rPr lang="en-GB" b="1" dirty="0"/>
              <a:t>Result</a:t>
            </a:r>
            <a:r>
              <a:rPr lang="en-GB" dirty="0"/>
              <a:t>:</a:t>
            </a:r>
          </a:p>
          <a:p>
            <a:pPr>
              <a:buFont typeface="Arial" panose="020B0604020202020204" pitchFamily="34" charset="0"/>
              <a:buChar char="•"/>
            </a:pPr>
            <a:r>
              <a:rPr lang="en-GB" dirty="0"/>
              <a:t>Smoother gradients.</a:t>
            </a:r>
          </a:p>
          <a:p>
            <a:pPr>
              <a:buFont typeface="Arial" panose="020B0604020202020204" pitchFamily="34" charset="0"/>
              <a:buChar char="•"/>
            </a:pPr>
            <a:r>
              <a:rPr lang="en-GB" dirty="0"/>
              <a:t>Prevents discriminator from overpowering the generator.</a:t>
            </a:r>
          </a:p>
          <a:p>
            <a:pPr>
              <a:buFont typeface="Arial" panose="020B0604020202020204" pitchFamily="34" charset="0"/>
              <a:buChar char="•"/>
            </a:pPr>
            <a:r>
              <a:rPr lang="en-GB" dirty="0"/>
              <a:t>Encourages more stable learning dynamics.</a:t>
            </a:r>
          </a:p>
          <a:p>
            <a:pPr>
              <a:buNone/>
            </a:pPr>
            <a:r>
              <a:rPr lang="en-GB" b="1" dirty="0"/>
              <a:t>5. Progressive Growing of GANs (PGGAN)</a:t>
            </a:r>
          </a:p>
          <a:p>
            <a:pPr>
              <a:buNone/>
            </a:pPr>
            <a:r>
              <a:rPr lang="en-GB" dirty="0"/>
              <a:t>Instead of training on full-sized images from the beginning, </a:t>
            </a:r>
            <a:r>
              <a:rPr lang="en-GB" b="1" dirty="0"/>
              <a:t>PGGAN</a:t>
            </a:r>
            <a:r>
              <a:rPr lang="en-GB" dirty="0"/>
              <a:t> gradually increases the resolution of generated images during training.</a:t>
            </a:r>
          </a:p>
          <a:p>
            <a:pPr>
              <a:buNone/>
            </a:pPr>
            <a:r>
              <a:rPr lang="en-GB" b="1" dirty="0"/>
              <a:t>Advantages</a:t>
            </a:r>
            <a:r>
              <a:rPr lang="en-GB" dirty="0"/>
              <a:t>:</a:t>
            </a:r>
          </a:p>
          <a:p>
            <a:pPr>
              <a:buFont typeface="Arial" panose="020B0604020202020204" pitchFamily="34" charset="0"/>
              <a:buChar char="•"/>
            </a:pPr>
            <a:r>
              <a:rPr lang="en-GB" dirty="0"/>
              <a:t>Improves training stability.</a:t>
            </a:r>
          </a:p>
          <a:p>
            <a:pPr>
              <a:buFont typeface="Arial" panose="020B0604020202020204" pitchFamily="34" charset="0"/>
              <a:buChar char="•"/>
            </a:pPr>
            <a:r>
              <a:rPr lang="en-GB" dirty="0"/>
              <a:t>Generates high-resolution, photorealistic images (used in face generation, e.g., StyleGAN).</a:t>
            </a:r>
          </a:p>
          <a:p>
            <a:pPr>
              <a:buFont typeface="Arial" panose="020B0604020202020204" pitchFamily="34" charset="0"/>
              <a:buChar char="•"/>
            </a:pPr>
            <a:r>
              <a:rPr lang="en-GB" dirty="0"/>
              <a:t>Reduces computational burden in early training phases.</a:t>
            </a:r>
          </a:p>
          <a:p>
            <a:pPr>
              <a:buNone/>
            </a:pPr>
            <a:endParaRPr lang="en-GB" dirty="0"/>
          </a:p>
        </p:txBody>
      </p:sp>
    </p:spTree>
    <p:extLst>
      <p:ext uri="{BB962C8B-B14F-4D97-AF65-F5344CB8AC3E}">
        <p14:creationId xmlns:p14="http://schemas.microsoft.com/office/powerpoint/2010/main" val="3777644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BBFDCEFE-BA92-1B0B-2981-C3DBB638299B}"/>
            </a:ext>
          </a:extLst>
        </p:cNvPr>
        <p:cNvGrpSpPr/>
        <p:nvPr/>
      </p:nvGrpSpPr>
      <p:grpSpPr>
        <a:xfrm>
          <a:off x="0" y="0"/>
          <a:ext cx="0" cy="0"/>
          <a:chOff x="0" y="0"/>
          <a:chExt cx="0" cy="0"/>
        </a:xfrm>
      </p:grpSpPr>
      <p:sp>
        <p:nvSpPr>
          <p:cNvPr id="61" name="Google Shape;61;p4">
            <a:extLst>
              <a:ext uri="{FF2B5EF4-FFF2-40B4-BE49-F238E27FC236}">
                <a16:creationId xmlns:a16="http://schemas.microsoft.com/office/drawing/2014/main" id="{2E8FBC51-46AE-3A7B-1DF2-C26129059DF2}"/>
              </a:ext>
            </a:extLst>
          </p:cNvPr>
          <p:cNvSpPr txBox="1">
            <a:spLocks noGrp="1"/>
          </p:cNvSpPr>
          <p:nvPr>
            <p:ph type="title"/>
          </p:nvPr>
        </p:nvSpPr>
        <p:spPr>
          <a:xfrm>
            <a:off x="0" y="86064"/>
            <a:ext cx="8736825" cy="627900"/>
          </a:xfrm>
          <a:prstGeom prst="rect">
            <a:avLst/>
          </a:prstGeom>
          <a:noFill/>
          <a:ln>
            <a:noFill/>
          </a:ln>
        </p:spPr>
        <p:txBody>
          <a:bodyPr spcFirstLastPara="1" wrap="square" lIns="91425" tIns="91425" rIns="91425" bIns="91425" anchor="t" anchorCtr="0">
            <a:noAutofit/>
          </a:bodyPr>
          <a:lstStyle/>
          <a:p>
            <a:r>
              <a:rPr lang="en-GB" sz="2400" b="1" dirty="0"/>
              <a:t>Strategies and Variants to Overcome GAN Limitations</a:t>
            </a:r>
            <a:br>
              <a:rPr lang="en-GB" sz="2400" b="1" dirty="0"/>
            </a:br>
            <a:br>
              <a:rPr lang="en-GB" sz="2400" b="1" i="0" u="none" strike="noStrike" dirty="0">
                <a:solidFill>
                  <a:srgbClr val="7030A0"/>
                </a:solidFill>
                <a:effectLst/>
              </a:rPr>
            </a:br>
            <a:br>
              <a:rPr lang="en-GB" sz="2400" b="1" i="0" u="none" strike="noStrike" dirty="0">
                <a:solidFill>
                  <a:srgbClr val="7030A0"/>
                </a:solidFill>
                <a:effectLst/>
              </a:rPr>
            </a:br>
            <a:endParaRPr lang="en-GB" sz="2400" b="0" i="0" u="none" strike="noStrike" dirty="0">
              <a:solidFill>
                <a:srgbClr val="7030A0"/>
              </a:solidFill>
              <a:effectLst/>
            </a:endParaRPr>
          </a:p>
        </p:txBody>
      </p:sp>
      <p:sp>
        <p:nvSpPr>
          <p:cNvPr id="4" name="AutoShape 2" descr="Optimized Python with Numba library">
            <a:extLst>
              <a:ext uri="{FF2B5EF4-FFF2-40B4-BE49-F238E27FC236}">
                <a16:creationId xmlns:a16="http://schemas.microsoft.com/office/drawing/2014/main" id="{804B46E2-F553-28F5-72D6-F142DCDFC9D5}"/>
              </a:ext>
            </a:extLst>
          </p:cNvPr>
          <p:cNvSpPr>
            <a:spLocks noChangeAspect="1" noChangeArrowheads="1"/>
          </p:cNvSpPr>
          <p:nvPr/>
        </p:nvSpPr>
        <p:spPr bwMode="auto">
          <a:xfrm>
            <a:off x="2960866" y="1871317"/>
            <a:ext cx="3771900" cy="2159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4DB4906D-291F-DDBD-4DE2-564A8E187E1E}"/>
              </a:ext>
            </a:extLst>
          </p:cNvPr>
          <p:cNvSpPr txBox="1"/>
          <p:nvPr/>
        </p:nvSpPr>
        <p:spPr>
          <a:xfrm>
            <a:off x="215760" y="648857"/>
            <a:ext cx="7394640" cy="3539430"/>
          </a:xfrm>
          <a:prstGeom prst="rect">
            <a:avLst/>
          </a:prstGeom>
          <a:noFill/>
        </p:spPr>
        <p:txBody>
          <a:bodyPr wrap="square">
            <a:spAutoFit/>
          </a:bodyPr>
          <a:lstStyle/>
          <a:p>
            <a:pPr>
              <a:buNone/>
            </a:pPr>
            <a:r>
              <a:rPr lang="en-GB" sz="1600" b="1" dirty="0"/>
              <a:t>6. Conditional GANs (</a:t>
            </a:r>
            <a:r>
              <a:rPr lang="en-GB" sz="1600" b="1" dirty="0" err="1"/>
              <a:t>cGANs</a:t>
            </a:r>
            <a:r>
              <a:rPr lang="en-GB" sz="1600" b="1" dirty="0"/>
              <a:t>)</a:t>
            </a:r>
          </a:p>
          <a:p>
            <a:pPr>
              <a:buNone/>
            </a:pPr>
            <a:r>
              <a:rPr lang="en-GB" sz="1600" dirty="0"/>
              <a:t>To improve control and </a:t>
            </a:r>
            <a:r>
              <a:rPr lang="en-GB" sz="1600" b="1" dirty="0"/>
              <a:t>interpretability</a:t>
            </a:r>
            <a:r>
              <a:rPr lang="en-GB" sz="1600" dirty="0"/>
              <a:t>, </a:t>
            </a:r>
            <a:r>
              <a:rPr lang="en-GB" sz="1600" dirty="0" err="1"/>
              <a:t>cGANs</a:t>
            </a:r>
            <a:r>
              <a:rPr lang="en-GB" sz="1600" dirty="0"/>
              <a:t> condition the generation process on external data (e.g., class labels).</a:t>
            </a:r>
          </a:p>
          <a:p>
            <a:pPr>
              <a:buNone/>
            </a:pPr>
            <a:r>
              <a:rPr lang="en-GB" sz="1600" b="1" dirty="0"/>
              <a:t>Applications</a:t>
            </a:r>
            <a:r>
              <a:rPr lang="en-GB" sz="1600" dirty="0"/>
              <a:t>:</a:t>
            </a:r>
          </a:p>
          <a:p>
            <a:pPr>
              <a:buFont typeface="Arial" panose="020B0604020202020204" pitchFamily="34" charset="0"/>
              <a:buChar char="•"/>
            </a:pPr>
            <a:r>
              <a:rPr lang="en-GB" sz="1600" dirty="0"/>
              <a:t>Generate specific categories (e.g., digits, cats, or faces).</a:t>
            </a:r>
          </a:p>
          <a:p>
            <a:pPr>
              <a:buFont typeface="Arial" panose="020B0604020202020204" pitchFamily="34" charset="0"/>
              <a:buChar char="•"/>
            </a:pPr>
            <a:r>
              <a:rPr lang="en-GB" sz="1600" dirty="0"/>
              <a:t>Enables </a:t>
            </a:r>
            <a:r>
              <a:rPr lang="en-GB" sz="1600" b="1" dirty="0"/>
              <a:t>class-conditional generation</a:t>
            </a:r>
            <a:r>
              <a:rPr lang="en-GB" sz="1600" dirty="0"/>
              <a:t> and improved diversity.</a:t>
            </a:r>
          </a:p>
          <a:p>
            <a:pPr>
              <a:buNone/>
            </a:pPr>
            <a:r>
              <a:rPr lang="en-GB" sz="1600" b="1" dirty="0"/>
              <a:t>7. StyleGAN and StyleGAN2</a:t>
            </a:r>
          </a:p>
          <a:p>
            <a:pPr>
              <a:buNone/>
            </a:pPr>
            <a:r>
              <a:rPr lang="en-GB" sz="1600" dirty="0"/>
              <a:t>StyleGAN architectures introduce </a:t>
            </a:r>
            <a:r>
              <a:rPr lang="en-GB" sz="1600" b="1" dirty="0"/>
              <a:t>style-based generation</a:t>
            </a:r>
            <a:r>
              <a:rPr lang="en-GB" sz="1600" dirty="0"/>
              <a:t>, allowing </a:t>
            </a:r>
            <a:r>
              <a:rPr lang="en-GB" sz="1600" b="1" dirty="0"/>
              <a:t>finer control over features</a:t>
            </a:r>
            <a:r>
              <a:rPr lang="en-GB" sz="1600" dirty="0"/>
              <a:t> like facial expressions, hair </a:t>
            </a:r>
            <a:r>
              <a:rPr lang="en-GB" sz="1600" dirty="0" err="1"/>
              <a:t>color</a:t>
            </a:r>
            <a:r>
              <a:rPr lang="en-GB" sz="1600" dirty="0"/>
              <a:t>, and pose.</a:t>
            </a:r>
          </a:p>
          <a:p>
            <a:pPr>
              <a:buNone/>
            </a:pPr>
            <a:r>
              <a:rPr lang="en-GB" sz="1600" b="1" dirty="0"/>
              <a:t>Notable innovations</a:t>
            </a:r>
            <a:r>
              <a:rPr lang="en-GB" sz="1600" dirty="0"/>
              <a:t>:</a:t>
            </a:r>
          </a:p>
          <a:p>
            <a:pPr>
              <a:buFont typeface="Arial" panose="020B0604020202020204" pitchFamily="34" charset="0"/>
              <a:buChar char="•"/>
            </a:pPr>
            <a:r>
              <a:rPr lang="en-GB" sz="1600" dirty="0"/>
              <a:t>Adaptive instance normalization (</a:t>
            </a:r>
            <a:r>
              <a:rPr lang="en-GB" sz="1600" dirty="0" err="1"/>
              <a:t>AdaIN</a:t>
            </a:r>
            <a:r>
              <a:rPr lang="en-GB" sz="1600" dirty="0"/>
              <a:t>).</a:t>
            </a:r>
          </a:p>
          <a:p>
            <a:pPr>
              <a:buFont typeface="Arial" panose="020B0604020202020204" pitchFamily="34" charset="0"/>
              <a:buChar char="•"/>
            </a:pPr>
            <a:r>
              <a:rPr lang="en-GB" sz="1600" dirty="0"/>
              <a:t>Better disentanglement of high-level visual attributes.</a:t>
            </a:r>
          </a:p>
          <a:p>
            <a:pPr>
              <a:buFont typeface="Arial" panose="020B0604020202020204" pitchFamily="34" charset="0"/>
              <a:buChar char="•"/>
            </a:pPr>
            <a:r>
              <a:rPr lang="en-GB" sz="1600" dirty="0"/>
              <a:t>Generates state-of-the-art images (used in deepfakes, avatars).</a:t>
            </a:r>
          </a:p>
          <a:p>
            <a:pPr>
              <a:buNone/>
            </a:pPr>
            <a:endParaRPr lang="en-GB" sz="1600" dirty="0"/>
          </a:p>
        </p:txBody>
      </p:sp>
    </p:spTree>
    <p:extLst>
      <p:ext uri="{BB962C8B-B14F-4D97-AF65-F5344CB8AC3E}">
        <p14:creationId xmlns:p14="http://schemas.microsoft.com/office/powerpoint/2010/main" val="20752844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7"/>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Hands On Exercise </a:t>
            </a:r>
            <a:br>
              <a:rPr lang="en-GB" sz="3200" dirty="0"/>
            </a:br>
            <a:endParaRPr lang="en-GB" sz="3200" dirty="0"/>
          </a:p>
        </p:txBody>
      </p:sp>
      <p:sp>
        <p:nvSpPr>
          <p:cNvPr id="3" name="TextBox 2">
            <a:extLst>
              <a:ext uri="{FF2B5EF4-FFF2-40B4-BE49-F238E27FC236}">
                <a16:creationId xmlns:a16="http://schemas.microsoft.com/office/drawing/2014/main" id="{FD29B7B1-87C3-1A19-1CD5-4DC342054D89}"/>
              </a:ext>
            </a:extLst>
          </p:cNvPr>
          <p:cNvSpPr txBox="1"/>
          <p:nvPr/>
        </p:nvSpPr>
        <p:spPr>
          <a:xfrm>
            <a:off x="182139" y="1334239"/>
            <a:ext cx="4649490" cy="1631216"/>
          </a:xfrm>
          <a:prstGeom prst="rect">
            <a:avLst/>
          </a:prstGeom>
          <a:noFill/>
        </p:spPr>
        <p:txBody>
          <a:bodyPr wrap="square">
            <a:spAutoFit/>
          </a:bodyPr>
          <a:lstStyle/>
          <a:p>
            <a:pPr algn="ctr"/>
            <a:r>
              <a:rPr lang="en-GB" sz="2000" dirty="0">
                <a:hlinkClick r:id="rId4"/>
              </a:rPr>
              <a:t>Click Here For The Implementation on Google Colab</a:t>
            </a:r>
            <a:endParaRPr lang="en-GB" sz="2000" dirty="0"/>
          </a:p>
          <a:p>
            <a:pPr algn="ctr"/>
            <a:r>
              <a:rPr lang="en-GB" sz="2000" dirty="0"/>
              <a:t>https://</a:t>
            </a:r>
            <a:r>
              <a:rPr lang="en-GB" sz="2000" dirty="0" err="1"/>
              <a:t>drive.google.com</a:t>
            </a:r>
            <a:r>
              <a:rPr lang="en-GB" sz="2000" dirty="0"/>
              <a:t>/file/d/144LdLXIGlouWjXTOBsq6faM2YrEaSdeT/</a:t>
            </a:r>
            <a:r>
              <a:rPr lang="en-GB" sz="2000" dirty="0" err="1"/>
              <a:t>view?usp</a:t>
            </a:r>
            <a:r>
              <a:rPr lang="en-GB" sz="2000" dirty="0"/>
              <a:t>=</a:t>
            </a:r>
            <a:r>
              <a:rPr lang="en-GB" sz="2000" dirty="0" err="1"/>
              <a:t>share_link</a:t>
            </a:r>
            <a:endParaRPr lang="en-GB" sz="2000" dirty="0"/>
          </a:p>
        </p:txBody>
      </p:sp>
      <p:pic>
        <p:nvPicPr>
          <p:cNvPr id="4" name="Picture 3" descr="A computer with a screen on it&#10;&#10;AI-generated content may be incorrect.">
            <a:extLst>
              <a:ext uri="{FF2B5EF4-FFF2-40B4-BE49-F238E27FC236}">
                <a16:creationId xmlns:a16="http://schemas.microsoft.com/office/drawing/2014/main" id="{DFCACE6B-93A9-2C0B-6504-0868FF90065B}"/>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4792226" y="2037600"/>
            <a:ext cx="4091291" cy="272453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6FA"/>
        </a:solidFill>
        <a:effectLst/>
      </p:bgPr>
    </p:bg>
    <p:spTree>
      <p:nvGrpSpPr>
        <p:cNvPr id="1" name="Shape 83">
          <a:extLst>
            <a:ext uri="{FF2B5EF4-FFF2-40B4-BE49-F238E27FC236}">
              <a16:creationId xmlns:a16="http://schemas.microsoft.com/office/drawing/2014/main" id="{C7073A23-177A-F380-4E2C-BCE5184CC92A}"/>
            </a:ext>
          </a:extLst>
        </p:cNvPr>
        <p:cNvGrpSpPr/>
        <p:nvPr/>
      </p:nvGrpSpPr>
      <p:grpSpPr>
        <a:xfrm>
          <a:off x="0" y="0"/>
          <a:ext cx="0" cy="0"/>
          <a:chOff x="0" y="0"/>
          <a:chExt cx="0" cy="0"/>
        </a:xfrm>
      </p:grpSpPr>
      <p:pic>
        <p:nvPicPr>
          <p:cNvPr id="84" name="Google Shape;84;p7">
            <a:extLst>
              <a:ext uri="{FF2B5EF4-FFF2-40B4-BE49-F238E27FC236}">
                <a16:creationId xmlns:a16="http://schemas.microsoft.com/office/drawing/2014/main" id="{E3B61B0B-C8A6-4063-AA38-0D213B633718}"/>
              </a:ext>
            </a:extLst>
          </p:cNvPr>
          <p:cNvPicPr preferRelativeResize="0"/>
          <p:nvPr/>
        </p:nvPicPr>
        <p:blipFill rotWithShape="1">
          <a:blip r:embed="rId3">
            <a:alphaModFix amt="60000"/>
          </a:blip>
          <a:srcRect/>
          <a:stretch/>
        </p:blipFill>
        <p:spPr>
          <a:xfrm>
            <a:off x="3080321" y="122160"/>
            <a:ext cx="5408998" cy="2939569"/>
          </a:xfrm>
          <a:prstGeom prst="rect">
            <a:avLst/>
          </a:prstGeom>
          <a:noFill/>
          <a:ln>
            <a:noFill/>
          </a:ln>
        </p:spPr>
      </p:pic>
      <p:sp>
        <p:nvSpPr>
          <p:cNvPr id="85" name="Google Shape;85;p7">
            <a:extLst>
              <a:ext uri="{FF2B5EF4-FFF2-40B4-BE49-F238E27FC236}">
                <a16:creationId xmlns:a16="http://schemas.microsoft.com/office/drawing/2014/main" id="{CC369EC6-6544-C062-953A-68234137BAFF}"/>
              </a:ext>
            </a:extLst>
          </p:cNvPr>
          <p:cNvSpPr txBox="1">
            <a:spLocks noGrp="1"/>
          </p:cNvSpPr>
          <p:nvPr>
            <p:ph type="title"/>
          </p:nvPr>
        </p:nvSpPr>
        <p:spPr>
          <a:xfrm>
            <a:off x="872950" y="122160"/>
            <a:ext cx="6707400" cy="494528"/>
          </a:xfrm>
          <a:prstGeom prst="rect">
            <a:avLst/>
          </a:prstGeom>
          <a:noFill/>
          <a:ln>
            <a:noFill/>
          </a:ln>
        </p:spPr>
        <p:txBody>
          <a:bodyPr spcFirstLastPara="1" wrap="square" lIns="91425" tIns="91425" rIns="91425" bIns="91425" anchor="t" anchorCtr="0">
            <a:noAutofit/>
          </a:bodyPr>
          <a:lstStyle/>
          <a:p>
            <a:pPr rtl="0"/>
            <a:r>
              <a:rPr lang="en-GB" sz="3200" dirty="0"/>
              <a:t>Books and References</a:t>
            </a:r>
            <a:br>
              <a:rPr lang="en-GB" sz="3200" dirty="0"/>
            </a:br>
            <a:endParaRPr lang="en-GB" sz="3200" dirty="0"/>
          </a:p>
        </p:txBody>
      </p:sp>
      <p:sp>
        <p:nvSpPr>
          <p:cNvPr id="3" name="TextBox 2">
            <a:extLst>
              <a:ext uri="{FF2B5EF4-FFF2-40B4-BE49-F238E27FC236}">
                <a16:creationId xmlns:a16="http://schemas.microsoft.com/office/drawing/2014/main" id="{BD36E5C5-A4EC-A514-661D-B1E7567D531F}"/>
              </a:ext>
            </a:extLst>
          </p:cNvPr>
          <p:cNvSpPr txBox="1"/>
          <p:nvPr/>
        </p:nvSpPr>
        <p:spPr>
          <a:xfrm>
            <a:off x="755575" y="1098322"/>
            <a:ext cx="6931332" cy="3670236"/>
          </a:xfrm>
          <a:prstGeom prst="rect">
            <a:avLst/>
          </a:prstGeom>
          <a:noFill/>
        </p:spPr>
        <p:txBody>
          <a:bodyPr wrap="square">
            <a:spAutoFit/>
          </a:bodyPr>
          <a:lstStyle/>
          <a:p>
            <a:pPr marL="457200" indent="-457200" algn="l">
              <a:spcBef>
                <a:spcPts val="300"/>
              </a:spcBef>
              <a:buFont typeface="+mj-lt"/>
              <a:buAutoNum type="arabicPeriod"/>
            </a:pPr>
            <a:r>
              <a:rPr lang="en-GB" sz="2000" b="0" i="0" u="none" strike="noStrike" dirty="0">
                <a:solidFill>
                  <a:srgbClr val="404040"/>
                </a:solidFill>
                <a:effectLst/>
                <a:latin typeface="Inter" panose="02000503000000020004" pitchFamily="2" charset="0"/>
              </a:rPr>
              <a:t>"Neural Networks and Deep Learning" (Michael Nielsen)</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Deep Learning for Computer Vision (</a:t>
            </a:r>
            <a:r>
              <a:rPr lang="en-GB" sz="2000" b="0" i="0" u="none" strike="noStrike" dirty="0" err="1">
                <a:solidFill>
                  <a:srgbClr val="404040"/>
                </a:solidFill>
                <a:effectLst/>
                <a:latin typeface="Inter" panose="02000503000000020004" pitchFamily="2" charset="0"/>
              </a:rPr>
              <a:t>Rajalingappaa</a:t>
            </a:r>
            <a:r>
              <a:rPr lang="en-GB" sz="2000" b="0" i="0" u="none" strike="noStrike" dirty="0">
                <a:solidFill>
                  <a:srgbClr val="404040"/>
                </a:solidFill>
                <a:effectLst/>
                <a:latin typeface="Inter" panose="02000503000000020004" pitchFamily="2" charset="0"/>
              </a:rPr>
              <a:t> Shanmugamani)</a:t>
            </a:r>
          </a:p>
          <a:p>
            <a:pPr marL="457200" indent="-457200">
              <a:spcBef>
                <a:spcPts val="300"/>
              </a:spcBef>
              <a:buFont typeface="+mj-lt"/>
              <a:buAutoNum type="arabicPeriod"/>
            </a:pPr>
            <a:r>
              <a:rPr lang="en-GB" sz="2000" b="0" i="0" strike="noStrike" dirty="0">
                <a:solidFill>
                  <a:schemeClr val="tx1"/>
                </a:solidFill>
                <a:effectLst/>
                <a:latin typeface="Inter" panose="02000503000000020004" pitchFamily="2" charset="0"/>
                <a:hlinkClick r:id="rId4">
                  <a:extLst>
                    <a:ext uri="{A12FA001-AC4F-418D-AE19-62706E023703}">
                      <ahyp:hlinkClr xmlns:ahyp="http://schemas.microsoft.com/office/drawing/2018/hyperlinkcolor" val="tx"/>
                    </a:ext>
                  </a:extLst>
                </a:hlinkClick>
              </a:rPr>
              <a:t>https://www.geeksforgeeks.org/generative-adversarial-network-gan/</a:t>
            </a:r>
            <a:endParaRPr lang="en-GB" sz="2000" b="0" i="0" strike="noStrike" dirty="0">
              <a:solidFill>
                <a:schemeClr val="tx1"/>
              </a:solidFill>
              <a:effectLst/>
              <a:latin typeface="Inter" panose="02000503000000020004" pitchFamily="2" charset="0"/>
            </a:endParaRP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Goodfellow, I., Bengio, Y., &amp; Courville, A. (2016). Deep Learning. MIT Press.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Chollet, F. (2017). Deep Learning with Python. Manning Publications.</a:t>
            </a:r>
          </a:p>
          <a:p>
            <a:pPr marL="457200" indent="-457200">
              <a:spcBef>
                <a:spcPts val="300"/>
              </a:spcBef>
              <a:buFont typeface="+mj-lt"/>
              <a:buAutoNum type="arabicPeriod"/>
            </a:pPr>
            <a:r>
              <a:rPr lang="en-GB" sz="2000" b="0" i="0" u="none" strike="noStrike" dirty="0">
                <a:solidFill>
                  <a:srgbClr val="404040"/>
                </a:solidFill>
                <a:effectLst/>
                <a:latin typeface="Inter" panose="02000503000000020004" pitchFamily="2" charset="0"/>
              </a:rPr>
              <a:t>Hochreiter, S., &amp; </a:t>
            </a:r>
            <a:r>
              <a:rPr lang="en-GB" sz="2000" b="0" i="0" u="none" strike="noStrike" dirty="0" err="1">
                <a:solidFill>
                  <a:srgbClr val="404040"/>
                </a:solidFill>
                <a:effectLst/>
                <a:latin typeface="Inter" panose="02000503000000020004" pitchFamily="2" charset="0"/>
              </a:rPr>
              <a:t>Schmidhuber</a:t>
            </a:r>
            <a:r>
              <a:rPr lang="en-GB" sz="2000" b="0" i="0" u="none" strike="noStrike" dirty="0">
                <a:solidFill>
                  <a:srgbClr val="404040"/>
                </a:solidFill>
                <a:effectLst/>
                <a:latin typeface="Inter" panose="02000503000000020004" pitchFamily="2" charset="0"/>
              </a:rPr>
              <a:t>, J. (1997). Long Short-Term Memory. Neural Computation.</a:t>
            </a:r>
          </a:p>
        </p:txBody>
      </p:sp>
    </p:spTree>
    <p:extLst>
      <p:ext uri="{BB962C8B-B14F-4D97-AF65-F5344CB8AC3E}">
        <p14:creationId xmlns:p14="http://schemas.microsoft.com/office/powerpoint/2010/main" val="3740398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93"/>
        <p:cNvGrpSpPr/>
        <p:nvPr/>
      </p:nvGrpSpPr>
      <p:grpSpPr>
        <a:xfrm>
          <a:off x="0" y="0"/>
          <a:ext cx="0" cy="0"/>
          <a:chOff x="0" y="0"/>
          <a:chExt cx="0" cy="0"/>
        </a:xfrm>
      </p:grpSpPr>
      <p:pic>
        <p:nvPicPr>
          <p:cNvPr id="194" name="Google Shape;194;p20"/>
          <p:cNvPicPr preferRelativeResize="0"/>
          <p:nvPr/>
        </p:nvPicPr>
        <p:blipFill rotWithShape="1">
          <a:blip r:embed="rId3">
            <a:alphaModFix/>
          </a:blip>
          <a:srcRect l="8508"/>
          <a:stretch/>
        </p:blipFill>
        <p:spPr>
          <a:xfrm>
            <a:off x="6248550" y="1551586"/>
            <a:ext cx="1357692" cy="509366"/>
          </a:xfrm>
          <a:prstGeom prst="rect">
            <a:avLst/>
          </a:prstGeom>
          <a:noFill/>
          <a:ln>
            <a:noFill/>
          </a:ln>
        </p:spPr>
      </p:pic>
      <p:pic>
        <p:nvPicPr>
          <p:cNvPr id="195" name="Google Shape;195;p20"/>
          <p:cNvPicPr preferRelativeResize="0"/>
          <p:nvPr/>
        </p:nvPicPr>
        <p:blipFill rotWithShape="1">
          <a:blip r:embed="rId4">
            <a:alphaModFix/>
          </a:blip>
          <a:srcRect/>
          <a:stretch/>
        </p:blipFill>
        <p:spPr>
          <a:xfrm>
            <a:off x="1647216" y="2992069"/>
            <a:ext cx="995950" cy="405885"/>
          </a:xfrm>
          <a:prstGeom prst="rect">
            <a:avLst/>
          </a:prstGeom>
          <a:noFill/>
          <a:ln>
            <a:noFill/>
          </a:ln>
        </p:spPr>
      </p:pic>
      <p:pic>
        <p:nvPicPr>
          <p:cNvPr id="196" name="Google Shape;196;p20"/>
          <p:cNvPicPr preferRelativeResize="0"/>
          <p:nvPr/>
        </p:nvPicPr>
        <p:blipFill rotWithShape="1">
          <a:blip r:embed="rId5">
            <a:alphaModFix/>
          </a:blip>
          <a:srcRect/>
          <a:stretch/>
        </p:blipFill>
        <p:spPr>
          <a:xfrm>
            <a:off x="6319974" y="3081645"/>
            <a:ext cx="1214843" cy="226732"/>
          </a:xfrm>
          <a:prstGeom prst="rect">
            <a:avLst/>
          </a:prstGeom>
          <a:noFill/>
          <a:ln>
            <a:noFill/>
          </a:ln>
        </p:spPr>
      </p:pic>
      <p:pic>
        <p:nvPicPr>
          <p:cNvPr id="197" name="Google Shape;197;p20"/>
          <p:cNvPicPr preferRelativeResize="0"/>
          <p:nvPr/>
        </p:nvPicPr>
        <p:blipFill rotWithShape="1">
          <a:blip r:embed="rId6">
            <a:alphaModFix/>
          </a:blip>
          <a:srcRect l="11047" t="22524" r="11047" b="22523"/>
          <a:stretch/>
        </p:blipFill>
        <p:spPr>
          <a:xfrm>
            <a:off x="3316327" y="2249012"/>
            <a:ext cx="688702" cy="395541"/>
          </a:xfrm>
          <a:prstGeom prst="rect">
            <a:avLst/>
          </a:prstGeom>
          <a:noFill/>
          <a:ln>
            <a:noFill/>
          </a:ln>
        </p:spPr>
      </p:pic>
      <p:pic>
        <p:nvPicPr>
          <p:cNvPr id="198" name="Google Shape;198;p20"/>
          <p:cNvPicPr preferRelativeResize="0"/>
          <p:nvPr/>
        </p:nvPicPr>
        <p:blipFill rotWithShape="1">
          <a:blip r:embed="rId7">
            <a:alphaModFix/>
          </a:blip>
          <a:srcRect/>
          <a:stretch/>
        </p:blipFill>
        <p:spPr>
          <a:xfrm>
            <a:off x="6360782" y="2325188"/>
            <a:ext cx="1133228" cy="243189"/>
          </a:xfrm>
          <a:prstGeom prst="rect">
            <a:avLst/>
          </a:prstGeom>
          <a:noFill/>
          <a:ln>
            <a:noFill/>
          </a:ln>
        </p:spPr>
      </p:pic>
      <p:pic>
        <p:nvPicPr>
          <p:cNvPr id="199" name="Google Shape;199;p20"/>
          <p:cNvPicPr preferRelativeResize="0"/>
          <p:nvPr/>
        </p:nvPicPr>
        <p:blipFill rotWithShape="1">
          <a:blip r:embed="rId8">
            <a:alphaModFix/>
          </a:blip>
          <a:srcRect l="2114" t="19776" b="19777"/>
          <a:stretch/>
        </p:blipFill>
        <p:spPr>
          <a:xfrm>
            <a:off x="3094065" y="1608499"/>
            <a:ext cx="1133226" cy="395540"/>
          </a:xfrm>
          <a:prstGeom prst="rect">
            <a:avLst/>
          </a:prstGeom>
          <a:noFill/>
          <a:ln>
            <a:noFill/>
          </a:ln>
        </p:spPr>
      </p:pic>
      <p:pic>
        <p:nvPicPr>
          <p:cNvPr id="200" name="Google Shape;200;p20"/>
          <p:cNvPicPr preferRelativeResize="0"/>
          <p:nvPr/>
        </p:nvPicPr>
        <p:blipFill rotWithShape="1">
          <a:blip r:embed="rId9">
            <a:alphaModFix/>
          </a:blip>
          <a:srcRect/>
          <a:stretch/>
        </p:blipFill>
        <p:spPr>
          <a:xfrm>
            <a:off x="3183573" y="3074674"/>
            <a:ext cx="954210" cy="240673"/>
          </a:xfrm>
          <a:prstGeom prst="rect">
            <a:avLst/>
          </a:prstGeom>
          <a:noFill/>
          <a:ln>
            <a:noFill/>
          </a:ln>
        </p:spPr>
      </p:pic>
      <p:pic>
        <p:nvPicPr>
          <p:cNvPr id="201" name="Google Shape;201;p20" descr="Text&#10;&#10;Description automatically generated with low confidence"/>
          <p:cNvPicPr preferRelativeResize="0"/>
          <p:nvPr/>
        </p:nvPicPr>
        <p:blipFill rotWithShape="1">
          <a:blip r:embed="rId10">
            <a:alphaModFix/>
          </a:blip>
          <a:srcRect/>
          <a:stretch/>
        </p:blipFill>
        <p:spPr>
          <a:xfrm>
            <a:off x="4992620" y="3040838"/>
            <a:ext cx="750589" cy="308346"/>
          </a:xfrm>
          <a:prstGeom prst="rect">
            <a:avLst/>
          </a:prstGeom>
          <a:noFill/>
          <a:ln>
            <a:noFill/>
          </a:ln>
        </p:spPr>
      </p:pic>
      <p:pic>
        <p:nvPicPr>
          <p:cNvPr id="202" name="Google Shape;202;p20" descr="A red and black sign&#10;&#10;Description automatically generated with low confidence"/>
          <p:cNvPicPr preferRelativeResize="0"/>
          <p:nvPr/>
        </p:nvPicPr>
        <p:blipFill rotWithShape="1">
          <a:blip r:embed="rId11">
            <a:alphaModFix/>
          </a:blip>
          <a:srcRect/>
          <a:stretch/>
        </p:blipFill>
        <p:spPr>
          <a:xfrm>
            <a:off x="3183572" y="3696038"/>
            <a:ext cx="954213" cy="202631"/>
          </a:xfrm>
          <a:prstGeom prst="rect">
            <a:avLst/>
          </a:prstGeom>
          <a:noFill/>
          <a:ln>
            <a:noFill/>
          </a:ln>
        </p:spPr>
      </p:pic>
      <p:pic>
        <p:nvPicPr>
          <p:cNvPr id="203" name="Google Shape;203;p20" descr="A picture containing text, clipart, vector graphics&#10;&#10;Description automatically generated"/>
          <p:cNvPicPr preferRelativeResize="0"/>
          <p:nvPr/>
        </p:nvPicPr>
        <p:blipFill rotWithShape="1">
          <a:blip r:embed="rId12">
            <a:alphaModFix/>
          </a:blip>
          <a:srcRect/>
          <a:stretch/>
        </p:blipFill>
        <p:spPr>
          <a:xfrm>
            <a:off x="5018971" y="3677016"/>
            <a:ext cx="697888" cy="240674"/>
          </a:xfrm>
          <a:prstGeom prst="rect">
            <a:avLst/>
          </a:prstGeom>
          <a:noFill/>
          <a:ln>
            <a:noFill/>
          </a:ln>
        </p:spPr>
      </p:pic>
      <p:pic>
        <p:nvPicPr>
          <p:cNvPr id="204" name="Google Shape;204;p20"/>
          <p:cNvPicPr preferRelativeResize="0"/>
          <p:nvPr/>
        </p:nvPicPr>
        <p:blipFill rotWithShape="1">
          <a:blip r:embed="rId13">
            <a:alphaModFix/>
          </a:blip>
          <a:srcRect b="18915"/>
          <a:stretch/>
        </p:blipFill>
        <p:spPr>
          <a:xfrm>
            <a:off x="6450290" y="3643177"/>
            <a:ext cx="954212" cy="308352"/>
          </a:xfrm>
          <a:prstGeom prst="rect">
            <a:avLst/>
          </a:prstGeom>
          <a:noFill/>
          <a:ln>
            <a:noFill/>
          </a:ln>
        </p:spPr>
      </p:pic>
      <p:pic>
        <p:nvPicPr>
          <p:cNvPr id="205" name="Google Shape;205;p20"/>
          <p:cNvPicPr preferRelativeResize="0"/>
          <p:nvPr/>
        </p:nvPicPr>
        <p:blipFill rotWithShape="1">
          <a:blip r:embed="rId14">
            <a:alphaModFix/>
          </a:blip>
          <a:srcRect l="12270" t="12270" r="12262" b="12262"/>
          <a:stretch/>
        </p:blipFill>
        <p:spPr>
          <a:xfrm>
            <a:off x="3885746" y="4245539"/>
            <a:ext cx="1133228" cy="382770"/>
          </a:xfrm>
          <a:prstGeom prst="rect">
            <a:avLst/>
          </a:prstGeom>
          <a:noFill/>
          <a:ln>
            <a:noFill/>
          </a:ln>
        </p:spPr>
      </p:pic>
      <p:pic>
        <p:nvPicPr>
          <p:cNvPr id="206" name="Google Shape;206;p20"/>
          <p:cNvPicPr preferRelativeResize="0"/>
          <p:nvPr/>
        </p:nvPicPr>
        <p:blipFill rotWithShape="1">
          <a:blip r:embed="rId15">
            <a:alphaModFix/>
          </a:blip>
          <a:srcRect/>
          <a:stretch/>
        </p:blipFill>
        <p:spPr>
          <a:xfrm>
            <a:off x="1798086" y="3621493"/>
            <a:ext cx="694210" cy="351721"/>
          </a:xfrm>
          <a:prstGeom prst="rect">
            <a:avLst/>
          </a:prstGeom>
          <a:noFill/>
          <a:ln>
            <a:noFill/>
          </a:ln>
        </p:spPr>
      </p:pic>
      <p:pic>
        <p:nvPicPr>
          <p:cNvPr id="207" name="Google Shape;207;p20"/>
          <p:cNvPicPr preferRelativeResize="0"/>
          <p:nvPr/>
        </p:nvPicPr>
        <p:blipFill rotWithShape="1">
          <a:blip r:embed="rId16">
            <a:alphaModFix/>
          </a:blip>
          <a:srcRect t="18905" b="18904"/>
          <a:stretch/>
        </p:blipFill>
        <p:spPr>
          <a:xfrm>
            <a:off x="1537771" y="1614885"/>
            <a:ext cx="1214840" cy="382767"/>
          </a:xfrm>
          <a:prstGeom prst="rect">
            <a:avLst/>
          </a:prstGeom>
          <a:noFill/>
          <a:ln>
            <a:noFill/>
          </a:ln>
        </p:spPr>
      </p:pic>
      <p:pic>
        <p:nvPicPr>
          <p:cNvPr id="208" name="Google Shape;208;p20"/>
          <p:cNvPicPr preferRelativeResize="0"/>
          <p:nvPr/>
        </p:nvPicPr>
        <p:blipFill rotWithShape="1">
          <a:blip r:embed="rId17">
            <a:alphaModFix/>
          </a:blip>
          <a:srcRect l="2114" t="28897" b="28892"/>
          <a:stretch/>
        </p:blipFill>
        <p:spPr>
          <a:xfrm>
            <a:off x="4740627" y="1652095"/>
            <a:ext cx="1254574" cy="308347"/>
          </a:xfrm>
          <a:prstGeom prst="rect">
            <a:avLst/>
          </a:prstGeom>
          <a:noFill/>
          <a:ln>
            <a:noFill/>
          </a:ln>
        </p:spPr>
      </p:pic>
      <p:pic>
        <p:nvPicPr>
          <p:cNvPr id="209" name="Google Shape;209;p20"/>
          <p:cNvPicPr preferRelativeResize="0"/>
          <p:nvPr/>
        </p:nvPicPr>
        <p:blipFill rotWithShape="1">
          <a:blip r:embed="rId18">
            <a:alphaModFix/>
          </a:blip>
          <a:srcRect/>
          <a:stretch/>
        </p:blipFill>
        <p:spPr>
          <a:xfrm>
            <a:off x="4760495" y="2253777"/>
            <a:ext cx="1214839" cy="386012"/>
          </a:xfrm>
          <a:prstGeom prst="rect">
            <a:avLst/>
          </a:prstGeom>
          <a:noFill/>
          <a:ln>
            <a:noFill/>
          </a:ln>
        </p:spPr>
      </p:pic>
      <p:pic>
        <p:nvPicPr>
          <p:cNvPr id="210" name="Google Shape;210;p20"/>
          <p:cNvPicPr preferRelativeResize="0"/>
          <p:nvPr/>
        </p:nvPicPr>
        <p:blipFill rotWithShape="1">
          <a:blip r:embed="rId19">
            <a:alphaModFix/>
          </a:blip>
          <a:srcRect/>
          <a:stretch/>
        </p:blipFill>
        <p:spPr>
          <a:xfrm>
            <a:off x="1647215" y="2294778"/>
            <a:ext cx="995952" cy="304010"/>
          </a:xfrm>
          <a:prstGeom prst="rect">
            <a:avLst/>
          </a:prstGeom>
          <a:noFill/>
          <a:ln>
            <a:noFill/>
          </a:ln>
        </p:spPr>
      </p:pic>
      <p:sp>
        <p:nvSpPr>
          <p:cNvPr id="211" name="Google Shape;211;p20"/>
          <p:cNvSpPr txBox="1">
            <a:spLocks noGrp="1"/>
          </p:cNvSpPr>
          <p:nvPr>
            <p:ph type="title" idx="4294967295"/>
          </p:nvPr>
        </p:nvSpPr>
        <p:spPr>
          <a:xfrm>
            <a:off x="2079450" y="745725"/>
            <a:ext cx="6373800" cy="511500"/>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0"/>
              </a:spcBef>
              <a:spcAft>
                <a:spcPts val="0"/>
              </a:spcAft>
              <a:buSzPts val="990"/>
              <a:buNone/>
            </a:pPr>
            <a:r>
              <a:rPr lang="en-US">
                <a:solidFill>
                  <a:srgbClr val="4F29B6"/>
                </a:solidFill>
                <a:latin typeface="IBM Plex Sans Arabic SemiBold"/>
                <a:ea typeface="IBM Plex Sans Arabic SemiBold"/>
                <a:cs typeface="IBM Plex Sans Arabic SemiBold"/>
                <a:sym typeface="IBM Plex Sans Arabic SemiBold"/>
              </a:rPr>
              <a:t>الشراكات العالمية</a:t>
            </a:r>
            <a:endParaRPr>
              <a:solidFill>
                <a:srgbClr val="4F29B6"/>
              </a:solidFill>
              <a:latin typeface="IBM Plex Sans Arabic SemiBold"/>
              <a:ea typeface="IBM Plex Sans Arabic SemiBold"/>
              <a:cs typeface="IBM Plex Sans Arabic SemiBold"/>
              <a:sym typeface="IBM Plex Sans Arabic SemiBo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21"/>
          <p:cNvSpPr txBox="1">
            <a:spLocks noGrp="1"/>
          </p:cNvSpPr>
          <p:nvPr>
            <p:ph type="title"/>
          </p:nvPr>
        </p:nvSpPr>
        <p:spPr>
          <a:xfrm>
            <a:off x="5548225" y="2230950"/>
            <a:ext cx="3062100" cy="681600"/>
          </a:xfrm>
          <a:prstGeom prst="rect">
            <a:avLst/>
          </a:prstGeom>
          <a:noFill/>
          <a:ln>
            <a:noFill/>
          </a:ln>
        </p:spPr>
        <p:txBody>
          <a:bodyPr spcFirstLastPara="1" wrap="square" lIns="91425" tIns="91425" rIns="91425" bIns="91425" anchor="b" anchorCtr="0">
            <a:normAutofit fontScale="90000"/>
          </a:bodyPr>
          <a:lstStyle/>
          <a:p>
            <a:pPr marL="0" lvl="0" indent="0" algn="r" rtl="0">
              <a:lnSpc>
                <a:spcPct val="100000"/>
              </a:lnSpc>
              <a:spcBef>
                <a:spcPts val="0"/>
              </a:spcBef>
              <a:spcAft>
                <a:spcPts val="0"/>
              </a:spcAft>
              <a:buSzPct val="333333"/>
              <a:buNone/>
            </a:pPr>
            <a:r>
              <a:rPr lang="en-US" sz="4000" b="1">
                <a:solidFill>
                  <a:schemeClr val="lt1"/>
                </a:solidFill>
                <a:latin typeface="IBM Plex Sans Arabic"/>
                <a:ea typeface="IBM Plex Sans Arabic"/>
                <a:cs typeface="IBM Plex Sans Arabic"/>
                <a:sym typeface="IBM Plex Sans Arabic"/>
              </a:rPr>
              <a:t>شــــــكــــرًا لكــــــم</a:t>
            </a:r>
            <a:endParaRPr sz="4000" b="1">
              <a:solidFill>
                <a:schemeClr val="lt1"/>
              </a:solidFill>
              <a:latin typeface="IBM Plex Sans Arabic"/>
              <a:ea typeface="IBM Plex Sans Arabic"/>
              <a:cs typeface="IBM Plex Sans Arabic"/>
              <a:sym typeface="IBM Plex Sans Arabic"/>
            </a:endParaRPr>
          </a:p>
        </p:txBody>
      </p:sp>
      <p:sp>
        <p:nvSpPr>
          <p:cNvPr id="217" name="Google Shape;217;p21"/>
          <p:cNvSpPr txBox="1">
            <a:spLocks noGrp="1"/>
          </p:cNvSpPr>
          <p:nvPr>
            <p:ph type="ctrTitle" idx="4294967295"/>
          </p:nvPr>
        </p:nvSpPr>
        <p:spPr>
          <a:xfrm>
            <a:off x="4166050" y="2870075"/>
            <a:ext cx="4444200" cy="576600"/>
          </a:xfrm>
          <a:prstGeom prst="rect">
            <a:avLst/>
          </a:prstGeom>
          <a:noFill/>
          <a:ln>
            <a:noFill/>
          </a:ln>
        </p:spPr>
        <p:txBody>
          <a:bodyPr spcFirstLastPara="1" wrap="square" lIns="91425" tIns="91425" rIns="91425" bIns="91425" anchor="t" anchorCtr="0">
            <a:noAutofit/>
          </a:bodyPr>
          <a:lstStyle/>
          <a:p>
            <a:pPr marL="0" marR="0" lvl="0" indent="0" algn="r" rtl="0">
              <a:lnSpc>
                <a:spcPct val="100000"/>
              </a:lnSpc>
              <a:spcBef>
                <a:spcPts val="0"/>
              </a:spcBef>
              <a:spcAft>
                <a:spcPts val="0"/>
              </a:spcAft>
              <a:buClr>
                <a:srgbClr val="4F29B7"/>
              </a:buClr>
              <a:buSzPts val="990"/>
              <a:buFont typeface="IBM Plex Sans Arabic Medium"/>
              <a:buNone/>
            </a:pPr>
            <a:r>
              <a:rPr lang="en-US" sz="2900" b="1" i="0" u="none" strike="noStrike" cap="none">
                <a:solidFill>
                  <a:schemeClr val="lt1"/>
                </a:solidFill>
                <a:latin typeface="IBM Plex Sans Arabic"/>
                <a:ea typeface="IBM Plex Sans Arabic"/>
                <a:cs typeface="IBM Plex Sans Arabic"/>
                <a:sym typeface="IBM Plex Sans Arabic"/>
              </a:rPr>
              <a:t>THANK YOU</a:t>
            </a:r>
            <a:endParaRPr sz="2900" b="1" i="0" u="none" strike="noStrike" cap="none">
              <a:solidFill>
                <a:schemeClr val="lt1"/>
              </a:solidFill>
              <a:latin typeface="IBM Plex Sans Arabic"/>
              <a:ea typeface="IBM Plex Sans Arabic"/>
              <a:cs typeface="IBM Plex Sans Arabic"/>
              <a:sym typeface="IBM Plex Sans Arabic"/>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26362</TotalTime>
  <Words>3022</Words>
  <Application>Microsoft Macintosh PowerPoint</Application>
  <PresentationFormat>On-screen Show (16:9)</PresentationFormat>
  <Paragraphs>241</Paragraphs>
  <Slides>25</Slides>
  <Notes>25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25</vt:i4>
      </vt:variant>
    </vt:vector>
  </HeadingPairs>
  <TitlesOfParts>
    <vt:vector size="36" baseType="lpstr">
      <vt:lpstr>IBM Plex Sans Arabic SemiBold</vt:lpstr>
      <vt:lpstr>Arial</vt:lpstr>
      <vt:lpstr>IBM Plex Sans Arabic</vt:lpstr>
      <vt:lpstr>Times New Roman</vt:lpstr>
      <vt:lpstr>IBM Plex Sans Arabic Medium</vt:lpstr>
      <vt:lpstr>Calibri</vt:lpstr>
      <vt:lpstr>Inter</vt:lpstr>
      <vt:lpstr>Wingdings</vt:lpstr>
      <vt:lpstr>Nunito</vt:lpstr>
      <vt:lpstr>Tajawal</vt:lpstr>
      <vt:lpstr>Simple Light</vt:lpstr>
      <vt:lpstr>أكـــــاديميــــة طــــويـــق</vt:lpstr>
      <vt:lpstr>Generative Adversarial Networks (GANs)   </vt:lpstr>
      <vt:lpstr>PowerPoint Presentation</vt:lpstr>
      <vt:lpstr>Understanding GPT (Generative Pre-trained Transformer)</vt:lpstr>
      <vt:lpstr>1. Generator Model </vt:lpstr>
      <vt:lpstr>2. Discriminator Model </vt:lpstr>
      <vt:lpstr>2. Discriminator Model </vt:lpstr>
      <vt:lpstr>How a GAN Works: The Adversarial Training Loop</vt:lpstr>
      <vt:lpstr>How a GAN Works: The Adversarial Training Loop</vt:lpstr>
      <vt:lpstr>How a GAN Works: The Adversarial Training Loop</vt:lpstr>
      <vt:lpstr>Types of GANs</vt:lpstr>
      <vt:lpstr>Types of GANs</vt:lpstr>
      <vt:lpstr>Types of GANs</vt:lpstr>
      <vt:lpstr>Applications of Generative Adversarial Networks (GANs) </vt:lpstr>
      <vt:lpstr>Evaluation metrics of GAN </vt:lpstr>
      <vt:lpstr>Advantages of Generative Adversarial Networks (GANs)  </vt:lpstr>
      <vt:lpstr>Limitations of Generative Adversarial Networks (GANs)  </vt:lpstr>
      <vt:lpstr>Limitations of Generative Adversarial Networks (GANs)  </vt:lpstr>
      <vt:lpstr>Strategies and Variants to Overcome GAN Limitations   </vt:lpstr>
      <vt:lpstr>Strategies and Variants to Overcome GAN Limitations   </vt:lpstr>
      <vt:lpstr>Strategies and Variants to Overcome GAN Limitations   </vt:lpstr>
      <vt:lpstr>Hands On Exercise  </vt:lpstr>
      <vt:lpstr>Books and References </vt:lpstr>
      <vt:lpstr>الشراكات العالمية</vt:lpstr>
      <vt:lpstr>شــــــكــــرًا لكــــــم</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asus</dc:creator>
  <cp:lastModifiedBy>Afshan Hashmi</cp:lastModifiedBy>
  <cp:revision>67</cp:revision>
  <dcterms:modified xsi:type="dcterms:W3CDTF">2025-05-21T16:05:22Z</dcterms:modified>
</cp:coreProperties>
</file>