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98" r:id="rId5"/>
    <p:sldId id="539" r:id="rId6"/>
    <p:sldId id="567" r:id="rId7"/>
    <p:sldId id="568" r:id="rId8"/>
    <p:sldId id="569" r:id="rId9"/>
    <p:sldId id="570" r:id="rId10"/>
    <p:sldId id="572" r:id="rId11"/>
    <p:sldId id="573" r:id="rId12"/>
    <p:sldId id="574" r:id="rId13"/>
    <p:sldId id="575" r:id="rId14"/>
    <p:sldId id="576" r:id="rId15"/>
    <p:sldId id="578" r:id="rId16"/>
    <p:sldId id="577" r:id="rId17"/>
    <p:sldId id="580" r:id="rId18"/>
    <p:sldId id="579" r:id="rId19"/>
    <p:sldId id="581" r:id="rId20"/>
    <p:sldId id="582" r:id="rId21"/>
    <p:sldId id="370" r:id="rId22"/>
    <p:sldId id="312" r:id="rId23"/>
    <p:sldId id="275" r:id="rId24"/>
    <p:sldId id="276" r:id="rId25"/>
  </p:sldIdLst>
  <p:sldSz cx="9144000" cy="5143500" type="screen16x9"/>
  <p:notesSz cx="6858000" cy="9144000"/>
  <p:embeddedFontLst>
    <p:embeddedFont>
      <p:font typeface="IBM Plex Sans Arabic" panose="020B0603050203000203" pitchFamily="34" charset="-78"/>
      <p:regular r:id="rId27"/>
      <p:bold r:id="rId28"/>
    </p:embeddedFont>
    <p:embeddedFont>
      <p:font typeface="IBM Plex Sans Arabic Medium" panose="020B0603050203000203" pitchFamily="34" charset="-78"/>
      <p:regular r:id="rId29"/>
      <p:bold r:id="rId30"/>
    </p:embeddedFont>
    <p:embeddedFont>
      <p:font typeface="IBM Plex Sans Arabic SemiBold" panose="020B0603050203000203" pitchFamily="34" charset="-78"/>
      <p:regular r:id="rId31"/>
      <p:bold r:id="rId32"/>
    </p:embeddedFont>
    <p:embeddedFont>
      <p:font typeface="Inter" panose="020F0502020204030204" pitchFamily="34" charset="0"/>
      <p:regular r:id="rId33"/>
      <p:bold r:id="rId34"/>
      <p:italic r:id="rId35"/>
      <p:boldItalic r:id="rId36"/>
    </p:embeddedFont>
    <p:embeddedFont>
      <p:font typeface="Tajawal" pitchFamily="2" charset="-78"/>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47"/>
    <p:restoredTop sz="94227"/>
  </p:normalViewPr>
  <p:slideViewPr>
    <p:cSldViewPr snapToGrid="0">
      <p:cViewPr varScale="1">
        <p:scale>
          <a:sx n="175" d="100"/>
          <a:sy n="175" d="100"/>
        </p:scale>
        <p:origin x="80" y="720"/>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font" Target="fonts/font8.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6B9BDE8-2C21-E8E2-343E-690C2E12EF0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E229485-EB2F-925E-9172-598BFC53F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DB3474E-4E76-9301-6F58-CEFCA74FAB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4339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3409D09-AE72-A11D-60FE-D7260A70AE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9E99DA8-A180-9C9D-B77E-FCDA4C517B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AC3140F-2990-F249-4B9A-9AA5B039C9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9461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C3CBAEE-3CA6-3524-EE2A-2CCE2EF127E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FCDCA62-EA06-9839-365E-35966829F7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FD1D454-EF54-B47F-B4BC-AA709624B0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0025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695820E-9D85-7A08-CA5D-E39F514858B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7E0F12E3-4B76-A7E2-7B85-D4F3F0CCE4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5D3BA9B-428C-7A58-CC23-32D0A725A5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7822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814748C-6686-E88F-5605-FFB976E868F3}"/>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EFCF790-FB5E-E794-5373-B18AA19A79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6653228-46AF-F39C-A5F3-3C938317E4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19376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54D1C30-9A0B-C0D7-98AE-025B7E5822B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AAD7D0F-6765-3541-BD1C-97135996A0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59BAB8F-0DD3-1E45-2B85-4E7830971C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18238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D4A06C8-3B24-6BED-BC3E-3DD2A0FE7D1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1CF82FF-4934-02D3-1460-A72859C021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49B733-2194-9E23-123E-930B55CB95A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6487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251F611-E91A-F793-F1D8-C4E5CDC19C5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F713B2B-5B53-1BA8-AE2E-F6312E8CB5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041757F0-F311-407C-B0CD-81E66040AB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1539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281060F-75F1-BFEB-3688-995D29776C1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73246C1-4818-0C5B-565C-DED8862430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6E500AC-90CA-DE02-4EC7-9C315BD471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25305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B40D205-590E-A7D4-12B9-8854F59E9F9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F7BFA14-3C6A-DFDA-FA30-6570A8E23F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8FB2361-D52F-F702-3F91-7F59DFEE56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15792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0E159B3-A993-8A48-5603-632E8FDDF3A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63A7BA3-23CE-49E4-6F4D-60C3D93428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FE7E758-F94B-5CEC-CBB5-9424B376A4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4333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F510AA-E689-4546-1B50-744D425A43F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8396CD6-38E1-D8DD-6A3E-AD47CCE82D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28FE78CF-2A93-F787-A0F7-FA89C329E7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0701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EC3D670-9A42-5FCC-4CFE-88846C14898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1562DCE-3430-CF56-6C49-BCDAE4F2B2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0DDC964-EF6E-E1AB-73D7-9FD091E984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85362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F3C537A3-FEAE-1208-1249-5DA2C8C23BA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E8EA4D04-6C65-BFEA-CCA0-D49E8E744F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03C64F5-7E96-0BB9-7B50-0BB768D750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830112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0967754-465B-C601-E426-34558E8A742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0202B2B-B3F2-C3E3-CF1E-A8AB6186E8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41FB2C3-C06A-5931-FA37-7ABE0D8A58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6492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C2E82549-7B41-3F62-BAAA-A2D0B982C1B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C606EBD-5D7B-4C96-1657-C9FE168B05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2F9A198-5ECE-2C8B-2BF4-2968B1A874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53718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0.jpg"/><Relationship Id="rId4" Type="http://schemas.openxmlformats.org/officeDocument/2006/relationships/hyperlink" Target="https://drive.google.com/file/d/1eC9ZsF3NiHesR2CE-YxK90UUCnFbO5iT/view?usp=share_link"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3.xml"/><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0" y="656623"/>
            <a:ext cx="8520600" cy="3112070"/>
          </a:xfrm>
          <a:prstGeom prst="rect">
            <a:avLst/>
          </a:prstGeom>
          <a:noFill/>
          <a:ln>
            <a:noFill/>
          </a:ln>
        </p:spPr>
        <p:txBody>
          <a:bodyPr spcFirstLastPara="1" wrap="square" lIns="91425" tIns="91425" rIns="91425" bIns="91425" anchor="b" anchorCtr="0">
            <a:normAutofit/>
          </a:bodyPr>
          <a:lstStyle/>
          <a:p>
            <a:r>
              <a:rPr lang="en-GB" sz="4000" b="1" dirty="0"/>
              <a:t>Reinforcement Learning Basics</a:t>
            </a:r>
            <a:br>
              <a:rPr lang="en-GB" sz="4000" b="1" dirty="0"/>
            </a:br>
            <a:r>
              <a:rPr lang="en-GB" sz="1600" b="1" dirty="0">
                <a:solidFill>
                  <a:schemeClr val="tx1"/>
                </a:solidFill>
              </a:rPr>
              <a:t>Understanding reward-based learning</a:t>
            </a:r>
            <a:br>
              <a:rPr lang="en-GB" sz="1600" b="1" dirty="0">
                <a:solidFill>
                  <a:schemeClr val="tx1"/>
                </a:solidFill>
              </a:rPr>
            </a:br>
            <a:r>
              <a:rPr lang="en-GB" sz="1600" b="1" dirty="0">
                <a:solidFill>
                  <a:schemeClr val="tx1"/>
                </a:solidFill>
              </a:rPr>
              <a:t>Deep Q-Networks (DQN) and Policy Gradient methods</a:t>
            </a:r>
            <a:br>
              <a:rPr lang="en-GB" sz="4000" b="1" dirty="0"/>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1402680" y="1326871"/>
            <a:ext cx="6634716" cy="2277506"/>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dirty="0">
                <a:solidFill>
                  <a:srgbClr val="7030A0"/>
                </a:solidFill>
              </a:rPr>
              <a:t>Topics Covered</a:t>
            </a:r>
            <a:r>
              <a:rPr lang="en-US" sz="2400" b="1" i="0" u="none" strike="noStrike" cap="none" dirty="0">
                <a:solidFill>
                  <a:srgbClr val="7030A0"/>
                </a:solidFill>
                <a:latin typeface="Arial"/>
                <a:ea typeface="Arial"/>
                <a:cs typeface="Arial"/>
                <a:sym typeface="Arial"/>
              </a:rPr>
              <a:t>:</a:t>
            </a:r>
            <a:endParaRPr lang="en-GB" b="0" i="0" u="none" strike="noStrike" dirty="0">
              <a:solidFill>
                <a:srgbClr val="000000"/>
              </a:solidFill>
              <a:effectLst/>
            </a:endParaRPr>
          </a:p>
          <a:p>
            <a:pPr marL="342900" indent="-342900" algn="l" rtl="0">
              <a:buFont typeface="+mj-lt"/>
              <a:buAutoNum type="arabicPeriod"/>
            </a:pPr>
            <a:r>
              <a:rPr lang="en-GB" b="1" dirty="0"/>
              <a:t>What is </a:t>
            </a:r>
            <a:r>
              <a:rPr lang="en-GB" b="1" dirty="0" err="1"/>
              <a:t>Reinorcement</a:t>
            </a:r>
            <a:r>
              <a:rPr lang="en-GB" b="1" dirty="0"/>
              <a:t> Learning</a:t>
            </a:r>
          </a:p>
          <a:p>
            <a:pPr marL="342900" indent="-342900" algn="l" rtl="0">
              <a:buFont typeface="+mj-lt"/>
              <a:buAutoNum type="arabicPeriod"/>
            </a:pPr>
            <a:r>
              <a:rPr lang="en-GB" b="1" dirty="0"/>
              <a:t>Markov Decision Process </a:t>
            </a:r>
          </a:p>
          <a:p>
            <a:pPr marL="342900" indent="-342900" algn="l" rtl="0">
              <a:buFont typeface="+mj-lt"/>
              <a:buAutoNum type="arabicPeriod"/>
            </a:pPr>
            <a:r>
              <a:rPr lang="en-GB" sz="1400" b="1" i="0" u="none" strike="noStrike" dirty="0">
                <a:solidFill>
                  <a:schemeClr val="tx1"/>
                </a:solidFill>
                <a:effectLst/>
              </a:rPr>
              <a:t>Exploration-Exploitation Trade-off </a:t>
            </a:r>
          </a:p>
          <a:p>
            <a:pPr marL="342900" indent="-342900" algn="l" rtl="0">
              <a:buFont typeface="+mj-lt"/>
              <a:buAutoNum type="arabicPeriod"/>
            </a:pPr>
            <a:r>
              <a:rPr kumimoji="0" lang="en-US" altLang="en-US" sz="1400" b="1" i="0" u="none" strike="noStrike" cap="none" normalizeH="0" baseline="0" dirty="0">
                <a:ln>
                  <a:noFill/>
                </a:ln>
                <a:solidFill>
                  <a:schemeClr val="tx1"/>
                </a:solidFill>
                <a:effectLst/>
                <a:latin typeface="Arial" panose="020B0604020202020204" pitchFamily="34" charset="0"/>
              </a:rPr>
              <a:t>Understanding Reward-Based Learning </a:t>
            </a:r>
          </a:p>
          <a:p>
            <a:pPr marL="342900" indent="-342900" algn="l" rtl="0">
              <a:buFont typeface="+mj-lt"/>
              <a:buAutoNum type="arabicPeriod"/>
            </a:pPr>
            <a:r>
              <a:rPr lang="en-GB" sz="1400" b="1" i="0" u="none" strike="noStrike" dirty="0">
                <a:solidFill>
                  <a:schemeClr val="tx1"/>
                </a:solidFill>
                <a:effectLst/>
              </a:rPr>
              <a:t>Deep Q-Networks </a:t>
            </a:r>
          </a:p>
          <a:p>
            <a:pPr marL="342900" indent="-342900" algn="l" rtl="0">
              <a:buFont typeface="+mj-lt"/>
              <a:buAutoNum type="arabicPeriod"/>
            </a:pPr>
            <a:r>
              <a:rPr lang="en-GB" sz="1400" b="1" i="0" u="none" strike="noStrike" dirty="0">
                <a:solidFill>
                  <a:schemeClr val="tx1"/>
                </a:solidFill>
                <a:effectLst/>
              </a:rPr>
              <a:t>Policy Gradient Methods </a:t>
            </a:r>
          </a:p>
          <a:p>
            <a:pPr marL="342900" indent="-342900" algn="l" rtl="0">
              <a:buFont typeface="+mj-lt"/>
              <a:buAutoNum type="arabicPeriod"/>
            </a:pPr>
            <a:r>
              <a:rPr lang="en-GB" b="1" dirty="0">
                <a:solidFill>
                  <a:schemeClr val="tx1"/>
                </a:solidFill>
              </a:rPr>
              <a:t>Implementation of TIC TAC TOE Game with RL</a:t>
            </a:r>
            <a:endParaRPr lang="en-GB" sz="1400" b="1" i="0" u="none" strike="noStrike" dirty="0">
              <a:solidFill>
                <a:schemeClr val="tx1"/>
              </a:solidFill>
              <a:effectLst/>
            </a:endParaRPr>
          </a:p>
          <a:p>
            <a:pPr marL="342900" indent="-342900" algn="l" rtl="0">
              <a:buFont typeface="+mj-lt"/>
              <a:buAutoNum type="arabicPeriod"/>
            </a:pPr>
            <a:endParaRPr lang="en-GB" b="0" i="0" u="none" strike="noStrike" dirty="0">
              <a:solidFill>
                <a:srgbClr val="000000"/>
              </a:solidFill>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a:bodyPr>
          <a:lstStyle/>
          <a:p>
            <a:pPr>
              <a:buNone/>
            </a:pPr>
            <a:r>
              <a:rPr lang="en-GB" sz="2800" b="1" dirty="0"/>
              <a:t>What is Reinforcement Learning?</a:t>
            </a: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127221" y="686618"/>
            <a:ext cx="7920240" cy="3539430"/>
          </a:xfrm>
          <a:prstGeom prst="rect">
            <a:avLst/>
          </a:prstGeom>
          <a:noFill/>
        </p:spPr>
        <p:txBody>
          <a:bodyPr wrap="square">
            <a:spAutoFit/>
          </a:bodyPr>
          <a:lstStyle/>
          <a:p>
            <a:pPr>
              <a:buNone/>
            </a:pPr>
            <a:r>
              <a:rPr lang="en-GB" sz="1600" b="1" dirty="0"/>
              <a:t>Reinforcement Learning (RL)</a:t>
            </a:r>
            <a:r>
              <a:rPr lang="en-GB" sz="1600" dirty="0"/>
              <a:t> is a </a:t>
            </a:r>
            <a:r>
              <a:rPr lang="en-GB" sz="1600" b="1" dirty="0"/>
              <a:t>type of machine learning</a:t>
            </a:r>
            <a:r>
              <a:rPr lang="en-GB" sz="1600" dirty="0"/>
              <a:t> where an agent learns by interacting with an environment and receiving rewards or penalties. The goal is to maximize cumulative reward over time.</a:t>
            </a:r>
          </a:p>
          <a:p>
            <a:pPr>
              <a:buNone/>
            </a:pPr>
            <a:r>
              <a:rPr lang="en-GB" sz="1600" dirty="0"/>
              <a:t>Unlike supervised learning, where the model is trained on </a:t>
            </a:r>
            <a:r>
              <a:rPr lang="en-GB" sz="1600" dirty="0" err="1"/>
              <a:t>labeled</a:t>
            </a:r>
            <a:r>
              <a:rPr lang="en-GB" sz="1600" dirty="0"/>
              <a:t> data, RL learns from trial and error  the agent tries different actions and improves over time based on feedback.</a:t>
            </a:r>
          </a:p>
          <a:p>
            <a:pPr>
              <a:buNone/>
            </a:pPr>
            <a:endParaRPr lang="en-GB" sz="1600" dirty="0"/>
          </a:p>
          <a:p>
            <a:pPr>
              <a:buNone/>
            </a:pPr>
            <a:r>
              <a:rPr lang="en-GB" sz="1600" b="1" dirty="0"/>
              <a:t>Real-Life Analogy</a:t>
            </a:r>
          </a:p>
          <a:p>
            <a:pPr>
              <a:buNone/>
            </a:pPr>
            <a:r>
              <a:rPr lang="en-GB" sz="1600" dirty="0"/>
              <a:t>Imagine you're training a puppy to sit:</a:t>
            </a:r>
          </a:p>
          <a:p>
            <a:pPr marL="342900" indent="-342900">
              <a:buFont typeface="+mj-lt"/>
              <a:buAutoNum type="arabicPeriod"/>
            </a:pPr>
            <a:r>
              <a:rPr lang="en-GB" sz="1600" dirty="0"/>
              <a:t>Every time the puppy sits when you say "Sit," you give it a treat (reward).</a:t>
            </a:r>
          </a:p>
          <a:p>
            <a:pPr marL="342900" indent="-342900">
              <a:buFont typeface="+mj-lt"/>
              <a:buAutoNum type="arabicPeriod"/>
            </a:pPr>
            <a:r>
              <a:rPr lang="en-GB" sz="1600" dirty="0"/>
              <a:t>If it doesn't sit or jumps, you ignore it or gently say "No" (negative or no reward).</a:t>
            </a:r>
          </a:p>
          <a:p>
            <a:r>
              <a:rPr lang="en-GB" sz="1600" dirty="0"/>
              <a:t>Over time, the puppy learns that sitting when it hears the command leads to treats, so it repeats that </a:t>
            </a:r>
            <a:r>
              <a:rPr lang="en-GB" sz="1600" dirty="0" err="1"/>
              <a:t>behavior</a:t>
            </a:r>
            <a:r>
              <a:rPr lang="en-GB" sz="1600" dirty="0"/>
              <a:t>.</a:t>
            </a:r>
          </a:p>
          <a:p>
            <a:endParaRPr lang="en-GB" sz="1600" b="1" dirty="0">
              <a:latin typeface="+mj-l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C179245-137F-67F9-2E05-2A73F9E590A4}"/>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4895422-AF95-F2F7-FACD-DCF1236BFB8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Markov Decision Process (MDP)</a:t>
            </a: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3142855-31B3-B00B-D5F7-C77B4057FEA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2CF73AC-550B-53A3-1A6F-6F1C60520B55}"/>
              </a:ext>
            </a:extLst>
          </p:cNvPr>
          <p:cNvSpPr txBox="1"/>
          <p:nvPr/>
        </p:nvSpPr>
        <p:spPr>
          <a:xfrm>
            <a:off x="79513" y="511689"/>
            <a:ext cx="8090266" cy="1077218"/>
          </a:xfrm>
          <a:prstGeom prst="rect">
            <a:avLst/>
          </a:prstGeom>
          <a:noFill/>
        </p:spPr>
        <p:txBody>
          <a:bodyPr wrap="square">
            <a:spAutoFit/>
          </a:bodyPr>
          <a:lstStyle/>
          <a:p>
            <a:pPr algn="l">
              <a:buNone/>
            </a:pPr>
            <a:r>
              <a:rPr lang="en-GB" sz="1600" i="0" u="none" strike="noStrike" dirty="0">
                <a:solidFill>
                  <a:srgbClr val="000000"/>
                </a:solidFill>
                <a:effectLst/>
              </a:rPr>
              <a:t>Reinforcement Learning fundamentally describes the interaction between an agent, its environment, and a defined goal. This relationship is widely formalized using the Markov Decision Process (MDP) framework.</a:t>
            </a:r>
          </a:p>
          <a:p>
            <a:pPr algn="l">
              <a:buNone/>
            </a:pPr>
            <a:endParaRPr lang="en-GB" sz="1600" b="0" i="0" u="none" strike="noStrike" dirty="0">
              <a:solidFill>
                <a:srgbClr val="000000"/>
              </a:solidFill>
              <a:effectLst/>
            </a:endParaRPr>
          </a:p>
        </p:txBody>
      </p:sp>
      <p:pic>
        <p:nvPicPr>
          <p:cNvPr id="12290" name="Picture 2" descr="Diagram for reinforcement learning topic page">
            <a:extLst>
              <a:ext uri="{FF2B5EF4-FFF2-40B4-BE49-F238E27FC236}">
                <a16:creationId xmlns:a16="http://schemas.microsoft.com/office/drawing/2014/main" id="{B12D9F76-D6EA-6BDF-437F-9FED51CBDD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865" y="1588907"/>
            <a:ext cx="5947873" cy="3348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4060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2E869E3-5FE7-A655-147B-4587AE981B7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186ECF3-5789-6B9B-E7D7-37890C921AC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Markov Decision Process (MDP)</a:t>
            </a: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E6A667A-2DB8-9E5C-F623-5CA5D79482E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C531382-20D4-23FE-AEF6-E6B8C9C25C1E}"/>
              </a:ext>
            </a:extLst>
          </p:cNvPr>
          <p:cNvSpPr txBox="1"/>
          <p:nvPr/>
        </p:nvSpPr>
        <p:spPr>
          <a:xfrm>
            <a:off x="79513" y="511689"/>
            <a:ext cx="8090266" cy="4708981"/>
          </a:xfrm>
          <a:prstGeom prst="rect">
            <a:avLst/>
          </a:prstGeom>
          <a:noFill/>
        </p:spPr>
        <p:txBody>
          <a:bodyPr wrap="square">
            <a:spAutoFit/>
          </a:bodyPr>
          <a:lstStyle/>
          <a:p>
            <a:pPr marL="342900" indent="-342900" algn="l">
              <a:buFont typeface="+mj-lt"/>
              <a:buAutoNum type="arabicPeriod"/>
            </a:pPr>
            <a:r>
              <a:rPr lang="en-GB" sz="1500" b="1" i="0" u="none" strike="noStrike" dirty="0">
                <a:solidFill>
                  <a:srgbClr val="000000"/>
                </a:solidFill>
                <a:effectLst/>
              </a:rPr>
              <a:t>Agent-Environment Interaction:</a:t>
            </a:r>
            <a:r>
              <a:rPr lang="en-GB" sz="1500" b="0" i="0" u="none" strike="noStrike" dirty="0">
                <a:solidFill>
                  <a:srgbClr val="000000"/>
                </a:solidFill>
                <a:effectLst/>
              </a:rPr>
              <a:t> An RL agent learns by continuously interacting with its environment.</a:t>
            </a:r>
          </a:p>
          <a:p>
            <a:pPr marL="342900" indent="-342900" algn="l">
              <a:buFont typeface="+mj-lt"/>
              <a:buAutoNum type="arabicPeriod"/>
            </a:pPr>
            <a:r>
              <a:rPr lang="en-GB" sz="1500" b="1" i="0" u="none" strike="noStrike" dirty="0">
                <a:solidFill>
                  <a:srgbClr val="000000"/>
                </a:solidFill>
                <a:effectLst/>
              </a:rPr>
              <a:t>State Information:</a:t>
            </a:r>
            <a:r>
              <a:rPr lang="en-GB" sz="1500" b="0" i="0" u="none" strike="noStrike" dirty="0">
                <a:solidFill>
                  <a:srgbClr val="000000"/>
                </a:solidFill>
                <a:effectLst/>
              </a:rPr>
              <a:t> The environment provides the agent with information about its current state.</a:t>
            </a:r>
          </a:p>
          <a:p>
            <a:pPr marL="342900" indent="-342900" algn="l">
              <a:buFont typeface="+mj-lt"/>
              <a:buAutoNum type="arabicPeriod"/>
            </a:pPr>
            <a:r>
              <a:rPr lang="en-GB" sz="1500" b="1" i="0" u="none" strike="noStrike" dirty="0">
                <a:solidFill>
                  <a:srgbClr val="000000"/>
                </a:solidFill>
                <a:effectLst/>
              </a:rPr>
              <a:t>Action Selection:</a:t>
            </a:r>
            <a:r>
              <a:rPr lang="en-GB" sz="1500" b="0" i="0" u="none" strike="noStrike" dirty="0">
                <a:solidFill>
                  <a:srgbClr val="000000"/>
                </a:solidFill>
                <a:effectLst/>
              </a:rPr>
              <a:t> Based on the current state, the agent determines which action(s) to take.</a:t>
            </a:r>
          </a:p>
          <a:p>
            <a:pPr marL="342900" indent="-342900" algn="l">
              <a:buFont typeface="+mj-lt"/>
              <a:buAutoNum type="arabicPeriod"/>
            </a:pPr>
            <a:r>
              <a:rPr lang="en-GB" sz="1500" b="1" i="0" u="none" strike="noStrike" dirty="0">
                <a:solidFill>
                  <a:srgbClr val="000000"/>
                </a:solidFill>
                <a:effectLst/>
              </a:rPr>
              <a:t>Reward Signal:</a:t>
            </a:r>
            <a:r>
              <a:rPr lang="en-GB" sz="1500" b="0" i="0" u="none" strike="noStrike" dirty="0">
                <a:solidFill>
                  <a:srgbClr val="000000"/>
                </a:solidFill>
                <a:effectLst/>
              </a:rPr>
              <a:t> If an action leads to a positive reward signal from the environment, the agent is encouraged to repeat that action when encountering similar future states.</a:t>
            </a:r>
          </a:p>
          <a:p>
            <a:pPr marL="342900" indent="-342900" algn="l">
              <a:buFont typeface="+mj-lt"/>
              <a:buAutoNum type="arabicPeriod"/>
            </a:pPr>
            <a:r>
              <a:rPr lang="en-GB" sz="1500" b="1" i="0" u="none" strike="noStrike" dirty="0">
                <a:solidFill>
                  <a:srgbClr val="000000"/>
                </a:solidFill>
                <a:effectLst/>
              </a:rPr>
              <a:t>Iterative Learning:</a:t>
            </a:r>
            <a:r>
              <a:rPr lang="en-GB" sz="1500" b="0" i="0" u="none" strike="noStrike" dirty="0">
                <a:solidFill>
                  <a:srgbClr val="000000"/>
                </a:solidFill>
                <a:effectLst/>
              </a:rPr>
              <a:t> This cycle of observing the state, taking an action, and receiving a reward (or punishment) repeats for every new state.</a:t>
            </a:r>
          </a:p>
          <a:p>
            <a:pPr marL="342900" indent="-342900" algn="l">
              <a:buFont typeface="+mj-lt"/>
              <a:buAutoNum type="arabicPeriod"/>
            </a:pPr>
            <a:r>
              <a:rPr lang="en-GB" sz="1500" b="1" i="0" u="none" strike="noStrike" dirty="0">
                <a:solidFill>
                  <a:srgbClr val="000000"/>
                </a:solidFill>
                <a:effectLst/>
              </a:rPr>
              <a:t>Goal Achievement:</a:t>
            </a:r>
            <a:r>
              <a:rPr lang="en-GB" sz="1500" b="0" i="0" u="none" strike="noStrike" dirty="0">
                <a:solidFill>
                  <a:srgbClr val="000000"/>
                </a:solidFill>
                <a:effectLst/>
              </a:rPr>
              <a:t> Over time, through these reward and punishment signals, the agent learns to select actions within the environment that lead to the achievement of a specified goal.</a:t>
            </a:r>
          </a:p>
          <a:p>
            <a:pPr algn="l">
              <a:buNone/>
            </a:pPr>
            <a:r>
              <a:rPr lang="en-GB" sz="1500" b="1" i="0" u="none" strike="noStrike" dirty="0">
                <a:solidFill>
                  <a:srgbClr val="000000"/>
                </a:solidFill>
                <a:effectLst/>
              </a:rPr>
              <a:t>Key MDP Terminology:</a:t>
            </a:r>
            <a:endParaRPr lang="en-GB" sz="1500" b="0" i="0" u="none" strike="noStrike" dirty="0">
              <a:solidFill>
                <a:srgbClr val="000000"/>
              </a:solidFill>
              <a:effectLst/>
            </a:endParaRPr>
          </a:p>
          <a:p>
            <a:pPr marL="285750" indent="-285750" algn="l">
              <a:buFont typeface="Wingdings" pitchFamily="2" charset="2"/>
              <a:buChar char="Ø"/>
            </a:pPr>
            <a:r>
              <a:rPr lang="en-GB" sz="1500" b="1" i="0" u="none" strike="noStrike" dirty="0">
                <a:solidFill>
                  <a:srgbClr val="000000"/>
                </a:solidFill>
                <a:effectLst/>
              </a:rPr>
              <a:t>State Space:</a:t>
            </a:r>
            <a:r>
              <a:rPr lang="en-GB" sz="1500" b="0" i="0" u="none" strike="noStrike" dirty="0">
                <a:solidFill>
                  <a:srgbClr val="000000"/>
                </a:solidFill>
                <a:effectLst/>
              </a:rPr>
              <a:t> Refers to </a:t>
            </a:r>
            <a:r>
              <a:rPr lang="en-GB" sz="1500" b="1" i="0" u="none" strike="noStrike" dirty="0">
                <a:solidFill>
                  <a:srgbClr val="000000"/>
                </a:solidFill>
                <a:effectLst/>
              </a:rPr>
              <a:t>all possible information</a:t>
            </a:r>
            <a:r>
              <a:rPr lang="en-GB" sz="1500" b="0" i="0" u="none" strike="noStrike" dirty="0">
                <a:solidFill>
                  <a:srgbClr val="000000"/>
                </a:solidFill>
                <a:effectLst/>
              </a:rPr>
              <a:t> that can be provided by an environment's state. It encompasses every observable aspect of the environment that the agent can perceive.</a:t>
            </a:r>
          </a:p>
          <a:p>
            <a:pPr marL="285750" indent="-285750" algn="l">
              <a:buFont typeface="Wingdings" pitchFamily="2" charset="2"/>
              <a:buChar char="Ø"/>
            </a:pPr>
            <a:r>
              <a:rPr lang="en-GB" sz="1500" b="1" i="0" u="none" strike="noStrike" dirty="0">
                <a:solidFill>
                  <a:srgbClr val="000000"/>
                </a:solidFill>
                <a:effectLst/>
              </a:rPr>
              <a:t>Action Space:</a:t>
            </a:r>
            <a:r>
              <a:rPr lang="en-GB" sz="1500" b="0" i="0" u="none" strike="noStrike" dirty="0">
                <a:solidFill>
                  <a:srgbClr val="000000"/>
                </a:solidFill>
                <a:effectLst/>
              </a:rPr>
              <a:t> Denotes </a:t>
            </a:r>
            <a:r>
              <a:rPr lang="en-GB" sz="1500" b="1" i="0" u="none" strike="noStrike" dirty="0">
                <a:solidFill>
                  <a:srgbClr val="000000"/>
                </a:solidFill>
                <a:effectLst/>
              </a:rPr>
              <a:t>all possible actions</a:t>
            </a:r>
            <a:r>
              <a:rPr lang="en-GB" sz="1500" b="0" i="0" u="none" strike="noStrike" dirty="0">
                <a:solidFill>
                  <a:srgbClr val="000000"/>
                </a:solidFill>
                <a:effectLst/>
              </a:rPr>
              <a:t> that the agent is permitted to take within any given state.</a:t>
            </a:r>
          </a:p>
          <a:p>
            <a:pPr algn="l">
              <a:buNone/>
            </a:pPr>
            <a:endParaRPr lang="en-GB" sz="1500" b="0" i="0" u="none" strike="noStrike" dirty="0">
              <a:solidFill>
                <a:srgbClr val="000000"/>
              </a:solidFill>
              <a:effectLst/>
            </a:endParaRPr>
          </a:p>
        </p:txBody>
      </p:sp>
    </p:spTree>
    <p:extLst>
      <p:ext uri="{BB962C8B-B14F-4D97-AF65-F5344CB8AC3E}">
        <p14:creationId xmlns:p14="http://schemas.microsoft.com/office/powerpoint/2010/main" val="3131061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5311E50-1C1F-C4F0-1363-D00998BC585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67CD5D3-38AB-61C8-7613-DBEA8C17E7BB}"/>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800" b="1" i="0" u="none" strike="noStrike" dirty="0">
                <a:solidFill>
                  <a:srgbClr val="7030A0"/>
                </a:solidFill>
                <a:effectLst/>
              </a:rPr>
              <a:t>Exploration-Exploitation Trade-off</a:t>
            </a: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87FCE14-EAF2-7370-FDD5-6B568ADB6EC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538E8B3-44E5-D250-EBC5-FFE9C3D97E39}"/>
              </a:ext>
            </a:extLst>
          </p:cNvPr>
          <p:cNvSpPr txBox="1"/>
          <p:nvPr/>
        </p:nvSpPr>
        <p:spPr>
          <a:xfrm>
            <a:off x="79513" y="511689"/>
            <a:ext cx="8090266" cy="3985706"/>
          </a:xfrm>
          <a:prstGeom prst="rect">
            <a:avLst/>
          </a:prstGeom>
          <a:noFill/>
        </p:spPr>
        <p:txBody>
          <a:bodyPr wrap="square">
            <a:spAutoFit/>
          </a:bodyPr>
          <a:lstStyle/>
          <a:p>
            <a:pPr marL="342900" indent="-342900" algn="l">
              <a:buFont typeface="+mj-lt"/>
              <a:buAutoNum type="arabicPeriod"/>
            </a:pPr>
            <a:r>
              <a:rPr lang="en-GB" b="1" i="0" u="none" strike="noStrike" dirty="0">
                <a:solidFill>
                  <a:srgbClr val="000000"/>
                </a:solidFill>
                <a:effectLst/>
              </a:rPr>
              <a:t>No </a:t>
            </a:r>
            <a:r>
              <a:rPr lang="en-GB" b="1" i="0" u="none" strike="noStrike" dirty="0" err="1">
                <a:solidFill>
                  <a:srgbClr val="000000"/>
                </a:solidFill>
                <a:effectLst/>
              </a:rPr>
              <a:t>Labeled</a:t>
            </a:r>
            <a:r>
              <a:rPr lang="en-GB" b="1" i="0" u="none" strike="noStrike" dirty="0">
                <a:solidFill>
                  <a:srgbClr val="000000"/>
                </a:solidFill>
                <a:effectLst/>
              </a:rPr>
              <a:t> Guidance:</a:t>
            </a:r>
            <a:r>
              <a:rPr lang="en-GB" b="0" i="0" u="none" strike="noStrike" dirty="0">
                <a:solidFill>
                  <a:srgbClr val="000000"/>
                </a:solidFill>
                <a:effectLst/>
              </a:rPr>
              <a:t> Unlike supervised learning, an RL agent lacks pre-</a:t>
            </a:r>
            <a:r>
              <a:rPr lang="en-GB" b="0" i="0" u="none" strike="noStrike" dirty="0" err="1">
                <a:solidFill>
                  <a:srgbClr val="000000"/>
                </a:solidFill>
                <a:effectLst/>
              </a:rPr>
              <a:t>labeled</a:t>
            </a:r>
            <a:r>
              <a:rPr lang="en-GB" b="0" i="0" u="none" strike="noStrike" dirty="0">
                <a:solidFill>
                  <a:srgbClr val="000000"/>
                </a:solidFill>
                <a:effectLst/>
              </a:rPr>
              <a:t> input data to guide its actions.</a:t>
            </a:r>
          </a:p>
          <a:p>
            <a:pPr marL="342900" indent="-342900" algn="l">
              <a:buFont typeface="+mj-lt"/>
              <a:buAutoNum type="arabicPeriod"/>
            </a:pPr>
            <a:r>
              <a:rPr lang="en-GB" b="1" i="0" u="none" strike="noStrike" dirty="0">
                <a:solidFill>
                  <a:srgbClr val="000000"/>
                </a:solidFill>
                <a:effectLst/>
              </a:rPr>
              <a:t>Need for Exploration:</a:t>
            </a:r>
            <a:r>
              <a:rPr lang="en-GB" b="0" i="0" u="none" strike="noStrike" dirty="0">
                <a:solidFill>
                  <a:srgbClr val="000000"/>
                </a:solidFill>
                <a:effectLst/>
              </a:rPr>
              <a:t> Consequently, the agent </a:t>
            </a:r>
            <a:r>
              <a:rPr lang="en-GB" b="1" i="0" u="none" strike="noStrike" dirty="0">
                <a:solidFill>
                  <a:srgbClr val="000000"/>
                </a:solidFill>
                <a:effectLst/>
              </a:rPr>
              <a:t>must explore its environment</a:t>
            </a:r>
            <a:r>
              <a:rPr lang="en-GB" b="0" i="0" u="none" strike="noStrike" dirty="0">
                <a:solidFill>
                  <a:srgbClr val="000000"/>
                </a:solidFill>
                <a:effectLst/>
              </a:rPr>
              <a:t> by trying new, untried actions to discover which ones yield rewards.</a:t>
            </a:r>
          </a:p>
          <a:p>
            <a:pPr marL="342900" indent="-342900" algn="l">
              <a:buFont typeface="+mj-lt"/>
              <a:buAutoNum type="arabicPeriod"/>
            </a:pPr>
            <a:r>
              <a:rPr lang="en-GB" b="1" i="0" u="none" strike="noStrike" dirty="0">
                <a:solidFill>
                  <a:srgbClr val="000000"/>
                </a:solidFill>
                <a:effectLst/>
              </a:rPr>
              <a:t>Learning from Rewards:</a:t>
            </a:r>
            <a:r>
              <a:rPr lang="en-GB" b="0" i="0" u="none" strike="noStrike" dirty="0">
                <a:solidFill>
                  <a:srgbClr val="000000"/>
                </a:solidFill>
                <a:effectLst/>
              </a:rPr>
              <a:t> From these reward signals, the agent learns to </a:t>
            </a:r>
            <a:r>
              <a:rPr lang="en-GB" b="1" i="0" u="none" strike="noStrike" dirty="0">
                <a:solidFill>
                  <a:srgbClr val="000000"/>
                </a:solidFill>
                <a:effectLst/>
              </a:rPr>
              <a:t>exploit its knowledge</a:t>
            </a:r>
            <a:r>
              <a:rPr lang="en-GB" b="0" i="0" u="none" strike="noStrike" dirty="0">
                <a:solidFill>
                  <a:srgbClr val="000000"/>
                </a:solidFill>
                <a:effectLst/>
              </a:rPr>
              <a:t>, preferring actions that have previously led to rewards to maximize its gains.</a:t>
            </a:r>
          </a:p>
          <a:p>
            <a:pPr marL="342900" indent="-342900" algn="l">
              <a:buFont typeface="+mj-lt"/>
              <a:buAutoNum type="arabicPeriod"/>
            </a:pPr>
            <a:r>
              <a:rPr lang="en-GB" b="1" i="0" u="none" strike="noStrike" dirty="0">
                <a:solidFill>
                  <a:srgbClr val="000000"/>
                </a:solidFill>
                <a:effectLst/>
              </a:rPr>
              <a:t>Continuous Exploration:</a:t>
            </a:r>
            <a:r>
              <a:rPr lang="en-GB" b="0" i="0" u="none" strike="noStrike" dirty="0">
                <a:solidFill>
                  <a:srgbClr val="000000"/>
                </a:solidFill>
                <a:effectLst/>
              </a:rPr>
              <a:t> However, the agent cannot </a:t>
            </a:r>
            <a:r>
              <a:rPr lang="en-GB" b="0" i="1" u="none" strike="noStrike" dirty="0">
                <a:solidFill>
                  <a:srgbClr val="000000"/>
                </a:solidFill>
                <a:effectLst/>
              </a:rPr>
              <a:t>solely</a:t>
            </a:r>
            <a:r>
              <a:rPr lang="en-GB" b="0" i="0" u="none" strike="noStrike" dirty="0">
                <a:solidFill>
                  <a:srgbClr val="000000"/>
                </a:solidFill>
                <a:effectLst/>
              </a:rPr>
              <a:t> exploit its current knowledge. It must also </a:t>
            </a:r>
            <a:r>
              <a:rPr lang="en-GB" b="1" i="0" u="none" strike="noStrike" dirty="0">
                <a:solidFill>
                  <a:srgbClr val="000000"/>
                </a:solidFill>
                <a:effectLst/>
              </a:rPr>
              <a:t>continue to explore new states and actions</a:t>
            </a:r>
            <a:r>
              <a:rPr lang="en-GB" b="0" i="0" u="none" strike="noStrike" dirty="0">
                <a:solidFill>
                  <a:srgbClr val="000000"/>
                </a:solidFill>
                <a:effectLst/>
              </a:rPr>
              <a:t> to discover potentially better rewards or more optimal action sequences.</a:t>
            </a:r>
          </a:p>
          <a:p>
            <a:pPr marL="342900" indent="-342900" algn="l">
              <a:buFont typeface="+mj-lt"/>
              <a:buAutoNum type="arabicPeriod"/>
            </a:pPr>
            <a:r>
              <a:rPr lang="en-GB" b="1" i="0" u="none" strike="noStrike" dirty="0">
                <a:solidFill>
                  <a:srgbClr val="000000"/>
                </a:solidFill>
                <a:effectLst/>
              </a:rPr>
              <a:t>The Dilemma:</a:t>
            </a:r>
            <a:r>
              <a:rPr lang="en-GB" b="0" i="0" u="none" strike="noStrike" dirty="0">
                <a:solidFill>
                  <a:srgbClr val="000000"/>
                </a:solidFill>
                <a:effectLst/>
              </a:rPr>
              <a:t> RL algorithms face a fundamental dilemma:</a:t>
            </a:r>
          </a:p>
          <a:p>
            <a:pPr marL="800100" lvl="1" indent="-342900" algn="l">
              <a:buFont typeface="+mj-lt"/>
              <a:buAutoNum type="alphaLcPeriod"/>
            </a:pPr>
            <a:r>
              <a:rPr lang="en-GB" b="1" i="0" u="none" strike="noStrike" dirty="0">
                <a:solidFill>
                  <a:srgbClr val="000000"/>
                </a:solidFill>
                <a:effectLst/>
              </a:rPr>
              <a:t>Exploration:</a:t>
            </a:r>
            <a:r>
              <a:rPr lang="en-GB" b="0" i="0" u="none" strike="noStrike" dirty="0">
                <a:solidFill>
                  <a:srgbClr val="000000"/>
                </a:solidFill>
                <a:effectLst/>
              </a:rPr>
              <a:t> Trying new things to discover more information and potentially higher rewards.</a:t>
            </a:r>
          </a:p>
          <a:p>
            <a:pPr marL="800100" lvl="1" indent="-342900" algn="l">
              <a:buFont typeface="+mj-lt"/>
              <a:buAutoNum type="alphaLcPeriod"/>
            </a:pPr>
            <a:r>
              <a:rPr lang="en-GB" b="1" i="0" u="none" strike="noStrike" dirty="0">
                <a:solidFill>
                  <a:srgbClr val="000000"/>
                </a:solidFill>
                <a:effectLst/>
              </a:rPr>
              <a:t>Exploitation:</a:t>
            </a:r>
            <a:r>
              <a:rPr lang="en-GB" b="0" i="0" u="none" strike="noStrike" dirty="0">
                <a:solidFill>
                  <a:srgbClr val="000000"/>
                </a:solidFill>
                <a:effectLst/>
              </a:rPr>
              <a:t> Using current best knowledge to maximize immediate rewards.</a:t>
            </a:r>
          </a:p>
          <a:p>
            <a:pPr marL="342900" indent="-342900" algn="l">
              <a:buFont typeface="+mj-lt"/>
              <a:buAutoNum type="arabicPeriod"/>
            </a:pPr>
            <a:r>
              <a:rPr lang="en-GB" b="1" i="0" u="none" strike="noStrike" dirty="0">
                <a:solidFill>
                  <a:srgbClr val="000000"/>
                </a:solidFill>
                <a:effectLst/>
              </a:rPr>
              <a:t>Balancing Act:</a:t>
            </a:r>
            <a:r>
              <a:rPr lang="en-GB" b="0" i="0" u="none" strike="noStrike" dirty="0">
                <a:solidFill>
                  <a:srgbClr val="000000"/>
                </a:solidFill>
                <a:effectLst/>
              </a:rPr>
              <a:t> The agent must continuously balance these two imperatives – trying novel actions while also leveraging previously rewarded actions to achieve the largest cumulative reward over time. Exclusively pursuing either exploration or exploitation will lead to suboptimal long-term performance.</a:t>
            </a:r>
          </a:p>
          <a:p>
            <a:pPr marL="342900" indent="-342900" algn="l">
              <a:buFont typeface="+mj-lt"/>
              <a:buAutoNum type="arabicPeriod"/>
            </a:pPr>
            <a:endParaRPr lang="en-GB" sz="1500" b="0" i="0" u="none" strike="noStrike" dirty="0">
              <a:solidFill>
                <a:srgbClr val="000000"/>
              </a:solidFill>
              <a:effectLst/>
            </a:endParaRPr>
          </a:p>
        </p:txBody>
      </p:sp>
    </p:spTree>
    <p:extLst>
      <p:ext uri="{BB962C8B-B14F-4D97-AF65-F5344CB8AC3E}">
        <p14:creationId xmlns:p14="http://schemas.microsoft.com/office/powerpoint/2010/main" val="607683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4243EE6-387B-2048-90B5-7829F0CC4C1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295F014-900B-0F90-BDE1-272206742DFC}"/>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kumimoji="0" lang="en-US" altLang="en-US" sz="2800" b="1" i="0" u="none" strike="noStrike" cap="none" normalizeH="0" baseline="0" dirty="0">
                <a:ln>
                  <a:noFill/>
                </a:ln>
                <a:solidFill>
                  <a:srgbClr val="7030A0"/>
                </a:solidFill>
                <a:effectLst/>
                <a:latin typeface="Arial" panose="020B0604020202020204" pitchFamily="34" charset="0"/>
              </a:rPr>
              <a:t>Key Components of RL</a:t>
            </a: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92C5975-936B-5F23-A645-8452AE088AF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2" name="Table 1">
            <a:extLst>
              <a:ext uri="{FF2B5EF4-FFF2-40B4-BE49-F238E27FC236}">
                <a16:creationId xmlns:a16="http://schemas.microsoft.com/office/drawing/2014/main" id="{1B7A6211-EED0-7D1B-B4FF-1EEA83BE25FD}"/>
              </a:ext>
            </a:extLst>
          </p:cNvPr>
          <p:cNvGraphicFramePr>
            <a:graphicFrameLocks noGrp="1"/>
          </p:cNvGraphicFramePr>
          <p:nvPr>
            <p:extLst>
              <p:ext uri="{D42A27DB-BD31-4B8C-83A1-F6EECF244321}">
                <p14:modId xmlns:p14="http://schemas.microsoft.com/office/powerpoint/2010/main" val="1575519937"/>
              </p:ext>
            </p:extLst>
          </p:nvPr>
        </p:nvGraphicFramePr>
        <p:xfrm>
          <a:off x="284775" y="972363"/>
          <a:ext cx="8445568" cy="3961514"/>
        </p:xfrm>
        <a:graphic>
          <a:graphicData uri="http://schemas.openxmlformats.org/drawingml/2006/table">
            <a:tbl>
              <a:tblPr>
                <a:tableStyleId>{35758FB7-9AC5-4552-8A53-C91805E547FA}</a:tableStyleId>
              </a:tblPr>
              <a:tblGrid>
                <a:gridCol w="1911798">
                  <a:extLst>
                    <a:ext uri="{9D8B030D-6E8A-4147-A177-3AD203B41FA5}">
                      <a16:colId xmlns:a16="http://schemas.microsoft.com/office/drawing/2014/main" val="2038663133"/>
                    </a:ext>
                  </a:extLst>
                </a:gridCol>
                <a:gridCol w="3718581">
                  <a:extLst>
                    <a:ext uri="{9D8B030D-6E8A-4147-A177-3AD203B41FA5}">
                      <a16:colId xmlns:a16="http://schemas.microsoft.com/office/drawing/2014/main" val="1401068587"/>
                    </a:ext>
                  </a:extLst>
                </a:gridCol>
                <a:gridCol w="2815189">
                  <a:extLst>
                    <a:ext uri="{9D8B030D-6E8A-4147-A177-3AD203B41FA5}">
                      <a16:colId xmlns:a16="http://schemas.microsoft.com/office/drawing/2014/main" val="2597332660"/>
                    </a:ext>
                  </a:extLst>
                </a:gridCol>
              </a:tblGrid>
              <a:tr h="233993">
                <a:tc>
                  <a:txBody>
                    <a:bodyPr/>
                    <a:lstStyle/>
                    <a:p>
                      <a:r>
                        <a:rPr lang="en-GB" sz="1400" b="1" dirty="0"/>
                        <a:t>Component</a:t>
                      </a:r>
                    </a:p>
                  </a:txBody>
                  <a:tcPr marL="70198" marR="70198" marT="35099" marB="35099" anchor="ctr"/>
                </a:tc>
                <a:tc>
                  <a:txBody>
                    <a:bodyPr/>
                    <a:lstStyle/>
                    <a:p>
                      <a:r>
                        <a:rPr lang="en-GB" sz="1400" b="1"/>
                        <a:t>Explanation</a:t>
                      </a:r>
                    </a:p>
                  </a:txBody>
                  <a:tcPr marL="70198" marR="70198" marT="35099" marB="35099" anchor="ctr"/>
                </a:tc>
                <a:tc>
                  <a:txBody>
                    <a:bodyPr/>
                    <a:lstStyle/>
                    <a:p>
                      <a:r>
                        <a:rPr lang="en-GB" sz="1400" b="1" dirty="0"/>
                        <a:t>Analogy (Puppy Example)</a:t>
                      </a:r>
                    </a:p>
                  </a:txBody>
                  <a:tcPr marL="70198" marR="70198" marT="35099" marB="35099" anchor="ctr"/>
                </a:tc>
                <a:extLst>
                  <a:ext uri="{0D108BD9-81ED-4DB2-BD59-A6C34878D82A}">
                    <a16:rowId xmlns:a16="http://schemas.microsoft.com/office/drawing/2014/main" val="708748940"/>
                  </a:ext>
                </a:extLst>
              </a:tr>
              <a:tr h="233993">
                <a:tc>
                  <a:txBody>
                    <a:bodyPr/>
                    <a:lstStyle/>
                    <a:p>
                      <a:r>
                        <a:rPr lang="en-GB" sz="1400" b="1"/>
                        <a:t>Agent</a:t>
                      </a:r>
                      <a:endParaRPr lang="en-GB" sz="1400"/>
                    </a:p>
                  </a:txBody>
                  <a:tcPr marL="70198" marR="70198" marT="35099" marB="35099" anchor="ctr"/>
                </a:tc>
                <a:tc>
                  <a:txBody>
                    <a:bodyPr/>
                    <a:lstStyle/>
                    <a:p>
                      <a:r>
                        <a:rPr lang="en-GB" sz="1400"/>
                        <a:t>The learner or decision-maker.</a:t>
                      </a:r>
                    </a:p>
                  </a:txBody>
                  <a:tcPr marL="70198" marR="70198" marT="35099" marB="35099" anchor="ctr"/>
                </a:tc>
                <a:tc>
                  <a:txBody>
                    <a:bodyPr/>
                    <a:lstStyle/>
                    <a:p>
                      <a:r>
                        <a:rPr lang="en-GB" sz="1400"/>
                        <a:t>The puppy</a:t>
                      </a:r>
                    </a:p>
                  </a:txBody>
                  <a:tcPr marL="70198" marR="70198" marT="35099" marB="35099" anchor="ctr"/>
                </a:tc>
                <a:extLst>
                  <a:ext uri="{0D108BD9-81ED-4DB2-BD59-A6C34878D82A}">
                    <a16:rowId xmlns:a16="http://schemas.microsoft.com/office/drawing/2014/main" val="2467242009"/>
                  </a:ext>
                </a:extLst>
              </a:tr>
              <a:tr h="397788">
                <a:tc>
                  <a:txBody>
                    <a:bodyPr/>
                    <a:lstStyle/>
                    <a:p>
                      <a:r>
                        <a:rPr lang="en-GB" sz="1400" b="1"/>
                        <a:t>Environment</a:t>
                      </a:r>
                      <a:endParaRPr lang="en-GB" sz="1400"/>
                    </a:p>
                  </a:txBody>
                  <a:tcPr marL="70198" marR="70198" marT="35099" marB="35099" anchor="ctr"/>
                </a:tc>
                <a:tc>
                  <a:txBody>
                    <a:bodyPr/>
                    <a:lstStyle/>
                    <a:p>
                      <a:r>
                        <a:rPr lang="en-GB" sz="1400"/>
                        <a:t>The world the agent interacts with.</a:t>
                      </a:r>
                    </a:p>
                  </a:txBody>
                  <a:tcPr marL="70198" marR="70198" marT="35099" marB="35099" anchor="ctr"/>
                </a:tc>
                <a:tc>
                  <a:txBody>
                    <a:bodyPr/>
                    <a:lstStyle/>
                    <a:p>
                      <a:r>
                        <a:rPr lang="en-GB" sz="1400"/>
                        <a:t>The room or yard where the training happens</a:t>
                      </a:r>
                    </a:p>
                  </a:txBody>
                  <a:tcPr marL="70198" marR="70198" marT="35099" marB="35099" anchor="ctr"/>
                </a:tc>
                <a:extLst>
                  <a:ext uri="{0D108BD9-81ED-4DB2-BD59-A6C34878D82A}">
                    <a16:rowId xmlns:a16="http://schemas.microsoft.com/office/drawing/2014/main" val="1210767213"/>
                  </a:ext>
                </a:extLst>
              </a:tr>
              <a:tr h="397788">
                <a:tc>
                  <a:txBody>
                    <a:bodyPr/>
                    <a:lstStyle/>
                    <a:p>
                      <a:r>
                        <a:rPr lang="en-GB" sz="1400" b="1"/>
                        <a:t>State (s)</a:t>
                      </a:r>
                      <a:endParaRPr lang="en-GB" sz="1400"/>
                    </a:p>
                  </a:txBody>
                  <a:tcPr marL="70198" marR="70198" marT="35099" marB="35099" anchor="ctr"/>
                </a:tc>
                <a:tc>
                  <a:txBody>
                    <a:bodyPr/>
                    <a:lstStyle/>
                    <a:p>
                      <a:r>
                        <a:rPr lang="en-GB" sz="1400"/>
                        <a:t>The current situation the agent is in.</a:t>
                      </a:r>
                    </a:p>
                  </a:txBody>
                  <a:tcPr marL="70198" marR="70198" marT="35099" marB="35099" anchor="ctr"/>
                </a:tc>
                <a:tc>
                  <a:txBody>
                    <a:bodyPr/>
                    <a:lstStyle/>
                    <a:p>
                      <a:r>
                        <a:rPr lang="en-GB" sz="1400"/>
                        <a:t>The puppy's position (standing, sitting)</a:t>
                      </a:r>
                    </a:p>
                  </a:txBody>
                  <a:tcPr marL="70198" marR="70198" marT="35099" marB="35099" anchor="ctr"/>
                </a:tc>
                <a:extLst>
                  <a:ext uri="{0D108BD9-81ED-4DB2-BD59-A6C34878D82A}">
                    <a16:rowId xmlns:a16="http://schemas.microsoft.com/office/drawing/2014/main" val="1292100891"/>
                  </a:ext>
                </a:extLst>
              </a:tr>
              <a:tr h="233993">
                <a:tc>
                  <a:txBody>
                    <a:bodyPr/>
                    <a:lstStyle/>
                    <a:p>
                      <a:r>
                        <a:rPr lang="en-GB" sz="1400" b="1"/>
                        <a:t>Action (a)</a:t>
                      </a:r>
                      <a:endParaRPr lang="en-GB" sz="1400"/>
                    </a:p>
                  </a:txBody>
                  <a:tcPr marL="70198" marR="70198" marT="35099" marB="35099" anchor="ctr"/>
                </a:tc>
                <a:tc>
                  <a:txBody>
                    <a:bodyPr/>
                    <a:lstStyle/>
                    <a:p>
                      <a:r>
                        <a:rPr lang="en-GB" sz="1400"/>
                        <a:t>The choice the agent makes.</a:t>
                      </a:r>
                    </a:p>
                  </a:txBody>
                  <a:tcPr marL="70198" marR="70198" marT="35099" marB="35099" anchor="ctr"/>
                </a:tc>
                <a:tc>
                  <a:txBody>
                    <a:bodyPr/>
                    <a:lstStyle/>
                    <a:p>
                      <a:r>
                        <a:rPr lang="en-GB" sz="1400"/>
                        <a:t>Sit, jump, lie down</a:t>
                      </a:r>
                    </a:p>
                  </a:txBody>
                  <a:tcPr marL="70198" marR="70198" marT="35099" marB="35099" anchor="ctr"/>
                </a:tc>
                <a:extLst>
                  <a:ext uri="{0D108BD9-81ED-4DB2-BD59-A6C34878D82A}">
                    <a16:rowId xmlns:a16="http://schemas.microsoft.com/office/drawing/2014/main" val="1183917"/>
                  </a:ext>
                </a:extLst>
              </a:tr>
              <a:tr h="397788">
                <a:tc>
                  <a:txBody>
                    <a:bodyPr/>
                    <a:lstStyle/>
                    <a:p>
                      <a:r>
                        <a:rPr lang="en-GB" sz="1400" b="1"/>
                        <a:t>Reward (r)</a:t>
                      </a:r>
                      <a:endParaRPr lang="en-GB" sz="1400"/>
                    </a:p>
                  </a:txBody>
                  <a:tcPr marL="70198" marR="70198" marT="35099" marB="35099" anchor="ctr"/>
                </a:tc>
                <a:tc>
                  <a:txBody>
                    <a:bodyPr/>
                    <a:lstStyle/>
                    <a:p>
                      <a:r>
                        <a:rPr lang="en-GB" sz="1400"/>
                        <a:t>Feedback signal (positive or negative) after taking an action.</a:t>
                      </a:r>
                    </a:p>
                  </a:txBody>
                  <a:tcPr marL="70198" marR="70198" marT="35099" marB="35099" anchor="ctr"/>
                </a:tc>
                <a:tc>
                  <a:txBody>
                    <a:bodyPr/>
                    <a:lstStyle/>
                    <a:p>
                      <a:r>
                        <a:rPr lang="en-GB" sz="1400"/>
                        <a:t>Treat or no treat</a:t>
                      </a:r>
                    </a:p>
                  </a:txBody>
                  <a:tcPr marL="70198" marR="70198" marT="35099" marB="35099" anchor="ctr"/>
                </a:tc>
                <a:extLst>
                  <a:ext uri="{0D108BD9-81ED-4DB2-BD59-A6C34878D82A}">
                    <a16:rowId xmlns:a16="http://schemas.microsoft.com/office/drawing/2014/main" val="3042061017"/>
                  </a:ext>
                </a:extLst>
              </a:tr>
              <a:tr h="397788">
                <a:tc>
                  <a:txBody>
                    <a:bodyPr/>
                    <a:lstStyle/>
                    <a:p>
                      <a:r>
                        <a:rPr lang="en-GB" sz="1400" b="1"/>
                        <a:t>Policy (</a:t>
                      </a:r>
                      <a:r>
                        <a:rPr lang="el-GR" sz="1400" b="1"/>
                        <a:t>π)</a:t>
                      </a:r>
                      <a:endParaRPr lang="el-GR" sz="1400"/>
                    </a:p>
                  </a:txBody>
                  <a:tcPr marL="70198" marR="70198" marT="35099" marB="35099" anchor="ctr"/>
                </a:tc>
                <a:tc>
                  <a:txBody>
                    <a:bodyPr/>
                    <a:lstStyle/>
                    <a:p>
                      <a:r>
                        <a:rPr lang="en-GB" sz="1400"/>
                        <a:t>The strategy or rules the agent follows to choose actions.</a:t>
                      </a:r>
                    </a:p>
                  </a:txBody>
                  <a:tcPr marL="70198" marR="70198" marT="35099" marB="35099" anchor="ctr"/>
                </a:tc>
                <a:tc>
                  <a:txBody>
                    <a:bodyPr/>
                    <a:lstStyle/>
                    <a:p>
                      <a:r>
                        <a:rPr lang="en-GB" sz="1400"/>
                        <a:t>"If I hear 'Sit', then sit down."</a:t>
                      </a:r>
                    </a:p>
                  </a:txBody>
                  <a:tcPr marL="70198" marR="70198" marT="35099" marB="35099" anchor="ctr"/>
                </a:tc>
                <a:extLst>
                  <a:ext uri="{0D108BD9-81ED-4DB2-BD59-A6C34878D82A}">
                    <a16:rowId xmlns:a16="http://schemas.microsoft.com/office/drawing/2014/main" val="1904448555"/>
                  </a:ext>
                </a:extLst>
              </a:tr>
              <a:tr h="561584">
                <a:tc>
                  <a:txBody>
                    <a:bodyPr/>
                    <a:lstStyle/>
                    <a:p>
                      <a:r>
                        <a:rPr lang="en-GB" sz="1400" b="1"/>
                        <a:t>Value Function (V)</a:t>
                      </a:r>
                      <a:endParaRPr lang="en-GB" sz="1400"/>
                    </a:p>
                  </a:txBody>
                  <a:tcPr marL="70198" marR="70198" marT="35099" marB="35099" anchor="ctr"/>
                </a:tc>
                <a:tc>
                  <a:txBody>
                    <a:bodyPr/>
                    <a:lstStyle/>
                    <a:p>
                      <a:r>
                        <a:rPr lang="en-GB" sz="1400"/>
                        <a:t>The long-term reward expected from a state (how good a state is in the long run).</a:t>
                      </a:r>
                    </a:p>
                  </a:txBody>
                  <a:tcPr marL="70198" marR="70198" marT="35099" marB="35099" anchor="ctr"/>
                </a:tc>
                <a:tc>
                  <a:txBody>
                    <a:bodyPr/>
                    <a:lstStyle/>
                    <a:p>
                      <a:r>
                        <a:rPr lang="en-GB" sz="1400"/>
                        <a:t>"How valuable is being calm when asked?"</a:t>
                      </a:r>
                    </a:p>
                  </a:txBody>
                  <a:tcPr marL="70198" marR="70198" marT="35099" marB="35099" anchor="ctr"/>
                </a:tc>
                <a:extLst>
                  <a:ext uri="{0D108BD9-81ED-4DB2-BD59-A6C34878D82A}">
                    <a16:rowId xmlns:a16="http://schemas.microsoft.com/office/drawing/2014/main" val="4198451538"/>
                  </a:ext>
                </a:extLst>
              </a:tr>
              <a:tr h="561584">
                <a:tc>
                  <a:txBody>
                    <a:bodyPr/>
                    <a:lstStyle/>
                    <a:p>
                      <a:r>
                        <a:rPr lang="en-GB" sz="1400" b="1"/>
                        <a:t>Q-Value (Q)</a:t>
                      </a:r>
                      <a:endParaRPr lang="en-GB" sz="1400"/>
                    </a:p>
                  </a:txBody>
                  <a:tcPr marL="70198" marR="70198" marT="35099" marB="35099" anchor="ctr"/>
                </a:tc>
                <a:tc>
                  <a:txBody>
                    <a:bodyPr/>
                    <a:lstStyle/>
                    <a:p>
                      <a:r>
                        <a:rPr lang="en-GB" sz="1400"/>
                        <a:t>Expected reward for taking a specific action in a state, then following a policy after.</a:t>
                      </a:r>
                    </a:p>
                  </a:txBody>
                  <a:tcPr marL="70198" marR="70198" marT="35099" marB="35099" anchor="ctr"/>
                </a:tc>
                <a:tc>
                  <a:txBody>
                    <a:bodyPr/>
                    <a:lstStyle/>
                    <a:p>
                      <a:r>
                        <a:rPr lang="en-GB" sz="1400" dirty="0"/>
                        <a:t>"If I sit now, how good is that decision for future rewards?"</a:t>
                      </a:r>
                    </a:p>
                  </a:txBody>
                  <a:tcPr marL="70198" marR="70198" marT="35099" marB="35099" anchor="ctr"/>
                </a:tc>
                <a:extLst>
                  <a:ext uri="{0D108BD9-81ED-4DB2-BD59-A6C34878D82A}">
                    <a16:rowId xmlns:a16="http://schemas.microsoft.com/office/drawing/2014/main" val="1932996524"/>
                  </a:ext>
                </a:extLst>
              </a:tr>
            </a:tbl>
          </a:graphicData>
        </a:graphic>
      </p:graphicFrame>
    </p:spTree>
    <p:extLst>
      <p:ext uri="{BB962C8B-B14F-4D97-AF65-F5344CB8AC3E}">
        <p14:creationId xmlns:p14="http://schemas.microsoft.com/office/powerpoint/2010/main" val="1751790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E6556E0D-44D7-1AD8-8E4C-102110ABFE8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92674ED-6565-A343-303B-94EE1AD5B97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kumimoji="0" lang="en-US" altLang="en-US" sz="2800" b="1" i="0" u="none" strike="noStrike" cap="none" normalizeH="0" baseline="0" dirty="0">
                <a:ln>
                  <a:noFill/>
                </a:ln>
                <a:solidFill>
                  <a:srgbClr val="7030A0"/>
                </a:solidFill>
                <a:effectLst/>
                <a:latin typeface="Arial" panose="020B0604020202020204" pitchFamily="34" charset="0"/>
              </a:rPr>
              <a:t>Quick Example: Game of Tic-Tac-Toe</a:t>
            </a: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15B28782-DA62-B34E-C3F3-9855882021D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EA9235AD-27B0-4F61-1E45-B82DA63E2C1C}"/>
              </a:ext>
            </a:extLst>
          </p:cNvPr>
          <p:cNvSpPr txBox="1"/>
          <p:nvPr/>
        </p:nvSpPr>
        <p:spPr>
          <a:xfrm>
            <a:off x="1221014" y="714040"/>
            <a:ext cx="4831444" cy="3046988"/>
          </a:xfrm>
          <a:prstGeom prst="rect">
            <a:avLst/>
          </a:prstGeom>
          <a:noFill/>
        </p:spPr>
        <p:txBody>
          <a:bodyPr wrap="square">
            <a:spAutoFit/>
          </a:bodyPr>
          <a:lstStyle/>
          <a:p>
            <a:pPr marL="342900" indent="-342900">
              <a:buFont typeface="+mj-lt"/>
              <a:buAutoNum type="arabicPeriod"/>
            </a:pPr>
            <a:r>
              <a:rPr lang="en-GB" sz="1600" b="1" dirty="0"/>
              <a:t>Agent</a:t>
            </a:r>
            <a:r>
              <a:rPr lang="en-GB" sz="1600" dirty="0"/>
              <a:t>: The RL model that learns to play.</a:t>
            </a:r>
          </a:p>
          <a:p>
            <a:pPr marL="342900" indent="-342900">
              <a:buFont typeface="+mj-lt"/>
              <a:buAutoNum type="arabicPeriod"/>
            </a:pPr>
            <a:r>
              <a:rPr lang="en-GB" sz="1600" b="1" dirty="0"/>
              <a:t>Environment</a:t>
            </a:r>
            <a:r>
              <a:rPr lang="en-GB" sz="1600" dirty="0"/>
              <a:t>: The game board.</a:t>
            </a:r>
          </a:p>
          <a:p>
            <a:pPr marL="342900" indent="-342900">
              <a:buFont typeface="+mj-lt"/>
              <a:buAutoNum type="arabicPeriod"/>
            </a:pPr>
            <a:r>
              <a:rPr lang="en-GB" sz="1600" b="1" dirty="0"/>
              <a:t>State</a:t>
            </a:r>
            <a:r>
              <a:rPr lang="en-GB" sz="1600" dirty="0"/>
              <a:t>: The current positions of </a:t>
            </a:r>
            <a:r>
              <a:rPr lang="en-GB" sz="1600" dirty="0" err="1"/>
              <a:t>Xs</a:t>
            </a:r>
            <a:r>
              <a:rPr lang="en-GB" sz="1600" dirty="0"/>
              <a:t> and </a:t>
            </a:r>
            <a:r>
              <a:rPr lang="en-GB" sz="1600" dirty="0" err="1"/>
              <a:t>Os</a:t>
            </a:r>
            <a:r>
              <a:rPr lang="en-GB" sz="1600" dirty="0"/>
              <a:t>.</a:t>
            </a:r>
          </a:p>
          <a:p>
            <a:pPr marL="342900" indent="-342900">
              <a:buFont typeface="+mj-lt"/>
              <a:buAutoNum type="arabicPeriod"/>
            </a:pPr>
            <a:r>
              <a:rPr lang="en-GB" sz="1600" b="1" dirty="0"/>
              <a:t>Action</a:t>
            </a:r>
            <a:r>
              <a:rPr lang="en-GB" sz="1600" dirty="0"/>
              <a:t>: Putting an X in an empty square.</a:t>
            </a:r>
          </a:p>
          <a:p>
            <a:pPr marL="342900" indent="-342900">
              <a:buFont typeface="+mj-lt"/>
              <a:buAutoNum type="arabicPeriod"/>
            </a:pPr>
            <a:r>
              <a:rPr lang="en-GB" sz="1600" b="1" dirty="0"/>
              <a:t>Reward</a:t>
            </a:r>
            <a:r>
              <a:rPr lang="en-GB" sz="1600" dirty="0"/>
              <a:t>: +1 for winning, -1 for losing, 0 for a draw.</a:t>
            </a:r>
          </a:p>
          <a:p>
            <a:pPr marL="342900" indent="-342900">
              <a:buFont typeface="+mj-lt"/>
              <a:buAutoNum type="arabicPeriod"/>
            </a:pPr>
            <a:r>
              <a:rPr lang="en-GB" sz="1600" b="1" dirty="0"/>
              <a:t>Policy</a:t>
            </a:r>
            <a:r>
              <a:rPr lang="en-GB" sz="1600" dirty="0"/>
              <a:t>: Rules for choosing which square to mark next.</a:t>
            </a:r>
          </a:p>
          <a:p>
            <a:pPr marL="342900" indent="-342900">
              <a:buFont typeface="+mj-lt"/>
              <a:buAutoNum type="arabicPeriod"/>
            </a:pPr>
            <a:r>
              <a:rPr lang="en-GB" sz="1600" b="1" dirty="0"/>
              <a:t>Value Function</a:t>
            </a:r>
            <a:r>
              <a:rPr lang="en-GB" sz="1600" dirty="0"/>
              <a:t>: How likely this game state will lead to a win.</a:t>
            </a:r>
          </a:p>
          <a:p>
            <a:pPr marL="342900" indent="-342900">
              <a:buFont typeface="+mj-lt"/>
              <a:buAutoNum type="arabicPeriod"/>
            </a:pPr>
            <a:r>
              <a:rPr lang="en-GB" sz="1600" b="1" dirty="0"/>
              <a:t>Q-Value</a:t>
            </a:r>
            <a:r>
              <a:rPr lang="en-GB" sz="1600" dirty="0"/>
              <a:t>: Expected reward of placing an X in a particular spot at a particular time.</a:t>
            </a:r>
          </a:p>
        </p:txBody>
      </p:sp>
    </p:spTree>
    <p:extLst>
      <p:ext uri="{BB962C8B-B14F-4D97-AF65-F5344CB8AC3E}">
        <p14:creationId xmlns:p14="http://schemas.microsoft.com/office/powerpoint/2010/main" val="1531074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D6E278F-7641-56E3-FB75-3B13C34FAAB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2983E83-3AB5-EBF7-65BA-BC9A2342D21D}"/>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kumimoji="0" lang="en-US" altLang="en-US" sz="2800" b="1" i="0" u="none" strike="noStrike" cap="none" normalizeH="0" baseline="0" dirty="0">
                <a:ln>
                  <a:noFill/>
                </a:ln>
                <a:solidFill>
                  <a:srgbClr val="7030A0"/>
                </a:solidFill>
                <a:effectLst/>
                <a:latin typeface="Arial" panose="020B0604020202020204" pitchFamily="34" charset="0"/>
              </a:rPr>
              <a:t>Quick Example: Game of Tic-Tac-Toe</a:t>
            </a: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0D1EEF62-4C38-4E8F-CBAA-2995FCAD465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106FA9-C278-2E4D-F27E-A0978228A76D}"/>
              </a:ext>
            </a:extLst>
          </p:cNvPr>
          <p:cNvSpPr txBox="1"/>
          <p:nvPr/>
        </p:nvSpPr>
        <p:spPr>
          <a:xfrm>
            <a:off x="4250823" y="1113183"/>
            <a:ext cx="4648200" cy="3539430"/>
          </a:xfrm>
          <a:prstGeom prst="rect">
            <a:avLst/>
          </a:prstGeom>
          <a:noFill/>
        </p:spPr>
        <p:txBody>
          <a:bodyPr wrap="square">
            <a:spAutoFit/>
          </a:bodyPr>
          <a:lstStyle/>
          <a:p>
            <a:pPr>
              <a:buNone/>
            </a:pPr>
            <a:r>
              <a:rPr lang="en-GB" b="1" dirty="0"/>
              <a:t>How it relates to RL:</a:t>
            </a:r>
          </a:p>
          <a:p>
            <a:pPr marL="342900" indent="-342900">
              <a:buFont typeface="+mj-lt"/>
              <a:buAutoNum type="arabicPeriod"/>
            </a:pPr>
            <a:r>
              <a:rPr lang="en-GB" b="1" dirty="0"/>
              <a:t>Agent</a:t>
            </a:r>
            <a:r>
              <a:rPr lang="en-GB" dirty="0"/>
              <a:t>: Starts at the blue cell </a:t>
            </a:r>
            <a:r>
              <a:rPr lang="en-GB" dirty="0" err="1"/>
              <a:t>labeled</a:t>
            </a:r>
            <a:r>
              <a:rPr lang="en-GB" dirty="0"/>
              <a:t> "Start".</a:t>
            </a:r>
          </a:p>
          <a:p>
            <a:pPr marL="342900" indent="-342900">
              <a:buFont typeface="+mj-lt"/>
              <a:buAutoNum type="arabicPeriod"/>
            </a:pPr>
            <a:r>
              <a:rPr lang="en-GB" b="1" dirty="0"/>
              <a:t>Environment</a:t>
            </a:r>
            <a:r>
              <a:rPr lang="en-GB" dirty="0"/>
              <a:t>: The 5x5 grid.</a:t>
            </a:r>
          </a:p>
          <a:p>
            <a:pPr marL="342900" indent="-342900">
              <a:buFont typeface="+mj-lt"/>
              <a:buAutoNum type="arabicPeriod"/>
            </a:pPr>
            <a:r>
              <a:rPr lang="en-GB" b="1" dirty="0"/>
              <a:t>State</a:t>
            </a:r>
            <a:r>
              <a:rPr lang="en-GB" dirty="0"/>
              <a:t>: Each cell in the grid is a possible state.</a:t>
            </a:r>
          </a:p>
          <a:p>
            <a:pPr marL="342900" indent="-342900">
              <a:buFont typeface="+mj-lt"/>
              <a:buAutoNum type="arabicPeriod"/>
            </a:pPr>
            <a:r>
              <a:rPr lang="en-GB" b="1" dirty="0"/>
              <a:t>Action</a:t>
            </a:r>
            <a:r>
              <a:rPr lang="en-GB" dirty="0"/>
              <a:t>: The agent can move up, down, left, or right.</a:t>
            </a:r>
          </a:p>
          <a:p>
            <a:pPr marL="342900" indent="-342900">
              <a:buFont typeface="+mj-lt"/>
              <a:buAutoNum type="arabicPeriod"/>
            </a:pPr>
            <a:r>
              <a:rPr lang="en-GB" b="1" dirty="0"/>
              <a:t>Reward</a:t>
            </a:r>
            <a:r>
              <a:rPr lang="en-GB" dirty="0"/>
              <a:t>:</a:t>
            </a:r>
          </a:p>
          <a:p>
            <a:pPr marL="800100" lvl="1" indent="-342900">
              <a:buFont typeface="+mj-lt"/>
              <a:buAutoNum type="alphaLcPeriod"/>
            </a:pPr>
            <a:r>
              <a:rPr lang="en-GB" dirty="0"/>
              <a:t>+1 for reaching the green "Goal" cell.</a:t>
            </a:r>
          </a:p>
          <a:p>
            <a:pPr marL="800100" lvl="1" indent="-342900">
              <a:buFont typeface="+mj-lt"/>
              <a:buAutoNum type="alphaLcPeriod"/>
            </a:pPr>
            <a:r>
              <a:rPr lang="en-GB" dirty="0"/>
              <a:t>-1 or 0 for stepping into an obstacle (red "X") or non-goal cell.</a:t>
            </a:r>
          </a:p>
          <a:p>
            <a:pPr marL="342900" indent="-342900">
              <a:buFont typeface="+mj-lt"/>
              <a:buAutoNum type="arabicPeriod"/>
            </a:pPr>
            <a:r>
              <a:rPr lang="en-GB" b="1" dirty="0"/>
              <a:t>Policy (</a:t>
            </a:r>
            <a:r>
              <a:rPr lang="el-GR" b="1" dirty="0"/>
              <a:t>π)</a:t>
            </a:r>
            <a:r>
              <a:rPr lang="el-GR" dirty="0"/>
              <a:t>: </a:t>
            </a:r>
            <a:r>
              <a:rPr lang="en-GB" dirty="0"/>
              <a:t>A strategy that tells the agent which direction to move in each state.</a:t>
            </a:r>
          </a:p>
          <a:p>
            <a:pPr marL="342900" indent="-342900">
              <a:buFont typeface="+mj-lt"/>
              <a:buAutoNum type="arabicPeriod"/>
            </a:pPr>
            <a:r>
              <a:rPr lang="en-GB" b="1" dirty="0"/>
              <a:t>Value Function (V)</a:t>
            </a:r>
            <a:r>
              <a:rPr lang="en-GB" dirty="0"/>
              <a:t>: Measures how good it is to be in a particular state (e.g., how close it is to the goal).</a:t>
            </a:r>
          </a:p>
          <a:p>
            <a:pPr marL="342900" indent="-342900">
              <a:buFont typeface="+mj-lt"/>
              <a:buAutoNum type="arabicPeriod"/>
            </a:pPr>
            <a:r>
              <a:rPr lang="en-GB" b="1" dirty="0"/>
              <a:t>Q-Value (Q)</a:t>
            </a:r>
            <a:r>
              <a:rPr lang="en-GB" dirty="0"/>
              <a:t>: Measures how good it is to take a particular action in a given state.</a:t>
            </a:r>
          </a:p>
          <a:p>
            <a:pPr>
              <a:buFont typeface="Arial" panose="020B0604020202020204" pitchFamily="34" charset="0"/>
              <a:buChar char="•"/>
            </a:pPr>
            <a:endParaRPr lang="en-GB" dirty="0"/>
          </a:p>
        </p:txBody>
      </p:sp>
      <p:pic>
        <p:nvPicPr>
          <p:cNvPr id="2" name="Picture 1">
            <a:extLst>
              <a:ext uri="{FF2B5EF4-FFF2-40B4-BE49-F238E27FC236}">
                <a16:creationId xmlns:a16="http://schemas.microsoft.com/office/drawing/2014/main" id="{AF603F79-7543-4D97-C7A5-9E1C915F89CE}"/>
              </a:ext>
            </a:extLst>
          </p:cNvPr>
          <p:cNvPicPr>
            <a:picLocks noChangeAspect="1"/>
          </p:cNvPicPr>
          <p:nvPr/>
        </p:nvPicPr>
        <p:blipFill>
          <a:blip r:embed="rId3"/>
          <a:stretch>
            <a:fillRect/>
          </a:stretch>
        </p:blipFill>
        <p:spPr>
          <a:xfrm>
            <a:off x="0" y="1017025"/>
            <a:ext cx="4114800" cy="4114800"/>
          </a:xfrm>
          <a:prstGeom prst="rect">
            <a:avLst/>
          </a:prstGeom>
        </p:spPr>
      </p:pic>
    </p:spTree>
    <p:extLst>
      <p:ext uri="{BB962C8B-B14F-4D97-AF65-F5344CB8AC3E}">
        <p14:creationId xmlns:p14="http://schemas.microsoft.com/office/powerpoint/2010/main" val="417529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CE591BE-1A64-5F36-5CF3-0D0D237B0A1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AB3C1F8-9981-E3E7-368B-ACF13197AD5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kumimoji="0" lang="en-US" altLang="en-US" sz="2800" b="1" i="0" u="none" strike="noStrike" cap="none" normalizeH="0" baseline="0" dirty="0">
                <a:ln>
                  <a:noFill/>
                </a:ln>
                <a:solidFill>
                  <a:srgbClr val="7030A0"/>
                </a:solidFill>
                <a:effectLst/>
                <a:latin typeface="Arial" panose="020B0604020202020204" pitchFamily="34" charset="0"/>
              </a:rPr>
              <a:t>2. Understanding Reward-Based Learning</a:t>
            </a: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61D3D98-C350-7EEF-A32D-03DC33DCCE1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F3DB1CB3-8260-A9F7-7D4E-2A353C412199}"/>
              </a:ext>
            </a:extLst>
          </p:cNvPr>
          <p:cNvSpPr txBox="1"/>
          <p:nvPr/>
        </p:nvSpPr>
        <p:spPr>
          <a:xfrm>
            <a:off x="107288" y="714040"/>
            <a:ext cx="8507137" cy="4185761"/>
          </a:xfrm>
          <a:prstGeom prst="rect">
            <a:avLst/>
          </a:prstGeom>
          <a:noFill/>
        </p:spPr>
        <p:txBody>
          <a:bodyPr wrap="square">
            <a:spAutoFit/>
          </a:bodyPr>
          <a:lstStyle/>
          <a:p>
            <a:pPr algn="l">
              <a:buNone/>
            </a:pPr>
            <a:r>
              <a:rPr lang="en-GB" b="0" i="0" u="none" strike="noStrike" dirty="0">
                <a:solidFill>
                  <a:srgbClr val="000000"/>
                </a:solidFill>
                <a:effectLst/>
              </a:rPr>
              <a:t>Reward-based learning is the fundamental principle of Reinforcement Learning (RL), where an agent learns optimal </a:t>
            </a:r>
            <a:r>
              <a:rPr lang="en-GB" b="0" i="0" u="none" strike="noStrike" dirty="0" err="1">
                <a:solidFill>
                  <a:srgbClr val="000000"/>
                </a:solidFill>
                <a:effectLst/>
              </a:rPr>
              <a:t>behavior</a:t>
            </a:r>
            <a:r>
              <a:rPr lang="en-GB" b="0" i="0" u="none" strike="noStrike" dirty="0">
                <a:solidFill>
                  <a:srgbClr val="000000"/>
                </a:solidFill>
                <a:effectLst/>
              </a:rPr>
              <a:t> through trial and error, guided by rewards from its environment.</a:t>
            </a:r>
          </a:p>
          <a:p>
            <a:pPr algn="l"/>
            <a:r>
              <a:rPr lang="en-GB" b="1" i="0" u="none" strike="noStrike" dirty="0">
                <a:solidFill>
                  <a:srgbClr val="000000"/>
                </a:solidFill>
                <a:effectLst/>
              </a:rPr>
              <a:t>Learning Mechanism:</a:t>
            </a:r>
            <a:r>
              <a:rPr lang="en-GB" b="0" i="0" u="none" strike="noStrike" dirty="0">
                <a:solidFill>
                  <a:srgbClr val="000000"/>
                </a:solidFill>
                <a:effectLst/>
              </a:rPr>
              <a:t> The agent learns by:</a:t>
            </a:r>
          </a:p>
          <a:p>
            <a:pPr marL="800100" lvl="1" indent="-342900" algn="l">
              <a:buFont typeface="+mj-lt"/>
              <a:buAutoNum type="arabicPeriod"/>
            </a:pPr>
            <a:r>
              <a:rPr lang="en-GB" b="1" i="0" u="none" strike="noStrike" dirty="0">
                <a:solidFill>
                  <a:srgbClr val="000000"/>
                </a:solidFill>
                <a:effectLst/>
              </a:rPr>
              <a:t>Exploring:</a:t>
            </a:r>
            <a:r>
              <a:rPr lang="en-GB" b="0" i="0" u="none" strike="noStrike" dirty="0">
                <a:solidFill>
                  <a:srgbClr val="000000"/>
                </a:solidFill>
                <a:effectLst/>
              </a:rPr>
              <a:t> Trying different, often new, actions to discover which ones yield positive reward signals. This is crucial for discovering effective strategies that might not be immediately obvious.</a:t>
            </a:r>
          </a:p>
          <a:p>
            <a:pPr marL="800100" lvl="1" indent="-342900" algn="l">
              <a:buFont typeface="+mj-lt"/>
              <a:buAutoNum type="arabicPeriod"/>
            </a:pPr>
            <a:r>
              <a:rPr lang="en-GB" b="1" i="0" u="none" strike="noStrike" dirty="0">
                <a:solidFill>
                  <a:srgbClr val="000000"/>
                </a:solidFill>
                <a:effectLst/>
              </a:rPr>
              <a:t>Exploiting:</a:t>
            </a:r>
            <a:r>
              <a:rPr lang="en-GB" b="0" i="0" u="none" strike="noStrike" dirty="0">
                <a:solidFill>
                  <a:srgbClr val="000000"/>
                </a:solidFill>
                <a:effectLst/>
              </a:rPr>
              <a:t> Leveraging its accumulated knowledge of previously rewarded actions to maximize its current gains. This means choosing actions that are known to lead to high rewards.</a:t>
            </a:r>
          </a:p>
          <a:p>
            <a:pPr algn="l"/>
            <a:r>
              <a:rPr lang="en-GB" b="1" i="0" u="none" strike="noStrike" dirty="0">
                <a:solidFill>
                  <a:srgbClr val="000000"/>
                </a:solidFill>
                <a:effectLst/>
              </a:rPr>
              <a:t>Key Concepts:</a:t>
            </a:r>
            <a:endParaRPr lang="en-GB" b="0" i="0" u="none" strike="noStrike" dirty="0">
              <a:solidFill>
                <a:srgbClr val="000000"/>
              </a:solidFill>
              <a:effectLst/>
            </a:endParaRPr>
          </a:p>
          <a:p>
            <a:pPr marL="800100" lvl="1" indent="-342900" algn="l">
              <a:buFont typeface="+mj-lt"/>
              <a:buAutoNum type="arabicPeriod"/>
            </a:pPr>
            <a:r>
              <a:rPr lang="en-GB" b="1" i="0" u="none" strike="noStrike" dirty="0">
                <a:solidFill>
                  <a:srgbClr val="000000"/>
                </a:solidFill>
                <a:effectLst/>
              </a:rPr>
              <a:t>Reward Signal (r):</a:t>
            </a:r>
            <a:r>
              <a:rPr lang="en-GB" b="0" i="0" u="none" strike="noStrike" dirty="0">
                <a:solidFill>
                  <a:srgbClr val="000000"/>
                </a:solidFill>
                <a:effectLst/>
              </a:rPr>
              <a:t> This is the immediate scalar feedback received from the environment after taking an action. It directly guides the agent towards desirable </a:t>
            </a:r>
            <a:r>
              <a:rPr lang="en-GB" b="0" i="0" u="none" strike="noStrike" dirty="0" err="1">
                <a:solidFill>
                  <a:srgbClr val="000000"/>
                </a:solidFill>
                <a:effectLst/>
              </a:rPr>
              <a:t>behaviors</a:t>
            </a:r>
            <a:r>
              <a:rPr lang="en-GB" b="0" i="0" u="none" strike="noStrike" dirty="0">
                <a:solidFill>
                  <a:srgbClr val="000000"/>
                </a:solidFill>
                <a:effectLst/>
              </a:rPr>
              <a:t>. A positive reward encourages the action, while a negative reward (punishment) discourages it.</a:t>
            </a:r>
          </a:p>
          <a:p>
            <a:pPr marL="800100" lvl="1" indent="-342900" algn="l">
              <a:buFont typeface="+mj-lt"/>
              <a:buAutoNum type="arabicPeriod"/>
            </a:pPr>
            <a:r>
              <a:rPr lang="en-GB" b="1" i="0" u="none" strike="noStrike" dirty="0">
                <a:solidFill>
                  <a:srgbClr val="000000"/>
                </a:solidFill>
                <a:effectLst/>
              </a:rPr>
              <a:t>Delayed Rewards (Credit Assignment Problem):</a:t>
            </a:r>
            <a:r>
              <a:rPr lang="en-GB" b="0" i="0" u="none" strike="noStrike" dirty="0">
                <a:solidFill>
                  <a:srgbClr val="000000"/>
                </a:solidFill>
                <a:effectLst/>
              </a:rPr>
              <a:t> A significant challenge in RL is that the consequences (rewards) of an action might not be immediately apparent. An action taken now might only lead to a reward several steps later. The "credit assignment problem" refers to the challenge of determining which specific actions in a sequence were responsible for a delayed reward.</a:t>
            </a:r>
          </a:p>
          <a:p>
            <a:pPr>
              <a:buNone/>
            </a:pPr>
            <a:br>
              <a:rPr lang="en-GB" dirty="0"/>
            </a:br>
            <a:endParaRPr lang="en-GB" dirty="0"/>
          </a:p>
        </p:txBody>
      </p:sp>
    </p:spTree>
    <p:extLst>
      <p:ext uri="{BB962C8B-B14F-4D97-AF65-F5344CB8AC3E}">
        <p14:creationId xmlns:p14="http://schemas.microsoft.com/office/powerpoint/2010/main" val="3230265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68B404B-ABF3-15A9-9662-33A158DD377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AE4E463-D5D0-2216-C0E5-861BEACE84EA}"/>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kumimoji="0" lang="en-US" altLang="en-US" sz="2800" b="1" i="0" u="none" strike="noStrike" cap="none" normalizeH="0" baseline="0" dirty="0">
                <a:ln>
                  <a:noFill/>
                </a:ln>
                <a:solidFill>
                  <a:srgbClr val="7030A0"/>
                </a:solidFill>
                <a:effectLst/>
                <a:latin typeface="Arial" panose="020B0604020202020204" pitchFamily="34" charset="0"/>
              </a:rPr>
              <a:t>2. Understanding Reward-Based Learning</a:t>
            </a: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40469AC6-65F6-3218-939B-5F09C1F92EE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ACDA4768-4D1C-E55A-4E41-5033F23A9054}"/>
              </a:ext>
            </a:extLst>
          </p:cNvPr>
          <p:cNvSpPr txBox="1"/>
          <p:nvPr/>
        </p:nvSpPr>
        <p:spPr>
          <a:xfrm>
            <a:off x="107288" y="714040"/>
            <a:ext cx="8507137" cy="4832092"/>
          </a:xfrm>
          <a:prstGeom prst="rect">
            <a:avLst/>
          </a:prstGeom>
          <a:noFill/>
        </p:spPr>
        <p:txBody>
          <a:bodyPr wrap="square">
            <a:spAutoFit/>
          </a:bodyPr>
          <a:lstStyle/>
          <a:p>
            <a:pPr marL="457200" lvl="1" algn="l"/>
            <a:r>
              <a:rPr lang="en-GB" b="1" i="0" u="none" strike="noStrike" dirty="0">
                <a:solidFill>
                  <a:srgbClr val="000000"/>
                </a:solidFill>
                <a:effectLst/>
              </a:rPr>
              <a:t>Discount Factor (</a:t>
            </a:r>
            <a:r>
              <a:rPr lang="el-GR" b="1" i="0" u="none" strike="noStrike" dirty="0">
                <a:solidFill>
                  <a:srgbClr val="000000"/>
                </a:solidFill>
                <a:effectLst/>
              </a:rPr>
              <a:t>γ):</a:t>
            </a:r>
            <a:endParaRPr lang="el-GR" b="0" i="0" u="none" strike="noStrike" dirty="0">
              <a:solidFill>
                <a:srgbClr val="000000"/>
              </a:solidFill>
              <a:effectLst/>
            </a:endParaRPr>
          </a:p>
          <a:p>
            <a:pPr marL="1143000" lvl="2" indent="-228600" algn="l">
              <a:buFont typeface="Arial" panose="020B0604020202020204" pitchFamily="34" charset="0"/>
              <a:buChar char="•"/>
            </a:pPr>
            <a:r>
              <a:rPr lang="en-GB" b="1" i="0" u="none" strike="noStrike" dirty="0">
                <a:solidFill>
                  <a:srgbClr val="000000"/>
                </a:solidFill>
                <a:effectLst/>
              </a:rPr>
              <a:t>Purpose:</a:t>
            </a:r>
            <a:r>
              <a:rPr lang="en-GB" b="0" i="0" u="none" strike="noStrike" dirty="0">
                <a:solidFill>
                  <a:srgbClr val="000000"/>
                </a:solidFill>
                <a:effectLst/>
              </a:rPr>
              <a:t> It's a value between 0 and 1 (inclusive) that determines the importance of future rewards relative to immediate rewards.</a:t>
            </a:r>
          </a:p>
          <a:p>
            <a:pPr marL="1143000" lvl="2" indent="-228600" algn="l">
              <a:buFont typeface="Arial" panose="020B0604020202020204" pitchFamily="34" charset="0"/>
              <a:buChar char="•"/>
            </a:pPr>
            <a:r>
              <a:rPr lang="en-GB" b="1" i="0" u="none" strike="noStrike" dirty="0">
                <a:solidFill>
                  <a:srgbClr val="000000"/>
                </a:solidFill>
                <a:effectLst/>
              </a:rPr>
              <a:t>Interpretation:</a:t>
            </a:r>
            <a:endParaRPr lang="en-GB" b="0" i="0" u="none" strike="noStrike" dirty="0">
              <a:solidFill>
                <a:srgbClr val="000000"/>
              </a:solidFill>
              <a:effectLst/>
            </a:endParaRPr>
          </a:p>
          <a:p>
            <a:pPr marL="1600200" lvl="3" indent="-228600" algn="l">
              <a:buFont typeface="Arial" panose="020B0604020202020204" pitchFamily="34" charset="0"/>
              <a:buChar char="•"/>
            </a:pPr>
            <a:r>
              <a:rPr lang="el-GR" b="0" i="0" u="none" strike="noStrike" dirty="0">
                <a:solidFill>
                  <a:srgbClr val="000000"/>
                </a:solidFill>
                <a:effectLst/>
              </a:rPr>
              <a:t>γ=0: </a:t>
            </a:r>
            <a:r>
              <a:rPr lang="en-GB" b="0" i="0" u="none" strike="noStrike" dirty="0">
                <a:solidFill>
                  <a:srgbClr val="000000"/>
                </a:solidFill>
                <a:effectLst/>
              </a:rPr>
              <a:t>The agent is "myopic" and only considers immediate rewards.</a:t>
            </a:r>
          </a:p>
          <a:p>
            <a:pPr marL="1600200" lvl="3" indent="-228600" algn="l">
              <a:buFont typeface="Arial" panose="020B0604020202020204" pitchFamily="34" charset="0"/>
              <a:buChar char="•"/>
            </a:pPr>
            <a:r>
              <a:rPr lang="el-GR" b="0" i="0" u="none" strike="noStrike" dirty="0">
                <a:solidFill>
                  <a:srgbClr val="000000"/>
                </a:solidFill>
                <a:effectLst/>
              </a:rPr>
              <a:t>γ=1: </a:t>
            </a:r>
            <a:r>
              <a:rPr lang="en-GB" b="0" i="0" u="none" strike="noStrike" dirty="0">
                <a:solidFill>
                  <a:srgbClr val="000000"/>
                </a:solidFill>
                <a:effectLst/>
              </a:rPr>
              <a:t>The agent values future rewards as much as immediate rewards (undiscounted).</a:t>
            </a:r>
          </a:p>
          <a:p>
            <a:pPr marL="1600200" lvl="3" indent="-228600" algn="l">
              <a:buFont typeface="Arial" panose="020B0604020202020204" pitchFamily="34" charset="0"/>
              <a:buChar char="•"/>
            </a:pPr>
            <a:r>
              <a:rPr lang="en-GB" b="0" i="0" u="none" strike="noStrike" dirty="0">
                <a:solidFill>
                  <a:srgbClr val="000000"/>
                </a:solidFill>
                <a:effectLst/>
              </a:rPr>
              <a:t>0&lt;</a:t>
            </a:r>
            <a:r>
              <a:rPr lang="el-GR" b="0" i="0" u="none" strike="noStrike" dirty="0">
                <a:solidFill>
                  <a:srgbClr val="000000"/>
                </a:solidFill>
                <a:effectLst/>
              </a:rPr>
              <a:t>γ&lt;1: </a:t>
            </a:r>
            <a:r>
              <a:rPr lang="en-GB" b="0" i="0" u="none" strike="noStrike" dirty="0">
                <a:solidFill>
                  <a:srgbClr val="000000"/>
                </a:solidFill>
                <a:effectLst/>
              </a:rPr>
              <a:t>The agent values immediate rewards more, but still considers future rewards, with their value exponentially decaying over time.</a:t>
            </a:r>
          </a:p>
          <a:p>
            <a:pPr marL="1143000" lvl="2" indent="-228600" algn="l">
              <a:buFont typeface="Arial" panose="020B0604020202020204" pitchFamily="34" charset="0"/>
              <a:buChar char="•"/>
            </a:pPr>
            <a:r>
              <a:rPr lang="en-GB" b="1" i="0" u="none" strike="noStrike" dirty="0">
                <a:solidFill>
                  <a:srgbClr val="000000"/>
                </a:solidFill>
                <a:effectLst/>
              </a:rPr>
              <a:t>Effect:</a:t>
            </a:r>
            <a:r>
              <a:rPr lang="en-GB" b="0" i="0" u="none" strike="noStrike" dirty="0">
                <a:solidFill>
                  <a:srgbClr val="000000"/>
                </a:solidFill>
                <a:effectLst/>
              </a:rPr>
              <a:t> A lower </a:t>
            </a:r>
            <a:r>
              <a:rPr lang="el-GR" b="0" i="0" u="none" strike="noStrike" dirty="0">
                <a:solidFill>
                  <a:srgbClr val="000000"/>
                </a:solidFill>
                <a:effectLst/>
              </a:rPr>
              <a:t>γ </a:t>
            </a:r>
            <a:r>
              <a:rPr lang="en-GB" b="0" i="0" u="none" strike="noStrike" dirty="0">
                <a:solidFill>
                  <a:srgbClr val="000000"/>
                </a:solidFill>
                <a:effectLst/>
              </a:rPr>
              <a:t>makes the agent focus on short-term gains, while a higher </a:t>
            </a:r>
            <a:r>
              <a:rPr lang="el-GR" b="0" i="0" u="none" strike="noStrike" dirty="0">
                <a:solidFill>
                  <a:srgbClr val="000000"/>
                </a:solidFill>
                <a:effectLst/>
              </a:rPr>
              <a:t>γ </a:t>
            </a:r>
            <a:r>
              <a:rPr lang="en-GB" b="0" i="0" u="none" strike="noStrike" dirty="0">
                <a:solidFill>
                  <a:srgbClr val="000000"/>
                </a:solidFill>
                <a:effectLst/>
              </a:rPr>
              <a:t>encourages long-term planning.</a:t>
            </a:r>
          </a:p>
          <a:p>
            <a:pPr algn="l">
              <a:buNone/>
            </a:pPr>
            <a:r>
              <a:rPr lang="en-GB" sz="1600" b="1" i="0" u="none" strike="noStrike" dirty="0">
                <a:solidFill>
                  <a:srgbClr val="000000"/>
                </a:solidFill>
                <a:effectLst/>
              </a:rPr>
              <a:t>Bellman Equation (for Value Functions):</a:t>
            </a:r>
            <a:endParaRPr lang="en-GB" sz="1600" b="0" i="0" u="none" strike="noStrike" dirty="0">
              <a:solidFill>
                <a:srgbClr val="000000"/>
              </a:solidFill>
              <a:effectLst/>
            </a:endParaRPr>
          </a:p>
          <a:p>
            <a:pPr algn="l"/>
            <a:r>
              <a:rPr lang="en-GB" b="1" i="0" u="none" strike="noStrike" dirty="0">
                <a:solidFill>
                  <a:srgbClr val="000000"/>
                </a:solidFill>
                <a:effectLst/>
              </a:rPr>
              <a:t>Purpose:</a:t>
            </a:r>
            <a:r>
              <a:rPr lang="en-GB" b="0" i="0" u="none" strike="noStrike" dirty="0">
                <a:solidFill>
                  <a:srgbClr val="000000"/>
                </a:solidFill>
                <a:effectLst/>
              </a:rPr>
              <a:t> The Bellman equation is a fundamental equation in dynamic programming and RL that defines the relationship between the value of a state and the values of its successor states. It essentially breaks down the long-term value problem into smaller, recursive parts.</a:t>
            </a:r>
          </a:p>
          <a:p>
            <a:pPr algn="ctr"/>
            <a:r>
              <a:rPr lang="en-GB" b="1" i="0" u="none" strike="noStrike" dirty="0">
                <a:solidFill>
                  <a:srgbClr val="000000"/>
                </a:solidFill>
                <a:effectLst/>
              </a:rPr>
              <a:t>Equation:</a:t>
            </a:r>
            <a:r>
              <a:rPr lang="en-GB" b="0" i="0" u="none" strike="noStrike" dirty="0">
                <a:solidFill>
                  <a:srgbClr val="000000"/>
                </a:solidFill>
                <a:effectLst/>
              </a:rPr>
              <a:t> </a:t>
            </a:r>
            <a:r>
              <a:rPr lang="en-GB" b="0" i="1" u="none" strike="noStrike" dirty="0">
                <a:solidFill>
                  <a:srgbClr val="FF0000"/>
                </a:solidFill>
                <a:effectLst/>
              </a:rPr>
              <a:t>V(s)=E[r+</a:t>
            </a:r>
            <a:r>
              <a:rPr lang="el-GR" b="0" i="1" u="none" strike="noStrike" dirty="0">
                <a:solidFill>
                  <a:srgbClr val="FF0000"/>
                </a:solidFill>
                <a:effectLst/>
              </a:rPr>
              <a:t>γ</a:t>
            </a:r>
            <a:r>
              <a:rPr lang="en-GB" b="0" i="1" u="none" strike="noStrike" dirty="0">
                <a:solidFill>
                  <a:srgbClr val="FF0000"/>
                </a:solidFill>
                <a:effectLst/>
              </a:rPr>
              <a:t>V(s′)]</a:t>
            </a:r>
          </a:p>
          <a:p>
            <a:pPr algn="l"/>
            <a:r>
              <a:rPr lang="en-GB" b="1" i="0" u="none" strike="noStrike" dirty="0">
                <a:solidFill>
                  <a:srgbClr val="000000"/>
                </a:solidFill>
                <a:effectLst/>
              </a:rPr>
              <a:t>Explanation:</a:t>
            </a:r>
            <a:r>
              <a:rPr lang="en-GB" b="0" i="0" u="none" strike="noStrike" dirty="0">
                <a:solidFill>
                  <a:srgbClr val="000000"/>
                </a:solidFill>
                <a:effectLst/>
              </a:rPr>
              <a:t> The value (V(s)) of being in a particular state (s) is equal to the </a:t>
            </a:r>
            <a:r>
              <a:rPr lang="en-GB" b="1" i="0" u="none" strike="noStrike" dirty="0">
                <a:solidFill>
                  <a:srgbClr val="000000"/>
                </a:solidFill>
                <a:effectLst/>
              </a:rPr>
              <a:t>expected immediate reward (r)</a:t>
            </a:r>
            <a:r>
              <a:rPr lang="en-GB" b="0" i="0" u="none" strike="noStrike" dirty="0">
                <a:solidFill>
                  <a:srgbClr val="000000"/>
                </a:solidFill>
                <a:effectLst/>
              </a:rPr>
              <a:t>received from that state plus the </a:t>
            </a:r>
            <a:r>
              <a:rPr lang="en-GB" b="1" i="0" u="none" strike="noStrike" dirty="0">
                <a:solidFill>
                  <a:srgbClr val="000000"/>
                </a:solidFill>
                <a:effectLst/>
              </a:rPr>
              <a:t>discounted value (</a:t>
            </a:r>
            <a:r>
              <a:rPr lang="el-GR" b="1" i="0" u="none" strike="noStrike" dirty="0">
                <a:solidFill>
                  <a:srgbClr val="000000"/>
                </a:solidFill>
                <a:effectLst/>
              </a:rPr>
              <a:t>γ</a:t>
            </a:r>
            <a:r>
              <a:rPr lang="en-GB" b="1" i="0" u="none" strike="noStrike" dirty="0">
                <a:solidFill>
                  <a:srgbClr val="000000"/>
                </a:solidFill>
                <a:effectLst/>
              </a:rPr>
              <a:t>V(s′))</a:t>
            </a:r>
            <a:r>
              <a:rPr lang="en-GB" b="0" i="0" u="none" strike="noStrike" dirty="0">
                <a:solidFill>
                  <a:srgbClr val="000000"/>
                </a:solidFill>
                <a:effectLst/>
              </a:rPr>
              <a:t> of the next state (s′) that the agent transitions to. The expectation (E) is taken over all possible next states and rewards, considering the agent's policy and environment dynamics.</a:t>
            </a:r>
          </a:p>
          <a:p>
            <a:pPr marL="1143000" lvl="2" indent="-228600" algn="l">
              <a:buFont typeface="Arial" panose="020B0604020202020204" pitchFamily="34" charset="0"/>
              <a:buChar char="•"/>
            </a:pPr>
            <a:endParaRPr lang="en-GB" b="0" i="0" u="none" strike="noStrike" dirty="0">
              <a:solidFill>
                <a:srgbClr val="000000"/>
              </a:solidFill>
              <a:effectLst/>
            </a:endParaRPr>
          </a:p>
          <a:p>
            <a:pPr>
              <a:buNone/>
            </a:pPr>
            <a:br>
              <a:rPr lang="en-GB" dirty="0"/>
            </a:br>
            <a:endParaRPr lang="en-GB" dirty="0"/>
          </a:p>
        </p:txBody>
      </p:sp>
    </p:spTree>
    <p:extLst>
      <p:ext uri="{BB962C8B-B14F-4D97-AF65-F5344CB8AC3E}">
        <p14:creationId xmlns:p14="http://schemas.microsoft.com/office/powerpoint/2010/main" val="4244186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96DA6EA-27FD-DEB1-A419-8947F55BD09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512481D-16AF-6956-8040-04245BE30DD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kumimoji="0" lang="en-US" altLang="en-US" sz="2800" b="1" i="0" u="none" strike="noStrike" cap="none" normalizeH="0" baseline="0" dirty="0">
                <a:ln>
                  <a:noFill/>
                </a:ln>
                <a:solidFill>
                  <a:srgbClr val="7030A0"/>
                </a:solidFill>
                <a:effectLst/>
                <a:latin typeface="Arial" panose="020B0604020202020204" pitchFamily="34" charset="0"/>
              </a:rPr>
              <a:t>2. Understanding Reward-Based Learning</a:t>
            </a: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CDCC499B-F132-77E6-217B-790EF909474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ECA446F-37A0-EA65-F262-41C82693CFDD}"/>
              </a:ext>
            </a:extLst>
          </p:cNvPr>
          <p:cNvSpPr txBox="1"/>
          <p:nvPr/>
        </p:nvSpPr>
        <p:spPr>
          <a:xfrm>
            <a:off x="107288" y="714040"/>
            <a:ext cx="8507137" cy="4616648"/>
          </a:xfrm>
          <a:prstGeom prst="rect">
            <a:avLst/>
          </a:prstGeom>
          <a:noFill/>
        </p:spPr>
        <p:txBody>
          <a:bodyPr wrap="square">
            <a:spAutoFit/>
          </a:bodyPr>
          <a:lstStyle/>
          <a:p>
            <a:pPr algn="l">
              <a:buNone/>
            </a:pPr>
            <a:r>
              <a:rPr lang="en-GB" sz="1600" b="1" i="0" u="none" strike="noStrike" dirty="0">
                <a:solidFill>
                  <a:srgbClr val="000000"/>
                </a:solidFill>
                <a:effectLst/>
              </a:rPr>
              <a:t>Temporal Difference (TD) Learning:</a:t>
            </a:r>
            <a:endParaRPr lang="en-GB" sz="1600" b="0" i="0" u="none" strike="noStrike" dirty="0">
              <a:solidFill>
                <a:srgbClr val="000000"/>
              </a:solidFill>
              <a:effectLst/>
            </a:endParaRPr>
          </a:p>
          <a:p>
            <a:pPr algn="l"/>
            <a:r>
              <a:rPr lang="en-GB" b="1" i="0" u="none" strike="noStrike" dirty="0">
                <a:solidFill>
                  <a:srgbClr val="000000"/>
                </a:solidFill>
                <a:effectLst/>
              </a:rPr>
              <a:t>Purpose:</a:t>
            </a:r>
            <a:r>
              <a:rPr lang="en-GB" b="0" i="0" u="none" strike="noStrike" dirty="0">
                <a:solidFill>
                  <a:srgbClr val="000000"/>
                </a:solidFill>
                <a:effectLst/>
              </a:rPr>
              <a:t> TD learning is a model-free RL method that learns value functions directly from experience. It combines ideas from Monte Carlo methods (learning from experience/sampling) and Dynamic Programming (bootstrapping, i.e., updating estimates based on other learned estimates).</a:t>
            </a:r>
          </a:p>
          <a:p>
            <a:pPr algn="ctr"/>
            <a:r>
              <a:rPr lang="en-GB" b="1" i="0" u="none" strike="noStrike" dirty="0">
                <a:solidFill>
                  <a:srgbClr val="000000"/>
                </a:solidFill>
                <a:effectLst/>
              </a:rPr>
              <a:t>Equation:</a:t>
            </a:r>
            <a:r>
              <a:rPr lang="en-GB" b="0" i="0" u="none" strike="noStrike" dirty="0">
                <a:solidFill>
                  <a:srgbClr val="000000"/>
                </a:solidFill>
                <a:effectLst/>
              </a:rPr>
              <a:t> </a:t>
            </a:r>
            <a:r>
              <a:rPr lang="en-GB" b="0" i="1" u="none" strike="noStrike" dirty="0">
                <a:solidFill>
                  <a:srgbClr val="FF0000"/>
                </a:solidFill>
                <a:effectLst/>
              </a:rPr>
              <a:t>V(s)←V(s)+</a:t>
            </a:r>
            <a:r>
              <a:rPr lang="el-GR" b="0" i="1" u="none" strike="noStrike" dirty="0">
                <a:solidFill>
                  <a:srgbClr val="FF0000"/>
                </a:solidFill>
                <a:effectLst/>
              </a:rPr>
              <a:t>α[</a:t>
            </a:r>
            <a:r>
              <a:rPr lang="en-GB" b="0" i="1" u="none" strike="noStrike" dirty="0">
                <a:solidFill>
                  <a:srgbClr val="FF0000"/>
                </a:solidFill>
                <a:effectLst/>
              </a:rPr>
              <a:t>r+</a:t>
            </a:r>
            <a:r>
              <a:rPr lang="el-GR" b="0" i="1" u="none" strike="noStrike" dirty="0">
                <a:solidFill>
                  <a:srgbClr val="FF0000"/>
                </a:solidFill>
                <a:effectLst/>
              </a:rPr>
              <a:t>γ</a:t>
            </a:r>
            <a:r>
              <a:rPr lang="en-GB" b="0" i="1" u="none" strike="noStrike" dirty="0">
                <a:solidFill>
                  <a:srgbClr val="FF0000"/>
                </a:solidFill>
                <a:effectLst/>
              </a:rPr>
              <a:t>V(s′)−V(s)]</a:t>
            </a:r>
          </a:p>
          <a:p>
            <a:pPr algn="l"/>
            <a:r>
              <a:rPr lang="en-GB" b="1" i="0" u="none" strike="noStrike" dirty="0">
                <a:solidFill>
                  <a:srgbClr val="000000"/>
                </a:solidFill>
                <a:effectLst/>
              </a:rPr>
              <a:t>Explanation:</a:t>
            </a:r>
            <a:r>
              <a:rPr lang="en-GB" b="0" i="0" u="none" strike="noStrike" dirty="0">
                <a:solidFill>
                  <a:srgbClr val="000000"/>
                </a:solidFill>
                <a:effectLst/>
              </a:rPr>
              <a:t> This is an update rule for the value function.</a:t>
            </a:r>
          </a:p>
          <a:p>
            <a:pPr marL="742950" lvl="1" indent="-285750" algn="l">
              <a:buFont typeface="Arial" panose="020B0604020202020204" pitchFamily="34" charset="0"/>
              <a:buChar char="•"/>
            </a:pPr>
            <a:r>
              <a:rPr lang="en-GB" b="0" i="0" u="none" strike="noStrike" dirty="0">
                <a:solidFill>
                  <a:srgbClr val="000000"/>
                </a:solidFill>
                <a:effectLst/>
              </a:rPr>
              <a:t>V(s)←V(s): The current estimated value of state s is updated.</a:t>
            </a:r>
          </a:p>
          <a:p>
            <a:pPr marL="742950" lvl="1" indent="-285750" algn="l">
              <a:buFont typeface="Arial" panose="020B0604020202020204" pitchFamily="34" charset="0"/>
              <a:buChar char="•"/>
            </a:pPr>
            <a:r>
              <a:rPr lang="el-GR" b="0" i="0" u="none" strike="noStrike" dirty="0">
                <a:solidFill>
                  <a:srgbClr val="000000"/>
                </a:solidFill>
                <a:effectLst/>
              </a:rPr>
              <a:t>α (</a:t>
            </a:r>
            <a:r>
              <a:rPr lang="en-GB" b="0" i="0" u="none" strike="noStrike" dirty="0">
                <a:solidFill>
                  <a:srgbClr val="000000"/>
                </a:solidFill>
                <a:effectLst/>
              </a:rPr>
              <a:t>alpha): The </a:t>
            </a:r>
            <a:r>
              <a:rPr lang="en-GB" b="1" i="0" u="none" strike="noStrike" dirty="0">
                <a:solidFill>
                  <a:srgbClr val="000000"/>
                </a:solidFill>
                <a:effectLst/>
              </a:rPr>
              <a:t>learning rate</a:t>
            </a:r>
            <a:r>
              <a:rPr lang="en-GB" b="0" i="0" u="none" strike="noStrike" dirty="0">
                <a:solidFill>
                  <a:srgbClr val="000000"/>
                </a:solidFill>
                <a:effectLst/>
              </a:rPr>
              <a:t>, a small positive number that determines how much the current estimate V(s)is adjusted based on the observed error.</a:t>
            </a:r>
          </a:p>
          <a:p>
            <a:pPr marL="742950" lvl="1" indent="-285750" algn="l">
              <a:buFont typeface="Arial" panose="020B0604020202020204" pitchFamily="34" charset="0"/>
              <a:buChar char="•"/>
            </a:pPr>
            <a:r>
              <a:rPr lang="en-GB" b="0" i="1" u="none" strike="noStrike" dirty="0">
                <a:solidFill>
                  <a:srgbClr val="000000"/>
                </a:solidFill>
                <a:effectLst/>
              </a:rPr>
              <a:t>[r+</a:t>
            </a:r>
            <a:r>
              <a:rPr lang="el-GR" b="0" i="1" u="none" strike="noStrike" dirty="0">
                <a:solidFill>
                  <a:srgbClr val="000000"/>
                </a:solidFill>
                <a:effectLst/>
              </a:rPr>
              <a:t>γ</a:t>
            </a:r>
            <a:r>
              <a:rPr lang="en-GB" b="0" i="1" u="none" strike="noStrike" dirty="0">
                <a:solidFill>
                  <a:srgbClr val="000000"/>
                </a:solidFill>
                <a:effectLst/>
              </a:rPr>
              <a:t>V(s′)−V(s)]</a:t>
            </a:r>
            <a:r>
              <a:rPr lang="en-GB" b="0" i="0" u="none" strike="noStrike" dirty="0">
                <a:solidFill>
                  <a:srgbClr val="000000"/>
                </a:solidFill>
                <a:effectLst/>
              </a:rPr>
              <a:t>: This entire term is the </a:t>
            </a:r>
            <a:r>
              <a:rPr lang="en-GB" b="1" i="0" u="none" strike="noStrike" dirty="0">
                <a:solidFill>
                  <a:srgbClr val="000000"/>
                </a:solidFill>
                <a:effectLst/>
              </a:rPr>
              <a:t>Temporal Difference (TD) Error</a:t>
            </a:r>
            <a:r>
              <a:rPr lang="en-GB" b="0" i="0" u="none" strike="noStrike" dirty="0">
                <a:solidFill>
                  <a:srgbClr val="000000"/>
                </a:solidFill>
                <a:effectLst/>
              </a:rPr>
              <a:t>.</a:t>
            </a:r>
          </a:p>
          <a:p>
            <a:pPr marL="1143000" lvl="2" indent="-228600" algn="l">
              <a:buFont typeface="Arial" panose="020B0604020202020204" pitchFamily="34" charset="0"/>
              <a:buChar char="•"/>
            </a:pPr>
            <a:r>
              <a:rPr lang="en-GB" b="0" i="1" u="none" strike="noStrike" dirty="0">
                <a:solidFill>
                  <a:srgbClr val="000000"/>
                </a:solidFill>
                <a:effectLst/>
              </a:rPr>
              <a:t>r+</a:t>
            </a:r>
            <a:r>
              <a:rPr lang="el-GR" b="0" i="1" u="none" strike="noStrike" dirty="0">
                <a:solidFill>
                  <a:srgbClr val="000000"/>
                </a:solidFill>
                <a:effectLst/>
              </a:rPr>
              <a:t>γ</a:t>
            </a:r>
            <a:r>
              <a:rPr lang="en-GB" b="0" i="1" u="none" strike="noStrike" dirty="0">
                <a:solidFill>
                  <a:srgbClr val="000000"/>
                </a:solidFill>
                <a:effectLst/>
              </a:rPr>
              <a:t>V(s′): </a:t>
            </a:r>
            <a:r>
              <a:rPr lang="en-GB" b="0" i="0" u="none" strike="noStrike" dirty="0">
                <a:solidFill>
                  <a:srgbClr val="000000"/>
                </a:solidFill>
                <a:effectLst/>
              </a:rPr>
              <a:t>This is the </a:t>
            </a:r>
            <a:r>
              <a:rPr lang="en-GB" b="1" i="0" u="none" strike="noStrike" dirty="0">
                <a:solidFill>
                  <a:srgbClr val="000000"/>
                </a:solidFill>
                <a:effectLst/>
              </a:rPr>
              <a:t>target value</a:t>
            </a:r>
            <a:r>
              <a:rPr lang="en-GB" b="0" i="0" u="none" strike="noStrike" dirty="0">
                <a:solidFill>
                  <a:srgbClr val="000000"/>
                </a:solidFill>
                <a:effectLst/>
              </a:rPr>
              <a:t> or "TD target." It's an estimate of the value of state s based on the </a:t>
            </a:r>
            <a:r>
              <a:rPr lang="en-GB" b="0" i="1" u="none" strike="noStrike" dirty="0">
                <a:solidFill>
                  <a:srgbClr val="000000"/>
                </a:solidFill>
                <a:effectLst/>
              </a:rPr>
              <a:t>immediate reward</a:t>
            </a:r>
            <a:r>
              <a:rPr lang="en-GB" b="0" i="0" u="none" strike="noStrike" dirty="0">
                <a:solidFill>
                  <a:srgbClr val="000000"/>
                </a:solidFill>
                <a:effectLst/>
              </a:rPr>
              <a:t> (r) and the </a:t>
            </a:r>
            <a:r>
              <a:rPr lang="en-GB" b="0" i="1" u="none" strike="noStrike" dirty="0">
                <a:solidFill>
                  <a:srgbClr val="000000"/>
                </a:solidFill>
                <a:effectLst/>
              </a:rPr>
              <a:t>discounted estimated value of the next state</a:t>
            </a:r>
            <a:r>
              <a:rPr lang="en-GB" b="0" i="0" u="none" strike="noStrike" dirty="0">
                <a:solidFill>
                  <a:srgbClr val="000000"/>
                </a:solidFill>
                <a:effectLst/>
              </a:rPr>
              <a:t> </a:t>
            </a:r>
            <a:r>
              <a:rPr lang="en-GB" b="0" i="1" u="none" strike="noStrike" dirty="0">
                <a:solidFill>
                  <a:srgbClr val="000000"/>
                </a:solidFill>
                <a:effectLst/>
              </a:rPr>
              <a:t>(V(s′)).</a:t>
            </a:r>
          </a:p>
          <a:p>
            <a:pPr marL="1143000" lvl="2" indent="-228600" algn="l">
              <a:buFont typeface="Arial" panose="020B0604020202020204" pitchFamily="34" charset="0"/>
              <a:buChar char="•"/>
            </a:pPr>
            <a:r>
              <a:rPr lang="en-GB" b="0" i="1" u="none" strike="noStrike" dirty="0">
                <a:solidFill>
                  <a:srgbClr val="000000"/>
                </a:solidFill>
                <a:effectLst/>
              </a:rPr>
              <a:t>−V(s): </a:t>
            </a:r>
            <a:r>
              <a:rPr lang="en-GB" b="0" i="0" u="none" strike="noStrike" dirty="0">
                <a:solidFill>
                  <a:srgbClr val="000000"/>
                </a:solidFill>
                <a:effectLst/>
              </a:rPr>
              <a:t>This is the </a:t>
            </a:r>
            <a:r>
              <a:rPr lang="en-GB" b="0" i="1" u="none" strike="noStrike" dirty="0">
                <a:solidFill>
                  <a:srgbClr val="000000"/>
                </a:solidFill>
                <a:effectLst/>
              </a:rPr>
              <a:t>current estimate</a:t>
            </a:r>
            <a:r>
              <a:rPr lang="en-GB" b="0" i="0" u="none" strike="noStrike" dirty="0">
                <a:solidFill>
                  <a:srgbClr val="000000"/>
                </a:solidFill>
                <a:effectLst/>
              </a:rPr>
              <a:t> of the value of state s.</a:t>
            </a:r>
          </a:p>
          <a:p>
            <a:pPr marL="1143000" lvl="2" indent="-228600" algn="l">
              <a:buFont typeface="Arial" panose="020B0604020202020204" pitchFamily="34" charset="0"/>
              <a:buChar char="•"/>
            </a:pPr>
            <a:r>
              <a:rPr lang="en-GB" b="0" i="0" u="none" strike="noStrike" dirty="0">
                <a:solidFill>
                  <a:srgbClr val="000000"/>
                </a:solidFill>
                <a:effectLst/>
              </a:rPr>
              <a:t>The TD Error, therefore, represents the difference between the agent's current estimate of a state's value and a more "up-to-date" estimate (the TD target) derived from actual experience (immediate reward) and the estimated value of the next state. The agent adjusts its estimate V(s) in the direction of this error.</a:t>
            </a:r>
          </a:p>
          <a:p>
            <a:pPr marL="1143000" lvl="2" indent="-228600" algn="l">
              <a:buFont typeface="Arial" panose="020B0604020202020204" pitchFamily="34" charset="0"/>
              <a:buChar char="•"/>
            </a:pPr>
            <a:endParaRPr lang="en-GB" b="0" i="0" u="none" strike="noStrike" dirty="0">
              <a:solidFill>
                <a:srgbClr val="000000"/>
              </a:solidFill>
              <a:effectLst/>
            </a:endParaRPr>
          </a:p>
          <a:p>
            <a:pPr>
              <a:buNone/>
            </a:pPr>
            <a:br>
              <a:rPr lang="en-GB" dirty="0"/>
            </a:br>
            <a:endParaRPr lang="en-GB" dirty="0"/>
          </a:p>
        </p:txBody>
      </p:sp>
    </p:spTree>
    <p:extLst>
      <p:ext uri="{BB962C8B-B14F-4D97-AF65-F5344CB8AC3E}">
        <p14:creationId xmlns:p14="http://schemas.microsoft.com/office/powerpoint/2010/main" val="2298226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A7D4220-0D56-5570-9818-D8BA0323D21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EDBC37D-8058-2703-B1CE-5F31AFD5D8EE}"/>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b="1" i="0" u="none" strike="noStrike" dirty="0">
                <a:solidFill>
                  <a:srgbClr val="7030A0"/>
                </a:solidFill>
                <a:effectLst/>
              </a:rPr>
              <a:t>3. Deep Q-Networks (DQN)</a:t>
            </a:r>
            <a:br>
              <a:rPr lang="en-GB" sz="2700" b="1" i="0" u="none" strike="noStrike" dirty="0">
                <a:solidFill>
                  <a:srgbClr val="7030A0"/>
                </a:solidFill>
                <a:effectLst/>
              </a:rPr>
            </a:b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5C47287-15C8-4AE5-EC01-2468DA3E19D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74A5423F-60C5-FB0D-5C3D-45DD926FCB0B}"/>
              </a:ext>
            </a:extLst>
          </p:cNvPr>
          <p:cNvSpPr txBox="1"/>
          <p:nvPr/>
        </p:nvSpPr>
        <p:spPr>
          <a:xfrm>
            <a:off x="0" y="547126"/>
            <a:ext cx="8507137" cy="3754874"/>
          </a:xfrm>
          <a:prstGeom prst="rect">
            <a:avLst/>
          </a:prstGeom>
          <a:noFill/>
        </p:spPr>
        <p:txBody>
          <a:bodyPr wrap="square">
            <a:spAutoFit/>
          </a:bodyPr>
          <a:lstStyle/>
          <a:p>
            <a:pPr algn="l">
              <a:buNone/>
            </a:pPr>
            <a:r>
              <a:rPr lang="en-GB" b="0" i="0" u="none" strike="noStrike" dirty="0">
                <a:solidFill>
                  <a:srgbClr val="000000"/>
                </a:solidFill>
                <a:effectLst/>
              </a:rPr>
              <a:t>DQN is a prominent </a:t>
            </a:r>
            <a:r>
              <a:rPr lang="en-GB" b="1" i="0" u="none" strike="noStrike" dirty="0">
                <a:solidFill>
                  <a:srgbClr val="000000"/>
                </a:solidFill>
                <a:effectLst/>
              </a:rPr>
              <a:t>value-based</a:t>
            </a:r>
            <a:r>
              <a:rPr lang="en-GB" b="0" i="0" u="none" strike="noStrike" dirty="0">
                <a:solidFill>
                  <a:srgbClr val="000000"/>
                </a:solidFill>
                <a:effectLst/>
              </a:rPr>
              <a:t> Reinforcement Learning (RL) method that revolutionized how RL</a:t>
            </a:r>
          </a:p>
          <a:p>
            <a:pPr algn="l">
              <a:buNone/>
            </a:pPr>
            <a:r>
              <a:rPr lang="en-GB" b="0" i="0" u="none" strike="noStrike" dirty="0">
                <a:solidFill>
                  <a:srgbClr val="000000"/>
                </a:solidFill>
                <a:effectLst/>
              </a:rPr>
              <a:t> agents could tackle complex problems with high-dimensional state spaces (e.g., raw pixel images from Atari games). It achieves this by combining traditional </a:t>
            </a:r>
            <a:r>
              <a:rPr lang="en-GB" b="1" i="0" u="none" strike="noStrike" dirty="0">
                <a:solidFill>
                  <a:srgbClr val="000000"/>
                </a:solidFill>
                <a:effectLst/>
              </a:rPr>
              <a:t>Q-Learning</a:t>
            </a:r>
            <a:r>
              <a:rPr lang="en-GB" b="0" i="0" u="none" strike="noStrike" dirty="0">
                <a:solidFill>
                  <a:srgbClr val="000000"/>
                </a:solidFill>
                <a:effectLst/>
              </a:rPr>
              <a:t> with </a:t>
            </a:r>
            <a:r>
              <a:rPr lang="en-GB" b="1" i="0" u="none" strike="noStrike" dirty="0">
                <a:solidFill>
                  <a:srgbClr val="000000"/>
                </a:solidFill>
                <a:effectLst/>
              </a:rPr>
              <a:t>Deep Neural Networks</a:t>
            </a:r>
            <a:r>
              <a:rPr lang="en-GB" b="0" i="0" u="none" strike="noStrike" dirty="0">
                <a:solidFill>
                  <a:srgbClr val="000000"/>
                </a:solidFill>
                <a:effectLst/>
              </a:rPr>
              <a:t>.</a:t>
            </a:r>
          </a:p>
          <a:p>
            <a:pPr algn="l">
              <a:buNone/>
            </a:pPr>
            <a:r>
              <a:rPr lang="en-GB" b="1" i="0" u="none" strike="noStrike" dirty="0">
                <a:solidFill>
                  <a:srgbClr val="000000"/>
                </a:solidFill>
                <a:effectLst/>
              </a:rPr>
              <a:t>Q-Learning Basics:</a:t>
            </a:r>
          </a:p>
          <a:p>
            <a:pPr algn="l"/>
            <a:r>
              <a:rPr lang="en-GB" b="1" i="0" u="none" strike="noStrike" dirty="0">
                <a:solidFill>
                  <a:srgbClr val="000000"/>
                </a:solidFill>
                <a:effectLst/>
              </a:rPr>
              <a:t>Goal:</a:t>
            </a:r>
            <a:r>
              <a:rPr lang="en-GB" b="0" i="0" u="none" strike="noStrike" dirty="0">
                <a:solidFill>
                  <a:srgbClr val="000000"/>
                </a:solidFill>
                <a:effectLst/>
              </a:rPr>
              <a:t> Q-Learning aims to learn the optimal </a:t>
            </a:r>
            <a:r>
              <a:rPr lang="en-GB" b="1" i="0" u="none" strike="noStrike" dirty="0">
                <a:solidFill>
                  <a:srgbClr val="000000"/>
                </a:solidFill>
                <a:effectLst/>
              </a:rPr>
              <a:t>Q-function</a:t>
            </a:r>
            <a:r>
              <a:rPr lang="en-GB" b="0" i="0" u="none" strike="noStrike" dirty="0">
                <a:solidFill>
                  <a:srgbClr val="000000"/>
                </a:solidFill>
                <a:effectLst/>
              </a:rPr>
              <a:t> (also known as the </a:t>
            </a:r>
            <a:r>
              <a:rPr lang="en-GB" b="1" i="0" u="none" strike="noStrike" dirty="0">
                <a:solidFill>
                  <a:srgbClr val="000000"/>
                </a:solidFill>
                <a:effectLst/>
              </a:rPr>
              <a:t>action-value function</a:t>
            </a:r>
            <a:r>
              <a:rPr lang="en-GB" b="0" i="0" u="none" strike="noStrike" dirty="0">
                <a:solidFill>
                  <a:srgbClr val="000000"/>
                </a:solidFill>
                <a:effectLst/>
              </a:rPr>
              <a:t>), denoted as Q(</a:t>
            </a:r>
            <a:r>
              <a:rPr lang="en-GB" b="0" i="0" u="none" strike="noStrike" dirty="0" err="1">
                <a:solidFill>
                  <a:srgbClr val="000000"/>
                </a:solidFill>
                <a:effectLst/>
              </a:rPr>
              <a:t>s,a</a:t>
            </a:r>
            <a:r>
              <a:rPr lang="en-GB" b="0" i="0" u="none" strike="noStrike" dirty="0">
                <a:solidFill>
                  <a:srgbClr val="000000"/>
                </a:solidFill>
                <a:effectLst/>
              </a:rPr>
              <a:t>). The Q(</a:t>
            </a:r>
            <a:r>
              <a:rPr lang="en-GB" b="0" i="0" u="none" strike="noStrike" dirty="0" err="1">
                <a:solidFill>
                  <a:srgbClr val="000000"/>
                </a:solidFill>
                <a:effectLst/>
              </a:rPr>
              <a:t>s,a</a:t>
            </a:r>
            <a:r>
              <a:rPr lang="en-GB" b="0" i="0" u="none" strike="noStrike" dirty="0">
                <a:solidFill>
                  <a:srgbClr val="000000"/>
                </a:solidFill>
                <a:effectLst/>
              </a:rPr>
              <a:t>) value represents the maximum expected future reward an agent can achieve by taking action ain state s and then following an optimal policy thereafter.</a:t>
            </a:r>
          </a:p>
          <a:p>
            <a:pPr algn="l"/>
            <a:r>
              <a:rPr lang="en-GB" b="1" i="0" u="none" strike="noStrike" dirty="0">
                <a:solidFill>
                  <a:srgbClr val="000000"/>
                </a:solidFill>
                <a:effectLst/>
              </a:rPr>
              <a:t>Update Rule:</a:t>
            </a:r>
            <a:r>
              <a:rPr lang="en-GB" b="0" i="0" u="none" strike="noStrike" dirty="0">
                <a:solidFill>
                  <a:srgbClr val="000000"/>
                </a:solidFill>
                <a:effectLst/>
              </a:rPr>
              <a:t> The core of Q-Learning involves iteratively updating the estimated Q-values based on observed rewards and future Q-values: </a:t>
            </a:r>
            <a:r>
              <a:rPr lang="en-GB" b="0" i="1" u="none" strike="noStrike" dirty="0">
                <a:solidFill>
                  <a:srgbClr val="000000"/>
                </a:solidFill>
                <a:effectLst/>
              </a:rPr>
              <a:t>Q(</a:t>
            </a:r>
            <a:r>
              <a:rPr lang="en-GB" b="0" i="1" u="none" strike="noStrike" dirty="0" err="1">
                <a:solidFill>
                  <a:srgbClr val="000000"/>
                </a:solidFill>
                <a:effectLst/>
              </a:rPr>
              <a:t>s,a</a:t>
            </a:r>
            <a:r>
              <a:rPr lang="en-GB" b="0" i="1" u="none" strike="noStrike" dirty="0">
                <a:solidFill>
                  <a:srgbClr val="000000"/>
                </a:solidFill>
                <a:effectLst/>
              </a:rPr>
              <a:t>)←Q(</a:t>
            </a:r>
            <a:r>
              <a:rPr lang="en-GB" b="0" i="1" u="none" strike="noStrike" dirty="0" err="1">
                <a:solidFill>
                  <a:srgbClr val="000000"/>
                </a:solidFill>
                <a:effectLst/>
              </a:rPr>
              <a:t>s,a</a:t>
            </a:r>
            <a:r>
              <a:rPr lang="en-GB" b="0" i="1" u="none" strike="noStrike" dirty="0">
                <a:solidFill>
                  <a:srgbClr val="000000"/>
                </a:solidFill>
                <a:effectLst/>
              </a:rPr>
              <a:t>)+</a:t>
            </a:r>
            <a:r>
              <a:rPr lang="el-GR" b="0" i="1" u="none" strike="noStrike" dirty="0">
                <a:solidFill>
                  <a:srgbClr val="000000"/>
                </a:solidFill>
                <a:effectLst/>
              </a:rPr>
              <a:t>α[</a:t>
            </a:r>
            <a:r>
              <a:rPr lang="en-GB" b="0" i="1" u="none" strike="noStrike" dirty="0">
                <a:solidFill>
                  <a:srgbClr val="000000"/>
                </a:solidFill>
                <a:effectLst/>
              </a:rPr>
              <a:t>r+</a:t>
            </a:r>
            <a:r>
              <a:rPr lang="el-GR" b="0" i="1" u="none" strike="noStrike" dirty="0">
                <a:solidFill>
                  <a:srgbClr val="000000"/>
                </a:solidFill>
                <a:effectLst/>
              </a:rPr>
              <a:t>γ</a:t>
            </a:r>
            <a:r>
              <a:rPr lang="en-GB" b="0" i="1" u="none" strike="noStrike" dirty="0" err="1">
                <a:solidFill>
                  <a:srgbClr val="000000"/>
                </a:solidFill>
                <a:effectLst/>
              </a:rPr>
              <a:t>a′max</a:t>
            </a:r>
            <a:r>
              <a:rPr lang="en-GB" b="0" i="1" u="none" strike="noStrike" dirty="0">
                <a:solidFill>
                  <a:srgbClr val="000000"/>
                </a:solidFill>
                <a:effectLst/>
              </a:rPr>
              <a:t>​Q(</a:t>
            </a:r>
            <a:r>
              <a:rPr lang="en-GB" b="0" i="1" u="none" strike="noStrike" dirty="0" err="1">
                <a:solidFill>
                  <a:srgbClr val="000000"/>
                </a:solidFill>
                <a:effectLst/>
              </a:rPr>
              <a:t>s′,a</a:t>
            </a:r>
            <a:r>
              <a:rPr lang="en-GB" b="0" i="1" u="none" strike="noStrike" dirty="0">
                <a:solidFill>
                  <a:srgbClr val="000000"/>
                </a:solidFill>
                <a:effectLst/>
              </a:rPr>
              <a:t>′)−Q(</a:t>
            </a:r>
            <a:r>
              <a:rPr lang="en-GB" b="0" i="1" u="none" strike="noStrike" dirty="0" err="1">
                <a:solidFill>
                  <a:srgbClr val="000000"/>
                </a:solidFill>
                <a:effectLst/>
              </a:rPr>
              <a:t>s,a</a:t>
            </a:r>
            <a:r>
              <a:rPr lang="en-GB" b="0" i="1" u="none" strike="noStrike" dirty="0">
                <a:solidFill>
                  <a:srgbClr val="000000"/>
                </a:solidFill>
                <a:effectLst/>
              </a:rPr>
              <a:t>)] </a:t>
            </a:r>
            <a:r>
              <a:rPr lang="en-GB" b="0" i="0" u="none" strike="noStrike" dirty="0">
                <a:solidFill>
                  <a:srgbClr val="000000"/>
                </a:solidFill>
                <a:effectLst/>
              </a:rPr>
              <a:t>Where:</a:t>
            </a:r>
          </a:p>
          <a:p>
            <a:pPr marL="742950" lvl="1" indent="-285750" algn="l">
              <a:buFont typeface="Arial" panose="020B0604020202020204" pitchFamily="34" charset="0"/>
              <a:buChar char="•"/>
            </a:pPr>
            <a:r>
              <a:rPr lang="en-GB" b="0" i="0" u="none" strike="noStrike" dirty="0">
                <a:solidFill>
                  <a:srgbClr val="000000"/>
                </a:solidFill>
                <a:effectLst/>
              </a:rPr>
              <a:t>Q(</a:t>
            </a:r>
            <a:r>
              <a:rPr lang="en-GB" b="0" i="0" u="none" strike="noStrike" dirty="0" err="1">
                <a:solidFill>
                  <a:srgbClr val="000000"/>
                </a:solidFill>
                <a:effectLst/>
              </a:rPr>
              <a:t>s,a</a:t>
            </a:r>
            <a:r>
              <a:rPr lang="en-GB" b="0" i="0" u="none" strike="noStrike" dirty="0">
                <a:solidFill>
                  <a:srgbClr val="000000"/>
                </a:solidFill>
                <a:effectLst/>
              </a:rPr>
              <a:t>): The current estimated Q-value for taking action a in state s.</a:t>
            </a:r>
          </a:p>
          <a:p>
            <a:pPr marL="742950" lvl="1" indent="-285750" algn="l">
              <a:buFont typeface="Arial" panose="020B0604020202020204" pitchFamily="34" charset="0"/>
              <a:buChar char="•"/>
            </a:pPr>
            <a:r>
              <a:rPr lang="el-GR" b="0" i="0" u="none" strike="noStrike" dirty="0">
                <a:solidFill>
                  <a:srgbClr val="000000"/>
                </a:solidFill>
                <a:effectLst/>
              </a:rPr>
              <a:t>α: </a:t>
            </a:r>
            <a:r>
              <a:rPr lang="en-GB" b="0" i="0" u="none" strike="noStrike" dirty="0">
                <a:solidFill>
                  <a:srgbClr val="000000"/>
                </a:solidFill>
                <a:effectLst/>
              </a:rPr>
              <a:t>The learning rate, controlling the step size of updates.</a:t>
            </a:r>
          </a:p>
          <a:p>
            <a:pPr marL="742950" lvl="1" indent="-285750" algn="l">
              <a:buFont typeface="Arial" panose="020B0604020202020204" pitchFamily="34" charset="0"/>
              <a:buChar char="•"/>
            </a:pPr>
            <a:r>
              <a:rPr lang="en-GB" b="0" i="0" u="none" strike="noStrike" dirty="0">
                <a:solidFill>
                  <a:srgbClr val="000000"/>
                </a:solidFill>
                <a:effectLst/>
              </a:rPr>
              <a:t>r: The immediate reward received after taking action a in state s.</a:t>
            </a:r>
          </a:p>
          <a:p>
            <a:pPr marL="742950" lvl="1" indent="-285750" algn="l">
              <a:buFont typeface="Arial" panose="020B0604020202020204" pitchFamily="34" charset="0"/>
              <a:buChar char="•"/>
            </a:pPr>
            <a:r>
              <a:rPr lang="el-GR" b="0" i="0" u="none" strike="noStrike" dirty="0">
                <a:solidFill>
                  <a:srgbClr val="000000"/>
                </a:solidFill>
                <a:effectLst/>
              </a:rPr>
              <a:t>γ: </a:t>
            </a:r>
            <a:r>
              <a:rPr lang="en-GB" b="0" i="0" u="none" strike="noStrike" dirty="0">
                <a:solidFill>
                  <a:srgbClr val="000000"/>
                </a:solidFill>
                <a:effectLst/>
              </a:rPr>
              <a:t>The discount factor, valuing future rewards.</a:t>
            </a:r>
          </a:p>
          <a:p>
            <a:pPr marL="742950" lvl="1" indent="-285750" algn="l">
              <a:buFont typeface="Arial" panose="020B0604020202020204" pitchFamily="34" charset="0"/>
              <a:buChar char="•"/>
            </a:pPr>
            <a:r>
              <a:rPr lang="en-GB" b="0" i="0" u="none" strike="noStrike" dirty="0" err="1">
                <a:solidFill>
                  <a:srgbClr val="000000"/>
                </a:solidFill>
                <a:effectLst/>
              </a:rPr>
              <a:t>maxa</a:t>
            </a:r>
            <a:r>
              <a:rPr lang="en-GB" b="0" i="0" u="none" strike="noStrike" dirty="0">
                <a:solidFill>
                  <a:srgbClr val="000000"/>
                </a:solidFill>
                <a:effectLst/>
              </a:rPr>
              <a:t>′​Q(</a:t>
            </a:r>
            <a:r>
              <a:rPr lang="en-GB" b="0" i="0" u="none" strike="noStrike" dirty="0" err="1">
                <a:solidFill>
                  <a:srgbClr val="000000"/>
                </a:solidFill>
                <a:effectLst/>
              </a:rPr>
              <a:t>s′,a</a:t>
            </a:r>
            <a:r>
              <a:rPr lang="en-GB" b="0" i="0" u="none" strike="noStrike" dirty="0">
                <a:solidFill>
                  <a:srgbClr val="000000"/>
                </a:solidFill>
                <a:effectLst/>
              </a:rPr>
              <a:t>′): The maximum estimated Q-value for the next state s′ (representing the optimal action in the next state).</a:t>
            </a:r>
          </a:p>
          <a:p>
            <a:pPr marL="742950" lvl="1" indent="-285750" algn="l">
              <a:buFont typeface="Arial" panose="020B0604020202020204" pitchFamily="34" charset="0"/>
              <a:buChar char="•"/>
            </a:pPr>
            <a:r>
              <a:rPr lang="en-GB" b="0" i="0" u="none" strike="noStrike" dirty="0">
                <a:solidFill>
                  <a:srgbClr val="000000"/>
                </a:solidFill>
                <a:effectLst/>
              </a:rPr>
              <a:t>[r+</a:t>
            </a:r>
            <a:r>
              <a:rPr lang="el-GR" b="0" i="0" u="none" strike="noStrike" dirty="0">
                <a:solidFill>
                  <a:srgbClr val="000000"/>
                </a:solidFill>
                <a:effectLst/>
              </a:rPr>
              <a:t>γ</a:t>
            </a:r>
            <a:r>
              <a:rPr lang="en-GB" b="0" i="0" u="none" strike="noStrike" dirty="0" err="1">
                <a:solidFill>
                  <a:srgbClr val="000000"/>
                </a:solidFill>
                <a:effectLst/>
              </a:rPr>
              <a:t>maxa</a:t>
            </a:r>
            <a:r>
              <a:rPr lang="en-GB" b="0" i="0" u="none" strike="noStrike" dirty="0">
                <a:solidFill>
                  <a:srgbClr val="000000"/>
                </a:solidFill>
                <a:effectLst/>
              </a:rPr>
              <a:t>′​Q(</a:t>
            </a:r>
            <a:r>
              <a:rPr lang="en-GB" b="0" i="0" u="none" strike="noStrike" dirty="0" err="1">
                <a:solidFill>
                  <a:srgbClr val="000000"/>
                </a:solidFill>
                <a:effectLst/>
              </a:rPr>
              <a:t>s′,a</a:t>
            </a:r>
            <a:r>
              <a:rPr lang="en-GB" b="0" i="0" u="none" strike="noStrike" dirty="0">
                <a:solidFill>
                  <a:srgbClr val="000000"/>
                </a:solidFill>
                <a:effectLst/>
              </a:rPr>
              <a:t>′)−Q(</a:t>
            </a:r>
            <a:r>
              <a:rPr lang="en-GB" b="0" i="0" u="none" strike="noStrike" dirty="0" err="1">
                <a:solidFill>
                  <a:srgbClr val="000000"/>
                </a:solidFill>
                <a:effectLst/>
              </a:rPr>
              <a:t>s,a</a:t>
            </a:r>
            <a:r>
              <a:rPr lang="en-GB" b="0" i="0" u="none" strike="noStrike" dirty="0">
                <a:solidFill>
                  <a:srgbClr val="000000"/>
                </a:solidFill>
                <a:effectLst/>
              </a:rPr>
              <a:t>)]: This is the </a:t>
            </a:r>
            <a:r>
              <a:rPr lang="en-GB" b="1" i="0" u="none" strike="noStrike" dirty="0">
                <a:solidFill>
                  <a:srgbClr val="000000"/>
                </a:solidFill>
                <a:effectLst/>
              </a:rPr>
              <a:t>Temporal Difference (TD) error</a:t>
            </a:r>
            <a:r>
              <a:rPr lang="en-GB" b="0" i="0" u="none" strike="noStrike" dirty="0">
                <a:solidFill>
                  <a:srgbClr val="000000"/>
                </a:solidFill>
                <a:effectLst/>
              </a:rPr>
              <a:t>, indicating the discrepancy between the current Q-value estimate and a more informed estimate.</a:t>
            </a:r>
          </a:p>
        </p:txBody>
      </p:sp>
    </p:spTree>
    <p:extLst>
      <p:ext uri="{BB962C8B-B14F-4D97-AF65-F5344CB8AC3E}">
        <p14:creationId xmlns:p14="http://schemas.microsoft.com/office/powerpoint/2010/main" val="242942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C97E735A-A111-0398-79FC-6D0C867280A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9E8D3EA-5262-D97D-3004-E44F510D1532}"/>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b="1" i="0" u="none" strike="noStrike" dirty="0">
                <a:solidFill>
                  <a:srgbClr val="7030A0"/>
                </a:solidFill>
                <a:effectLst/>
              </a:rPr>
              <a:t>3. Deep Q-Networks (DQN)</a:t>
            </a:r>
            <a:br>
              <a:rPr lang="en-GB" sz="2700" b="1" i="0" u="none" strike="noStrike" dirty="0">
                <a:solidFill>
                  <a:srgbClr val="7030A0"/>
                </a:solidFill>
                <a:effectLst/>
              </a:rPr>
            </a:b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AA370468-5AF2-6D01-0A4F-ABB03AD100B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FD8684D1-4421-88DD-0C65-C69AF5F9718C}"/>
              </a:ext>
            </a:extLst>
          </p:cNvPr>
          <p:cNvSpPr txBox="1"/>
          <p:nvPr/>
        </p:nvSpPr>
        <p:spPr>
          <a:xfrm>
            <a:off x="0" y="547126"/>
            <a:ext cx="8507137" cy="4616648"/>
          </a:xfrm>
          <a:prstGeom prst="rect">
            <a:avLst/>
          </a:prstGeom>
          <a:noFill/>
        </p:spPr>
        <p:txBody>
          <a:bodyPr wrap="square">
            <a:spAutoFit/>
          </a:bodyPr>
          <a:lstStyle/>
          <a:p>
            <a:pPr algn="l">
              <a:buNone/>
            </a:pPr>
            <a:r>
              <a:rPr lang="en-GB" b="1" i="0" u="none" strike="noStrike" dirty="0">
                <a:solidFill>
                  <a:srgbClr val="000000"/>
                </a:solidFill>
                <a:effectLst/>
              </a:rPr>
              <a:t>DQN Enhancements:</a:t>
            </a:r>
          </a:p>
          <a:p>
            <a:pPr algn="l">
              <a:buNone/>
            </a:pPr>
            <a:r>
              <a:rPr lang="en-GB" b="0" i="0" u="none" strike="noStrike" dirty="0">
                <a:solidFill>
                  <a:srgbClr val="000000"/>
                </a:solidFill>
                <a:effectLst/>
              </a:rPr>
              <a:t>DQN introduces two key mechanisms to stabilize and improve the training of deep Q-networks, which can be prone to instability due to using a neural network to approximate the Q-function:</a:t>
            </a:r>
          </a:p>
          <a:p>
            <a:pPr algn="l"/>
            <a:r>
              <a:rPr lang="en-GB" b="1" i="0" u="none" strike="noStrike" dirty="0">
                <a:solidFill>
                  <a:srgbClr val="000000"/>
                </a:solidFill>
                <a:effectLst/>
              </a:rPr>
              <a:t>Experience Replay:</a:t>
            </a:r>
            <a:endParaRPr lang="en-GB" b="0" i="0" u="none" strike="noStrike" dirty="0">
              <a:solidFill>
                <a:srgbClr val="000000"/>
              </a:solidFill>
              <a:effectLst/>
            </a:endParaRPr>
          </a:p>
          <a:p>
            <a:pPr marL="857250" lvl="1" indent="-400050" algn="l">
              <a:buFont typeface="+mj-lt"/>
              <a:buAutoNum type="romanLcPeriod"/>
            </a:pPr>
            <a:r>
              <a:rPr lang="en-GB" b="1" i="0" u="none" strike="noStrike" dirty="0">
                <a:solidFill>
                  <a:srgbClr val="000000"/>
                </a:solidFill>
                <a:effectLst/>
              </a:rPr>
              <a:t>Mechanism:</a:t>
            </a:r>
            <a:r>
              <a:rPr lang="en-GB" b="0" i="0" u="none" strike="noStrike" dirty="0">
                <a:solidFill>
                  <a:srgbClr val="000000"/>
                </a:solidFill>
                <a:effectLst/>
              </a:rPr>
              <a:t> Stores past transitions (</a:t>
            </a:r>
            <a:r>
              <a:rPr lang="en-GB" b="0" i="0" u="none" strike="noStrike" dirty="0" err="1">
                <a:solidFill>
                  <a:srgbClr val="000000"/>
                </a:solidFill>
                <a:effectLst/>
              </a:rPr>
              <a:t>s,a,r,s</a:t>
            </a:r>
            <a:r>
              <a:rPr lang="en-GB" b="0" i="0" u="none" strike="noStrike" dirty="0">
                <a:solidFill>
                  <a:srgbClr val="000000"/>
                </a:solidFill>
                <a:effectLst/>
              </a:rPr>
              <a:t>′) (state, action, reward, next state) in a large memory buffer.</a:t>
            </a:r>
          </a:p>
          <a:p>
            <a:pPr marL="857250" lvl="1" indent="-400050" algn="l">
              <a:buFont typeface="+mj-lt"/>
              <a:buAutoNum type="romanLcPeriod"/>
            </a:pPr>
            <a:r>
              <a:rPr lang="en-GB" b="1" i="0" u="none" strike="noStrike" dirty="0">
                <a:solidFill>
                  <a:srgbClr val="000000"/>
                </a:solidFill>
                <a:effectLst/>
              </a:rPr>
              <a:t>Benefit:</a:t>
            </a:r>
            <a:r>
              <a:rPr lang="en-GB" b="0" i="0" u="none" strike="noStrike" dirty="0">
                <a:solidFill>
                  <a:srgbClr val="000000"/>
                </a:solidFill>
                <a:effectLst/>
              </a:rPr>
              <a:t> During training, it randomly samples mini-batches from this buffer. This breaks strong correlations between consecutive samples (which would occur if the network only learned from the immediate sequence of experiences) and increases data efficiency by allowing the network to learn from each experience multiple times.</a:t>
            </a:r>
          </a:p>
          <a:p>
            <a:pPr algn="l"/>
            <a:r>
              <a:rPr lang="en-GB" b="1" i="0" u="none" strike="noStrike" dirty="0">
                <a:solidFill>
                  <a:srgbClr val="000000"/>
                </a:solidFill>
                <a:effectLst/>
              </a:rPr>
              <a:t>Target Network:</a:t>
            </a:r>
            <a:endParaRPr lang="en-GB" b="0" i="0" u="none" strike="noStrike" dirty="0">
              <a:solidFill>
                <a:srgbClr val="000000"/>
              </a:solidFill>
              <a:effectLst/>
            </a:endParaRPr>
          </a:p>
          <a:p>
            <a:pPr marL="857250" lvl="1" indent="-400050" algn="l">
              <a:buFont typeface="+mj-lt"/>
              <a:buAutoNum type="romanLcPeriod"/>
            </a:pPr>
            <a:r>
              <a:rPr lang="en-GB" b="1" i="0" u="none" strike="noStrike" dirty="0">
                <a:solidFill>
                  <a:srgbClr val="000000"/>
                </a:solidFill>
                <a:effectLst/>
              </a:rPr>
              <a:t>Mechanism:</a:t>
            </a:r>
            <a:r>
              <a:rPr lang="en-GB" b="0" i="0" u="none" strike="noStrike" dirty="0">
                <a:solidFill>
                  <a:srgbClr val="000000"/>
                </a:solidFill>
                <a:effectLst/>
              </a:rPr>
              <a:t> Uses a separate, "target" Q-network (let's call it </a:t>
            </a:r>
            <a:r>
              <a:rPr lang="en-GB" b="0" i="0" u="none" strike="noStrike" dirty="0" err="1">
                <a:solidFill>
                  <a:srgbClr val="000000"/>
                </a:solidFill>
                <a:effectLst/>
              </a:rPr>
              <a:t>Qtarget</a:t>
            </a:r>
            <a:r>
              <a:rPr lang="en-GB" b="0" i="0" u="none" strike="noStrike" dirty="0">
                <a:solidFill>
                  <a:srgbClr val="000000"/>
                </a:solidFill>
                <a:effectLst/>
              </a:rPr>
              <a:t>​) which is a delayed, periodically updated copy of the main Q-network (Q).</a:t>
            </a:r>
          </a:p>
          <a:p>
            <a:pPr marL="857250" lvl="1" indent="-400050" algn="l">
              <a:buFont typeface="+mj-lt"/>
              <a:buAutoNum type="romanLcPeriod"/>
            </a:pPr>
            <a:r>
              <a:rPr lang="en-GB" b="1" i="0" u="none" strike="noStrike" dirty="0">
                <a:solidFill>
                  <a:srgbClr val="000000"/>
                </a:solidFill>
                <a:effectLst/>
              </a:rPr>
              <a:t>Benefit:</a:t>
            </a:r>
            <a:r>
              <a:rPr lang="en-GB" b="0" i="0" u="none" strike="noStrike" dirty="0">
                <a:solidFill>
                  <a:srgbClr val="000000"/>
                </a:solidFill>
                <a:effectLst/>
              </a:rPr>
              <a:t> The target Q-values (r+</a:t>
            </a:r>
            <a:r>
              <a:rPr lang="el-GR" b="0" i="0" u="none" strike="noStrike" dirty="0">
                <a:solidFill>
                  <a:srgbClr val="000000"/>
                </a:solidFill>
                <a:effectLst/>
              </a:rPr>
              <a:t>γ</a:t>
            </a:r>
            <a:r>
              <a:rPr lang="en-GB" b="0" i="0" u="none" strike="noStrike" dirty="0" err="1">
                <a:solidFill>
                  <a:srgbClr val="000000"/>
                </a:solidFill>
                <a:effectLst/>
              </a:rPr>
              <a:t>maxa</a:t>
            </a:r>
            <a:r>
              <a:rPr lang="en-GB" b="0" i="0" u="none" strike="noStrike" dirty="0">
                <a:solidFill>
                  <a:srgbClr val="000000"/>
                </a:solidFill>
                <a:effectLst/>
              </a:rPr>
              <a:t>′​</a:t>
            </a:r>
            <a:r>
              <a:rPr lang="en-GB" b="0" i="0" u="none" strike="noStrike" dirty="0" err="1">
                <a:solidFill>
                  <a:srgbClr val="000000"/>
                </a:solidFill>
                <a:effectLst/>
              </a:rPr>
              <a:t>Qtarget</a:t>
            </a:r>
            <a:r>
              <a:rPr lang="en-GB" b="0" i="0" u="none" strike="noStrike" dirty="0">
                <a:solidFill>
                  <a:srgbClr val="000000"/>
                </a:solidFill>
                <a:effectLst/>
              </a:rPr>
              <a:t>​(</a:t>
            </a:r>
            <a:r>
              <a:rPr lang="en-GB" b="0" i="0" u="none" strike="noStrike" dirty="0" err="1">
                <a:solidFill>
                  <a:srgbClr val="000000"/>
                </a:solidFill>
                <a:effectLst/>
              </a:rPr>
              <a:t>s′,a</a:t>
            </a:r>
            <a:r>
              <a:rPr lang="en-GB" b="0" i="0" u="none" strike="noStrike" dirty="0">
                <a:solidFill>
                  <a:srgbClr val="000000"/>
                </a:solidFill>
                <a:effectLst/>
              </a:rPr>
              <a:t>′)) used for calculating the TD error are computed using this older, stable target network. This provides a more consistent target for the main Q-network to learn from, preventing oscillations and improving training stability. The target network's weights are typically updated to match the main Q-network's weights only every few thousand steps.</a:t>
            </a:r>
          </a:p>
          <a:p>
            <a:pPr marL="1143000" lvl="2" indent="-228600" algn="l">
              <a:buFont typeface="Arial" panose="020B0604020202020204" pitchFamily="34" charset="0"/>
              <a:buChar char="•"/>
            </a:pPr>
            <a:endParaRPr lang="en-GB" b="0" i="0" u="none" strike="noStrike" dirty="0">
              <a:solidFill>
                <a:srgbClr val="000000"/>
              </a:solidFill>
              <a:effectLst/>
            </a:endParaRPr>
          </a:p>
          <a:p>
            <a:pPr>
              <a:buNone/>
            </a:pPr>
            <a:br>
              <a:rPr lang="en-GB" dirty="0"/>
            </a:br>
            <a:endParaRPr lang="en-GB" dirty="0"/>
          </a:p>
        </p:txBody>
      </p:sp>
    </p:spTree>
    <p:extLst>
      <p:ext uri="{BB962C8B-B14F-4D97-AF65-F5344CB8AC3E}">
        <p14:creationId xmlns:p14="http://schemas.microsoft.com/office/powerpoint/2010/main" val="324585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B0CC6A8-9312-2DC1-942B-E7908B67CA9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98D1929-3573-51C7-82DA-4231DB7201C0}"/>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b="1" i="0" u="none" strike="noStrike" dirty="0">
                <a:solidFill>
                  <a:srgbClr val="7030A0"/>
                </a:solidFill>
                <a:effectLst/>
              </a:rPr>
              <a:t>3. Deep Q-Networks (DQN)</a:t>
            </a:r>
            <a:br>
              <a:rPr lang="en-GB" sz="2700" b="1" i="0" u="none" strike="noStrike" dirty="0">
                <a:solidFill>
                  <a:srgbClr val="7030A0"/>
                </a:solidFill>
                <a:effectLst/>
              </a:rPr>
            </a:b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5EE654D-B0A4-37A8-C770-56EF4BAAC94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6AADA6B-859D-26CA-7F02-F9DD10021F79}"/>
              </a:ext>
            </a:extLst>
          </p:cNvPr>
          <p:cNvSpPr txBox="1"/>
          <p:nvPr/>
        </p:nvSpPr>
        <p:spPr>
          <a:xfrm>
            <a:off x="0" y="547126"/>
            <a:ext cx="8507137" cy="4185761"/>
          </a:xfrm>
          <a:prstGeom prst="rect">
            <a:avLst/>
          </a:prstGeom>
          <a:noFill/>
        </p:spPr>
        <p:txBody>
          <a:bodyPr wrap="square">
            <a:spAutoFit/>
          </a:bodyPr>
          <a:lstStyle/>
          <a:p>
            <a:pPr algn="l">
              <a:buFont typeface="+mj-lt"/>
              <a:buAutoNum type="arabicPeriod"/>
            </a:pPr>
            <a:r>
              <a:rPr lang="en-GB" b="1" i="0" u="none" strike="noStrike" dirty="0">
                <a:solidFill>
                  <a:srgbClr val="000000"/>
                </a:solidFill>
                <a:effectLst/>
              </a:rPr>
              <a:t>Initialization:</a:t>
            </a:r>
            <a:r>
              <a:rPr lang="en-GB" b="0" i="0" u="none" strike="noStrike" dirty="0">
                <a:solidFill>
                  <a:srgbClr val="000000"/>
                </a:solidFill>
                <a:effectLst/>
              </a:rPr>
              <a:t> Initialize the main Q-network (e.g., Q) and the target network (</a:t>
            </a:r>
            <a:r>
              <a:rPr lang="en-GB" b="0" i="0" u="none" strike="noStrike" dirty="0" err="1">
                <a:solidFill>
                  <a:srgbClr val="000000"/>
                </a:solidFill>
                <a:effectLst/>
              </a:rPr>
              <a:t>Q_target</a:t>
            </a:r>
            <a:r>
              <a:rPr lang="en-GB" b="0" i="0" u="none" strike="noStrike" dirty="0">
                <a:solidFill>
                  <a:srgbClr val="000000"/>
                </a:solidFill>
                <a:effectLst/>
              </a:rPr>
              <a:t>) with the </a:t>
            </a:r>
          </a:p>
          <a:p>
            <a:pPr algn="l"/>
            <a:r>
              <a:rPr lang="en-GB" b="0" i="0" u="none" strike="noStrike" dirty="0">
                <a:solidFill>
                  <a:srgbClr val="000000"/>
                </a:solidFill>
                <a:effectLst/>
              </a:rPr>
              <a:t>same random weights.</a:t>
            </a:r>
          </a:p>
          <a:p>
            <a:pPr algn="l"/>
            <a:r>
              <a:rPr lang="en-GB" b="1" i="0" u="none" strike="noStrike" dirty="0">
                <a:solidFill>
                  <a:srgbClr val="000000"/>
                </a:solidFill>
                <a:effectLst/>
              </a:rPr>
              <a:t>Loop for each episode:</a:t>
            </a:r>
            <a:endParaRPr lang="en-GB" b="0" i="0" u="none" strike="noStrike" dirty="0">
              <a:solidFill>
                <a:srgbClr val="000000"/>
              </a:solidFill>
              <a:effectLst/>
            </a:endParaRPr>
          </a:p>
          <a:p>
            <a:pPr marL="857250" lvl="1" indent="-400050" algn="l">
              <a:buFont typeface="+mj-lt"/>
              <a:buAutoNum type="romanLcPeriod"/>
            </a:pPr>
            <a:r>
              <a:rPr lang="en-GB" b="1" i="0" u="none" strike="noStrike" dirty="0">
                <a:solidFill>
                  <a:srgbClr val="000000"/>
                </a:solidFill>
                <a:effectLst/>
              </a:rPr>
              <a:t>Observe State:</a:t>
            </a:r>
            <a:r>
              <a:rPr lang="en-GB" b="0" i="0" u="none" strike="noStrike" dirty="0">
                <a:solidFill>
                  <a:srgbClr val="000000"/>
                </a:solidFill>
                <a:effectLst/>
              </a:rPr>
              <a:t> Get the current state s.</a:t>
            </a:r>
          </a:p>
          <a:p>
            <a:pPr marL="857250" lvl="1" indent="-400050" algn="l">
              <a:buFont typeface="+mj-lt"/>
              <a:buAutoNum type="romanLcPeriod"/>
            </a:pPr>
            <a:r>
              <a:rPr lang="en-GB" b="1" i="0" u="none" strike="noStrike" dirty="0">
                <a:solidFill>
                  <a:srgbClr val="000000"/>
                </a:solidFill>
                <a:effectLst/>
              </a:rPr>
              <a:t>Action Selection:</a:t>
            </a:r>
            <a:r>
              <a:rPr lang="en-GB" b="0" i="0" u="none" strike="noStrike" dirty="0">
                <a:solidFill>
                  <a:srgbClr val="000000"/>
                </a:solidFill>
                <a:effectLst/>
              </a:rPr>
              <a:t> Select an action a using an </a:t>
            </a:r>
            <a:r>
              <a:rPr lang="el-GR" b="1" i="0" u="none" strike="noStrike" dirty="0">
                <a:solidFill>
                  <a:srgbClr val="000000"/>
                </a:solidFill>
                <a:effectLst/>
              </a:rPr>
              <a:t>ϵ-</a:t>
            </a:r>
            <a:r>
              <a:rPr lang="en-GB" b="1" i="0" u="none" strike="noStrike" dirty="0">
                <a:solidFill>
                  <a:srgbClr val="000000"/>
                </a:solidFill>
                <a:effectLst/>
              </a:rPr>
              <a:t>greedy policy</a:t>
            </a:r>
            <a:r>
              <a:rPr lang="en-GB" b="0" i="0" u="none" strike="noStrike" dirty="0">
                <a:solidFill>
                  <a:srgbClr val="000000"/>
                </a:solidFill>
                <a:effectLst/>
              </a:rPr>
              <a:t>. This means with probability </a:t>
            </a:r>
            <a:r>
              <a:rPr lang="el-GR" b="0" i="0" u="none" strike="noStrike" dirty="0">
                <a:solidFill>
                  <a:srgbClr val="000000"/>
                </a:solidFill>
                <a:effectLst/>
              </a:rPr>
              <a:t>ϵ (</a:t>
            </a:r>
            <a:r>
              <a:rPr lang="en-GB" b="0" i="0" u="none" strike="noStrike" dirty="0">
                <a:solidFill>
                  <a:srgbClr val="000000"/>
                </a:solidFill>
                <a:effectLst/>
              </a:rPr>
              <a:t>exploration), a random action is chosen, and with probability (1−</a:t>
            </a:r>
            <a:r>
              <a:rPr lang="el-GR" b="0" i="0" u="none" strike="noStrike" dirty="0">
                <a:solidFill>
                  <a:srgbClr val="000000"/>
                </a:solidFill>
                <a:effectLst/>
              </a:rPr>
              <a:t>ϵ) (</a:t>
            </a:r>
            <a:r>
              <a:rPr lang="en-GB" b="0" i="0" u="none" strike="noStrike" dirty="0">
                <a:solidFill>
                  <a:srgbClr val="000000"/>
                </a:solidFill>
                <a:effectLst/>
              </a:rPr>
              <a:t>exploitation), the action with the highest Q-value from the current Q-network is chosen. </a:t>
            </a:r>
            <a:r>
              <a:rPr lang="el-GR" b="0" i="0" u="none" strike="noStrike" dirty="0">
                <a:solidFill>
                  <a:srgbClr val="000000"/>
                </a:solidFill>
                <a:effectLst/>
              </a:rPr>
              <a:t>ϵ </a:t>
            </a:r>
            <a:r>
              <a:rPr lang="en-GB" b="0" i="0" u="none" strike="noStrike" dirty="0">
                <a:solidFill>
                  <a:srgbClr val="000000"/>
                </a:solidFill>
                <a:effectLst/>
              </a:rPr>
              <a:t>usually decays over time.</a:t>
            </a:r>
          </a:p>
          <a:p>
            <a:pPr marL="857250" lvl="1" indent="-400050" algn="l">
              <a:buFont typeface="+mj-lt"/>
              <a:buAutoNum type="romanLcPeriod"/>
            </a:pPr>
            <a:r>
              <a:rPr lang="en-GB" b="1" i="0" u="none" strike="noStrike" dirty="0">
                <a:solidFill>
                  <a:srgbClr val="000000"/>
                </a:solidFill>
                <a:effectLst/>
              </a:rPr>
              <a:t>Execute Action:</a:t>
            </a:r>
            <a:r>
              <a:rPr lang="en-GB" b="0" i="0" u="none" strike="noStrike" dirty="0">
                <a:solidFill>
                  <a:srgbClr val="000000"/>
                </a:solidFill>
                <a:effectLst/>
              </a:rPr>
              <a:t> Perform action a in the environment.</a:t>
            </a:r>
          </a:p>
          <a:p>
            <a:pPr marL="857250" lvl="1" indent="-400050" algn="l">
              <a:buFont typeface="+mj-lt"/>
              <a:buAutoNum type="romanLcPeriod"/>
            </a:pPr>
            <a:r>
              <a:rPr lang="en-GB" b="1" i="0" u="none" strike="noStrike" dirty="0">
                <a:solidFill>
                  <a:srgbClr val="000000"/>
                </a:solidFill>
                <a:effectLst/>
              </a:rPr>
              <a:t>Observe Outcome:</a:t>
            </a:r>
            <a:r>
              <a:rPr lang="en-GB" b="0" i="0" u="none" strike="noStrike" dirty="0">
                <a:solidFill>
                  <a:srgbClr val="000000"/>
                </a:solidFill>
                <a:effectLst/>
              </a:rPr>
              <a:t> Receive reward r and the next state s′.</a:t>
            </a:r>
          </a:p>
          <a:p>
            <a:pPr marL="857250" lvl="1" indent="-400050" algn="l">
              <a:buFont typeface="+mj-lt"/>
              <a:buAutoNum type="romanLcPeriod"/>
            </a:pPr>
            <a:r>
              <a:rPr lang="en-GB" b="1" i="0" u="none" strike="noStrike" dirty="0">
                <a:solidFill>
                  <a:srgbClr val="000000"/>
                </a:solidFill>
                <a:effectLst/>
              </a:rPr>
              <a:t>Store Transition:</a:t>
            </a:r>
            <a:r>
              <a:rPr lang="en-GB" b="0" i="0" u="none" strike="noStrike" dirty="0">
                <a:solidFill>
                  <a:srgbClr val="000000"/>
                </a:solidFill>
                <a:effectLst/>
              </a:rPr>
              <a:t> Store the observed transition (</a:t>
            </a:r>
            <a:r>
              <a:rPr lang="en-GB" b="0" i="0" u="none" strike="noStrike" dirty="0" err="1">
                <a:solidFill>
                  <a:srgbClr val="000000"/>
                </a:solidFill>
                <a:effectLst/>
              </a:rPr>
              <a:t>s,a,r,s</a:t>
            </a:r>
            <a:r>
              <a:rPr lang="en-GB" b="0" i="0" u="none" strike="noStrike" dirty="0">
                <a:solidFill>
                  <a:srgbClr val="000000"/>
                </a:solidFill>
                <a:effectLst/>
              </a:rPr>
              <a:t>′) in the experience replay buffer.</a:t>
            </a:r>
          </a:p>
          <a:p>
            <a:pPr marL="857250" lvl="1" indent="-400050" algn="l">
              <a:buFont typeface="+mj-lt"/>
              <a:buAutoNum type="romanLcPeriod"/>
            </a:pPr>
            <a:r>
              <a:rPr lang="en-GB" b="1" i="0" u="none" strike="noStrike" dirty="0">
                <a:solidFill>
                  <a:srgbClr val="000000"/>
                </a:solidFill>
                <a:effectLst/>
              </a:rPr>
              <a:t>Sample Mini-batch:</a:t>
            </a:r>
            <a:r>
              <a:rPr lang="en-GB" b="0" i="0" u="none" strike="noStrike" dirty="0">
                <a:solidFill>
                  <a:srgbClr val="000000"/>
                </a:solidFill>
                <a:effectLst/>
              </a:rPr>
              <a:t> Randomly sample a mini-batch of transitions from the replay buffer.</a:t>
            </a:r>
          </a:p>
          <a:p>
            <a:pPr marL="857250" lvl="1" indent="-400050" algn="l">
              <a:buFont typeface="+mj-lt"/>
              <a:buAutoNum type="romanLcPeriod"/>
            </a:pPr>
            <a:r>
              <a:rPr lang="en-GB" b="1" i="0" u="none" strike="noStrike" dirty="0">
                <a:solidFill>
                  <a:srgbClr val="000000"/>
                </a:solidFill>
                <a:effectLst/>
              </a:rPr>
              <a:t>Compute Target:</a:t>
            </a:r>
            <a:r>
              <a:rPr lang="en-GB" b="0" i="0" u="none" strike="noStrike" dirty="0">
                <a:solidFill>
                  <a:srgbClr val="000000"/>
                </a:solidFill>
                <a:effectLst/>
              </a:rPr>
              <a:t> For each transition in the mini-batch, compute the target Q-value y: </a:t>
            </a:r>
            <a:r>
              <a:rPr lang="en-GB" b="0" i="1" u="none" strike="noStrike" dirty="0">
                <a:solidFill>
                  <a:srgbClr val="000000"/>
                </a:solidFill>
                <a:effectLst/>
              </a:rPr>
              <a:t>y=r+</a:t>
            </a:r>
            <a:r>
              <a:rPr lang="el-GR" b="0" i="1" u="none" strike="noStrike" dirty="0">
                <a:solidFill>
                  <a:srgbClr val="000000"/>
                </a:solidFill>
                <a:effectLst/>
              </a:rPr>
              <a:t>γ</a:t>
            </a:r>
            <a:r>
              <a:rPr lang="en-GB" b="0" i="1" u="none" strike="noStrike" dirty="0" err="1">
                <a:solidFill>
                  <a:srgbClr val="000000"/>
                </a:solidFill>
                <a:effectLst/>
              </a:rPr>
              <a:t>a′max</a:t>
            </a:r>
            <a:r>
              <a:rPr lang="en-GB" b="0" i="1" u="none" strike="noStrike" dirty="0">
                <a:solidFill>
                  <a:srgbClr val="000000"/>
                </a:solidFill>
                <a:effectLst/>
              </a:rPr>
              <a:t>​</a:t>
            </a:r>
            <a:r>
              <a:rPr lang="en-GB" b="0" i="1" u="none" strike="noStrike" dirty="0" err="1">
                <a:solidFill>
                  <a:srgbClr val="000000"/>
                </a:solidFill>
                <a:effectLst/>
              </a:rPr>
              <a:t>Qtarget</a:t>
            </a:r>
            <a:r>
              <a:rPr lang="en-GB" b="0" i="1" u="none" strike="noStrike" dirty="0">
                <a:solidFill>
                  <a:srgbClr val="000000"/>
                </a:solidFill>
                <a:effectLst/>
              </a:rPr>
              <a:t>​(</a:t>
            </a:r>
            <a:r>
              <a:rPr lang="en-GB" b="0" i="1" u="none" strike="noStrike" dirty="0" err="1">
                <a:solidFill>
                  <a:srgbClr val="000000"/>
                </a:solidFill>
                <a:effectLst/>
              </a:rPr>
              <a:t>s′,a</a:t>
            </a:r>
            <a:r>
              <a:rPr lang="en-GB" b="0" i="1" u="none" strike="noStrike" dirty="0">
                <a:solidFill>
                  <a:srgbClr val="000000"/>
                </a:solidFill>
                <a:effectLst/>
              </a:rPr>
              <a:t>′)</a:t>
            </a:r>
          </a:p>
          <a:p>
            <a:pPr marL="857250" lvl="1" indent="-400050" algn="l">
              <a:buFont typeface="+mj-lt"/>
              <a:buAutoNum type="romanLcPeriod"/>
            </a:pPr>
            <a:r>
              <a:rPr lang="en-GB" b="1" i="0" u="none" strike="noStrike" dirty="0">
                <a:solidFill>
                  <a:srgbClr val="000000"/>
                </a:solidFill>
                <a:effectLst/>
              </a:rPr>
              <a:t>Update Q-network:</a:t>
            </a:r>
            <a:r>
              <a:rPr lang="en-GB" b="0" i="0" u="none" strike="noStrike" dirty="0">
                <a:solidFill>
                  <a:srgbClr val="000000"/>
                </a:solidFill>
                <a:effectLst/>
              </a:rPr>
              <a:t> Perform a gradient descent step to update the main Q-network's weights, minimizing the Mean Squared Error (MSE) loss between the predicted Q-value and the target Q-value: </a:t>
            </a:r>
            <a:r>
              <a:rPr lang="en-GB" b="0" i="1" u="none" strike="noStrike" dirty="0">
                <a:solidFill>
                  <a:srgbClr val="000000"/>
                </a:solidFill>
                <a:effectLst/>
              </a:rPr>
              <a:t>L=(y−Q(</a:t>
            </a:r>
            <a:r>
              <a:rPr lang="en-GB" b="0" i="1" u="none" strike="noStrike" dirty="0" err="1">
                <a:solidFill>
                  <a:srgbClr val="000000"/>
                </a:solidFill>
                <a:effectLst/>
              </a:rPr>
              <a:t>s,a</a:t>
            </a:r>
            <a:r>
              <a:rPr lang="en-GB" b="0" i="1" u="none" strike="noStrike" dirty="0">
                <a:solidFill>
                  <a:srgbClr val="000000"/>
                </a:solidFill>
                <a:effectLst/>
              </a:rPr>
              <a:t>))2</a:t>
            </a:r>
          </a:p>
          <a:p>
            <a:pPr marL="857250" lvl="1" indent="-400050" algn="l">
              <a:buFont typeface="+mj-lt"/>
              <a:buAutoNum type="romanLcPeriod"/>
            </a:pPr>
            <a:r>
              <a:rPr lang="en-GB" b="1" i="0" u="none" strike="noStrike" dirty="0">
                <a:solidFill>
                  <a:srgbClr val="000000"/>
                </a:solidFill>
                <a:effectLst/>
              </a:rPr>
              <a:t>Update Target Network:</a:t>
            </a:r>
            <a:r>
              <a:rPr lang="en-GB" b="0" i="0" u="none" strike="noStrike" dirty="0">
                <a:solidFill>
                  <a:srgbClr val="000000"/>
                </a:solidFill>
                <a:effectLst/>
              </a:rPr>
              <a:t> Periodically (e.g., every few thousand steps), update the weights of the target network (</a:t>
            </a:r>
            <a:r>
              <a:rPr lang="en-GB" b="0" i="0" u="none" strike="noStrike" dirty="0" err="1">
                <a:solidFill>
                  <a:srgbClr val="000000"/>
                </a:solidFill>
                <a:effectLst/>
              </a:rPr>
              <a:t>Q_target</a:t>
            </a:r>
            <a:r>
              <a:rPr lang="en-GB" b="0" i="0" u="none" strike="noStrike" dirty="0">
                <a:solidFill>
                  <a:srgbClr val="000000"/>
                </a:solidFill>
                <a:effectLst/>
              </a:rPr>
              <a:t>) by copying the weights from the main Q-network (Q).</a:t>
            </a:r>
          </a:p>
        </p:txBody>
      </p:sp>
    </p:spTree>
    <p:extLst>
      <p:ext uri="{BB962C8B-B14F-4D97-AF65-F5344CB8AC3E}">
        <p14:creationId xmlns:p14="http://schemas.microsoft.com/office/powerpoint/2010/main" val="2867933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110E832-8EB0-E0B7-091F-2D8D301F698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ECB3836-113F-E21D-EFBB-976679AE3011}"/>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b="1" i="0" u="none" strike="noStrike" dirty="0">
                <a:solidFill>
                  <a:srgbClr val="7030A0"/>
                </a:solidFill>
                <a:effectLst/>
              </a:rPr>
              <a:t>3. Deep Q-Networks (DQN)</a:t>
            </a:r>
            <a:br>
              <a:rPr lang="en-GB" sz="2700" b="1" i="0" u="none" strike="noStrike" dirty="0">
                <a:solidFill>
                  <a:srgbClr val="7030A0"/>
                </a:solidFill>
                <a:effectLst/>
              </a:rPr>
            </a:b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38592CD6-C045-4F88-D989-29BCEEDD8A7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C4AA0B0-6CFD-38B2-963C-660ABDE3CA52}"/>
              </a:ext>
            </a:extLst>
          </p:cNvPr>
          <p:cNvSpPr txBox="1"/>
          <p:nvPr/>
        </p:nvSpPr>
        <p:spPr>
          <a:xfrm>
            <a:off x="0" y="547126"/>
            <a:ext cx="7170057" cy="2954655"/>
          </a:xfrm>
          <a:prstGeom prst="rect">
            <a:avLst/>
          </a:prstGeom>
          <a:noFill/>
        </p:spPr>
        <p:txBody>
          <a:bodyPr wrap="square">
            <a:spAutoFit/>
          </a:bodyPr>
          <a:lstStyle/>
          <a:p>
            <a:pPr algn="l">
              <a:buNone/>
            </a:pPr>
            <a:r>
              <a:rPr lang="en-GB" sz="1600" b="1" i="0" u="none" strike="noStrike" dirty="0">
                <a:solidFill>
                  <a:srgbClr val="000000"/>
                </a:solidFill>
                <a:effectLst/>
              </a:rPr>
              <a:t>Limitations of DQN:</a:t>
            </a:r>
          </a:p>
          <a:p>
            <a:pPr algn="l">
              <a:buNone/>
            </a:pPr>
            <a:endParaRPr lang="en-GB" sz="1600" b="1" i="0" u="none" strike="noStrike" dirty="0">
              <a:solidFill>
                <a:srgbClr val="000000"/>
              </a:solidFill>
              <a:effectLst/>
            </a:endParaRPr>
          </a:p>
          <a:p>
            <a:pPr marL="342900" indent="-342900" algn="l">
              <a:buFont typeface="+mj-lt"/>
              <a:buAutoNum type="arabicPeriod"/>
            </a:pPr>
            <a:r>
              <a:rPr lang="en-GB" b="1" i="0" u="none" strike="noStrike" dirty="0">
                <a:solidFill>
                  <a:srgbClr val="000000"/>
                </a:solidFill>
                <a:effectLst/>
              </a:rPr>
              <a:t>Only Handles Discrete Actions:</a:t>
            </a:r>
            <a:r>
              <a:rPr lang="en-GB" b="0" i="0" u="none" strike="noStrike" dirty="0">
                <a:solidFill>
                  <a:srgbClr val="000000"/>
                </a:solidFill>
                <a:effectLst/>
              </a:rPr>
              <a:t> DQN is fundamentally designed for environments where the agent can choose from a finite, discrete set of actions. It cannot directly handle continuous action spaces.</a:t>
            </a:r>
          </a:p>
          <a:p>
            <a:pPr marL="342900" indent="-342900" algn="l">
              <a:buFont typeface="+mj-lt"/>
              <a:buAutoNum type="arabicPeriod"/>
            </a:pPr>
            <a:endParaRPr lang="en-GB" b="0" i="0" u="none" strike="noStrike" dirty="0">
              <a:solidFill>
                <a:srgbClr val="000000"/>
              </a:solidFill>
              <a:effectLst/>
            </a:endParaRPr>
          </a:p>
          <a:p>
            <a:pPr marL="342900" indent="-342900" algn="l">
              <a:buFont typeface="+mj-lt"/>
              <a:buAutoNum type="arabicPeriod"/>
            </a:pPr>
            <a:r>
              <a:rPr lang="en-GB" b="1" i="0" u="none" strike="noStrike" dirty="0">
                <a:solidFill>
                  <a:srgbClr val="000000"/>
                </a:solidFill>
                <a:effectLst/>
              </a:rPr>
              <a:t>Can Overestimate Q-values:</a:t>
            </a:r>
            <a:r>
              <a:rPr lang="en-GB" b="0" i="0" u="none" strike="noStrike" dirty="0">
                <a:solidFill>
                  <a:srgbClr val="000000"/>
                </a:solidFill>
                <a:effectLst/>
              </a:rPr>
              <a:t> Due to the use of the max operator in the target calculation, DQN can sometimes suffer from an overestimation bias in its Q-values. This is because the maximum value is taken over estimated Q-values, which might contain positive errors, leading to an overoptimistic assessment of future rewards.</a:t>
            </a:r>
          </a:p>
          <a:p>
            <a:pPr marL="1143000" lvl="2" indent="-228600" algn="l">
              <a:buFont typeface="Arial" panose="020B0604020202020204" pitchFamily="34" charset="0"/>
              <a:buChar char="•"/>
            </a:pPr>
            <a:endParaRPr lang="en-GB" b="0" i="0" u="none" strike="noStrike" dirty="0">
              <a:solidFill>
                <a:srgbClr val="000000"/>
              </a:solidFill>
              <a:effectLst/>
            </a:endParaRPr>
          </a:p>
          <a:p>
            <a:pPr>
              <a:buNone/>
            </a:pPr>
            <a:br>
              <a:rPr lang="en-GB" dirty="0"/>
            </a:br>
            <a:endParaRPr lang="en-GB" dirty="0"/>
          </a:p>
        </p:txBody>
      </p:sp>
    </p:spTree>
    <p:extLst>
      <p:ext uri="{BB962C8B-B14F-4D97-AF65-F5344CB8AC3E}">
        <p14:creationId xmlns:p14="http://schemas.microsoft.com/office/powerpoint/2010/main" val="13553492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F39E0A7-DC5A-634E-0C88-06BB05972CD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A688015-18B2-5D5B-0B89-3435874A10FC}"/>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dirty="0">
                <a:solidFill>
                  <a:srgbClr val="7030A0"/>
                </a:solidFill>
              </a:rPr>
              <a:t>4</a:t>
            </a:r>
            <a:r>
              <a:rPr lang="en-GB" sz="2700" b="1" i="0" u="none" strike="noStrike" dirty="0">
                <a:solidFill>
                  <a:srgbClr val="7030A0"/>
                </a:solidFill>
                <a:effectLst/>
              </a:rPr>
              <a:t>. Policy Gradient Methods</a:t>
            </a:r>
            <a:br>
              <a:rPr lang="en-GB" sz="2700" b="1" i="0" u="none" strike="noStrike" dirty="0">
                <a:solidFill>
                  <a:srgbClr val="7030A0"/>
                </a:solidFill>
                <a:effectLst/>
              </a:rPr>
            </a:br>
            <a:br>
              <a:rPr lang="en-GB" sz="2700" b="1" i="0" u="none" strike="noStrike" dirty="0">
                <a:solidFill>
                  <a:srgbClr val="7030A0"/>
                </a:solidFill>
                <a:effectLst/>
              </a:rPr>
            </a:b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55CD922-7157-BFCF-5DB7-8696950CFD7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5501E1D-5105-D1BB-B245-403686F6C21E}"/>
              </a:ext>
            </a:extLst>
          </p:cNvPr>
          <p:cNvSpPr txBox="1"/>
          <p:nvPr/>
        </p:nvSpPr>
        <p:spPr>
          <a:xfrm>
            <a:off x="638628" y="866441"/>
            <a:ext cx="7170057" cy="3323987"/>
          </a:xfrm>
          <a:prstGeom prst="rect">
            <a:avLst/>
          </a:prstGeom>
          <a:noFill/>
        </p:spPr>
        <p:txBody>
          <a:bodyPr wrap="square">
            <a:spAutoFit/>
          </a:bodyPr>
          <a:lstStyle/>
          <a:p>
            <a:pPr algn="l">
              <a:buNone/>
            </a:pPr>
            <a:r>
              <a:rPr lang="en-GB" b="0" i="0" u="none" strike="noStrike" dirty="0">
                <a:solidFill>
                  <a:srgbClr val="000000"/>
                </a:solidFill>
                <a:effectLst/>
              </a:rPr>
              <a:t>Unlike value-based methods such as DQN, </a:t>
            </a:r>
            <a:r>
              <a:rPr lang="en-GB" b="1" i="0" u="none" strike="noStrike" dirty="0">
                <a:solidFill>
                  <a:srgbClr val="000000"/>
                </a:solidFill>
                <a:effectLst/>
              </a:rPr>
              <a:t>policy gradient</a:t>
            </a:r>
            <a:r>
              <a:rPr lang="en-GB" b="0" i="0" u="none" strike="noStrike" dirty="0">
                <a:solidFill>
                  <a:srgbClr val="000000"/>
                </a:solidFill>
                <a:effectLst/>
              </a:rPr>
              <a:t> methods directly optimize the agent's </a:t>
            </a:r>
            <a:r>
              <a:rPr lang="en-GB" b="1" i="0" u="none" strike="noStrike" dirty="0">
                <a:solidFill>
                  <a:srgbClr val="000000"/>
                </a:solidFill>
                <a:effectLst/>
              </a:rPr>
              <a:t>policy (</a:t>
            </a:r>
            <a:r>
              <a:rPr lang="el-GR" b="1" i="0" u="none" strike="noStrike" dirty="0">
                <a:solidFill>
                  <a:srgbClr val="000000"/>
                </a:solidFill>
                <a:effectLst/>
              </a:rPr>
              <a:t>π)</a:t>
            </a:r>
            <a:r>
              <a:rPr lang="el-GR" b="0" i="0" u="none" strike="noStrike" dirty="0">
                <a:solidFill>
                  <a:srgbClr val="000000"/>
                </a:solidFill>
                <a:effectLst/>
              </a:rPr>
              <a:t> </a:t>
            </a:r>
            <a:r>
              <a:rPr lang="en-GB" b="0" i="0" u="none" strike="noStrike" dirty="0">
                <a:solidFill>
                  <a:srgbClr val="000000"/>
                </a:solidFill>
                <a:effectLst/>
              </a:rPr>
              <a:t>to maximize the expected cumulative rewards.</a:t>
            </a:r>
          </a:p>
          <a:p>
            <a:pPr algn="l"/>
            <a:r>
              <a:rPr lang="en-GB" b="1" i="0" u="none" strike="noStrike" dirty="0">
                <a:solidFill>
                  <a:srgbClr val="000000"/>
                </a:solidFill>
                <a:effectLst/>
              </a:rPr>
              <a:t>Key Idea:</a:t>
            </a:r>
            <a:endParaRPr lang="en-GB" b="0" i="0" u="none" strike="noStrike" dirty="0">
              <a:solidFill>
                <a:srgbClr val="000000"/>
              </a:solidFill>
              <a:effectLst/>
            </a:endParaRPr>
          </a:p>
          <a:p>
            <a:pPr marL="800100" lvl="1" indent="-342900" algn="l">
              <a:buFont typeface="+mj-lt"/>
              <a:buAutoNum type="arabicPeriod"/>
            </a:pPr>
            <a:r>
              <a:rPr lang="en-GB" b="0" i="0" u="none" strike="noStrike" dirty="0">
                <a:solidFill>
                  <a:srgbClr val="000000"/>
                </a:solidFill>
                <a:effectLst/>
              </a:rPr>
              <a:t>The agent's policy is represented directly as a </a:t>
            </a:r>
            <a:r>
              <a:rPr lang="en-GB" b="1" i="0" u="none" strike="noStrike" dirty="0">
                <a:solidFill>
                  <a:srgbClr val="000000"/>
                </a:solidFill>
                <a:effectLst/>
              </a:rPr>
              <a:t>neural network</a:t>
            </a:r>
            <a:r>
              <a:rPr lang="en-GB" b="0" i="0" u="none" strike="noStrike" dirty="0">
                <a:solidFill>
                  <a:srgbClr val="000000"/>
                </a:solidFill>
                <a:effectLst/>
              </a:rPr>
              <a:t>, denoted as </a:t>
            </a:r>
            <a:r>
              <a:rPr lang="el-GR" b="0" i="0" u="none" strike="noStrike" dirty="0" err="1">
                <a:solidFill>
                  <a:srgbClr val="000000"/>
                </a:solidFill>
                <a:effectLst/>
              </a:rPr>
              <a:t>πθ</a:t>
            </a:r>
            <a:r>
              <a:rPr lang="el-GR" b="0" i="0" u="none" strike="noStrike" dirty="0">
                <a:solidFill>
                  <a:srgbClr val="000000"/>
                </a:solidFill>
                <a:effectLst/>
              </a:rPr>
              <a:t>​(</a:t>
            </a:r>
            <a:r>
              <a:rPr lang="en-GB" b="0" i="0" u="none" strike="noStrike" dirty="0" err="1">
                <a:solidFill>
                  <a:srgbClr val="000000"/>
                </a:solidFill>
                <a:effectLst/>
              </a:rPr>
              <a:t>a∣s</a:t>
            </a:r>
            <a:r>
              <a:rPr lang="en-GB" b="0" i="0" u="none" strike="noStrike" dirty="0">
                <a:solidFill>
                  <a:srgbClr val="000000"/>
                </a:solidFill>
                <a:effectLst/>
              </a:rPr>
              <a:t>). This network takes a state (s) as input and outputs a probability distribution over possible actions (a).</a:t>
            </a:r>
          </a:p>
          <a:p>
            <a:pPr marL="800100" lvl="1" indent="-342900" algn="l">
              <a:buFont typeface="+mj-lt"/>
              <a:buAutoNum type="arabicPeriod"/>
            </a:pPr>
            <a:r>
              <a:rPr lang="en-GB" b="0" i="0" u="none" strike="noStrike" dirty="0">
                <a:solidFill>
                  <a:srgbClr val="000000"/>
                </a:solidFill>
                <a:effectLst/>
              </a:rPr>
              <a:t>The goal is to adjust the network's parameters (</a:t>
            </a:r>
            <a:r>
              <a:rPr lang="el-GR" b="0" i="0" u="none" strike="noStrike" dirty="0">
                <a:solidFill>
                  <a:srgbClr val="000000"/>
                </a:solidFill>
                <a:effectLst/>
              </a:rPr>
              <a:t>θ) </a:t>
            </a:r>
            <a:r>
              <a:rPr lang="en-GB" b="0" i="0" u="none" strike="noStrike" dirty="0">
                <a:solidFill>
                  <a:srgbClr val="000000"/>
                </a:solidFill>
                <a:effectLst/>
              </a:rPr>
              <a:t>using </a:t>
            </a:r>
            <a:r>
              <a:rPr lang="en-GB" b="1" i="0" u="none" strike="noStrike" dirty="0">
                <a:solidFill>
                  <a:srgbClr val="000000"/>
                </a:solidFill>
                <a:effectLst/>
              </a:rPr>
              <a:t>gradient ascent</a:t>
            </a:r>
            <a:r>
              <a:rPr lang="en-GB" b="0" i="0" u="none" strike="noStrike" dirty="0">
                <a:solidFill>
                  <a:srgbClr val="000000"/>
                </a:solidFill>
                <a:effectLst/>
              </a:rPr>
              <a:t> on the expected reward. Instead of learning values of states or actions, we directly learn the best actions to take in a given state.</a:t>
            </a:r>
          </a:p>
          <a:p>
            <a:pPr algn="l"/>
            <a:r>
              <a:rPr lang="en-GB" b="1" i="0" u="none" strike="noStrike" dirty="0">
                <a:solidFill>
                  <a:srgbClr val="000000"/>
                </a:solidFill>
                <a:effectLst/>
              </a:rPr>
              <a:t>Objective Function:</a:t>
            </a:r>
            <a:endParaRPr lang="en-GB" b="0" i="0" u="none" strike="noStrike" dirty="0">
              <a:solidFill>
                <a:srgbClr val="000000"/>
              </a:solidFill>
              <a:effectLst/>
            </a:endParaRPr>
          </a:p>
          <a:p>
            <a:pPr marL="800100" lvl="1" indent="-342900" algn="l">
              <a:buFont typeface="+mj-lt"/>
              <a:buAutoNum type="arabicPeriod"/>
            </a:pPr>
            <a:r>
              <a:rPr lang="en-GB" b="0" i="0" u="none" strike="noStrike" dirty="0">
                <a:solidFill>
                  <a:srgbClr val="000000"/>
                </a:solidFill>
                <a:effectLst/>
              </a:rPr>
              <a:t>The primary objective is to maximize the expected total return (sum of future rewards) that the agent receives by following its policy </a:t>
            </a:r>
          </a:p>
          <a:p>
            <a:pPr marL="457200" lvl="1" algn="ctr"/>
            <a:r>
              <a:rPr lang="el-GR" b="0" i="0" u="none" strike="noStrike" dirty="0" err="1">
                <a:solidFill>
                  <a:srgbClr val="000000"/>
                </a:solidFill>
                <a:effectLst/>
              </a:rPr>
              <a:t>πθ</a:t>
            </a:r>
            <a:r>
              <a:rPr lang="el-GR" b="0" i="0" u="none" strike="noStrike" dirty="0">
                <a:solidFill>
                  <a:srgbClr val="000000"/>
                </a:solidFill>
                <a:effectLst/>
              </a:rPr>
              <a:t>​: </a:t>
            </a:r>
            <a:r>
              <a:rPr lang="en-GB" b="0" i="0" u="none" strike="noStrike" dirty="0">
                <a:solidFill>
                  <a:srgbClr val="000000"/>
                </a:solidFill>
                <a:effectLst/>
              </a:rPr>
              <a:t>J(</a:t>
            </a:r>
            <a:r>
              <a:rPr lang="el-GR" b="0" i="0" u="none" strike="noStrike" dirty="0">
                <a:solidFill>
                  <a:srgbClr val="000000"/>
                </a:solidFill>
                <a:effectLst/>
              </a:rPr>
              <a:t>θ)=</a:t>
            </a:r>
            <a:r>
              <a:rPr lang="en-GB" b="0" i="0" u="none" strike="noStrike" dirty="0">
                <a:solidFill>
                  <a:srgbClr val="000000"/>
                </a:solidFill>
                <a:effectLst/>
              </a:rPr>
              <a:t>E</a:t>
            </a:r>
            <a:r>
              <a:rPr lang="el-GR" b="0" i="0" u="none" strike="noStrike" dirty="0" err="1">
                <a:solidFill>
                  <a:srgbClr val="000000"/>
                </a:solidFill>
                <a:effectLst/>
              </a:rPr>
              <a:t>πθ</a:t>
            </a:r>
            <a:r>
              <a:rPr lang="el-GR" b="0" i="0" u="none" strike="noStrike" dirty="0">
                <a:solidFill>
                  <a:srgbClr val="000000"/>
                </a:solidFill>
                <a:effectLst/>
              </a:rPr>
              <a:t>​​[</a:t>
            </a:r>
            <a:r>
              <a:rPr lang="en-GB" b="0" i="0" u="none" strike="noStrike" dirty="0">
                <a:solidFill>
                  <a:srgbClr val="000000"/>
                </a:solidFill>
                <a:effectLst/>
              </a:rPr>
              <a:t>t∑​rt​]</a:t>
            </a:r>
          </a:p>
          <a:p>
            <a:pPr marL="457200" lvl="1" algn="l"/>
            <a:r>
              <a:rPr lang="en-GB" b="0" i="0" u="none" strike="noStrike" dirty="0">
                <a:solidFill>
                  <a:srgbClr val="000000"/>
                </a:solidFill>
                <a:effectLst/>
              </a:rPr>
              <a:t>Here, E</a:t>
            </a:r>
            <a:r>
              <a:rPr lang="el-GR" b="0" i="0" u="none" strike="noStrike" dirty="0" err="1">
                <a:solidFill>
                  <a:srgbClr val="000000"/>
                </a:solidFill>
                <a:effectLst/>
              </a:rPr>
              <a:t>πθ</a:t>
            </a:r>
            <a:r>
              <a:rPr lang="el-GR" b="0" i="0" u="none" strike="noStrike" dirty="0">
                <a:solidFill>
                  <a:srgbClr val="000000"/>
                </a:solidFill>
                <a:effectLst/>
              </a:rPr>
              <a:t>​​ </a:t>
            </a:r>
            <a:r>
              <a:rPr lang="en-GB" b="0" i="0" u="none" strike="noStrike" dirty="0">
                <a:solidFill>
                  <a:srgbClr val="000000"/>
                </a:solidFill>
                <a:effectLst/>
              </a:rPr>
              <a:t>denotes the expectation of rewards when following the policy </a:t>
            </a:r>
            <a:r>
              <a:rPr lang="el-GR" b="0" i="0" u="none" strike="noStrike" dirty="0" err="1">
                <a:solidFill>
                  <a:srgbClr val="000000"/>
                </a:solidFill>
                <a:effectLst/>
              </a:rPr>
              <a:t>πθ</a:t>
            </a:r>
            <a:r>
              <a:rPr lang="el-GR" b="0" i="0" u="none" strike="noStrike" dirty="0">
                <a:solidFill>
                  <a:srgbClr val="000000"/>
                </a:solidFill>
                <a:effectLst/>
              </a:rPr>
              <a:t>​.</a:t>
            </a:r>
          </a:p>
          <a:p>
            <a:pPr algn="l">
              <a:buNone/>
            </a:pPr>
            <a:endParaRPr lang="en-GB" dirty="0"/>
          </a:p>
        </p:txBody>
      </p:sp>
    </p:spTree>
    <p:extLst>
      <p:ext uri="{BB962C8B-B14F-4D97-AF65-F5344CB8AC3E}">
        <p14:creationId xmlns:p14="http://schemas.microsoft.com/office/powerpoint/2010/main" val="2368275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F1FD46F-21E7-5A13-F447-CDD2651A3B9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FA5D650-FD63-9021-7E34-97E3FEB1D749}"/>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dirty="0">
                <a:solidFill>
                  <a:srgbClr val="7030A0"/>
                </a:solidFill>
              </a:rPr>
              <a:t>4</a:t>
            </a:r>
            <a:r>
              <a:rPr lang="en-GB" sz="2700" b="1" i="0" u="none" strike="noStrike" dirty="0">
                <a:solidFill>
                  <a:srgbClr val="7030A0"/>
                </a:solidFill>
                <a:effectLst/>
              </a:rPr>
              <a:t>. Policy Gradient Methods</a:t>
            </a:r>
            <a:br>
              <a:rPr lang="en-GB" sz="2700" b="1" i="0" u="none" strike="noStrike" dirty="0">
                <a:solidFill>
                  <a:srgbClr val="7030A0"/>
                </a:solidFill>
                <a:effectLst/>
              </a:rPr>
            </a:br>
            <a:br>
              <a:rPr lang="en-GB" sz="2700" b="1" i="0" u="none" strike="noStrike" dirty="0">
                <a:solidFill>
                  <a:srgbClr val="7030A0"/>
                </a:solidFill>
                <a:effectLst/>
              </a:rPr>
            </a:b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135BE0B-F907-3780-3812-B9E7B96FA8E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522F0BE5-5F90-FA0B-E518-58BB1305B489}"/>
              </a:ext>
            </a:extLst>
          </p:cNvPr>
          <p:cNvSpPr txBox="1"/>
          <p:nvPr/>
        </p:nvSpPr>
        <p:spPr>
          <a:xfrm>
            <a:off x="362857" y="427049"/>
            <a:ext cx="7852229" cy="5047536"/>
          </a:xfrm>
          <a:prstGeom prst="rect">
            <a:avLst/>
          </a:prstGeom>
          <a:noFill/>
        </p:spPr>
        <p:txBody>
          <a:bodyPr wrap="square">
            <a:spAutoFit/>
          </a:bodyPr>
          <a:lstStyle/>
          <a:p>
            <a:pPr algn="l">
              <a:buNone/>
            </a:pPr>
            <a:r>
              <a:rPr lang="en-GB" b="1" i="0" u="none" strike="noStrike" dirty="0">
                <a:solidFill>
                  <a:srgbClr val="000000"/>
                </a:solidFill>
                <a:effectLst/>
              </a:rPr>
              <a:t>Policy Gradient Theorem:</a:t>
            </a:r>
            <a:endParaRPr lang="en-GB" b="0" i="0" u="none" strike="noStrike" dirty="0">
              <a:solidFill>
                <a:srgbClr val="000000"/>
              </a:solidFill>
              <a:effectLst/>
            </a:endParaRPr>
          </a:p>
          <a:p>
            <a:pPr algn="l"/>
            <a:r>
              <a:rPr lang="en-GB" b="0" i="0" u="none" strike="noStrike" dirty="0">
                <a:solidFill>
                  <a:srgbClr val="000000"/>
                </a:solidFill>
                <a:effectLst/>
              </a:rPr>
              <a:t>This fundamental theorem provides a tractable way to compute the gradient of the objective function with respect to the policy parameters (</a:t>
            </a:r>
            <a:r>
              <a:rPr lang="el-GR" b="0" i="0" u="none" strike="noStrike" dirty="0">
                <a:solidFill>
                  <a:srgbClr val="000000"/>
                </a:solidFill>
                <a:effectLst/>
              </a:rPr>
              <a:t>θ). </a:t>
            </a:r>
            <a:r>
              <a:rPr lang="en-GB" b="0" i="0" u="none" strike="noStrike" dirty="0">
                <a:solidFill>
                  <a:srgbClr val="000000"/>
                </a:solidFill>
                <a:effectLst/>
              </a:rPr>
              <a:t>It states that the gradient can be expressed as: </a:t>
            </a:r>
            <a:r>
              <a:rPr lang="en-GB" b="0" i="1" u="none" strike="noStrike" dirty="0">
                <a:solidFill>
                  <a:srgbClr val="000000"/>
                </a:solidFill>
                <a:effectLst/>
              </a:rPr>
              <a:t>∇</a:t>
            </a:r>
            <a:r>
              <a:rPr lang="el-GR" b="0" i="1" u="none" strike="noStrike" dirty="0">
                <a:solidFill>
                  <a:srgbClr val="000000"/>
                </a:solidFill>
                <a:effectLst/>
              </a:rPr>
              <a:t>θ​</a:t>
            </a:r>
            <a:r>
              <a:rPr lang="en-GB" b="0" i="1" u="none" strike="noStrike" dirty="0">
                <a:solidFill>
                  <a:srgbClr val="000000"/>
                </a:solidFill>
                <a:effectLst/>
              </a:rPr>
              <a:t>J(</a:t>
            </a:r>
            <a:r>
              <a:rPr lang="el-GR" b="0" i="1" u="none" strike="noStrike" dirty="0">
                <a:solidFill>
                  <a:srgbClr val="000000"/>
                </a:solidFill>
                <a:effectLst/>
              </a:rPr>
              <a:t>θ)=</a:t>
            </a:r>
            <a:r>
              <a:rPr lang="en-GB" b="0" i="1" u="none" strike="noStrike" dirty="0">
                <a:solidFill>
                  <a:srgbClr val="000000"/>
                </a:solidFill>
                <a:effectLst/>
              </a:rPr>
              <a:t>E</a:t>
            </a:r>
            <a:r>
              <a:rPr lang="el-GR" b="0" i="1" u="none" strike="noStrike" dirty="0" err="1">
                <a:solidFill>
                  <a:srgbClr val="000000"/>
                </a:solidFill>
                <a:effectLst/>
              </a:rPr>
              <a:t>πθ</a:t>
            </a:r>
            <a:r>
              <a:rPr lang="el-GR" b="0" i="1" u="none" strike="noStrike" dirty="0">
                <a:solidFill>
                  <a:srgbClr val="000000"/>
                </a:solidFill>
                <a:effectLst/>
              </a:rPr>
              <a:t>​​[∇θ​</a:t>
            </a:r>
            <a:r>
              <a:rPr lang="en-GB" b="0" i="1" u="none" strike="noStrike" dirty="0">
                <a:solidFill>
                  <a:srgbClr val="000000"/>
                </a:solidFill>
                <a:effectLst/>
              </a:rPr>
              <a:t>log</a:t>
            </a:r>
            <a:r>
              <a:rPr lang="el-GR" b="0" i="1" u="none" strike="noStrike" dirty="0" err="1">
                <a:solidFill>
                  <a:srgbClr val="000000"/>
                </a:solidFill>
                <a:effectLst/>
              </a:rPr>
              <a:t>πθ</a:t>
            </a:r>
            <a:r>
              <a:rPr lang="el-GR" b="0" i="1" u="none" strike="noStrike" dirty="0">
                <a:solidFill>
                  <a:srgbClr val="000000"/>
                </a:solidFill>
                <a:effectLst/>
              </a:rPr>
              <a:t>​(</a:t>
            </a:r>
            <a:r>
              <a:rPr lang="en-GB" b="0" i="1" u="none" strike="noStrike" dirty="0" err="1">
                <a:solidFill>
                  <a:srgbClr val="000000"/>
                </a:solidFill>
                <a:effectLst/>
              </a:rPr>
              <a:t>a∣s</a:t>
            </a:r>
            <a:r>
              <a:rPr lang="en-GB" b="0" i="1" u="none" strike="noStrike" dirty="0">
                <a:solidFill>
                  <a:srgbClr val="000000"/>
                </a:solidFill>
                <a:effectLst/>
              </a:rPr>
              <a:t>)⋅Q</a:t>
            </a:r>
            <a:r>
              <a:rPr lang="el-GR" b="0" i="1" u="none" strike="noStrike" dirty="0">
                <a:solidFill>
                  <a:srgbClr val="000000"/>
                </a:solidFill>
                <a:effectLst/>
              </a:rPr>
              <a:t>π(</a:t>
            </a:r>
            <a:r>
              <a:rPr lang="en-GB" b="0" i="1" u="none" strike="noStrike" dirty="0" err="1">
                <a:solidFill>
                  <a:srgbClr val="000000"/>
                </a:solidFill>
                <a:effectLst/>
              </a:rPr>
              <a:t>s,a</a:t>
            </a:r>
            <a:r>
              <a:rPr lang="en-GB" b="0" i="1" u="none" strike="noStrike" dirty="0">
                <a:solidFill>
                  <a:srgbClr val="000000"/>
                </a:solidFill>
                <a:effectLst/>
              </a:rPr>
              <a:t>)]</a:t>
            </a:r>
          </a:p>
          <a:p>
            <a:pPr algn="l"/>
            <a:endParaRPr lang="en-GB" b="0" i="1" u="none" strike="noStrike" dirty="0">
              <a:solidFill>
                <a:srgbClr val="000000"/>
              </a:solidFill>
              <a:effectLst/>
            </a:endParaRPr>
          </a:p>
          <a:p>
            <a:pPr algn="l"/>
            <a:r>
              <a:rPr lang="en-GB" b="1" i="0" u="none" strike="noStrike" dirty="0">
                <a:solidFill>
                  <a:srgbClr val="000000"/>
                </a:solidFill>
                <a:effectLst/>
              </a:rPr>
              <a:t>Explanation:</a:t>
            </a:r>
            <a:r>
              <a:rPr lang="en-GB" b="0" i="0" u="none" strike="noStrike" dirty="0">
                <a:solidFill>
                  <a:srgbClr val="000000"/>
                </a:solidFill>
                <a:effectLst/>
              </a:rPr>
              <a:t> This formula tells us how to adjust the policy parameters. We increase the probability of actions that lead to high Q-values (Q</a:t>
            </a:r>
            <a:r>
              <a:rPr lang="el-GR" b="0" i="0" u="none" strike="noStrike" dirty="0">
                <a:solidFill>
                  <a:srgbClr val="000000"/>
                </a:solidFill>
                <a:effectLst/>
              </a:rPr>
              <a:t>π(</a:t>
            </a:r>
            <a:r>
              <a:rPr lang="en-GB" b="0" i="0" u="none" strike="noStrike" dirty="0" err="1">
                <a:solidFill>
                  <a:srgbClr val="000000"/>
                </a:solidFill>
                <a:effectLst/>
              </a:rPr>
              <a:t>s,a</a:t>
            </a:r>
            <a:r>
              <a:rPr lang="en-GB" b="0" i="0" u="none" strike="noStrike" dirty="0">
                <a:solidFill>
                  <a:srgbClr val="000000"/>
                </a:solidFill>
                <a:effectLst/>
              </a:rPr>
              <a:t>), the expected return from state s after taking action a and following policy </a:t>
            </a:r>
            <a:r>
              <a:rPr lang="el-GR" b="0" i="0" u="none" strike="noStrike" dirty="0">
                <a:solidFill>
                  <a:srgbClr val="000000"/>
                </a:solidFill>
                <a:effectLst/>
              </a:rPr>
              <a:t>π), </a:t>
            </a:r>
            <a:r>
              <a:rPr lang="en-GB" b="0" i="0" u="none" strike="noStrike" dirty="0">
                <a:solidFill>
                  <a:srgbClr val="000000"/>
                </a:solidFill>
                <a:effectLst/>
              </a:rPr>
              <a:t>and decrease the probability of actions that lead to low Q-values. </a:t>
            </a:r>
          </a:p>
          <a:p>
            <a:pPr algn="l"/>
            <a:r>
              <a:rPr lang="en-GB" b="0" i="1" u="none" strike="noStrike" dirty="0">
                <a:solidFill>
                  <a:srgbClr val="000000"/>
                </a:solidFill>
                <a:effectLst/>
              </a:rPr>
              <a:t>∇</a:t>
            </a:r>
            <a:r>
              <a:rPr lang="el-GR" b="0" i="1" u="none" strike="noStrike" dirty="0">
                <a:solidFill>
                  <a:srgbClr val="000000"/>
                </a:solidFill>
                <a:effectLst/>
              </a:rPr>
              <a:t>θ​</a:t>
            </a:r>
            <a:r>
              <a:rPr lang="en-GB" b="0" i="1" u="none" strike="noStrike" dirty="0">
                <a:solidFill>
                  <a:srgbClr val="000000"/>
                </a:solidFill>
                <a:effectLst/>
              </a:rPr>
              <a:t>log</a:t>
            </a:r>
            <a:r>
              <a:rPr lang="el-GR" b="0" i="1" u="none" strike="noStrike" dirty="0" err="1">
                <a:solidFill>
                  <a:srgbClr val="000000"/>
                </a:solidFill>
                <a:effectLst/>
              </a:rPr>
              <a:t>πθ</a:t>
            </a:r>
            <a:r>
              <a:rPr lang="el-GR" b="0" i="1" u="none" strike="noStrike" dirty="0">
                <a:solidFill>
                  <a:srgbClr val="000000"/>
                </a:solidFill>
                <a:effectLst/>
              </a:rPr>
              <a:t>​(</a:t>
            </a:r>
            <a:r>
              <a:rPr lang="en-GB" b="0" i="1" u="none" strike="noStrike" dirty="0" err="1">
                <a:solidFill>
                  <a:srgbClr val="000000"/>
                </a:solidFill>
                <a:effectLst/>
              </a:rPr>
              <a:t>a∣s</a:t>
            </a:r>
            <a:r>
              <a:rPr lang="en-GB" b="0" i="1" u="none" strike="noStrike" dirty="0">
                <a:solidFill>
                  <a:srgbClr val="000000"/>
                </a:solidFill>
                <a:effectLst/>
              </a:rPr>
              <a:t>) </a:t>
            </a:r>
            <a:r>
              <a:rPr lang="en-GB" b="0" i="0" u="none" strike="noStrike" dirty="0">
                <a:solidFill>
                  <a:srgbClr val="000000"/>
                </a:solidFill>
                <a:effectLst/>
              </a:rPr>
              <a:t>indicates the direction to change parameters to make action a more likely in state s.</a:t>
            </a:r>
          </a:p>
          <a:p>
            <a:pPr algn="l">
              <a:buNone/>
            </a:pPr>
            <a:r>
              <a:rPr lang="en-GB" b="1" i="0" u="none" strike="noStrike" dirty="0">
                <a:solidFill>
                  <a:srgbClr val="000000"/>
                </a:solidFill>
                <a:effectLst/>
              </a:rPr>
              <a:t>REINFORCE Algorithm (Monte Carlo Policy Gradient):</a:t>
            </a:r>
            <a:endParaRPr lang="en-GB" b="0" i="0" u="none" strike="noStrike" dirty="0">
              <a:solidFill>
                <a:srgbClr val="000000"/>
              </a:solidFill>
              <a:effectLst/>
            </a:endParaRPr>
          </a:p>
          <a:p>
            <a:pPr algn="l"/>
            <a:r>
              <a:rPr lang="en-GB" b="0" i="0" u="none" strike="noStrike" dirty="0">
                <a:solidFill>
                  <a:srgbClr val="000000"/>
                </a:solidFill>
                <a:effectLst/>
              </a:rPr>
              <a:t>REINFORCE is one of the simplest policy gradient algorithms. It's a </a:t>
            </a:r>
            <a:r>
              <a:rPr lang="en-GB" b="1" i="0" u="none" strike="noStrike" dirty="0">
                <a:solidFill>
                  <a:srgbClr val="000000"/>
                </a:solidFill>
                <a:effectLst/>
              </a:rPr>
              <a:t>Monte Carlo</a:t>
            </a:r>
            <a:r>
              <a:rPr lang="en-GB" b="0" i="0" u="none" strike="noStrike" dirty="0">
                <a:solidFill>
                  <a:srgbClr val="000000"/>
                </a:solidFill>
                <a:effectLst/>
              </a:rPr>
              <a:t> method because it updates the policy only </a:t>
            </a:r>
            <a:r>
              <a:rPr lang="en-GB" b="0" i="1" u="none" strike="noStrike" dirty="0">
                <a:solidFill>
                  <a:srgbClr val="000000"/>
                </a:solidFill>
                <a:effectLst/>
              </a:rPr>
              <a:t>after</a:t>
            </a:r>
            <a:r>
              <a:rPr lang="en-GB" b="0" i="0" u="none" strike="noStrike" dirty="0">
                <a:solidFill>
                  <a:srgbClr val="000000"/>
                </a:solidFill>
                <a:effectLst/>
              </a:rPr>
              <a:t> completing an entire episode.</a:t>
            </a:r>
          </a:p>
          <a:p>
            <a:pPr algn="l"/>
            <a:r>
              <a:rPr lang="en-GB" b="1" i="0" u="none" strike="noStrike" dirty="0">
                <a:solidFill>
                  <a:srgbClr val="000000"/>
                </a:solidFill>
                <a:effectLst/>
              </a:rPr>
              <a:t>Steps:</a:t>
            </a:r>
            <a:endParaRPr lang="en-GB" b="0" i="0" u="none" strike="noStrike" dirty="0">
              <a:solidFill>
                <a:srgbClr val="000000"/>
              </a:solidFill>
              <a:effectLst/>
            </a:endParaRPr>
          </a:p>
          <a:p>
            <a:pPr marL="800100" lvl="1" indent="-342900" algn="l">
              <a:buFont typeface="+mj-lt"/>
              <a:buAutoNum type="arabicPeriod"/>
            </a:pPr>
            <a:r>
              <a:rPr lang="en-GB" b="0" i="0" u="none" strike="noStrike" dirty="0">
                <a:solidFill>
                  <a:srgbClr val="000000"/>
                </a:solidFill>
                <a:effectLst/>
              </a:rPr>
              <a:t>Sample an entire episode (a sequence of states, actions, and rewards) by following the current policy </a:t>
            </a:r>
            <a:r>
              <a:rPr lang="el-GR" b="0" i="0" u="none" strike="noStrike" dirty="0" err="1">
                <a:solidFill>
                  <a:srgbClr val="000000"/>
                </a:solidFill>
                <a:effectLst/>
              </a:rPr>
              <a:t>πθ</a:t>
            </a:r>
            <a:r>
              <a:rPr lang="el-GR" b="0" i="0" u="none" strike="noStrike" dirty="0">
                <a:solidFill>
                  <a:srgbClr val="000000"/>
                </a:solidFill>
                <a:effectLst/>
              </a:rPr>
              <a:t>​.</a:t>
            </a:r>
          </a:p>
          <a:p>
            <a:pPr marL="800100" lvl="1" indent="-342900" algn="l">
              <a:buFont typeface="+mj-lt"/>
              <a:buAutoNum type="arabicPeriod"/>
            </a:pPr>
            <a:r>
              <a:rPr lang="en-GB" b="0" i="0" u="none" strike="noStrike" dirty="0">
                <a:solidFill>
                  <a:srgbClr val="000000"/>
                </a:solidFill>
                <a:effectLst/>
              </a:rPr>
              <a:t>For each step t in the episode, compute the </a:t>
            </a:r>
            <a:r>
              <a:rPr lang="en-GB" b="1" i="0" u="none" strike="noStrike" dirty="0">
                <a:solidFill>
                  <a:srgbClr val="000000"/>
                </a:solidFill>
                <a:effectLst/>
              </a:rPr>
              <a:t>return Gt​</a:t>
            </a:r>
            <a:r>
              <a:rPr lang="en-GB" b="0" i="0" u="none" strike="noStrike" dirty="0">
                <a:solidFill>
                  <a:srgbClr val="000000"/>
                </a:solidFill>
                <a:effectLst/>
              </a:rPr>
              <a:t>, which is the total discounted reward from that step until the end of the episode.</a:t>
            </a:r>
          </a:p>
          <a:p>
            <a:pPr marL="800100" lvl="1" indent="-342900" algn="l">
              <a:buFont typeface="+mj-lt"/>
              <a:buAutoNum type="arabicPeriod"/>
            </a:pPr>
            <a:r>
              <a:rPr lang="en-GB" b="1" i="0" u="none" strike="noStrike" dirty="0">
                <a:solidFill>
                  <a:srgbClr val="000000"/>
                </a:solidFill>
                <a:effectLst/>
              </a:rPr>
              <a:t>Update Policy:</a:t>
            </a:r>
            <a:r>
              <a:rPr lang="en-GB" b="0" i="0" u="none" strike="noStrike" dirty="0">
                <a:solidFill>
                  <a:srgbClr val="000000"/>
                </a:solidFill>
                <a:effectLst/>
              </a:rPr>
              <a:t> Adjust the policy parameters (</a:t>
            </a:r>
            <a:r>
              <a:rPr lang="el-GR" b="0" i="0" u="none" strike="noStrike" dirty="0">
                <a:solidFill>
                  <a:srgbClr val="000000"/>
                </a:solidFill>
                <a:effectLst/>
              </a:rPr>
              <a:t>θ) </a:t>
            </a:r>
            <a:r>
              <a:rPr lang="en-GB" b="0" i="0" u="none" strike="noStrike" dirty="0">
                <a:solidFill>
                  <a:srgbClr val="000000"/>
                </a:solidFill>
                <a:effectLst/>
              </a:rPr>
              <a:t>using the following rule: </a:t>
            </a:r>
            <a:r>
              <a:rPr lang="el-GR" b="0" i="1" u="none" strike="noStrike" dirty="0" err="1">
                <a:solidFill>
                  <a:srgbClr val="000000"/>
                </a:solidFill>
                <a:effectLst/>
              </a:rPr>
              <a:t>θ←θ+α∇θ</a:t>
            </a:r>
            <a:r>
              <a:rPr lang="el-GR" b="0" i="1" u="none" strike="noStrike" dirty="0">
                <a:solidFill>
                  <a:srgbClr val="000000"/>
                </a:solidFill>
                <a:effectLst/>
              </a:rPr>
              <a:t>​</a:t>
            </a:r>
            <a:r>
              <a:rPr lang="en-GB" b="0" i="1" u="none" strike="noStrike" dirty="0">
                <a:solidFill>
                  <a:srgbClr val="000000"/>
                </a:solidFill>
                <a:effectLst/>
              </a:rPr>
              <a:t>log</a:t>
            </a:r>
            <a:r>
              <a:rPr lang="el-GR" b="0" i="1" u="none" strike="noStrike" dirty="0" err="1">
                <a:solidFill>
                  <a:srgbClr val="000000"/>
                </a:solidFill>
                <a:effectLst/>
              </a:rPr>
              <a:t>πθ</a:t>
            </a:r>
            <a:r>
              <a:rPr lang="el-GR" b="0" i="1" u="none" strike="noStrike" dirty="0">
                <a:solidFill>
                  <a:srgbClr val="000000"/>
                </a:solidFill>
                <a:effectLst/>
              </a:rPr>
              <a:t>​(</a:t>
            </a:r>
            <a:r>
              <a:rPr lang="en-GB" b="0" i="1" u="none" strike="noStrike" dirty="0">
                <a:solidFill>
                  <a:srgbClr val="000000"/>
                </a:solidFill>
                <a:effectLst/>
              </a:rPr>
              <a:t>at​∣</a:t>
            </a:r>
            <a:r>
              <a:rPr lang="en-GB" b="0" i="1" u="none" strike="noStrike" dirty="0" err="1">
                <a:solidFill>
                  <a:srgbClr val="000000"/>
                </a:solidFill>
                <a:effectLst/>
              </a:rPr>
              <a:t>st</a:t>
            </a:r>
            <a:r>
              <a:rPr lang="en-GB" b="0" i="1" u="none" strike="noStrike" dirty="0">
                <a:solidFill>
                  <a:srgbClr val="000000"/>
                </a:solidFill>
                <a:effectLst/>
              </a:rPr>
              <a:t>​)⋅Gt​</a:t>
            </a:r>
          </a:p>
          <a:p>
            <a:pPr marL="457200" lvl="1" algn="l"/>
            <a:r>
              <a:rPr lang="en-GB" b="0" i="0" u="none" strike="noStrike" dirty="0">
                <a:solidFill>
                  <a:srgbClr val="000000"/>
                </a:solidFill>
                <a:effectLst/>
              </a:rPr>
              <a:t>Where </a:t>
            </a:r>
            <a:r>
              <a:rPr lang="el-GR" b="0" i="0" u="none" strike="noStrike" dirty="0">
                <a:solidFill>
                  <a:srgbClr val="000000"/>
                </a:solidFill>
                <a:effectLst/>
              </a:rPr>
              <a:t>α </a:t>
            </a:r>
            <a:r>
              <a:rPr lang="en-GB" b="0" i="0" u="none" strike="noStrike" dirty="0">
                <a:solidFill>
                  <a:srgbClr val="000000"/>
                </a:solidFill>
                <a:effectLst/>
              </a:rPr>
              <a:t>is the learning rate.</a:t>
            </a:r>
          </a:p>
          <a:p>
            <a:pPr algn="l"/>
            <a:endParaRPr lang="en-GB" b="0" i="0" u="none" strike="noStrike" dirty="0">
              <a:solidFill>
                <a:srgbClr val="000000"/>
              </a:solidFill>
              <a:effectLst/>
            </a:endParaRPr>
          </a:p>
          <a:p>
            <a:pPr algn="l">
              <a:buNone/>
            </a:pPr>
            <a:endParaRPr lang="en-GB" dirty="0"/>
          </a:p>
        </p:txBody>
      </p:sp>
    </p:spTree>
    <p:extLst>
      <p:ext uri="{BB962C8B-B14F-4D97-AF65-F5344CB8AC3E}">
        <p14:creationId xmlns:p14="http://schemas.microsoft.com/office/powerpoint/2010/main" val="16459896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E8FC3F4-F0DC-8ECB-322F-EE69EF3B21B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E45FF87-7C3D-FBB0-0864-54CB48E6E441}"/>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r>
              <a:rPr lang="en-GB" sz="2700" dirty="0">
                <a:solidFill>
                  <a:srgbClr val="7030A0"/>
                </a:solidFill>
              </a:rPr>
              <a:t>4</a:t>
            </a:r>
            <a:r>
              <a:rPr lang="en-GB" sz="2700" b="1" i="0" u="none" strike="noStrike" dirty="0">
                <a:solidFill>
                  <a:srgbClr val="7030A0"/>
                </a:solidFill>
                <a:effectLst/>
              </a:rPr>
              <a:t>. Policy Gradient Methods</a:t>
            </a:r>
            <a:br>
              <a:rPr lang="en-GB" sz="2700" b="1" i="0" u="none" strike="noStrike" dirty="0">
                <a:solidFill>
                  <a:srgbClr val="7030A0"/>
                </a:solidFill>
                <a:effectLst/>
              </a:rPr>
            </a:br>
            <a:br>
              <a:rPr lang="en-GB" sz="2700" b="1" i="0" u="none" strike="noStrike" dirty="0">
                <a:solidFill>
                  <a:srgbClr val="7030A0"/>
                </a:solidFill>
                <a:effectLst/>
              </a:rPr>
            </a:br>
            <a:br>
              <a:rPr kumimoji="0" lang="en-US" altLang="en-US" sz="2800" b="1" i="0" u="none" strike="noStrike" cap="none" normalizeH="0" baseline="0" dirty="0">
                <a:ln>
                  <a:noFill/>
                </a:ln>
                <a:solidFill>
                  <a:srgbClr val="7030A0"/>
                </a:solidFill>
                <a:effectLst/>
                <a:latin typeface="Arial" panose="020B0604020202020204" pitchFamily="34" charset="0"/>
              </a:rPr>
            </a:br>
            <a:br>
              <a:rPr kumimoji="0" lang="en-US" altLang="en-US" sz="2800" b="1" i="0" u="none" strike="noStrike" cap="none" normalizeH="0" baseline="0" dirty="0">
                <a:ln>
                  <a:noFill/>
                </a:ln>
                <a:solidFill>
                  <a:srgbClr val="7030A0"/>
                </a:solidFill>
                <a:effectLst/>
                <a:latin typeface="Arial" panose="020B0604020202020204" pitchFamily="34" charset="0"/>
              </a:rPr>
            </a:br>
            <a:br>
              <a:rPr lang="en-GB" sz="2800" b="1" i="0" u="none" strike="noStrike" dirty="0">
                <a:solidFill>
                  <a:srgbClr val="7030A0"/>
                </a:solidFill>
                <a:effectLst/>
              </a:rPr>
            </a:br>
            <a:br>
              <a:rPr lang="en-GB" sz="2800" b="1" i="0" u="none" strike="noStrike" dirty="0">
                <a:solidFill>
                  <a:srgbClr val="7030A0"/>
                </a:solidFill>
                <a:effectLst/>
              </a:rPr>
            </a:br>
            <a:br>
              <a:rPr lang="en-GB" sz="2800" b="1" i="0" u="none" strike="noStrike" dirty="0">
                <a:solidFill>
                  <a:srgbClr val="7030A0"/>
                </a:solidFill>
                <a:effectLst/>
              </a:rPr>
            </a:br>
            <a:endParaRPr lang="en-GB" sz="2800" b="1"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78F73DA2-E01E-9D70-AF1B-30B64A22746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87A089E4-1C32-9594-B278-6FD15B9D210B}"/>
              </a:ext>
            </a:extLst>
          </p:cNvPr>
          <p:cNvSpPr txBox="1"/>
          <p:nvPr/>
        </p:nvSpPr>
        <p:spPr>
          <a:xfrm>
            <a:off x="362857" y="427049"/>
            <a:ext cx="7852229" cy="4031873"/>
          </a:xfrm>
          <a:prstGeom prst="rect">
            <a:avLst/>
          </a:prstGeom>
          <a:noFill/>
        </p:spPr>
        <p:txBody>
          <a:bodyPr wrap="square">
            <a:spAutoFit/>
          </a:bodyPr>
          <a:lstStyle/>
          <a:p>
            <a:pPr algn="l">
              <a:buNone/>
            </a:pPr>
            <a:r>
              <a:rPr lang="en-GB" sz="1600" b="1" i="0" u="none" strike="noStrike" dirty="0">
                <a:solidFill>
                  <a:srgbClr val="000000"/>
                </a:solidFill>
                <a:effectLst/>
              </a:rPr>
              <a:t>Advantages Over DQN:</a:t>
            </a:r>
            <a:endParaRPr lang="en-GB" sz="1600" b="0" i="0" u="none" strike="noStrike" dirty="0">
              <a:solidFill>
                <a:srgbClr val="000000"/>
              </a:solidFill>
              <a:effectLst/>
            </a:endParaRPr>
          </a:p>
          <a:p>
            <a:pPr marL="342900" indent="-342900" algn="l">
              <a:buFont typeface="+mj-lt"/>
              <a:buAutoNum type="arabicPeriod"/>
            </a:pPr>
            <a:r>
              <a:rPr lang="en-GB" b="1" i="0" u="none" strike="noStrike" dirty="0">
                <a:solidFill>
                  <a:srgbClr val="000000"/>
                </a:solidFill>
                <a:effectLst/>
              </a:rPr>
              <a:t>Handles Continuous Action Spaces:</a:t>
            </a:r>
            <a:r>
              <a:rPr lang="en-GB" b="0" i="0" u="none" strike="noStrike" dirty="0">
                <a:solidFill>
                  <a:srgbClr val="000000"/>
                </a:solidFill>
                <a:effectLst/>
              </a:rPr>
              <a:t> A major advantage is that policy gradient methods can naturally handle continuous action spaces (e.g., controlling a robot arm's angle), as the neural network can output continuous values or parameters of a continuous distribution over actions. DQN, by contrast, is limited to discrete actions.</a:t>
            </a:r>
          </a:p>
          <a:p>
            <a:pPr marL="342900" indent="-342900" algn="l">
              <a:buFont typeface="+mj-lt"/>
              <a:buAutoNum type="arabicPeriod"/>
            </a:pPr>
            <a:r>
              <a:rPr lang="en-GB" b="1" i="0" u="none" strike="noStrike" dirty="0">
                <a:solidFill>
                  <a:srgbClr val="000000"/>
                </a:solidFill>
                <a:effectLst/>
              </a:rPr>
              <a:t>Better Convergence Properties:</a:t>
            </a:r>
            <a:r>
              <a:rPr lang="en-GB" b="0" i="0" u="none" strike="noStrike" dirty="0">
                <a:solidFill>
                  <a:srgbClr val="000000"/>
                </a:solidFill>
                <a:effectLst/>
              </a:rPr>
              <a:t> In some complex environments, policy gradient methods can exhibit better convergence properties and are less prone to issues like overestimation bias compared to DQN.</a:t>
            </a:r>
          </a:p>
          <a:p>
            <a:pPr marL="342900" indent="-342900" algn="l">
              <a:buFont typeface="+mj-lt"/>
              <a:buAutoNum type="arabicPeriod"/>
            </a:pPr>
            <a:endParaRPr lang="en-GB" b="0" i="0" u="none" strike="noStrike" dirty="0">
              <a:solidFill>
                <a:srgbClr val="000000"/>
              </a:solidFill>
              <a:effectLst/>
            </a:endParaRPr>
          </a:p>
          <a:p>
            <a:pPr algn="l">
              <a:buNone/>
            </a:pPr>
            <a:r>
              <a:rPr lang="en-GB" sz="1600" b="1" i="0" u="none" strike="noStrike" dirty="0">
                <a:solidFill>
                  <a:srgbClr val="000000"/>
                </a:solidFill>
                <a:effectLst/>
              </a:rPr>
              <a:t>Advanced Policy Gradient Methods:</a:t>
            </a:r>
            <a:endParaRPr lang="en-GB" sz="1600" b="0" i="0" u="none" strike="noStrike" dirty="0">
              <a:solidFill>
                <a:srgbClr val="000000"/>
              </a:solidFill>
              <a:effectLst/>
            </a:endParaRPr>
          </a:p>
          <a:p>
            <a:pPr marL="342900" indent="-342900" algn="l">
              <a:buFont typeface="+mj-lt"/>
              <a:buAutoNum type="arabicPeriod"/>
            </a:pPr>
            <a:r>
              <a:rPr lang="en-GB" b="1" i="0" u="none" strike="noStrike" dirty="0">
                <a:solidFill>
                  <a:srgbClr val="000000"/>
                </a:solidFill>
                <a:effectLst/>
              </a:rPr>
              <a:t>Actor-Critic:</a:t>
            </a:r>
            <a:r>
              <a:rPr lang="en-GB" b="0" i="0" u="none" strike="noStrike" dirty="0">
                <a:solidFill>
                  <a:srgbClr val="000000"/>
                </a:solidFill>
                <a:effectLst/>
              </a:rPr>
              <a:t> Combines policy gradients (the "actor" learns the policy) with value functions (the "critic" estimates values) to reduce variance in gradient estimates, leading to more stable and efficient training.</a:t>
            </a:r>
          </a:p>
          <a:p>
            <a:pPr marL="342900" indent="-342900" algn="l">
              <a:buFont typeface="+mj-lt"/>
              <a:buAutoNum type="arabicPeriod"/>
            </a:pPr>
            <a:r>
              <a:rPr lang="en-GB" b="1" i="0" u="none" strike="noStrike" dirty="0">
                <a:solidFill>
                  <a:srgbClr val="000000"/>
                </a:solidFill>
                <a:effectLst/>
              </a:rPr>
              <a:t>Proximal Policy Optimization (PPO):</a:t>
            </a:r>
            <a:r>
              <a:rPr lang="en-GB" b="0" i="0" u="none" strike="noStrike" dirty="0">
                <a:solidFill>
                  <a:srgbClr val="000000"/>
                </a:solidFill>
                <a:effectLst/>
              </a:rPr>
              <a:t> A widely used and highly performant algorithm that improves stability by clipping policy updates, preventing them from becoming too large and destabilizing training.</a:t>
            </a:r>
          </a:p>
          <a:p>
            <a:pPr algn="l"/>
            <a:endParaRPr lang="en-GB" b="0" i="0" u="none" strike="noStrike" dirty="0">
              <a:solidFill>
                <a:srgbClr val="000000"/>
              </a:solidFill>
              <a:effectLst/>
            </a:endParaRPr>
          </a:p>
          <a:p>
            <a:pPr algn="l">
              <a:buNone/>
            </a:pPr>
            <a:endParaRPr lang="en-GB" dirty="0"/>
          </a:p>
        </p:txBody>
      </p:sp>
    </p:spTree>
    <p:extLst>
      <p:ext uri="{BB962C8B-B14F-4D97-AF65-F5344CB8AC3E}">
        <p14:creationId xmlns:p14="http://schemas.microsoft.com/office/powerpoint/2010/main" val="3072126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289954" y="900912"/>
            <a:ext cx="8290023" cy="1015663"/>
          </a:xfrm>
          <a:prstGeom prst="rect">
            <a:avLst/>
          </a:prstGeom>
          <a:noFill/>
        </p:spPr>
        <p:txBody>
          <a:bodyPr wrap="square">
            <a:spAutoFit/>
          </a:bodyPr>
          <a:lstStyle/>
          <a:p>
            <a:pPr algn="ctr"/>
            <a:r>
              <a:rPr lang="en-GB" sz="2000" dirty="0">
                <a:hlinkClick r:id="rId4"/>
              </a:rPr>
              <a:t>Click Here For The Implementation</a:t>
            </a:r>
            <a:endParaRPr lang="en-GB" sz="2000" dirty="0"/>
          </a:p>
          <a:p>
            <a:pPr algn="ctr"/>
            <a:r>
              <a:rPr lang="en-GB" sz="2000" dirty="0"/>
              <a:t>https://</a:t>
            </a:r>
            <a:r>
              <a:rPr lang="en-GB" sz="2000" dirty="0" err="1"/>
              <a:t>drive.google.com</a:t>
            </a:r>
            <a:r>
              <a:rPr lang="en-GB" sz="2000" dirty="0"/>
              <a:t>/file/d/1eC9ZsF3NiHesR2CE-YxK90UUCnFbO5iT/</a:t>
            </a:r>
            <a:r>
              <a:rPr lang="en-GB" sz="2000" dirty="0" err="1"/>
              <a:t>view?usp</a:t>
            </a:r>
            <a:r>
              <a:rPr lang="en-GB" sz="2000" dirty="0"/>
              <a:t>=</a:t>
            </a:r>
            <a:r>
              <a:rPr lang="en-GB" sz="2000" dirty="0" err="1"/>
              <a:t>share_link</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5203371" y="2468255"/>
            <a:ext cx="3859608" cy="25702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2708434"/>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Reinforcement Learning: An Introduction – Sutton &amp; Barto</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32229</TotalTime>
  <Words>3587</Words>
  <Application>Microsoft Macintosh PowerPoint</Application>
  <PresentationFormat>On-screen Show (16:9)</PresentationFormat>
  <Paragraphs>213</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IBM Plex Sans Arabic SemiBold</vt:lpstr>
      <vt:lpstr>Arial</vt:lpstr>
      <vt:lpstr>IBM Plex Sans Arabic</vt:lpstr>
      <vt:lpstr>IBM Plex Sans Arabic Medium</vt:lpstr>
      <vt:lpstr>Calibri</vt:lpstr>
      <vt:lpstr>Inter</vt:lpstr>
      <vt:lpstr>Wingdings</vt:lpstr>
      <vt:lpstr>Tajawal</vt:lpstr>
      <vt:lpstr>Simple Light</vt:lpstr>
      <vt:lpstr>أكـــــاديميــــة طــــويـــق</vt:lpstr>
      <vt:lpstr>Reinforcement Learning Basics Understanding reward-based learning Deep Q-Networks (DQN) and Policy Gradient methods   </vt:lpstr>
      <vt:lpstr>PowerPoint Presentation</vt:lpstr>
      <vt:lpstr>What is Reinforcement Learning?</vt:lpstr>
      <vt:lpstr>Markov Decision Process (MDP)  </vt:lpstr>
      <vt:lpstr>Markov Decision Process (MDP)  </vt:lpstr>
      <vt:lpstr>Exploration-Exploitation Trade-off   </vt:lpstr>
      <vt:lpstr>Key Components of RL    </vt:lpstr>
      <vt:lpstr>Quick Example: Game of Tic-Tac-Toe     </vt:lpstr>
      <vt:lpstr>Quick Example: Game of Tic-Tac-Toe     </vt:lpstr>
      <vt:lpstr>2. Understanding Reward-Based Learning     </vt:lpstr>
      <vt:lpstr>2. Understanding Reward-Based Learning     </vt:lpstr>
      <vt:lpstr>2. Understanding Reward-Based Learning     </vt:lpstr>
      <vt:lpstr>3. Deep Q-Networks (DQN)      </vt:lpstr>
      <vt:lpstr>3. Deep Q-Networks (DQN)      </vt:lpstr>
      <vt:lpstr>3. Deep Q-Networks (DQN)      </vt:lpstr>
      <vt:lpstr>3. Deep Q-Networks (DQN)      </vt:lpstr>
      <vt:lpstr>4. Policy Gradient Methods       </vt:lpstr>
      <vt:lpstr>4. Policy Gradient Methods       </vt:lpstr>
      <vt:lpstr>4. Policy Gradient Methods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76</cp:revision>
  <dcterms:modified xsi:type="dcterms:W3CDTF">2025-05-26T16:40:31Z</dcterms:modified>
</cp:coreProperties>
</file>