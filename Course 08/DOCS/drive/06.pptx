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98" r:id="rId5"/>
    <p:sldId id="313" r:id="rId6"/>
    <p:sldId id="314" r:id="rId7"/>
    <p:sldId id="315" r:id="rId8"/>
    <p:sldId id="323" r:id="rId9"/>
    <p:sldId id="324" r:id="rId10"/>
    <p:sldId id="325" r:id="rId11"/>
    <p:sldId id="326" r:id="rId12"/>
    <p:sldId id="327" r:id="rId13"/>
    <p:sldId id="328" r:id="rId14"/>
    <p:sldId id="329" r:id="rId15"/>
    <p:sldId id="330" r:id="rId16"/>
    <p:sldId id="331" r:id="rId17"/>
    <p:sldId id="332" r:id="rId18"/>
    <p:sldId id="316" r:id="rId19"/>
    <p:sldId id="334" r:id="rId20"/>
    <p:sldId id="335" r:id="rId21"/>
    <p:sldId id="262" r:id="rId22"/>
    <p:sldId id="275" r:id="rId23"/>
    <p:sldId id="276" r:id="rId24"/>
  </p:sldIdLst>
  <p:sldSz cx="9144000" cy="5143500" type="screen16x9"/>
  <p:notesSz cx="6858000" cy="9144000"/>
  <p:embeddedFontLst>
    <p:embeddedFont>
      <p:font typeface="Courier" panose="02070309020205020404" pitchFamily="49" charset="0"/>
      <p:regular r:id="rId26"/>
      <p:bold r:id="rId27"/>
      <p:italic r:id="rId28"/>
      <p:boldItalic r:id="rId29"/>
    </p:embeddedFont>
    <p:embeddedFont>
      <p:font typeface="IBM Plex Sans Arabic" panose="020B0603050203000203" pitchFamily="34" charset="-78"/>
      <p:regular r:id="rId30"/>
      <p:bold r:id="rId31"/>
    </p:embeddedFont>
    <p:embeddedFont>
      <p:font typeface="IBM Plex Sans Arabic Medium" panose="020B0603050203000203" pitchFamily="34" charset="-78"/>
      <p:regular r:id="rId32"/>
      <p:bold r:id="rId33"/>
    </p:embeddedFont>
    <p:embeddedFont>
      <p:font typeface="IBM Plex Sans Arabic SemiBold" panose="020B0603050203000203" pitchFamily="34" charset="-78"/>
      <p:regular r:id="rId34"/>
      <p:bold r:id="rId35"/>
    </p:embeddedFont>
    <p:embeddedFont>
      <p:font typeface="Inter" panose="02000503000000020004" pitchFamily="2" charset="0"/>
      <p:regular r:id="rId36"/>
      <p:bold r:id="rId37"/>
      <p:italic r:id="rId38"/>
      <p:boldItalic r:id="rId39"/>
    </p:embeddedFont>
    <p:embeddedFont>
      <p:font typeface="Tajawal" pitchFamily="2" charset="-78"/>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97"/>
    <p:restoredTop sz="94668"/>
  </p:normalViewPr>
  <p:slideViewPr>
    <p:cSldViewPr snapToGrid="0">
      <p:cViewPr varScale="1">
        <p:scale>
          <a:sx n="169" d="100"/>
          <a:sy n="169" d="100"/>
        </p:scale>
        <p:origin x="696" y="192"/>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952F22A-B522-3F7F-EB7F-9FA66A6CBF3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AB2B379-32B8-A8BF-C5B5-FEED64C71A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968CF6E-7557-32C7-5F5B-890A408C4D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8624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F7F05E1-AD3D-8D31-9318-164D5046E94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AC08A2-768E-5EC5-6BAA-B89FE6E095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094B54C-B45B-DB09-7C17-4475342A31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6589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6D49381-67C0-C07B-203A-A470AC9AA1B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169901A-C176-27A7-35F4-E0C74757D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8414AF8-D49A-730B-2ADA-FBFE385578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9220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62E8BA1-6943-5254-5125-1909CBEB0F4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1944691-941C-D24B-3884-357423DA88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1186830-8D87-3F91-71A3-7BA258F05B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2646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F611B32-5782-9B8C-D939-D4F376ED619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4F83811-EBAD-D5C1-456A-00B125C6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EBC9B1E-C284-2402-9741-B7BDA880F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1049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03BC144-3D5C-2B77-4A94-D33791DCD74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154533F-C2BB-3A52-64F1-C2BBE77270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3E137CC-2BDD-A718-E52D-E38B4259A5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218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189F52F-A337-043A-2CF0-56E793BC7EC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9E137A5-B79D-8AAD-79B6-2505929C76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20F77E2-A1DE-1C70-9E31-49C395EA4D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4082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04E9097-DB3D-2EC0-B5E8-4D04DF15522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43A14F7-B5BB-8B60-207C-C41424C5A8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F7BA8AD-CED7-5535-9939-CA68E4C89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6429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2BA2DE8-BFFE-9FF3-3F20-1BEFBD2E2F7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5B89414-6312-9257-0D33-C353709439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EA48E97-141D-630A-848F-222B9A25B9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1865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6F6939F-345B-9E66-0DB1-1D33C629045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8B4A2C3-B2E9-92CE-6D7A-CD2A67C5A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81FAB44-CDC9-8023-BC31-1ABDFFECDD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99989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27A9A57-31FD-0AD5-AF61-3CD2B39480E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C200346-22A0-D948-3B64-996540F24C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91FC1A2-B69E-9400-701A-4101A76675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8496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D20FBE3-E915-ACE9-95F9-F7573F19690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2E31D55-EB65-54F4-0BFF-496D66DD2D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D70E2A5-F639-DFA7-CC6A-8C5F9F278E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9307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005C078-5AE6-A06D-29BC-042745C95BE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8D404B5-21D9-99CB-ED20-98D71B541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F90F87C-AB7E-32DC-387F-A677478877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80241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11E588-D7E6-6879-798A-FAE82EA0269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C2DE4EE-38AF-4322-8E6C-85ADFF36F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54A639-48E7-D468-01CB-6732170C81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7270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DBDEC74-E0CA-476C-7F99-B571F9832F7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A948B89-9D61-D703-F696-3D8CFF3D39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3F4C21F-75BA-5FDD-A25C-1115827905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7761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6F47701-B19A-FF1F-2F55-2DF685D8FAD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E626E73-8F65-D21B-E5DA-684A467831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17F8252-D2A4-4EFA-AE90-B98E1A3E89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1595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2.xml"/><Relationship Id="rId16" Type="http://schemas.openxmlformats.org/officeDocument/2006/relationships/image" Target="../media/image23.png"/><Relationship Id="rId1" Type="http://schemas.openxmlformats.org/officeDocument/2006/relationships/slideLayout" Target="../slideLayouts/slideLayout4.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r>
              <a:rPr lang="en-GB" sz="3200" dirty="0">
                <a:solidFill>
                  <a:srgbClr val="7030A0"/>
                </a:solidFill>
                <a:latin typeface="Arial" panose="020B0604020202020204" pitchFamily="34" charset="0"/>
              </a:rPr>
              <a:t>Working with KERAS Models</a:t>
            </a: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0" name="Google Shape;50;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457200" marR="0" lvl="0" indent="-342900" algn="ctr" rtl="0">
              <a:lnSpc>
                <a:spcPct val="100000"/>
              </a:lnSpc>
              <a:spcBef>
                <a:spcPts val="0"/>
              </a:spcBef>
              <a:spcAft>
                <a:spcPts val="0"/>
              </a:spcAft>
              <a:buClr>
                <a:srgbClr val="252526"/>
              </a:buClr>
              <a:buSzPts val="2500"/>
              <a:buFont typeface="Tajawal"/>
              <a:buNone/>
            </a:pP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55513" y="612177"/>
            <a:ext cx="6634716" cy="2885365"/>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i="0" u="none" strike="noStrike" cap="none" dirty="0">
                <a:solidFill>
                  <a:srgbClr val="7030A0"/>
                </a:solidFill>
                <a:latin typeface="Arial"/>
                <a:ea typeface="Arial"/>
                <a:cs typeface="Arial"/>
                <a:sym typeface="Arial"/>
              </a:rPr>
              <a:t>Course Objectives:</a:t>
            </a:r>
          </a:p>
          <a:p>
            <a:pPr marL="0" marR="0" lvl="0" indent="0" algn="just" rtl="0">
              <a:lnSpc>
                <a:spcPct val="125000"/>
              </a:lnSpc>
              <a:spcBef>
                <a:spcPts val="0"/>
              </a:spcBef>
              <a:spcAft>
                <a:spcPts val="0"/>
              </a:spcAft>
              <a:buNone/>
            </a:pPr>
            <a:endParaRPr dirty="0"/>
          </a:p>
          <a:p>
            <a:pPr marL="457200" indent="-457200">
              <a:buFont typeface="+mj-lt"/>
              <a:buAutoNum type="arabicPeriod"/>
            </a:pPr>
            <a:r>
              <a:rPr lang="en-GB" sz="2000" dirty="0">
                <a:solidFill>
                  <a:schemeClr val="tx1"/>
                </a:solidFill>
                <a:effectLst/>
                <a:latin typeface="Helvetica" pitchFamily="2" charset="0"/>
              </a:rPr>
              <a:t>Creating </a:t>
            </a:r>
            <a:r>
              <a:rPr lang="en-GB" sz="2000" dirty="0" err="1">
                <a:solidFill>
                  <a:schemeClr val="tx1"/>
                </a:solidFill>
                <a:effectLst/>
                <a:latin typeface="Helvetica" pitchFamily="2" charset="0"/>
              </a:rPr>
              <a:t>Keras</a:t>
            </a:r>
            <a:r>
              <a:rPr lang="en-GB" sz="2000" dirty="0">
                <a:solidFill>
                  <a:schemeClr val="tx1"/>
                </a:solidFill>
                <a:effectLst/>
                <a:latin typeface="Helvetica" pitchFamily="2" charset="0"/>
              </a:rPr>
              <a:t> models with the </a:t>
            </a:r>
            <a:r>
              <a:rPr lang="en-GB" sz="2000" dirty="0">
                <a:solidFill>
                  <a:schemeClr val="tx1"/>
                </a:solidFill>
                <a:effectLst/>
                <a:latin typeface="Courier" panose="02070309020205020404" pitchFamily="49" charset="0"/>
              </a:rPr>
              <a:t>Sequential</a:t>
            </a:r>
            <a:r>
              <a:rPr lang="en-GB" sz="2000" dirty="0">
                <a:solidFill>
                  <a:schemeClr val="tx1"/>
                </a:solidFill>
                <a:latin typeface="Helvetica" pitchFamily="2" charset="0"/>
              </a:rPr>
              <a:t> </a:t>
            </a:r>
            <a:r>
              <a:rPr lang="en-GB" sz="2000" dirty="0">
                <a:solidFill>
                  <a:schemeClr val="tx1"/>
                </a:solidFill>
                <a:effectLst/>
                <a:latin typeface="Helvetica" pitchFamily="2" charset="0"/>
              </a:rPr>
              <a:t>class, the Functional API, and model subclassing</a:t>
            </a:r>
          </a:p>
          <a:p>
            <a:pPr marL="457200" indent="-457200">
              <a:buFont typeface="+mj-lt"/>
              <a:buAutoNum type="arabicPeriod"/>
            </a:pPr>
            <a:r>
              <a:rPr lang="en-GB" sz="2000" dirty="0">
                <a:solidFill>
                  <a:schemeClr val="tx1"/>
                </a:solidFill>
                <a:effectLst/>
                <a:latin typeface="Helvetica" pitchFamily="2" charset="0"/>
              </a:rPr>
              <a:t>Using built-in </a:t>
            </a:r>
            <a:r>
              <a:rPr lang="en-GB" sz="2000" dirty="0" err="1">
                <a:solidFill>
                  <a:schemeClr val="tx1"/>
                </a:solidFill>
                <a:effectLst/>
                <a:latin typeface="Helvetica" pitchFamily="2" charset="0"/>
              </a:rPr>
              <a:t>Keras</a:t>
            </a:r>
            <a:r>
              <a:rPr lang="en-GB" sz="2000" dirty="0">
                <a:solidFill>
                  <a:schemeClr val="tx1"/>
                </a:solidFill>
                <a:effectLst/>
                <a:latin typeface="Helvetica" pitchFamily="2" charset="0"/>
              </a:rPr>
              <a:t> training and evaluation loops</a:t>
            </a:r>
          </a:p>
          <a:p>
            <a:pPr marL="457200" indent="-457200">
              <a:buFont typeface="+mj-lt"/>
              <a:buAutoNum type="arabicPeriod"/>
            </a:pPr>
            <a:r>
              <a:rPr lang="en-GB" sz="2000" dirty="0">
                <a:solidFill>
                  <a:schemeClr val="tx1"/>
                </a:solidFill>
                <a:effectLst/>
                <a:latin typeface="Helvetica" pitchFamily="2" charset="0"/>
              </a:rPr>
              <a:t>Using </a:t>
            </a:r>
            <a:r>
              <a:rPr lang="en-GB" sz="2000" dirty="0" err="1">
                <a:solidFill>
                  <a:schemeClr val="tx1"/>
                </a:solidFill>
                <a:effectLst/>
                <a:latin typeface="Helvetica" pitchFamily="2" charset="0"/>
              </a:rPr>
              <a:t>Keras</a:t>
            </a:r>
            <a:r>
              <a:rPr lang="en-GB" sz="2000" dirty="0">
                <a:solidFill>
                  <a:schemeClr val="tx1"/>
                </a:solidFill>
                <a:effectLst/>
                <a:latin typeface="Helvetica" pitchFamily="2" charset="0"/>
              </a:rPr>
              <a:t> callbacks to customize training</a:t>
            </a:r>
          </a:p>
          <a:p>
            <a:pPr marL="457200" indent="-457200">
              <a:buFont typeface="+mj-lt"/>
              <a:buAutoNum type="arabicPeriod"/>
            </a:pPr>
            <a:r>
              <a:rPr lang="en-GB" sz="2000" dirty="0">
                <a:solidFill>
                  <a:schemeClr val="tx1"/>
                </a:solidFill>
                <a:effectLst/>
                <a:latin typeface="Helvetica" pitchFamily="2" charset="0"/>
              </a:rPr>
              <a:t>Using </a:t>
            </a:r>
            <a:r>
              <a:rPr lang="en-GB" sz="2000" dirty="0" err="1">
                <a:solidFill>
                  <a:schemeClr val="tx1"/>
                </a:solidFill>
                <a:effectLst/>
                <a:latin typeface="Helvetica" pitchFamily="2" charset="0"/>
              </a:rPr>
              <a:t>TensorBoard</a:t>
            </a:r>
            <a:r>
              <a:rPr lang="en-GB" sz="2000" dirty="0">
                <a:solidFill>
                  <a:schemeClr val="tx1"/>
                </a:solidFill>
                <a:effectLst/>
                <a:latin typeface="Helvetica" pitchFamily="2" charset="0"/>
              </a:rPr>
              <a:t> to monitor training </a:t>
            </a:r>
            <a:r>
              <a:rPr lang="en-GB" sz="2000" dirty="0" err="1">
                <a:solidFill>
                  <a:schemeClr val="tx1"/>
                </a:solidFill>
                <a:effectLst/>
                <a:latin typeface="Helvetica" pitchFamily="2" charset="0"/>
              </a:rPr>
              <a:t>andevaluation</a:t>
            </a:r>
            <a:r>
              <a:rPr lang="en-GB" sz="2000" dirty="0">
                <a:solidFill>
                  <a:schemeClr val="tx1"/>
                </a:solidFill>
                <a:effectLst/>
                <a:latin typeface="Helvetica" pitchFamily="2" charset="0"/>
              </a:rPr>
              <a:t> metrics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b="1" dirty="0"/>
              <a:t>What is KERAS</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74928" y="850790"/>
            <a:ext cx="7919499" cy="3046988"/>
          </a:xfrm>
          <a:prstGeom prst="rect">
            <a:avLst/>
          </a:prstGeom>
          <a:noFill/>
        </p:spPr>
        <p:txBody>
          <a:bodyPr wrap="square">
            <a:spAutoFit/>
          </a:bodyPr>
          <a:lstStyle/>
          <a:p>
            <a:pPr marL="342900" indent="-342900">
              <a:buFont typeface="+mj-lt"/>
              <a:buAutoNum type="arabicPeriod"/>
            </a:pPr>
            <a:r>
              <a:rPr lang="en-GB" sz="1600" b="0" i="0" u="none" strike="noStrike" dirty="0">
                <a:solidFill>
                  <a:srgbClr val="000000"/>
                </a:solidFill>
                <a:effectLst/>
                <a:latin typeface="-webkit-standard"/>
              </a:rPr>
              <a:t>The </a:t>
            </a:r>
            <a:r>
              <a:rPr lang="en-GB" sz="1600" b="0" i="0" u="none" strike="noStrike" dirty="0" err="1">
                <a:solidFill>
                  <a:srgbClr val="000000"/>
                </a:solidFill>
                <a:effectLst/>
                <a:latin typeface="-webkit-standard"/>
              </a:rPr>
              <a:t>Keras</a:t>
            </a:r>
            <a:r>
              <a:rPr lang="en-GB" sz="1600" b="0" i="0" u="none" strike="noStrike" dirty="0">
                <a:solidFill>
                  <a:srgbClr val="000000"/>
                </a:solidFill>
                <a:effectLst/>
                <a:latin typeface="-webkit-standard"/>
              </a:rPr>
              <a:t> API is designed to be user-friendly for beginners while also capable of handling highly complex tasks. Its principle is progressive disclosure, meaning you learn incrementally as your needs grow.</a:t>
            </a:r>
          </a:p>
          <a:p>
            <a:pPr marL="342900" indent="-342900">
              <a:buFont typeface="+mj-lt"/>
              <a:buAutoNum type="arabicPeriod"/>
            </a:pPr>
            <a:r>
              <a:rPr lang="en-GB" sz="1600" b="0" i="0" u="none" strike="noStrike" dirty="0">
                <a:solidFill>
                  <a:srgbClr val="000000"/>
                </a:solidFill>
                <a:effectLst/>
                <a:latin typeface="-webkit-standard"/>
              </a:rPr>
              <a:t>Simple tasks are straightforward, and there's always a clear path to achieve even the most advanced and specific goals, building upon the knowledge gained from simpler workflows. </a:t>
            </a:r>
          </a:p>
          <a:p>
            <a:pPr marL="342900" indent="-342900">
              <a:buFont typeface="+mj-lt"/>
              <a:buAutoNum type="arabicPeriod"/>
            </a:pPr>
            <a:r>
              <a:rPr lang="en-GB" sz="1600" b="0" i="0" u="none" strike="noStrike" dirty="0">
                <a:solidFill>
                  <a:srgbClr val="000000"/>
                </a:solidFill>
                <a:effectLst/>
                <a:latin typeface="-webkit-standard"/>
              </a:rPr>
              <a:t>This allows users to progress from novice to expert within the same toolset, simply using it in more sophisticated ways. </a:t>
            </a:r>
          </a:p>
          <a:p>
            <a:pPr marL="342900" indent="-342900">
              <a:buFont typeface="+mj-lt"/>
              <a:buAutoNum type="arabicPeriod"/>
            </a:pPr>
            <a:r>
              <a:rPr lang="en-GB" sz="1600" b="0" i="0" u="none" strike="noStrike" dirty="0" err="1">
                <a:solidFill>
                  <a:srgbClr val="000000"/>
                </a:solidFill>
                <a:effectLst/>
                <a:latin typeface="-webkit-standard"/>
              </a:rPr>
              <a:t>Keras</a:t>
            </a:r>
            <a:r>
              <a:rPr lang="en-GB" sz="1600" b="0" i="0" u="none" strike="noStrike" dirty="0">
                <a:solidFill>
                  <a:srgbClr val="000000"/>
                </a:solidFill>
                <a:effectLst/>
                <a:latin typeface="-webkit-standard"/>
              </a:rPr>
              <a:t> doesn't have one single "right" way to be used; instead, it offers a range of workflows with varying levels of simplicity and flexibility for building and training models.</a:t>
            </a:r>
          </a:p>
          <a:p>
            <a:pPr marL="342900" indent="-342900">
              <a:buFont typeface="+mj-lt"/>
              <a:buAutoNum type="arabicPeriod"/>
            </a:pPr>
            <a:r>
              <a:rPr lang="en-GB" sz="1600" b="0" i="0" u="none" strike="noStrike" dirty="0" err="1">
                <a:solidFill>
                  <a:srgbClr val="000000"/>
                </a:solidFill>
                <a:effectLst/>
                <a:latin typeface="-webkit-standard"/>
              </a:rPr>
              <a:t>SinceThese</a:t>
            </a:r>
            <a:r>
              <a:rPr lang="en-GB" sz="1600" b="0" i="0" u="none" strike="noStrike" dirty="0">
                <a:solidFill>
                  <a:srgbClr val="000000"/>
                </a:solidFill>
                <a:effectLst/>
                <a:latin typeface="-webkit-standard"/>
              </a:rPr>
              <a:t> workflows share core APIs like </a:t>
            </a:r>
            <a:r>
              <a:rPr lang="en-GB" sz="1600" dirty="0"/>
              <a:t>Layer</a:t>
            </a:r>
            <a:r>
              <a:rPr lang="en-GB" sz="1600" b="0" i="0" u="none" strike="noStrike" dirty="0">
                <a:solidFill>
                  <a:srgbClr val="000000"/>
                </a:solidFill>
                <a:effectLst/>
                <a:latin typeface="-webkit-standard"/>
              </a:rPr>
              <a:t> and </a:t>
            </a:r>
            <a:r>
              <a:rPr lang="en-GB" sz="1600" dirty="0"/>
              <a:t>Model</a:t>
            </a:r>
            <a:r>
              <a:rPr lang="en-GB" sz="1600" b="0" i="0" u="none" strike="noStrike" dirty="0">
                <a:solidFill>
                  <a:srgbClr val="000000"/>
                </a:solidFill>
                <a:effectLst/>
                <a:latin typeface="-webkit-standard"/>
              </a:rPr>
              <a:t>, components from any workflow can be seamlessly integrated and used together.</a:t>
            </a:r>
            <a:endParaRPr lang="en-GB" sz="1600" i="0" u="none" strike="noStrike" dirty="0">
              <a:solidFill>
                <a:srgbClr val="000000"/>
              </a:solidFill>
              <a:effectLst/>
            </a:endParaRPr>
          </a:p>
        </p:txBody>
      </p:sp>
      <p:pic>
        <p:nvPicPr>
          <p:cNvPr id="1026" name="Picture 2" descr="Keras: Deep Learning for humans">
            <a:extLst>
              <a:ext uri="{FF2B5EF4-FFF2-40B4-BE49-F238E27FC236}">
                <a16:creationId xmlns:a16="http://schemas.microsoft.com/office/drawing/2014/main" id="{273EDCD2-362E-FD1D-CFBD-5A6985A34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4294" y="3953897"/>
            <a:ext cx="4099706" cy="11896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3DBC826-BC4E-FDF2-F328-F4310975588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8A64D47-451B-23ED-95BB-59B289E16DB4}"/>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r>
              <a:rPr lang="en-GB" sz="3200" b="1" dirty="0" err="1"/>
              <a:t>Keras</a:t>
            </a:r>
            <a:r>
              <a:rPr lang="en-GB" sz="3200" b="1" dirty="0"/>
              <a:t> provides three ways to construct models</a:t>
            </a:r>
            <a:br>
              <a:rPr lang="en-GB" sz="32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93AB7DD-8F27-9CBE-D7F9-ADCC3CB2C0D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9A4F231-4332-F87D-13D0-06E76CA253E2}"/>
              </a:ext>
            </a:extLst>
          </p:cNvPr>
          <p:cNvSpPr txBox="1"/>
          <p:nvPr/>
        </p:nvSpPr>
        <p:spPr>
          <a:xfrm>
            <a:off x="174929" y="850790"/>
            <a:ext cx="7124368" cy="4031873"/>
          </a:xfrm>
          <a:prstGeom prst="rect">
            <a:avLst/>
          </a:prstGeom>
          <a:noFill/>
        </p:spPr>
        <p:txBody>
          <a:bodyPr wrap="square">
            <a:spAutoFit/>
          </a:bodyPr>
          <a:lstStyle/>
          <a:p>
            <a:pPr marL="457200" indent="-457200" algn="l">
              <a:buFont typeface="+mj-lt"/>
              <a:buAutoNum type="arabicPeriod"/>
            </a:pPr>
            <a:r>
              <a:rPr lang="en-GB" sz="2000" b="1" i="0" u="none" strike="noStrike" dirty="0">
                <a:solidFill>
                  <a:srgbClr val="000000"/>
                </a:solidFill>
                <a:effectLst/>
              </a:rPr>
              <a:t>Sequential API:</a:t>
            </a:r>
            <a:r>
              <a:rPr lang="en-GB" sz="2000" b="0" i="0" u="none" strike="noStrike" dirty="0">
                <a:solidFill>
                  <a:srgbClr val="000000"/>
                </a:solidFill>
                <a:effectLst/>
              </a:rPr>
              <a:t> The easiest to grasp, treating the model as a straightforward list of layers. However, it's limited to simple, linear layer stacks.</a:t>
            </a:r>
          </a:p>
          <a:p>
            <a:pPr marL="457200" indent="-457200" algn="l">
              <a:buFont typeface="+mj-lt"/>
              <a:buAutoNum type="arabicPeriod"/>
            </a:pPr>
            <a:r>
              <a:rPr lang="en-GB" sz="2000" b="1" i="0" u="none" strike="noStrike" dirty="0">
                <a:solidFill>
                  <a:srgbClr val="000000"/>
                </a:solidFill>
                <a:effectLst/>
              </a:rPr>
              <a:t>Functional API:</a:t>
            </a:r>
            <a:r>
              <a:rPr lang="en-GB" sz="2000" b="0" i="0" u="none" strike="noStrike" dirty="0">
                <a:solidFill>
                  <a:srgbClr val="000000"/>
                </a:solidFill>
                <a:effectLst/>
              </a:rPr>
              <a:t> A balance between ease of use and flexibility, well-suited for creating more complex, graph-like model structures. It's the most frequently used method.</a:t>
            </a:r>
          </a:p>
          <a:p>
            <a:pPr marL="457200" indent="-457200" algn="l">
              <a:buFont typeface="+mj-lt"/>
              <a:buAutoNum type="arabicPeriod"/>
            </a:pPr>
            <a:r>
              <a:rPr lang="en-GB" sz="2000" b="1" i="0" u="none" strike="noStrike" dirty="0">
                <a:solidFill>
                  <a:srgbClr val="000000"/>
                </a:solidFill>
                <a:effectLst/>
              </a:rPr>
              <a:t>Model subclassing:</a:t>
            </a:r>
            <a:r>
              <a:rPr lang="en-GB" sz="2000" b="0" i="0" u="none" strike="noStrike" dirty="0">
                <a:solidFill>
                  <a:srgbClr val="000000"/>
                </a:solidFill>
                <a:effectLst/>
              </a:rPr>
              <a:t> A more advanced, low-level approach where you define the entire model structure from the ground up. This offers maximum control but requires more coding and carries a higher risk of errors, while also forgoing some built-in </a:t>
            </a:r>
            <a:r>
              <a:rPr lang="en-GB" sz="2000" b="0" i="0" u="none" strike="noStrike" dirty="0" err="1">
                <a:solidFill>
                  <a:srgbClr val="000000"/>
                </a:solidFill>
                <a:effectLst/>
              </a:rPr>
              <a:t>Keras</a:t>
            </a:r>
            <a:r>
              <a:rPr lang="en-GB" sz="2000" b="0" i="0" u="none" strike="noStrike" dirty="0">
                <a:solidFill>
                  <a:srgbClr val="000000"/>
                </a:solidFill>
                <a:effectLst/>
              </a:rPr>
              <a:t> functionalities.</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83055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FF5452A-080C-4003-C98E-0830A14DED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3F34580-052E-046C-9F0C-B024EF07D99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Sequential model</a:t>
            </a: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CF8A11C-F730-F67F-7CD8-90370F3DBAA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06531081-5F6E-B37E-770F-19FC2381CD48}"/>
              </a:ext>
            </a:extLst>
          </p:cNvPr>
          <p:cNvSpPr txBox="1"/>
          <p:nvPr/>
        </p:nvSpPr>
        <p:spPr>
          <a:xfrm>
            <a:off x="127221" y="790017"/>
            <a:ext cx="8778240" cy="584775"/>
          </a:xfrm>
          <a:prstGeom prst="rect">
            <a:avLst/>
          </a:prstGeom>
          <a:noFill/>
        </p:spPr>
        <p:txBody>
          <a:bodyPr wrap="square">
            <a:spAutoFit/>
          </a:bodyPr>
          <a:lstStyle/>
          <a:p>
            <a:r>
              <a:rPr lang="en-GB" sz="1600" dirty="0">
                <a:solidFill>
                  <a:srgbClr val="1C1C1C"/>
                </a:solidFill>
                <a:effectLst/>
                <a:latin typeface="Helvetica" pitchFamily="2" charset="0"/>
              </a:rPr>
              <a:t>The simplest way to build a </a:t>
            </a:r>
            <a:r>
              <a:rPr lang="en-GB" sz="1600" dirty="0" err="1">
                <a:solidFill>
                  <a:srgbClr val="1C1C1C"/>
                </a:solidFill>
                <a:effectLst/>
                <a:latin typeface="Helvetica" pitchFamily="2" charset="0"/>
              </a:rPr>
              <a:t>Keras</a:t>
            </a:r>
            <a:r>
              <a:rPr lang="en-GB" sz="1600" dirty="0">
                <a:solidFill>
                  <a:srgbClr val="1C1C1C"/>
                </a:solidFill>
                <a:effectLst/>
                <a:latin typeface="Helvetica" pitchFamily="2" charset="0"/>
              </a:rPr>
              <a:t> model is to use the Sequential mode</a:t>
            </a:r>
          </a:p>
          <a:p>
            <a:pPr algn="l"/>
            <a:endParaRPr lang="en-GB" sz="1600" i="0" u="none" strike="noStrike" dirty="0">
              <a:solidFill>
                <a:srgbClr val="000000"/>
              </a:solidFill>
              <a:effectLst/>
            </a:endParaRPr>
          </a:p>
        </p:txBody>
      </p:sp>
      <p:sp>
        <p:nvSpPr>
          <p:cNvPr id="6" name="TextBox 5">
            <a:extLst>
              <a:ext uri="{FF2B5EF4-FFF2-40B4-BE49-F238E27FC236}">
                <a16:creationId xmlns:a16="http://schemas.microsoft.com/office/drawing/2014/main" id="{43AE119A-7385-724E-1645-F16528A77C26}"/>
              </a:ext>
            </a:extLst>
          </p:cNvPr>
          <p:cNvSpPr txBox="1"/>
          <p:nvPr/>
        </p:nvSpPr>
        <p:spPr>
          <a:xfrm>
            <a:off x="2248232" y="1178819"/>
            <a:ext cx="4647536" cy="1384995"/>
          </a:xfrm>
          <a:prstGeom prst="rect">
            <a:avLst/>
          </a:prstGeom>
          <a:solidFill>
            <a:schemeClr val="accent1">
              <a:lumMod val="40000"/>
              <a:lumOff val="60000"/>
            </a:schemeClr>
          </a:solidFill>
        </p:spPr>
        <p:txBody>
          <a:bodyPr wrap="square">
            <a:spAutoFit/>
          </a:bodyPr>
          <a:lstStyle/>
          <a:p>
            <a:pPr>
              <a:buNone/>
            </a:pPr>
            <a:r>
              <a:rPr lang="en-GB" sz="1400" b="1" dirty="0">
                <a:solidFill>
                  <a:srgbClr val="6B0001"/>
                </a:solidFill>
                <a:effectLst/>
                <a:latin typeface="Courier" panose="02070309020205020404" pitchFamily="49" charset="0"/>
              </a:rPr>
              <a:t>from</a:t>
            </a:r>
            <a:r>
              <a:rPr lang="en-GB" sz="1400" dirty="0">
                <a:solidFill>
                  <a:srgbClr val="000000"/>
                </a:solidFill>
                <a:effectLst/>
                <a:latin typeface="Courier" panose="02070309020205020404" pitchFamily="49" charset="0"/>
              </a:rPr>
              <a:t> </a:t>
            </a:r>
            <a:r>
              <a:rPr lang="en-GB" sz="1400" dirty="0" err="1">
                <a:solidFill>
                  <a:srgbClr val="000000"/>
                </a:solidFill>
                <a:effectLst/>
                <a:latin typeface="Courier" panose="02070309020205020404" pitchFamily="49" charset="0"/>
              </a:rPr>
              <a:t>tensorflow</a:t>
            </a:r>
            <a:r>
              <a:rPr lang="en-GB" sz="1400" dirty="0">
                <a:solidFill>
                  <a:srgbClr val="000000"/>
                </a:solidFill>
                <a:effectLst/>
                <a:latin typeface="Courier" panose="02070309020205020404" pitchFamily="49" charset="0"/>
              </a:rPr>
              <a:t> </a:t>
            </a:r>
            <a:r>
              <a:rPr lang="en-GB" sz="1400" b="1" dirty="0">
                <a:solidFill>
                  <a:srgbClr val="6B0001"/>
                </a:solidFill>
                <a:effectLst/>
                <a:latin typeface="Courier" panose="02070309020205020404" pitchFamily="49" charset="0"/>
              </a:rPr>
              <a:t>import</a:t>
            </a:r>
            <a:r>
              <a:rPr lang="en-GB" sz="1400" dirty="0">
                <a:solidFill>
                  <a:srgbClr val="000000"/>
                </a:solidFill>
                <a:effectLst/>
                <a:latin typeface="Courier" panose="02070309020205020404" pitchFamily="49" charset="0"/>
              </a:rPr>
              <a:t> </a:t>
            </a:r>
            <a:r>
              <a:rPr lang="en-GB" sz="1400" dirty="0" err="1">
                <a:solidFill>
                  <a:srgbClr val="000000"/>
                </a:solidFill>
                <a:effectLst/>
                <a:latin typeface="Courier" panose="02070309020205020404" pitchFamily="49" charset="0"/>
              </a:rPr>
              <a:t>keras</a:t>
            </a:r>
            <a:endParaRPr lang="en-GB" sz="1400" dirty="0">
              <a:solidFill>
                <a:srgbClr val="000000"/>
              </a:solidFill>
              <a:effectLst/>
              <a:latin typeface="Courier" panose="02070309020205020404" pitchFamily="49" charset="0"/>
            </a:endParaRPr>
          </a:p>
          <a:p>
            <a:pPr>
              <a:buNone/>
            </a:pPr>
            <a:r>
              <a:rPr lang="en-GB" sz="1400" b="1" dirty="0">
                <a:solidFill>
                  <a:srgbClr val="6B0001"/>
                </a:solidFill>
                <a:effectLst/>
                <a:latin typeface="Courier" panose="02070309020205020404" pitchFamily="49" charset="0"/>
              </a:rPr>
              <a:t>from</a:t>
            </a:r>
            <a:r>
              <a:rPr lang="en-GB" sz="1400" dirty="0">
                <a:solidFill>
                  <a:srgbClr val="000000"/>
                </a:solidFill>
                <a:effectLst/>
                <a:latin typeface="Courier" panose="02070309020205020404" pitchFamily="49" charset="0"/>
              </a:rPr>
              <a:t> </a:t>
            </a:r>
            <a:r>
              <a:rPr lang="en-GB" sz="1400" dirty="0" err="1">
                <a:solidFill>
                  <a:srgbClr val="000000"/>
                </a:solidFill>
                <a:effectLst/>
                <a:latin typeface="Courier" panose="02070309020205020404" pitchFamily="49" charset="0"/>
              </a:rPr>
              <a:t>tensorflow.keras</a:t>
            </a:r>
            <a:r>
              <a:rPr lang="en-GB" sz="1400" dirty="0">
                <a:solidFill>
                  <a:srgbClr val="000000"/>
                </a:solidFill>
                <a:effectLst/>
                <a:latin typeface="Courier" panose="02070309020205020404" pitchFamily="49" charset="0"/>
              </a:rPr>
              <a:t> </a:t>
            </a:r>
            <a:r>
              <a:rPr lang="en-GB" sz="1400" b="1" dirty="0">
                <a:solidFill>
                  <a:srgbClr val="6B0001"/>
                </a:solidFill>
                <a:effectLst/>
                <a:latin typeface="Courier" panose="02070309020205020404" pitchFamily="49" charset="0"/>
              </a:rPr>
              <a:t>import</a:t>
            </a:r>
            <a:r>
              <a:rPr lang="en-GB" sz="1400" dirty="0">
                <a:solidFill>
                  <a:srgbClr val="000000"/>
                </a:solidFill>
                <a:effectLst/>
                <a:latin typeface="Courier" panose="02070309020205020404" pitchFamily="49" charset="0"/>
              </a:rPr>
              <a:t> layers</a:t>
            </a:r>
          </a:p>
          <a:p>
            <a:pPr>
              <a:buNone/>
            </a:pPr>
            <a:r>
              <a:rPr lang="en-GB" sz="1400" dirty="0">
                <a:solidFill>
                  <a:srgbClr val="000000"/>
                </a:solidFill>
                <a:effectLst/>
                <a:latin typeface="Courier" panose="02070309020205020404" pitchFamily="49" charset="0"/>
              </a:rPr>
              <a:t>model = </a:t>
            </a:r>
            <a:r>
              <a:rPr lang="en-GB" sz="1400" dirty="0" err="1">
                <a:solidFill>
                  <a:srgbClr val="000000"/>
                </a:solidFill>
                <a:effectLst/>
                <a:latin typeface="Courier" panose="02070309020205020404" pitchFamily="49" charset="0"/>
              </a:rPr>
              <a:t>keras.Sequential</a:t>
            </a:r>
            <a:r>
              <a:rPr lang="en-GB" sz="1400" dirty="0">
                <a:solidFill>
                  <a:srgbClr val="000000"/>
                </a:solidFill>
                <a:effectLst/>
                <a:latin typeface="Courier" panose="02070309020205020404" pitchFamily="49" charset="0"/>
              </a:rPr>
              <a:t>([</a:t>
            </a:r>
          </a:p>
          <a:p>
            <a:pPr>
              <a:buNone/>
            </a:pPr>
            <a:r>
              <a:rPr lang="en-GB" sz="1400" dirty="0" err="1">
                <a:solidFill>
                  <a:srgbClr val="000000"/>
                </a:solidFill>
                <a:effectLst/>
                <a:latin typeface="Courier" panose="02070309020205020404" pitchFamily="49" charset="0"/>
              </a:rPr>
              <a:t>layers.Dense</a:t>
            </a:r>
            <a:r>
              <a:rPr lang="en-GB" sz="1400" dirty="0">
                <a:solidFill>
                  <a:srgbClr val="000000"/>
                </a:solidFill>
                <a:effectLst/>
                <a:latin typeface="Courier" panose="02070309020205020404" pitchFamily="49" charset="0"/>
              </a:rPr>
              <a:t>(</a:t>
            </a:r>
            <a:r>
              <a:rPr lang="en-GB" sz="1400" dirty="0">
                <a:solidFill>
                  <a:srgbClr val="0000E0"/>
                </a:solidFill>
                <a:effectLst/>
                <a:latin typeface="Courier" panose="02070309020205020404" pitchFamily="49" charset="0"/>
              </a:rPr>
              <a:t>64</a:t>
            </a:r>
            <a:r>
              <a:rPr lang="en-GB" sz="1400" dirty="0">
                <a:solidFill>
                  <a:srgbClr val="000000"/>
                </a:solidFill>
                <a:effectLst/>
                <a:latin typeface="Courier" panose="02070309020205020404" pitchFamily="49" charset="0"/>
              </a:rPr>
              <a:t>, activation=</a:t>
            </a:r>
            <a:r>
              <a:rPr lang="en-GB" sz="1400" dirty="0">
                <a:solidFill>
                  <a:srgbClr val="1E7B19"/>
                </a:solidFill>
                <a:effectLst/>
                <a:latin typeface="Courier" panose="02070309020205020404" pitchFamily="49" charset="0"/>
              </a:rPr>
              <a:t>"</a:t>
            </a:r>
            <a:r>
              <a:rPr lang="en-GB" sz="1400" dirty="0" err="1">
                <a:solidFill>
                  <a:srgbClr val="1E7B19"/>
                </a:solidFill>
                <a:effectLst/>
                <a:latin typeface="Courier" panose="02070309020205020404" pitchFamily="49" charset="0"/>
              </a:rPr>
              <a:t>relu</a:t>
            </a:r>
            <a:r>
              <a:rPr lang="en-GB" sz="1400" dirty="0">
                <a:solidFill>
                  <a:srgbClr val="1E7B19"/>
                </a:solidFill>
                <a:effectLst/>
                <a:latin typeface="Courier" panose="02070309020205020404" pitchFamily="49" charset="0"/>
              </a:rPr>
              <a:t>"</a:t>
            </a:r>
            <a:r>
              <a:rPr lang="en-GB" sz="1400" dirty="0">
                <a:solidFill>
                  <a:srgbClr val="000000"/>
                </a:solidFill>
                <a:effectLst/>
                <a:latin typeface="Courier" panose="02070309020205020404" pitchFamily="49" charset="0"/>
              </a:rPr>
              <a:t>),</a:t>
            </a:r>
          </a:p>
          <a:p>
            <a:pPr>
              <a:buNone/>
            </a:pPr>
            <a:r>
              <a:rPr lang="en-GB" sz="1400" dirty="0" err="1">
                <a:solidFill>
                  <a:srgbClr val="000000"/>
                </a:solidFill>
                <a:effectLst/>
                <a:latin typeface="Courier" panose="02070309020205020404" pitchFamily="49" charset="0"/>
              </a:rPr>
              <a:t>layers.Dense</a:t>
            </a:r>
            <a:r>
              <a:rPr lang="en-GB" sz="1400" dirty="0">
                <a:solidFill>
                  <a:srgbClr val="000000"/>
                </a:solidFill>
                <a:effectLst/>
                <a:latin typeface="Courier" panose="02070309020205020404" pitchFamily="49" charset="0"/>
              </a:rPr>
              <a:t>(</a:t>
            </a:r>
            <a:r>
              <a:rPr lang="en-GB" sz="1400" dirty="0">
                <a:solidFill>
                  <a:srgbClr val="0000E0"/>
                </a:solidFill>
                <a:effectLst/>
                <a:latin typeface="Courier" panose="02070309020205020404" pitchFamily="49" charset="0"/>
              </a:rPr>
              <a:t>10</a:t>
            </a:r>
            <a:r>
              <a:rPr lang="en-GB" sz="1400" dirty="0">
                <a:solidFill>
                  <a:srgbClr val="000000"/>
                </a:solidFill>
                <a:effectLst/>
                <a:latin typeface="Courier" panose="02070309020205020404" pitchFamily="49" charset="0"/>
              </a:rPr>
              <a:t>, activation=</a:t>
            </a:r>
            <a:r>
              <a:rPr lang="en-GB" sz="1400" dirty="0">
                <a:solidFill>
                  <a:srgbClr val="1E7B19"/>
                </a:solidFill>
                <a:effectLst/>
                <a:latin typeface="Courier" panose="02070309020205020404" pitchFamily="49" charset="0"/>
              </a:rPr>
              <a:t>"</a:t>
            </a:r>
            <a:r>
              <a:rPr lang="en-GB" sz="1400" dirty="0" err="1">
                <a:solidFill>
                  <a:srgbClr val="1E7B19"/>
                </a:solidFill>
                <a:effectLst/>
                <a:latin typeface="Courier" panose="02070309020205020404" pitchFamily="49" charset="0"/>
              </a:rPr>
              <a:t>softmax</a:t>
            </a:r>
            <a:r>
              <a:rPr lang="en-GB" sz="1400" dirty="0">
                <a:solidFill>
                  <a:srgbClr val="1E7B19"/>
                </a:solidFill>
                <a:effectLst/>
                <a:latin typeface="Courier" panose="02070309020205020404" pitchFamily="49" charset="0"/>
              </a:rPr>
              <a:t>"</a:t>
            </a:r>
            <a:r>
              <a:rPr lang="en-GB" sz="1400" dirty="0">
                <a:solidFill>
                  <a:srgbClr val="000000"/>
                </a:solidFill>
                <a:effectLst/>
                <a:latin typeface="Courier" panose="02070309020205020404" pitchFamily="49" charset="0"/>
              </a:rPr>
              <a:t>)</a:t>
            </a:r>
          </a:p>
          <a:p>
            <a:r>
              <a:rPr lang="en-GB" sz="1400" dirty="0">
                <a:solidFill>
                  <a:srgbClr val="1C1C1C"/>
                </a:solidFill>
                <a:effectLst/>
                <a:latin typeface="Courier" panose="02070309020205020404" pitchFamily="49" charset="0"/>
              </a:rPr>
              <a:t>])</a:t>
            </a:r>
          </a:p>
        </p:txBody>
      </p:sp>
      <p:sp>
        <p:nvSpPr>
          <p:cNvPr id="8" name="TextBox 7">
            <a:extLst>
              <a:ext uri="{FF2B5EF4-FFF2-40B4-BE49-F238E27FC236}">
                <a16:creationId xmlns:a16="http://schemas.microsoft.com/office/drawing/2014/main" id="{B6314B75-3003-BA7A-3CC4-80C98DDE657F}"/>
              </a:ext>
            </a:extLst>
          </p:cNvPr>
          <p:cNvSpPr txBox="1"/>
          <p:nvPr/>
        </p:nvSpPr>
        <p:spPr>
          <a:xfrm>
            <a:off x="307118" y="2571750"/>
            <a:ext cx="7127351" cy="523220"/>
          </a:xfrm>
          <a:prstGeom prst="rect">
            <a:avLst/>
          </a:prstGeom>
          <a:noFill/>
        </p:spPr>
        <p:txBody>
          <a:bodyPr wrap="square">
            <a:spAutoFit/>
          </a:bodyPr>
          <a:lstStyle/>
          <a:p>
            <a:pPr>
              <a:buNone/>
            </a:pPr>
            <a:r>
              <a:rPr lang="en-GB" dirty="0">
                <a:solidFill>
                  <a:srgbClr val="1C1C1C"/>
                </a:solidFill>
                <a:effectLst/>
                <a:latin typeface="Helvetica" pitchFamily="2" charset="0"/>
              </a:rPr>
              <a:t>Note that it’s possible to build the same model incrementally via the </a:t>
            </a:r>
            <a:r>
              <a:rPr lang="en-GB" dirty="0">
                <a:solidFill>
                  <a:srgbClr val="1C1C1C"/>
                </a:solidFill>
                <a:effectLst/>
                <a:latin typeface="Courier" panose="02070309020205020404" pitchFamily="49" charset="0"/>
              </a:rPr>
              <a:t>add()</a:t>
            </a:r>
            <a:r>
              <a:rPr lang="en-GB" dirty="0">
                <a:solidFill>
                  <a:srgbClr val="1C1C1C"/>
                </a:solidFill>
                <a:effectLst/>
                <a:latin typeface="Helvetica" pitchFamily="2" charset="0"/>
              </a:rPr>
              <a:t> method,</a:t>
            </a:r>
          </a:p>
          <a:p>
            <a:r>
              <a:rPr lang="en-GB" dirty="0">
                <a:solidFill>
                  <a:srgbClr val="1C1C1C"/>
                </a:solidFill>
                <a:effectLst/>
                <a:latin typeface="Helvetica" pitchFamily="2" charset="0"/>
              </a:rPr>
              <a:t>which is similar to the </a:t>
            </a:r>
            <a:r>
              <a:rPr lang="en-GB" dirty="0">
                <a:solidFill>
                  <a:srgbClr val="1C1C1C"/>
                </a:solidFill>
                <a:effectLst/>
                <a:latin typeface="Courier" panose="02070309020205020404" pitchFamily="49" charset="0"/>
              </a:rPr>
              <a:t>append()</a:t>
            </a:r>
            <a:r>
              <a:rPr lang="en-GB" dirty="0">
                <a:solidFill>
                  <a:srgbClr val="1C1C1C"/>
                </a:solidFill>
                <a:effectLst/>
                <a:latin typeface="Helvetica" pitchFamily="2" charset="0"/>
              </a:rPr>
              <a:t> method of a Python list.</a:t>
            </a:r>
          </a:p>
        </p:txBody>
      </p:sp>
      <p:sp>
        <p:nvSpPr>
          <p:cNvPr id="10" name="TextBox 9">
            <a:extLst>
              <a:ext uri="{FF2B5EF4-FFF2-40B4-BE49-F238E27FC236}">
                <a16:creationId xmlns:a16="http://schemas.microsoft.com/office/drawing/2014/main" id="{DA623B50-D6CA-F39D-1EE3-57FA4472BDF9}"/>
              </a:ext>
            </a:extLst>
          </p:cNvPr>
          <p:cNvSpPr txBox="1"/>
          <p:nvPr/>
        </p:nvSpPr>
        <p:spPr>
          <a:xfrm>
            <a:off x="2044479" y="3164462"/>
            <a:ext cx="4943723" cy="1600438"/>
          </a:xfrm>
          <a:prstGeom prst="rect">
            <a:avLst/>
          </a:prstGeom>
          <a:solidFill>
            <a:schemeClr val="accent1">
              <a:lumMod val="40000"/>
              <a:lumOff val="60000"/>
            </a:schemeClr>
          </a:solidFill>
        </p:spPr>
        <p:txBody>
          <a:bodyPr wrap="square">
            <a:spAutoFit/>
          </a:bodyPr>
          <a:lstStyle/>
          <a:p>
            <a:r>
              <a:rPr lang="en-GB" dirty="0">
                <a:solidFill>
                  <a:srgbClr val="000000"/>
                </a:solidFill>
                <a:effectLst/>
                <a:latin typeface="Courier" panose="02070309020205020404" pitchFamily="49" charset="0"/>
              </a:rPr>
              <a:t># Incrementally building a Sequential model</a:t>
            </a:r>
          </a:p>
          <a:p>
            <a:endParaRPr lang="en-GB" dirty="0">
              <a:solidFill>
                <a:srgbClr val="000000"/>
              </a:solidFill>
              <a:effectLst/>
              <a:latin typeface="Courier" panose="02070309020205020404" pitchFamily="49" charset="0"/>
            </a:endParaRPr>
          </a:p>
          <a:p>
            <a:pPr>
              <a:buNone/>
            </a:pPr>
            <a:r>
              <a:rPr lang="en-GB" dirty="0">
                <a:solidFill>
                  <a:srgbClr val="000000"/>
                </a:solidFill>
                <a:effectLst/>
                <a:latin typeface="Courier" panose="02070309020205020404" pitchFamily="49" charset="0"/>
              </a:rPr>
              <a:t>model = </a:t>
            </a:r>
            <a:r>
              <a:rPr lang="en-GB" dirty="0" err="1">
                <a:solidFill>
                  <a:srgbClr val="000000"/>
                </a:solidFill>
                <a:effectLst/>
                <a:latin typeface="Courier" panose="02070309020205020404" pitchFamily="49" charset="0"/>
              </a:rPr>
              <a:t>keras.Sequential</a:t>
            </a:r>
            <a:r>
              <a:rPr lang="en-GB" dirty="0">
                <a:solidFill>
                  <a:srgbClr val="000000"/>
                </a:solidFill>
                <a:effectLst/>
                <a:latin typeface="Courier" panose="02070309020205020404" pitchFamily="49" charset="0"/>
              </a:rPr>
              <a:t>()</a:t>
            </a:r>
          </a:p>
          <a:p>
            <a:pPr>
              <a:buNone/>
            </a:pPr>
            <a:r>
              <a:rPr lang="en-GB" dirty="0" err="1">
                <a:solidFill>
                  <a:srgbClr val="000000"/>
                </a:solidFill>
                <a:effectLst/>
                <a:latin typeface="Courier" panose="02070309020205020404" pitchFamily="49" charset="0"/>
              </a:rPr>
              <a:t>model.add</a:t>
            </a:r>
            <a:r>
              <a:rPr lang="en-GB" dirty="0">
                <a:solidFill>
                  <a:srgbClr val="000000"/>
                </a:solidFill>
                <a:effectLst/>
                <a:latin typeface="Courier" panose="02070309020205020404" pitchFamily="49" charset="0"/>
              </a:rPr>
              <a:t>(</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a:t>
            </a:r>
          </a:p>
          <a:p>
            <a:r>
              <a:rPr lang="en-GB" dirty="0" err="1">
                <a:solidFill>
                  <a:srgbClr val="1C1C1C"/>
                </a:solidFill>
                <a:effectLst/>
                <a:latin typeface="Courier" panose="02070309020205020404" pitchFamily="49" charset="0"/>
              </a:rPr>
              <a:t>model.add</a:t>
            </a:r>
            <a:r>
              <a:rPr lang="en-GB" dirty="0">
                <a:solidFill>
                  <a:srgbClr val="1C1C1C"/>
                </a:solidFill>
                <a:effectLst/>
                <a:latin typeface="Courier" panose="02070309020205020404" pitchFamily="49" charset="0"/>
              </a:rPr>
              <a:t>(</a:t>
            </a:r>
            <a:r>
              <a:rPr lang="en-GB" dirty="0" err="1">
                <a:solidFill>
                  <a:srgbClr val="1C1C1C"/>
                </a:solidFill>
                <a:effectLst/>
                <a:latin typeface="Courier" panose="02070309020205020404" pitchFamily="49" charset="0"/>
              </a:rPr>
              <a:t>layers.Dense</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10</a:t>
            </a:r>
            <a:r>
              <a:rPr lang="en-GB" dirty="0">
                <a:solidFill>
                  <a:srgbClr val="1C1C1C"/>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softmax</a:t>
            </a:r>
            <a:r>
              <a:rPr lang="en-GB" dirty="0">
                <a:solidFill>
                  <a:srgbClr val="1E7B19"/>
                </a:solidFill>
                <a:effectLst/>
                <a:latin typeface="Courier" panose="02070309020205020404" pitchFamily="49" charset="0"/>
              </a:rPr>
              <a:t>"</a:t>
            </a:r>
            <a:r>
              <a:rPr lang="en-GB" dirty="0">
                <a:solidFill>
                  <a:srgbClr val="1C1C1C"/>
                </a:solidFill>
                <a:effectLst/>
                <a:latin typeface="Courier" panose="02070309020205020404" pitchFamily="49" charset="0"/>
              </a:rPr>
              <a:t>))</a:t>
            </a:r>
          </a:p>
        </p:txBody>
      </p:sp>
    </p:spTree>
    <p:extLst>
      <p:ext uri="{BB962C8B-B14F-4D97-AF65-F5344CB8AC3E}">
        <p14:creationId xmlns:p14="http://schemas.microsoft.com/office/powerpoint/2010/main" val="3907372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FB73C57-71D7-DB2C-C67C-BDC92827CB5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8AC77D1-4899-4A25-BC96-71902B1608F5}"/>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Sequential model</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1A7BF3D-9C75-9C3D-FB70-DFC043042EE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10E8206-3CEF-B2A8-B1A0-5DDF4CACEC20}"/>
              </a:ext>
            </a:extLst>
          </p:cNvPr>
          <p:cNvSpPr txBox="1"/>
          <p:nvPr/>
        </p:nvSpPr>
        <p:spPr>
          <a:xfrm>
            <a:off x="182880" y="779228"/>
            <a:ext cx="8778240" cy="3754874"/>
          </a:xfrm>
          <a:prstGeom prst="rect">
            <a:avLst/>
          </a:prstGeom>
          <a:noFill/>
        </p:spPr>
        <p:txBody>
          <a:bodyPr wrap="square">
            <a:spAutoFit/>
          </a:bodyPr>
          <a:lstStyle/>
          <a:p>
            <a:pPr>
              <a:buNone/>
            </a:pPr>
            <a:r>
              <a:rPr lang="en-GB" dirty="0">
                <a:solidFill>
                  <a:schemeClr val="tx1"/>
                </a:solidFill>
                <a:effectLst/>
                <a:latin typeface="Helvetica" pitchFamily="2" charset="0"/>
              </a:rPr>
              <a:t>The </a:t>
            </a:r>
            <a:r>
              <a:rPr lang="en-GB" b="1" dirty="0">
                <a:solidFill>
                  <a:schemeClr val="tx1"/>
                </a:solidFill>
                <a:effectLst/>
                <a:latin typeface="Courier" panose="02070309020205020404" pitchFamily="49" charset="0"/>
              </a:rPr>
              <a:t>summary()</a:t>
            </a:r>
            <a:r>
              <a:rPr lang="en-GB" dirty="0">
                <a:solidFill>
                  <a:schemeClr val="tx1"/>
                </a:solidFill>
                <a:effectLst/>
                <a:latin typeface="Helvetica" pitchFamily="2" charset="0"/>
              </a:rPr>
              <a:t> method</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model.summary</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Model: "sequential_1"</a:t>
            </a:r>
          </a:p>
          <a:p>
            <a:pPr>
              <a:buNone/>
            </a:pPr>
            <a:r>
              <a:rPr lang="en-GB" dirty="0">
                <a:solidFill>
                  <a:srgbClr val="000000"/>
                </a:solidFill>
                <a:effectLst/>
                <a:latin typeface="Courier" panose="02070309020205020404" pitchFamily="49" charset="0"/>
              </a:rPr>
              <a:t>_________________________________________________________________</a:t>
            </a:r>
          </a:p>
          <a:p>
            <a:pPr>
              <a:buNone/>
            </a:pPr>
            <a:r>
              <a:rPr lang="en-GB" dirty="0">
                <a:solidFill>
                  <a:srgbClr val="000000"/>
                </a:solidFill>
                <a:effectLst/>
                <a:latin typeface="Courier" panose="02070309020205020404" pitchFamily="49" charset="0"/>
              </a:rPr>
              <a:t>Layer (type) Output Shape Param #</a:t>
            </a:r>
          </a:p>
          <a:p>
            <a:pPr>
              <a:buNone/>
            </a:pP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dense_2 (Dense) (None, 64) 256</a:t>
            </a:r>
          </a:p>
          <a:p>
            <a:pPr>
              <a:buNone/>
            </a:pPr>
            <a:r>
              <a:rPr lang="en-GB" dirty="0">
                <a:solidFill>
                  <a:srgbClr val="000000"/>
                </a:solidFill>
                <a:effectLst/>
                <a:latin typeface="Courier" panose="02070309020205020404" pitchFamily="49" charset="0"/>
              </a:rPr>
              <a:t>_________________________________________________________________</a:t>
            </a:r>
          </a:p>
          <a:p>
            <a:pPr>
              <a:buNone/>
            </a:pPr>
            <a:r>
              <a:rPr lang="en-GB" dirty="0">
                <a:solidFill>
                  <a:srgbClr val="000000"/>
                </a:solidFill>
                <a:effectLst/>
                <a:latin typeface="Courier" panose="02070309020205020404" pitchFamily="49" charset="0"/>
              </a:rPr>
              <a:t>dense_3 (Dense) (None, 10) 650</a:t>
            </a:r>
          </a:p>
          <a:p>
            <a:pPr>
              <a:buNone/>
            </a:pP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Total params: 906</a:t>
            </a:r>
          </a:p>
          <a:p>
            <a:pPr>
              <a:buNone/>
            </a:pPr>
            <a:r>
              <a:rPr lang="en-GB" dirty="0">
                <a:solidFill>
                  <a:srgbClr val="000000"/>
                </a:solidFill>
                <a:effectLst/>
                <a:latin typeface="Courier" panose="02070309020205020404" pitchFamily="49" charset="0"/>
              </a:rPr>
              <a:t>Trainable params: 906</a:t>
            </a:r>
          </a:p>
          <a:p>
            <a:pPr>
              <a:buNone/>
            </a:pPr>
            <a:r>
              <a:rPr lang="en-GB" dirty="0">
                <a:solidFill>
                  <a:srgbClr val="000000"/>
                </a:solidFill>
                <a:effectLst/>
                <a:latin typeface="Courier" panose="02070309020205020404" pitchFamily="49" charset="0"/>
              </a:rPr>
              <a:t>Non-trainable params: 0</a:t>
            </a:r>
          </a:p>
          <a:p>
            <a:pPr>
              <a:buNone/>
            </a:pPr>
            <a:r>
              <a:rPr lang="en-GB" dirty="0">
                <a:solidFill>
                  <a:srgbClr val="000000"/>
                </a:solidFill>
                <a:effectLst/>
                <a:latin typeface="Courier" panose="02070309020205020404" pitchFamily="49" charset="0"/>
              </a:rPr>
              <a:t>_________________________________________________________________</a:t>
            </a:r>
          </a:p>
          <a:p>
            <a:pPr>
              <a:buNone/>
            </a:pPr>
            <a:r>
              <a:rPr lang="en-GB" dirty="0">
                <a:solidFill>
                  <a:srgbClr val="1C1C1C"/>
                </a:solidFill>
                <a:effectLst/>
                <a:latin typeface="Helvetica" pitchFamily="2" charset="0"/>
              </a:rPr>
              <a:t>As you can see, this model happens to be named “sequential_1.” You can give names</a:t>
            </a:r>
          </a:p>
          <a:p>
            <a:r>
              <a:rPr lang="en-GB" dirty="0">
                <a:solidFill>
                  <a:srgbClr val="1C1C1C"/>
                </a:solidFill>
                <a:effectLst/>
                <a:latin typeface="Helvetica" pitchFamily="2" charset="0"/>
              </a:rPr>
              <a:t>to everything in </a:t>
            </a:r>
            <a:r>
              <a:rPr lang="en-GB" dirty="0" err="1">
                <a:solidFill>
                  <a:srgbClr val="1C1C1C"/>
                </a:solidFill>
                <a:effectLst/>
                <a:latin typeface="Helvetica" pitchFamily="2" charset="0"/>
              </a:rPr>
              <a:t>Keras</a:t>
            </a:r>
            <a:r>
              <a:rPr lang="en-GB" dirty="0">
                <a:solidFill>
                  <a:srgbClr val="1C1C1C"/>
                </a:solidFill>
                <a:effectLst/>
                <a:latin typeface="Helvetica" pitchFamily="2" charset="0"/>
              </a:rPr>
              <a:t>—every model, every layer.</a:t>
            </a:r>
          </a:p>
          <a:p>
            <a:pPr algn="l"/>
            <a:endParaRPr lang="en-GB" i="0" u="none" strike="noStrike" dirty="0">
              <a:solidFill>
                <a:srgbClr val="000000"/>
              </a:solidFill>
              <a:effectLst/>
            </a:endParaRPr>
          </a:p>
        </p:txBody>
      </p:sp>
    </p:spTree>
    <p:extLst>
      <p:ext uri="{BB962C8B-B14F-4D97-AF65-F5344CB8AC3E}">
        <p14:creationId xmlns:p14="http://schemas.microsoft.com/office/powerpoint/2010/main" val="50617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60ADB46-B50D-E423-1F6F-F4233761230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0693C3-D47A-9068-5433-A37F84551E5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Sequential model</a:t>
            </a: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6253272-9A63-4CFB-6191-3CCBB911929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00ECAD1-6F53-6FB9-783A-6F0D6F5C86DD}"/>
              </a:ext>
            </a:extLst>
          </p:cNvPr>
          <p:cNvSpPr txBox="1"/>
          <p:nvPr/>
        </p:nvSpPr>
        <p:spPr>
          <a:xfrm>
            <a:off x="182880" y="779228"/>
            <a:ext cx="8778240" cy="4185761"/>
          </a:xfrm>
          <a:prstGeom prst="rect">
            <a:avLst/>
          </a:prstGeom>
          <a:noFill/>
        </p:spPr>
        <p:txBody>
          <a:bodyPr wrap="square">
            <a:spAutoFit/>
          </a:bodyPr>
          <a:lstStyle/>
          <a:p>
            <a:pPr>
              <a:buNone/>
            </a:pPr>
            <a:r>
              <a:rPr lang="en-GB" dirty="0">
                <a:solidFill>
                  <a:schemeClr val="tx1"/>
                </a:solidFill>
                <a:effectLst/>
                <a:latin typeface="Helvetica" pitchFamily="2" charset="0"/>
              </a:rPr>
              <a:t>Naming models and layers with the </a:t>
            </a:r>
            <a:r>
              <a:rPr lang="en-GB" b="1" dirty="0">
                <a:solidFill>
                  <a:schemeClr val="tx1"/>
                </a:solidFill>
                <a:effectLst/>
                <a:latin typeface="Courier" panose="02070309020205020404" pitchFamily="49" charset="0"/>
              </a:rPr>
              <a:t>name</a:t>
            </a:r>
            <a:r>
              <a:rPr lang="en-GB" dirty="0">
                <a:solidFill>
                  <a:schemeClr val="tx1"/>
                </a:solidFill>
                <a:effectLst/>
                <a:latin typeface="Helvetica" pitchFamily="2" charset="0"/>
              </a:rPr>
              <a:t> argument</a:t>
            </a:r>
          </a:p>
          <a:p>
            <a:pPr>
              <a:buNone/>
            </a:pPr>
            <a:r>
              <a:rPr lang="en-GB" dirty="0">
                <a:solidFill>
                  <a:srgbClr val="000000"/>
                </a:solidFill>
                <a:effectLst/>
                <a:latin typeface="Courier" panose="02070309020205020404" pitchFamily="49" charset="0"/>
              </a:rPr>
              <a:t>&gt;&gt;&gt; model = </a:t>
            </a:r>
            <a:r>
              <a:rPr lang="en-GB" dirty="0" err="1">
                <a:solidFill>
                  <a:srgbClr val="000000"/>
                </a:solidFill>
                <a:effectLst/>
                <a:latin typeface="Courier" panose="02070309020205020404" pitchFamily="49" charset="0"/>
              </a:rPr>
              <a:t>keras.Sequential</a:t>
            </a:r>
            <a:r>
              <a:rPr lang="en-GB" dirty="0">
                <a:solidFill>
                  <a:srgbClr val="000000"/>
                </a:solidFill>
                <a:effectLst/>
                <a:latin typeface="Courier" panose="02070309020205020404" pitchFamily="49" charset="0"/>
              </a:rPr>
              <a:t>(name=</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my_example_model</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model.add</a:t>
            </a:r>
            <a:r>
              <a:rPr lang="en-GB" dirty="0">
                <a:solidFill>
                  <a:srgbClr val="000000"/>
                </a:solidFill>
                <a:effectLst/>
                <a:latin typeface="Courier" panose="02070309020205020404" pitchFamily="49" charset="0"/>
              </a:rPr>
              <a:t>(</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my_first_layer</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model.add</a:t>
            </a:r>
            <a:r>
              <a:rPr lang="en-GB" dirty="0">
                <a:solidFill>
                  <a:srgbClr val="000000"/>
                </a:solidFill>
                <a:effectLst/>
                <a:latin typeface="Courier" panose="02070309020205020404" pitchFamily="49" charset="0"/>
              </a:rPr>
              <a:t>(</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10</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softmax</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my_last_layer</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model.build</a:t>
            </a:r>
            <a:r>
              <a:rPr lang="en-GB" dirty="0">
                <a:solidFill>
                  <a:srgbClr val="000000"/>
                </a:solidFill>
                <a:effectLst/>
                <a:latin typeface="Courier" panose="02070309020205020404" pitchFamily="49" charset="0"/>
              </a:rPr>
              <a:t>((</a:t>
            </a:r>
            <a:r>
              <a:rPr lang="en-GB" dirty="0">
                <a:solidFill>
                  <a:srgbClr val="0A4D01"/>
                </a:solidFill>
                <a:effectLst/>
                <a:latin typeface="Courier" panose="02070309020205020404" pitchFamily="49" charset="0"/>
              </a:rPr>
              <a:t>None</a:t>
            </a:r>
            <a:r>
              <a:rPr lang="en-GB" dirty="0">
                <a:solidFill>
                  <a:srgbClr val="000000"/>
                </a:solidFill>
                <a:effectLst/>
                <a:latin typeface="Courier" panose="02070309020205020404" pitchFamily="49" charset="0"/>
              </a:rPr>
              <a:t>, </a:t>
            </a:r>
            <a:r>
              <a:rPr lang="en-GB" dirty="0">
                <a:solidFill>
                  <a:srgbClr val="0000E0"/>
                </a:solidFill>
                <a:effectLst/>
                <a:latin typeface="Courier" panose="02070309020205020404" pitchFamily="49" charset="0"/>
              </a:rPr>
              <a:t>3</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model.summary</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Model: "</a:t>
            </a:r>
            <a:r>
              <a:rPr lang="en-GB" dirty="0" err="1">
                <a:solidFill>
                  <a:srgbClr val="000000"/>
                </a:solidFill>
                <a:effectLst/>
                <a:latin typeface="Courier" panose="02070309020205020404" pitchFamily="49" charset="0"/>
              </a:rPr>
              <a:t>my_example_model</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_________________________________________________________________</a:t>
            </a:r>
          </a:p>
          <a:p>
            <a:pPr>
              <a:buNone/>
            </a:pPr>
            <a:r>
              <a:rPr lang="en-GB" dirty="0">
                <a:solidFill>
                  <a:srgbClr val="000000"/>
                </a:solidFill>
                <a:effectLst/>
                <a:latin typeface="Courier" panose="02070309020205020404" pitchFamily="49" charset="0"/>
              </a:rPr>
              <a:t>Layer (type) Output Shape Param #</a:t>
            </a:r>
          </a:p>
          <a:p>
            <a:pPr>
              <a:buNone/>
            </a:pPr>
            <a:r>
              <a:rPr lang="en-GB" dirty="0">
                <a:solidFill>
                  <a:srgbClr val="000000"/>
                </a:solidFill>
                <a:effectLst/>
                <a:latin typeface="Courier" panose="02070309020205020404" pitchFamily="49" charset="0"/>
              </a:rPr>
              <a:t>=================================================================</a:t>
            </a:r>
          </a:p>
          <a:p>
            <a:pPr>
              <a:buNone/>
            </a:pPr>
            <a:r>
              <a:rPr lang="en-GB" dirty="0" err="1">
                <a:solidFill>
                  <a:srgbClr val="000000"/>
                </a:solidFill>
                <a:effectLst/>
                <a:latin typeface="Courier" panose="02070309020205020404" pitchFamily="49" charset="0"/>
              </a:rPr>
              <a:t>my_first_layer</a:t>
            </a:r>
            <a:r>
              <a:rPr lang="en-GB" dirty="0">
                <a:solidFill>
                  <a:srgbClr val="000000"/>
                </a:solidFill>
                <a:effectLst/>
                <a:latin typeface="Courier" panose="02070309020205020404" pitchFamily="49" charset="0"/>
              </a:rPr>
              <a:t> (Dense) (None, 64) 256</a:t>
            </a:r>
          </a:p>
          <a:p>
            <a:pPr>
              <a:buNone/>
            </a:pPr>
            <a:r>
              <a:rPr lang="en-GB" dirty="0">
                <a:solidFill>
                  <a:srgbClr val="000000"/>
                </a:solidFill>
                <a:effectLst/>
                <a:latin typeface="Courier" panose="02070309020205020404" pitchFamily="49" charset="0"/>
              </a:rPr>
              <a:t>_________________________________________________________________</a:t>
            </a:r>
          </a:p>
          <a:p>
            <a:pPr>
              <a:buNone/>
            </a:pPr>
            <a:r>
              <a:rPr lang="en-GB" dirty="0" err="1">
                <a:solidFill>
                  <a:srgbClr val="000000"/>
                </a:solidFill>
                <a:effectLst/>
                <a:latin typeface="Courier" panose="02070309020205020404" pitchFamily="49" charset="0"/>
              </a:rPr>
              <a:t>my_last_layer</a:t>
            </a:r>
            <a:r>
              <a:rPr lang="en-GB" dirty="0">
                <a:solidFill>
                  <a:srgbClr val="000000"/>
                </a:solidFill>
                <a:effectLst/>
                <a:latin typeface="Courier" panose="02070309020205020404" pitchFamily="49" charset="0"/>
              </a:rPr>
              <a:t> (Dense) (None, 10) 650</a:t>
            </a:r>
          </a:p>
          <a:p>
            <a:pPr>
              <a:buNone/>
            </a:pP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Total params: 906</a:t>
            </a:r>
          </a:p>
          <a:p>
            <a:pPr>
              <a:buNone/>
            </a:pPr>
            <a:r>
              <a:rPr lang="en-GB" dirty="0">
                <a:solidFill>
                  <a:srgbClr val="000000"/>
                </a:solidFill>
                <a:effectLst/>
                <a:latin typeface="Courier" panose="02070309020205020404" pitchFamily="49" charset="0"/>
              </a:rPr>
              <a:t>Trainable params: 906</a:t>
            </a:r>
          </a:p>
          <a:p>
            <a:pPr>
              <a:buNone/>
            </a:pPr>
            <a:r>
              <a:rPr lang="en-GB" dirty="0">
                <a:solidFill>
                  <a:srgbClr val="000000"/>
                </a:solidFill>
                <a:effectLst/>
                <a:latin typeface="Courier" panose="02070309020205020404" pitchFamily="49" charset="0"/>
              </a:rPr>
              <a:t>Non-trainable params: 0</a:t>
            </a:r>
          </a:p>
          <a:p>
            <a:r>
              <a:rPr lang="en-GB" dirty="0">
                <a:solidFill>
                  <a:srgbClr val="000000"/>
                </a:solidFill>
                <a:effectLst/>
                <a:latin typeface="Courier" panose="02070309020205020404" pitchFamily="49" charset="0"/>
              </a:rPr>
              <a:t>_________________________________________________________________</a:t>
            </a:r>
          </a:p>
          <a:p>
            <a:pPr algn="l"/>
            <a:endParaRPr lang="en-GB" i="0" u="none" strike="noStrike" dirty="0">
              <a:solidFill>
                <a:srgbClr val="000000"/>
              </a:solidFill>
              <a:effectLst/>
            </a:endParaRPr>
          </a:p>
        </p:txBody>
      </p:sp>
    </p:spTree>
    <p:extLst>
      <p:ext uri="{BB962C8B-B14F-4D97-AF65-F5344CB8AC3E}">
        <p14:creationId xmlns:p14="http://schemas.microsoft.com/office/powerpoint/2010/main" val="1947000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3FD0CBE-1F45-FA8A-7FA6-43D173A09F0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B99EE41-7B99-98AC-E68C-ECE57AF73D7E}"/>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Functional API</a:t>
            </a: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E6C9FE8A-74F4-20B1-EE71-C53BA12312C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66E8522C-71CA-EC42-84F5-9C45A989DE8B}"/>
              </a:ext>
            </a:extLst>
          </p:cNvPr>
          <p:cNvSpPr txBox="1"/>
          <p:nvPr/>
        </p:nvSpPr>
        <p:spPr>
          <a:xfrm>
            <a:off x="182880" y="779228"/>
            <a:ext cx="8778240" cy="2031325"/>
          </a:xfrm>
          <a:prstGeom prst="rect">
            <a:avLst/>
          </a:prstGeom>
          <a:noFill/>
        </p:spPr>
        <p:txBody>
          <a:bodyPr wrap="square">
            <a:spAutoFit/>
          </a:bodyPr>
          <a:lstStyle/>
          <a:p>
            <a:pPr>
              <a:buNone/>
            </a:pPr>
            <a:r>
              <a:rPr lang="en-GB" dirty="0">
                <a:solidFill>
                  <a:srgbClr val="1C1C1C"/>
                </a:solidFill>
                <a:effectLst/>
                <a:latin typeface="Helvetica" pitchFamily="2" charset="0"/>
              </a:rPr>
              <a:t>The Sequential model is easy to use, but its applicability is extremely limited: it can</a:t>
            </a:r>
          </a:p>
          <a:p>
            <a:pPr>
              <a:buNone/>
            </a:pPr>
            <a:r>
              <a:rPr lang="en-GB" dirty="0">
                <a:solidFill>
                  <a:srgbClr val="1C1C1C"/>
                </a:solidFill>
                <a:effectLst/>
                <a:latin typeface="Helvetica" pitchFamily="2" charset="0"/>
              </a:rPr>
              <a:t>only express models with a single input and a single output, applying one layer after</a:t>
            </a:r>
          </a:p>
          <a:p>
            <a:pPr>
              <a:buNone/>
            </a:pPr>
            <a:r>
              <a:rPr lang="en-GB" dirty="0">
                <a:solidFill>
                  <a:srgbClr val="1C1C1C"/>
                </a:solidFill>
                <a:effectLst/>
                <a:latin typeface="Helvetica" pitchFamily="2" charset="0"/>
              </a:rPr>
              <a:t>the other in a sequential fashion. </a:t>
            </a:r>
          </a:p>
          <a:p>
            <a:pPr>
              <a:buNone/>
            </a:pPr>
            <a:r>
              <a:rPr lang="en-GB" dirty="0">
                <a:solidFill>
                  <a:srgbClr val="1C1C1C"/>
                </a:solidFill>
                <a:effectLst/>
                <a:latin typeface="Helvetica" pitchFamily="2" charset="0"/>
              </a:rPr>
              <a:t>In practice, it’s pretty common to encounter models</a:t>
            </a:r>
          </a:p>
          <a:p>
            <a:pPr>
              <a:buNone/>
            </a:pPr>
            <a:r>
              <a:rPr lang="en-GB" dirty="0">
                <a:solidFill>
                  <a:srgbClr val="1C1C1C"/>
                </a:solidFill>
                <a:effectLst/>
                <a:latin typeface="Helvetica" pitchFamily="2" charset="0"/>
              </a:rPr>
              <a:t>with multiple inputs (say, an image and its metadata), multiple outputs (different</a:t>
            </a:r>
          </a:p>
          <a:p>
            <a:pPr>
              <a:buNone/>
            </a:pPr>
            <a:r>
              <a:rPr lang="en-GB" dirty="0">
                <a:solidFill>
                  <a:srgbClr val="1C1C1C"/>
                </a:solidFill>
                <a:effectLst/>
                <a:latin typeface="Helvetica" pitchFamily="2" charset="0"/>
              </a:rPr>
              <a:t>things you want to predict about the data), or a nonlinear topology.</a:t>
            </a:r>
          </a:p>
          <a:p>
            <a:pPr>
              <a:buNone/>
            </a:pPr>
            <a:r>
              <a:rPr lang="en-GB" dirty="0">
                <a:solidFill>
                  <a:srgbClr val="1C1C1C"/>
                </a:solidFill>
                <a:effectLst/>
                <a:latin typeface="Helvetica" pitchFamily="2" charset="0"/>
              </a:rPr>
              <a:t>In such cases, you’d build your model using the Functional API. This is what most</a:t>
            </a:r>
          </a:p>
          <a:p>
            <a:pPr>
              <a:buNone/>
            </a:pPr>
            <a:r>
              <a:rPr lang="en-GB" dirty="0" err="1">
                <a:solidFill>
                  <a:srgbClr val="1C1C1C"/>
                </a:solidFill>
                <a:effectLst/>
                <a:latin typeface="Helvetica" pitchFamily="2" charset="0"/>
              </a:rPr>
              <a:t>Keras</a:t>
            </a:r>
            <a:r>
              <a:rPr lang="en-GB" dirty="0">
                <a:solidFill>
                  <a:srgbClr val="1C1C1C"/>
                </a:solidFill>
                <a:effectLst/>
                <a:latin typeface="Helvetica" pitchFamily="2" charset="0"/>
              </a:rPr>
              <a:t> models you’ll encounter in the wild use. It’s fun and powerful it feels like playing with LEGO bricks.</a:t>
            </a:r>
          </a:p>
          <a:p>
            <a:pPr algn="l"/>
            <a:endParaRPr lang="en-GB" i="0" u="none" strike="noStrike" dirty="0">
              <a:solidFill>
                <a:srgbClr val="000000"/>
              </a:solidFill>
              <a:effectLst/>
            </a:endParaRPr>
          </a:p>
        </p:txBody>
      </p:sp>
      <p:sp>
        <p:nvSpPr>
          <p:cNvPr id="3" name="TextBox 2">
            <a:extLst>
              <a:ext uri="{FF2B5EF4-FFF2-40B4-BE49-F238E27FC236}">
                <a16:creationId xmlns:a16="http://schemas.microsoft.com/office/drawing/2014/main" id="{CC178612-11D8-B252-E090-15D83F8ED14F}"/>
              </a:ext>
            </a:extLst>
          </p:cNvPr>
          <p:cNvSpPr txBox="1"/>
          <p:nvPr/>
        </p:nvSpPr>
        <p:spPr>
          <a:xfrm>
            <a:off x="1099268" y="2693621"/>
            <a:ext cx="4647536" cy="2031325"/>
          </a:xfrm>
          <a:prstGeom prst="rect">
            <a:avLst/>
          </a:prstGeom>
          <a:solidFill>
            <a:schemeClr val="accent1">
              <a:lumMod val="40000"/>
              <a:lumOff val="60000"/>
            </a:schemeClr>
          </a:solidFill>
        </p:spPr>
        <p:txBody>
          <a:bodyPr wrap="square">
            <a:spAutoFit/>
          </a:bodyPr>
          <a:lstStyle/>
          <a:p>
            <a:pPr>
              <a:buNone/>
            </a:pPr>
            <a:r>
              <a:rPr lang="en-GB" dirty="0">
                <a:solidFill>
                  <a:srgbClr val="FFFFFF"/>
                </a:solidFill>
                <a:effectLst/>
                <a:latin typeface="Helvetica" pitchFamily="2" charset="0"/>
              </a:rPr>
              <a:t>A simple Functional model with two </a:t>
            </a:r>
            <a:r>
              <a:rPr lang="en-GB" b="1" dirty="0">
                <a:solidFill>
                  <a:srgbClr val="FFFFFF"/>
                </a:solidFill>
                <a:effectLst/>
                <a:latin typeface="Courier" panose="02070309020205020404" pitchFamily="49" charset="0"/>
              </a:rPr>
              <a:t>Dense</a:t>
            </a:r>
            <a:r>
              <a:rPr lang="en-GB" dirty="0">
                <a:solidFill>
                  <a:srgbClr val="FFFFFF"/>
                </a:solidFill>
                <a:effectLst/>
                <a:latin typeface="Helvetica" pitchFamily="2" charset="0"/>
              </a:rPr>
              <a:t> layers</a:t>
            </a:r>
          </a:p>
          <a:p>
            <a:pPr>
              <a:buNone/>
            </a:pPr>
            <a:r>
              <a:rPr lang="en-GB" dirty="0">
                <a:solidFill>
                  <a:srgbClr val="000000"/>
                </a:solidFill>
                <a:effectLst/>
                <a:latin typeface="Courier" panose="02070309020205020404" pitchFamily="49" charset="0"/>
              </a:rPr>
              <a:t>inputs = </a:t>
            </a:r>
            <a:r>
              <a:rPr lang="en-GB" dirty="0" err="1">
                <a:solidFill>
                  <a:srgbClr val="000000"/>
                </a:solidFill>
                <a:effectLst/>
                <a:latin typeface="Courier" panose="02070309020205020404" pitchFamily="49" charset="0"/>
              </a:rPr>
              <a:t>keras.Input</a:t>
            </a:r>
            <a:r>
              <a:rPr lang="en-GB" dirty="0">
                <a:solidFill>
                  <a:srgbClr val="000000"/>
                </a:solidFill>
                <a:effectLst/>
                <a:latin typeface="Courier" panose="02070309020205020404" pitchFamily="49" charset="0"/>
              </a:rPr>
              <a:t>(shape=(</a:t>
            </a:r>
            <a:r>
              <a:rPr lang="en-GB" dirty="0">
                <a:solidFill>
                  <a:srgbClr val="0000E0"/>
                </a:solidFill>
                <a:effectLst/>
                <a:latin typeface="Courier" panose="02070309020205020404" pitchFamily="49" charset="0"/>
              </a:rPr>
              <a:t>3</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my_input</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features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)(inputs)</a:t>
            </a:r>
          </a:p>
          <a:p>
            <a:pPr>
              <a:buNone/>
            </a:pPr>
            <a:r>
              <a:rPr lang="en-GB" dirty="0">
                <a:solidFill>
                  <a:srgbClr val="000000"/>
                </a:solidFill>
                <a:effectLst/>
                <a:latin typeface="Courier" panose="02070309020205020404" pitchFamily="49" charset="0"/>
              </a:rPr>
              <a:t>outputs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10</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softmax</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)(features)</a:t>
            </a:r>
          </a:p>
          <a:p>
            <a:r>
              <a:rPr lang="en-GB" dirty="0">
                <a:solidFill>
                  <a:srgbClr val="1C1C1C"/>
                </a:solidFill>
                <a:effectLst/>
                <a:latin typeface="Courier" panose="02070309020205020404" pitchFamily="49" charset="0"/>
              </a:rPr>
              <a:t>model = </a:t>
            </a:r>
            <a:r>
              <a:rPr lang="en-GB" dirty="0" err="1">
                <a:solidFill>
                  <a:srgbClr val="1C1C1C"/>
                </a:solidFill>
                <a:effectLst/>
                <a:latin typeface="Courier" panose="02070309020205020404" pitchFamily="49" charset="0"/>
              </a:rPr>
              <a:t>keras.Model</a:t>
            </a:r>
            <a:r>
              <a:rPr lang="en-GB" dirty="0">
                <a:solidFill>
                  <a:srgbClr val="1C1C1C"/>
                </a:solidFill>
                <a:effectLst/>
                <a:latin typeface="Courier" panose="02070309020205020404" pitchFamily="49" charset="0"/>
              </a:rPr>
              <a:t>(inputs=inputs, outputs=outputs)</a:t>
            </a:r>
          </a:p>
        </p:txBody>
      </p:sp>
    </p:spTree>
    <p:extLst>
      <p:ext uri="{BB962C8B-B14F-4D97-AF65-F5344CB8AC3E}">
        <p14:creationId xmlns:p14="http://schemas.microsoft.com/office/powerpoint/2010/main" val="3094130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AA08875-ABBA-AF46-F42B-97B02AF00F6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50E4AD-3B38-36D1-005D-EB11221D1380}"/>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Functional API</a:t>
            </a: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082FFECE-4F6B-3B10-59B9-2A901B0C68A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B04287A-A16A-B538-6232-B5C5A548B52A}"/>
              </a:ext>
            </a:extLst>
          </p:cNvPr>
          <p:cNvSpPr txBox="1"/>
          <p:nvPr/>
        </p:nvSpPr>
        <p:spPr>
          <a:xfrm>
            <a:off x="111319" y="822506"/>
            <a:ext cx="8778240" cy="4616648"/>
          </a:xfrm>
          <a:prstGeom prst="rect">
            <a:avLst/>
          </a:prstGeom>
          <a:noFill/>
        </p:spPr>
        <p:txBody>
          <a:bodyPr wrap="square">
            <a:spAutoFit/>
          </a:bodyPr>
          <a:lstStyle/>
          <a:p>
            <a:pPr>
              <a:buNone/>
            </a:pPr>
            <a:r>
              <a:rPr lang="en-GB" dirty="0">
                <a:solidFill>
                  <a:srgbClr val="1C1C1C"/>
                </a:solidFill>
                <a:effectLst/>
                <a:latin typeface="Helvetica" pitchFamily="2" charset="0"/>
              </a:rPr>
              <a:t>This </a:t>
            </a:r>
            <a:r>
              <a:rPr lang="en-GB" dirty="0">
                <a:solidFill>
                  <a:srgbClr val="1C1C1C"/>
                </a:solidFill>
                <a:effectLst/>
                <a:latin typeface="Courier" panose="02070309020205020404" pitchFamily="49" charset="0"/>
              </a:rPr>
              <a:t>inputs</a:t>
            </a:r>
            <a:r>
              <a:rPr lang="en-GB" dirty="0">
                <a:solidFill>
                  <a:srgbClr val="1C1C1C"/>
                </a:solidFill>
                <a:effectLst/>
                <a:latin typeface="Helvetica" pitchFamily="2" charset="0"/>
              </a:rPr>
              <a:t> object holds information about the shape and </a:t>
            </a:r>
            <a:r>
              <a:rPr lang="en-GB" dirty="0" err="1">
                <a:solidFill>
                  <a:srgbClr val="1C1C1C"/>
                </a:solidFill>
                <a:effectLst/>
                <a:latin typeface="Helvetica" pitchFamily="2" charset="0"/>
              </a:rPr>
              <a:t>dtype</a:t>
            </a:r>
            <a:r>
              <a:rPr lang="en-GB" dirty="0">
                <a:solidFill>
                  <a:srgbClr val="1C1C1C"/>
                </a:solidFill>
                <a:effectLst/>
                <a:latin typeface="Helvetica" pitchFamily="2" charset="0"/>
              </a:rPr>
              <a:t> of the data that the</a:t>
            </a:r>
          </a:p>
          <a:p>
            <a:pPr>
              <a:buNone/>
            </a:pPr>
            <a:r>
              <a:rPr lang="en-GB" dirty="0">
                <a:solidFill>
                  <a:srgbClr val="1C1C1C"/>
                </a:solidFill>
                <a:effectLst/>
                <a:latin typeface="Helvetica" pitchFamily="2" charset="0"/>
              </a:rPr>
              <a:t>model will process:</a:t>
            </a:r>
          </a:p>
          <a:p>
            <a:pPr>
              <a:buNone/>
            </a:pPr>
            <a:r>
              <a:rPr lang="en-GB" dirty="0">
                <a:solidFill>
                  <a:srgbClr val="535353"/>
                </a:solidFill>
                <a:effectLst/>
                <a:latin typeface="Helvetica" pitchFamily="2" charset="0"/>
              </a:rPr>
              <a:t>The model will process batches where each sample</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inputs.shape</a:t>
            </a:r>
            <a:endParaRPr lang="en-GB" dirty="0">
              <a:solidFill>
                <a:srgbClr val="000000"/>
              </a:solidFill>
              <a:effectLst/>
              <a:latin typeface="Courier" panose="02070309020205020404" pitchFamily="49" charset="0"/>
            </a:endParaRPr>
          </a:p>
          <a:p>
            <a:pPr>
              <a:buNone/>
            </a:pPr>
            <a:r>
              <a:rPr lang="en-GB" dirty="0">
                <a:solidFill>
                  <a:srgbClr val="535353"/>
                </a:solidFill>
                <a:effectLst/>
                <a:latin typeface="Helvetica" pitchFamily="2" charset="0"/>
              </a:rPr>
              <a:t>has shape (3,). The number of samples per batch is</a:t>
            </a:r>
          </a:p>
          <a:p>
            <a:pPr>
              <a:buNone/>
            </a:pPr>
            <a:r>
              <a:rPr lang="en-GB" dirty="0">
                <a:solidFill>
                  <a:srgbClr val="000000"/>
                </a:solidFill>
                <a:effectLst/>
                <a:latin typeface="Courier" panose="02070309020205020404" pitchFamily="49" charset="0"/>
              </a:rPr>
              <a:t>(None, 3)</a:t>
            </a:r>
          </a:p>
          <a:p>
            <a:pPr>
              <a:buNone/>
            </a:pPr>
            <a:r>
              <a:rPr lang="en-GB" dirty="0">
                <a:solidFill>
                  <a:srgbClr val="535353"/>
                </a:solidFill>
                <a:effectLst/>
                <a:latin typeface="Helvetica" pitchFamily="2" charset="0"/>
              </a:rPr>
              <a:t>variable (indicated by the None batch size).</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inputs.dtype</a:t>
            </a:r>
            <a:endParaRPr lang="en-GB" dirty="0">
              <a:solidFill>
                <a:srgbClr val="000000"/>
              </a:solidFill>
              <a:effectLst/>
              <a:latin typeface="Courier" panose="02070309020205020404" pitchFamily="49" charset="0"/>
            </a:endParaRPr>
          </a:p>
          <a:p>
            <a:pPr>
              <a:buNone/>
            </a:pPr>
            <a:r>
              <a:rPr lang="en-GB" dirty="0">
                <a:solidFill>
                  <a:srgbClr val="1C1C1C"/>
                </a:solidFill>
                <a:effectLst/>
                <a:latin typeface="Courier" panose="02070309020205020404" pitchFamily="49" charset="0"/>
              </a:rPr>
              <a:t>float32</a:t>
            </a:r>
          </a:p>
          <a:p>
            <a:pPr>
              <a:buNone/>
            </a:pPr>
            <a:r>
              <a:rPr lang="en-GB" dirty="0">
                <a:solidFill>
                  <a:srgbClr val="535353"/>
                </a:solidFill>
                <a:effectLst/>
                <a:latin typeface="Helvetica" pitchFamily="2" charset="0"/>
              </a:rPr>
              <a:t>These batches will have</a:t>
            </a:r>
          </a:p>
          <a:p>
            <a:r>
              <a:rPr lang="en-GB" dirty="0" err="1">
                <a:solidFill>
                  <a:srgbClr val="535353"/>
                </a:solidFill>
                <a:effectLst/>
                <a:latin typeface="Helvetica" pitchFamily="2" charset="0"/>
              </a:rPr>
              <a:t>dtype</a:t>
            </a:r>
            <a:r>
              <a:rPr lang="en-GB" dirty="0">
                <a:solidFill>
                  <a:srgbClr val="535353"/>
                </a:solidFill>
                <a:effectLst/>
                <a:latin typeface="Helvetica" pitchFamily="2" charset="0"/>
              </a:rPr>
              <a:t> float32.</a:t>
            </a:r>
          </a:p>
          <a:p>
            <a:pPr>
              <a:buNone/>
            </a:pPr>
            <a:r>
              <a:rPr lang="en-GB" dirty="0">
                <a:solidFill>
                  <a:srgbClr val="1C1C1C"/>
                </a:solidFill>
                <a:effectLst/>
                <a:latin typeface="Helvetica" pitchFamily="2" charset="0"/>
              </a:rPr>
              <a:t>Next, we created a layer and called it on the input:</a:t>
            </a:r>
          </a:p>
          <a:p>
            <a:pPr>
              <a:buNone/>
            </a:pPr>
            <a:r>
              <a:rPr lang="en-GB" dirty="0">
                <a:solidFill>
                  <a:srgbClr val="000000"/>
                </a:solidFill>
                <a:effectLst/>
                <a:latin typeface="Courier" panose="02070309020205020404" pitchFamily="49" charset="0"/>
              </a:rPr>
              <a:t>features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)(inputs)</a:t>
            </a:r>
          </a:p>
          <a:p>
            <a:pPr>
              <a:buNone/>
            </a:pPr>
            <a:r>
              <a:rPr lang="en-GB" dirty="0">
                <a:solidFill>
                  <a:srgbClr val="000000"/>
                </a:solidFill>
                <a:effectLst/>
                <a:latin typeface="Courier" panose="02070309020205020404" pitchFamily="49" charset="0"/>
              </a:rPr>
              <a:t>&gt;&gt;&gt; </a:t>
            </a:r>
            <a:r>
              <a:rPr lang="en-GB" dirty="0" err="1">
                <a:solidFill>
                  <a:srgbClr val="000000"/>
                </a:solidFill>
                <a:effectLst/>
                <a:latin typeface="Courier" panose="02070309020205020404" pitchFamily="49" charset="0"/>
              </a:rPr>
              <a:t>features.shape</a:t>
            </a:r>
            <a:endParaRPr lang="en-GB" dirty="0">
              <a:solidFill>
                <a:srgbClr val="000000"/>
              </a:solidFill>
              <a:effectLst/>
              <a:latin typeface="Courier" panose="02070309020205020404" pitchFamily="49" charset="0"/>
            </a:endParaRPr>
          </a:p>
          <a:p>
            <a:pPr>
              <a:buNone/>
            </a:pPr>
            <a:r>
              <a:rPr lang="en-GB" dirty="0">
                <a:solidFill>
                  <a:srgbClr val="1C1C1C"/>
                </a:solidFill>
                <a:effectLst/>
                <a:latin typeface="Courier" panose="02070309020205020404" pitchFamily="49" charset="0"/>
              </a:rPr>
              <a:t>(None, 64)</a:t>
            </a:r>
          </a:p>
          <a:p>
            <a:pPr>
              <a:buNone/>
            </a:pPr>
            <a:r>
              <a:rPr lang="en-GB" dirty="0">
                <a:solidFill>
                  <a:srgbClr val="1C1C1C"/>
                </a:solidFill>
                <a:effectLst/>
                <a:latin typeface="Helvetica" pitchFamily="2" charset="0"/>
              </a:rPr>
              <a:t>After obtaining the final outputs, we instantiated the model by specifying its inputs</a:t>
            </a:r>
          </a:p>
          <a:p>
            <a:pPr>
              <a:buNone/>
            </a:pPr>
            <a:r>
              <a:rPr lang="en-GB" dirty="0">
                <a:solidFill>
                  <a:srgbClr val="1C1C1C"/>
                </a:solidFill>
                <a:effectLst/>
                <a:latin typeface="Helvetica" pitchFamily="2" charset="0"/>
              </a:rPr>
              <a:t>and outputs in the </a:t>
            </a:r>
            <a:r>
              <a:rPr lang="en-GB" dirty="0">
                <a:solidFill>
                  <a:srgbClr val="1C1C1C"/>
                </a:solidFill>
                <a:effectLst/>
                <a:latin typeface="Courier" panose="02070309020205020404" pitchFamily="49" charset="0"/>
              </a:rPr>
              <a:t>Model</a:t>
            </a:r>
            <a:r>
              <a:rPr lang="en-GB" dirty="0">
                <a:solidFill>
                  <a:srgbClr val="1C1C1C"/>
                </a:solidFill>
                <a:effectLst/>
                <a:latin typeface="Helvetica" pitchFamily="2" charset="0"/>
              </a:rPr>
              <a:t> constructor:</a:t>
            </a:r>
          </a:p>
          <a:p>
            <a:pPr>
              <a:buNone/>
            </a:pPr>
            <a:r>
              <a:rPr lang="en-GB" dirty="0">
                <a:solidFill>
                  <a:srgbClr val="000000"/>
                </a:solidFill>
                <a:effectLst/>
                <a:latin typeface="Courier" panose="02070309020205020404" pitchFamily="49" charset="0"/>
              </a:rPr>
              <a:t>outputs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10</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softmax</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)(features)</a:t>
            </a:r>
          </a:p>
          <a:p>
            <a:r>
              <a:rPr lang="en-GB" dirty="0">
                <a:solidFill>
                  <a:srgbClr val="1C1C1C"/>
                </a:solidFill>
                <a:effectLst/>
                <a:latin typeface="Courier" panose="02070309020205020404" pitchFamily="49" charset="0"/>
              </a:rPr>
              <a:t>model = </a:t>
            </a:r>
            <a:r>
              <a:rPr lang="en-GB" dirty="0" err="1">
                <a:solidFill>
                  <a:srgbClr val="1C1C1C"/>
                </a:solidFill>
                <a:effectLst/>
                <a:latin typeface="Courier" panose="02070309020205020404" pitchFamily="49" charset="0"/>
              </a:rPr>
              <a:t>keras.Model</a:t>
            </a:r>
            <a:r>
              <a:rPr lang="en-GB" dirty="0">
                <a:solidFill>
                  <a:srgbClr val="1C1C1C"/>
                </a:solidFill>
                <a:effectLst/>
                <a:latin typeface="Courier" panose="02070309020205020404" pitchFamily="49" charset="0"/>
              </a:rPr>
              <a:t>(inputs=inputs, outputs=outputs)</a:t>
            </a:r>
          </a:p>
          <a:p>
            <a:endParaRPr lang="en-GB" dirty="0">
              <a:solidFill>
                <a:srgbClr val="535353"/>
              </a:solidFill>
              <a:effectLst/>
              <a:latin typeface="Helvetica" pitchFamily="2" charset="0"/>
            </a:endParaRPr>
          </a:p>
          <a:p>
            <a:pPr>
              <a:buNone/>
            </a:pPr>
            <a:endParaRPr lang="en-GB" i="0" u="none" strike="noStrike" dirty="0">
              <a:solidFill>
                <a:srgbClr val="000000"/>
              </a:solidFill>
              <a:effectLst/>
            </a:endParaRPr>
          </a:p>
        </p:txBody>
      </p:sp>
    </p:spTree>
    <p:extLst>
      <p:ext uri="{BB962C8B-B14F-4D97-AF65-F5344CB8AC3E}">
        <p14:creationId xmlns:p14="http://schemas.microsoft.com/office/powerpoint/2010/main" val="158669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E251E5F-BCA0-BC33-649E-7435750F93F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AACA8CE-B27F-DEDC-16BC-F47EEB93870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Functional API</a:t>
            </a: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E9EB09E-8CB0-3C99-DE1F-44158E6B65C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3365F62E-306E-0C09-B07C-D16448ACA527}"/>
              </a:ext>
            </a:extLst>
          </p:cNvPr>
          <p:cNvSpPr txBox="1"/>
          <p:nvPr/>
        </p:nvSpPr>
        <p:spPr>
          <a:xfrm>
            <a:off x="111318" y="822506"/>
            <a:ext cx="8969071" cy="3539430"/>
          </a:xfrm>
          <a:prstGeom prst="rect">
            <a:avLst/>
          </a:prstGeom>
          <a:noFill/>
        </p:spPr>
        <p:txBody>
          <a:bodyPr wrap="square">
            <a:spAutoFit/>
          </a:bodyPr>
          <a:lstStyle/>
          <a:p>
            <a:pPr>
              <a:buNone/>
            </a:pPr>
            <a:r>
              <a:rPr lang="en-GB" b="1" dirty="0">
                <a:solidFill>
                  <a:schemeClr val="tx1"/>
                </a:solidFill>
                <a:effectLst/>
                <a:latin typeface="Helvetica" pitchFamily="2" charset="0"/>
              </a:rPr>
              <a:t>MULTI-INPUT, MULTI-OUTPUT MODELS</a:t>
            </a:r>
          </a:p>
          <a:p>
            <a:pPr>
              <a:buNone/>
            </a:pPr>
            <a:r>
              <a:rPr lang="en-GB" dirty="0">
                <a:solidFill>
                  <a:srgbClr val="1C1C1C"/>
                </a:solidFill>
                <a:effectLst/>
                <a:latin typeface="Helvetica" pitchFamily="2" charset="0"/>
              </a:rPr>
              <a:t>Unlike this toy model, most deep learning models don’t look like lists—they look like</a:t>
            </a:r>
          </a:p>
          <a:p>
            <a:pPr>
              <a:buNone/>
            </a:pPr>
            <a:r>
              <a:rPr lang="en-GB" dirty="0">
                <a:solidFill>
                  <a:srgbClr val="1C1C1C"/>
                </a:solidFill>
                <a:effectLst/>
                <a:latin typeface="Helvetica" pitchFamily="2" charset="0"/>
              </a:rPr>
              <a:t>graphs. They may, for instance, have multiple inputs or multiple outputs. It’s for this</a:t>
            </a:r>
          </a:p>
          <a:p>
            <a:pPr>
              <a:buNone/>
            </a:pPr>
            <a:r>
              <a:rPr lang="en-GB" dirty="0">
                <a:solidFill>
                  <a:srgbClr val="1C1C1C"/>
                </a:solidFill>
                <a:effectLst/>
                <a:latin typeface="Helvetica" pitchFamily="2" charset="0"/>
              </a:rPr>
              <a:t>kind of model that the Functional API really shines.</a:t>
            </a:r>
          </a:p>
          <a:p>
            <a:pPr>
              <a:buNone/>
            </a:pPr>
            <a:r>
              <a:rPr lang="en-GB" dirty="0">
                <a:solidFill>
                  <a:srgbClr val="1C1C1C"/>
                </a:solidFill>
                <a:effectLst/>
                <a:latin typeface="Helvetica" pitchFamily="2" charset="0"/>
              </a:rPr>
              <a:t>Let’s say you’re building a system to rank customer support tickets by priority and</a:t>
            </a:r>
          </a:p>
          <a:p>
            <a:pPr>
              <a:buNone/>
            </a:pPr>
            <a:r>
              <a:rPr lang="en-GB" dirty="0">
                <a:solidFill>
                  <a:srgbClr val="1C1C1C"/>
                </a:solidFill>
                <a:effectLst/>
                <a:latin typeface="Helvetica" pitchFamily="2" charset="0"/>
              </a:rPr>
              <a:t>route them to the appropriate department. </a:t>
            </a:r>
          </a:p>
          <a:p>
            <a:pPr>
              <a:buNone/>
            </a:pPr>
            <a:r>
              <a:rPr lang="en-GB" b="1" dirty="0">
                <a:solidFill>
                  <a:srgbClr val="1C1C1C"/>
                </a:solidFill>
                <a:effectLst/>
                <a:latin typeface="Helvetica" pitchFamily="2" charset="0"/>
              </a:rPr>
              <a:t>Your model has three inputs:</a:t>
            </a:r>
          </a:p>
          <a:p>
            <a:pPr marL="342900" indent="-342900">
              <a:buFont typeface="+mj-lt"/>
              <a:buAutoNum type="arabicPeriod"/>
            </a:pPr>
            <a:r>
              <a:rPr lang="en-GB" dirty="0">
                <a:solidFill>
                  <a:srgbClr val="1C1C1C"/>
                </a:solidFill>
                <a:effectLst/>
                <a:latin typeface="Helvetica" pitchFamily="2" charset="0"/>
              </a:rPr>
              <a:t>The title of the ticket (text input)</a:t>
            </a:r>
          </a:p>
          <a:p>
            <a:pPr marL="342900" indent="-342900">
              <a:buFont typeface="+mj-lt"/>
              <a:buAutoNum type="arabicPeriod"/>
            </a:pPr>
            <a:r>
              <a:rPr lang="en-GB" dirty="0">
                <a:solidFill>
                  <a:srgbClr val="1C1C1C"/>
                </a:solidFill>
                <a:effectLst/>
                <a:latin typeface="Helvetica" pitchFamily="2" charset="0"/>
              </a:rPr>
              <a:t>The text body of the ticket (text input)</a:t>
            </a:r>
          </a:p>
          <a:p>
            <a:pPr marL="342900" indent="-342900">
              <a:buFont typeface="+mj-lt"/>
              <a:buAutoNum type="arabicPeriod"/>
            </a:pPr>
            <a:r>
              <a:rPr lang="en-GB" dirty="0">
                <a:solidFill>
                  <a:srgbClr val="1C1C1C"/>
                </a:solidFill>
                <a:effectLst/>
                <a:latin typeface="Helvetica" pitchFamily="2" charset="0"/>
              </a:rPr>
              <a:t>Any tags added by the user (categorical input, assumed here to be one-hot encoded)</a:t>
            </a:r>
          </a:p>
          <a:p>
            <a:endParaRPr lang="en-GB" dirty="0">
              <a:solidFill>
                <a:srgbClr val="535353"/>
              </a:solidFill>
              <a:effectLst/>
              <a:latin typeface="Helvetica" pitchFamily="2" charset="0"/>
            </a:endParaRPr>
          </a:p>
          <a:p>
            <a:pPr>
              <a:buNone/>
            </a:pPr>
            <a:r>
              <a:rPr lang="en-GB" b="1" dirty="0">
                <a:solidFill>
                  <a:srgbClr val="1C1C1C"/>
                </a:solidFill>
                <a:effectLst/>
                <a:latin typeface="Helvetica" pitchFamily="2" charset="0"/>
              </a:rPr>
              <a:t>Your model also has two outputs:</a:t>
            </a:r>
          </a:p>
          <a:p>
            <a:pPr marL="342900" indent="-342900">
              <a:buFont typeface="+mj-lt"/>
              <a:buAutoNum type="arabicPeriod"/>
            </a:pPr>
            <a:r>
              <a:rPr lang="en-GB" dirty="0">
                <a:solidFill>
                  <a:srgbClr val="1C1C1C"/>
                </a:solidFill>
                <a:effectLst/>
                <a:latin typeface="Helvetica" pitchFamily="2" charset="0"/>
              </a:rPr>
              <a:t>The priority score of the ticket, a scalar between 0 and 1 (sigmoid output)</a:t>
            </a:r>
          </a:p>
          <a:p>
            <a:pPr marL="342900" indent="-342900">
              <a:buFont typeface="+mj-lt"/>
              <a:buAutoNum type="arabicPeriod"/>
            </a:pPr>
            <a:r>
              <a:rPr lang="en-GB" dirty="0">
                <a:solidFill>
                  <a:srgbClr val="1C1C1C"/>
                </a:solidFill>
                <a:effectLst/>
                <a:latin typeface="Helvetica" pitchFamily="2" charset="0"/>
              </a:rPr>
              <a:t>The department that should handle the ticket (a </a:t>
            </a:r>
            <a:r>
              <a:rPr lang="en-GB" dirty="0" err="1">
                <a:solidFill>
                  <a:srgbClr val="1C1C1C"/>
                </a:solidFill>
                <a:effectLst/>
                <a:latin typeface="Helvetica" pitchFamily="2" charset="0"/>
              </a:rPr>
              <a:t>softmax</a:t>
            </a:r>
            <a:r>
              <a:rPr lang="en-GB" dirty="0">
                <a:solidFill>
                  <a:srgbClr val="1C1C1C"/>
                </a:solidFill>
                <a:effectLst/>
                <a:latin typeface="Helvetica" pitchFamily="2" charset="0"/>
              </a:rPr>
              <a:t> over the set of departments)</a:t>
            </a:r>
          </a:p>
          <a:p>
            <a:r>
              <a:rPr lang="en-GB" dirty="0">
                <a:solidFill>
                  <a:srgbClr val="1C1C1C"/>
                </a:solidFill>
                <a:effectLst/>
                <a:latin typeface="Helvetica" pitchFamily="2" charset="0"/>
              </a:rPr>
              <a:t>You can build this model in a few lines with the Functional API in the next slides .</a:t>
            </a:r>
          </a:p>
          <a:p>
            <a:pPr>
              <a:buNone/>
            </a:pPr>
            <a:endParaRPr lang="en-GB" i="0" u="none" strike="noStrike" dirty="0">
              <a:solidFill>
                <a:srgbClr val="000000"/>
              </a:solidFill>
              <a:effectLst/>
            </a:endParaRPr>
          </a:p>
        </p:txBody>
      </p:sp>
    </p:spTree>
    <p:extLst>
      <p:ext uri="{BB962C8B-B14F-4D97-AF65-F5344CB8AC3E}">
        <p14:creationId xmlns:p14="http://schemas.microsoft.com/office/powerpoint/2010/main" val="594128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95171BE-1FA4-C905-2F3B-BBB7820DA42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1765DB3-4EF7-A764-6632-873C619071C8}"/>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The Functional API</a:t>
            </a: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350F23E-9F40-5CFD-80A2-B6AD07A8463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087F4E9-CBF8-C1F3-6AE3-F8D4C303F065}"/>
              </a:ext>
            </a:extLst>
          </p:cNvPr>
          <p:cNvSpPr txBox="1"/>
          <p:nvPr/>
        </p:nvSpPr>
        <p:spPr>
          <a:xfrm>
            <a:off x="111318" y="822506"/>
            <a:ext cx="8969071" cy="3323987"/>
          </a:xfrm>
          <a:prstGeom prst="rect">
            <a:avLst/>
          </a:prstGeom>
          <a:solidFill>
            <a:schemeClr val="accent1">
              <a:lumMod val="40000"/>
              <a:lumOff val="60000"/>
            </a:schemeClr>
          </a:solidFill>
        </p:spPr>
        <p:txBody>
          <a:bodyPr wrap="square">
            <a:spAutoFit/>
          </a:bodyPr>
          <a:lstStyle/>
          <a:p>
            <a:pPr>
              <a:buNone/>
            </a:pPr>
            <a:r>
              <a:rPr lang="en-GB" dirty="0">
                <a:solidFill>
                  <a:schemeClr val="tx1"/>
                </a:solidFill>
                <a:effectLst/>
                <a:latin typeface="Helvetica" pitchFamily="2" charset="0"/>
              </a:rPr>
              <a:t>A multi-input, multi-output Functional model</a:t>
            </a:r>
          </a:p>
          <a:p>
            <a:pPr>
              <a:buNone/>
            </a:pPr>
            <a:r>
              <a:rPr lang="en-GB" dirty="0" err="1">
                <a:solidFill>
                  <a:srgbClr val="000000"/>
                </a:solidFill>
                <a:effectLst/>
                <a:latin typeface="Courier" panose="02070309020205020404" pitchFamily="49" charset="0"/>
              </a:rPr>
              <a:t>vocabulary_size</a:t>
            </a:r>
            <a:r>
              <a:rPr lang="en-GB" dirty="0">
                <a:solidFill>
                  <a:srgbClr val="000000"/>
                </a:solidFill>
                <a:effectLst/>
                <a:latin typeface="Courier" panose="02070309020205020404" pitchFamily="49" charset="0"/>
              </a:rPr>
              <a:t> = </a:t>
            </a:r>
            <a:r>
              <a:rPr lang="en-GB" dirty="0">
                <a:solidFill>
                  <a:srgbClr val="0000E0"/>
                </a:solidFill>
                <a:effectLst/>
                <a:latin typeface="Courier" panose="02070309020205020404" pitchFamily="49" charset="0"/>
              </a:rPr>
              <a:t>10000</a:t>
            </a:r>
            <a:endParaRPr lang="en-GB" dirty="0">
              <a:solidFill>
                <a:srgbClr val="000000"/>
              </a:solidFill>
              <a:effectLst/>
              <a:latin typeface="Courier" panose="02070309020205020404" pitchFamily="49" charset="0"/>
            </a:endParaRPr>
          </a:p>
          <a:p>
            <a:pPr>
              <a:buNone/>
            </a:pPr>
            <a:r>
              <a:rPr lang="en-GB" dirty="0" err="1">
                <a:solidFill>
                  <a:srgbClr val="000000"/>
                </a:solidFill>
                <a:effectLst/>
                <a:latin typeface="Courier" panose="02070309020205020404" pitchFamily="49" charset="0"/>
              </a:rPr>
              <a:t>num_tags</a:t>
            </a:r>
            <a:r>
              <a:rPr lang="en-GB" dirty="0">
                <a:solidFill>
                  <a:srgbClr val="000000"/>
                </a:solidFill>
                <a:effectLst/>
                <a:latin typeface="Courier" panose="02070309020205020404" pitchFamily="49" charset="0"/>
              </a:rPr>
              <a:t> = </a:t>
            </a:r>
            <a:r>
              <a:rPr lang="en-GB" dirty="0">
                <a:solidFill>
                  <a:srgbClr val="0000E0"/>
                </a:solidFill>
                <a:effectLst/>
                <a:latin typeface="Courier" panose="02070309020205020404" pitchFamily="49" charset="0"/>
              </a:rPr>
              <a:t>100</a:t>
            </a:r>
            <a:endParaRPr lang="en-GB" dirty="0">
              <a:solidFill>
                <a:srgbClr val="000000"/>
              </a:solidFill>
              <a:effectLst/>
              <a:latin typeface="Courier" panose="02070309020205020404" pitchFamily="49" charset="0"/>
            </a:endParaRPr>
          </a:p>
          <a:p>
            <a:pPr>
              <a:buNone/>
            </a:pPr>
            <a:r>
              <a:rPr lang="en-GB" dirty="0" err="1">
                <a:solidFill>
                  <a:srgbClr val="000000"/>
                </a:solidFill>
                <a:effectLst/>
                <a:latin typeface="Courier" panose="02070309020205020404" pitchFamily="49" charset="0"/>
              </a:rPr>
              <a:t>num_departments</a:t>
            </a:r>
            <a:r>
              <a:rPr lang="en-GB" dirty="0">
                <a:solidFill>
                  <a:srgbClr val="000000"/>
                </a:solidFill>
                <a:effectLst/>
                <a:latin typeface="Courier" panose="02070309020205020404" pitchFamily="49" charset="0"/>
              </a:rPr>
              <a:t> = </a:t>
            </a:r>
            <a:r>
              <a:rPr lang="en-GB" dirty="0">
                <a:solidFill>
                  <a:srgbClr val="0000E0"/>
                </a:solidFill>
                <a:effectLst/>
                <a:latin typeface="Courier" panose="02070309020205020404" pitchFamily="49" charset="0"/>
              </a:rPr>
              <a:t>4</a:t>
            </a:r>
            <a:endParaRPr lang="en-GB" dirty="0">
              <a:solidFill>
                <a:srgbClr val="000000"/>
              </a:solidFill>
              <a:effectLst/>
              <a:latin typeface="Courier" panose="02070309020205020404" pitchFamily="49" charset="0"/>
            </a:endParaRPr>
          </a:p>
          <a:p>
            <a:pPr>
              <a:buNone/>
            </a:pPr>
            <a:r>
              <a:rPr lang="en-GB" dirty="0">
                <a:solidFill>
                  <a:srgbClr val="000000"/>
                </a:solidFill>
                <a:effectLst/>
                <a:latin typeface="Courier" panose="02070309020205020404" pitchFamily="49" charset="0"/>
              </a:rPr>
              <a:t>title = </a:t>
            </a:r>
            <a:r>
              <a:rPr lang="en-GB" dirty="0" err="1">
                <a:solidFill>
                  <a:srgbClr val="000000"/>
                </a:solidFill>
                <a:effectLst/>
                <a:latin typeface="Courier" panose="02070309020205020404" pitchFamily="49" charset="0"/>
              </a:rPr>
              <a:t>keras.Input</a:t>
            </a:r>
            <a:r>
              <a:rPr lang="en-GB" dirty="0">
                <a:solidFill>
                  <a:srgbClr val="000000"/>
                </a:solidFill>
                <a:effectLst/>
                <a:latin typeface="Courier" panose="02070309020205020404" pitchFamily="49" charset="0"/>
              </a:rPr>
              <a:t>(shape=(</a:t>
            </a:r>
            <a:r>
              <a:rPr lang="en-GB" dirty="0" err="1">
                <a:solidFill>
                  <a:srgbClr val="000000"/>
                </a:solidFill>
                <a:effectLst/>
                <a:latin typeface="Courier" panose="02070309020205020404" pitchFamily="49" charset="0"/>
              </a:rPr>
              <a:t>vocabulary_size</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"title"</a:t>
            </a:r>
            <a:r>
              <a:rPr lang="en-GB" dirty="0">
                <a:solidFill>
                  <a:srgbClr val="000000"/>
                </a:solidFill>
                <a:effectLst/>
                <a:latin typeface="Courier" panose="02070309020205020404" pitchFamily="49" charset="0"/>
              </a:rPr>
              <a:t>)</a:t>
            </a:r>
          </a:p>
          <a:p>
            <a:pPr>
              <a:buNone/>
            </a:pPr>
            <a:r>
              <a:rPr lang="en-GB" dirty="0" err="1">
                <a:solidFill>
                  <a:srgbClr val="000000"/>
                </a:solidFill>
                <a:effectLst/>
                <a:latin typeface="Courier" panose="02070309020205020404" pitchFamily="49" charset="0"/>
              </a:rPr>
              <a:t>text_body</a:t>
            </a:r>
            <a:r>
              <a:rPr lang="en-GB" dirty="0">
                <a:solidFill>
                  <a:srgbClr val="000000"/>
                </a:solidFill>
                <a:effectLst/>
                <a:latin typeface="Courier" panose="02070309020205020404" pitchFamily="49" charset="0"/>
              </a:rPr>
              <a:t> = </a:t>
            </a:r>
            <a:r>
              <a:rPr lang="en-GB" dirty="0" err="1">
                <a:solidFill>
                  <a:srgbClr val="000000"/>
                </a:solidFill>
                <a:effectLst/>
                <a:latin typeface="Courier" panose="02070309020205020404" pitchFamily="49" charset="0"/>
              </a:rPr>
              <a:t>keras.Input</a:t>
            </a:r>
            <a:r>
              <a:rPr lang="en-GB" dirty="0">
                <a:solidFill>
                  <a:srgbClr val="000000"/>
                </a:solidFill>
                <a:effectLst/>
                <a:latin typeface="Courier" panose="02070309020205020404" pitchFamily="49" charset="0"/>
              </a:rPr>
              <a:t>(shape=(</a:t>
            </a:r>
            <a:r>
              <a:rPr lang="en-GB" dirty="0" err="1">
                <a:solidFill>
                  <a:srgbClr val="000000"/>
                </a:solidFill>
                <a:effectLst/>
                <a:latin typeface="Courier" panose="02070309020205020404" pitchFamily="49" charset="0"/>
              </a:rPr>
              <a:t>vocabulary_size</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text_body</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tags = </a:t>
            </a:r>
            <a:r>
              <a:rPr lang="en-GB" dirty="0" err="1">
                <a:solidFill>
                  <a:srgbClr val="000000"/>
                </a:solidFill>
                <a:effectLst/>
                <a:latin typeface="Courier" panose="02070309020205020404" pitchFamily="49" charset="0"/>
              </a:rPr>
              <a:t>keras.Input</a:t>
            </a:r>
            <a:r>
              <a:rPr lang="en-GB" dirty="0">
                <a:solidFill>
                  <a:srgbClr val="000000"/>
                </a:solidFill>
                <a:effectLst/>
                <a:latin typeface="Courier" panose="02070309020205020404" pitchFamily="49" charset="0"/>
              </a:rPr>
              <a:t>(shape=(</a:t>
            </a:r>
            <a:r>
              <a:rPr lang="en-GB" dirty="0" err="1">
                <a:solidFill>
                  <a:srgbClr val="000000"/>
                </a:solidFill>
                <a:effectLst/>
                <a:latin typeface="Courier" panose="02070309020205020404" pitchFamily="49" charset="0"/>
              </a:rPr>
              <a:t>num_tags</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"tags"</a:t>
            </a:r>
            <a:r>
              <a:rPr lang="en-GB" dirty="0">
                <a:solidFill>
                  <a:srgbClr val="000000"/>
                </a:solidFill>
                <a:effectLst/>
                <a:latin typeface="Courier" panose="02070309020205020404" pitchFamily="49" charset="0"/>
              </a:rPr>
              <a:t>)</a:t>
            </a:r>
          </a:p>
          <a:p>
            <a:pPr>
              <a:buNone/>
            </a:pPr>
            <a:r>
              <a:rPr lang="en-GB" dirty="0">
                <a:solidFill>
                  <a:srgbClr val="000000"/>
                </a:solidFill>
                <a:effectLst/>
                <a:latin typeface="Courier" panose="02070309020205020404" pitchFamily="49" charset="0"/>
              </a:rPr>
              <a:t>features = </a:t>
            </a:r>
            <a:r>
              <a:rPr lang="en-GB" dirty="0" err="1">
                <a:solidFill>
                  <a:srgbClr val="000000"/>
                </a:solidFill>
                <a:effectLst/>
                <a:latin typeface="Courier" panose="02070309020205020404" pitchFamily="49" charset="0"/>
              </a:rPr>
              <a:t>layers.Concatenate</a:t>
            </a:r>
            <a:r>
              <a:rPr lang="en-GB" dirty="0">
                <a:solidFill>
                  <a:srgbClr val="000000"/>
                </a:solidFill>
                <a:effectLst/>
                <a:latin typeface="Courier" panose="02070309020205020404" pitchFamily="49" charset="0"/>
              </a:rPr>
              <a:t>()([title, </a:t>
            </a:r>
            <a:r>
              <a:rPr lang="en-GB" dirty="0" err="1">
                <a:solidFill>
                  <a:srgbClr val="000000"/>
                </a:solidFill>
                <a:effectLst/>
                <a:latin typeface="Courier" panose="02070309020205020404" pitchFamily="49" charset="0"/>
              </a:rPr>
              <a:t>text_body</a:t>
            </a:r>
            <a:r>
              <a:rPr lang="en-GB" dirty="0">
                <a:solidFill>
                  <a:srgbClr val="000000"/>
                </a:solidFill>
                <a:effectLst/>
                <a:latin typeface="Courier" panose="02070309020205020404" pitchFamily="49" charset="0"/>
              </a:rPr>
              <a:t>, tags])</a:t>
            </a:r>
          </a:p>
          <a:p>
            <a:pPr>
              <a:buNone/>
            </a:pPr>
            <a:r>
              <a:rPr lang="en-GB" dirty="0">
                <a:solidFill>
                  <a:srgbClr val="000000"/>
                </a:solidFill>
                <a:effectLst/>
                <a:latin typeface="Courier" panose="02070309020205020404" pitchFamily="49" charset="0"/>
              </a:rPr>
              <a:t>features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)(features)</a:t>
            </a:r>
          </a:p>
          <a:p>
            <a:pPr>
              <a:buNone/>
            </a:pPr>
            <a:r>
              <a:rPr lang="en-GB" dirty="0">
                <a:solidFill>
                  <a:srgbClr val="000000"/>
                </a:solidFill>
                <a:effectLst/>
                <a:latin typeface="Courier" panose="02070309020205020404" pitchFamily="49" charset="0"/>
              </a:rPr>
              <a:t>priority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r>
              <a:rPr lang="en-GB" dirty="0">
                <a:solidFill>
                  <a:srgbClr val="0000E0"/>
                </a:solidFill>
                <a:effectLst/>
                <a:latin typeface="Courier" panose="02070309020205020404" pitchFamily="49" charset="0"/>
              </a:rPr>
              <a:t>1</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"sigmoid"</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"priority"</a:t>
            </a:r>
            <a:r>
              <a:rPr lang="en-GB" dirty="0">
                <a:solidFill>
                  <a:srgbClr val="000000"/>
                </a:solidFill>
                <a:effectLst/>
                <a:latin typeface="Courier" panose="02070309020205020404" pitchFamily="49" charset="0"/>
              </a:rPr>
              <a:t>)(features)</a:t>
            </a:r>
          </a:p>
          <a:p>
            <a:pPr>
              <a:buNone/>
            </a:pPr>
            <a:r>
              <a:rPr lang="en-GB" dirty="0">
                <a:solidFill>
                  <a:srgbClr val="000000"/>
                </a:solidFill>
                <a:effectLst/>
                <a:latin typeface="Courier" panose="02070309020205020404" pitchFamily="49" charset="0"/>
              </a:rPr>
              <a:t>department = </a:t>
            </a:r>
            <a:r>
              <a:rPr lang="en-GB" dirty="0" err="1">
                <a:solidFill>
                  <a:srgbClr val="000000"/>
                </a:solidFill>
                <a:effectLst/>
                <a:latin typeface="Courier" panose="02070309020205020404" pitchFamily="49" charset="0"/>
              </a:rPr>
              <a:t>layers.Dense</a:t>
            </a:r>
            <a:r>
              <a:rPr lang="en-GB" dirty="0">
                <a:solidFill>
                  <a:srgbClr val="000000"/>
                </a:solidFill>
                <a:effectLst/>
                <a:latin typeface="Courier" panose="02070309020205020404" pitchFamily="49" charset="0"/>
              </a:rPr>
              <a:t>(</a:t>
            </a:r>
          </a:p>
          <a:p>
            <a:pPr>
              <a:buNone/>
            </a:pPr>
            <a:r>
              <a:rPr lang="en-GB" dirty="0" err="1">
                <a:solidFill>
                  <a:srgbClr val="000000"/>
                </a:solidFill>
                <a:effectLst/>
                <a:latin typeface="Courier" panose="02070309020205020404" pitchFamily="49" charset="0"/>
              </a:rPr>
              <a:t>num_departments</a:t>
            </a:r>
            <a:r>
              <a:rPr lang="en-GB" dirty="0">
                <a:solidFill>
                  <a:srgbClr val="000000"/>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softmax</a:t>
            </a:r>
            <a:r>
              <a:rPr lang="en-GB" dirty="0">
                <a:solidFill>
                  <a:srgbClr val="1E7B19"/>
                </a:solidFill>
                <a:effectLst/>
                <a:latin typeface="Courier" panose="02070309020205020404" pitchFamily="49" charset="0"/>
              </a:rPr>
              <a:t>"</a:t>
            </a:r>
            <a:r>
              <a:rPr lang="en-GB" dirty="0">
                <a:solidFill>
                  <a:srgbClr val="000000"/>
                </a:solidFill>
                <a:effectLst/>
                <a:latin typeface="Courier" panose="02070309020205020404" pitchFamily="49" charset="0"/>
              </a:rPr>
              <a:t>, name=</a:t>
            </a:r>
            <a:r>
              <a:rPr lang="en-GB" dirty="0">
                <a:solidFill>
                  <a:srgbClr val="1E7B19"/>
                </a:solidFill>
                <a:effectLst/>
                <a:latin typeface="Courier" panose="02070309020205020404" pitchFamily="49" charset="0"/>
              </a:rPr>
              <a:t>"department"</a:t>
            </a:r>
            <a:r>
              <a:rPr lang="en-GB" dirty="0">
                <a:solidFill>
                  <a:srgbClr val="000000"/>
                </a:solidFill>
                <a:effectLst/>
                <a:latin typeface="Courier" panose="02070309020205020404" pitchFamily="49" charset="0"/>
              </a:rPr>
              <a:t>)(features)</a:t>
            </a:r>
          </a:p>
          <a:p>
            <a:pPr>
              <a:buNone/>
            </a:pPr>
            <a:r>
              <a:rPr lang="en-GB" dirty="0">
                <a:solidFill>
                  <a:srgbClr val="000000"/>
                </a:solidFill>
                <a:effectLst/>
                <a:latin typeface="Courier" panose="02070309020205020404" pitchFamily="49" charset="0"/>
              </a:rPr>
              <a:t>model = </a:t>
            </a:r>
            <a:r>
              <a:rPr lang="en-GB" dirty="0" err="1">
                <a:solidFill>
                  <a:srgbClr val="000000"/>
                </a:solidFill>
                <a:effectLst/>
                <a:latin typeface="Courier" panose="02070309020205020404" pitchFamily="49" charset="0"/>
              </a:rPr>
              <a:t>keras.Model</a:t>
            </a:r>
            <a:r>
              <a:rPr lang="en-GB" dirty="0">
                <a:solidFill>
                  <a:srgbClr val="000000"/>
                </a:solidFill>
                <a:effectLst/>
                <a:latin typeface="Courier" panose="02070309020205020404" pitchFamily="49" charset="0"/>
              </a:rPr>
              <a:t>(inputs=[title, </a:t>
            </a:r>
            <a:r>
              <a:rPr lang="en-GB" dirty="0" err="1">
                <a:solidFill>
                  <a:srgbClr val="000000"/>
                </a:solidFill>
                <a:effectLst/>
                <a:latin typeface="Courier" panose="02070309020205020404" pitchFamily="49" charset="0"/>
              </a:rPr>
              <a:t>text_body</a:t>
            </a:r>
            <a:r>
              <a:rPr lang="en-GB" dirty="0">
                <a:solidFill>
                  <a:srgbClr val="000000"/>
                </a:solidFill>
                <a:effectLst/>
                <a:latin typeface="Courier" panose="02070309020205020404" pitchFamily="49" charset="0"/>
              </a:rPr>
              <a:t>, tags],</a:t>
            </a:r>
          </a:p>
          <a:p>
            <a:pPr>
              <a:buNone/>
            </a:pPr>
            <a:r>
              <a:rPr lang="en-GB" dirty="0">
                <a:solidFill>
                  <a:srgbClr val="1C1C1C"/>
                </a:solidFill>
                <a:effectLst/>
                <a:latin typeface="Courier" panose="02070309020205020404" pitchFamily="49" charset="0"/>
              </a:rPr>
              <a:t>outputs=[priority, department])</a:t>
            </a:r>
          </a:p>
          <a:p>
            <a:pPr>
              <a:buNone/>
            </a:pPr>
            <a:endParaRPr lang="en-GB" i="0" u="none" strike="noStrike" dirty="0">
              <a:solidFill>
                <a:srgbClr val="000000"/>
              </a:solidFill>
              <a:effectLst/>
            </a:endParaRPr>
          </a:p>
        </p:txBody>
      </p:sp>
    </p:spTree>
    <p:extLst>
      <p:ext uri="{BB962C8B-B14F-4D97-AF65-F5344CB8AC3E}">
        <p14:creationId xmlns:p14="http://schemas.microsoft.com/office/powerpoint/2010/main" val="3801539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2871265-6353-A3F4-F662-CD850841302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6C97119-F8F9-43EB-0083-8735BD15F06A}"/>
              </a:ext>
            </a:extLst>
          </p:cNvPr>
          <p:cNvSpPr txBox="1">
            <a:spLocks noGrp="1"/>
          </p:cNvSpPr>
          <p:nvPr>
            <p:ph type="title"/>
          </p:nvPr>
        </p:nvSpPr>
        <p:spPr>
          <a:xfrm>
            <a:off x="303808" y="220801"/>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Subclassing the Model class</a:t>
            </a:r>
            <a:br>
              <a:rPr lang="en-GB" sz="3200" dirty="0">
                <a:solidFill>
                  <a:srgbClr val="7030A0"/>
                </a:solidFill>
                <a:effectLst/>
                <a:latin typeface="Helvetica" pitchFamily="2" charset="0"/>
              </a:rPr>
            </a:b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92FF912-F4DB-7901-6771-4F26DDF5AED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50033FE-0CDE-14D2-A9FC-45EE6837AE42}"/>
              </a:ext>
            </a:extLst>
          </p:cNvPr>
          <p:cNvSpPr txBox="1"/>
          <p:nvPr/>
        </p:nvSpPr>
        <p:spPr>
          <a:xfrm>
            <a:off x="303808" y="1189573"/>
            <a:ext cx="7021003" cy="2308324"/>
          </a:xfrm>
          <a:prstGeom prst="rect">
            <a:avLst/>
          </a:prstGeom>
          <a:noFill/>
        </p:spPr>
        <p:txBody>
          <a:bodyPr wrap="square">
            <a:spAutoFit/>
          </a:bodyPr>
          <a:lstStyle/>
          <a:p>
            <a:pPr>
              <a:buNone/>
            </a:pPr>
            <a:r>
              <a:rPr lang="en-GB" sz="1600" dirty="0">
                <a:solidFill>
                  <a:srgbClr val="1C1C1C"/>
                </a:solidFill>
                <a:effectLst/>
                <a:latin typeface="Helvetica" pitchFamily="2" charset="0"/>
              </a:rPr>
              <a:t>Subclassing </a:t>
            </a:r>
            <a:r>
              <a:rPr lang="en-GB" sz="1600" dirty="0">
                <a:solidFill>
                  <a:srgbClr val="1C1C1C"/>
                </a:solidFill>
                <a:effectLst/>
                <a:latin typeface="Courier" panose="02070309020205020404" pitchFamily="49" charset="0"/>
              </a:rPr>
              <a:t>Model</a:t>
            </a:r>
            <a:r>
              <a:rPr lang="en-GB" sz="1600" dirty="0">
                <a:solidFill>
                  <a:srgbClr val="1C1C1C"/>
                </a:solidFill>
                <a:effectLst/>
                <a:latin typeface="Helvetica" pitchFamily="2" charset="0"/>
              </a:rPr>
              <a:t> is pretty similar:</a:t>
            </a:r>
          </a:p>
          <a:p>
            <a:pPr marL="342900" indent="-342900">
              <a:buFont typeface="+mj-lt"/>
              <a:buAutoNum type="arabicPeriod"/>
            </a:pPr>
            <a:r>
              <a:rPr lang="en-GB" sz="1600" dirty="0">
                <a:solidFill>
                  <a:srgbClr val="1C1C1C"/>
                </a:solidFill>
                <a:effectLst/>
                <a:latin typeface="Helvetica" pitchFamily="2" charset="0"/>
              </a:rPr>
              <a:t>In the </a:t>
            </a:r>
            <a:r>
              <a:rPr lang="en-GB" sz="1600" dirty="0">
                <a:solidFill>
                  <a:srgbClr val="1C1C1C"/>
                </a:solidFill>
                <a:effectLst/>
                <a:latin typeface="Courier" panose="02070309020205020404" pitchFamily="49" charset="0"/>
              </a:rPr>
              <a:t>__</a:t>
            </a:r>
            <a:r>
              <a:rPr lang="en-GB" sz="1600" dirty="0" err="1">
                <a:solidFill>
                  <a:srgbClr val="1C1C1C"/>
                </a:solidFill>
                <a:effectLst/>
                <a:latin typeface="Courier" panose="02070309020205020404" pitchFamily="49" charset="0"/>
              </a:rPr>
              <a:t>init</a:t>
            </a:r>
            <a:r>
              <a:rPr lang="en-GB" sz="1600" dirty="0">
                <a:solidFill>
                  <a:srgbClr val="1C1C1C"/>
                </a:solidFill>
                <a:effectLst/>
                <a:latin typeface="Courier" panose="02070309020205020404" pitchFamily="49" charset="0"/>
              </a:rPr>
              <a:t>__()</a:t>
            </a:r>
            <a:r>
              <a:rPr lang="en-GB" sz="1600" dirty="0">
                <a:solidFill>
                  <a:srgbClr val="1C1C1C"/>
                </a:solidFill>
                <a:effectLst/>
                <a:latin typeface="Helvetica" pitchFamily="2" charset="0"/>
              </a:rPr>
              <a:t> method, define the layers the model will use.</a:t>
            </a:r>
          </a:p>
          <a:p>
            <a:pPr marL="342900" indent="-342900">
              <a:buFont typeface="+mj-lt"/>
              <a:buAutoNum type="arabicPeriod"/>
            </a:pPr>
            <a:r>
              <a:rPr lang="en-GB" sz="1600" dirty="0">
                <a:solidFill>
                  <a:srgbClr val="1C1C1C"/>
                </a:solidFill>
                <a:effectLst/>
                <a:latin typeface="Helvetica" pitchFamily="2" charset="0"/>
              </a:rPr>
              <a:t>In the </a:t>
            </a:r>
            <a:r>
              <a:rPr lang="en-GB" sz="1600" dirty="0">
                <a:solidFill>
                  <a:srgbClr val="1C1C1C"/>
                </a:solidFill>
                <a:effectLst/>
                <a:latin typeface="Courier" panose="02070309020205020404" pitchFamily="49" charset="0"/>
              </a:rPr>
              <a:t>call()</a:t>
            </a:r>
            <a:r>
              <a:rPr lang="en-GB" sz="1600" dirty="0">
                <a:solidFill>
                  <a:srgbClr val="1C1C1C"/>
                </a:solidFill>
                <a:effectLst/>
                <a:latin typeface="Helvetica" pitchFamily="2" charset="0"/>
              </a:rPr>
              <a:t> method, define the forward pass of the model, reusing the layers previously created.</a:t>
            </a:r>
          </a:p>
          <a:p>
            <a:pPr marL="342900" indent="-342900">
              <a:buFont typeface="+mj-lt"/>
              <a:buAutoNum type="arabicPeriod"/>
            </a:pPr>
            <a:r>
              <a:rPr lang="en-GB" sz="1600" dirty="0">
                <a:solidFill>
                  <a:srgbClr val="1C1C1C"/>
                </a:solidFill>
                <a:effectLst/>
                <a:latin typeface="Helvetica" pitchFamily="2" charset="0"/>
              </a:rPr>
              <a:t>Instantiate your subclass, and call it on data to create its weights.</a:t>
            </a:r>
          </a:p>
          <a:p>
            <a:pPr marL="342900" indent="-342900">
              <a:buFont typeface="+mj-lt"/>
              <a:buAutoNum type="arabicPeriod"/>
            </a:pPr>
            <a:endParaRPr lang="en-GB" sz="1600" dirty="0">
              <a:solidFill>
                <a:srgbClr val="1C1C1C"/>
              </a:solidFill>
              <a:effectLst/>
              <a:latin typeface="Helvetica" pitchFamily="2" charset="0"/>
            </a:endParaRPr>
          </a:p>
          <a:p>
            <a:pPr>
              <a:buNone/>
            </a:pPr>
            <a:r>
              <a:rPr lang="en-GB" sz="1600" u="sng" dirty="0">
                <a:solidFill>
                  <a:schemeClr val="tx1"/>
                </a:solidFill>
                <a:effectLst/>
                <a:latin typeface="Helvetica" pitchFamily="2" charset="0"/>
              </a:rPr>
              <a:t>REWRITING OUR PREVIOUS EXAMPLE AS A SUBCLASSED MODEL</a:t>
            </a:r>
          </a:p>
          <a:p>
            <a:pPr>
              <a:buNone/>
            </a:pPr>
            <a:r>
              <a:rPr lang="en-GB" sz="1600" dirty="0">
                <a:solidFill>
                  <a:srgbClr val="1C1C1C"/>
                </a:solidFill>
                <a:effectLst/>
                <a:latin typeface="Helvetica" pitchFamily="2" charset="0"/>
              </a:rPr>
              <a:t>Let’s take a look at a simple example: we will reimplement the customer support ticket management model using a </a:t>
            </a:r>
            <a:r>
              <a:rPr lang="en-GB" sz="1600" dirty="0">
                <a:solidFill>
                  <a:srgbClr val="1C1C1C"/>
                </a:solidFill>
                <a:effectLst/>
                <a:latin typeface="Courier" panose="02070309020205020404" pitchFamily="49" charset="0"/>
              </a:rPr>
              <a:t>Model</a:t>
            </a:r>
            <a:r>
              <a:rPr lang="en-GB" sz="1600" dirty="0">
                <a:solidFill>
                  <a:srgbClr val="1C1C1C"/>
                </a:solidFill>
                <a:effectLst/>
                <a:latin typeface="Helvetica" pitchFamily="2" charset="0"/>
              </a:rPr>
              <a:t> subclass.</a:t>
            </a:r>
          </a:p>
        </p:txBody>
      </p:sp>
    </p:spTree>
    <p:extLst>
      <p:ext uri="{BB962C8B-B14F-4D97-AF65-F5344CB8AC3E}">
        <p14:creationId xmlns:p14="http://schemas.microsoft.com/office/powerpoint/2010/main" val="2938494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9CD6223-A625-DE2F-0B97-F4BD1FD8F4B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D4004EC-6CD8-AE14-AFEB-D13D7984A97B}"/>
              </a:ext>
            </a:extLst>
          </p:cNvPr>
          <p:cNvSpPr txBox="1">
            <a:spLocks noGrp="1"/>
          </p:cNvSpPr>
          <p:nvPr>
            <p:ph type="title"/>
          </p:nvPr>
        </p:nvSpPr>
        <p:spPr>
          <a:xfrm>
            <a:off x="303808" y="-44741"/>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Subclassing the Model class</a:t>
            </a:r>
            <a:br>
              <a:rPr lang="en-GB" sz="3200" dirty="0">
                <a:solidFill>
                  <a:srgbClr val="7030A0"/>
                </a:solidFill>
                <a:effectLst/>
                <a:latin typeface="Helvetica" pitchFamily="2" charset="0"/>
              </a:rPr>
            </a:b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01790BA1-B702-5A9D-32A9-FDEEB754756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81A318BD-2C20-A8FF-3C51-67F31C447BEC}"/>
              </a:ext>
            </a:extLst>
          </p:cNvPr>
          <p:cNvSpPr txBox="1"/>
          <p:nvPr/>
        </p:nvSpPr>
        <p:spPr>
          <a:xfrm>
            <a:off x="407175" y="861580"/>
            <a:ext cx="7512324" cy="3831818"/>
          </a:xfrm>
          <a:prstGeom prst="rect">
            <a:avLst/>
          </a:prstGeom>
          <a:solidFill>
            <a:schemeClr val="accent1">
              <a:lumMod val="40000"/>
              <a:lumOff val="60000"/>
            </a:schemeClr>
          </a:solidFill>
        </p:spPr>
        <p:txBody>
          <a:bodyPr wrap="square">
            <a:spAutoFit/>
          </a:bodyPr>
          <a:lstStyle/>
          <a:p>
            <a:pPr>
              <a:buNone/>
            </a:pPr>
            <a:r>
              <a:rPr lang="en-GB" sz="1300" b="1" dirty="0">
                <a:solidFill>
                  <a:srgbClr val="6B0001"/>
                </a:solidFill>
                <a:effectLst/>
                <a:latin typeface="Courier" panose="02070309020205020404" pitchFamily="49" charset="0"/>
              </a:rPr>
              <a:t>class</a:t>
            </a:r>
            <a:r>
              <a:rPr lang="en-GB" sz="1300" dirty="0">
                <a:solidFill>
                  <a:srgbClr val="1C1C1C"/>
                </a:solidFill>
                <a:effectLst/>
                <a:latin typeface="Courier" panose="02070309020205020404" pitchFamily="49" charset="0"/>
              </a:rPr>
              <a:t> </a:t>
            </a:r>
            <a:r>
              <a:rPr lang="en-GB" sz="1300" dirty="0" err="1">
                <a:solidFill>
                  <a:srgbClr val="1C1C1C"/>
                </a:solidFill>
                <a:effectLst/>
                <a:latin typeface="Courier" panose="02070309020205020404" pitchFamily="49" charset="0"/>
              </a:rPr>
              <a:t>CustomerTicketModel</a:t>
            </a:r>
            <a:r>
              <a:rPr lang="en-GB" sz="1300" dirty="0">
                <a:solidFill>
                  <a:srgbClr val="1C1C1C"/>
                </a:solidFill>
                <a:effectLst/>
                <a:latin typeface="Courier" panose="02070309020205020404" pitchFamily="49" charset="0"/>
              </a:rPr>
              <a:t>(</a:t>
            </a:r>
            <a:r>
              <a:rPr lang="en-GB" sz="1300" dirty="0" err="1">
                <a:solidFill>
                  <a:srgbClr val="1C1C1C"/>
                </a:solidFill>
                <a:effectLst/>
                <a:latin typeface="Courier" panose="02070309020205020404" pitchFamily="49" charset="0"/>
              </a:rPr>
              <a:t>keras.Model</a:t>
            </a:r>
            <a:r>
              <a:rPr lang="en-GB" sz="1300" dirty="0">
                <a:solidFill>
                  <a:srgbClr val="1C1C1C"/>
                </a:solidFill>
                <a:effectLst/>
                <a:latin typeface="Courier" panose="02070309020205020404" pitchFamily="49" charset="0"/>
              </a:rPr>
              <a:t>):</a:t>
            </a:r>
          </a:p>
          <a:p>
            <a:pPr>
              <a:buNone/>
            </a:pPr>
            <a:r>
              <a:rPr lang="en-GB" sz="1300" b="1" dirty="0">
                <a:solidFill>
                  <a:srgbClr val="6B0001"/>
                </a:solidFill>
                <a:effectLst/>
                <a:latin typeface="Courier" panose="02070309020205020404" pitchFamily="49" charset="0"/>
              </a:rPr>
              <a:t>def</a:t>
            </a:r>
            <a:r>
              <a:rPr lang="en-GB" sz="1300" dirty="0">
                <a:solidFill>
                  <a:srgbClr val="1C1C1C"/>
                </a:solidFill>
                <a:effectLst/>
                <a:latin typeface="Courier" panose="02070309020205020404" pitchFamily="49" charset="0"/>
              </a:rPr>
              <a:t> __</a:t>
            </a:r>
            <a:r>
              <a:rPr lang="en-GB" sz="1300" dirty="0" err="1">
                <a:solidFill>
                  <a:srgbClr val="1C1C1C"/>
                </a:solidFill>
                <a:effectLst/>
                <a:latin typeface="Courier" panose="02070309020205020404" pitchFamily="49" charset="0"/>
              </a:rPr>
              <a:t>init</a:t>
            </a:r>
            <a:r>
              <a:rPr lang="en-GB" sz="1300" dirty="0">
                <a:solidFill>
                  <a:srgbClr val="1C1C1C"/>
                </a:solidFill>
                <a:effectLst/>
                <a:latin typeface="Courier" panose="02070309020205020404" pitchFamily="49" charset="0"/>
              </a:rPr>
              <a:t>__(self, </a:t>
            </a:r>
            <a:r>
              <a:rPr lang="en-GB" sz="1300" dirty="0" err="1">
                <a:solidFill>
                  <a:srgbClr val="1C1C1C"/>
                </a:solidFill>
                <a:effectLst/>
                <a:latin typeface="Courier" panose="02070309020205020404" pitchFamily="49" charset="0"/>
              </a:rPr>
              <a:t>num_departments</a:t>
            </a:r>
            <a:r>
              <a:rPr lang="en-GB" sz="1300" dirty="0">
                <a:solidFill>
                  <a:srgbClr val="1C1C1C"/>
                </a:solidFill>
                <a:effectLst/>
                <a:latin typeface="Courier" panose="02070309020205020404" pitchFamily="49" charset="0"/>
              </a:rPr>
              <a:t>):</a:t>
            </a:r>
          </a:p>
          <a:p>
            <a:pPr>
              <a:buNone/>
            </a:pPr>
            <a:r>
              <a:rPr lang="en-GB" sz="1300" dirty="0">
                <a:solidFill>
                  <a:srgbClr val="1C1C1C"/>
                </a:solidFill>
                <a:effectLst/>
                <a:latin typeface="Courier" panose="02070309020205020404" pitchFamily="49" charset="0"/>
              </a:rPr>
              <a:t>super().__</a:t>
            </a:r>
            <a:r>
              <a:rPr lang="en-GB" sz="1300" dirty="0" err="1">
                <a:solidFill>
                  <a:srgbClr val="1C1C1C"/>
                </a:solidFill>
                <a:effectLst/>
                <a:latin typeface="Courier" panose="02070309020205020404" pitchFamily="49" charset="0"/>
              </a:rPr>
              <a:t>init</a:t>
            </a:r>
            <a:r>
              <a:rPr lang="en-GB" sz="1300" dirty="0">
                <a:solidFill>
                  <a:srgbClr val="1C1C1C"/>
                </a:solidFill>
                <a:effectLst/>
                <a:latin typeface="Courier" panose="02070309020205020404" pitchFamily="49" charset="0"/>
              </a:rPr>
              <a:t>__()</a:t>
            </a:r>
          </a:p>
          <a:p>
            <a:pPr>
              <a:buNone/>
            </a:pPr>
            <a:r>
              <a:rPr lang="en-GB" sz="1300" dirty="0" err="1">
                <a:solidFill>
                  <a:srgbClr val="000000"/>
                </a:solidFill>
                <a:effectLst/>
                <a:latin typeface="Courier" panose="02070309020205020404" pitchFamily="49" charset="0"/>
              </a:rPr>
              <a:t>self.concat_layer</a:t>
            </a:r>
            <a:r>
              <a:rPr lang="en-GB" sz="1300" dirty="0">
                <a:solidFill>
                  <a:srgbClr val="000000"/>
                </a:solidFill>
                <a:effectLst/>
                <a:latin typeface="Courier" panose="02070309020205020404" pitchFamily="49" charset="0"/>
              </a:rPr>
              <a:t> = </a:t>
            </a:r>
            <a:r>
              <a:rPr lang="en-GB" sz="1300" dirty="0" err="1">
                <a:solidFill>
                  <a:srgbClr val="000000"/>
                </a:solidFill>
                <a:effectLst/>
                <a:latin typeface="Courier" panose="02070309020205020404" pitchFamily="49" charset="0"/>
              </a:rPr>
              <a:t>layers.Concatenate</a:t>
            </a:r>
            <a:r>
              <a:rPr lang="en-GB" sz="1300" dirty="0">
                <a:solidFill>
                  <a:srgbClr val="000000"/>
                </a:solidFill>
                <a:effectLst/>
                <a:latin typeface="Courier" panose="02070309020205020404" pitchFamily="49" charset="0"/>
              </a:rPr>
              <a:t>()</a:t>
            </a:r>
          </a:p>
          <a:p>
            <a:pPr>
              <a:buNone/>
            </a:pPr>
            <a:r>
              <a:rPr lang="en-GB" sz="1300" dirty="0" err="1">
                <a:solidFill>
                  <a:srgbClr val="1C1C1C"/>
                </a:solidFill>
                <a:effectLst/>
                <a:latin typeface="Courier" panose="02070309020205020404" pitchFamily="49" charset="0"/>
              </a:rPr>
              <a:t>self.mixing_layer</a:t>
            </a:r>
            <a:r>
              <a:rPr lang="en-GB" sz="1300" dirty="0">
                <a:solidFill>
                  <a:srgbClr val="1C1C1C"/>
                </a:solidFill>
                <a:effectLst/>
                <a:latin typeface="Courier" panose="02070309020205020404" pitchFamily="49" charset="0"/>
              </a:rPr>
              <a:t> = </a:t>
            </a:r>
            <a:r>
              <a:rPr lang="en-GB" sz="1300" dirty="0" err="1">
                <a:solidFill>
                  <a:srgbClr val="1C1C1C"/>
                </a:solidFill>
                <a:effectLst/>
                <a:latin typeface="Courier" panose="02070309020205020404" pitchFamily="49" charset="0"/>
              </a:rPr>
              <a:t>layers.Dense</a:t>
            </a:r>
            <a:r>
              <a:rPr lang="en-GB" sz="1300" dirty="0">
                <a:solidFill>
                  <a:srgbClr val="1C1C1C"/>
                </a:solidFill>
                <a:effectLst/>
                <a:latin typeface="Courier" panose="02070309020205020404" pitchFamily="49" charset="0"/>
              </a:rPr>
              <a:t>(</a:t>
            </a:r>
            <a:r>
              <a:rPr lang="en-GB" sz="1300" dirty="0">
                <a:solidFill>
                  <a:srgbClr val="0000E0"/>
                </a:solidFill>
                <a:effectLst/>
                <a:latin typeface="Courier" panose="02070309020205020404" pitchFamily="49" charset="0"/>
              </a:rPr>
              <a:t>64</a:t>
            </a:r>
            <a:r>
              <a:rPr lang="en-GB" sz="1300" dirty="0">
                <a:solidFill>
                  <a:srgbClr val="1C1C1C"/>
                </a:solidFill>
                <a:effectLst/>
                <a:latin typeface="Courier" panose="02070309020205020404" pitchFamily="49" charset="0"/>
              </a:rPr>
              <a:t>, activation=</a:t>
            </a:r>
            <a:r>
              <a:rPr lang="en-GB" sz="1300" dirty="0">
                <a:solidFill>
                  <a:srgbClr val="1E7B19"/>
                </a:solidFill>
                <a:effectLst/>
                <a:latin typeface="Courier" panose="02070309020205020404" pitchFamily="49" charset="0"/>
              </a:rPr>
              <a:t>"</a:t>
            </a:r>
            <a:r>
              <a:rPr lang="en-GB" sz="1300" dirty="0" err="1">
                <a:solidFill>
                  <a:srgbClr val="1E7B19"/>
                </a:solidFill>
                <a:effectLst/>
                <a:latin typeface="Courier" panose="02070309020205020404" pitchFamily="49" charset="0"/>
              </a:rPr>
              <a:t>relu</a:t>
            </a:r>
            <a:r>
              <a:rPr lang="en-GB" sz="1300" dirty="0">
                <a:solidFill>
                  <a:srgbClr val="1E7B19"/>
                </a:solidFill>
                <a:effectLst/>
                <a:latin typeface="Courier" panose="02070309020205020404" pitchFamily="49" charset="0"/>
              </a:rPr>
              <a:t>"</a:t>
            </a:r>
            <a:r>
              <a:rPr lang="en-GB" sz="1300" dirty="0">
                <a:solidFill>
                  <a:srgbClr val="1C1C1C"/>
                </a:solidFill>
                <a:effectLst/>
                <a:latin typeface="Courier" panose="02070309020205020404" pitchFamily="49" charset="0"/>
              </a:rPr>
              <a:t>)</a:t>
            </a:r>
          </a:p>
          <a:p>
            <a:pPr>
              <a:buNone/>
            </a:pPr>
            <a:r>
              <a:rPr lang="en-GB" sz="1300" dirty="0" err="1">
                <a:solidFill>
                  <a:srgbClr val="1C1C1C"/>
                </a:solidFill>
                <a:effectLst/>
                <a:latin typeface="Courier" panose="02070309020205020404" pitchFamily="49" charset="0"/>
              </a:rPr>
              <a:t>self.priority_scorer</a:t>
            </a:r>
            <a:r>
              <a:rPr lang="en-GB" sz="1300" dirty="0">
                <a:solidFill>
                  <a:srgbClr val="1C1C1C"/>
                </a:solidFill>
                <a:effectLst/>
                <a:latin typeface="Courier" panose="02070309020205020404" pitchFamily="49" charset="0"/>
              </a:rPr>
              <a:t> = </a:t>
            </a:r>
            <a:r>
              <a:rPr lang="en-GB" sz="1300" dirty="0" err="1">
                <a:solidFill>
                  <a:srgbClr val="1C1C1C"/>
                </a:solidFill>
                <a:effectLst/>
                <a:latin typeface="Courier" panose="02070309020205020404" pitchFamily="49" charset="0"/>
              </a:rPr>
              <a:t>layers.Dense</a:t>
            </a:r>
            <a:r>
              <a:rPr lang="en-GB" sz="1300" dirty="0">
                <a:solidFill>
                  <a:srgbClr val="1C1C1C"/>
                </a:solidFill>
                <a:effectLst/>
                <a:latin typeface="Courier" panose="02070309020205020404" pitchFamily="49" charset="0"/>
              </a:rPr>
              <a:t>(</a:t>
            </a:r>
            <a:r>
              <a:rPr lang="en-GB" sz="1300" dirty="0">
                <a:solidFill>
                  <a:srgbClr val="0000E0"/>
                </a:solidFill>
                <a:effectLst/>
                <a:latin typeface="Courier" panose="02070309020205020404" pitchFamily="49" charset="0"/>
              </a:rPr>
              <a:t>1</a:t>
            </a:r>
            <a:r>
              <a:rPr lang="en-GB" sz="1300" dirty="0">
                <a:solidFill>
                  <a:srgbClr val="1C1C1C"/>
                </a:solidFill>
                <a:effectLst/>
                <a:latin typeface="Courier" panose="02070309020205020404" pitchFamily="49" charset="0"/>
              </a:rPr>
              <a:t>, activation=</a:t>
            </a:r>
            <a:r>
              <a:rPr lang="en-GB" sz="1300" dirty="0">
                <a:solidFill>
                  <a:srgbClr val="1E7B19"/>
                </a:solidFill>
                <a:effectLst/>
                <a:latin typeface="Courier" panose="02070309020205020404" pitchFamily="49" charset="0"/>
              </a:rPr>
              <a:t>"sigmoid"</a:t>
            </a:r>
            <a:r>
              <a:rPr lang="en-GB" sz="1300" dirty="0">
                <a:solidFill>
                  <a:srgbClr val="1C1C1C"/>
                </a:solidFill>
                <a:effectLst/>
                <a:latin typeface="Courier" panose="02070309020205020404" pitchFamily="49" charset="0"/>
              </a:rPr>
              <a:t>)</a:t>
            </a:r>
          </a:p>
          <a:p>
            <a:pPr>
              <a:buNone/>
            </a:pPr>
            <a:r>
              <a:rPr lang="en-GB" sz="1300" dirty="0" err="1">
                <a:solidFill>
                  <a:srgbClr val="000000"/>
                </a:solidFill>
                <a:effectLst/>
                <a:latin typeface="Courier" panose="02070309020205020404" pitchFamily="49" charset="0"/>
              </a:rPr>
              <a:t>self.department_classifier</a:t>
            </a:r>
            <a:r>
              <a:rPr lang="en-GB" sz="1300" dirty="0">
                <a:solidFill>
                  <a:srgbClr val="000000"/>
                </a:solidFill>
                <a:effectLst/>
                <a:latin typeface="Courier" panose="02070309020205020404" pitchFamily="49" charset="0"/>
              </a:rPr>
              <a:t> = </a:t>
            </a:r>
            <a:r>
              <a:rPr lang="en-GB" sz="1300" dirty="0" err="1">
                <a:solidFill>
                  <a:srgbClr val="000000"/>
                </a:solidFill>
                <a:effectLst/>
                <a:latin typeface="Courier" panose="02070309020205020404" pitchFamily="49" charset="0"/>
              </a:rPr>
              <a:t>layers.Dense</a:t>
            </a:r>
            <a:r>
              <a:rPr lang="en-GB" sz="1300" dirty="0">
                <a:solidFill>
                  <a:srgbClr val="000000"/>
                </a:solidFill>
                <a:effectLst/>
                <a:latin typeface="Courier" panose="02070309020205020404" pitchFamily="49" charset="0"/>
              </a:rPr>
              <a:t>(</a:t>
            </a:r>
          </a:p>
          <a:p>
            <a:pPr>
              <a:buNone/>
            </a:pPr>
            <a:r>
              <a:rPr lang="en-GB" sz="1300" dirty="0" err="1">
                <a:solidFill>
                  <a:srgbClr val="1C1C1C"/>
                </a:solidFill>
                <a:effectLst/>
                <a:latin typeface="Courier" panose="02070309020205020404" pitchFamily="49" charset="0"/>
              </a:rPr>
              <a:t>num_departments</a:t>
            </a:r>
            <a:r>
              <a:rPr lang="en-GB" sz="1300" dirty="0">
                <a:solidFill>
                  <a:srgbClr val="1C1C1C"/>
                </a:solidFill>
                <a:effectLst/>
                <a:latin typeface="Courier" panose="02070309020205020404" pitchFamily="49" charset="0"/>
              </a:rPr>
              <a:t>, activation=</a:t>
            </a:r>
            <a:r>
              <a:rPr lang="en-GB" sz="1300" dirty="0">
                <a:solidFill>
                  <a:srgbClr val="1E7B19"/>
                </a:solidFill>
                <a:effectLst/>
                <a:latin typeface="Courier" panose="02070309020205020404" pitchFamily="49" charset="0"/>
              </a:rPr>
              <a:t>"</a:t>
            </a:r>
            <a:r>
              <a:rPr lang="en-GB" sz="1300" dirty="0" err="1">
                <a:solidFill>
                  <a:srgbClr val="1E7B19"/>
                </a:solidFill>
                <a:effectLst/>
                <a:latin typeface="Courier" panose="02070309020205020404" pitchFamily="49" charset="0"/>
              </a:rPr>
              <a:t>softmax</a:t>
            </a:r>
            <a:r>
              <a:rPr lang="en-GB" sz="1300" dirty="0">
                <a:solidFill>
                  <a:srgbClr val="1E7B19"/>
                </a:solidFill>
                <a:effectLst/>
                <a:latin typeface="Courier" panose="02070309020205020404" pitchFamily="49" charset="0"/>
              </a:rPr>
              <a:t>"</a:t>
            </a:r>
            <a:r>
              <a:rPr lang="en-GB" sz="1300" dirty="0">
                <a:solidFill>
                  <a:srgbClr val="1C1C1C"/>
                </a:solidFill>
                <a:effectLst/>
                <a:latin typeface="Courier" panose="02070309020205020404" pitchFamily="49" charset="0"/>
              </a:rPr>
              <a:t>)</a:t>
            </a:r>
          </a:p>
          <a:p>
            <a:pPr>
              <a:buNone/>
            </a:pPr>
            <a:r>
              <a:rPr lang="en-GB" sz="1300" b="1" dirty="0">
                <a:solidFill>
                  <a:srgbClr val="6B0001"/>
                </a:solidFill>
                <a:effectLst/>
                <a:latin typeface="Courier" panose="02070309020205020404" pitchFamily="49" charset="0"/>
              </a:rPr>
              <a:t>def</a:t>
            </a:r>
            <a:r>
              <a:rPr lang="en-GB" sz="1300" dirty="0">
                <a:solidFill>
                  <a:srgbClr val="1C1C1C"/>
                </a:solidFill>
                <a:effectLst/>
                <a:latin typeface="Courier" panose="02070309020205020404" pitchFamily="49" charset="0"/>
              </a:rPr>
              <a:t> call(self, inputs):</a:t>
            </a:r>
          </a:p>
          <a:p>
            <a:pPr>
              <a:buNone/>
            </a:pPr>
            <a:r>
              <a:rPr lang="en-GB" sz="1300" dirty="0">
                <a:solidFill>
                  <a:srgbClr val="1C1C1C"/>
                </a:solidFill>
                <a:effectLst/>
                <a:latin typeface="Courier" panose="02070309020205020404" pitchFamily="49" charset="0"/>
              </a:rPr>
              <a:t>title = inputs[</a:t>
            </a:r>
            <a:r>
              <a:rPr lang="en-GB" sz="1300" dirty="0">
                <a:solidFill>
                  <a:srgbClr val="1E7B19"/>
                </a:solidFill>
                <a:effectLst/>
                <a:latin typeface="Courier" panose="02070309020205020404" pitchFamily="49" charset="0"/>
              </a:rPr>
              <a:t>"title"</a:t>
            </a:r>
            <a:r>
              <a:rPr lang="en-GB" sz="1300" dirty="0">
                <a:solidFill>
                  <a:srgbClr val="1C1C1C"/>
                </a:solidFill>
                <a:effectLst/>
                <a:latin typeface="Courier" panose="02070309020205020404" pitchFamily="49" charset="0"/>
              </a:rPr>
              <a:t>]</a:t>
            </a:r>
          </a:p>
          <a:p>
            <a:pPr>
              <a:buNone/>
            </a:pPr>
            <a:r>
              <a:rPr lang="en-GB" sz="1300" dirty="0" err="1">
                <a:solidFill>
                  <a:srgbClr val="1C1C1C"/>
                </a:solidFill>
                <a:effectLst/>
                <a:latin typeface="Courier" panose="02070309020205020404" pitchFamily="49" charset="0"/>
              </a:rPr>
              <a:t>text_body</a:t>
            </a:r>
            <a:r>
              <a:rPr lang="en-GB" sz="1300" dirty="0">
                <a:solidFill>
                  <a:srgbClr val="1C1C1C"/>
                </a:solidFill>
                <a:effectLst/>
                <a:latin typeface="Courier" panose="02070309020205020404" pitchFamily="49" charset="0"/>
              </a:rPr>
              <a:t> = inputs[</a:t>
            </a:r>
            <a:r>
              <a:rPr lang="en-GB" sz="1300" dirty="0">
                <a:solidFill>
                  <a:srgbClr val="1E7B19"/>
                </a:solidFill>
                <a:effectLst/>
                <a:latin typeface="Courier" panose="02070309020205020404" pitchFamily="49" charset="0"/>
              </a:rPr>
              <a:t>"</a:t>
            </a:r>
            <a:r>
              <a:rPr lang="en-GB" sz="1300" dirty="0" err="1">
                <a:solidFill>
                  <a:srgbClr val="1E7B19"/>
                </a:solidFill>
                <a:effectLst/>
                <a:latin typeface="Courier" panose="02070309020205020404" pitchFamily="49" charset="0"/>
              </a:rPr>
              <a:t>text_body</a:t>
            </a:r>
            <a:r>
              <a:rPr lang="en-GB" sz="1300" dirty="0">
                <a:solidFill>
                  <a:srgbClr val="1E7B19"/>
                </a:solidFill>
                <a:effectLst/>
                <a:latin typeface="Courier" panose="02070309020205020404" pitchFamily="49" charset="0"/>
              </a:rPr>
              <a:t>"</a:t>
            </a:r>
            <a:r>
              <a:rPr lang="en-GB" sz="1300" dirty="0">
                <a:solidFill>
                  <a:srgbClr val="1C1C1C"/>
                </a:solidFill>
                <a:effectLst/>
                <a:latin typeface="Courier" panose="02070309020205020404" pitchFamily="49" charset="0"/>
              </a:rPr>
              <a:t>]</a:t>
            </a:r>
          </a:p>
          <a:p>
            <a:pPr>
              <a:buNone/>
            </a:pPr>
            <a:r>
              <a:rPr lang="en-GB" sz="1300" dirty="0">
                <a:solidFill>
                  <a:srgbClr val="1C1C1C"/>
                </a:solidFill>
                <a:effectLst/>
                <a:latin typeface="Courier" panose="02070309020205020404" pitchFamily="49" charset="0"/>
              </a:rPr>
              <a:t>tags = inputs[</a:t>
            </a:r>
            <a:r>
              <a:rPr lang="en-GB" sz="1300" dirty="0">
                <a:solidFill>
                  <a:srgbClr val="1E7B19"/>
                </a:solidFill>
                <a:effectLst/>
                <a:latin typeface="Courier" panose="02070309020205020404" pitchFamily="49" charset="0"/>
              </a:rPr>
              <a:t>"tags"</a:t>
            </a:r>
            <a:r>
              <a:rPr lang="en-GB" sz="1300" dirty="0">
                <a:solidFill>
                  <a:srgbClr val="1C1C1C"/>
                </a:solidFill>
                <a:effectLst/>
                <a:latin typeface="Courier" panose="02070309020205020404" pitchFamily="49" charset="0"/>
              </a:rPr>
              <a:t>]</a:t>
            </a:r>
          </a:p>
          <a:p>
            <a:pPr>
              <a:buNone/>
            </a:pPr>
            <a:r>
              <a:rPr lang="en-GB" sz="1300" dirty="0">
                <a:solidFill>
                  <a:srgbClr val="1C1C1C"/>
                </a:solidFill>
                <a:effectLst/>
                <a:latin typeface="Courier" panose="02070309020205020404" pitchFamily="49" charset="0"/>
              </a:rPr>
              <a:t>features = </a:t>
            </a:r>
            <a:r>
              <a:rPr lang="en-GB" sz="1300" dirty="0" err="1">
                <a:solidFill>
                  <a:srgbClr val="1C1C1C"/>
                </a:solidFill>
                <a:effectLst/>
                <a:latin typeface="Courier" panose="02070309020205020404" pitchFamily="49" charset="0"/>
              </a:rPr>
              <a:t>self.concat_layer</a:t>
            </a:r>
            <a:r>
              <a:rPr lang="en-GB" sz="1300" dirty="0">
                <a:solidFill>
                  <a:srgbClr val="1C1C1C"/>
                </a:solidFill>
                <a:effectLst/>
                <a:latin typeface="Courier" panose="02070309020205020404" pitchFamily="49" charset="0"/>
              </a:rPr>
              <a:t>([title, </a:t>
            </a:r>
            <a:r>
              <a:rPr lang="en-GB" sz="1300" dirty="0" err="1">
                <a:solidFill>
                  <a:srgbClr val="1C1C1C"/>
                </a:solidFill>
                <a:effectLst/>
                <a:latin typeface="Courier" panose="02070309020205020404" pitchFamily="49" charset="0"/>
              </a:rPr>
              <a:t>text_body</a:t>
            </a:r>
            <a:r>
              <a:rPr lang="en-GB" sz="1300" dirty="0">
                <a:solidFill>
                  <a:srgbClr val="1C1C1C"/>
                </a:solidFill>
                <a:effectLst/>
                <a:latin typeface="Courier" panose="02070309020205020404" pitchFamily="49" charset="0"/>
              </a:rPr>
              <a:t>, tags])</a:t>
            </a:r>
          </a:p>
          <a:p>
            <a:r>
              <a:rPr lang="en-GB" sz="1300" dirty="0">
                <a:solidFill>
                  <a:srgbClr val="1C1C1C"/>
                </a:solidFill>
                <a:effectLst/>
                <a:latin typeface="Courier" panose="02070309020205020404" pitchFamily="49" charset="0"/>
              </a:rPr>
              <a:t>features = </a:t>
            </a:r>
            <a:r>
              <a:rPr lang="en-GB" sz="1300" dirty="0" err="1">
                <a:solidFill>
                  <a:srgbClr val="1C1C1C"/>
                </a:solidFill>
                <a:effectLst/>
                <a:latin typeface="Courier" panose="02070309020205020404" pitchFamily="49" charset="0"/>
              </a:rPr>
              <a:t>self.mixing_layer</a:t>
            </a:r>
            <a:r>
              <a:rPr lang="en-GB" sz="1300" dirty="0">
                <a:solidFill>
                  <a:srgbClr val="1C1C1C"/>
                </a:solidFill>
                <a:effectLst/>
                <a:latin typeface="Courier" panose="02070309020205020404" pitchFamily="49" charset="0"/>
              </a:rPr>
              <a:t>(features)</a:t>
            </a:r>
          </a:p>
          <a:p>
            <a:pPr>
              <a:buNone/>
            </a:pPr>
            <a:r>
              <a:rPr lang="en-GB" sz="1600" dirty="0">
                <a:solidFill>
                  <a:srgbClr val="1C1C1C"/>
                </a:solidFill>
                <a:effectLst/>
                <a:latin typeface="Courier" panose="02070309020205020404" pitchFamily="49" charset="0"/>
              </a:rPr>
              <a:t>priority = </a:t>
            </a:r>
            <a:r>
              <a:rPr lang="en-GB" sz="1600" dirty="0" err="1">
                <a:solidFill>
                  <a:srgbClr val="1C1C1C"/>
                </a:solidFill>
                <a:effectLst/>
                <a:latin typeface="Courier" panose="02070309020205020404" pitchFamily="49" charset="0"/>
              </a:rPr>
              <a:t>self.priority_scorer</a:t>
            </a:r>
            <a:r>
              <a:rPr lang="en-GB" sz="1600" dirty="0">
                <a:solidFill>
                  <a:srgbClr val="1C1C1C"/>
                </a:solidFill>
                <a:effectLst/>
                <a:latin typeface="Courier" panose="02070309020205020404" pitchFamily="49" charset="0"/>
              </a:rPr>
              <a:t>(features)</a:t>
            </a:r>
          </a:p>
          <a:p>
            <a:pPr>
              <a:buNone/>
            </a:pPr>
            <a:r>
              <a:rPr lang="en-GB" sz="1600" dirty="0">
                <a:solidFill>
                  <a:srgbClr val="1C1C1C"/>
                </a:solidFill>
                <a:effectLst/>
                <a:latin typeface="Courier" panose="02070309020205020404" pitchFamily="49" charset="0"/>
              </a:rPr>
              <a:t>department = </a:t>
            </a:r>
            <a:r>
              <a:rPr lang="en-GB" sz="1600" dirty="0" err="1">
                <a:solidFill>
                  <a:srgbClr val="1C1C1C"/>
                </a:solidFill>
                <a:effectLst/>
                <a:latin typeface="Courier" panose="02070309020205020404" pitchFamily="49" charset="0"/>
              </a:rPr>
              <a:t>self.department_classifier</a:t>
            </a:r>
            <a:r>
              <a:rPr lang="en-GB" sz="1600" dirty="0">
                <a:solidFill>
                  <a:srgbClr val="1C1C1C"/>
                </a:solidFill>
                <a:effectLst/>
                <a:latin typeface="Courier" panose="02070309020205020404" pitchFamily="49" charset="0"/>
              </a:rPr>
              <a:t>(features)</a:t>
            </a:r>
          </a:p>
          <a:p>
            <a:r>
              <a:rPr lang="en-GB" sz="1600" b="1" dirty="0">
                <a:solidFill>
                  <a:srgbClr val="6B0001"/>
                </a:solidFill>
                <a:effectLst/>
                <a:latin typeface="Courier" panose="02070309020205020404" pitchFamily="49" charset="0"/>
              </a:rPr>
              <a:t>return</a:t>
            </a:r>
            <a:r>
              <a:rPr lang="en-GB" sz="1600" dirty="0">
                <a:solidFill>
                  <a:srgbClr val="1C1C1C"/>
                </a:solidFill>
                <a:effectLst/>
                <a:latin typeface="Courier" panose="02070309020205020404" pitchFamily="49" charset="0"/>
              </a:rPr>
              <a:t> priority, department</a:t>
            </a:r>
          </a:p>
          <a:p>
            <a:endParaRPr lang="en-GB" sz="1300" dirty="0">
              <a:solidFill>
                <a:srgbClr val="1C1C1C"/>
              </a:solidFill>
              <a:effectLst/>
              <a:latin typeface="Courier" panose="02070309020205020404" pitchFamily="49" charset="0"/>
            </a:endParaRPr>
          </a:p>
        </p:txBody>
      </p:sp>
    </p:spTree>
    <p:extLst>
      <p:ext uri="{BB962C8B-B14F-4D97-AF65-F5344CB8AC3E}">
        <p14:creationId xmlns:p14="http://schemas.microsoft.com/office/powerpoint/2010/main" val="3444869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030DE68-FD28-C557-0354-8D4BD7716B3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905A6E3-0D2A-D21F-502A-EAB19FEB9059}"/>
              </a:ext>
            </a:extLst>
          </p:cNvPr>
          <p:cNvSpPr txBox="1">
            <a:spLocks noGrp="1"/>
          </p:cNvSpPr>
          <p:nvPr>
            <p:ph type="title"/>
          </p:nvPr>
        </p:nvSpPr>
        <p:spPr>
          <a:xfrm>
            <a:off x="303808" y="-44741"/>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Mixing and matching different components</a:t>
            </a:r>
            <a:br>
              <a:rPr lang="en-GB" sz="3200" dirty="0">
                <a:solidFill>
                  <a:srgbClr val="7030A0"/>
                </a:solidFill>
                <a:effectLst/>
                <a:latin typeface="Helvetica" pitchFamily="2" charset="0"/>
              </a:rPr>
            </a:br>
            <a:br>
              <a:rPr lang="en-GB" sz="3200" dirty="0">
                <a:solidFill>
                  <a:srgbClr val="7030A0"/>
                </a:solidFill>
                <a:effectLst/>
                <a:latin typeface="Helvetica" pitchFamily="2" charset="0"/>
              </a:rPr>
            </a:b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89E51896-C2A7-16C8-EC18-2049261044E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6ABD292-A7EB-F36D-337E-3017F5562507}"/>
              </a:ext>
            </a:extLst>
          </p:cNvPr>
          <p:cNvSpPr txBox="1"/>
          <p:nvPr/>
        </p:nvSpPr>
        <p:spPr>
          <a:xfrm>
            <a:off x="470785" y="742295"/>
            <a:ext cx="2975217" cy="3970318"/>
          </a:xfrm>
          <a:prstGeom prst="rect">
            <a:avLst/>
          </a:prstGeom>
          <a:noFill/>
        </p:spPr>
        <p:txBody>
          <a:bodyPr wrap="square">
            <a:spAutoFit/>
          </a:bodyPr>
          <a:lstStyle/>
          <a:p>
            <a:pPr>
              <a:buNone/>
            </a:pPr>
            <a:r>
              <a:rPr lang="en-GB" dirty="0">
                <a:solidFill>
                  <a:srgbClr val="1C1C1C"/>
                </a:solidFill>
                <a:effectLst/>
                <a:latin typeface="Helvetica" pitchFamily="2" charset="0"/>
              </a:rPr>
              <a:t>Crucially, choosing one of these patterns the Sequential model, the Functional API, or </a:t>
            </a:r>
            <a:r>
              <a:rPr lang="en-GB" dirty="0">
                <a:solidFill>
                  <a:srgbClr val="1C1C1C"/>
                </a:solidFill>
                <a:latin typeface="Helvetica" pitchFamily="2" charset="0"/>
              </a:rPr>
              <a:t>Model</a:t>
            </a:r>
            <a:r>
              <a:rPr lang="en-GB" dirty="0">
                <a:solidFill>
                  <a:srgbClr val="1C1C1C"/>
                </a:solidFill>
                <a:effectLst/>
                <a:latin typeface="Helvetica" pitchFamily="2" charset="0"/>
              </a:rPr>
              <a:t> subclassing does not lock you out of the others. </a:t>
            </a:r>
          </a:p>
          <a:p>
            <a:pPr>
              <a:buNone/>
            </a:pPr>
            <a:endParaRPr lang="en-GB" dirty="0">
              <a:solidFill>
                <a:srgbClr val="1C1C1C"/>
              </a:solidFill>
              <a:effectLst/>
              <a:latin typeface="Helvetica" pitchFamily="2" charset="0"/>
            </a:endParaRPr>
          </a:p>
          <a:p>
            <a:pPr>
              <a:buNone/>
            </a:pPr>
            <a:r>
              <a:rPr lang="en-GB" dirty="0">
                <a:solidFill>
                  <a:srgbClr val="1C1C1C"/>
                </a:solidFill>
                <a:effectLst/>
                <a:latin typeface="Helvetica" pitchFamily="2" charset="0"/>
              </a:rPr>
              <a:t>All models in the </a:t>
            </a:r>
            <a:r>
              <a:rPr lang="en-GB" dirty="0" err="1">
                <a:solidFill>
                  <a:srgbClr val="1C1C1C"/>
                </a:solidFill>
                <a:effectLst/>
                <a:latin typeface="Helvetica" pitchFamily="2" charset="0"/>
              </a:rPr>
              <a:t>Keras</a:t>
            </a:r>
            <a:r>
              <a:rPr lang="en-GB" dirty="0">
                <a:solidFill>
                  <a:srgbClr val="1C1C1C"/>
                </a:solidFill>
                <a:effectLst/>
                <a:latin typeface="Helvetica" pitchFamily="2" charset="0"/>
              </a:rPr>
              <a:t> API</a:t>
            </a:r>
          </a:p>
          <a:p>
            <a:pPr>
              <a:buNone/>
            </a:pPr>
            <a:r>
              <a:rPr lang="en-GB" dirty="0">
                <a:solidFill>
                  <a:srgbClr val="1C1C1C"/>
                </a:solidFill>
                <a:effectLst/>
                <a:latin typeface="Helvetica" pitchFamily="2" charset="0"/>
              </a:rPr>
              <a:t>can smoothly interoperate with each other, whether they’re Sequential models, Functional models, or subclassed models written from scratch. </a:t>
            </a:r>
          </a:p>
          <a:p>
            <a:pPr>
              <a:buNone/>
            </a:pPr>
            <a:r>
              <a:rPr lang="en-GB" dirty="0">
                <a:solidFill>
                  <a:srgbClr val="1C1C1C"/>
                </a:solidFill>
                <a:effectLst/>
                <a:latin typeface="Helvetica" pitchFamily="2" charset="0"/>
              </a:rPr>
              <a:t>They’re all part of the same spectrum of workflows.</a:t>
            </a:r>
          </a:p>
          <a:p>
            <a:pPr>
              <a:buNone/>
            </a:pPr>
            <a:endParaRPr lang="en-GB" dirty="0">
              <a:solidFill>
                <a:srgbClr val="1C1C1C"/>
              </a:solidFill>
              <a:effectLst/>
              <a:latin typeface="Helvetica" pitchFamily="2" charset="0"/>
            </a:endParaRPr>
          </a:p>
          <a:p>
            <a:r>
              <a:rPr lang="en-GB" b="1" dirty="0">
                <a:solidFill>
                  <a:srgbClr val="1C1C1C"/>
                </a:solidFill>
                <a:effectLst/>
                <a:latin typeface="Helvetica" pitchFamily="2" charset="0"/>
              </a:rPr>
              <a:t>For instance, you can use a subclassed layer or model in a Functional model.</a:t>
            </a:r>
          </a:p>
        </p:txBody>
      </p:sp>
      <p:sp>
        <p:nvSpPr>
          <p:cNvPr id="7" name="TextBox 6">
            <a:extLst>
              <a:ext uri="{FF2B5EF4-FFF2-40B4-BE49-F238E27FC236}">
                <a16:creationId xmlns:a16="http://schemas.microsoft.com/office/drawing/2014/main" id="{F249D17B-F5D2-B2F2-5AF1-C73D060F3315}"/>
              </a:ext>
            </a:extLst>
          </p:cNvPr>
          <p:cNvSpPr txBox="1"/>
          <p:nvPr/>
        </p:nvSpPr>
        <p:spPr>
          <a:xfrm>
            <a:off x="3532368" y="742295"/>
            <a:ext cx="4647536" cy="4401205"/>
          </a:xfrm>
          <a:prstGeom prst="rect">
            <a:avLst/>
          </a:prstGeom>
          <a:solidFill>
            <a:schemeClr val="accent1">
              <a:lumMod val="40000"/>
              <a:lumOff val="60000"/>
            </a:schemeClr>
          </a:solidFill>
        </p:spPr>
        <p:txBody>
          <a:bodyPr wrap="square">
            <a:spAutoFit/>
          </a:bodyPr>
          <a:lstStyle/>
          <a:p>
            <a:pPr>
              <a:buNone/>
            </a:pPr>
            <a:r>
              <a:rPr lang="en-GB" b="1" dirty="0">
                <a:solidFill>
                  <a:srgbClr val="6B0001"/>
                </a:solidFill>
                <a:effectLst/>
                <a:latin typeface="Courier" panose="02070309020205020404" pitchFamily="49" charset="0"/>
              </a:rPr>
              <a:t>class</a:t>
            </a:r>
            <a:r>
              <a:rPr lang="en-GB" dirty="0">
                <a:solidFill>
                  <a:srgbClr val="1C1C1C"/>
                </a:solidFill>
                <a:effectLst/>
                <a:latin typeface="Courier" panose="02070309020205020404" pitchFamily="49" charset="0"/>
              </a:rPr>
              <a:t> Classifier(</a:t>
            </a:r>
            <a:r>
              <a:rPr lang="en-GB" dirty="0" err="1">
                <a:solidFill>
                  <a:srgbClr val="1C1C1C"/>
                </a:solidFill>
                <a:effectLst/>
                <a:latin typeface="Courier" panose="02070309020205020404" pitchFamily="49" charset="0"/>
              </a:rPr>
              <a:t>keras.Model</a:t>
            </a:r>
            <a:r>
              <a:rPr lang="en-GB" dirty="0">
                <a:solidFill>
                  <a:srgbClr val="1C1C1C"/>
                </a:solidFill>
                <a:effectLst/>
                <a:latin typeface="Courier" panose="02070309020205020404" pitchFamily="49" charset="0"/>
              </a:rPr>
              <a:t>):</a:t>
            </a:r>
          </a:p>
          <a:p>
            <a:pPr>
              <a:buNone/>
            </a:pPr>
            <a:r>
              <a:rPr lang="en-GB" b="1" dirty="0">
                <a:solidFill>
                  <a:srgbClr val="6B0001"/>
                </a:solidFill>
                <a:effectLst/>
                <a:latin typeface="Courier" panose="02070309020205020404" pitchFamily="49" charset="0"/>
              </a:rPr>
              <a:t>def</a:t>
            </a:r>
            <a:r>
              <a:rPr lang="en-GB" dirty="0">
                <a:solidFill>
                  <a:srgbClr val="1C1C1C"/>
                </a:solidFill>
                <a:effectLst/>
                <a:latin typeface="Courier" panose="02070309020205020404" pitchFamily="49" charset="0"/>
              </a:rPr>
              <a:t> __</a:t>
            </a:r>
            <a:r>
              <a:rPr lang="en-GB" dirty="0" err="1">
                <a:solidFill>
                  <a:srgbClr val="1C1C1C"/>
                </a:solidFill>
                <a:effectLst/>
                <a:latin typeface="Courier" panose="02070309020205020404" pitchFamily="49" charset="0"/>
              </a:rPr>
              <a:t>init</a:t>
            </a:r>
            <a:r>
              <a:rPr lang="en-GB" dirty="0">
                <a:solidFill>
                  <a:srgbClr val="1C1C1C"/>
                </a:solidFill>
                <a:effectLst/>
                <a:latin typeface="Courier" panose="02070309020205020404" pitchFamily="49" charset="0"/>
              </a:rPr>
              <a:t>__(self, </a:t>
            </a:r>
            <a:r>
              <a:rPr lang="en-GB" dirty="0" err="1">
                <a:solidFill>
                  <a:srgbClr val="1C1C1C"/>
                </a:solidFill>
                <a:effectLst/>
                <a:latin typeface="Courier" panose="02070309020205020404" pitchFamily="49" charset="0"/>
              </a:rPr>
              <a:t>num_classes</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2</a:t>
            </a:r>
            <a:r>
              <a:rPr lang="en-GB" dirty="0">
                <a:solidFill>
                  <a:srgbClr val="1C1C1C"/>
                </a:solidFill>
                <a:effectLst/>
                <a:latin typeface="Courier" panose="02070309020205020404" pitchFamily="49" charset="0"/>
              </a:rPr>
              <a:t>):</a:t>
            </a:r>
          </a:p>
          <a:p>
            <a:pPr>
              <a:buNone/>
            </a:pPr>
            <a:r>
              <a:rPr lang="en-GB" dirty="0">
                <a:solidFill>
                  <a:srgbClr val="1C1C1C"/>
                </a:solidFill>
                <a:effectLst/>
                <a:latin typeface="Courier" panose="02070309020205020404" pitchFamily="49" charset="0"/>
              </a:rPr>
              <a:t>super().__</a:t>
            </a:r>
            <a:r>
              <a:rPr lang="en-GB" dirty="0" err="1">
                <a:solidFill>
                  <a:srgbClr val="1C1C1C"/>
                </a:solidFill>
                <a:effectLst/>
                <a:latin typeface="Courier" panose="02070309020205020404" pitchFamily="49" charset="0"/>
              </a:rPr>
              <a:t>init</a:t>
            </a:r>
            <a:r>
              <a:rPr lang="en-GB" dirty="0">
                <a:solidFill>
                  <a:srgbClr val="1C1C1C"/>
                </a:solidFill>
                <a:effectLst/>
                <a:latin typeface="Courier" panose="02070309020205020404" pitchFamily="49" charset="0"/>
              </a:rPr>
              <a:t>__()</a:t>
            </a:r>
          </a:p>
          <a:p>
            <a:pPr>
              <a:buNone/>
            </a:pPr>
            <a:r>
              <a:rPr lang="en-GB" b="1" dirty="0">
                <a:solidFill>
                  <a:srgbClr val="6B0001"/>
                </a:solidFill>
                <a:effectLst/>
                <a:latin typeface="Courier" panose="02070309020205020404" pitchFamily="49" charset="0"/>
              </a:rPr>
              <a:t>if</a:t>
            </a:r>
            <a:r>
              <a:rPr lang="en-GB" dirty="0">
                <a:solidFill>
                  <a:srgbClr val="1C1C1C"/>
                </a:solidFill>
                <a:effectLst/>
                <a:latin typeface="Courier" panose="02070309020205020404" pitchFamily="49" charset="0"/>
              </a:rPr>
              <a:t> </a:t>
            </a:r>
            <a:r>
              <a:rPr lang="en-GB" dirty="0" err="1">
                <a:solidFill>
                  <a:srgbClr val="1C1C1C"/>
                </a:solidFill>
                <a:effectLst/>
                <a:latin typeface="Courier" panose="02070309020205020404" pitchFamily="49" charset="0"/>
              </a:rPr>
              <a:t>num_classes</a:t>
            </a:r>
            <a:r>
              <a:rPr lang="en-GB" dirty="0">
                <a:solidFill>
                  <a:srgbClr val="1C1C1C"/>
                </a:solidFill>
                <a:effectLst/>
                <a:latin typeface="Courier" panose="02070309020205020404" pitchFamily="49" charset="0"/>
              </a:rPr>
              <a:t> == </a:t>
            </a:r>
            <a:r>
              <a:rPr lang="en-GB" dirty="0">
                <a:solidFill>
                  <a:srgbClr val="0000E0"/>
                </a:solidFill>
                <a:effectLst/>
                <a:latin typeface="Courier" panose="02070309020205020404" pitchFamily="49" charset="0"/>
              </a:rPr>
              <a:t>2</a:t>
            </a:r>
            <a:r>
              <a:rPr lang="en-GB" dirty="0">
                <a:solidFill>
                  <a:srgbClr val="1C1C1C"/>
                </a:solidFill>
                <a:effectLst/>
                <a:latin typeface="Courier" panose="02070309020205020404" pitchFamily="49" charset="0"/>
              </a:rPr>
              <a:t>:</a:t>
            </a:r>
          </a:p>
          <a:p>
            <a:pPr>
              <a:buNone/>
            </a:pPr>
            <a:r>
              <a:rPr lang="en-GB" dirty="0" err="1">
                <a:solidFill>
                  <a:srgbClr val="1C1C1C"/>
                </a:solidFill>
                <a:effectLst/>
                <a:latin typeface="Courier" panose="02070309020205020404" pitchFamily="49" charset="0"/>
              </a:rPr>
              <a:t>num_units</a:t>
            </a:r>
            <a:r>
              <a:rPr lang="en-GB" dirty="0">
                <a:solidFill>
                  <a:srgbClr val="1C1C1C"/>
                </a:solidFill>
                <a:effectLst/>
                <a:latin typeface="Courier" panose="02070309020205020404" pitchFamily="49" charset="0"/>
              </a:rPr>
              <a:t> = </a:t>
            </a:r>
            <a:r>
              <a:rPr lang="en-GB" dirty="0">
                <a:solidFill>
                  <a:srgbClr val="0000E0"/>
                </a:solidFill>
                <a:effectLst/>
                <a:latin typeface="Courier" panose="02070309020205020404" pitchFamily="49" charset="0"/>
              </a:rPr>
              <a:t>1</a:t>
            </a:r>
            <a:endParaRPr lang="en-GB" dirty="0">
              <a:solidFill>
                <a:srgbClr val="1C1C1C"/>
              </a:solidFill>
              <a:effectLst/>
              <a:latin typeface="Courier" panose="02070309020205020404" pitchFamily="49" charset="0"/>
            </a:endParaRPr>
          </a:p>
          <a:p>
            <a:pPr>
              <a:buNone/>
            </a:pPr>
            <a:r>
              <a:rPr lang="en-GB" dirty="0">
                <a:solidFill>
                  <a:srgbClr val="1C1C1C"/>
                </a:solidFill>
                <a:effectLst/>
                <a:latin typeface="Courier" panose="02070309020205020404" pitchFamily="49" charset="0"/>
              </a:rPr>
              <a:t>activation = </a:t>
            </a:r>
            <a:r>
              <a:rPr lang="en-GB" dirty="0">
                <a:solidFill>
                  <a:srgbClr val="1E7B19"/>
                </a:solidFill>
                <a:effectLst/>
                <a:latin typeface="Courier" panose="02070309020205020404" pitchFamily="49" charset="0"/>
              </a:rPr>
              <a:t>"sigmoid"</a:t>
            </a:r>
            <a:endParaRPr lang="en-GB" dirty="0">
              <a:solidFill>
                <a:srgbClr val="1C1C1C"/>
              </a:solidFill>
              <a:effectLst/>
              <a:latin typeface="Courier" panose="02070309020205020404" pitchFamily="49" charset="0"/>
            </a:endParaRPr>
          </a:p>
          <a:p>
            <a:pPr>
              <a:buNone/>
            </a:pPr>
            <a:r>
              <a:rPr lang="en-GB" b="1" dirty="0">
                <a:solidFill>
                  <a:srgbClr val="6B0001"/>
                </a:solidFill>
                <a:effectLst/>
                <a:latin typeface="Courier" panose="02070309020205020404" pitchFamily="49" charset="0"/>
              </a:rPr>
              <a:t>else</a:t>
            </a:r>
            <a:r>
              <a:rPr lang="en-GB" dirty="0">
                <a:solidFill>
                  <a:srgbClr val="1C1C1C"/>
                </a:solidFill>
                <a:effectLst/>
                <a:latin typeface="Courier" panose="02070309020205020404" pitchFamily="49" charset="0"/>
              </a:rPr>
              <a:t>:</a:t>
            </a:r>
            <a:endParaRPr lang="en-GB" dirty="0">
              <a:solidFill>
                <a:srgbClr val="6B0001"/>
              </a:solidFill>
              <a:effectLst/>
              <a:latin typeface="Courier" panose="02070309020205020404" pitchFamily="49" charset="0"/>
            </a:endParaRPr>
          </a:p>
          <a:p>
            <a:pPr>
              <a:buNone/>
            </a:pPr>
            <a:r>
              <a:rPr lang="en-GB" dirty="0" err="1">
                <a:solidFill>
                  <a:srgbClr val="1C1C1C"/>
                </a:solidFill>
                <a:effectLst/>
                <a:latin typeface="Courier" panose="02070309020205020404" pitchFamily="49" charset="0"/>
              </a:rPr>
              <a:t>num_units</a:t>
            </a:r>
            <a:r>
              <a:rPr lang="en-GB" dirty="0">
                <a:solidFill>
                  <a:srgbClr val="1C1C1C"/>
                </a:solidFill>
                <a:effectLst/>
                <a:latin typeface="Courier" panose="02070309020205020404" pitchFamily="49" charset="0"/>
              </a:rPr>
              <a:t> = </a:t>
            </a:r>
            <a:r>
              <a:rPr lang="en-GB" dirty="0" err="1">
                <a:solidFill>
                  <a:srgbClr val="1C1C1C"/>
                </a:solidFill>
                <a:effectLst/>
                <a:latin typeface="Courier" panose="02070309020205020404" pitchFamily="49" charset="0"/>
              </a:rPr>
              <a:t>num_classes</a:t>
            </a:r>
            <a:endParaRPr lang="en-GB" dirty="0">
              <a:solidFill>
                <a:srgbClr val="1C1C1C"/>
              </a:solidFill>
              <a:effectLst/>
              <a:latin typeface="Courier" panose="02070309020205020404" pitchFamily="49" charset="0"/>
            </a:endParaRPr>
          </a:p>
          <a:p>
            <a:pPr>
              <a:buNone/>
            </a:pPr>
            <a:r>
              <a:rPr lang="en-GB" dirty="0">
                <a:solidFill>
                  <a:srgbClr val="1C1C1C"/>
                </a:solidFill>
                <a:effectLst/>
                <a:latin typeface="Courier" panose="02070309020205020404" pitchFamily="49" charset="0"/>
              </a:rPr>
              <a:t>activation = </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softmax</a:t>
            </a:r>
            <a:r>
              <a:rPr lang="en-GB" dirty="0">
                <a:solidFill>
                  <a:srgbClr val="1E7B19"/>
                </a:solidFill>
                <a:effectLst/>
                <a:latin typeface="Courier" panose="02070309020205020404" pitchFamily="49" charset="0"/>
              </a:rPr>
              <a:t>"</a:t>
            </a:r>
            <a:endParaRPr lang="en-GB" dirty="0">
              <a:solidFill>
                <a:srgbClr val="1C1C1C"/>
              </a:solidFill>
              <a:effectLst/>
              <a:latin typeface="Courier" panose="02070309020205020404" pitchFamily="49" charset="0"/>
            </a:endParaRPr>
          </a:p>
          <a:p>
            <a:pPr>
              <a:buNone/>
            </a:pPr>
            <a:r>
              <a:rPr lang="en-GB" dirty="0" err="1">
                <a:solidFill>
                  <a:srgbClr val="1C1C1C"/>
                </a:solidFill>
                <a:effectLst/>
                <a:latin typeface="Courier" panose="02070309020205020404" pitchFamily="49" charset="0"/>
              </a:rPr>
              <a:t>self.dense</a:t>
            </a:r>
            <a:r>
              <a:rPr lang="en-GB" dirty="0">
                <a:solidFill>
                  <a:srgbClr val="1C1C1C"/>
                </a:solidFill>
                <a:effectLst/>
                <a:latin typeface="Courier" panose="02070309020205020404" pitchFamily="49" charset="0"/>
              </a:rPr>
              <a:t> = </a:t>
            </a:r>
            <a:r>
              <a:rPr lang="en-GB" dirty="0" err="1">
                <a:solidFill>
                  <a:srgbClr val="1C1C1C"/>
                </a:solidFill>
                <a:effectLst/>
                <a:latin typeface="Courier" panose="02070309020205020404" pitchFamily="49" charset="0"/>
              </a:rPr>
              <a:t>layers.Dense</a:t>
            </a:r>
            <a:r>
              <a:rPr lang="en-GB" dirty="0">
                <a:solidFill>
                  <a:srgbClr val="1C1C1C"/>
                </a:solidFill>
                <a:effectLst/>
                <a:latin typeface="Courier" panose="02070309020205020404" pitchFamily="49" charset="0"/>
              </a:rPr>
              <a:t>(</a:t>
            </a:r>
            <a:r>
              <a:rPr lang="en-GB" dirty="0" err="1">
                <a:solidFill>
                  <a:srgbClr val="1C1C1C"/>
                </a:solidFill>
                <a:effectLst/>
                <a:latin typeface="Courier" panose="02070309020205020404" pitchFamily="49" charset="0"/>
              </a:rPr>
              <a:t>num_units</a:t>
            </a:r>
            <a:r>
              <a:rPr lang="en-GB" dirty="0">
                <a:solidFill>
                  <a:srgbClr val="1C1C1C"/>
                </a:solidFill>
                <a:effectLst/>
                <a:latin typeface="Courier" panose="02070309020205020404" pitchFamily="49" charset="0"/>
              </a:rPr>
              <a:t>, activation=activation)</a:t>
            </a:r>
          </a:p>
          <a:p>
            <a:pPr>
              <a:buNone/>
            </a:pPr>
            <a:r>
              <a:rPr lang="en-GB" b="1" dirty="0">
                <a:solidFill>
                  <a:srgbClr val="6B0001"/>
                </a:solidFill>
                <a:effectLst/>
                <a:latin typeface="Courier" panose="02070309020205020404" pitchFamily="49" charset="0"/>
              </a:rPr>
              <a:t>def</a:t>
            </a:r>
            <a:r>
              <a:rPr lang="en-GB" dirty="0">
                <a:solidFill>
                  <a:srgbClr val="1C1C1C"/>
                </a:solidFill>
                <a:effectLst/>
                <a:latin typeface="Courier" panose="02070309020205020404" pitchFamily="49" charset="0"/>
              </a:rPr>
              <a:t> call(self, inputs):</a:t>
            </a:r>
          </a:p>
          <a:p>
            <a:pPr>
              <a:buNone/>
            </a:pPr>
            <a:r>
              <a:rPr lang="en-GB" b="1" dirty="0">
                <a:solidFill>
                  <a:srgbClr val="6B0001"/>
                </a:solidFill>
                <a:effectLst/>
                <a:latin typeface="Courier" panose="02070309020205020404" pitchFamily="49" charset="0"/>
              </a:rPr>
              <a:t>return</a:t>
            </a:r>
            <a:r>
              <a:rPr lang="en-GB" dirty="0">
                <a:solidFill>
                  <a:srgbClr val="1C1C1C"/>
                </a:solidFill>
                <a:effectLst/>
                <a:latin typeface="Courier" panose="02070309020205020404" pitchFamily="49" charset="0"/>
              </a:rPr>
              <a:t> </a:t>
            </a:r>
            <a:r>
              <a:rPr lang="en-GB" dirty="0" err="1">
                <a:solidFill>
                  <a:srgbClr val="1C1C1C"/>
                </a:solidFill>
                <a:effectLst/>
                <a:latin typeface="Courier" panose="02070309020205020404" pitchFamily="49" charset="0"/>
              </a:rPr>
              <a:t>self.dense</a:t>
            </a:r>
            <a:r>
              <a:rPr lang="en-GB" dirty="0">
                <a:solidFill>
                  <a:srgbClr val="1C1C1C"/>
                </a:solidFill>
                <a:effectLst/>
                <a:latin typeface="Courier" panose="02070309020205020404" pitchFamily="49" charset="0"/>
              </a:rPr>
              <a:t>(inputs)</a:t>
            </a:r>
          </a:p>
          <a:p>
            <a:pPr>
              <a:buNone/>
            </a:pPr>
            <a:r>
              <a:rPr lang="en-GB" dirty="0">
                <a:solidFill>
                  <a:srgbClr val="1C1C1C"/>
                </a:solidFill>
                <a:effectLst/>
                <a:latin typeface="Courier" panose="02070309020205020404" pitchFamily="49" charset="0"/>
              </a:rPr>
              <a:t>inputs = </a:t>
            </a:r>
            <a:r>
              <a:rPr lang="en-GB" dirty="0" err="1">
                <a:solidFill>
                  <a:srgbClr val="1C1C1C"/>
                </a:solidFill>
                <a:effectLst/>
                <a:latin typeface="Courier" panose="02070309020205020404" pitchFamily="49" charset="0"/>
              </a:rPr>
              <a:t>keras.Input</a:t>
            </a:r>
            <a:r>
              <a:rPr lang="en-GB" dirty="0">
                <a:solidFill>
                  <a:srgbClr val="1C1C1C"/>
                </a:solidFill>
                <a:effectLst/>
                <a:latin typeface="Courier" panose="02070309020205020404" pitchFamily="49" charset="0"/>
              </a:rPr>
              <a:t>(shape=(</a:t>
            </a:r>
            <a:r>
              <a:rPr lang="en-GB" dirty="0">
                <a:solidFill>
                  <a:srgbClr val="0000E0"/>
                </a:solidFill>
                <a:effectLst/>
                <a:latin typeface="Courier" panose="02070309020205020404" pitchFamily="49" charset="0"/>
              </a:rPr>
              <a:t>3</a:t>
            </a:r>
            <a:r>
              <a:rPr lang="en-GB" dirty="0">
                <a:solidFill>
                  <a:srgbClr val="1C1C1C"/>
                </a:solidFill>
                <a:effectLst/>
                <a:latin typeface="Courier" panose="02070309020205020404" pitchFamily="49" charset="0"/>
              </a:rPr>
              <a:t>,))</a:t>
            </a:r>
          </a:p>
          <a:p>
            <a:pPr>
              <a:buNone/>
            </a:pPr>
            <a:r>
              <a:rPr lang="en-GB" dirty="0">
                <a:solidFill>
                  <a:srgbClr val="1C1C1C"/>
                </a:solidFill>
                <a:effectLst/>
                <a:latin typeface="Courier" panose="02070309020205020404" pitchFamily="49" charset="0"/>
              </a:rPr>
              <a:t>features = </a:t>
            </a:r>
            <a:r>
              <a:rPr lang="en-GB" dirty="0" err="1">
                <a:solidFill>
                  <a:srgbClr val="1C1C1C"/>
                </a:solidFill>
                <a:effectLst/>
                <a:latin typeface="Courier" panose="02070309020205020404" pitchFamily="49" charset="0"/>
              </a:rPr>
              <a:t>layers.Dense</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1C1C1C"/>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1C1C1C"/>
                </a:solidFill>
                <a:effectLst/>
                <a:latin typeface="Courier" panose="02070309020205020404" pitchFamily="49" charset="0"/>
              </a:rPr>
              <a:t>)(inputs)</a:t>
            </a:r>
          </a:p>
          <a:p>
            <a:pPr>
              <a:buNone/>
            </a:pPr>
            <a:r>
              <a:rPr lang="en-GB" dirty="0">
                <a:solidFill>
                  <a:srgbClr val="1C1C1C"/>
                </a:solidFill>
                <a:effectLst/>
                <a:latin typeface="Courier" panose="02070309020205020404" pitchFamily="49" charset="0"/>
              </a:rPr>
              <a:t>outputs = Classifier(</a:t>
            </a:r>
            <a:r>
              <a:rPr lang="en-GB" dirty="0" err="1">
                <a:solidFill>
                  <a:srgbClr val="1C1C1C"/>
                </a:solidFill>
                <a:effectLst/>
                <a:latin typeface="Courier" panose="02070309020205020404" pitchFamily="49" charset="0"/>
              </a:rPr>
              <a:t>num_classes</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10</a:t>
            </a:r>
            <a:r>
              <a:rPr lang="en-GB" dirty="0">
                <a:solidFill>
                  <a:srgbClr val="1C1C1C"/>
                </a:solidFill>
                <a:effectLst/>
                <a:latin typeface="Courier" panose="02070309020205020404" pitchFamily="49" charset="0"/>
              </a:rPr>
              <a:t>)(features)</a:t>
            </a:r>
          </a:p>
          <a:p>
            <a:r>
              <a:rPr lang="en-GB" dirty="0">
                <a:solidFill>
                  <a:srgbClr val="1C1C1C"/>
                </a:solidFill>
                <a:effectLst/>
                <a:latin typeface="Courier" panose="02070309020205020404" pitchFamily="49" charset="0"/>
              </a:rPr>
              <a:t>model = </a:t>
            </a:r>
            <a:r>
              <a:rPr lang="en-GB" dirty="0" err="1">
                <a:solidFill>
                  <a:srgbClr val="1C1C1C"/>
                </a:solidFill>
                <a:effectLst/>
                <a:latin typeface="Courier" panose="02070309020205020404" pitchFamily="49" charset="0"/>
              </a:rPr>
              <a:t>keras.Model</a:t>
            </a:r>
            <a:r>
              <a:rPr lang="en-GB" dirty="0">
                <a:solidFill>
                  <a:srgbClr val="1C1C1C"/>
                </a:solidFill>
                <a:effectLst/>
                <a:latin typeface="Courier" panose="02070309020205020404" pitchFamily="49" charset="0"/>
              </a:rPr>
              <a:t>(inputs=inputs, outputs=outputs)</a:t>
            </a:r>
          </a:p>
        </p:txBody>
      </p:sp>
    </p:spTree>
    <p:extLst>
      <p:ext uri="{BB962C8B-B14F-4D97-AF65-F5344CB8AC3E}">
        <p14:creationId xmlns:p14="http://schemas.microsoft.com/office/powerpoint/2010/main" val="991146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4A63BC0-935D-3636-438B-164B18A597F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1E70058-C284-26F1-7076-BCD6E6FADFEF}"/>
              </a:ext>
            </a:extLst>
          </p:cNvPr>
          <p:cNvSpPr txBox="1">
            <a:spLocks noGrp="1"/>
          </p:cNvSpPr>
          <p:nvPr>
            <p:ph type="title"/>
          </p:nvPr>
        </p:nvSpPr>
        <p:spPr>
          <a:xfrm>
            <a:off x="303808" y="-44741"/>
            <a:ext cx="8329650" cy="627900"/>
          </a:xfrm>
          <a:prstGeom prst="rect">
            <a:avLst/>
          </a:prstGeom>
          <a:noFill/>
          <a:ln>
            <a:noFill/>
          </a:ln>
        </p:spPr>
        <p:txBody>
          <a:bodyPr spcFirstLastPara="1" wrap="square" lIns="91425" tIns="91425" rIns="91425" bIns="91425" anchor="t" anchorCtr="0">
            <a:normAutofit fontScale="90000"/>
          </a:bodyPr>
          <a:lstStyle/>
          <a:p>
            <a:r>
              <a:rPr lang="en-GB" sz="3200" dirty="0">
                <a:solidFill>
                  <a:srgbClr val="7030A0"/>
                </a:solidFill>
                <a:effectLst/>
                <a:latin typeface="Helvetica" pitchFamily="2" charset="0"/>
              </a:rPr>
              <a:t>Mixing and matching different components</a:t>
            </a:r>
            <a:br>
              <a:rPr lang="en-GB" sz="3200" dirty="0">
                <a:solidFill>
                  <a:srgbClr val="7030A0"/>
                </a:solidFill>
                <a:effectLst/>
                <a:latin typeface="Helvetica" pitchFamily="2" charset="0"/>
              </a:rPr>
            </a:br>
            <a:br>
              <a:rPr lang="en-GB" sz="3200" dirty="0">
                <a:solidFill>
                  <a:srgbClr val="7030A0"/>
                </a:solidFill>
                <a:effectLst/>
                <a:latin typeface="Helvetica" pitchFamily="2" charset="0"/>
              </a:rPr>
            </a:br>
            <a:br>
              <a:rPr lang="en-GB" sz="3200" dirty="0">
                <a:solidFill>
                  <a:srgbClr val="7030A0"/>
                </a:solidFill>
                <a:effectLst/>
                <a:latin typeface="Helvetica" pitchFamily="2" charset="0"/>
              </a:rPr>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1251195-31EF-8496-62E6-6613D89DBA3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A539F7C-C146-9608-6404-D1C9250D2CEA}"/>
              </a:ext>
            </a:extLst>
          </p:cNvPr>
          <p:cNvSpPr txBox="1"/>
          <p:nvPr/>
        </p:nvSpPr>
        <p:spPr>
          <a:xfrm>
            <a:off x="470785" y="742295"/>
            <a:ext cx="6900073" cy="523220"/>
          </a:xfrm>
          <a:prstGeom prst="rect">
            <a:avLst/>
          </a:prstGeom>
          <a:noFill/>
        </p:spPr>
        <p:txBody>
          <a:bodyPr wrap="square">
            <a:spAutoFit/>
          </a:bodyPr>
          <a:lstStyle/>
          <a:p>
            <a:pPr>
              <a:buNone/>
            </a:pPr>
            <a:r>
              <a:rPr lang="en-GB" dirty="0">
                <a:solidFill>
                  <a:srgbClr val="1C1C1C"/>
                </a:solidFill>
                <a:effectLst/>
                <a:latin typeface="Helvetica" pitchFamily="2" charset="0"/>
              </a:rPr>
              <a:t>Inversely, you can use a Functional model as part of a subclassed layer or model.</a:t>
            </a:r>
          </a:p>
          <a:p>
            <a:pPr>
              <a:buNone/>
            </a:pPr>
            <a:r>
              <a:rPr lang="en-GB" b="1" dirty="0">
                <a:solidFill>
                  <a:schemeClr val="tx1"/>
                </a:solidFill>
                <a:effectLst/>
                <a:latin typeface="Helvetica" pitchFamily="2" charset="0"/>
              </a:rPr>
              <a:t>Creating a subclassed model that includes a Functional model</a:t>
            </a:r>
          </a:p>
        </p:txBody>
      </p:sp>
      <p:sp>
        <p:nvSpPr>
          <p:cNvPr id="3" name="TextBox 2">
            <a:extLst>
              <a:ext uri="{FF2B5EF4-FFF2-40B4-BE49-F238E27FC236}">
                <a16:creationId xmlns:a16="http://schemas.microsoft.com/office/drawing/2014/main" id="{1A5C1E2A-D32A-8048-803E-00CF3E1BACFC}"/>
              </a:ext>
            </a:extLst>
          </p:cNvPr>
          <p:cNvSpPr txBox="1"/>
          <p:nvPr/>
        </p:nvSpPr>
        <p:spPr>
          <a:xfrm>
            <a:off x="403859" y="1424651"/>
            <a:ext cx="8229599" cy="2893100"/>
          </a:xfrm>
          <a:prstGeom prst="rect">
            <a:avLst/>
          </a:prstGeom>
          <a:solidFill>
            <a:schemeClr val="accent1">
              <a:lumMod val="40000"/>
              <a:lumOff val="60000"/>
            </a:schemeClr>
          </a:solidFill>
        </p:spPr>
        <p:txBody>
          <a:bodyPr wrap="square">
            <a:spAutoFit/>
          </a:bodyPr>
          <a:lstStyle/>
          <a:p>
            <a:pPr>
              <a:buNone/>
            </a:pPr>
            <a:r>
              <a:rPr lang="en-GB" dirty="0">
                <a:solidFill>
                  <a:srgbClr val="1C1C1C"/>
                </a:solidFill>
                <a:effectLst/>
                <a:latin typeface="Courier" panose="02070309020205020404" pitchFamily="49" charset="0"/>
              </a:rPr>
              <a:t>inputs = </a:t>
            </a:r>
            <a:r>
              <a:rPr lang="en-GB" dirty="0" err="1">
                <a:solidFill>
                  <a:srgbClr val="1C1C1C"/>
                </a:solidFill>
                <a:effectLst/>
                <a:latin typeface="Courier" panose="02070309020205020404" pitchFamily="49" charset="0"/>
              </a:rPr>
              <a:t>keras.Input</a:t>
            </a:r>
            <a:r>
              <a:rPr lang="en-GB" dirty="0">
                <a:solidFill>
                  <a:srgbClr val="1C1C1C"/>
                </a:solidFill>
                <a:effectLst/>
                <a:latin typeface="Courier" panose="02070309020205020404" pitchFamily="49" charset="0"/>
              </a:rPr>
              <a:t>(shape=(</a:t>
            </a:r>
            <a:r>
              <a:rPr lang="en-GB" dirty="0">
                <a:solidFill>
                  <a:srgbClr val="0000E0"/>
                </a:solidFill>
                <a:effectLst/>
                <a:latin typeface="Courier" panose="02070309020205020404" pitchFamily="49" charset="0"/>
              </a:rPr>
              <a:t>64</a:t>
            </a:r>
            <a:r>
              <a:rPr lang="en-GB" dirty="0">
                <a:solidFill>
                  <a:srgbClr val="1C1C1C"/>
                </a:solidFill>
                <a:effectLst/>
                <a:latin typeface="Courier" panose="02070309020205020404" pitchFamily="49" charset="0"/>
              </a:rPr>
              <a:t>,))</a:t>
            </a:r>
          </a:p>
          <a:p>
            <a:pPr>
              <a:buNone/>
            </a:pPr>
            <a:r>
              <a:rPr lang="en-GB" dirty="0">
                <a:solidFill>
                  <a:srgbClr val="1C1C1C"/>
                </a:solidFill>
                <a:effectLst/>
                <a:latin typeface="Courier" panose="02070309020205020404" pitchFamily="49" charset="0"/>
              </a:rPr>
              <a:t>outputs = </a:t>
            </a:r>
            <a:r>
              <a:rPr lang="en-GB" dirty="0" err="1">
                <a:solidFill>
                  <a:srgbClr val="1C1C1C"/>
                </a:solidFill>
                <a:effectLst/>
                <a:latin typeface="Courier" panose="02070309020205020404" pitchFamily="49" charset="0"/>
              </a:rPr>
              <a:t>layers.Dense</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1</a:t>
            </a:r>
            <a:r>
              <a:rPr lang="en-GB" dirty="0">
                <a:solidFill>
                  <a:srgbClr val="1C1C1C"/>
                </a:solidFill>
                <a:effectLst/>
                <a:latin typeface="Courier" panose="02070309020205020404" pitchFamily="49" charset="0"/>
              </a:rPr>
              <a:t>, activation=</a:t>
            </a:r>
            <a:r>
              <a:rPr lang="en-GB" dirty="0">
                <a:solidFill>
                  <a:srgbClr val="1E7B19"/>
                </a:solidFill>
                <a:effectLst/>
                <a:latin typeface="Courier" panose="02070309020205020404" pitchFamily="49" charset="0"/>
              </a:rPr>
              <a:t>"sigmoid"</a:t>
            </a:r>
            <a:r>
              <a:rPr lang="en-GB" dirty="0">
                <a:solidFill>
                  <a:srgbClr val="1C1C1C"/>
                </a:solidFill>
                <a:effectLst/>
                <a:latin typeface="Courier" panose="02070309020205020404" pitchFamily="49" charset="0"/>
              </a:rPr>
              <a:t>)(inputs)</a:t>
            </a:r>
          </a:p>
          <a:p>
            <a:r>
              <a:rPr lang="en-GB" dirty="0" err="1">
                <a:solidFill>
                  <a:srgbClr val="1C1C1C"/>
                </a:solidFill>
                <a:effectLst/>
                <a:latin typeface="Courier" panose="02070309020205020404" pitchFamily="49" charset="0"/>
              </a:rPr>
              <a:t>binary_classifier</a:t>
            </a:r>
            <a:r>
              <a:rPr lang="en-GB" dirty="0">
                <a:solidFill>
                  <a:srgbClr val="1C1C1C"/>
                </a:solidFill>
                <a:effectLst/>
                <a:latin typeface="Courier" panose="02070309020205020404" pitchFamily="49" charset="0"/>
              </a:rPr>
              <a:t> = </a:t>
            </a:r>
            <a:r>
              <a:rPr lang="en-GB" dirty="0" err="1">
                <a:solidFill>
                  <a:srgbClr val="1C1C1C"/>
                </a:solidFill>
                <a:effectLst/>
                <a:latin typeface="Courier" panose="02070309020205020404" pitchFamily="49" charset="0"/>
              </a:rPr>
              <a:t>keras.Model</a:t>
            </a:r>
            <a:r>
              <a:rPr lang="en-GB" dirty="0">
                <a:solidFill>
                  <a:srgbClr val="1C1C1C"/>
                </a:solidFill>
                <a:effectLst/>
                <a:latin typeface="Courier" panose="02070309020205020404" pitchFamily="49" charset="0"/>
              </a:rPr>
              <a:t>(inputs=inputs, outputs=outputs)</a:t>
            </a:r>
          </a:p>
          <a:p>
            <a:pPr>
              <a:buNone/>
            </a:pPr>
            <a:r>
              <a:rPr lang="en-GB" b="1" dirty="0">
                <a:solidFill>
                  <a:srgbClr val="6B0001"/>
                </a:solidFill>
                <a:effectLst/>
                <a:latin typeface="Courier" panose="02070309020205020404" pitchFamily="49" charset="0"/>
              </a:rPr>
              <a:t>class</a:t>
            </a:r>
            <a:r>
              <a:rPr lang="en-GB" dirty="0">
                <a:solidFill>
                  <a:srgbClr val="000000"/>
                </a:solidFill>
                <a:effectLst/>
                <a:latin typeface="Courier" panose="02070309020205020404" pitchFamily="49" charset="0"/>
              </a:rPr>
              <a:t> </a:t>
            </a:r>
            <a:r>
              <a:rPr lang="en-GB" dirty="0" err="1">
                <a:solidFill>
                  <a:srgbClr val="000000"/>
                </a:solidFill>
                <a:effectLst/>
                <a:latin typeface="Courier" panose="02070309020205020404" pitchFamily="49" charset="0"/>
              </a:rPr>
              <a:t>MyModel</a:t>
            </a:r>
            <a:r>
              <a:rPr lang="en-GB" dirty="0">
                <a:solidFill>
                  <a:srgbClr val="000000"/>
                </a:solidFill>
                <a:effectLst/>
                <a:latin typeface="Courier" panose="02070309020205020404" pitchFamily="49" charset="0"/>
              </a:rPr>
              <a:t>(</a:t>
            </a:r>
            <a:r>
              <a:rPr lang="en-GB" dirty="0" err="1">
                <a:solidFill>
                  <a:srgbClr val="000000"/>
                </a:solidFill>
                <a:effectLst/>
                <a:latin typeface="Courier" panose="02070309020205020404" pitchFamily="49" charset="0"/>
              </a:rPr>
              <a:t>keras.Model</a:t>
            </a:r>
            <a:r>
              <a:rPr lang="en-GB" dirty="0">
                <a:solidFill>
                  <a:srgbClr val="000000"/>
                </a:solidFill>
                <a:effectLst/>
                <a:latin typeface="Courier" panose="02070309020205020404" pitchFamily="49" charset="0"/>
              </a:rPr>
              <a:t>):</a:t>
            </a:r>
          </a:p>
          <a:p>
            <a:pPr>
              <a:buNone/>
            </a:pPr>
            <a:r>
              <a:rPr lang="en-GB" b="1" dirty="0">
                <a:solidFill>
                  <a:srgbClr val="6B0001"/>
                </a:solidFill>
                <a:effectLst/>
                <a:latin typeface="Courier" panose="02070309020205020404" pitchFamily="49" charset="0"/>
              </a:rPr>
              <a:t>def</a:t>
            </a:r>
            <a:r>
              <a:rPr lang="en-GB" dirty="0">
                <a:solidFill>
                  <a:srgbClr val="1C1C1C"/>
                </a:solidFill>
                <a:effectLst/>
                <a:latin typeface="Courier" panose="02070309020205020404" pitchFamily="49" charset="0"/>
              </a:rPr>
              <a:t> __</a:t>
            </a:r>
            <a:r>
              <a:rPr lang="en-GB" dirty="0" err="1">
                <a:solidFill>
                  <a:srgbClr val="1C1C1C"/>
                </a:solidFill>
                <a:effectLst/>
                <a:latin typeface="Courier" panose="02070309020205020404" pitchFamily="49" charset="0"/>
              </a:rPr>
              <a:t>init</a:t>
            </a:r>
            <a:r>
              <a:rPr lang="en-GB" dirty="0">
                <a:solidFill>
                  <a:srgbClr val="1C1C1C"/>
                </a:solidFill>
                <a:effectLst/>
                <a:latin typeface="Courier" panose="02070309020205020404" pitchFamily="49" charset="0"/>
              </a:rPr>
              <a:t>__(self, </a:t>
            </a:r>
            <a:r>
              <a:rPr lang="en-GB" dirty="0" err="1">
                <a:solidFill>
                  <a:srgbClr val="1C1C1C"/>
                </a:solidFill>
                <a:effectLst/>
                <a:latin typeface="Courier" panose="02070309020205020404" pitchFamily="49" charset="0"/>
              </a:rPr>
              <a:t>num_classes</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2</a:t>
            </a:r>
            <a:r>
              <a:rPr lang="en-GB" dirty="0">
                <a:solidFill>
                  <a:srgbClr val="1C1C1C"/>
                </a:solidFill>
                <a:effectLst/>
                <a:latin typeface="Courier" panose="02070309020205020404" pitchFamily="49" charset="0"/>
              </a:rPr>
              <a:t>):</a:t>
            </a:r>
          </a:p>
          <a:p>
            <a:pPr>
              <a:buNone/>
            </a:pPr>
            <a:r>
              <a:rPr lang="en-GB" dirty="0">
                <a:solidFill>
                  <a:srgbClr val="1C1C1C"/>
                </a:solidFill>
                <a:effectLst/>
                <a:latin typeface="Courier" panose="02070309020205020404" pitchFamily="49" charset="0"/>
              </a:rPr>
              <a:t>super().__</a:t>
            </a:r>
            <a:r>
              <a:rPr lang="en-GB" dirty="0" err="1">
                <a:solidFill>
                  <a:srgbClr val="1C1C1C"/>
                </a:solidFill>
                <a:effectLst/>
                <a:latin typeface="Courier" panose="02070309020205020404" pitchFamily="49" charset="0"/>
              </a:rPr>
              <a:t>init</a:t>
            </a:r>
            <a:r>
              <a:rPr lang="en-GB" dirty="0">
                <a:solidFill>
                  <a:srgbClr val="1C1C1C"/>
                </a:solidFill>
                <a:effectLst/>
                <a:latin typeface="Courier" panose="02070309020205020404" pitchFamily="49" charset="0"/>
              </a:rPr>
              <a:t>__()</a:t>
            </a:r>
          </a:p>
          <a:p>
            <a:pPr>
              <a:buNone/>
            </a:pPr>
            <a:r>
              <a:rPr lang="en-GB" dirty="0" err="1">
                <a:solidFill>
                  <a:srgbClr val="1C1C1C"/>
                </a:solidFill>
                <a:effectLst/>
                <a:latin typeface="Courier" panose="02070309020205020404" pitchFamily="49" charset="0"/>
              </a:rPr>
              <a:t>self.dense</a:t>
            </a:r>
            <a:r>
              <a:rPr lang="en-GB" dirty="0">
                <a:solidFill>
                  <a:srgbClr val="1C1C1C"/>
                </a:solidFill>
                <a:effectLst/>
                <a:latin typeface="Courier" panose="02070309020205020404" pitchFamily="49" charset="0"/>
              </a:rPr>
              <a:t> = </a:t>
            </a:r>
            <a:r>
              <a:rPr lang="en-GB" dirty="0" err="1">
                <a:solidFill>
                  <a:srgbClr val="1C1C1C"/>
                </a:solidFill>
                <a:effectLst/>
                <a:latin typeface="Courier" panose="02070309020205020404" pitchFamily="49" charset="0"/>
              </a:rPr>
              <a:t>layers.Dense</a:t>
            </a:r>
            <a:r>
              <a:rPr lang="en-GB" dirty="0">
                <a:solidFill>
                  <a:srgbClr val="1C1C1C"/>
                </a:solidFill>
                <a:effectLst/>
                <a:latin typeface="Courier" panose="02070309020205020404" pitchFamily="49" charset="0"/>
              </a:rPr>
              <a:t>(</a:t>
            </a:r>
            <a:r>
              <a:rPr lang="en-GB" dirty="0">
                <a:solidFill>
                  <a:srgbClr val="0000E0"/>
                </a:solidFill>
                <a:effectLst/>
                <a:latin typeface="Courier" panose="02070309020205020404" pitchFamily="49" charset="0"/>
              </a:rPr>
              <a:t>64</a:t>
            </a:r>
            <a:r>
              <a:rPr lang="en-GB" dirty="0">
                <a:solidFill>
                  <a:srgbClr val="1C1C1C"/>
                </a:solidFill>
                <a:effectLst/>
                <a:latin typeface="Courier" panose="02070309020205020404" pitchFamily="49" charset="0"/>
              </a:rPr>
              <a:t>, activation=</a:t>
            </a:r>
            <a:r>
              <a:rPr lang="en-GB" dirty="0">
                <a:solidFill>
                  <a:srgbClr val="1E7B19"/>
                </a:solidFill>
                <a:effectLst/>
                <a:latin typeface="Courier" panose="02070309020205020404" pitchFamily="49" charset="0"/>
              </a:rPr>
              <a:t>"</a:t>
            </a:r>
            <a:r>
              <a:rPr lang="en-GB" dirty="0" err="1">
                <a:solidFill>
                  <a:srgbClr val="1E7B19"/>
                </a:solidFill>
                <a:effectLst/>
                <a:latin typeface="Courier" panose="02070309020205020404" pitchFamily="49" charset="0"/>
              </a:rPr>
              <a:t>relu</a:t>
            </a:r>
            <a:r>
              <a:rPr lang="en-GB" dirty="0">
                <a:solidFill>
                  <a:srgbClr val="1E7B19"/>
                </a:solidFill>
                <a:effectLst/>
                <a:latin typeface="Courier" panose="02070309020205020404" pitchFamily="49" charset="0"/>
              </a:rPr>
              <a:t>"</a:t>
            </a:r>
            <a:r>
              <a:rPr lang="en-GB" dirty="0">
                <a:solidFill>
                  <a:srgbClr val="1C1C1C"/>
                </a:solidFill>
                <a:effectLst/>
                <a:latin typeface="Courier" panose="02070309020205020404" pitchFamily="49" charset="0"/>
              </a:rPr>
              <a:t>)</a:t>
            </a:r>
          </a:p>
          <a:p>
            <a:pPr>
              <a:buNone/>
            </a:pPr>
            <a:r>
              <a:rPr lang="en-GB" dirty="0" err="1">
                <a:solidFill>
                  <a:srgbClr val="1C1C1C"/>
                </a:solidFill>
                <a:effectLst/>
                <a:latin typeface="Courier" panose="02070309020205020404" pitchFamily="49" charset="0"/>
              </a:rPr>
              <a:t>self.classifier</a:t>
            </a:r>
            <a:r>
              <a:rPr lang="en-GB" dirty="0">
                <a:solidFill>
                  <a:srgbClr val="1C1C1C"/>
                </a:solidFill>
                <a:effectLst/>
                <a:latin typeface="Courier" panose="02070309020205020404" pitchFamily="49" charset="0"/>
              </a:rPr>
              <a:t> = </a:t>
            </a:r>
            <a:r>
              <a:rPr lang="en-GB" dirty="0" err="1">
                <a:solidFill>
                  <a:srgbClr val="1C1C1C"/>
                </a:solidFill>
                <a:effectLst/>
                <a:latin typeface="Courier" panose="02070309020205020404" pitchFamily="49" charset="0"/>
              </a:rPr>
              <a:t>binary_classifier</a:t>
            </a:r>
            <a:endParaRPr lang="en-GB" dirty="0">
              <a:solidFill>
                <a:srgbClr val="1C1C1C"/>
              </a:solidFill>
              <a:effectLst/>
              <a:latin typeface="Courier" panose="02070309020205020404" pitchFamily="49" charset="0"/>
            </a:endParaRPr>
          </a:p>
          <a:p>
            <a:pPr>
              <a:buNone/>
            </a:pPr>
            <a:r>
              <a:rPr lang="en-GB" b="1" dirty="0">
                <a:solidFill>
                  <a:srgbClr val="6B0001"/>
                </a:solidFill>
                <a:effectLst/>
                <a:latin typeface="Courier" panose="02070309020205020404" pitchFamily="49" charset="0"/>
              </a:rPr>
              <a:t>def</a:t>
            </a:r>
            <a:r>
              <a:rPr lang="en-GB" dirty="0">
                <a:solidFill>
                  <a:srgbClr val="1C1C1C"/>
                </a:solidFill>
                <a:effectLst/>
                <a:latin typeface="Courier" panose="02070309020205020404" pitchFamily="49" charset="0"/>
              </a:rPr>
              <a:t> call(self, inputs):</a:t>
            </a:r>
          </a:p>
          <a:p>
            <a:pPr>
              <a:buNone/>
            </a:pPr>
            <a:r>
              <a:rPr lang="en-GB" dirty="0">
                <a:solidFill>
                  <a:srgbClr val="1C1C1C"/>
                </a:solidFill>
                <a:effectLst/>
                <a:latin typeface="Courier" panose="02070309020205020404" pitchFamily="49" charset="0"/>
              </a:rPr>
              <a:t>features = </a:t>
            </a:r>
            <a:r>
              <a:rPr lang="en-GB" dirty="0" err="1">
                <a:solidFill>
                  <a:srgbClr val="1C1C1C"/>
                </a:solidFill>
                <a:effectLst/>
                <a:latin typeface="Courier" panose="02070309020205020404" pitchFamily="49" charset="0"/>
              </a:rPr>
              <a:t>self.dense</a:t>
            </a:r>
            <a:r>
              <a:rPr lang="en-GB" dirty="0">
                <a:solidFill>
                  <a:srgbClr val="1C1C1C"/>
                </a:solidFill>
                <a:effectLst/>
                <a:latin typeface="Courier" panose="02070309020205020404" pitchFamily="49" charset="0"/>
              </a:rPr>
              <a:t>(inputs)</a:t>
            </a:r>
          </a:p>
          <a:p>
            <a:pPr>
              <a:buNone/>
            </a:pPr>
            <a:r>
              <a:rPr lang="en-GB" b="1" dirty="0">
                <a:solidFill>
                  <a:srgbClr val="6B0001"/>
                </a:solidFill>
                <a:effectLst/>
                <a:latin typeface="Courier" panose="02070309020205020404" pitchFamily="49" charset="0"/>
              </a:rPr>
              <a:t>return</a:t>
            </a:r>
            <a:r>
              <a:rPr lang="en-GB" dirty="0">
                <a:solidFill>
                  <a:srgbClr val="1C1C1C"/>
                </a:solidFill>
                <a:effectLst/>
                <a:latin typeface="Courier" panose="02070309020205020404" pitchFamily="49" charset="0"/>
              </a:rPr>
              <a:t> </a:t>
            </a:r>
            <a:r>
              <a:rPr lang="en-GB" dirty="0" err="1">
                <a:solidFill>
                  <a:srgbClr val="1C1C1C"/>
                </a:solidFill>
                <a:effectLst/>
                <a:latin typeface="Courier" panose="02070309020205020404" pitchFamily="49" charset="0"/>
              </a:rPr>
              <a:t>self.classifier</a:t>
            </a:r>
            <a:r>
              <a:rPr lang="en-GB" dirty="0">
                <a:solidFill>
                  <a:srgbClr val="1C1C1C"/>
                </a:solidFill>
                <a:effectLst/>
                <a:latin typeface="Courier" panose="02070309020205020404" pitchFamily="49" charset="0"/>
              </a:rPr>
              <a:t>(features)</a:t>
            </a:r>
          </a:p>
          <a:p>
            <a:r>
              <a:rPr lang="en-GB" dirty="0">
                <a:solidFill>
                  <a:srgbClr val="1C1C1C"/>
                </a:solidFill>
                <a:effectLst/>
                <a:latin typeface="Courier" panose="02070309020205020404" pitchFamily="49" charset="0"/>
              </a:rPr>
              <a:t>model = </a:t>
            </a:r>
            <a:r>
              <a:rPr lang="en-GB" dirty="0" err="1">
                <a:solidFill>
                  <a:srgbClr val="1C1C1C"/>
                </a:solidFill>
                <a:effectLst/>
                <a:latin typeface="Courier" panose="02070309020205020404" pitchFamily="49" charset="0"/>
              </a:rPr>
              <a:t>MyModel</a:t>
            </a:r>
            <a:r>
              <a:rPr lang="en-GB" dirty="0">
                <a:solidFill>
                  <a:srgbClr val="1C1C1C"/>
                </a:solidFill>
                <a:effectLst/>
                <a:latin typeface="Courier" panose="02070309020205020404" pitchFamily="49" charset="0"/>
              </a:rPr>
              <a:t>()</a:t>
            </a:r>
          </a:p>
          <a:p>
            <a:endParaRPr lang="en-GB" dirty="0">
              <a:solidFill>
                <a:srgbClr val="1C1C1C"/>
              </a:solidFill>
              <a:effectLst/>
              <a:latin typeface="Courier" panose="02070309020205020404" pitchFamily="49" charset="0"/>
            </a:endParaRPr>
          </a:p>
        </p:txBody>
      </p:sp>
    </p:spTree>
    <p:extLst>
      <p:ext uri="{BB962C8B-B14F-4D97-AF65-F5344CB8AC3E}">
        <p14:creationId xmlns:p14="http://schemas.microsoft.com/office/powerpoint/2010/main" val="2146605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E8913CC-E36B-2438-1A1F-2D205F756F0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2E4251C-2FAE-6B1D-17B6-FF94774F7D4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effectLst/>
                <a:latin typeface="Helvetica" pitchFamily="2" charset="0"/>
              </a:rPr>
              <a:t>Using callbacks</a:t>
            </a:r>
            <a:br>
              <a:rPr lang="en-GB" sz="2800" dirty="0">
                <a:solidFill>
                  <a:srgbClr val="7030A0"/>
                </a:solidFill>
                <a:effectLst/>
                <a:latin typeface="Helvetica" pitchFamily="2"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0E1E0313-5EAE-DC5D-6925-E5E495B69CD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F03BC4A-9E46-2342-9844-0D9654C05AF2}"/>
              </a:ext>
            </a:extLst>
          </p:cNvPr>
          <p:cNvSpPr txBox="1"/>
          <p:nvPr/>
        </p:nvSpPr>
        <p:spPr>
          <a:xfrm>
            <a:off x="182880" y="779228"/>
            <a:ext cx="7555514" cy="3108543"/>
          </a:xfrm>
          <a:prstGeom prst="rect">
            <a:avLst/>
          </a:prstGeom>
          <a:noFill/>
        </p:spPr>
        <p:txBody>
          <a:bodyPr wrap="square">
            <a:spAutoFit/>
          </a:bodyPr>
          <a:lstStyle/>
          <a:p>
            <a:r>
              <a:rPr lang="en-GB" sz="2000" dirty="0">
                <a:solidFill>
                  <a:srgbClr val="1C1C1C"/>
                </a:solidFill>
                <a:effectLst/>
                <a:latin typeface="Helvetica" pitchFamily="2" charset="0"/>
              </a:rPr>
              <a:t>Launching a training run on a large dataset for tens of epochs using </a:t>
            </a:r>
            <a:r>
              <a:rPr lang="en-GB" sz="2000" b="1" dirty="0" err="1">
                <a:solidFill>
                  <a:srgbClr val="1C1C1C"/>
                </a:solidFill>
                <a:effectLst/>
                <a:latin typeface="Courier" panose="02070309020205020404" pitchFamily="49" charset="0"/>
              </a:rPr>
              <a:t>model.fit</a:t>
            </a:r>
            <a:r>
              <a:rPr lang="en-GB" sz="2000" b="1" dirty="0">
                <a:solidFill>
                  <a:srgbClr val="1C1C1C"/>
                </a:solidFill>
                <a:effectLst/>
                <a:latin typeface="Courier" panose="02070309020205020404" pitchFamily="49" charset="0"/>
              </a:rPr>
              <a:t>()</a:t>
            </a:r>
            <a:r>
              <a:rPr lang="en-GB" sz="2000" b="1" dirty="0">
                <a:solidFill>
                  <a:srgbClr val="1C1C1C"/>
                </a:solidFill>
                <a:effectLst/>
                <a:latin typeface="Helvetica" pitchFamily="2" charset="0"/>
              </a:rPr>
              <a:t> </a:t>
            </a:r>
            <a:r>
              <a:rPr lang="en-GB" sz="2000" dirty="0">
                <a:solidFill>
                  <a:srgbClr val="1C1C1C"/>
                </a:solidFill>
                <a:effectLst/>
                <a:latin typeface="Helvetica" pitchFamily="2" charset="0"/>
              </a:rPr>
              <a:t>can be a bit like launching a paper airplane: past the initial impulse, you don’t have any control over its trajectory or its landing spot. </a:t>
            </a:r>
          </a:p>
          <a:p>
            <a:endParaRPr lang="en-GB" sz="2000" dirty="0">
              <a:solidFill>
                <a:srgbClr val="1C1C1C"/>
              </a:solidFill>
              <a:effectLst/>
              <a:latin typeface="Helvetica" pitchFamily="2" charset="0"/>
            </a:endParaRPr>
          </a:p>
          <a:p>
            <a:r>
              <a:rPr lang="en-GB" sz="2000" dirty="0">
                <a:solidFill>
                  <a:srgbClr val="1C1C1C"/>
                </a:solidFill>
                <a:effectLst/>
                <a:latin typeface="Helvetica" pitchFamily="2" charset="0"/>
              </a:rPr>
              <a:t>If you want to avoid bad outcomes (and thus wasted paper airplanes), it’s smarter to use, not a paper plane, but a drone that can sense its environment, send data back to its operator, and automatically make steering decisions based on its current state. </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457690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30ADD72-F288-4D94-3D22-B1F5884E327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B940C89-7522-536E-FD65-F91B9EC73C2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effectLst/>
                <a:latin typeface="Helvetica" pitchFamily="2" charset="0"/>
              </a:rPr>
              <a:t>Using callbacks</a:t>
            </a:r>
            <a:br>
              <a:rPr lang="en-GB" sz="2800" dirty="0">
                <a:solidFill>
                  <a:srgbClr val="7030A0"/>
                </a:solidFill>
                <a:effectLst/>
                <a:latin typeface="Helvetica" pitchFamily="2"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53A1197-150A-717B-84F4-802427D23F9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40D11F4-6A38-8F13-13F2-E68E3402DEE4}"/>
              </a:ext>
            </a:extLst>
          </p:cNvPr>
          <p:cNvSpPr txBox="1"/>
          <p:nvPr/>
        </p:nvSpPr>
        <p:spPr>
          <a:xfrm>
            <a:off x="182879" y="779228"/>
            <a:ext cx="8553945" cy="4278094"/>
          </a:xfrm>
          <a:prstGeom prst="rect">
            <a:avLst/>
          </a:prstGeom>
          <a:noFill/>
        </p:spPr>
        <p:txBody>
          <a:bodyPr wrap="square">
            <a:spAutoFit/>
          </a:bodyPr>
          <a:lstStyle/>
          <a:p>
            <a:r>
              <a:rPr lang="en-GB" sz="1600" dirty="0">
                <a:solidFill>
                  <a:srgbClr val="1C1C1C"/>
                </a:solidFill>
                <a:effectLst/>
                <a:latin typeface="Helvetica" pitchFamily="2" charset="0"/>
              </a:rPr>
              <a:t>A callback is an object (a class instance implementing specific methods) that is passed to the model in the call to fit() and that is called by the model at various points during training. It has access to all the available data about the state of the model and its performance, and it can take action: interrupt training, save a model, load a different weight set, or otherwise alter the state of the model.</a:t>
            </a:r>
          </a:p>
          <a:p>
            <a:r>
              <a:rPr lang="en-GB" sz="1600" b="1" dirty="0">
                <a:solidFill>
                  <a:srgbClr val="1C1C1C"/>
                </a:solidFill>
                <a:effectLst/>
                <a:latin typeface="Helvetica" pitchFamily="2" charset="0"/>
              </a:rPr>
              <a:t>Here are some examples of ways you can use callbacks:</a:t>
            </a:r>
          </a:p>
          <a:p>
            <a:pPr marL="342900" indent="-342900">
              <a:buFont typeface="+mj-lt"/>
              <a:buAutoNum type="arabicPeriod"/>
            </a:pPr>
            <a:r>
              <a:rPr lang="en-GB" sz="1600" i="1" dirty="0">
                <a:solidFill>
                  <a:srgbClr val="1C1C1C"/>
                </a:solidFill>
                <a:effectLst/>
                <a:latin typeface="Helvetica" pitchFamily="2" charset="0"/>
              </a:rPr>
              <a:t>Model checkpointing</a:t>
            </a:r>
            <a:r>
              <a:rPr lang="en-GB" sz="1600" dirty="0">
                <a:solidFill>
                  <a:srgbClr val="1C1C1C"/>
                </a:solidFill>
                <a:effectLst/>
                <a:latin typeface="Helvetica" pitchFamily="2" charset="0"/>
              </a:rPr>
              <a:t>—Saving the current state of the model at different points during training.</a:t>
            </a:r>
          </a:p>
          <a:p>
            <a:pPr marL="342900" indent="-342900">
              <a:buFont typeface="+mj-lt"/>
              <a:buAutoNum type="arabicPeriod"/>
            </a:pPr>
            <a:r>
              <a:rPr lang="en-GB" sz="1600" i="1" dirty="0">
                <a:solidFill>
                  <a:srgbClr val="1C1C1C"/>
                </a:solidFill>
                <a:effectLst/>
                <a:latin typeface="Helvetica" pitchFamily="2" charset="0"/>
              </a:rPr>
              <a:t>Early stopping</a:t>
            </a:r>
            <a:r>
              <a:rPr lang="en-GB" sz="1600" dirty="0">
                <a:solidFill>
                  <a:srgbClr val="1C1C1C"/>
                </a:solidFill>
                <a:effectLst/>
                <a:latin typeface="Helvetica" pitchFamily="2" charset="0"/>
              </a:rPr>
              <a:t>—Interrupting training when the validation loss is no longer improving (and of course, saving the best model obtained during training).</a:t>
            </a:r>
          </a:p>
          <a:p>
            <a:pPr marL="342900" indent="-342900">
              <a:buFont typeface="+mj-lt"/>
              <a:buAutoNum type="arabicPeriod"/>
            </a:pPr>
            <a:r>
              <a:rPr lang="en-GB" sz="1600" i="1" dirty="0">
                <a:solidFill>
                  <a:srgbClr val="1C1C1C"/>
                </a:solidFill>
                <a:effectLst/>
                <a:latin typeface="Helvetica" pitchFamily="2" charset="0"/>
              </a:rPr>
              <a:t>Dynamically adjusting the value of certain parameters during training</a:t>
            </a:r>
            <a:r>
              <a:rPr lang="en-GB" sz="1600" dirty="0">
                <a:solidFill>
                  <a:srgbClr val="1C1C1C"/>
                </a:solidFill>
                <a:effectLst/>
                <a:latin typeface="Helvetica" pitchFamily="2" charset="0"/>
              </a:rPr>
              <a:t>—Such as the learning rate of the optimizer.</a:t>
            </a:r>
          </a:p>
          <a:p>
            <a:pPr marL="342900" indent="-342900">
              <a:buFont typeface="+mj-lt"/>
              <a:buAutoNum type="arabicPeriod"/>
            </a:pPr>
            <a:r>
              <a:rPr lang="en-GB" sz="1600" i="1" dirty="0">
                <a:solidFill>
                  <a:srgbClr val="1C1C1C"/>
                </a:solidFill>
                <a:effectLst/>
                <a:latin typeface="Helvetica" pitchFamily="2" charset="0"/>
              </a:rPr>
              <a:t>Logging training and validation metrics during training, or visualizing the representations learned by the model as they’re updated</a:t>
            </a:r>
            <a:r>
              <a:rPr lang="en-GB" sz="1600" dirty="0">
                <a:solidFill>
                  <a:srgbClr val="1C1C1C"/>
                </a:solidFill>
                <a:effectLst/>
                <a:latin typeface="Helvetica" pitchFamily="2" charset="0"/>
              </a:rPr>
              <a:t>—The fit() progress bar that you’re familiar with is in fact a callback!</a:t>
            </a:r>
          </a:p>
          <a:p>
            <a:endParaRPr lang="en-GB" sz="1600" dirty="0">
              <a:solidFill>
                <a:srgbClr val="1C1C1C"/>
              </a:solidFill>
              <a:effectLst/>
              <a:latin typeface="Helvetica" pitchFamily="2" charset="0"/>
            </a:endParaRP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787827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ADB7BAA-4786-308E-66AF-0988D5A02CC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3B5834A-7C0F-0D61-3CCB-8BC6DA7C3F22}"/>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r>
              <a:rPr lang="en-GB" sz="2800" dirty="0">
                <a:solidFill>
                  <a:srgbClr val="7030A0"/>
                </a:solidFill>
                <a:effectLst/>
                <a:latin typeface="Helvetica" pitchFamily="2" charset="0"/>
              </a:rPr>
              <a:t>Monitoring and visualization with </a:t>
            </a:r>
            <a:r>
              <a:rPr lang="en-GB" sz="2800" dirty="0" err="1">
                <a:solidFill>
                  <a:srgbClr val="7030A0"/>
                </a:solidFill>
                <a:effectLst/>
                <a:latin typeface="Helvetica" pitchFamily="2" charset="0"/>
              </a:rPr>
              <a:t>TensorBoard</a:t>
            </a:r>
            <a:br>
              <a:rPr lang="en-GB" sz="2800" dirty="0">
                <a:solidFill>
                  <a:srgbClr val="7030A0"/>
                </a:solidFill>
                <a:effectLst/>
                <a:latin typeface="Helvetica" pitchFamily="2" charset="0"/>
              </a:rPr>
            </a:br>
            <a:br>
              <a:rPr lang="en-GB" sz="2800" dirty="0">
                <a:solidFill>
                  <a:srgbClr val="7030A0"/>
                </a:solidFill>
                <a:effectLst/>
                <a:latin typeface="Helvetica" pitchFamily="2"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295D6F9-6F24-146C-690C-C0990874558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6A68076A-9579-D062-7DC8-8078B74B7399}"/>
              </a:ext>
            </a:extLst>
          </p:cNvPr>
          <p:cNvSpPr txBox="1"/>
          <p:nvPr/>
        </p:nvSpPr>
        <p:spPr>
          <a:xfrm>
            <a:off x="182881" y="847241"/>
            <a:ext cx="8329650" cy="4770537"/>
          </a:xfrm>
          <a:prstGeom prst="rect">
            <a:avLst/>
          </a:prstGeom>
          <a:noFill/>
        </p:spPr>
        <p:txBody>
          <a:bodyPr wrap="square">
            <a:spAutoFit/>
          </a:bodyPr>
          <a:lstStyle/>
          <a:p>
            <a:pPr>
              <a:buNone/>
            </a:pPr>
            <a:r>
              <a:rPr lang="en-GB" sz="1600" dirty="0">
                <a:solidFill>
                  <a:srgbClr val="1C1C1C"/>
                </a:solidFill>
                <a:effectLst/>
                <a:latin typeface="Helvetica" pitchFamily="2" charset="0"/>
              </a:rPr>
              <a:t>To do good research or develop good models, you need rich, frequent feedback about what’s going on inside your models during your experiments. That’s the point of running experiments: to get information about how well a model performs as much information as possible. Making progress is an iterative process, a loop you start with</a:t>
            </a:r>
          </a:p>
          <a:p>
            <a:r>
              <a:rPr lang="en-GB" sz="1600" dirty="0">
                <a:solidFill>
                  <a:srgbClr val="1C1C1C"/>
                </a:solidFill>
                <a:effectLst/>
                <a:latin typeface="Helvetica" pitchFamily="2" charset="0"/>
              </a:rPr>
              <a:t>an idea and express it as an experiment, attempting to validate or invalidate your idea.</a:t>
            </a:r>
          </a:p>
          <a:p>
            <a:endParaRPr lang="en-GB" sz="1600" dirty="0">
              <a:solidFill>
                <a:srgbClr val="1C1C1C"/>
              </a:solidFill>
              <a:effectLst/>
              <a:latin typeface="Helvetica" pitchFamily="2" charset="0"/>
            </a:endParaRPr>
          </a:p>
          <a:p>
            <a:pPr>
              <a:buNone/>
            </a:pPr>
            <a:r>
              <a:rPr lang="en-GB" sz="1600" dirty="0" err="1">
                <a:solidFill>
                  <a:srgbClr val="1C1C1C"/>
                </a:solidFill>
                <a:effectLst/>
                <a:latin typeface="Helvetica" pitchFamily="2" charset="0"/>
              </a:rPr>
              <a:t>TensorBoard</a:t>
            </a:r>
            <a:r>
              <a:rPr lang="en-GB" sz="1600" dirty="0">
                <a:solidFill>
                  <a:srgbClr val="1C1C1C"/>
                </a:solidFill>
                <a:effectLst/>
                <a:latin typeface="Helvetica" pitchFamily="2" charset="0"/>
              </a:rPr>
              <a:t> (</a:t>
            </a:r>
            <a:r>
              <a:rPr lang="en-GB" sz="1600" dirty="0" err="1">
                <a:solidFill>
                  <a:srgbClr val="000095"/>
                </a:solidFill>
                <a:effectLst/>
                <a:latin typeface="Helvetica" pitchFamily="2" charset="0"/>
              </a:rPr>
              <a:t>www.tensorflow.org</a:t>
            </a:r>
            <a:r>
              <a:rPr lang="en-GB" sz="1600" dirty="0">
                <a:solidFill>
                  <a:srgbClr val="000095"/>
                </a:solidFill>
                <a:effectLst/>
                <a:latin typeface="Helvetica" pitchFamily="2" charset="0"/>
              </a:rPr>
              <a:t>/</a:t>
            </a:r>
            <a:r>
              <a:rPr lang="en-GB" sz="1600" dirty="0" err="1">
                <a:solidFill>
                  <a:srgbClr val="000095"/>
                </a:solidFill>
                <a:effectLst/>
                <a:latin typeface="Helvetica" pitchFamily="2" charset="0"/>
              </a:rPr>
              <a:t>tensorboard</a:t>
            </a:r>
            <a:r>
              <a:rPr lang="en-GB" sz="1600" dirty="0">
                <a:solidFill>
                  <a:srgbClr val="1C1C1C"/>
                </a:solidFill>
                <a:effectLst/>
                <a:latin typeface="Helvetica" pitchFamily="2" charset="0"/>
              </a:rPr>
              <a:t>) is a browser-based application that</a:t>
            </a:r>
          </a:p>
          <a:p>
            <a:pPr>
              <a:buNone/>
            </a:pPr>
            <a:r>
              <a:rPr lang="en-GB" sz="1600" dirty="0">
                <a:solidFill>
                  <a:srgbClr val="1C1C1C"/>
                </a:solidFill>
                <a:effectLst/>
                <a:latin typeface="Helvetica" pitchFamily="2" charset="0"/>
              </a:rPr>
              <a:t>you can run locally. It’s the best way to monitor everything that goes on inside your</a:t>
            </a:r>
          </a:p>
          <a:p>
            <a:pPr>
              <a:buNone/>
            </a:pPr>
            <a:r>
              <a:rPr lang="en-GB" sz="1600" dirty="0">
                <a:solidFill>
                  <a:srgbClr val="1C1C1C"/>
                </a:solidFill>
                <a:effectLst/>
                <a:latin typeface="Helvetica" pitchFamily="2" charset="0"/>
              </a:rPr>
              <a:t>model during training. With </a:t>
            </a:r>
            <a:r>
              <a:rPr lang="en-GB" sz="1600" dirty="0" err="1">
                <a:solidFill>
                  <a:srgbClr val="1C1C1C"/>
                </a:solidFill>
                <a:effectLst/>
                <a:latin typeface="Helvetica" pitchFamily="2" charset="0"/>
              </a:rPr>
              <a:t>TensorBoard</a:t>
            </a:r>
            <a:r>
              <a:rPr lang="en-GB" sz="1600" dirty="0">
                <a:solidFill>
                  <a:srgbClr val="1C1C1C"/>
                </a:solidFill>
                <a:effectLst/>
                <a:latin typeface="Helvetica" pitchFamily="2" charset="0"/>
              </a:rPr>
              <a:t>, you can</a:t>
            </a:r>
          </a:p>
          <a:p>
            <a:pPr marL="342900" indent="-342900">
              <a:buFont typeface="+mj-lt"/>
              <a:buAutoNum type="arabicPeriod"/>
            </a:pPr>
            <a:r>
              <a:rPr lang="en-GB" sz="1600" b="1" dirty="0">
                <a:solidFill>
                  <a:srgbClr val="1C1C1C"/>
                </a:solidFill>
                <a:effectLst/>
                <a:latin typeface="Helvetica" pitchFamily="2" charset="0"/>
              </a:rPr>
              <a:t>Visually monitor metrics during training</a:t>
            </a:r>
          </a:p>
          <a:p>
            <a:pPr marL="342900" indent="-342900">
              <a:buFont typeface="+mj-lt"/>
              <a:buAutoNum type="arabicPeriod"/>
            </a:pPr>
            <a:r>
              <a:rPr lang="en-GB" sz="1600" b="1" dirty="0">
                <a:solidFill>
                  <a:srgbClr val="1C1C1C"/>
                </a:solidFill>
                <a:effectLst/>
                <a:latin typeface="Helvetica" pitchFamily="2" charset="0"/>
              </a:rPr>
              <a:t>Visualize your model architecture</a:t>
            </a:r>
          </a:p>
          <a:p>
            <a:pPr marL="342900" indent="-342900">
              <a:buFont typeface="+mj-lt"/>
              <a:buAutoNum type="arabicPeriod"/>
            </a:pPr>
            <a:r>
              <a:rPr lang="en-GB" sz="1600" b="1" dirty="0">
                <a:solidFill>
                  <a:srgbClr val="1C1C1C"/>
                </a:solidFill>
                <a:effectLst/>
                <a:latin typeface="Helvetica" pitchFamily="2" charset="0"/>
              </a:rPr>
              <a:t>Visualize histograms of activations and gradients</a:t>
            </a:r>
          </a:p>
          <a:p>
            <a:pPr>
              <a:buNone/>
            </a:pPr>
            <a:r>
              <a:rPr lang="en-GB" sz="1600" dirty="0">
                <a:solidFill>
                  <a:srgbClr val="1C1C1C"/>
                </a:solidFill>
                <a:effectLst/>
                <a:latin typeface="Helvetica" pitchFamily="2" charset="0"/>
              </a:rPr>
              <a:t>Explore embeddings in 3D</a:t>
            </a:r>
          </a:p>
          <a:p>
            <a:pPr>
              <a:buNone/>
            </a:pPr>
            <a:r>
              <a:rPr lang="en-GB" sz="1600" dirty="0">
                <a:solidFill>
                  <a:srgbClr val="1C1C1C"/>
                </a:solidFill>
                <a:effectLst/>
                <a:latin typeface="Helvetica" pitchFamily="2" charset="0"/>
              </a:rPr>
              <a:t>If you’re monitoring more information than just the model’s final loss, you can</a:t>
            </a:r>
          </a:p>
          <a:p>
            <a:pPr>
              <a:buNone/>
            </a:pPr>
            <a:r>
              <a:rPr lang="en-GB" sz="1600" dirty="0">
                <a:solidFill>
                  <a:srgbClr val="1C1C1C"/>
                </a:solidFill>
                <a:effectLst/>
                <a:latin typeface="Helvetica" pitchFamily="2" charset="0"/>
              </a:rPr>
              <a:t>develop a clearer vision of what the model does and doesn’t do, and you can make</a:t>
            </a:r>
          </a:p>
          <a:p>
            <a:r>
              <a:rPr lang="en-GB" sz="1600" dirty="0">
                <a:solidFill>
                  <a:srgbClr val="1C1C1C"/>
                </a:solidFill>
                <a:effectLst/>
                <a:latin typeface="Helvetica" pitchFamily="2" charset="0"/>
              </a:rPr>
              <a:t>progress more quickly.</a:t>
            </a:r>
          </a:p>
          <a:p>
            <a:endParaRPr lang="en-GB" sz="1600" dirty="0">
              <a:solidFill>
                <a:srgbClr val="1C1C1C"/>
              </a:solidFill>
              <a:effectLst/>
              <a:latin typeface="Helvetica" pitchFamily="2" charset="0"/>
            </a:endParaRPr>
          </a:p>
          <a:p>
            <a:endParaRPr lang="en-GB" sz="1600" dirty="0">
              <a:solidFill>
                <a:srgbClr val="1C1C1C"/>
              </a:solidFill>
              <a:effectLst/>
              <a:latin typeface="Helvetica" pitchFamily="2" charset="0"/>
            </a:endParaRP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3309413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4CC2329-5C56-8041-A9F5-36EDFBCDCCF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C5FCAEF-0C50-42C8-D4D2-BB36A98FE582}"/>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fontScale="90000"/>
          </a:bodyPr>
          <a:lstStyle/>
          <a:p>
            <a:pPr algn="ctr"/>
            <a:r>
              <a:rPr lang="en-GB" sz="2800" dirty="0" err="1">
                <a:solidFill>
                  <a:srgbClr val="7030A0"/>
                </a:solidFill>
                <a:effectLst/>
                <a:latin typeface="Helvetica" pitchFamily="2" charset="0"/>
              </a:rPr>
              <a:t>TensorBoard</a:t>
            </a:r>
            <a:r>
              <a:rPr lang="en-GB" sz="2800" dirty="0">
                <a:solidFill>
                  <a:srgbClr val="7030A0"/>
                </a:solidFill>
                <a:effectLst/>
                <a:latin typeface="Helvetica" pitchFamily="2" charset="0"/>
              </a:rPr>
              <a:t> can be used for easy monitoring of training and evaluation metrics.</a:t>
            </a:r>
            <a:br>
              <a:rPr lang="en-GB" sz="2800" dirty="0">
                <a:solidFill>
                  <a:srgbClr val="7030A0"/>
                </a:solidFill>
                <a:effectLst/>
                <a:latin typeface="Helvetica" pitchFamily="2" charset="0"/>
              </a:rPr>
            </a:br>
            <a:br>
              <a:rPr lang="en-GB" sz="2800" dirty="0">
                <a:solidFill>
                  <a:srgbClr val="7030A0"/>
                </a:solidFill>
                <a:effectLst/>
                <a:latin typeface="Helvetica" pitchFamily="2" charset="0"/>
              </a:rPr>
            </a:br>
            <a:br>
              <a:rPr lang="en-GB" sz="2800" dirty="0">
                <a:solidFill>
                  <a:srgbClr val="7030A0"/>
                </a:solidFill>
                <a:effectLst/>
                <a:latin typeface="Helvetica" pitchFamily="2" charset="0"/>
              </a:rPr>
            </a:br>
            <a:br>
              <a:rPr lang="en-GB" sz="1600" b="1" dirty="0"/>
            </a:br>
            <a:br>
              <a:rPr lang="en-GB" sz="3100" b="1" i="0" u="none" strike="noStrike" dirty="0">
                <a:solidFill>
                  <a:srgbClr val="7030A0"/>
                </a:solidFill>
                <a:effectLst/>
                <a:latin typeface="Inter" panose="02000503000000020004" pitchFamily="2" charset="0"/>
              </a:rPr>
            </a:br>
            <a:br>
              <a:rPr lang="en-GB" b="1" i="0" u="none" strike="noStrike" dirty="0">
                <a:solidFill>
                  <a:srgbClr val="7030A0"/>
                </a:solidFill>
                <a:effectLst/>
              </a:rPr>
            </a:br>
            <a:br>
              <a:rPr lang="en-GB" b="1" i="0" u="none" strike="noStrike" dirty="0">
                <a:solidFill>
                  <a:srgbClr val="7030A0"/>
                </a:solidFill>
                <a:effectLst/>
              </a:rPr>
            </a:br>
            <a:endParaRPr lang="en-GB"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8405FE6-120F-9875-6D02-E539D71B8FA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7CC1548-5454-29EA-522E-278D71B60CD1}"/>
              </a:ext>
            </a:extLst>
          </p:cNvPr>
          <p:cNvSpPr txBox="1"/>
          <p:nvPr/>
        </p:nvSpPr>
        <p:spPr>
          <a:xfrm>
            <a:off x="203587" y="573197"/>
            <a:ext cx="8329650" cy="830997"/>
          </a:xfrm>
          <a:prstGeom prst="rect">
            <a:avLst/>
          </a:prstGeom>
          <a:noFill/>
        </p:spPr>
        <p:txBody>
          <a:bodyPr wrap="square">
            <a:spAutoFit/>
          </a:bodyPr>
          <a:lstStyle/>
          <a:p>
            <a:endParaRPr lang="en-GB" sz="1600" dirty="0">
              <a:solidFill>
                <a:srgbClr val="1C1C1C"/>
              </a:solidFill>
              <a:effectLst/>
              <a:latin typeface="Helvetica" pitchFamily="2" charset="0"/>
            </a:endParaRPr>
          </a:p>
          <a:p>
            <a:endParaRPr lang="en-GB" sz="1600" dirty="0">
              <a:solidFill>
                <a:srgbClr val="1C1C1C"/>
              </a:solidFill>
              <a:effectLst/>
              <a:latin typeface="Helvetica" pitchFamily="2" charset="0"/>
            </a:endParaRPr>
          </a:p>
          <a:p>
            <a:pPr algn="l"/>
            <a:endParaRPr lang="en-GB" sz="1600" i="0" u="none" strike="noStrike" dirty="0">
              <a:solidFill>
                <a:srgbClr val="000000"/>
              </a:solidFill>
              <a:effectLst/>
            </a:endParaRPr>
          </a:p>
        </p:txBody>
      </p:sp>
      <p:pic>
        <p:nvPicPr>
          <p:cNvPr id="2" name="Picture 1">
            <a:extLst>
              <a:ext uri="{FF2B5EF4-FFF2-40B4-BE49-F238E27FC236}">
                <a16:creationId xmlns:a16="http://schemas.microsoft.com/office/drawing/2014/main" id="{15AE1DEA-3448-FAAF-825B-F0E98DFA6AA4}"/>
              </a:ext>
            </a:extLst>
          </p:cNvPr>
          <p:cNvPicPr>
            <a:picLocks noChangeAspect="1"/>
          </p:cNvPicPr>
          <p:nvPr/>
        </p:nvPicPr>
        <p:blipFill>
          <a:blip r:embed="rId3"/>
          <a:stretch>
            <a:fillRect/>
          </a:stretch>
        </p:blipFill>
        <p:spPr>
          <a:xfrm>
            <a:off x="1103325" y="937071"/>
            <a:ext cx="6128680" cy="4206429"/>
          </a:xfrm>
          <a:prstGeom prst="rect">
            <a:avLst/>
          </a:prstGeom>
        </p:spPr>
      </p:pic>
    </p:spTree>
    <p:extLst>
      <p:ext uri="{BB962C8B-B14F-4D97-AF65-F5344CB8AC3E}">
        <p14:creationId xmlns:p14="http://schemas.microsoft.com/office/powerpoint/2010/main" val="3241812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Summary</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57577" y="767462"/>
            <a:ext cx="8138145" cy="4031873"/>
          </a:xfrm>
          <a:prstGeom prst="rect">
            <a:avLst/>
          </a:prstGeom>
          <a:noFill/>
        </p:spPr>
        <p:txBody>
          <a:bodyPr wrap="square">
            <a:spAutoFit/>
          </a:bodyPr>
          <a:lstStyle/>
          <a:p>
            <a:pPr marL="514350" indent="-514350">
              <a:buFont typeface="+mj-lt"/>
              <a:buAutoNum type="arabicPeriod"/>
            </a:pPr>
            <a:r>
              <a:rPr lang="en-GB" sz="1600" dirty="0" err="1">
                <a:solidFill>
                  <a:srgbClr val="1C1C1C"/>
                </a:solidFill>
                <a:effectLst/>
                <a:latin typeface="Helvetica" pitchFamily="2" charset="0"/>
              </a:rPr>
              <a:t>Keras</a:t>
            </a:r>
            <a:r>
              <a:rPr lang="en-GB" sz="1600" dirty="0">
                <a:solidFill>
                  <a:srgbClr val="1C1C1C"/>
                </a:solidFill>
                <a:effectLst/>
                <a:latin typeface="Helvetica" pitchFamily="2" charset="0"/>
              </a:rPr>
              <a:t> offers a spectrum of different workflows, based on the principle of progressive disclosure of complexity. They all smoothly inter-operate together.</a:t>
            </a:r>
          </a:p>
          <a:p>
            <a:pPr marL="514350" indent="-514350">
              <a:buFont typeface="+mj-lt"/>
              <a:buAutoNum type="arabicPeriod"/>
            </a:pPr>
            <a:endParaRPr lang="en-GB" sz="1600" dirty="0">
              <a:solidFill>
                <a:srgbClr val="1C1C1C"/>
              </a:solidFill>
              <a:effectLst/>
              <a:latin typeface="Helvetica" pitchFamily="2" charset="0"/>
            </a:endParaRPr>
          </a:p>
          <a:p>
            <a:pPr marL="514350" indent="-514350">
              <a:buFont typeface="+mj-lt"/>
              <a:buAutoNum type="arabicPeriod"/>
            </a:pPr>
            <a:r>
              <a:rPr lang="en-GB" sz="1600" dirty="0">
                <a:solidFill>
                  <a:srgbClr val="1C1C1C"/>
                </a:solidFill>
                <a:effectLst/>
                <a:latin typeface="Helvetica" pitchFamily="2" charset="0"/>
              </a:rPr>
              <a:t>You can build models via the </a:t>
            </a:r>
            <a:r>
              <a:rPr lang="en-GB" sz="1600" dirty="0">
                <a:solidFill>
                  <a:srgbClr val="1C1C1C"/>
                </a:solidFill>
                <a:effectLst/>
                <a:latin typeface="Courier" panose="02070309020205020404" pitchFamily="49" charset="0"/>
              </a:rPr>
              <a:t>Sequential</a:t>
            </a:r>
            <a:r>
              <a:rPr lang="en-GB" sz="1600" dirty="0">
                <a:solidFill>
                  <a:srgbClr val="1C1C1C"/>
                </a:solidFill>
                <a:effectLst/>
                <a:latin typeface="Helvetica" pitchFamily="2" charset="0"/>
              </a:rPr>
              <a:t> class, via the Functional API, or by subclassing the </a:t>
            </a:r>
            <a:r>
              <a:rPr lang="en-GB" sz="1600" dirty="0">
                <a:solidFill>
                  <a:srgbClr val="1C1C1C"/>
                </a:solidFill>
                <a:effectLst/>
                <a:latin typeface="Courier" panose="02070309020205020404" pitchFamily="49" charset="0"/>
              </a:rPr>
              <a:t>Model</a:t>
            </a:r>
            <a:r>
              <a:rPr lang="en-GB" sz="1600" dirty="0">
                <a:solidFill>
                  <a:srgbClr val="1C1C1C"/>
                </a:solidFill>
                <a:effectLst/>
                <a:latin typeface="Helvetica" pitchFamily="2" charset="0"/>
              </a:rPr>
              <a:t> class. Most of the time, you’ll be using the Functional API.</a:t>
            </a:r>
          </a:p>
          <a:p>
            <a:pPr marL="514350" indent="-514350">
              <a:buFont typeface="+mj-lt"/>
              <a:buAutoNum type="arabicPeriod"/>
            </a:pPr>
            <a:endParaRPr lang="en-GB" sz="1600" dirty="0">
              <a:solidFill>
                <a:srgbClr val="1C1C1C"/>
              </a:solidFill>
              <a:effectLst/>
              <a:latin typeface="Helvetica" pitchFamily="2" charset="0"/>
            </a:endParaRPr>
          </a:p>
          <a:p>
            <a:pPr marL="514350" indent="-514350">
              <a:buFont typeface="+mj-lt"/>
              <a:buAutoNum type="arabicPeriod"/>
            </a:pPr>
            <a:r>
              <a:rPr lang="en-GB" sz="1600" dirty="0">
                <a:solidFill>
                  <a:srgbClr val="1C1C1C"/>
                </a:solidFill>
                <a:effectLst/>
                <a:latin typeface="Helvetica" pitchFamily="2" charset="0"/>
              </a:rPr>
              <a:t>The simplest way to train and evaluate a model is via the default </a:t>
            </a:r>
            <a:r>
              <a:rPr lang="en-GB" sz="1600" dirty="0">
                <a:solidFill>
                  <a:srgbClr val="1C1C1C"/>
                </a:solidFill>
                <a:effectLst/>
                <a:latin typeface="Courier" panose="02070309020205020404" pitchFamily="49" charset="0"/>
              </a:rPr>
              <a:t>fit()</a:t>
            </a:r>
            <a:r>
              <a:rPr lang="en-GB" sz="1600" dirty="0">
                <a:solidFill>
                  <a:srgbClr val="1C1C1C"/>
                </a:solidFill>
                <a:effectLst/>
                <a:latin typeface="Helvetica" pitchFamily="2" charset="0"/>
              </a:rPr>
              <a:t> and </a:t>
            </a:r>
            <a:r>
              <a:rPr lang="en-GB" sz="1600" dirty="0">
                <a:solidFill>
                  <a:srgbClr val="1C1C1C"/>
                </a:solidFill>
                <a:effectLst/>
                <a:latin typeface="Courier" panose="02070309020205020404" pitchFamily="49" charset="0"/>
              </a:rPr>
              <a:t>evaluate()</a:t>
            </a:r>
            <a:r>
              <a:rPr lang="en-GB" sz="1600" dirty="0">
                <a:solidFill>
                  <a:srgbClr val="1C1C1C"/>
                </a:solidFill>
                <a:effectLst/>
                <a:latin typeface="Helvetica" pitchFamily="2" charset="0"/>
              </a:rPr>
              <a:t> methods.</a:t>
            </a:r>
          </a:p>
          <a:p>
            <a:pPr marL="514350" indent="-514350">
              <a:buFont typeface="+mj-lt"/>
              <a:buAutoNum type="arabicPeriod"/>
            </a:pPr>
            <a:endParaRPr lang="en-GB" sz="1600" dirty="0">
              <a:solidFill>
                <a:srgbClr val="1C1C1C"/>
              </a:solidFill>
              <a:effectLst/>
              <a:latin typeface="Courier" panose="02070309020205020404" pitchFamily="49" charset="0"/>
            </a:endParaRPr>
          </a:p>
          <a:p>
            <a:pPr marL="514350" indent="-514350">
              <a:buFont typeface="+mj-lt"/>
              <a:buAutoNum type="arabicPeriod"/>
            </a:pPr>
            <a:r>
              <a:rPr lang="en-GB" sz="1600" dirty="0" err="1">
                <a:solidFill>
                  <a:srgbClr val="1C1C1C"/>
                </a:solidFill>
                <a:effectLst/>
                <a:latin typeface="Helvetica" pitchFamily="2" charset="0"/>
              </a:rPr>
              <a:t>Keras</a:t>
            </a:r>
            <a:r>
              <a:rPr lang="en-GB" sz="1600" dirty="0">
                <a:solidFill>
                  <a:srgbClr val="1C1C1C"/>
                </a:solidFill>
                <a:effectLst/>
                <a:latin typeface="Helvetica" pitchFamily="2" charset="0"/>
              </a:rPr>
              <a:t> callbacks provide a simple way to monitor models during your call to </a:t>
            </a:r>
            <a:r>
              <a:rPr lang="en-GB" sz="1600" dirty="0">
                <a:solidFill>
                  <a:srgbClr val="1C1C1C"/>
                </a:solidFill>
                <a:effectLst/>
                <a:latin typeface="Courier" panose="02070309020205020404" pitchFamily="49" charset="0"/>
              </a:rPr>
              <a:t>fit()</a:t>
            </a:r>
            <a:r>
              <a:rPr lang="en-GB" sz="1600" dirty="0">
                <a:solidFill>
                  <a:srgbClr val="1C1C1C"/>
                </a:solidFill>
                <a:effectLst/>
                <a:latin typeface="Helvetica" pitchFamily="2" charset="0"/>
              </a:rPr>
              <a:t> and automatically take action based on the state of the model.</a:t>
            </a:r>
          </a:p>
          <a:p>
            <a:pPr marL="514350" indent="-514350">
              <a:buFont typeface="+mj-lt"/>
              <a:buAutoNum type="arabicPeriod"/>
            </a:pPr>
            <a:endParaRPr lang="en-GB" sz="1600" dirty="0">
              <a:solidFill>
                <a:srgbClr val="1C1C1C"/>
              </a:solidFill>
              <a:effectLst/>
              <a:latin typeface="Helvetica" pitchFamily="2" charset="0"/>
            </a:endParaRPr>
          </a:p>
          <a:p>
            <a:pPr marL="514350" indent="-514350">
              <a:buFont typeface="+mj-lt"/>
              <a:buAutoNum type="arabicPeriod"/>
            </a:pPr>
            <a:r>
              <a:rPr lang="en-GB" sz="1600" dirty="0">
                <a:solidFill>
                  <a:srgbClr val="1C1C1C"/>
                </a:solidFill>
                <a:effectLst/>
                <a:latin typeface="Helvetica" pitchFamily="2" charset="0"/>
              </a:rPr>
              <a:t>You can also fully take control of what </a:t>
            </a:r>
            <a:r>
              <a:rPr lang="en-GB" sz="1600" dirty="0">
                <a:solidFill>
                  <a:srgbClr val="1C1C1C"/>
                </a:solidFill>
                <a:effectLst/>
                <a:latin typeface="Courier" panose="02070309020205020404" pitchFamily="49" charset="0"/>
              </a:rPr>
              <a:t>fit()</a:t>
            </a:r>
            <a:r>
              <a:rPr lang="en-GB" sz="1600" dirty="0">
                <a:solidFill>
                  <a:srgbClr val="1C1C1C"/>
                </a:solidFill>
                <a:effectLst/>
                <a:latin typeface="Helvetica" pitchFamily="2" charset="0"/>
              </a:rPr>
              <a:t> does by overriding the </a:t>
            </a:r>
            <a:r>
              <a:rPr lang="en-GB" sz="1600" dirty="0" err="1">
                <a:solidFill>
                  <a:srgbClr val="1C1C1C"/>
                </a:solidFill>
                <a:effectLst/>
                <a:latin typeface="Courier" panose="02070309020205020404" pitchFamily="49" charset="0"/>
              </a:rPr>
              <a:t>train_step</a:t>
            </a:r>
            <a:r>
              <a:rPr lang="en-GB" sz="1600" dirty="0">
                <a:solidFill>
                  <a:srgbClr val="1C1C1C"/>
                </a:solidFill>
                <a:effectLst/>
                <a:latin typeface="Courier" panose="02070309020205020404" pitchFamily="49" charset="0"/>
              </a:rPr>
              <a:t>()</a:t>
            </a:r>
            <a:r>
              <a:rPr lang="en-GB" sz="1600" dirty="0">
                <a:solidFill>
                  <a:srgbClr val="1C1C1C"/>
                </a:solidFill>
                <a:effectLst/>
                <a:latin typeface="Helvetica" pitchFamily="2" charset="0"/>
              </a:rPr>
              <a:t> method.</a:t>
            </a:r>
          </a:p>
          <a:p>
            <a:pPr marL="514350" indent="-514350">
              <a:buFont typeface="+mj-lt"/>
              <a:buAutoNum type="arabicPeriod"/>
            </a:pPr>
            <a:endParaRPr lang="en-GB" sz="1600" dirty="0">
              <a:solidFill>
                <a:srgbClr val="1C1C1C"/>
              </a:solidFill>
              <a:effectLst/>
              <a:latin typeface="Helvetica" pitchFamily="2" charset="0"/>
            </a:endParaRPr>
          </a:p>
          <a:p>
            <a:pPr marL="514350" indent="-514350">
              <a:buFont typeface="+mj-lt"/>
              <a:buAutoNum type="arabicPeriod"/>
            </a:pPr>
            <a:r>
              <a:rPr lang="en-GB" sz="1600" dirty="0">
                <a:solidFill>
                  <a:srgbClr val="1C1C1C"/>
                </a:solidFill>
                <a:effectLst/>
                <a:latin typeface="Helvetica" pitchFamily="2" charset="0"/>
              </a:rPr>
              <a:t>Beyond </a:t>
            </a:r>
            <a:r>
              <a:rPr lang="en-GB" sz="1600" dirty="0">
                <a:solidFill>
                  <a:srgbClr val="1C1C1C"/>
                </a:solidFill>
                <a:effectLst/>
                <a:latin typeface="Courier" panose="02070309020205020404" pitchFamily="49" charset="0"/>
              </a:rPr>
              <a:t>fit()</a:t>
            </a:r>
            <a:r>
              <a:rPr lang="en-GB" sz="1600" dirty="0">
                <a:solidFill>
                  <a:srgbClr val="1C1C1C"/>
                </a:solidFill>
                <a:effectLst/>
                <a:latin typeface="Helvetica" pitchFamily="2" charset="0"/>
              </a:rPr>
              <a:t>, you can also write your own training loops entirely from scratch.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3864</TotalTime>
  <Words>2681</Words>
  <Application>Microsoft Macintosh PowerPoint</Application>
  <PresentationFormat>On-screen Show (16:9)</PresentationFormat>
  <Paragraphs>244</Paragraphs>
  <Slides>23</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IBM Plex Sans Arabic Medium</vt:lpstr>
      <vt:lpstr>Helvetica</vt:lpstr>
      <vt:lpstr>Tajawal</vt:lpstr>
      <vt:lpstr>Inter</vt:lpstr>
      <vt:lpstr>Calibri</vt:lpstr>
      <vt:lpstr>IBM Plex Sans Arabic</vt:lpstr>
      <vt:lpstr>IBM Plex Sans Arabic SemiBold</vt:lpstr>
      <vt:lpstr>Courier</vt:lpstr>
      <vt:lpstr>Arial</vt:lpstr>
      <vt:lpstr>-webkit-standard</vt:lpstr>
      <vt:lpstr>Simple Light</vt:lpstr>
      <vt:lpstr>أكـــــاديميــــة طــــويـــق</vt:lpstr>
      <vt:lpstr>Working with KERAS Models   </vt:lpstr>
      <vt:lpstr>PowerPoint Presentation</vt:lpstr>
      <vt:lpstr>What is KERAS   </vt:lpstr>
      <vt:lpstr>Keras provides three ways to construct models    </vt:lpstr>
      <vt:lpstr>The Sequential model    </vt:lpstr>
      <vt:lpstr>The Sequential model   </vt:lpstr>
      <vt:lpstr>The Sequential model   </vt:lpstr>
      <vt:lpstr>The Functional API    </vt:lpstr>
      <vt:lpstr>The Functional API    </vt:lpstr>
      <vt:lpstr>The Functional API    </vt:lpstr>
      <vt:lpstr>The Functional API    </vt:lpstr>
      <vt:lpstr>Subclassing the Model class     </vt:lpstr>
      <vt:lpstr>Subclassing the Model class     </vt:lpstr>
      <vt:lpstr>Mixing and matching different components      </vt:lpstr>
      <vt:lpstr>Mixing and matching different components      </vt:lpstr>
      <vt:lpstr>Using callbacks     </vt:lpstr>
      <vt:lpstr>Using callbacks     </vt:lpstr>
      <vt:lpstr>Monitoring and visualization with TensorBoard      </vt:lpstr>
      <vt:lpstr>TensorBoard can be used for easy monitoring of training and evaluation metrics.       </vt:lpstr>
      <vt:lpstr>Summary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29</cp:revision>
  <dcterms:modified xsi:type="dcterms:W3CDTF">2025-04-28T16:41:10Z</dcterms:modified>
</cp:coreProperties>
</file>