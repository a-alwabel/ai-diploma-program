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98" r:id="rId5"/>
    <p:sldId id="323" r:id="rId6"/>
    <p:sldId id="324" r:id="rId7"/>
    <p:sldId id="325" r:id="rId8"/>
    <p:sldId id="326" r:id="rId9"/>
    <p:sldId id="313" r:id="rId10"/>
    <p:sldId id="327" r:id="rId11"/>
    <p:sldId id="314" r:id="rId12"/>
    <p:sldId id="315" r:id="rId13"/>
    <p:sldId id="316" r:id="rId14"/>
    <p:sldId id="328" r:id="rId15"/>
    <p:sldId id="329" r:id="rId16"/>
    <p:sldId id="330" r:id="rId17"/>
    <p:sldId id="262" r:id="rId18"/>
    <p:sldId id="312" r:id="rId19"/>
    <p:sldId id="291" r:id="rId20"/>
    <p:sldId id="275" r:id="rId21"/>
    <p:sldId id="276" r:id="rId22"/>
  </p:sldIdLst>
  <p:sldSz cx="9144000" cy="5143500" type="screen16x9"/>
  <p:notesSz cx="6858000" cy="9144000"/>
  <p:embeddedFontLst>
    <p:embeddedFont>
      <p:font typeface="IBM Plex Sans Arabic" panose="020B0603050203000203" pitchFamily="34" charset="-78"/>
      <p:regular r:id="rId24"/>
      <p:bold r:id="rId25"/>
    </p:embeddedFont>
    <p:embeddedFont>
      <p:font typeface="IBM Plex Sans Arabic Medium" panose="020B0603050203000203" pitchFamily="34" charset="-78"/>
      <p:regular r:id="rId26"/>
      <p:bold r:id="rId27"/>
    </p:embeddedFont>
    <p:embeddedFont>
      <p:font typeface="IBM Plex Sans Arabic SemiBold" panose="020B0603050203000203" pitchFamily="34" charset="-78"/>
      <p:regular r:id="rId28"/>
      <p:bold r:id="rId29"/>
    </p:embeddedFont>
    <p:embeddedFont>
      <p:font typeface="Inter" panose="02000503000000020004" pitchFamily="2" charset="0"/>
      <p:regular r:id="rId30"/>
      <p:bold r:id="rId31"/>
      <p:italic r:id="rId32"/>
      <p:boldItalic r:id="rId33"/>
    </p:embeddedFont>
    <p:embeddedFont>
      <p:font typeface="Lato" panose="020F0502020204030203" pitchFamily="34" charset="0"/>
      <p:regular r:id="rId34"/>
      <p:bold r:id="rId35"/>
      <p:italic r:id="rId36"/>
      <p:boldItalic r:id="rId37"/>
    </p:embeddedFont>
    <p:embeddedFont>
      <p:font typeface="Tajawal" pitchFamily="2" charset="-78"/>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80"/>
    <p:restoredTop sz="94650"/>
  </p:normalViewPr>
  <p:slideViewPr>
    <p:cSldViewPr snapToGrid="0">
      <p:cViewPr varScale="1">
        <p:scale>
          <a:sx n="210" d="100"/>
          <a:sy n="210" d="100"/>
        </p:scale>
        <p:origin x="264" y="176"/>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9E998F9-3FCF-EE98-DDF7-797070704F5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F107BCE-6575-3708-CE01-188A867AA0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D37F8BE-EF52-EF4C-4C62-966744DE27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0549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F5A631E-11EF-7117-64C3-BB8CF9B6452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5231105-CF44-72B6-2673-21C8BAD270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9854D05-3A09-56C0-E89B-EBABC62DFD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0263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DA447BA-A900-5B72-1413-E9978B2CEF1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152C9F9-0491-CF19-EBF6-944E302854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F0CB10A-B856-52D3-116A-910D796067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0935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51DCCF-28D5-6285-0B84-4A346F41077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D31E883-C1A8-5347-4728-7A350D3AE6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8F300F1-F946-894E-7E6F-6D16A84270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0911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952F22A-B522-3F7F-EB7F-9FA66A6CBF3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AB2B379-32B8-A8BF-C5B5-FEED64C71A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968CF6E-7557-32C7-5F5B-890A408C4D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8624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EED02F9-6B82-F721-8D53-B8DD2A879AF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51939F8-C246-6195-04A5-E875F1187B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F18528E-01F4-4661-24D2-11D49E356F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79063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F7F05E1-AD3D-8D31-9318-164D5046E94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BAC08A2-768E-5EC5-6BAA-B89FE6E095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094B54C-B45B-DB09-7C17-4475342A31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6589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6D49381-67C0-C07B-203A-A470AC9AA1B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169901A-C176-27A7-35F4-E0C74757DC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8414AF8-D49A-730B-2ADA-FBFE385578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9220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E11E588-D7E6-6879-798A-FAE82EA0269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C2DE4EE-38AF-4322-8E6C-85ADFF36F5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B54A639-48E7-D468-01CB-6732170C81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7270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FEBE835-D3A6-8C95-B24A-52EC9D37910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7618C9A-AF70-A21C-A45F-BDB83BD20E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AE61C06-1F12-669D-3EA8-995CB71C12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7771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7442FD6-1C18-AB48-CF65-6E6304617E2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0BECE73-A59F-9C62-5CAA-D8BDF05D61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0F846C1-6A3F-C950-A43A-A046A5B010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9686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B18F022-D7C9-E7FE-B903-70CE012F7E6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E407C7A-8B31-FDD9-ADB9-9A1B27E049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AD66F9F-0A63-50C5-06E9-3836A81108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7889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hyperlink" Target="https://course.fast.ai/" TargetMode="External"/><Relationship Id="rId4" Type="http://schemas.openxmlformats.org/officeDocument/2006/relationships/hyperlink" Target="https://www.coursera.org/specializations/deep-learning" TargetMode="External"/></Relationships>
</file>

<file path=ppt/slides/_rels/slide19.xml.rels><?xml version="1.0" encoding="UTF-8" standalone="yes"?>
<Relationships xmlns="http://schemas.openxmlformats.org/package/2006/relationships"><Relationship Id="rId2" Type="http://schemas.openxmlformats.org/officeDocument/2006/relationships/hyperlink" Target="https://drive.google.com/file/d/1GqPC0dfghOKGOx55MBfk1g5NCVvOIUYv/view?usp=share_link"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notesSlide" Target="../notesSlides/notesSlide19.xml"/><Relationship Id="rId16"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0" y="1984439"/>
            <a:ext cx="8520600" cy="2052600"/>
          </a:xfrm>
          <a:prstGeom prst="rect">
            <a:avLst/>
          </a:prstGeom>
          <a:noFill/>
          <a:ln>
            <a:noFill/>
          </a:ln>
        </p:spPr>
        <p:txBody>
          <a:bodyPr spcFirstLastPara="1" wrap="square" lIns="91425" tIns="91425" rIns="91425" bIns="91425" anchor="b" anchorCtr="0">
            <a:normAutofit fontScale="90000"/>
          </a:bodyPr>
          <a:lstStyle/>
          <a:p>
            <a:r>
              <a:rPr lang="en-GB" sz="3200" b="1" i="0" u="none" strike="noStrike" dirty="0">
                <a:solidFill>
                  <a:srgbClr val="7030A0"/>
                </a:solidFill>
                <a:effectLst/>
                <a:latin typeface="Arial" panose="020B0604020202020204" pitchFamily="34" charset="0"/>
              </a:rPr>
              <a:t>Image Processing Basics for Deep Learning</a:t>
            </a:r>
            <a:br>
              <a:rPr lang="en-GB" sz="3200" b="1" i="0" u="none" strike="noStrike" dirty="0">
                <a:solidFill>
                  <a:srgbClr val="7030A0"/>
                </a:solidFill>
                <a:effectLst/>
                <a:latin typeface="Arial" panose="020B0604020202020204" pitchFamily="34" charset="0"/>
              </a:rPr>
            </a:br>
            <a:br>
              <a:rPr lang="en-GB" sz="3200" b="1" i="0" u="none" strike="noStrike" dirty="0">
                <a:solidFill>
                  <a:srgbClr val="7030A0"/>
                </a:solidFill>
                <a:effectLst/>
                <a:latin typeface="Arial" panose="020B0604020202020204" pitchFamily="34" charset="0"/>
              </a:rPr>
            </a:b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
        <p:nvSpPr>
          <p:cNvPr id="3" name="Subtitle 2">
            <a:extLst>
              <a:ext uri="{FF2B5EF4-FFF2-40B4-BE49-F238E27FC236}">
                <a16:creationId xmlns:a16="http://schemas.microsoft.com/office/drawing/2014/main" id="{BA5FBE97-4E33-20EA-01D4-C78A6A83FC02}"/>
              </a:ext>
            </a:extLst>
          </p:cNvPr>
          <p:cNvSpPr>
            <a:spLocks noGrp="1"/>
          </p:cNvSpPr>
          <p:nvPr>
            <p:ph type="subTitle" idx="1"/>
          </p:nvPr>
        </p:nvSpPr>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613123" y="727234"/>
            <a:ext cx="7107804" cy="3847167"/>
          </a:xfrm>
          <a:prstGeom prst="rect">
            <a:avLst/>
          </a:prstGeom>
          <a:noFill/>
          <a:ln>
            <a:noFill/>
          </a:ln>
        </p:spPr>
        <p:txBody>
          <a:bodyPr spcFirstLastPara="1" wrap="square" lIns="91425" tIns="45700" rIns="91425" bIns="45700" anchor="t" anchorCtr="0">
            <a:spAutoFit/>
          </a:bodyPr>
          <a:lstStyle/>
          <a:p>
            <a:pPr marR="0" lvl="0" algn="just" rtl="0">
              <a:lnSpc>
                <a:spcPct val="125000"/>
              </a:lnSpc>
              <a:spcBef>
                <a:spcPts val="0"/>
              </a:spcBef>
              <a:spcAft>
                <a:spcPts val="0"/>
              </a:spcAft>
            </a:pPr>
            <a:r>
              <a:rPr lang="en-US" sz="2400" b="1" i="0" u="none" strike="noStrike" cap="none" dirty="0">
                <a:solidFill>
                  <a:srgbClr val="7030A0"/>
                </a:solidFill>
                <a:latin typeface="Arial"/>
                <a:ea typeface="Arial"/>
                <a:cs typeface="Arial"/>
                <a:sym typeface="Arial"/>
              </a:rPr>
              <a:t>Course Objectives:</a:t>
            </a:r>
            <a:endParaRPr dirty="0"/>
          </a:p>
          <a:p>
            <a:pPr marL="457200" indent="-457200" algn="l">
              <a:buFont typeface="+mj-lt"/>
              <a:buAutoNum type="arabicPeriod"/>
            </a:pPr>
            <a:r>
              <a:rPr lang="en-GB" sz="2000" b="0" i="0" u="none" strike="noStrike" dirty="0">
                <a:solidFill>
                  <a:srgbClr val="404040"/>
                </a:solidFill>
                <a:effectLst/>
                <a:latin typeface="DeepSeek-CJK-patch"/>
              </a:rPr>
              <a:t>Explain digital image representation as numerical pixel arrays.</a:t>
            </a:r>
          </a:p>
          <a:p>
            <a:pPr marL="457200" indent="-457200" algn="l">
              <a:spcBef>
                <a:spcPts val="300"/>
              </a:spcBef>
              <a:buFont typeface="+mj-lt"/>
              <a:buAutoNum type="arabicPeriod"/>
            </a:pPr>
            <a:r>
              <a:rPr lang="en-GB" sz="2000" b="0" i="0" u="none" strike="noStrike" dirty="0">
                <a:solidFill>
                  <a:srgbClr val="404040"/>
                </a:solidFill>
                <a:effectLst/>
                <a:latin typeface="DeepSeek-CJK-patch"/>
              </a:rPr>
              <a:t>Differentiate between RGB and grayscale image formats.</a:t>
            </a:r>
          </a:p>
          <a:p>
            <a:pPr marL="457200" indent="-457200" algn="l">
              <a:spcBef>
                <a:spcPts val="300"/>
              </a:spcBef>
              <a:buFont typeface="+mj-lt"/>
              <a:buAutoNum type="arabicPeriod"/>
            </a:pPr>
            <a:r>
              <a:rPr lang="en-GB" sz="2000" b="0" i="0" u="none" strike="noStrike" dirty="0">
                <a:solidFill>
                  <a:srgbClr val="404040"/>
                </a:solidFill>
                <a:effectLst/>
                <a:latin typeface="DeepSeek-CJK-patch"/>
              </a:rPr>
              <a:t>Resize images to standard dimensions for model input.</a:t>
            </a:r>
          </a:p>
          <a:p>
            <a:pPr marL="457200" indent="-457200" algn="l">
              <a:spcBef>
                <a:spcPts val="300"/>
              </a:spcBef>
              <a:buFont typeface="+mj-lt"/>
              <a:buAutoNum type="arabicPeriod"/>
            </a:pPr>
            <a:r>
              <a:rPr lang="en-GB" sz="2000" b="0" i="0" u="none" strike="noStrike" dirty="0">
                <a:solidFill>
                  <a:srgbClr val="404040"/>
                </a:solidFill>
                <a:effectLst/>
                <a:latin typeface="DeepSeek-CJK-patch"/>
              </a:rPr>
              <a:t>Normalize pixel values to improve model training.</a:t>
            </a:r>
          </a:p>
          <a:p>
            <a:pPr marL="457200" indent="-457200" algn="l">
              <a:spcBef>
                <a:spcPts val="300"/>
              </a:spcBef>
              <a:buFont typeface="+mj-lt"/>
              <a:buAutoNum type="arabicPeriod"/>
            </a:pPr>
            <a:r>
              <a:rPr lang="en-GB" sz="2000" b="0" i="0" u="none" strike="noStrike" dirty="0">
                <a:solidFill>
                  <a:srgbClr val="404040"/>
                </a:solidFill>
                <a:effectLst/>
                <a:latin typeface="DeepSeek-CJK-patch"/>
              </a:rPr>
              <a:t>Convert images between </a:t>
            </a:r>
            <a:r>
              <a:rPr lang="en-GB" sz="2000" b="0" i="0" u="none" strike="noStrike" dirty="0" err="1">
                <a:solidFill>
                  <a:srgbClr val="404040"/>
                </a:solidFill>
                <a:effectLst/>
                <a:latin typeface="DeepSeek-CJK-patch"/>
              </a:rPr>
              <a:t>color</a:t>
            </a:r>
            <a:r>
              <a:rPr lang="en-GB" sz="2000" b="0" i="0" u="none" strike="noStrike" dirty="0">
                <a:solidFill>
                  <a:srgbClr val="404040"/>
                </a:solidFill>
                <a:effectLst/>
                <a:latin typeface="DeepSeek-CJK-patch"/>
              </a:rPr>
              <a:t> spaces (RGB, grayscale).</a:t>
            </a:r>
          </a:p>
          <a:p>
            <a:pPr marL="457200" indent="-457200" algn="l">
              <a:spcBef>
                <a:spcPts val="300"/>
              </a:spcBef>
              <a:buFont typeface="+mj-lt"/>
              <a:buAutoNum type="arabicPeriod"/>
            </a:pPr>
            <a:r>
              <a:rPr lang="en-GB" sz="2000" b="0" i="0" u="none" strike="noStrike" dirty="0">
                <a:solidFill>
                  <a:srgbClr val="404040"/>
                </a:solidFill>
                <a:effectLst/>
                <a:latin typeface="DeepSeek-CJK-patch"/>
              </a:rPr>
              <a:t>Implement data augmentation to expand training datasets.</a:t>
            </a:r>
          </a:p>
          <a:p>
            <a:pPr marL="457200" indent="-457200" algn="l">
              <a:spcBef>
                <a:spcPts val="300"/>
              </a:spcBef>
              <a:buFont typeface="+mj-lt"/>
              <a:buAutoNum type="arabicPeriod"/>
            </a:pPr>
            <a:r>
              <a:rPr lang="en-GB" sz="2000" b="0" i="0" u="none" strike="noStrike" dirty="0">
                <a:solidFill>
                  <a:srgbClr val="404040"/>
                </a:solidFill>
                <a:effectLst/>
                <a:latin typeface="DeepSeek-CJK-patch"/>
              </a:rPr>
              <a:t>Load and preprocess images from local and web sources.</a:t>
            </a:r>
          </a:p>
          <a:p>
            <a:pPr marL="457200" indent="-457200" algn="l">
              <a:spcBef>
                <a:spcPts val="300"/>
              </a:spcBef>
              <a:buFont typeface="+mj-lt"/>
              <a:buAutoNum type="arabicPeriod"/>
            </a:pPr>
            <a:r>
              <a:rPr lang="en-GB" sz="2000" b="0" i="0" u="none" strike="noStrike" dirty="0">
                <a:solidFill>
                  <a:srgbClr val="404040"/>
                </a:solidFill>
                <a:effectLst/>
                <a:latin typeface="DeepSeek-CJK-patch"/>
              </a:rPr>
              <a:t>Visualize image transformations using Python libraries.</a:t>
            </a:r>
          </a:p>
          <a:p>
            <a:pPr marL="457200" indent="-457200" algn="l">
              <a:spcBef>
                <a:spcPts val="300"/>
              </a:spcBef>
              <a:buFont typeface="+mj-lt"/>
              <a:buAutoNum type="arabicPeriod"/>
            </a:pPr>
            <a:r>
              <a:rPr lang="en-GB" sz="2000" b="0" i="0" u="none" strike="noStrike" dirty="0">
                <a:solidFill>
                  <a:srgbClr val="404040"/>
                </a:solidFill>
                <a:effectLst/>
                <a:latin typeface="DeepSeek-CJK-patch"/>
              </a:rPr>
              <a:t>Process CIFAR-10 dataset for machine learning applications.</a:t>
            </a:r>
          </a:p>
          <a:p>
            <a:pPr marL="342900" marR="0" lvl="0" indent="-342900" algn="l" rtl="0">
              <a:lnSpc>
                <a:spcPct val="100000"/>
              </a:lnSpc>
              <a:spcBef>
                <a:spcPts val="0"/>
              </a:spcBef>
              <a:spcAft>
                <a:spcPts val="0"/>
              </a:spcAft>
              <a:buFont typeface="+mj-lt"/>
              <a:buAutoNum type="arabicPeriod"/>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Understanding Images as Data</a:t>
            </a: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1E7B443-016B-2F0F-23AA-504B7B468665}"/>
              </a:ext>
            </a:extLst>
          </p:cNvPr>
          <p:cNvSpPr txBox="1"/>
          <p:nvPr/>
        </p:nvSpPr>
        <p:spPr>
          <a:xfrm>
            <a:off x="174929" y="850790"/>
            <a:ext cx="8841850" cy="4278094"/>
          </a:xfrm>
          <a:prstGeom prst="rect">
            <a:avLst/>
          </a:prstGeom>
          <a:noFill/>
        </p:spPr>
        <p:txBody>
          <a:bodyPr wrap="square">
            <a:spAutoFit/>
          </a:bodyPr>
          <a:lstStyle/>
          <a:p>
            <a:pPr>
              <a:buNone/>
            </a:pPr>
            <a:r>
              <a:rPr lang="en-GB" sz="1600" b="1"/>
              <a:t>What </a:t>
            </a:r>
            <a:r>
              <a:rPr lang="en-GB" sz="1600" b="1" dirty="0"/>
              <a:t>is an Image?</a:t>
            </a:r>
          </a:p>
          <a:p>
            <a:pPr marL="285750" indent="-285750">
              <a:buFont typeface="Wingdings" pitchFamily="2" charset="2"/>
              <a:buChar char="ü"/>
            </a:pPr>
            <a:r>
              <a:rPr lang="en-GB" sz="1600" dirty="0"/>
              <a:t>An </a:t>
            </a:r>
            <a:r>
              <a:rPr lang="en-GB" sz="1600" b="1" dirty="0"/>
              <a:t>image</a:t>
            </a:r>
            <a:r>
              <a:rPr lang="en-GB" sz="1600" dirty="0"/>
              <a:t> is a grid of </a:t>
            </a:r>
            <a:r>
              <a:rPr lang="en-GB" sz="1600" b="1" dirty="0"/>
              <a:t>pixels</a:t>
            </a:r>
            <a:r>
              <a:rPr lang="en-GB" sz="1600" dirty="0"/>
              <a:t> (picture elements).</a:t>
            </a:r>
          </a:p>
          <a:p>
            <a:pPr marL="285750" indent="-285750">
              <a:buFont typeface="Wingdings" pitchFamily="2" charset="2"/>
              <a:buChar char="ü"/>
            </a:pPr>
            <a:r>
              <a:rPr lang="en-GB" sz="1600" dirty="0"/>
              <a:t>Each pixel represents a </a:t>
            </a:r>
            <a:r>
              <a:rPr lang="en-GB" sz="1600" dirty="0" err="1"/>
              <a:t>color</a:t>
            </a:r>
            <a:r>
              <a:rPr lang="en-GB" sz="1600" dirty="0"/>
              <a:t> intensity value.</a:t>
            </a:r>
          </a:p>
          <a:p>
            <a:pPr>
              <a:buNone/>
            </a:pPr>
            <a:r>
              <a:rPr lang="en-GB" sz="1600" b="1" dirty="0"/>
              <a:t> Pixels: The Building Blocks of Images</a:t>
            </a:r>
          </a:p>
          <a:p>
            <a:r>
              <a:rPr lang="en-GB" sz="1600" b="1" dirty="0"/>
              <a:t>What is a pixel?</a:t>
            </a:r>
            <a:br>
              <a:rPr lang="en-GB" sz="1600" dirty="0"/>
            </a:br>
            <a:r>
              <a:rPr lang="en-GB" sz="1600" dirty="0"/>
              <a:t>A </a:t>
            </a:r>
            <a:r>
              <a:rPr lang="en-GB" sz="1600" b="1" dirty="0"/>
              <a:t>pixel</a:t>
            </a:r>
            <a:r>
              <a:rPr lang="en-GB" sz="1600" dirty="0"/>
              <a:t> (short for </a:t>
            </a:r>
            <a:r>
              <a:rPr lang="en-GB" sz="1600" i="1" dirty="0"/>
              <a:t>picture element</a:t>
            </a:r>
            <a:r>
              <a:rPr lang="en-GB" sz="1600" dirty="0"/>
              <a:t>) is the smallest unit of an image. Think of it as a tiny square that holds a </a:t>
            </a:r>
            <a:r>
              <a:rPr lang="en-GB" sz="1600" dirty="0" err="1"/>
              <a:t>color</a:t>
            </a:r>
            <a:r>
              <a:rPr lang="en-GB" sz="1600" dirty="0"/>
              <a:t> or brightness value.</a:t>
            </a:r>
          </a:p>
          <a:p>
            <a:r>
              <a:rPr lang="en-GB" sz="1600" b="1" dirty="0"/>
              <a:t>How do pixels form an image?</a:t>
            </a:r>
            <a:br>
              <a:rPr lang="en-GB" sz="1600" dirty="0"/>
            </a:br>
            <a:r>
              <a:rPr lang="en-GB" sz="1600" dirty="0"/>
              <a:t>Images are made by arranging pixels in a grid (rows × columns). The higher the number of pixels, the more detailed (higher resolution) the image.</a:t>
            </a:r>
          </a:p>
          <a:p>
            <a:pPr>
              <a:buNone/>
            </a:pPr>
            <a:r>
              <a:rPr lang="en-GB" sz="1600" b="1" dirty="0"/>
              <a:t>Grayscale Images (1 Channel)</a:t>
            </a:r>
          </a:p>
          <a:p>
            <a:pPr marL="285750" indent="-285750">
              <a:buFont typeface="Wingdings" pitchFamily="2" charset="2"/>
              <a:buChar char="Ø"/>
            </a:pPr>
            <a:r>
              <a:rPr lang="en-GB" sz="1600" dirty="0"/>
              <a:t>Each pixel holds </a:t>
            </a:r>
            <a:r>
              <a:rPr lang="en-GB" sz="1600" b="1" dirty="0"/>
              <a:t>one value</a:t>
            </a:r>
            <a:r>
              <a:rPr lang="en-GB" sz="1600" dirty="0"/>
              <a:t> representing intensity or brightness.</a:t>
            </a:r>
          </a:p>
          <a:p>
            <a:pPr marL="285750" indent="-285750">
              <a:buFont typeface="Wingdings" pitchFamily="2" charset="2"/>
              <a:buChar char="Ø"/>
            </a:pPr>
            <a:r>
              <a:rPr lang="en-GB" sz="1600" dirty="0"/>
              <a:t>Intensity ranges from </a:t>
            </a:r>
            <a:r>
              <a:rPr lang="en-GB" sz="1600" b="1" dirty="0"/>
              <a:t>0 to 255</a:t>
            </a:r>
            <a:r>
              <a:rPr lang="en-GB" sz="1600" dirty="0"/>
              <a:t>:</a:t>
            </a:r>
          </a:p>
          <a:p>
            <a:pPr marL="742950" lvl="1" indent="-285750">
              <a:buFont typeface="Wingdings" pitchFamily="2" charset="2"/>
              <a:buChar char="ü"/>
            </a:pPr>
            <a:r>
              <a:rPr lang="en-GB" sz="1600" dirty="0"/>
              <a:t>0 = </a:t>
            </a:r>
            <a:r>
              <a:rPr lang="en-GB" sz="1600" b="1" dirty="0"/>
              <a:t>black</a:t>
            </a:r>
            <a:endParaRPr lang="en-GB" sz="1600" dirty="0"/>
          </a:p>
          <a:p>
            <a:pPr marL="742950" lvl="1" indent="-285750">
              <a:buFont typeface="Wingdings" pitchFamily="2" charset="2"/>
              <a:buChar char="ü"/>
            </a:pPr>
            <a:r>
              <a:rPr lang="en-GB" sz="1600" dirty="0"/>
              <a:t>255 = </a:t>
            </a:r>
            <a:r>
              <a:rPr lang="en-GB" sz="1600" b="1" dirty="0"/>
              <a:t>white</a:t>
            </a:r>
            <a:endParaRPr lang="en-GB" sz="1600" dirty="0"/>
          </a:p>
          <a:p>
            <a:pPr marL="742950" lvl="1" indent="-285750">
              <a:buFont typeface="Wingdings" pitchFamily="2" charset="2"/>
              <a:buChar char="ü"/>
            </a:pPr>
            <a:r>
              <a:rPr lang="en-GB" sz="1600" dirty="0"/>
              <a:t>Values in between represent shades of </a:t>
            </a:r>
            <a:r>
              <a:rPr lang="en-GB" sz="1600" dirty="0" err="1"/>
              <a:t>gray</a:t>
            </a:r>
            <a:r>
              <a:rPr lang="en-GB" sz="1600" dirty="0"/>
              <a:t>.</a:t>
            </a:r>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A5C7C7A-7683-005D-18DA-13DEAAAD4CA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551EF9A-8873-7923-CC0D-4C79B0F8D0EE}"/>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Understanding Images as Data</a:t>
            </a: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3F601CD-7851-073C-86C0-5A9FD0EC570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2545AFAF-5623-EC89-486C-7EDB9CBE4DFE}"/>
              </a:ext>
            </a:extLst>
          </p:cNvPr>
          <p:cNvSpPr txBox="1"/>
          <p:nvPr/>
        </p:nvSpPr>
        <p:spPr>
          <a:xfrm>
            <a:off x="174929" y="850790"/>
            <a:ext cx="8841850" cy="3785652"/>
          </a:xfrm>
          <a:prstGeom prst="rect">
            <a:avLst/>
          </a:prstGeom>
          <a:noFill/>
        </p:spPr>
        <p:txBody>
          <a:bodyPr wrap="square">
            <a:spAutoFit/>
          </a:bodyPr>
          <a:lstStyle/>
          <a:p>
            <a:pPr>
              <a:buNone/>
            </a:pPr>
            <a:r>
              <a:rPr lang="en-GB" sz="1600" dirty="0"/>
              <a:t>Example:</a:t>
            </a:r>
            <a:br>
              <a:rPr lang="en-GB" sz="1600" dirty="0"/>
            </a:br>
            <a:r>
              <a:rPr lang="en-GB" sz="1600" dirty="0"/>
              <a:t>A 28×28 grayscale image (like in MNIST dataset) has 28×28 = 784 pixel values.</a:t>
            </a:r>
          </a:p>
          <a:p>
            <a:pPr>
              <a:buNone/>
            </a:pPr>
            <a:r>
              <a:rPr lang="en-GB" sz="1600" b="1" dirty="0"/>
              <a:t>RGB Images (3 Channels)</a:t>
            </a:r>
          </a:p>
          <a:p>
            <a:r>
              <a:rPr lang="en-GB" sz="1600" dirty="0"/>
              <a:t>Each pixel has </a:t>
            </a:r>
            <a:r>
              <a:rPr lang="en-GB" sz="1600" b="1" dirty="0"/>
              <a:t>three values</a:t>
            </a:r>
            <a:r>
              <a:rPr lang="en-GB" sz="1600" dirty="0"/>
              <a:t>, one for each </a:t>
            </a:r>
            <a:r>
              <a:rPr lang="en-GB" sz="1600" dirty="0" err="1"/>
              <a:t>color</a:t>
            </a:r>
            <a:r>
              <a:rPr lang="en-GB" sz="1600" dirty="0"/>
              <a:t> channel:</a:t>
            </a:r>
          </a:p>
          <a:p>
            <a:pPr marL="800100" lvl="1" indent="-342900">
              <a:buFont typeface="+mj-lt"/>
              <a:buAutoNum type="arabicPeriod"/>
            </a:pPr>
            <a:r>
              <a:rPr lang="en-GB" sz="1600" b="1" dirty="0"/>
              <a:t>R (Red)</a:t>
            </a:r>
            <a:endParaRPr lang="en-GB" sz="1600" dirty="0"/>
          </a:p>
          <a:p>
            <a:pPr marL="800100" lvl="1" indent="-342900">
              <a:buFont typeface="+mj-lt"/>
              <a:buAutoNum type="arabicPeriod"/>
            </a:pPr>
            <a:r>
              <a:rPr lang="en-GB" sz="1600" b="1" dirty="0"/>
              <a:t>G (Green)</a:t>
            </a:r>
            <a:endParaRPr lang="en-GB" sz="1600" dirty="0"/>
          </a:p>
          <a:p>
            <a:pPr marL="800100" lvl="1" indent="-342900">
              <a:buFont typeface="+mj-lt"/>
              <a:buAutoNum type="arabicPeriod"/>
            </a:pPr>
            <a:r>
              <a:rPr lang="en-GB" sz="1600" b="1" dirty="0"/>
              <a:t>B (Blue)</a:t>
            </a:r>
            <a:endParaRPr lang="en-GB" sz="1600" dirty="0"/>
          </a:p>
          <a:p>
            <a:pPr marL="285750" indent="-285750">
              <a:buFont typeface="Wingdings" pitchFamily="2" charset="2"/>
              <a:buChar char="ü"/>
            </a:pPr>
            <a:r>
              <a:rPr lang="en-GB" sz="1600" dirty="0"/>
              <a:t>Each value ranges from 0 to 255.</a:t>
            </a:r>
          </a:p>
          <a:p>
            <a:pPr marL="285750" indent="-285750">
              <a:buFont typeface="Wingdings" pitchFamily="2" charset="2"/>
              <a:buChar char="ü"/>
            </a:pPr>
            <a:r>
              <a:rPr lang="en-GB" sz="1600" dirty="0"/>
              <a:t>The combination of these three determines the final </a:t>
            </a:r>
            <a:r>
              <a:rPr lang="en-GB" sz="1600" dirty="0" err="1"/>
              <a:t>color</a:t>
            </a:r>
            <a:r>
              <a:rPr lang="en-GB" sz="1600" dirty="0"/>
              <a:t> of the pixel.</a:t>
            </a:r>
          </a:p>
          <a:p>
            <a:r>
              <a:rPr lang="en-GB" sz="1600" dirty="0"/>
              <a:t> Example:</a:t>
            </a:r>
            <a:br>
              <a:rPr lang="en-GB" sz="1600" dirty="0"/>
            </a:br>
            <a:r>
              <a:rPr lang="en-GB" sz="1600" dirty="0"/>
              <a:t>An RGB image of 100×100 size will have 100×100×3 = 30,000 values.</a:t>
            </a:r>
          </a:p>
          <a:p>
            <a:pPr>
              <a:buNone/>
            </a:pPr>
            <a:r>
              <a:rPr lang="en-GB" sz="1600" b="1" dirty="0"/>
              <a:t>Think of it this way:</a:t>
            </a:r>
          </a:p>
          <a:p>
            <a:pPr marL="285750" indent="-285750">
              <a:buFont typeface="Wingdings" pitchFamily="2" charset="2"/>
              <a:buChar char="ü"/>
            </a:pPr>
            <a:r>
              <a:rPr lang="en-GB" sz="1600" b="1" dirty="0"/>
              <a:t>Grayscale = 2D matrix</a:t>
            </a:r>
            <a:r>
              <a:rPr lang="en-GB" sz="1600" dirty="0"/>
              <a:t> (Height × Width)</a:t>
            </a:r>
          </a:p>
          <a:p>
            <a:pPr marL="285750" indent="-285750">
              <a:buFont typeface="Wingdings" pitchFamily="2" charset="2"/>
              <a:buChar char="ü"/>
            </a:pPr>
            <a:r>
              <a:rPr lang="en-GB" sz="1600" b="1" dirty="0"/>
              <a:t>RGB = 3D matrix</a:t>
            </a:r>
            <a:r>
              <a:rPr lang="en-GB" sz="1600" dirty="0"/>
              <a:t> (Height × Width × 3)</a:t>
            </a:r>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219210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9EF1289-3371-55F6-8A82-D08450725A3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682839C-AD5D-47BD-7B4A-29626EAE1E60}"/>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Viewing Pixel Values in an Image</a:t>
            </a: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7561D862-76AF-DE7D-0E08-D7D82CA3643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C9C11E75-F4BA-027A-A1DF-54287A74411B}"/>
              </a:ext>
            </a:extLst>
          </p:cNvPr>
          <p:cNvSpPr txBox="1"/>
          <p:nvPr/>
        </p:nvSpPr>
        <p:spPr>
          <a:xfrm>
            <a:off x="0" y="581037"/>
            <a:ext cx="8033117" cy="523220"/>
          </a:xfrm>
          <a:prstGeom prst="rect">
            <a:avLst/>
          </a:prstGeom>
          <a:noFill/>
        </p:spPr>
        <p:txBody>
          <a:bodyPr wrap="square">
            <a:spAutoFit/>
          </a:bodyPr>
          <a:lstStyle/>
          <a:p>
            <a:r>
              <a:rPr lang="en-GB" dirty="0"/>
              <a:t>When working with images in computer vision or machine learning, it's important to understand how to view and interpret pixel values.</a:t>
            </a:r>
          </a:p>
        </p:txBody>
      </p:sp>
      <p:sp>
        <p:nvSpPr>
          <p:cNvPr id="7" name="TextBox 6">
            <a:extLst>
              <a:ext uri="{FF2B5EF4-FFF2-40B4-BE49-F238E27FC236}">
                <a16:creationId xmlns:a16="http://schemas.microsoft.com/office/drawing/2014/main" id="{6145C0DB-902A-0944-E7B8-5E368D01F5EA}"/>
              </a:ext>
            </a:extLst>
          </p:cNvPr>
          <p:cNvSpPr txBox="1"/>
          <p:nvPr/>
        </p:nvSpPr>
        <p:spPr>
          <a:xfrm>
            <a:off x="74626" y="1208937"/>
            <a:ext cx="4134637" cy="3504806"/>
          </a:xfrm>
          <a:prstGeom prst="rect">
            <a:avLst/>
          </a:prstGeom>
          <a:solidFill>
            <a:schemeClr val="accent1">
              <a:lumMod val="40000"/>
              <a:lumOff val="60000"/>
            </a:schemeClr>
          </a:solidFill>
        </p:spPr>
        <p:txBody>
          <a:bodyPr wrap="square">
            <a:spAutoFit/>
          </a:bodyPr>
          <a:lstStyle/>
          <a:p>
            <a:pPr algn="l">
              <a:lnSpc>
                <a:spcPts val="1425"/>
              </a:lnSpc>
              <a:buNone/>
            </a:pPr>
            <a:br>
              <a:rPr lang="en-GB" sz="1200" b="0" i="0" u="none" strike="noStrike" dirty="0">
                <a:solidFill>
                  <a:srgbClr val="000000"/>
                </a:solidFill>
                <a:effectLst/>
                <a:latin typeface="Courier New" panose="02070309020205020404" pitchFamily="49" charset="0"/>
              </a:rPr>
            </a:br>
            <a:r>
              <a:rPr lang="en-GB" sz="1200" b="0" i="0" u="none" strike="noStrike" dirty="0">
                <a:solidFill>
                  <a:srgbClr val="008000"/>
                </a:solidFill>
                <a:effectLst/>
                <a:latin typeface="Courier New" panose="02070309020205020404" pitchFamily="49" charset="0"/>
              </a:rPr>
              <a:t># Load an image</a:t>
            </a:r>
            <a:endParaRPr lang="en-GB" sz="1200" b="0" i="0" u="none" strike="noStrike" dirty="0">
              <a:solidFill>
                <a:srgbClr val="000000"/>
              </a:solidFill>
              <a:effectLst/>
              <a:latin typeface="Courier New" panose="02070309020205020404" pitchFamily="49" charset="0"/>
            </a:endParaRPr>
          </a:p>
          <a:p>
            <a:pPr algn="l">
              <a:lnSpc>
                <a:spcPts val="1425"/>
              </a:lnSpc>
              <a:buNone/>
            </a:pPr>
            <a:r>
              <a:rPr lang="en-GB" sz="1200" b="0" i="0" u="none" strike="noStrike" dirty="0">
                <a:solidFill>
                  <a:srgbClr val="000000"/>
                </a:solidFill>
                <a:effectLst/>
                <a:latin typeface="Courier New" panose="02070309020205020404" pitchFamily="49" charset="0"/>
              </a:rPr>
              <a:t>image = cv2.imread(</a:t>
            </a:r>
            <a:r>
              <a:rPr lang="en-GB" sz="1200" b="0" i="0" u="none" strike="noStrike" dirty="0">
                <a:solidFill>
                  <a:srgbClr val="A31515"/>
                </a:solidFill>
                <a:effectLst/>
                <a:latin typeface="Courier New" panose="02070309020205020404" pitchFamily="49" charset="0"/>
              </a:rPr>
              <a:t>"/content/</a:t>
            </a:r>
            <a:r>
              <a:rPr lang="en-GB" sz="1200" b="0" i="0" u="none" strike="noStrike" dirty="0" err="1">
                <a:solidFill>
                  <a:srgbClr val="A31515"/>
                </a:solidFill>
                <a:effectLst/>
                <a:latin typeface="Courier New" panose="02070309020205020404" pitchFamily="49" charset="0"/>
              </a:rPr>
              <a:t>tiger.jpeg</a:t>
            </a:r>
            <a:r>
              <a:rPr lang="en-GB" sz="1200" b="0" i="0" u="none" strike="noStrike" dirty="0">
                <a:solidFill>
                  <a:srgbClr val="A31515"/>
                </a:solidFill>
                <a:effectLst/>
                <a:latin typeface="Courier New" panose="02070309020205020404" pitchFamily="49" charset="0"/>
              </a:rPr>
              <a:t>"</a:t>
            </a:r>
            <a:r>
              <a:rPr lang="en-GB" sz="1200" b="0" i="0" u="none" strike="noStrike" dirty="0">
                <a:solidFill>
                  <a:srgbClr val="000000"/>
                </a:solidFill>
                <a:effectLst/>
                <a:latin typeface="Courier New" panose="02070309020205020404" pitchFamily="49" charset="0"/>
              </a:rPr>
              <a:t>) </a:t>
            </a:r>
            <a:r>
              <a:rPr lang="en-GB" sz="1200" b="0" i="0" u="none" strike="noStrike" dirty="0">
                <a:solidFill>
                  <a:srgbClr val="008000"/>
                </a:solidFill>
                <a:effectLst/>
                <a:latin typeface="Courier New" panose="02070309020205020404" pitchFamily="49" charset="0"/>
              </a:rPr>
              <a:t># BGR format (OpenCV default)</a:t>
            </a:r>
            <a:endParaRPr lang="en-GB" sz="1200" b="0" i="0" u="none" strike="noStrike" dirty="0">
              <a:solidFill>
                <a:srgbClr val="000000"/>
              </a:solidFill>
              <a:effectLst/>
              <a:latin typeface="Courier New" panose="02070309020205020404" pitchFamily="49" charset="0"/>
            </a:endParaRPr>
          </a:p>
          <a:p>
            <a:pPr algn="l">
              <a:lnSpc>
                <a:spcPts val="1425"/>
              </a:lnSpc>
              <a:buNone/>
            </a:pPr>
            <a:r>
              <a:rPr lang="en-GB" sz="1200" b="0" i="0" u="none" strike="noStrike" dirty="0">
                <a:solidFill>
                  <a:srgbClr val="795E26"/>
                </a:solidFill>
                <a:effectLst/>
                <a:latin typeface="Courier New" panose="02070309020205020404" pitchFamily="49" charset="0"/>
              </a:rPr>
              <a:t>print</a:t>
            </a:r>
            <a:r>
              <a:rPr lang="en-GB" sz="1200" b="0" i="0" u="none" strike="noStrike" dirty="0">
                <a:solidFill>
                  <a:srgbClr val="000000"/>
                </a:solidFill>
                <a:effectLst/>
                <a:latin typeface="Courier New" panose="02070309020205020404" pitchFamily="49" charset="0"/>
              </a:rPr>
              <a:t>(</a:t>
            </a:r>
            <a:r>
              <a:rPr lang="en-GB" sz="1200" b="0" i="0" u="none" strike="noStrike" dirty="0">
                <a:solidFill>
                  <a:srgbClr val="A31515"/>
                </a:solidFill>
                <a:effectLst/>
                <a:latin typeface="Courier New" panose="02070309020205020404" pitchFamily="49" charset="0"/>
              </a:rPr>
              <a:t>"Image shape (height, width, channels):"</a:t>
            </a:r>
            <a:r>
              <a:rPr lang="en-GB" sz="1200" b="0" i="0" u="none" strike="noStrike" dirty="0">
                <a:solidFill>
                  <a:srgbClr val="000000"/>
                </a:solidFill>
                <a:effectLst/>
                <a:latin typeface="Courier New" panose="02070309020205020404" pitchFamily="49" charset="0"/>
              </a:rPr>
              <a:t>, </a:t>
            </a:r>
            <a:r>
              <a:rPr lang="en-GB" sz="1200" b="0" i="0" u="none" strike="noStrike" dirty="0" err="1">
                <a:solidFill>
                  <a:srgbClr val="000000"/>
                </a:solidFill>
                <a:effectLst/>
                <a:latin typeface="Courier New" panose="02070309020205020404" pitchFamily="49" charset="0"/>
              </a:rPr>
              <a:t>image.shape</a:t>
            </a:r>
            <a:r>
              <a:rPr lang="en-GB" sz="1200" b="0" i="0" u="none" strike="noStrike" dirty="0">
                <a:solidFill>
                  <a:srgbClr val="000000"/>
                </a:solidFill>
                <a:effectLst/>
                <a:latin typeface="Courier New" panose="02070309020205020404" pitchFamily="49" charset="0"/>
              </a:rPr>
              <a:t>)</a:t>
            </a:r>
          </a:p>
          <a:p>
            <a:pPr algn="l">
              <a:lnSpc>
                <a:spcPts val="1425"/>
              </a:lnSpc>
              <a:buNone/>
            </a:pPr>
            <a:br>
              <a:rPr lang="en-GB" sz="1200" b="0" i="0" u="none" strike="noStrike" dirty="0">
                <a:solidFill>
                  <a:srgbClr val="000000"/>
                </a:solidFill>
                <a:effectLst/>
                <a:latin typeface="Courier New" panose="02070309020205020404" pitchFamily="49" charset="0"/>
              </a:rPr>
            </a:br>
            <a:r>
              <a:rPr lang="en-GB" sz="1200" b="0" i="0" u="none" strike="noStrike" dirty="0">
                <a:solidFill>
                  <a:srgbClr val="008000"/>
                </a:solidFill>
                <a:effectLst/>
                <a:latin typeface="Courier New" panose="02070309020205020404" pitchFamily="49" charset="0"/>
              </a:rPr>
              <a:t># Convert BGR to RGB (Matplotlib uses RGB)</a:t>
            </a:r>
            <a:endParaRPr lang="en-GB" sz="1200" b="0" i="0" u="none" strike="noStrike" dirty="0">
              <a:solidFill>
                <a:srgbClr val="000000"/>
              </a:solidFill>
              <a:effectLst/>
              <a:latin typeface="Courier New" panose="02070309020205020404" pitchFamily="49" charset="0"/>
            </a:endParaRPr>
          </a:p>
          <a:p>
            <a:pPr algn="l">
              <a:lnSpc>
                <a:spcPts val="1425"/>
              </a:lnSpc>
              <a:buNone/>
            </a:pPr>
            <a:r>
              <a:rPr lang="en-GB" sz="1200" b="0" i="0" u="none" strike="noStrike" dirty="0" err="1">
                <a:solidFill>
                  <a:srgbClr val="000000"/>
                </a:solidFill>
                <a:effectLst/>
                <a:latin typeface="Courier New" panose="02070309020205020404" pitchFamily="49" charset="0"/>
              </a:rPr>
              <a:t>image_rgb</a:t>
            </a:r>
            <a:r>
              <a:rPr lang="en-GB" sz="1200" b="0" i="0" u="none" strike="noStrike" dirty="0">
                <a:solidFill>
                  <a:srgbClr val="000000"/>
                </a:solidFill>
                <a:effectLst/>
                <a:latin typeface="Courier New" panose="02070309020205020404" pitchFamily="49" charset="0"/>
              </a:rPr>
              <a:t> = cv2.cvtColor(image, cv2.COLOR_BGR2RGB)</a:t>
            </a:r>
          </a:p>
          <a:p>
            <a:pPr algn="l">
              <a:lnSpc>
                <a:spcPts val="1425"/>
              </a:lnSpc>
              <a:buNone/>
            </a:pPr>
            <a:br>
              <a:rPr lang="en-GB" sz="1200" b="0" i="0" u="none" strike="noStrike" dirty="0">
                <a:solidFill>
                  <a:srgbClr val="000000"/>
                </a:solidFill>
                <a:effectLst/>
                <a:latin typeface="Courier New" panose="02070309020205020404" pitchFamily="49" charset="0"/>
              </a:rPr>
            </a:br>
            <a:r>
              <a:rPr lang="en-GB" sz="1200" b="0" i="0" u="none" strike="noStrike" dirty="0">
                <a:solidFill>
                  <a:srgbClr val="008000"/>
                </a:solidFill>
                <a:effectLst/>
                <a:latin typeface="Courier New" panose="02070309020205020404" pitchFamily="49" charset="0"/>
              </a:rPr>
              <a:t># Display the image</a:t>
            </a:r>
            <a:endParaRPr lang="en-GB" sz="1200" b="0" i="0" u="none" strike="noStrike" dirty="0">
              <a:solidFill>
                <a:srgbClr val="000000"/>
              </a:solidFill>
              <a:effectLst/>
              <a:latin typeface="Courier New" panose="02070309020205020404" pitchFamily="49" charset="0"/>
            </a:endParaRPr>
          </a:p>
          <a:p>
            <a:pPr algn="l">
              <a:lnSpc>
                <a:spcPts val="1425"/>
              </a:lnSpc>
              <a:buNone/>
            </a:pPr>
            <a:r>
              <a:rPr lang="en-GB" sz="1200" b="0" i="0" u="none" strike="noStrike" dirty="0">
                <a:solidFill>
                  <a:srgbClr val="AF00DB"/>
                </a:solidFill>
                <a:effectLst/>
                <a:latin typeface="Courier New" panose="02070309020205020404" pitchFamily="49" charset="0"/>
              </a:rPr>
              <a:t>import</a:t>
            </a:r>
            <a:r>
              <a:rPr lang="en-GB" sz="1200" b="0" i="0" u="none" strike="noStrike" dirty="0">
                <a:solidFill>
                  <a:srgbClr val="000000"/>
                </a:solidFill>
                <a:effectLst/>
                <a:latin typeface="Courier New" panose="02070309020205020404" pitchFamily="49" charset="0"/>
              </a:rPr>
              <a:t> </a:t>
            </a:r>
            <a:r>
              <a:rPr lang="en-GB" sz="1200" b="0" i="0" u="none" strike="noStrike" dirty="0" err="1">
                <a:solidFill>
                  <a:srgbClr val="000000"/>
                </a:solidFill>
                <a:effectLst/>
                <a:latin typeface="Courier New" panose="02070309020205020404" pitchFamily="49" charset="0"/>
              </a:rPr>
              <a:t>matplotlib.pyplot</a:t>
            </a:r>
            <a:r>
              <a:rPr lang="en-GB" sz="1200" b="0" i="0" u="none" strike="noStrike" dirty="0">
                <a:solidFill>
                  <a:srgbClr val="000000"/>
                </a:solidFill>
                <a:effectLst/>
                <a:latin typeface="Courier New" panose="02070309020205020404" pitchFamily="49" charset="0"/>
              </a:rPr>
              <a:t> </a:t>
            </a:r>
            <a:r>
              <a:rPr lang="en-GB" sz="1200" b="0" i="0" u="none" strike="noStrike" dirty="0">
                <a:solidFill>
                  <a:srgbClr val="AF00DB"/>
                </a:solidFill>
                <a:effectLst/>
                <a:latin typeface="Courier New" panose="02070309020205020404" pitchFamily="49" charset="0"/>
              </a:rPr>
              <a:t>as</a:t>
            </a:r>
            <a:r>
              <a:rPr lang="en-GB" sz="1200" b="0" i="0" u="none" strike="noStrike" dirty="0">
                <a:solidFill>
                  <a:srgbClr val="000000"/>
                </a:solidFill>
                <a:effectLst/>
                <a:latin typeface="Courier New" panose="02070309020205020404" pitchFamily="49" charset="0"/>
              </a:rPr>
              <a:t> </a:t>
            </a:r>
            <a:r>
              <a:rPr lang="en-GB" sz="1200" b="0" i="0" u="none" strike="noStrike" dirty="0" err="1">
                <a:solidFill>
                  <a:srgbClr val="000000"/>
                </a:solidFill>
                <a:effectLst/>
                <a:latin typeface="Courier New" panose="02070309020205020404" pitchFamily="49" charset="0"/>
              </a:rPr>
              <a:t>plt</a:t>
            </a:r>
            <a:endParaRPr lang="en-GB" sz="1200" b="0" i="0" u="none" strike="noStrike" dirty="0">
              <a:solidFill>
                <a:srgbClr val="000000"/>
              </a:solidFill>
              <a:effectLst/>
              <a:latin typeface="Courier New" panose="02070309020205020404" pitchFamily="49" charset="0"/>
            </a:endParaRPr>
          </a:p>
          <a:p>
            <a:pPr algn="l">
              <a:lnSpc>
                <a:spcPts val="1425"/>
              </a:lnSpc>
              <a:buNone/>
            </a:pPr>
            <a:r>
              <a:rPr lang="en-GB" sz="1200" b="0" i="0" u="none" strike="noStrike" dirty="0" err="1">
                <a:solidFill>
                  <a:srgbClr val="000000"/>
                </a:solidFill>
                <a:effectLst/>
                <a:latin typeface="Courier New" panose="02070309020205020404" pitchFamily="49" charset="0"/>
              </a:rPr>
              <a:t>plt.imshow</a:t>
            </a:r>
            <a:r>
              <a:rPr lang="en-GB" sz="1200" b="0" i="0" u="none" strike="noStrike" dirty="0">
                <a:solidFill>
                  <a:srgbClr val="000000"/>
                </a:solidFill>
                <a:effectLst/>
                <a:latin typeface="Courier New" panose="02070309020205020404" pitchFamily="49" charset="0"/>
              </a:rPr>
              <a:t>(</a:t>
            </a:r>
            <a:r>
              <a:rPr lang="en-GB" sz="1200" b="0" i="0" u="none" strike="noStrike" dirty="0" err="1">
                <a:solidFill>
                  <a:srgbClr val="000000"/>
                </a:solidFill>
                <a:effectLst/>
                <a:latin typeface="Courier New" panose="02070309020205020404" pitchFamily="49" charset="0"/>
              </a:rPr>
              <a:t>image_rgb</a:t>
            </a:r>
            <a:r>
              <a:rPr lang="en-GB" sz="1200" b="0" i="0" u="none" strike="noStrike" dirty="0">
                <a:solidFill>
                  <a:srgbClr val="000000"/>
                </a:solidFill>
                <a:effectLst/>
                <a:latin typeface="Courier New" panose="02070309020205020404" pitchFamily="49" charset="0"/>
              </a:rPr>
              <a:t>)</a:t>
            </a:r>
          </a:p>
          <a:p>
            <a:pPr algn="l">
              <a:lnSpc>
                <a:spcPts val="1425"/>
              </a:lnSpc>
              <a:buNone/>
            </a:pPr>
            <a:r>
              <a:rPr lang="en-GB" sz="1200" b="0" i="0" u="none" strike="noStrike" dirty="0" err="1">
                <a:solidFill>
                  <a:srgbClr val="000000"/>
                </a:solidFill>
                <a:effectLst/>
                <a:latin typeface="Courier New" panose="02070309020205020404" pitchFamily="49" charset="0"/>
              </a:rPr>
              <a:t>plt.show</a:t>
            </a:r>
            <a:r>
              <a:rPr lang="en-GB" sz="1200" b="0" i="0" u="none" strike="noStrike" dirty="0">
                <a:solidFill>
                  <a:srgbClr val="000000"/>
                </a:solidFill>
                <a:effectLst/>
                <a:latin typeface="Courier New" panose="02070309020205020404" pitchFamily="49" charset="0"/>
              </a:rPr>
              <a:t>()</a:t>
            </a:r>
          </a:p>
          <a:p>
            <a:pPr algn="l">
              <a:lnSpc>
                <a:spcPts val="1425"/>
              </a:lnSpc>
              <a:buNone/>
            </a:pPr>
            <a:br>
              <a:rPr lang="en-GB" sz="1200" b="0" i="0" u="none" strike="noStrike" dirty="0">
                <a:solidFill>
                  <a:srgbClr val="000000"/>
                </a:solidFill>
                <a:effectLst/>
                <a:latin typeface="Courier New" panose="02070309020205020404" pitchFamily="49" charset="0"/>
              </a:rPr>
            </a:br>
            <a:r>
              <a:rPr lang="en-GB" sz="1200" b="0" i="0" u="none" strike="noStrike" dirty="0">
                <a:solidFill>
                  <a:srgbClr val="008000"/>
                </a:solidFill>
                <a:effectLst/>
                <a:latin typeface="Courier New" panose="02070309020205020404" pitchFamily="49" charset="0"/>
              </a:rPr>
              <a:t># Print pixel values at (y=10, x=20)</a:t>
            </a:r>
            <a:endParaRPr lang="en-GB" sz="1200" b="0" i="0" u="none" strike="noStrike" dirty="0">
              <a:solidFill>
                <a:srgbClr val="000000"/>
              </a:solidFill>
              <a:effectLst/>
              <a:latin typeface="Courier New" panose="02070309020205020404" pitchFamily="49" charset="0"/>
            </a:endParaRPr>
          </a:p>
          <a:p>
            <a:pPr algn="l">
              <a:lnSpc>
                <a:spcPts val="1425"/>
              </a:lnSpc>
            </a:pPr>
            <a:r>
              <a:rPr lang="en-GB" sz="1200" b="0" i="0" u="none" strike="noStrike" dirty="0">
                <a:solidFill>
                  <a:srgbClr val="795E26"/>
                </a:solidFill>
                <a:effectLst/>
                <a:latin typeface="Courier New" panose="02070309020205020404" pitchFamily="49" charset="0"/>
              </a:rPr>
              <a:t>print</a:t>
            </a:r>
            <a:r>
              <a:rPr lang="en-GB" sz="1200" b="0" i="0" u="none" strike="noStrike" dirty="0">
                <a:solidFill>
                  <a:srgbClr val="000000"/>
                </a:solidFill>
                <a:effectLst/>
                <a:latin typeface="Courier New" panose="02070309020205020404" pitchFamily="49" charset="0"/>
              </a:rPr>
              <a:t>(</a:t>
            </a:r>
            <a:r>
              <a:rPr lang="en-GB" sz="1200" b="0" i="0" u="none" strike="noStrike" dirty="0">
                <a:solidFill>
                  <a:srgbClr val="A31515"/>
                </a:solidFill>
                <a:effectLst/>
                <a:latin typeface="Courier New" panose="02070309020205020404" pitchFamily="49" charset="0"/>
              </a:rPr>
              <a:t>"Pixel at (10, 20):"</a:t>
            </a:r>
            <a:r>
              <a:rPr lang="en-GB" sz="1200" b="0" i="0" u="none" strike="noStrike" dirty="0">
                <a:solidFill>
                  <a:srgbClr val="000000"/>
                </a:solidFill>
                <a:effectLst/>
                <a:latin typeface="Courier New" panose="02070309020205020404" pitchFamily="49" charset="0"/>
              </a:rPr>
              <a:t>, </a:t>
            </a:r>
            <a:r>
              <a:rPr lang="en-GB" sz="1200" b="0" i="0" u="none" strike="noStrike" dirty="0" err="1">
                <a:solidFill>
                  <a:srgbClr val="000000"/>
                </a:solidFill>
                <a:effectLst/>
                <a:latin typeface="Courier New" panose="02070309020205020404" pitchFamily="49" charset="0"/>
              </a:rPr>
              <a:t>image_rgb</a:t>
            </a:r>
            <a:r>
              <a:rPr lang="en-GB" sz="1200" b="0" i="0" u="none" strike="noStrike" dirty="0">
                <a:solidFill>
                  <a:srgbClr val="000000"/>
                </a:solidFill>
                <a:effectLst/>
                <a:latin typeface="Courier New" panose="02070309020205020404" pitchFamily="49" charset="0"/>
              </a:rPr>
              <a:t>[</a:t>
            </a:r>
            <a:r>
              <a:rPr lang="en-GB" sz="1200" b="0" i="0" u="none" strike="noStrike" dirty="0">
                <a:solidFill>
                  <a:srgbClr val="116644"/>
                </a:solidFill>
                <a:effectLst/>
                <a:latin typeface="Courier New" panose="02070309020205020404" pitchFamily="49" charset="0"/>
              </a:rPr>
              <a:t>10</a:t>
            </a:r>
            <a:r>
              <a:rPr lang="en-GB" sz="1200" b="0" i="0" u="none" strike="noStrike" dirty="0">
                <a:solidFill>
                  <a:srgbClr val="000000"/>
                </a:solidFill>
                <a:effectLst/>
                <a:latin typeface="Courier New" panose="02070309020205020404" pitchFamily="49" charset="0"/>
              </a:rPr>
              <a:t>, </a:t>
            </a:r>
            <a:r>
              <a:rPr lang="en-GB" sz="1200" b="0" i="0" u="none" strike="noStrike" dirty="0">
                <a:solidFill>
                  <a:srgbClr val="116644"/>
                </a:solidFill>
                <a:effectLst/>
                <a:latin typeface="Courier New" panose="02070309020205020404" pitchFamily="49" charset="0"/>
              </a:rPr>
              <a:t>20</a:t>
            </a:r>
            <a:r>
              <a:rPr lang="en-GB" sz="1200" b="0" i="0" u="none" strike="noStrike" dirty="0">
                <a:solidFill>
                  <a:srgbClr val="000000"/>
                </a:solidFill>
                <a:effectLst/>
                <a:latin typeface="Courier New" panose="02070309020205020404" pitchFamily="49" charset="0"/>
              </a:rPr>
              <a:t>])</a:t>
            </a:r>
          </a:p>
        </p:txBody>
      </p:sp>
      <p:pic>
        <p:nvPicPr>
          <p:cNvPr id="8" name="Picture 7">
            <a:extLst>
              <a:ext uri="{FF2B5EF4-FFF2-40B4-BE49-F238E27FC236}">
                <a16:creationId xmlns:a16="http://schemas.microsoft.com/office/drawing/2014/main" id="{7B6C2CFF-DCA9-76AA-BE7C-CEC8F8509FAB}"/>
              </a:ext>
            </a:extLst>
          </p:cNvPr>
          <p:cNvPicPr>
            <a:picLocks noChangeAspect="1"/>
          </p:cNvPicPr>
          <p:nvPr/>
        </p:nvPicPr>
        <p:blipFill>
          <a:blip r:embed="rId3"/>
          <a:stretch>
            <a:fillRect/>
          </a:stretch>
        </p:blipFill>
        <p:spPr>
          <a:xfrm>
            <a:off x="4209263" y="1156628"/>
            <a:ext cx="4902731" cy="3609424"/>
          </a:xfrm>
          <a:prstGeom prst="rect">
            <a:avLst/>
          </a:prstGeom>
        </p:spPr>
      </p:pic>
    </p:spTree>
    <p:extLst>
      <p:ext uri="{BB962C8B-B14F-4D97-AF65-F5344CB8AC3E}">
        <p14:creationId xmlns:p14="http://schemas.microsoft.com/office/powerpoint/2010/main" val="2622350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17A76F0-575D-2478-18A8-3285DF65AF2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8BA01BB-6433-CAF1-51E5-90F3270AD494}"/>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Splitting Channels in an RGB Image</a:t>
            </a: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B19906D1-1C64-1EED-4E7E-E5AB13A5A28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144BD228-66C6-AE50-71DF-AD5D8DDB2A1C}"/>
              </a:ext>
            </a:extLst>
          </p:cNvPr>
          <p:cNvSpPr txBox="1"/>
          <p:nvPr/>
        </p:nvSpPr>
        <p:spPr>
          <a:xfrm>
            <a:off x="272053" y="1004230"/>
            <a:ext cx="8033117" cy="2800767"/>
          </a:xfrm>
          <a:prstGeom prst="rect">
            <a:avLst/>
          </a:prstGeom>
          <a:noFill/>
        </p:spPr>
        <p:txBody>
          <a:bodyPr wrap="square">
            <a:spAutoFit/>
          </a:bodyPr>
          <a:lstStyle/>
          <a:p>
            <a:pPr>
              <a:buNone/>
            </a:pPr>
            <a:r>
              <a:rPr lang="en-GB" sz="1600" b="1" dirty="0"/>
              <a:t>"Splitting channels"</a:t>
            </a:r>
            <a:r>
              <a:rPr lang="en-GB" sz="1600" dirty="0"/>
              <a:t> means separating an image into its individual </a:t>
            </a:r>
            <a:r>
              <a:rPr lang="en-GB" sz="1600" dirty="0" err="1"/>
              <a:t>color</a:t>
            </a:r>
            <a:r>
              <a:rPr lang="en-GB" sz="1600" dirty="0"/>
              <a:t> components  </a:t>
            </a:r>
            <a:r>
              <a:rPr lang="en-GB" sz="1600" b="1" dirty="0"/>
              <a:t>Red</a:t>
            </a:r>
            <a:r>
              <a:rPr lang="en-GB" sz="1600" dirty="0"/>
              <a:t>, </a:t>
            </a:r>
            <a:r>
              <a:rPr lang="en-GB" sz="1600" b="1" dirty="0"/>
              <a:t>Green</a:t>
            </a:r>
            <a:r>
              <a:rPr lang="en-GB" sz="1600" dirty="0"/>
              <a:t>, and </a:t>
            </a:r>
            <a:r>
              <a:rPr lang="en-GB" sz="1600" b="1" dirty="0"/>
              <a:t>Blue</a:t>
            </a:r>
            <a:r>
              <a:rPr lang="en-GB" sz="1600" dirty="0"/>
              <a:t>  which are stored in separate matrices (2D arrays).</a:t>
            </a:r>
          </a:p>
          <a:p>
            <a:pPr>
              <a:buNone/>
            </a:pPr>
            <a:r>
              <a:rPr lang="en-GB" sz="1600" b="1" dirty="0"/>
              <a:t>Why Split Channels?</a:t>
            </a:r>
          </a:p>
          <a:p>
            <a:pPr marL="285750" indent="-285750">
              <a:buFont typeface="Wingdings" pitchFamily="2" charset="2"/>
              <a:buChar char="ü"/>
            </a:pPr>
            <a:r>
              <a:rPr lang="en-GB" sz="1600" dirty="0"/>
              <a:t>To </a:t>
            </a:r>
            <a:r>
              <a:rPr lang="en-GB" sz="1600" dirty="0" err="1"/>
              <a:t>analyze</a:t>
            </a:r>
            <a:r>
              <a:rPr lang="en-GB" sz="1600" dirty="0"/>
              <a:t> or process individual </a:t>
            </a:r>
            <a:r>
              <a:rPr lang="en-GB" sz="1600" dirty="0" err="1"/>
              <a:t>color</a:t>
            </a:r>
            <a:r>
              <a:rPr lang="en-GB" sz="1600" dirty="0"/>
              <a:t> components.</a:t>
            </a:r>
          </a:p>
          <a:p>
            <a:pPr marL="285750" indent="-285750">
              <a:buFont typeface="Wingdings" pitchFamily="2" charset="2"/>
              <a:buChar char="ü"/>
            </a:pPr>
            <a:r>
              <a:rPr lang="en-GB" sz="1600" dirty="0"/>
              <a:t>Useful in computer vision tasks like feature extraction, filtering, or enhancement.</a:t>
            </a:r>
          </a:p>
          <a:p>
            <a:pPr marL="285750" indent="-285750">
              <a:buFont typeface="Wingdings" pitchFamily="2" charset="2"/>
              <a:buChar char="ü"/>
            </a:pPr>
            <a:r>
              <a:rPr lang="en-GB" sz="1600" dirty="0"/>
              <a:t>Each channel shows how much of </a:t>
            </a:r>
            <a:r>
              <a:rPr lang="en-GB" sz="1600" b="1" dirty="0"/>
              <a:t>that </a:t>
            </a:r>
            <a:r>
              <a:rPr lang="en-GB" sz="1600" b="1" dirty="0" err="1"/>
              <a:t>color</a:t>
            </a:r>
            <a:r>
              <a:rPr lang="en-GB" sz="1600" dirty="0"/>
              <a:t> is present in each pixel.</a:t>
            </a:r>
          </a:p>
          <a:p>
            <a:pPr>
              <a:buNone/>
            </a:pPr>
            <a:r>
              <a:rPr lang="en-GB" sz="1600" b="1" dirty="0"/>
              <a:t>Example: RGB Image</a:t>
            </a:r>
          </a:p>
          <a:p>
            <a:r>
              <a:rPr lang="en-GB" sz="1600" dirty="0"/>
              <a:t>An RGB image is a 3D array of shape (Height, Width, 3):</a:t>
            </a:r>
          </a:p>
          <a:p>
            <a:pPr marL="800100" lvl="1" indent="-342900">
              <a:buFont typeface="+mj-lt"/>
              <a:buAutoNum type="arabicPeriod"/>
            </a:pPr>
            <a:r>
              <a:rPr lang="en-GB" sz="1600" b="1" dirty="0"/>
              <a:t>Red channel</a:t>
            </a:r>
            <a:r>
              <a:rPr lang="en-GB" sz="1600" dirty="0"/>
              <a:t> → image[:, :, 0]</a:t>
            </a:r>
          </a:p>
          <a:p>
            <a:pPr marL="800100" lvl="1" indent="-342900">
              <a:buFont typeface="+mj-lt"/>
              <a:buAutoNum type="arabicPeriod"/>
            </a:pPr>
            <a:r>
              <a:rPr lang="en-GB" sz="1600" b="1" dirty="0"/>
              <a:t>Green channel</a:t>
            </a:r>
            <a:r>
              <a:rPr lang="en-GB" sz="1600" dirty="0"/>
              <a:t> → image[:, :, 1]</a:t>
            </a:r>
          </a:p>
          <a:p>
            <a:pPr marL="800100" lvl="1" indent="-342900">
              <a:buFont typeface="+mj-lt"/>
              <a:buAutoNum type="arabicPeriod"/>
            </a:pPr>
            <a:r>
              <a:rPr lang="en-GB" sz="1600" b="1" dirty="0"/>
              <a:t>Blue channel</a:t>
            </a:r>
            <a:r>
              <a:rPr lang="en-GB" sz="1600" dirty="0"/>
              <a:t> → image[:, :, 2]</a:t>
            </a:r>
          </a:p>
        </p:txBody>
      </p:sp>
    </p:spTree>
    <p:extLst>
      <p:ext uri="{BB962C8B-B14F-4D97-AF65-F5344CB8AC3E}">
        <p14:creationId xmlns:p14="http://schemas.microsoft.com/office/powerpoint/2010/main" val="1815024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D814F31-19EB-0E85-F4A3-8ED1587BA54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7472845-7E72-8506-780C-C4F76E509C84}"/>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Splitting Channels in an RGB Image</a:t>
            </a: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DC0ABBFA-2978-3524-2B99-988A49EBA27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9C50A91-2F31-ED0F-4AD7-EF5B42AE6A43}"/>
              </a:ext>
            </a:extLst>
          </p:cNvPr>
          <p:cNvSpPr txBox="1"/>
          <p:nvPr/>
        </p:nvSpPr>
        <p:spPr>
          <a:xfrm>
            <a:off x="340067" y="713964"/>
            <a:ext cx="5879365" cy="1717137"/>
          </a:xfrm>
          <a:prstGeom prst="rect">
            <a:avLst/>
          </a:prstGeom>
          <a:solidFill>
            <a:schemeClr val="accent1">
              <a:lumMod val="40000"/>
              <a:lumOff val="60000"/>
            </a:schemeClr>
          </a:solidFill>
        </p:spPr>
        <p:txBody>
          <a:bodyPr wrap="square">
            <a:spAutoFit/>
          </a:bodyPr>
          <a:lstStyle/>
          <a:p>
            <a:pPr algn="l">
              <a:lnSpc>
                <a:spcPts val="1425"/>
              </a:lnSpc>
              <a:buNone/>
            </a:pPr>
            <a:r>
              <a:rPr lang="en-GB" b="0" i="0" u="none" strike="noStrike" dirty="0">
                <a:solidFill>
                  <a:srgbClr val="008000"/>
                </a:solidFill>
                <a:effectLst/>
                <a:latin typeface="Courier New" panose="02070309020205020404" pitchFamily="49" charset="0"/>
              </a:rPr>
              <a:t># Split into R, G, B channels</a:t>
            </a:r>
            <a:endParaRPr lang="en-GB" b="0" i="0" u="none" strike="noStrike" dirty="0">
              <a:solidFill>
                <a:srgbClr val="000000"/>
              </a:solidFill>
              <a:effectLst/>
              <a:latin typeface="Courier New" panose="02070309020205020404" pitchFamily="49" charset="0"/>
            </a:endParaRPr>
          </a:p>
          <a:p>
            <a:pPr algn="l">
              <a:lnSpc>
                <a:spcPts val="1425"/>
              </a:lnSpc>
              <a:buNone/>
            </a:pPr>
            <a:r>
              <a:rPr lang="en-GB" b="0" i="0" u="none" strike="noStrike" dirty="0">
                <a:solidFill>
                  <a:srgbClr val="000000"/>
                </a:solidFill>
                <a:effectLst/>
                <a:latin typeface="Courier New" panose="02070309020205020404" pitchFamily="49" charset="0"/>
              </a:rPr>
              <a:t>r, g, b = cv2.split(</a:t>
            </a:r>
            <a:r>
              <a:rPr lang="en-GB" b="0" i="0" u="none" strike="noStrike" dirty="0" err="1">
                <a:solidFill>
                  <a:srgbClr val="000000"/>
                </a:solidFill>
                <a:effectLst/>
                <a:latin typeface="Courier New" panose="02070309020205020404" pitchFamily="49" charset="0"/>
              </a:rPr>
              <a:t>image_rgb</a:t>
            </a:r>
            <a:r>
              <a:rPr lang="en-GB" b="0" i="0" u="none" strike="noStrike" dirty="0">
                <a:solidFill>
                  <a:srgbClr val="000000"/>
                </a:solidFill>
                <a:effectLst/>
                <a:latin typeface="Courier New" panose="02070309020205020404" pitchFamily="49" charset="0"/>
              </a:rPr>
              <a:t>)</a:t>
            </a:r>
          </a:p>
          <a:p>
            <a:pPr algn="l">
              <a:lnSpc>
                <a:spcPts val="1425"/>
              </a:lnSpc>
              <a:buNone/>
            </a:pPr>
            <a:br>
              <a:rPr lang="en-GB" b="0" i="0" u="none" strike="noStrike" dirty="0">
                <a:solidFill>
                  <a:srgbClr val="000000"/>
                </a:solidFill>
                <a:effectLst/>
                <a:latin typeface="Courier New" panose="02070309020205020404" pitchFamily="49" charset="0"/>
              </a:rPr>
            </a:br>
            <a:r>
              <a:rPr lang="en-GB" b="0" i="0" u="none" strike="noStrike" dirty="0">
                <a:solidFill>
                  <a:srgbClr val="008000"/>
                </a:solidFill>
                <a:effectLst/>
                <a:latin typeface="Courier New" panose="02070309020205020404" pitchFamily="49" charset="0"/>
              </a:rPr>
              <a:t># Plot each channel</a:t>
            </a:r>
            <a:endParaRPr lang="en-GB" b="0" i="0" u="none" strike="noStrike" dirty="0">
              <a:solidFill>
                <a:srgbClr val="000000"/>
              </a:solidFill>
              <a:effectLst/>
              <a:latin typeface="Courier New" panose="02070309020205020404" pitchFamily="49" charset="0"/>
            </a:endParaRPr>
          </a:p>
          <a:p>
            <a:pPr algn="l">
              <a:lnSpc>
                <a:spcPts val="1425"/>
              </a:lnSpc>
              <a:buNone/>
            </a:pPr>
            <a:r>
              <a:rPr lang="en-GB" b="0" i="0" u="none" strike="noStrike" dirty="0">
                <a:solidFill>
                  <a:srgbClr val="000000"/>
                </a:solidFill>
                <a:effectLst/>
                <a:latin typeface="Courier New" panose="02070309020205020404" pitchFamily="49" charset="0"/>
              </a:rPr>
              <a:t>fig, axes = </a:t>
            </a:r>
            <a:r>
              <a:rPr lang="en-GB" b="0" i="0" u="none" strike="noStrike" dirty="0" err="1">
                <a:solidFill>
                  <a:srgbClr val="000000"/>
                </a:solidFill>
                <a:effectLst/>
                <a:latin typeface="Courier New" panose="02070309020205020404" pitchFamily="49" charset="0"/>
              </a:rPr>
              <a:t>plt.subplots</a:t>
            </a:r>
            <a:r>
              <a:rPr lang="en-GB" b="0" i="0" u="none" strike="noStrike" dirty="0">
                <a:solidFill>
                  <a:srgbClr val="000000"/>
                </a:solidFill>
                <a:effectLst/>
                <a:latin typeface="Courier New" panose="02070309020205020404" pitchFamily="49" charset="0"/>
              </a:rPr>
              <a:t>(</a:t>
            </a:r>
            <a:r>
              <a:rPr lang="en-GB" b="0" i="0" u="none" strike="noStrike" dirty="0">
                <a:solidFill>
                  <a:srgbClr val="116644"/>
                </a:solidFill>
                <a:effectLst/>
                <a:latin typeface="Courier New" panose="02070309020205020404" pitchFamily="49" charset="0"/>
              </a:rPr>
              <a:t>1</a:t>
            </a:r>
            <a:r>
              <a:rPr lang="en-GB" b="0" i="0" u="none" strike="noStrike" dirty="0">
                <a:solidFill>
                  <a:srgbClr val="000000"/>
                </a:solidFill>
                <a:effectLst/>
                <a:latin typeface="Courier New" panose="02070309020205020404" pitchFamily="49" charset="0"/>
              </a:rPr>
              <a:t>, </a:t>
            </a:r>
            <a:r>
              <a:rPr lang="en-GB" b="0" i="0" u="none" strike="noStrike" dirty="0">
                <a:solidFill>
                  <a:srgbClr val="116644"/>
                </a:solidFill>
                <a:effectLst/>
                <a:latin typeface="Courier New" panose="02070309020205020404" pitchFamily="49" charset="0"/>
              </a:rPr>
              <a:t>3</a:t>
            </a:r>
            <a:r>
              <a:rPr lang="en-GB" b="0" i="0" u="none" strike="noStrike" dirty="0">
                <a:solidFill>
                  <a:srgbClr val="000000"/>
                </a:solidFill>
                <a:effectLst/>
                <a:latin typeface="Courier New" panose="02070309020205020404" pitchFamily="49" charset="0"/>
              </a:rPr>
              <a:t>, </a:t>
            </a:r>
            <a:r>
              <a:rPr lang="en-GB" b="0" i="0" u="none" strike="noStrike" dirty="0" err="1">
                <a:solidFill>
                  <a:srgbClr val="000000"/>
                </a:solidFill>
                <a:effectLst/>
                <a:latin typeface="Courier New" panose="02070309020205020404" pitchFamily="49" charset="0"/>
              </a:rPr>
              <a:t>figsize</a:t>
            </a:r>
            <a:r>
              <a:rPr lang="en-GB" b="0" i="0" u="none" strike="noStrike" dirty="0">
                <a:solidFill>
                  <a:srgbClr val="000000"/>
                </a:solidFill>
                <a:effectLst/>
                <a:latin typeface="Courier New" panose="02070309020205020404" pitchFamily="49" charset="0"/>
              </a:rPr>
              <a:t>=(</a:t>
            </a:r>
            <a:r>
              <a:rPr lang="en-GB" b="0" i="0" u="none" strike="noStrike" dirty="0">
                <a:solidFill>
                  <a:srgbClr val="116644"/>
                </a:solidFill>
                <a:effectLst/>
                <a:latin typeface="Courier New" panose="02070309020205020404" pitchFamily="49" charset="0"/>
              </a:rPr>
              <a:t>12</a:t>
            </a:r>
            <a:r>
              <a:rPr lang="en-GB" b="0" i="0" u="none" strike="noStrike" dirty="0">
                <a:solidFill>
                  <a:srgbClr val="000000"/>
                </a:solidFill>
                <a:effectLst/>
                <a:latin typeface="Courier New" panose="02070309020205020404" pitchFamily="49" charset="0"/>
              </a:rPr>
              <a:t>, </a:t>
            </a:r>
            <a:r>
              <a:rPr lang="en-GB" b="0" i="0" u="none" strike="noStrike" dirty="0">
                <a:solidFill>
                  <a:srgbClr val="116644"/>
                </a:solidFill>
                <a:effectLst/>
                <a:latin typeface="Courier New" panose="02070309020205020404" pitchFamily="49" charset="0"/>
              </a:rPr>
              <a:t>4</a:t>
            </a:r>
            <a:r>
              <a:rPr lang="en-GB" b="0" i="0" u="none" strike="noStrike" dirty="0">
                <a:solidFill>
                  <a:srgbClr val="000000"/>
                </a:solidFill>
                <a:effectLst/>
                <a:latin typeface="Courier New" panose="02070309020205020404" pitchFamily="49" charset="0"/>
              </a:rPr>
              <a:t>))</a:t>
            </a:r>
          </a:p>
          <a:p>
            <a:pPr algn="l">
              <a:lnSpc>
                <a:spcPts val="1425"/>
              </a:lnSpc>
              <a:buNone/>
            </a:pPr>
            <a:r>
              <a:rPr lang="en-GB" b="0" i="0" u="none" strike="noStrike" dirty="0">
                <a:solidFill>
                  <a:srgbClr val="000000"/>
                </a:solidFill>
                <a:effectLst/>
                <a:latin typeface="Courier New" panose="02070309020205020404" pitchFamily="49" charset="0"/>
              </a:rPr>
              <a:t>axes[</a:t>
            </a:r>
            <a:r>
              <a:rPr lang="en-GB" b="0" i="0" u="none" strike="noStrike" dirty="0">
                <a:solidFill>
                  <a:srgbClr val="116644"/>
                </a:solidFill>
                <a:effectLst/>
                <a:latin typeface="Courier New" panose="02070309020205020404" pitchFamily="49" charset="0"/>
              </a:rPr>
              <a:t>0</a:t>
            </a:r>
            <a:r>
              <a:rPr lang="en-GB" b="0" i="0" u="none" strike="noStrike" dirty="0">
                <a:solidFill>
                  <a:srgbClr val="000000"/>
                </a:solidFill>
                <a:effectLst/>
                <a:latin typeface="Courier New" panose="02070309020205020404" pitchFamily="49" charset="0"/>
              </a:rPr>
              <a:t>].</a:t>
            </a:r>
            <a:r>
              <a:rPr lang="en-GB" b="0" i="0" u="none" strike="noStrike" dirty="0" err="1">
                <a:solidFill>
                  <a:srgbClr val="000000"/>
                </a:solidFill>
                <a:effectLst/>
                <a:latin typeface="Courier New" panose="02070309020205020404" pitchFamily="49" charset="0"/>
              </a:rPr>
              <a:t>imshow</a:t>
            </a:r>
            <a:r>
              <a:rPr lang="en-GB" b="0" i="0" u="none" strike="noStrike" dirty="0">
                <a:solidFill>
                  <a:srgbClr val="000000"/>
                </a:solidFill>
                <a:effectLst/>
                <a:latin typeface="Courier New" panose="02070309020205020404" pitchFamily="49" charset="0"/>
              </a:rPr>
              <a:t>(r, </a:t>
            </a:r>
            <a:r>
              <a:rPr lang="en-GB" b="0" i="0" u="none" strike="noStrike" dirty="0" err="1">
                <a:solidFill>
                  <a:srgbClr val="000000"/>
                </a:solidFill>
                <a:effectLst/>
                <a:latin typeface="Courier New" panose="02070309020205020404" pitchFamily="49" charset="0"/>
              </a:rPr>
              <a:t>cmap</a:t>
            </a:r>
            <a:r>
              <a:rPr lang="en-GB" b="0" i="0" u="none" strike="noStrike" dirty="0">
                <a:solidFill>
                  <a:srgbClr val="000000"/>
                </a:solidFill>
                <a:effectLst/>
                <a:latin typeface="Courier New" panose="02070309020205020404" pitchFamily="49" charset="0"/>
              </a:rPr>
              <a:t>=</a:t>
            </a:r>
            <a:r>
              <a:rPr lang="en-GB" b="0" i="0" u="none" strike="noStrike" dirty="0">
                <a:solidFill>
                  <a:srgbClr val="A31515"/>
                </a:solidFill>
                <a:effectLst/>
                <a:latin typeface="Courier New" panose="02070309020205020404" pitchFamily="49" charset="0"/>
              </a:rPr>
              <a:t>'Reds'</a:t>
            </a:r>
            <a:r>
              <a:rPr lang="en-GB" b="0" i="0" u="none" strike="noStrike" dirty="0">
                <a:solidFill>
                  <a:srgbClr val="000000"/>
                </a:solidFill>
                <a:effectLst/>
                <a:latin typeface="Courier New" panose="02070309020205020404" pitchFamily="49" charset="0"/>
              </a:rPr>
              <a:t>)</a:t>
            </a:r>
          </a:p>
          <a:p>
            <a:pPr algn="l">
              <a:lnSpc>
                <a:spcPts val="1425"/>
              </a:lnSpc>
              <a:buNone/>
            </a:pPr>
            <a:r>
              <a:rPr lang="en-GB" b="0" i="0" u="none" strike="noStrike" dirty="0">
                <a:solidFill>
                  <a:srgbClr val="000000"/>
                </a:solidFill>
                <a:effectLst/>
                <a:latin typeface="Courier New" panose="02070309020205020404" pitchFamily="49" charset="0"/>
              </a:rPr>
              <a:t>axes[</a:t>
            </a:r>
            <a:r>
              <a:rPr lang="en-GB" b="0" i="0" u="none" strike="noStrike" dirty="0">
                <a:solidFill>
                  <a:srgbClr val="116644"/>
                </a:solidFill>
                <a:effectLst/>
                <a:latin typeface="Courier New" panose="02070309020205020404" pitchFamily="49" charset="0"/>
              </a:rPr>
              <a:t>1</a:t>
            </a:r>
            <a:r>
              <a:rPr lang="en-GB" b="0" i="0" u="none" strike="noStrike" dirty="0">
                <a:solidFill>
                  <a:srgbClr val="000000"/>
                </a:solidFill>
                <a:effectLst/>
                <a:latin typeface="Courier New" panose="02070309020205020404" pitchFamily="49" charset="0"/>
              </a:rPr>
              <a:t>].</a:t>
            </a:r>
            <a:r>
              <a:rPr lang="en-GB" b="0" i="0" u="none" strike="noStrike" dirty="0" err="1">
                <a:solidFill>
                  <a:srgbClr val="000000"/>
                </a:solidFill>
                <a:effectLst/>
                <a:latin typeface="Courier New" panose="02070309020205020404" pitchFamily="49" charset="0"/>
              </a:rPr>
              <a:t>imshow</a:t>
            </a:r>
            <a:r>
              <a:rPr lang="en-GB" b="0" i="0" u="none" strike="noStrike" dirty="0">
                <a:solidFill>
                  <a:srgbClr val="000000"/>
                </a:solidFill>
                <a:effectLst/>
                <a:latin typeface="Courier New" panose="02070309020205020404" pitchFamily="49" charset="0"/>
              </a:rPr>
              <a:t>(g, </a:t>
            </a:r>
            <a:r>
              <a:rPr lang="en-GB" b="0" i="0" u="none" strike="noStrike" dirty="0" err="1">
                <a:solidFill>
                  <a:srgbClr val="000000"/>
                </a:solidFill>
                <a:effectLst/>
                <a:latin typeface="Courier New" panose="02070309020205020404" pitchFamily="49" charset="0"/>
              </a:rPr>
              <a:t>cmap</a:t>
            </a:r>
            <a:r>
              <a:rPr lang="en-GB" b="0" i="0" u="none" strike="noStrike" dirty="0">
                <a:solidFill>
                  <a:srgbClr val="000000"/>
                </a:solidFill>
                <a:effectLst/>
                <a:latin typeface="Courier New" panose="02070309020205020404" pitchFamily="49" charset="0"/>
              </a:rPr>
              <a:t>=</a:t>
            </a:r>
            <a:r>
              <a:rPr lang="en-GB" b="0" i="0" u="none" strike="noStrike" dirty="0">
                <a:solidFill>
                  <a:srgbClr val="A31515"/>
                </a:solidFill>
                <a:effectLst/>
                <a:latin typeface="Courier New" panose="02070309020205020404" pitchFamily="49" charset="0"/>
              </a:rPr>
              <a:t>'Greens'</a:t>
            </a:r>
            <a:r>
              <a:rPr lang="en-GB" b="0" i="0" u="none" strike="noStrike" dirty="0">
                <a:solidFill>
                  <a:srgbClr val="000000"/>
                </a:solidFill>
                <a:effectLst/>
                <a:latin typeface="Courier New" panose="02070309020205020404" pitchFamily="49" charset="0"/>
              </a:rPr>
              <a:t>)</a:t>
            </a:r>
          </a:p>
          <a:p>
            <a:pPr algn="l">
              <a:lnSpc>
                <a:spcPts val="1425"/>
              </a:lnSpc>
              <a:buNone/>
            </a:pPr>
            <a:r>
              <a:rPr lang="en-GB" b="0" i="0" u="none" strike="noStrike" dirty="0">
                <a:solidFill>
                  <a:srgbClr val="000000"/>
                </a:solidFill>
                <a:effectLst/>
                <a:latin typeface="Courier New" panose="02070309020205020404" pitchFamily="49" charset="0"/>
              </a:rPr>
              <a:t>axes[</a:t>
            </a:r>
            <a:r>
              <a:rPr lang="en-GB" b="0" i="0" u="none" strike="noStrike" dirty="0">
                <a:solidFill>
                  <a:srgbClr val="116644"/>
                </a:solidFill>
                <a:effectLst/>
                <a:latin typeface="Courier New" panose="02070309020205020404" pitchFamily="49" charset="0"/>
              </a:rPr>
              <a:t>2</a:t>
            </a:r>
            <a:r>
              <a:rPr lang="en-GB" b="0" i="0" u="none" strike="noStrike" dirty="0">
                <a:solidFill>
                  <a:srgbClr val="000000"/>
                </a:solidFill>
                <a:effectLst/>
                <a:latin typeface="Courier New" panose="02070309020205020404" pitchFamily="49" charset="0"/>
              </a:rPr>
              <a:t>].</a:t>
            </a:r>
            <a:r>
              <a:rPr lang="en-GB" b="0" i="0" u="none" strike="noStrike" dirty="0" err="1">
                <a:solidFill>
                  <a:srgbClr val="000000"/>
                </a:solidFill>
                <a:effectLst/>
                <a:latin typeface="Courier New" panose="02070309020205020404" pitchFamily="49" charset="0"/>
              </a:rPr>
              <a:t>imshow</a:t>
            </a:r>
            <a:r>
              <a:rPr lang="en-GB" b="0" i="0" u="none" strike="noStrike" dirty="0">
                <a:solidFill>
                  <a:srgbClr val="000000"/>
                </a:solidFill>
                <a:effectLst/>
                <a:latin typeface="Courier New" panose="02070309020205020404" pitchFamily="49" charset="0"/>
              </a:rPr>
              <a:t>(b, </a:t>
            </a:r>
            <a:r>
              <a:rPr lang="en-GB" b="0" i="0" u="none" strike="noStrike" dirty="0" err="1">
                <a:solidFill>
                  <a:srgbClr val="000000"/>
                </a:solidFill>
                <a:effectLst/>
                <a:latin typeface="Courier New" panose="02070309020205020404" pitchFamily="49" charset="0"/>
              </a:rPr>
              <a:t>cmap</a:t>
            </a:r>
            <a:r>
              <a:rPr lang="en-GB" b="0" i="0" u="none" strike="noStrike" dirty="0">
                <a:solidFill>
                  <a:srgbClr val="000000"/>
                </a:solidFill>
                <a:effectLst/>
                <a:latin typeface="Courier New" panose="02070309020205020404" pitchFamily="49" charset="0"/>
              </a:rPr>
              <a:t>=</a:t>
            </a:r>
            <a:r>
              <a:rPr lang="en-GB" b="0" i="0" u="none" strike="noStrike" dirty="0">
                <a:solidFill>
                  <a:srgbClr val="A31515"/>
                </a:solidFill>
                <a:effectLst/>
                <a:latin typeface="Courier New" panose="02070309020205020404" pitchFamily="49" charset="0"/>
              </a:rPr>
              <a:t>'Blues'</a:t>
            </a:r>
            <a:r>
              <a:rPr lang="en-GB" b="0" i="0" u="none" strike="noStrike" dirty="0">
                <a:solidFill>
                  <a:srgbClr val="000000"/>
                </a:solidFill>
                <a:effectLst/>
                <a:latin typeface="Courier New" panose="02070309020205020404" pitchFamily="49" charset="0"/>
              </a:rPr>
              <a:t>)</a:t>
            </a:r>
          </a:p>
          <a:p>
            <a:pPr algn="l">
              <a:lnSpc>
                <a:spcPts val="1425"/>
              </a:lnSpc>
            </a:pPr>
            <a:r>
              <a:rPr lang="en-GB" b="0" i="0" u="none" strike="noStrike" dirty="0" err="1">
                <a:solidFill>
                  <a:srgbClr val="000000"/>
                </a:solidFill>
                <a:effectLst/>
                <a:latin typeface="Courier New" panose="02070309020205020404" pitchFamily="49" charset="0"/>
              </a:rPr>
              <a:t>plt.show</a:t>
            </a:r>
            <a:r>
              <a:rPr lang="en-GB" b="0" i="0" u="none" strike="noStrike" dirty="0">
                <a:solidFill>
                  <a:srgbClr val="000000"/>
                </a:solidFill>
                <a:effectLst/>
                <a:latin typeface="Courier New" panose="02070309020205020404" pitchFamily="49" charset="0"/>
              </a:rPr>
              <a:t>()</a:t>
            </a:r>
          </a:p>
        </p:txBody>
      </p:sp>
      <p:pic>
        <p:nvPicPr>
          <p:cNvPr id="2" name="Picture 1">
            <a:extLst>
              <a:ext uri="{FF2B5EF4-FFF2-40B4-BE49-F238E27FC236}">
                <a16:creationId xmlns:a16="http://schemas.microsoft.com/office/drawing/2014/main" id="{075187B6-D0E6-8298-FA03-ECD886B274C5}"/>
              </a:ext>
            </a:extLst>
          </p:cNvPr>
          <p:cNvPicPr>
            <a:picLocks noChangeAspect="1"/>
          </p:cNvPicPr>
          <p:nvPr/>
        </p:nvPicPr>
        <p:blipFill>
          <a:blip r:embed="rId3"/>
          <a:stretch>
            <a:fillRect/>
          </a:stretch>
        </p:blipFill>
        <p:spPr>
          <a:xfrm>
            <a:off x="340067" y="2712400"/>
            <a:ext cx="7772400" cy="1897018"/>
          </a:xfrm>
          <a:prstGeom prst="rect">
            <a:avLst/>
          </a:prstGeom>
        </p:spPr>
      </p:pic>
    </p:spTree>
    <p:extLst>
      <p:ext uri="{BB962C8B-B14F-4D97-AF65-F5344CB8AC3E}">
        <p14:creationId xmlns:p14="http://schemas.microsoft.com/office/powerpoint/2010/main" val="2236496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3DBC826-BC4E-FDF2-F328-F4310975588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8A64D47-451B-23ED-95BB-59B289E16DB4}"/>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 Image Transformations</a:t>
            </a: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93AB7DD-8F27-9CBE-D7F9-ADCC3CB2C0D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9A4F231-4332-F87D-13D0-06E76CA253E2}"/>
              </a:ext>
            </a:extLst>
          </p:cNvPr>
          <p:cNvSpPr txBox="1"/>
          <p:nvPr/>
        </p:nvSpPr>
        <p:spPr>
          <a:xfrm>
            <a:off x="87464" y="632790"/>
            <a:ext cx="8969072" cy="2062103"/>
          </a:xfrm>
          <a:prstGeom prst="rect">
            <a:avLst/>
          </a:prstGeom>
          <a:noFill/>
        </p:spPr>
        <p:txBody>
          <a:bodyPr wrap="square">
            <a:spAutoFit/>
          </a:bodyPr>
          <a:lstStyle/>
          <a:p>
            <a:r>
              <a:rPr lang="en-GB" sz="1600" dirty="0"/>
              <a:t>These transformations help standardize images and prepare them for machine learning </a:t>
            </a:r>
          </a:p>
          <a:p>
            <a:r>
              <a:rPr lang="en-GB" sz="1600" dirty="0"/>
              <a:t>models (especially deep learning models).</a:t>
            </a:r>
          </a:p>
          <a:p>
            <a:pPr marL="514350" indent="-514350">
              <a:buFont typeface="+mj-lt"/>
              <a:buAutoNum type="arabicPeriod"/>
            </a:pPr>
            <a:r>
              <a:rPr lang="en-GB" sz="1600" b="1" dirty="0"/>
              <a:t>Rescaling (Resizing)</a:t>
            </a:r>
          </a:p>
          <a:p>
            <a:r>
              <a:rPr lang="en-GB" sz="1600" b="1" dirty="0"/>
              <a:t>Why? </a:t>
            </a:r>
          </a:p>
          <a:p>
            <a:r>
              <a:rPr lang="en-GB" sz="1600" dirty="0"/>
              <a:t>Neural networks require input images to be the same size. Resizing ensures all images are uniform (e.g., 128×128 pixels).</a:t>
            </a:r>
          </a:p>
          <a:p>
            <a:r>
              <a:rPr lang="en-GB" sz="1600" b="1" dirty="0"/>
              <a:t>How? </a:t>
            </a:r>
          </a:p>
          <a:p>
            <a:r>
              <a:rPr lang="en-GB" sz="1600" dirty="0"/>
              <a:t>Use libraries like OpenCV to resize images.</a:t>
            </a:r>
          </a:p>
        </p:txBody>
      </p:sp>
      <p:sp>
        <p:nvSpPr>
          <p:cNvPr id="3" name="TextBox 2">
            <a:extLst>
              <a:ext uri="{FF2B5EF4-FFF2-40B4-BE49-F238E27FC236}">
                <a16:creationId xmlns:a16="http://schemas.microsoft.com/office/drawing/2014/main" id="{FF9011E3-2023-F228-79F0-ADDFAC4A32F1}"/>
              </a:ext>
            </a:extLst>
          </p:cNvPr>
          <p:cNvSpPr txBox="1"/>
          <p:nvPr/>
        </p:nvSpPr>
        <p:spPr>
          <a:xfrm>
            <a:off x="1206692" y="3273570"/>
            <a:ext cx="3508348" cy="998991"/>
          </a:xfrm>
          <a:prstGeom prst="rect">
            <a:avLst/>
          </a:prstGeom>
          <a:solidFill>
            <a:schemeClr val="accent1">
              <a:lumMod val="40000"/>
              <a:lumOff val="60000"/>
            </a:schemeClr>
          </a:solidFill>
        </p:spPr>
        <p:txBody>
          <a:bodyPr wrap="square">
            <a:spAutoFit/>
          </a:bodyPr>
          <a:lstStyle/>
          <a:p>
            <a:pPr algn="l">
              <a:lnSpc>
                <a:spcPts val="1425"/>
              </a:lnSpc>
              <a:buNone/>
            </a:pPr>
            <a:r>
              <a:rPr lang="en-GB" b="0" i="0" u="none" strike="noStrike" dirty="0">
                <a:solidFill>
                  <a:srgbClr val="000000"/>
                </a:solidFill>
                <a:effectLst/>
                <a:latin typeface="Courier New" panose="02070309020205020404" pitchFamily="49" charset="0"/>
              </a:rPr>
              <a:t>resized = cv2.resize(</a:t>
            </a:r>
            <a:r>
              <a:rPr lang="en-GB" b="0" i="0" u="none" strike="noStrike" dirty="0" err="1">
                <a:solidFill>
                  <a:srgbClr val="000000"/>
                </a:solidFill>
                <a:effectLst/>
                <a:latin typeface="Courier New" panose="02070309020205020404" pitchFamily="49" charset="0"/>
              </a:rPr>
              <a:t>image_rgb</a:t>
            </a:r>
            <a:r>
              <a:rPr lang="en-GB" b="0" i="0" u="none" strike="noStrike" dirty="0">
                <a:solidFill>
                  <a:srgbClr val="000000"/>
                </a:solidFill>
                <a:effectLst/>
                <a:latin typeface="Courier New" panose="02070309020205020404" pitchFamily="49" charset="0"/>
              </a:rPr>
              <a:t>, (</a:t>
            </a:r>
            <a:r>
              <a:rPr lang="en-GB" b="0" i="0" u="none" strike="noStrike" dirty="0">
                <a:solidFill>
                  <a:srgbClr val="116644"/>
                </a:solidFill>
                <a:effectLst/>
                <a:latin typeface="Courier New" panose="02070309020205020404" pitchFamily="49" charset="0"/>
              </a:rPr>
              <a:t>128</a:t>
            </a:r>
            <a:r>
              <a:rPr lang="en-GB" b="0" i="0" u="none" strike="noStrike" dirty="0">
                <a:solidFill>
                  <a:srgbClr val="000000"/>
                </a:solidFill>
                <a:effectLst/>
                <a:latin typeface="Courier New" panose="02070309020205020404" pitchFamily="49" charset="0"/>
              </a:rPr>
              <a:t>, </a:t>
            </a:r>
            <a:r>
              <a:rPr lang="en-GB" b="0" i="0" u="none" strike="noStrike" dirty="0">
                <a:solidFill>
                  <a:srgbClr val="116644"/>
                </a:solidFill>
                <a:effectLst/>
                <a:latin typeface="Courier New" panose="02070309020205020404" pitchFamily="49" charset="0"/>
              </a:rPr>
              <a:t>128</a:t>
            </a:r>
            <a:r>
              <a:rPr lang="en-GB" b="0" i="0" u="none" strike="noStrike" dirty="0">
                <a:solidFill>
                  <a:srgbClr val="000000"/>
                </a:solidFill>
                <a:effectLst/>
                <a:latin typeface="Courier New" panose="02070309020205020404" pitchFamily="49" charset="0"/>
              </a:rPr>
              <a:t>))</a:t>
            </a:r>
          </a:p>
          <a:p>
            <a:pPr algn="l">
              <a:lnSpc>
                <a:spcPts val="1425"/>
              </a:lnSpc>
              <a:buNone/>
            </a:pPr>
            <a:r>
              <a:rPr lang="en-GB" b="0" i="0" u="none" strike="noStrike" dirty="0" err="1">
                <a:solidFill>
                  <a:srgbClr val="000000"/>
                </a:solidFill>
                <a:effectLst/>
                <a:latin typeface="Courier New" panose="02070309020205020404" pitchFamily="49" charset="0"/>
              </a:rPr>
              <a:t>plt.imshow</a:t>
            </a:r>
            <a:r>
              <a:rPr lang="en-GB" b="0" i="0" u="none" strike="noStrike" dirty="0">
                <a:solidFill>
                  <a:srgbClr val="000000"/>
                </a:solidFill>
                <a:effectLst/>
                <a:latin typeface="Courier New" panose="02070309020205020404" pitchFamily="49" charset="0"/>
              </a:rPr>
              <a:t>(resized)</a:t>
            </a:r>
          </a:p>
          <a:p>
            <a:pPr algn="l">
              <a:lnSpc>
                <a:spcPts val="1425"/>
              </a:lnSpc>
              <a:buNone/>
            </a:pPr>
            <a:r>
              <a:rPr lang="en-GB" b="0" i="0" u="none" strike="noStrike" dirty="0" err="1">
                <a:solidFill>
                  <a:srgbClr val="000000"/>
                </a:solidFill>
                <a:effectLst/>
                <a:latin typeface="Courier New" panose="02070309020205020404" pitchFamily="49" charset="0"/>
              </a:rPr>
              <a:t>plt.title</a:t>
            </a:r>
            <a:r>
              <a:rPr lang="en-GB" b="0" i="0" u="none" strike="noStrike" dirty="0">
                <a:solidFill>
                  <a:srgbClr val="000000"/>
                </a:solidFill>
                <a:effectLst/>
                <a:latin typeface="Courier New" panose="02070309020205020404" pitchFamily="49" charset="0"/>
              </a:rPr>
              <a:t>(</a:t>
            </a:r>
            <a:r>
              <a:rPr lang="en-GB" b="0" i="0" u="none" strike="noStrike" dirty="0">
                <a:solidFill>
                  <a:srgbClr val="A31515"/>
                </a:solidFill>
                <a:effectLst/>
                <a:latin typeface="Courier New" panose="02070309020205020404" pitchFamily="49" charset="0"/>
              </a:rPr>
              <a:t>"Resized to 128x128"</a:t>
            </a:r>
            <a:r>
              <a:rPr lang="en-GB" b="0" i="0" u="none" strike="noStrike" dirty="0">
                <a:solidFill>
                  <a:srgbClr val="000000"/>
                </a:solidFill>
                <a:effectLst/>
                <a:latin typeface="Courier New" panose="02070309020205020404" pitchFamily="49" charset="0"/>
              </a:rPr>
              <a:t>)</a:t>
            </a:r>
          </a:p>
          <a:p>
            <a:pPr algn="l">
              <a:lnSpc>
                <a:spcPts val="1425"/>
              </a:lnSpc>
            </a:pPr>
            <a:r>
              <a:rPr lang="en-GB" b="0" i="0" u="none" strike="noStrike" dirty="0" err="1">
                <a:solidFill>
                  <a:srgbClr val="000000"/>
                </a:solidFill>
                <a:effectLst/>
                <a:latin typeface="Courier New" panose="02070309020205020404" pitchFamily="49" charset="0"/>
              </a:rPr>
              <a:t>plt.show</a:t>
            </a:r>
            <a:r>
              <a:rPr lang="en-GB" b="0" i="0" u="none" strike="noStrike" dirty="0">
                <a:solidFill>
                  <a:srgbClr val="000000"/>
                </a:solidFill>
                <a:effectLst/>
                <a:latin typeface="Courier New" panose="02070309020205020404" pitchFamily="49" charset="0"/>
              </a:rPr>
              <a:t>()</a:t>
            </a:r>
          </a:p>
        </p:txBody>
      </p:sp>
      <p:pic>
        <p:nvPicPr>
          <p:cNvPr id="6" name="Picture 5">
            <a:extLst>
              <a:ext uri="{FF2B5EF4-FFF2-40B4-BE49-F238E27FC236}">
                <a16:creationId xmlns:a16="http://schemas.microsoft.com/office/drawing/2014/main" id="{BA3CD6F1-31F9-2257-AF19-C23ED91EFCC1}"/>
              </a:ext>
            </a:extLst>
          </p:cNvPr>
          <p:cNvPicPr>
            <a:picLocks noChangeAspect="1"/>
          </p:cNvPicPr>
          <p:nvPr/>
        </p:nvPicPr>
        <p:blipFill>
          <a:blip r:embed="rId3"/>
          <a:stretch>
            <a:fillRect/>
          </a:stretch>
        </p:blipFill>
        <p:spPr>
          <a:xfrm>
            <a:off x="5231359" y="1951691"/>
            <a:ext cx="3282235" cy="3191809"/>
          </a:xfrm>
          <a:prstGeom prst="rect">
            <a:avLst/>
          </a:prstGeom>
        </p:spPr>
      </p:pic>
    </p:spTree>
    <p:extLst>
      <p:ext uri="{BB962C8B-B14F-4D97-AF65-F5344CB8AC3E}">
        <p14:creationId xmlns:p14="http://schemas.microsoft.com/office/powerpoint/2010/main" val="2830553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28A81B8-715E-EBBE-8DF5-D4223EA8A43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FF513F3-F9BD-306A-5660-E4D9D28EBBFA}"/>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a:t>
            </a:r>
            <a:r>
              <a:rPr lang="en-GB" sz="2400" b="1" dirty="0">
                <a:solidFill>
                  <a:srgbClr val="7030A0"/>
                </a:solidFill>
              </a:rPr>
              <a:t>Normalization</a:t>
            </a:r>
            <a:br>
              <a:rPr lang="en-GB" sz="2400" b="1" dirty="0">
                <a:solidFill>
                  <a:srgbClr val="7030A0"/>
                </a:solidFill>
              </a:rPr>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EB68338-525A-25D2-6A4C-36CCEFD66BE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3517BA15-DFB4-B832-7A1A-CF3EAEDFA9AF}"/>
              </a:ext>
            </a:extLst>
          </p:cNvPr>
          <p:cNvSpPr txBox="1"/>
          <p:nvPr/>
        </p:nvSpPr>
        <p:spPr>
          <a:xfrm>
            <a:off x="180464" y="586165"/>
            <a:ext cx="8556361" cy="3323987"/>
          </a:xfrm>
          <a:prstGeom prst="rect">
            <a:avLst/>
          </a:prstGeom>
          <a:noFill/>
        </p:spPr>
        <p:txBody>
          <a:bodyPr wrap="square">
            <a:spAutoFit/>
          </a:bodyPr>
          <a:lstStyle/>
          <a:p>
            <a:pPr>
              <a:buNone/>
            </a:pPr>
            <a:r>
              <a:rPr lang="en-GB" dirty="0">
                <a:solidFill>
                  <a:srgbClr val="000000"/>
                </a:solidFill>
                <a:effectLst/>
                <a:latin typeface="Helvetica" pitchFamily="2" charset="0"/>
              </a:rPr>
              <a:t>Image normalization is a typical process in image processing that changes the range of pixel</a:t>
            </a:r>
          </a:p>
          <a:p>
            <a:pPr>
              <a:buNone/>
            </a:pPr>
            <a:r>
              <a:rPr lang="en-GB" dirty="0">
                <a:solidFill>
                  <a:srgbClr val="000000"/>
                </a:solidFill>
                <a:effectLst/>
                <a:latin typeface="Helvetica" pitchFamily="2" charset="0"/>
              </a:rPr>
              <a:t>intensity values. Its normal purpose is to convert an input image into a range of pixel values that</a:t>
            </a:r>
          </a:p>
          <a:p>
            <a:pPr>
              <a:buNone/>
            </a:pPr>
            <a:r>
              <a:rPr lang="en-GB" dirty="0">
                <a:solidFill>
                  <a:srgbClr val="000000"/>
                </a:solidFill>
                <a:effectLst/>
                <a:latin typeface="Helvetica" pitchFamily="2" charset="0"/>
              </a:rPr>
              <a:t>are more familiar or normal to the senses, hence the term normalization.</a:t>
            </a:r>
          </a:p>
          <a:p>
            <a:pPr>
              <a:buNone/>
            </a:pPr>
            <a:r>
              <a:rPr lang="en-GB" dirty="0">
                <a:solidFill>
                  <a:srgbClr val="000000"/>
                </a:solidFill>
                <a:effectLst/>
                <a:latin typeface="Helvetica" pitchFamily="2" charset="0"/>
              </a:rPr>
              <a:t>In this work, we will perform a function that produces a normalization of an input image</a:t>
            </a:r>
          </a:p>
          <a:p>
            <a:pPr>
              <a:buNone/>
            </a:pPr>
            <a:r>
              <a:rPr lang="en-GB" dirty="0">
                <a:solidFill>
                  <a:srgbClr val="000000"/>
                </a:solidFill>
                <a:effectLst/>
                <a:latin typeface="Helvetica" pitchFamily="2" charset="0"/>
              </a:rPr>
              <a:t>(grayscale or RGB). Then, we understand a representation of the range of values of the scale of</a:t>
            </a:r>
          </a:p>
          <a:p>
            <a:pPr>
              <a:buNone/>
            </a:pPr>
            <a:r>
              <a:rPr lang="en-GB" dirty="0">
                <a:solidFill>
                  <a:srgbClr val="000000"/>
                </a:solidFill>
                <a:effectLst/>
                <a:latin typeface="Helvetica" pitchFamily="2" charset="0"/>
              </a:rPr>
              <a:t>the image represented between 0 and 255, in this way we get, for example, that very dark</a:t>
            </a:r>
          </a:p>
          <a:p>
            <a:pPr>
              <a:buNone/>
            </a:pPr>
            <a:r>
              <a:rPr lang="en-GB" dirty="0">
                <a:solidFill>
                  <a:srgbClr val="000000"/>
                </a:solidFill>
                <a:effectLst/>
                <a:latin typeface="Helvetica" pitchFamily="2" charset="0"/>
              </a:rPr>
              <a:t>images become clearer. The linear normalization of a digital image is performed according to</a:t>
            </a:r>
          </a:p>
          <a:p>
            <a:pPr>
              <a:buNone/>
            </a:pPr>
            <a:r>
              <a:rPr lang="en-GB" dirty="0">
                <a:solidFill>
                  <a:srgbClr val="000000"/>
                </a:solidFill>
                <a:effectLst/>
                <a:latin typeface="Helvetica" pitchFamily="2" charset="0"/>
              </a:rPr>
              <a:t>the formula</a:t>
            </a:r>
          </a:p>
          <a:p>
            <a:pPr>
              <a:buNone/>
            </a:pPr>
            <a:r>
              <a:rPr lang="en-GB" dirty="0">
                <a:solidFill>
                  <a:srgbClr val="000000"/>
                </a:solidFill>
                <a:effectLst/>
                <a:latin typeface="Helvetica" pitchFamily="2" charset="0"/>
              </a:rPr>
              <a:t>Output channel = 255 * (Input channel - min) / (max-min)</a:t>
            </a:r>
          </a:p>
          <a:p>
            <a:pPr>
              <a:buNone/>
            </a:pPr>
            <a:r>
              <a:rPr lang="en-GB" dirty="0">
                <a:solidFill>
                  <a:srgbClr val="000000"/>
                </a:solidFill>
                <a:effectLst/>
                <a:latin typeface="Helvetica" pitchFamily="2" charset="0"/>
              </a:rPr>
              <a:t>If we are using a grayscale image, we only need to normalize using one channel. However, if we</a:t>
            </a:r>
          </a:p>
          <a:p>
            <a:pPr>
              <a:buNone/>
            </a:pPr>
            <a:r>
              <a:rPr lang="en-GB" dirty="0">
                <a:solidFill>
                  <a:srgbClr val="000000"/>
                </a:solidFill>
                <a:effectLst/>
                <a:latin typeface="Helvetica" pitchFamily="2" charset="0"/>
              </a:rPr>
              <a:t>are normalizing a RGB (3 channels) we need to normalize for each channel using the same</a:t>
            </a:r>
          </a:p>
          <a:p>
            <a:r>
              <a:rPr lang="en-GB" dirty="0">
                <a:solidFill>
                  <a:srgbClr val="000000"/>
                </a:solidFill>
                <a:effectLst/>
                <a:latin typeface="Helvetica" pitchFamily="2" charset="0"/>
              </a:rPr>
              <a:t>criteria.</a:t>
            </a:r>
          </a:p>
          <a:p>
            <a:r>
              <a:rPr lang="en-GB" b="1" dirty="0"/>
              <a:t>Why ? </a:t>
            </a:r>
            <a:r>
              <a:rPr lang="en-GB" dirty="0"/>
              <a:t>Pixel values in raw images range from </a:t>
            </a:r>
            <a:r>
              <a:rPr lang="en-GB" b="1" dirty="0"/>
              <a:t>0 to 255</a:t>
            </a:r>
            <a:r>
              <a:rPr lang="en-GB" dirty="0"/>
              <a:t>. Neural networks work better when values are scaled down to a smaller, consistent range such as </a:t>
            </a:r>
            <a:r>
              <a:rPr lang="en-GB" b="1" dirty="0"/>
              <a:t>[0, 1]</a:t>
            </a:r>
            <a:r>
              <a:rPr lang="en-GB" dirty="0"/>
              <a:t> or </a:t>
            </a:r>
            <a:r>
              <a:rPr lang="en-GB" b="1" dirty="0"/>
              <a:t>[-1, 1]</a:t>
            </a:r>
            <a:r>
              <a:rPr lang="en-GB" dirty="0"/>
              <a:t>.</a:t>
            </a:r>
          </a:p>
          <a:p>
            <a:r>
              <a:rPr lang="en-GB" b="1" dirty="0"/>
              <a:t>How? </a:t>
            </a:r>
            <a:r>
              <a:rPr lang="en-GB" dirty="0"/>
              <a:t>Divide by 255 to convert values from [0, 255] → [0.0, 1.0].</a:t>
            </a:r>
          </a:p>
        </p:txBody>
      </p:sp>
      <p:sp>
        <p:nvSpPr>
          <p:cNvPr id="5" name="TextBox 4">
            <a:extLst>
              <a:ext uri="{FF2B5EF4-FFF2-40B4-BE49-F238E27FC236}">
                <a16:creationId xmlns:a16="http://schemas.microsoft.com/office/drawing/2014/main" id="{8F017581-3240-6685-7701-C7A41E9C7F84}"/>
              </a:ext>
            </a:extLst>
          </p:cNvPr>
          <p:cNvSpPr txBox="1"/>
          <p:nvPr/>
        </p:nvSpPr>
        <p:spPr>
          <a:xfrm>
            <a:off x="1649320" y="4090293"/>
            <a:ext cx="5212458" cy="639919"/>
          </a:xfrm>
          <a:prstGeom prst="rect">
            <a:avLst/>
          </a:prstGeom>
          <a:solidFill>
            <a:schemeClr val="accent1">
              <a:lumMod val="40000"/>
              <a:lumOff val="60000"/>
            </a:schemeClr>
          </a:solidFill>
        </p:spPr>
        <p:txBody>
          <a:bodyPr wrap="square">
            <a:spAutoFit/>
          </a:bodyPr>
          <a:lstStyle/>
          <a:p>
            <a:pPr algn="l">
              <a:lnSpc>
                <a:spcPts val="1425"/>
              </a:lnSpc>
              <a:buNone/>
            </a:pPr>
            <a:r>
              <a:rPr lang="en-GB" b="0" i="0" u="none" strike="noStrike" dirty="0">
                <a:solidFill>
                  <a:srgbClr val="000000"/>
                </a:solidFill>
                <a:effectLst/>
                <a:latin typeface="Courier New" panose="02070309020205020404" pitchFamily="49" charset="0"/>
              </a:rPr>
              <a:t>normalized = </a:t>
            </a:r>
            <a:r>
              <a:rPr lang="en-GB" b="0" i="0" u="none" strike="noStrike" dirty="0" err="1">
                <a:solidFill>
                  <a:srgbClr val="000000"/>
                </a:solidFill>
                <a:effectLst/>
                <a:latin typeface="Courier New" panose="02070309020205020404" pitchFamily="49" charset="0"/>
              </a:rPr>
              <a:t>image_rgb</a:t>
            </a:r>
            <a:r>
              <a:rPr lang="en-GB" b="0" i="0" u="none" strike="noStrike" dirty="0">
                <a:solidFill>
                  <a:srgbClr val="000000"/>
                </a:solidFill>
                <a:effectLst/>
                <a:latin typeface="Courier New" panose="02070309020205020404" pitchFamily="49" charset="0"/>
              </a:rPr>
              <a:t> / </a:t>
            </a:r>
            <a:r>
              <a:rPr lang="en-GB" b="0" i="0" u="none" strike="noStrike" dirty="0">
                <a:solidFill>
                  <a:srgbClr val="116644"/>
                </a:solidFill>
                <a:effectLst/>
                <a:latin typeface="Courier New" panose="02070309020205020404" pitchFamily="49" charset="0"/>
              </a:rPr>
              <a:t>255.0</a:t>
            </a:r>
            <a:r>
              <a:rPr lang="en-GB" b="0" i="0" u="none" strike="noStrike" dirty="0">
                <a:solidFill>
                  <a:srgbClr val="000000"/>
                </a:solidFill>
                <a:effectLst/>
                <a:latin typeface="Courier New" panose="02070309020205020404" pitchFamily="49" charset="0"/>
              </a:rPr>
              <a:t> </a:t>
            </a:r>
            <a:r>
              <a:rPr lang="en-GB" b="0" i="0" u="none" strike="noStrike" dirty="0">
                <a:solidFill>
                  <a:srgbClr val="008000"/>
                </a:solidFill>
                <a:effectLst/>
                <a:latin typeface="Courier New" panose="02070309020205020404" pitchFamily="49" charset="0"/>
              </a:rPr>
              <a:t># [0, 1] range</a:t>
            </a:r>
            <a:endParaRPr lang="en-GB" b="0" i="0" u="none" strike="noStrike" dirty="0">
              <a:solidFill>
                <a:srgbClr val="000000"/>
              </a:solidFill>
              <a:effectLst/>
              <a:latin typeface="Courier New" panose="02070309020205020404" pitchFamily="49" charset="0"/>
            </a:endParaRPr>
          </a:p>
          <a:p>
            <a:pPr algn="l">
              <a:lnSpc>
                <a:spcPts val="1425"/>
              </a:lnSpc>
            </a:pPr>
            <a:r>
              <a:rPr lang="en-GB" b="0" i="0" u="none" strike="noStrike" dirty="0">
                <a:solidFill>
                  <a:srgbClr val="795E26"/>
                </a:solidFill>
                <a:effectLst/>
                <a:latin typeface="Courier New" panose="02070309020205020404" pitchFamily="49" charset="0"/>
              </a:rPr>
              <a:t>print</a:t>
            </a:r>
            <a:r>
              <a:rPr lang="en-GB" b="0" i="0" u="none" strike="noStrike" dirty="0">
                <a:solidFill>
                  <a:srgbClr val="000000"/>
                </a:solidFill>
                <a:effectLst/>
                <a:latin typeface="Courier New" panose="02070309020205020404" pitchFamily="49" charset="0"/>
              </a:rPr>
              <a:t>(</a:t>
            </a:r>
            <a:r>
              <a:rPr lang="en-GB" b="0" i="0" u="none" strike="noStrike" dirty="0">
                <a:solidFill>
                  <a:srgbClr val="A31515"/>
                </a:solidFill>
                <a:effectLst/>
                <a:latin typeface="Courier New" panose="02070309020205020404" pitchFamily="49" charset="0"/>
              </a:rPr>
              <a:t>"Min:"</a:t>
            </a:r>
            <a:r>
              <a:rPr lang="en-GB" b="0" i="0" u="none" strike="noStrike" dirty="0">
                <a:solidFill>
                  <a:srgbClr val="000000"/>
                </a:solidFill>
                <a:effectLst/>
                <a:latin typeface="Courier New" panose="02070309020205020404" pitchFamily="49" charset="0"/>
              </a:rPr>
              <a:t>, </a:t>
            </a:r>
            <a:r>
              <a:rPr lang="en-GB" b="0" i="0" u="none" strike="noStrike" dirty="0" err="1">
                <a:solidFill>
                  <a:srgbClr val="000000"/>
                </a:solidFill>
                <a:effectLst/>
                <a:latin typeface="Courier New" panose="02070309020205020404" pitchFamily="49" charset="0"/>
              </a:rPr>
              <a:t>normalized.</a:t>
            </a:r>
            <a:r>
              <a:rPr lang="en-GB" b="0" i="0" u="none" strike="noStrike" dirty="0" err="1">
                <a:solidFill>
                  <a:srgbClr val="795E26"/>
                </a:solidFill>
                <a:effectLst/>
                <a:latin typeface="Courier New" panose="02070309020205020404" pitchFamily="49" charset="0"/>
              </a:rPr>
              <a:t>min</a:t>
            </a:r>
            <a:r>
              <a:rPr lang="en-GB" b="0" i="0" u="none" strike="noStrike" dirty="0">
                <a:solidFill>
                  <a:srgbClr val="000000"/>
                </a:solidFill>
                <a:effectLst/>
                <a:latin typeface="Courier New" panose="02070309020205020404" pitchFamily="49" charset="0"/>
              </a:rPr>
              <a:t>(), </a:t>
            </a:r>
            <a:r>
              <a:rPr lang="en-GB" b="0" i="0" u="none" strike="noStrike" dirty="0">
                <a:solidFill>
                  <a:srgbClr val="A31515"/>
                </a:solidFill>
                <a:effectLst/>
                <a:latin typeface="Courier New" panose="02070309020205020404" pitchFamily="49" charset="0"/>
              </a:rPr>
              <a:t>"Max:"</a:t>
            </a:r>
            <a:r>
              <a:rPr lang="en-GB" b="0" i="0" u="none" strike="noStrike" dirty="0">
                <a:solidFill>
                  <a:srgbClr val="000000"/>
                </a:solidFill>
                <a:effectLst/>
                <a:latin typeface="Courier New" panose="02070309020205020404" pitchFamily="49" charset="0"/>
              </a:rPr>
              <a:t>, </a:t>
            </a:r>
            <a:r>
              <a:rPr lang="en-GB" b="0" i="0" u="none" strike="noStrike" dirty="0" err="1">
                <a:solidFill>
                  <a:srgbClr val="000000"/>
                </a:solidFill>
                <a:effectLst/>
                <a:latin typeface="Courier New" panose="02070309020205020404" pitchFamily="49" charset="0"/>
              </a:rPr>
              <a:t>normalized.</a:t>
            </a:r>
            <a:r>
              <a:rPr lang="en-GB" b="0" i="0" u="none" strike="noStrike" dirty="0" err="1">
                <a:solidFill>
                  <a:srgbClr val="795E26"/>
                </a:solidFill>
                <a:effectLst/>
                <a:latin typeface="Courier New" panose="02070309020205020404" pitchFamily="49" charset="0"/>
              </a:rPr>
              <a:t>max</a:t>
            </a:r>
            <a:r>
              <a:rPr lang="en-GB" b="0" i="0" u="none" strike="noStrike"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3708807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FF5452A-080C-4003-C98E-0830A14DEDA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3F34580-052E-046C-9F0C-B024EF07D99F}"/>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b="1" i="0" u="none" strike="noStrike" dirty="0">
                <a:solidFill>
                  <a:srgbClr val="7030A0"/>
                </a:solidFill>
                <a:effectLst/>
                <a:latin typeface="Inter" panose="02000503000000020004" pitchFamily="2" charset="0"/>
              </a:rPr>
              <a:t>Grayscale Conversion</a:t>
            </a:r>
            <a:br>
              <a:rPr lang="en-GB" sz="3100" b="1" i="0" u="none" strike="noStrike" dirty="0">
                <a:solidFill>
                  <a:srgbClr val="7030A0"/>
                </a:solidFill>
                <a:effectLst/>
                <a:latin typeface="Inter" panose="02000503000000020004"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CCF8A11C-F730-F67F-7CD8-90370F3DBAA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6531081-5F6E-B37E-770F-19FC2381CD48}"/>
              </a:ext>
            </a:extLst>
          </p:cNvPr>
          <p:cNvSpPr txBox="1"/>
          <p:nvPr/>
        </p:nvSpPr>
        <p:spPr>
          <a:xfrm>
            <a:off x="0" y="729932"/>
            <a:ext cx="8778240" cy="1631216"/>
          </a:xfrm>
          <a:prstGeom prst="rect">
            <a:avLst/>
          </a:prstGeom>
          <a:noFill/>
        </p:spPr>
        <p:txBody>
          <a:bodyPr wrap="square">
            <a:spAutoFit/>
          </a:bodyPr>
          <a:lstStyle/>
          <a:p>
            <a:pPr>
              <a:buNone/>
            </a:pPr>
            <a:r>
              <a:rPr lang="en-GB" b="1" dirty="0"/>
              <a:t>Why?</a:t>
            </a:r>
            <a:br>
              <a:rPr lang="en-GB" dirty="0"/>
            </a:br>
            <a:r>
              <a:rPr lang="en-GB" dirty="0"/>
              <a:t>Grayscale images require less memory and are often enough for many tasks (e.g., handwritten digit recognition).</a:t>
            </a:r>
          </a:p>
          <a:p>
            <a:pPr marL="457200" lvl="1"/>
            <a:r>
              <a:rPr lang="en-GB" dirty="0"/>
              <a:t>Converts 3 </a:t>
            </a:r>
            <a:r>
              <a:rPr lang="en-GB" dirty="0" err="1"/>
              <a:t>color</a:t>
            </a:r>
            <a:r>
              <a:rPr lang="en-GB" dirty="0"/>
              <a:t> channels (RGB) into 1 intensity channel.</a:t>
            </a:r>
          </a:p>
          <a:p>
            <a:r>
              <a:rPr lang="en-GB" b="1" dirty="0"/>
              <a:t>How?</a:t>
            </a:r>
            <a:br>
              <a:rPr lang="en-GB" dirty="0"/>
            </a:br>
            <a:r>
              <a:rPr lang="en-GB" dirty="0"/>
              <a:t>Use OpenCV or similar libraries to convert to grayscale.</a:t>
            </a:r>
          </a:p>
          <a:p>
            <a:pPr algn="l"/>
            <a:endParaRPr lang="en-GB" sz="1600" i="0" u="none" strike="noStrike" dirty="0">
              <a:solidFill>
                <a:srgbClr val="000000"/>
              </a:solidFill>
              <a:effectLst/>
            </a:endParaRPr>
          </a:p>
        </p:txBody>
      </p:sp>
      <p:sp>
        <p:nvSpPr>
          <p:cNvPr id="6" name="TextBox 5">
            <a:extLst>
              <a:ext uri="{FF2B5EF4-FFF2-40B4-BE49-F238E27FC236}">
                <a16:creationId xmlns:a16="http://schemas.microsoft.com/office/drawing/2014/main" id="{6595F91D-A2D1-C698-A624-F22F25DFCD36}"/>
              </a:ext>
            </a:extLst>
          </p:cNvPr>
          <p:cNvSpPr txBox="1"/>
          <p:nvPr/>
        </p:nvSpPr>
        <p:spPr>
          <a:xfrm>
            <a:off x="81238" y="2571750"/>
            <a:ext cx="4211152" cy="819455"/>
          </a:xfrm>
          <a:prstGeom prst="rect">
            <a:avLst/>
          </a:prstGeom>
          <a:solidFill>
            <a:schemeClr val="accent1">
              <a:lumMod val="40000"/>
              <a:lumOff val="60000"/>
            </a:schemeClr>
          </a:solidFill>
        </p:spPr>
        <p:txBody>
          <a:bodyPr wrap="square">
            <a:spAutoFit/>
          </a:bodyPr>
          <a:lstStyle/>
          <a:p>
            <a:pPr algn="l">
              <a:lnSpc>
                <a:spcPts val="1425"/>
              </a:lnSpc>
              <a:buNone/>
            </a:pPr>
            <a:r>
              <a:rPr lang="en-GB" b="0" i="0" u="none" strike="noStrike" dirty="0" err="1">
                <a:solidFill>
                  <a:srgbClr val="000000"/>
                </a:solidFill>
                <a:effectLst/>
                <a:latin typeface="Courier New" panose="02070309020205020404" pitchFamily="49" charset="0"/>
              </a:rPr>
              <a:t>gray</a:t>
            </a:r>
            <a:r>
              <a:rPr lang="en-GB" b="0" i="0" u="none" strike="noStrike" dirty="0">
                <a:solidFill>
                  <a:srgbClr val="000000"/>
                </a:solidFill>
                <a:effectLst/>
                <a:latin typeface="Courier New" panose="02070309020205020404" pitchFamily="49" charset="0"/>
              </a:rPr>
              <a:t> = cv2.cvtColor(</a:t>
            </a:r>
            <a:r>
              <a:rPr lang="en-GB" b="0" i="0" u="none" strike="noStrike" dirty="0" err="1">
                <a:solidFill>
                  <a:srgbClr val="000000"/>
                </a:solidFill>
                <a:effectLst/>
                <a:latin typeface="Courier New" panose="02070309020205020404" pitchFamily="49" charset="0"/>
              </a:rPr>
              <a:t>image_rgb</a:t>
            </a:r>
            <a:r>
              <a:rPr lang="en-GB" b="0" i="0" u="none" strike="noStrike" dirty="0">
                <a:solidFill>
                  <a:srgbClr val="000000"/>
                </a:solidFill>
                <a:effectLst/>
                <a:latin typeface="Courier New" panose="02070309020205020404" pitchFamily="49" charset="0"/>
              </a:rPr>
              <a:t>, cv2.COLOR_RGB2GRAY)</a:t>
            </a:r>
          </a:p>
          <a:p>
            <a:pPr algn="l">
              <a:lnSpc>
                <a:spcPts val="1425"/>
              </a:lnSpc>
              <a:buNone/>
            </a:pPr>
            <a:r>
              <a:rPr lang="en-GB" b="0" i="0" u="none" strike="noStrike" dirty="0" err="1">
                <a:solidFill>
                  <a:srgbClr val="000000"/>
                </a:solidFill>
                <a:effectLst/>
                <a:latin typeface="Courier New" panose="02070309020205020404" pitchFamily="49" charset="0"/>
              </a:rPr>
              <a:t>plt.imshow</a:t>
            </a:r>
            <a:r>
              <a:rPr lang="en-GB" b="0" i="0" u="none" strike="noStrike" dirty="0">
                <a:solidFill>
                  <a:srgbClr val="000000"/>
                </a:solidFill>
                <a:effectLst/>
                <a:latin typeface="Courier New" panose="02070309020205020404" pitchFamily="49" charset="0"/>
              </a:rPr>
              <a:t>(</a:t>
            </a:r>
            <a:r>
              <a:rPr lang="en-GB" b="0" i="0" u="none" strike="noStrike" dirty="0" err="1">
                <a:solidFill>
                  <a:srgbClr val="000000"/>
                </a:solidFill>
                <a:effectLst/>
                <a:latin typeface="Courier New" panose="02070309020205020404" pitchFamily="49" charset="0"/>
              </a:rPr>
              <a:t>gray</a:t>
            </a:r>
            <a:r>
              <a:rPr lang="en-GB" b="0" i="0" u="none" strike="noStrike" dirty="0">
                <a:solidFill>
                  <a:srgbClr val="000000"/>
                </a:solidFill>
                <a:effectLst/>
                <a:latin typeface="Courier New" panose="02070309020205020404" pitchFamily="49" charset="0"/>
              </a:rPr>
              <a:t>, </a:t>
            </a:r>
            <a:r>
              <a:rPr lang="en-GB" b="0" i="0" u="none" strike="noStrike" dirty="0" err="1">
                <a:solidFill>
                  <a:srgbClr val="000000"/>
                </a:solidFill>
                <a:effectLst/>
                <a:latin typeface="Courier New" panose="02070309020205020404" pitchFamily="49" charset="0"/>
              </a:rPr>
              <a:t>cmap</a:t>
            </a:r>
            <a:r>
              <a:rPr lang="en-GB" b="0" i="0" u="none" strike="noStrike" dirty="0">
                <a:solidFill>
                  <a:srgbClr val="000000"/>
                </a:solidFill>
                <a:effectLst/>
                <a:latin typeface="Courier New" panose="02070309020205020404" pitchFamily="49" charset="0"/>
              </a:rPr>
              <a:t>=</a:t>
            </a:r>
            <a:r>
              <a:rPr lang="en-GB" b="0" i="0" u="none" strike="noStrike" dirty="0">
                <a:solidFill>
                  <a:srgbClr val="A31515"/>
                </a:solidFill>
                <a:effectLst/>
                <a:latin typeface="Courier New" panose="02070309020205020404" pitchFamily="49" charset="0"/>
              </a:rPr>
              <a:t>'</a:t>
            </a:r>
            <a:r>
              <a:rPr lang="en-GB" b="0" i="0" u="none" strike="noStrike" dirty="0" err="1">
                <a:solidFill>
                  <a:srgbClr val="A31515"/>
                </a:solidFill>
                <a:effectLst/>
                <a:latin typeface="Courier New" panose="02070309020205020404" pitchFamily="49" charset="0"/>
              </a:rPr>
              <a:t>gray</a:t>
            </a:r>
            <a:r>
              <a:rPr lang="en-GB" b="0" i="0" u="none" strike="noStrike" dirty="0">
                <a:solidFill>
                  <a:srgbClr val="A31515"/>
                </a:solidFill>
                <a:effectLst/>
                <a:latin typeface="Courier New" panose="02070309020205020404" pitchFamily="49" charset="0"/>
              </a:rPr>
              <a:t>'</a:t>
            </a:r>
            <a:r>
              <a:rPr lang="en-GB" b="0" i="0" u="none" strike="noStrike" dirty="0">
                <a:solidFill>
                  <a:srgbClr val="000000"/>
                </a:solidFill>
                <a:effectLst/>
                <a:latin typeface="Courier New" panose="02070309020205020404" pitchFamily="49" charset="0"/>
              </a:rPr>
              <a:t>)</a:t>
            </a:r>
          </a:p>
          <a:p>
            <a:pPr algn="l">
              <a:lnSpc>
                <a:spcPts val="1425"/>
              </a:lnSpc>
            </a:pPr>
            <a:r>
              <a:rPr lang="en-GB" b="0" i="0" u="none" strike="noStrike" dirty="0" err="1">
                <a:solidFill>
                  <a:srgbClr val="000000"/>
                </a:solidFill>
                <a:effectLst/>
                <a:latin typeface="Courier New" panose="02070309020205020404" pitchFamily="49" charset="0"/>
              </a:rPr>
              <a:t>plt.show</a:t>
            </a:r>
            <a:r>
              <a:rPr lang="en-GB" b="0" i="0" u="none" strike="noStrike" dirty="0">
                <a:solidFill>
                  <a:srgbClr val="000000"/>
                </a:solidFill>
                <a:effectLst/>
                <a:latin typeface="Courier New" panose="02070309020205020404" pitchFamily="49" charset="0"/>
              </a:rPr>
              <a:t>()</a:t>
            </a:r>
          </a:p>
        </p:txBody>
      </p:sp>
      <p:pic>
        <p:nvPicPr>
          <p:cNvPr id="7" name="Picture 6">
            <a:extLst>
              <a:ext uri="{FF2B5EF4-FFF2-40B4-BE49-F238E27FC236}">
                <a16:creationId xmlns:a16="http://schemas.microsoft.com/office/drawing/2014/main" id="{A9F51142-AB0B-DCA9-3758-9CBA671E6848}"/>
              </a:ext>
            </a:extLst>
          </p:cNvPr>
          <p:cNvPicPr>
            <a:picLocks noChangeAspect="1"/>
          </p:cNvPicPr>
          <p:nvPr/>
        </p:nvPicPr>
        <p:blipFill>
          <a:blip r:embed="rId3"/>
          <a:stretch>
            <a:fillRect/>
          </a:stretch>
        </p:blipFill>
        <p:spPr>
          <a:xfrm>
            <a:off x="4503987" y="1991420"/>
            <a:ext cx="4640013" cy="3066016"/>
          </a:xfrm>
          <a:prstGeom prst="rect">
            <a:avLst/>
          </a:prstGeom>
        </p:spPr>
      </p:pic>
    </p:spTree>
    <p:extLst>
      <p:ext uri="{BB962C8B-B14F-4D97-AF65-F5344CB8AC3E}">
        <p14:creationId xmlns:p14="http://schemas.microsoft.com/office/powerpoint/2010/main" val="3907372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FB73C57-71D7-DB2C-C67C-BDC92827CB5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8AC77D1-4899-4A25-BC96-71902B1608F5}"/>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Image Transformation Summary:</a:t>
            </a: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1A7BF3D-9C75-9C3D-FB70-DFC043042EE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2" name="Table 1">
            <a:extLst>
              <a:ext uri="{FF2B5EF4-FFF2-40B4-BE49-F238E27FC236}">
                <a16:creationId xmlns:a16="http://schemas.microsoft.com/office/drawing/2014/main" id="{6E03AA26-3029-C924-A929-AF712AEA38F4}"/>
              </a:ext>
            </a:extLst>
          </p:cNvPr>
          <p:cNvGraphicFramePr>
            <a:graphicFrameLocks noGrp="1"/>
          </p:cNvGraphicFramePr>
          <p:nvPr>
            <p:extLst>
              <p:ext uri="{D42A27DB-BD31-4B8C-83A1-F6EECF244321}">
                <p14:modId xmlns:p14="http://schemas.microsoft.com/office/powerpoint/2010/main" val="3331251849"/>
              </p:ext>
            </p:extLst>
          </p:nvPr>
        </p:nvGraphicFramePr>
        <p:xfrm>
          <a:off x="215124" y="1550656"/>
          <a:ext cx="8521701" cy="1584960"/>
        </p:xfrm>
        <a:graphic>
          <a:graphicData uri="http://schemas.openxmlformats.org/drawingml/2006/table">
            <a:tbl>
              <a:tblPr>
                <a:tableStyleId>{35758FB7-9AC5-4552-8A53-C91805E547FA}</a:tableStyleId>
              </a:tblPr>
              <a:tblGrid>
                <a:gridCol w="2840567">
                  <a:extLst>
                    <a:ext uri="{9D8B030D-6E8A-4147-A177-3AD203B41FA5}">
                      <a16:colId xmlns:a16="http://schemas.microsoft.com/office/drawing/2014/main" val="4092226449"/>
                    </a:ext>
                  </a:extLst>
                </a:gridCol>
                <a:gridCol w="2840567">
                  <a:extLst>
                    <a:ext uri="{9D8B030D-6E8A-4147-A177-3AD203B41FA5}">
                      <a16:colId xmlns:a16="http://schemas.microsoft.com/office/drawing/2014/main" val="2109871757"/>
                    </a:ext>
                  </a:extLst>
                </a:gridCol>
                <a:gridCol w="2840567">
                  <a:extLst>
                    <a:ext uri="{9D8B030D-6E8A-4147-A177-3AD203B41FA5}">
                      <a16:colId xmlns:a16="http://schemas.microsoft.com/office/drawing/2014/main" val="317683612"/>
                    </a:ext>
                  </a:extLst>
                </a:gridCol>
              </a:tblGrid>
              <a:tr h="304800">
                <a:tc>
                  <a:txBody>
                    <a:bodyPr/>
                    <a:lstStyle/>
                    <a:p>
                      <a:r>
                        <a:rPr lang="en-GB" sz="1600"/>
                        <a:t>Transformation</a:t>
                      </a:r>
                    </a:p>
                  </a:txBody>
                  <a:tcPr anchor="ctr"/>
                </a:tc>
                <a:tc>
                  <a:txBody>
                    <a:bodyPr/>
                    <a:lstStyle/>
                    <a:p>
                      <a:r>
                        <a:rPr lang="en-GB" sz="1600"/>
                        <a:t>Purpose</a:t>
                      </a:r>
                    </a:p>
                  </a:txBody>
                  <a:tcPr anchor="ctr"/>
                </a:tc>
                <a:tc>
                  <a:txBody>
                    <a:bodyPr/>
                    <a:lstStyle/>
                    <a:p>
                      <a:r>
                        <a:rPr lang="en-GB" sz="1600"/>
                        <a:t>Benefit</a:t>
                      </a:r>
                    </a:p>
                  </a:txBody>
                  <a:tcPr anchor="ctr"/>
                </a:tc>
                <a:extLst>
                  <a:ext uri="{0D108BD9-81ED-4DB2-BD59-A6C34878D82A}">
                    <a16:rowId xmlns:a16="http://schemas.microsoft.com/office/drawing/2014/main" val="3011816647"/>
                  </a:ext>
                </a:extLst>
              </a:tr>
              <a:tr h="304800">
                <a:tc>
                  <a:txBody>
                    <a:bodyPr/>
                    <a:lstStyle/>
                    <a:p>
                      <a:r>
                        <a:rPr lang="en-GB" sz="1600" b="1"/>
                        <a:t>Rescaling</a:t>
                      </a:r>
                      <a:endParaRPr lang="en-GB" sz="1600"/>
                    </a:p>
                  </a:txBody>
                  <a:tcPr anchor="ctr"/>
                </a:tc>
                <a:tc>
                  <a:txBody>
                    <a:bodyPr/>
                    <a:lstStyle/>
                    <a:p>
                      <a:r>
                        <a:rPr lang="en-GB" sz="1600" dirty="0"/>
                        <a:t>Resize image dimensions</a:t>
                      </a:r>
                    </a:p>
                  </a:txBody>
                  <a:tcPr anchor="ctr"/>
                </a:tc>
                <a:tc>
                  <a:txBody>
                    <a:bodyPr/>
                    <a:lstStyle/>
                    <a:p>
                      <a:r>
                        <a:rPr lang="en-GB" sz="1600"/>
                        <a:t>Uniform input size for models</a:t>
                      </a:r>
                    </a:p>
                  </a:txBody>
                  <a:tcPr anchor="ctr"/>
                </a:tc>
                <a:extLst>
                  <a:ext uri="{0D108BD9-81ED-4DB2-BD59-A6C34878D82A}">
                    <a16:rowId xmlns:a16="http://schemas.microsoft.com/office/drawing/2014/main" val="1650518363"/>
                  </a:ext>
                </a:extLst>
              </a:tr>
              <a:tr h="304800">
                <a:tc>
                  <a:txBody>
                    <a:bodyPr/>
                    <a:lstStyle/>
                    <a:p>
                      <a:r>
                        <a:rPr lang="en-GB" sz="1600" b="1"/>
                        <a:t>Normalization</a:t>
                      </a:r>
                      <a:endParaRPr lang="en-GB" sz="1600"/>
                    </a:p>
                  </a:txBody>
                  <a:tcPr anchor="ctr"/>
                </a:tc>
                <a:tc>
                  <a:txBody>
                    <a:bodyPr/>
                    <a:lstStyle/>
                    <a:p>
                      <a:r>
                        <a:rPr lang="en-GB" sz="1600"/>
                        <a:t>Scale pixel values</a:t>
                      </a:r>
                    </a:p>
                  </a:txBody>
                  <a:tcPr anchor="ctr"/>
                </a:tc>
                <a:tc>
                  <a:txBody>
                    <a:bodyPr/>
                    <a:lstStyle/>
                    <a:p>
                      <a:r>
                        <a:rPr lang="en-GB" sz="1600"/>
                        <a:t>Stable, faster model training</a:t>
                      </a:r>
                    </a:p>
                  </a:txBody>
                  <a:tcPr anchor="ctr"/>
                </a:tc>
                <a:extLst>
                  <a:ext uri="{0D108BD9-81ED-4DB2-BD59-A6C34878D82A}">
                    <a16:rowId xmlns:a16="http://schemas.microsoft.com/office/drawing/2014/main" val="3130900021"/>
                  </a:ext>
                </a:extLst>
              </a:tr>
              <a:tr h="518160">
                <a:tc>
                  <a:txBody>
                    <a:bodyPr/>
                    <a:lstStyle/>
                    <a:p>
                      <a:r>
                        <a:rPr lang="en-GB" sz="1600" b="1"/>
                        <a:t>Grayscale Conversion</a:t>
                      </a:r>
                      <a:endParaRPr lang="en-GB" sz="1600"/>
                    </a:p>
                  </a:txBody>
                  <a:tcPr anchor="ctr"/>
                </a:tc>
                <a:tc>
                  <a:txBody>
                    <a:bodyPr/>
                    <a:lstStyle/>
                    <a:p>
                      <a:r>
                        <a:rPr lang="en-GB" sz="1600"/>
                        <a:t>Reduce to 1 channel (from 3)</a:t>
                      </a:r>
                    </a:p>
                  </a:txBody>
                  <a:tcPr anchor="ctr"/>
                </a:tc>
                <a:tc>
                  <a:txBody>
                    <a:bodyPr/>
                    <a:lstStyle/>
                    <a:p>
                      <a:r>
                        <a:rPr lang="en-GB" sz="1600" dirty="0"/>
                        <a:t>Saves memory, faster computation</a:t>
                      </a:r>
                    </a:p>
                  </a:txBody>
                  <a:tcPr anchor="ctr"/>
                </a:tc>
                <a:extLst>
                  <a:ext uri="{0D108BD9-81ED-4DB2-BD59-A6C34878D82A}">
                    <a16:rowId xmlns:a16="http://schemas.microsoft.com/office/drawing/2014/main" val="3595071277"/>
                  </a:ext>
                </a:extLst>
              </a:tr>
            </a:tbl>
          </a:graphicData>
        </a:graphic>
      </p:graphicFrame>
    </p:spTree>
    <p:extLst>
      <p:ext uri="{BB962C8B-B14F-4D97-AF65-F5344CB8AC3E}">
        <p14:creationId xmlns:p14="http://schemas.microsoft.com/office/powerpoint/2010/main" val="506172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30ADD72-F288-4D94-3D22-B1F5884E327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B940C89-7522-536E-FD65-F91B9EC73C2D}"/>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dirty="0">
                <a:solidFill>
                  <a:srgbClr val="7030A0"/>
                </a:solidFill>
                <a:effectLst/>
                <a:latin typeface="Lato" panose="020F0502020204030204" pitchFamily="34" charset="0"/>
              </a:rPr>
              <a:t>Image Augmentation</a:t>
            </a:r>
            <a:r>
              <a:rPr lang="en-GB" sz="2800" b="0" i="0" dirty="0">
                <a:solidFill>
                  <a:srgbClr val="7030A0"/>
                </a:solidFill>
                <a:effectLst/>
                <a:latin typeface="Lato" panose="020F0502020204030204" pitchFamily="34" charset="0"/>
              </a:rPr>
              <a:t> </a:t>
            </a: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53A1197-150A-717B-84F4-802427D23F9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40D11F4-6A38-8F13-13F2-E68E3402DEE4}"/>
              </a:ext>
            </a:extLst>
          </p:cNvPr>
          <p:cNvSpPr txBox="1"/>
          <p:nvPr/>
        </p:nvSpPr>
        <p:spPr>
          <a:xfrm>
            <a:off x="182880" y="779228"/>
            <a:ext cx="8329650" cy="3724096"/>
          </a:xfrm>
          <a:prstGeom prst="rect">
            <a:avLst/>
          </a:prstGeom>
          <a:noFill/>
        </p:spPr>
        <p:txBody>
          <a:bodyPr wrap="square">
            <a:spAutoFit/>
          </a:bodyPr>
          <a:lstStyle/>
          <a:p>
            <a:pPr algn="l"/>
            <a:r>
              <a:rPr lang="en-GB" sz="2000" b="1" i="0" dirty="0">
                <a:solidFill>
                  <a:srgbClr val="212529"/>
                </a:solidFill>
                <a:effectLst/>
                <a:latin typeface="Lato" panose="020F0502020204030204" pitchFamily="34" charset="0"/>
              </a:rPr>
              <a:t>Image Augmentation</a:t>
            </a:r>
            <a:r>
              <a:rPr lang="en-GB" sz="2000" b="0" i="0" dirty="0">
                <a:solidFill>
                  <a:srgbClr val="212529"/>
                </a:solidFill>
                <a:effectLst/>
                <a:latin typeface="Lato" panose="020F0502020204030204" pitchFamily="34" charset="0"/>
              </a:rPr>
              <a:t> is a data augmentation method that generates more training data from the existing training samples. Image Augmentation is especially useful in domains where training data is limited or expensive to obtain like in biomedical applications.</a:t>
            </a:r>
          </a:p>
          <a:p>
            <a:r>
              <a:rPr lang="en-GB" sz="2000" u="none" strike="noStrike" dirty="0">
                <a:solidFill>
                  <a:srgbClr val="212529"/>
                </a:solidFill>
                <a:latin typeface="Lato" panose="020F0502020204030204" pitchFamily="34" charset="0"/>
              </a:rPr>
              <a:t>It is basically </a:t>
            </a:r>
            <a:r>
              <a:rPr lang="en-GB" sz="2000" b="0" i="0" u="none" strike="noStrike" dirty="0">
                <a:solidFill>
                  <a:srgbClr val="404040"/>
                </a:solidFill>
                <a:effectLst/>
                <a:latin typeface="DeepSeek-CJK-patch"/>
              </a:rPr>
              <a:t>Artificially expanding dataset by applying random transformations.</a:t>
            </a:r>
          </a:p>
          <a:p>
            <a:pPr>
              <a:buFont typeface="Arial"/>
              <a:buNone/>
            </a:pPr>
            <a:r>
              <a:rPr lang="en-GB" sz="2000" dirty="0">
                <a:solidFill>
                  <a:srgbClr val="212529"/>
                </a:solidFill>
                <a:latin typeface="Lato" panose="020F0502020204030204" pitchFamily="34" charset="0"/>
              </a:rPr>
              <a:t>Why Use Augmentation?</a:t>
            </a:r>
          </a:p>
          <a:p>
            <a:pPr marL="342900" indent="-342900">
              <a:buFont typeface="Wingdings" pitchFamily="2" charset="2"/>
              <a:buChar char="ü"/>
            </a:pPr>
            <a:r>
              <a:rPr lang="en-GB" sz="2000" dirty="0">
                <a:solidFill>
                  <a:srgbClr val="212529"/>
                </a:solidFill>
                <a:latin typeface="Lato" panose="020F0502020204030204" pitchFamily="34" charset="0"/>
              </a:rPr>
              <a:t>Improves generalization</a:t>
            </a:r>
          </a:p>
          <a:p>
            <a:pPr marL="342900" indent="-342900">
              <a:buFont typeface="Wingdings" pitchFamily="2" charset="2"/>
              <a:buChar char="ü"/>
            </a:pPr>
            <a:r>
              <a:rPr lang="en-GB" sz="2000" dirty="0">
                <a:solidFill>
                  <a:srgbClr val="212529"/>
                </a:solidFill>
                <a:latin typeface="Lato" panose="020F0502020204030204" pitchFamily="34" charset="0"/>
              </a:rPr>
              <a:t>Increases dataset diversity</a:t>
            </a:r>
          </a:p>
          <a:p>
            <a:pPr marL="342900" indent="-342900">
              <a:buFont typeface="Wingdings" pitchFamily="2" charset="2"/>
              <a:buChar char="ü"/>
            </a:pPr>
            <a:r>
              <a:rPr lang="en-GB" sz="2000" dirty="0">
                <a:solidFill>
                  <a:srgbClr val="212529"/>
                </a:solidFill>
                <a:latin typeface="Lato" panose="020F0502020204030204" pitchFamily="34" charset="0"/>
              </a:rPr>
              <a:t>Common techniques: rotation, flipping, zooming, shifting</a:t>
            </a:r>
          </a:p>
          <a:p>
            <a:endParaRPr lang="en-GB" sz="2000" b="0" i="0" u="none" strike="noStrike" dirty="0">
              <a:solidFill>
                <a:srgbClr val="404040"/>
              </a:solidFill>
              <a:effectLst/>
              <a:latin typeface="DeepSeek-CJK-patch"/>
            </a:endParaRPr>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2787827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47B08B1-6B00-0189-D23B-1D4C7781C92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CC80040-DC52-1483-349A-54967ACD7145}"/>
              </a:ext>
            </a:extLst>
          </p:cNvPr>
          <p:cNvSpPr txBox="1">
            <a:spLocks noGrp="1"/>
          </p:cNvSpPr>
          <p:nvPr>
            <p:ph type="title"/>
          </p:nvPr>
        </p:nvSpPr>
        <p:spPr>
          <a:xfrm>
            <a:off x="311149"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dirty="0">
                <a:solidFill>
                  <a:srgbClr val="7030A0"/>
                </a:solidFill>
                <a:effectLst/>
                <a:latin typeface="Lato" panose="020F0502020204030204" pitchFamily="34" charset="0"/>
              </a:rPr>
              <a:t>Reasons to Use Augmentation</a:t>
            </a:r>
            <a:br>
              <a:rPr lang="en-GB" sz="2800" b="1" i="0" dirty="0">
                <a:solidFill>
                  <a:srgbClr val="7030A0"/>
                </a:solidFill>
                <a:effectLst/>
                <a:latin typeface="Lato" panose="020F0502020204030204" pitchFamily="34" charset="0"/>
              </a:rPr>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2FE55195-A6A7-0F79-0296-E5DA0384AD1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7A07D783-4CA2-DEF7-C039-C19C4A0FF285}"/>
              </a:ext>
            </a:extLst>
          </p:cNvPr>
          <p:cNvSpPr txBox="1"/>
          <p:nvPr/>
        </p:nvSpPr>
        <p:spPr>
          <a:xfrm>
            <a:off x="182880" y="779228"/>
            <a:ext cx="8329650" cy="646331"/>
          </a:xfrm>
          <a:prstGeom prst="rect">
            <a:avLst/>
          </a:prstGeom>
          <a:noFill/>
        </p:spPr>
        <p:txBody>
          <a:bodyPr wrap="square">
            <a:spAutoFit/>
          </a:bodyPr>
          <a:lstStyle/>
          <a:p>
            <a:endParaRPr lang="en-GB" sz="2000" b="0" i="0" u="none" strike="noStrike" dirty="0">
              <a:solidFill>
                <a:srgbClr val="404040"/>
              </a:solidFill>
              <a:effectLst/>
              <a:latin typeface="DeepSeek-CJK-patch"/>
            </a:endParaRPr>
          </a:p>
          <a:p>
            <a:pPr algn="l"/>
            <a:endParaRPr lang="en-GB" sz="1600" i="0" u="none" strike="noStrike" dirty="0">
              <a:solidFill>
                <a:srgbClr val="000000"/>
              </a:solidFill>
              <a:effectLst/>
            </a:endParaRPr>
          </a:p>
        </p:txBody>
      </p:sp>
      <p:sp>
        <p:nvSpPr>
          <p:cNvPr id="11" name="TextBox 10">
            <a:extLst>
              <a:ext uri="{FF2B5EF4-FFF2-40B4-BE49-F238E27FC236}">
                <a16:creationId xmlns:a16="http://schemas.microsoft.com/office/drawing/2014/main" id="{7084A7C0-62E6-4ECF-8CA0-F66D912D6F45}"/>
              </a:ext>
            </a:extLst>
          </p:cNvPr>
          <p:cNvSpPr txBox="1"/>
          <p:nvPr/>
        </p:nvSpPr>
        <p:spPr>
          <a:xfrm>
            <a:off x="399618" y="502049"/>
            <a:ext cx="7685494" cy="2554545"/>
          </a:xfrm>
          <a:prstGeom prst="rect">
            <a:avLst/>
          </a:prstGeom>
          <a:noFill/>
        </p:spPr>
        <p:txBody>
          <a:bodyPr wrap="square">
            <a:spAutoFit/>
          </a:bodyPr>
          <a:lstStyle/>
          <a:p>
            <a:pPr>
              <a:buNone/>
            </a:pPr>
            <a:r>
              <a:rPr lang="en-GB" sz="1600" b="1" dirty="0"/>
              <a:t>1. Improves Generalization</a:t>
            </a:r>
          </a:p>
          <a:p>
            <a:pPr marL="285750" indent="-285750">
              <a:buFont typeface="Wingdings" pitchFamily="2" charset="2"/>
              <a:buChar char="ü"/>
            </a:pPr>
            <a:r>
              <a:rPr lang="en-GB" sz="1600" dirty="0"/>
              <a:t>Helps models </a:t>
            </a:r>
            <a:r>
              <a:rPr lang="en-GB" sz="1600" b="1" dirty="0"/>
              <a:t>learn more robust features</a:t>
            </a:r>
            <a:r>
              <a:rPr lang="en-GB" sz="1600" dirty="0"/>
              <a:t>.</a:t>
            </a:r>
          </a:p>
          <a:p>
            <a:pPr marL="285750" indent="-285750">
              <a:buFont typeface="Wingdings" pitchFamily="2" charset="2"/>
              <a:buChar char="ü"/>
            </a:pPr>
            <a:r>
              <a:rPr lang="en-GB" sz="1600" dirty="0"/>
              <a:t>Reduces overfitting by exposing the model to more variation during training.</a:t>
            </a:r>
          </a:p>
          <a:p>
            <a:pPr marL="285750" indent="-285750">
              <a:buFont typeface="Wingdings" pitchFamily="2" charset="2"/>
              <a:buChar char="ü"/>
            </a:pPr>
            <a:r>
              <a:rPr lang="en-GB" sz="1600" dirty="0"/>
              <a:t>Without augmentation, a model might memorize training images instead of learning meaningful patterns.</a:t>
            </a:r>
          </a:p>
          <a:p>
            <a:pPr>
              <a:buNone/>
            </a:pPr>
            <a:r>
              <a:rPr lang="en-GB" sz="1600" b="1" dirty="0"/>
              <a:t>2. Increases Dataset Diversity</a:t>
            </a:r>
          </a:p>
          <a:p>
            <a:pPr marL="285750" indent="-285750">
              <a:buFont typeface="Wingdings" pitchFamily="2" charset="2"/>
              <a:buChar char="ü"/>
            </a:pPr>
            <a:r>
              <a:rPr lang="en-GB" sz="1600" dirty="0"/>
              <a:t>Makes a small dataset behave like a </a:t>
            </a:r>
            <a:r>
              <a:rPr lang="en-GB" sz="1600" b="1" dirty="0"/>
              <a:t>larger one</a:t>
            </a:r>
            <a:r>
              <a:rPr lang="en-GB" sz="1600" dirty="0"/>
              <a:t>.</a:t>
            </a:r>
          </a:p>
          <a:p>
            <a:pPr marL="285750" indent="-285750">
              <a:buFont typeface="Wingdings" pitchFamily="2" charset="2"/>
              <a:buChar char="ü"/>
            </a:pPr>
            <a:r>
              <a:rPr lang="en-GB" sz="1600" dirty="0"/>
              <a:t>Simulates real-world variations (like different angles, lighting, positions).</a:t>
            </a:r>
          </a:p>
          <a:p>
            <a:pPr marL="285750" indent="-285750">
              <a:buFont typeface="Wingdings" pitchFamily="2" charset="2"/>
              <a:buChar char="ü"/>
            </a:pPr>
            <a:r>
              <a:rPr lang="en-GB" sz="1600" dirty="0"/>
              <a:t>Especially useful when collecting more data is expensive or impractical.</a:t>
            </a:r>
          </a:p>
          <a:p>
            <a:pPr marL="285750" indent="-285750">
              <a:buFont typeface="Wingdings" pitchFamily="2" charset="2"/>
              <a:buChar char="ü"/>
            </a:pPr>
            <a:endParaRPr lang="en-GB" sz="1600" dirty="0"/>
          </a:p>
        </p:txBody>
      </p:sp>
      <p:graphicFrame>
        <p:nvGraphicFramePr>
          <p:cNvPr id="12" name="Table 11">
            <a:extLst>
              <a:ext uri="{FF2B5EF4-FFF2-40B4-BE49-F238E27FC236}">
                <a16:creationId xmlns:a16="http://schemas.microsoft.com/office/drawing/2014/main" id="{0016DB56-794F-7938-CA4C-9CAE56D35001}"/>
              </a:ext>
            </a:extLst>
          </p:cNvPr>
          <p:cNvGraphicFramePr>
            <a:graphicFrameLocks noGrp="1"/>
          </p:cNvGraphicFramePr>
          <p:nvPr>
            <p:extLst>
              <p:ext uri="{D42A27DB-BD31-4B8C-83A1-F6EECF244321}">
                <p14:modId xmlns:p14="http://schemas.microsoft.com/office/powerpoint/2010/main" val="3598249491"/>
              </p:ext>
            </p:extLst>
          </p:nvPr>
        </p:nvGraphicFramePr>
        <p:xfrm>
          <a:off x="311149" y="3010585"/>
          <a:ext cx="8521701" cy="1950720"/>
        </p:xfrm>
        <a:graphic>
          <a:graphicData uri="http://schemas.openxmlformats.org/drawingml/2006/table">
            <a:tbl>
              <a:tblPr>
                <a:tableStyleId>{35758FB7-9AC5-4552-8A53-C91805E547FA}</a:tableStyleId>
              </a:tblPr>
              <a:tblGrid>
                <a:gridCol w="2840567">
                  <a:extLst>
                    <a:ext uri="{9D8B030D-6E8A-4147-A177-3AD203B41FA5}">
                      <a16:colId xmlns:a16="http://schemas.microsoft.com/office/drawing/2014/main" val="610263025"/>
                    </a:ext>
                  </a:extLst>
                </a:gridCol>
                <a:gridCol w="2840567">
                  <a:extLst>
                    <a:ext uri="{9D8B030D-6E8A-4147-A177-3AD203B41FA5}">
                      <a16:colId xmlns:a16="http://schemas.microsoft.com/office/drawing/2014/main" val="459894599"/>
                    </a:ext>
                  </a:extLst>
                </a:gridCol>
                <a:gridCol w="2840567">
                  <a:extLst>
                    <a:ext uri="{9D8B030D-6E8A-4147-A177-3AD203B41FA5}">
                      <a16:colId xmlns:a16="http://schemas.microsoft.com/office/drawing/2014/main" val="1510253461"/>
                    </a:ext>
                  </a:extLst>
                </a:gridCol>
              </a:tblGrid>
              <a:tr h="304800">
                <a:tc>
                  <a:txBody>
                    <a:bodyPr/>
                    <a:lstStyle/>
                    <a:p>
                      <a:r>
                        <a:rPr lang="en-GB" sz="1400" b="1"/>
                        <a:t>Technique</a:t>
                      </a:r>
                    </a:p>
                  </a:txBody>
                  <a:tcPr anchor="ctr"/>
                </a:tc>
                <a:tc>
                  <a:txBody>
                    <a:bodyPr/>
                    <a:lstStyle/>
                    <a:p>
                      <a:r>
                        <a:rPr lang="en-GB" sz="1400" b="1"/>
                        <a:t>What it does</a:t>
                      </a:r>
                    </a:p>
                  </a:txBody>
                  <a:tcPr anchor="ctr"/>
                </a:tc>
                <a:tc>
                  <a:txBody>
                    <a:bodyPr/>
                    <a:lstStyle/>
                    <a:p>
                      <a:r>
                        <a:rPr lang="en-GB" sz="1400" b="1" dirty="0"/>
                        <a:t>Example Usage</a:t>
                      </a:r>
                    </a:p>
                  </a:txBody>
                  <a:tcPr anchor="ctr"/>
                </a:tc>
                <a:extLst>
                  <a:ext uri="{0D108BD9-81ED-4DB2-BD59-A6C34878D82A}">
                    <a16:rowId xmlns:a16="http://schemas.microsoft.com/office/drawing/2014/main" val="905815843"/>
                  </a:ext>
                </a:extLst>
              </a:tr>
              <a:tr h="518160">
                <a:tc>
                  <a:txBody>
                    <a:bodyPr/>
                    <a:lstStyle/>
                    <a:p>
                      <a:r>
                        <a:rPr lang="en-GB" sz="1400" b="1"/>
                        <a:t>Rotation</a:t>
                      </a:r>
                      <a:endParaRPr lang="en-GB" sz="1400"/>
                    </a:p>
                  </a:txBody>
                  <a:tcPr anchor="ctr"/>
                </a:tc>
                <a:tc>
                  <a:txBody>
                    <a:bodyPr/>
                    <a:lstStyle/>
                    <a:p>
                      <a:r>
                        <a:rPr lang="en-GB" sz="1400"/>
                        <a:t>Rotates image by random angle</a:t>
                      </a:r>
                    </a:p>
                  </a:txBody>
                  <a:tcPr anchor="ctr"/>
                </a:tc>
                <a:tc>
                  <a:txBody>
                    <a:bodyPr/>
                    <a:lstStyle/>
                    <a:p>
                      <a:r>
                        <a:rPr lang="en-GB" sz="1400"/>
                        <a:t>Makes model invariant to orientation</a:t>
                      </a:r>
                    </a:p>
                  </a:txBody>
                  <a:tcPr anchor="ctr"/>
                </a:tc>
                <a:extLst>
                  <a:ext uri="{0D108BD9-81ED-4DB2-BD59-A6C34878D82A}">
                    <a16:rowId xmlns:a16="http://schemas.microsoft.com/office/drawing/2014/main" val="1374536850"/>
                  </a:ext>
                </a:extLst>
              </a:tr>
              <a:tr h="304800">
                <a:tc>
                  <a:txBody>
                    <a:bodyPr/>
                    <a:lstStyle/>
                    <a:p>
                      <a:r>
                        <a:rPr lang="en-GB" sz="1400" b="1"/>
                        <a:t>Flipping</a:t>
                      </a:r>
                      <a:endParaRPr lang="en-GB" sz="1400"/>
                    </a:p>
                  </a:txBody>
                  <a:tcPr anchor="ctr"/>
                </a:tc>
                <a:tc>
                  <a:txBody>
                    <a:bodyPr/>
                    <a:lstStyle/>
                    <a:p>
                      <a:r>
                        <a:rPr lang="en-GB" sz="1400"/>
                        <a:t>Horizontally or vertically flips</a:t>
                      </a:r>
                    </a:p>
                  </a:txBody>
                  <a:tcPr anchor="ctr"/>
                </a:tc>
                <a:tc>
                  <a:txBody>
                    <a:bodyPr/>
                    <a:lstStyle/>
                    <a:p>
                      <a:r>
                        <a:rPr lang="en-GB" sz="1400"/>
                        <a:t>Simulates mirror views</a:t>
                      </a:r>
                    </a:p>
                  </a:txBody>
                  <a:tcPr anchor="ctr"/>
                </a:tc>
                <a:extLst>
                  <a:ext uri="{0D108BD9-81ED-4DB2-BD59-A6C34878D82A}">
                    <a16:rowId xmlns:a16="http://schemas.microsoft.com/office/drawing/2014/main" val="3838739477"/>
                  </a:ext>
                </a:extLst>
              </a:tr>
              <a:tr h="304800">
                <a:tc>
                  <a:txBody>
                    <a:bodyPr/>
                    <a:lstStyle/>
                    <a:p>
                      <a:r>
                        <a:rPr lang="en-GB" sz="1400" b="1"/>
                        <a:t>Zooming</a:t>
                      </a:r>
                      <a:endParaRPr lang="en-GB" sz="1400"/>
                    </a:p>
                  </a:txBody>
                  <a:tcPr anchor="ctr"/>
                </a:tc>
                <a:tc>
                  <a:txBody>
                    <a:bodyPr/>
                    <a:lstStyle/>
                    <a:p>
                      <a:r>
                        <a:rPr lang="en-GB" sz="1400"/>
                        <a:t>Zooms into image</a:t>
                      </a:r>
                    </a:p>
                  </a:txBody>
                  <a:tcPr anchor="ctr"/>
                </a:tc>
                <a:tc>
                  <a:txBody>
                    <a:bodyPr/>
                    <a:lstStyle/>
                    <a:p>
                      <a:r>
                        <a:rPr lang="en-GB" sz="1400"/>
                        <a:t>Handles scale variations</a:t>
                      </a:r>
                    </a:p>
                  </a:txBody>
                  <a:tcPr anchor="ctr"/>
                </a:tc>
                <a:extLst>
                  <a:ext uri="{0D108BD9-81ED-4DB2-BD59-A6C34878D82A}">
                    <a16:rowId xmlns:a16="http://schemas.microsoft.com/office/drawing/2014/main" val="3827873791"/>
                  </a:ext>
                </a:extLst>
              </a:tr>
              <a:tr h="518160">
                <a:tc>
                  <a:txBody>
                    <a:bodyPr/>
                    <a:lstStyle/>
                    <a:p>
                      <a:r>
                        <a:rPr lang="en-GB" sz="1400" b="1"/>
                        <a:t>Shifting</a:t>
                      </a:r>
                      <a:endParaRPr lang="en-GB" sz="1400"/>
                    </a:p>
                  </a:txBody>
                  <a:tcPr anchor="ctr"/>
                </a:tc>
                <a:tc>
                  <a:txBody>
                    <a:bodyPr/>
                    <a:lstStyle/>
                    <a:p>
                      <a:r>
                        <a:rPr lang="en-GB" sz="1400" dirty="0"/>
                        <a:t>Moves image up/down/left/right</a:t>
                      </a:r>
                    </a:p>
                  </a:txBody>
                  <a:tcPr anchor="ctr"/>
                </a:tc>
                <a:tc>
                  <a:txBody>
                    <a:bodyPr/>
                    <a:lstStyle/>
                    <a:p>
                      <a:r>
                        <a:rPr lang="en-GB" sz="1400" dirty="0"/>
                        <a:t>Tolerates object positioning changes</a:t>
                      </a:r>
                    </a:p>
                  </a:txBody>
                  <a:tcPr anchor="ctr"/>
                </a:tc>
                <a:extLst>
                  <a:ext uri="{0D108BD9-81ED-4DB2-BD59-A6C34878D82A}">
                    <a16:rowId xmlns:a16="http://schemas.microsoft.com/office/drawing/2014/main" val="523444293"/>
                  </a:ext>
                </a:extLst>
              </a:tr>
            </a:tbl>
          </a:graphicData>
        </a:graphic>
      </p:graphicFrame>
      <p:sp>
        <p:nvSpPr>
          <p:cNvPr id="13" name="Rectangle 6">
            <a:extLst>
              <a:ext uri="{FF2B5EF4-FFF2-40B4-BE49-F238E27FC236}">
                <a16:creationId xmlns:a16="http://schemas.microsoft.com/office/drawing/2014/main" id="{EB494766-992D-CC3C-B73E-0D6A84E594F3}"/>
              </a:ext>
            </a:extLst>
          </p:cNvPr>
          <p:cNvSpPr>
            <a:spLocks noChangeArrowheads="1"/>
          </p:cNvSpPr>
          <p:nvPr/>
        </p:nvSpPr>
        <p:spPr bwMode="auto">
          <a:xfrm>
            <a:off x="311149" y="2737258"/>
            <a:ext cx="33153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Common Augmentation Techniques: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9043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D7C2DE0-1518-12F5-224C-A8E492523AE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710DD74-FC56-C273-6316-F3F40EB3C1B4}"/>
              </a:ext>
            </a:extLst>
          </p:cNvPr>
          <p:cNvSpPr txBox="1">
            <a:spLocks noGrp="1"/>
          </p:cNvSpPr>
          <p:nvPr>
            <p:ph type="title"/>
          </p:nvPr>
        </p:nvSpPr>
        <p:spPr>
          <a:xfrm>
            <a:off x="311149"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dirty="0">
                <a:solidFill>
                  <a:srgbClr val="7030A0"/>
                </a:solidFill>
                <a:effectLst/>
                <a:latin typeface="Lato" panose="020F0502020204030204" pitchFamily="34" charset="0"/>
              </a:rPr>
              <a:t>Augmentation with </a:t>
            </a:r>
            <a:r>
              <a:rPr lang="en-GB" sz="2800" b="1" i="0" dirty="0" err="1">
                <a:solidFill>
                  <a:srgbClr val="7030A0"/>
                </a:solidFill>
                <a:effectLst/>
                <a:latin typeface="Lato" panose="020F0502020204030204" pitchFamily="34" charset="0"/>
              </a:rPr>
              <a:t>Keras</a:t>
            </a:r>
            <a:br>
              <a:rPr lang="en-GB" sz="2800" b="1" i="0" dirty="0">
                <a:solidFill>
                  <a:srgbClr val="7030A0"/>
                </a:solidFill>
                <a:effectLst/>
                <a:latin typeface="Lato" panose="020F0502020204030204" pitchFamily="34" charset="0"/>
              </a:rPr>
            </a:br>
            <a:br>
              <a:rPr lang="en-GB" sz="2800" b="1" i="0" dirty="0">
                <a:solidFill>
                  <a:srgbClr val="7030A0"/>
                </a:solidFill>
                <a:effectLst/>
                <a:latin typeface="Lato" panose="020F0502020204030204" pitchFamily="34" charset="0"/>
              </a:rPr>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47091545-BF94-859B-0979-B88528B3847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8C811947-F3A5-F296-AADC-E7420E67FB99}"/>
              </a:ext>
            </a:extLst>
          </p:cNvPr>
          <p:cNvSpPr txBox="1"/>
          <p:nvPr/>
        </p:nvSpPr>
        <p:spPr>
          <a:xfrm>
            <a:off x="182880" y="779228"/>
            <a:ext cx="8329650" cy="646331"/>
          </a:xfrm>
          <a:prstGeom prst="rect">
            <a:avLst/>
          </a:prstGeom>
          <a:noFill/>
        </p:spPr>
        <p:txBody>
          <a:bodyPr wrap="square">
            <a:spAutoFit/>
          </a:bodyPr>
          <a:lstStyle/>
          <a:p>
            <a:endParaRPr lang="en-GB" sz="2000" b="0" i="0" u="none" strike="noStrike" dirty="0">
              <a:solidFill>
                <a:srgbClr val="404040"/>
              </a:solidFill>
              <a:effectLst/>
              <a:latin typeface="DeepSeek-CJK-patch"/>
            </a:endParaRPr>
          </a:p>
          <a:p>
            <a:pPr algn="l"/>
            <a:endParaRPr lang="en-GB" sz="1600" i="0" u="none" strike="noStrike" dirty="0">
              <a:solidFill>
                <a:srgbClr val="000000"/>
              </a:solidFill>
              <a:effectLst/>
            </a:endParaRPr>
          </a:p>
        </p:txBody>
      </p:sp>
      <p:sp>
        <p:nvSpPr>
          <p:cNvPr id="11" name="TextBox 10">
            <a:extLst>
              <a:ext uri="{FF2B5EF4-FFF2-40B4-BE49-F238E27FC236}">
                <a16:creationId xmlns:a16="http://schemas.microsoft.com/office/drawing/2014/main" id="{571B24E1-864A-B304-051C-D82B39D3605D}"/>
              </a:ext>
            </a:extLst>
          </p:cNvPr>
          <p:cNvSpPr txBox="1"/>
          <p:nvPr/>
        </p:nvSpPr>
        <p:spPr>
          <a:xfrm>
            <a:off x="399618" y="502049"/>
            <a:ext cx="7685494" cy="338554"/>
          </a:xfrm>
          <a:prstGeom prst="rect">
            <a:avLst/>
          </a:prstGeom>
          <a:noFill/>
        </p:spPr>
        <p:txBody>
          <a:bodyPr wrap="square">
            <a:spAutoFit/>
          </a:bodyPr>
          <a:lstStyle/>
          <a:p>
            <a:pPr marL="285750" indent="-285750">
              <a:buFont typeface="Wingdings" pitchFamily="2" charset="2"/>
              <a:buChar char="ü"/>
            </a:pPr>
            <a:endParaRPr lang="en-GB" sz="1600" dirty="0"/>
          </a:p>
        </p:txBody>
      </p:sp>
      <p:sp>
        <p:nvSpPr>
          <p:cNvPr id="13" name="Rectangle 6">
            <a:extLst>
              <a:ext uri="{FF2B5EF4-FFF2-40B4-BE49-F238E27FC236}">
                <a16:creationId xmlns:a16="http://schemas.microsoft.com/office/drawing/2014/main" id="{7AB0B4CA-88AD-EDCD-BC01-B4034EE710FC}"/>
              </a:ext>
            </a:extLst>
          </p:cNvPr>
          <p:cNvSpPr>
            <a:spLocks noChangeArrowheads="1"/>
          </p:cNvSpPr>
          <p:nvPr/>
        </p:nvSpPr>
        <p:spPr bwMode="auto">
          <a:xfrm>
            <a:off x="182880" y="931814"/>
            <a:ext cx="4653816" cy="3718967"/>
          </a:xfrm>
          <a:prstGeom prst="rect">
            <a:avLst/>
          </a:prstGeom>
          <a:solidFill>
            <a:schemeClr val="accent1">
              <a:lumMod val="40000"/>
              <a:lumOff val="60000"/>
            </a:schemeClr>
          </a:solidFill>
          <a:ln>
            <a:noFill/>
          </a:ln>
          <a:effectLst/>
        </p:spPr>
        <p:txBody>
          <a:bodyPr vert="horz" wrap="square" lIns="91440" tIns="45720" rIns="91440" bIns="45720" numCol="1" anchor="ctr" anchorCtr="0" compatLnSpc="1">
            <a:prstTxWarp prst="textNoShape">
              <a:avLst/>
            </a:prstTxWarp>
            <a:spAutoFit/>
          </a:bodyPr>
          <a:lstStyle/>
          <a:p>
            <a:pPr algn="l">
              <a:lnSpc>
                <a:spcPts val="1425"/>
              </a:lnSpc>
              <a:buNone/>
            </a:pPr>
            <a:r>
              <a:rPr lang="en-GB" b="0" i="0" u="none" strike="noStrike" dirty="0">
                <a:solidFill>
                  <a:srgbClr val="AF00DB"/>
                </a:solidFill>
                <a:effectLst/>
                <a:latin typeface="Courier New" panose="02070309020205020404" pitchFamily="49" charset="0"/>
              </a:rPr>
              <a:t>from</a:t>
            </a:r>
            <a:r>
              <a:rPr lang="en-GB" b="0" i="0" u="none" strike="noStrike" dirty="0">
                <a:solidFill>
                  <a:srgbClr val="000000"/>
                </a:solidFill>
                <a:effectLst/>
                <a:latin typeface="Courier New" panose="02070309020205020404" pitchFamily="49" charset="0"/>
              </a:rPr>
              <a:t> </a:t>
            </a:r>
            <a:r>
              <a:rPr lang="en-GB" b="0" i="0" u="none" strike="noStrike" dirty="0" err="1">
                <a:solidFill>
                  <a:srgbClr val="000000"/>
                </a:solidFill>
                <a:effectLst/>
                <a:latin typeface="Courier New" panose="02070309020205020404" pitchFamily="49" charset="0"/>
              </a:rPr>
              <a:t>tensorflow.keras.preprocessing.image</a:t>
            </a:r>
            <a:r>
              <a:rPr lang="en-GB" b="0" i="0" u="none" strike="noStrike" dirty="0">
                <a:solidFill>
                  <a:srgbClr val="000000"/>
                </a:solidFill>
                <a:effectLst/>
                <a:latin typeface="Courier New" panose="02070309020205020404" pitchFamily="49" charset="0"/>
              </a:rPr>
              <a:t> </a:t>
            </a:r>
            <a:r>
              <a:rPr lang="en-GB" b="0" i="0" u="none" strike="noStrike" dirty="0">
                <a:solidFill>
                  <a:srgbClr val="AF00DB"/>
                </a:solidFill>
                <a:effectLst/>
                <a:latin typeface="Courier New" panose="02070309020205020404" pitchFamily="49" charset="0"/>
              </a:rPr>
              <a:t>import</a:t>
            </a:r>
            <a:r>
              <a:rPr lang="en-GB" b="0" i="0" u="none" strike="noStrike" dirty="0">
                <a:solidFill>
                  <a:srgbClr val="000000"/>
                </a:solidFill>
                <a:effectLst/>
                <a:latin typeface="Courier New" panose="02070309020205020404" pitchFamily="49" charset="0"/>
              </a:rPr>
              <a:t> </a:t>
            </a:r>
            <a:r>
              <a:rPr lang="en-GB" b="0" i="0" u="none" strike="noStrike" dirty="0" err="1">
                <a:solidFill>
                  <a:srgbClr val="000000"/>
                </a:solidFill>
                <a:effectLst/>
                <a:latin typeface="Courier New" panose="02070309020205020404" pitchFamily="49" charset="0"/>
              </a:rPr>
              <a:t>ImageDataGenerator</a:t>
            </a:r>
            <a:endParaRPr lang="en-GB" b="0" i="0" u="none" strike="noStrike" dirty="0">
              <a:solidFill>
                <a:srgbClr val="000000"/>
              </a:solidFill>
              <a:effectLst/>
              <a:latin typeface="Courier New" panose="02070309020205020404" pitchFamily="49" charset="0"/>
            </a:endParaRPr>
          </a:p>
          <a:p>
            <a:pPr algn="l">
              <a:lnSpc>
                <a:spcPts val="1425"/>
              </a:lnSpc>
              <a:buNone/>
            </a:pPr>
            <a:br>
              <a:rPr lang="en-GB" b="0" i="0" u="none" strike="noStrike" dirty="0">
                <a:solidFill>
                  <a:srgbClr val="000000"/>
                </a:solidFill>
                <a:effectLst/>
                <a:latin typeface="Courier New" panose="02070309020205020404" pitchFamily="49" charset="0"/>
              </a:rPr>
            </a:br>
            <a:r>
              <a:rPr lang="en-GB" b="0" i="0" u="none" strike="noStrike" dirty="0" err="1">
                <a:solidFill>
                  <a:srgbClr val="000000"/>
                </a:solidFill>
                <a:effectLst/>
                <a:latin typeface="Courier New" panose="02070309020205020404" pitchFamily="49" charset="0"/>
              </a:rPr>
              <a:t>datagen</a:t>
            </a:r>
            <a:r>
              <a:rPr lang="en-GB" b="0" i="0" u="none" strike="noStrike" dirty="0">
                <a:solidFill>
                  <a:srgbClr val="000000"/>
                </a:solidFill>
                <a:effectLst/>
                <a:latin typeface="Courier New" panose="02070309020205020404" pitchFamily="49" charset="0"/>
              </a:rPr>
              <a:t> = </a:t>
            </a:r>
            <a:r>
              <a:rPr lang="en-GB" b="0" i="0" u="none" strike="noStrike" dirty="0" err="1">
                <a:solidFill>
                  <a:srgbClr val="000000"/>
                </a:solidFill>
                <a:effectLst/>
                <a:latin typeface="Courier New" panose="02070309020205020404" pitchFamily="49" charset="0"/>
              </a:rPr>
              <a:t>ImageDataGenerator</a:t>
            </a:r>
            <a:r>
              <a:rPr lang="en-GB" b="0" i="0" u="none" strike="noStrike" dirty="0">
                <a:solidFill>
                  <a:srgbClr val="000000"/>
                </a:solidFill>
                <a:effectLst/>
                <a:latin typeface="Courier New" panose="02070309020205020404" pitchFamily="49" charset="0"/>
              </a:rPr>
              <a:t>(</a:t>
            </a:r>
          </a:p>
          <a:p>
            <a:pPr algn="l">
              <a:lnSpc>
                <a:spcPts val="1425"/>
              </a:lnSpc>
              <a:buNone/>
            </a:pPr>
            <a:r>
              <a:rPr lang="en-GB" b="0" i="0" u="none" strike="noStrike" dirty="0" err="1">
                <a:solidFill>
                  <a:srgbClr val="000000"/>
                </a:solidFill>
                <a:effectLst/>
                <a:latin typeface="Courier New" panose="02070309020205020404" pitchFamily="49" charset="0"/>
              </a:rPr>
              <a:t>rotation_range</a:t>
            </a:r>
            <a:r>
              <a:rPr lang="en-GB" b="0" i="0" u="none" strike="noStrike" dirty="0">
                <a:solidFill>
                  <a:srgbClr val="000000"/>
                </a:solidFill>
                <a:effectLst/>
                <a:latin typeface="Courier New" panose="02070309020205020404" pitchFamily="49" charset="0"/>
              </a:rPr>
              <a:t>=</a:t>
            </a:r>
            <a:r>
              <a:rPr lang="en-GB" b="0" i="0" u="none" strike="noStrike" dirty="0">
                <a:solidFill>
                  <a:srgbClr val="116644"/>
                </a:solidFill>
                <a:effectLst/>
                <a:latin typeface="Courier New" panose="02070309020205020404" pitchFamily="49" charset="0"/>
              </a:rPr>
              <a:t>20</a:t>
            </a:r>
            <a:r>
              <a:rPr lang="en-GB" b="0" i="0" u="none" strike="noStrike" dirty="0">
                <a:solidFill>
                  <a:srgbClr val="000000"/>
                </a:solidFill>
                <a:effectLst/>
                <a:latin typeface="Courier New" panose="02070309020205020404" pitchFamily="49" charset="0"/>
              </a:rPr>
              <a:t>,</a:t>
            </a:r>
          </a:p>
          <a:p>
            <a:pPr algn="l">
              <a:lnSpc>
                <a:spcPts val="1425"/>
              </a:lnSpc>
              <a:buNone/>
            </a:pPr>
            <a:r>
              <a:rPr lang="en-GB" b="0" i="0" u="none" strike="noStrike" dirty="0" err="1">
                <a:solidFill>
                  <a:srgbClr val="000000"/>
                </a:solidFill>
                <a:effectLst/>
                <a:latin typeface="Courier New" panose="02070309020205020404" pitchFamily="49" charset="0"/>
              </a:rPr>
              <a:t>width_shift_range</a:t>
            </a:r>
            <a:r>
              <a:rPr lang="en-GB" b="0" i="0" u="none" strike="noStrike" dirty="0">
                <a:solidFill>
                  <a:srgbClr val="000000"/>
                </a:solidFill>
                <a:effectLst/>
                <a:latin typeface="Courier New" panose="02070309020205020404" pitchFamily="49" charset="0"/>
              </a:rPr>
              <a:t>=</a:t>
            </a:r>
            <a:r>
              <a:rPr lang="en-GB" b="0" i="0" u="none" strike="noStrike" dirty="0">
                <a:solidFill>
                  <a:srgbClr val="116644"/>
                </a:solidFill>
                <a:effectLst/>
                <a:latin typeface="Courier New" panose="02070309020205020404" pitchFamily="49" charset="0"/>
              </a:rPr>
              <a:t>0.1</a:t>
            </a:r>
            <a:r>
              <a:rPr lang="en-GB" b="0" i="0" u="none" strike="noStrike" dirty="0">
                <a:solidFill>
                  <a:srgbClr val="000000"/>
                </a:solidFill>
                <a:effectLst/>
                <a:latin typeface="Courier New" panose="02070309020205020404" pitchFamily="49" charset="0"/>
              </a:rPr>
              <a:t>,</a:t>
            </a:r>
          </a:p>
          <a:p>
            <a:pPr algn="l">
              <a:lnSpc>
                <a:spcPts val="1425"/>
              </a:lnSpc>
              <a:buNone/>
            </a:pPr>
            <a:r>
              <a:rPr lang="en-GB" b="0" i="0" u="none" strike="noStrike" dirty="0" err="1">
                <a:solidFill>
                  <a:srgbClr val="000000"/>
                </a:solidFill>
                <a:effectLst/>
                <a:latin typeface="Courier New" panose="02070309020205020404" pitchFamily="49" charset="0"/>
              </a:rPr>
              <a:t>height_shift_range</a:t>
            </a:r>
            <a:r>
              <a:rPr lang="en-GB" b="0" i="0" u="none" strike="noStrike" dirty="0">
                <a:solidFill>
                  <a:srgbClr val="000000"/>
                </a:solidFill>
                <a:effectLst/>
                <a:latin typeface="Courier New" panose="02070309020205020404" pitchFamily="49" charset="0"/>
              </a:rPr>
              <a:t>=</a:t>
            </a:r>
            <a:r>
              <a:rPr lang="en-GB" b="0" i="0" u="none" strike="noStrike" dirty="0">
                <a:solidFill>
                  <a:srgbClr val="116644"/>
                </a:solidFill>
                <a:effectLst/>
                <a:latin typeface="Courier New" panose="02070309020205020404" pitchFamily="49" charset="0"/>
              </a:rPr>
              <a:t>0.1</a:t>
            </a:r>
            <a:r>
              <a:rPr lang="en-GB" b="0" i="0" u="none" strike="noStrike" dirty="0">
                <a:solidFill>
                  <a:srgbClr val="000000"/>
                </a:solidFill>
                <a:effectLst/>
                <a:latin typeface="Courier New" panose="02070309020205020404" pitchFamily="49" charset="0"/>
              </a:rPr>
              <a:t>,</a:t>
            </a:r>
          </a:p>
          <a:p>
            <a:pPr algn="l">
              <a:lnSpc>
                <a:spcPts val="1425"/>
              </a:lnSpc>
              <a:buNone/>
            </a:pPr>
            <a:r>
              <a:rPr lang="en-GB" b="0" i="0" u="none" strike="noStrike" dirty="0" err="1">
                <a:solidFill>
                  <a:srgbClr val="000000"/>
                </a:solidFill>
                <a:effectLst/>
                <a:latin typeface="Courier New" panose="02070309020205020404" pitchFamily="49" charset="0"/>
              </a:rPr>
              <a:t>horizontal_flip</a:t>
            </a:r>
            <a:r>
              <a:rPr lang="en-GB" b="0" i="0" u="none" strike="noStrike" dirty="0">
                <a:solidFill>
                  <a:srgbClr val="000000"/>
                </a:solidFill>
                <a:effectLst/>
                <a:latin typeface="Courier New" panose="02070309020205020404" pitchFamily="49" charset="0"/>
              </a:rPr>
              <a:t>=</a:t>
            </a:r>
            <a:r>
              <a:rPr lang="en-GB" b="0" i="0" u="none" strike="noStrike" dirty="0">
                <a:solidFill>
                  <a:srgbClr val="0000FF"/>
                </a:solidFill>
                <a:effectLst/>
                <a:latin typeface="Courier New" panose="02070309020205020404" pitchFamily="49" charset="0"/>
              </a:rPr>
              <a:t>True</a:t>
            </a:r>
            <a:r>
              <a:rPr lang="en-GB" b="0" i="0" u="none" strike="noStrike" dirty="0">
                <a:solidFill>
                  <a:srgbClr val="000000"/>
                </a:solidFill>
                <a:effectLst/>
                <a:latin typeface="Courier New" panose="02070309020205020404" pitchFamily="49" charset="0"/>
              </a:rPr>
              <a:t>,</a:t>
            </a:r>
          </a:p>
          <a:p>
            <a:pPr algn="l">
              <a:lnSpc>
                <a:spcPts val="1425"/>
              </a:lnSpc>
              <a:buNone/>
            </a:pPr>
            <a:r>
              <a:rPr lang="en-GB" b="0" i="0" u="none" strike="noStrike" dirty="0" err="1">
                <a:solidFill>
                  <a:srgbClr val="000000"/>
                </a:solidFill>
                <a:effectLst/>
                <a:latin typeface="Courier New" panose="02070309020205020404" pitchFamily="49" charset="0"/>
              </a:rPr>
              <a:t>zoom_range</a:t>
            </a:r>
            <a:r>
              <a:rPr lang="en-GB" b="0" i="0" u="none" strike="noStrike" dirty="0">
                <a:solidFill>
                  <a:srgbClr val="000000"/>
                </a:solidFill>
                <a:effectLst/>
                <a:latin typeface="Courier New" panose="02070309020205020404" pitchFamily="49" charset="0"/>
              </a:rPr>
              <a:t>=</a:t>
            </a:r>
            <a:r>
              <a:rPr lang="en-GB" b="0" i="0" u="none" strike="noStrike" dirty="0">
                <a:solidFill>
                  <a:srgbClr val="116644"/>
                </a:solidFill>
                <a:effectLst/>
                <a:latin typeface="Courier New" panose="02070309020205020404" pitchFamily="49" charset="0"/>
              </a:rPr>
              <a:t>0.2</a:t>
            </a:r>
            <a:endParaRPr lang="en-GB" b="0" i="0" u="none" strike="noStrike" dirty="0">
              <a:solidFill>
                <a:srgbClr val="000000"/>
              </a:solidFill>
              <a:effectLst/>
              <a:latin typeface="Courier New" panose="02070309020205020404" pitchFamily="49" charset="0"/>
            </a:endParaRPr>
          </a:p>
          <a:p>
            <a:pPr algn="l">
              <a:lnSpc>
                <a:spcPts val="1425"/>
              </a:lnSpc>
              <a:buNone/>
            </a:pPr>
            <a:r>
              <a:rPr lang="en-GB" b="0" i="0" u="none" strike="noStrike" dirty="0">
                <a:solidFill>
                  <a:srgbClr val="000000"/>
                </a:solidFill>
                <a:effectLst/>
                <a:latin typeface="Courier New" panose="02070309020205020404" pitchFamily="49" charset="0"/>
              </a:rPr>
              <a:t>)</a:t>
            </a:r>
          </a:p>
          <a:p>
            <a:pPr algn="l">
              <a:lnSpc>
                <a:spcPts val="1425"/>
              </a:lnSpc>
              <a:buNone/>
            </a:pPr>
            <a:br>
              <a:rPr lang="en-GB" b="0" i="0" u="none" strike="noStrike" dirty="0">
                <a:solidFill>
                  <a:srgbClr val="000000"/>
                </a:solidFill>
                <a:effectLst/>
                <a:latin typeface="Courier New" panose="02070309020205020404" pitchFamily="49" charset="0"/>
              </a:rPr>
            </a:br>
            <a:r>
              <a:rPr lang="en-GB" b="0" i="0" u="none" strike="noStrike" dirty="0">
                <a:solidFill>
                  <a:srgbClr val="008000"/>
                </a:solidFill>
                <a:effectLst/>
                <a:latin typeface="Courier New" panose="02070309020205020404" pitchFamily="49" charset="0"/>
              </a:rPr>
              <a:t># Apply to a single image (expand dims to simulate batch)</a:t>
            </a:r>
            <a:endParaRPr lang="en-GB" b="0" i="0" u="none" strike="noStrike" dirty="0">
              <a:solidFill>
                <a:srgbClr val="000000"/>
              </a:solidFill>
              <a:effectLst/>
              <a:latin typeface="Courier New" panose="02070309020205020404" pitchFamily="49" charset="0"/>
            </a:endParaRPr>
          </a:p>
          <a:p>
            <a:pPr algn="l">
              <a:lnSpc>
                <a:spcPts val="1425"/>
              </a:lnSpc>
              <a:buNone/>
            </a:pPr>
            <a:r>
              <a:rPr lang="en-GB" b="0" i="0" u="none" strike="noStrike" dirty="0">
                <a:solidFill>
                  <a:srgbClr val="000000"/>
                </a:solidFill>
                <a:effectLst/>
                <a:latin typeface="Courier New" panose="02070309020205020404" pitchFamily="49" charset="0"/>
              </a:rPr>
              <a:t>augmented = </a:t>
            </a:r>
            <a:r>
              <a:rPr lang="en-GB" b="0" i="0" u="none" strike="noStrike" dirty="0" err="1">
                <a:solidFill>
                  <a:srgbClr val="000000"/>
                </a:solidFill>
                <a:effectLst/>
                <a:latin typeface="Courier New" panose="02070309020205020404" pitchFamily="49" charset="0"/>
              </a:rPr>
              <a:t>datagen.flow</a:t>
            </a:r>
            <a:r>
              <a:rPr lang="en-GB" b="0" i="0" u="none" strike="noStrike" dirty="0">
                <a:solidFill>
                  <a:srgbClr val="000000"/>
                </a:solidFill>
                <a:effectLst/>
                <a:latin typeface="Courier New" panose="02070309020205020404" pitchFamily="49" charset="0"/>
              </a:rPr>
              <a:t>(</a:t>
            </a:r>
            <a:r>
              <a:rPr lang="en-GB" b="0" i="0" u="none" strike="noStrike" dirty="0" err="1">
                <a:solidFill>
                  <a:srgbClr val="000000"/>
                </a:solidFill>
                <a:effectLst/>
                <a:latin typeface="Courier New" panose="02070309020205020404" pitchFamily="49" charset="0"/>
              </a:rPr>
              <a:t>np.expand_dims</a:t>
            </a:r>
            <a:r>
              <a:rPr lang="en-GB" b="0" i="0" u="none" strike="noStrike" dirty="0">
                <a:solidFill>
                  <a:srgbClr val="000000"/>
                </a:solidFill>
                <a:effectLst/>
                <a:latin typeface="Courier New" panose="02070309020205020404" pitchFamily="49" charset="0"/>
              </a:rPr>
              <a:t>(</a:t>
            </a:r>
            <a:r>
              <a:rPr lang="en-GB" b="0" i="0" u="none" strike="noStrike" dirty="0" err="1">
                <a:solidFill>
                  <a:srgbClr val="000000"/>
                </a:solidFill>
                <a:effectLst/>
                <a:latin typeface="Courier New" panose="02070309020205020404" pitchFamily="49" charset="0"/>
              </a:rPr>
              <a:t>image_rgb</a:t>
            </a:r>
            <a:r>
              <a:rPr lang="en-GB" b="0" i="0" u="none" strike="noStrike" dirty="0">
                <a:solidFill>
                  <a:srgbClr val="000000"/>
                </a:solidFill>
                <a:effectLst/>
                <a:latin typeface="Courier New" panose="02070309020205020404" pitchFamily="49" charset="0"/>
              </a:rPr>
              <a:t>, </a:t>
            </a:r>
            <a:r>
              <a:rPr lang="en-GB" b="0" i="0" u="none" strike="noStrike" dirty="0">
                <a:solidFill>
                  <a:srgbClr val="116644"/>
                </a:solidFill>
                <a:effectLst/>
                <a:latin typeface="Courier New" panose="02070309020205020404" pitchFamily="49" charset="0"/>
              </a:rPr>
              <a:t>0</a:t>
            </a:r>
            <a:r>
              <a:rPr lang="en-GB" b="0" i="0" u="none" strike="noStrike" dirty="0">
                <a:solidFill>
                  <a:srgbClr val="000000"/>
                </a:solidFill>
                <a:effectLst/>
                <a:latin typeface="Courier New" panose="02070309020205020404" pitchFamily="49" charset="0"/>
              </a:rPr>
              <a:t>))</a:t>
            </a:r>
          </a:p>
          <a:p>
            <a:pPr algn="l">
              <a:lnSpc>
                <a:spcPts val="1425"/>
              </a:lnSpc>
              <a:buNone/>
            </a:pPr>
            <a:r>
              <a:rPr lang="en-GB" b="0" i="0" u="none" strike="noStrike" dirty="0" err="1">
                <a:solidFill>
                  <a:srgbClr val="000000"/>
                </a:solidFill>
                <a:effectLst/>
                <a:latin typeface="Courier New" panose="02070309020205020404" pitchFamily="49" charset="0"/>
              </a:rPr>
              <a:t>plt.imshow</a:t>
            </a:r>
            <a:r>
              <a:rPr lang="en-GB" b="0" i="0" u="none" strike="noStrike" dirty="0">
                <a:solidFill>
                  <a:srgbClr val="000000"/>
                </a:solidFill>
                <a:effectLst/>
                <a:latin typeface="Courier New" panose="02070309020205020404" pitchFamily="49" charset="0"/>
              </a:rPr>
              <a:t>(augmented[</a:t>
            </a:r>
            <a:r>
              <a:rPr lang="en-GB" b="0" i="0" u="none" strike="noStrike" dirty="0">
                <a:solidFill>
                  <a:srgbClr val="116644"/>
                </a:solidFill>
                <a:effectLst/>
                <a:latin typeface="Courier New" panose="02070309020205020404" pitchFamily="49" charset="0"/>
              </a:rPr>
              <a:t>0</a:t>
            </a:r>
            <a:r>
              <a:rPr lang="en-GB" b="0" i="0" u="none" strike="noStrike" dirty="0">
                <a:solidFill>
                  <a:srgbClr val="000000"/>
                </a:solidFill>
                <a:effectLst/>
                <a:latin typeface="Courier New" panose="02070309020205020404" pitchFamily="49" charset="0"/>
              </a:rPr>
              <a:t>][</a:t>
            </a:r>
            <a:r>
              <a:rPr lang="en-GB" b="0" i="0" u="none" strike="noStrike" dirty="0">
                <a:solidFill>
                  <a:srgbClr val="116644"/>
                </a:solidFill>
                <a:effectLst/>
                <a:latin typeface="Courier New" panose="02070309020205020404" pitchFamily="49" charset="0"/>
              </a:rPr>
              <a:t>0</a:t>
            </a:r>
            <a:r>
              <a:rPr lang="en-GB" b="0" i="0" u="none" strike="noStrike" dirty="0">
                <a:solidFill>
                  <a:srgbClr val="000000"/>
                </a:solidFill>
                <a:effectLst/>
                <a:latin typeface="Courier New" panose="02070309020205020404" pitchFamily="49" charset="0"/>
              </a:rPr>
              <a:t>].</a:t>
            </a:r>
            <a:r>
              <a:rPr lang="en-GB" b="0" i="0" u="none" strike="noStrike" dirty="0" err="1">
                <a:solidFill>
                  <a:srgbClr val="000000"/>
                </a:solidFill>
                <a:effectLst/>
                <a:latin typeface="Courier New" panose="02070309020205020404" pitchFamily="49" charset="0"/>
              </a:rPr>
              <a:t>astype</a:t>
            </a:r>
            <a:r>
              <a:rPr lang="en-GB" b="0" i="0" u="none" strike="noStrike" dirty="0">
                <a:solidFill>
                  <a:srgbClr val="000000"/>
                </a:solidFill>
                <a:effectLst/>
                <a:latin typeface="Courier New" panose="02070309020205020404" pitchFamily="49" charset="0"/>
              </a:rPr>
              <a:t>(</a:t>
            </a:r>
            <a:r>
              <a:rPr lang="en-GB" b="0" i="0" u="none" strike="noStrike" dirty="0">
                <a:solidFill>
                  <a:srgbClr val="A31515"/>
                </a:solidFill>
                <a:effectLst/>
                <a:latin typeface="Courier New" panose="02070309020205020404" pitchFamily="49" charset="0"/>
              </a:rPr>
              <a:t>'uint8'</a:t>
            </a:r>
            <a:r>
              <a:rPr lang="en-GB" b="0" i="0" u="none" strike="noStrike" dirty="0">
                <a:solidFill>
                  <a:srgbClr val="000000"/>
                </a:solidFill>
                <a:effectLst/>
                <a:latin typeface="Courier New" panose="02070309020205020404" pitchFamily="49" charset="0"/>
              </a:rPr>
              <a:t>))</a:t>
            </a:r>
          </a:p>
          <a:p>
            <a:pPr algn="l">
              <a:lnSpc>
                <a:spcPts val="1425"/>
              </a:lnSpc>
              <a:buNone/>
            </a:pPr>
            <a:r>
              <a:rPr lang="en-GB" b="0" i="0" u="none" strike="noStrike" dirty="0" err="1">
                <a:solidFill>
                  <a:srgbClr val="000000"/>
                </a:solidFill>
                <a:effectLst/>
                <a:latin typeface="Courier New" panose="02070309020205020404" pitchFamily="49" charset="0"/>
              </a:rPr>
              <a:t>plt.title</a:t>
            </a:r>
            <a:r>
              <a:rPr lang="en-GB" b="0" i="0" u="none" strike="noStrike" dirty="0">
                <a:solidFill>
                  <a:srgbClr val="000000"/>
                </a:solidFill>
                <a:effectLst/>
                <a:latin typeface="Courier New" panose="02070309020205020404" pitchFamily="49" charset="0"/>
              </a:rPr>
              <a:t>(</a:t>
            </a:r>
            <a:r>
              <a:rPr lang="en-GB" b="0" i="0" u="none" strike="noStrike" dirty="0">
                <a:solidFill>
                  <a:srgbClr val="A31515"/>
                </a:solidFill>
                <a:effectLst/>
                <a:latin typeface="Courier New" panose="02070309020205020404" pitchFamily="49" charset="0"/>
              </a:rPr>
              <a:t>"Augmented Image"</a:t>
            </a:r>
            <a:r>
              <a:rPr lang="en-GB" b="0" i="0" u="none" strike="noStrike" dirty="0">
                <a:solidFill>
                  <a:srgbClr val="000000"/>
                </a:solidFill>
                <a:effectLst/>
                <a:latin typeface="Courier New" panose="02070309020205020404" pitchFamily="49" charset="0"/>
              </a:rPr>
              <a:t>)</a:t>
            </a:r>
          </a:p>
          <a:p>
            <a:pPr algn="l">
              <a:lnSpc>
                <a:spcPts val="1425"/>
              </a:lnSpc>
            </a:pPr>
            <a:r>
              <a:rPr lang="en-GB" b="0" i="0" u="none" strike="noStrike" dirty="0" err="1">
                <a:solidFill>
                  <a:srgbClr val="000000"/>
                </a:solidFill>
                <a:effectLst/>
                <a:latin typeface="Courier New" panose="02070309020205020404" pitchFamily="49" charset="0"/>
              </a:rPr>
              <a:t>plt.show</a:t>
            </a:r>
            <a:r>
              <a:rPr lang="en-GB" b="0" i="0" u="none" strike="noStrike" dirty="0">
                <a:solidFill>
                  <a:srgbClr val="000000"/>
                </a:solidFill>
                <a:effectLst/>
                <a:latin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4098" name="Picture 2">
            <a:extLst>
              <a:ext uri="{FF2B5EF4-FFF2-40B4-BE49-F238E27FC236}">
                <a16:creationId xmlns:a16="http://schemas.microsoft.com/office/drawing/2014/main" id="{96303B41-4145-B707-DCDD-D623EF619A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6816" y="922484"/>
            <a:ext cx="4144758" cy="3718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258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DC2DEAD-B29F-C5E7-C26E-D8E66410A74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D6F3E63-CBE9-933C-C1F6-7DC052CD5F0C}"/>
              </a:ext>
            </a:extLst>
          </p:cNvPr>
          <p:cNvSpPr txBox="1">
            <a:spLocks noGrp="1"/>
          </p:cNvSpPr>
          <p:nvPr>
            <p:ph type="title"/>
          </p:nvPr>
        </p:nvSpPr>
        <p:spPr>
          <a:xfrm>
            <a:off x="311149"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dirty="0">
                <a:solidFill>
                  <a:srgbClr val="7030A0"/>
                </a:solidFill>
                <a:effectLst/>
                <a:latin typeface="Lato" panose="020F0502020204030204" pitchFamily="34" charset="0"/>
              </a:rPr>
              <a:t>Preprocess CIFAR-10 Images</a:t>
            </a:r>
            <a:br>
              <a:rPr lang="en-GB" sz="2800" b="1" i="0" dirty="0">
                <a:solidFill>
                  <a:srgbClr val="7030A0"/>
                </a:solidFill>
                <a:effectLst/>
                <a:latin typeface="Lato" panose="020F0502020204030204" pitchFamily="34" charset="0"/>
              </a:rPr>
            </a:br>
            <a:br>
              <a:rPr lang="en-GB" sz="2800" b="1" i="0" dirty="0">
                <a:solidFill>
                  <a:srgbClr val="7030A0"/>
                </a:solidFill>
                <a:effectLst/>
                <a:latin typeface="Lato" panose="020F0502020204030204" pitchFamily="34" charset="0"/>
              </a:rPr>
            </a:br>
            <a:br>
              <a:rPr lang="en-GB" sz="2800" b="1" i="0" dirty="0">
                <a:solidFill>
                  <a:srgbClr val="7030A0"/>
                </a:solidFill>
                <a:effectLst/>
                <a:latin typeface="Lato" panose="020F0502020204030204" pitchFamily="34" charset="0"/>
              </a:rPr>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B6031FD1-66CE-AE80-588E-42E1EED4C89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5AE8653D-3E56-3045-1159-90191710B97A}"/>
              </a:ext>
            </a:extLst>
          </p:cNvPr>
          <p:cNvSpPr txBox="1"/>
          <p:nvPr/>
        </p:nvSpPr>
        <p:spPr>
          <a:xfrm>
            <a:off x="182880" y="779228"/>
            <a:ext cx="8329650" cy="646331"/>
          </a:xfrm>
          <a:prstGeom prst="rect">
            <a:avLst/>
          </a:prstGeom>
          <a:noFill/>
        </p:spPr>
        <p:txBody>
          <a:bodyPr wrap="square">
            <a:spAutoFit/>
          </a:bodyPr>
          <a:lstStyle/>
          <a:p>
            <a:endParaRPr lang="en-GB" sz="2000" b="0" i="0" u="none" strike="noStrike" dirty="0">
              <a:solidFill>
                <a:srgbClr val="404040"/>
              </a:solidFill>
              <a:effectLst/>
              <a:latin typeface="DeepSeek-CJK-patch"/>
            </a:endParaRPr>
          </a:p>
          <a:p>
            <a:pPr algn="l"/>
            <a:endParaRPr lang="en-GB" sz="1600" i="0" u="none" strike="noStrike" dirty="0">
              <a:solidFill>
                <a:srgbClr val="000000"/>
              </a:solidFill>
              <a:effectLst/>
            </a:endParaRPr>
          </a:p>
        </p:txBody>
      </p:sp>
      <p:sp>
        <p:nvSpPr>
          <p:cNvPr id="11" name="TextBox 10">
            <a:extLst>
              <a:ext uri="{FF2B5EF4-FFF2-40B4-BE49-F238E27FC236}">
                <a16:creationId xmlns:a16="http://schemas.microsoft.com/office/drawing/2014/main" id="{99059FE4-F755-6A2D-ED73-9760BBC7F726}"/>
              </a:ext>
            </a:extLst>
          </p:cNvPr>
          <p:cNvSpPr txBox="1"/>
          <p:nvPr/>
        </p:nvSpPr>
        <p:spPr>
          <a:xfrm>
            <a:off x="399618" y="502049"/>
            <a:ext cx="7685494" cy="338554"/>
          </a:xfrm>
          <a:prstGeom prst="rect">
            <a:avLst/>
          </a:prstGeom>
          <a:noFill/>
        </p:spPr>
        <p:txBody>
          <a:bodyPr wrap="square">
            <a:spAutoFit/>
          </a:bodyPr>
          <a:lstStyle/>
          <a:p>
            <a:pPr marL="285750" indent="-285750">
              <a:buFont typeface="Wingdings" pitchFamily="2" charset="2"/>
              <a:buChar char="ü"/>
            </a:pPr>
            <a:endParaRPr lang="en-GB" sz="1600" dirty="0"/>
          </a:p>
        </p:txBody>
      </p:sp>
      <p:sp>
        <p:nvSpPr>
          <p:cNvPr id="3" name="TextBox 2">
            <a:extLst>
              <a:ext uri="{FF2B5EF4-FFF2-40B4-BE49-F238E27FC236}">
                <a16:creationId xmlns:a16="http://schemas.microsoft.com/office/drawing/2014/main" id="{D10DBFBC-065D-B58B-DAE3-66DB028809C2}"/>
              </a:ext>
            </a:extLst>
          </p:cNvPr>
          <p:cNvSpPr txBox="1"/>
          <p:nvPr/>
        </p:nvSpPr>
        <p:spPr>
          <a:xfrm>
            <a:off x="0" y="580577"/>
            <a:ext cx="4013671" cy="1192634"/>
          </a:xfrm>
          <a:prstGeom prst="rect">
            <a:avLst/>
          </a:prstGeom>
          <a:noFill/>
        </p:spPr>
        <p:txBody>
          <a:bodyPr wrap="square">
            <a:spAutoFit/>
          </a:bodyPr>
          <a:lstStyle/>
          <a:p>
            <a:pPr marL="342900" indent="-342900" algn="l">
              <a:buFont typeface="+mj-lt"/>
              <a:buAutoNum type="arabicPeriod"/>
            </a:pPr>
            <a:r>
              <a:rPr lang="en-GB" sz="1600" b="0" i="0" u="none" strike="noStrike" dirty="0">
                <a:solidFill>
                  <a:srgbClr val="404040"/>
                </a:solidFill>
                <a:effectLst/>
                <a:latin typeface="+mj-lt"/>
              </a:rPr>
              <a:t>Load CIFAR-10 dataset.</a:t>
            </a:r>
          </a:p>
          <a:p>
            <a:pPr marL="342900" indent="-342900" algn="l">
              <a:spcBef>
                <a:spcPts val="300"/>
              </a:spcBef>
              <a:buFont typeface="+mj-lt"/>
              <a:buAutoNum type="arabicPeriod"/>
            </a:pPr>
            <a:r>
              <a:rPr lang="en-GB" sz="1600" b="0" i="0" u="none" strike="noStrike" dirty="0">
                <a:solidFill>
                  <a:srgbClr val="404040"/>
                </a:solidFill>
                <a:effectLst/>
                <a:latin typeface="+mj-lt"/>
              </a:rPr>
              <a:t>Convert a sample image to grayscale.</a:t>
            </a:r>
          </a:p>
          <a:p>
            <a:pPr marL="342900" indent="-342900" algn="l">
              <a:spcBef>
                <a:spcPts val="300"/>
              </a:spcBef>
              <a:buFont typeface="+mj-lt"/>
              <a:buAutoNum type="arabicPeriod"/>
            </a:pPr>
            <a:r>
              <a:rPr lang="en-GB" sz="1600" b="0" i="0" u="none" strike="noStrike" dirty="0">
                <a:solidFill>
                  <a:srgbClr val="404040"/>
                </a:solidFill>
                <a:effectLst/>
                <a:latin typeface="+mj-lt"/>
              </a:rPr>
              <a:t>Normalize pixel values.</a:t>
            </a:r>
          </a:p>
          <a:p>
            <a:pPr marL="342900" indent="-342900" algn="l">
              <a:spcBef>
                <a:spcPts val="300"/>
              </a:spcBef>
              <a:buFont typeface="+mj-lt"/>
              <a:buAutoNum type="arabicPeriod"/>
            </a:pPr>
            <a:r>
              <a:rPr lang="en-GB" sz="1600" b="0" i="0" u="none" strike="noStrike" dirty="0">
                <a:solidFill>
                  <a:srgbClr val="404040"/>
                </a:solidFill>
                <a:effectLst/>
                <a:latin typeface="+mj-lt"/>
              </a:rPr>
              <a:t>Apply augmentation (rotation + flip).</a:t>
            </a:r>
          </a:p>
        </p:txBody>
      </p:sp>
      <p:sp>
        <p:nvSpPr>
          <p:cNvPr id="7" name="TextBox 6">
            <a:extLst>
              <a:ext uri="{FF2B5EF4-FFF2-40B4-BE49-F238E27FC236}">
                <a16:creationId xmlns:a16="http://schemas.microsoft.com/office/drawing/2014/main" id="{70784772-34E4-FB84-75E3-69A66564D8F5}"/>
              </a:ext>
            </a:extLst>
          </p:cNvPr>
          <p:cNvSpPr txBox="1"/>
          <p:nvPr/>
        </p:nvSpPr>
        <p:spPr>
          <a:xfrm>
            <a:off x="3816863" y="1342652"/>
            <a:ext cx="5285614" cy="3785652"/>
          </a:xfrm>
          <a:prstGeom prst="rect">
            <a:avLst/>
          </a:prstGeom>
          <a:solidFill>
            <a:schemeClr val="accent1">
              <a:lumMod val="40000"/>
              <a:lumOff val="60000"/>
            </a:schemeClr>
          </a:solidFill>
        </p:spPr>
        <p:txBody>
          <a:bodyPr wrap="square">
            <a:spAutoFit/>
          </a:bodyPr>
          <a:lstStyle/>
          <a:p>
            <a:r>
              <a:rPr lang="en-US" sz="1200" dirty="0"/>
              <a:t>from </a:t>
            </a:r>
            <a:r>
              <a:rPr lang="en-US" sz="1200" dirty="0" err="1"/>
              <a:t>tensorflow.keras.datasets</a:t>
            </a:r>
            <a:r>
              <a:rPr lang="en-US" sz="1200" dirty="0"/>
              <a:t> import cifar10</a:t>
            </a:r>
          </a:p>
          <a:p>
            <a:r>
              <a:rPr lang="en-US" sz="1200" dirty="0"/>
              <a:t># Load data</a:t>
            </a:r>
          </a:p>
          <a:p>
            <a:r>
              <a:rPr lang="en-US" sz="1200" dirty="0"/>
              <a:t>(</a:t>
            </a:r>
            <a:r>
              <a:rPr lang="en-US" sz="1200" dirty="0" err="1"/>
              <a:t>x_train</a:t>
            </a:r>
            <a:r>
              <a:rPr lang="en-US" sz="1200" dirty="0"/>
              <a:t>, </a:t>
            </a:r>
            <a:r>
              <a:rPr lang="en-US" sz="1200" dirty="0" err="1"/>
              <a:t>y_train</a:t>
            </a:r>
            <a:r>
              <a:rPr lang="en-US" sz="1200" dirty="0"/>
              <a:t>), (_, _) = cifar10.load_data()</a:t>
            </a:r>
          </a:p>
          <a:p>
            <a:r>
              <a:rPr lang="en-US" sz="1200" dirty="0" err="1"/>
              <a:t>sample_image</a:t>
            </a:r>
            <a:r>
              <a:rPr lang="en-US" sz="1200" dirty="0"/>
              <a:t> = </a:t>
            </a:r>
            <a:r>
              <a:rPr lang="en-US" sz="1200" dirty="0" err="1"/>
              <a:t>x_train</a:t>
            </a:r>
            <a:r>
              <a:rPr lang="en-US" sz="1200" dirty="0"/>
              <a:t>[0]  # RGB image</a:t>
            </a:r>
          </a:p>
          <a:p>
            <a:r>
              <a:rPr lang="en-US" sz="1200" dirty="0"/>
              <a:t># Grayscale conversion</a:t>
            </a:r>
          </a:p>
          <a:p>
            <a:r>
              <a:rPr lang="en-US" sz="1200" dirty="0" err="1"/>
              <a:t>gray_sample</a:t>
            </a:r>
            <a:r>
              <a:rPr lang="en-US" sz="1200" dirty="0"/>
              <a:t> = cv2.cvtColor(</a:t>
            </a:r>
            <a:r>
              <a:rPr lang="en-US" sz="1200" dirty="0" err="1"/>
              <a:t>sample_image</a:t>
            </a:r>
            <a:r>
              <a:rPr lang="en-US" sz="1200" dirty="0"/>
              <a:t>, cv2.COLOR_RGB2GRAY)</a:t>
            </a:r>
          </a:p>
          <a:p>
            <a:r>
              <a:rPr lang="en-US" sz="1200" dirty="0"/>
              <a:t># Normalization</a:t>
            </a:r>
          </a:p>
          <a:p>
            <a:r>
              <a:rPr lang="en-US" sz="1200" dirty="0" err="1"/>
              <a:t>normalized_sample</a:t>
            </a:r>
            <a:r>
              <a:rPr lang="en-US" sz="1200" dirty="0"/>
              <a:t> = </a:t>
            </a:r>
            <a:r>
              <a:rPr lang="en-US" sz="1200" dirty="0" err="1"/>
              <a:t>gray_sample</a:t>
            </a:r>
            <a:r>
              <a:rPr lang="en-US" sz="1200" dirty="0"/>
              <a:t> / 255.0</a:t>
            </a:r>
          </a:p>
          <a:p>
            <a:r>
              <a:rPr lang="en-US" sz="1200" dirty="0"/>
              <a:t># Augmentation</a:t>
            </a:r>
          </a:p>
          <a:p>
            <a:r>
              <a:rPr lang="en-US" sz="1200" dirty="0" err="1"/>
              <a:t>datagen</a:t>
            </a:r>
            <a:r>
              <a:rPr lang="en-US" sz="1200" dirty="0"/>
              <a:t> = </a:t>
            </a:r>
            <a:r>
              <a:rPr lang="en-US" sz="1200" dirty="0" err="1"/>
              <a:t>ImageDataGenerator</a:t>
            </a:r>
            <a:r>
              <a:rPr lang="en-US" sz="1200" dirty="0"/>
              <a:t>(</a:t>
            </a:r>
            <a:r>
              <a:rPr lang="en-US" sz="1200" dirty="0" err="1"/>
              <a:t>rotation_range</a:t>
            </a:r>
            <a:r>
              <a:rPr lang="en-US" sz="1200" dirty="0"/>
              <a:t>=20, </a:t>
            </a:r>
            <a:r>
              <a:rPr lang="en-US" sz="1200" dirty="0" err="1"/>
              <a:t>horizontal_flip</a:t>
            </a:r>
            <a:r>
              <a:rPr lang="en-US" sz="1200" dirty="0"/>
              <a:t>=True)</a:t>
            </a:r>
          </a:p>
          <a:p>
            <a:r>
              <a:rPr lang="en-US" sz="1200" dirty="0"/>
              <a:t>augmented = </a:t>
            </a:r>
            <a:r>
              <a:rPr lang="en-US" sz="1200" dirty="0" err="1"/>
              <a:t>datagen.flow</a:t>
            </a:r>
            <a:r>
              <a:rPr lang="en-US" sz="1200" dirty="0"/>
              <a:t>(</a:t>
            </a:r>
            <a:r>
              <a:rPr lang="en-US" sz="1200" dirty="0" err="1"/>
              <a:t>np.expand_dims</a:t>
            </a:r>
            <a:r>
              <a:rPr lang="en-US" sz="1200" dirty="0"/>
              <a:t>(</a:t>
            </a:r>
            <a:r>
              <a:rPr lang="en-US" sz="1200" dirty="0" err="1"/>
              <a:t>sample_image</a:t>
            </a:r>
            <a:r>
              <a:rPr lang="en-US" sz="1200" dirty="0"/>
              <a:t>, 0))</a:t>
            </a:r>
          </a:p>
          <a:p>
            <a:r>
              <a:rPr lang="en-US" sz="1200" dirty="0"/>
              <a:t># Plot results</a:t>
            </a:r>
          </a:p>
          <a:p>
            <a:r>
              <a:rPr lang="en-US" sz="1200" dirty="0"/>
              <a:t>fig, axes = </a:t>
            </a:r>
            <a:r>
              <a:rPr lang="en-US" sz="1200" dirty="0" err="1"/>
              <a:t>plt.subplots</a:t>
            </a:r>
            <a:r>
              <a:rPr lang="en-US" sz="1200" dirty="0"/>
              <a:t>(1, 3, </a:t>
            </a:r>
            <a:r>
              <a:rPr lang="en-US" sz="1200" dirty="0" err="1"/>
              <a:t>figsize</a:t>
            </a:r>
            <a:r>
              <a:rPr lang="en-US" sz="1200" dirty="0"/>
              <a:t>=(12, 4))</a:t>
            </a:r>
          </a:p>
          <a:p>
            <a:r>
              <a:rPr lang="en-US" sz="1200" dirty="0"/>
              <a:t>axes[0].</a:t>
            </a:r>
            <a:r>
              <a:rPr lang="en-US" sz="1200" dirty="0" err="1"/>
              <a:t>imshow</a:t>
            </a:r>
            <a:r>
              <a:rPr lang="en-US" sz="1200" dirty="0"/>
              <a:t>(</a:t>
            </a:r>
            <a:r>
              <a:rPr lang="en-US" sz="1200" dirty="0" err="1"/>
              <a:t>sample_image</a:t>
            </a:r>
            <a:r>
              <a:rPr lang="en-US" sz="1200" dirty="0"/>
              <a:t>)</a:t>
            </a:r>
          </a:p>
          <a:p>
            <a:r>
              <a:rPr lang="en-US" sz="1200" dirty="0"/>
              <a:t>axes[1].</a:t>
            </a:r>
            <a:r>
              <a:rPr lang="en-US" sz="1200" dirty="0" err="1"/>
              <a:t>imshow</a:t>
            </a:r>
            <a:r>
              <a:rPr lang="en-US" sz="1200" dirty="0"/>
              <a:t>(</a:t>
            </a:r>
            <a:r>
              <a:rPr lang="en-US" sz="1200" dirty="0" err="1"/>
              <a:t>gray_sample</a:t>
            </a:r>
            <a:r>
              <a:rPr lang="en-US" sz="1200" dirty="0"/>
              <a:t>, </a:t>
            </a:r>
            <a:r>
              <a:rPr lang="en-US" sz="1200" dirty="0" err="1"/>
              <a:t>cmap</a:t>
            </a:r>
            <a:r>
              <a:rPr lang="en-US" sz="1200" dirty="0"/>
              <a:t>='gray')</a:t>
            </a:r>
          </a:p>
          <a:p>
            <a:r>
              <a:rPr lang="en-US" sz="1200" dirty="0"/>
              <a:t>axes[2].</a:t>
            </a:r>
            <a:r>
              <a:rPr lang="en-US" sz="1200" dirty="0" err="1"/>
              <a:t>imshow</a:t>
            </a:r>
            <a:r>
              <a:rPr lang="en-US" sz="1200" dirty="0"/>
              <a:t>(augmented[0][0].</a:t>
            </a:r>
            <a:r>
              <a:rPr lang="en-US" sz="1200" dirty="0" err="1"/>
              <a:t>astype</a:t>
            </a:r>
            <a:r>
              <a:rPr lang="en-US" sz="1200" dirty="0"/>
              <a:t>('uint8'))</a:t>
            </a:r>
          </a:p>
          <a:p>
            <a:r>
              <a:rPr lang="en-US" sz="1200" dirty="0"/>
              <a:t>axes[0].</a:t>
            </a:r>
            <a:r>
              <a:rPr lang="en-US" sz="1200" dirty="0" err="1"/>
              <a:t>set_title</a:t>
            </a:r>
            <a:r>
              <a:rPr lang="en-US" sz="1200" dirty="0"/>
              <a:t>("Original")</a:t>
            </a:r>
          </a:p>
          <a:p>
            <a:r>
              <a:rPr lang="en-US" sz="1200" dirty="0"/>
              <a:t>axes[1].</a:t>
            </a:r>
            <a:r>
              <a:rPr lang="en-US" sz="1200" dirty="0" err="1"/>
              <a:t>set_title</a:t>
            </a:r>
            <a:r>
              <a:rPr lang="en-US" sz="1200" dirty="0"/>
              <a:t>("Grayscale")</a:t>
            </a:r>
          </a:p>
          <a:p>
            <a:r>
              <a:rPr lang="en-US" sz="1200" dirty="0"/>
              <a:t>axes[2].</a:t>
            </a:r>
            <a:r>
              <a:rPr lang="en-US" sz="1200" dirty="0" err="1"/>
              <a:t>set_title</a:t>
            </a:r>
            <a:r>
              <a:rPr lang="en-US" sz="1200" dirty="0"/>
              <a:t>("Augmented")</a:t>
            </a:r>
          </a:p>
          <a:p>
            <a:r>
              <a:rPr lang="en-US" sz="1200" dirty="0" err="1"/>
              <a:t>plt.show</a:t>
            </a:r>
            <a:r>
              <a:rPr lang="en-US" sz="1200" dirty="0"/>
              <a:t>()</a:t>
            </a:r>
          </a:p>
        </p:txBody>
      </p:sp>
    </p:spTree>
    <p:extLst>
      <p:ext uri="{BB962C8B-B14F-4D97-AF65-F5344CB8AC3E}">
        <p14:creationId xmlns:p14="http://schemas.microsoft.com/office/powerpoint/2010/main" val="4205610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Summary</a:t>
            </a:r>
            <a:br>
              <a:rPr lang="en-GB" sz="3200" dirty="0"/>
            </a:br>
            <a:endParaRPr lang="en-GB" sz="3200" dirty="0"/>
          </a:p>
        </p:txBody>
      </p:sp>
      <p:graphicFrame>
        <p:nvGraphicFramePr>
          <p:cNvPr id="2" name="Table 1">
            <a:extLst>
              <a:ext uri="{FF2B5EF4-FFF2-40B4-BE49-F238E27FC236}">
                <a16:creationId xmlns:a16="http://schemas.microsoft.com/office/drawing/2014/main" id="{55CBA200-8324-0115-BD5E-489B16F1BEE1}"/>
              </a:ext>
            </a:extLst>
          </p:cNvPr>
          <p:cNvGraphicFramePr>
            <a:graphicFrameLocks noGrp="1"/>
          </p:cNvGraphicFramePr>
          <p:nvPr>
            <p:extLst>
              <p:ext uri="{D42A27DB-BD31-4B8C-83A1-F6EECF244321}">
                <p14:modId xmlns:p14="http://schemas.microsoft.com/office/powerpoint/2010/main" val="1879110842"/>
              </p:ext>
            </p:extLst>
          </p:nvPr>
        </p:nvGraphicFramePr>
        <p:xfrm>
          <a:off x="311150" y="1209024"/>
          <a:ext cx="8521700" cy="2423160"/>
        </p:xfrm>
        <a:graphic>
          <a:graphicData uri="http://schemas.openxmlformats.org/drawingml/2006/table">
            <a:tbl>
              <a:tblPr>
                <a:tableStyleId>{35758FB7-9AC5-4552-8A53-C91805E547FA}</a:tableStyleId>
              </a:tblPr>
              <a:tblGrid>
                <a:gridCol w="2069313">
                  <a:extLst>
                    <a:ext uri="{9D8B030D-6E8A-4147-A177-3AD203B41FA5}">
                      <a16:colId xmlns:a16="http://schemas.microsoft.com/office/drawing/2014/main" val="1531054350"/>
                    </a:ext>
                  </a:extLst>
                </a:gridCol>
                <a:gridCol w="2765871">
                  <a:extLst>
                    <a:ext uri="{9D8B030D-6E8A-4147-A177-3AD203B41FA5}">
                      <a16:colId xmlns:a16="http://schemas.microsoft.com/office/drawing/2014/main" val="2106871961"/>
                    </a:ext>
                  </a:extLst>
                </a:gridCol>
                <a:gridCol w="3686516">
                  <a:extLst>
                    <a:ext uri="{9D8B030D-6E8A-4147-A177-3AD203B41FA5}">
                      <a16:colId xmlns:a16="http://schemas.microsoft.com/office/drawing/2014/main" val="4073140659"/>
                    </a:ext>
                  </a:extLst>
                </a:gridCol>
              </a:tblGrid>
              <a:tr h="0">
                <a:tc>
                  <a:txBody>
                    <a:bodyPr/>
                    <a:lstStyle/>
                    <a:p>
                      <a:pPr algn="l"/>
                      <a:r>
                        <a:rPr lang="en-GB" b="1">
                          <a:effectLst/>
                        </a:rPr>
                        <a:t>Concept</a:t>
                      </a:r>
                    </a:p>
                  </a:txBody>
                  <a:tcPr marR="95250" marT="95250" marB="95250" anchor="ctr"/>
                </a:tc>
                <a:tc>
                  <a:txBody>
                    <a:bodyPr/>
                    <a:lstStyle/>
                    <a:p>
                      <a:pPr algn="l"/>
                      <a:r>
                        <a:rPr lang="en-GB" b="1">
                          <a:effectLst/>
                        </a:rPr>
                        <a:t>Key Points</a:t>
                      </a:r>
                    </a:p>
                  </a:txBody>
                  <a:tcPr marL="95250" marR="95250" marT="95250" marB="95250" anchor="ctr"/>
                </a:tc>
                <a:tc>
                  <a:txBody>
                    <a:bodyPr/>
                    <a:lstStyle/>
                    <a:p>
                      <a:pPr algn="l"/>
                      <a:r>
                        <a:rPr lang="en-GB" b="1">
                          <a:effectLst/>
                        </a:rPr>
                        <a:t>Code Snippet</a:t>
                      </a:r>
                    </a:p>
                  </a:txBody>
                  <a:tcPr marL="95250" marR="95250" marT="95250" marB="95250" anchor="ctr"/>
                </a:tc>
                <a:extLst>
                  <a:ext uri="{0D108BD9-81ED-4DB2-BD59-A6C34878D82A}">
                    <a16:rowId xmlns:a16="http://schemas.microsoft.com/office/drawing/2014/main" val="1936210721"/>
                  </a:ext>
                </a:extLst>
              </a:tr>
              <a:tr h="0">
                <a:tc>
                  <a:txBody>
                    <a:bodyPr/>
                    <a:lstStyle/>
                    <a:p>
                      <a:r>
                        <a:rPr lang="en-GB" b="1">
                          <a:effectLst/>
                        </a:rPr>
                        <a:t>Pixels</a:t>
                      </a:r>
                      <a:endParaRPr lang="en-GB">
                        <a:effectLst/>
                      </a:endParaRPr>
                    </a:p>
                  </a:txBody>
                  <a:tcPr marR="95250" marT="95250" marB="95250" anchor="ctr"/>
                </a:tc>
                <a:tc>
                  <a:txBody>
                    <a:bodyPr/>
                    <a:lstStyle/>
                    <a:p>
                      <a:r>
                        <a:rPr lang="en-GB" dirty="0">
                          <a:effectLst/>
                        </a:rPr>
                        <a:t>Grid of values (0-255)</a:t>
                      </a:r>
                    </a:p>
                  </a:txBody>
                  <a:tcPr marL="95250" marR="95250" marT="95250" marB="95250" anchor="ctr"/>
                </a:tc>
                <a:tc>
                  <a:txBody>
                    <a:bodyPr/>
                    <a:lstStyle/>
                    <a:p>
                      <a:r>
                        <a:rPr lang="en-GB">
                          <a:effectLst/>
                        </a:rPr>
                        <a:t>image.shape, image[y, x]</a:t>
                      </a:r>
                    </a:p>
                  </a:txBody>
                  <a:tcPr marL="95250" marR="95250" marT="95250" marB="95250" anchor="ctr"/>
                </a:tc>
                <a:extLst>
                  <a:ext uri="{0D108BD9-81ED-4DB2-BD59-A6C34878D82A}">
                    <a16:rowId xmlns:a16="http://schemas.microsoft.com/office/drawing/2014/main" val="3745095282"/>
                  </a:ext>
                </a:extLst>
              </a:tr>
              <a:tr h="0">
                <a:tc>
                  <a:txBody>
                    <a:bodyPr/>
                    <a:lstStyle/>
                    <a:p>
                      <a:r>
                        <a:rPr lang="en-GB" b="1">
                          <a:effectLst/>
                        </a:rPr>
                        <a:t>Channels</a:t>
                      </a:r>
                      <a:endParaRPr lang="en-GB">
                        <a:effectLst/>
                      </a:endParaRPr>
                    </a:p>
                  </a:txBody>
                  <a:tcPr marR="95250" marT="95250" marB="95250" anchor="ctr"/>
                </a:tc>
                <a:tc>
                  <a:txBody>
                    <a:bodyPr/>
                    <a:lstStyle/>
                    <a:p>
                      <a:r>
                        <a:rPr lang="en-GB">
                          <a:effectLst/>
                        </a:rPr>
                        <a:t>RGB (3), Grayscale (1)</a:t>
                      </a:r>
                    </a:p>
                  </a:txBody>
                  <a:tcPr marL="95250" marR="95250" marT="95250" marB="95250" anchor="ctr"/>
                </a:tc>
                <a:tc>
                  <a:txBody>
                    <a:bodyPr/>
                    <a:lstStyle/>
                    <a:p>
                      <a:r>
                        <a:rPr lang="en-GB">
                          <a:effectLst/>
                        </a:rPr>
                        <a:t>cv2.cvtColor(image, COLOR_RGB2GRAY)</a:t>
                      </a:r>
                    </a:p>
                  </a:txBody>
                  <a:tcPr marL="95250" marR="95250" marT="95250" marB="95250" anchor="ctr"/>
                </a:tc>
                <a:extLst>
                  <a:ext uri="{0D108BD9-81ED-4DB2-BD59-A6C34878D82A}">
                    <a16:rowId xmlns:a16="http://schemas.microsoft.com/office/drawing/2014/main" val="1153710395"/>
                  </a:ext>
                </a:extLst>
              </a:tr>
              <a:tr h="0">
                <a:tc>
                  <a:txBody>
                    <a:bodyPr/>
                    <a:lstStyle/>
                    <a:p>
                      <a:r>
                        <a:rPr lang="en-GB" b="1">
                          <a:effectLst/>
                        </a:rPr>
                        <a:t>Rescaling</a:t>
                      </a:r>
                      <a:endParaRPr lang="en-GB">
                        <a:effectLst/>
                      </a:endParaRPr>
                    </a:p>
                  </a:txBody>
                  <a:tcPr marR="95250" marT="95250" marB="95250" anchor="ctr"/>
                </a:tc>
                <a:tc>
                  <a:txBody>
                    <a:bodyPr/>
                    <a:lstStyle/>
                    <a:p>
                      <a:r>
                        <a:rPr lang="en-GB">
                          <a:effectLst/>
                        </a:rPr>
                        <a:t>Resize for consistency</a:t>
                      </a:r>
                    </a:p>
                  </a:txBody>
                  <a:tcPr marL="95250" marR="95250" marT="95250" marB="95250" anchor="ctr"/>
                </a:tc>
                <a:tc>
                  <a:txBody>
                    <a:bodyPr/>
                    <a:lstStyle/>
                    <a:p>
                      <a:r>
                        <a:rPr lang="en-GB">
                          <a:effectLst/>
                        </a:rPr>
                        <a:t>cv2.resize(image, (new_w, new_h))</a:t>
                      </a:r>
                    </a:p>
                  </a:txBody>
                  <a:tcPr marL="95250" marR="95250" marT="95250" marB="95250" anchor="ctr"/>
                </a:tc>
                <a:extLst>
                  <a:ext uri="{0D108BD9-81ED-4DB2-BD59-A6C34878D82A}">
                    <a16:rowId xmlns:a16="http://schemas.microsoft.com/office/drawing/2014/main" val="2757825554"/>
                  </a:ext>
                </a:extLst>
              </a:tr>
              <a:tr h="0">
                <a:tc>
                  <a:txBody>
                    <a:bodyPr/>
                    <a:lstStyle/>
                    <a:p>
                      <a:r>
                        <a:rPr lang="en-GB" b="1">
                          <a:effectLst/>
                        </a:rPr>
                        <a:t>Normalization</a:t>
                      </a:r>
                      <a:endParaRPr lang="en-GB">
                        <a:effectLst/>
                      </a:endParaRPr>
                    </a:p>
                  </a:txBody>
                  <a:tcPr marR="95250" marT="95250" marB="95250" anchor="ctr"/>
                </a:tc>
                <a:tc>
                  <a:txBody>
                    <a:bodyPr/>
                    <a:lstStyle/>
                    <a:p>
                      <a:r>
                        <a:rPr lang="en-GB">
                          <a:effectLst/>
                        </a:rPr>
                        <a:t>Scale to [0, 1]</a:t>
                      </a:r>
                    </a:p>
                  </a:txBody>
                  <a:tcPr marL="95250" marR="95250" marT="95250" marB="95250" anchor="ctr"/>
                </a:tc>
                <a:tc>
                  <a:txBody>
                    <a:bodyPr/>
                    <a:lstStyle/>
                    <a:p>
                      <a:r>
                        <a:rPr lang="en-GB">
                          <a:effectLst/>
                        </a:rPr>
                        <a:t>image / 255.0</a:t>
                      </a:r>
                    </a:p>
                  </a:txBody>
                  <a:tcPr marL="95250" marR="95250" marT="95250" marB="95250" anchor="ctr"/>
                </a:tc>
                <a:extLst>
                  <a:ext uri="{0D108BD9-81ED-4DB2-BD59-A6C34878D82A}">
                    <a16:rowId xmlns:a16="http://schemas.microsoft.com/office/drawing/2014/main" val="46139213"/>
                  </a:ext>
                </a:extLst>
              </a:tr>
              <a:tr h="0">
                <a:tc>
                  <a:txBody>
                    <a:bodyPr/>
                    <a:lstStyle/>
                    <a:p>
                      <a:r>
                        <a:rPr lang="en-GB" b="1">
                          <a:effectLst/>
                        </a:rPr>
                        <a:t>Augmentation</a:t>
                      </a:r>
                      <a:endParaRPr lang="en-GB">
                        <a:effectLst/>
                      </a:endParaRPr>
                    </a:p>
                  </a:txBody>
                  <a:tcPr marR="95250" marT="95250" marB="95250" anchor="ctr"/>
                </a:tc>
                <a:tc>
                  <a:txBody>
                    <a:bodyPr/>
                    <a:lstStyle/>
                    <a:p>
                      <a:r>
                        <a:rPr lang="en-GB">
                          <a:effectLst/>
                        </a:rPr>
                        <a:t>Generate synthetic data</a:t>
                      </a:r>
                    </a:p>
                  </a:txBody>
                  <a:tcPr marL="95250" marR="95250" marT="95250" marB="95250" anchor="ctr"/>
                </a:tc>
                <a:tc>
                  <a:txBody>
                    <a:bodyPr/>
                    <a:lstStyle/>
                    <a:p>
                      <a:r>
                        <a:rPr lang="en-GB" dirty="0" err="1">
                          <a:effectLst/>
                        </a:rPr>
                        <a:t>ImageDataGenerator</a:t>
                      </a:r>
                      <a:r>
                        <a:rPr lang="en-GB" dirty="0">
                          <a:effectLst/>
                        </a:rPr>
                        <a:t>(...)</a:t>
                      </a:r>
                    </a:p>
                  </a:txBody>
                  <a:tcPr marL="95250" marR="95250" marT="95250" marB="95250" anchor="ctr"/>
                </a:tc>
                <a:extLst>
                  <a:ext uri="{0D108BD9-81ED-4DB2-BD59-A6C34878D82A}">
                    <a16:rowId xmlns:a16="http://schemas.microsoft.com/office/drawing/2014/main" val="71335458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5408997" cy="3631763"/>
          </a:xfrm>
          <a:prstGeom prst="rect">
            <a:avLst/>
          </a:prstGeom>
          <a:noFill/>
        </p:spPr>
        <p:txBody>
          <a:bodyPr wrap="square">
            <a:spAutoFit/>
          </a:bodyPr>
          <a:lstStyle/>
          <a:p>
            <a:pPr marL="457200" indent="-457200" algn="l">
              <a:buFont typeface="+mj-lt"/>
              <a:buAutoNum type="arabicPeriod"/>
            </a:pPr>
            <a:r>
              <a:rPr lang="en-GB" sz="2000" b="0" i="0" u="none" strike="noStrike" dirty="0">
                <a:solidFill>
                  <a:srgbClr val="404040"/>
                </a:solidFill>
                <a:effectLst/>
                <a:latin typeface="Inter" panose="02000503000000020004" pitchFamily="2" charset="0"/>
              </a:rPr>
              <a:t>"Deep Learning" (Ian Goodfellow et al.)</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algn="l"/>
            <a:r>
              <a:rPr lang="en-GB" sz="2000" b="1" i="0" u="none" strike="noStrike" dirty="0">
                <a:solidFill>
                  <a:srgbClr val="404040"/>
                </a:solidFill>
                <a:effectLst/>
                <a:latin typeface="Inter" panose="02000503000000020004" pitchFamily="2" charset="0"/>
              </a:rPr>
              <a:t>Courses</a:t>
            </a:r>
          </a:p>
          <a:p>
            <a:pPr marL="457200" indent="-457200" algn="l">
              <a:buFont typeface="+mj-lt"/>
              <a:buAutoNum type="arabicPeriod"/>
            </a:pPr>
            <a:r>
              <a:rPr lang="en-GB" sz="2000" b="0" i="0" u="none" strike="noStrike" dirty="0">
                <a:solidFill>
                  <a:srgbClr val="404040"/>
                </a:solidFill>
                <a:effectLst/>
                <a:latin typeface="Inter" panose="02000503000000020004" pitchFamily="2" charset="0"/>
                <a:hlinkClick r:id="rId4"/>
              </a:rPr>
              <a:t>Deep Learning Specialization (Andrew Ng, Coursera)</a:t>
            </a:r>
            <a:endParaRPr lang="en-GB" sz="2000" b="0" i="0" u="none" strike="noStrike" dirty="0">
              <a:solidFill>
                <a:srgbClr val="404040"/>
              </a:solidFill>
              <a:effectLst/>
              <a:latin typeface="Inter" panose="02000503000000020004" pitchFamily="2" charset="0"/>
            </a:endParaRP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hlinkClick r:id="rId5"/>
              </a:rPr>
              <a:t>Fast.ai Practical Deep Learning</a:t>
            </a:r>
            <a:endParaRPr lang="en-GB" sz="2000" b="0" i="0" u="none" strike="noStrike" dirty="0">
              <a:solidFill>
                <a:srgbClr val="404040"/>
              </a:solidFill>
              <a:effectLst/>
              <a:latin typeface="Inter" panose="02000503000000020004" pitchFamily="2" charset="0"/>
            </a:endParaRPr>
          </a:p>
          <a:p>
            <a:pPr algn="l"/>
            <a:r>
              <a:rPr lang="en-GB" sz="2000" b="1" i="0" u="none" strike="noStrike" dirty="0">
                <a:solidFill>
                  <a:srgbClr val="404040"/>
                </a:solidFill>
                <a:effectLst/>
                <a:latin typeface="Inter" panose="02000503000000020004" pitchFamily="2" charset="0"/>
              </a:rPr>
              <a:t>Datasets for Practice</a:t>
            </a:r>
          </a:p>
          <a:p>
            <a:pPr marL="457200" indent="-457200" algn="l">
              <a:buFont typeface="+mj-lt"/>
              <a:buAutoNum type="arabicPeriod"/>
            </a:pPr>
            <a:r>
              <a:rPr lang="en-GB" sz="2000" b="0" i="0" u="none" strike="noStrike" dirty="0">
                <a:solidFill>
                  <a:srgbClr val="404040"/>
                </a:solidFill>
                <a:effectLst/>
                <a:latin typeface="Inter" panose="02000503000000020004" pitchFamily="2" charset="0"/>
              </a:rPr>
              <a:t>MNIST (Handwritten digits)</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CIFAR-10 (Image classification)</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IMDB Reviews (Sentiment analysis)</a:t>
            </a:r>
          </a:p>
        </p:txBody>
      </p:sp>
    </p:spTree>
    <p:extLst>
      <p:ext uri="{BB962C8B-B14F-4D97-AF65-F5344CB8AC3E}">
        <p14:creationId xmlns:p14="http://schemas.microsoft.com/office/powerpoint/2010/main" val="374039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DA329-DDC0-B523-AEBE-B35BF569336A}"/>
              </a:ext>
            </a:extLst>
          </p:cNvPr>
          <p:cNvSpPr>
            <a:spLocks noGrp="1"/>
          </p:cNvSpPr>
          <p:nvPr>
            <p:ph type="title"/>
          </p:nvPr>
        </p:nvSpPr>
        <p:spPr/>
        <p:txBody>
          <a:bodyPr/>
          <a:lstStyle/>
          <a:p>
            <a:r>
              <a:rPr lang="en-US" dirty="0"/>
              <a:t>Practice with Google COLAB</a:t>
            </a:r>
          </a:p>
        </p:txBody>
      </p:sp>
      <p:sp>
        <p:nvSpPr>
          <p:cNvPr id="3" name="Text Placeholder 2">
            <a:extLst>
              <a:ext uri="{FF2B5EF4-FFF2-40B4-BE49-F238E27FC236}">
                <a16:creationId xmlns:a16="http://schemas.microsoft.com/office/drawing/2014/main" id="{BC6DFB29-6CFE-B48D-9134-B424D977566D}"/>
              </a:ext>
            </a:extLst>
          </p:cNvPr>
          <p:cNvSpPr>
            <a:spLocks noGrp="1"/>
          </p:cNvSpPr>
          <p:nvPr>
            <p:ph type="body" idx="1"/>
          </p:nvPr>
        </p:nvSpPr>
        <p:spPr/>
        <p:txBody>
          <a:bodyPr/>
          <a:lstStyle/>
          <a:p>
            <a:pPr marL="114300" marR="0" indent="0" algn="l" rtl="0">
              <a:lnSpc>
                <a:spcPct val="115000"/>
              </a:lnSpc>
              <a:spcBef>
                <a:spcPts val="0"/>
              </a:spcBef>
              <a:spcAft>
                <a:spcPts val="0"/>
              </a:spcAft>
              <a:buClr>
                <a:srgbClr val="424242"/>
              </a:buClr>
              <a:buSzPts val="1800"/>
              <a:buNone/>
            </a:pPr>
            <a:r>
              <a:rPr lang="en-US" dirty="0">
                <a:hlinkClick r:id="rId2"/>
              </a:rPr>
              <a:t>Click here </a:t>
            </a:r>
            <a:r>
              <a:rPr lang="en-US" dirty="0"/>
              <a:t>https://</a:t>
            </a:r>
            <a:r>
              <a:rPr lang="en-US" dirty="0" err="1"/>
              <a:t>drive.google.com</a:t>
            </a:r>
            <a:r>
              <a:rPr lang="en-US" dirty="0"/>
              <a:t>/file/d/1F7hVj1kMKkuVm76PUUTAoLFtzY1ZGVPT/</a:t>
            </a:r>
            <a:r>
              <a:rPr lang="en-US" dirty="0" err="1"/>
              <a:t>view?usp</a:t>
            </a:r>
            <a:r>
              <a:rPr lang="en-US" dirty="0"/>
              <a:t>=</a:t>
            </a:r>
            <a:r>
              <a:rPr lang="en-US" dirty="0" err="1"/>
              <a:t>share_link</a:t>
            </a:r>
            <a:endParaRPr lang="en-US" dirty="0">
              <a:hlinkClick r:id="" action="ppaction://noaction"/>
            </a:endParaRPr>
          </a:p>
        </p:txBody>
      </p:sp>
    </p:spTree>
    <p:extLst>
      <p:ext uri="{BB962C8B-B14F-4D97-AF65-F5344CB8AC3E}">
        <p14:creationId xmlns:p14="http://schemas.microsoft.com/office/powerpoint/2010/main" val="1517079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3831</TotalTime>
  <Words>1996</Words>
  <Application>Microsoft Macintosh PowerPoint</Application>
  <PresentationFormat>On-screen Show (16:9)</PresentationFormat>
  <Paragraphs>227</Paragraphs>
  <Slides>21</Slides>
  <Notes>20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21</vt:i4>
      </vt:variant>
    </vt:vector>
  </HeadingPairs>
  <TitlesOfParts>
    <vt:vector size="34" baseType="lpstr">
      <vt:lpstr>Inter</vt:lpstr>
      <vt:lpstr>Helvetica</vt:lpstr>
      <vt:lpstr>DeepSeek-CJK-patch</vt:lpstr>
      <vt:lpstr>Tajawal</vt:lpstr>
      <vt:lpstr>IBM Plex Sans Arabic</vt:lpstr>
      <vt:lpstr>Lato</vt:lpstr>
      <vt:lpstr>Calibri</vt:lpstr>
      <vt:lpstr>Wingdings</vt:lpstr>
      <vt:lpstr>IBM Plex Sans Arabic SemiBold</vt:lpstr>
      <vt:lpstr>IBM Plex Sans Arabic Medium</vt:lpstr>
      <vt:lpstr>Courier New</vt:lpstr>
      <vt:lpstr>Arial</vt:lpstr>
      <vt:lpstr>Simple Light</vt:lpstr>
      <vt:lpstr>أكـــــاديميــــة طــــويـــق</vt:lpstr>
      <vt:lpstr>Image Processing Basics for Deep Learning    </vt:lpstr>
      <vt:lpstr>PowerPoint Presentation</vt:lpstr>
      <vt:lpstr> Understanding Images as Data    </vt:lpstr>
      <vt:lpstr> Understanding Images as Data    </vt:lpstr>
      <vt:lpstr> Viewing Pixel Values in an Image     </vt:lpstr>
      <vt:lpstr> Splitting Channels in an RGB Image      </vt:lpstr>
      <vt:lpstr> Splitting Channels in an RGB Image      </vt:lpstr>
      <vt:lpstr> Image Transformations    </vt:lpstr>
      <vt:lpstr>  Normalization      </vt:lpstr>
      <vt:lpstr>Grayscale Conversion    </vt:lpstr>
      <vt:lpstr>Image Transformation Summary:    </vt:lpstr>
      <vt:lpstr>Image Augmentation     </vt:lpstr>
      <vt:lpstr>Reasons to Use Augmentation     </vt:lpstr>
      <vt:lpstr>Augmentation with Keras      </vt:lpstr>
      <vt:lpstr>Preprocess CIFAR-10 Images       </vt:lpstr>
      <vt:lpstr>Summary </vt:lpstr>
      <vt:lpstr>Books and References </vt:lpstr>
      <vt:lpstr>Practice with Google COLAB</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29</cp:revision>
  <dcterms:modified xsi:type="dcterms:W3CDTF">2025-04-29T16:47:50Z</dcterms:modified>
</cp:coreProperties>
</file>