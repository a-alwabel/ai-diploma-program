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98" r:id="rId5"/>
    <p:sldId id="331" r:id="rId6"/>
    <p:sldId id="313" r:id="rId7"/>
    <p:sldId id="332" r:id="rId8"/>
    <p:sldId id="314" r:id="rId9"/>
    <p:sldId id="334" r:id="rId10"/>
    <p:sldId id="335" r:id="rId11"/>
    <p:sldId id="324" r:id="rId12"/>
    <p:sldId id="325" r:id="rId13"/>
    <p:sldId id="336" r:id="rId14"/>
    <p:sldId id="337" r:id="rId15"/>
    <p:sldId id="315" r:id="rId16"/>
    <p:sldId id="327" r:id="rId17"/>
    <p:sldId id="338" r:id="rId18"/>
    <p:sldId id="339" r:id="rId19"/>
    <p:sldId id="340" r:id="rId20"/>
    <p:sldId id="341" r:id="rId21"/>
    <p:sldId id="343" r:id="rId22"/>
    <p:sldId id="344" r:id="rId23"/>
    <p:sldId id="262" r:id="rId24"/>
    <p:sldId id="291" r:id="rId25"/>
    <p:sldId id="312" r:id="rId26"/>
    <p:sldId id="275" r:id="rId27"/>
    <p:sldId id="276" r:id="rId28"/>
  </p:sldIdLst>
  <p:sldSz cx="9144000" cy="5143500" type="screen16x9"/>
  <p:notesSz cx="6858000" cy="9144000"/>
  <p:embeddedFontLst>
    <p:embeddedFont>
      <p:font typeface="IBM Plex Sans Arabic" panose="020B0603050203000203" pitchFamily="34" charset="-78"/>
      <p:regular r:id="rId30"/>
      <p:bold r:id="rId31"/>
    </p:embeddedFont>
    <p:embeddedFont>
      <p:font typeface="IBM Plex Sans Arabic Medium" panose="020B0603050203000203" pitchFamily="34" charset="-78"/>
      <p:regular r:id="rId32"/>
      <p:bold r:id="rId33"/>
    </p:embeddedFont>
    <p:embeddedFont>
      <p:font typeface="IBM Plex Sans Arabic SemiBold" panose="020B0603050203000203" pitchFamily="34" charset="-78"/>
      <p:regular r:id="rId34"/>
      <p:bold r:id="rId35"/>
    </p:embeddedFont>
    <p:embeddedFont>
      <p:font typeface="Inter" panose="02000503000000020004" pitchFamily="2" charset="0"/>
      <p:regular r:id="rId36"/>
      <p:bold r:id="rId37"/>
      <p:italic r:id="rId38"/>
      <p:boldItalic r:id="rId39"/>
    </p:embeddedFont>
    <p:embeddedFont>
      <p:font typeface="Tajawal" pitchFamily="2" charset="-78"/>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9"/>
    <p:restoredTop sz="94650"/>
  </p:normalViewPr>
  <p:slideViewPr>
    <p:cSldViewPr snapToGrid="0">
      <p:cViewPr varScale="1">
        <p:scale>
          <a:sx n="171" d="100"/>
          <a:sy n="171" d="100"/>
        </p:scale>
        <p:origin x="168" y="800"/>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CA90A43-8B20-01C0-59FE-69F5223C33A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70DEA0F-42DF-65A8-877D-856CA718F9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E859E5F-4EDF-C214-B6FC-7DAF1060AC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6301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52F22A-B522-3F7F-EB7F-9FA66A6CBF3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AB2B379-32B8-A8BF-C5B5-FEED64C71A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968CF6E-7557-32C7-5F5B-890A408C4D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8624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F5A851-F71E-7DA6-A182-656E8E134B9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4C4EB17-F507-2701-705C-BB0FE0BAD5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4CFB1F0-8CAE-8968-5D10-71A49CE0AB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6354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F7F05E1-AD3D-8D31-9318-164D5046E94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AC08A2-768E-5EC5-6BAA-B89FE6E095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094B54C-B45B-DB09-7C17-4475342A3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6589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2C62A62-4D54-B3C0-394D-94212C3E965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E8BFC33-1E3A-666B-925C-009935237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F26DEFE-E94E-79C7-81E9-B9C410FAD6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289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3912331-C4C6-B212-8AC8-414828AE059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FE94D64-3564-7B1E-E541-8A556A6C50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0FB6583-3533-1A81-7D12-D16EB0F190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3038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21C5779-D55A-BC11-78BD-0EB710430A9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8D8DEAE-9DCE-BD23-05A8-1DA6865979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FE162AD-15A1-BE46-C7EC-627A00BE15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6149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C95949-2EEA-8B1C-4D08-8A033F1EF22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13A456B-7921-B82A-75CA-5FA9E6C1DB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A7CB862-7D1B-8EE8-9F52-C85735737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5591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F2A5F43-B16E-F3C4-5FB3-C60331FECF0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ECBE4E9-A9BD-7E20-F833-A6E34418E1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B518B48-F691-4FC3-ADC8-B0BDA9863C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8129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A1B60D6-09DA-C461-2347-33D5A846557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9533E71-A630-62A7-26AD-27029490F1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8F52201-668C-F09F-9FAE-AABE7182E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1794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6D49381-67C0-C07B-203A-A470AC9AA1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169901A-C176-27A7-35F4-E0C74757D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8414AF8-D49A-730B-2ADA-FBFE3855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9220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4450B0A-1150-0D8C-F60C-B74E653F0B8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5B76E02-2564-F9FA-91DE-7F78DC03B7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D8D8A83-DAC6-07C6-84AF-186438FBE8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2711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54660B6-65B6-1F87-709A-BA783906B5D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B33150A-E5CA-E364-CF83-2F585FD954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C9B2CDC-F44D-6DC1-2C37-33D49AF8A6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46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583EA27-E040-4260-F11E-19066DD126A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EEBD7F4-BCCA-C267-862C-648F325F14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3F28C13-A4DF-5439-7285-70F1F91765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0764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E74F5A4-5CBE-F63C-4D7B-79C07D1BF44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0F3ECFF-6AF4-E0F3-D93B-D26B765874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8A1DB89-3759-432C-4E02-36C484DF48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867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D161056-418C-54D1-50C9-ACC39B3E0B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C42B8AA-F7D6-5FCD-F1B8-EAC8ABF1C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B08502D-59FC-C119-8153-33EEB83B63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7765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99CE95E-7753-5562-B95B-833F5327EDD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0291914-96EE-31FB-D74C-E8A0A9F9E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0D88F83-0F6C-71F8-37AA-7EB7F062EE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787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C937FA3-D981-475D-B143-8ABFB418336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9A6C98E-9C04-5EA0-B094-49836430D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FB6AFD0-8F28-8907-9B67-E6ABE60E1E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6983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www.inteldig.com/2018/05/tutorial-tensorflow-como-comenzar-con-tensorflow-requisitos-y-ejemplos/" TargetMode="External"/><Relationship Id="rId5" Type="http://schemas.openxmlformats.org/officeDocument/2006/relationships/image" Target="../media/image8.jpg"/><Relationship Id="rId4" Type="http://schemas.openxmlformats.org/officeDocument/2006/relationships/hyperlink" Target="https://wenect.tistory.com/entry/Pytorch-Simple-learning"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drive.google.com/file/d/1GqPC0dfghOKGOx55MBfk1g5NCVvOIUYv/view?usp=share_link"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hyperlink" Target="https://www.tensorflow.org/"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5.xml"/><Relationship Id="rId16"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r>
              <a:rPr lang="en-GB" sz="3200" b="1" i="0" u="none" strike="noStrike" dirty="0">
                <a:solidFill>
                  <a:srgbClr val="7030A0"/>
                </a:solidFill>
                <a:effectLst/>
                <a:latin typeface="Arial" panose="020B0604020202020204" pitchFamily="34" charset="0"/>
              </a:rPr>
              <a:t>Deep Learning Frameworks</a:t>
            </a: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marR="0" lvl="0" indent="-342900" algn="ctr" rtl="0">
              <a:lnSpc>
                <a:spcPct val="100000"/>
              </a:lnSpc>
              <a:spcBef>
                <a:spcPts val="0"/>
              </a:spcBef>
              <a:spcAft>
                <a:spcPts val="0"/>
              </a:spcAft>
              <a:buClr>
                <a:srgbClr val="252526"/>
              </a:buClr>
              <a:buSzPts val="2500"/>
              <a:buFont typeface="Tajawal"/>
              <a:buNone/>
            </a:pPr>
            <a:endParaRPr sz="2000" dirty="0">
              <a:solidFill>
                <a:schemeClr val="tx1"/>
              </a:solidFill>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55513" y="612177"/>
            <a:ext cx="6634716" cy="3262391"/>
          </a:xfrm>
          <a:prstGeom prst="rect">
            <a:avLst/>
          </a:prstGeom>
          <a:noFill/>
          <a:ln>
            <a:noFill/>
          </a:ln>
        </p:spPr>
        <p:txBody>
          <a:bodyPr spcFirstLastPara="1" wrap="square" lIns="91425" tIns="45700" rIns="91425" bIns="45700" anchor="t" anchorCtr="0">
            <a:spAutoFit/>
          </a:bodyPr>
          <a:lstStyle/>
          <a:p>
            <a:pPr marR="0" lvl="0" algn="just" rtl="0">
              <a:lnSpc>
                <a:spcPct val="125000"/>
              </a:lnSpc>
              <a:spcBef>
                <a:spcPts val="0"/>
              </a:spcBef>
              <a:spcAft>
                <a:spcPts val="0"/>
              </a:spcAft>
            </a:pPr>
            <a:r>
              <a:rPr lang="en-US" sz="2400" b="1" i="0" u="none" strike="noStrike" cap="none" dirty="0">
                <a:solidFill>
                  <a:srgbClr val="7030A0"/>
                </a:solidFill>
                <a:latin typeface="Arial"/>
                <a:ea typeface="Arial"/>
                <a:cs typeface="Arial"/>
                <a:sym typeface="Arial"/>
              </a:rPr>
              <a:t>Course Objectives:</a:t>
            </a:r>
            <a:endParaRPr sz="2400" dirty="0"/>
          </a:p>
          <a:p>
            <a:pPr marL="457200" indent="-457200">
              <a:buFont typeface="+mj-lt"/>
              <a:buAutoNum type="arabicPeriod"/>
            </a:pPr>
            <a:r>
              <a:rPr lang="en-GB" sz="2000" dirty="0"/>
              <a:t>Understand what deep learning frameworks are and why they are important.</a:t>
            </a:r>
          </a:p>
          <a:p>
            <a:pPr marL="457200" indent="-457200">
              <a:buFont typeface="+mj-lt"/>
              <a:buAutoNum type="arabicPeriod"/>
            </a:pPr>
            <a:r>
              <a:rPr lang="en-GB" sz="2000" dirty="0"/>
              <a:t>Compare TensorFlow and </a:t>
            </a:r>
            <a:r>
              <a:rPr lang="en-GB" sz="2000" dirty="0" err="1"/>
              <a:t>PyTorch</a:t>
            </a:r>
            <a:r>
              <a:rPr lang="en-GB" sz="2000" dirty="0"/>
              <a:t>, two of the most popular DL frameworks.</a:t>
            </a:r>
          </a:p>
          <a:p>
            <a:pPr marL="457200" indent="-457200">
              <a:buFont typeface="+mj-lt"/>
              <a:buAutoNum type="arabicPeriod"/>
            </a:pPr>
            <a:r>
              <a:rPr lang="en-GB" sz="2000" dirty="0"/>
              <a:t>Set up and run deep learning experiments in Google </a:t>
            </a:r>
            <a:r>
              <a:rPr lang="en-GB" sz="2000" dirty="0" err="1"/>
              <a:t>Colab</a:t>
            </a:r>
            <a:r>
              <a:rPr lang="en-GB" sz="2000" dirty="0"/>
              <a:t> and </a:t>
            </a:r>
            <a:r>
              <a:rPr lang="en-GB" sz="2000" dirty="0" err="1"/>
              <a:t>Jupyter</a:t>
            </a:r>
            <a:r>
              <a:rPr lang="en-GB" sz="2000" dirty="0"/>
              <a:t> Notebook.</a:t>
            </a:r>
          </a:p>
          <a:p>
            <a:pPr marL="457200" indent="-457200">
              <a:buFont typeface="+mj-lt"/>
              <a:buAutoNum type="arabicPeriod"/>
            </a:pPr>
            <a:r>
              <a:rPr lang="en-GB" sz="2000" dirty="0"/>
              <a:t>Write basic neural network models using TensorFlow and </a:t>
            </a:r>
            <a:r>
              <a:rPr lang="en-GB" sz="2000" dirty="0" err="1"/>
              <a:t>PyTorch</a:t>
            </a:r>
            <a:r>
              <a:rPr lang="en-GB" sz="2000" dirty="0"/>
              <a:t>.</a:t>
            </a:r>
          </a:p>
          <a:p>
            <a:pPr marL="342900" marR="0" lvl="0" indent="-342900" algn="l" rtl="0">
              <a:lnSpc>
                <a:spcPct val="100000"/>
              </a:lnSpc>
              <a:spcBef>
                <a:spcPts val="0"/>
              </a:spcBef>
              <a:spcAft>
                <a:spcPts val="0"/>
              </a:spcAft>
              <a:buFont typeface="+mj-lt"/>
              <a:buAutoNum type="arabicPeriod"/>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Introduction to Deep Learning Frameworks</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74929" y="850790"/>
            <a:ext cx="6337189" cy="3785652"/>
          </a:xfrm>
          <a:prstGeom prst="rect">
            <a:avLst/>
          </a:prstGeom>
          <a:noFill/>
        </p:spPr>
        <p:txBody>
          <a:bodyPr wrap="square">
            <a:spAutoFit/>
          </a:bodyPr>
          <a:lstStyle/>
          <a:p>
            <a:pPr>
              <a:buNone/>
            </a:pPr>
            <a:r>
              <a:rPr lang="en-GB" sz="1600" b="1" dirty="0"/>
              <a:t>What Are Deep Learning Frameworks?</a:t>
            </a:r>
          </a:p>
          <a:p>
            <a:pPr>
              <a:buNone/>
            </a:pPr>
            <a:r>
              <a:rPr lang="en-GB" sz="1600" dirty="0"/>
              <a:t>Deep learning frameworks are software libraries that provide the essential tools, functions, and pre-built components needed to:</a:t>
            </a:r>
          </a:p>
          <a:p>
            <a:pPr marL="285750" indent="-285750">
              <a:buFont typeface="Wingdings" pitchFamily="2" charset="2"/>
              <a:buChar char="ü"/>
            </a:pPr>
            <a:r>
              <a:rPr lang="en-GB" sz="1600" dirty="0"/>
              <a:t>Design neural network architectures</a:t>
            </a:r>
          </a:p>
          <a:p>
            <a:pPr marL="285750" indent="-285750">
              <a:buFont typeface="Wingdings" pitchFamily="2" charset="2"/>
              <a:buChar char="ü"/>
            </a:pPr>
            <a:r>
              <a:rPr lang="en-GB" sz="1600" dirty="0"/>
              <a:t>Train models on large datasets</a:t>
            </a:r>
          </a:p>
          <a:p>
            <a:pPr marL="285750" indent="-285750">
              <a:buFont typeface="Wingdings" pitchFamily="2" charset="2"/>
              <a:buChar char="ü"/>
            </a:pPr>
            <a:r>
              <a:rPr lang="en-GB" sz="1600" dirty="0"/>
              <a:t>Validate performance</a:t>
            </a:r>
          </a:p>
          <a:p>
            <a:pPr marL="285750" indent="-285750">
              <a:buFont typeface="Wingdings" pitchFamily="2" charset="2"/>
              <a:buChar char="ü"/>
            </a:pPr>
            <a:r>
              <a:rPr lang="en-GB" sz="1600" dirty="0"/>
              <a:t>Optimize the learning process</a:t>
            </a:r>
          </a:p>
          <a:p>
            <a:pPr>
              <a:buNone/>
            </a:pPr>
            <a:r>
              <a:rPr lang="en-GB" sz="1600" dirty="0"/>
              <a:t>These frameworks simplify complex tasks like:</a:t>
            </a:r>
          </a:p>
          <a:p>
            <a:pPr marL="342900" indent="-342900">
              <a:buFont typeface="+mj-lt"/>
              <a:buAutoNum type="arabicPeriod"/>
            </a:pPr>
            <a:r>
              <a:rPr lang="en-GB" sz="1600" b="1" dirty="0"/>
              <a:t>GPU programming</a:t>
            </a:r>
            <a:r>
              <a:rPr lang="en-GB" sz="1600" dirty="0"/>
              <a:t> (leveraging hardware for faster training)</a:t>
            </a:r>
          </a:p>
          <a:p>
            <a:pPr marL="342900" indent="-342900">
              <a:buFont typeface="+mj-lt"/>
              <a:buAutoNum type="arabicPeriod"/>
            </a:pPr>
            <a:r>
              <a:rPr lang="en-GB" sz="1600" b="1" dirty="0"/>
              <a:t>Parallelization</a:t>
            </a:r>
            <a:r>
              <a:rPr lang="en-GB" sz="1600" dirty="0"/>
              <a:t> (distributing work across CPUs/GPUs)</a:t>
            </a:r>
          </a:p>
          <a:p>
            <a:pPr marL="342900" indent="-342900">
              <a:buFont typeface="+mj-lt"/>
              <a:buAutoNum type="arabicPeriod"/>
            </a:pPr>
            <a:r>
              <a:rPr lang="en-GB" sz="1600" b="1" dirty="0"/>
              <a:t>Mathematical operations</a:t>
            </a:r>
            <a:r>
              <a:rPr lang="en-GB" sz="1600" dirty="0"/>
              <a:t> (like matrix multiplications, derivatives)</a:t>
            </a:r>
          </a:p>
          <a:p>
            <a:r>
              <a:rPr lang="en-GB" sz="1600" b="1" dirty="0"/>
              <a:t>Goal:</a:t>
            </a:r>
            <a:r>
              <a:rPr lang="en-GB" sz="1600" dirty="0"/>
              <a:t> Allow researchers and developers to focus on the </a:t>
            </a:r>
            <a:r>
              <a:rPr lang="en-GB" sz="1600" i="1" dirty="0"/>
              <a:t>model and data</a:t>
            </a:r>
            <a:r>
              <a:rPr lang="en-GB" sz="1600" dirty="0"/>
              <a:t>, not low-level implementation details.</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9771F62-3DEF-1419-7150-BD1DE039683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795DB09-CB4C-C8F3-AB41-4AD206E20D6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000" dirty="0"/>
              <a:t>Popular Deep Learning Frameworks</a:t>
            </a:r>
            <a:br>
              <a:rPr lang="en-GB" sz="2000" b="1" dirty="0"/>
            </a:br>
            <a:br>
              <a:rPr lang="en-GB" sz="2000" b="1" dirty="0"/>
            </a:br>
            <a:br>
              <a:rPr lang="en-GB" sz="2000" b="1" i="0" u="none" strike="noStrike" dirty="0">
                <a:solidFill>
                  <a:srgbClr val="7030A0"/>
                </a:solidFill>
                <a:effectLst/>
                <a:latin typeface="Inter" panose="02000503000000020004" pitchFamily="2" charset="0"/>
              </a:rPr>
            </a:br>
            <a:br>
              <a:rPr lang="en-GB" sz="2000" b="1" i="0" u="none" strike="noStrike" dirty="0">
                <a:solidFill>
                  <a:srgbClr val="7030A0"/>
                </a:solidFill>
                <a:effectLst/>
              </a:rPr>
            </a:br>
            <a:br>
              <a:rPr lang="en-GB" sz="2000" b="1" i="0" u="none" strike="noStrike" dirty="0">
                <a:solidFill>
                  <a:srgbClr val="7030A0"/>
                </a:solidFill>
                <a:effectLst/>
              </a:rPr>
            </a:br>
            <a:endParaRPr lang="en-GB" sz="20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AB171BE-54D8-20FA-C400-4F573A45C0A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2" name="Table 11">
            <a:extLst>
              <a:ext uri="{FF2B5EF4-FFF2-40B4-BE49-F238E27FC236}">
                <a16:creationId xmlns:a16="http://schemas.microsoft.com/office/drawing/2014/main" id="{A04C126D-0376-E9FB-8914-0DEE32B7D674}"/>
              </a:ext>
            </a:extLst>
          </p:cNvPr>
          <p:cNvGraphicFramePr>
            <a:graphicFrameLocks noGrp="1"/>
          </p:cNvGraphicFramePr>
          <p:nvPr>
            <p:extLst>
              <p:ext uri="{D42A27DB-BD31-4B8C-83A1-F6EECF244321}">
                <p14:modId xmlns:p14="http://schemas.microsoft.com/office/powerpoint/2010/main" val="3527271172"/>
              </p:ext>
            </p:extLst>
          </p:nvPr>
        </p:nvGraphicFramePr>
        <p:xfrm>
          <a:off x="407175" y="725692"/>
          <a:ext cx="7777821" cy="4123464"/>
        </p:xfrm>
        <a:graphic>
          <a:graphicData uri="http://schemas.openxmlformats.org/drawingml/2006/table">
            <a:tbl>
              <a:tblPr>
                <a:tableStyleId>{35758FB7-9AC5-4552-8A53-C91805E547FA}</a:tableStyleId>
              </a:tblPr>
              <a:tblGrid>
                <a:gridCol w="1800766">
                  <a:extLst>
                    <a:ext uri="{9D8B030D-6E8A-4147-A177-3AD203B41FA5}">
                      <a16:colId xmlns:a16="http://schemas.microsoft.com/office/drawing/2014/main" val="3187349051"/>
                    </a:ext>
                  </a:extLst>
                </a:gridCol>
                <a:gridCol w="2341757">
                  <a:extLst>
                    <a:ext uri="{9D8B030D-6E8A-4147-A177-3AD203B41FA5}">
                      <a16:colId xmlns:a16="http://schemas.microsoft.com/office/drawing/2014/main" val="3518990716"/>
                    </a:ext>
                  </a:extLst>
                </a:gridCol>
                <a:gridCol w="3635298">
                  <a:extLst>
                    <a:ext uri="{9D8B030D-6E8A-4147-A177-3AD203B41FA5}">
                      <a16:colId xmlns:a16="http://schemas.microsoft.com/office/drawing/2014/main" val="4099421159"/>
                    </a:ext>
                  </a:extLst>
                </a:gridCol>
              </a:tblGrid>
              <a:tr h="0">
                <a:tc>
                  <a:txBody>
                    <a:bodyPr/>
                    <a:lstStyle/>
                    <a:p>
                      <a:r>
                        <a:rPr lang="en-GB" sz="1600" b="1"/>
                        <a:t>Framework</a:t>
                      </a:r>
                    </a:p>
                  </a:txBody>
                  <a:tcPr marL="66551" marR="66551" marT="33276" marB="33276" anchor="ctr"/>
                </a:tc>
                <a:tc>
                  <a:txBody>
                    <a:bodyPr/>
                    <a:lstStyle/>
                    <a:p>
                      <a:r>
                        <a:rPr lang="en-GB" sz="1600" b="1"/>
                        <a:t>Developed By</a:t>
                      </a:r>
                    </a:p>
                  </a:txBody>
                  <a:tcPr marL="66551" marR="66551" marT="33276" marB="33276" anchor="ctr"/>
                </a:tc>
                <a:tc>
                  <a:txBody>
                    <a:bodyPr/>
                    <a:lstStyle/>
                    <a:p>
                      <a:r>
                        <a:rPr lang="en-GB" sz="1600" b="1" dirty="0"/>
                        <a:t>Key Features</a:t>
                      </a:r>
                    </a:p>
                  </a:txBody>
                  <a:tcPr marL="66551" marR="66551" marT="33276" marB="33276" anchor="ctr"/>
                </a:tc>
                <a:extLst>
                  <a:ext uri="{0D108BD9-81ED-4DB2-BD59-A6C34878D82A}">
                    <a16:rowId xmlns:a16="http://schemas.microsoft.com/office/drawing/2014/main" val="1382053552"/>
                  </a:ext>
                </a:extLst>
              </a:tr>
              <a:tr h="532410">
                <a:tc>
                  <a:txBody>
                    <a:bodyPr/>
                    <a:lstStyle/>
                    <a:p>
                      <a:r>
                        <a:rPr lang="en-GB" sz="1600" b="1"/>
                        <a:t>TensorFlow</a:t>
                      </a:r>
                      <a:endParaRPr lang="en-GB" sz="1600"/>
                    </a:p>
                  </a:txBody>
                  <a:tcPr marL="66551" marR="66551" marT="33276" marB="33276" anchor="ctr"/>
                </a:tc>
                <a:tc>
                  <a:txBody>
                    <a:bodyPr/>
                    <a:lstStyle/>
                    <a:p>
                      <a:r>
                        <a:rPr lang="en-GB" sz="1600" dirty="0"/>
                        <a:t>Google</a:t>
                      </a:r>
                    </a:p>
                  </a:txBody>
                  <a:tcPr marL="66551" marR="66551" marT="33276" marB="33276" anchor="ctr"/>
                </a:tc>
                <a:tc>
                  <a:txBody>
                    <a:bodyPr/>
                    <a:lstStyle/>
                    <a:p>
                      <a:r>
                        <a:rPr lang="en-GB" sz="1600"/>
                        <a:t>Scalable, production-ready, strong ecosystem (TensorBoard, TFX, etc.)</a:t>
                      </a:r>
                    </a:p>
                  </a:txBody>
                  <a:tcPr marL="66551" marR="66551" marT="33276" marB="33276" anchor="ctr"/>
                </a:tc>
                <a:extLst>
                  <a:ext uri="{0D108BD9-81ED-4DB2-BD59-A6C34878D82A}">
                    <a16:rowId xmlns:a16="http://schemas.microsoft.com/office/drawing/2014/main" val="2838669513"/>
                  </a:ext>
                </a:extLst>
              </a:tr>
              <a:tr h="532410">
                <a:tc>
                  <a:txBody>
                    <a:bodyPr/>
                    <a:lstStyle/>
                    <a:p>
                      <a:r>
                        <a:rPr lang="en-GB" sz="1600" b="1"/>
                        <a:t>PyTorch</a:t>
                      </a:r>
                      <a:endParaRPr lang="en-GB" sz="1600"/>
                    </a:p>
                  </a:txBody>
                  <a:tcPr marL="66551" marR="66551" marT="33276" marB="33276" anchor="ctr"/>
                </a:tc>
                <a:tc>
                  <a:txBody>
                    <a:bodyPr/>
                    <a:lstStyle/>
                    <a:p>
                      <a:r>
                        <a:rPr lang="en-GB" sz="1600"/>
                        <a:t>Meta (Facebook)</a:t>
                      </a:r>
                    </a:p>
                  </a:txBody>
                  <a:tcPr marL="66551" marR="66551" marT="33276" marB="33276" anchor="ctr"/>
                </a:tc>
                <a:tc>
                  <a:txBody>
                    <a:bodyPr/>
                    <a:lstStyle/>
                    <a:p>
                      <a:r>
                        <a:rPr lang="en-GB" sz="1600"/>
                        <a:t>Dynamic computation graph, beginner-friendly, widely used in research</a:t>
                      </a:r>
                    </a:p>
                  </a:txBody>
                  <a:tcPr marL="66551" marR="66551" marT="33276" marB="33276" anchor="ctr"/>
                </a:tc>
                <a:extLst>
                  <a:ext uri="{0D108BD9-81ED-4DB2-BD59-A6C34878D82A}">
                    <a16:rowId xmlns:a16="http://schemas.microsoft.com/office/drawing/2014/main" val="3565908920"/>
                  </a:ext>
                </a:extLst>
              </a:tr>
              <a:tr h="532410">
                <a:tc>
                  <a:txBody>
                    <a:bodyPr/>
                    <a:lstStyle/>
                    <a:p>
                      <a:r>
                        <a:rPr lang="en-GB" sz="1600" b="1"/>
                        <a:t>Keras</a:t>
                      </a:r>
                      <a:endParaRPr lang="en-GB" sz="1600"/>
                    </a:p>
                  </a:txBody>
                  <a:tcPr marL="66551" marR="66551" marT="33276" marB="33276" anchor="ctr"/>
                </a:tc>
                <a:tc>
                  <a:txBody>
                    <a:bodyPr/>
                    <a:lstStyle/>
                    <a:p>
                      <a:r>
                        <a:rPr lang="en-GB" sz="1600"/>
                        <a:t>Integrated in TF</a:t>
                      </a:r>
                    </a:p>
                  </a:txBody>
                  <a:tcPr marL="66551" marR="66551" marT="33276" marB="33276" anchor="ctr"/>
                </a:tc>
                <a:tc>
                  <a:txBody>
                    <a:bodyPr/>
                    <a:lstStyle/>
                    <a:p>
                      <a:r>
                        <a:rPr lang="en-GB" sz="1600"/>
                        <a:t>High-level API for TensorFlow, great for rapid model development</a:t>
                      </a:r>
                    </a:p>
                  </a:txBody>
                  <a:tcPr marL="66551" marR="66551" marT="33276" marB="33276" anchor="ctr"/>
                </a:tc>
                <a:extLst>
                  <a:ext uri="{0D108BD9-81ED-4DB2-BD59-A6C34878D82A}">
                    <a16:rowId xmlns:a16="http://schemas.microsoft.com/office/drawing/2014/main" val="2761124059"/>
                  </a:ext>
                </a:extLst>
              </a:tr>
              <a:tr h="532410">
                <a:tc>
                  <a:txBody>
                    <a:bodyPr/>
                    <a:lstStyle/>
                    <a:p>
                      <a:r>
                        <a:rPr lang="en-GB" sz="1600" b="1"/>
                        <a:t>MXNet</a:t>
                      </a:r>
                      <a:endParaRPr lang="en-GB" sz="1600"/>
                    </a:p>
                  </a:txBody>
                  <a:tcPr marL="66551" marR="66551" marT="33276" marB="33276" anchor="ctr"/>
                </a:tc>
                <a:tc>
                  <a:txBody>
                    <a:bodyPr/>
                    <a:lstStyle/>
                    <a:p>
                      <a:r>
                        <a:rPr lang="en-GB" sz="1600"/>
                        <a:t>Apache</a:t>
                      </a:r>
                    </a:p>
                  </a:txBody>
                  <a:tcPr marL="66551" marR="66551" marT="33276" marB="33276" anchor="ctr"/>
                </a:tc>
                <a:tc>
                  <a:txBody>
                    <a:bodyPr/>
                    <a:lstStyle/>
                    <a:p>
                      <a:r>
                        <a:rPr lang="en-GB" sz="1600"/>
                        <a:t>Supports multiple languages, efficient for large-scale deployment</a:t>
                      </a:r>
                    </a:p>
                  </a:txBody>
                  <a:tcPr marL="66551" marR="66551" marT="33276" marB="33276" anchor="ctr"/>
                </a:tc>
                <a:extLst>
                  <a:ext uri="{0D108BD9-81ED-4DB2-BD59-A6C34878D82A}">
                    <a16:rowId xmlns:a16="http://schemas.microsoft.com/office/drawing/2014/main" val="3928250605"/>
                  </a:ext>
                </a:extLst>
              </a:tr>
              <a:tr h="532410">
                <a:tc>
                  <a:txBody>
                    <a:bodyPr/>
                    <a:lstStyle/>
                    <a:p>
                      <a:r>
                        <a:rPr lang="en-GB" sz="1600" b="1"/>
                        <a:t>CNTK</a:t>
                      </a:r>
                      <a:endParaRPr lang="en-GB" sz="1600"/>
                    </a:p>
                  </a:txBody>
                  <a:tcPr marL="66551" marR="66551" marT="33276" marB="33276" anchor="ctr"/>
                </a:tc>
                <a:tc>
                  <a:txBody>
                    <a:bodyPr/>
                    <a:lstStyle/>
                    <a:p>
                      <a:r>
                        <a:rPr lang="en-GB" sz="1600"/>
                        <a:t>Microsoft</a:t>
                      </a:r>
                    </a:p>
                  </a:txBody>
                  <a:tcPr marL="66551" marR="66551" marT="33276" marB="33276" anchor="ctr"/>
                </a:tc>
                <a:tc>
                  <a:txBody>
                    <a:bodyPr/>
                    <a:lstStyle/>
                    <a:p>
                      <a:r>
                        <a:rPr lang="en-GB" sz="1600"/>
                        <a:t>Designed for production-level performance (now less commonly used)</a:t>
                      </a:r>
                    </a:p>
                  </a:txBody>
                  <a:tcPr marL="66551" marR="66551" marT="33276" marB="33276" anchor="ctr"/>
                </a:tc>
                <a:extLst>
                  <a:ext uri="{0D108BD9-81ED-4DB2-BD59-A6C34878D82A}">
                    <a16:rowId xmlns:a16="http://schemas.microsoft.com/office/drawing/2014/main" val="899589152"/>
                  </a:ext>
                </a:extLst>
              </a:tr>
              <a:tr h="532410">
                <a:tc>
                  <a:txBody>
                    <a:bodyPr/>
                    <a:lstStyle/>
                    <a:p>
                      <a:r>
                        <a:rPr lang="en-GB" sz="1600" b="1"/>
                        <a:t>JAX</a:t>
                      </a:r>
                      <a:endParaRPr lang="en-GB" sz="1600"/>
                    </a:p>
                  </a:txBody>
                  <a:tcPr marL="66551" marR="66551" marT="33276" marB="33276" anchor="ctr"/>
                </a:tc>
                <a:tc>
                  <a:txBody>
                    <a:bodyPr/>
                    <a:lstStyle/>
                    <a:p>
                      <a:r>
                        <a:rPr lang="en-GB" sz="1600"/>
                        <a:t>Google</a:t>
                      </a:r>
                    </a:p>
                  </a:txBody>
                  <a:tcPr marL="66551" marR="66551" marT="33276" marB="33276" anchor="ctr"/>
                </a:tc>
                <a:tc>
                  <a:txBody>
                    <a:bodyPr/>
                    <a:lstStyle/>
                    <a:p>
                      <a:r>
                        <a:rPr lang="en-GB" sz="1600" dirty="0"/>
                        <a:t>For high-performance numerical computing and automatic differentiation</a:t>
                      </a:r>
                    </a:p>
                  </a:txBody>
                  <a:tcPr marL="66551" marR="66551" marT="33276" marB="33276" anchor="ctr"/>
                </a:tc>
                <a:extLst>
                  <a:ext uri="{0D108BD9-81ED-4DB2-BD59-A6C34878D82A}">
                    <a16:rowId xmlns:a16="http://schemas.microsoft.com/office/drawing/2014/main" val="4202861058"/>
                  </a:ext>
                </a:extLst>
              </a:tr>
            </a:tbl>
          </a:graphicData>
        </a:graphic>
      </p:graphicFrame>
    </p:spTree>
    <p:extLst>
      <p:ext uri="{BB962C8B-B14F-4D97-AF65-F5344CB8AC3E}">
        <p14:creationId xmlns:p14="http://schemas.microsoft.com/office/powerpoint/2010/main" val="3526973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DBC826-BC4E-FDF2-F328-F4310975588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8A64D47-451B-23ED-95BB-59B289E16DB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Why Use Them?</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93AB7DD-8F27-9CBE-D7F9-ADCC3CB2C0D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9A4F231-4332-F87D-13D0-06E76CA253E2}"/>
              </a:ext>
            </a:extLst>
          </p:cNvPr>
          <p:cNvSpPr txBox="1"/>
          <p:nvPr/>
        </p:nvSpPr>
        <p:spPr>
          <a:xfrm>
            <a:off x="174928" y="850790"/>
            <a:ext cx="8329649" cy="1569660"/>
          </a:xfrm>
          <a:prstGeom prst="rect">
            <a:avLst/>
          </a:prstGeom>
          <a:noFill/>
        </p:spPr>
        <p:txBody>
          <a:bodyPr wrap="square">
            <a:spAutoFit/>
          </a:bodyPr>
          <a:lstStyle/>
          <a:p>
            <a:pPr marL="342900" indent="-342900">
              <a:buFont typeface="Wingdings" pitchFamily="2" charset="2"/>
              <a:buChar char="Ø"/>
            </a:pPr>
            <a:r>
              <a:rPr lang="en-GB" sz="1600" b="1" dirty="0"/>
              <a:t>Rapid Prototyping</a:t>
            </a:r>
            <a:r>
              <a:rPr lang="en-GB" sz="1600" dirty="0"/>
              <a:t> – Build and test ideas quickly</a:t>
            </a:r>
          </a:p>
          <a:p>
            <a:pPr marL="342900" indent="-342900">
              <a:buFont typeface="Wingdings" pitchFamily="2" charset="2"/>
              <a:buChar char="Ø"/>
            </a:pPr>
            <a:r>
              <a:rPr lang="en-GB" sz="1600" b="1" dirty="0"/>
              <a:t>Efficient Training</a:t>
            </a:r>
            <a:r>
              <a:rPr lang="en-GB" sz="1600" dirty="0"/>
              <a:t> – Leverage hardware acceleration</a:t>
            </a:r>
          </a:p>
          <a:p>
            <a:pPr marL="342900" indent="-342900">
              <a:buFont typeface="Wingdings" pitchFamily="2" charset="2"/>
              <a:buChar char="Ø"/>
            </a:pPr>
            <a:r>
              <a:rPr lang="en-GB" sz="1600" b="1" dirty="0"/>
              <a:t>Reusable Components</a:t>
            </a:r>
            <a:r>
              <a:rPr lang="en-GB" sz="1600" dirty="0"/>
              <a:t> – Layers, optimizers, loss functions, etc.</a:t>
            </a:r>
          </a:p>
          <a:p>
            <a:pPr marL="342900" indent="-342900">
              <a:buFont typeface="Wingdings" pitchFamily="2" charset="2"/>
              <a:buChar char="Ø"/>
            </a:pPr>
            <a:r>
              <a:rPr lang="en-GB" sz="1600" b="1" dirty="0"/>
              <a:t>Easy Debugging &amp; Visualization</a:t>
            </a:r>
            <a:r>
              <a:rPr lang="en-GB" sz="1600" dirty="0"/>
              <a:t> – Especially with tools like </a:t>
            </a:r>
            <a:r>
              <a:rPr lang="en-GB" sz="1600" dirty="0" err="1"/>
              <a:t>TensorBoard</a:t>
            </a:r>
            <a:r>
              <a:rPr lang="en-GB" sz="1600" dirty="0"/>
              <a:t> or Weights &amp; Biases</a:t>
            </a:r>
          </a:p>
          <a:p>
            <a:pPr>
              <a:buFont typeface="Arial" panose="020B0604020202020204" pitchFamily="34" charset="0"/>
              <a:buChar char="•"/>
            </a:pPr>
            <a:endParaRPr lang="en-GB" sz="1600" i="0" u="none" strike="noStrike" dirty="0">
              <a:solidFill>
                <a:srgbClr val="000000"/>
              </a:solidFill>
              <a:effectLst/>
            </a:endParaRPr>
          </a:p>
        </p:txBody>
      </p:sp>
      <p:graphicFrame>
        <p:nvGraphicFramePr>
          <p:cNvPr id="2" name="Table 1">
            <a:extLst>
              <a:ext uri="{FF2B5EF4-FFF2-40B4-BE49-F238E27FC236}">
                <a16:creationId xmlns:a16="http://schemas.microsoft.com/office/drawing/2014/main" id="{F8BEB37D-2CB2-7000-000E-999779F7D2ED}"/>
              </a:ext>
            </a:extLst>
          </p:cNvPr>
          <p:cNvGraphicFramePr>
            <a:graphicFrameLocks noGrp="1"/>
          </p:cNvGraphicFramePr>
          <p:nvPr>
            <p:extLst>
              <p:ext uri="{D42A27DB-BD31-4B8C-83A1-F6EECF244321}">
                <p14:modId xmlns:p14="http://schemas.microsoft.com/office/powerpoint/2010/main" val="2895725631"/>
              </p:ext>
            </p:extLst>
          </p:nvPr>
        </p:nvGraphicFramePr>
        <p:xfrm>
          <a:off x="564994" y="2571750"/>
          <a:ext cx="7017749" cy="1341120"/>
        </p:xfrm>
        <a:graphic>
          <a:graphicData uri="http://schemas.openxmlformats.org/drawingml/2006/table">
            <a:tbl>
              <a:tblPr>
                <a:tableStyleId>{35758FB7-9AC5-4552-8A53-C91805E547FA}</a:tableStyleId>
              </a:tblPr>
              <a:tblGrid>
                <a:gridCol w="2741348">
                  <a:extLst>
                    <a:ext uri="{9D8B030D-6E8A-4147-A177-3AD203B41FA5}">
                      <a16:colId xmlns:a16="http://schemas.microsoft.com/office/drawing/2014/main" val="1505714331"/>
                    </a:ext>
                  </a:extLst>
                </a:gridCol>
                <a:gridCol w="4276401">
                  <a:extLst>
                    <a:ext uri="{9D8B030D-6E8A-4147-A177-3AD203B41FA5}">
                      <a16:colId xmlns:a16="http://schemas.microsoft.com/office/drawing/2014/main" val="839683816"/>
                    </a:ext>
                  </a:extLst>
                </a:gridCol>
              </a:tblGrid>
              <a:tr h="0">
                <a:tc>
                  <a:txBody>
                    <a:bodyPr/>
                    <a:lstStyle/>
                    <a:p>
                      <a:pPr algn="l"/>
                      <a:r>
                        <a:rPr lang="en-GB" sz="1600" b="1">
                          <a:effectLst/>
                        </a:rPr>
                        <a:t>Without Framework</a:t>
                      </a:r>
                    </a:p>
                  </a:txBody>
                  <a:tcPr anchor="ctr"/>
                </a:tc>
                <a:tc>
                  <a:txBody>
                    <a:bodyPr/>
                    <a:lstStyle/>
                    <a:p>
                      <a:pPr algn="l"/>
                      <a:r>
                        <a:rPr lang="en-GB" sz="1600" b="1">
                          <a:effectLst/>
                        </a:rPr>
                        <a:t>With Framework (PyTorch/TensorFlow)</a:t>
                      </a:r>
                    </a:p>
                  </a:txBody>
                  <a:tcPr anchor="ctr"/>
                </a:tc>
                <a:extLst>
                  <a:ext uri="{0D108BD9-81ED-4DB2-BD59-A6C34878D82A}">
                    <a16:rowId xmlns:a16="http://schemas.microsoft.com/office/drawing/2014/main" val="3569402185"/>
                  </a:ext>
                </a:extLst>
              </a:tr>
              <a:tr h="0">
                <a:tc>
                  <a:txBody>
                    <a:bodyPr/>
                    <a:lstStyle/>
                    <a:p>
                      <a:r>
                        <a:rPr lang="en-GB" sz="1600">
                          <a:effectLst/>
                        </a:rPr>
                        <a:t>Manual backpropagation</a:t>
                      </a:r>
                    </a:p>
                  </a:txBody>
                  <a:tcPr anchor="ctr"/>
                </a:tc>
                <a:tc>
                  <a:txBody>
                    <a:bodyPr/>
                    <a:lstStyle/>
                    <a:p>
                      <a:r>
                        <a:rPr lang="en-GB" sz="1600">
                          <a:effectLst/>
                        </a:rPr>
                        <a:t>Automatic differentiation (autograd)</a:t>
                      </a:r>
                    </a:p>
                  </a:txBody>
                  <a:tcPr anchor="ctr"/>
                </a:tc>
                <a:extLst>
                  <a:ext uri="{0D108BD9-81ED-4DB2-BD59-A6C34878D82A}">
                    <a16:rowId xmlns:a16="http://schemas.microsoft.com/office/drawing/2014/main" val="443932952"/>
                  </a:ext>
                </a:extLst>
              </a:tr>
              <a:tr h="0">
                <a:tc>
                  <a:txBody>
                    <a:bodyPr/>
                    <a:lstStyle/>
                    <a:p>
                      <a:r>
                        <a:rPr lang="en-GB" sz="1600">
                          <a:effectLst/>
                        </a:rPr>
                        <a:t>CUDA coding for GPU</a:t>
                      </a:r>
                    </a:p>
                  </a:txBody>
                  <a:tcPr anchor="ctr"/>
                </a:tc>
                <a:tc>
                  <a:txBody>
                    <a:bodyPr/>
                    <a:lstStyle/>
                    <a:p>
                      <a:r>
                        <a:rPr lang="en-GB" sz="1600">
                          <a:effectLst/>
                        </a:rPr>
                        <a:t>Single-line GPU transfer (.to('cuda'))</a:t>
                      </a:r>
                    </a:p>
                  </a:txBody>
                  <a:tcPr anchor="ctr"/>
                </a:tc>
                <a:extLst>
                  <a:ext uri="{0D108BD9-81ED-4DB2-BD59-A6C34878D82A}">
                    <a16:rowId xmlns:a16="http://schemas.microsoft.com/office/drawing/2014/main" val="1681915498"/>
                  </a:ext>
                </a:extLst>
              </a:tr>
              <a:tr h="0">
                <a:tc>
                  <a:txBody>
                    <a:bodyPr/>
                    <a:lstStyle/>
                    <a:p>
                      <a:r>
                        <a:rPr lang="en-GB" sz="1600">
                          <a:effectLst/>
                        </a:rPr>
                        <a:t>No prebuilt layers</a:t>
                      </a:r>
                    </a:p>
                  </a:txBody>
                  <a:tcPr anchor="ctr"/>
                </a:tc>
                <a:tc>
                  <a:txBody>
                    <a:bodyPr/>
                    <a:lstStyle/>
                    <a:p>
                      <a:r>
                        <a:rPr lang="en-GB" sz="1600" dirty="0">
                          <a:effectLst/>
                        </a:rPr>
                        <a:t>100+ layers (LSTM, Conv2D) ready-to-use</a:t>
                      </a:r>
                    </a:p>
                  </a:txBody>
                  <a:tcPr anchor="ctr"/>
                </a:tc>
                <a:extLst>
                  <a:ext uri="{0D108BD9-81ED-4DB2-BD59-A6C34878D82A}">
                    <a16:rowId xmlns:a16="http://schemas.microsoft.com/office/drawing/2014/main" val="3936756460"/>
                  </a:ext>
                </a:extLst>
              </a:tr>
            </a:tbl>
          </a:graphicData>
        </a:graphic>
      </p:graphicFrame>
    </p:spTree>
    <p:extLst>
      <p:ext uri="{BB962C8B-B14F-4D97-AF65-F5344CB8AC3E}">
        <p14:creationId xmlns:p14="http://schemas.microsoft.com/office/powerpoint/2010/main" val="283055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5DE51A5-0CEF-07DC-FEB9-292B9C63E4B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778F552-8CAD-3A48-AD6F-6C6E8885FC9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Popular Framework</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0DAAB35B-9162-5A2E-5C2C-F62A0958EFB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E6B9B9B-7673-B81D-7182-E23E1C0112A5}"/>
              </a:ext>
            </a:extLst>
          </p:cNvPr>
          <p:cNvSpPr txBox="1"/>
          <p:nvPr/>
        </p:nvSpPr>
        <p:spPr>
          <a:xfrm>
            <a:off x="174929" y="850790"/>
            <a:ext cx="4315296" cy="3416320"/>
          </a:xfrm>
          <a:prstGeom prst="rect">
            <a:avLst/>
          </a:prstGeom>
          <a:noFill/>
        </p:spPr>
        <p:txBody>
          <a:bodyPr wrap="square">
            <a:spAutoFit/>
          </a:bodyPr>
          <a:lstStyle/>
          <a:p>
            <a:pPr algn="l">
              <a:buNone/>
            </a:pPr>
            <a:r>
              <a:rPr lang="en-GB" sz="1800" b="0" i="0" u="none" strike="noStrike" dirty="0">
                <a:solidFill>
                  <a:srgbClr val="000000"/>
                </a:solidFill>
                <a:effectLst/>
              </a:rPr>
              <a:t>TensorFlow and </a:t>
            </a:r>
            <a:r>
              <a:rPr lang="en-GB" sz="1800" b="0" i="0" u="none" strike="noStrike" dirty="0" err="1">
                <a:solidFill>
                  <a:srgbClr val="000000"/>
                </a:solidFill>
                <a:effectLst/>
              </a:rPr>
              <a:t>PyTorch</a:t>
            </a:r>
            <a:r>
              <a:rPr lang="en-GB" sz="1800" b="0" i="0" u="none" strike="noStrike" dirty="0">
                <a:solidFill>
                  <a:srgbClr val="000000"/>
                </a:solidFill>
                <a:effectLst/>
              </a:rPr>
              <a:t> are two of the most popular and powerful open-source machine learning frameworks. They provide comprehensive ecosystems for building, training, and deploying various machine learning models, including deep learning networks. While they share the ultimate goal of enabling machine learning, they have distinct characteristics in terms of their design philosophy, ease of use, and community.</a:t>
            </a:r>
          </a:p>
        </p:txBody>
      </p:sp>
      <p:pic>
        <p:nvPicPr>
          <p:cNvPr id="9" name="Picture 8">
            <a:extLst>
              <a:ext uri="{FF2B5EF4-FFF2-40B4-BE49-F238E27FC236}">
                <a16:creationId xmlns:a16="http://schemas.microsoft.com/office/drawing/2014/main" id="{2B81A25D-521D-93B0-139E-41531FAE418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304144" y="3478152"/>
            <a:ext cx="4664927" cy="932985"/>
          </a:xfrm>
          <a:prstGeom prst="rect">
            <a:avLst/>
          </a:prstGeom>
        </p:spPr>
      </p:pic>
      <p:pic>
        <p:nvPicPr>
          <p:cNvPr id="12" name="Picture 11" descr="A logo for a company&#10;&#10;AI-generated content may be incorrect.">
            <a:extLst>
              <a:ext uri="{FF2B5EF4-FFF2-40B4-BE49-F238E27FC236}">
                <a16:creationId xmlns:a16="http://schemas.microsoft.com/office/drawing/2014/main" id="{9370E03E-350B-9EAE-08E1-47CDCEFADDD5}"/>
              </a:ext>
            </a:extLst>
          </p:cNvPr>
          <p:cNvPicPr>
            <a:picLocks noChangeAspect="1"/>
          </p:cNvPicPr>
          <p:nvPr/>
        </p:nvPicPr>
        <p:blipFill>
          <a:blip r:embed="rId5">
            <a:extLst>
              <a:ext uri="{837473B0-CC2E-450A-ABE3-18F120FF3D39}">
                <a1611:picAttrSrcUrl xmlns:a1611="http://schemas.microsoft.com/office/drawing/2016/11/main" r:id="rId6"/>
              </a:ext>
            </a:extLst>
          </a:blip>
          <a:srcRect t="22708" b="22628"/>
          <a:stretch/>
        </p:blipFill>
        <p:spPr>
          <a:xfrm>
            <a:off x="4653777" y="1113183"/>
            <a:ext cx="4166839" cy="1518506"/>
          </a:xfrm>
          <a:prstGeom prst="rect">
            <a:avLst/>
          </a:prstGeom>
        </p:spPr>
      </p:pic>
    </p:spTree>
    <p:extLst>
      <p:ext uri="{BB962C8B-B14F-4D97-AF65-F5344CB8AC3E}">
        <p14:creationId xmlns:p14="http://schemas.microsoft.com/office/powerpoint/2010/main" val="92619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FF5452A-080C-4003-C98E-0830A14DED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3F34580-052E-046C-9F0C-B024EF07D99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Introduction to TensorFlow</a:t>
            </a: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CF8A11C-F730-F67F-7CD8-90370F3DBAA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6531081-5F6E-B37E-770F-19FC2381CD48}"/>
              </a:ext>
            </a:extLst>
          </p:cNvPr>
          <p:cNvSpPr txBox="1"/>
          <p:nvPr/>
        </p:nvSpPr>
        <p:spPr>
          <a:xfrm>
            <a:off x="182879" y="713964"/>
            <a:ext cx="8121061" cy="4524315"/>
          </a:xfrm>
          <a:prstGeom prst="rect">
            <a:avLst/>
          </a:prstGeom>
          <a:noFill/>
        </p:spPr>
        <p:txBody>
          <a:bodyPr wrap="square">
            <a:spAutoFit/>
          </a:bodyPr>
          <a:lstStyle/>
          <a:p>
            <a:pPr>
              <a:buNone/>
            </a:pPr>
            <a:r>
              <a:rPr lang="en-GB" sz="1600" b="1" dirty="0"/>
              <a:t>What is TensorFlow?</a:t>
            </a:r>
          </a:p>
          <a:p>
            <a:pPr>
              <a:buNone/>
            </a:pPr>
            <a:r>
              <a:rPr lang="en-GB" sz="1600" dirty="0"/>
              <a:t>TensorFlow is an open-source deep learning framework developed by Google </a:t>
            </a:r>
            <a:r>
              <a:rPr lang="en-GB" sz="1600" dirty="0" err="1"/>
              <a:t>Brain.It’s</a:t>
            </a:r>
            <a:r>
              <a:rPr lang="en-GB" sz="1600" dirty="0"/>
              <a:t> one of the most widely-used libraries for building and training machine learning and deep learning models.</a:t>
            </a:r>
          </a:p>
          <a:p>
            <a:pPr algn="l"/>
            <a:r>
              <a:rPr lang="en-GB" sz="1600" b="1" i="0" u="none" strike="noStrike" dirty="0">
                <a:solidFill>
                  <a:srgbClr val="000000"/>
                </a:solidFill>
                <a:effectLst/>
              </a:rPr>
              <a:t>Primary Language:</a:t>
            </a:r>
            <a:r>
              <a:rPr lang="en-GB" sz="1600" b="0" i="0" u="none" strike="noStrike" dirty="0">
                <a:solidFill>
                  <a:srgbClr val="000000"/>
                </a:solidFill>
                <a:effectLst/>
              </a:rPr>
              <a:t> Python, with C++ for performance-critical operations.</a:t>
            </a:r>
          </a:p>
          <a:p>
            <a:pPr algn="l"/>
            <a:r>
              <a:rPr lang="en-GB" sz="1600" b="1" i="0" u="none" strike="noStrike" dirty="0">
                <a:solidFill>
                  <a:srgbClr val="000000"/>
                </a:solidFill>
                <a:effectLst/>
              </a:rPr>
              <a:t>Key Features and Concepts:</a:t>
            </a:r>
            <a:endParaRPr lang="en-GB" sz="1600" b="0" i="0" u="none" strike="noStrike" dirty="0">
              <a:solidFill>
                <a:srgbClr val="000000"/>
              </a:solidFill>
              <a:effectLst/>
            </a:endParaRPr>
          </a:p>
          <a:p>
            <a:pPr marL="742950" lvl="1" indent="-285750" algn="l">
              <a:buFont typeface="Wingdings" pitchFamily="2" charset="2"/>
              <a:buChar char="ü"/>
            </a:pPr>
            <a:r>
              <a:rPr lang="en-GB" sz="1600" b="1" i="0" u="none" strike="noStrike" dirty="0">
                <a:solidFill>
                  <a:srgbClr val="000000"/>
                </a:solidFill>
                <a:effectLst/>
              </a:rPr>
              <a:t>Static Computational Graphs:</a:t>
            </a:r>
            <a:r>
              <a:rPr lang="en-GB" sz="1600" b="0" i="0" u="none" strike="noStrike" dirty="0">
                <a:solidFill>
                  <a:srgbClr val="000000"/>
                </a:solidFill>
                <a:effectLst/>
              </a:rPr>
              <a:t> TensorFlow 1.x heavily relied on defining the entire computational graph symbolically </a:t>
            </a:r>
            <a:r>
              <a:rPr lang="en-GB" sz="1600" b="0" i="1" u="none" strike="noStrike" dirty="0">
                <a:solidFill>
                  <a:srgbClr val="000000"/>
                </a:solidFill>
                <a:effectLst/>
              </a:rPr>
              <a:t>before</a:t>
            </a:r>
            <a:r>
              <a:rPr lang="en-GB" sz="1600" b="0" i="0" u="none" strike="noStrike" dirty="0">
                <a:solidFill>
                  <a:srgbClr val="000000"/>
                </a:solidFill>
                <a:effectLst/>
              </a:rPr>
              <a:t> execution. This graph represents the flow of data through the model's operations. While this approach allowed for optimizations and deployment to various platforms, it could be less intuitive for debugging and experimentation.</a:t>
            </a:r>
          </a:p>
          <a:p>
            <a:pPr marL="742950" lvl="1" indent="-285750" algn="l">
              <a:buFont typeface="Wingdings" pitchFamily="2" charset="2"/>
              <a:buChar char="ü"/>
            </a:pPr>
            <a:r>
              <a:rPr lang="en-GB" sz="1600" b="1" i="0" u="none" strike="noStrike" dirty="0">
                <a:solidFill>
                  <a:srgbClr val="000000"/>
                </a:solidFill>
                <a:effectLst/>
              </a:rPr>
              <a:t>Eager Execution (TensorFlow 2.x):</a:t>
            </a:r>
            <a:r>
              <a:rPr lang="en-GB" sz="1600" b="0" i="0" u="none" strike="noStrike" dirty="0">
                <a:solidFill>
                  <a:srgbClr val="000000"/>
                </a:solidFill>
                <a:effectLst/>
              </a:rPr>
              <a:t> Introduced in TensorFlow 2.x, eager execution provides an imperative, Pythonic way of running operations immediately as they are defined, making debugging and development more straightforward. TensorFlow 2.x has become the default and strongly encouraged mode.</a:t>
            </a:r>
          </a:p>
          <a:p>
            <a:pPr>
              <a:buNone/>
            </a:pPr>
            <a:br>
              <a:rPr lang="en-GB" sz="1600" dirty="0">
                <a:latin typeface="+mj-lt"/>
              </a:rPr>
            </a:br>
            <a:endParaRPr lang="en-GB" sz="1600" b="1" dirty="0">
              <a:latin typeface="+mj-lt"/>
            </a:endParaRPr>
          </a:p>
        </p:txBody>
      </p:sp>
    </p:spTree>
    <p:extLst>
      <p:ext uri="{BB962C8B-B14F-4D97-AF65-F5344CB8AC3E}">
        <p14:creationId xmlns:p14="http://schemas.microsoft.com/office/powerpoint/2010/main" val="390737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6F5A954-5A62-A76D-BAAB-B1FD5258B65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5F4A298-B393-524D-4FA3-ACBAD795681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Introduction to TensorFlow</a:t>
            </a: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536F170-34D4-B37E-4F09-A01D37F3C2E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A2FA0C1-9167-AC1F-941C-E617F38295B1}"/>
              </a:ext>
            </a:extLst>
          </p:cNvPr>
          <p:cNvSpPr txBox="1"/>
          <p:nvPr/>
        </p:nvSpPr>
        <p:spPr>
          <a:xfrm>
            <a:off x="182879" y="713964"/>
            <a:ext cx="8121061" cy="4031873"/>
          </a:xfrm>
          <a:prstGeom prst="rect">
            <a:avLst/>
          </a:prstGeom>
          <a:noFill/>
        </p:spPr>
        <p:txBody>
          <a:bodyPr wrap="square">
            <a:spAutoFit/>
          </a:bodyPr>
          <a:lstStyle/>
          <a:p>
            <a:pPr marL="742950" lvl="1" indent="-285750" algn="l">
              <a:buFont typeface="Wingdings" pitchFamily="2" charset="2"/>
              <a:buChar char="ü"/>
            </a:pPr>
            <a:r>
              <a:rPr lang="en-GB" sz="1600" b="1" i="0" u="none" strike="noStrike" dirty="0" err="1">
                <a:solidFill>
                  <a:srgbClr val="000000"/>
                </a:solidFill>
                <a:effectLst/>
              </a:rPr>
              <a:t>Keras</a:t>
            </a:r>
            <a:r>
              <a:rPr lang="en-GB" sz="1600" b="1" i="0" u="none" strike="noStrike" dirty="0">
                <a:solidFill>
                  <a:srgbClr val="000000"/>
                </a:solidFill>
                <a:effectLst/>
              </a:rPr>
              <a:t> API:</a:t>
            </a:r>
            <a:r>
              <a:rPr lang="en-GB" sz="1600" b="0" i="0" u="none" strike="noStrike" dirty="0">
                <a:solidFill>
                  <a:srgbClr val="000000"/>
                </a:solidFill>
                <a:effectLst/>
              </a:rPr>
              <a:t> TensorFlow integrates </a:t>
            </a:r>
            <a:r>
              <a:rPr lang="en-GB" sz="1600" b="0" i="0" u="none" strike="noStrike" dirty="0" err="1">
                <a:solidFill>
                  <a:srgbClr val="000000"/>
                </a:solidFill>
                <a:effectLst/>
              </a:rPr>
              <a:t>Keras</a:t>
            </a:r>
            <a:r>
              <a:rPr lang="en-GB" sz="1600" b="0" i="0" u="none" strike="noStrike" dirty="0">
                <a:solidFill>
                  <a:srgbClr val="000000"/>
                </a:solidFill>
                <a:effectLst/>
              </a:rPr>
              <a:t> as its high-level API, providing a user-friendly interface for building and training neural networks. </a:t>
            </a:r>
            <a:r>
              <a:rPr lang="en-GB" sz="1600" b="0" i="0" u="none" strike="noStrike" dirty="0" err="1">
                <a:solidFill>
                  <a:srgbClr val="000000"/>
                </a:solidFill>
                <a:effectLst/>
              </a:rPr>
              <a:t>Keras</a:t>
            </a:r>
            <a:r>
              <a:rPr lang="en-GB" sz="1600" b="0" i="0" u="none" strike="noStrike" dirty="0">
                <a:solidFill>
                  <a:srgbClr val="000000"/>
                </a:solidFill>
                <a:effectLst/>
              </a:rPr>
              <a:t> simplifies common tasks and makes TensorFlow more accessible to beginners.</a:t>
            </a:r>
          </a:p>
          <a:p>
            <a:pPr marL="742950" lvl="1" indent="-285750" algn="l">
              <a:buFont typeface="Wingdings" pitchFamily="2" charset="2"/>
              <a:buChar char="ü"/>
            </a:pPr>
            <a:r>
              <a:rPr lang="en-GB" sz="1600" b="1" i="0" u="none" strike="noStrike" dirty="0" err="1">
                <a:solidFill>
                  <a:srgbClr val="000000"/>
                </a:solidFill>
                <a:effectLst/>
              </a:rPr>
              <a:t>TensorBoard</a:t>
            </a:r>
            <a:r>
              <a:rPr lang="en-GB" sz="1600" b="1" i="0" u="none" strike="noStrike" dirty="0">
                <a:solidFill>
                  <a:srgbClr val="000000"/>
                </a:solidFill>
                <a:effectLst/>
              </a:rPr>
              <a:t>:</a:t>
            </a:r>
            <a:r>
              <a:rPr lang="en-GB" sz="1600" b="0" i="0" u="none" strike="noStrike" dirty="0">
                <a:solidFill>
                  <a:srgbClr val="000000"/>
                </a:solidFill>
                <a:effectLst/>
              </a:rPr>
              <a:t> A powerful visualization toolkit for monitoring and debugging machine learning experiments. It allows you to track metrics, visualize model graphs, inspect weights and biases, and more.</a:t>
            </a:r>
          </a:p>
          <a:p>
            <a:pPr marL="742950" lvl="1" indent="-285750" algn="l">
              <a:buFont typeface="Wingdings" pitchFamily="2" charset="2"/>
              <a:buChar char="ü"/>
            </a:pPr>
            <a:r>
              <a:rPr lang="en-GB" sz="1600" b="1" i="0" u="none" strike="noStrike" dirty="0">
                <a:solidFill>
                  <a:srgbClr val="000000"/>
                </a:solidFill>
                <a:effectLst/>
              </a:rPr>
              <a:t>TensorFlow Extended (TFX):</a:t>
            </a:r>
            <a:r>
              <a:rPr lang="en-GB" sz="1600" b="0" i="0" u="none" strike="noStrike" dirty="0">
                <a:solidFill>
                  <a:srgbClr val="000000"/>
                </a:solidFill>
                <a:effectLst/>
              </a:rPr>
              <a:t> A production-ready machine learning platform for deploying and managing TensorFlow models at scale.</a:t>
            </a:r>
          </a:p>
          <a:p>
            <a:pPr marL="742950" lvl="1" indent="-285750" algn="l">
              <a:buFont typeface="Wingdings" pitchFamily="2" charset="2"/>
              <a:buChar char="ü"/>
            </a:pPr>
            <a:r>
              <a:rPr lang="en-GB" sz="1600" b="1" i="0" u="none" strike="noStrike" dirty="0">
                <a:solidFill>
                  <a:srgbClr val="000000"/>
                </a:solidFill>
                <a:effectLst/>
              </a:rPr>
              <a:t>Wide Deployment Options:</a:t>
            </a:r>
            <a:r>
              <a:rPr lang="en-GB" sz="1600" b="0" i="0" u="none" strike="noStrike" dirty="0">
                <a:solidFill>
                  <a:srgbClr val="000000"/>
                </a:solidFill>
                <a:effectLst/>
              </a:rPr>
              <a:t> TensorFlow supports deployment across various platforms, including CPUs, GPUs, TPUs (Tensor Processing Units - Google's custom AI accelerators), mobile devices, and web browsers (</a:t>
            </a:r>
            <a:r>
              <a:rPr lang="en-GB" sz="1600" b="0" i="0" u="none" strike="noStrike" dirty="0" err="1">
                <a:solidFill>
                  <a:srgbClr val="000000"/>
                </a:solidFill>
                <a:effectLst/>
              </a:rPr>
              <a:t>TensorFlow.js</a:t>
            </a:r>
            <a:r>
              <a:rPr lang="en-GB" sz="1600" b="0" i="0" u="none" strike="noStrike" dirty="0">
                <a:solidFill>
                  <a:srgbClr val="000000"/>
                </a:solidFill>
                <a:effectLst/>
              </a:rPr>
              <a:t>).</a:t>
            </a:r>
          </a:p>
          <a:p>
            <a:pPr marL="742950" lvl="1" indent="-285750" algn="l">
              <a:buFont typeface="Wingdings" pitchFamily="2" charset="2"/>
              <a:buChar char="ü"/>
            </a:pPr>
            <a:r>
              <a:rPr lang="en-GB" sz="1600" b="1" i="0" u="none" strike="noStrike" dirty="0">
                <a:solidFill>
                  <a:srgbClr val="000000"/>
                </a:solidFill>
                <a:effectLst/>
              </a:rPr>
              <a:t>Large and Mature Ecosystem:</a:t>
            </a:r>
            <a:r>
              <a:rPr lang="en-GB" sz="1600" b="0" i="0" u="none" strike="noStrike" dirty="0">
                <a:solidFill>
                  <a:srgbClr val="000000"/>
                </a:solidFill>
                <a:effectLst/>
              </a:rPr>
              <a:t> TensorFlow has a vast and well-established community, extensive documentation, and a wide range of pre-trained models and tools.</a:t>
            </a:r>
          </a:p>
          <a:p>
            <a:pPr>
              <a:buNone/>
            </a:pPr>
            <a:br>
              <a:rPr lang="en-GB" sz="1600" dirty="0">
                <a:latin typeface="+mj-lt"/>
              </a:rPr>
            </a:br>
            <a:endParaRPr lang="en-GB" sz="1600" b="1" dirty="0">
              <a:latin typeface="+mj-lt"/>
            </a:endParaRPr>
          </a:p>
        </p:txBody>
      </p:sp>
    </p:spTree>
    <p:extLst>
      <p:ext uri="{BB962C8B-B14F-4D97-AF65-F5344CB8AC3E}">
        <p14:creationId xmlns:p14="http://schemas.microsoft.com/office/powerpoint/2010/main" val="2507431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1EE06A-3DD6-8A1A-0A0D-6636A7A8EFD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3E17752-4D3C-60E5-BCCA-6F74B75A21E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Strength &amp; Weakness of TensorFlow</a:t>
            </a: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4716B8C-35B5-DE3C-7855-6626D105C9D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BE9CCCA-1DA4-6599-48F8-784114DD2432}"/>
              </a:ext>
            </a:extLst>
          </p:cNvPr>
          <p:cNvSpPr txBox="1"/>
          <p:nvPr/>
        </p:nvSpPr>
        <p:spPr>
          <a:xfrm>
            <a:off x="407175" y="535544"/>
            <a:ext cx="8121061" cy="4031873"/>
          </a:xfrm>
          <a:prstGeom prst="rect">
            <a:avLst/>
          </a:prstGeom>
          <a:noFill/>
        </p:spPr>
        <p:txBody>
          <a:bodyPr wrap="square">
            <a:spAutoFit/>
          </a:bodyPr>
          <a:lstStyle/>
          <a:p>
            <a:pPr>
              <a:buNone/>
            </a:pPr>
            <a:r>
              <a:rPr lang="en-GB" sz="1600" b="1" dirty="0"/>
              <a:t>Strengths:</a:t>
            </a:r>
            <a:endParaRPr lang="en-GB" sz="1600" dirty="0"/>
          </a:p>
          <a:p>
            <a:pPr marL="285750" indent="-285750">
              <a:buFont typeface="Wingdings" pitchFamily="2" charset="2"/>
              <a:buChar char="ü"/>
            </a:pPr>
            <a:r>
              <a:rPr lang="en-GB" sz="1600" b="1" dirty="0"/>
              <a:t>Production Readiness:</a:t>
            </a:r>
            <a:r>
              <a:rPr lang="en-GB" sz="1600" dirty="0"/>
              <a:t> TensorFlow has a strong focus on deployment and scalability, making it a popular choice for industrial applications.</a:t>
            </a:r>
          </a:p>
          <a:p>
            <a:pPr marL="285750" indent="-285750">
              <a:buFont typeface="Wingdings" pitchFamily="2" charset="2"/>
              <a:buChar char="ü"/>
            </a:pPr>
            <a:r>
              <a:rPr lang="en-GB" sz="1600" b="1" dirty="0"/>
              <a:t>Mature Ecosystem and Community:</a:t>
            </a:r>
            <a:r>
              <a:rPr lang="en-GB" sz="1600" dirty="0"/>
              <a:t> Its large community provides ample support, tutorials, and pre-built solutions.</a:t>
            </a:r>
          </a:p>
          <a:p>
            <a:pPr marL="285750" indent="-285750">
              <a:buFont typeface="Wingdings" pitchFamily="2" charset="2"/>
              <a:buChar char="ü"/>
            </a:pPr>
            <a:r>
              <a:rPr lang="en-GB" sz="1600" b="1" dirty="0"/>
              <a:t>Powerful Tools for Deployment and Monitoring:</a:t>
            </a:r>
            <a:r>
              <a:rPr lang="en-GB" sz="1600" dirty="0"/>
              <a:t> Tools like TFX and </a:t>
            </a:r>
            <a:r>
              <a:rPr lang="en-GB" sz="1600" dirty="0" err="1"/>
              <a:t>TensorBoard</a:t>
            </a:r>
            <a:r>
              <a:rPr lang="en-GB" sz="1600" dirty="0"/>
              <a:t> are invaluable for managing the entire ML lifecycle.</a:t>
            </a:r>
          </a:p>
          <a:p>
            <a:pPr marL="285750" indent="-285750">
              <a:buFont typeface="Wingdings" pitchFamily="2" charset="2"/>
              <a:buChar char="ü"/>
            </a:pPr>
            <a:r>
              <a:rPr lang="en-GB" sz="1600" b="1" dirty="0"/>
              <a:t>Strong Support for TPUs:</a:t>
            </a:r>
            <a:r>
              <a:rPr lang="en-GB" sz="1600" dirty="0"/>
              <a:t> TensorFlow is well-optimized for Google's TPUs, offering significant performance benefits for large-scale training.</a:t>
            </a:r>
          </a:p>
          <a:p>
            <a:pPr>
              <a:buNone/>
            </a:pPr>
            <a:r>
              <a:rPr lang="en-GB" sz="1600" b="1" dirty="0"/>
              <a:t>Weaknesses:</a:t>
            </a:r>
            <a:endParaRPr lang="en-GB" sz="1600" dirty="0"/>
          </a:p>
          <a:p>
            <a:pPr marL="285750" indent="-285750">
              <a:buFont typeface="Wingdings" pitchFamily="2" charset="2"/>
              <a:buChar char="Ø"/>
            </a:pPr>
            <a:r>
              <a:rPr lang="en-GB" sz="1600" b="1" dirty="0"/>
              <a:t>Steeper Learning Curve (Historically):</a:t>
            </a:r>
            <a:r>
              <a:rPr lang="en-GB" sz="1600" dirty="0"/>
              <a:t> The static graph approach in earlier versions could be challenging for beginners to grasp.</a:t>
            </a:r>
          </a:p>
          <a:p>
            <a:pPr marL="285750" indent="-285750">
              <a:buFont typeface="Wingdings" pitchFamily="2" charset="2"/>
              <a:buChar char="Ø"/>
            </a:pPr>
            <a:r>
              <a:rPr lang="en-GB" sz="1600" b="1" dirty="0"/>
              <a:t>Debugging Complexity (Historically):</a:t>
            </a:r>
            <a:r>
              <a:rPr lang="en-GB" sz="1600" dirty="0"/>
              <a:t> Debugging static graphs could sometimes be less intuitive than with eager execution.</a:t>
            </a:r>
          </a:p>
          <a:p>
            <a:pPr>
              <a:buNone/>
            </a:pPr>
            <a:br>
              <a:rPr lang="en-GB" sz="1600" dirty="0">
                <a:latin typeface="+mj-lt"/>
              </a:rPr>
            </a:br>
            <a:endParaRPr lang="en-GB" sz="1600" b="1" dirty="0">
              <a:latin typeface="+mj-lt"/>
            </a:endParaRPr>
          </a:p>
        </p:txBody>
      </p:sp>
    </p:spTree>
    <p:extLst>
      <p:ext uri="{BB962C8B-B14F-4D97-AF65-F5344CB8AC3E}">
        <p14:creationId xmlns:p14="http://schemas.microsoft.com/office/powerpoint/2010/main" val="3352310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E414B0D-F073-A6B5-B6BB-72837DEA928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237992B-5652-D224-4DE3-E343C52C66F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Core Concepts:</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226C410-0CE5-662F-DC60-4E156B28D76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A62B06C-BD92-45E5-4759-A3363AF5C0ED}"/>
              </a:ext>
            </a:extLst>
          </p:cNvPr>
          <p:cNvSpPr txBox="1"/>
          <p:nvPr/>
        </p:nvSpPr>
        <p:spPr>
          <a:xfrm>
            <a:off x="272090" y="572044"/>
            <a:ext cx="8778240" cy="584775"/>
          </a:xfrm>
          <a:prstGeom prst="rect">
            <a:avLst/>
          </a:prstGeom>
          <a:noFill/>
        </p:spPr>
        <p:txBody>
          <a:bodyPr wrap="square">
            <a:spAutoFit/>
          </a:bodyPr>
          <a:lstStyle/>
          <a:p>
            <a:pPr algn="l">
              <a:buNone/>
            </a:pPr>
            <a:br>
              <a:rPr lang="en-GB" sz="1600" dirty="0">
                <a:latin typeface="+mj-lt"/>
              </a:rPr>
            </a:br>
            <a:endParaRPr lang="en-GB" sz="1600" b="1" dirty="0">
              <a:latin typeface="+mj-lt"/>
            </a:endParaRPr>
          </a:p>
        </p:txBody>
      </p:sp>
      <p:graphicFrame>
        <p:nvGraphicFramePr>
          <p:cNvPr id="2" name="Table 1">
            <a:extLst>
              <a:ext uri="{FF2B5EF4-FFF2-40B4-BE49-F238E27FC236}">
                <a16:creationId xmlns:a16="http://schemas.microsoft.com/office/drawing/2014/main" id="{A4A40ADC-6369-2598-7EBA-56EC11C5FDCE}"/>
              </a:ext>
            </a:extLst>
          </p:cNvPr>
          <p:cNvGraphicFramePr>
            <a:graphicFrameLocks noGrp="1"/>
          </p:cNvGraphicFramePr>
          <p:nvPr>
            <p:extLst>
              <p:ext uri="{D42A27DB-BD31-4B8C-83A1-F6EECF244321}">
                <p14:modId xmlns:p14="http://schemas.microsoft.com/office/powerpoint/2010/main" val="4000152711"/>
              </p:ext>
            </p:extLst>
          </p:nvPr>
        </p:nvGraphicFramePr>
        <p:xfrm>
          <a:off x="491936" y="719459"/>
          <a:ext cx="7520792" cy="3860620"/>
        </p:xfrm>
        <a:graphic>
          <a:graphicData uri="http://schemas.openxmlformats.org/drawingml/2006/table">
            <a:tbl>
              <a:tblPr>
                <a:tableStyleId>{35758FB7-9AC5-4552-8A53-C91805E547FA}</a:tableStyleId>
              </a:tblPr>
              <a:tblGrid>
                <a:gridCol w="2570932">
                  <a:extLst>
                    <a:ext uri="{9D8B030D-6E8A-4147-A177-3AD203B41FA5}">
                      <a16:colId xmlns:a16="http://schemas.microsoft.com/office/drawing/2014/main" val="1140659445"/>
                    </a:ext>
                  </a:extLst>
                </a:gridCol>
                <a:gridCol w="4949860">
                  <a:extLst>
                    <a:ext uri="{9D8B030D-6E8A-4147-A177-3AD203B41FA5}">
                      <a16:colId xmlns:a16="http://schemas.microsoft.com/office/drawing/2014/main" val="4205429155"/>
                    </a:ext>
                  </a:extLst>
                </a:gridCol>
              </a:tblGrid>
              <a:tr h="269000">
                <a:tc>
                  <a:txBody>
                    <a:bodyPr/>
                    <a:lstStyle/>
                    <a:p>
                      <a:r>
                        <a:rPr lang="en-GB" sz="1600" b="1" dirty="0"/>
                        <a:t>Concept</a:t>
                      </a:r>
                    </a:p>
                  </a:txBody>
                  <a:tcPr marL="80700" marR="80700" marT="40350" marB="40350" anchor="ctr"/>
                </a:tc>
                <a:tc>
                  <a:txBody>
                    <a:bodyPr/>
                    <a:lstStyle/>
                    <a:p>
                      <a:r>
                        <a:rPr lang="en-GB" sz="1600" b="1" dirty="0"/>
                        <a:t>Explanation</a:t>
                      </a:r>
                    </a:p>
                  </a:txBody>
                  <a:tcPr marL="80700" marR="80700" marT="40350" marB="40350" anchor="ctr"/>
                </a:tc>
                <a:extLst>
                  <a:ext uri="{0D108BD9-81ED-4DB2-BD59-A6C34878D82A}">
                    <a16:rowId xmlns:a16="http://schemas.microsoft.com/office/drawing/2014/main" val="722684444"/>
                  </a:ext>
                </a:extLst>
              </a:tr>
              <a:tr h="833900">
                <a:tc>
                  <a:txBody>
                    <a:bodyPr/>
                    <a:lstStyle/>
                    <a:p>
                      <a:r>
                        <a:rPr lang="en-GB" sz="1600" b="1"/>
                        <a:t>Tensors</a:t>
                      </a:r>
                      <a:endParaRPr lang="en-GB" sz="1600"/>
                    </a:p>
                  </a:txBody>
                  <a:tcPr marL="80700" marR="80700" marT="40350" marB="40350" anchor="ctr"/>
                </a:tc>
                <a:tc>
                  <a:txBody>
                    <a:bodyPr/>
                    <a:lstStyle/>
                    <a:p>
                      <a:r>
                        <a:rPr lang="en-GB" sz="1600" b="0" dirty="0"/>
                        <a:t>Multidimensional arrays (like NumPy arrays) that are the basic data structure in TensorFlow. All input data and model parameters are represented as tensors.</a:t>
                      </a:r>
                    </a:p>
                  </a:txBody>
                  <a:tcPr marL="80700" marR="80700" marT="40350" marB="40350" anchor="ctr"/>
                </a:tc>
                <a:extLst>
                  <a:ext uri="{0D108BD9-81ED-4DB2-BD59-A6C34878D82A}">
                    <a16:rowId xmlns:a16="http://schemas.microsoft.com/office/drawing/2014/main" val="464020474"/>
                  </a:ext>
                </a:extLst>
              </a:tr>
              <a:tr h="833900">
                <a:tc>
                  <a:txBody>
                    <a:bodyPr/>
                    <a:lstStyle/>
                    <a:p>
                      <a:r>
                        <a:rPr lang="en-GB" sz="1600" b="1"/>
                        <a:t>Computational Graph</a:t>
                      </a:r>
                      <a:endParaRPr lang="en-GB" sz="1600"/>
                    </a:p>
                  </a:txBody>
                  <a:tcPr marL="80700" marR="80700" marT="40350" marB="40350" anchor="ctr"/>
                </a:tc>
                <a:tc>
                  <a:txBody>
                    <a:bodyPr/>
                    <a:lstStyle/>
                    <a:p>
                      <a:r>
                        <a:rPr lang="en-GB" sz="1600" b="0"/>
                        <a:t>A model is defined as a graph of operations (nodes) where each node represents a mathematical computation. This graph can then be executed efficiently on different hardware.</a:t>
                      </a:r>
                    </a:p>
                  </a:txBody>
                  <a:tcPr marL="80700" marR="80700" marT="40350" marB="40350" anchor="ctr"/>
                </a:tc>
                <a:extLst>
                  <a:ext uri="{0D108BD9-81ED-4DB2-BD59-A6C34878D82A}">
                    <a16:rowId xmlns:a16="http://schemas.microsoft.com/office/drawing/2014/main" val="3682368124"/>
                  </a:ext>
                </a:extLst>
              </a:tr>
              <a:tr h="645600">
                <a:tc>
                  <a:txBody>
                    <a:bodyPr/>
                    <a:lstStyle/>
                    <a:p>
                      <a:r>
                        <a:rPr lang="en-GB" sz="1600" b="1"/>
                        <a:t>Sessions</a:t>
                      </a:r>
                      <a:r>
                        <a:rPr lang="en-GB" sz="1600"/>
                        <a:t> (TF 1.x)</a:t>
                      </a:r>
                    </a:p>
                  </a:txBody>
                  <a:tcPr marL="80700" marR="80700" marT="40350" marB="40350" anchor="ctr"/>
                </a:tc>
                <a:tc>
                  <a:txBody>
                    <a:bodyPr/>
                    <a:lstStyle/>
                    <a:p>
                      <a:r>
                        <a:rPr lang="en-GB" sz="1600" b="0" dirty="0"/>
                        <a:t>A Session was used to execute the computational graph. You first define the graph, then run it in a session.</a:t>
                      </a:r>
                    </a:p>
                  </a:txBody>
                  <a:tcPr marL="80700" marR="80700" marT="40350" marB="40350" anchor="ctr"/>
                </a:tc>
                <a:extLst>
                  <a:ext uri="{0D108BD9-81ED-4DB2-BD59-A6C34878D82A}">
                    <a16:rowId xmlns:a16="http://schemas.microsoft.com/office/drawing/2014/main" val="3120417787"/>
                  </a:ext>
                </a:extLst>
              </a:tr>
              <a:tr h="833900">
                <a:tc>
                  <a:txBody>
                    <a:bodyPr/>
                    <a:lstStyle/>
                    <a:p>
                      <a:r>
                        <a:rPr lang="en-GB" sz="1600" b="1"/>
                        <a:t>Eager Execution</a:t>
                      </a:r>
                      <a:r>
                        <a:rPr lang="en-GB" sz="1600"/>
                        <a:t> (TF 2.x)</a:t>
                      </a:r>
                    </a:p>
                  </a:txBody>
                  <a:tcPr marL="80700" marR="80700" marT="40350" marB="40350" anchor="ctr"/>
                </a:tc>
                <a:tc>
                  <a:txBody>
                    <a:bodyPr/>
                    <a:lstStyle/>
                    <a:p>
                      <a:r>
                        <a:rPr lang="en-GB" sz="1600" dirty="0"/>
                        <a:t>Now the default in TensorFlow 2.x  allows operations to run immediately (like regular Python code), making development and debugging much easier.</a:t>
                      </a:r>
                    </a:p>
                  </a:txBody>
                  <a:tcPr marL="80700" marR="80700" marT="40350" marB="40350" anchor="ctr"/>
                </a:tc>
                <a:extLst>
                  <a:ext uri="{0D108BD9-81ED-4DB2-BD59-A6C34878D82A}">
                    <a16:rowId xmlns:a16="http://schemas.microsoft.com/office/drawing/2014/main" val="1919437575"/>
                  </a:ext>
                </a:extLst>
              </a:tr>
            </a:tbl>
          </a:graphicData>
        </a:graphic>
      </p:graphicFrame>
    </p:spTree>
    <p:extLst>
      <p:ext uri="{BB962C8B-B14F-4D97-AF65-F5344CB8AC3E}">
        <p14:creationId xmlns:p14="http://schemas.microsoft.com/office/powerpoint/2010/main" val="2981802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122FECB-6130-4CF7-3B9C-F286CD09AAE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A95CE3F-1B5A-1582-0C74-3A5B2812CE8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Introduction to </a:t>
            </a:r>
            <a:r>
              <a:rPr lang="en-GB" sz="3200" b="1" dirty="0" err="1"/>
              <a:t>PyTorch</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F49C288-5DEF-AE89-F474-203A781339A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D0D03C1-658F-6DA7-4C19-F8753F79AE8A}"/>
              </a:ext>
            </a:extLst>
          </p:cNvPr>
          <p:cNvSpPr txBox="1"/>
          <p:nvPr/>
        </p:nvSpPr>
        <p:spPr>
          <a:xfrm>
            <a:off x="341079" y="575064"/>
            <a:ext cx="6780833" cy="4031873"/>
          </a:xfrm>
          <a:prstGeom prst="rect">
            <a:avLst/>
          </a:prstGeom>
          <a:noFill/>
        </p:spPr>
        <p:txBody>
          <a:bodyPr wrap="square">
            <a:spAutoFit/>
          </a:bodyPr>
          <a:lstStyle/>
          <a:p>
            <a:pPr>
              <a:buNone/>
            </a:pPr>
            <a:r>
              <a:rPr lang="en-GB" sz="1600" b="1" dirty="0"/>
              <a:t>What is </a:t>
            </a:r>
            <a:r>
              <a:rPr lang="en-GB" sz="1600" b="1" dirty="0" err="1"/>
              <a:t>PyTorch</a:t>
            </a:r>
            <a:r>
              <a:rPr lang="en-GB" sz="1600" b="1" dirty="0"/>
              <a:t>?</a:t>
            </a:r>
          </a:p>
          <a:p>
            <a:pPr>
              <a:buNone/>
            </a:pPr>
            <a:r>
              <a:rPr lang="en-GB" sz="1600" dirty="0" err="1"/>
              <a:t>PyTorch</a:t>
            </a:r>
            <a:r>
              <a:rPr lang="en-GB" sz="1600" dirty="0"/>
              <a:t> is an open-source deep learning framework developed by Meta AI (Facebook). It is designed to be flexible, intuitive, and Pythonic, making it especially popular in research and academia.</a:t>
            </a:r>
          </a:p>
          <a:p>
            <a:pPr>
              <a:buNone/>
            </a:pPr>
            <a:r>
              <a:rPr lang="en-GB" sz="1600" b="1" dirty="0"/>
              <a:t>Primary Language:</a:t>
            </a:r>
            <a:r>
              <a:rPr lang="en-GB" sz="1600" dirty="0"/>
              <a:t> Python, with C++ for performance-critical operations.</a:t>
            </a:r>
          </a:p>
          <a:p>
            <a:pPr>
              <a:buNone/>
            </a:pPr>
            <a:r>
              <a:rPr lang="en-GB" sz="1600" b="1" dirty="0"/>
              <a:t>Key Features and Concepts:</a:t>
            </a:r>
            <a:endParaRPr lang="en-GB" sz="1600" dirty="0"/>
          </a:p>
          <a:p>
            <a:pPr marL="285750" indent="-285750">
              <a:buFont typeface="Wingdings" pitchFamily="2" charset="2"/>
              <a:buChar char="ü"/>
            </a:pPr>
            <a:r>
              <a:rPr lang="en-GB" sz="1600" b="1" dirty="0"/>
              <a:t>Dynamic Computational Graphs:</a:t>
            </a:r>
            <a:r>
              <a:rPr lang="en-GB" sz="1600" dirty="0"/>
              <a:t> </a:t>
            </a:r>
            <a:r>
              <a:rPr lang="en-GB" sz="1600" dirty="0" err="1"/>
              <a:t>PyTorch</a:t>
            </a:r>
            <a:r>
              <a:rPr lang="en-GB" sz="1600" dirty="0"/>
              <a:t> builds computational graphs on the fly as operations are executed. This "define-by-run" approach offers greater flexibility and makes debugging more intuitive, as you can inspect intermediate values easily.</a:t>
            </a:r>
          </a:p>
          <a:p>
            <a:pPr marL="285750" indent="-285750">
              <a:buFont typeface="Wingdings" pitchFamily="2" charset="2"/>
              <a:buChar char="ü"/>
            </a:pPr>
            <a:r>
              <a:rPr lang="en-GB" sz="1600" b="1" dirty="0"/>
              <a:t>Pythonic and Intuitive:</a:t>
            </a:r>
            <a:r>
              <a:rPr lang="en-GB" sz="1600" dirty="0"/>
              <a:t> </a:t>
            </a:r>
            <a:r>
              <a:rPr lang="en-GB" sz="1600" dirty="0" err="1"/>
              <a:t>PyTorch</a:t>
            </a:r>
            <a:r>
              <a:rPr lang="en-GB" sz="1600" dirty="0"/>
              <a:t> is known for its Python-friendly API, which feels very natural for Python developers. Its syntax is often considered more straightforward and easier to learn than earlier versions of TensorFlow.</a:t>
            </a:r>
          </a:p>
          <a:p>
            <a:pPr algn="l">
              <a:buNone/>
            </a:pPr>
            <a:endParaRPr lang="en-GB" sz="1600" b="1" dirty="0">
              <a:latin typeface="+mj-lt"/>
            </a:endParaRPr>
          </a:p>
        </p:txBody>
      </p:sp>
    </p:spTree>
    <p:extLst>
      <p:ext uri="{BB962C8B-B14F-4D97-AF65-F5344CB8AC3E}">
        <p14:creationId xmlns:p14="http://schemas.microsoft.com/office/powerpoint/2010/main" val="3808305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EE06FAB-AA52-6E19-88E2-45371313FFD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5EF3DBD-5B1C-EF7A-FCF4-533972E1DD39}"/>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Introduction to </a:t>
            </a:r>
            <a:r>
              <a:rPr lang="en-GB" sz="3200" b="1" dirty="0" err="1"/>
              <a:t>PyTorch</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7822E73-642C-BF39-CBD5-37FAFA7F020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46D9015-8CF2-CDAE-21C7-38B6C628C113}"/>
              </a:ext>
            </a:extLst>
          </p:cNvPr>
          <p:cNvSpPr txBox="1"/>
          <p:nvPr/>
        </p:nvSpPr>
        <p:spPr>
          <a:xfrm>
            <a:off x="341079" y="575064"/>
            <a:ext cx="6780833" cy="3293209"/>
          </a:xfrm>
          <a:prstGeom prst="rect">
            <a:avLst/>
          </a:prstGeom>
          <a:noFill/>
        </p:spPr>
        <p:txBody>
          <a:bodyPr wrap="square">
            <a:spAutoFit/>
          </a:bodyPr>
          <a:lstStyle/>
          <a:p>
            <a:pPr marL="342900" indent="-342900">
              <a:buFont typeface="Wingdings" pitchFamily="2" charset="2"/>
              <a:buChar char="ü"/>
            </a:pPr>
            <a:r>
              <a:rPr lang="en-GB" sz="1600" b="1" dirty="0"/>
              <a:t>Strong GPU Acceleration:</a:t>
            </a:r>
            <a:r>
              <a:rPr lang="en-GB" sz="1600" dirty="0"/>
              <a:t> </a:t>
            </a:r>
            <a:r>
              <a:rPr lang="en-GB" sz="1600" dirty="0" err="1"/>
              <a:t>PyTorch</a:t>
            </a:r>
            <a:r>
              <a:rPr lang="en-GB" sz="1600" dirty="0"/>
              <a:t> has excellent support for NVIDIA GPUs, making it efficient for training deep learning models.</a:t>
            </a:r>
          </a:p>
          <a:p>
            <a:pPr marL="342900" indent="-342900">
              <a:buFont typeface="Wingdings" pitchFamily="2" charset="2"/>
              <a:buChar char="ü"/>
            </a:pPr>
            <a:r>
              <a:rPr lang="en-GB" sz="1600" b="1" dirty="0"/>
              <a:t>Large Ecosystem and Growing Community:</a:t>
            </a:r>
            <a:r>
              <a:rPr lang="en-GB" sz="1600" dirty="0"/>
              <a:t> </a:t>
            </a:r>
            <a:r>
              <a:rPr lang="en-GB" sz="1600" dirty="0" err="1"/>
              <a:t>PyTorch</a:t>
            </a:r>
            <a:r>
              <a:rPr lang="en-GB" sz="1600" dirty="0"/>
              <a:t> has a rapidly growing and active community, with a wealth of tutorials, libraries (like </a:t>
            </a:r>
            <a:r>
              <a:rPr lang="en-GB" sz="1600" dirty="0" err="1"/>
              <a:t>PyTorch</a:t>
            </a:r>
            <a:r>
              <a:rPr lang="en-GB" sz="1600" dirty="0"/>
              <a:t> Lightning and Hugging Face Transformers), and research implementations.</a:t>
            </a:r>
          </a:p>
          <a:p>
            <a:pPr marL="342900" indent="-342900">
              <a:buFont typeface="Wingdings" pitchFamily="2" charset="2"/>
              <a:buChar char="ü"/>
            </a:pPr>
            <a:r>
              <a:rPr lang="en-GB" sz="1600" b="1" dirty="0"/>
              <a:t>Focus on Research and Flexibility:</a:t>
            </a:r>
            <a:r>
              <a:rPr lang="en-GB" sz="1600" dirty="0"/>
              <a:t> </a:t>
            </a:r>
            <a:r>
              <a:rPr lang="en-GB" sz="1600" dirty="0" err="1"/>
              <a:t>PyTorch</a:t>
            </a:r>
            <a:r>
              <a:rPr lang="en-GB" sz="1600" dirty="0"/>
              <a:t> is widely adopted in the research community due to its flexibility and ease of experimentation.</a:t>
            </a:r>
          </a:p>
          <a:p>
            <a:pPr marL="342900" indent="-342900">
              <a:buFont typeface="Wingdings" pitchFamily="2" charset="2"/>
              <a:buChar char="ü"/>
            </a:pPr>
            <a:r>
              <a:rPr lang="en-GB" sz="1600" b="1" dirty="0" err="1"/>
              <a:t>TorchScript</a:t>
            </a:r>
            <a:r>
              <a:rPr lang="en-GB" sz="1600" b="1" dirty="0"/>
              <a:t>:</a:t>
            </a:r>
            <a:r>
              <a:rPr lang="en-GB" sz="1600" dirty="0"/>
              <a:t> Allows you to serialize </a:t>
            </a:r>
            <a:r>
              <a:rPr lang="en-GB" sz="1600" dirty="0" err="1"/>
              <a:t>PyTorch</a:t>
            </a:r>
            <a:r>
              <a:rPr lang="en-GB" sz="1600" dirty="0"/>
              <a:t> models and run them in production environments, often without the Python dependency, bridging the gap between research and deployment.</a:t>
            </a:r>
          </a:p>
          <a:p>
            <a:pPr algn="l">
              <a:buNone/>
            </a:pPr>
            <a:endParaRPr lang="en-GB" sz="1600" b="1" dirty="0">
              <a:latin typeface="+mj-lt"/>
            </a:endParaRPr>
          </a:p>
        </p:txBody>
      </p:sp>
    </p:spTree>
    <p:extLst>
      <p:ext uri="{BB962C8B-B14F-4D97-AF65-F5344CB8AC3E}">
        <p14:creationId xmlns:p14="http://schemas.microsoft.com/office/powerpoint/2010/main" val="2558525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157E83F-4985-2B00-445F-19A443EAA08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1A688E-84F1-9657-39D6-137935207F0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Strength &amp; Weakness of </a:t>
            </a:r>
            <a:r>
              <a:rPr lang="en-GB" sz="3200" b="1" dirty="0"/>
              <a:t> </a:t>
            </a:r>
            <a:r>
              <a:rPr lang="en-GB" sz="3200" b="1" dirty="0" err="1"/>
              <a:t>PyTorch</a:t>
            </a: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4D195226-2AC1-6F3D-21A1-93E842FFF92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CE2B499-09C6-85EA-7D71-30E9BA605946}"/>
              </a:ext>
            </a:extLst>
          </p:cNvPr>
          <p:cNvSpPr txBox="1"/>
          <p:nvPr/>
        </p:nvSpPr>
        <p:spPr>
          <a:xfrm>
            <a:off x="341079" y="575064"/>
            <a:ext cx="7353262" cy="4524315"/>
          </a:xfrm>
          <a:prstGeom prst="rect">
            <a:avLst/>
          </a:prstGeom>
          <a:noFill/>
        </p:spPr>
        <p:txBody>
          <a:bodyPr wrap="square">
            <a:spAutoFit/>
          </a:bodyPr>
          <a:lstStyle/>
          <a:p>
            <a:pPr>
              <a:buNone/>
            </a:pPr>
            <a:r>
              <a:rPr lang="en-GB" sz="1600" b="1" dirty="0"/>
              <a:t>Strengths:</a:t>
            </a:r>
            <a:endParaRPr lang="en-GB" sz="1600" dirty="0"/>
          </a:p>
          <a:p>
            <a:pPr marL="285750" indent="-285750">
              <a:buFont typeface="Wingdings" pitchFamily="2" charset="2"/>
              <a:buChar char="ü"/>
            </a:pPr>
            <a:r>
              <a:rPr lang="en-GB" sz="1600" b="1" dirty="0"/>
              <a:t>Ease of Use and Learning:</a:t>
            </a:r>
            <a:r>
              <a:rPr lang="en-GB" sz="1600" dirty="0"/>
              <a:t> Its Pythonic nature and dynamic graphs make it generally easier for beginners and researchers to pick up.</a:t>
            </a:r>
          </a:p>
          <a:p>
            <a:pPr marL="285750" indent="-285750">
              <a:buFont typeface="Wingdings" pitchFamily="2" charset="2"/>
              <a:buChar char="ü"/>
            </a:pPr>
            <a:r>
              <a:rPr lang="en-GB" sz="1600" b="1" dirty="0"/>
              <a:t>Excellent for Research and Experimentation:</a:t>
            </a:r>
            <a:r>
              <a:rPr lang="en-GB" sz="1600" dirty="0"/>
              <a:t> The flexibility of dynamic graphs facilitates rapid prototyping and exploration of new model architectures.</a:t>
            </a:r>
          </a:p>
          <a:p>
            <a:pPr marL="285750" indent="-285750">
              <a:buFont typeface="Wingdings" pitchFamily="2" charset="2"/>
              <a:buChar char="ü"/>
            </a:pPr>
            <a:r>
              <a:rPr lang="en-GB" sz="1600" b="1" dirty="0"/>
              <a:t>Strong GPU Performance:</a:t>
            </a:r>
            <a:r>
              <a:rPr lang="en-GB" sz="1600" dirty="0"/>
              <a:t> </a:t>
            </a:r>
            <a:r>
              <a:rPr lang="en-GB" sz="1600" dirty="0" err="1"/>
              <a:t>PyTorch</a:t>
            </a:r>
            <a:r>
              <a:rPr lang="en-GB" sz="1600" dirty="0"/>
              <a:t> is highly optimized for GPU acceleration.</a:t>
            </a:r>
          </a:p>
          <a:p>
            <a:pPr marL="285750" indent="-285750">
              <a:buFont typeface="Wingdings" pitchFamily="2" charset="2"/>
              <a:buChar char="ü"/>
            </a:pPr>
            <a:r>
              <a:rPr lang="en-GB" sz="1600" b="1" dirty="0"/>
              <a:t>Growing Community and Ecosystem:</a:t>
            </a:r>
            <a:r>
              <a:rPr lang="en-GB" sz="1600" dirty="0"/>
              <a:t> The </a:t>
            </a:r>
            <a:r>
              <a:rPr lang="en-GB" sz="1600" dirty="0" err="1"/>
              <a:t>PyTorch</a:t>
            </a:r>
            <a:r>
              <a:rPr lang="en-GB" sz="1600" dirty="0"/>
              <a:t> ecosystem is vibrant and expanding rapidly.</a:t>
            </a:r>
          </a:p>
          <a:p>
            <a:pPr>
              <a:buNone/>
            </a:pPr>
            <a:r>
              <a:rPr lang="en-GB" sz="1600" b="1" dirty="0"/>
              <a:t>Weaknesses:</a:t>
            </a:r>
            <a:endParaRPr lang="en-GB" sz="1600" dirty="0"/>
          </a:p>
          <a:p>
            <a:pPr marL="285750" indent="-285750">
              <a:buFont typeface="Wingdings" pitchFamily="2" charset="2"/>
              <a:buChar char="Ø"/>
            </a:pPr>
            <a:r>
              <a:rPr lang="en-GB" sz="1600" b="1" dirty="0"/>
              <a:t>Production Deployment (Historically):</a:t>
            </a:r>
            <a:r>
              <a:rPr lang="en-GB" sz="1600" dirty="0"/>
              <a:t> While </a:t>
            </a:r>
            <a:r>
              <a:rPr lang="en-GB" sz="1600" dirty="0" err="1"/>
              <a:t>PyTorch</a:t>
            </a:r>
            <a:r>
              <a:rPr lang="en-GB" sz="1600" dirty="0"/>
              <a:t> has made significant strides with </a:t>
            </a:r>
            <a:r>
              <a:rPr lang="en-GB" sz="1600" dirty="0" err="1"/>
              <a:t>TorchScript</a:t>
            </a:r>
            <a:r>
              <a:rPr lang="en-GB" sz="1600" dirty="0"/>
              <a:t> and integration with cloud platforms, it was historically perceived as less mature for large-scale production deployment compared to TensorFlow. This gap is narrowing.</a:t>
            </a:r>
          </a:p>
          <a:p>
            <a:pPr marL="285750" indent="-285750">
              <a:buFont typeface="Wingdings" pitchFamily="2" charset="2"/>
              <a:buChar char="Ø"/>
            </a:pPr>
            <a:r>
              <a:rPr lang="en-GB" sz="1600" b="1" dirty="0"/>
              <a:t>TPU Support (Historically):</a:t>
            </a:r>
            <a:r>
              <a:rPr lang="en-GB" sz="1600" dirty="0"/>
              <a:t> While support for TPUs exists, it has traditionally been less mature than in TensorFlow.</a:t>
            </a:r>
          </a:p>
          <a:p>
            <a:pPr algn="l">
              <a:buNone/>
            </a:pPr>
            <a:endParaRPr lang="en-GB" sz="1600" b="1" dirty="0">
              <a:latin typeface="+mj-lt"/>
            </a:endParaRPr>
          </a:p>
        </p:txBody>
      </p:sp>
    </p:spTree>
    <p:extLst>
      <p:ext uri="{BB962C8B-B14F-4D97-AF65-F5344CB8AC3E}">
        <p14:creationId xmlns:p14="http://schemas.microsoft.com/office/powerpoint/2010/main" val="915313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FB73C57-71D7-DB2C-C67C-BDC92827CB5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8AC77D1-4899-4A25-BC96-71902B1608F5}"/>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Key Features of </a:t>
            </a:r>
            <a:r>
              <a:rPr lang="en-GB" sz="3200" b="1" i="0" u="none" strike="noStrike" dirty="0" err="1">
                <a:solidFill>
                  <a:srgbClr val="7030A0"/>
                </a:solidFill>
                <a:effectLst/>
                <a:latin typeface="Inter" panose="02000503000000020004" pitchFamily="2" charset="0"/>
              </a:rPr>
              <a:t>PyTorch</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1A7BF3D-9C75-9C3D-FB70-DFC043042E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10E8206-3CEF-B2A8-B1A0-5DDF4CACEC20}"/>
              </a:ext>
            </a:extLst>
          </p:cNvPr>
          <p:cNvSpPr txBox="1"/>
          <p:nvPr/>
        </p:nvSpPr>
        <p:spPr>
          <a:xfrm>
            <a:off x="407175" y="737108"/>
            <a:ext cx="8778240" cy="646331"/>
          </a:xfrm>
          <a:prstGeom prst="rect">
            <a:avLst/>
          </a:prstGeom>
          <a:noFill/>
        </p:spPr>
        <p:txBody>
          <a:bodyPr wrap="square">
            <a:spAutoFit/>
          </a:bodyPr>
          <a:lstStyle/>
          <a:p>
            <a:pPr algn="l"/>
            <a:endParaRPr lang="en-GB" sz="2000" b="1" i="0" u="none" strike="noStrike" dirty="0">
              <a:solidFill>
                <a:srgbClr val="404040"/>
              </a:solidFill>
              <a:effectLst/>
              <a:latin typeface="Inter" panose="02000503000000020004" pitchFamily="2" charset="0"/>
            </a:endParaRPr>
          </a:p>
          <a:p>
            <a:pPr algn="l"/>
            <a:endParaRPr lang="en-GB" sz="1600" i="0" u="none" strike="noStrike" dirty="0">
              <a:solidFill>
                <a:srgbClr val="000000"/>
              </a:solidFill>
              <a:effectLst/>
            </a:endParaRPr>
          </a:p>
        </p:txBody>
      </p:sp>
      <p:graphicFrame>
        <p:nvGraphicFramePr>
          <p:cNvPr id="2" name="Table 1">
            <a:extLst>
              <a:ext uri="{FF2B5EF4-FFF2-40B4-BE49-F238E27FC236}">
                <a16:creationId xmlns:a16="http://schemas.microsoft.com/office/drawing/2014/main" id="{FB68DE1B-2224-4F52-2119-3B72867940C5}"/>
              </a:ext>
            </a:extLst>
          </p:cNvPr>
          <p:cNvGraphicFramePr>
            <a:graphicFrameLocks noGrp="1"/>
          </p:cNvGraphicFramePr>
          <p:nvPr>
            <p:extLst>
              <p:ext uri="{D42A27DB-BD31-4B8C-83A1-F6EECF244321}">
                <p14:modId xmlns:p14="http://schemas.microsoft.com/office/powerpoint/2010/main" val="210193096"/>
              </p:ext>
            </p:extLst>
          </p:nvPr>
        </p:nvGraphicFramePr>
        <p:xfrm>
          <a:off x="311150" y="911590"/>
          <a:ext cx="8521700" cy="2743200"/>
        </p:xfrm>
        <a:graphic>
          <a:graphicData uri="http://schemas.openxmlformats.org/drawingml/2006/table">
            <a:tbl>
              <a:tblPr>
                <a:tableStyleId>{35758FB7-9AC5-4552-8A53-C91805E547FA}</a:tableStyleId>
              </a:tblPr>
              <a:tblGrid>
                <a:gridCol w="2119816">
                  <a:extLst>
                    <a:ext uri="{9D8B030D-6E8A-4147-A177-3AD203B41FA5}">
                      <a16:colId xmlns:a16="http://schemas.microsoft.com/office/drawing/2014/main" val="2602683520"/>
                    </a:ext>
                  </a:extLst>
                </a:gridCol>
                <a:gridCol w="6401884">
                  <a:extLst>
                    <a:ext uri="{9D8B030D-6E8A-4147-A177-3AD203B41FA5}">
                      <a16:colId xmlns:a16="http://schemas.microsoft.com/office/drawing/2014/main" val="2666600619"/>
                    </a:ext>
                  </a:extLst>
                </a:gridCol>
              </a:tblGrid>
              <a:tr h="0">
                <a:tc>
                  <a:txBody>
                    <a:bodyPr/>
                    <a:lstStyle/>
                    <a:p>
                      <a:r>
                        <a:rPr lang="en-GB" sz="1600" b="1" dirty="0"/>
                        <a:t>Feature</a:t>
                      </a:r>
                    </a:p>
                  </a:txBody>
                  <a:tcPr anchor="ctr"/>
                </a:tc>
                <a:tc>
                  <a:txBody>
                    <a:bodyPr/>
                    <a:lstStyle/>
                    <a:p>
                      <a:r>
                        <a:rPr lang="en-GB" sz="1600" b="1" dirty="0"/>
                        <a:t>Description</a:t>
                      </a:r>
                    </a:p>
                  </a:txBody>
                  <a:tcPr anchor="ctr"/>
                </a:tc>
                <a:extLst>
                  <a:ext uri="{0D108BD9-81ED-4DB2-BD59-A6C34878D82A}">
                    <a16:rowId xmlns:a16="http://schemas.microsoft.com/office/drawing/2014/main" val="507545198"/>
                  </a:ext>
                </a:extLst>
              </a:tr>
              <a:tr h="0">
                <a:tc>
                  <a:txBody>
                    <a:bodyPr/>
                    <a:lstStyle/>
                    <a:p>
                      <a:r>
                        <a:rPr lang="en-GB" sz="1600" b="1" dirty="0"/>
                        <a:t>Tensors</a:t>
                      </a:r>
                      <a:endParaRPr lang="en-GB" sz="1600" dirty="0"/>
                    </a:p>
                  </a:txBody>
                  <a:tcPr anchor="ctr"/>
                </a:tc>
                <a:tc>
                  <a:txBody>
                    <a:bodyPr/>
                    <a:lstStyle/>
                    <a:p>
                      <a:r>
                        <a:rPr lang="en-GB" sz="1600" b="0"/>
                        <a:t>Core data structure (like NumPy arrays but with GPU support)</a:t>
                      </a:r>
                    </a:p>
                  </a:txBody>
                  <a:tcPr anchor="ctr"/>
                </a:tc>
                <a:extLst>
                  <a:ext uri="{0D108BD9-81ED-4DB2-BD59-A6C34878D82A}">
                    <a16:rowId xmlns:a16="http://schemas.microsoft.com/office/drawing/2014/main" val="3480804393"/>
                  </a:ext>
                </a:extLst>
              </a:tr>
              <a:tr h="0">
                <a:tc>
                  <a:txBody>
                    <a:bodyPr/>
                    <a:lstStyle/>
                    <a:p>
                      <a:r>
                        <a:rPr lang="en-GB" sz="1600" b="1"/>
                        <a:t>Autograd</a:t>
                      </a:r>
                      <a:endParaRPr lang="en-GB" sz="1600"/>
                    </a:p>
                  </a:txBody>
                  <a:tcPr anchor="ctr"/>
                </a:tc>
                <a:tc>
                  <a:txBody>
                    <a:bodyPr/>
                    <a:lstStyle/>
                    <a:p>
                      <a:r>
                        <a:rPr lang="en-GB" sz="1600" b="0"/>
                        <a:t>Automatically computes gradients for training neural networks using backpropagation</a:t>
                      </a:r>
                    </a:p>
                  </a:txBody>
                  <a:tcPr anchor="ctr"/>
                </a:tc>
                <a:extLst>
                  <a:ext uri="{0D108BD9-81ED-4DB2-BD59-A6C34878D82A}">
                    <a16:rowId xmlns:a16="http://schemas.microsoft.com/office/drawing/2014/main" val="2038347893"/>
                  </a:ext>
                </a:extLst>
              </a:tr>
              <a:tr h="0">
                <a:tc>
                  <a:txBody>
                    <a:bodyPr/>
                    <a:lstStyle/>
                    <a:p>
                      <a:r>
                        <a:rPr lang="en-GB" sz="1600" b="1" dirty="0"/>
                        <a:t>Modules</a:t>
                      </a:r>
                      <a:endParaRPr lang="en-GB" sz="1600" dirty="0"/>
                    </a:p>
                  </a:txBody>
                  <a:tcPr anchor="ctr"/>
                </a:tc>
                <a:tc>
                  <a:txBody>
                    <a:bodyPr/>
                    <a:lstStyle/>
                    <a:p>
                      <a:r>
                        <a:rPr lang="en-GB" sz="1600" b="0"/>
                        <a:t>Everything in PyTorch is an object-oriented module; models can be built by extending nn.Module</a:t>
                      </a:r>
                    </a:p>
                  </a:txBody>
                  <a:tcPr anchor="ctr"/>
                </a:tc>
                <a:extLst>
                  <a:ext uri="{0D108BD9-81ED-4DB2-BD59-A6C34878D82A}">
                    <a16:rowId xmlns:a16="http://schemas.microsoft.com/office/drawing/2014/main" val="2460490037"/>
                  </a:ext>
                </a:extLst>
              </a:tr>
              <a:tr h="0">
                <a:tc>
                  <a:txBody>
                    <a:bodyPr/>
                    <a:lstStyle/>
                    <a:p>
                      <a:r>
                        <a:rPr lang="en-GB" sz="1600" b="1"/>
                        <a:t>Sequential Models</a:t>
                      </a:r>
                      <a:endParaRPr lang="en-GB" sz="1600"/>
                    </a:p>
                  </a:txBody>
                  <a:tcPr anchor="ctr"/>
                </a:tc>
                <a:tc>
                  <a:txBody>
                    <a:bodyPr/>
                    <a:lstStyle/>
                    <a:p>
                      <a:r>
                        <a:rPr lang="en-GB" sz="1600" b="0"/>
                        <a:t>Easy way to stack layers in order using nn.Sequential</a:t>
                      </a:r>
                    </a:p>
                  </a:txBody>
                  <a:tcPr anchor="ctr"/>
                </a:tc>
                <a:extLst>
                  <a:ext uri="{0D108BD9-81ED-4DB2-BD59-A6C34878D82A}">
                    <a16:rowId xmlns:a16="http://schemas.microsoft.com/office/drawing/2014/main" val="1001880807"/>
                  </a:ext>
                </a:extLst>
              </a:tr>
              <a:tr h="0">
                <a:tc>
                  <a:txBody>
                    <a:bodyPr/>
                    <a:lstStyle/>
                    <a:p>
                      <a:r>
                        <a:rPr lang="en-GB" sz="1600" b="1"/>
                        <a:t>DataLoader</a:t>
                      </a:r>
                      <a:endParaRPr lang="en-GB" sz="1600"/>
                    </a:p>
                  </a:txBody>
                  <a:tcPr anchor="ctr"/>
                </a:tc>
                <a:tc>
                  <a:txBody>
                    <a:bodyPr/>
                    <a:lstStyle/>
                    <a:p>
                      <a:r>
                        <a:rPr lang="en-GB" sz="1600" b="0" dirty="0"/>
                        <a:t>Built-in tool for efficiently loading, shuffling, and batching data for training/testing</a:t>
                      </a:r>
                    </a:p>
                  </a:txBody>
                  <a:tcPr anchor="ctr"/>
                </a:tc>
                <a:extLst>
                  <a:ext uri="{0D108BD9-81ED-4DB2-BD59-A6C34878D82A}">
                    <a16:rowId xmlns:a16="http://schemas.microsoft.com/office/drawing/2014/main" val="3842600654"/>
                  </a:ext>
                </a:extLst>
              </a:tr>
            </a:tbl>
          </a:graphicData>
        </a:graphic>
      </p:graphicFrame>
      <p:sp>
        <p:nvSpPr>
          <p:cNvPr id="7" name="TextBox 6">
            <a:extLst>
              <a:ext uri="{FF2B5EF4-FFF2-40B4-BE49-F238E27FC236}">
                <a16:creationId xmlns:a16="http://schemas.microsoft.com/office/drawing/2014/main" id="{DD5BC016-3742-B495-CE5B-FBA9C03D56DF}"/>
              </a:ext>
            </a:extLst>
          </p:cNvPr>
          <p:cNvSpPr txBox="1"/>
          <p:nvPr/>
        </p:nvSpPr>
        <p:spPr>
          <a:xfrm>
            <a:off x="124211" y="3756766"/>
            <a:ext cx="8774461" cy="1077218"/>
          </a:xfrm>
          <a:prstGeom prst="rect">
            <a:avLst/>
          </a:prstGeom>
          <a:noFill/>
        </p:spPr>
        <p:txBody>
          <a:bodyPr wrap="square">
            <a:spAutoFit/>
          </a:bodyPr>
          <a:lstStyle/>
          <a:p>
            <a:pPr>
              <a:buNone/>
            </a:pPr>
            <a:r>
              <a:rPr lang="en-GB" sz="1600" b="1" dirty="0"/>
              <a:t>Where is </a:t>
            </a:r>
            <a:r>
              <a:rPr lang="en-GB" sz="1600" b="1" dirty="0" err="1"/>
              <a:t>PyTorch</a:t>
            </a:r>
            <a:r>
              <a:rPr lang="en-GB" sz="1600" b="1" dirty="0"/>
              <a:t> Used?</a:t>
            </a:r>
          </a:p>
          <a:p>
            <a:pPr>
              <a:buNone/>
            </a:pPr>
            <a:endParaRPr lang="en-GB" sz="1600" b="1" dirty="0"/>
          </a:p>
          <a:p>
            <a:r>
              <a:rPr lang="en-GB" sz="1600" b="1" dirty="0"/>
              <a:t>Academia &amp; Research:</a:t>
            </a:r>
            <a:r>
              <a:rPr lang="en-GB" sz="1600" dirty="0"/>
              <a:t> Due to its flexibility and ease of use.</a:t>
            </a:r>
          </a:p>
          <a:p>
            <a:r>
              <a:rPr lang="en-GB" sz="1600" b="1" dirty="0"/>
              <a:t>Industry:</a:t>
            </a:r>
            <a:r>
              <a:rPr lang="en-GB" sz="1600" dirty="0"/>
              <a:t> Now also used in production environments (with tools like </a:t>
            </a:r>
            <a:r>
              <a:rPr lang="en-GB" sz="1600" dirty="0" err="1"/>
              <a:t>TorchServe</a:t>
            </a:r>
            <a:r>
              <a:rPr lang="en-GB" sz="1600" dirty="0"/>
              <a:t> and ONNX).</a:t>
            </a:r>
          </a:p>
        </p:txBody>
      </p:sp>
    </p:spTree>
    <p:extLst>
      <p:ext uri="{BB962C8B-B14F-4D97-AF65-F5344CB8AC3E}">
        <p14:creationId xmlns:p14="http://schemas.microsoft.com/office/powerpoint/2010/main" val="50617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00206EE-0AD6-C00A-6DAE-B341F6677A0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2FD43B2-D3FB-D877-C6D8-2D857BC034D3}"/>
              </a:ext>
            </a:extLst>
          </p:cNvPr>
          <p:cNvSpPr txBox="1">
            <a:spLocks noGrp="1"/>
          </p:cNvSpPr>
          <p:nvPr>
            <p:ph type="title"/>
          </p:nvPr>
        </p:nvSpPr>
        <p:spPr>
          <a:xfrm>
            <a:off x="448590" y="37330"/>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TensorFlow vs. </a:t>
            </a:r>
            <a:r>
              <a:rPr lang="en-GB" sz="3200" b="1" i="0" u="none" strike="noStrike" dirty="0" err="1">
                <a:solidFill>
                  <a:srgbClr val="7030A0"/>
                </a:solidFill>
                <a:effectLst/>
                <a:latin typeface="Inter" panose="02000503000000020004" pitchFamily="2" charset="0"/>
              </a:rPr>
              <a:t>PyTorch</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389E3AC-4D00-FF5A-8CF0-8AECCA7BAF7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1">
            <a:extLst>
              <a:ext uri="{FF2B5EF4-FFF2-40B4-BE49-F238E27FC236}">
                <a16:creationId xmlns:a16="http://schemas.microsoft.com/office/drawing/2014/main" id="{B4E9C421-66D4-D4D8-61B1-6225A1BBEEE6}"/>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32D5F76F-E64C-3526-8727-37C00A2443F9}"/>
              </a:ext>
            </a:extLst>
          </p:cNvPr>
          <p:cNvSpPr txBox="1"/>
          <p:nvPr/>
        </p:nvSpPr>
        <p:spPr>
          <a:xfrm>
            <a:off x="838198" y="1774167"/>
            <a:ext cx="6075557" cy="338554"/>
          </a:xfrm>
          <a:prstGeom prst="rect">
            <a:avLst/>
          </a:prstGeom>
          <a:noFill/>
        </p:spPr>
        <p:txBody>
          <a:bodyPr wrap="square">
            <a:spAutoFit/>
          </a:bodyPr>
          <a:lstStyle/>
          <a:p>
            <a:pPr algn="l">
              <a:buNone/>
            </a:pPr>
            <a:endParaRPr lang="en-GB" sz="1600" b="0" i="0" u="none" strike="noStrike" dirty="0">
              <a:solidFill>
                <a:srgbClr val="404040"/>
              </a:solidFill>
              <a:effectLst/>
              <a:latin typeface="Inter" panose="02000503000000020004" pitchFamily="2" charset="0"/>
            </a:endParaRPr>
          </a:p>
        </p:txBody>
      </p:sp>
      <p:graphicFrame>
        <p:nvGraphicFramePr>
          <p:cNvPr id="9" name="Table 8">
            <a:extLst>
              <a:ext uri="{FF2B5EF4-FFF2-40B4-BE49-F238E27FC236}">
                <a16:creationId xmlns:a16="http://schemas.microsoft.com/office/drawing/2014/main" id="{CB36BE63-7138-3BA4-B616-419EA3C0570A}"/>
              </a:ext>
            </a:extLst>
          </p:cNvPr>
          <p:cNvGraphicFramePr>
            <a:graphicFrameLocks noGrp="1"/>
          </p:cNvGraphicFramePr>
          <p:nvPr>
            <p:extLst>
              <p:ext uri="{D42A27DB-BD31-4B8C-83A1-F6EECF244321}">
                <p14:modId xmlns:p14="http://schemas.microsoft.com/office/powerpoint/2010/main" val="622619138"/>
              </p:ext>
            </p:extLst>
          </p:nvPr>
        </p:nvGraphicFramePr>
        <p:xfrm>
          <a:off x="210729" y="825708"/>
          <a:ext cx="8622122" cy="3760469"/>
        </p:xfrm>
        <a:graphic>
          <a:graphicData uri="http://schemas.openxmlformats.org/drawingml/2006/table">
            <a:tbl>
              <a:tblPr>
                <a:tableStyleId>{35758FB7-9AC5-4552-8A53-C91805E547FA}</a:tableStyleId>
              </a:tblPr>
              <a:tblGrid>
                <a:gridCol w="1722457">
                  <a:extLst>
                    <a:ext uri="{9D8B030D-6E8A-4147-A177-3AD203B41FA5}">
                      <a16:colId xmlns:a16="http://schemas.microsoft.com/office/drawing/2014/main" val="4034173744"/>
                    </a:ext>
                  </a:extLst>
                </a:gridCol>
                <a:gridCol w="2790069">
                  <a:extLst>
                    <a:ext uri="{9D8B030D-6E8A-4147-A177-3AD203B41FA5}">
                      <a16:colId xmlns:a16="http://schemas.microsoft.com/office/drawing/2014/main" val="1393202991"/>
                    </a:ext>
                  </a:extLst>
                </a:gridCol>
                <a:gridCol w="4109596">
                  <a:extLst>
                    <a:ext uri="{9D8B030D-6E8A-4147-A177-3AD203B41FA5}">
                      <a16:colId xmlns:a16="http://schemas.microsoft.com/office/drawing/2014/main" val="826455016"/>
                    </a:ext>
                  </a:extLst>
                </a:gridCol>
              </a:tblGrid>
              <a:tr h="310573">
                <a:tc>
                  <a:txBody>
                    <a:bodyPr/>
                    <a:lstStyle/>
                    <a:p>
                      <a:pPr rtl="0" fontAlgn="b"/>
                      <a:r>
                        <a:rPr lang="en-GB" sz="1500" b="1">
                          <a:effectLst/>
                        </a:rPr>
                        <a:t>Feature</a:t>
                      </a:r>
                    </a:p>
                  </a:txBody>
                  <a:tcPr marL="19093" marR="19093" marT="12728" marB="12728" anchor="b"/>
                </a:tc>
                <a:tc>
                  <a:txBody>
                    <a:bodyPr/>
                    <a:lstStyle/>
                    <a:p>
                      <a:pPr rtl="0" fontAlgn="b"/>
                      <a:r>
                        <a:rPr lang="en-GB" sz="1500" b="1" dirty="0">
                          <a:effectLst/>
                        </a:rPr>
                        <a:t>TensorFlow</a:t>
                      </a:r>
                    </a:p>
                  </a:txBody>
                  <a:tcPr marL="19093" marR="19093" marT="12728" marB="12728" anchor="b"/>
                </a:tc>
                <a:tc>
                  <a:txBody>
                    <a:bodyPr/>
                    <a:lstStyle/>
                    <a:p>
                      <a:pPr rtl="0" fontAlgn="b"/>
                      <a:r>
                        <a:rPr lang="en-GB" sz="1500" b="1" dirty="0" err="1">
                          <a:effectLst/>
                        </a:rPr>
                        <a:t>PyTorch</a:t>
                      </a:r>
                      <a:endParaRPr lang="en-GB" sz="1500" b="1" dirty="0">
                        <a:effectLst/>
                      </a:endParaRPr>
                    </a:p>
                  </a:txBody>
                  <a:tcPr marL="19093" marR="19093" marT="12728" marB="12728" anchor="b"/>
                </a:tc>
                <a:extLst>
                  <a:ext uri="{0D108BD9-81ED-4DB2-BD59-A6C34878D82A}">
                    <a16:rowId xmlns:a16="http://schemas.microsoft.com/office/drawing/2014/main" val="223945225"/>
                  </a:ext>
                </a:extLst>
              </a:tr>
              <a:tr h="310573">
                <a:tc>
                  <a:txBody>
                    <a:bodyPr/>
                    <a:lstStyle/>
                    <a:p>
                      <a:pPr rtl="0" fontAlgn="b"/>
                      <a:r>
                        <a:rPr lang="en-GB" sz="1500">
                          <a:effectLst/>
                        </a:rPr>
                        <a:t>Graph Type</a:t>
                      </a:r>
                    </a:p>
                  </a:txBody>
                  <a:tcPr marL="19093" marR="19093" marT="12728" marB="12728" anchor="b"/>
                </a:tc>
                <a:tc>
                  <a:txBody>
                    <a:bodyPr/>
                    <a:lstStyle/>
                    <a:p>
                      <a:pPr rtl="0" fontAlgn="b"/>
                      <a:r>
                        <a:rPr lang="en-GB" sz="1500" dirty="0">
                          <a:effectLst/>
                        </a:rPr>
                        <a:t>Primarily Dynamic </a:t>
                      </a:r>
                    </a:p>
                  </a:txBody>
                  <a:tcPr marL="19093" marR="19093" marT="12728" marB="12728" anchor="b"/>
                </a:tc>
                <a:tc>
                  <a:txBody>
                    <a:bodyPr/>
                    <a:lstStyle/>
                    <a:p>
                      <a:pPr rtl="0" fontAlgn="b"/>
                      <a:r>
                        <a:rPr lang="en-GB" sz="1500">
                          <a:effectLst/>
                        </a:rPr>
                        <a:t>Dynamic</a:t>
                      </a:r>
                    </a:p>
                  </a:txBody>
                  <a:tcPr marL="19093" marR="19093" marT="12728" marB="12728" anchor="b"/>
                </a:tc>
                <a:extLst>
                  <a:ext uri="{0D108BD9-81ED-4DB2-BD59-A6C34878D82A}">
                    <a16:rowId xmlns:a16="http://schemas.microsoft.com/office/drawing/2014/main" val="473320926"/>
                  </a:ext>
                </a:extLst>
              </a:tr>
              <a:tr h="310573">
                <a:tc>
                  <a:txBody>
                    <a:bodyPr/>
                    <a:lstStyle/>
                    <a:p>
                      <a:pPr rtl="0" fontAlgn="b"/>
                      <a:r>
                        <a:rPr lang="en-GB" sz="1500">
                          <a:effectLst/>
                        </a:rPr>
                        <a:t>Execution Mode</a:t>
                      </a:r>
                    </a:p>
                  </a:txBody>
                  <a:tcPr marL="19093" marR="19093" marT="12728" marB="12728" anchor="b"/>
                </a:tc>
                <a:tc>
                  <a:txBody>
                    <a:bodyPr/>
                    <a:lstStyle/>
                    <a:p>
                      <a:pPr rtl="0" fontAlgn="b"/>
                      <a:r>
                        <a:rPr lang="en-GB" sz="1500">
                          <a:effectLst/>
                        </a:rPr>
                        <a:t>Eager by default</a:t>
                      </a:r>
                    </a:p>
                  </a:txBody>
                  <a:tcPr marL="19093" marR="19093" marT="12728" marB="12728" anchor="b"/>
                </a:tc>
                <a:tc>
                  <a:txBody>
                    <a:bodyPr/>
                    <a:lstStyle/>
                    <a:p>
                      <a:pPr rtl="0" fontAlgn="b"/>
                      <a:r>
                        <a:rPr lang="en-GB" sz="1500">
                          <a:effectLst/>
                        </a:rPr>
                        <a:t>Define-by-run</a:t>
                      </a:r>
                    </a:p>
                  </a:txBody>
                  <a:tcPr marL="19093" marR="19093" marT="12728" marB="12728" anchor="b"/>
                </a:tc>
                <a:extLst>
                  <a:ext uri="{0D108BD9-81ED-4DB2-BD59-A6C34878D82A}">
                    <a16:rowId xmlns:a16="http://schemas.microsoft.com/office/drawing/2014/main" val="2457188600"/>
                  </a:ext>
                </a:extLst>
              </a:tr>
              <a:tr h="310573">
                <a:tc>
                  <a:txBody>
                    <a:bodyPr/>
                    <a:lstStyle/>
                    <a:p>
                      <a:pPr rtl="0" fontAlgn="b"/>
                      <a:r>
                        <a:rPr lang="en-GB" sz="1500">
                          <a:effectLst/>
                        </a:rPr>
                        <a:t>Ease of Use</a:t>
                      </a:r>
                    </a:p>
                  </a:txBody>
                  <a:tcPr marL="19093" marR="19093" marT="12728" marB="12728" anchor="b"/>
                </a:tc>
                <a:tc>
                  <a:txBody>
                    <a:bodyPr/>
                    <a:lstStyle/>
                    <a:p>
                      <a:pPr rtl="0" fontAlgn="b"/>
                      <a:r>
                        <a:rPr lang="en-GB" sz="1500">
                          <a:effectLst/>
                        </a:rPr>
                        <a:t>Improved significantly with Keras</a:t>
                      </a:r>
                    </a:p>
                  </a:txBody>
                  <a:tcPr marL="19093" marR="19093" marT="12728" marB="12728" anchor="b"/>
                </a:tc>
                <a:tc>
                  <a:txBody>
                    <a:bodyPr/>
                    <a:lstStyle/>
                    <a:p>
                      <a:pPr rtl="0" fontAlgn="b"/>
                      <a:r>
                        <a:rPr lang="en-GB" sz="1500">
                          <a:effectLst/>
                        </a:rPr>
                        <a:t>Generally considered more Pythonic and intuitive</a:t>
                      </a:r>
                    </a:p>
                  </a:txBody>
                  <a:tcPr marL="19093" marR="19093" marT="12728" marB="12728" anchor="b"/>
                </a:tc>
                <a:extLst>
                  <a:ext uri="{0D108BD9-81ED-4DB2-BD59-A6C34878D82A}">
                    <a16:rowId xmlns:a16="http://schemas.microsoft.com/office/drawing/2014/main" val="3374645425"/>
                  </a:ext>
                </a:extLst>
              </a:tr>
              <a:tr h="310573">
                <a:tc>
                  <a:txBody>
                    <a:bodyPr/>
                    <a:lstStyle/>
                    <a:p>
                      <a:pPr rtl="0" fontAlgn="b"/>
                      <a:r>
                        <a:rPr lang="en-GB" sz="1500">
                          <a:effectLst/>
                        </a:rPr>
                        <a:t>Debugging</a:t>
                      </a:r>
                    </a:p>
                  </a:txBody>
                  <a:tcPr marL="19093" marR="19093" marT="12728" marB="12728" anchor="b"/>
                </a:tc>
                <a:tc>
                  <a:txBody>
                    <a:bodyPr/>
                    <a:lstStyle/>
                    <a:p>
                      <a:pPr rtl="0" fontAlgn="b"/>
                      <a:r>
                        <a:rPr lang="en-GB" sz="1500">
                          <a:effectLst/>
                        </a:rPr>
                        <a:t>More straightforward with Eager</a:t>
                      </a:r>
                    </a:p>
                  </a:txBody>
                  <a:tcPr marL="19093" marR="19093" marT="12728" marB="12728" anchor="b"/>
                </a:tc>
                <a:tc>
                  <a:txBody>
                    <a:bodyPr/>
                    <a:lstStyle/>
                    <a:p>
                      <a:pPr rtl="0" fontAlgn="b"/>
                      <a:r>
                        <a:rPr lang="en-GB" sz="1500">
                          <a:effectLst/>
                        </a:rPr>
                        <a:t>More straightforward due to dynamic graphs</a:t>
                      </a:r>
                    </a:p>
                  </a:txBody>
                  <a:tcPr marL="19093" marR="19093" marT="12728" marB="12728" anchor="b"/>
                </a:tc>
                <a:extLst>
                  <a:ext uri="{0D108BD9-81ED-4DB2-BD59-A6C34878D82A}">
                    <a16:rowId xmlns:a16="http://schemas.microsoft.com/office/drawing/2014/main" val="3335513974"/>
                  </a:ext>
                </a:extLst>
              </a:tr>
              <a:tr h="310573">
                <a:tc>
                  <a:txBody>
                    <a:bodyPr/>
                    <a:lstStyle/>
                    <a:p>
                      <a:pPr rtl="0" fontAlgn="b"/>
                      <a:r>
                        <a:rPr lang="en-GB" sz="1500">
                          <a:effectLst/>
                        </a:rPr>
                        <a:t>Research Focus</a:t>
                      </a:r>
                    </a:p>
                  </a:txBody>
                  <a:tcPr marL="19093" marR="19093" marT="12728" marB="12728" anchor="b"/>
                </a:tc>
                <a:tc>
                  <a:txBody>
                    <a:bodyPr/>
                    <a:lstStyle/>
                    <a:p>
                      <a:pPr rtl="0" fontAlgn="b"/>
                      <a:r>
                        <a:rPr lang="en-GB" sz="1500">
                          <a:effectLst/>
                        </a:rPr>
                        <a:t>Growing adoption</a:t>
                      </a:r>
                    </a:p>
                  </a:txBody>
                  <a:tcPr marL="19093" marR="19093" marT="12728" marB="12728" anchor="b"/>
                </a:tc>
                <a:tc>
                  <a:txBody>
                    <a:bodyPr/>
                    <a:lstStyle/>
                    <a:p>
                      <a:pPr rtl="0" fontAlgn="b"/>
                      <a:r>
                        <a:rPr lang="en-GB" sz="1500">
                          <a:effectLst/>
                        </a:rPr>
                        <a:t>Historically stronger</a:t>
                      </a:r>
                    </a:p>
                  </a:txBody>
                  <a:tcPr marL="19093" marR="19093" marT="12728" marB="12728" anchor="b"/>
                </a:tc>
                <a:extLst>
                  <a:ext uri="{0D108BD9-81ED-4DB2-BD59-A6C34878D82A}">
                    <a16:rowId xmlns:a16="http://schemas.microsoft.com/office/drawing/2014/main" val="2258640132"/>
                  </a:ext>
                </a:extLst>
              </a:tr>
              <a:tr h="310573">
                <a:tc>
                  <a:txBody>
                    <a:bodyPr/>
                    <a:lstStyle/>
                    <a:p>
                      <a:pPr rtl="0" fontAlgn="b"/>
                      <a:r>
                        <a:rPr lang="en-GB" sz="1500">
                          <a:effectLst/>
                        </a:rPr>
                        <a:t>Production Focus</a:t>
                      </a:r>
                    </a:p>
                  </a:txBody>
                  <a:tcPr marL="19093" marR="19093" marT="12728" marB="12728" anchor="b"/>
                </a:tc>
                <a:tc>
                  <a:txBody>
                    <a:bodyPr/>
                    <a:lstStyle/>
                    <a:p>
                      <a:pPr rtl="0" fontAlgn="b"/>
                      <a:r>
                        <a:rPr lang="en-GB" sz="1500">
                          <a:effectLst/>
                        </a:rPr>
                        <a:t>Strong, mature ecosystem</a:t>
                      </a:r>
                    </a:p>
                  </a:txBody>
                  <a:tcPr marL="19093" marR="19093" marT="12728" marB="12728" anchor="b"/>
                </a:tc>
                <a:tc>
                  <a:txBody>
                    <a:bodyPr/>
                    <a:lstStyle/>
                    <a:p>
                      <a:pPr rtl="0" fontAlgn="b"/>
                      <a:r>
                        <a:rPr lang="en-GB" sz="1500">
                          <a:effectLst/>
                        </a:rPr>
                        <a:t>Growing, with tools like TorchScript</a:t>
                      </a:r>
                    </a:p>
                  </a:txBody>
                  <a:tcPr marL="19093" marR="19093" marT="12728" marB="12728" anchor="b"/>
                </a:tc>
                <a:extLst>
                  <a:ext uri="{0D108BD9-81ED-4DB2-BD59-A6C34878D82A}">
                    <a16:rowId xmlns:a16="http://schemas.microsoft.com/office/drawing/2014/main" val="3783631280"/>
                  </a:ext>
                </a:extLst>
              </a:tr>
              <a:tr h="310573">
                <a:tc>
                  <a:txBody>
                    <a:bodyPr/>
                    <a:lstStyle/>
                    <a:p>
                      <a:pPr rtl="0" fontAlgn="b"/>
                      <a:r>
                        <a:rPr lang="en-GB" sz="1500">
                          <a:effectLst/>
                        </a:rPr>
                        <a:t>Community Size</a:t>
                      </a:r>
                    </a:p>
                  </a:txBody>
                  <a:tcPr marL="19093" marR="19093" marT="12728" marB="12728" anchor="b"/>
                </a:tc>
                <a:tc>
                  <a:txBody>
                    <a:bodyPr/>
                    <a:lstStyle/>
                    <a:p>
                      <a:pPr rtl="0" fontAlgn="b"/>
                      <a:r>
                        <a:rPr lang="en-GB" sz="1500">
                          <a:effectLst/>
                        </a:rPr>
                        <a:t>Very large and mature</a:t>
                      </a:r>
                    </a:p>
                  </a:txBody>
                  <a:tcPr marL="19093" marR="19093" marT="12728" marB="12728" anchor="b"/>
                </a:tc>
                <a:tc>
                  <a:txBody>
                    <a:bodyPr/>
                    <a:lstStyle/>
                    <a:p>
                      <a:pPr rtl="0" fontAlgn="b"/>
                      <a:r>
                        <a:rPr lang="en-GB" sz="1500">
                          <a:effectLst/>
                        </a:rPr>
                        <a:t>Large and rapidly growing</a:t>
                      </a:r>
                    </a:p>
                  </a:txBody>
                  <a:tcPr marL="19093" marR="19093" marT="12728" marB="12728" anchor="b"/>
                </a:tc>
                <a:extLst>
                  <a:ext uri="{0D108BD9-81ED-4DB2-BD59-A6C34878D82A}">
                    <a16:rowId xmlns:a16="http://schemas.microsoft.com/office/drawing/2014/main" val="3453110068"/>
                  </a:ext>
                </a:extLst>
              </a:tr>
              <a:tr h="310573">
                <a:tc>
                  <a:txBody>
                    <a:bodyPr/>
                    <a:lstStyle/>
                    <a:p>
                      <a:pPr rtl="0" fontAlgn="b"/>
                      <a:r>
                        <a:rPr lang="en-GB" sz="1500">
                          <a:effectLst/>
                        </a:rPr>
                        <a:t>GPU Support</a:t>
                      </a:r>
                    </a:p>
                  </a:txBody>
                  <a:tcPr marL="19093" marR="19093" marT="12728" marB="12728" anchor="b"/>
                </a:tc>
                <a:tc>
                  <a:txBody>
                    <a:bodyPr/>
                    <a:lstStyle/>
                    <a:p>
                      <a:pPr rtl="0" fontAlgn="b"/>
                      <a:r>
                        <a:rPr lang="en-GB" sz="1500">
                          <a:effectLst/>
                        </a:rPr>
                        <a:t>Excellent</a:t>
                      </a:r>
                    </a:p>
                  </a:txBody>
                  <a:tcPr marL="19093" marR="19093" marT="12728" marB="12728" anchor="b"/>
                </a:tc>
                <a:tc>
                  <a:txBody>
                    <a:bodyPr/>
                    <a:lstStyle/>
                    <a:p>
                      <a:pPr rtl="0" fontAlgn="b"/>
                      <a:r>
                        <a:rPr lang="en-GB" sz="1500">
                          <a:effectLst/>
                        </a:rPr>
                        <a:t>Excellent</a:t>
                      </a:r>
                    </a:p>
                  </a:txBody>
                  <a:tcPr marL="19093" marR="19093" marT="12728" marB="12728" anchor="b"/>
                </a:tc>
                <a:extLst>
                  <a:ext uri="{0D108BD9-81ED-4DB2-BD59-A6C34878D82A}">
                    <a16:rowId xmlns:a16="http://schemas.microsoft.com/office/drawing/2014/main" val="65123345"/>
                  </a:ext>
                </a:extLst>
              </a:tr>
              <a:tr h="310573">
                <a:tc>
                  <a:txBody>
                    <a:bodyPr/>
                    <a:lstStyle/>
                    <a:p>
                      <a:pPr rtl="0" fontAlgn="b"/>
                      <a:r>
                        <a:rPr lang="en-GB" sz="1500">
                          <a:effectLst/>
                        </a:rPr>
                        <a:t>TPU Support</a:t>
                      </a:r>
                    </a:p>
                  </a:txBody>
                  <a:tcPr marL="19093" marR="19093" marT="12728" marB="12728" anchor="b"/>
                </a:tc>
                <a:tc>
                  <a:txBody>
                    <a:bodyPr/>
                    <a:lstStyle/>
                    <a:p>
                      <a:pPr rtl="0" fontAlgn="b"/>
                      <a:r>
                        <a:rPr lang="en-GB" sz="1500">
                          <a:effectLst/>
                        </a:rPr>
                        <a:t>Strong, well-established</a:t>
                      </a:r>
                    </a:p>
                  </a:txBody>
                  <a:tcPr marL="19093" marR="19093" marT="12728" marB="12728" anchor="b"/>
                </a:tc>
                <a:tc>
                  <a:txBody>
                    <a:bodyPr/>
                    <a:lstStyle/>
                    <a:p>
                      <a:pPr rtl="0" fontAlgn="b"/>
                      <a:r>
                        <a:rPr lang="en-GB" sz="1500">
                          <a:effectLst/>
                        </a:rPr>
                        <a:t>Available, but historically less mature</a:t>
                      </a:r>
                    </a:p>
                  </a:txBody>
                  <a:tcPr marL="19093" marR="19093" marT="12728" marB="12728" anchor="b"/>
                </a:tc>
                <a:extLst>
                  <a:ext uri="{0D108BD9-81ED-4DB2-BD59-A6C34878D82A}">
                    <a16:rowId xmlns:a16="http://schemas.microsoft.com/office/drawing/2014/main" val="3042848397"/>
                  </a:ext>
                </a:extLst>
              </a:tr>
              <a:tr h="310573">
                <a:tc>
                  <a:txBody>
                    <a:bodyPr/>
                    <a:lstStyle/>
                    <a:p>
                      <a:pPr rtl="0" fontAlgn="b"/>
                      <a:r>
                        <a:rPr lang="en-GB" sz="1500">
                          <a:effectLst/>
                        </a:rPr>
                        <a:t>High-Level API</a:t>
                      </a:r>
                    </a:p>
                  </a:txBody>
                  <a:tcPr marL="19093" marR="19093" marT="12728" marB="12728" anchor="b"/>
                </a:tc>
                <a:tc>
                  <a:txBody>
                    <a:bodyPr/>
                    <a:lstStyle/>
                    <a:p>
                      <a:pPr rtl="0" fontAlgn="b"/>
                      <a:r>
                        <a:rPr lang="en-GB" sz="1500">
                          <a:effectLst/>
                        </a:rPr>
                        <a:t>Keras (integrated)</a:t>
                      </a:r>
                    </a:p>
                  </a:txBody>
                  <a:tcPr marL="19093" marR="19093" marT="12728" marB="12728" anchor="b"/>
                </a:tc>
                <a:tc>
                  <a:txBody>
                    <a:bodyPr/>
                    <a:lstStyle/>
                    <a:p>
                      <a:pPr rtl="0" fontAlgn="b"/>
                      <a:r>
                        <a:rPr lang="en-GB" sz="1500" dirty="0">
                          <a:effectLst/>
                        </a:rPr>
                        <a:t>Often relies on external libraries (e.g., </a:t>
                      </a:r>
                      <a:r>
                        <a:rPr lang="en-GB" sz="1500" dirty="0" err="1">
                          <a:effectLst/>
                        </a:rPr>
                        <a:t>PyTorch</a:t>
                      </a:r>
                      <a:r>
                        <a:rPr lang="en-GB" sz="1500" dirty="0">
                          <a:effectLst/>
                        </a:rPr>
                        <a:t> Lightning)</a:t>
                      </a:r>
                    </a:p>
                  </a:txBody>
                  <a:tcPr marL="19093" marR="19093" marT="12728" marB="12728" anchor="b"/>
                </a:tc>
                <a:extLst>
                  <a:ext uri="{0D108BD9-81ED-4DB2-BD59-A6C34878D82A}">
                    <a16:rowId xmlns:a16="http://schemas.microsoft.com/office/drawing/2014/main" val="2804865522"/>
                  </a:ext>
                </a:extLst>
              </a:tr>
            </a:tbl>
          </a:graphicData>
        </a:graphic>
      </p:graphicFrame>
    </p:spTree>
    <p:extLst>
      <p:ext uri="{BB962C8B-B14F-4D97-AF65-F5344CB8AC3E}">
        <p14:creationId xmlns:p14="http://schemas.microsoft.com/office/powerpoint/2010/main" val="4198585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2E8A943-A8E4-64D2-D1B4-9C5B0B70B46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4191DC0-46BB-6635-A314-E401817BE79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TensorFlow vs. </a:t>
            </a:r>
            <a:r>
              <a:rPr lang="en-GB" sz="3200" b="1" i="0" u="none" strike="noStrike" dirty="0" err="1">
                <a:solidFill>
                  <a:srgbClr val="7030A0"/>
                </a:solidFill>
                <a:effectLst/>
                <a:latin typeface="Inter" panose="02000503000000020004" pitchFamily="2" charset="0"/>
              </a:rPr>
              <a:t>PyTorch</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666CE04-EAF7-CA86-0A1F-E6CCAE842FA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FBECEA2-E374-7FC4-666B-611E827F22AD}"/>
              </a:ext>
            </a:extLst>
          </p:cNvPr>
          <p:cNvSpPr txBox="1"/>
          <p:nvPr/>
        </p:nvSpPr>
        <p:spPr>
          <a:xfrm>
            <a:off x="0" y="713964"/>
            <a:ext cx="8778240" cy="830997"/>
          </a:xfrm>
          <a:prstGeom prst="rect">
            <a:avLst/>
          </a:prstGeom>
          <a:noFill/>
        </p:spPr>
        <p:txBody>
          <a:bodyPr wrap="square">
            <a:spAutoFit/>
          </a:bodyPr>
          <a:lstStyle/>
          <a:p>
            <a:pPr algn="l"/>
            <a:r>
              <a:rPr lang="en-GB" sz="1600" b="1" i="0" u="none" strike="noStrike" dirty="0">
                <a:solidFill>
                  <a:srgbClr val="404040"/>
                </a:solidFill>
                <a:effectLst/>
                <a:latin typeface="+mj-lt"/>
              </a:rPr>
              <a:t>   Comparison Table</a:t>
            </a:r>
          </a:p>
          <a:p>
            <a:pPr algn="l"/>
            <a:endParaRPr lang="en-GB" sz="1600" b="1" i="0" u="none" strike="noStrike" dirty="0">
              <a:solidFill>
                <a:srgbClr val="404040"/>
              </a:solidFill>
              <a:effectLst/>
              <a:latin typeface="+mj-lt"/>
            </a:endParaRPr>
          </a:p>
          <a:p>
            <a:pPr algn="l"/>
            <a:endParaRPr lang="en-GB" sz="1600" i="0" u="none" strike="noStrike" dirty="0">
              <a:solidFill>
                <a:srgbClr val="000000"/>
              </a:solidFill>
              <a:effectLst/>
              <a:latin typeface="+mj-lt"/>
            </a:endParaRPr>
          </a:p>
        </p:txBody>
      </p:sp>
      <p:graphicFrame>
        <p:nvGraphicFramePr>
          <p:cNvPr id="3" name="Table 2">
            <a:extLst>
              <a:ext uri="{FF2B5EF4-FFF2-40B4-BE49-F238E27FC236}">
                <a16:creationId xmlns:a16="http://schemas.microsoft.com/office/drawing/2014/main" id="{10D82155-7A6D-BD67-58E4-8CAEC0F11ADF}"/>
              </a:ext>
            </a:extLst>
          </p:cNvPr>
          <p:cNvGraphicFramePr>
            <a:graphicFrameLocks noGrp="1"/>
          </p:cNvGraphicFramePr>
          <p:nvPr/>
        </p:nvGraphicFramePr>
        <p:xfrm>
          <a:off x="215124" y="1341864"/>
          <a:ext cx="8521701" cy="204216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2354703252"/>
                    </a:ext>
                  </a:extLst>
                </a:gridCol>
                <a:gridCol w="2840567">
                  <a:extLst>
                    <a:ext uri="{9D8B030D-6E8A-4147-A177-3AD203B41FA5}">
                      <a16:colId xmlns:a16="http://schemas.microsoft.com/office/drawing/2014/main" val="2650760114"/>
                    </a:ext>
                  </a:extLst>
                </a:gridCol>
                <a:gridCol w="2840567">
                  <a:extLst>
                    <a:ext uri="{9D8B030D-6E8A-4147-A177-3AD203B41FA5}">
                      <a16:colId xmlns:a16="http://schemas.microsoft.com/office/drawing/2014/main" val="4193144734"/>
                    </a:ext>
                  </a:extLst>
                </a:gridCol>
              </a:tblGrid>
              <a:tr h="304800">
                <a:tc>
                  <a:txBody>
                    <a:bodyPr/>
                    <a:lstStyle/>
                    <a:p>
                      <a:pPr algn="l"/>
                      <a:r>
                        <a:rPr lang="en-GB" sz="1400" b="1">
                          <a:effectLst/>
                        </a:rPr>
                        <a:t>Feature</a:t>
                      </a:r>
                    </a:p>
                  </a:txBody>
                  <a:tcPr anchor="ctr"/>
                </a:tc>
                <a:tc>
                  <a:txBody>
                    <a:bodyPr/>
                    <a:lstStyle/>
                    <a:p>
                      <a:pPr algn="l"/>
                      <a:r>
                        <a:rPr lang="en-GB" sz="1400" b="1">
                          <a:effectLst/>
                        </a:rPr>
                        <a:t>TensorFlow</a:t>
                      </a:r>
                    </a:p>
                  </a:txBody>
                  <a:tcPr anchor="ctr"/>
                </a:tc>
                <a:tc>
                  <a:txBody>
                    <a:bodyPr/>
                    <a:lstStyle/>
                    <a:p>
                      <a:pPr algn="l"/>
                      <a:r>
                        <a:rPr lang="en-GB" sz="1400" b="1">
                          <a:effectLst/>
                        </a:rPr>
                        <a:t>PyTorch</a:t>
                      </a:r>
                    </a:p>
                  </a:txBody>
                  <a:tcPr anchor="ctr"/>
                </a:tc>
                <a:extLst>
                  <a:ext uri="{0D108BD9-81ED-4DB2-BD59-A6C34878D82A}">
                    <a16:rowId xmlns:a16="http://schemas.microsoft.com/office/drawing/2014/main" val="174333731"/>
                  </a:ext>
                </a:extLst>
              </a:tr>
              <a:tr h="304800">
                <a:tc>
                  <a:txBody>
                    <a:bodyPr/>
                    <a:lstStyle/>
                    <a:p>
                      <a:r>
                        <a:rPr lang="en-GB" sz="1400" b="1">
                          <a:effectLst/>
                        </a:rPr>
                        <a:t>Developed By</a:t>
                      </a:r>
                      <a:endParaRPr lang="en-GB" sz="1400">
                        <a:effectLst/>
                      </a:endParaRPr>
                    </a:p>
                  </a:txBody>
                  <a:tcPr anchor="ctr"/>
                </a:tc>
                <a:tc>
                  <a:txBody>
                    <a:bodyPr/>
                    <a:lstStyle/>
                    <a:p>
                      <a:r>
                        <a:rPr lang="en-GB" sz="1400">
                          <a:effectLst/>
                        </a:rPr>
                        <a:t>Google</a:t>
                      </a:r>
                    </a:p>
                  </a:txBody>
                  <a:tcPr anchor="ctr"/>
                </a:tc>
                <a:tc>
                  <a:txBody>
                    <a:bodyPr/>
                    <a:lstStyle/>
                    <a:p>
                      <a:r>
                        <a:rPr lang="en-GB" sz="1400">
                          <a:effectLst/>
                        </a:rPr>
                        <a:t>Meta (Facebook)</a:t>
                      </a:r>
                    </a:p>
                  </a:txBody>
                  <a:tcPr anchor="ctr"/>
                </a:tc>
                <a:extLst>
                  <a:ext uri="{0D108BD9-81ED-4DB2-BD59-A6C34878D82A}">
                    <a16:rowId xmlns:a16="http://schemas.microsoft.com/office/drawing/2014/main" val="1306710142"/>
                  </a:ext>
                </a:extLst>
              </a:tr>
              <a:tr h="518160">
                <a:tc>
                  <a:txBody>
                    <a:bodyPr/>
                    <a:lstStyle/>
                    <a:p>
                      <a:r>
                        <a:rPr lang="en-GB" sz="1400" b="1">
                          <a:effectLst/>
                        </a:rPr>
                        <a:t>Graph Type</a:t>
                      </a:r>
                      <a:endParaRPr lang="en-GB" sz="1400">
                        <a:effectLst/>
                      </a:endParaRPr>
                    </a:p>
                  </a:txBody>
                  <a:tcPr anchor="ctr"/>
                </a:tc>
                <a:tc>
                  <a:txBody>
                    <a:bodyPr/>
                    <a:lstStyle/>
                    <a:p>
                      <a:r>
                        <a:rPr lang="en-GB" sz="1400">
                          <a:effectLst/>
                        </a:rPr>
                        <a:t>Static (earlier) → Dynamic (TF 2.x+)</a:t>
                      </a:r>
                    </a:p>
                  </a:txBody>
                  <a:tcPr anchor="ctr"/>
                </a:tc>
                <a:tc>
                  <a:txBody>
                    <a:bodyPr/>
                    <a:lstStyle/>
                    <a:p>
                      <a:r>
                        <a:rPr lang="en-GB" sz="1400">
                          <a:effectLst/>
                        </a:rPr>
                        <a:t>Dynamic (eager execution)</a:t>
                      </a:r>
                    </a:p>
                  </a:txBody>
                  <a:tcPr anchor="ctr"/>
                </a:tc>
                <a:extLst>
                  <a:ext uri="{0D108BD9-81ED-4DB2-BD59-A6C34878D82A}">
                    <a16:rowId xmlns:a16="http://schemas.microsoft.com/office/drawing/2014/main" val="1890705469"/>
                  </a:ext>
                </a:extLst>
              </a:tr>
              <a:tr h="304800">
                <a:tc>
                  <a:txBody>
                    <a:bodyPr/>
                    <a:lstStyle/>
                    <a:p>
                      <a:r>
                        <a:rPr lang="en-GB" sz="1400" b="1">
                          <a:effectLst/>
                        </a:rPr>
                        <a:t>Syntax</a:t>
                      </a:r>
                      <a:endParaRPr lang="en-GB" sz="1400">
                        <a:effectLst/>
                      </a:endParaRPr>
                    </a:p>
                  </a:txBody>
                  <a:tcPr anchor="ctr"/>
                </a:tc>
                <a:tc>
                  <a:txBody>
                    <a:bodyPr/>
                    <a:lstStyle/>
                    <a:p>
                      <a:r>
                        <a:rPr lang="en-GB" sz="1400">
                          <a:effectLst/>
                        </a:rPr>
                        <a:t>Keras (high-level) + TF ops</a:t>
                      </a:r>
                    </a:p>
                  </a:txBody>
                  <a:tcPr anchor="ctr"/>
                </a:tc>
                <a:tc>
                  <a:txBody>
                    <a:bodyPr/>
                    <a:lstStyle/>
                    <a:p>
                      <a:r>
                        <a:rPr lang="en-GB" sz="1400">
                          <a:effectLst/>
                        </a:rPr>
                        <a:t>Pythonic, imperative</a:t>
                      </a:r>
                    </a:p>
                  </a:txBody>
                  <a:tcPr anchor="ctr"/>
                </a:tc>
                <a:extLst>
                  <a:ext uri="{0D108BD9-81ED-4DB2-BD59-A6C34878D82A}">
                    <a16:rowId xmlns:a16="http://schemas.microsoft.com/office/drawing/2014/main" val="2889270641"/>
                  </a:ext>
                </a:extLst>
              </a:tr>
              <a:tr h="304800">
                <a:tc>
                  <a:txBody>
                    <a:bodyPr/>
                    <a:lstStyle/>
                    <a:p>
                      <a:r>
                        <a:rPr lang="en-GB" sz="1400" b="1">
                          <a:effectLst/>
                        </a:rPr>
                        <a:t>Deployment</a:t>
                      </a:r>
                      <a:endParaRPr lang="en-GB" sz="1400">
                        <a:effectLst/>
                      </a:endParaRPr>
                    </a:p>
                  </a:txBody>
                  <a:tcPr anchor="ctr"/>
                </a:tc>
                <a:tc>
                  <a:txBody>
                    <a:bodyPr/>
                    <a:lstStyle/>
                    <a:p>
                      <a:r>
                        <a:rPr lang="en-GB" sz="1400" dirty="0">
                          <a:effectLst/>
                        </a:rPr>
                        <a:t>Strong (TF Lite, TF Serving)</a:t>
                      </a:r>
                    </a:p>
                  </a:txBody>
                  <a:tcPr anchor="ctr"/>
                </a:tc>
                <a:tc>
                  <a:txBody>
                    <a:bodyPr/>
                    <a:lstStyle/>
                    <a:p>
                      <a:r>
                        <a:rPr lang="en-GB" sz="1400">
                          <a:effectLst/>
                        </a:rPr>
                        <a:t>Growing (TorchScript, ONNX)</a:t>
                      </a:r>
                    </a:p>
                  </a:txBody>
                  <a:tcPr anchor="ctr"/>
                </a:tc>
                <a:extLst>
                  <a:ext uri="{0D108BD9-81ED-4DB2-BD59-A6C34878D82A}">
                    <a16:rowId xmlns:a16="http://schemas.microsoft.com/office/drawing/2014/main" val="2970508351"/>
                  </a:ext>
                </a:extLst>
              </a:tr>
              <a:tr h="304800">
                <a:tc>
                  <a:txBody>
                    <a:bodyPr/>
                    <a:lstStyle/>
                    <a:p>
                      <a:r>
                        <a:rPr lang="en-GB" sz="1400" b="1">
                          <a:effectLst/>
                        </a:rPr>
                        <a:t>Research Use</a:t>
                      </a:r>
                      <a:endParaRPr lang="en-GB" sz="1400">
                        <a:effectLst/>
                      </a:endParaRPr>
                    </a:p>
                  </a:txBody>
                  <a:tcPr anchor="ctr"/>
                </a:tc>
                <a:tc>
                  <a:txBody>
                    <a:bodyPr/>
                    <a:lstStyle/>
                    <a:p>
                      <a:r>
                        <a:rPr lang="en-GB" sz="1400">
                          <a:effectLst/>
                        </a:rPr>
                        <a:t>40% papers (2020)</a:t>
                      </a:r>
                    </a:p>
                  </a:txBody>
                  <a:tcPr anchor="ctr"/>
                </a:tc>
                <a:tc>
                  <a:txBody>
                    <a:bodyPr/>
                    <a:lstStyle/>
                    <a:p>
                      <a:r>
                        <a:rPr lang="en-GB" sz="1400" dirty="0">
                          <a:effectLst/>
                        </a:rPr>
                        <a:t>60% papers (2023)</a:t>
                      </a:r>
                    </a:p>
                  </a:txBody>
                  <a:tcPr anchor="ctr"/>
                </a:tc>
                <a:extLst>
                  <a:ext uri="{0D108BD9-81ED-4DB2-BD59-A6C34878D82A}">
                    <a16:rowId xmlns:a16="http://schemas.microsoft.com/office/drawing/2014/main" val="1546457231"/>
                  </a:ext>
                </a:extLst>
              </a:tr>
            </a:tbl>
          </a:graphicData>
        </a:graphic>
      </p:graphicFrame>
      <p:sp>
        <p:nvSpPr>
          <p:cNvPr id="6" name="Rectangle 1">
            <a:extLst>
              <a:ext uri="{FF2B5EF4-FFF2-40B4-BE49-F238E27FC236}">
                <a16:creationId xmlns:a16="http://schemas.microsoft.com/office/drawing/2014/main" id="{445C3767-B964-A00E-17D3-C0F9D0AE164A}"/>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918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D89BFFB-3B12-BA67-A06F-FCA37B1FFD0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87BFF67-24F7-652B-328A-10BF9082329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Which one should you choose?</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218934D-849C-F1D9-67E7-8894CE6999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EA7D88E-C949-4D83-1250-7F341B95E750}"/>
              </a:ext>
            </a:extLst>
          </p:cNvPr>
          <p:cNvSpPr txBox="1"/>
          <p:nvPr/>
        </p:nvSpPr>
        <p:spPr>
          <a:xfrm>
            <a:off x="0" y="713964"/>
            <a:ext cx="8778240" cy="4278094"/>
          </a:xfrm>
          <a:prstGeom prst="rect">
            <a:avLst/>
          </a:prstGeom>
          <a:noFill/>
        </p:spPr>
        <p:txBody>
          <a:bodyPr wrap="square">
            <a:spAutoFit/>
          </a:bodyPr>
          <a:lstStyle/>
          <a:p>
            <a:pPr algn="l">
              <a:buNone/>
            </a:pPr>
            <a:r>
              <a:rPr lang="en-GB" sz="1600" b="0" i="0" u="none" strike="noStrike" dirty="0">
                <a:solidFill>
                  <a:srgbClr val="000000"/>
                </a:solidFill>
                <a:effectLst/>
              </a:rPr>
              <a:t>The best choice depends on your specific needs and priorities:</a:t>
            </a:r>
          </a:p>
          <a:p>
            <a:pPr marL="285750" indent="-285750" algn="l">
              <a:buFont typeface="Wingdings" pitchFamily="2" charset="2"/>
              <a:buChar char="Ø"/>
            </a:pPr>
            <a:r>
              <a:rPr lang="en-GB" sz="1600" b="1" i="0" u="none" strike="noStrike" dirty="0">
                <a:solidFill>
                  <a:srgbClr val="000000"/>
                </a:solidFill>
                <a:effectLst/>
              </a:rPr>
              <a:t>For Beginners and Researchers:</a:t>
            </a:r>
            <a:r>
              <a:rPr lang="en-GB" sz="1600" b="0" i="0" u="none" strike="noStrike" dirty="0">
                <a:solidFill>
                  <a:srgbClr val="000000"/>
                </a:solidFill>
                <a:effectLst/>
              </a:rPr>
              <a:t> </a:t>
            </a:r>
            <a:r>
              <a:rPr lang="en-GB" sz="1600" b="0" i="0" u="none" strike="noStrike" dirty="0" err="1">
                <a:solidFill>
                  <a:srgbClr val="000000"/>
                </a:solidFill>
                <a:effectLst/>
              </a:rPr>
              <a:t>PyTorch's</a:t>
            </a:r>
            <a:r>
              <a:rPr lang="en-GB" sz="1600" b="0" i="0" u="none" strike="noStrike" dirty="0">
                <a:solidFill>
                  <a:srgbClr val="000000"/>
                </a:solidFill>
                <a:effectLst/>
              </a:rPr>
              <a:t> ease of use, intuitive API, and dynamic graphs often make it a preferred choice for learning and experimentation.</a:t>
            </a:r>
          </a:p>
          <a:p>
            <a:pPr marL="285750" indent="-285750" algn="l">
              <a:buFont typeface="Wingdings" pitchFamily="2" charset="2"/>
              <a:buChar char="Ø"/>
            </a:pPr>
            <a:r>
              <a:rPr lang="en-GB" sz="1600" b="1" i="0" u="none" strike="noStrike" dirty="0">
                <a:solidFill>
                  <a:srgbClr val="000000"/>
                </a:solidFill>
                <a:effectLst/>
              </a:rPr>
              <a:t>For Production Deployment and Large-Scale Industrial Applications:</a:t>
            </a:r>
            <a:r>
              <a:rPr lang="en-GB" sz="1600" b="0" i="0" u="none" strike="noStrike" dirty="0">
                <a:solidFill>
                  <a:srgbClr val="000000"/>
                </a:solidFill>
                <a:effectLst/>
              </a:rPr>
              <a:t> TensorFlow's mature ecosystem, strong deployment tools (TFX), and robust support for TPUs can be advantageous.</a:t>
            </a:r>
          </a:p>
          <a:p>
            <a:pPr marL="285750" indent="-285750" algn="l">
              <a:buFont typeface="Wingdings" pitchFamily="2" charset="2"/>
              <a:buChar char="Ø"/>
            </a:pPr>
            <a:r>
              <a:rPr lang="en-GB" sz="1600" b="1" i="0" u="none" strike="noStrike" dirty="0">
                <a:solidFill>
                  <a:srgbClr val="000000"/>
                </a:solidFill>
                <a:effectLst/>
              </a:rPr>
              <a:t>If you prefer a highly integrated and comprehensive framework:</a:t>
            </a:r>
            <a:r>
              <a:rPr lang="en-GB" sz="1600" b="0" i="0" u="none" strike="noStrike" dirty="0">
                <a:solidFill>
                  <a:srgbClr val="000000"/>
                </a:solidFill>
                <a:effectLst/>
              </a:rPr>
              <a:t> TensorFlow, especially with </a:t>
            </a:r>
            <a:r>
              <a:rPr lang="en-GB" sz="1600" b="0" i="0" u="none" strike="noStrike" dirty="0" err="1">
                <a:solidFill>
                  <a:srgbClr val="000000"/>
                </a:solidFill>
                <a:effectLst/>
              </a:rPr>
              <a:t>Keras</a:t>
            </a:r>
            <a:r>
              <a:rPr lang="en-GB" sz="1600" b="0" i="0" u="none" strike="noStrike" dirty="0">
                <a:solidFill>
                  <a:srgbClr val="000000"/>
                </a:solidFill>
                <a:effectLst/>
              </a:rPr>
              <a:t>, offers a complete solution within a single ecosystem.</a:t>
            </a:r>
          </a:p>
          <a:p>
            <a:pPr marL="285750" indent="-285750" algn="l">
              <a:buFont typeface="Wingdings" pitchFamily="2" charset="2"/>
              <a:buChar char="Ø"/>
            </a:pPr>
            <a:r>
              <a:rPr lang="en-GB" sz="1600" b="1" i="0" u="none" strike="noStrike" dirty="0">
                <a:solidFill>
                  <a:srgbClr val="000000"/>
                </a:solidFill>
                <a:effectLst/>
              </a:rPr>
              <a:t>If you value Pythonic simplicity and flexibility:</a:t>
            </a:r>
            <a:r>
              <a:rPr lang="en-GB" sz="1600" b="0" i="0" u="none" strike="noStrike" dirty="0">
                <a:solidFill>
                  <a:srgbClr val="000000"/>
                </a:solidFill>
                <a:effectLst/>
              </a:rPr>
              <a:t> </a:t>
            </a:r>
            <a:r>
              <a:rPr lang="en-GB" sz="1600" b="0" i="0" u="none" strike="noStrike" dirty="0" err="1">
                <a:solidFill>
                  <a:srgbClr val="000000"/>
                </a:solidFill>
                <a:effectLst/>
              </a:rPr>
              <a:t>PyTorch's</a:t>
            </a:r>
            <a:r>
              <a:rPr lang="en-GB" sz="1600" b="0" i="0" u="none" strike="noStrike" dirty="0">
                <a:solidFill>
                  <a:srgbClr val="000000"/>
                </a:solidFill>
                <a:effectLst/>
              </a:rPr>
              <a:t> design aligns well with Python development practices.</a:t>
            </a:r>
          </a:p>
          <a:p>
            <a:pPr algn="l"/>
            <a:r>
              <a:rPr lang="en-GB" sz="1600" b="0" i="0" u="none" strike="noStrike" dirty="0">
                <a:solidFill>
                  <a:srgbClr val="000000"/>
                </a:solidFill>
                <a:effectLst/>
              </a:rPr>
              <a:t>In reality, the lines between the two frameworks have blurred significantly in recent years. TensorFlow 2.x has adopted eager execution, making it more dynamic and easier to use. </a:t>
            </a:r>
            <a:r>
              <a:rPr lang="en-GB" sz="1600" b="0" i="0" u="none" strike="noStrike" dirty="0" err="1">
                <a:solidFill>
                  <a:srgbClr val="000000"/>
                </a:solidFill>
                <a:effectLst/>
              </a:rPr>
              <a:t>PyTorch</a:t>
            </a:r>
            <a:r>
              <a:rPr lang="en-GB" sz="1600" b="0" i="0" u="none" strike="noStrike" dirty="0">
                <a:solidFill>
                  <a:srgbClr val="000000"/>
                </a:solidFill>
                <a:effectLst/>
              </a:rPr>
              <a:t> has made significant progress in production deployment capabilities. Many researchers and practitioners are becoming proficient in both frameworks, leveraging their respective strengths for different tasks.</a:t>
            </a:r>
          </a:p>
          <a:p>
            <a:pPr algn="l"/>
            <a:endParaRPr lang="en-GB" sz="1600" b="1" i="0" u="none" strike="noStrike" dirty="0">
              <a:solidFill>
                <a:srgbClr val="404040"/>
              </a:solidFill>
              <a:effectLst/>
              <a:latin typeface="+mj-lt"/>
            </a:endParaRPr>
          </a:p>
          <a:p>
            <a:pPr algn="l"/>
            <a:endParaRPr lang="en-GB" sz="1600" i="0" u="none" strike="noStrike" dirty="0">
              <a:solidFill>
                <a:srgbClr val="000000"/>
              </a:solidFill>
              <a:effectLst/>
              <a:latin typeface="+mj-lt"/>
            </a:endParaRPr>
          </a:p>
        </p:txBody>
      </p:sp>
      <p:sp>
        <p:nvSpPr>
          <p:cNvPr id="6" name="Rectangle 1">
            <a:extLst>
              <a:ext uri="{FF2B5EF4-FFF2-40B4-BE49-F238E27FC236}">
                <a16:creationId xmlns:a16="http://schemas.microsoft.com/office/drawing/2014/main" id="{C28D9F55-28C5-9463-469D-07196A0B3644}"/>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8887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7FA366A-F050-0EE9-229D-67DEB514855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4AED21C-F3DC-5DC0-0866-6385EDE9E04C}"/>
              </a:ext>
            </a:extLst>
          </p:cNvPr>
          <p:cNvSpPr txBox="1">
            <a:spLocks noGrp="1"/>
          </p:cNvSpPr>
          <p:nvPr>
            <p:ph type="title"/>
          </p:nvPr>
        </p:nvSpPr>
        <p:spPr>
          <a:xfrm>
            <a:off x="407175" y="19826"/>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Setting Up the Environment</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225357A-091F-9D98-1F27-95824E1FCAF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4D0E412-4132-D847-C7DA-9AF1130C687D}"/>
              </a:ext>
            </a:extLst>
          </p:cNvPr>
          <p:cNvSpPr txBox="1"/>
          <p:nvPr/>
        </p:nvSpPr>
        <p:spPr>
          <a:xfrm>
            <a:off x="457696" y="998571"/>
            <a:ext cx="8778240" cy="1400383"/>
          </a:xfrm>
          <a:prstGeom prst="rect">
            <a:avLst/>
          </a:prstGeom>
          <a:noFill/>
        </p:spPr>
        <p:txBody>
          <a:bodyPr wrap="square">
            <a:spAutoFit/>
          </a:bodyPr>
          <a:lstStyle/>
          <a:p>
            <a:pPr algn="l">
              <a:buNone/>
            </a:pPr>
            <a:r>
              <a:rPr lang="en-GB" sz="1600" b="1" i="0" u="none" strike="noStrike" dirty="0">
                <a:solidFill>
                  <a:srgbClr val="404040"/>
                </a:solidFill>
                <a:effectLst/>
                <a:latin typeface="+mj-lt"/>
              </a:rPr>
              <a:t>Option 1: Google </a:t>
            </a:r>
            <a:r>
              <a:rPr lang="en-GB" sz="1600" b="1" i="0" u="none" strike="noStrike" dirty="0" err="1">
                <a:solidFill>
                  <a:srgbClr val="404040"/>
                </a:solidFill>
                <a:effectLst/>
                <a:latin typeface="+mj-lt"/>
              </a:rPr>
              <a:t>Colab</a:t>
            </a:r>
            <a:r>
              <a:rPr lang="en-GB" sz="1600" b="1" i="0" u="none" strike="noStrike" dirty="0">
                <a:solidFill>
                  <a:srgbClr val="404040"/>
                </a:solidFill>
                <a:effectLst/>
                <a:latin typeface="+mj-lt"/>
              </a:rPr>
              <a:t> (Recommended)</a:t>
            </a:r>
          </a:p>
          <a:p>
            <a:pPr algn="l">
              <a:buNone/>
            </a:pPr>
            <a:r>
              <a:rPr lang="en-GB" sz="1600" b="1" i="0" u="none" strike="noStrike" dirty="0">
                <a:solidFill>
                  <a:srgbClr val="404040"/>
                </a:solidFill>
                <a:effectLst/>
                <a:latin typeface="+mj-lt"/>
              </a:rPr>
              <a:t>Steps</a:t>
            </a:r>
            <a:r>
              <a:rPr lang="en-GB" sz="1600" b="0" i="0" u="none" strike="noStrike" dirty="0">
                <a:solidFill>
                  <a:srgbClr val="404040"/>
                </a:solidFill>
                <a:effectLst/>
                <a:latin typeface="+mj-lt"/>
              </a:rPr>
              <a:t>:</a:t>
            </a:r>
          </a:p>
          <a:p>
            <a:pPr algn="l">
              <a:buFont typeface="+mj-lt"/>
              <a:buAutoNum type="arabicPeriod"/>
            </a:pPr>
            <a:r>
              <a:rPr lang="en-GB" sz="1600" b="0" i="0" u="none" strike="noStrike" dirty="0">
                <a:solidFill>
                  <a:srgbClr val="404040"/>
                </a:solidFill>
                <a:effectLst/>
                <a:latin typeface="+mj-lt"/>
              </a:rPr>
              <a:t>Go to </a:t>
            </a:r>
            <a:r>
              <a:rPr lang="en-GB" sz="1600" b="0" i="0" u="none" strike="noStrike" dirty="0">
                <a:solidFill>
                  <a:srgbClr val="404040"/>
                </a:solidFill>
                <a:effectLst/>
                <a:latin typeface="+mj-lt"/>
                <a:hlinkClick r:id="rId3"/>
              </a:rPr>
              <a:t>colab.research.google.com</a:t>
            </a:r>
            <a:endParaRPr lang="en-GB" sz="1600" b="0" i="0" u="none" strike="noStrike" dirty="0">
              <a:solidFill>
                <a:srgbClr val="404040"/>
              </a:solidFill>
              <a:effectLst/>
              <a:latin typeface="+mj-lt"/>
            </a:endParaRPr>
          </a:p>
          <a:p>
            <a:pPr algn="l">
              <a:spcBef>
                <a:spcPts val="300"/>
              </a:spcBef>
              <a:buFont typeface="+mj-lt"/>
              <a:buAutoNum type="arabicPeriod"/>
            </a:pPr>
            <a:r>
              <a:rPr lang="en-GB" sz="1600" b="0" i="0" u="none" strike="noStrike" dirty="0">
                <a:solidFill>
                  <a:srgbClr val="404040"/>
                </a:solidFill>
                <a:effectLst/>
                <a:latin typeface="+mj-lt"/>
              </a:rPr>
              <a:t>Click New Notebook</a:t>
            </a:r>
          </a:p>
          <a:p>
            <a:pPr algn="l">
              <a:spcBef>
                <a:spcPts val="300"/>
              </a:spcBef>
              <a:spcAft>
                <a:spcPts val="300"/>
              </a:spcAft>
              <a:buFont typeface="+mj-lt"/>
              <a:buAutoNum type="arabicPeriod"/>
            </a:pPr>
            <a:r>
              <a:rPr lang="en-GB" sz="1600" b="0" i="0" u="none" strike="noStrike" dirty="0">
                <a:solidFill>
                  <a:srgbClr val="404040"/>
                </a:solidFill>
                <a:effectLst/>
                <a:latin typeface="+mj-lt"/>
              </a:rPr>
              <a:t>Verify GPU:</a:t>
            </a:r>
          </a:p>
        </p:txBody>
      </p:sp>
      <p:sp>
        <p:nvSpPr>
          <p:cNvPr id="6" name="Rectangle 1">
            <a:extLst>
              <a:ext uri="{FF2B5EF4-FFF2-40B4-BE49-F238E27FC236}">
                <a16:creationId xmlns:a16="http://schemas.microsoft.com/office/drawing/2014/main" id="{34933B6A-48E8-7D42-031C-536329DB7058}"/>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F37145AB-24A6-F516-7C0B-7F1B0F84F988}"/>
              </a:ext>
            </a:extLst>
          </p:cNvPr>
          <p:cNvSpPr txBox="1"/>
          <p:nvPr/>
        </p:nvSpPr>
        <p:spPr>
          <a:xfrm>
            <a:off x="1932877" y="2339668"/>
            <a:ext cx="4668644" cy="738664"/>
          </a:xfrm>
          <a:prstGeom prst="rect">
            <a:avLst/>
          </a:prstGeom>
          <a:solidFill>
            <a:schemeClr val="accent1">
              <a:lumMod val="40000"/>
              <a:lumOff val="60000"/>
            </a:schemeClr>
          </a:solidFill>
        </p:spPr>
        <p:txBody>
          <a:bodyPr wrap="square">
            <a:spAutoFit/>
          </a:bodyPr>
          <a:lstStyle/>
          <a:p>
            <a:r>
              <a:rPr lang="en-US" dirty="0"/>
              <a:t>!</a:t>
            </a:r>
            <a:r>
              <a:rPr lang="en-US" dirty="0" err="1"/>
              <a:t>nvidia-smi</a:t>
            </a:r>
            <a:r>
              <a:rPr lang="en-US" dirty="0"/>
              <a:t>  # Check GPU</a:t>
            </a:r>
          </a:p>
          <a:p>
            <a:r>
              <a:rPr lang="en-US" dirty="0"/>
              <a:t>import </a:t>
            </a:r>
            <a:r>
              <a:rPr lang="en-US" dirty="0" err="1"/>
              <a:t>tensorflow</a:t>
            </a:r>
            <a:r>
              <a:rPr lang="en-US" dirty="0"/>
              <a:t> as </a:t>
            </a:r>
            <a:r>
              <a:rPr lang="en-US" dirty="0" err="1"/>
              <a:t>tf</a:t>
            </a:r>
            <a:endParaRPr lang="en-US" dirty="0"/>
          </a:p>
          <a:p>
            <a:r>
              <a:rPr lang="en-US" dirty="0" err="1"/>
              <a:t>tf.test.gpu_device_name</a:t>
            </a:r>
            <a:r>
              <a:rPr lang="en-US" dirty="0"/>
              <a:t>()  # Verify TF GPU access</a:t>
            </a:r>
          </a:p>
        </p:txBody>
      </p:sp>
      <p:sp>
        <p:nvSpPr>
          <p:cNvPr id="8" name="TextBox 7">
            <a:extLst>
              <a:ext uri="{FF2B5EF4-FFF2-40B4-BE49-F238E27FC236}">
                <a16:creationId xmlns:a16="http://schemas.microsoft.com/office/drawing/2014/main" id="{A0A0A0A3-208D-784D-4B12-40CF5ACEB16F}"/>
              </a:ext>
            </a:extLst>
          </p:cNvPr>
          <p:cNvSpPr txBox="1"/>
          <p:nvPr/>
        </p:nvSpPr>
        <p:spPr>
          <a:xfrm>
            <a:off x="1300974" y="3394864"/>
            <a:ext cx="4668644" cy="869469"/>
          </a:xfrm>
          <a:prstGeom prst="rect">
            <a:avLst/>
          </a:prstGeom>
          <a:noFill/>
        </p:spPr>
        <p:txBody>
          <a:bodyPr wrap="square">
            <a:spAutoFit/>
          </a:bodyPr>
          <a:lstStyle/>
          <a:p>
            <a:pPr algn="l">
              <a:buNone/>
            </a:pPr>
            <a:r>
              <a:rPr lang="en-GB" sz="1600" b="1" i="0" u="none" strike="noStrike" dirty="0">
                <a:solidFill>
                  <a:srgbClr val="404040"/>
                </a:solidFill>
                <a:effectLst/>
                <a:latin typeface="+mj-lt"/>
              </a:rPr>
              <a:t>Pros</a:t>
            </a:r>
            <a:r>
              <a:rPr lang="en-GB" sz="1600" b="0" i="0" u="none" strike="noStrike" dirty="0">
                <a:solidFill>
                  <a:srgbClr val="404040"/>
                </a:solidFill>
                <a:effectLst/>
                <a:latin typeface="+mj-lt"/>
              </a:rPr>
              <a:t>:</a:t>
            </a:r>
          </a:p>
          <a:p>
            <a:pPr marL="285750" indent="-285750" algn="l">
              <a:buFont typeface="Wingdings" pitchFamily="2" charset="2"/>
              <a:buChar char="ü"/>
            </a:pPr>
            <a:r>
              <a:rPr lang="en-GB" sz="1600" b="0" i="0" u="none" strike="noStrike" dirty="0">
                <a:solidFill>
                  <a:srgbClr val="404040"/>
                </a:solidFill>
                <a:effectLst/>
                <a:latin typeface="+mj-lt"/>
              </a:rPr>
              <a:t>Free GPU (T4/K80)</a:t>
            </a:r>
          </a:p>
          <a:p>
            <a:pPr marL="285750" indent="-285750" algn="l">
              <a:spcBef>
                <a:spcPts val="300"/>
              </a:spcBef>
              <a:buFont typeface="Wingdings" pitchFamily="2" charset="2"/>
              <a:buChar char="ü"/>
            </a:pPr>
            <a:r>
              <a:rPr lang="en-GB" sz="1600" b="0" i="0" u="none" strike="noStrike" dirty="0">
                <a:solidFill>
                  <a:srgbClr val="404040"/>
                </a:solidFill>
                <a:effectLst/>
                <a:latin typeface="+mj-lt"/>
              </a:rPr>
              <a:t>No setup required</a:t>
            </a:r>
          </a:p>
        </p:txBody>
      </p:sp>
    </p:spTree>
    <p:extLst>
      <p:ext uri="{BB962C8B-B14F-4D97-AF65-F5344CB8AC3E}">
        <p14:creationId xmlns:p14="http://schemas.microsoft.com/office/powerpoint/2010/main" val="1868002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A85DAE0-1599-AA5F-CE88-C05B4A42024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01BDF3B-2432-7107-C4DA-FF8D907FBE6E}"/>
              </a:ext>
            </a:extLst>
          </p:cNvPr>
          <p:cNvSpPr txBox="1">
            <a:spLocks noGrp="1"/>
          </p:cNvSpPr>
          <p:nvPr>
            <p:ph type="title"/>
          </p:nvPr>
        </p:nvSpPr>
        <p:spPr>
          <a:xfrm>
            <a:off x="407175" y="19826"/>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Setting Up the Environment</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1E91F15-4D12-8CA7-8A2C-D7AC2426CB1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F3618C0-CB18-16AC-9EFE-D264D50C029F}"/>
              </a:ext>
            </a:extLst>
          </p:cNvPr>
          <p:cNvSpPr txBox="1"/>
          <p:nvPr/>
        </p:nvSpPr>
        <p:spPr>
          <a:xfrm>
            <a:off x="457696" y="998571"/>
            <a:ext cx="8778240" cy="954107"/>
          </a:xfrm>
          <a:prstGeom prst="rect">
            <a:avLst/>
          </a:prstGeom>
          <a:noFill/>
        </p:spPr>
        <p:txBody>
          <a:bodyPr wrap="square">
            <a:spAutoFit/>
          </a:bodyPr>
          <a:lstStyle/>
          <a:p>
            <a:pPr algn="l">
              <a:buNone/>
            </a:pPr>
            <a:r>
              <a:rPr lang="en-GB" sz="2000" b="1" i="0" u="none" strike="noStrike" dirty="0">
                <a:solidFill>
                  <a:srgbClr val="404040"/>
                </a:solidFill>
                <a:effectLst/>
                <a:latin typeface="Inter" panose="02000503000000020004" pitchFamily="2" charset="0"/>
              </a:rPr>
              <a:t>Option 2: Local </a:t>
            </a:r>
            <a:r>
              <a:rPr lang="en-GB" sz="2000" b="1" i="0" u="none" strike="noStrike" dirty="0" err="1">
                <a:solidFill>
                  <a:srgbClr val="404040"/>
                </a:solidFill>
                <a:effectLst/>
                <a:latin typeface="Inter" panose="02000503000000020004" pitchFamily="2" charset="0"/>
              </a:rPr>
              <a:t>Jupyter</a:t>
            </a:r>
            <a:r>
              <a:rPr lang="en-GB" sz="2000" b="1" i="0" u="none" strike="noStrike" dirty="0">
                <a:solidFill>
                  <a:srgbClr val="404040"/>
                </a:solidFill>
                <a:effectLst/>
                <a:latin typeface="Inter" panose="02000503000000020004" pitchFamily="2" charset="0"/>
              </a:rPr>
              <a:t> Notebook</a:t>
            </a:r>
          </a:p>
          <a:p>
            <a:pPr algn="l"/>
            <a:r>
              <a:rPr lang="en-GB" sz="2000" b="1" i="0" u="none" strike="noStrike" dirty="0">
                <a:solidFill>
                  <a:srgbClr val="404040"/>
                </a:solidFill>
                <a:effectLst/>
                <a:latin typeface="Inter" panose="02000503000000020004" pitchFamily="2" charset="0"/>
              </a:rPr>
              <a:t>Installation</a:t>
            </a:r>
            <a:r>
              <a:rPr lang="en-GB" sz="2000" b="0" i="0" u="none" strike="noStrike" dirty="0">
                <a:solidFill>
                  <a:srgbClr val="404040"/>
                </a:solidFill>
                <a:effectLst/>
                <a:latin typeface="Inter" panose="02000503000000020004" pitchFamily="2" charset="0"/>
              </a:rPr>
              <a:t>:</a:t>
            </a:r>
          </a:p>
          <a:p>
            <a:pPr algn="l">
              <a:buNone/>
            </a:pPr>
            <a:endParaRPr lang="en-GB" sz="1600" b="0" i="0" u="none" strike="noStrike" dirty="0">
              <a:solidFill>
                <a:srgbClr val="404040"/>
              </a:solidFill>
              <a:effectLst/>
              <a:latin typeface="+mj-lt"/>
            </a:endParaRPr>
          </a:p>
        </p:txBody>
      </p:sp>
      <p:sp>
        <p:nvSpPr>
          <p:cNvPr id="6" name="Rectangle 1">
            <a:extLst>
              <a:ext uri="{FF2B5EF4-FFF2-40B4-BE49-F238E27FC236}">
                <a16:creationId xmlns:a16="http://schemas.microsoft.com/office/drawing/2014/main" id="{1126A551-78FA-5F29-C74A-6C9BC47A921D}"/>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F44F53C2-0CB4-3BBD-1C83-A18FD72C4E9B}"/>
              </a:ext>
            </a:extLst>
          </p:cNvPr>
          <p:cNvSpPr txBox="1"/>
          <p:nvPr/>
        </p:nvSpPr>
        <p:spPr>
          <a:xfrm>
            <a:off x="1895706" y="1440429"/>
            <a:ext cx="4668644" cy="1384995"/>
          </a:xfrm>
          <a:prstGeom prst="rect">
            <a:avLst/>
          </a:prstGeom>
          <a:solidFill>
            <a:schemeClr val="accent1">
              <a:lumMod val="40000"/>
              <a:lumOff val="60000"/>
            </a:schemeClr>
          </a:solidFill>
        </p:spPr>
        <p:txBody>
          <a:bodyPr wrap="square">
            <a:spAutoFit/>
          </a:bodyPr>
          <a:lstStyle/>
          <a:p>
            <a:r>
              <a:rPr lang="en-US" dirty="0"/>
              <a:t># Create </a:t>
            </a:r>
            <a:r>
              <a:rPr lang="en-US" dirty="0" err="1"/>
              <a:t>conda</a:t>
            </a:r>
            <a:r>
              <a:rPr lang="en-US" dirty="0"/>
              <a:t> environment</a:t>
            </a:r>
          </a:p>
          <a:p>
            <a:r>
              <a:rPr lang="en-US" dirty="0" err="1"/>
              <a:t>conda</a:t>
            </a:r>
            <a:r>
              <a:rPr lang="en-US" dirty="0"/>
              <a:t> create -n </a:t>
            </a:r>
            <a:r>
              <a:rPr lang="en-US" dirty="0" err="1"/>
              <a:t>dl_env</a:t>
            </a:r>
            <a:r>
              <a:rPr lang="en-US" dirty="0"/>
              <a:t> python=3.8</a:t>
            </a:r>
          </a:p>
          <a:p>
            <a:r>
              <a:rPr lang="en-US" dirty="0" err="1"/>
              <a:t>conda</a:t>
            </a:r>
            <a:r>
              <a:rPr lang="en-US" dirty="0"/>
              <a:t> activate </a:t>
            </a:r>
            <a:r>
              <a:rPr lang="en-US" dirty="0" err="1"/>
              <a:t>dl_env</a:t>
            </a:r>
            <a:endParaRPr lang="en-US" dirty="0"/>
          </a:p>
          <a:p>
            <a:endParaRPr lang="en-US" dirty="0"/>
          </a:p>
          <a:p>
            <a:r>
              <a:rPr lang="en-US" dirty="0"/>
              <a:t># Install frameworks</a:t>
            </a:r>
          </a:p>
          <a:p>
            <a:r>
              <a:rPr lang="en-US" dirty="0"/>
              <a:t>pip install </a:t>
            </a:r>
            <a:r>
              <a:rPr lang="en-US" dirty="0" err="1"/>
              <a:t>tensorflow</a:t>
            </a:r>
            <a:r>
              <a:rPr lang="en-US" dirty="0"/>
              <a:t> torch </a:t>
            </a:r>
            <a:r>
              <a:rPr lang="en-US" dirty="0" err="1"/>
              <a:t>jupyterlab</a:t>
            </a:r>
            <a:endParaRPr lang="en-US" dirty="0"/>
          </a:p>
        </p:txBody>
      </p:sp>
      <p:sp>
        <p:nvSpPr>
          <p:cNvPr id="8" name="TextBox 7">
            <a:extLst>
              <a:ext uri="{FF2B5EF4-FFF2-40B4-BE49-F238E27FC236}">
                <a16:creationId xmlns:a16="http://schemas.microsoft.com/office/drawing/2014/main" id="{DA5D7F49-E5EC-0DA1-01D9-803BA217F28A}"/>
              </a:ext>
            </a:extLst>
          </p:cNvPr>
          <p:cNvSpPr txBox="1"/>
          <p:nvPr/>
        </p:nvSpPr>
        <p:spPr>
          <a:xfrm>
            <a:off x="407175" y="3027760"/>
            <a:ext cx="4668644" cy="400110"/>
          </a:xfrm>
          <a:prstGeom prst="rect">
            <a:avLst/>
          </a:prstGeom>
          <a:noFill/>
        </p:spPr>
        <p:txBody>
          <a:bodyPr wrap="square">
            <a:spAutoFit/>
          </a:bodyPr>
          <a:lstStyle/>
          <a:p>
            <a:pPr algn="l">
              <a:buNone/>
            </a:pPr>
            <a:r>
              <a:rPr lang="en-GB" sz="2000" b="1" i="0" u="none" strike="noStrike" dirty="0">
                <a:solidFill>
                  <a:srgbClr val="404040"/>
                </a:solidFill>
                <a:effectLst/>
                <a:latin typeface="Inter" panose="02000503000000020004" pitchFamily="2" charset="0"/>
              </a:rPr>
              <a:t>Launch</a:t>
            </a:r>
            <a:r>
              <a:rPr lang="en-GB" sz="2000" b="0" i="0" u="none" strike="noStrike" dirty="0">
                <a:solidFill>
                  <a:srgbClr val="404040"/>
                </a:solidFill>
                <a:effectLst/>
                <a:latin typeface="Inter" panose="02000503000000020004" pitchFamily="2" charset="0"/>
              </a:rPr>
              <a:t>:</a:t>
            </a:r>
            <a:endParaRPr lang="en-GB" sz="1600" b="0" i="0" u="none" strike="noStrike" dirty="0">
              <a:solidFill>
                <a:srgbClr val="404040"/>
              </a:solidFill>
              <a:effectLst/>
              <a:latin typeface="+mj-lt"/>
            </a:endParaRPr>
          </a:p>
        </p:txBody>
      </p:sp>
      <p:sp>
        <p:nvSpPr>
          <p:cNvPr id="7" name="TextBox 6">
            <a:extLst>
              <a:ext uri="{FF2B5EF4-FFF2-40B4-BE49-F238E27FC236}">
                <a16:creationId xmlns:a16="http://schemas.microsoft.com/office/drawing/2014/main" id="{903CAF52-1D9A-DCB6-8264-926EDBE37487}"/>
              </a:ext>
            </a:extLst>
          </p:cNvPr>
          <p:cNvSpPr txBox="1"/>
          <p:nvPr/>
        </p:nvSpPr>
        <p:spPr>
          <a:xfrm>
            <a:off x="1870259" y="3266555"/>
            <a:ext cx="4650058" cy="307777"/>
          </a:xfrm>
          <a:prstGeom prst="rect">
            <a:avLst/>
          </a:prstGeom>
          <a:solidFill>
            <a:schemeClr val="accent1">
              <a:lumMod val="40000"/>
              <a:lumOff val="60000"/>
            </a:schemeClr>
          </a:solidFill>
        </p:spPr>
        <p:txBody>
          <a:bodyPr wrap="square">
            <a:spAutoFit/>
          </a:bodyPr>
          <a:lstStyle/>
          <a:p>
            <a:r>
              <a:rPr lang="en-US" dirty="0" err="1"/>
              <a:t>jupyter</a:t>
            </a:r>
            <a:r>
              <a:rPr lang="en-US" dirty="0"/>
              <a:t> lab  # Opens browser-based IDE</a:t>
            </a:r>
          </a:p>
        </p:txBody>
      </p:sp>
    </p:spTree>
    <p:extLst>
      <p:ext uri="{BB962C8B-B14F-4D97-AF65-F5344CB8AC3E}">
        <p14:creationId xmlns:p14="http://schemas.microsoft.com/office/powerpoint/2010/main" val="254826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C541631-D520-3325-4019-607FD4A77BF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7B7DBB0-1D2C-DBB2-8937-D75D2C4CB2D1}"/>
              </a:ext>
            </a:extLst>
          </p:cNvPr>
          <p:cNvSpPr txBox="1">
            <a:spLocks noGrp="1"/>
          </p:cNvSpPr>
          <p:nvPr>
            <p:ph type="title"/>
          </p:nvPr>
        </p:nvSpPr>
        <p:spPr>
          <a:xfrm>
            <a:off x="407175" y="19826"/>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Key Concepts of TensorFlow Illustrated:</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445402AB-6301-16D0-0412-F549FE1E0F5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4D4A800-726A-290F-D3EF-992221C779D0}"/>
              </a:ext>
            </a:extLst>
          </p:cNvPr>
          <p:cNvSpPr txBox="1"/>
          <p:nvPr/>
        </p:nvSpPr>
        <p:spPr>
          <a:xfrm>
            <a:off x="457696" y="998571"/>
            <a:ext cx="8778240" cy="3785652"/>
          </a:xfrm>
          <a:prstGeom prst="rect">
            <a:avLst/>
          </a:prstGeom>
          <a:noFill/>
        </p:spPr>
        <p:txBody>
          <a:bodyPr wrap="square">
            <a:spAutoFit/>
          </a:bodyPr>
          <a:lstStyle/>
          <a:p>
            <a:pPr marL="285750" indent="-285750" algn="l">
              <a:buFont typeface="Wingdings" pitchFamily="2" charset="2"/>
              <a:buChar char="Ø"/>
            </a:pPr>
            <a:r>
              <a:rPr lang="en-GB" sz="1600" b="1" i="0" u="none" strike="noStrike" dirty="0">
                <a:solidFill>
                  <a:srgbClr val="000000"/>
                </a:solidFill>
                <a:effectLst/>
              </a:rPr>
              <a:t>Tensors:</a:t>
            </a:r>
            <a:r>
              <a:rPr lang="en-GB" sz="1600" b="0" i="0" u="none" strike="noStrike" dirty="0">
                <a:solidFill>
                  <a:srgbClr val="000000"/>
                </a:solidFill>
                <a:effectLst/>
              </a:rPr>
              <a:t> The fundamental data structure in TensorFlow, representing multi-dimensional arrays.</a:t>
            </a:r>
          </a:p>
          <a:p>
            <a:pPr marL="285750" indent="-285750" algn="l">
              <a:buFont typeface="Wingdings" pitchFamily="2" charset="2"/>
              <a:buChar char="Ø"/>
            </a:pPr>
            <a:r>
              <a:rPr lang="en-GB" sz="1600" b="1" i="0" u="none" strike="noStrike" dirty="0">
                <a:solidFill>
                  <a:srgbClr val="000000"/>
                </a:solidFill>
                <a:effectLst/>
              </a:rPr>
              <a:t>Operations:</a:t>
            </a:r>
            <a:r>
              <a:rPr lang="en-GB" sz="1600" b="0" i="0" u="none" strike="noStrike" dirty="0">
                <a:solidFill>
                  <a:srgbClr val="000000"/>
                </a:solidFill>
                <a:effectLst/>
              </a:rPr>
              <a:t> Functions that manipulate tensors.</a:t>
            </a:r>
          </a:p>
          <a:p>
            <a:pPr marL="285750" indent="-285750" algn="l">
              <a:buFont typeface="Wingdings" pitchFamily="2" charset="2"/>
              <a:buChar char="Ø"/>
            </a:pPr>
            <a:r>
              <a:rPr lang="en-GB" sz="1600" b="1" i="0" u="none" strike="noStrike" dirty="0">
                <a:solidFill>
                  <a:srgbClr val="000000"/>
                </a:solidFill>
                <a:effectLst/>
              </a:rPr>
              <a:t>Computational Graph (Implicit with Eager Execution):</a:t>
            </a:r>
            <a:r>
              <a:rPr lang="en-GB" sz="1600" b="0" i="0" u="none" strike="noStrike" dirty="0">
                <a:solidFill>
                  <a:srgbClr val="000000"/>
                </a:solidFill>
                <a:effectLst/>
              </a:rPr>
              <a:t> While TensorFlow 2.x defaults to eager execution (running operations immediately), it still builds an underlying computational graph for optimization during training and deployment.</a:t>
            </a:r>
          </a:p>
          <a:p>
            <a:pPr marL="285750" indent="-285750" algn="l">
              <a:buFont typeface="Wingdings" pitchFamily="2" charset="2"/>
              <a:buChar char="Ø"/>
            </a:pPr>
            <a:r>
              <a:rPr lang="en-GB" sz="1600" b="1" i="0" u="none" strike="noStrike" dirty="0">
                <a:solidFill>
                  <a:srgbClr val="000000"/>
                </a:solidFill>
                <a:effectLst/>
              </a:rPr>
              <a:t>Layers:</a:t>
            </a:r>
            <a:r>
              <a:rPr lang="en-GB" sz="1600" b="0" i="0" u="none" strike="noStrike" dirty="0">
                <a:solidFill>
                  <a:srgbClr val="000000"/>
                </a:solidFill>
                <a:effectLst/>
              </a:rPr>
              <a:t> Building blocks of neural networks.</a:t>
            </a:r>
          </a:p>
          <a:p>
            <a:pPr marL="285750" indent="-285750" algn="l">
              <a:buFont typeface="Wingdings" pitchFamily="2" charset="2"/>
              <a:buChar char="Ø"/>
            </a:pPr>
            <a:r>
              <a:rPr lang="en-GB" sz="1600" b="1" i="0" u="none" strike="noStrike" dirty="0">
                <a:solidFill>
                  <a:srgbClr val="000000"/>
                </a:solidFill>
                <a:effectLst/>
              </a:rPr>
              <a:t>Models:</a:t>
            </a:r>
            <a:r>
              <a:rPr lang="en-GB" sz="1600" b="0" i="0" u="none" strike="noStrike" dirty="0">
                <a:solidFill>
                  <a:srgbClr val="000000"/>
                </a:solidFill>
                <a:effectLst/>
              </a:rPr>
              <a:t> Collections of layers that define the network's architecture.</a:t>
            </a:r>
          </a:p>
          <a:p>
            <a:pPr marL="285750" indent="-285750" algn="l">
              <a:buFont typeface="Wingdings" pitchFamily="2" charset="2"/>
              <a:buChar char="Ø"/>
            </a:pPr>
            <a:r>
              <a:rPr lang="en-GB" sz="1600" b="1" i="0" u="none" strike="noStrike" dirty="0">
                <a:solidFill>
                  <a:srgbClr val="000000"/>
                </a:solidFill>
                <a:effectLst/>
              </a:rPr>
              <a:t>Training:</a:t>
            </a:r>
            <a:r>
              <a:rPr lang="en-GB" sz="1600" b="0" i="0" u="none" strike="noStrike" dirty="0">
                <a:solidFill>
                  <a:srgbClr val="000000"/>
                </a:solidFill>
                <a:effectLst/>
              </a:rPr>
              <a:t> The process of adjusting the model's parameters to minimize the loss function on the training data.</a:t>
            </a:r>
          </a:p>
          <a:p>
            <a:pPr marL="285750" indent="-285750" algn="l">
              <a:buFont typeface="Wingdings" pitchFamily="2" charset="2"/>
              <a:buChar char="Ø"/>
            </a:pPr>
            <a:r>
              <a:rPr lang="en-GB" sz="1600" b="1" i="0" u="none" strike="noStrike" dirty="0">
                <a:solidFill>
                  <a:srgbClr val="000000"/>
                </a:solidFill>
                <a:effectLst/>
              </a:rPr>
              <a:t>Evaluation:</a:t>
            </a:r>
            <a:r>
              <a:rPr lang="en-GB" sz="1600" b="0" i="0" u="none" strike="noStrike" dirty="0">
                <a:solidFill>
                  <a:srgbClr val="000000"/>
                </a:solidFill>
                <a:effectLst/>
              </a:rPr>
              <a:t> Assessing the trained model's performance on unseen data.</a:t>
            </a:r>
          </a:p>
          <a:p>
            <a:pPr marL="285750" indent="-285750" algn="l">
              <a:buFont typeface="Wingdings" pitchFamily="2" charset="2"/>
              <a:buChar char="Ø"/>
            </a:pPr>
            <a:r>
              <a:rPr lang="en-GB" sz="1600" b="0" i="0" u="none" strike="noStrike" dirty="0">
                <a:solidFill>
                  <a:srgbClr val="000000"/>
                </a:solidFill>
                <a:effectLst/>
              </a:rPr>
              <a:t>This is just a glimpse into the capabilities of TensorFlow. It's a powerful framework used for a wide range of machine learning tasks, from image recognition and natural language processing to time series analysis and reinforcement learning.</a:t>
            </a:r>
          </a:p>
          <a:p>
            <a:pPr algn="l">
              <a:buNone/>
            </a:pPr>
            <a:endParaRPr lang="en-GB" sz="1600" b="0" i="0" u="none" strike="noStrike" dirty="0">
              <a:solidFill>
                <a:srgbClr val="404040"/>
              </a:solidFill>
              <a:effectLst/>
              <a:latin typeface="+mj-lt"/>
            </a:endParaRPr>
          </a:p>
        </p:txBody>
      </p:sp>
      <p:sp>
        <p:nvSpPr>
          <p:cNvPr id="6" name="Rectangle 1">
            <a:extLst>
              <a:ext uri="{FF2B5EF4-FFF2-40B4-BE49-F238E27FC236}">
                <a16:creationId xmlns:a16="http://schemas.microsoft.com/office/drawing/2014/main" id="{D7BA6454-4C6A-3962-00F8-0DD4E94C5EA3}"/>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4178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0E142CC-4A1F-D7AD-3163-5D85ADB1421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7E218C9-BD22-E995-EB7E-5D681B4BB244}"/>
              </a:ext>
            </a:extLst>
          </p:cNvPr>
          <p:cNvSpPr txBox="1">
            <a:spLocks noGrp="1"/>
          </p:cNvSpPr>
          <p:nvPr>
            <p:ph type="title"/>
          </p:nvPr>
        </p:nvSpPr>
        <p:spPr>
          <a:xfrm>
            <a:off x="407175" y="19826"/>
            <a:ext cx="8329650" cy="627900"/>
          </a:xfrm>
          <a:prstGeom prst="rect">
            <a:avLst/>
          </a:prstGeom>
          <a:noFill/>
          <a:ln>
            <a:noFill/>
          </a:ln>
        </p:spPr>
        <p:txBody>
          <a:bodyPr spcFirstLastPara="1" wrap="square" lIns="91425" tIns="91425" rIns="91425" bIns="91425" anchor="t" anchorCtr="0">
            <a:normAutofit fontScale="90000"/>
          </a:bodyPr>
          <a:lstStyle/>
          <a:p>
            <a:r>
              <a:rPr lang="en-GB" sz="3200" b="1" i="0" u="none" strike="noStrike" dirty="0">
                <a:solidFill>
                  <a:srgbClr val="7030A0"/>
                </a:solidFill>
                <a:effectLst/>
                <a:latin typeface="Inter" panose="02000503000000020004" pitchFamily="2" charset="0"/>
              </a:rPr>
              <a:t>Key Concepts of </a:t>
            </a:r>
            <a:r>
              <a:rPr lang="en-GB" sz="3200" dirty="0" err="1">
                <a:solidFill>
                  <a:srgbClr val="7030A0"/>
                </a:solidFill>
                <a:latin typeface="Inter" panose="02000503000000020004" pitchFamily="2" charset="0"/>
              </a:rPr>
              <a:t>PyTorch</a:t>
            </a:r>
            <a:r>
              <a:rPr lang="en-GB" sz="3200" b="1" i="0" u="none" strike="noStrike" dirty="0">
                <a:solidFill>
                  <a:srgbClr val="7030A0"/>
                </a:solidFill>
                <a:effectLst/>
                <a:latin typeface="Inter" panose="02000503000000020004" pitchFamily="2" charset="0"/>
              </a:rPr>
              <a:t> Illustrated:</a:t>
            </a: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2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287C336-41BE-3B1A-B16D-8D09E964454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6C5E6B4-DF5F-2013-F521-9AEA55709DF5}"/>
              </a:ext>
            </a:extLst>
          </p:cNvPr>
          <p:cNvSpPr txBox="1"/>
          <p:nvPr/>
        </p:nvSpPr>
        <p:spPr>
          <a:xfrm>
            <a:off x="457696" y="998571"/>
            <a:ext cx="8778240" cy="3785652"/>
          </a:xfrm>
          <a:prstGeom prst="rect">
            <a:avLst/>
          </a:prstGeom>
          <a:noFill/>
        </p:spPr>
        <p:txBody>
          <a:bodyPr wrap="square">
            <a:spAutoFit/>
          </a:bodyPr>
          <a:lstStyle/>
          <a:p>
            <a:pPr marL="285750" indent="-285750" algn="l">
              <a:buFont typeface="Wingdings" pitchFamily="2" charset="2"/>
              <a:buChar char="Ø"/>
            </a:pPr>
            <a:r>
              <a:rPr lang="en-GB" sz="2000" b="1" dirty="0"/>
              <a:t>Tensors:</a:t>
            </a:r>
            <a:r>
              <a:rPr lang="en-GB" sz="2000" dirty="0"/>
              <a:t> The fundamental data structure.</a:t>
            </a:r>
          </a:p>
          <a:p>
            <a:pPr marL="285750" indent="-285750" algn="l">
              <a:buFont typeface="Wingdings" pitchFamily="2" charset="2"/>
              <a:buChar char="Ø"/>
            </a:pPr>
            <a:r>
              <a:rPr lang="en-GB" sz="2000" b="1" dirty="0" err="1"/>
              <a:t>torch.nn.Module</a:t>
            </a:r>
            <a:r>
              <a:rPr lang="en-GB" sz="2000" b="1" dirty="0"/>
              <a:t>:</a:t>
            </a:r>
            <a:r>
              <a:rPr lang="en-GB" sz="2000" dirty="0"/>
              <a:t> The building block for creating neural networks.</a:t>
            </a:r>
          </a:p>
          <a:p>
            <a:pPr marL="285750" indent="-285750" algn="l">
              <a:buFont typeface="Wingdings" pitchFamily="2" charset="2"/>
              <a:buChar char="Ø"/>
            </a:pPr>
            <a:r>
              <a:rPr lang="en-GB" sz="2000" b="1" dirty="0"/>
              <a:t>Layers:</a:t>
            </a:r>
            <a:r>
              <a:rPr lang="en-GB" sz="2000" dirty="0"/>
              <a:t> Pre-defined neural network layers in </a:t>
            </a:r>
            <a:r>
              <a:rPr lang="en-GB" sz="2000" dirty="0" err="1"/>
              <a:t>torch.nn</a:t>
            </a:r>
            <a:r>
              <a:rPr lang="en-GB" sz="2000" dirty="0"/>
              <a:t>.</a:t>
            </a:r>
          </a:p>
          <a:p>
            <a:pPr marL="285750" indent="-285750" algn="l">
              <a:buFont typeface="Wingdings" pitchFamily="2" charset="2"/>
              <a:buChar char="Ø"/>
            </a:pPr>
            <a:r>
              <a:rPr lang="en-GB" sz="2000" b="1" dirty="0"/>
              <a:t>forward method:</a:t>
            </a:r>
            <a:r>
              <a:rPr lang="en-GB" sz="2000" dirty="0"/>
              <a:t> Defines how data flows through the network.</a:t>
            </a:r>
          </a:p>
          <a:p>
            <a:pPr marL="285750" indent="-285750" algn="l">
              <a:buFont typeface="Wingdings" pitchFamily="2" charset="2"/>
              <a:buChar char="Ø"/>
            </a:pPr>
            <a:r>
              <a:rPr lang="en-GB" sz="2000" b="1" dirty="0"/>
              <a:t>Loss Function:</a:t>
            </a:r>
            <a:r>
              <a:rPr lang="en-GB" sz="2000" dirty="0"/>
              <a:t> Measures the discrepancy between the model's predictions and the actual targets.</a:t>
            </a:r>
          </a:p>
          <a:p>
            <a:pPr marL="285750" indent="-285750" algn="l">
              <a:buFont typeface="Wingdings" pitchFamily="2" charset="2"/>
              <a:buChar char="Ø"/>
            </a:pPr>
            <a:r>
              <a:rPr lang="en-GB" sz="2000" b="1" dirty="0"/>
              <a:t>Optimizer:</a:t>
            </a:r>
            <a:r>
              <a:rPr lang="en-GB" sz="2000" dirty="0"/>
              <a:t> Updates the model's parameters to minimize the loss.</a:t>
            </a:r>
          </a:p>
          <a:p>
            <a:pPr marL="285750" indent="-285750" algn="l">
              <a:buFont typeface="Wingdings" pitchFamily="2" charset="2"/>
              <a:buChar char="Ø"/>
            </a:pPr>
            <a:r>
              <a:rPr lang="en-GB" sz="2000" b="1" dirty="0"/>
              <a:t>Backpropagation:</a:t>
            </a:r>
            <a:r>
              <a:rPr lang="en-GB" sz="2000" dirty="0"/>
              <a:t> The process of computing gradients.</a:t>
            </a:r>
          </a:p>
          <a:p>
            <a:pPr marL="285750" indent="-285750" algn="l">
              <a:buFont typeface="Wingdings" pitchFamily="2" charset="2"/>
              <a:buChar char="Ø"/>
            </a:pPr>
            <a:r>
              <a:rPr lang="en-GB" sz="2000" b="1" dirty="0"/>
              <a:t>Eager Execution (Implicit):</a:t>
            </a:r>
            <a:r>
              <a:rPr lang="en-GB" sz="2000" dirty="0"/>
              <a:t> </a:t>
            </a:r>
            <a:r>
              <a:rPr lang="en-GB" sz="2000" dirty="0" err="1"/>
              <a:t>PyTorch</a:t>
            </a:r>
            <a:r>
              <a:rPr lang="en-GB" sz="2000" dirty="0"/>
              <a:t> operates with dynamic computational graphs, meaning the graph is built on the fly as operations are executed, making debugging and experimentation more straightforward.</a:t>
            </a:r>
            <a:endParaRPr lang="en-GB" sz="1600" b="0" i="0" u="none" strike="noStrike" dirty="0">
              <a:solidFill>
                <a:srgbClr val="404040"/>
              </a:solidFill>
              <a:effectLst/>
              <a:latin typeface="+mj-lt"/>
            </a:endParaRPr>
          </a:p>
        </p:txBody>
      </p:sp>
      <p:sp>
        <p:nvSpPr>
          <p:cNvPr id="6" name="Rectangle 1">
            <a:extLst>
              <a:ext uri="{FF2B5EF4-FFF2-40B4-BE49-F238E27FC236}">
                <a16:creationId xmlns:a16="http://schemas.microsoft.com/office/drawing/2014/main" id="{839D0816-DF26-AFA3-0A58-44731C6D155A}"/>
              </a:ext>
            </a:extLst>
          </p:cNvPr>
          <p:cNvSpPr>
            <a:spLocks noChangeArrowheads="1"/>
          </p:cNvSpPr>
          <p:nvPr/>
        </p:nvSpPr>
        <p:spPr bwMode="auto">
          <a:xfrm>
            <a:off x="311149" y="18716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7901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Summary</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297962" y="986767"/>
            <a:ext cx="7114773" cy="2031325"/>
          </a:xfrm>
          <a:prstGeom prst="rect">
            <a:avLst/>
          </a:prstGeom>
          <a:noFill/>
        </p:spPr>
        <p:txBody>
          <a:bodyPr wrap="square">
            <a:spAutoFit/>
          </a:bodyPr>
          <a:lstStyle/>
          <a:p>
            <a:pPr marL="342900" indent="-342900">
              <a:buFont typeface="+mj-lt"/>
              <a:buAutoNum type="arabicPeriod"/>
            </a:pPr>
            <a:r>
              <a:rPr lang="en-GB" sz="1800" dirty="0"/>
              <a:t>TensorFlow and </a:t>
            </a:r>
            <a:r>
              <a:rPr lang="en-GB" sz="1800" dirty="0" err="1"/>
              <a:t>PyTorch</a:t>
            </a:r>
            <a:r>
              <a:rPr lang="en-GB" sz="1800" dirty="0"/>
              <a:t> are powerful, flexible deep learning libraries.</a:t>
            </a:r>
          </a:p>
          <a:p>
            <a:pPr marL="342900" indent="-342900">
              <a:buFont typeface="+mj-lt"/>
              <a:buAutoNum type="arabicPeriod"/>
            </a:pPr>
            <a:r>
              <a:rPr lang="en-GB" sz="1800" dirty="0"/>
              <a:t>TensorFlow is more structured; </a:t>
            </a:r>
            <a:r>
              <a:rPr lang="en-GB" sz="1800" dirty="0" err="1"/>
              <a:t>PyTorch</a:t>
            </a:r>
            <a:r>
              <a:rPr lang="en-GB" sz="1800" dirty="0"/>
              <a:t> offers more flexibility.</a:t>
            </a:r>
          </a:p>
          <a:p>
            <a:pPr marL="342900" indent="-342900">
              <a:buFont typeface="+mj-lt"/>
              <a:buAutoNum type="arabicPeriod"/>
            </a:pPr>
            <a:r>
              <a:rPr lang="en-GB" sz="1800" dirty="0"/>
              <a:t>Google </a:t>
            </a:r>
            <a:r>
              <a:rPr lang="en-GB" sz="1800" dirty="0" err="1"/>
              <a:t>Colab</a:t>
            </a:r>
            <a:r>
              <a:rPr lang="en-GB" sz="1800" dirty="0"/>
              <a:t> is ideal for quick experiments; </a:t>
            </a:r>
            <a:r>
              <a:rPr lang="en-GB" sz="1800" dirty="0" err="1"/>
              <a:t>Jupyter</a:t>
            </a:r>
            <a:r>
              <a:rPr lang="en-GB" sz="1800" dirty="0"/>
              <a:t> Notebook gives local control.</a:t>
            </a:r>
          </a:p>
          <a:p>
            <a:pPr marL="342900" indent="-342900">
              <a:buFont typeface="+mj-lt"/>
              <a:buAutoNum type="arabicPeriod"/>
            </a:pPr>
            <a:r>
              <a:rPr lang="en-GB" sz="1800" dirty="0"/>
              <a:t>Hands-on coding is the best way to learn deep learning frameworks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A329-DDC0-B523-AEBE-B35BF569336A}"/>
              </a:ext>
            </a:extLst>
          </p:cNvPr>
          <p:cNvSpPr>
            <a:spLocks noGrp="1"/>
          </p:cNvSpPr>
          <p:nvPr>
            <p:ph type="title"/>
          </p:nvPr>
        </p:nvSpPr>
        <p:spPr/>
        <p:txBody>
          <a:bodyPr/>
          <a:lstStyle/>
          <a:p>
            <a:r>
              <a:rPr lang="en-US" dirty="0"/>
              <a:t>Practice with Google COLAB</a:t>
            </a:r>
          </a:p>
        </p:txBody>
      </p:sp>
      <p:sp>
        <p:nvSpPr>
          <p:cNvPr id="3" name="Text Placeholder 2">
            <a:extLst>
              <a:ext uri="{FF2B5EF4-FFF2-40B4-BE49-F238E27FC236}">
                <a16:creationId xmlns:a16="http://schemas.microsoft.com/office/drawing/2014/main" id="{BC6DFB29-6CFE-B48D-9134-B424D977566D}"/>
              </a:ext>
            </a:extLst>
          </p:cNvPr>
          <p:cNvSpPr>
            <a:spLocks noGrp="1"/>
          </p:cNvSpPr>
          <p:nvPr>
            <p:ph type="body" idx="1"/>
          </p:nvPr>
        </p:nvSpPr>
        <p:spPr/>
        <p:txBody>
          <a:bodyPr/>
          <a:lstStyle/>
          <a:p>
            <a:pPr marL="114300" marR="0" indent="0" algn="l" rtl="0">
              <a:lnSpc>
                <a:spcPct val="115000"/>
              </a:lnSpc>
              <a:spcBef>
                <a:spcPts val="0"/>
              </a:spcBef>
              <a:spcAft>
                <a:spcPts val="0"/>
              </a:spcAft>
              <a:buClr>
                <a:srgbClr val="424242"/>
              </a:buClr>
              <a:buSzPts val="1800"/>
              <a:buNone/>
            </a:pPr>
            <a:r>
              <a:rPr lang="en-US" dirty="0">
                <a:hlinkClick r:id="rId2"/>
              </a:rPr>
              <a:t>Click here </a:t>
            </a:r>
            <a:r>
              <a:rPr lang="en-US" dirty="0"/>
              <a:t>https://</a:t>
            </a:r>
            <a:r>
              <a:rPr lang="en-US" dirty="0" err="1"/>
              <a:t>drive.google.com</a:t>
            </a:r>
            <a:r>
              <a:rPr lang="en-US" dirty="0"/>
              <a:t>/file/d/1GqPC0dfghOKGOx55MBfk1g5NCVvOIUYv/</a:t>
            </a:r>
            <a:r>
              <a:rPr lang="en-US" dirty="0" err="1"/>
              <a:t>view?usp</a:t>
            </a:r>
            <a:r>
              <a:rPr lang="en-US" dirty="0"/>
              <a:t>=</a:t>
            </a:r>
            <a:r>
              <a:rPr lang="en-US"/>
              <a:t>share_link</a:t>
            </a:r>
            <a:endParaRPr lang="en-US" dirty="0">
              <a:hlinkClick r:id="" action="ppaction://noaction"/>
            </a:endParaRPr>
          </a:p>
        </p:txBody>
      </p:sp>
    </p:spTree>
    <p:extLst>
      <p:ext uri="{BB962C8B-B14F-4D97-AF65-F5344CB8AC3E}">
        <p14:creationId xmlns:p14="http://schemas.microsoft.com/office/powerpoint/2010/main" val="1517079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5408997" cy="2739211"/>
          </a:xfrm>
          <a:prstGeom prst="rect">
            <a:avLst/>
          </a:prstGeom>
          <a:noFill/>
        </p:spPr>
        <p:txBody>
          <a:bodyPr wrap="square">
            <a:spAutoFit/>
          </a:bodyPr>
          <a:lstStyle/>
          <a:p>
            <a:pPr marL="457200" indent="-457200">
              <a:buFont typeface="+mj-lt"/>
              <a:buAutoNum type="arabicPeriod"/>
            </a:pPr>
            <a:r>
              <a:rPr lang="en-GB" sz="2000" dirty="0">
                <a:hlinkClick r:id="rId4"/>
              </a:rPr>
              <a:t>TensorFlow Documentation</a:t>
            </a:r>
            <a:endParaRPr lang="en-GB" sz="2000" dirty="0"/>
          </a:p>
          <a:p>
            <a:pPr marL="457200" indent="-457200">
              <a:buFont typeface="+mj-lt"/>
              <a:buAutoNum type="arabicPeriod"/>
            </a:pPr>
            <a:r>
              <a:rPr lang="en-GB" sz="2000" dirty="0" err="1"/>
              <a:t>PyTorch</a:t>
            </a:r>
            <a:r>
              <a:rPr lang="en-GB" sz="2000" dirty="0"/>
              <a:t> Tutorials</a:t>
            </a:r>
          </a:p>
          <a:p>
            <a:pPr marL="457200" indent="-457200">
              <a:buFont typeface="+mj-lt"/>
              <a:buAutoNum type="arabicPeriod"/>
            </a:pPr>
            <a:r>
              <a:rPr lang="en-GB" sz="2000" dirty="0"/>
              <a:t>Deep Learning with Python - François Chollet</a:t>
            </a:r>
          </a:p>
          <a:p>
            <a:pPr marL="457200" indent="-457200">
              <a:buFont typeface="+mj-lt"/>
              <a:buAutoNum type="arabicPeriod"/>
            </a:pPr>
            <a:r>
              <a:rPr lang="en-GB" sz="2000" dirty="0"/>
              <a:t>Programming </a:t>
            </a:r>
            <a:r>
              <a:rPr lang="en-GB" sz="2000" dirty="0" err="1"/>
              <a:t>PyTorch</a:t>
            </a:r>
            <a:r>
              <a:rPr lang="en-GB" sz="2000" dirty="0"/>
              <a:t> for Deep Learning - Ian Pointer</a:t>
            </a:r>
          </a:p>
          <a:p>
            <a:pPr marL="457200" indent="-457200">
              <a:buFont typeface="+mj-lt"/>
              <a:buAutoNum type="arabicPeriod"/>
            </a:pPr>
            <a:r>
              <a:rPr lang="en-GB" sz="2000" dirty="0" err="1"/>
              <a:t>Fast.ai</a:t>
            </a:r>
            <a:r>
              <a:rPr lang="en-GB" sz="2000" dirty="0"/>
              <a:t> Deep Learning Course</a:t>
            </a:r>
          </a:p>
          <a:p>
            <a:pPr marL="342900" indent="-342900">
              <a:buFont typeface="+mj-lt"/>
              <a:buAutoNum type="arabicPeriod"/>
            </a:pPr>
            <a:endParaRPr lang="en-GB" sz="1600" dirty="0"/>
          </a:p>
          <a:p>
            <a:pPr marL="342900" indent="-342900" algn="l">
              <a:buFont typeface="+mj-lt"/>
              <a:buAutoNum type="arabicPeriod"/>
            </a:pPr>
            <a:endParaRPr lang="en-GB" sz="16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374039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27693</TotalTime>
  <Words>2429</Words>
  <Application>Microsoft Macintosh PowerPoint</Application>
  <PresentationFormat>On-screen Show (16:9)</PresentationFormat>
  <Paragraphs>258</Paragraphs>
  <Slides>27</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IBM Plex Sans Arabic Medium</vt:lpstr>
      <vt:lpstr>Tajawal</vt:lpstr>
      <vt:lpstr>Inter</vt:lpstr>
      <vt:lpstr>Calibri</vt:lpstr>
      <vt:lpstr>IBM Plex Sans Arabic</vt:lpstr>
      <vt:lpstr>IBM Plex Sans Arabic SemiBold</vt:lpstr>
      <vt:lpstr>Wingdings</vt:lpstr>
      <vt:lpstr>Arial</vt:lpstr>
      <vt:lpstr>Simple Light</vt:lpstr>
      <vt:lpstr>أكـــــاديميــــة طــــويـــق</vt:lpstr>
      <vt:lpstr>Deep Learning Frameworks    </vt:lpstr>
      <vt:lpstr>PowerPoint Presentation</vt:lpstr>
      <vt:lpstr>Introduction to Deep Learning Frameworks     </vt:lpstr>
      <vt:lpstr>Popular Deep Learning Frameworks     </vt:lpstr>
      <vt:lpstr>Why Use Them?     </vt:lpstr>
      <vt:lpstr>Popular Framework     </vt:lpstr>
      <vt:lpstr>Introduction to TensorFlow    </vt:lpstr>
      <vt:lpstr>Introduction to TensorFlow    </vt:lpstr>
      <vt:lpstr>Strength &amp; Weakness of TensorFlow    </vt:lpstr>
      <vt:lpstr>Core Concepts:     </vt:lpstr>
      <vt:lpstr>Introduction to PyTorch     </vt:lpstr>
      <vt:lpstr>Introduction to PyTorch     </vt:lpstr>
      <vt:lpstr>Strength &amp; Weakness of  PyTorch     </vt:lpstr>
      <vt:lpstr>Key Features of PyTorch     </vt:lpstr>
      <vt:lpstr>TensorFlow vs. PyTorch     </vt:lpstr>
      <vt:lpstr>TensorFlow vs. PyTorch     </vt:lpstr>
      <vt:lpstr>Which one should you choose?      </vt:lpstr>
      <vt:lpstr>Setting Up the Environment       </vt:lpstr>
      <vt:lpstr>Setting Up the Environment       </vt:lpstr>
      <vt:lpstr>Key Concepts of TensorFlow Illustrated:        </vt:lpstr>
      <vt:lpstr>Key Concepts of PyTorch Illustrated:        </vt:lpstr>
      <vt:lpstr>Summary </vt:lpstr>
      <vt:lpstr>Practice with Google COLAB</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34</cp:revision>
  <dcterms:modified xsi:type="dcterms:W3CDTF">2025-04-23T05:23:45Z</dcterms:modified>
</cp:coreProperties>
</file>