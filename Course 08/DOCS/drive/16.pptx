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98" r:id="rId5"/>
    <p:sldId id="438" r:id="rId6"/>
    <p:sldId id="439" r:id="rId7"/>
    <p:sldId id="455" r:id="rId8"/>
    <p:sldId id="456" r:id="rId9"/>
    <p:sldId id="457" r:id="rId10"/>
    <p:sldId id="440" r:id="rId11"/>
    <p:sldId id="458" r:id="rId12"/>
    <p:sldId id="441" r:id="rId13"/>
    <p:sldId id="463" r:id="rId14"/>
    <p:sldId id="459" r:id="rId15"/>
    <p:sldId id="460" r:id="rId16"/>
    <p:sldId id="461" r:id="rId17"/>
    <p:sldId id="464" r:id="rId18"/>
    <p:sldId id="466" r:id="rId19"/>
    <p:sldId id="465" r:id="rId20"/>
    <p:sldId id="467" r:id="rId21"/>
    <p:sldId id="468" r:id="rId22"/>
    <p:sldId id="469" r:id="rId23"/>
    <p:sldId id="470" r:id="rId24"/>
    <p:sldId id="473" r:id="rId25"/>
    <p:sldId id="453" r:id="rId26"/>
    <p:sldId id="370" r:id="rId27"/>
    <p:sldId id="312" r:id="rId28"/>
    <p:sldId id="275" r:id="rId29"/>
    <p:sldId id="276" r:id="rId30"/>
  </p:sldIdLst>
  <p:sldSz cx="9144000" cy="5143500" type="screen16x9"/>
  <p:notesSz cx="6858000" cy="9144000"/>
  <p:embeddedFontLst>
    <p:embeddedFont>
      <p:font typeface="IBM Plex Sans Arabic" panose="020B0603050203000203" pitchFamily="34" charset="-78"/>
      <p:regular r:id="rId32"/>
      <p:bold r:id="rId33"/>
    </p:embeddedFont>
    <p:embeddedFont>
      <p:font typeface="IBM Plex Sans Arabic Medium" panose="020B0603050203000203" pitchFamily="34" charset="-78"/>
      <p:regular r:id="rId34"/>
      <p:bold r:id="rId35"/>
    </p:embeddedFont>
    <p:embeddedFont>
      <p:font typeface="IBM Plex Sans Arabic SemiBold" panose="020B0603050203000203" pitchFamily="34" charset="-78"/>
      <p:regular r:id="rId36"/>
      <p:bold r:id="rId37"/>
    </p:embeddedFont>
    <p:embeddedFont>
      <p:font typeface="Inter" panose="020F0502020204030204" pitchFamily="34" charset="0"/>
      <p:regular r:id="rId38"/>
      <p:bold r:id="rId39"/>
      <p:italic r:id="rId40"/>
      <p:boldItalic r:id="rId41"/>
    </p:embeddedFont>
    <p:embeddedFont>
      <p:font typeface="Nunito" pitchFamily="2" charset="77"/>
      <p:regular r:id="rId42"/>
      <p:bold r:id="rId43"/>
      <p:italic r:id="rId44"/>
      <p:boldItalic r:id="rId45"/>
    </p:embeddedFont>
    <p:embeddedFont>
      <p:font typeface="Tajawal" pitchFamily="2" charset="-78"/>
      <p:regular r:id="rId46"/>
      <p:bold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26"/>
    <p:restoredTop sz="94227"/>
  </p:normalViewPr>
  <p:slideViewPr>
    <p:cSldViewPr snapToGrid="0">
      <p:cViewPr varScale="1">
        <p:scale>
          <a:sx n="174" d="100"/>
          <a:sy n="174" d="100"/>
        </p:scale>
        <p:origin x="128" y="744"/>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7F5B022-814B-7020-BA05-D7A5959854B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6F10DD8-C253-86B1-10C8-EE32C0258A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3AE8169-D477-E0F9-2E41-41C1E55F20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3521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0A4FAE6-2373-C4D8-AE10-93128DF05F2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70CF024-EC64-36F7-A945-15F4638559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0B16683-C35D-45A3-E3A1-5867D8D2A7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0197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E1C34DB-470A-9A65-2774-1AA31422219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09552AA-70A0-2C07-F08B-0862211971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3862C83-587A-7100-F0F8-85D6CCBD71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0167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32E480C-EF9E-5E57-24C3-DAC97F1A900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012D1C5-D8FB-7A86-BA06-FC0C66EE85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8F6B31D-4A8A-A482-192C-75F9626F6D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3346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4F58EA1-3811-736C-946A-B8388323802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3A0B35C-029D-3923-81CF-708918244A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A2BB8A0-F560-416B-7B04-10EEE1AB50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9733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9FDAEA6-7A33-DB4E-7CD9-13A577F259A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C557713-61D5-E7AD-15A9-9F81897822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C3C6B60-60BB-1176-A299-A05D86F07F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6309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E846805-3A2D-FE39-3350-00C6335EF91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6F3FBD7-E380-EC43-1F1B-465376EE53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59D56BE-D458-983E-DF31-484DEF4C7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683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3CD5F7A-54DF-A46B-9D6F-9F44F5BD14C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FE49E8D-B5DD-84F6-F9B9-85E56B7FA3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94F4FBE-DD0E-53A7-5467-511699D6A3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3235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EF6E541-469D-1EA4-A7DD-26DEFC3BA4E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C79FDB5-46CE-53C7-CE1B-22FEC35F7D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8491344-8570-705B-0BCA-05DFDF3D1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19064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A03E86A-2843-9B47-14B4-0AD19C6AEFA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88E6A84-B9CA-B1E3-EA1F-76BA6105A8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BD95207-3FB1-1751-0DA6-FFEEE87BFD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2195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F617DD2-AD54-DE98-2767-AD9E3ABA83D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A9D0C34-CCDE-7C60-F50B-592E68DF14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6EF5876-1B63-FF2B-2A18-FAB518A9C6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5432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B8A2E5F-5CBA-B716-E94F-955C499DB2B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67D884F-3B54-C8B1-04BD-351D142C36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8D10C74-FF55-46B5-36E5-BEA10CD92A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5467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1EEFBD3-1DD2-00DD-5E12-1B01B43B133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E10B4D4-88C7-BF43-A0B6-A254BB249B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F9D2392-8043-E706-7426-645DFF0876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5506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D8D3FE1-9F64-5CF6-6291-4FBC88817C6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393D95F-58F5-F1DA-BF8B-83D31AD67D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E27DAFC-94A7-F491-F185-8F8B988FF6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2985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A42A9CB-4939-CD90-DFC1-A668F92440F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BCCA494-4DAF-47E8-6E58-298883BA88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E579A3E-9684-74B6-31A4-7EEEEE78CE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10983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2648E36-8A7C-9666-E74F-63FC7D69968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D7D29A8-9302-4178-60C3-0C1883B2F7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845DD08-A8F0-60B6-169C-D13F0A3AE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90417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22998BB-9FC3-B718-B8B0-7491C60B89E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6E45FBE-8E21-9D80-B0A8-B318A7387D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ABBF579-BE72-0DCC-AAE4-126F350B4A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47462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AF62050-510C-D5D2-7013-ABE49000655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C79EFA9-5946-E67E-B07C-4A5D70A1BE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3720780-855C-3D89-2431-FF2897964B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1233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99401A8-F624-90C0-B0CC-47F591B3EA6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0304C76-41FA-ACB9-3648-A6CBE5B164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B4128EE-6480-3C34-990F-18CAA3C749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35528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2780877-55F8-48CF-AEF7-3AAFA99D078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CB62205-6D7C-6E24-C26F-F63E8C4561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D4BCF59-AA8B-E82C-A710-9C5D44DFF2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64835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0731DEE-65E8-B1B7-633E-4617246351F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1886E6F-04FF-50D6-5C2F-BCF531CED2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DE9F904-FE97-2E0E-60A6-26276EC7D6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7166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hyperlink" Target="https://www.wallpaperflare.com/wallpaper-programmer-coding-pattern-text-full-frame-backgrounds-wallpaper-pfdto" TargetMode="External"/><Relationship Id="rId5" Type="http://schemas.openxmlformats.org/officeDocument/2006/relationships/image" Target="../media/image12.jpg"/><Relationship Id="rId4" Type="http://schemas.openxmlformats.org/officeDocument/2006/relationships/hyperlink" Target="https://drive.google.com/file/d/1PFRcwMSE9jDkYlX5PVytRvHLOLLQpylV/view?usp=share_link"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hyperlink" Target="https://www.geeksforgeeks.org/difference-between-feed-forward-neural-networks-and-recurrent-neural-networks/" TargetMode="External"/></Relationships>
</file>

<file path=ppt/slides/_rels/slide28.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notesSlide" Target="../notesSlides/notesSlide28.xml"/><Relationship Id="rId16"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498670"/>
            <a:ext cx="8520600" cy="2052600"/>
          </a:xfrm>
          <a:prstGeom prst="rect">
            <a:avLst/>
          </a:prstGeom>
          <a:noFill/>
          <a:ln>
            <a:noFill/>
          </a:ln>
        </p:spPr>
        <p:txBody>
          <a:bodyPr spcFirstLastPara="1" wrap="square" lIns="91425" tIns="91425" rIns="91425" bIns="91425" anchor="b" anchorCtr="0">
            <a:normAutofit fontScale="90000"/>
          </a:bodyPr>
          <a:lstStyle/>
          <a:p>
            <a:r>
              <a:rPr lang="en-GB" sz="4000" dirty="0">
                <a:solidFill>
                  <a:srgbClr val="7030A0"/>
                </a:solidFill>
                <a:latin typeface="Times New Roman" panose="02020603050405020304" pitchFamily="18" charset="0"/>
              </a:rPr>
              <a:t>Recurrent Neural Network</a:t>
            </a:r>
            <a:br>
              <a:rPr lang="en-GB" sz="4000" b="1" i="0" u="none" strike="noStrike" dirty="0">
                <a:solidFill>
                  <a:srgbClr val="7030A0"/>
                </a:solidFill>
                <a:effectLst/>
                <a:latin typeface="Times New Roman" panose="02020603050405020304" pitchFamily="18" charset="0"/>
              </a:rPr>
            </a:br>
            <a:r>
              <a:rPr lang="en-GB" sz="3200" b="1" i="0" u="none" strike="noStrike" dirty="0">
                <a:solidFill>
                  <a:srgbClr val="7030A0"/>
                </a:solidFill>
                <a:effectLst/>
                <a:latin typeface="Arial" panose="020B0604020202020204" pitchFamily="34" charset="0"/>
              </a:rPr>
              <a:t> </a:t>
            </a: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5691535" cy="792600"/>
          </a:xfrm>
          <a:prstGeom prst="rect">
            <a:avLst/>
          </a:prstGeom>
          <a:noFill/>
          <a:ln>
            <a:noFill/>
          </a:ln>
        </p:spPr>
        <p:txBody>
          <a:bodyPr spcFirstLastPara="1" wrap="square" lIns="91425" tIns="91425" rIns="91425" bIns="91425" anchor="t" anchorCtr="0">
            <a:normAutofit/>
          </a:bodyPr>
          <a:lstStyle/>
          <a:p>
            <a:pPr marL="114300" indent="0" rtl="0" fontAlgn="base">
              <a:spcBef>
                <a:spcPts val="1200"/>
              </a:spcBef>
              <a:spcAft>
                <a:spcPts val="1200"/>
              </a:spcAft>
            </a:pPr>
            <a:r>
              <a:rPr lang="en-GB" sz="1800" b="0" i="0" u="none" strike="noStrike" dirty="0">
                <a:solidFill>
                  <a:srgbClr val="000000"/>
                </a:solidFill>
                <a:effectLst/>
                <a:latin typeface="Times New Roman" panose="02020603050405020304" pitchFamily="18" charset="0"/>
              </a:rPr>
              <a:t>			</a:t>
            </a:r>
            <a:endParaRPr lang="en-GB" sz="1800" dirty="0">
              <a:solidFill>
                <a:srgbClr val="000000"/>
              </a:solidFill>
              <a:latin typeface="Times New Roman" panose="02020603050405020304" pitchFamily="18" charset="0"/>
            </a:endParaRPr>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552146" y="691691"/>
            <a:ext cx="6634716" cy="3570168"/>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endParaRPr dirty="0"/>
          </a:p>
          <a:p>
            <a:pPr algn="l">
              <a:buNone/>
            </a:pPr>
            <a:endParaRPr lang="en-GB" b="0" i="0" u="none" strike="noStrike" dirty="0">
              <a:solidFill>
                <a:srgbClr val="000000"/>
              </a:solidFill>
              <a:effectLst/>
            </a:endParaRPr>
          </a:p>
          <a:p>
            <a:pPr marL="342900" indent="-342900" algn="l">
              <a:buFont typeface="+mj-lt"/>
              <a:buAutoNum type="arabicPeriod"/>
            </a:pPr>
            <a:r>
              <a:rPr lang="en-GB" b="0" i="0" u="none" strike="noStrike" dirty="0">
                <a:solidFill>
                  <a:srgbClr val="000000"/>
                </a:solidFill>
                <a:effectLst/>
              </a:rPr>
              <a:t>Understand the fundamental principles and architecture of Recurrent Neural Networks (RNNs) for processing sequential data.</a:t>
            </a:r>
          </a:p>
          <a:p>
            <a:pPr marL="342900" indent="-342900" algn="l">
              <a:buFont typeface="+mj-lt"/>
              <a:buAutoNum type="arabicPeriod"/>
            </a:pPr>
            <a:r>
              <a:rPr lang="en-GB" b="0" i="0" u="none" strike="noStrike" dirty="0">
                <a:solidFill>
                  <a:srgbClr val="000000"/>
                </a:solidFill>
                <a:effectLst/>
              </a:rPr>
              <a:t>Identify and explain the challenges of vanishing and exploding gradients in training deep RNNs.</a:t>
            </a:r>
          </a:p>
          <a:p>
            <a:pPr marL="342900" indent="-342900" algn="l">
              <a:buFont typeface="+mj-lt"/>
              <a:buAutoNum type="arabicPeriod"/>
            </a:pPr>
            <a:r>
              <a:rPr lang="en-GB" b="0" i="0" u="none" strike="noStrike" dirty="0" err="1">
                <a:solidFill>
                  <a:srgbClr val="000000"/>
                </a:solidFill>
                <a:effectLst/>
              </a:rPr>
              <a:t>Analyze</a:t>
            </a:r>
            <a:r>
              <a:rPr lang="en-GB" b="0" i="0" u="none" strike="noStrike" dirty="0">
                <a:solidFill>
                  <a:srgbClr val="000000"/>
                </a:solidFill>
                <a:effectLst/>
              </a:rPr>
              <a:t> and compare different techniques for mitigating the vanishing and exploding gradient problems, including specialized RNN architectures like LSTMs and GRUs.</a:t>
            </a:r>
          </a:p>
          <a:p>
            <a:pPr marL="342900" indent="-342900" algn="l">
              <a:buFont typeface="+mj-lt"/>
              <a:buAutoNum type="arabicPeriod"/>
            </a:pPr>
            <a:r>
              <a:rPr lang="en-GB" b="0" i="0" u="none" strike="noStrike" dirty="0">
                <a:solidFill>
                  <a:srgbClr val="000000"/>
                </a:solidFill>
                <a:effectLst/>
              </a:rPr>
              <a:t>Implement and apply various strategies, such as non-linear activations, gradient clipping, and regularization, to effectively train RNN models.</a:t>
            </a:r>
          </a:p>
          <a:p>
            <a:pPr marL="342900" indent="-342900" algn="l">
              <a:buFont typeface="+mj-lt"/>
              <a:buAutoNum type="arabicPeriod"/>
            </a:pPr>
            <a:r>
              <a:rPr lang="en-GB" b="0" i="0" u="none" strike="noStrike" dirty="0">
                <a:solidFill>
                  <a:srgbClr val="000000"/>
                </a:solidFill>
                <a:effectLst/>
              </a:rPr>
              <a:t>Evaluate the performance of different RNN models on various sequence-based tasks and understand their strengths and limitations.</a:t>
            </a:r>
          </a:p>
          <a:p>
            <a:pPr marL="342900" indent="-342900">
              <a:buFont typeface="+mj-lt"/>
              <a:buAutoNum type="arabicPeriod"/>
            </a:pPr>
            <a:endParaRPr lang="en-GB" sz="1400" dirty="0">
              <a:effectLst/>
            </a:endParaRPr>
          </a:p>
          <a:p>
            <a:pPr marL="342900" indent="-342900">
              <a:buFont typeface="+mj-lt"/>
              <a:buAutoNum type="arabicPeriod"/>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Recurrent Neural Network (RNN) </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1E7B443-016B-2F0F-23AA-504B7B468665}"/>
              </a:ext>
            </a:extLst>
          </p:cNvPr>
          <p:cNvSpPr txBox="1"/>
          <p:nvPr/>
        </p:nvSpPr>
        <p:spPr>
          <a:xfrm>
            <a:off x="182881" y="713964"/>
            <a:ext cx="8113775" cy="4770537"/>
          </a:xfrm>
          <a:prstGeom prst="rect">
            <a:avLst/>
          </a:prstGeom>
          <a:noFill/>
        </p:spPr>
        <p:txBody>
          <a:bodyPr wrap="square">
            <a:spAutoFit/>
          </a:bodyPr>
          <a:lstStyle/>
          <a:p>
            <a:pPr algn="l" rtl="0">
              <a:buNone/>
            </a:pPr>
            <a:r>
              <a:rPr lang="en-GB" sz="1600" i="0" u="none" strike="noStrike" dirty="0">
                <a:solidFill>
                  <a:srgbClr val="000000"/>
                </a:solidFill>
                <a:effectLst/>
              </a:rPr>
              <a:t>A Recurrent Neural Network (RNN) is a type of deep neural network specifically designed and trained to process sequential data or time series data. Its primary goal is to build machine learning models that can make predictions or draw conclusions based on the ordered nature of the input.</a:t>
            </a:r>
          </a:p>
          <a:p>
            <a:pPr algn="l" rtl="0">
              <a:buNone/>
            </a:pPr>
            <a:r>
              <a:rPr lang="en-GB" sz="1600" b="1" i="0" u="none" strike="noStrike" dirty="0">
                <a:solidFill>
                  <a:srgbClr val="000000"/>
                </a:solidFill>
                <a:effectLst/>
              </a:rPr>
              <a:t>Language Translation:</a:t>
            </a:r>
            <a:r>
              <a:rPr lang="en-GB" sz="1600" b="0" i="0" u="none" strike="noStrike" dirty="0">
                <a:solidFill>
                  <a:srgbClr val="000000"/>
                </a:solidFill>
                <a:effectLst/>
              </a:rPr>
              <a:t> Understanding the sequence of words in one language to generate a sequence in another.</a:t>
            </a:r>
          </a:p>
          <a:p>
            <a:pPr marL="342900" indent="-342900" algn="l" rtl="0">
              <a:buFont typeface="+mj-lt"/>
              <a:buAutoNum type="arabicPeriod"/>
            </a:pPr>
            <a:r>
              <a:rPr lang="en-GB" sz="1600" b="1" i="0" u="none" strike="noStrike" dirty="0">
                <a:solidFill>
                  <a:srgbClr val="000000"/>
                </a:solidFill>
                <a:effectLst/>
              </a:rPr>
              <a:t>Natural Language Processing (NLP):</a:t>
            </a:r>
            <a:r>
              <a:rPr lang="en-GB" sz="1600" b="0" i="0" u="none" strike="noStrike" dirty="0">
                <a:solidFill>
                  <a:srgbClr val="000000"/>
                </a:solidFill>
                <a:effectLst/>
              </a:rPr>
              <a:t> Tasks like understanding text meaning, generating text, and question answering.</a:t>
            </a:r>
          </a:p>
          <a:p>
            <a:pPr marL="342900" indent="-342900" algn="l" rtl="0">
              <a:buFont typeface="+mj-lt"/>
              <a:buAutoNum type="arabicPeriod"/>
            </a:pPr>
            <a:r>
              <a:rPr lang="en-GB" sz="1600" b="1" i="0" u="none" strike="noStrike" dirty="0">
                <a:solidFill>
                  <a:srgbClr val="000000"/>
                </a:solidFill>
                <a:effectLst/>
              </a:rPr>
              <a:t>Sentiment Analysis:</a:t>
            </a:r>
            <a:r>
              <a:rPr lang="en-GB" sz="1600" b="0" i="0" u="none" strike="noStrike" dirty="0">
                <a:solidFill>
                  <a:srgbClr val="000000"/>
                </a:solidFill>
                <a:effectLst/>
              </a:rPr>
              <a:t> Determining the emotional tone (positive, negative, neutral) of a sequence of text.</a:t>
            </a:r>
          </a:p>
          <a:p>
            <a:pPr marL="342900" indent="-342900" algn="l" rtl="0">
              <a:buFont typeface="+mj-lt"/>
              <a:buAutoNum type="arabicPeriod"/>
            </a:pPr>
            <a:r>
              <a:rPr lang="en-GB" sz="1600" b="1" i="0" u="none" strike="noStrike" dirty="0">
                <a:solidFill>
                  <a:srgbClr val="000000"/>
                </a:solidFill>
                <a:effectLst/>
              </a:rPr>
              <a:t>Speech Recognition:</a:t>
            </a:r>
            <a:r>
              <a:rPr lang="en-GB" sz="1600" b="0" i="0" u="none" strike="noStrike" dirty="0">
                <a:solidFill>
                  <a:srgbClr val="000000"/>
                </a:solidFill>
                <a:effectLst/>
              </a:rPr>
              <a:t> Transcribing a sequence of audio signals into a sequence of words.</a:t>
            </a:r>
          </a:p>
          <a:p>
            <a:pPr marL="342900" indent="-342900" algn="l" rtl="0">
              <a:buFont typeface="+mj-lt"/>
              <a:buAutoNum type="arabicPeriod"/>
            </a:pPr>
            <a:r>
              <a:rPr lang="en-GB" sz="1600" b="1" i="0" u="none" strike="noStrike" dirty="0">
                <a:solidFill>
                  <a:srgbClr val="000000"/>
                </a:solidFill>
                <a:effectLst/>
              </a:rPr>
              <a:t>Image Captioning:</a:t>
            </a:r>
            <a:r>
              <a:rPr lang="en-GB" sz="1600" b="0" i="0" u="none" strike="noStrike" dirty="0">
                <a:solidFill>
                  <a:srgbClr val="000000"/>
                </a:solidFill>
                <a:effectLst/>
              </a:rPr>
              <a:t> Generating a sequence of words that describes the content of an image.</a:t>
            </a:r>
          </a:p>
          <a:p>
            <a:pPr algn="l" rtl="0">
              <a:buNone/>
            </a:pPr>
            <a:r>
              <a:rPr lang="en-GB" sz="1600" b="0" i="0" u="none" strike="noStrike" dirty="0">
                <a:solidFill>
                  <a:srgbClr val="000000"/>
                </a:solidFill>
                <a:effectLst/>
              </a:rPr>
              <a:t>The core strength of RNNs lies in their ability to maintain an internal "memory" of previous elements in the sequence, allowing them to understand context and dependencies over time.</a:t>
            </a: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80B975B-2CFF-AB94-4AF4-53D8351275D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EC983B9-D48C-6ABC-3918-CD2216DBAA73}"/>
              </a:ext>
            </a:extLst>
          </p:cNvPr>
          <p:cNvSpPr txBox="1">
            <a:spLocks noGrp="1"/>
          </p:cNvSpPr>
          <p:nvPr>
            <p:ph type="title"/>
          </p:nvPr>
        </p:nvSpPr>
        <p:spPr>
          <a:xfrm>
            <a:off x="79248" y="86064"/>
            <a:ext cx="8657577" cy="627900"/>
          </a:xfrm>
          <a:prstGeom prst="rect">
            <a:avLst/>
          </a:prstGeom>
          <a:noFill/>
          <a:ln>
            <a:noFill/>
          </a:ln>
        </p:spPr>
        <p:txBody>
          <a:bodyPr spcFirstLastPara="1" wrap="square" lIns="91425" tIns="91425" rIns="91425" bIns="91425" anchor="t" anchorCtr="0">
            <a:noAutofit/>
          </a:bodyPr>
          <a:lstStyle/>
          <a:p>
            <a:r>
              <a:rPr lang="en-GB" sz="2000" dirty="0"/>
              <a:t>Recurrent Neural Networks (RNNs) for sequential data</a:t>
            </a:r>
            <a:br>
              <a:rPr lang="en-GB" sz="2000" dirty="0"/>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62CD001-13B9-1AF1-E318-3480DEB0FCE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7D182DD0-1509-D6B5-DCDA-A62CBC37FF6B}"/>
              </a:ext>
            </a:extLst>
          </p:cNvPr>
          <p:cNvSpPr txBox="1"/>
          <p:nvPr/>
        </p:nvSpPr>
        <p:spPr>
          <a:xfrm>
            <a:off x="1" y="610597"/>
            <a:ext cx="8247887" cy="4524315"/>
          </a:xfrm>
          <a:prstGeom prst="rect">
            <a:avLst/>
          </a:prstGeom>
          <a:noFill/>
        </p:spPr>
        <p:txBody>
          <a:bodyPr wrap="square">
            <a:spAutoFit/>
          </a:bodyPr>
          <a:lstStyle/>
          <a:p>
            <a:pPr algn="l">
              <a:buNone/>
            </a:pPr>
            <a:r>
              <a:rPr lang="en-GB" sz="1600" b="0" i="0" u="none" strike="noStrike" dirty="0">
                <a:solidFill>
                  <a:srgbClr val="000000"/>
                </a:solidFill>
                <a:effectLst/>
              </a:rPr>
              <a:t>RNNs are a type of neural network specifically designed for sequential data.</a:t>
            </a:r>
          </a:p>
          <a:p>
            <a:pPr marL="285750" indent="-285750" algn="l">
              <a:buFont typeface="Wingdings" pitchFamily="2" charset="2"/>
              <a:buChar char="Ø"/>
            </a:pPr>
            <a:r>
              <a:rPr lang="en-GB" sz="1600" b="0" i="0" u="none" strike="noStrike" dirty="0">
                <a:solidFill>
                  <a:srgbClr val="000000"/>
                </a:solidFill>
                <a:effectLst/>
              </a:rPr>
              <a:t>Their power comes from considering not just the current input but also previous inputs, enabling them to "remember" prior information.</a:t>
            </a:r>
          </a:p>
          <a:p>
            <a:pPr marL="285750" indent="-285750" algn="l">
              <a:buFont typeface="Wingdings" pitchFamily="2" charset="2"/>
              <a:buChar char="Ø"/>
            </a:pPr>
            <a:r>
              <a:rPr lang="en-GB" sz="1600" b="1" i="0" u="none" strike="noStrike" dirty="0">
                <a:solidFill>
                  <a:srgbClr val="000000"/>
                </a:solidFill>
                <a:effectLst/>
              </a:rPr>
              <a:t>Contrast with Traditional Methods (e.g., Naive Bayes for text classification):</a:t>
            </a:r>
            <a:endParaRPr lang="en-GB" sz="1600" b="0" i="0" u="none" strike="noStrike" dirty="0">
              <a:solidFill>
                <a:srgbClr val="000000"/>
              </a:solidFill>
              <a:effectLst/>
            </a:endParaRPr>
          </a:p>
          <a:p>
            <a:pPr marL="800100" lvl="1" indent="-342900" algn="l">
              <a:buFont typeface="+mj-lt"/>
              <a:buAutoNum type="arabicPeriod"/>
            </a:pPr>
            <a:r>
              <a:rPr lang="en-GB" sz="1600" b="0" i="0" u="none" strike="noStrike" dirty="0">
                <a:solidFill>
                  <a:srgbClr val="000000"/>
                </a:solidFill>
                <a:effectLst/>
              </a:rPr>
              <a:t>Traditional methods often treat text as a collection of independent words, focusing on frequency.</a:t>
            </a:r>
          </a:p>
          <a:p>
            <a:pPr marL="800100" lvl="1" indent="-342900" algn="l">
              <a:buFont typeface="+mj-lt"/>
              <a:buAutoNum type="arabicPeriod"/>
            </a:pPr>
            <a:r>
              <a:rPr lang="en-GB" sz="1600" b="0" i="0" u="none" strike="noStrike" dirty="0">
                <a:solidFill>
                  <a:srgbClr val="000000"/>
                </a:solidFill>
                <a:effectLst/>
              </a:rPr>
              <a:t>They disregard word order and composition, which are crucial for sentence meaning.</a:t>
            </a:r>
          </a:p>
          <a:p>
            <a:pPr marL="285750" indent="-285750" algn="l">
              <a:buFont typeface="Wingdings" pitchFamily="2" charset="2"/>
              <a:buChar char="Ø"/>
            </a:pPr>
            <a:r>
              <a:rPr lang="en-GB" sz="1600" b="1" i="0" u="none" strike="noStrike" dirty="0">
                <a:solidFill>
                  <a:srgbClr val="000000"/>
                </a:solidFill>
                <a:effectLst/>
              </a:rPr>
              <a:t>RNN Approach:</a:t>
            </a:r>
            <a:endParaRPr lang="en-GB" sz="1600" b="0" i="0" u="none" strike="noStrike" dirty="0">
              <a:solidFill>
                <a:srgbClr val="000000"/>
              </a:solidFill>
              <a:effectLst/>
            </a:endParaRPr>
          </a:p>
          <a:p>
            <a:pPr marL="800100" lvl="1" indent="-342900" algn="l">
              <a:buFont typeface="+mj-lt"/>
              <a:buAutoNum type="arabicPeriod"/>
            </a:pPr>
            <a:r>
              <a:rPr lang="en-GB" sz="1600" b="0" i="0" u="none" strike="noStrike" dirty="0">
                <a:solidFill>
                  <a:srgbClr val="000000"/>
                </a:solidFill>
                <a:effectLst/>
              </a:rPr>
              <a:t>Processes sequential data element by element (e.g., words in a sentence).</a:t>
            </a:r>
          </a:p>
          <a:p>
            <a:pPr marL="800100" lvl="1" indent="-342900" algn="l">
              <a:buFont typeface="+mj-lt"/>
              <a:buAutoNum type="arabicPeriod"/>
            </a:pPr>
            <a:r>
              <a:rPr lang="en-GB" sz="1600" b="0" i="0" u="none" strike="noStrike" dirty="0">
                <a:solidFill>
                  <a:srgbClr val="000000"/>
                </a:solidFill>
                <a:effectLst/>
              </a:rPr>
              <a:t>Combines the current input (word </a:t>
            </a:r>
            <a:r>
              <a:rPr lang="en-GB" sz="1600" b="0" i="1" u="none" strike="noStrike" dirty="0" err="1">
                <a:solidFill>
                  <a:srgbClr val="000000"/>
                </a:solidFill>
                <a:effectLst/>
              </a:rPr>
              <a:t>i</a:t>
            </a:r>
            <a:r>
              <a:rPr lang="en-GB" sz="1600" b="0" i="0" u="none" strike="noStrike" dirty="0">
                <a:solidFill>
                  <a:srgbClr val="000000"/>
                </a:solidFill>
                <a:effectLst/>
              </a:rPr>
              <a:t>) with the output from the previous element (word </a:t>
            </a:r>
            <a:r>
              <a:rPr lang="en-GB" sz="1600" b="0" i="1" u="none" strike="noStrike" dirty="0">
                <a:solidFill>
                  <a:srgbClr val="000000"/>
                </a:solidFill>
                <a:effectLst/>
              </a:rPr>
              <a:t>i-1</a:t>
            </a:r>
            <a:r>
              <a:rPr lang="en-GB" sz="1600" b="0" i="0" u="none" strike="noStrike" dirty="0">
                <a:solidFill>
                  <a:srgbClr val="000000"/>
                </a:solidFill>
                <a:effectLst/>
              </a:rPr>
              <a:t>).</a:t>
            </a:r>
          </a:p>
          <a:p>
            <a:pPr marL="800100" lvl="1" indent="-342900" algn="l">
              <a:buFont typeface="+mj-lt"/>
              <a:buAutoNum type="arabicPeriod"/>
            </a:pPr>
            <a:r>
              <a:rPr lang="en-GB" sz="1600" b="0" i="0" u="none" strike="noStrike" dirty="0">
                <a:solidFill>
                  <a:srgbClr val="000000"/>
                </a:solidFill>
                <a:effectLst/>
              </a:rPr>
              <a:t>This process is repeated for subsequent elements (word </a:t>
            </a:r>
            <a:r>
              <a:rPr lang="en-GB" sz="1600" b="0" i="1" u="none" strike="noStrike" dirty="0">
                <a:solidFill>
                  <a:srgbClr val="000000"/>
                </a:solidFill>
                <a:effectLst/>
              </a:rPr>
              <a:t>i+1</a:t>
            </a:r>
            <a:r>
              <a:rPr lang="en-GB" sz="1600" b="0" i="0" u="none" strike="noStrike" dirty="0">
                <a:solidFill>
                  <a:srgbClr val="000000"/>
                </a:solidFill>
                <a:effectLst/>
              </a:rPr>
              <a:t>).</a:t>
            </a:r>
          </a:p>
          <a:p>
            <a:pPr marL="285750" indent="-285750" algn="l">
              <a:buFont typeface="Wingdings" pitchFamily="2" charset="2"/>
              <a:buChar char="Ø"/>
            </a:pPr>
            <a:r>
              <a:rPr lang="en-GB" sz="1600" b="0" i="0" u="none" strike="noStrike" dirty="0">
                <a:solidFill>
                  <a:srgbClr val="000000"/>
                </a:solidFill>
                <a:effectLst/>
              </a:rPr>
              <a:t>The repeated application of the same operations on each element in the sequence is why it's called a "recurrent" neural network.</a:t>
            </a:r>
          </a:p>
          <a:p>
            <a:pPr marL="285750" indent="-285750" algn="l">
              <a:buFont typeface="Wingdings" pitchFamily="2" charset="2"/>
              <a:buChar char="Ø"/>
            </a:pPr>
            <a:r>
              <a:rPr lang="en-GB" sz="1600" b="0" i="0" u="none" strike="noStrike" dirty="0">
                <a:solidFill>
                  <a:srgbClr val="000000"/>
                </a:solidFill>
                <a:effectLst/>
              </a:rPr>
              <a:t>This mechanism allows RNNs to understand context and dependencies within the sequence.</a:t>
            </a:r>
          </a:p>
          <a:p>
            <a:pPr algn="l"/>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955289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8919983-E05E-20D0-C4E2-6A8D7183356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4138709-D96E-55B9-4533-70C30DB2813F}"/>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Recurrent Neural Network (RNN) </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0D1A6CF-2D5F-5D7D-9866-D819F940507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DC669A1-A7C3-DB1B-88C8-73B11D415E31}"/>
              </a:ext>
            </a:extLst>
          </p:cNvPr>
          <p:cNvSpPr txBox="1"/>
          <p:nvPr/>
        </p:nvSpPr>
        <p:spPr>
          <a:xfrm>
            <a:off x="326005" y="634451"/>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pic>
        <p:nvPicPr>
          <p:cNvPr id="2056" name="Picture 8">
            <a:extLst>
              <a:ext uri="{FF2B5EF4-FFF2-40B4-BE49-F238E27FC236}">
                <a16:creationId xmlns:a16="http://schemas.microsoft.com/office/drawing/2014/main" id="{ECEEA9DF-E7D1-2CC6-64D3-D698305761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716"/>
          <a:stretch/>
        </p:blipFill>
        <p:spPr bwMode="auto">
          <a:xfrm>
            <a:off x="363398" y="894507"/>
            <a:ext cx="7304024" cy="3354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30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3069ADC-071B-08ED-A031-4DB66EF8CAB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1784E91-A421-2B4B-98B3-571D666B6895}"/>
              </a:ext>
            </a:extLst>
          </p:cNvPr>
          <p:cNvSpPr txBox="1">
            <a:spLocks noGrp="1"/>
          </p:cNvSpPr>
          <p:nvPr>
            <p:ph type="title"/>
          </p:nvPr>
        </p:nvSpPr>
        <p:spPr>
          <a:xfrm>
            <a:off x="77991" y="79968"/>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How Recurrent Neural Network (RNN) Works  </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61B10AD-A6B4-0F3B-7BB1-1006996FCDB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FB04BED-44D4-1182-D70F-781411D44B91}"/>
              </a:ext>
            </a:extLst>
          </p:cNvPr>
          <p:cNvSpPr txBox="1"/>
          <p:nvPr/>
        </p:nvSpPr>
        <p:spPr>
          <a:xfrm>
            <a:off x="326005" y="634451"/>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0D40CDAA-7565-6AAA-1FA0-6333DE3885A9}"/>
              </a:ext>
            </a:extLst>
          </p:cNvPr>
          <p:cNvSpPr txBox="1"/>
          <p:nvPr/>
        </p:nvSpPr>
        <p:spPr>
          <a:xfrm>
            <a:off x="429767" y="926838"/>
            <a:ext cx="7977873" cy="2800767"/>
          </a:xfrm>
          <a:prstGeom prst="rect">
            <a:avLst/>
          </a:prstGeom>
          <a:noFill/>
        </p:spPr>
        <p:txBody>
          <a:bodyPr wrap="square">
            <a:spAutoFit/>
          </a:bodyPr>
          <a:lstStyle/>
          <a:p>
            <a:pPr marL="342900" indent="-342900">
              <a:buFont typeface="+mj-lt"/>
              <a:buAutoNum type="arabicPeriod"/>
            </a:pPr>
            <a:r>
              <a:rPr lang="en-GB" sz="1600" b="1" dirty="0"/>
              <a:t>Learning from Sequential Data:</a:t>
            </a:r>
            <a:r>
              <a:rPr lang="en-GB" sz="1600" dirty="0"/>
              <a:t> Like other neural networks (feedforward and CNNs), RNNs learn patterns from training data.</a:t>
            </a:r>
          </a:p>
          <a:p>
            <a:pPr marL="342900" indent="-342900">
              <a:buFont typeface="+mj-lt"/>
              <a:buAutoNum type="arabicPeriod"/>
            </a:pPr>
            <a:r>
              <a:rPr lang="en-GB" sz="1600" b="1" dirty="0"/>
              <a:t>"Memory" Mechanism:</a:t>
            </a:r>
            <a:r>
              <a:rPr lang="en-GB" sz="1600" dirty="0"/>
              <a:t> RNNs have a key difference: they use information from prior inputs to influence the processing of the current input and the resulting output.</a:t>
            </a:r>
          </a:p>
          <a:p>
            <a:pPr marL="342900" indent="-342900">
              <a:buFont typeface="+mj-lt"/>
              <a:buAutoNum type="arabicPeriod"/>
            </a:pPr>
            <a:r>
              <a:rPr lang="en-GB" sz="1600" b="1" dirty="0"/>
              <a:t>Dependence on Prior Elements:</a:t>
            </a:r>
            <a:r>
              <a:rPr lang="en-GB" sz="1600" dirty="0"/>
              <a:t> Unlike traditional networks that assume input and output independence, the output of an RNN depends on the elements that came </a:t>
            </a:r>
            <a:r>
              <a:rPr lang="en-GB" sz="1600" i="1" dirty="0"/>
              <a:t>before</a:t>
            </a:r>
            <a:r>
              <a:rPr lang="en-GB" sz="1600" dirty="0"/>
              <a:t> in the sequence.</a:t>
            </a:r>
          </a:p>
          <a:p>
            <a:pPr marL="342900" indent="-342900">
              <a:buFont typeface="+mj-lt"/>
              <a:buAutoNum type="arabicPeriod"/>
            </a:pPr>
            <a:r>
              <a:rPr lang="en-GB" sz="1600" b="1" dirty="0"/>
              <a:t>Unidirectional Limitation:</a:t>
            </a:r>
            <a:r>
              <a:rPr lang="en-GB" sz="1600" dirty="0"/>
              <a:t> Basic RNNs (unidirectional) cannot account for </a:t>
            </a:r>
            <a:r>
              <a:rPr lang="en-GB" sz="1600" i="1" dirty="0"/>
              <a:t>future</a:t>
            </a:r>
            <a:r>
              <a:rPr lang="en-GB" sz="1600" dirty="0"/>
              <a:t> elements in the sequence when making predictions about the current element.</a:t>
            </a:r>
          </a:p>
        </p:txBody>
      </p:sp>
    </p:spTree>
    <p:extLst>
      <p:ext uri="{BB962C8B-B14F-4D97-AF65-F5344CB8AC3E}">
        <p14:creationId xmlns:p14="http://schemas.microsoft.com/office/powerpoint/2010/main" val="3397438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AAB5663-5584-5069-012B-72038DD3A9A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7744DE6-09B9-E90A-1FA6-A12A0CB54030}"/>
              </a:ext>
            </a:extLst>
          </p:cNvPr>
          <p:cNvSpPr txBox="1">
            <a:spLocks noGrp="1"/>
          </p:cNvSpPr>
          <p:nvPr>
            <p:ph type="title"/>
          </p:nvPr>
        </p:nvSpPr>
        <p:spPr>
          <a:xfrm>
            <a:off x="77991" y="79968"/>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How Recurrent Neural Network (RNN) Works  </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895099B-7386-04AE-8756-778DED16BAC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BA60FD6C-8FF5-3AC0-9A51-A0A8CC1F2A3C}"/>
              </a:ext>
            </a:extLst>
          </p:cNvPr>
          <p:cNvSpPr txBox="1"/>
          <p:nvPr/>
        </p:nvSpPr>
        <p:spPr>
          <a:xfrm>
            <a:off x="326005" y="634451"/>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2602487B-A672-AE11-12E6-36A681EDE48C}"/>
              </a:ext>
            </a:extLst>
          </p:cNvPr>
          <p:cNvSpPr txBox="1"/>
          <p:nvPr/>
        </p:nvSpPr>
        <p:spPr>
          <a:xfrm>
            <a:off x="77991" y="477176"/>
            <a:ext cx="3483995" cy="403187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000000"/>
              </a:buClr>
              <a:buSzTx/>
              <a:buFont typeface="+mj-lt"/>
              <a:buAutoNum type="arabicPeriod"/>
              <a:tabLst/>
              <a:defRPr/>
            </a:pPr>
            <a:endParaRPr kumimoji="0" lang="en-GB" sz="16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mj-lt"/>
              <a:buAutoNum type="arabicPeriod" startAt="5"/>
              <a:tabLst/>
              <a:defRPr/>
            </a:pPr>
            <a:r>
              <a:rPr kumimoji="0" lang="en-GB" sz="1600" b="1" i="0" u="none" strike="noStrike" kern="0" cap="none" spc="0" normalizeH="0" baseline="0" noProof="0" dirty="0">
                <a:ln>
                  <a:noFill/>
                </a:ln>
                <a:solidFill>
                  <a:srgbClr val="000000"/>
                </a:solidFill>
                <a:effectLst/>
                <a:uLnTx/>
                <a:uFillTx/>
                <a:latin typeface="Arial"/>
                <a:cs typeface="Arial"/>
                <a:sym typeface="Arial"/>
              </a:rPr>
              <a:t>Hidden State for Context:</a:t>
            </a:r>
            <a:r>
              <a:rPr kumimoji="0" lang="en-GB" sz="1600" b="0" i="0" u="none" strike="noStrike" kern="0" cap="none" spc="0" normalizeH="0" baseline="0" noProof="0" dirty="0">
                <a:ln>
                  <a:noFill/>
                </a:ln>
                <a:solidFill>
                  <a:srgbClr val="000000"/>
                </a:solidFill>
                <a:effectLst/>
                <a:uLnTx/>
                <a:uFillTx/>
                <a:latin typeface="Arial"/>
                <a:cs typeface="Arial"/>
                <a:sym typeface="Arial"/>
              </a:rPr>
              <a:t> RNNs maintain a "hidden state" at each time step to track context within the sequence.</a:t>
            </a:r>
          </a:p>
          <a:p>
            <a:pPr marL="342900" marR="0" lvl="0" indent="-342900" algn="l" defTabSz="914400" rtl="0" eaLnBrk="1" fontAlgn="auto" latinLnBrk="0" hangingPunct="1">
              <a:lnSpc>
                <a:spcPct val="100000"/>
              </a:lnSpc>
              <a:spcBef>
                <a:spcPts val="0"/>
              </a:spcBef>
              <a:spcAft>
                <a:spcPts val="0"/>
              </a:spcAft>
              <a:buClr>
                <a:srgbClr val="000000"/>
              </a:buClr>
              <a:buSzTx/>
              <a:buFont typeface="+mj-lt"/>
              <a:buAutoNum type="arabicPeriod" startAt="5"/>
              <a:tabLst/>
              <a:defRPr/>
            </a:pPr>
            <a:r>
              <a:rPr kumimoji="0" lang="en-GB" sz="1600" b="1" i="0" u="none" strike="noStrike" kern="0" cap="none" spc="0" normalizeH="0" baseline="0" noProof="0" dirty="0">
                <a:ln>
                  <a:noFill/>
                </a:ln>
                <a:solidFill>
                  <a:srgbClr val="000000"/>
                </a:solidFill>
                <a:effectLst/>
                <a:uLnTx/>
                <a:uFillTx/>
                <a:latin typeface="Arial"/>
                <a:cs typeface="Arial"/>
                <a:sym typeface="Arial"/>
              </a:rPr>
              <a:t>Feedback Loop:</a:t>
            </a:r>
            <a:r>
              <a:rPr kumimoji="0" lang="en-GB" sz="1600" b="0" i="0" u="none" strike="noStrike" kern="0" cap="none" spc="0" normalizeH="0" baseline="0" noProof="0" dirty="0">
                <a:ln>
                  <a:noFill/>
                </a:ln>
                <a:solidFill>
                  <a:srgbClr val="000000"/>
                </a:solidFill>
                <a:effectLst/>
                <a:uLnTx/>
                <a:uFillTx/>
                <a:latin typeface="Arial"/>
                <a:cs typeface="Arial"/>
                <a:sym typeface="Arial"/>
              </a:rPr>
              <a:t> The hidden state from one time step is passed as input to the next, creating a feedback loop.</a:t>
            </a:r>
          </a:p>
          <a:p>
            <a:pPr marL="342900" indent="-342900">
              <a:buFont typeface="+mj-lt"/>
              <a:buAutoNum type="arabicPeriod" startAt="7"/>
            </a:pPr>
            <a:r>
              <a:rPr lang="en-GB" sz="1600" b="1" dirty="0"/>
              <a:t>Processing at Each Step:</a:t>
            </a:r>
            <a:r>
              <a:rPr lang="en-GB" sz="1600" dirty="0"/>
              <a:t> At each step, the RNN processes the current input (e.g., a word) along with the hidden state from the previous step. This allows it to "remember" past data points.</a:t>
            </a:r>
          </a:p>
        </p:txBody>
      </p:sp>
      <p:pic>
        <p:nvPicPr>
          <p:cNvPr id="13316" name="Picture 4" descr="Three diagrams quickly explaining what Recurrent Neural Networks are">
            <a:extLst>
              <a:ext uri="{FF2B5EF4-FFF2-40B4-BE49-F238E27FC236}">
                <a16:creationId xmlns:a16="http://schemas.microsoft.com/office/drawing/2014/main" id="{1EDD3867-E650-FAE9-5776-5728CFA388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9168" y="1165681"/>
            <a:ext cx="5556841" cy="3125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857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DA078DE-6C03-FC52-12BF-A1A844F8FFA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F059596-EF66-A7E3-E496-8C7780688BE5}"/>
              </a:ext>
            </a:extLst>
          </p:cNvPr>
          <p:cNvSpPr txBox="1">
            <a:spLocks noGrp="1"/>
          </p:cNvSpPr>
          <p:nvPr>
            <p:ph type="title"/>
          </p:nvPr>
        </p:nvSpPr>
        <p:spPr>
          <a:xfrm>
            <a:off x="77991" y="79968"/>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How Recurrent Neural Network (RNN) Works  </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FB178FE5-32F0-734B-8987-DDAEBD6AB6A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9575FE3-0857-A5F6-8CB8-C547329875F3}"/>
              </a:ext>
            </a:extLst>
          </p:cNvPr>
          <p:cNvSpPr txBox="1"/>
          <p:nvPr/>
        </p:nvSpPr>
        <p:spPr>
          <a:xfrm>
            <a:off x="326005" y="634451"/>
            <a:ext cx="7378810"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584AC25E-D180-7414-BE1A-A6A47967B08B}"/>
              </a:ext>
            </a:extLst>
          </p:cNvPr>
          <p:cNvSpPr txBox="1"/>
          <p:nvPr/>
        </p:nvSpPr>
        <p:spPr>
          <a:xfrm>
            <a:off x="380999" y="662327"/>
            <a:ext cx="6873241" cy="4031873"/>
          </a:xfrm>
          <a:prstGeom prst="rect">
            <a:avLst/>
          </a:prstGeom>
          <a:noFill/>
        </p:spPr>
        <p:txBody>
          <a:bodyPr wrap="square">
            <a:spAutoFit/>
          </a:bodyPr>
          <a:lstStyle/>
          <a:p>
            <a:pPr marL="342900" indent="-342900">
              <a:buFont typeface="+mj-lt"/>
              <a:buAutoNum type="arabicPeriod" startAt="8"/>
            </a:pPr>
            <a:r>
              <a:rPr lang="en-GB" sz="1600" b="1" dirty="0"/>
              <a:t>Parameter Sharing:</a:t>
            </a:r>
            <a:r>
              <a:rPr lang="en-GB" sz="1600" dirty="0"/>
              <a:t> RNNs share the same weight parameters across each layer of the network at different time steps. This is unlike feedforward networks, which have different weights for each node in a layer.</a:t>
            </a:r>
            <a:endParaRPr lang="en-GB" sz="1600" b="1" dirty="0"/>
          </a:p>
          <a:p>
            <a:pPr marL="342900" indent="-342900">
              <a:buFont typeface="+mj-lt"/>
              <a:buAutoNum type="arabicPeriod" startAt="9"/>
            </a:pPr>
            <a:r>
              <a:rPr lang="en-GB" sz="1600" b="1" dirty="0"/>
              <a:t>Weight Adjustment:</a:t>
            </a:r>
            <a:r>
              <a:rPr lang="en-GB" sz="1600" dirty="0"/>
              <a:t> These shared weights are still learned and adjusted through backpropagation and gradient descent.</a:t>
            </a:r>
          </a:p>
          <a:p>
            <a:pPr marL="342900" indent="-342900">
              <a:buFont typeface="+mj-lt"/>
              <a:buAutoNum type="arabicPeriod" startAt="9"/>
            </a:pPr>
            <a:endParaRPr lang="en-GB" sz="1600" dirty="0"/>
          </a:p>
          <a:p>
            <a:pPr marL="342900" indent="-342900">
              <a:buFont typeface="+mj-lt"/>
              <a:buAutoNum type="arabicPeriod" startAt="9"/>
            </a:pPr>
            <a:r>
              <a:rPr lang="en-GB" sz="1600" b="1" dirty="0"/>
              <a:t>Backpropagation Through Time (BPTT):</a:t>
            </a:r>
            <a:r>
              <a:rPr lang="en-GB" sz="1600" dirty="0"/>
              <a:t> RNNs use a specialized training algorithm called Backpropagation Through Time (BPTT) to calculate gradients for sequence data.</a:t>
            </a:r>
          </a:p>
          <a:p>
            <a:pPr marL="342900" indent="-342900">
              <a:buFont typeface="+mj-lt"/>
              <a:buAutoNum type="alphaLcPeriod"/>
            </a:pPr>
            <a:r>
              <a:rPr lang="en-GB" sz="1600" dirty="0"/>
              <a:t>BPTT's principles are similar to traditional backpropagation, where errors are calculated from the output layer back to the input layer to adjust model parameters.</a:t>
            </a:r>
          </a:p>
          <a:p>
            <a:pPr marL="342900" indent="-342900">
              <a:buFont typeface="+mj-lt"/>
              <a:buAutoNum type="alphaLcPeriod"/>
            </a:pPr>
            <a:r>
              <a:rPr lang="en-GB" sz="1600" dirty="0"/>
              <a:t>BPTT differs by summing the errors at each time step, which is necessary because the parameters are shared across the sequence, unlike feedforward networks.</a:t>
            </a:r>
          </a:p>
        </p:txBody>
      </p:sp>
    </p:spTree>
    <p:extLst>
      <p:ext uri="{BB962C8B-B14F-4D97-AF65-F5344CB8AC3E}">
        <p14:creationId xmlns:p14="http://schemas.microsoft.com/office/powerpoint/2010/main" val="1975217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66E7CD1-825B-1616-8969-78578885886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C05D0FB-CA12-71C3-97F2-E1EEFF722C07}"/>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Common Activation Functions:</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F676778A-A4D9-A418-B2B3-AC00CCB4004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02223A8-60D5-BB4F-38EC-79EAB8F1B03E}"/>
              </a:ext>
            </a:extLst>
          </p:cNvPr>
          <p:cNvSpPr txBox="1"/>
          <p:nvPr/>
        </p:nvSpPr>
        <p:spPr>
          <a:xfrm>
            <a:off x="222637" y="825283"/>
            <a:ext cx="8022866" cy="3539430"/>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Sigmoid Function:</a:t>
            </a:r>
            <a:endParaRPr lang="en-GB" sz="1600" b="0" i="0" u="none" strike="noStrike" dirty="0">
              <a:solidFill>
                <a:srgbClr val="000000"/>
              </a:solidFill>
              <a:effectLst/>
            </a:endParaRPr>
          </a:p>
          <a:p>
            <a:pPr marL="800100" lvl="1" indent="-342900" algn="l">
              <a:buFont typeface="+mj-lt"/>
              <a:buAutoNum type="alphaLcPeriod"/>
            </a:pPr>
            <a:r>
              <a:rPr lang="en-GB" sz="1600" b="0" i="0" u="none" strike="noStrike" dirty="0">
                <a:solidFill>
                  <a:srgbClr val="000000"/>
                </a:solidFill>
                <a:effectLst/>
              </a:rPr>
              <a:t>Used to interpret output as probabilities or to control gates (how much information to keep or discard).</a:t>
            </a:r>
          </a:p>
          <a:p>
            <a:pPr marL="800100" lvl="1" indent="-342900" algn="l">
              <a:buFont typeface="+mj-lt"/>
              <a:buAutoNum type="alphaLcPeriod"/>
            </a:pPr>
            <a:r>
              <a:rPr lang="en-GB" sz="1600" b="0" i="0" u="none" strike="noStrike" dirty="0">
                <a:solidFill>
                  <a:srgbClr val="000000"/>
                </a:solidFill>
                <a:effectLst/>
              </a:rPr>
              <a:t>Prone to the vanishing gradient problem, making it less suitable for deeper networks.</a:t>
            </a:r>
          </a:p>
          <a:p>
            <a:pPr marL="342900" indent="-342900" algn="l">
              <a:buFont typeface="+mj-lt"/>
              <a:buAutoNum type="arabicPeriod"/>
            </a:pPr>
            <a:r>
              <a:rPr lang="en-GB" sz="1600" b="1" i="0" u="none" strike="noStrike" dirty="0">
                <a:solidFill>
                  <a:srgbClr val="000000"/>
                </a:solidFill>
                <a:effectLst/>
              </a:rPr>
              <a:t>Tanh (Hyperbolic Tangent) Function:</a:t>
            </a:r>
            <a:endParaRPr lang="en-GB" sz="1600" b="0" i="0" u="none" strike="noStrike" dirty="0">
              <a:solidFill>
                <a:srgbClr val="000000"/>
              </a:solidFill>
              <a:effectLst/>
            </a:endParaRPr>
          </a:p>
          <a:p>
            <a:pPr marL="800100" lvl="1" indent="-342900" algn="l">
              <a:buFont typeface="+mj-lt"/>
              <a:buAutoNum type="alphaLcPeriod"/>
            </a:pPr>
            <a:r>
              <a:rPr lang="en-GB" sz="1600" b="0" i="0" u="none" strike="noStrike" dirty="0">
                <a:solidFill>
                  <a:srgbClr val="000000"/>
                </a:solidFill>
                <a:effectLst/>
              </a:rPr>
              <a:t>Often used because its output is </a:t>
            </a:r>
            <a:r>
              <a:rPr lang="en-GB" sz="1600" b="0" i="0" u="none" strike="noStrike" dirty="0" err="1">
                <a:solidFill>
                  <a:srgbClr val="000000"/>
                </a:solidFill>
                <a:effectLst/>
              </a:rPr>
              <a:t>centered</a:t>
            </a:r>
            <a:r>
              <a:rPr lang="en-GB" sz="1600" b="0" i="0" u="none" strike="noStrike" dirty="0">
                <a:solidFill>
                  <a:srgbClr val="000000"/>
                </a:solidFill>
                <a:effectLst/>
              </a:rPr>
              <a:t> around zero, which can improve gradient flow and the learning of long-term dependencies.</a:t>
            </a:r>
          </a:p>
          <a:p>
            <a:pPr marL="342900" indent="-342900" algn="l">
              <a:buFont typeface="+mj-lt"/>
              <a:buAutoNum type="arabicPeriod"/>
            </a:pPr>
            <a:r>
              <a:rPr lang="en-GB" sz="1600" b="1" i="0" u="none" strike="noStrike" dirty="0" err="1">
                <a:solidFill>
                  <a:srgbClr val="000000"/>
                </a:solidFill>
                <a:effectLst/>
              </a:rPr>
              <a:t>ReLU</a:t>
            </a:r>
            <a:r>
              <a:rPr lang="en-GB" sz="1600" b="1" i="0" u="none" strike="noStrike" dirty="0">
                <a:solidFill>
                  <a:srgbClr val="000000"/>
                </a:solidFill>
                <a:effectLst/>
              </a:rPr>
              <a:t> (Rectified Linear Unit):</a:t>
            </a:r>
            <a:endParaRPr lang="en-GB" sz="1600" b="0" i="0" u="none" strike="noStrike" dirty="0">
              <a:solidFill>
                <a:srgbClr val="000000"/>
              </a:solidFill>
              <a:effectLst/>
            </a:endParaRPr>
          </a:p>
          <a:p>
            <a:pPr marL="800100" lvl="1" indent="-342900" algn="l">
              <a:buFont typeface="+mj-lt"/>
              <a:buAutoNum type="alphaLcPeriod"/>
            </a:pPr>
            <a:r>
              <a:rPr lang="en-GB" sz="1600" b="0" i="0" u="none" strike="noStrike" dirty="0">
                <a:solidFill>
                  <a:srgbClr val="000000"/>
                </a:solidFill>
                <a:effectLst/>
              </a:rPr>
              <a:t>Its unbounded nature can potentially lead to exploding gradients.</a:t>
            </a:r>
          </a:p>
          <a:p>
            <a:pPr marL="800100" lvl="1" indent="-342900" algn="l">
              <a:buFont typeface="+mj-lt"/>
              <a:buAutoNum type="alphaLcPeriod"/>
            </a:pPr>
            <a:r>
              <a:rPr lang="en-GB" sz="1600" b="0" i="0" u="none" strike="noStrike" dirty="0">
                <a:solidFill>
                  <a:srgbClr val="000000"/>
                </a:solidFill>
                <a:effectLst/>
              </a:rPr>
              <a:t>Variants like Leaky </a:t>
            </a:r>
            <a:r>
              <a:rPr lang="en-GB" sz="1600" b="0" i="0" u="none" strike="noStrike" dirty="0" err="1">
                <a:solidFill>
                  <a:srgbClr val="000000"/>
                </a:solidFill>
                <a:effectLst/>
              </a:rPr>
              <a:t>ReLU</a:t>
            </a:r>
            <a:r>
              <a:rPr lang="en-GB" sz="1600" b="0" i="0" u="none" strike="noStrike" dirty="0">
                <a:solidFill>
                  <a:srgbClr val="000000"/>
                </a:solidFill>
                <a:effectLst/>
              </a:rPr>
              <a:t> and Parametric </a:t>
            </a:r>
            <a:r>
              <a:rPr lang="en-GB" sz="1600" b="0" i="0" u="none" strike="noStrike" dirty="0" err="1">
                <a:solidFill>
                  <a:srgbClr val="000000"/>
                </a:solidFill>
                <a:effectLst/>
              </a:rPr>
              <a:t>ReLU</a:t>
            </a:r>
            <a:r>
              <a:rPr lang="en-GB" sz="1600" b="0" i="0" u="none" strike="noStrike" dirty="0">
                <a:solidFill>
                  <a:srgbClr val="000000"/>
                </a:solidFill>
                <a:effectLst/>
              </a:rPr>
              <a:t> have been used to address some of these issues.</a:t>
            </a: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1486300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8A7FE64-D88E-84F6-4EC2-2664C19D362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2C8A05F-F0F9-B434-6208-EEDF8EF1F872}"/>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Purpose of Activation Functions:</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DBD51007-DEF0-E022-CBD1-F756A94267D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63883211-A029-1B97-80DE-DFABA7114016}"/>
              </a:ext>
            </a:extLst>
          </p:cNvPr>
          <p:cNvSpPr txBox="1"/>
          <p:nvPr/>
        </p:nvSpPr>
        <p:spPr>
          <a:xfrm>
            <a:off x="149485" y="648499"/>
            <a:ext cx="7824083" cy="4616648"/>
          </a:xfrm>
          <a:prstGeom prst="rect">
            <a:avLst/>
          </a:prstGeom>
          <a:noFill/>
        </p:spPr>
        <p:txBody>
          <a:bodyPr wrap="square">
            <a:spAutoFit/>
          </a:bodyPr>
          <a:lstStyle/>
          <a:p>
            <a:pPr marL="457200" indent="-457200">
              <a:buFont typeface="+mj-lt"/>
              <a:buAutoNum type="arabicPeriod"/>
            </a:pPr>
            <a:r>
              <a:rPr lang="en-GB" dirty="0"/>
              <a:t>Introduce non-linearity, enabling the network to learn complex patterns in sequential data (like NLP and time series).</a:t>
            </a:r>
          </a:p>
          <a:p>
            <a:pPr marL="457200" indent="-457200">
              <a:buFont typeface="+mj-lt"/>
              <a:buAutoNum type="arabicPeriod"/>
            </a:pPr>
            <a:r>
              <a:rPr lang="en-GB" dirty="0"/>
              <a:t>Without them, RNNs would only perform linear transformations.</a:t>
            </a:r>
          </a:p>
          <a:p>
            <a:pPr marL="457200" indent="-457200">
              <a:buFont typeface="+mj-lt"/>
              <a:buAutoNum type="arabicPeriod"/>
            </a:pPr>
            <a:r>
              <a:rPr lang="en-GB" dirty="0"/>
              <a:t>Control the magnitude of neuron outputs, keeping values within a specific range to prevent exploding or vanishing gradients.</a:t>
            </a:r>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a:p>
          <a:p>
            <a:pPr>
              <a:buNone/>
            </a:pPr>
            <a:r>
              <a:rPr lang="en-GB" b="1" dirty="0"/>
              <a:t>Application in RNNs:</a:t>
            </a:r>
            <a:r>
              <a:rPr lang="en-GB" dirty="0"/>
              <a:t> Applied at each time step to the hidden states, regulating how the network updates its memory based on current input and past states.</a:t>
            </a:r>
            <a:br>
              <a:rPr lang="en-GB" dirty="0">
                <a:latin typeface="+mj-lt"/>
              </a:rPr>
            </a:br>
            <a:endParaRPr lang="en-GB" i="0" u="none" strike="noStrike" dirty="0">
              <a:solidFill>
                <a:srgbClr val="000000"/>
              </a:solidFill>
              <a:effectLst/>
              <a:latin typeface="+mj-lt"/>
            </a:endParaRPr>
          </a:p>
        </p:txBody>
      </p:sp>
      <p:pic>
        <p:nvPicPr>
          <p:cNvPr id="14338" name="Picture 2" descr="Diagram of different activation functions used in RNNs ">
            <a:extLst>
              <a:ext uri="{FF2B5EF4-FFF2-40B4-BE49-F238E27FC236}">
                <a16:creationId xmlns:a16="http://schemas.microsoft.com/office/drawing/2014/main" id="{EE756D47-0055-48BC-E88D-774ED9BB8B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458" y="1773936"/>
            <a:ext cx="4996092" cy="266242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84FE9AF-EDE3-AE82-7873-63F5D316FE2E}"/>
              </a:ext>
            </a:extLst>
          </p:cNvPr>
          <p:cNvSpPr txBox="1"/>
          <p:nvPr/>
        </p:nvSpPr>
        <p:spPr>
          <a:xfrm>
            <a:off x="2456117" y="4030317"/>
            <a:ext cx="1009498" cy="307777"/>
          </a:xfrm>
          <a:prstGeom prst="rect">
            <a:avLst/>
          </a:prstGeom>
          <a:noFill/>
        </p:spPr>
        <p:txBody>
          <a:bodyPr wrap="square" rtlCol="0">
            <a:spAutoFit/>
          </a:bodyPr>
          <a:lstStyle/>
          <a:p>
            <a:r>
              <a:rPr lang="en-US" dirty="0"/>
              <a:t>Sigmoid</a:t>
            </a:r>
          </a:p>
        </p:txBody>
      </p:sp>
      <p:sp>
        <p:nvSpPr>
          <p:cNvPr id="3" name="TextBox 2">
            <a:extLst>
              <a:ext uri="{FF2B5EF4-FFF2-40B4-BE49-F238E27FC236}">
                <a16:creationId xmlns:a16="http://schemas.microsoft.com/office/drawing/2014/main" id="{2FC79172-AE91-36A5-8EC7-ACAE834E6922}"/>
              </a:ext>
            </a:extLst>
          </p:cNvPr>
          <p:cNvSpPr txBox="1"/>
          <p:nvPr/>
        </p:nvSpPr>
        <p:spPr>
          <a:xfrm>
            <a:off x="3856426" y="4037543"/>
            <a:ext cx="1009498" cy="307777"/>
          </a:xfrm>
          <a:prstGeom prst="rect">
            <a:avLst/>
          </a:prstGeom>
          <a:noFill/>
        </p:spPr>
        <p:txBody>
          <a:bodyPr wrap="square" rtlCol="0">
            <a:spAutoFit/>
          </a:bodyPr>
          <a:lstStyle/>
          <a:p>
            <a:r>
              <a:rPr lang="en-US" dirty="0"/>
              <a:t>tanh</a:t>
            </a:r>
          </a:p>
        </p:txBody>
      </p:sp>
      <p:sp>
        <p:nvSpPr>
          <p:cNvPr id="6" name="TextBox 5">
            <a:extLst>
              <a:ext uri="{FF2B5EF4-FFF2-40B4-BE49-F238E27FC236}">
                <a16:creationId xmlns:a16="http://schemas.microsoft.com/office/drawing/2014/main" id="{5954C330-5FDD-A17B-42EA-AAD9152CDDF3}"/>
              </a:ext>
            </a:extLst>
          </p:cNvPr>
          <p:cNvSpPr txBox="1"/>
          <p:nvPr/>
        </p:nvSpPr>
        <p:spPr>
          <a:xfrm>
            <a:off x="5383988" y="4050898"/>
            <a:ext cx="1009498" cy="307777"/>
          </a:xfrm>
          <a:prstGeom prst="rect">
            <a:avLst/>
          </a:prstGeom>
          <a:noFill/>
        </p:spPr>
        <p:txBody>
          <a:bodyPr wrap="square" rtlCol="0">
            <a:spAutoFit/>
          </a:bodyPr>
          <a:lstStyle/>
          <a:p>
            <a:r>
              <a:rPr lang="en-US" dirty="0" err="1"/>
              <a:t>ReLU</a:t>
            </a:r>
            <a:endParaRPr lang="en-US" dirty="0"/>
          </a:p>
        </p:txBody>
      </p:sp>
    </p:spTree>
    <p:extLst>
      <p:ext uri="{BB962C8B-B14F-4D97-AF65-F5344CB8AC3E}">
        <p14:creationId xmlns:p14="http://schemas.microsoft.com/office/powerpoint/2010/main" val="47305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9CC48B0-B5C5-FBB2-2368-7A54D47A276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54D09EE-0BD1-F500-359C-F3663A0AC817}"/>
              </a:ext>
            </a:extLst>
          </p:cNvPr>
          <p:cNvSpPr txBox="1">
            <a:spLocks noGrp="1"/>
          </p:cNvSpPr>
          <p:nvPr>
            <p:ph type="title"/>
          </p:nvPr>
        </p:nvSpPr>
        <p:spPr>
          <a:xfrm>
            <a:off x="142170" y="-275"/>
            <a:ext cx="8329650" cy="627900"/>
          </a:xfrm>
          <a:prstGeom prst="rect">
            <a:avLst/>
          </a:prstGeom>
          <a:noFill/>
          <a:ln>
            <a:noFill/>
          </a:ln>
        </p:spPr>
        <p:txBody>
          <a:bodyPr spcFirstLastPara="1" wrap="square" lIns="91425" tIns="91425" rIns="91425" bIns="91425" anchor="t" anchorCtr="0">
            <a:normAutofit fontScale="90000"/>
          </a:bodyPr>
          <a:lstStyle/>
          <a:p>
            <a:r>
              <a:rPr lang="en-GB" sz="3100" i="0" u="none" strike="noStrike" dirty="0">
                <a:solidFill>
                  <a:srgbClr val="7030A0"/>
                </a:solidFill>
                <a:effectLst/>
                <a:latin typeface="inherit"/>
              </a:rPr>
              <a:t>Types of RNNs</a:t>
            </a:r>
            <a:br>
              <a:rPr lang="en-GB" sz="3100" i="0" u="none" strike="noStrike" dirty="0">
                <a:solidFill>
                  <a:srgbClr val="7030A0"/>
                </a:solidFill>
                <a:effectLst/>
                <a:latin typeface="inherit"/>
              </a:rPr>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94EC55D-3C09-A4EA-7E3D-72EB10213D0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4A7CEBA-1DAF-195E-77E8-AF01DA9C63D1}"/>
              </a:ext>
            </a:extLst>
          </p:cNvPr>
          <p:cNvSpPr txBox="1"/>
          <p:nvPr/>
        </p:nvSpPr>
        <p:spPr>
          <a:xfrm>
            <a:off x="142169" y="635088"/>
            <a:ext cx="6924313" cy="3785652"/>
          </a:xfrm>
          <a:prstGeom prst="rect">
            <a:avLst/>
          </a:prstGeom>
          <a:noFill/>
        </p:spPr>
        <p:txBody>
          <a:bodyPr wrap="square">
            <a:spAutoFit/>
          </a:bodyPr>
          <a:lstStyle/>
          <a:p>
            <a:pPr algn="l" fontAlgn="base">
              <a:buNone/>
            </a:pPr>
            <a:r>
              <a:rPr lang="en-GB" sz="1600" b="0" i="0" u="none" strike="noStrike" dirty="0">
                <a:solidFill>
                  <a:srgbClr val="161616"/>
                </a:solidFill>
                <a:effectLst/>
                <a:latin typeface="+mj-lt"/>
              </a:rPr>
              <a:t>Feedforward networks map inputs and outputs one-to-one, and while we’ve visualized recurrent neural networks in this way in the diagrams before this, they do not have this constraint. Instead, their inputs and outputs can vary in length, and different types of RNNs are used for different use cases, such as music generation, sentiment classification and machine translation. </a:t>
            </a:r>
          </a:p>
          <a:p>
            <a:pPr algn="l" fontAlgn="base">
              <a:buNone/>
            </a:pPr>
            <a:r>
              <a:rPr lang="en-GB" sz="1600" b="1" i="0" u="none" strike="noStrike" dirty="0">
                <a:solidFill>
                  <a:srgbClr val="161616"/>
                </a:solidFill>
                <a:effectLst/>
                <a:latin typeface="+mj-lt"/>
              </a:rPr>
              <a:t>Popular recurrent neural network architecture variants include:</a:t>
            </a:r>
          </a:p>
          <a:p>
            <a:pPr algn="l" fontAlgn="base">
              <a:buNone/>
            </a:pPr>
            <a:endParaRPr lang="en-GB" sz="1600" b="1" i="0" u="none" strike="noStrike" dirty="0">
              <a:solidFill>
                <a:srgbClr val="161616"/>
              </a:solidFill>
              <a:effectLst/>
              <a:latin typeface="+mj-lt"/>
            </a:endParaRPr>
          </a:p>
          <a:p>
            <a:pPr marL="457200" indent="-457200" algn="l" fontAlgn="base">
              <a:buFont typeface="+mj-lt"/>
              <a:buAutoNum type="arabicPeriod"/>
            </a:pPr>
            <a:r>
              <a:rPr lang="en-GB" sz="1600" b="0" i="0" u="none" strike="noStrike" dirty="0">
                <a:solidFill>
                  <a:srgbClr val="161616"/>
                </a:solidFill>
                <a:effectLst/>
                <a:latin typeface="+mj-lt"/>
              </a:rPr>
              <a:t>Standard RNNs</a:t>
            </a:r>
          </a:p>
          <a:p>
            <a:pPr marL="457200" indent="-457200" algn="l" fontAlgn="base">
              <a:buFont typeface="+mj-lt"/>
              <a:buAutoNum type="arabicPeriod"/>
            </a:pPr>
            <a:r>
              <a:rPr lang="en-GB" sz="1600" b="0" i="0" u="none" strike="noStrike" dirty="0">
                <a:solidFill>
                  <a:srgbClr val="161616"/>
                </a:solidFill>
                <a:effectLst/>
                <a:latin typeface="+mj-lt"/>
              </a:rPr>
              <a:t>Bidirectional recurrent neural networks (BRRNs)</a:t>
            </a:r>
          </a:p>
          <a:p>
            <a:pPr marL="457200" indent="-457200" algn="l" fontAlgn="base">
              <a:buFont typeface="+mj-lt"/>
              <a:buAutoNum type="arabicPeriod"/>
            </a:pPr>
            <a:r>
              <a:rPr lang="en-GB" sz="1600" b="0" i="0" u="none" strike="noStrike" dirty="0">
                <a:solidFill>
                  <a:srgbClr val="161616"/>
                </a:solidFill>
                <a:effectLst/>
                <a:latin typeface="+mj-lt"/>
              </a:rPr>
              <a:t>Long short-term memory (LSTM)</a:t>
            </a:r>
          </a:p>
          <a:p>
            <a:pPr marL="457200" indent="-457200" algn="l" fontAlgn="base">
              <a:buFont typeface="+mj-lt"/>
              <a:buAutoNum type="arabicPeriod"/>
            </a:pPr>
            <a:r>
              <a:rPr lang="en-GB" sz="1600" b="0" i="0" u="none" strike="noStrike" dirty="0">
                <a:solidFill>
                  <a:srgbClr val="161616"/>
                </a:solidFill>
                <a:effectLst/>
                <a:latin typeface="+mj-lt"/>
              </a:rPr>
              <a:t>Gated recurrent units (GNUs)</a:t>
            </a:r>
          </a:p>
          <a:p>
            <a:pPr marL="457200" indent="-457200" algn="l" fontAlgn="base">
              <a:buFont typeface="+mj-lt"/>
              <a:buAutoNum type="arabicPeriod"/>
            </a:pPr>
            <a:r>
              <a:rPr lang="en-GB" sz="1600" b="0" i="0" u="none" strike="noStrike" dirty="0">
                <a:solidFill>
                  <a:srgbClr val="161616"/>
                </a:solidFill>
                <a:effectLst/>
                <a:latin typeface="+mj-lt"/>
              </a:rPr>
              <a:t>Encoder-decoder RNN</a:t>
            </a:r>
          </a:p>
          <a:p>
            <a:pPr>
              <a:buNone/>
            </a:pPr>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630238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B0F1780-4629-FBE2-9725-8963F21158D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29C4BEE-5A4C-3F45-9284-B057DADF147D}"/>
              </a:ext>
            </a:extLst>
          </p:cNvPr>
          <p:cNvSpPr txBox="1">
            <a:spLocks noGrp="1"/>
          </p:cNvSpPr>
          <p:nvPr>
            <p:ph type="title"/>
          </p:nvPr>
        </p:nvSpPr>
        <p:spPr>
          <a:xfrm>
            <a:off x="142170" y="-275"/>
            <a:ext cx="8329650" cy="627900"/>
          </a:xfrm>
          <a:prstGeom prst="rect">
            <a:avLst/>
          </a:prstGeom>
          <a:noFill/>
          <a:ln>
            <a:noFill/>
          </a:ln>
        </p:spPr>
        <p:txBody>
          <a:bodyPr spcFirstLastPara="1" wrap="square" lIns="91425" tIns="91425" rIns="91425" bIns="91425" anchor="t" anchorCtr="0">
            <a:normAutofit fontScale="90000"/>
          </a:bodyPr>
          <a:lstStyle/>
          <a:p>
            <a:r>
              <a:rPr lang="en-GB" sz="3100" i="0" u="none" strike="noStrike" dirty="0">
                <a:solidFill>
                  <a:srgbClr val="7030A0"/>
                </a:solidFill>
                <a:effectLst/>
                <a:latin typeface="inherit"/>
              </a:rPr>
              <a:t>Types of RNNs</a:t>
            </a:r>
            <a:br>
              <a:rPr lang="en-GB" sz="3100" i="0" u="none" strike="noStrike" dirty="0">
                <a:solidFill>
                  <a:srgbClr val="7030A0"/>
                </a:solidFill>
                <a:effectLst/>
                <a:latin typeface="inherit"/>
              </a:rPr>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79F1020-E961-8C15-BB02-5E05EDD494C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F599AD34-F205-DCAD-8C96-33ECF3EF788F}"/>
              </a:ext>
            </a:extLst>
          </p:cNvPr>
          <p:cNvSpPr txBox="1"/>
          <p:nvPr/>
        </p:nvSpPr>
        <p:spPr>
          <a:xfrm>
            <a:off x="142170" y="635088"/>
            <a:ext cx="4181113" cy="5139869"/>
          </a:xfrm>
          <a:prstGeom prst="rect">
            <a:avLst/>
          </a:prstGeom>
          <a:noFill/>
        </p:spPr>
        <p:txBody>
          <a:bodyPr wrap="square">
            <a:spAutoFit/>
          </a:bodyPr>
          <a:lstStyle/>
          <a:p>
            <a:pPr algn="l">
              <a:lnSpc>
                <a:spcPts val="2400"/>
              </a:lnSpc>
              <a:buNone/>
            </a:pPr>
            <a:r>
              <a:rPr lang="en-GB" sz="1600" b="0" i="0" u="none" strike="noStrike" dirty="0">
                <a:solidFill>
                  <a:srgbClr val="242424"/>
                </a:solidFill>
                <a:effectLst/>
                <a:latin typeface="+mj-lt"/>
              </a:rPr>
              <a:t>RNNs can be structured in various ways to suit different tasks:</a:t>
            </a:r>
          </a:p>
          <a:p>
            <a:pPr algn="l">
              <a:lnSpc>
                <a:spcPts val="2400"/>
              </a:lnSpc>
              <a:buFont typeface="+mj-lt"/>
              <a:buAutoNum type="arabicPeriod"/>
            </a:pPr>
            <a:r>
              <a:rPr lang="en-GB" sz="1600" b="1" i="0" u="none" strike="noStrike" dirty="0">
                <a:solidFill>
                  <a:srgbClr val="242424"/>
                </a:solidFill>
                <a:effectLst/>
                <a:latin typeface="+mj-lt"/>
              </a:rPr>
              <a:t>One-to-One</a:t>
            </a:r>
            <a:r>
              <a:rPr lang="en-GB" sz="1600" b="0" i="0" u="none" strike="noStrike" dirty="0">
                <a:solidFill>
                  <a:srgbClr val="242424"/>
                </a:solidFill>
                <a:effectLst/>
                <a:latin typeface="+mj-lt"/>
              </a:rPr>
              <a:t>: Standard neural network (e.g., image classification).</a:t>
            </a:r>
          </a:p>
          <a:p>
            <a:pPr algn="l">
              <a:lnSpc>
                <a:spcPts val="2400"/>
              </a:lnSpc>
              <a:buFont typeface="+mj-lt"/>
              <a:buAutoNum type="arabicPeriod"/>
            </a:pPr>
            <a:r>
              <a:rPr lang="en-GB" sz="1600" b="1" i="0" u="none" strike="noStrike" dirty="0">
                <a:solidFill>
                  <a:srgbClr val="242424"/>
                </a:solidFill>
                <a:effectLst/>
                <a:latin typeface="+mj-lt"/>
              </a:rPr>
              <a:t>One-to-Many</a:t>
            </a:r>
            <a:r>
              <a:rPr lang="en-GB" sz="1600" b="0" i="0" u="none" strike="noStrike" dirty="0">
                <a:solidFill>
                  <a:srgbClr val="242424"/>
                </a:solidFill>
                <a:effectLst/>
                <a:latin typeface="+mj-lt"/>
              </a:rPr>
              <a:t>: Single input, sequence output (e.g., image captioning).</a:t>
            </a:r>
          </a:p>
          <a:p>
            <a:pPr algn="l">
              <a:lnSpc>
                <a:spcPts val="2400"/>
              </a:lnSpc>
              <a:buFont typeface="+mj-lt"/>
              <a:buAutoNum type="arabicPeriod"/>
            </a:pPr>
            <a:r>
              <a:rPr lang="en-GB" sz="1600" b="1" i="0" u="none" strike="noStrike" dirty="0">
                <a:solidFill>
                  <a:srgbClr val="242424"/>
                </a:solidFill>
                <a:effectLst/>
                <a:latin typeface="+mj-lt"/>
              </a:rPr>
              <a:t>Many-to-One</a:t>
            </a:r>
            <a:r>
              <a:rPr lang="en-GB" sz="1600" b="0" i="0" u="none" strike="noStrike" dirty="0">
                <a:solidFill>
                  <a:srgbClr val="242424"/>
                </a:solidFill>
                <a:effectLst/>
                <a:latin typeface="+mj-lt"/>
              </a:rPr>
              <a:t>: Sequence input, single output (e.g., sentiment analysis).</a:t>
            </a:r>
          </a:p>
          <a:p>
            <a:pPr algn="l">
              <a:lnSpc>
                <a:spcPts val="2400"/>
              </a:lnSpc>
              <a:buFont typeface="+mj-lt"/>
              <a:buAutoNum type="arabicPeriod"/>
            </a:pPr>
            <a:r>
              <a:rPr lang="en-GB" sz="1600" b="1" i="0" u="none" strike="noStrike" dirty="0">
                <a:solidFill>
                  <a:srgbClr val="242424"/>
                </a:solidFill>
                <a:effectLst/>
                <a:latin typeface="+mj-lt"/>
              </a:rPr>
              <a:t>Many-to-Many (Same Length)</a:t>
            </a:r>
            <a:r>
              <a:rPr lang="en-GB" sz="1600" b="0" i="0" u="none" strike="noStrike" dirty="0">
                <a:solidFill>
                  <a:srgbClr val="242424"/>
                </a:solidFill>
                <a:effectLst/>
                <a:latin typeface="+mj-lt"/>
              </a:rPr>
              <a:t>: Sequence input and output of the same length (e.g., named entity recognition).</a:t>
            </a:r>
          </a:p>
          <a:p>
            <a:pPr algn="l">
              <a:lnSpc>
                <a:spcPts val="2400"/>
              </a:lnSpc>
              <a:buFont typeface="+mj-lt"/>
              <a:buAutoNum type="arabicPeriod"/>
            </a:pPr>
            <a:r>
              <a:rPr lang="en-GB" sz="1600" b="1" i="0" u="none" strike="noStrike" dirty="0">
                <a:solidFill>
                  <a:srgbClr val="242424"/>
                </a:solidFill>
                <a:effectLst/>
                <a:latin typeface="+mj-lt"/>
              </a:rPr>
              <a:t>Many-to-Many (Different Length)</a:t>
            </a:r>
            <a:r>
              <a:rPr lang="en-GB" sz="1600" b="0" i="0" u="none" strike="noStrike" dirty="0">
                <a:solidFill>
                  <a:srgbClr val="242424"/>
                </a:solidFill>
                <a:effectLst/>
                <a:latin typeface="+mj-lt"/>
              </a:rPr>
              <a:t>: Sequence input and output of different lengths (e.g., machine translation).</a:t>
            </a:r>
          </a:p>
          <a:p>
            <a:pPr>
              <a:buNone/>
            </a:pPr>
            <a:br>
              <a:rPr lang="en-GB" sz="1600" dirty="0">
                <a:latin typeface="+mj-lt"/>
              </a:rPr>
            </a:br>
            <a:br>
              <a:rPr lang="en-GB" sz="1600" dirty="0">
                <a:latin typeface="+mj-lt"/>
              </a:rPr>
            </a:br>
            <a:endParaRPr lang="en-GB" sz="1600" i="0" u="none" strike="noStrike" dirty="0">
              <a:solidFill>
                <a:srgbClr val="000000"/>
              </a:solidFill>
              <a:effectLst/>
              <a:latin typeface="+mj-lt"/>
            </a:endParaRPr>
          </a:p>
        </p:txBody>
      </p:sp>
      <p:pic>
        <p:nvPicPr>
          <p:cNvPr id="15362" name="Picture 2" descr="Y and X values in a graph">
            <a:extLst>
              <a:ext uri="{FF2B5EF4-FFF2-40B4-BE49-F238E27FC236}">
                <a16:creationId xmlns:a16="http://schemas.microsoft.com/office/drawing/2014/main" id="{8ECFD3CB-7CE4-F15F-1390-6B2C4729AA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720" t="17066" r="20640" b="19645"/>
          <a:stretch/>
        </p:blipFill>
        <p:spPr bwMode="auto">
          <a:xfrm>
            <a:off x="4410972" y="1401083"/>
            <a:ext cx="4733028" cy="2917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4515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BB71CE6-8474-5C5F-54D3-E0E4C6CB8FF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6C20D4B-F97D-D66F-30D1-8B8B5F34FDE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i="0" u="none" strike="noStrike" dirty="0">
                <a:solidFill>
                  <a:srgbClr val="7030A0"/>
                </a:solidFill>
                <a:effectLst/>
                <a:latin typeface="inherit"/>
              </a:rPr>
              <a:t>Variants of RNNs</a:t>
            </a:r>
            <a:br>
              <a:rPr lang="en-GB" sz="3100" i="0" u="none" strike="noStrike" dirty="0">
                <a:solidFill>
                  <a:srgbClr val="7030A0"/>
                </a:solidFill>
                <a:effectLst/>
                <a:latin typeface="inherit"/>
              </a:rPr>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C24D381-F72E-EB16-12A2-9E6B7FBAC19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EE840EF-B499-79EA-53BA-9067FAD1E15C}"/>
              </a:ext>
            </a:extLst>
          </p:cNvPr>
          <p:cNvSpPr txBox="1"/>
          <p:nvPr/>
        </p:nvSpPr>
        <p:spPr>
          <a:xfrm>
            <a:off x="76333" y="713964"/>
            <a:ext cx="8182528" cy="4770537"/>
          </a:xfrm>
          <a:prstGeom prst="rect">
            <a:avLst/>
          </a:prstGeom>
          <a:noFill/>
        </p:spPr>
        <p:txBody>
          <a:bodyPr wrap="square">
            <a:spAutoFit/>
          </a:bodyPr>
          <a:lstStyle/>
          <a:p>
            <a:pPr algn="l">
              <a:buNone/>
            </a:pPr>
            <a:r>
              <a:rPr lang="en-GB" sz="1600" b="1" i="0" u="none" strike="noStrike" dirty="0">
                <a:solidFill>
                  <a:srgbClr val="000000"/>
                </a:solidFill>
                <a:effectLst/>
              </a:rPr>
              <a:t>1. Standard (Unidirectional) RNNs:</a:t>
            </a:r>
            <a:endParaRPr lang="en-GB" sz="1600" b="0" i="0" u="none" strike="noStrike" dirty="0">
              <a:solidFill>
                <a:srgbClr val="000000"/>
              </a:solidFill>
              <a:effectLst/>
            </a:endParaRPr>
          </a:p>
          <a:p>
            <a:pPr algn="l"/>
            <a:r>
              <a:rPr lang="en-GB" sz="1600" b="1" i="0" u="none" strike="noStrike" dirty="0">
                <a:solidFill>
                  <a:srgbClr val="000000"/>
                </a:solidFill>
                <a:effectLst/>
              </a:rPr>
              <a:t>Working:</a:t>
            </a:r>
            <a:r>
              <a:rPr lang="en-GB" sz="1600" b="0" i="0" u="none" strike="noStrike" dirty="0">
                <a:solidFill>
                  <a:srgbClr val="000000"/>
                </a:solidFill>
                <a:effectLst/>
              </a:rPr>
              <a:t> The output at each step is determined by the current input and the hidden state from the </a:t>
            </a:r>
            <a:r>
              <a:rPr lang="en-GB" sz="1600" b="0" i="1" u="none" strike="noStrike" dirty="0">
                <a:solidFill>
                  <a:srgbClr val="000000"/>
                </a:solidFill>
                <a:effectLst/>
              </a:rPr>
              <a:t>previous</a:t>
            </a:r>
            <a:r>
              <a:rPr lang="en-GB" sz="1600" b="0" i="0" u="none" strike="noStrike" dirty="0">
                <a:solidFill>
                  <a:srgbClr val="000000"/>
                </a:solidFill>
                <a:effectLst/>
              </a:rPr>
              <a:t> step.</a:t>
            </a:r>
          </a:p>
          <a:p>
            <a:pPr algn="l"/>
            <a:r>
              <a:rPr lang="en-GB" sz="1600" b="1" i="0" u="none" strike="noStrike" dirty="0">
                <a:solidFill>
                  <a:srgbClr val="000000"/>
                </a:solidFill>
                <a:effectLst/>
              </a:rPr>
              <a:t>Limitations:</a:t>
            </a:r>
            <a:endParaRPr lang="en-GB" sz="1600" b="0" i="0" u="none" strike="noStrike" dirty="0">
              <a:solidFill>
                <a:srgbClr val="000000"/>
              </a:solidFill>
              <a:effectLst/>
            </a:endParaRPr>
          </a:p>
          <a:p>
            <a:pPr marL="742950" lvl="1" indent="-285750" algn="l">
              <a:buFont typeface="Wingdings" pitchFamily="2" charset="2"/>
              <a:buChar char="Ø"/>
            </a:pPr>
            <a:r>
              <a:rPr lang="en-GB" sz="1600" b="0" i="0" u="none" strike="noStrike" dirty="0">
                <a:solidFill>
                  <a:srgbClr val="000000"/>
                </a:solidFill>
                <a:effectLst/>
              </a:rPr>
              <a:t>Suffer from the vanishing gradient problem, hindering their ability to learn long-term dependencies.</a:t>
            </a:r>
          </a:p>
          <a:p>
            <a:pPr marL="742950" lvl="1" indent="-285750" algn="l">
              <a:buFont typeface="Wingdings" pitchFamily="2" charset="2"/>
              <a:buChar char="Ø"/>
            </a:pPr>
            <a:r>
              <a:rPr lang="en-GB" sz="1600" b="0" i="0" u="none" strike="noStrike" dirty="0">
                <a:solidFill>
                  <a:srgbClr val="000000"/>
                </a:solidFill>
                <a:effectLst/>
              </a:rPr>
              <a:t>Excel in tasks with short-term dependencies.</a:t>
            </a:r>
          </a:p>
          <a:p>
            <a:pPr algn="l"/>
            <a:r>
              <a:rPr lang="en-GB" sz="1600" b="1" i="0" u="none" strike="noStrike" dirty="0">
                <a:solidFill>
                  <a:srgbClr val="000000"/>
                </a:solidFill>
                <a:effectLst/>
              </a:rPr>
              <a:t>Good For:</a:t>
            </a:r>
            <a:r>
              <a:rPr lang="en-GB" sz="1600" b="0" i="0" u="none" strike="noStrike" dirty="0">
                <a:solidFill>
                  <a:srgbClr val="000000"/>
                </a:solidFill>
                <a:effectLst/>
              </a:rPr>
              <a:t> Real-time sequential data processing where predictions are made immediately based on the most recent inputs (e.g., short-term anomaly detection in sensor data, predicting the next word in simple, short sentences).</a:t>
            </a:r>
          </a:p>
          <a:p>
            <a:pPr algn="l">
              <a:buNone/>
            </a:pPr>
            <a:r>
              <a:rPr lang="en-GB" sz="1600" b="1" i="0" u="none" strike="noStrike" dirty="0">
                <a:solidFill>
                  <a:srgbClr val="000000"/>
                </a:solidFill>
                <a:effectLst/>
              </a:rPr>
              <a:t>2. Bidirectional RNNs (BRNNs):</a:t>
            </a:r>
            <a:endParaRPr lang="en-GB" sz="1600" b="0" i="0" u="none" strike="noStrike" dirty="0">
              <a:solidFill>
                <a:srgbClr val="000000"/>
              </a:solidFill>
              <a:effectLst/>
            </a:endParaRPr>
          </a:p>
          <a:p>
            <a:pPr algn="l"/>
            <a:r>
              <a:rPr lang="en-GB" sz="1600" b="1" i="0" u="none" strike="noStrike" dirty="0">
                <a:solidFill>
                  <a:srgbClr val="000000"/>
                </a:solidFill>
                <a:effectLst/>
              </a:rPr>
              <a:t>Working:</a:t>
            </a:r>
            <a:r>
              <a:rPr lang="en-GB" sz="1600" b="0" i="0" u="none" strike="noStrike" dirty="0">
                <a:solidFill>
                  <a:srgbClr val="000000"/>
                </a:solidFill>
                <a:effectLst/>
              </a:rPr>
              <a:t> Unlike unidirectional RNNs that only consider past inputs, BRNNs incorporate information from </a:t>
            </a:r>
            <a:r>
              <a:rPr lang="en-GB" sz="1600" b="0" i="1" u="none" strike="noStrike" dirty="0">
                <a:solidFill>
                  <a:srgbClr val="000000"/>
                </a:solidFill>
                <a:effectLst/>
              </a:rPr>
              <a:t>future </a:t>
            </a:r>
            <a:r>
              <a:rPr lang="en-GB" sz="1600" b="0" i="0" u="none" strike="noStrike" dirty="0">
                <a:solidFill>
                  <a:srgbClr val="000000"/>
                </a:solidFill>
                <a:effectLst/>
              </a:rPr>
              <a:t>data points as well to make predictions about the current state.</a:t>
            </a:r>
          </a:p>
          <a:p>
            <a:pPr algn="l"/>
            <a:r>
              <a:rPr lang="en-GB" sz="1600" b="1" i="0" u="none" strike="noStrike" dirty="0">
                <a:solidFill>
                  <a:srgbClr val="000000"/>
                </a:solidFill>
                <a:effectLst/>
              </a:rPr>
              <a:t>Benefit (Example):</a:t>
            </a:r>
            <a:r>
              <a:rPr lang="en-GB" sz="1600" b="0" i="0" u="none" strike="noStrike" dirty="0">
                <a:solidFill>
                  <a:srgbClr val="000000"/>
                </a:solidFill>
                <a:effectLst/>
              </a:rPr>
              <a:t> In the idiom "feeling under the weather," a BRNN can better predict "under" by considering that the sequence ends with "weather."</a:t>
            </a:r>
          </a:p>
          <a:p>
            <a:pPr algn="l"/>
            <a:r>
              <a:rPr lang="en-GB" sz="1600" b="1" i="0" u="none" strike="noStrike" dirty="0">
                <a:solidFill>
                  <a:srgbClr val="000000"/>
                </a:solidFill>
                <a:effectLst/>
              </a:rPr>
              <a:t>Advantage:</a:t>
            </a:r>
            <a:r>
              <a:rPr lang="en-GB" sz="1600" b="0" i="0" u="none" strike="noStrike" dirty="0">
                <a:solidFill>
                  <a:srgbClr val="000000"/>
                </a:solidFill>
                <a:effectLst/>
              </a:rPr>
              <a:t> Improved accuracy by leveraging context from both directions of the sequence.</a:t>
            </a:r>
          </a:p>
          <a:p>
            <a:pPr>
              <a:buNone/>
            </a:pPr>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1076118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5BE71AA-18A0-83E7-3B80-004713B091B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D1DFCA0-876F-DEA6-2706-E31177A2A38B}"/>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i="0" u="none" strike="noStrike" dirty="0">
                <a:solidFill>
                  <a:srgbClr val="7030A0"/>
                </a:solidFill>
                <a:effectLst/>
                <a:latin typeface="inherit"/>
              </a:rPr>
              <a:t>Variants of RNNs</a:t>
            </a:r>
            <a:br>
              <a:rPr lang="en-GB" sz="3100" i="0" u="none" strike="noStrike" dirty="0">
                <a:solidFill>
                  <a:srgbClr val="7030A0"/>
                </a:solidFill>
                <a:effectLst/>
                <a:latin typeface="inherit"/>
              </a:rPr>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CB8BB39-39A1-716A-3D67-CE0E4B3E112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35C0048B-2F80-D83B-7CEE-5F96928692CE}"/>
              </a:ext>
            </a:extLst>
          </p:cNvPr>
          <p:cNvSpPr txBox="1"/>
          <p:nvPr/>
        </p:nvSpPr>
        <p:spPr>
          <a:xfrm>
            <a:off x="76332" y="713964"/>
            <a:ext cx="8504397" cy="4524315"/>
          </a:xfrm>
          <a:prstGeom prst="rect">
            <a:avLst/>
          </a:prstGeom>
          <a:noFill/>
        </p:spPr>
        <p:txBody>
          <a:bodyPr wrap="square">
            <a:spAutoFit/>
          </a:bodyPr>
          <a:lstStyle/>
          <a:p>
            <a:pPr algn="l">
              <a:buNone/>
            </a:pPr>
            <a:r>
              <a:rPr lang="en-GB" sz="1600" b="1" i="0" u="none" strike="noStrike" dirty="0">
                <a:solidFill>
                  <a:srgbClr val="000000"/>
                </a:solidFill>
                <a:effectLst/>
              </a:rPr>
              <a:t>3. Long Short-Term Memory (LSTM):</a:t>
            </a:r>
          </a:p>
          <a:p>
            <a:pPr algn="l">
              <a:buNone/>
            </a:pPr>
            <a:endParaRPr lang="en-GB" sz="1600" b="0" i="0" u="none" strike="noStrike" dirty="0">
              <a:solidFill>
                <a:srgbClr val="000000"/>
              </a:solidFill>
              <a:effectLst/>
            </a:endParaRPr>
          </a:p>
          <a:p>
            <a:pPr algn="l"/>
            <a:r>
              <a:rPr lang="en-GB" sz="1600" b="1" i="0" u="none" strike="noStrike" dirty="0">
                <a:solidFill>
                  <a:srgbClr val="000000"/>
                </a:solidFill>
                <a:effectLst/>
              </a:rPr>
              <a:t>Problem Addressed:</a:t>
            </a:r>
            <a:r>
              <a:rPr lang="en-GB" sz="1600" b="0" i="0" u="none" strike="noStrike" dirty="0">
                <a:solidFill>
                  <a:srgbClr val="000000"/>
                </a:solidFill>
                <a:effectLst/>
              </a:rPr>
              <a:t> Vanishing gradient problem in standard RNNs, enabling the learning of long-term dependencies.</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Mechanism:</a:t>
            </a:r>
            <a:r>
              <a:rPr lang="en-GB" sz="1600" b="0" i="0" u="none" strike="noStrike" dirty="0">
                <a:solidFill>
                  <a:srgbClr val="000000"/>
                </a:solidFill>
                <a:effectLst/>
              </a:rPr>
              <a:t> Introduces "cells" in the hidden layers with three gates:</a:t>
            </a:r>
          </a:p>
          <a:p>
            <a:pPr marL="457200" lvl="1" algn="l"/>
            <a:r>
              <a:rPr lang="en-GB" sz="1600" b="1" i="0" u="none" strike="noStrike" dirty="0">
                <a:solidFill>
                  <a:srgbClr val="000000"/>
                </a:solidFill>
                <a:effectLst/>
              </a:rPr>
              <a:t>Input Gate:</a:t>
            </a:r>
            <a:r>
              <a:rPr lang="en-GB" sz="1600" b="0" i="0" u="none" strike="noStrike" dirty="0">
                <a:solidFill>
                  <a:srgbClr val="000000"/>
                </a:solidFill>
                <a:effectLst/>
              </a:rPr>
              <a:t> Controls the flow of new information into the cell state.</a:t>
            </a:r>
          </a:p>
          <a:p>
            <a:pPr marL="457200" lvl="1" algn="l"/>
            <a:r>
              <a:rPr lang="en-GB" sz="1600" b="1" i="0" u="none" strike="noStrike" dirty="0">
                <a:solidFill>
                  <a:srgbClr val="000000"/>
                </a:solidFill>
                <a:effectLst/>
              </a:rPr>
              <a:t>Output Gate:</a:t>
            </a:r>
            <a:r>
              <a:rPr lang="en-GB" sz="1600" b="0" i="0" u="none" strike="noStrike" dirty="0">
                <a:solidFill>
                  <a:srgbClr val="000000"/>
                </a:solidFill>
                <a:effectLst/>
              </a:rPr>
              <a:t> Controls the flow of information from the cell state to the output.</a:t>
            </a:r>
          </a:p>
          <a:p>
            <a:pPr marL="457200" lvl="1" algn="l"/>
            <a:r>
              <a:rPr lang="en-GB" sz="1600" b="1" i="0" u="none" strike="noStrike" dirty="0">
                <a:solidFill>
                  <a:srgbClr val="000000"/>
                </a:solidFill>
                <a:effectLst/>
              </a:rPr>
              <a:t>Forget Gate:</a:t>
            </a:r>
            <a:r>
              <a:rPr lang="en-GB" sz="1600" b="0" i="0" u="none" strike="noStrike" dirty="0">
                <a:solidFill>
                  <a:srgbClr val="000000"/>
                </a:solidFill>
                <a:effectLst/>
              </a:rPr>
              <a:t> Controls which information to discard from the cell state.</a:t>
            </a:r>
          </a:p>
          <a:p>
            <a:pPr marL="457200" lvl="1" algn="l"/>
            <a:endParaRPr lang="en-GB" sz="1600" b="0" i="0" u="none" strike="noStrike" dirty="0">
              <a:solidFill>
                <a:srgbClr val="000000"/>
              </a:solidFill>
              <a:effectLst/>
            </a:endParaRPr>
          </a:p>
          <a:p>
            <a:pPr algn="l"/>
            <a:r>
              <a:rPr lang="en-GB" sz="1600" b="1" i="0" u="none" strike="noStrike" dirty="0">
                <a:solidFill>
                  <a:srgbClr val="000000"/>
                </a:solidFill>
                <a:effectLst/>
              </a:rPr>
              <a:t>Cell State:</a:t>
            </a:r>
            <a:r>
              <a:rPr lang="en-GB" sz="1600" b="0" i="0" u="none" strike="noStrike" dirty="0">
                <a:solidFill>
                  <a:srgbClr val="000000"/>
                </a:solidFill>
                <a:effectLst/>
              </a:rPr>
              <a:t> Acts as a memory to store information over long sequences.</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Example:</a:t>
            </a:r>
            <a:r>
              <a:rPr lang="en-GB" sz="1600" b="0" i="0" u="none" strike="noStrike" dirty="0">
                <a:solidFill>
                  <a:srgbClr val="000000"/>
                </a:solidFill>
                <a:effectLst/>
              </a:rPr>
              <a:t> In the sentence "Alice is allergic to nuts. She can't eat peanut butter," the LSTM can retain the information about the nut allergy from the first sentence to correctly predict "peanut butter" in the second.</a:t>
            </a:r>
          </a:p>
          <a:p>
            <a:pPr algn="l">
              <a:buNone/>
            </a:pPr>
            <a:endParaRPr lang="en-GB" sz="1600" b="1" i="0" u="none" strike="noStrike" dirty="0">
              <a:solidFill>
                <a:srgbClr val="000000"/>
              </a:solidFill>
              <a:effectLst/>
            </a:endParaRPr>
          </a:p>
          <a:p>
            <a:pPr>
              <a:buNone/>
            </a:pPr>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1031919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3F29E7A-94D8-9D56-B899-205BD8702BD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DC5F0BB-E85F-59B9-1204-F26A1BC37037}"/>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i="0" u="none" strike="noStrike" dirty="0">
                <a:solidFill>
                  <a:srgbClr val="7030A0"/>
                </a:solidFill>
                <a:effectLst/>
                <a:latin typeface="inherit"/>
              </a:rPr>
              <a:t>Variants of RNNs</a:t>
            </a:r>
            <a:br>
              <a:rPr lang="en-GB" sz="3100" i="0" u="none" strike="noStrike" dirty="0">
                <a:solidFill>
                  <a:srgbClr val="7030A0"/>
                </a:solidFill>
                <a:effectLst/>
                <a:latin typeface="inherit"/>
              </a:rPr>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1F59D6B-537C-B80E-650F-87E069F857A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5D30FEB7-3C33-0136-D8C4-066F39316AB3}"/>
              </a:ext>
            </a:extLst>
          </p:cNvPr>
          <p:cNvSpPr txBox="1"/>
          <p:nvPr/>
        </p:nvSpPr>
        <p:spPr>
          <a:xfrm>
            <a:off x="76333" y="713964"/>
            <a:ext cx="8855526" cy="4770537"/>
          </a:xfrm>
          <a:prstGeom prst="rect">
            <a:avLst/>
          </a:prstGeom>
          <a:noFill/>
        </p:spPr>
        <p:txBody>
          <a:bodyPr wrap="square">
            <a:spAutoFit/>
          </a:bodyPr>
          <a:lstStyle/>
          <a:p>
            <a:pPr algn="l">
              <a:buNone/>
            </a:pPr>
            <a:r>
              <a:rPr lang="en-GB" sz="1600" b="1" i="0" u="none" strike="noStrike" dirty="0">
                <a:solidFill>
                  <a:srgbClr val="000000"/>
                </a:solidFill>
                <a:effectLst/>
              </a:rPr>
              <a:t>4. Gated Recurrent Units (GRUs):</a:t>
            </a:r>
            <a:endParaRPr lang="en-GB" sz="1600" b="0" i="0" u="none" strike="noStrike" dirty="0">
              <a:solidFill>
                <a:srgbClr val="000000"/>
              </a:solidFill>
              <a:effectLst/>
            </a:endParaRPr>
          </a:p>
          <a:p>
            <a:pPr algn="l"/>
            <a:r>
              <a:rPr lang="en-GB" sz="1600" b="1" i="0" u="none" strike="noStrike" dirty="0">
                <a:solidFill>
                  <a:srgbClr val="000000"/>
                </a:solidFill>
                <a:effectLst/>
              </a:rPr>
              <a:t>Similar to LSTM:</a:t>
            </a:r>
            <a:r>
              <a:rPr lang="en-GB" sz="1600" b="0" i="0" u="none" strike="noStrike" dirty="0">
                <a:solidFill>
                  <a:srgbClr val="000000"/>
                </a:solidFill>
                <a:effectLst/>
              </a:rPr>
              <a:t> Also addresses the short-term memory problem of RNNs.</a:t>
            </a:r>
          </a:p>
          <a:p>
            <a:pPr algn="l"/>
            <a:r>
              <a:rPr lang="en-GB" sz="1600" b="1" i="0" u="none" strike="noStrike" dirty="0">
                <a:solidFill>
                  <a:srgbClr val="000000"/>
                </a:solidFill>
                <a:effectLst/>
              </a:rPr>
              <a:t>Mechanism:</a:t>
            </a:r>
            <a:r>
              <a:rPr lang="en-GB" sz="1600" b="0" i="0" u="none" strike="noStrike" dirty="0">
                <a:solidFill>
                  <a:srgbClr val="000000"/>
                </a:solidFill>
                <a:effectLst/>
              </a:rPr>
              <a:t> Uses hidden states (instead of a separate cell state) and two gates:</a:t>
            </a:r>
          </a:p>
          <a:p>
            <a:pPr marL="457200" lvl="1" algn="l"/>
            <a:r>
              <a:rPr lang="en-GB" sz="1600" b="1" i="0" u="none" strike="noStrike" dirty="0">
                <a:solidFill>
                  <a:srgbClr val="000000"/>
                </a:solidFill>
                <a:effectLst/>
              </a:rPr>
              <a:t>Reset Gate:</a:t>
            </a:r>
            <a:r>
              <a:rPr lang="en-GB" sz="1600" b="0" i="0" u="none" strike="noStrike" dirty="0">
                <a:solidFill>
                  <a:srgbClr val="000000"/>
                </a:solidFill>
                <a:effectLst/>
              </a:rPr>
              <a:t> Determines how much of the previous hidden state to forget.</a:t>
            </a:r>
          </a:p>
          <a:p>
            <a:pPr marL="457200" lvl="1" algn="l"/>
            <a:r>
              <a:rPr lang="en-GB" sz="1600" b="1" i="0" u="none" strike="noStrike" dirty="0">
                <a:solidFill>
                  <a:srgbClr val="000000"/>
                </a:solidFill>
                <a:effectLst/>
              </a:rPr>
              <a:t>Update Gate:</a:t>
            </a:r>
            <a:r>
              <a:rPr lang="en-GB" sz="1600" b="0" i="0" u="none" strike="noStrike" dirty="0">
                <a:solidFill>
                  <a:srgbClr val="000000"/>
                </a:solidFill>
                <a:effectLst/>
              </a:rPr>
              <a:t> Determines how much of the previous hidden state to update with the current input.</a:t>
            </a:r>
          </a:p>
          <a:p>
            <a:pPr algn="l"/>
            <a:r>
              <a:rPr lang="en-GB" sz="1600" b="1" i="0" u="none" strike="noStrike" dirty="0">
                <a:solidFill>
                  <a:srgbClr val="000000"/>
                </a:solidFill>
                <a:effectLst/>
              </a:rPr>
              <a:t>Computational Efficiency:</a:t>
            </a:r>
            <a:r>
              <a:rPr lang="en-GB" sz="1600" b="0" i="0" u="none" strike="noStrike" dirty="0">
                <a:solidFill>
                  <a:srgbClr val="000000"/>
                </a:solidFill>
                <a:effectLst/>
              </a:rPr>
              <a:t> Simpler architecture than LSTMs, leading to fewer parameters and faster training.</a:t>
            </a:r>
          </a:p>
          <a:p>
            <a:pPr algn="l"/>
            <a:r>
              <a:rPr lang="en-GB" sz="1600" b="1" i="0" u="none" strike="noStrike" dirty="0">
                <a:solidFill>
                  <a:srgbClr val="000000"/>
                </a:solidFill>
                <a:effectLst/>
              </a:rPr>
              <a:t>Suitability:</a:t>
            </a:r>
            <a:r>
              <a:rPr lang="en-GB" sz="1600" b="0" i="0" u="none" strike="noStrike" dirty="0">
                <a:solidFill>
                  <a:srgbClr val="000000"/>
                </a:solidFill>
                <a:effectLst/>
              </a:rPr>
              <a:t> Often more suitable for real-time or resource-constrained applications.</a:t>
            </a:r>
          </a:p>
          <a:p>
            <a:pPr algn="l"/>
            <a:endParaRPr lang="en-GB" sz="1600" b="0" i="0" u="none" strike="noStrike" dirty="0">
              <a:solidFill>
                <a:srgbClr val="000000"/>
              </a:solidFill>
              <a:effectLst/>
            </a:endParaRPr>
          </a:p>
          <a:p>
            <a:pPr algn="l">
              <a:buNone/>
            </a:pPr>
            <a:r>
              <a:rPr lang="en-GB" sz="1600" b="1" i="0" u="none" strike="noStrike" dirty="0">
                <a:solidFill>
                  <a:srgbClr val="000000"/>
                </a:solidFill>
                <a:effectLst/>
              </a:rPr>
              <a:t>5. Encoder-Decoder RNNs:</a:t>
            </a:r>
            <a:endParaRPr lang="en-GB" sz="1600" b="0" i="0" u="none" strike="noStrike" dirty="0">
              <a:solidFill>
                <a:srgbClr val="000000"/>
              </a:solidFill>
              <a:effectLst/>
            </a:endParaRPr>
          </a:p>
          <a:p>
            <a:pPr algn="l"/>
            <a:r>
              <a:rPr lang="en-GB" sz="1600" b="1" i="0" u="none" strike="noStrike" dirty="0">
                <a:solidFill>
                  <a:srgbClr val="000000"/>
                </a:solidFill>
                <a:effectLst/>
              </a:rPr>
              <a:t>Common Use:</a:t>
            </a:r>
            <a:r>
              <a:rPr lang="en-GB" sz="1600" b="0" i="0" u="none" strike="noStrike" dirty="0">
                <a:solidFill>
                  <a:srgbClr val="000000"/>
                </a:solidFill>
                <a:effectLst/>
              </a:rPr>
              <a:t> Sequence-to-sequence tasks like machine translation.</a:t>
            </a:r>
          </a:p>
          <a:p>
            <a:pPr algn="l"/>
            <a:r>
              <a:rPr lang="en-GB" sz="1600" b="1" i="0" u="none" strike="noStrike" dirty="0">
                <a:solidFill>
                  <a:srgbClr val="000000"/>
                </a:solidFill>
                <a:effectLst/>
              </a:rPr>
              <a:t>Encoder:</a:t>
            </a:r>
            <a:r>
              <a:rPr lang="en-GB" sz="1600" b="0" i="0" u="none" strike="noStrike" dirty="0">
                <a:solidFill>
                  <a:srgbClr val="000000"/>
                </a:solidFill>
                <a:effectLst/>
              </a:rPr>
              <a:t> Processes the input sequence and compresses it into a fixed-length vector called the "context."</a:t>
            </a:r>
          </a:p>
          <a:p>
            <a:pPr algn="l"/>
            <a:r>
              <a:rPr lang="en-GB" sz="1600" b="1" i="0" u="none" strike="noStrike" dirty="0">
                <a:solidFill>
                  <a:srgbClr val="000000"/>
                </a:solidFill>
                <a:effectLst/>
              </a:rPr>
              <a:t>Decoder:</a:t>
            </a:r>
            <a:r>
              <a:rPr lang="en-GB" sz="1600" b="0" i="0" u="none" strike="noStrike" dirty="0">
                <a:solidFill>
                  <a:srgbClr val="000000"/>
                </a:solidFill>
                <a:effectLst/>
              </a:rPr>
              <a:t> Uses the context vector to generate the output sequence.</a:t>
            </a:r>
          </a:p>
          <a:p>
            <a:pPr algn="l"/>
            <a:r>
              <a:rPr lang="en-GB" sz="1600" b="1" i="0" u="none" strike="noStrike" dirty="0">
                <a:solidFill>
                  <a:srgbClr val="000000"/>
                </a:solidFill>
                <a:effectLst/>
              </a:rPr>
              <a:t>Bottleneck:</a:t>
            </a:r>
            <a:r>
              <a:rPr lang="en-GB" sz="1600" b="0" i="0" u="none" strike="noStrike" dirty="0">
                <a:solidFill>
                  <a:srgbClr val="000000"/>
                </a:solidFill>
                <a:effectLst/>
              </a:rPr>
              <a:t> The fixed-length context vector can become a bottleneck, especially for very long input sequences, as it tries to capture all the necessary information in a single vector.</a:t>
            </a:r>
          </a:p>
          <a:p>
            <a:pPr>
              <a:buNone/>
            </a:pPr>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3100886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78B94B-AA50-2BF1-E81D-17DAC5C53FD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2EF5212-72F7-700C-74D8-78F5A4ABE4BC}"/>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i="0" u="none" strike="noStrike" dirty="0">
                <a:solidFill>
                  <a:srgbClr val="7030A0"/>
                </a:solidFill>
                <a:effectLst/>
                <a:latin typeface="inherit"/>
              </a:rPr>
              <a:t>Limitations of RNN</a:t>
            </a:r>
            <a:br>
              <a:rPr lang="en-GB" sz="3100" i="0" u="none" strike="noStrike" dirty="0">
                <a:solidFill>
                  <a:srgbClr val="7030A0"/>
                </a:solidFill>
                <a:effectLst/>
                <a:latin typeface="inherit"/>
              </a:rPr>
            </a:br>
            <a:br>
              <a:rPr lang="en-GB" sz="3100" i="0" u="none" strike="noStrike" dirty="0">
                <a:solidFill>
                  <a:srgbClr val="7030A0"/>
                </a:solidFill>
                <a:effectLst/>
                <a:latin typeface="inherit"/>
              </a:rPr>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D86D368-F29A-599E-BE04-E4BB3671C95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7FC864F-72C0-FBD2-35F9-7290E2BB9D73}"/>
              </a:ext>
            </a:extLst>
          </p:cNvPr>
          <p:cNvSpPr txBox="1"/>
          <p:nvPr/>
        </p:nvSpPr>
        <p:spPr>
          <a:xfrm>
            <a:off x="76333" y="713964"/>
            <a:ext cx="8182528" cy="3806170"/>
          </a:xfrm>
          <a:prstGeom prst="rect">
            <a:avLst/>
          </a:prstGeom>
          <a:noFill/>
        </p:spPr>
        <p:txBody>
          <a:bodyPr wrap="square">
            <a:spAutoFit/>
          </a:bodyPr>
          <a:lstStyle/>
          <a:p>
            <a:pPr algn="l">
              <a:spcAft>
                <a:spcPts val="1050"/>
              </a:spcAft>
              <a:buNone/>
            </a:pPr>
            <a:r>
              <a:rPr lang="en-GB" sz="1600" b="0" i="0" u="none" strike="noStrike" dirty="0">
                <a:solidFill>
                  <a:srgbClr val="05192D"/>
                </a:solidFill>
                <a:effectLst/>
                <a:latin typeface="+mj-lt"/>
              </a:rPr>
              <a:t>Simple RNN models usually run into two major issues. These issues are related to gradient, which is the slope of the loss function along with the error function.</a:t>
            </a:r>
          </a:p>
          <a:p>
            <a:pPr algn="l">
              <a:spcAft>
                <a:spcPts val="900"/>
              </a:spcAft>
              <a:buFont typeface="+mj-lt"/>
              <a:buAutoNum type="arabicPeriod"/>
            </a:pPr>
            <a:r>
              <a:rPr lang="en-GB" sz="1600" b="0" i="0" u="none" strike="noStrike" dirty="0">
                <a:solidFill>
                  <a:srgbClr val="05192D"/>
                </a:solidFill>
                <a:effectLst/>
                <a:latin typeface="+mj-lt"/>
              </a:rPr>
              <a:t>Vanishing Gradient problem occurs when the gradient becomes so small that updating parameters becomes insignificant; eventually the algorithm stops learning.</a:t>
            </a:r>
          </a:p>
          <a:p>
            <a:pPr algn="l">
              <a:spcAft>
                <a:spcPts val="900"/>
              </a:spcAft>
              <a:buFont typeface="+mj-lt"/>
              <a:buAutoNum type="arabicPeriod"/>
            </a:pPr>
            <a:r>
              <a:rPr lang="en-GB" sz="1600" b="0" i="0" u="none" strike="noStrike" dirty="0">
                <a:solidFill>
                  <a:srgbClr val="05192D"/>
                </a:solidFill>
                <a:effectLst/>
                <a:latin typeface="+mj-lt"/>
              </a:rPr>
              <a:t>Exploding Gradient problem occurs when the gradient becomes too large, which makes the model unstable. In this case, larger error gradients accumulate, and the model weights become too large. This issue can cause longer training times and poor model performance.</a:t>
            </a:r>
          </a:p>
          <a:p>
            <a:pPr algn="l">
              <a:spcAft>
                <a:spcPts val="1050"/>
              </a:spcAft>
            </a:pPr>
            <a:r>
              <a:rPr lang="en-GB" sz="1600" b="0" i="0" u="none" strike="noStrike" dirty="0">
                <a:solidFill>
                  <a:srgbClr val="05192D"/>
                </a:solidFill>
                <a:effectLst/>
                <a:latin typeface="+mj-lt"/>
              </a:rPr>
              <a:t>The simple solution to these issues is to reduce the number of hidden layers within the neural network, which will reduce some complexity in RNNs. These issues can also be solved by using advanced RNN architectures such as LSTM and GRU.</a:t>
            </a:r>
          </a:p>
          <a:p>
            <a:pPr>
              <a:buNone/>
            </a:pPr>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00706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E0D72BF-202D-A362-F475-FAEDD57B762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B197775-5D92-DB69-E120-C18AFA56E381}"/>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dirty="0">
                <a:solidFill>
                  <a:srgbClr val="7030A0"/>
                </a:solidFill>
                <a:latin typeface="inherit"/>
              </a:rPr>
              <a:t>V</a:t>
            </a:r>
            <a:r>
              <a:rPr lang="en-GB" sz="3100" i="0" u="none" strike="noStrike" dirty="0">
                <a:solidFill>
                  <a:srgbClr val="7030A0"/>
                </a:solidFill>
                <a:effectLst/>
                <a:latin typeface="inherit"/>
              </a:rPr>
              <a:t>anishing </a:t>
            </a:r>
            <a:r>
              <a:rPr lang="en-GB" sz="3100" dirty="0">
                <a:solidFill>
                  <a:srgbClr val="7030A0"/>
                </a:solidFill>
                <a:latin typeface="inherit"/>
              </a:rPr>
              <a:t>G</a:t>
            </a:r>
            <a:r>
              <a:rPr lang="en-GB" sz="3100" i="0" u="none" strike="noStrike" dirty="0">
                <a:solidFill>
                  <a:srgbClr val="7030A0"/>
                </a:solidFill>
                <a:effectLst/>
                <a:latin typeface="inherit"/>
              </a:rPr>
              <a:t>radient </a:t>
            </a:r>
            <a:r>
              <a:rPr lang="en-GB" sz="3100" dirty="0">
                <a:solidFill>
                  <a:srgbClr val="7030A0"/>
                </a:solidFill>
                <a:latin typeface="inherit"/>
              </a:rPr>
              <a:t>P</a:t>
            </a:r>
            <a:r>
              <a:rPr lang="en-GB" sz="3100" i="0" u="none" strike="noStrike" dirty="0">
                <a:solidFill>
                  <a:srgbClr val="7030A0"/>
                </a:solidFill>
                <a:effectLst/>
                <a:latin typeface="inherit"/>
              </a:rPr>
              <a:t>roblem:</a:t>
            </a:r>
            <a:br>
              <a:rPr lang="en-GB" sz="3100" i="0" u="none" strike="noStrike" dirty="0">
                <a:solidFill>
                  <a:srgbClr val="7030A0"/>
                </a:solidFill>
                <a:effectLst/>
                <a:latin typeface="inherit"/>
              </a:rPr>
            </a:br>
            <a:br>
              <a:rPr lang="en-GB" sz="3100" i="0" u="none" strike="noStrike" dirty="0">
                <a:solidFill>
                  <a:srgbClr val="7030A0"/>
                </a:solidFill>
                <a:effectLst/>
                <a:latin typeface="inherit"/>
              </a:rPr>
            </a:br>
            <a:br>
              <a:rPr lang="en-GB" sz="3100" i="0" u="none" strike="noStrike" dirty="0">
                <a:solidFill>
                  <a:srgbClr val="7030A0"/>
                </a:solidFill>
                <a:effectLst/>
                <a:latin typeface="inherit"/>
              </a:rPr>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B37AA0C3-E8BE-8ABA-450B-678FC35FC62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C4F41FD-00B9-2E52-E831-21D55DF6DAE1}"/>
              </a:ext>
            </a:extLst>
          </p:cNvPr>
          <p:cNvSpPr txBox="1"/>
          <p:nvPr/>
        </p:nvSpPr>
        <p:spPr>
          <a:xfrm>
            <a:off x="76333" y="713964"/>
            <a:ext cx="8182528" cy="3293209"/>
          </a:xfrm>
          <a:prstGeom prst="rect">
            <a:avLst/>
          </a:prstGeom>
          <a:noFill/>
        </p:spPr>
        <p:txBody>
          <a:bodyPr wrap="square">
            <a:spAutoFit/>
          </a:bodyPr>
          <a:lstStyle/>
          <a:p>
            <a:pPr algn="l"/>
            <a:r>
              <a:rPr lang="en-GB" sz="1600" b="0" i="0" u="none" strike="noStrike" dirty="0">
                <a:solidFill>
                  <a:srgbClr val="000000"/>
                </a:solidFill>
                <a:effectLst/>
              </a:rPr>
              <a:t>During backpropagation, the derivatives (slopes) of activation functions become progressively smaller as error signals are passed backward through the network's layers.</a:t>
            </a:r>
          </a:p>
          <a:p>
            <a:pPr algn="l"/>
            <a:r>
              <a:rPr lang="en-GB" sz="1600" b="1" i="0" u="none" strike="noStrike" dirty="0">
                <a:solidFill>
                  <a:srgbClr val="000000"/>
                </a:solidFill>
                <a:effectLst/>
              </a:rPr>
              <a:t>Impact on Deep Networks:</a:t>
            </a:r>
            <a:r>
              <a:rPr lang="en-GB" sz="1600" b="0" i="0" u="none" strike="noStrike" dirty="0">
                <a:solidFill>
                  <a:srgbClr val="000000"/>
                </a:solidFill>
                <a:effectLst/>
              </a:rPr>
              <a:t> This is especially significant in deep networks with many layers, hindering effective training.</a:t>
            </a:r>
          </a:p>
          <a:p>
            <a:pPr algn="l"/>
            <a:r>
              <a:rPr lang="en-GB" sz="1600" b="1" i="0" u="none" strike="noStrike" dirty="0">
                <a:solidFill>
                  <a:srgbClr val="000000"/>
                </a:solidFill>
                <a:effectLst/>
              </a:rPr>
              <a:t>Insignificant Weight Updates:</a:t>
            </a:r>
            <a:r>
              <a:rPr lang="en-GB" sz="1600" b="0" i="0" u="none" strike="noStrike" dirty="0">
                <a:solidFill>
                  <a:srgbClr val="000000"/>
                </a:solidFill>
                <a:effectLst/>
              </a:rPr>
              <a:t> As gradients become very small (or exponentially small), the updates to the network's weights become negligible.</a:t>
            </a:r>
          </a:p>
          <a:p>
            <a:pPr algn="l"/>
            <a:r>
              <a:rPr lang="en-GB" sz="1600" b="1" i="0" u="none" strike="noStrike" dirty="0">
                <a:solidFill>
                  <a:srgbClr val="000000"/>
                </a:solidFill>
                <a:effectLst/>
              </a:rPr>
              <a:t>Prolonged or Halted Training:</a:t>
            </a:r>
            <a:r>
              <a:rPr lang="en-GB" sz="1600" b="0" i="0" u="none" strike="noStrike" dirty="0">
                <a:solidFill>
                  <a:srgbClr val="000000"/>
                </a:solidFill>
                <a:effectLst/>
              </a:rPr>
              <a:t> This can drastically increase training time or even stop the learning process altogether.</a:t>
            </a:r>
          </a:p>
          <a:p>
            <a:pPr algn="l"/>
            <a:r>
              <a:rPr lang="en-GB" sz="1600" b="1" i="0" u="none" strike="noStrike" dirty="0">
                <a:solidFill>
                  <a:srgbClr val="000000"/>
                </a:solidFill>
                <a:effectLst/>
              </a:rPr>
              <a:t>Why it Occurs:</a:t>
            </a:r>
            <a:endParaRPr lang="en-GB" sz="1600" b="0" i="0" u="none" strike="noStrike" dirty="0">
              <a:solidFill>
                <a:srgbClr val="000000"/>
              </a:solidFill>
              <a:effectLst/>
            </a:endParaRPr>
          </a:p>
          <a:p>
            <a:pPr marL="800100" lvl="1" indent="-342900" algn="l">
              <a:buFont typeface="+mj-lt"/>
              <a:buAutoNum type="arabicPeriod"/>
            </a:pPr>
            <a:r>
              <a:rPr lang="en-GB" sz="1600" b="0" i="0" u="none" strike="noStrike" dirty="0">
                <a:solidFill>
                  <a:srgbClr val="000000"/>
                </a:solidFill>
                <a:effectLst/>
              </a:rPr>
              <a:t>Gradients decrease significantly as they propagate from the output layer back to the input layer.</a:t>
            </a:r>
          </a:p>
          <a:p>
            <a:pPr marL="800100" lvl="1" indent="-342900" algn="l">
              <a:buFont typeface="+mj-lt"/>
              <a:buAutoNum type="arabicPeriod"/>
            </a:pPr>
            <a:r>
              <a:rPr lang="en-GB" sz="1600" b="0" i="0" u="none" strike="noStrike" dirty="0">
                <a:solidFill>
                  <a:srgbClr val="000000"/>
                </a:solidFill>
                <a:effectLst/>
              </a:rPr>
              <a:t>Weights in early layers receive these small gradients, leading to minimal or no updates during optimization.</a:t>
            </a:r>
          </a:p>
        </p:txBody>
      </p:sp>
    </p:spTree>
    <p:extLst>
      <p:ext uri="{BB962C8B-B14F-4D97-AF65-F5344CB8AC3E}">
        <p14:creationId xmlns:p14="http://schemas.microsoft.com/office/powerpoint/2010/main" val="1122750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DF88C3D-ACE6-78E5-89F3-8CA9CBD40CF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0836430-943A-BF93-69BE-D7725D62F243}"/>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dirty="0">
                <a:solidFill>
                  <a:srgbClr val="7030A0"/>
                </a:solidFill>
                <a:latin typeface="inherit"/>
              </a:rPr>
              <a:t>V</a:t>
            </a:r>
            <a:r>
              <a:rPr lang="en-GB" sz="3100" i="0" u="none" strike="noStrike" dirty="0">
                <a:solidFill>
                  <a:srgbClr val="7030A0"/>
                </a:solidFill>
                <a:effectLst/>
                <a:latin typeface="inherit"/>
              </a:rPr>
              <a:t>anishing </a:t>
            </a:r>
            <a:r>
              <a:rPr lang="en-GB" sz="3100" dirty="0">
                <a:solidFill>
                  <a:srgbClr val="7030A0"/>
                </a:solidFill>
                <a:latin typeface="inherit"/>
              </a:rPr>
              <a:t>G</a:t>
            </a:r>
            <a:r>
              <a:rPr lang="en-GB" sz="3100" i="0" u="none" strike="noStrike" dirty="0">
                <a:solidFill>
                  <a:srgbClr val="7030A0"/>
                </a:solidFill>
                <a:effectLst/>
                <a:latin typeface="inherit"/>
              </a:rPr>
              <a:t>radient </a:t>
            </a:r>
            <a:r>
              <a:rPr lang="en-GB" sz="3100" dirty="0">
                <a:solidFill>
                  <a:srgbClr val="7030A0"/>
                </a:solidFill>
                <a:latin typeface="inherit"/>
              </a:rPr>
              <a:t>P</a:t>
            </a:r>
            <a:r>
              <a:rPr lang="en-GB" sz="3100" i="0" u="none" strike="noStrike" dirty="0">
                <a:solidFill>
                  <a:srgbClr val="7030A0"/>
                </a:solidFill>
                <a:effectLst/>
                <a:latin typeface="inherit"/>
              </a:rPr>
              <a:t>roblem:</a:t>
            </a:r>
            <a:br>
              <a:rPr lang="en-GB" sz="3100" i="0" u="none" strike="noStrike" dirty="0">
                <a:solidFill>
                  <a:srgbClr val="7030A0"/>
                </a:solidFill>
                <a:effectLst/>
                <a:latin typeface="inherit"/>
              </a:rPr>
            </a:br>
            <a:br>
              <a:rPr lang="en-GB" sz="3100" i="0" u="none" strike="noStrike" dirty="0">
                <a:solidFill>
                  <a:srgbClr val="7030A0"/>
                </a:solidFill>
                <a:effectLst/>
                <a:latin typeface="inherit"/>
              </a:rPr>
            </a:br>
            <a:br>
              <a:rPr lang="en-GB" sz="3100" i="0" u="none" strike="noStrike" dirty="0">
                <a:solidFill>
                  <a:srgbClr val="7030A0"/>
                </a:solidFill>
                <a:effectLst/>
                <a:latin typeface="inherit"/>
              </a:rPr>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C9502E7-9CAE-3A52-E6C2-46E134A1B39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34857BC6-2D67-FFBC-C178-678CCF968BA9}"/>
              </a:ext>
            </a:extLst>
          </p:cNvPr>
          <p:cNvSpPr txBox="1"/>
          <p:nvPr/>
        </p:nvSpPr>
        <p:spPr>
          <a:xfrm>
            <a:off x="76333" y="713964"/>
            <a:ext cx="7114509" cy="3539430"/>
          </a:xfrm>
          <a:prstGeom prst="rect">
            <a:avLst/>
          </a:prstGeom>
          <a:noFill/>
        </p:spPr>
        <p:txBody>
          <a:bodyPr wrap="square">
            <a:spAutoFit/>
          </a:bodyPr>
          <a:lstStyle/>
          <a:p>
            <a:pPr marL="342900" indent="-342900" algn="l">
              <a:buFont typeface="+mj-lt"/>
              <a:buAutoNum type="arabicPeriod" startAt="3"/>
            </a:pPr>
            <a:r>
              <a:rPr lang="en-GB" sz="1600" b="1" i="0" u="none" strike="noStrike" dirty="0">
                <a:solidFill>
                  <a:srgbClr val="000000"/>
                </a:solidFill>
                <a:effectLst/>
              </a:rPr>
              <a:t>Association with Sigmoid and Tanh:</a:t>
            </a:r>
            <a:r>
              <a:rPr lang="en-GB" sz="1600" b="0" i="0" u="none" strike="noStrike" dirty="0">
                <a:solidFill>
                  <a:srgbClr val="000000"/>
                </a:solidFill>
                <a:effectLst/>
              </a:rPr>
              <a:t> The sigmoid (derivative range 0-0.25) and tanh (derivative range 0-1) activation functions are particularly prone to this. Extreme weight values can lead to very small derivatives.</a:t>
            </a:r>
          </a:p>
          <a:p>
            <a:pPr marL="342900" indent="-342900" algn="l">
              <a:buFont typeface="+mj-lt"/>
              <a:buAutoNum type="arabicPeriod" startAt="3"/>
            </a:pPr>
            <a:r>
              <a:rPr lang="en-GB" sz="1600" b="1" i="0" u="none" strike="noStrike" dirty="0">
                <a:solidFill>
                  <a:srgbClr val="000000"/>
                </a:solidFill>
                <a:effectLst/>
              </a:rPr>
              <a:t>Saturation of Activation Functions:</a:t>
            </a:r>
            <a:r>
              <a:rPr lang="en-GB" sz="1600" b="0" i="0" u="none" strike="noStrike" dirty="0">
                <a:solidFill>
                  <a:srgbClr val="000000"/>
                </a:solidFill>
                <a:effectLst/>
              </a:rPr>
              <a:t> Sigmoid (output 0-1) and tanh (output -1 to 1) saturate at their extreme values. When neuron inputs fall into these saturated regions (very small or very large), their derivatives approach zero.</a:t>
            </a:r>
          </a:p>
          <a:p>
            <a:pPr marL="342900" indent="-342900" algn="l">
              <a:buFont typeface="+mj-lt"/>
              <a:buAutoNum type="arabicPeriod" startAt="3"/>
            </a:pPr>
            <a:r>
              <a:rPr lang="en-GB" sz="1600" b="1" i="0" u="none" strike="noStrike" dirty="0">
                <a:solidFill>
                  <a:srgbClr val="000000"/>
                </a:solidFill>
                <a:effectLst/>
              </a:rPr>
              <a:t>Multiplicative Effect in Deep Networks:</a:t>
            </a:r>
            <a:r>
              <a:rPr lang="en-GB" sz="1600" b="0" i="0" u="none" strike="noStrike" dirty="0">
                <a:solidFill>
                  <a:srgbClr val="000000"/>
                </a:solidFill>
                <a:effectLst/>
              </a:rPr>
              <a:t> In deep networks, these small gradients are multiplied across layers during backpropagation, causing them to decay significantly. This results in the early layers learning very slowly and hinders overall model performance, potentially leading to a failure to converge.</a:t>
            </a: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3409898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4E89FB6-9C66-7D7B-5B66-7EC8D32780E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EF574CE-E9A7-E269-0343-11794E8571F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dirty="0">
                <a:solidFill>
                  <a:srgbClr val="7030A0"/>
                </a:solidFill>
                <a:latin typeface="inherit"/>
              </a:rPr>
              <a:t>How to Identify the V</a:t>
            </a:r>
            <a:r>
              <a:rPr lang="en-GB" sz="3100" i="0" u="none" strike="noStrike" dirty="0">
                <a:solidFill>
                  <a:srgbClr val="7030A0"/>
                </a:solidFill>
                <a:effectLst/>
                <a:latin typeface="inherit"/>
              </a:rPr>
              <a:t>anishing </a:t>
            </a:r>
            <a:r>
              <a:rPr lang="en-GB" sz="3100" dirty="0">
                <a:solidFill>
                  <a:srgbClr val="7030A0"/>
                </a:solidFill>
                <a:latin typeface="inherit"/>
              </a:rPr>
              <a:t>G</a:t>
            </a:r>
            <a:r>
              <a:rPr lang="en-GB" sz="3100" i="0" u="none" strike="noStrike" dirty="0">
                <a:solidFill>
                  <a:srgbClr val="7030A0"/>
                </a:solidFill>
                <a:effectLst/>
                <a:latin typeface="inherit"/>
              </a:rPr>
              <a:t>radient </a:t>
            </a:r>
            <a:r>
              <a:rPr lang="en-GB" sz="3100" dirty="0">
                <a:solidFill>
                  <a:srgbClr val="7030A0"/>
                </a:solidFill>
                <a:latin typeface="inherit"/>
              </a:rPr>
              <a:t>P</a:t>
            </a:r>
            <a:r>
              <a:rPr lang="en-GB" sz="3100" i="0" u="none" strike="noStrike" dirty="0">
                <a:solidFill>
                  <a:srgbClr val="7030A0"/>
                </a:solidFill>
                <a:effectLst/>
                <a:latin typeface="inherit"/>
              </a:rPr>
              <a:t>roblem:</a:t>
            </a:r>
            <a:br>
              <a:rPr lang="en-GB" sz="3100" i="0" u="none" strike="noStrike" dirty="0">
                <a:solidFill>
                  <a:srgbClr val="7030A0"/>
                </a:solidFill>
                <a:effectLst/>
                <a:latin typeface="inherit"/>
              </a:rPr>
            </a:br>
            <a:br>
              <a:rPr lang="en-GB" sz="3100" i="0" u="none" strike="noStrike" dirty="0">
                <a:solidFill>
                  <a:srgbClr val="7030A0"/>
                </a:solidFill>
                <a:effectLst/>
                <a:latin typeface="inherit"/>
              </a:rPr>
            </a:br>
            <a:br>
              <a:rPr lang="en-GB" sz="3100" i="0" u="none" strike="noStrike" dirty="0">
                <a:solidFill>
                  <a:srgbClr val="7030A0"/>
                </a:solidFill>
                <a:effectLst/>
                <a:latin typeface="inherit"/>
              </a:rPr>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F195315A-43B4-E2A2-1429-6D7F8BC40E2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4917554-FC16-D60A-73AD-59D17CC95980}"/>
              </a:ext>
            </a:extLst>
          </p:cNvPr>
          <p:cNvSpPr txBox="1"/>
          <p:nvPr/>
        </p:nvSpPr>
        <p:spPr>
          <a:xfrm>
            <a:off x="76333" y="713964"/>
            <a:ext cx="7677779" cy="4524315"/>
          </a:xfrm>
          <a:prstGeom prst="rect">
            <a:avLst/>
          </a:prstGeom>
          <a:noFill/>
        </p:spPr>
        <p:txBody>
          <a:bodyPr wrap="square">
            <a:spAutoFit/>
          </a:bodyPr>
          <a:lstStyle/>
          <a:p>
            <a:pPr marL="285750" indent="-285750" algn="l">
              <a:buFont typeface="Wingdings" pitchFamily="2" charset="2"/>
              <a:buChar char="Ø"/>
            </a:pPr>
            <a:r>
              <a:rPr lang="en-GB" sz="1600" b="1" i="0" u="none" strike="noStrike" dirty="0">
                <a:solidFill>
                  <a:srgbClr val="000000"/>
                </a:solidFill>
                <a:effectLst/>
              </a:rPr>
              <a:t>Weight Convergence or Stagnation:</a:t>
            </a:r>
            <a:r>
              <a:rPr lang="en-GB" sz="1600" b="0" i="0" u="none" strike="noStrike" dirty="0">
                <a:solidFill>
                  <a:srgbClr val="000000"/>
                </a:solidFill>
                <a:effectLst/>
              </a:rPr>
              <a:t> Observe if the model's weights are approaching zero or if their values are barely changing over many training epochs.</a:t>
            </a:r>
          </a:p>
          <a:p>
            <a:pPr marL="285750" indent="-285750" algn="l">
              <a:buFont typeface="Wingdings" pitchFamily="2" charset="2"/>
              <a:buChar char="Ø"/>
            </a:pPr>
            <a:r>
              <a:rPr lang="en-GB" sz="1600" b="1" i="0" u="none" strike="noStrike" dirty="0">
                <a:solidFill>
                  <a:srgbClr val="000000"/>
                </a:solidFill>
                <a:effectLst/>
              </a:rPr>
              <a:t>Performance Plateau:</a:t>
            </a:r>
            <a:r>
              <a:rPr lang="en-GB" sz="1600" b="0" i="0" u="none" strike="noStrike" dirty="0">
                <a:solidFill>
                  <a:srgbClr val="000000"/>
                </a:solidFill>
                <a:effectLst/>
              </a:rPr>
              <a:t> Monitor the model's performance metrics (like accuracy or loss) on the training and validation sets. If these metrics stop improving significantly or plateau early in training, it could indicate vanishing gradients preventing further learning.</a:t>
            </a:r>
          </a:p>
          <a:p>
            <a:pPr marL="285750" indent="-285750" algn="l">
              <a:buFont typeface="Wingdings" pitchFamily="2" charset="2"/>
              <a:buChar char="Ø"/>
            </a:pPr>
            <a:r>
              <a:rPr lang="en-GB" sz="1600" b="1" i="0" u="none" strike="noStrike" dirty="0">
                <a:solidFill>
                  <a:srgbClr val="000000"/>
                </a:solidFill>
                <a:effectLst/>
              </a:rPr>
              <a:t>Erratic Learning Curves:</a:t>
            </a:r>
            <a:r>
              <a:rPr lang="en-GB" sz="1600" b="0" i="0" u="none" strike="noStrike" dirty="0">
                <a:solidFill>
                  <a:srgbClr val="000000"/>
                </a:solidFill>
                <a:effectLst/>
              </a:rPr>
              <a:t> Look for unusual or unstable </a:t>
            </a:r>
            <a:r>
              <a:rPr lang="en-GB" sz="1600" b="0" i="0" u="none" strike="noStrike" dirty="0" err="1">
                <a:solidFill>
                  <a:srgbClr val="000000"/>
                </a:solidFill>
                <a:effectLst/>
              </a:rPr>
              <a:t>behavior</a:t>
            </a:r>
            <a:r>
              <a:rPr lang="en-GB" sz="1600" b="0" i="0" u="none" strike="noStrike" dirty="0">
                <a:solidFill>
                  <a:srgbClr val="000000"/>
                </a:solidFill>
                <a:effectLst/>
              </a:rPr>
              <a:t> in the training and validation loss curves. This might manifest as large fluctuations or a failure to consistently decrease.</a:t>
            </a:r>
          </a:p>
          <a:p>
            <a:pPr marL="285750" indent="-285750" algn="l">
              <a:buFont typeface="Wingdings" pitchFamily="2" charset="2"/>
              <a:buChar char="Ø"/>
            </a:pPr>
            <a:r>
              <a:rPr lang="en-GB" sz="1600" b="1" i="0" u="none" strike="noStrike" dirty="0">
                <a:solidFill>
                  <a:srgbClr val="000000"/>
                </a:solidFill>
                <a:effectLst/>
              </a:rPr>
              <a:t>Gradient Analysis:</a:t>
            </a:r>
            <a:r>
              <a:rPr lang="en-GB" sz="1600" b="0" i="0" u="none" strike="noStrike" dirty="0">
                <a:solidFill>
                  <a:srgbClr val="000000"/>
                </a:solidFill>
                <a:effectLst/>
              </a:rPr>
              <a:t> Directly examine the gradients during backpropagation, if your framework allows this.</a:t>
            </a:r>
          </a:p>
          <a:p>
            <a:pPr marL="742950" lvl="1" indent="-285750" algn="l">
              <a:buFont typeface="Wingdings" pitchFamily="2" charset="2"/>
              <a:buChar char="Ø"/>
            </a:pPr>
            <a:r>
              <a:rPr lang="en-GB" sz="1600" b="1" i="0" u="none" strike="noStrike" dirty="0">
                <a:solidFill>
                  <a:srgbClr val="000000"/>
                </a:solidFill>
                <a:effectLst/>
              </a:rPr>
              <a:t>Visualization:</a:t>
            </a:r>
            <a:r>
              <a:rPr lang="en-GB" sz="1600" b="0" i="0" u="none" strike="noStrike" dirty="0">
                <a:solidFill>
                  <a:srgbClr val="000000"/>
                </a:solidFill>
                <a:effectLst/>
              </a:rPr>
              <a:t> Use techniques like gradient histograms or calculate the L2 norm of the gradients for different layers. Vanishing gradients would show as gradients with very small magnitudes, especially in the earlier layers of deep networks.</a:t>
            </a: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28616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0A99875-F012-804F-8032-DCAB930CA4D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2A6BD56-9069-070D-1232-F62A20EF52FE}"/>
              </a:ext>
            </a:extLst>
          </p:cNvPr>
          <p:cNvSpPr txBox="1">
            <a:spLocks noGrp="1"/>
          </p:cNvSpPr>
          <p:nvPr>
            <p:ph type="title"/>
          </p:nvPr>
        </p:nvSpPr>
        <p:spPr>
          <a:xfrm>
            <a:off x="341338" y="0"/>
            <a:ext cx="8329650" cy="627900"/>
          </a:xfrm>
          <a:prstGeom prst="rect">
            <a:avLst/>
          </a:prstGeom>
          <a:noFill/>
          <a:ln>
            <a:noFill/>
          </a:ln>
        </p:spPr>
        <p:txBody>
          <a:bodyPr spcFirstLastPara="1" wrap="square" lIns="91425" tIns="91425" rIns="91425" bIns="91425" anchor="t" anchorCtr="0">
            <a:normAutofit fontScale="90000"/>
          </a:bodyPr>
          <a:lstStyle/>
          <a:p>
            <a:r>
              <a:rPr lang="en-GB" sz="3100" dirty="0">
                <a:solidFill>
                  <a:srgbClr val="7030A0"/>
                </a:solidFill>
                <a:latin typeface="inherit"/>
              </a:rPr>
              <a:t>How to Address the V</a:t>
            </a:r>
            <a:r>
              <a:rPr lang="en-GB" sz="3100" i="0" u="none" strike="noStrike" dirty="0">
                <a:solidFill>
                  <a:srgbClr val="7030A0"/>
                </a:solidFill>
                <a:effectLst/>
                <a:latin typeface="inherit"/>
              </a:rPr>
              <a:t>anishing </a:t>
            </a:r>
            <a:r>
              <a:rPr lang="en-GB" sz="3100" dirty="0">
                <a:solidFill>
                  <a:srgbClr val="7030A0"/>
                </a:solidFill>
                <a:latin typeface="inherit"/>
              </a:rPr>
              <a:t>G</a:t>
            </a:r>
            <a:r>
              <a:rPr lang="en-GB" sz="3100" i="0" u="none" strike="noStrike" dirty="0">
                <a:solidFill>
                  <a:srgbClr val="7030A0"/>
                </a:solidFill>
                <a:effectLst/>
                <a:latin typeface="inherit"/>
              </a:rPr>
              <a:t>radient </a:t>
            </a:r>
            <a:r>
              <a:rPr lang="en-GB" sz="3100" dirty="0">
                <a:solidFill>
                  <a:srgbClr val="7030A0"/>
                </a:solidFill>
                <a:latin typeface="inherit"/>
              </a:rPr>
              <a:t>P</a:t>
            </a:r>
            <a:r>
              <a:rPr lang="en-GB" sz="3100" i="0" u="none" strike="noStrike" dirty="0">
                <a:solidFill>
                  <a:srgbClr val="7030A0"/>
                </a:solidFill>
                <a:effectLst/>
                <a:latin typeface="inherit"/>
              </a:rPr>
              <a:t>roblem:</a:t>
            </a:r>
            <a:br>
              <a:rPr lang="en-GB" sz="3100" i="0" u="none" strike="noStrike" dirty="0">
                <a:solidFill>
                  <a:srgbClr val="7030A0"/>
                </a:solidFill>
                <a:effectLst/>
                <a:latin typeface="inherit"/>
              </a:rPr>
            </a:br>
            <a:br>
              <a:rPr lang="en-GB" sz="3100" i="0" u="none" strike="noStrike" dirty="0">
                <a:solidFill>
                  <a:srgbClr val="7030A0"/>
                </a:solidFill>
                <a:effectLst/>
                <a:latin typeface="inherit"/>
              </a:rPr>
            </a:br>
            <a:br>
              <a:rPr lang="en-GB" sz="3100" i="0" u="none" strike="noStrike" dirty="0">
                <a:solidFill>
                  <a:srgbClr val="7030A0"/>
                </a:solidFill>
                <a:effectLst/>
                <a:latin typeface="inherit"/>
              </a:rPr>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B3E97A06-A25F-B951-FB95-F34E280C81B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BF06FEE9-CA4B-E704-2016-A7A143D3FF97}"/>
              </a:ext>
            </a:extLst>
          </p:cNvPr>
          <p:cNvSpPr txBox="1"/>
          <p:nvPr/>
        </p:nvSpPr>
        <p:spPr>
          <a:xfrm>
            <a:off x="0" y="684703"/>
            <a:ext cx="8329650" cy="4624343"/>
          </a:xfrm>
          <a:prstGeom prst="rect">
            <a:avLst/>
          </a:prstGeom>
          <a:noFill/>
        </p:spPr>
        <p:txBody>
          <a:bodyPr wrap="square">
            <a:spAutoFit/>
          </a:bodyPr>
          <a:lstStyle/>
          <a:p>
            <a:pPr marL="342900" indent="-342900" algn="l">
              <a:buFont typeface="+mj-lt"/>
              <a:buAutoNum type="arabicPeriod"/>
            </a:pPr>
            <a:r>
              <a:rPr lang="en-GB" sz="1550" b="1" i="0" u="none" strike="noStrike" dirty="0">
                <a:solidFill>
                  <a:srgbClr val="000000"/>
                </a:solidFill>
                <a:effectLst/>
              </a:rPr>
              <a:t>Batch Normalization:</a:t>
            </a:r>
            <a:r>
              <a:rPr lang="en-GB" sz="1550" b="0" i="0" u="none" strike="noStrike" dirty="0">
                <a:solidFill>
                  <a:srgbClr val="000000"/>
                </a:solidFill>
                <a:effectLst/>
              </a:rPr>
              <a:t> Normalizes the inputs of each layer, reducing internal covariate shift. This stabilizes and speeds up training, promoting more consistent gradient flow.</a:t>
            </a:r>
          </a:p>
          <a:p>
            <a:pPr marL="342900" indent="-342900" algn="l">
              <a:buFont typeface="+mj-lt"/>
              <a:buAutoNum type="arabicPeriod"/>
            </a:pPr>
            <a:r>
              <a:rPr lang="en-GB" sz="1550" b="1" i="0" u="none" strike="noStrike" dirty="0">
                <a:solidFill>
                  <a:srgbClr val="000000"/>
                </a:solidFill>
                <a:effectLst/>
              </a:rPr>
              <a:t>Activation Functions (</a:t>
            </a:r>
            <a:r>
              <a:rPr lang="en-GB" sz="1550" b="1" i="0" u="none" strike="noStrike" dirty="0" err="1">
                <a:solidFill>
                  <a:srgbClr val="000000"/>
                </a:solidFill>
                <a:effectLst/>
              </a:rPr>
              <a:t>ReLU</a:t>
            </a:r>
            <a:r>
              <a:rPr lang="en-GB" sz="1550" b="1" i="0" u="none" strike="noStrike" dirty="0">
                <a:solidFill>
                  <a:srgbClr val="000000"/>
                </a:solidFill>
                <a:effectLst/>
              </a:rPr>
              <a:t> and its variants):</a:t>
            </a:r>
            <a:r>
              <a:rPr lang="en-GB" sz="1550" b="0" i="0" u="none" strike="noStrike" dirty="0">
                <a:solidFill>
                  <a:srgbClr val="000000"/>
                </a:solidFill>
                <a:effectLst/>
              </a:rPr>
              <a:t> Using activation functions like </a:t>
            </a:r>
            <a:r>
              <a:rPr lang="en-GB" sz="1550" b="0" i="0" u="none" strike="noStrike" dirty="0" err="1">
                <a:solidFill>
                  <a:srgbClr val="000000"/>
                </a:solidFill>
                <a:effectLst/>
              </a:rPr>
              <a:t>ReLU</a:t>
            </a:r>
            <a:r>
              <a:rPr lang="en-GB" sz="1550" b="0" i="0" u="none" strike="noStrike" dirty="0">
                <a:solidFill>
                  <a:srgbClr val="000000"/>
                </a:solidFill>
                <a:effectLst/>
              </a:rPr>
              <a:t> helps because its gradient is 1 for positive inputs (avoiding gradient shrinkage) and 0 for negative inputs (which can help with sparsity). Variants like Leaky </a:t>
            </a:r>
            <a:r>
              <a:rPr lang="en-GB" sz="1550" b="0" i="0" u="none" strike="noStrike" dirty="0" err="1">
                <a:solidFill>
                  <a:srgbClr val="000000"/>
                </a:solidFill>
                <a:effectLst/>
              </a:rPr>
              <a:t>ReLU</a:t>
            </a:r>
            <a:r>
              <a:rPr lang="en-GB" sz="1550" b="0" i="0" u="none" strike="noStrike" dirty="0">
                <a:solidFill>
                  <a:srgbClr val="000000"/>
                </a:solidFill>
                <a:effectLst/>
              </a:rPr>
              <a:t> and Parametric </a:t>
            </a:r>
            <a:r>
              <a:rPr lang="en-GB" sz="1550" b="0" i="0" u="none" strike="noStrike" dirty="0" err="1">
                <a:solidFill>
                  <a:srgbClr val="000000"/>
                </a:solidFill>
                <a:effectLst/>
              </a:rPr>
              <a:t>ReLU</a:t>
            </a:r>
            <a:r>
              <a:rPr lang="en-GB" sz="1550" b="0" i="0" u="none" strike="noStrike" dirty="0">
                <a:solidFill>
                  <a:srgbClr val="000000"/>
                </a:solidFill>
                <a:effectLst/>
              </a:rPr>
              <a:t> address the "dying </a:t>
            </a:r>
            <a:r>
              <a:rPr lang="en-GB" sz="1550" b="0" i="0" u="none" strike="noStrike" dirty="0" err="1">
                <a:solidFill>
                  <a:srgbClr val="000000"/>
                </a:solidFill>
                <a:effectLst/>
              </a:rPr>
              <a:t>ReLU</a:t>
            </a:r>
            <a:r>
              <a:rPr lang="en-GB" sz="1550" b="0" i="0" u="none" strike="noStrike" dirty="0">
                <a:solidFill>
                  <a:srgbClr val="000000"/>
                </a:solidFill>
                <a:effectLst/>
              </a:rPr>
              <a:t>" problem where neurons can become inactive.</a:t>
            </a:r>
          </a:p>
          <a:p>
            <a:pPr marL="342900" indent="-342900" algn="l">
              <a:buFont typeface="+mj-lt"/>
              <a:buAutoNum type="arabicPeriod"/>
            </a:pPr>
            <a:r>
              <a:rPr lang="en-GB" sz="1550" b="1" i="0" u="none" strike="noStrike" dirty="0">
                <a:solidFill>
                  <a:srgbClr val="000000"/>
                </a:solidFill>
                <a:effectLst/>
              </a:rPr>
              <a:t>Skip Connections and Residual Networks (</a:t>
            </a:r>
            <a:r>
              <a:rPr lang="en-GB" sz="1550" b="1" i="0" u="none" strike="noStrike" dirty="0" err="1">
                <a:solidFill>
                  <a:srgbClr val="000000"/>
                </a:solidFill>
                <a:effectLst/>
              </a:rPr>
              <a:t>ResNets</a:t>
            </a:r>
            <a:r>
              <a:rPr lang="en-GB" sz="1550" b="1" i="0" u="none" strike="noStrike" dirty="0">
                <a:solidFill>
                  <a:srgbClr val="000000"/>
                </a:solidFill>
                <a:effectLst/>
              </a:rPr>
              <a:t>):</a:t>
            </a:r>
            <a:r>
              <a:rPr lang="en-GB" sz="1550" b="0" i="0" u="none" strike="noStrike" dirty="0">
                <a:solidFill>
                  <a:srgbClr val="000000"/>
                </a:solidFill>
                <a:effectLst/>
              </a:rPr>
              <a:t> These connections allow gradients to bypass intermediate layers during backpropagation, ensuring a more direct flow of information and preventing gradients from becoming too small.</a:t>
            </a:r>
          </a:p>
          <a:p>
            <a:pPr marL="342900" indent="-342900" algn="l">
              <a:buFont typeface="+mj-lt"/>
              <a:buAutoNum type="arabicPeriod"/>
            </a:pPr>
            <a:r>
              <a:rPr lang="en-GB" sz="1550" b="1" i="0" u="none" strike="noStrike" dirty="0">
                <a:solidFill>
                  <a:srgbClr val="000000"/>
                </a:solidFill>
                <a:effectLst/>
              </a:rPr>
              <a:t>Long Short-Term Memory Networks (LSTMs) and Gated Recurrent Units (GRUs):</a:t>
            </a:r>
            <a:r>
              <a:rPr lang="en-GB" sz="1550" b="0" i="0" u="none" strike="noStrike" dirty="0">
                <a:solidFill>
                  <a:srgbClr val="000000"/>
                </a:solidFill>
                <a:effectLst/>
              </a:rPr>
              <a:t> Specifically designed for Recurrent Neural Networks (RNNs), these architectures incorporate gating mechanisms that control the flow of information and gradients through the sequential data, mitigating the vanishing gradient problem over time.</a:t>
            </a:r>
          </a:p>
          <a:p>
            <a:pPr marL="342900" indent="-342900" algn="l">
              <a:buFont typeface="+mj-lt"/>
              <a:buAutoNum type="arabicPeriod"/>
            </a:pPr>
            <a:r>
              <a:rPr lang="en-GB" sz="1550" b="1" i="0" u="none" strike="noStrike" dirty="0">
                <a:solidFill>
                  <a:srgbClr val="000000"/>
                </a:solidFill>
                <a:effectLst/>
              </a:rPr>
              <a:t>Gradient Clipping:</a:t>
            </a:r>
            <a:r>
              <a:rPr lang="en-GB" sz="1550" b="0" i="0" u="none" strike="noStrike" dirty="0">
                <a:solidFill>
                  <a:srgbClr val="000000"/>
                </a:solidFill>
                <a:effectLst/>
              </a:rPr>
              <a:t> Imposing a threshold on the magnitude of gradients during backpropagation prevents them from becoming excessively large (exploding gradients) or, indirectly, from becoming infinitesimally small due to the scale of the network.</a:t>
            </a:r>
          </a:p>
          <a:p>
            <a:br>
              <a:rPr lang="en-GB" sz="1550" dirty="0">
                <a:latin typeface="+mj-lt"/>
              </a:rPr>
            </a:br>
            <a:endParaRPr lang="en-GB" sz="1550" i="0" u="none" strike="noStrike" dirty="0">
              <a:solidFill>
                <a:srgbClr val="000000"/>
              </a:solidFill>
              <a:effectLst/>
              <a:latin typeface="+mj-lt"/>
            </a:endParaRPr>
          </a:p>
        </p:txBody>
      </p:sp>
    </p:spTree>
    <p:extLst>
      <p:ext uri="{BB962C8B-B14F-4D97-AF65-F5344CB8AC3E}">
        <p14:creationId xmlns:p14="http://schemas.microsoft.com/office/powerpoint/2010/main" val="1149657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3B4CFA5-0052-B4E2-3DA8-ACFFF1BC7B9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1D06C01-DBEB-40D9-8EB7-17BE1C96D374}"/>
              </a:ext>
            </a:extLst>
          </p:cNvPr>
          <p:cNvSpPr txBox="1">
            <a:spLocks noGrp="1"/>
          </p:cNvSpPr>
          <p:nvPr>
            <p:ph type="title"/>
          </p:nvPr>
        </p:nvSpPr>
        <p:spPr>
          <a:xfrm>
            <a:off x="534009" y="-45098"/>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rPr>
              <a:t>Exploding Gradient Problem</a:t>
            </a:r>
            <a:br>
              <a:rPr lang="en-GB" sz="3200" b="0" i="0" u="none" strike="noStrike" dirty="0">
                <a:solidFill>
                  <a:srgbClr val="7030A0"/>
                </a:solidFill>
                <a:effectLst/>
              </a:rPr>
            </a:br>
            <a:br>
              <a:rPr lang="en-GB" sz="3100" i="0" u="none" strike="noStrike" dirty="0">
                <a:solidFill>
                  <a:srgbClr val="7030A0"/>
                </a:solidFill>
                <a:effectLst/>
                <a:latin typeface="inherit"/>
              </a:rPr>
            </a:br>
            <a:br>
              <a:rPr lang="en-GB" sz="3100" i="0" u="none" strike="noStrike" dirty="0">
                <a:solidFill>
                  <a:srgbClr val="7030A0"/>
                </a:solidFill>
                <a:effectLst/>
                <a:latin typeface="inherit"/>
              </a:rPr>
            </a:br>
            <a:br>
              <a:rPr lang="en-GB" sz="3100" i="0" u="none" strike="noStrike" dirty="0">
                <a:solidFill>
                  <a:srgbClr val="7030A0"/>
                </a:solidFill>
                <a:effectLst/>
                <a:latin typeface="inherit"/>
              </a:rPr>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296D087-4DA3-9F7C-5271-7ED877C4955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D2AC580A-D0EF-C12B-CD58-A54F80C195D0}"/>
              </a:ext>
            </a:extLst>
          </p:cNvPr>
          <p:cNvSpPr txBox="1"/>
          <p:nvPr/>
        </p:nvSpPr>
        <p:spPr>
          <a:xfrm>
            <a:off x="109728" y="487704"/>
            <a:ext cx="8251545" cy="5401479"/>
          </a:xfrm>
          <a:prstGeom prst="rect">
            <a:avLst/>
          </a:prstGeom>
          <a:noFill/>
        </p:spPr>
        <p:txBody>
          <a:bodyPr wrap="square">
            <a:spAutoFit/>
          </a:bodyPr>
          <a:lstStyle/>
          <a:p>
            <a:pPr algn="l">
              <a:buNone/>
            </a:pPr>
            <a:r>
              <a:rPr lang="en-GB" sz="1500" b="0" i="0" u="none" strike="noStrike" dirty="0">
                <a:solidFill>
                  <a:srgbClr val="000000"/>
                </a:solidFill>
                <a:effectLst/>
              </a:rPr>
              <a:t>The exploding gradient problem is a challenge in training deep neural networks where the gradients of the loss function with respect to the network's weights become excessively large during backpropagation.   </a:t>
            </a:r>
          </a:p>
          <a:p>
            <a:pPr algn="l">
              <a:buNone/>
            </a:pPr>
            <a:r>
              <a:rPr lang="en-GB" sz="1500" b="1" i="0" u="none" strike="noStrike" dirty="0">
                <a:solidFill>
                  <a:srgbClr val="000000"/>
                </a:solidFill>
                <a:effectLst/>
              </a:rPr>
              <a:t>Why Exploding Gradient Occurs</a:t>
            </a:r>
            <a:endParaRPr lang="en-GB" sz="1500" b="0" i="0" u="none" strike="noStrike" dirty="0">
              <a:solidFill>
                <a:srgbClr val="000000"/>
              </a:solidFill>
              <a:effectLst/>
            </a:endParaRPr>
          </a:p>
          <a:p>
            <a:pPr marL="457200" indent="-457200" algn="l">
              <a:buFont typeface="+mj-lt"/>
              <a:buAutoNum type="arabicPeriod"/>
            </a:pPr>
            <a:r>
              <a:rPr lang="en-GB" sz="1500" b="0" i="0" u="none" strike="noStrike" dirty="0">
                <a:solidFill>
                  <a:srgbClr val="000000"/>
                </a:solidFill>
                <a:effectLst/>
              </a:rPr>
              <a:t>This issue arises because the derivatives of the network's layers grow exponentially as backpropagation proceeds from the output layer towards the input layer. </a:t>
            </a:r>
          </a:p>
          <a:p>
            <a:pPr marL="457200" indent="-457200" algn="l">
              <a:buFont typeface="+mj-lt"/>
              <a:buAutoNum type="arabicPeriod"/>
            </a:pPr>
            <a:r>
              <a:rPr lang="en-GB" sz="1500" b="0" i="0" u="none" strike="noStrike" dirty="0">
                <a:solidFill>
                  <a:srgbClr val="000000"/>
                </a:solidFill>
                <a:effectLst/>
              </a:rPr>
              <a:t>The primary cause is high weight values within the network. Large weights lead to large derivatives, causing significant and unstable updates to the weights. </a:t>
            </a:r>
          </a:p>
          <a:p>
            <a:pPr marL="457200" indent="-457200" algn="l">
              <a:buFont typeface="+mj-lt"/>
              <a:buAutoNum type="arabicPeriod"/>
            </a:pPr>
            <a:r>
              <a:rPr lang="en-GB" sz="1500" b="0" i="0" u="none" strike="noStrike" dirty="0">
                <a:solidFill>
                  <a:srgbClr val="000000"/>
                </a:solidFill>
                <a:effectLst/>
              </a:rPr>
              <a:t>This can prevent the gradient from converging, leading to oscillations around local minima and hindering the network's ability to learn effectively and reach the global minimum.   </a:t>
            </a:r>
          </a:p>
          <a:p>
            <a:pPr algn="l">
              <a:buNone/>
            </a:pPr>
            <a:r>
              <a:rPr lang="en-GB" sz="1500" b="1" i="0" u="none" strike="noStrike" dirty="0">
                <a:solidFill>
                  <a:srgbClr val="000000"/>
                </a:solidFill>
                <a:effectLst/>
              </a:rPr>
              <a:t>Mathematical Representation of the Weight Update</a:t>
            </a:r>
            <a:endParaRPr lang="en-GB" sz="1500" b="0" i="0" u="none" strike="noStrike" dirty="0">
              <a:solidFill>
                <a:srgbClr val="000000"/>
              </a:solidFill>
              <a:effectLst/>
            </a:endParaRPr>
          </a:p>
          <a:p>
            <a:pPr algn="l"/>
            <a:r>
              <a:rPr lang="en-GB" sz="1500" b="0" i="0" u="none" strike="noStrike" dirty="0">
                <a:solidFill>
                  <a:srgbClr val="000000"/>
                </a:solidFill>
                <a:effectLst/>
              </a:rPr>
              <a:t>The update rule for the weights during backpropagation is given by:</a:t>
            </a:r>
          </a:p>
          <a:p>
            <a:pPr algn="ctr">
              <a:buNone/>
            </a:pPr>
            <a:r>
              <a:rPr lang="el-GR" sz="1500" i="1" dirty="0">
                <a:effectLst/>
              </a:rPr>
              <a:t>Δ</a:t>
            </a:r>
            <a:r>
              <a:rPr lang="en-GB" sz="1500" i="1" dirty="0">
                <a:effectLst/>
              </a:rPr>
              <a:t>W</a:t>
            </a:r>
            <a:r>
              <a:rPr lang="en-GB" sz="1500" i="1" baseline="-25000" dirty="0"/>
              <a:t>i</a:t>
            </a:r>
            <a:r>
              <a:rPr lang="en-GB" sz="1500" i="1" dirty="0">
                <a:effectLst/>
              </a:rPr>
              <a:t> = -</a:t>
            </a:r>
            <a:r>
              <a:rPr lang="el-GR" sz="1500" i="1" dirty="0">
                <a:effectLst/>
              </a:rPr>
              <a:t>α ⋅ ∂</a:t>
            </a:r>
            <a:r>
              <a:rPr lang="en-GB" sz="1500" i="1" dirty="0">
                <a:effectLst/>
              </a:rPr>
              <a:t>L/∂W</a:t>
            </a:r>
            <a:r>
              <a:rPr lang="en-GB" sz="1500" i="1" baseline="-25000" dirty="0"/>
              <a:t>i</a:t>
            </a:r>
            <a:r>
              <a:rPr lang="en-GB" sz="1500" i="1" dirty="0">
                <a:effectLst/>
              </a:rPr>
              <a:t> </a:t>
            </a:r>
          </a:p>
          <a:p>
            <a:pPr algn="l">
              <a:buNone/>
            </a:pPr>
            <a:r>
              <a:rPr lang="en-GB" sz="1500" b="0" i="0" u="none" strike="noStrike" dirty="0">
                <a:solidFill>
                  <a:srgbClr val="000000"/>
                </a:solidFill>
                <a:effectLst/>
              </a:rPr>
              <a:t>where:</a:t>
            </a:r>
          </a:p>
          <a:p>
            <a:pPr algn="l">
              <a:buFont typeface="Arial" panose="020B0604020202020204" pitchFamily="34" charset="0"/>
              <a:buChar char="•"/>
            </a:pPr>
            <a:r>
              <a:rPr lang="el-GR" sz="1500" b="0" i="1" u="none" strike="noStrike" dirty="0">
                <a:solidFill>
                  <a:srgbClr val="000000"/>
                </a:solidFill>
                <a:effectLst/>
              </a:rPr>
              <a:t>Δ</a:t>
            </a:r>
            <a:r>
              <a:rPr lang="en-GB" sz="1500" i="1" dirty="0">
                <a:effectLst/>
              </a:rPr>
              <a:t> W</a:t>
            </a:r>
            <a:r>
              <a:rPr lang="en-GB" sz="1500" i="1" baseline="-25000" dirty="0"/>
              <a:t>i </a:t>
            </a:r>
            <a:r>
              <a:rPr lang="en-GB" sz="1500" b="0" i="0" u="none" strike="noStrike" dirty="0">
                <a:solidFill>
                  <a:srgbClr val="000000"/>
                </a:solidFill>
                <a:effectLst/>
              </a:rPr>
              <a:t>: The change in the weight </a:t>
            </a:r>
            <a:r>
              <a:rPr lang="en-GB" sz="1500" dirty="0">
                <a:effectLst/>
              </a:rPr>
              <a:t> W</a:t>
            </a:r>
            <a:r>
              <a:rPr lang="en-GB" sz="1500" baseline="-25000" dirty="0"/>
              <a:t>i</a:t>
            </a:r>
            <a:r>
              <a:rPr lang="en-GB" sz="1500" b="0" i="0" u="none" strike="noStrike" dirty="0">
                <a:solidFill>
                  <a:srgbClr val="000000"/>
                </a:solidFill>
                <a:effectLst/>
              </a:rPr>
              <a:t>.</a:t>
            </a:r>
          </a:p>
          <a:p>
            <a:pPr algn="l">
              <a:buFont typeface="Arial" panose="020B0604020202020204" pitchFamily="34" charset="0"/>
              <a:buChar char="•"/>
            </a:pPr>
            <a:r>
              <a:rPr lang="el-GR" sz="1500" b="0" i="1" u="none" strike="noStrike" dirty="0">
                <a:solidFill>
                  <a:srgbClr val="000000"/>
                </a:solidFill>
                <a:effectLst/>
              </a:rPr>
              <a:t>α: </a:t>
            </a:r>
            <a:r>
              <a:rPr lang="en-GB" sz="1500" b="0" i="0" u="none" strike="noStrike" dirty="0">
                <a:solidFill>
                  <a:srgbClr val="000000"/>
                </a:solidFill>
                <a:effectLst/>
              </a:rPr>
              <a:t>The learning rate (a hyperparameter).   </a:t>
            </a:r>
          </a:p>
          <a:p>
            <a:pPr algn="l">
              <a:buFont typeface="Arial" panose="020B0604020202020204" pitchFamily="34" charset="0"/>
              <a:buChar char="•"/>
            </a:pPr>
            <a:r>
              <a:rPr lang="en-GB" sz="1500" b="0" i="1" u="none" strike="noStrike" dirty="0">
                <a:solidFill>
                  <a:srgbClr val="000000"/>
                </a:solidFill>
                <a:effectLst/>
              </a:rPr>
              <a:t>L</a:t>
            </a:r>
            <a:r>
              <a:rPr lang="en-GB" sz="1500" b="0" i="0" u="none" strike="noStrike" dirty="0">
                <a:solidFill>
                  <a:srgbClr val="000000"/>
                </a:solidFill>
                <a:effectLst/>
              </a:rPr>
              <a:t>: The loss function.</a:t>
            </a:r>
          </a:p>
          <a:p>
            <a:pPr algn="l">
              <a:buFont typeface="Arial" panose="020B0604020202020204" pitchFamily="34" charset="0"/>
              <a:buChar char="•"/>
            </a:pPr>
            <a:r>
              <a:rPr lang="en-GB" sz="1500" b="0" i="1" u="none" strike="noStrike" dirty="0">
                <a:solidFill>
                  <a:srgbClr val="000000"/>
                </a:solidFill>
                <a:effectLst/>
              </a:rPr>
              <a:t>∂L​/∂W</a:t>
            </a:r>
            <a:r>
              <a:rPr lang="en-GB" sz="1500" b="0" i="1" u="none" strike="noStrike" baseline="-25000" dirty="0">
                <a:solidFill>
                  <a:srgbClr val="000000"/>
                </a:solidFill>
                <a:effectLst/>
              </a:rPr>
              <a:t>i</a:t>
            </a:r>
            <a:r>
              <a:rPr lang="en-GB" sz="1500" b="0" i="1" u="none" strike="noStrike" dirty="0">
                <a:solidFill>
                  <a:srgbClr val="000000"/>
                </a:solidFill>
                <a:effectLst/>
              </a:rPr>
              <a:t>​: </a:t>
            </a:r>
            <a:r>
              <a:rPr lang="en-GB" sz="1500" b="0" i="0" u="none" strike="noStrike" dirty="0">
                <a:solidFill>
                  <a:srgbClr val="000000"/>
                </a:solidFill>
                <a:effectLst/>
              </a:rPr>
              <a:t>The partial derivative of the loss function with respect to the weight W</a:t>
            </a:r>
            <a:r>
              <a:rPr lang="en-GB" sz="1500" b="0" i="0" u="none" strike="noStrike" baseline="-25000" dirty="0">
                <a:solidFill>
                  <a:srgbClr val="000000"/>
                </a:solidFill>
                <a:effectLst/>
              </a:rPr>
              <a:t>i</a:t>
            </a:r>
            <a:r>
              <a:rPr lang="en-GB" sz="1500" b="0" i="0" u="none" strike="noStrike" dirty="0">
                <a:solidFill>
                  <a:srgbClr val="000000"/>
                </a:solidFill>
                <a:effectLst/>
              </a:rPr>
              <a:t> (the gradient).</a:t>
            </a:r>
          </a:p>
          <a:p>
            <a:pPr algn="l">
              <a:buNone/>
            </a:pPr>
            <a:r>
              <a:rPr lang="en-GB" sz="1500" b="0" i="0" u="none" strike="noStrike" dirty="0">
                <a:solidFill>
                  <a:srgbClr val="000000"/>
                </a:solidFill>
                <a:effectLst/>
              </a:rPr>
              <a:t>The exploding gradient problem becomes significant when the absolute value of the gradient is greater than 1:</a:t>
            </a:r>
          </a:p>
          <a:p>
            <a:pPr algn="l"/>
            <a:endParaRPr lang="en-GB" sz="1500" b="0" i="0" u="none" strike="noStrike" dirty="0">
              <a:solidFill>
                <a:srgbClr val="000000"/>
              </a:solidFill>
              <a:effectLst/>
            </a:endParaRPr>
          </a:p>
          <a:p>
            <a:br>
              <a:rPr lang="en-GB" sz="1500" dirty="0">
                <a:latin typeface="+mj-lt"/>
              </a:rPr>
            </a:br>
            <a:endParaRPr lang="en-GB" sz="1500" i="0" u="none" strike="noStrike" dirty="0">
              <a:solidFill>
                <a:srgbClr val="000000"/>
              </a:solidFill>
              <a:effectLst/>
              <a:latin typeface="+mj-lt"/>
            </a:endParaRPr>
          </a:p>
        </p:txBody>
      </p:sp>
    </p:spTree>
    <p:extLst>
      <p:ext uri="{BB962C8B-B14F-4D97-AF65-F5344CB8AC3E}">
        <p14:creationId xmlns:p14="http://schemas.microsoft.com/office/powerpoint/2010/main" val="450175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0DEB718-339D-0508-94CB-AB9C7E402A7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529A593-AB07-6CF4-9118-CC8B3CA339ED}"/>
              </a:ext>
            </a:extLst>
          </p:cNvPr>
          <p:cNvSpPr txBox="1">
            <a:spLocks noGrp="1"/>
          </p:cNvSpPr>
          <p:nvPr>
            <p:ph type="title"/>
          </p:nvPr>
        </p:nvSpPr>
        <p:spPr>
          <a:xfrm>
            <a:off x="0" y="-45098"/>
            <a:ext cx="8863659" cy="627900"/>
          </a:xfrm>
          <a:prstGeom prst="rect">
            <a:avLst/>
          </a:prstGeom>
          <a:noFill/>
          <a:ln>
            <a:noFill/>
          </a:ln>
        </p:spPr>
        <p:txBody>
          <a:bodyPr spcFirstLastPara="1" wrap="square" lIns="91425" tIns="91425" rIns="91425" bIns="91425" anchor="t" anchorCtr="0">
            <a:noAutofit/>
          </a:bodyPr>
          <a:lstStyle/>
          <a:p>
            <a:r>
              <a:rPr lang="en-GB" sz="2400" b="1" i="0" u="none" strike="noStrike" dirty="0">
                <a:solidFill>
                  <a:srgbClr val="7030A0"/>
                </a:solidFill>
                <a:effectLst/>
              </a:rPr>
              <a:t>How to Identify the Exploding Gradient Problem:</a:t>
            </a:r>
            <a:br>
              <a:rPr lang="en-GB" sz="2400" b="0" i="0" u="none" strike="noStrike" dirty="0">
                <a:solidFill>
                  <a:srgbClr val="7030A0"/>
                </a:solidFill>
                <a:effectLst/>
              </a:rPr>
            </a:br>
            <a:br>
              <a:rPr lang="en-GB" sz="2400" b="0" i="0" u="none" strike="noStrike" dirty="0">
                <a:solidFill>
                  <a:srgbClr val="7030A0"/>
                </a:solidFill>
                <a:effectLst/>
              </a:rPr>
            </a:br>
            <a:br>
              <a:rPr lang="en-GB" sz="2400" i="0" u="none" strike="noStrike" dirty="0">
                <a:solidFill>
                  <a:srgbClr val="7030A0"/>
                </a:solidFill>
                <a:effectLst/>
                <a:latin typeface="inherit"/>
              </a:rPr>
            </a:br>
            <a:br>
              <a:rPr lang="en-GB" sz="2400" i="0" u="none" strike="noStrike" dirty="0">
                <a:solidFill>
                  <a:srgbClr val="7030A0"/>
                </a:solidFill>
                <a:effectLst/>
                <a:latin typeface="inherit"/>
              </a:rPr>
            </a:br>
            <a:br>
              <a:rPr lang="en-GB" sz="2400" i="0" u="none" strike="noStrike" dirty="0">
                <a:solidFill>
                  <a:srgbClr val="7030A0"/>
                </a:solidFill>
                <a:effectLst/>
                <a:latin typeface="inherit"/>
              </a:rPr>
            </a:br>
            <a:br>
              <a:rPr lang="en-GB" sz="2400" b="1" dirty="0">
                <a:solidFill>
                  <a:srgbClr val="7030A0"/>
                </a:solidFill>
              </a:rPr>
            </a:b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endParaRPr lang="en-GB" sz="24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937E9DB0-2631-883C-AA4A-09953616C11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7AE0D28-4B43-2768-265C-73ED9E988FF0}"/>
              </a:ext>
            </a:extLst>
          </p:cNvPr>
          <p:cNvSpPr txBox="1"/>
          <p:nvPr/>
        </p:nvSpPr>
        <p:spPr>
          <a:xfrm>
            <a:off x="109728" y="487704"/>
            <a:ext cx="8251545" cy="5262979"/>
          </a:xfrm>
          <a:prstGeom prst="rect">
            <a:avLst/>
          </a:prstGeom>
          <a:noFill/>
        </p:spPr>
        <p:txBody>
          <a:bodyPr wrap="square">
            <a:spAutoFit/>
          </a:bodyPr>
          <a:lstStyle/>
          <a:p>
            <a:pPr algn="l">
              <a:buFont typeface="+mj-lt"/>
              <a:buAutoNum type="arabicPeriod"/>
            </a:pPr>
            <a:r>
              <a:rPr lang="en-GB" sz="1600" b="1" i="0" u="none" strike="noStrike" dirty="0">
                <a:solidFill>
                  <a:srgbClr val="000000"/>
                </a:solidFill>
                <a:effectLst/>
              </a:rPr>
              <a:t>Erratic Loss Function </a:t>
            </a:r>
            <a:r>
              <a:rPr lang="en-GB" sz="1600" b="1" i="0" u="none" strike="noStrike" dirty="0" err="1">
                <a:solidFill>
                  <a:srgbClr val="000000"/>
                </a:solidFill>
                <a:effectLst/>
              </a:rPr>
              <a:t>Behavior</a:t>
            </a:r>
            <a:r>
              <a:rPr lang="en-GB" sz="1600" b="1" i="0" u="none" strike="noStrike" dirty="0">
                <a:solidFill>
                  <a:srgbClr val="000000"/>
                </a:solidFill>
                <a:effectLst/>
              </a:rPr>
              <a:t>:</a:t>
            </a:r>
            <a:r>
              <a:rPr lang="en-GB" sz="1600" b="0" i="0" u="none" strike="noStrike" dirty="0">
                <a:solidFill>
                  <a:srgbClr val="000000"/>
                </a:solidFill>
                <a:effectLst/>
              </a:rPr>
              <a:t> Observe the training loss. If it oscillates wildly or increases significantly instead of consistently decreasing, it's a strong indicator of exploding gradients. Large gradient updates cause the network to overshoot optimal values, leading to this unstable </a:t>
            </a:r>
            <a:r>
              <a:rPr lang="en-GB" sz="1600" b="0" i="0" u="none" strike="noStrike" dirty="0" err="1">
                <a:solidFill>
                  <a:srgbClr val="000000"/>
                </a:solidFill>
                <a:effectLst/>
              </a:rPr>
              <a:t>behavior</a:t>
            </a:r>
            <a:r>
              <a:rPr lang="en-GB" sz="1600" b="0" i="0" u="none" strike="noStrike" dirty="0">
                <a:solidFill>
                  <a:srgbClr val="000000"/>
                </a:solidFill>
                <a:effectLst/>
              </a:rPr>
              <a:t>.</a:t>
            </a:r>
          </a:p>
          <a:p>
            <a:pPr algn="l">
              <a:buFont typeface="+mj-lt"/>
              <a:buAutoNum type="arabicPeriod"/>
            </a:pPr>
            <a:r>
              <a:rPr lang="en-GB" sz="1600" b="1" i="0" u="none" strike="noStrike" dirty="0">
                <a:solidFill>
                  <a:srgbClr val="000000"/>
                </a:solidFill>
                <a:effectLst/>
              </a:rPr>
              <a:t>"</a:t>
            </a:r>
            <a:r>
              <a:rPr lang="en-GB" sz="1600" b="1" i="0" u="none" strike="noStrike" dirty="0" err="1">
                <a:solidFill>
                  <a:srgbClr val="000000"/>
                </a:solidFill>
                <a:effectLst/>
              </a:rPr>
              <a:t>NaN</a:t>
            </a:r>
            <a:r>
              <a:rPr lang="en-GB" sz="1600" b="1" i="0" u="none" strike="noStrike" dirty="0">
                <a:solidFill>
                  <a:srgbClr val="000000"/>
                </a:solidFill>
                <a:effectLst/>
              </a:rPr>
              <a:t>" Values:</a:t>
            </a:r>
            <a:r>
              <a:rPr lang="en-GB" sz="1600" b="0" i="0" u="none" strike="noStrike" dirty="0">
                <a:solidFill>
                  <a:srgbClr val="000000"/>
                </a:solidFill>
                <a:effectLst/>
              </a:rPr>
              <a:t> The appearance of "</a:t>
            </a:r>
            <a:r>
              <a:rPr lang="en-GB" sz="1600" b="0" i="0" u="none" strike="noStrike" dirty="0" err="1">
                <a:solidFill>
                  <a:srgbClr val="000000"/>
                </a:solidFill>
                <a:effectLst/>
              </a:rPr>
              <a:t>NaN</a:t>
            </a:r>
            <a:r>
              <a:rPr lang="en-GB" sz="1600" b="0" i="0" u="none" strike="noStrike" dirty="0">
                <a:solidFill>
                  <a:srgbClr val="000000"/>
                </a:solidFill>
                <a:effectLst/>
              </a:rPr>
              <a:t>" (Not a Number) values in the loss function or other intermediate calculations during training is a critical sign. Exploding gradients can lead to extremely large numbers that exceed the representational capacity of floating-point numbers, resulting in "</a:t>
            </a:r>
            <a:r>
              <a:rPr lang="en-GB" sz="1600" b="0" i="0" u="none" strike="noStrike" dirty="0" err="1">
                <a:solidFill>
                  <a:srgbClr val="000000"/>
                </a:solidFill>
                <a:effectLst/>
              </a:rPr>
              <a:t>NaN</a:t>
            </a:r>
            <a:r>
              <a:rPr lang="en-GB" sz="1600" b="0" i="0" u="none" strike="noStrike" dirty="0">
                <a:solidFill>
                  <a:srgbClr val="000000"/>
                </a:solidFill>
                <a:effectLst/>
              </a:rPr>
              <a:t>".</a:t>
            </a:r>
          </a:p>
          <a:p>
            <a:pPr algn="l">
              <a:buFont typeface="+mj-lt"/>
              <a:buAutoNum type="arabicPeriod"/>
            </a:pPr>
            <a:r>
              <a:rPr lang="en-GB" sz="1600" b="1" i="0" u="none" strike="noStrike" dirty="0">
                <a:solidFill>
                  <a:srgbClr val="000000"/>
                </a:solidFill>
                <a:effectLst/>
              </a:rPr>
              <a:t>Large Weight Updates:</a:t>
            </a:r>
            <a:r>
              <a:rPr lang="en-GB" sz="1600" b="0" i="0" u="none" strike="noStrike" dirty="0">
                <a:solidFill>
                  <a:srgbClr val="000000"/>
                </a:solidFill>
                <a:effectLst/>
              </a:rPr>
              <a:t> Monitor the magnitude of weight updates during training. If you notice that the weights are changing drastically and rapidly, it suggests that the gradients are very large and causing these significant adjustments.</a:t>
            </a:r>
          </a:p>
          <a:p>
            <a:pPr algn="l">
              <a:buFont typeface="+mj-lt"/>
              <a:buAutoNum type="arabicPeriod"/>
            </a:pPr>
            <a:r>
              <a:rPr lang="en-GB" sz="1600" b="1" i="0" u="none" strike="noStrike" dirty="0">
                <a:solidFill>
                  <a:srgbClr val="000000"/>
                </a:solidFill>
                <a:effectLst/>
              </a:rPr>
              <a:t>Gradient Monitoring Tools (e.g., </a:t>
            </a:r>
            <a:r>
              <a:rPr lang="en-GB" sz="1600" b="1" i="0" u="none" strike="noStrike" dirty="0" err="1">
                <a:solidFill>
                  <a:srgbClr val="000000"/>
                </a:solidFill>
                <a:effectLst/>
              </a:rPr>
              <a:t>TensorBoard</a:t>
            </a:r>
            <a:r>
              <a:rPr lang="en-GB" sz="1600" b="1" i="0" u="none" strike="noStrike" dirty="0">
                <a:solidFill>
                  <a:srgbClr val="000000"/>
                </a:solidFill>
                <a:effectLst/>
              </a:rPr>
              <a:t>):</a:t>
            </a:r>
            <a:r>
              <a:rPr lang="en-GB" sz="1600" b="0" i="0" u="none" strike="noStrike" dirty="0">
                <a:solidFill>
                  <a:srgbClr val="000000"/>
                </a:solidFill>
                <a:effectLst/>
              </a:rPr>
              <a:t> Utilize visualization tools like </a:t>
            </a:r>
            <a:r>
              <a:rPr lang="en-GB" sz="1600" b="0" i="0" u="none" strike="noStrike" dirty="0" err="1">
                <a:solidFill>
                  <a:srgbClr val="000000"/>
                </a:solidFill>
                <a:effectLst/>
              </a:rPr>
              <a:t>TensorBoard</a:t>
            </a:r>
            <a:r>
              <a:rPr lang="en-GB" sz="1600" b="0" i="0" u="none" strike="noStrike" dirty="0">
                <a:solidFill>
                  <a:srgbClr val="000000"/>
                </a:solidFill>
                <a:effectLst/>
              </a:rPr>
              <a:t> to inspect the gradients flowing through different layers of the network. Abnormally large gradient values in certain layers are a direct indication of the exploding gradient problem.</a:t>
            </a:r>
          </a:p>
          <a:p>
            <a:pPr algn="l"/>
            <a:r>
              <a:rPr lang="en-GB" sz="1600" b="0" i="0" u="none" strike="noStrike" dirty="0">
                <a:solidFill>
                  <a:srgbClr val="000000"/>
                </a:solidFill>
                <a:effectLst/>
              </a:rPr>
              <a:t>In essence, look for signs of instability and excessively large values during the training process, both in the overall loss and within the network's internal parameters (weights and gradients).</a:t>
            </a:r>
          </a:p>
          <a:p>
            <a:pPr algn="l"/>
            <a:endParaRPr lang="en-GB" sz="1600" b="0" i="0" u="none" strike="noStrike" dirty="0">
              <a:solidFill>
                <a:srgbClr val="000000"/>
              </a:solidFill>
              <a:effectLst/>
            </a:endParaRP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385144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D18EB49-672D-BFC2-D34F-90A73832BCF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EA49ABB-2F99-634D-C6FF-17C1E163858C}"/>
              </a:ext>
            </a:extLst>
          </p:cNvPr>
          <p:cNvSpPr txBox="1">
            <a:spLocks noGrp="1"/>
          </p:cNvSpPr>
          <p:nvPr>
            <p:ph type="title"/>
          </p:nvPr>
        </p:nvSpPr>
        <p:spPr>
          <a:xfrm>
            <a:off x="153620" y="101206"/>
            <a:ext cx="7337146" cy="627900"/>
          </a:xfrm>
          <a:prstGeom prst="rect">
            <a:avLst/>
          </a:prstGeom>
          <a:noFill/>
          <a:ln>
            <a:noFill/>
          </a:ln>
        </p:spPr>
        <p:txBody>
          <a:bodyPr spcFirstLastPara="1" wrap="square" lIns="91425" tIns="91425" rIns="91425" bIns="91425" anchor="t" anchorCtr="0">
            <a:noAutofit/>
          </a:bodyPr>
          <a:lstStyle/>
          <a:p>
            <a:r>
              <a:rPr lang="en-GB" sz="2400" b="1" i="0" u="none" strike="noStrike" dirty="0">
                <a:solidFill>
                  <a:srgbClr val="7030A0"/>
                </a:solidFill>
                <a:effectLst/>
                <a:latin typeface="Nunito" pitchFamily="2" charset="77"/>
              </a:rPr>
              <a:t>How can we solve the issue?</a:t>
            </a:r>
            <a:br>
              <a:rPr lang="en-GB" sz="2400" b="1" i="0" u="none" strike="noStrike" dirty="0">
                <a:solidFill>
                  <a:srgbClr val="7030A0"/>
                </a:solidFill>
                <a:effectLst/>
                <a:latin typeface="Nunito" pitchFamily="2" charset="77"/>
              </a:rPr>
            </a:br>
            <a:br>
              <a:rPr lang="en-GB" sz="2400" b="0" i="0" u="none" strike="noStrike" dirty="0">
                <a:solidFill>
                  <a:srgbClr val="7030A0"/>
                </a:solidFill>
                <a:effectLst/>
              </a:rPr>
            </a:br>
            <a:br>
              <a:rPr lang="en-GB" sz="2400" b="0" i="0" u="none" strike="noStrike" dirty="0">
                <a:solidFill>
                  <a:srgbClr val="7030A0"/>
                </a:solidFill>
                <a:effectLst/>
              </a:rPr>
            </a:br>
            <a:br>
              <a:rPr lang="en-GB" sz="2400" i="0" u="none" strike="noStrike" dirty="0">
                <a:solidFill>
                  <a:srgbClr val="7030A0"/>
                </a:solidFill>
                <a:effectLst/>
                <a:latin typeface="inherit"/>
              </a:rPr>
            </a:br>
            <a:br>
              <a:rPr lang="en-GB" sz="2400" i="0" u="none" strike="noStrike" dirty="0">
                <a:solidFill>
                  <a:srgbClr val="7030A0"/>
                </a:solidFill>
                <a:effectLst/>
                <a:latin typeface="inherit"/>
              </a:rPr>
            </a:br>
            <a:br>
              <a:rPr lang="en-GB" sz="2400" i="0" u="none" strike="noStrike" dirty="0">
                <a:solidFill>
                  <a:srgbClr val="7030A0"/>
                </a:solidFill>
                <a:effectLst/>
                <a:latin typeface="inherit"/>
              </a:rPr>
            </a:br>
            <a:br>
              <a:rPr lang="en-GB" sz="2400" b="1" dirty="0">
                <a:solidFill>
                  <a:srgbClr val="7030A0"/>
                </a:solidFill>
              </a:rPr>
            </a:b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endParaRPr lang="en-GB" sz="24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E106C9C-A01E-9CB4-DF9F-96A36FA9D61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5550EFC0-1A6C-3818-5DCA-630D282A7BCA}"/>
              </a:ext>
            </a:extLst>
          </p:cNvPr>
          <p:cNvSpPr txBox="1"/>
          <p:nvPr/>
        </p:nvSpPr>
        <p:spPr>
          <a:xfrm>
            <a:off x="153619" y="802257"/>
            <a:ext cx="7761427" cy="4062651"/>
          </a:xfrm>
          <a:prstGeom prst="rect">
            <a:avLst/>
          </a:prstGeom>
          <a:noFill/>
        </p:spPr>
        <p:txBody>
          <a:bodyPr wrap="square">
            <a:spAutoFit/>
          </a:bodyPr>
          <a:lstStyle/>
          <a:p>
            <a:pPr marL="457200" indent="-457200" algn="l" fontAlgn="base">
              <a:spcAft>
                <a:spcPts val="1800"/>
              </a:spcAft>
              <a:buFont typeface="+mj-lt"/>
              <a:buAutoNum type="arabicPeriod"/>
            </a:pPr>
            <a:r>
              <a:rPr lang="en-GB" sz="2000" b="1" i="0" u="none" strike="noStrike" dirty="0">
                <a:solidFill>
                  <a:srgbClr val="273239"/>
                </a:solidFill>
                <a:effectLst/>
                <a:latin typeface="Nunito" pitchFamily="2" charset="77"/>
              </a:rPr>
              <a:t>Gradient Clipping</a:t>
            </a:r>
            <a:r>
              <a:rPr lang="en-GB" sz="2000" b="0" i="0" u="none" strike="noStrike" dirty="0">
                <a:solidFill>
                  <a:srgbClr val="273239"/>
                </a:solidFill>
                <a:effectLst/>
                <a:latin typeface="Nunito" pitchFamily="2" charset="77"/>
              </a:rPr>
              <a:t>: It sets a maximum threshold for the magnitude of gradients during backpropagation. Any gradient exceeding the threshold is clipped to the threshold value, preventing it from growing unbounded.</a:t>
            </a:r>
          </a:p>
          <a:p>
            <a:pPr marL="457200" indent="-457200" algn="l" fontAlgn="base">
              <a:spcAft>
                <a:spcPts val="1800"/>
              </a:spcAft>
              <a:buFont typeface="+mj-lt"/>
              <a:buAutoNum type="arabicPeriod"/>
            </a:pPr>
            <a:r>
              <a:rPr lang="en-GB" sz="2000" b="1" i="0" u="none" strike="noStrike" dirty="0">
                <a:solidFill>
                  <a:srgbClr val="273239"/>
                </a:solidFill>
                <a:effectLst/>
                <a:latin typeface="Nunito" pitchFamily="2" charset="77"/>
              </a:rPr>
              <a:t>Batch Normalization:</a:t>
            </a:r>
            <a:r>
              <a:rPr lang="en-GB" sz="2000" b="0" i="0" u="none" strike="noStrike" dirty="0">
                <a:solidFill>
                  <a:srgbClr val="273239"/>
                </a:solidFill>
                <a:effectLst/>
                <a:latin typeface="Nunito" pitchFamily="2" charset="77"/>
              </a:rPr>
              <a:t> This technique normalizes the activations within each mini-batch, effectively scaling the gradients and reducing their variance. This helps prevent both vanishing and exploding gradients, improving stability and efficiency.</a:t>
            </a:r>
          </a:p>
          <a:p>
            <a:pPr algn="l"/>
            <a:endParaRPr lang="en-GB" sz="1600" b="0" i="0" u="none" strike="noStrike" dirty="0">
              <a:solidFill>
                <a:srgbClr val="000000"/>
              </a:solidFill>
              <a:effectLst/>
            </a:endParaRP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682067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E78B800-A10D-3948-656F-E769628630D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B9E54CE-B0A6-863D-EFE6-B5F903956AF5}"/>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Summary</a:t>
            </a:r>
            <a:br>
              <a:rPr lang="en-GB" sz="3200" b="1" dirty="0"/>
            </a:br>
            <a:br>
              <a:rPr lang="en-GB" sz="3200" b="1" dirty="0"/>
            </a:b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5B9258B-B0BF-8F6E-FB7E-2E1171FA34C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0FE29D0-23DE-1C4F-91B4-B43B086AB060}"/>
              </a:ext>
            </a:extLst>
          </p:cNvPr>
          <p:cNvSpPr txBox="1"/>
          <p:nvPr/>
        </p:nvSpPr>
        <p:spPr>
          <a:xfrm>
            <a:off x="230588" y="594695"/>
            <a:ext cx="8022866"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6" name="TextBox 5">
            <a:extLst>
              <a:ext uri="{FF2B5EF4-FFF2-40B4-BE49-F238E27FC236}">
                <a16:creationId xmlns:a16="http://schemas.microsoft.com/office/drawing/2014/main" id="{E04E2305-CE69-2F49-90E5-1A5826353F52}"/>
              </a:ext>
            </a:extLst>
          </p:cNvPr>
          <p:cNvSpPr txBox="1"/>
          <p:nvPr/>
        </p:nvSpPr>
        <p:spPr>
          <a:xfrm>
            <a:off x="396645" y="511618"/>
            <a:ext cx="7690751" cy="4401205"/>
          </a:xfrm>
          <a:prstGeom prst="rect">
            <a:avLst/>
          </a:prstGeom>
          <a:noFill/>
        </p:spPr>
        <p:txBody>
          <a:bodyPr wrap="square">
            <a:spAutoFit/>
          </a:bodyPr>
          <a:lstStyle/>
          <a:p>
            <a:pPr marL="342900" indent="-342900" algn="l">
              <a:buFont typeface="+mj-lt"/>
              <a:buAutoNum type="arabicPeriod"/>
            </a:pPr>
            <a:endParaRPr lang="en-GB" b="0" i="0" u="none" strike="noStrike" dirty="0">
              <a:solidFill>
                <a:srgbClr val="000000"/>
              </a:solidFill>
              <a:effectLst/>
            </a:endParaRPr>
          </a:p>
          <a:p>
            <a:pPr marL="342900" indent="-342900" algn="l">
              <a:buFont typeface="+mj-lt"/>
              <a:buAutoNum type="arabicPeriod"/>
            </a:pPr>
            <a:r>
              <a:rPr lang="en-GB" b="0" i="0" u="none" strike="noStrike" dirty="0">
                <a:solidFill>
                  <a:srgbClr val="000000"/>
                </a:solidFill>
                <a:effectLst/>
              </a:rPr>
              <a:t>Recurrent Neural Networks (RNNs) excel at processing sequential data by leveraging an internal memory state.</a:t>
            </a:r>
          </a:p>
          <a:p>
            <a:pPr marL="342900" indent="-342900" algn="l">
              <a:buFont typeface="+mj-lt"/>
              <a:buAutoNum type="arabicPeriod"/>
            </a:pPr>
            <a:r>
              <a:rPr lang="en-GB" b="0" i="0" u="none" strike="noStrike" dirty="0">
                <a:solidFill>
                  <a:srgbClr val="000000"/>
                </a:solidFill>
                <a:effectLst/>
              </a:rPr>
              <a:t>A key challenge in training RNNs is the vanishing gradient problem, where gradients shrink exponentially during backpropagation, hindering the learning of long-term dependencies.</a:t>
            </a:r>
          </a:p>
          <a:p>
            <a:pPr marL="342900" indent="-342900" algn="l">
              <a:buFont typeface="+mj-lt"/>
              <a:buAutoNum type="arabicPeriod"/>
            </a:pPr>
            <a:r>
              <a:rPr lang="en-GB" b="0" i="0" u="none" strike="noStrike" dirty="0">
                <a:solidFill>
                  <a:srgbClr val="000000"/>
                </a:solidFill>
                <a:effectLst/>
              </a:rPr>
              <a:t>The exploding gradient problem, conversely, involves gradients growing uncontrollably large, leading to unstable training.</a:t>
            </a:r>
          </a:p>
          <a:p>
            <a:pPr marL="342900" indent="-342900" algn="l">
              <a:buFont typeface="+mj-lt"/>
              <a:buAutoNum type="arabicPeriod"/>
            </a:pPr>
            <a:r>
              <a:rPr lang="en-GB" b="0" i="0" u="none" strike="noStrike" dirty="0">
                <a:solidFill>
                  <a:srgbClr val="000000"/>
                </a:solidFill>
                <a:effectLst/>
              </a:rPr>
              <a:t>Vanishing gradients arise from repeated multiplication of small gradients through time, especially with saturating activation functions.</a:t>
            </a:r>
          </a:p>
          <a:p>
            <a:pPr marL="342900" indent="-342900" algn="l">
              <a:buFont typeface="+mj-lt"/>
              <a:buAutoNum type="arabicPeriod"/>
            </a:pPr>
            <a:r>
              <a:rPr lang="en-GB" b="0" i="0" u="none" strike="noStrike" dirty="0">
                <a:solidFill>
                  <a:srgbClr val="000000"/>
                </a:solidFill>
                <a:effectLst/>
              </a:rPr>
              <a:t>Exploding gradients occur due to repeated multiplication of large gradients, often exacerbated by large weight values.</a:t>
            </a:r>
          </a:p>
          <a:p>
            <a:pPr marL="342900" indent="-342900" algn="l">
              <a:buFont typeface="+mj-lt"/>
              <a:buAutoNum type="arabicPeriod"/>
            </a:pPr>
            <a:r>
              <a:rPr lang="en-GB" b="0" i="0" u="none" strike="noStrike" dirty="0">
                <a:solidFill>
                  <a:srgbClr val="000000"/>
                </a:solidFill>
                <a:effectLst/>
              </a:rPr>
              <a:t>Long Short-Term Memory (LSTM) and Gated Recurrent Units (GRUs) are advanced RNN architectures designed to mitigate the vanishing gradient problem through gating mechanisms.</a:t>
            </a:r>
          </a:p>
          <a:p>
            <a:pPr marL="342900" indent="-342900" algn="l">
              <a:buFont typeface="+mj-lt"/>
              <a:buAutoNum type="arabicPeriod"/>
            </a:pPr>
            <a:r>
              <a:rPr lang="en-GB" b="0" i="0" u="none" strike="noStrike" dirty="0">
                <a:solidFill>
                  <a:srgbClr val="000000"/>
                </a:solidFill>
                <a:effectLst/>
              </a:rPr>
              <a:t>Techniques like </a:t>
            </a:r>
            <a:r>
              <a:rPr lang="en-GB" b="0" i="0" u="none" strike="noStrike" dirty="0" err="1">
                <a:solidFill>
                  <a:srgbClr val="000000"/>
                </a:solidFill>
                <a:effectLst/>
              </a:rPr>
              <a:t>ReLU</a:t>
            </a:r>
            <a:r>
              <a:rPr lang="en-GB" b="0" i="0" u="none" strike="noStrike" dirty="0">
                <a:solidFill>
                  <a:srgbClr val="000000"/>
                </a:solidFill>
                <a:effectLst/>
              </a:rPr>
              <a:t> activation, skip connections, weight initialization, and batch normalization also help address vanishing gradients.</a:t>
            </a:r>
          </a:p>
          <a:p>
            <a:pPr marL="342900" indent="-342900" algn="l">
              <a:buFont typeface="+mj-lt"/>
              <a:buAutoNum type="arabicPeriod"/>
            </a:pPr>
            <a:r>
              <a:rPr lang="en-GB" b="0" i="0" u="none" strike="noStrike" dirty="0">
                <a:solidFill>
                  <a:srgbClr val="000000"/>
                </a:solidFill>
                <a:effectLst/>
              </a:rPr>
              <a:t>Gradient clipping and weight regularization are common strategies to combat exploding gradients by limiting gradient size and penalizing large weights.</a:t>
            </a:r>
          </a:p>
          <a:p>
            <a:pPr marL="342900" indent="-342900" algn="l">
              <a:buFont typeface="+mj-lt"/>
              <a:buAutoNum type="arabicPeriod"/>
            </a:pPr>
            <a:r>
              <a:rPr lang="en-GB" b="0" i="0" u="none" strike="noStrike" dirty="0">
                <a:solidFill>
                  <a:srgbClr val="000000"/>
                </a:solidFill>
                <a:effectLst/>
              </a:rPr>
              <a:t>Addressing vanishing and exploding gradients is crucial for effectively training deep RNNs and enabling them to learn long-range patterns in sequential data.</a:t>
            </a:r>
          </a:p>
        </p:txBody>
      </p:sp>
    </p:spTree>
    <p:extLst>
      <p:ext uri="{BB962C8B-B14F-4D97-AF65-F5344CB8AC3E}">
        <p14:creationId xmlns:p14="http://schemas.microsoft.com/office/powerpoint/2010/main" val="1952744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182139" y="1334239"/>
            <a:ext cx="4649490" cy="1631216"/>
          </a:xfrm>
          <a:prstGeom prst="rect">
            <a:avLst/>
          </a:prstGeom>
          <a:noFill/>
        </p:spPr>
        <p:txBody>
          <a:bodyPr wrap="square">
            <a:spAutoFit/>
          </a:bodyPr>
          <a:lstStyle/>
          <a:p>
            <a:pPr algn="ctr"/>
            <a:r>
              <a:rPr lang="en-GB" sz="2000" dirty="0">
                <a:hlinkClick r:id="rId4"/>
              </a:rPr>
              <a:t>Click Here For The Implementation on Google Colab</a:t>
            </a:r>
            <a:endParaRPr lang="en-GB" sz="2000" dirty="0"/>
          </a:p>
          <a:p>
            <a:pPr algn="ctr"/>
            <a:r>
              <a:rPr lang="en-GB" sz="2000" dirty="0"/>
              <a:t>https://</a:t>
            </a:r>
            <a:r>
              <a:rPr lang="en-GB" sz="2000" dirty="0" err="1"/>
              <a:t>drive.google.com</a:t>
            </a:r>
            <a:r>
              <a:rPr lang="en-GB" sz="2000" dirty="0"/>
              <a:t>/file/d/1PFRcwMSE9jDkYlX5PVytRvHLOLLQpylV/</a:t>
            </a:r>
            <a:r>
              <a:rPr lang="en-GB" sz="2000" dirty="0" err="1"/>
              <a:t>view?usp</a:t>
            </a:r>
            <a:r>
              <a:rPr lang="en-GB" sz="2000" dirty="0"/>
              <a:t>=</a:t>
            </a:r>
            <a:r>
              <a:rPr lang="en-GB" sz="2000" dirty="0" err="1"/>
              <a:t>share_link</a:t>
            </a:r>
            <a:endParaRPr lang="en-GB" sz="2000" dirty="0"/>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572000" y="1890944"/>
            <a:ext cx="4311517" cy="287118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3670236"/>
          </a:xfrm>
          <a:prstGeom prst="rect">
            <a:avLst/>
          </a:prstGeom>
          <a:noFill/>
        </p:spPr>
        <p:txBody>
          <a:bodyPr wrap="square">
            <a:spAutoFit/>
          </a:bodyPr>
          <a:lstStyle/>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Deep Learning for Computer Vision (</a:t>
            </a:r>
            <a:r>
              <a:rPr lang="en-GB" sz="2000" b="0" i="0" u="none" strike="noStrike" dirty="0" err="1">
                <a:solidFill>
                  <a:srgbClr val="404040"/>
                </a:solidFill>
                <a:effectLst/>
                <a:latin typeface="Inter" panose="02000503000000020004" pitchFamily="2" charset="0"/>
              </a:rPr>
              <a:t>Rajalingappaa</a:t>
            </a:r>
            <a:r>
              <a:rPr lang="en-GB" sz="2000" b="0" i="0" u="none" strike="noStrike" dirty="0">
                <a:solidFill>
                  <a:srgbClr val="404040"/>
                </a:solidFill>
                <a:effectLst/>
                <a:latin typeface="Inter" panose="02000503000000020004" pitchFamily="2" charset="0"/>
              </a:rPr>
              <a:t> Shanmugamani)</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hlinkClick r:id="rId4"/>
              </a:rPr>
              <a:t>https://www.geeksforgeeks.org/difference-between-feed-forward-neural-networks-and-recurrent-neural-networks/</a:t>
            </a:r>
            <a:endParaRPr lang="en-GB" sz="2000" b="0" i="0" u="none" strike="noStrike" dirty="0">
              <a:solidFill>
                <a:srgbClr val="404040"/>
              </a:solidFill>
              <a:effectLst/>
              <a:latin typeface="Inter" panose="02000503000000020004" pitchFamily="2" charset="0"/>
            </a:endParaRP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Goodfellow, I., Bengio, Y., &amp; Courville, A. (2016). Deep Learning. MIT Press.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Chollet, F. (2017). Deep Learning with Python. Manning Publications.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Hochreiter, S., &amp; </a:t>
            </a:r>
            <a:r>
              <a:rPr lang="en-GB" sz="2000" b="0" i="0" u="none" strike="noStrike" dirty="0" err="1">
                <a:solidFill>
                  <a:srgbClr val="404040"/>
                </a:solidFill>
                <a:effectLst/>
                <a:latin typeface="Inter" panose="02000503000000020004" pitchFamily="2" charset="0"/>
              </a:rPr>
              <a:t>Schmidhuber</a:t>
            </a:r>
            <a:r>
              <a:rPr lang="en-GB" sz="2000" b="0" i="0" u="none" strike="noStrike" dirty="0">
                <a:solidFill>
                  <a:srgbClr val="404040"/>
                </a:solidFill>
                <a:effectLst/>
                <a:latin typeface="Inter" panose="02000503000000020004" pitchFamily="2" charset="0"/>
              </a:rPr>
              <a:t>, J. (1997). Long Short-Term Memory. Neural Computation.</a:t>
            </a:r>
          </a:p>
        </p:txBody>
      </p:sp>
    </p:spTree>
    <p:extLst>
      <p:ext uri="{BB962C8B-B14F-4D97-AF65-F5344CB8AC3E}">
        <p14:creationId xmlns:p14="http://schemas.microsoft.com/office/powerpoint/2010/main" val="374039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16007</TotalTime>
  <Words>3506</Words>
  <Application>Microsoft Macintosh PowerPoint</Application>
  <PresentationFormat>On-screen Show (16:9)</PresentationFormat>
  <Paragraphs>234</Paragraphs>
  <Slides>29</Slides>
  <Notes>29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29</vt:i4>
      </vt:variant>
    </vt:vector>
  </HeadingPairs>
  <TitlesOfParts>
    <vt:vector size="41" baseType="lpstr">
      <vt:lpstr>IBM Plex Sans Arabic SemiBold</vt:lpstr>
      <vt:lpstr>Arial</vt:lpstr>
      <vt:lpstr>IBM Plex Sans Arabic</vt:lpstr>
      <vt:lpstr>Times New Roman</vt:lpstr>
      <vt:lpstr>IBM Plex Sans Arabic Medium</vt:lpstr>
      <vt:lpstr>Calibri</vt:lpstr>
      <vt:lpstr>Inter</vt:lpstr>
      <vt:lpstr>Wingdings</vt:lpstr>
      <vt:lpstr>inherit</vt:lpstr>
      <vt:lpstr>Tajawal</vt:lpstr>
      <vt:lpstr>Nunito</vt:lpstr>
      <vt:lpstr>Simple Light</vt:lpstr>
      <vt:lpstr>أكـــــاديميــــة طــــويـــق</vt:lpstr>
      <vt:lpstr>Recurrent Neural Network    </vt:lpstr>
      <vt:lpstr>PowerPoint Presentation</vt:lpstr>
      <vt:lpstr>Recurrent Neural Network (RNN)     </vt:lpstr>
      <vt:lpstr>Recurrent Neural Networks (RNNs) for sequential data     </vt:lpstr>
      <vt:lpstr>Recurrent Neural Network (RNN)     </vt:lpstr>
      <vt:lpstr>How Recurrent Neural Network (RNN) Works      </vt:lpstr>
      <vt:lpstr>How Recurrent Neural Network (RNN) Works      </vt:lpstr>
      <vt:lpstr>How Recurrent Neural Network (RNN) Works      </vt:lpstr>
      <vt:lpstr>Common Activation Functions:    </vt:lpstr>
      <vt:lpstr>Purpose of Activation Functions:    </vt:lpstr>
      <vt:lpstr>Types of RNNs      </vt:lpstr>
      <vt:lpstr>Types of RNNs      </vt:lpstr>
      <vt:lpstr>Variants of RNNs      </vt:lpstr>
      <vt:lpstr>Variants of RNNs      </vt:lpstr>
      <vt:lpstr>Variants of RNNs      </vt:lpstr>
      <vt:lpstr>Limitations of RNN       </vt:lpstr>
      <vt:lpstr>Vanishing Gradient Problem:        </vt:lpstr>
      <vt:lpstr>Vanishing Gradient Problem:        </vt:lpstr>
      <vt:lpstr>How to Identify the Vanishing Gradient Problem:        </vt:lpstr>
      <vt:lpstr>How to Address the Vanishing Gradient Problem:        </vt:lpstr>
      <vt:lpstr>Exploding Gradient Problem         </vt:lpstr>
      <vt:lpstr>How to Identify the Exploding Gradient Problem:          </vt:lpstr>
      <vt:lpstr>How can we solve the issue?           </vt:lpstr>
      <vt:lpstr>Summary        </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44</cp:revision>
  <dcterms:modified xsi:type="dcterms:W3CDTF">2025-05-13T16:01:58Z</dcterms:modified>
</cp:coreProperties>
</file>