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257" r:id="rId3"/>
    <p:sldId id="258" r:id="rId4"/>
    <p:sldId id="298" r:id="rId5"/>
    <p:sldId id="341" r:id="rId6"/>
    <p:sldId id="342" r:id="rId7"/>
    <p:sldId id="371" r:id="rId8"/>
    <p:sldId id="313" r:id="rId9"/>
    <p:sldId id="372" r:id="rId10"/>
    <p:sldId id="373" r:id="rId11"/>
    <p:sldId id="374" r:id="rId12"/>
    <p:sldId id="375" r:id="rId13"/>
    <p:sldId id="376" r:id="rId14"/>
    <p:sldId id="377" r:id="rId15"/>
    <p:sldId id="378" r:id="rId16"/>
    <p:sldId id="379" r:id="rId17"/>
    <p:sldId id="380" r:id="rId18"/>
    <p:sldId id="384" r:id="rId19"/>
    <p:sldId id="385" r:id="rId20"/>
    <p:sldId id="387" r:id="rId21"/>
    <p:sldId id="388" r:id="rId22"/>
    <p:sldId id="389" r:id="rId23"/>
    <p:sldId id="390" r:id="rId24"/>
    <p:sldId id="262" r:id="rId25"/>
    <p:sldId id="370" r:id="rId26"/>
    <p:sldId id="312" r:id="rId27"/>
    <p:sldId id="275" r:id="rId28"/>
    <p:sldId id="276" r:id="rId29"/>
  </p:sldIdLst>
  <p:sldSz cx="9144000" cy="5143500" type="screen16x9"/>
  <p:notesSz cx="6858000" cy="9144000"/>
  <p:embeddedFontLst>
    <p:embeddedFont>
      <p:font typeface="IBM Plex Sans Arabic" panose="020B0603050203000203" pitchFamily="34" charset="-78"/>
      <p:regular r:id="rId31"/>
      <p:bold r:id="rId32"/>
    </p:embeddedFont>
    <p:embeddedFont>
      <p:font typeface="IBM Plex Sans Arabic Medium" panose="020B0603050203000203" pitchFamily="34" charset="-78"/>
      <p:regular r:id="rId33"/>
      <p:bold r:id="rId34"/>
    </p:embeddedFont>
    <p:embeddedFont>
      <p:font typeface="IBM Plex Sans Arabic SemiBold" panose="020B0603050203000203" pitchFamily="34" charset="-78"/>
      <p:regular r:id="rId35"/>
      <p:bold r:id="rId36"/>
    </p:embeddedFont>
    <p:embeddedFont>
      <p:font typeface="Inter" panose="020F0502020204030204" pitchFamily="34" charset="0"/>
      <p:regular r:id="rId37"/>
      <p:bold r:id="rId38"/>
      <p:italic r:id="rId39"/>
      <p:boldItalic r:id="rId40"/>
    </p:embeddedFont>
    <p:embeddedFont>
      <p:font typeface="Tajawal" pitchFamily="2" charset="-78"/>
      <p:regular r:id="rId41"/>
      <p:bold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24">
          <p15:clr>
            <a:srgbClr val="747775"/>
          </p15:clr>
        </p15:guide>
        <p15:guide id="2" orient="horz" pos="2560">
          <p15:clr>
            <a:srgbClr val="747775"/>
          </p15:clr>
        </p15:guide>
        <p15:guide id="3" pos="2880">
          <p15:clr>
            <a:srgbClr val="747775"/>
          </p15:clr>
        </p15:guide>
        <p15:guide id="4" orient="horz" pos="759">
          <p15:clr>
            <a:srgbClr val="747775"/>
          </p15:clr>
        </p15:guide>
        <p15:guide id="5" orient="horz" pos="2428">
          <p15:clr>
            <a:srgbClr val="747775"/>
          </p15:clr>
        </p15:guide>
        <p15:guide id="6" pos="5325">
          <p15:clr>
            <a:srgbClr val="747775"/>
          </p15:clr>
        </p15:guide>
        <p15:guide id="7" orient="horz" pos="96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gKcFO/Xev719AjEfE5iQO6xfjKK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41E1F5B-7058-4A9B-AF8C-0847D0C7EE07}">
  <a:tblStyle styleId="{541E1F5B-7058-4A9B-AF8C-0847D0C7EE07}"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786"/>
    <p:restoredTop sz="94650"/>
  </p:normalViewPr>
  <p:slideViewPr>
    <p:cSldViewPr snapToGrid="0">
      <p:cViewPr varScale="1">
        <p:scale>
          <a:sx n="210" d="100"/>
          <a:sy n="210" d="100"/>
        </p:scale>
        <p:origin x="184" y="176"/>
      </p:cViewPr>
      <p:guideLst>
        <p:guide orient="horz" pos="524"/>
        <p:guide orient="horz" pos="2560"/>
        <p:guide pos="2880"/>
        <p:guide orient="horz" pos="759"/>
        <p:guide orient="horz" pos="2428"/>
        <p:guide pos="5325"/>
        <p:guide orient="horz" pos="9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 name="Google Shape;4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CE20816-1F24-46D9-89DD-6FFEE700F24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07CD495B-FC5A-F226-2523-6E0861CBC8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6B7203EE-8E11-9321-099D-0620FB1838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98175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D5FB054-4041-FBDF-BF84-251B64D8859A}"/>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F12C8CFC-FED1-4861-96BC-9B9E926244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4EF8BB73-E37B-AA29-4439-2D2E858DFB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03172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FDE4E313-3CCA-BCBE-51C4-BAFAE4C27C20}"/>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E46A6ECD-162F-E038-E304-9E56E70C5DB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945A551F-ADAC-7961-F338-E44C6D0E809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169007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36DBD8EB-3357-7908-9050-8098B2EE19C0}"/>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F5452C9C-BC94-8BBA-F37D-072FA358B94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B24C3C90-F5C9-F51F-2799-76661DBAA8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92636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F952F22A-B522-3F7F-EB7F-9FA66A6CBF33}"/>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3AB2B379-32B8-A8BF-C5B5-FEED64C71A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0968CF6E-7557-32C7-5F5B-890A408C4D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886247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427A9AE2-7C1B-16B3-EC64-9903BE95759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E27EAE3A-1C7C-91F7-3A11-D67EB9F6BB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1DF1E1A3-9E16-757A-FBA5-369F614066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57530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D0729277-97CA-880B-8EBF-8BC43531117C}"/>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EF9115AA-EC23-2963-28F8-9B9A63ACAFC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E1090493-A860-BEBE-ED49-8F6807C848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42552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66F3EE32-BE37-F263-ABD0-F2B628F6861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8521BDBC-6CA9-90ED-D9D3-6AE5F7F1BA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805B4C58-4AA7-D891-F023-40FF1E0A7F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98871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0A9FA99-0EE9-EF0A-4986-DDD5B1099D88}"/>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DF0815A4-8FF0-E82A-D07E-7B02C2F14E1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6956C711-42D7-3F17-2AEA-97A18D4030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02451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AF4BEE4B-658C-DA76-AB41-25D583D048EB}"/>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1942001C-A4BF-B878-0888-8B96A2965B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F423461D-6AB4-5943-82DE-5AAF9AD28F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21135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F8C3C124-3070-E862-7407-39E9D22A4014}"/>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4703775D-D43B-962A-F96F-31AA1139E9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B6E8B421-0A97-A97F-CA71-3CBFA8F840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186634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0883EDD-6801-8616-234F-365876B1353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54FFC858-3934-57A4-0706-6987852E9D5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9676DBBF-F978-A3D6-9A01-CED13EBB58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362701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AB09AA82-ABEC-D098-8100-724ED8FAC894}"/>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5BDE27A5-46CA-DB78-E87C-DD2F228104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1E5DB14E-2116-1198-14A1-EC4DFD53AC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49229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6BA37C38-C2D5-D51F-FB88-01E5E4366D3E}"/>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B76447D6-DD6D-61FE-99D5-66B39C7A98A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F54DB2EC-5D0F-4DCC-4C7B-FB02919683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27494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3BECD89B-AAA3-F8FE-DFBC-CC79A9A4E0AF}"/>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F508F7A9-5506-B123-0264-14DD3EE902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CCD177CE-FC44-74CB-378D-8296859D59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02857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10"/>
        <p:cNvGrpSpPr/>
        <p:nvPr/>
      </p:nvGrpSpPr>
      <p:grpSpPr>
        <a:xfrm>
          <a:off x="0" y="0"/>
          <a:ext cx="0" cy="0"/>
          <a:chOff x="0" y="0"/>
          <a:chExt cx="0" cy="0"/>
        </a:xfrm>
      </p:grpSpPr>
      <p:sp>
        <p:nvSpPr>
          <p:cNvPr id="11" name="Google Shape;11;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12000"/>
              <a:buNone/>
              <a:defRPr sz="12000"/>
            </a:lvl1pPr>
            <a:lvl2pPr lvl="1" algn="ctr" rtl="1">
              <a:lnSpc>
                <a:spcPct val="100000"/>
              </a:lnSpc>
              <a:spcBef>
                <a:spcPts val="0"/>
              </a:spcBef>
              <a:spcAft>
                <a:spcPts val="0"/>
              </a:spcAft>
              <a:buSzPts val="12000"/>
              <a:buNone/>
              <a:defRPr sz="12000"/>
            </a:lvl2pPr>
            <a:lvl3pPr lvl="2" algn="ctr" rtl="1">
              <a:lnSpc>
                <a:spcPct val="100000"/>
              </a:lnSpc>
              <a:spcBef>
                <a:spcPts val="0"/>
              </a:spcBef>
              <a:spcAft>
                <a:spcPts val="0"/>
              </a:spcAft>
              <a:buSzPts val="12000"/>
              <a:buNone/>
              <a:defRPr sz="12000"/>
            </a:lvl3pPr>
            <a:lvl4pPr lvl="3" algn="ctr" rtl="1">
              <a:lnSpc>
                <a:spcPct val="100000"/>
              </a:lnSpc>
              <a:spcBef>
                <a:spcPts val="0"/>
              </a:spcBef>
              <a:spcAft>
                <a:spcPts val="0"/>
              </a:spcAft>
              <a:buSzPts val="12000"/>
              <a:buNone/>
              <a:defRPr sz="12000"/>
            </a:lvl4pPr>
            <a:lvl5pPr lvl="4" algn="ctr" rtl="1">
              <a:lnSpc>
                <a:spcPct val="100000"/>
              </a:lnSpc>
              <a:spcBef>
                <a:spcPts val="0"/>
              </a:spcBef>
              <a:spcAft>
                <a:spcPts val="0"/>
              </a:spcAft>
              <a:buSzPts val="12000"/>
              <a:buNone/>
              <a:defRPr sz="12000"/>
            </a:lvl5pPr>
            <a:lvl6pPr lvl="5" algn="ctr" rtl="1">
              <a:lnSpc>
                <a:spcPct val="100000"/>
              </a:lnSpc>
              <a:spcBef>
                <a:spcPts val="0"/>
              </a:spcBef>
              <a:spcAft>
                <a:spcPts val="0"/>
              </a:spcAft>
              <a:buSzPts val="12000"/>
              <a:buNone/>
              <a:defRPr sz="12000"/>
            </a:lvl6pPr>
            <a:lvl7pPr lvl="6" algn="ctr" rtl="1">
              <a:lnSpc>
                <a:spcPct val="100000"/>
              </a:lnSpc>
              <a:spcBef>
                <a:spcPts val="0"/>
              </a:spcBef>
              <a:spcAft>
                <a:spcPts val="0"/>
              </a:spcAft>
              <a:buSzPts val="12000"/>
              <a:buNone/>
              <a:defRPr sz="12000"/>
            </a:lvl7pPr>
            <a:lvl8pPr lvl="7" algn="ctr" rtl="1">
              <a:lnSpc>
                <a:spcPct val="100000"/>
              </a:lnSpc>
              <a:spcBef>
                <a:spcPts val="0"/>
              </a:spcBef>
              <a:spcAft>
                <a:spcPts val="0"/>
              </a:spcAft>
              <a:buSzPts val="12000"/>
              <a:buNone/>
              <a:defRPr sz="12000"/>
            </a:lvl8pPr>
            <a:lvl9pPr lvl="8" algn="ctr" rtl="1">
              <a:lnSpc>
                <a:spcPct val="100000"/>
              </a:lnSpc>
              <a:spcBef>
                <a:spcPts val="0"/>
              </a:spcBef>
              <a:spcAft>
                <a:spcPts val="0"/>
              </a:spcAft>
              <a:buSzPts val="12000"/>
              <a:buNone/>
              <a:defRPr sz="12000"/>
            </a:lvl9pPr>
          </a:lstStyle>
          <a:p>
            <a:r>
              <a:t>xx%</a:t>
            </a:r>
          </a:p>
        </p:txBody>
      </p:sp>
      <p:pic>
        <p:nvPicPr>
          <p:cNvPr id="12" name="Google Shape;12;p23"/>
          <p:cNvPicPr preferRelativeResize="0"/>
          <p:nvPr/>
        </p:nvPicPr>
        <p:blipFill rotWithShape="1">
          <a:blip r:embed="rId3">
            <a:alphaModFix/>
          </a:blip>
          <a:srcRect/>
          <a:stretch/>
        </p:blipFill>
        <p:spPr>
          <a:xfrm>
            <a:off x="7527371" y="317427"/>
            <a:ext cx="1356656" cy="2658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300"/>
              <a:buFont typeface="Tajawal"/>
              <a:buNone/>
              <a:defRPr sz="4300" b="1">
                <a:latin typeface="Tajawal"/>
                <a:ea typeface="Tajawal"/>
                <a:cs typeface="Tajawal"/>
                <a:sym typeface="Tajawal"/>
              </a:defRPr>
            </a:lvl1pPr>
            <a:lvl2pPr lvl="1" algn="ctr" rtl="1">
              <a:lnSpc>
                <a:spcPct val="100000"/>
              </a:lnSpc>
              <a:spcBef>
                <a:spcPts val="0"/>
              </a:spcBef>
              <a:spcAft>
                <a:spcPts val="0"/>
              </a:spcAft>
              <a:buSzPts val="4900"/>
              <a:buFont typeface="Tajawal"/>
              <a:buNone/>
              <a:defRPr sz="4900">
                <a:latin typeface="Tajawal"/>
                <a:ea typeface="Tajawal"/>
                <a:cs typeface="Tajawal"/>
                <a:sym typeface="Tajawal"/>
              </a:defRPr>
            </a:lvl2pPr>
            <a:lvl3pPr lvl="2" algn="ctr" rtl="1">
              <a:lnSpc>
                <a:spcPct val="100000"/>
              </a:lnSpc>
              <a:spcBef>
                <a:spcPts val="0"/>
              </a:spcBef>
              <a:spcAft>
                <a:spcPts val="0"/>
              </a:spcAft>
              <a:buSzPts val="4900"/>
              <a:buFont typeface="Tajawal"/>
              <a:buNone/>
              <a:defRPr sz="4900">
                <a:latin typeface="Tajawal"/>
                <a:ea typeface="Tajawal"/>
                <a:cs typeface="Tajawal"/>
                <a:sym typeface="Tajawal"/>
              </a:defRPr>
            </a:lvl3pPr>
            <a:lvl4pPr lvl="3" algn="ctr" rtl="1">
              <a:lnSpc>
                <a:spcPct val="100000"/>
              </a:lnSpc>
              <a:spcBef>
                <a:spcPts val="0"/>
              </a:spcBef>
              <a:spcAft>
                <a:spcPts val="0"/>
              </a:spcAft>
              <a:buSzPts val="4900"/>
              <a:buFont typeface="Tajawal"/>
              <a:buNone/>
              <a:defRPr sz="4900">
                <a:latin typeface="Tajawal"/>
                <a:ea typeface="Tajawal"/>
                <a:cs typeface="Tajawal"/>
                <a:sym typeface="Tajawal"/>
              </a:defRPr>
            </a:lvl4pPr>
            <a:lvl5pPr lvl="4" algn="ctr" rtl="1">
              <a:lnSpc>
                <a:spcPct val="100000"/>
              </a:lnSpc>
              <a:spcBef>
                <a:spcPts val="0"/>
              </a:spcBef>
              <a:spcAft>
                <a:spcPts val="0"/>
              </a:spcAft>
              <a:buSzPts val="4900"/>
              <a:buFont typeface="Tajawal"/>
              <a:buNone/>
              <a:defRPr sz="4900">
                <a:latin typeface="Tajawal"/>
                <a:ea typeface="Tajawal"/>
                <a:cs typeface="Tajawal"/>
                <a:sym typeface="Tajawal"/>
              </a:defRPr>
            </a:lvl5pPr>
            <a:lvl6pPr lvl="5" algn="ctr" rtl="1">
              <a:lnSpc>
                <a:spcPct val="100000"/>
              </a:lnSpc>
              <a:spcBef>
                <a:spcPts val="0"/>
              </a:spcBef>
              <a:spcAft>
                <a:spcPts val="0"/>
              </a:spcAft>
              <a:buSzPts val="4900"/>
              <a:buFont typeface="Tajawal"/>
              <a:buNone/>
              <a:defRPr sz="4900">
                <a:latin typeface="Tajawal"/>
                <a:ea typeface="Tajawal"/>
                <a:cs typeface="Tajawal"/>
                <a:sym typeface="Tajawal"/>
              </a:defRPr>
            </a:lvl6pPr>
            <a:lvl7pPr lvl="6" algn="ctr" rtl="1">
              <a:lnSpc>
                <a:spcPct val="100000"/>
              </a:lnSpc>
              <a:spcBef>
                <a:spcPts val="0"/>
              </a:spcBef>
              <a:spcAft>
                <a:spcPts val="0"/>
              </a:spcAft>
              <a:buSzPts val="4900"/>
              <a:buFont typeface="Tajawal"/>
              <a:buNone/>
              <a:defRPr sz="4900">
                <a:latin typeface="Tajawal"/>
                <a:ea typeface="Tajawal"/>
                <a:cs typeface="Tajawal"/>
                <a:sym typeface="Tajawal"/>
              </a:defRPr>
            </a:lvl7pPr>
            <a:lvl8pPr lvl="7" algn="ctr" rtl="1">
              <a:lnSpc>
                <a:spcPct val="100000"/>
              </a:lnSpc>
              <a:spcBef>
                <a:spcPts val="0"/>
              </a:spcBef>
              <a:spcAft>
                <a:spcPts val="0"/>
              </a:spcAft>
              <a:buSzPts val="4900"/>
              <a:buFont typeface="Tajawal"/>
              <a:buNone/>
              <a:defRPr sz="4900">
                <a:latin typeface="Tajawal"/>
                <a:ea typeface="Tajawal"/>
                <a:cs typeface="Tajawal"/>
                <a:sym typeface="Tajawal"/>
              </a:defRPr>
            </a:lvl8pPr>
            <a:lvl9pPr lvl="8" algn="ctr" rtl="1">
              <a:lnSpc>
                <a:spcPct val="100000"/>
              </a:lnSpc>
              <a:spcBef>
                <a:spcPts val="0"/>
              </a:spcBef>
              <a:spcAft>
                <a:spcPts val="0"/>
              </a:spcAft>
              <a:buSzPts val="4900"/>
              <a:buFont typeface="Tajawal"/>
              <a:buNone/>
              <a:defRPr sz="4900">
                <a:latin typeface="Tajawal"/>
                <a:ea typeface="Tajawal"/>
                <a:cs typeface="Tajawal"/>
                <a:sym typeface="Tajawal"/>
              </a:defRPr>
            </a:lvl9pPr>
          </a:lstStyle>
          <a:p>
            <a:endParaRPr/>
          </a:p>
        </p:txBody>
      </p:sp>
      <p:sp>
        <p:nvSpPr>
          <p:cNvPr id="15" name="Google Shape;15;p2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500"/>
              <a:buFont typeface="Tajawal"/>
              <a:buNone/>
              <a:defRPr sz="2500">
                <a:latin typeface="Tajawal"/>
                <a:ea typeface="Tajawal"/>
                <a:cs typeface="Tajawal"/>
                <a:sym typeface="Tajawal"/>
              </a:defRPr>
            </a:lvl1pPr>
            <a:lvl2pPr lvl="1" algn="ctr" rtl="1">
              <a:lnSpc>
                <a:spcPct val="100000"/>
              </a:lnSpc>
              <a:spcBef>
                <a:spcPts val="0"/>
              </a:spcBef>
              <a:spcAft>
                <a:spcPts val="0"/>
              </a:spcAft>
              <a:buSzPts val="2500"/>
              <a:buFont typeface="Tajawal"/>
              <a:buNone/>
              <a:defRPr sz="2500">
                <a:latin typeface="Tajawal"/>
                <a:ea typeface="Tajawal"/>
                <a:cs typeface="Tajawal"/>
                <a:sym typeface="Tajawal"/>
              </a:defRPr>
            </a:lvl2pPr>
            <a:lvl3pPr lvl="2" algn="ctr" rtl="1">
              <a:lnSpc>
                <a:spcPct val="100000"/>
              </a:lnSpc>
              <a:spcBef>
                <a:spcPts val="0"/>
              </a:spcBef>
              <a:spcAft>
                <a:spcPts val="0"/>
              </a:spcAft>
              <a:buSzPts val="2500"/>
              <a:buFont typeface="Tajawal"/>
              <a:buNone/>
              <a:defRPr sz="2500">
                <a:latin typeface="Tajawal"/>
                <a:ea typeface="Tajawal"/>
                <a:cs typeface="Tajawal"/>
                <a:sym typeface="Tajawal"/>
              </a:defRPr>
            </a:lvl3pPr>
            <a:lvl4pPr lvl="3" algn="ctr" rtl="1">
              <a:lnSpc>
                <a:spcPct val="100000"/>
              </a:lnSpc>
              <a:spcBef>
                <a:spcPts val="0"/>
              </a:spcBef>
              <a:spcAft>
                <a:spcPts val="0"/>
              </a:spcAft>
              <a:buSzPts val="2500"/>
              <a:buFont typeface="Tajawal"/>
              <a:buNone/>
              <a:defRPr sz="2500">
                <a:latin typeface="Tajawal"/>
                <a:ea typeface="Tajawal"/>
                <a:cs typeface="Tajawal"/>
                <a:sym typeface="Tajawal"/>
              </a:defRPr>
            </a:lvl4pPr>
            <a:lvl5pPr lvl="4" algn="ctr" rtl="1">
              <a:lnSpc>
                <a:spcPct val="100000"/>
              </a:lnSpc>
              <a:spcBef>
                <a:spcPts val="0"/>
              </a:spcBef>
              <a:spcAft>
                <a:spcPts val="0"/>
              </a:spcAft>
              <a:buSzPts val="2500"/>
              <a:buFont typeface="Tajawal"/>
              <a:buNone/>
              <a:defRPr sz="2500">
                <a:latin typeface="Tajawal"/>
                <a:ea typeface="Tajawal"/>
                <a:cs typeface="Tajawal"/>
                <a:sym typeface="Tajawal"/>
              </a:defRPr>
            </a:lvl5pPr>
            <a:lvl6pPr lvl="5" algn="ctr" rtl="1">
              <a:lnSpc>
                <a:spcPct val="100000"/>
              </a:lnSpc>
              <a:spcBef>
                <a:spcPts val="0"/>
              </a:spcBef>
              <a:spcAft>
                <a:spcPts val="0"/>
              </a:spcAft>
              <a:buSzPts val="2500"/>
              <a:buFont typeface="Tajawal"/>
              <a:buNone/>
              <a:defRPr sz="2500">
                <a:latin typeface="Tajawal"/>
                <a:ea typeface="Tajawal"/>
                <a:cs typeface="Tajawal"/>
                <a:sym typeface="Tajawal"/>
              </a:defRPr>
            </a:lvl6pPr>
            <a:lvl7pPr lvl="6" algn="ctr" rtl="1">
              <a:lnSpc>
                <a:spcPct val="100000"/>
              </a:lnSpc>
              <a:spcBef>
                <a:spcPts val="0"/>
              </a:spcBef>
              <a:spcAft>
                <a:spcPts val="0"/>
              </a:spcAft>
              <a:buSzPts val="2500"/>
              <a:buFont typeface="Tajawal"/>
              <a:buNone/>
              <a:defRPr sz="2500">
                <a:latin typeface="Tajawal"/>
                <a:ea typeface="Tajawal"/>
                <a:cs typeface="Tajawal"/>
                <a:sym typeface="Tajawal"/>
              </a:defRPr>
            </a:lvl7pPr>
            <a:lvl8pPr lvl="7" algn="ctr" rtl="1">
              <a:lnSpc>
                <a:spcPct val="100000"/>
              </a:lnSpc>
              <a:spcBef>
                <a:spcPts val="0"/>
              </a:spcBef>
              <a:spcAft>
                <a:spcPts val="0"/>
              </a:spcAft>
              <a:buSzPts val="2500"/>
              <a:buFont typeface="Tajawal"/>
              <a:buNone/>
              <a:defRPr sz="2500">
                <a:latin typeface="Tajawal"/>
                <a:ea typeface="Tajawal"/>
                <a:cs typeface="Tajawal"/>
                <a:sym typeface="Tajawal"/>
              </a:defRPr>
            </a:lvl8pPr>
            <a:lvl9pPr lvl="8" algn="ctr" rtl="1">
              <a:lnSpc>
                <a:spcPct val="100000"/>
              </a:lnSpc>
              <a:spcBef>
                <a:spcPts val="0"/>
              </a:spcBef>
              <a:spcAft>
                <a:spcPts val="0"/>
              </a:spcAft>
              <a:buSzPts val="2500"/>
              <a:buFont typeface="Tajawal"/>
              <a:buNone/>
              <a:defRPr sz="2500">
                <a:latin typeface="Tajawal"/>
                <a:ea typeface="Tajawal"/>
                <a:cs typeface="Tajawal"/>
                <a:sym typeface="Tajawal"/>
              </a:defRPr>
            </a:lvl9pPr>
          </a:lstStyle>
          <a:p>
            <a:endParaRPr/>
          </a:p>
        </p:txBody>
      </p:sp>
      <p:sp>
        <p:nvSpPr>
          <p:cNvPr id="16" name="Google Shape;16;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25"/>
          <p:cNvSpPr txBox="1">
            <a:spLocks noGrp="1"/>
          </p:cNvSpPr>
          <p:nvPr>
            <p:ph type="title"/>
          </p:nvPr>
        </p:nvSpPr>
        <p:spPr>
          <a:xfrm>
            <a:off x="2079450" y="445025"/>
            <a:ext cx="6707400" cy="6279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rtl="1">
              <a:lnSpc>
                <a:spcPct val="100000"/>
              </a:lnSpc>
              <a:spcBef>
                <a:spcPts val="0"/>
              </a:spcBef>
              <a:spcAft>
                <a:spcPts val="0"/>
              </a:spcAft>
              <a:buClr>
                <a:srgbClr val="543198"/>
              </a:buClr>
              <a:buSzPts val="2800"/>
              <a:buNone/>
              <a:defRPr b="1">
                <a:solidFill>
                  <a:srgbClr val="543198"/>
                </a:solidFill>
              </a:defRPr>
            </a:lvl2pPr>
            <a:lvl3pPr lvl="2" algn="l" rtl="1">
              <a:lnSpc>
                <a:spcPct val="100000"/>
              </a:lnSpc>
              <a:spcBef>
                <a:spcPts val="0"/>
              </a:spcBef>
              <a:spcAft>
                <a:spcPts val="0"/>
              </a:spcAft>
              <a:buClr>
                <a:srgbClr val="543198"/>
              </a:buClr>
              <a:buSzPts val="2800"/>
              <a:buNone/>
              <a:defRPr b="1">
                <a:solidFill>
                  <a:srgbClr val="543198"/>
                </a:solidFill>
              </a:defRPr>
            </a:lvl3pPr>
            <a:lvl4pPr lvl="3" algn="l" rtl="1">
              <a:lnSpc>
                <a:spcPct val="100000"/>
              </a:lnSpc>
              <a:spcBef>
                <a:spcPts val="0"/>
              </a:spcBef>
              <a:spcAft>
                <a:spcPts val="0"/>
              </a:spcAft>
              <a:buClr>
                <a:srgbClr val="543198"/>
              </a:buClr>
              <a:buSzPts val="2800"/>
              <a:buNone/>
              <a:defRPr b="1">
                <a:solidFill>
                  <a:srgbClr val="543198"/>
                </a:solidFill>
              </a:defRPr>
            </a:lvl4pPr>
            <a:lvl5pPr lvl="4" algn="l" rtl="1">
              <a:lnSpc>
                <a:spcPct val="100000"/>
              </a:lnSpc>
              <a:spcBef>
                <a:spcPts val="0"/>
              </a:spcBef>
              <a:spcAft>
                <a:spcPts val="0"/>
              </a:spcAft>
              <a:buClr>
                <a:srgbClr val="543198"/>
              </a:buClr>
              <a:buSzPts val="2800"/>
              <a:buNone/>
              <a:defRPr b="1">
                <a:solidFill>
                  <a:srgbClr val="543198"/>
                </a:solidFill>
              </a:defRPr>
            </a:lvl5pPr>
            <a:lvl6pPr lvl="5" algn="l" rtl="1">
              <a:lnSpc>
                <a:spcPct val="100000"/>
              </a:lnSpc>
              <a:spcBef>
                <a:spcPts val="0"/>
              </a:spcBef>
              <a:spcAft>
                <a:spcPts val="0"/>
              </a:spcAft>
              <a:buClr>
                <a:srgbClr val="543198"/>
              </a:buClr>
              <a:buSzPts val="2800"/>
              <a:buNone/>
              <a:defRPr b="1">
                <a:solidFill>
                  <a:srgbClr val="543198"/>
                </a:solidFill>
              </a:defRPr>
            </a:lvl6pPr>
            <a:lvl7pPr lvl="6" algn="l" rtl="1">
              <a:lnSpc>
                <a:spcPct val="100000"/>
              </a:lnSpc>
              <a:spcBef>
                <a:spcPts val="0"/>
              </a:spcBef>
              <a:spcAft>
                <a:spcPts val="0"/>
              </a:spcAft>
              <a:buClr>
                <a:srgbClr val="543198"/>
              </a:buClr>
              <a:buSzPts val="2800"/>
              <a:buNone/>
              <a:defRPr b="1">
                <a:solidFill>
                  <a:srgbClr val="543198"/>
                </a:solidFill>
              </a:defRPr>
            </a:lvl7pPr>
            <a:lvl8pPr lvl="7" algn="l" rtl="1">
              <a:lnSpc>
                <a:spcPct val="100000"/>
              </a:lnSpc>
              <a:spcBef>
                <a:spcPts val="0"/>
              </a:spcBef>
              <a:spcAft>
                <a:spcPts val="0"/>
              </a:spcAft>
              <a:buClr>
                <a:srgbClr val="543198"/>
              </a:buClr>
              <a:buSzPts val="2800"/>
              <a:buNone/>
              <a:defRPr b="1">
                <a:solidFill>
                  <a:srgbClr val="543198"/>
                </a:solidFill>
              </a:defRPr>
            </a:lvl8pPr>
            <a:lvl9pPr lvl="8" algn="l" rtl="1">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0" name="Google Shape;20;p25"/>
          <p:cNvSpPr txBox="1">
            <a:spLocks noGrp="1"/>
          </p:cNvSpPr>
          <p:nvPr>
            <p:ph type="body" idx="1"/>
          </p:nvPr>
        </p:nvSpPr>
        <p:spPr>
          <a:xfrm>
            <a:off x="2758650" y="1334150"/>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rtl="1">
              <a:lnSpc>
                <a:spcPct val="100000"/>
              </a:lnSpc>
              <a:spcBef>
                <a:spcPts val="0"/>
              </a:spcBef>
              <a:spcAft>
                <a:spcPts val="0"/>
              </a:spcAft>
              <a:buSzPts val="3600"/>
              <a:buFont typeface="Tajawal"/>
              <a:buNone/>
              <a:defRPr sz="3600">
                <a:latin typeface="Tajawal"/>
                <a:ea typeface="Tajawal"/>
                <a:cs typeface="Tajawal"/>
                <a:sym typeface="Tajawal"/>
              </a:defRPr>
            </a:lvl1pPr>
            <a:lvl2pPr lvl="1" algn="ctr" rtl="1">
              <a:lnSpc>
                <a:spcPct val="100000"/>
              </a:lnSpc>
              <a:spcBef>
                <a:spcPts val="0"/>
              </a:spcBef>
              <a:spcAft>
                <a:spcPts val="0"/>
              </a:spcAft>
              <a:buSzPts val="3600"/>
              <a:buFont typeface="Tajawal"/>
              <a:buNone/>
              <a:defRPr sz="3600">
                <a:latin typeface="Tajawal"/>
                <a:ea typeface="Tajawal"/>
                <a:cs typeface="Tajawal"/>
                <a:sym typeface="Tajawal"/>
              </a:defRPr>
            </a:lvl2pPr>
            <a:lvl3pPr lvl="2" algn="ctr" rtl="1">
              <a:lnSpc>
                <a:spcPct val="100000"/>
              </a:lnSpc>
              <a:spcBef>
                <a:spcPts val="0"/>
              </a:spcBef>
              <a:spcAft>
                <a:spcPts val="0"/>
              </a:spcAft>
              <a:buSzPts val="3600"/>
              <a:buFont typeface="Tajawal"/>
              <a:buNone/>
              <a:defRPr sz="3600">
                <a:latin typeface="Tajawal"/>
                <a:ea typeface="Tajawal"/>
                <a:cs typeface="Tajawal"/>
                <a:sym typeface="Tajawal"/>
              </a:defRPr>
            </a:lvl3pPr>
            <a:lvl4pPr lvl="3" algn="ctr" rtl="1">
              <a:lnSpc>
                <a:spcPct val="100000"/>
              </a:lnSpc>
              <a:spcBef>
                <a:spcPts val="0"/>
              </a:spcBef>
              <a:spcAft>
                <a:spcPts val="0"/>
              </a:spcAft>
              <a:buSzPts val="3600"/>
              <a:buFont typeface="Tajawal"/>
              <a:buNone/>
              <a:defRPr sz="3600">
                <a:latin typeface="Tajawal"/>
                <a:ea typeface="Tajawal"/>
                <a:cs typeface="Tajawal"/>
                <a:sym typeface="Tajawal"/>
              </a:defRPr>
            </a:lvl4pPr>
            <a:lvl5pPr lvl="4" algn="ctr" rtl="1">
              <a:lnSpc>
                <a:spcPct val="100000"/>
              </a:lnSpc>
              <a:spcBef>
                <a:spcPts val="0"/>
              </a:spcBef>
              <a:spcAft>
                <a:spcPts val="0"/>
              </a:spcAft>
              <a:buSzPts val="3600"/>
              <a:buFont typeface="Tajawal"/>
              <a:buNone/>
              <a:defRPr sz="3600">
                <a:latin typeface="Tajawal"/>
                <a:ea typeface="Tajawal"/>
                <a:cs typeface="Tajawal"/>
                <a:sym typeface="Tajawal"/>
              </a:defRPr>
            </a:lvl5pPr>
            <a:lvl6pPr lvl="5" algn="ctr" rtl="1">
              <a:lnSpc>
                <a:spcPct val="100000"/>
              </a:lnSpc>
              <a:spcBef>
                <a:spcPts val="0"/>
              </a:spcBef>
              <a:spcAft>
                <a:spcPts val="0"/>
              </a:spcAft>
              <a:buSzPts val="3600"/>
              <a:buFont typeface="Tajawal"/>
              <a:buNone/>
              <a:defRPr sz="3600">
                <a:latin typeface="Tajawal"/>
                <a:ea typeface="Tajawal"/>
                <a:cs typeface="Tajawal"/>
                <a:sym typeface="Tajawal"/>
              </a:defRPr>
            </a:lvl6pPr>
            <a:lvl7pPr lvl="6" algn="ctr" rtl="1">
              <a:lnSpc>
                <a:spcPct val="100000"/>
              </a:lnSpc>
              <a:spcBef>
                <a:spcPts val="0"/>
              </a:spcBef>
              <a:spcAft>
                <a:spcPts val="0"/>
              </a:spcAft>
              <a:buSzPts val="3600"/>
              <a:buFont typeface="Tajawal"/>
              <a:buNone/>
              <a:defRPr sz="3600">
                <a:latin typeface="Tajawal"/>
                <a:ea typeface="Tajawal"/>
                <a:cs typeface="Tajawal"/>
                <a:sym typeface="Tajawal"/>
              </a:defRPr>
            </a:lvl7pPr>
            <a:lvl8pPr lvl="7" algn="ctr" rtl="1">
              <a:lnSpc>
                <a:spcPct val="100000"/>
              </a:lnSpc>
              <a:spcBef>
                <a:spcPts val="0"/>
              </a:spcBef>
              <a:spcAft>
                <a:spcPts val="0"/>
              </a:spcAft>
              <a:buSzPts val="3600"/>
              <a:buFont typeface="Tajawal"/>
              <a:buNone/>
              <a:defRPr sz="3600">
                <a:latin typeface="Tajawal"/>
                <a:ea typeface="Tajawal"/>
                <a:cs typeface="Tajawal"/>
                <a:sym typeface="Tajawal"/>
              </a:defRPr>
            </a:lvl8pPr>
            <a:lvl9pPr lvl="8" algn="ctr" rtl="1">
              <a:lnSpc>
                <a:spcPct val="100000"/>
              </a:lnSpc>
              <a:spcBef>
                <a:spcPts val="0"/>
              </a:spcBef>
              <a:spcAft>
                <a:spcPts val="0"/>
              </a:spcAft>
              <a:buSzPts val="3600"/>
              <a:buFont typeface="Tajawal"/>
              <a:buNone/>
              <a:defRPr sz="3600">
                <a:latin typeface="Tajawal"/>
                <a:ea typeface="Tajawal"/>
                <a:cs typeface="Tajawal"/>
                <a:sym typeface="Tajawal"/>
              </a:defRPr>
            </a:lvl9pPr>
          </a:lstStyle>
          <a:p>
            <a:endParaRPr/>
          </a:p>
        </p:txBody>
      </p:sp>
      <p:sp>
        <p:nvSpPr>
          <p:cNvPr id="25" name="Google Shape;25;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8" name="Google Shape;28;p28"/>
          <p:cNvSpPr txBox="1">
            <a:spLocks noGrp="1"/>
          </p:cNvSpPr>
          <p:nvPr>
            <p:ph type="title"/>
          </p:nvPr>
        </p:nvSpPr>
        <p:spPr>
          <a:xfrm>
            <a:off x="2079450" y="714175"/>
            <a:ext cx="6707400" cy="7773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a:lnSpc>
                <a:spcPct val="100000"/>
              </a:lnSpc>
              <a:spcBef>
                <a:spcPts val="0"/>
              </a:spcBef>
              <a:spcAft>
                <a:spcPts val="0"/>
              </a:spcAft>
              <a:buClr>
                <a:srgbClr val="543198"/>
              </a:buClr>
              <a:buSzPts val="2800"/>
              <a:buNone/>
              <a:defRPr b="1">
                <a:solidFill>
                  <a:srgbClr val="543198"/>
                </a:solidFill>
              </a:defRPr>
            </a:lvl2pPr>
            <a:lvl3pPr lvl="2" algn="l">
              <a:lnSpc>
                <a:spcPct val="100000"/>
              </a:lnSpc>
              <a:spcBef>
                <a:spcPts val="0"/>
              </a:spcBef>
              <a:spcAft>
                <a:spcPts val="0"/>
              </a:spcAft>
              <a:buClr>
                <a:srgbClr val="543198"/>
              </a:buClr>
              <a:buSzPts val="2800"/>
              <a:buNone/>
              <a:defRPr b="1">
                <a:solidFill>
                  <a:srgbClr val="543198"/>
                </a:solidFill>
              </a:defRPr>
            </a:lvl3pPr>
            <a:lvl4pPr lvl="3" algn="l">
              <a:lnSpc>
                <a:spcPct val="100000"/>
              </a:lnSpc>
              <a:spcBef>
                <a:spcPts val="0"/>
              </a:spcBef>
              <a:spcAft>
                <a:spcPts val="0"/>
              </a:spcAft>
              <a:buClr>
                <a:srgbClr val="543198"/>
              </a:buClr>
              <a:buSzPts val="2800"/>
              <a:buNone/>
              <a:defRPr b="1">
                <a:solidFill>
                  <a:srgbClr val="543198"/>
                </a:solidFill>
              </a:defRPr>
            </a:lvl4pPr>
            <a:lvl5pPr lvl="4" algn="l">
              <a:lnSpc>
                <a:spcPct val="100000"/>
              </a:lnSpc>
              <a:spcBef>
                <a:spcPts val="0"/>
              </a:spcBef>
              <a:spcAft>
                <a:spcPts val="0"/>
              </a:spcAft>
              <a:buClr>
                <a:srgbClr val="543198"/>
              </a:buClr>
              <a:buSzPts val="2800"/>
              <a:buNone/>
              <a:defRPr b="1">
                <a:solidFill>
                  <a:srgbClr val="543198"/>
                </a:solidFill>
              </a:defRPr>
            </a:lvl5pPr>
            <a:lvl6pPr lvl="5" algn="l">
              <a:lnSpc>
                <a:spcPct val="100000"/>
              </a:lnSpc>
              <a:spcBef>
                <a:spcPts val="0"/>
              </a:spcBef>
              <a:spcAft>
                <a:spcPts val="0"/>
              </a:spcAft>
              <a:buClr>
                <a:srgbClr val="543198"/>
              </a:buClr>
              <a:buSzPts val="2800"/>
              <a:buNone/>
              <a:defRPr b="1">
                <a:solidFill>
                  <a:srgbClr val="543198"/>
                </a:solidFill>
              </a:defRPr>
            </a:lvl6pPr>
            <a:lvl7pPr lvl="6" algn="l">
              <a:lnSpc>
                <a:spcPct val="100000"/>
              </a:lnSpc>
              <a:spcBef>
                <a:spcPts val="0"/>
              </a:spcBef>
              <a:spcAft>
                <a:spcPts val="0"/>
              </a:spcAft>
              <a:buClr>
                <a:srgbClr val="543198"/>
              </a:buClr>
              <a:buSzPts val="2800"/>
              <a:buNone/>
              <a:defRPr b="1">
                <a:solidFill>
                  <a:srgbClr val="543198"/>
                </a:solidFill>
              </a:defRPr>
            </a:lvl7pPr>
            <a:lvl8pPr lvl="7" algn="l">
              <a:lnSpc>
                <a:spcPct val="100000"/>
              </a:lnSpc>
              <a:spcBef>
                <a:spcPts val="0"/>
              </a:spcBef>
              <a:spcAft>
                <a:spcPts val="0"/>
              </a:spcAft>
              <a:buClr>
                <a:srgbClr val="543198"/>
              </a:buClr>
              <a:buSzPts val="2800"/>
              <a:buNone/>
              <a:defRPr b="1">
                <a:solidFill>
                  <a:srgbClr val="543198"/>
                </a:solidFill>
              </a:defRPr>
            </a:lvl8pPr>
            <a:lvl9pPr lvl="8" algn="l">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9" name="Google Shape;29;p28"/>
          <p:cNvSpPr txBox="1">
            <a:spLocks noGrp="1"/>
          </p:cNvSpPr>
          <p:nvPr>
            <p:ph type="body" idx="1"/>
          </p:nvPr>
        </p:nvSpPr>
        <p:spPr>
          <a:xfrm>
            <a:off x="2758650" y="1526325"/>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
        <p:cNvGrpSpPr/>
        <p:nvPr/>
      </p:nvGrpSpPr>
      <p:grpSpPr>
        <a:xfrm>
          <a:off x="0" y="0"/>
          <a:ext cx="0" cy="0"/>
          <a:chOff x="0" y="0"/>
          <a:chExt cx="0" cy="0"/>
        </a:xfrm>
      </p:grpSpPr>
      <p:sp>
        <p:nvSpPr>
          <p:cNvPr id="35" name="Google Shape;35;p3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200"/>
              <a:buNone/>
              <a:defRPr sz="4200"/>
            </a:lvl1pPr>
            <a:lvl2pPr lvl="1" algn="ctr" rtl="1">
              <a:lnSpc>
                <a:spcPct val="100000"/>
              </a:lnSpc>
              <a:spcBef>
                <a:spcPts val="0"/>
              </a:spcBef>
              <a:spcAft>
                <a:spcPts val="0"/>
              </a:spcAft>
              <a:buSzPts val="4200"/>
              <a:buNone/>
              <a:defRPr sz="4200"/>
            </a:lvl2pPr>
            <a:lvl3pPr lvl="2" algn="ctr" rtl="1">
              <a:lnSpc>
                <a:spcPct val="100000"/>
              </a:lnSpc>
              <a:spcBef>
                <a:spcPts val="0"/>
              </a:spcBef>
              <a:spcAft>
                <a:spcPts val="0"/>
              </a:spcAft>
              <a:buSzPts val="4200"/>
              <a:buNone/>
              <a:defRPr sz="4200"/>
            </a:lvl3pPr>
            <a:lvl4pPr lvl="3" algn="ctr" rtl="1">
              <a:lnSpc>
                <a:spcPct val="100000"/>
              </a:lnSpc>
              <a:spcBef>
                <a:spcPts val="0"/>
              </a:spcBef>
              <a:spcAft>
                <a:spcPts val="0"/>
              </a:spcAft>
              <a:buSzPts val="4200"/>
              <a:buNone/>
              <a:defRPr sz="4200"/>
            </a:lvl4pPr>
            <a:lvl5pPr lvl="4" algn="ctr" rtl="1">
              <a:lnSpc>
                <a:spcPct val="100000"/>
              </a:lnSpc>
              <a:spcBef>
                <a:spcPts val="0"/>
              </a:spcBef>
              <a:spcAft>
                <a:spcPts val="0"/>
              </a:spcAft>
              <a:buSzPts val="4200"/>
              <a:buNone/>
              <a:defRPr sz="4200"/>
            </a:lvl5pPr>
            <a:lvl6pPr lvl="5" algn="ctr" rtl="1">
              <a:lnSpc>
                <a:spcPct val="100000"/>
              </a:lnSpc>
              <a:spcBef>
                <a:spcPts val="0"/>
              </a:spcBef>
              <a:spcAft>
                <a:spcPts val="0"/>
              </a:spcAft>
              <a:buSzPts val="4200"/>
              <a:buNone/>
              <a:defRPr sz="4200"/>
            </a:lvl6pPr>
            <a:lvl7pPr lvl="6" algn="ctr" rtl="1">
              <a:lnSpc>
                <a:spcPct val="100000"/>
              </a:lnSpc>
              <a:spcBef>
                <a:spcPts val="0"/>
              </a:spcBef>
              <a:spcAft>
                <a:spcPts val="0"/>
              </a:spcAft>
              <a:buSzPts val="4200"/>
              <a:buNone/>
              <a:defRPr sz="4200"/>
            </a:lvl7pPr>
            <a:lvl8pPr lvl="7" algn="ctr" rtl="1">
              <a:lnSpc>
                <a:spcPct val="100000"/>
              </a:lnSpc>
              <a:spcBef>
                <a:spcPts val="0"/>
              </a:spcBef>
              <a:spcAft>
                <a:spcPts val="0"/>
              </a:spcAft>
              <a:buSzPts val="4200"/>
              <a:buNone/>
              <a:defRPr sz="4200"/>
            </a:lvl8pPr>
            <a:lvl9pPr lvl="8" algn="ctr" rtl="1">
              <a:lnSpc>
                <a:spcPct val="100000"/>
              </a:lnSpc>
              <a:spcBef>
                <a:spcPts val="0"/>
              </a:spcBef>
              <a:spcAft>
                <a:spcPts val="0"/>
              </a:spcAft>
              <a:buSzPts val="4200"/>
              <a:buNone/>
              <a:defRPr sz="4200"/>
            </a:lvl9pPr>
          </a:lstStyle>
          <a:p>
            <a:endParaRPr/>
          </a:p>
        </p:txBody>
      </p:sp>
      <p:sp>
        <p:nvSpPr>
          <p:cNvPr id="36" name="Google Shape;36;p3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100"/>
              <a:buNone/>
              <a:defRPr sz="2100"/>
            </a:lvl1pPr>
            <a:lvl2pPr lvl="1" algn="ctr" rtl="1">
              <a:lnSpc>
                <a:spcPct val="100000"/>
              </a:lnSpc>
              <a:spcBef>
                <a:spcPts val="0"/>
              </a:spcBef>
              <a:spcAft>
                <a:spcPts val="0"/>
              </a:spcAft>
              <a:buSzPts val="2100"/>
              <a:buNone/>
              <a:defRPr sz="2100"/>
            </a:lvl2pPr>
            <a:lvl3pPr lvl="2" algn="ctr" rtl="1">
              <a:lnSpc>
                <a:spcPct val="100000"/>
              </a:lnSpc>
              <a:spcBef>
                <a:spcPts val="0"/>
              </a:spcBef>
              <a:spcAft>
                <a:spcPts val="0"/>
              </a:spcAft>
              <a:buSzPts val="2100"/>
              <a:buNone/>
              <a:defRPr sz="2100"/>
            </a:lvl3pPr>
            <a:lvl4pPr lvl="3" algn="ctr" rtl="1">
              <a:lnSpc>
                <a:spcPct val="100000"/>
              </a:lnSpc>
              <a:spcBef>
                <a:spcPts val="0"/>
              </a:spcBef>
              <a:spcAft>
                <a:spcPts val="0"/>
              </a:spcAft>
              <a:buSzPts val="2100"/>
              <a:buNone/>
              <a:defRPr sz="2100"/>
            </a:lvl4pPr>
            <a:lvl5pPr lvl="4" algn="ctr" rtl="1">
              <a:lnSpc>
                <a:spcPct val="100000"/>
              </a:lnSpc>
              <a:spcBef>
                <a:spcPts val="0"/>
              </a:spcBef>
              <a:spcAft>
                <a:spcPts val="0"/>
              </a:spcAft>
              <a:buSzPts val="2100"/>
              <a:buNone/>
              <a:defRPr sz="2100"/>
            </a:lvl5pPr>
            <a:lvl6pPr lvl="5" algn="ctr" rtl="1">
              <a:lnSpc>
                <a:spcPct val="100000"/>
              </a:lnSpc>
              <a:spcBef>
                <a:spcPts val="0"/>
              </a:spcBef>
              <a:spcAft>
                <a:spcPts val="0"/>
              </a:spcAft>
              <a:buSzPts val="2100"/>
              <a:buNone/>
              <a:defRPr sz="2100"/>
            </a:lvl6pPr>
            <a:lvl7pPr lvl="6" algn="ctr" rtl="1">
              <a:lnSpc>
                <a:spcPct val="100000"/>
              </a:lnSpc>
              <a:spcBef>
                <a:spcPts val="0"/>
              </a:spcBef>
              <a:spcAft>
                <a:spcPts val="0"/>
              </a:spcAft>
              <a:buSzPts val="2100"/>
              <a:buNone/>
              <a:defRPr sz="2100"/>
            </a:lvl7pPr>
            <a:lvl8pPr lvl="7" algn="ctr" rtl="1">
              <a:lnSpc>
                <a:spcPct val="100000"/>
              </a:lnSpc>
              <a:spcBef>
                <a:spcPts val="0"/>
              </a:spcBef>
              <a:spcAft>
                <a:spcPts val="0"/>
              </a:spcAft>
              <a:buSzPts val="2100"/>
              <a:buNone/>
              <a:defRPr sz="2100"/>
            </a:lvl8pPr>
            <a:lvl9pPr lvl="8" algn="ctr" rtl="1">
              <a:lnSpc>
                <a:spcPct val="100000"/>
              </a:lnSpc>
              <a:spcBef>
                <a:spcPts val="0"/>
              </a:spcBef>
              <a:spcAft>
                <a:spcPts val="0"/>
              </a:spcAft>
              <a:buSzPts val="2100"/>
              <a:buNone/>
              <a:defRPr sz="2100"/>
            </a:lvl9pPr>
          </a:lstStyle>
          <a:p>
            <a:endParaRPr/>
          </a:p>
        </p:txBody>
      </p:sp>
      <p:sp>
        <p:nvSpPr>
          <p:cNvPr id="37" name="Google Shape;37;p3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rtl="1">
              <a:lnSpc>
                <a:spcPct val="115000"/>
              </a:lnSpc>
              <a:spcBef>
                <a:spcPts val="0"/>
              </a:spcBef>
              <a:spcAft>
                <a:spcPts val="0"/>
              </a:spcAft>
              <a:buSzPts val="1800"/>
              <a:buChar char="●"/>
              <a:defRPr/>
            </a:lvl1pPr>
            <a:lvl2pPr marL="914400" lvl="1" indent="-317500" algn="l" rtl="1">
              <a:lnSpc>
                <a:spcPct val="115000"/>
              </a:lnSpc>
              <a:spcBef>
                <a:spcPts val="0"/>
              </a:spcBef>
              <a:spcAft>
                <a:spcPts val="0"/>
              </a:spcAft>
              <a:buSzPts val="1400"/>
              <a:buChar char="○"/>
              <a:defRPr/>
            </a:lvl2pPr>
            <a:lvl3pPr marL="1371600" lvl="2" indent="-317500" algn="l" rtl="1">
              <a:lnSpc>
                <a:spcPct val="115000"/>
              </a:lnSpc>
              <a:spcBef>
                <a:spcPts val="0"/>
              </a:spcBef>
              <a:spcAft>
                <a:spcPts val="0"/>
              </a:spcAft>
              <a:buSzPts val="1400"/>
              <a:buChar char="■"/>
              <a:defRPr/>
            </a:lvl3pPr>
            <a:lvl4pPr marL="1828800" lvl="3" indent="-317500" algn="l" rtl="1">
              <a:lnSpc>
                <a:spcPct val="115000"/>
              </a:lnSpc>
              <a:spcBef>
                <a:spcPts val="0"/>
              </a:spcBef>
              <a:spcAft>
                <a:spcPts val="0"/>
              </a:spcAft>
              <a:buSzPts val="1400"/>
              <a:buChar char="●"/>
              <a:defRPr/>
            </a:lvl4pPr>
            <a:lvl5pPr marL="2286000" lvl="4" indent="-317500" algn="l" rtl="1">
              <a:lnSpc>
                <a:spcPct val="115000"/>
              </a:lnSpc>
              <a:spcBef>
                <a:spcPts val="0"/>
              </a:spcBef>
              <a:spcAft>
                <a:spcPts val="0"/>
              </a:spcAft>
              <a:buSzPts val="1400"/>
              <a:buChar char="○"/>
              <a:defRPr/>
            </a:lvl5pPr>
            <a:lvl6pPr marL="2743200" lvl="5" indent="-317500" algn="l" rtl="1">
              <a:lnSpc>
                <a:spcPct val="115000"/>
              </a:lnSpc>
              <a:spcBef>
                <a:spcPts val="0"/>
              </a:spcBef>
              <a:spcAft>
                <a:spcPts val="0"/>
              </a:spcAft>
              <a:buSzPts val="1400"/>
              <a:buChar char="■"/>
              <a:defRPr/>
            </a:lvl6pPr>
            <a:lvl7pPr marL="3200400" lvl="6" indent="-317500" algn="l" rtl="1">
              <a:lnSpc>
                <a:spcPct val="115000"/>
              </a:lnSpc>
              <a:spcBef>
                <a:spcPts val="0"/>
              </a:spcBef>
              <a:spcAft>
                <a:spcPts val="0"/>
              </a:spcAft>
              <a:buSzPts val="1400"/>
              <a:buChar char="●"/>
              <a:defRPr/>
            </a:lvl7pPr>
            <a:lvl8pPr marL="3657600" lvl="7" indent="-317500" algn="l" rtl="1">
              <a:lnSpc>
                <a:spcPct val="115000"/>
              </a:lnSpc>
              <a:spcBef>
                <a:spcPts val="0"/>
              </a:spcBef>
              <a:spcAft>
                <a:spcPts val="0"/>
              </a:spcAft>
              <a:buSzPts val="1400"/>
              <a:buChar char="○"/>
              <a:defRPr/>
            </a:lvl8pPr>
            <a:lvl9pPr marL="4114800" lvl="8" indent="-317500" algn="l" rtl="1">
              <a:lnSpc>
                <a:spcPct val="115000"/>
              </a:lnSpc>
              <a:spcBef>
                <a:spcPts val="0"/>
              </a:spcBef>
              <a:spcAft>
                <a:spcPts val="0"/>
              </a:spcAft>
              <a:buSzPts val="1400"/>
              <a:buChar char="■"/>
              <a:defRPr/>
            </a:lvl9pPr>
          </a:lstStyle>
          <a:p>
            <a:endParaRPr/>
          </a:p>
        </p:txBody>
      </p:sp>
      <p:sp>
        <p:nvSpPr>
          <p:cNvPr id="38" name="Google Shape;38;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9">
            <a:alphaModFix/>
          </a:blip>
          <a:stretch>
            <a:fillRect/>
          </a:stretch>
        </a:blip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marR="0" lvl="0" algn="l" rtl="1">
              <a:lnSpc>
                <a:spcPct val="100000"/>
              </a:lnSpc>
              <a:spcBef>
                <a:spcPts val="0"/>
              </a:spcBef>
              <a:spcAft>
                <a:spcPts val="0"/>
              </a:spcAft>
              <a:buClr>
                <a:srgbClr val="4F29B7"/>
              </a:buClr>
              <a:buSzPts val="2500"/>
              <a:buFont typeface="IBM Plex Sans Arabic Medium"/>
              <a:buNone/>
              <a:defRPr sz="2500" b="0" i="0" u="none" strike="noStrike" cap="none">
                <a:solidFill>
                  <a:srgbClr val="4F29B7"/>
                </a:solidFill>
                <a:latin typeface="IBM Plex Sans Arabic Medium"/>
                <a:ea typeface="IBM Plex Sans Arabic Medium"/>
                <a:cs typeface="IBM Plex Sans Arabic Medium"/>
                <a:sym typeface="IBM Plex Sans Arabic Medium"/>
              </a:defRPr>
            </a:lvl1pPr>
            <a:lvl2pPr marR="0" lvl="1"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2pPr>
            <a:lvl3pPr marR="0" lvl="2"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3pPr>
            <a:lvl4pPr marR="0" lvl="3"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4pPr>
            <a:lvl5pPr marR="0" lvl="4"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5pPr>
            <a:lvl6pPr marR="0" lvl="5"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6pPr>
            <a:lvl7pPr marR="0" lvl="6"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7pPr>
            <a:lvl8pPr marR="0" lvl="7"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8pPr>
            <a:lvl9pPr marR="0" lvl="8"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9pPr>
          </a:lstStyle>
          <a:p>
            <a:endParaRPr/>
          </a:p>
        </p:txBody>
      </p:sp>
      <p:sp>
        <p:nvSpPr>
          <p:cNvPr id="7" name="Google Shape;7;p2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1">
              <a:lnSpc>
                <a:spcPct val="115000"/>
              </a:lnSpc>
              <a:spcBef>
                <a:spcPts val="0"/>
              </a:spcBef>
              <a:spcAft>
                <a:spcPts val="0"/>
              </a:spcAft>
              <a:buClr>
                <a:srgbClr val="252526"/>
              </a:buClr>
              <a:buSzPts val="1800"/>
              <a:buFont typeface="IBM Plex Sans Arabic"/>
              <a:buChar char="●"/>
              <a:defRPr sz="1800" b="0" i="0" u="none" strike="noStrike" cap="none">
                <a:solidFill>
                  <a:srgbClr val="252526"/>
                </a:solidFill>
                <a:latin typeface="IBM Plex Sans Arabic"/>
                <a:ea typeface="IBM Plex Sans Arabic"/>
                <a:cs typeface="IBM Plex Sans Arabic"/>
                <a:sym typeface="IBM Plex Sans Arabic"/>
              </a:defRPr>
            </a:lvl1pPr>
            <a:lvl2pPr marL="914400" marR="0" lvl="1"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2pPr>
            <a:lvl3pPr marL="1371600" marR="0" lvl="2"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3pPr>
            <a:lvl4pPr marL="1828800" marR="0" lvl="3"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4pPr>
            <a:lvl5pPr marL="2286000" marR="0" lvl="4"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5pPr>
            <a:lvl6pPr marL="2743200" marR="0" lvl="5"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6pPr>
            <a:lvl7pPr marL="3200400" marR="0" lvl="6"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7pPr>
            <a:lvl8pPr marL="3657600" marR="0" lvl="7"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8pPr>
            <a:lvl9pPr marL="4114800" marR="0" lvl="8"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9pPr>
          </a:lstStyle>
          <a:p>
            <a:endParaRPr/>
          </a:p>
        </p:txBody>
      </p:sp>
      <p:sp>
        <p:nvSpPr>
          <p:cNvPr id="8" name="Google Shape;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9" name="Google Shape;9;p22"/>
          <p:cNvPicPr preferRelativeResize="0"/>
          <p:nvPr/>
        </p:nvPicPr>
        <p:blipFill rotWithShape="1">
          <a:blip r:embed="rId10">
            <a:alphaModFix/>
          </a:blip>
          <a:srcRect/>
          <a:stretch/>
        </p:blipFill>
        <p:spPr>
          <a:xfrm>
            <a:off x="8030954" y="17475"/>
            <a:ext cx="1266092" cy="100790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s://arxiv.org/pdf/1409.4842.pdf" TargetMode="External"/><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arxiv.org/pdf/1910.01268.pdf" TargetMode="Externa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www.datacamp.com/learn/ai" TargetMode="Externa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hyperlink" Target="https://www.wallpaperflare.com/wallpaper-programmer-coding-pattern-text-full-frame-backgrounds-wallpaper-pfdto" TargetMode="External"/><Relationship Id="rId5" Type="http://schemas.openxmlformats.org/officeDocument/2006/relationships/image" Target="../media/image17.jpg"/><Relationship Id="rId4" Type="http://schemas.openxmlformats.org/officeDocument/2006/relationships/hyperlink" Target="https://drive.google.com/file/d/1M5yilm19fqi9BxUyGsIxGkKG3Zbp-oze/view?usp=share_link"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18" Type="http://schemas.openxmlformats.org/officeDocument/2006/relationships/image" Target="../media/image33.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17" Type="http://schemas.openxmlformats.org/officeDocument/2006/relationships/image" Target="../media/image32.png"/><Relationship Id="rId2" Type="http://schemas.openxmlformats.org/officeDocument/2006/relationships/notesSlide" Target="../notesSlides/notesSlide21.xml"/><Relationship Id="rId16" Type="http://schemas.openxmlformats.org/officeDocument/2006/relationships/image" Target="../media/image31.png"/><Relationship Id="rId1" Type="http://schemas.openxmlformats.org/officeDocument/2006/relationships/slideLayout" Target="../slideLayouts/slideLayout4.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png"/><Relationship Id="rId19" Type="http://schemas.openxmlformats.org/officeDocument/2006/relationships/image" Target="../media/image34.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title"/>
          </p:nvPr>
        </p:nvSpPr>
        <p:spPr>
          <a:xfrm>
            <a:off x="5435226" y="867625"/>
            <a:ext cx="2974200" cy="2262000"/>
          </a:xfrm>
          <a:prstGeom prst="rect">
            <a:avLst/>
          </a:prstGeom>
          <a:noFill/>
          <a:ln>
            <a:noFill/>
          </a:ln>
        </p:spPr>
        <p:txBody>
          <a:bodyPr spcFirstLastPara="1" wrap="square" lIns="91425" tIns="91425" rIns="91425" bIns="91425" anchor="b" anchorCtr="0">
            <a:normAutofit/>
          </a:bodyPr>
          <a:lstStyle/>
          <a:p>
            <a:pPr marL="0" lvl="0" indent="0" algn="r" rtl="0">
              <a:lnSpc>
                <a:spcPct val="100000"/>
              </a:lnSpc>
              <a:spcBef>
                <a:spcPts val="0"/>
              </a:spcBef>
              <a:spcAft>
                <a:spcPts val="0"/>
              </a:spcAft>
              <a:buSzPts val="12000"/>
              <a:buNone/>
            </a:pPr>
            <a:r>
              <a:rPr lang="en-US" sz="4800">
                <a:solidFill>
                  <a:srgbClr val="58E3D8"/>
                </a:solidFill>
                <a:latin typeface="IBM Plex Sans Arabic SemiBold"/>
                <a:ea typeface="IBM Plex Sans Arabic SemiBold"/>
                <a:cs typeface="IBM Plex Sans Arabic SemiBold"/>
                <a:sym typeface="IBM Plex Sans Arabic SemiBold"/>
              </a:rPr>
              <a:t>أكـــــاديميــــة طــــويـــق</a:t>
            </a:r>
            <a:endParaRPr sz="4800">
              <a:solidFill>
                <a:srgbClr val="58E3D8"/>
              </a:solidFill>
              <a:latin typeface="IBM Plex Sans Arabic SemiBold"/>
              <a:ea typeface="IBM Plex Sans Arabic SemiBold"/>
              <a:cs typeface="IBM Plex Sans Arabic SemiBold"/>
              <a:sym typeface="IBM Plex Sans Arabic SemiBold"/>
            </a:endParaRPr>
          </a:p>
        </p:txBody>
      </p:sp>
      <p:sp>
        <p:nvSpPr>
          <p:cNvPr id="44" name="Google Shape;44;p1"/>
          <p:cNvSpPr txBox="1">
            <a:spLocks noGrp="1"/>
          </p:cNvSpPr>
          <p:nvPr>
            <p:ph type="body" idx="4294967295"/>
          </p:nvPr>
        </p:nvSpPr>
        <p:spPr>
          <a:xfrm>
            <a:off x="3902100" y="3253272"/>
            <a:ext cx="4447500" cy="1973484"/>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1200"/>
              </a:spcAft>
              <a:buSzPts val="1800"/>
              <a:buNone/>
            </a:pPr>
            <a:r>
              <a:rPr lang="en-US" sz="3600" dirty="0">
                <a:solidFill>
                  <a:schemeClr val="lt1"/>
                </a:solidFill>
                <a:latin typeface="IBM Plex Sans Arabic Medium"/>
                <a:ea typeface="IBM Plex Sans Arabic Medium"/>
                <a:cs typeface="IBM Plex Sans Arabic Medium"/>
                <a:sym typeface="IBM Plex Sans Arabic Medium"/>
              </a:rPr>
              <a:t>Deep Learning</a:t>
            </a:r>
            <a:endParaRPr sz="3600" dirty="0">
              <a:solidFill>
                <a:schemeClr val="lt1"/>
              </a:solidFill>
              <a:latin typeface="IBM Plex Sans Arabic Medium"/>
              <a:ea typeface="IBM Plex Sans Arabic Medium"/>
              <a:cs typeface="IBM Plex Sans Arabic Medium"/>
              <a:sym typeface="IBM Plex Sans Arabic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2"/>
          <p:cNvSpPr txBox="1">
            <a:spLocks noGrp="1"/>
          </p:cNvSpPr>
          <p:nvPr>
            <p:ph type="ctrTitle"/>
          </p:nvPr>
        </p:nvSpPr>
        <p:spPr>
          <a:xfrm>
            <a:off x="311700" y="1984439"/>
            <a:ext cx="8520600" cy="2052600"/>
          </a:xfrm>
          <a:prstGeom prst="rect">
            <a:avLst/>
          </a:prstGeom>
          <a:noFill/>
          <a:ln>
            <a:noFill/>
          </a:ln>
        </p:spPr>
        <p:txBody>
          <a:bodyPr spcFirstLastPara="1" wrap="square" lIns="91425" tIns="91425" rIns="91425" bIns="91425" anchor="b" anchorCtr="0">
            <a:normAutofit fontScale="90000"/>
          </a:bodyPr>
          <a:lstStyle/>
          <a:p>
            <a:r>
              <a:rPr lang="en-GB" sz="4000" b="0" i="0" u="none" strike="noStrike" dirty="0">
                <a:solidFill>
                  <a:srgbClr val="7030A0"/>
                </a:solidFill>
                <a:effectLst/>
                <a:latin typeface="Times New Roman" panose="02020603050405020304" pitchFamily="18" charset="0"/>
              </a:rPr>
              <a:t>Object Detection </a:t>
            </a:r>
            <a:br>
              <a:rPr lang="en-GB" sz="4000" b="1" i="0" u="none" strike="noStrike" dirty="0">
                <a:solidFill>
                  <a:srgbClr val="7030A0"/>
                </a:solidFill>
                <a:effectLst/>
                <a:latin typeface="Times New Roman" panose="02020603050405020304" pitchFamily="18" charset="0"/>
              </a:rPr>
            </a:br>
            <a:br>
              <a:rPr lang="en-GB" sz="3200" b="1" i="0" u="none" strike="noStrike" dirty="0">
                <a:solidFill>
                  <a:srgbClr val="7030A0"/>
                </a:solidFill>
                <a:effectLst/>
                <a:latin typeface="Arial" panose="020B0604020202020204" pitchFamily="34" charset="0"/>
              </a:rPr>
            </a:br>
            <a:br>
              <a:rPr lang="en-GB" sz="3200" b="1" i="0" u="none" strike="noStrike" dirty="0">
                <a:solidFill>
                  <a:srgbClr val="7030A0"/>
                </a:solidFill>
                <a:effectLst/>
                <a:latin typeface="Arial" panose="020B0604020202020204" pitchFamily="34" charset="0"/>
              </a:rPr>
            </a:br>
            <a:br>
              <a:rPr lang="en-US" sz="1800" dirty="0">
                <a:latin typeface="Calibri"/>
                <a:ea typeface="Calibri"/>
                <a:cs typeface="Calibri"/>
                <a:sym typeface="Calibri"/>
              </a:rPr>
            </a:br>
            <a:endParaRPr dirty="0"/>
          </a:p>
        </p:txBody>
      </p:sp>
      <p:sp>
        <p:nvSpPr>
          <p:cNvPr id="50" name="Google Shape;50;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114300" indent="0" algn="l" rtl="0" fontAlgn="base">
              <a:spcBef>
                <a:spcPts val="1200"/>
              </a:spcBef>
              <a:spcAft>
                <a:spcPts val="1200"/>
              </a:spcAft>
            </a:pPr>
            <a:r>
              <a:rPr lang="en-GB" sz="1800" b="0" i="0" u="none" strike="noStrike" dirty="0">
                <a:solidFill>
                  <a:srgbClr val="000000"/>
                </a:solidFill>
                <a:effectLst/>
                <a:latin typeface="Times New Roman" panose="02020603050405020304" pitchFamily="18" charset="0"/>
              </a:rPr>
              <a:t>			</a:t>
            </a:r>
            <a:r>
              <a:rPr lang="en-GB" sz="1800" dirty="0">
                <a:solidFill>
                  <a:srgbClr val="000000"/>
                </a:solidFill>
                <a:latin typeface="Times New Roman" panose="02020603050405020304" pitchFamily="18" charset="0"/>
              </a:rPr>
              <a:t>YOLO- YOU LOOK ONLY ONCE</a:t>
            </a:r>
            <a:endParaRPr lang="en-GB" sz="1800" b="1" i="0" u="none" strike="noStrike" dirty="0">
              <a:solidFill>
                <a:srgbClr val="000000"/>
              </a:solidFill>
              <a:effectLst/>
              <a:latin typeface="Times New Roman" panose="02020603050405020304" pitchFamily="18" charset="0"/>
            </a:endParaRPr>
          </a:p>
        </p:txBody>
      </p:sp>
      <p:sp>
        <p:nvSpPr>
          <p:cNvPr id="51" name="Google Shape;51;p2"/>
          <p:cNvSpPr txBox="1"/>
          <p:nvPr/>
        </p:nvSpPr>
        <p:spPr>
          <a:xfrm>
            <a:off x="3527778" y="4245036"/>
            <a:ext cx="4572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Calibri"/>
                <a:ea typeface="Calibri"/>
                <a:cs typeface="Calibri"/>
                <a:sym typeface="Calibri"/>
              </a:rPr>
              <a:t>By: Dr. Afshan Hashmi</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p:nvPr/>
        </p:nvSpPr>
        <p:spPr>
          <a:xfrm>
            <a:off x="655513" y="612177"/>
            <a:ext cx="6634716" cy="2246729"/>
          </a:xfrm>
          <a:prstGeom prst="rect">
            <a:avLst/>
          </a:prstGeom>
          <a:noFill/>
          <a:ln>
            <a:noFill/>
          </a:ln>
        </p:spPr>
        <p:txBody>
          <a:bodyPr spcFirstLastPara="1" wrap="square" lIns="91425" tIns="45700" rIns="91425" bIns="45700" anchor="t" anchorCtr="0">
            <a:spAutoFit/>
          </a:bodyPr>
          <a:lstStyle/>
          <a:p>
            <a:pPr marL="0" marR="0" lvl="0" indent="0" algn="just" rtl="0">
              <a:lnSpc>
                <a:spcPct val="125000"/>
              </a:lnSpc>
              <a:spcBef>
                <a:spcPts val="0"/>
              </a:spcBef>
              <a:spcAft>
                <a:spcPts val="0"/>
              </a:spcAft>
              <a:buNone/>
            </a:pPr>
            <a:r>
              <a:rPr lang="en-US" sz="2400" b="1" i="0" u="none" strike="noStrike" cap="none" dirty="0">
                <a:solidFill>
                  <a:srgbClr val="7030A0"/>
                </a:solidFill>
                <a:latin typeface="Arial"/>
                <a:ea typeface="Arial"/>
                <a:cs typeface="Arial"/>
                <a:sym typeface="Arial"/>
              </a:rPr>
              <a:t>Course Objectives:</a:t>
            </a:r>
            <a:endParaRPr dirty="0"/>
          </a:p>
          <a:p>
            <a:pPr marL="342900" indent="-342900">
              <a:buFont typeface="+mj-lt"/>
              <a:buAutoNum type="arabicPeriod"/>
            </a:pPr>
            <a:r>
              <a:rPr lang="en-GB" sz="1600" dirty="0">
                <a:effectLst/>
              </a:rPr>
              <a:t>Understanding Object Detection</a:t>
            </a:r>
          </a:p>
          <a:p>
            <a:pPr marL="342900" indent="-342900">
              <a:buFont typeface="+mj-lt"/>
              <a:buAutoNum type="arabicPeriod"/>
            </a:pPr>
            <a:r>
              <a:rPr lang="en-GB" sz="1600" dirty="0">
                <a:effectLst/>
              </a:rPr>
              <a:t>YOLO- </a:t>
            </a:r>
            <a:r>
              <a:rPr lang="en-GB" sz="1600" dirty="0"/>
              <a:t>you look only once</a:t>
            </a:r>
            <a:endParaRPr lang="en-GB" sz="1600" dirty="0">
              <a:effectLst/>
            </a:endParaRPr>
          </a:p>
          <a:p>
            <a:pPr marL="342900" indent="-342900">
              <a:buFont typeface="+mj-lt"/>
              <a:buAutoNum type="arabicPeriod"/>
            </a:pPr>
            <a:r>
              <a:rPr lang="en-GB" sz="1600" dirty="0">
                <a:effectLst/>
              </a:rPr>
              <a:t>Features of YOLO</a:t>
            </a:r>
          </a:p>
          <a:p>
            <a:pPr marL="342900" indent="-342900">
              <a:buFont typeface="+mj-lt"/>
              <a:buAutoNum type="arabicPeriod"/>
            </a:pPr>
            <a:r>
              <a:rPr lang="en-GB" sz="1600" dirty="0"/>
              <a:t>Working of YOLO Object Detection</a:t>
            </a:r>
          </a:p>
          <a:p>
            <a:pPr marL="342900" indent="-342900">
              <a:buFont typeface="+mj-lt"/>
              <a:buAutoNum type="arabicPeriod"/>
            </a:pPr>
            <a:r>
              <a:rPr lang="en-GB" sz="1600" dirty="0">
                <a:effectLst/>
              </a:rPr>
              <a:t>Different Version of YOLO and its comparison</a:t>
            </a:r>
          </a:p>
          <a:p>
            <a:pPr marL="342900" indent="-342900">
              <a:buFont typeface="+mj-lt"/>
              <a:buAutoNum type="arabicPeriod"/>
            </a:pPr>
            <a:r>
              <a:rPr lang="en-GB" sz="1600" dirty="0">
                <a:effectLst/>
              </a:rPr>
              <a:t>Implementing of YOLO</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4EF5623-6B09-C586-D026-E1815682342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1B8CE39D-1BAA-9EAF-5C66-19BBE6DD2056}"/>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b="1" dirty="0"/>
              <a:t>Object Detection</a:t>
            </a: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A4482F75-B306-CAB6-0919-E013D5E5A03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C1E7B443-016B-2F0F-23AA-504B7B468665}"/>
              </a:ext>
            </a:extLst>
          </p:cNvPr>
          <p:cNvSpPr txBox="1"/>
          <p:nvPr/>
        </p:nvSpPr>
        <p:spPr>
          <a:xfrm>
            <a:off x="310064" y="713964"/>
            <a:ext cx="8521701" cy="2800767"/>
          </a:xfrm>
          <a:prstGeom prst="rect">
            <a:avLst/>
          </a:prstGeom>
          <a:noFill/>
        </p:spPr>
        <p:txBody>
          <a:bodyPr wrap="square">
            <a:spAutoFit/>
          </a:bodyPr>
          <a:lstStyle/>
          <a:p>
            <a:pPr>
              <a:buNone/>
            </a:pPr>
            <a:r>
              <a:rPr lang="en-GB" sz="1600" b="1" dirty="0">
                <a:latin typeface="+mj-lt"/>
              </a:rPr>
              <a:t>Object detection</a:t>
            </a:r>
            <a:r>
              <a:rPr lang="en-GB" sz="1600" dirty="0">
                <a:latin typeface="+mj-lt"/>
              </a:rPr>
              <a:t> is a computer vision task that involves both:</a:t>
            </a:r>
          </a:p>
          <a:p>
            <a:pPr>
              <a:buNone/>
            </a:pPr>
            <a:endParaRPr lang="en-GB" sz="1600" dirty="0">
              <a:latin typeface="+mj-lt"/>
            </a:endParaRPr>
          </a:p>
          <a:p>
            <a:pPr>
              <a:buFont typeface="+mj-lt"/>
              <a:buAutoNum type="arabicPeriod"/>
            </a:pPr>
            <a:r>
              <a:rPr lang="en-GB" sz="1600" b="1" dirty="0">
                <a:latin typeface="+mj-lt"/>
              </a:rPr>
              <a:t>Classifying objects</a:t>
            </a:r>
            <a:r>
              <a:rPr lang="en-GB" sz="1600" dirty="0">
                <a:latin typeface="+mj-lt"/>
              </a:rPr>
              <a:t> in an image (what is in the image?),</a:t>
            </a:r>
          </a:p>
          <a:p>
            <a:pPr>
              <a:buFont typeface="+mj-lt"/>
              <a:buAutoNum type="arabicPeriod"/>
            </a:pPr>
            <a:endParaRPr lang="en-GB" sz="1600" dirty="0">
              <a:latin typeface="+mj-lt"/>
            </a:endParaRPr>
          </a:p>
          <a:p>
            <a:pPr>
              <a:buFont typeface="+mj-lt"/>
              <a:buAutoNum type="arabicPeriod"/>
            </a:pPr>
            <a:r>
              <a:rPr lang="en-GB" sz="1600" b="1" dirty="0">
                <a:latin typeface="+mj-lt"/>
              </a:rPr>
              <a:t>Localizing</a:t>
            </a:r>
            <a:r>
              <a:rPr lang="en-GB" sz="1600" dirty="0">
                <a:latin typeface="+mj-lt"/>
              </a:rPr>
              <a:t> them with </a:t>
            </a:r>
            <a:r>
              <a:rPr lang="en-GB" sz="1600" b="1" dirty="0">
                <a:latin typeface="+mj-lt"/>
              </a:rPr>
              <a:t>bounding boxes</a:t>
            </a:r>
            <a:r>
              <a:rPr lang="en-GB" sz="1600" dirty="0">
                <a:latin typeface="+mj-lt"/>
              </a:rPr>
              <a:t> (where is the object?).</a:t>
            </a:r>
          </a:p>
          <a:p>
            <a:r>
              <a:rPr lang="en-GB" sz="1600" dirty="0">
                <a:latin typeface="+mj-lt"/>
              </a:rPr>
              <a:t>It is different from just image classification (which says </a:t>
            </a:r>
            <a:r>
              <a:rPr lang="en-GB" sz="1600" i="1" dirty="0">
                <a:latin typeface="+mj-lt"/>
              </a:rPr>
              <a:t>what</a:t>
            </a:r>
            <a:r>
              <a:rPr lang="en-GB" sz="1600" dirty="0">
                <a:latin typeface="+mj-lt"/>
              </a:rPr>
              <a:t> is in the image) because it tells </a:t>
            </a:r>
            <a:r>
              <a:rPr lang="en-GB" sz="1600" i="1" dirty="0">
                <a:latin typeface="+mj-lt"/>
              </a:rPr>
              <a:t>what</a:t>
            </a:r>
            <a:r>
              <a:rPr lang="en-GB" sz="1600" dirty="0">
                <a:latin typeface="+mj-lt"/>
              </a:rPr>
              <a:t> and </a:t>
            </a:r>
            <a:r>
              <a:rPr lang="en-GB" sz="1600" i="1" dirty="0">
                <a:latin typeface="+mj-lt"/>
              </a:rPr>
              <a:t>where</a:t>
            </a:r>
            <a:r>
              <a:rPr lang="en-GB" sz="1600" dirty="0">
                <a:latin typeface="+mj-lt"/>
              </a:rPr>
              <a:t> the objects are.</a:t>
            </a:r>
          </a:p>
          <a:p>
            <a:endParaRPr lang="en-GB" sz="1600" dirty="0">
              <a:latin typeface="+mj-lt"/>
            </a:endParaRPr>
          </a:p>
          <a:p>
            <a:r>
              <a:rPr lang="en-GB" sz="1600" b="1" dirty="0">
                <a:latin typeface="+mj-lt"/>
              </a:rPr>
              <a:t>Key Components of Object Detection:</a:t>
            </a:r>
          </a:p>
          <a:p>
            <a:br>
              <a:rPr lang="en-GB" sz="1600" dirty="0">
                <a:latin typeface="+mj-lt"/>
              </a:rPr>
            </a:br>
            <a:endParaRPr lang="en-GB" sz="1600" i="0" u="none" strike="noStrike" dirty="0">
              <a:solidFill>
                <a:srgbClr val="000000"/>
              </a:solidFill>
              <a:effectLst/>
              <a:latin typeface="+mj-lt"/>
            </a:endParaRPr>
          </a:p>
        </p:txBody>
      </p:sp>
      <p:graphicFrame>
        <p:nvGraphicFramePr>
          <p:cNvPr id="6" name="Table 5">
            <a:extLst>
              <a:ext uri="{FF2B5EF4-FFF2-40B4-BE49-F238E27FC236}">
                <a16:creationId xmlns:a16="http://schemas.microsoft.com/office/drawing/2014/main" id="{AA260FA3-2938-55F0-04BF-A48A684E9254}"/>
              </a:ext>
            </a:extLst>
          </p:cNvPr>
          <p:cNvGraphicFramePr>
            <a:graphicFrameLocks noGrp="1"/>
          </p:cNvGraphicFramePr>
          <p:nvPr>
            <p:extLst>
              <p:ext uri="{D42A27DB-BD31-4B8C-83A1-F6EECF244321}">
                <p14:modId xmlns:p14="http://schemas.microsoft.com/office/powerpoint/2010/main" val="1505661947"/>
              </p:ext>
            </p:extLst>
          </p:nvPr>
        </p:nvGraphicFramePr>
        <p:xfrm>
          <a:off x="215125" y="3121672"/>
          <a:ext cx="8521700" cy="1219200"/>
        </p:xfrm>
        <a:graphic>
          <a:graphicData uri="http://schemas.openxmlformats.org/drawingml/2006/table">
            <a:tbl>
              <a:tblPr>
                <a:tableStyleId>{35758FB7-9AC5-4552-8A53-C91805E547FA}</a:tableStyleId>
              </a:tblPr>
              <a:tblGrid>
                <a:gridCol w="1735653">
                  <a:extLst>
                    <a:ext uri="{9D8B030D-6E8A-4147-A177-3AD203B41FA5}">
                      <a16:colId xmlns:a16="http://schemas.microsoft.com/office/drawing/2014/main" val="781301216"/>
                    </a:ext>
                  </a:extLst>
                </a:gridCol>
                <a:gridCol w="6786047">
                  <a:extLst>
                    <a:ext uri="{9D8B030D-6E8A-4147-A177-3AD203B41FA5}">
                      <a16:colId xmlns:a16="http://schemas.microsoft.com/office/drawing/2014/main" val="1182216902"/>
                    </a:ext>
                  </a:extLst>
                </a:gridCol>
              </a:tblGrid>
              <a:tr h="0">
                <a:tc>
                  <a:txBody>
                    <a:bodyPr/>
                    <a:lstStyle/>
                    <a:p>
                      <a:r>
                        <a:rPr lang="en-GB"/>
                        <a:t>Component</a:t>
                      </a:r>
                    </a:p>
                  </a:txBody>
                  <a:tcPr anchor="ctr"/>
                </a:tc>
                <a:tc>
                  <a:txBody>
                    <a:bodyPr/>
                    <a:lstStyle/>
                    <a:p>
                      <a:r>
                        <a:rPr lang="en-GB" dirty="0"/>
                        <a:t>Description</a:t>
                      </a:r>
                    </a:p>
                  </a:txBody>
                  <a:tcPr anchor="ctr"/>
                </a:tc>
                <a:extLst>
                  <a:ext uri="{0D108BD9-81ED-4DB2-BD59-A6C34878D82A}">
                    <a16:rowId xmlns:a16="http://schemas.microsoft.com/office/drawing/2014/main" val="810476154"/>
                  </a:ext>
                </a:extLst>
              </a:tr>
              <a:tr h="0">
                <a:tc>
                  <a:txBody>
                    <a:bodyPr/>
                    <a:lstStyle/>
                    <a:p>
                      <a:r>
                        <a:rPr lang="en-GB" b="1"/>
                        <a:t>Bounding Box</a:t>
                      </a:r>
                      <a:endParaRPr lang="en-GB"/>
                    </a:p>
                  </a:txBody>
                  <a:tcPr anchor="ctr"/>
                </a:tc>
                <a:tc>
                  <a:txBody>
                    <a:bodyPr/>
                    <a:lstStyle/>
                    <a:p>
                      <a:r>
                        <a:rPr lang="en-GB"/>
                        <a:t>A rectangle drawn around an object. Defined by x, y (top-left), width, height.</a:t>
                      </a:r>
                    </a:p>
                  </a:txBody>
                  <a:tcPr anchor="ctr"/>
                </a:tc>
                <a:extLst>
                  <a:ext uri="{0D108BD9-81ED-4DB2-BD59-A6C34878D82A}">
                    <a16:rowId xmlns:a16="http://schemas.microsoft.com/office/drawing/2014/main" val="3085672868"/>
                  </a:ext>
                </a:extLst>
              </a:tr>
              <a:tr h="0">
                <a:tc>
                  <a:txBody>
                    <a:bodyPr/>
                    <a:lstStyle/>
                    <a:p>
                      <a:r>
                        <a:rPr lang="en-GB" b="1"/>
                        <a:t>Class Label</a:t>
                      </a:r>
                      <a:endParaRPr lang="en-GB"/>
                    </a:p>
                  </a:txBody>
                  <a:tcPr anchor="ctr"/>
                </a:tc>
                <a:tc>
                  <a:txBody>
                    <a:bodyPr/>
                    <a:lstStyle/>
                    <a:p>
                      <a:r>
                        <a:rPr lang="en-GB"/>
                        <a:t>What object is in the box (e.g., “cat”, “car”)</a:t>
                      </a:r>
                    </a:p>
                  </a:txBody>
                  <a:tcPr anchor="ctr"/>
                </a:tc>
                <a:extLst>
                  <a:ext uri="{0D108BD9-81ED-4DB2-BD59-A6C34878D82A}">
                    <a16:rowId xmlns:a16="http://schemas.microsoft.com/office/drawing/2014/main" val="3157250996"/>
                  </a:ext>
                </a:extLst>
              </a:tr>
              <a:tr h="0">
                <a:tc>
                  <a:txBody>
                    <a:bodyPr/>
                    <a:lstStyle/>
                    <a:p>
                      <a:r>
                        <a:rPr lang="en-GB" b="1"/>
                        <a:t>Confidence Score</a:t>
                      </a:r>
                      <a:endParaRPr lang="en-GB"/>
                    </a:p>
                  </a:txBody>
                  <a:tcPr anchor="ctr"/>
                </a:tc>
                <a:tc>
                  <a:txBody>
                    <a:bodyPr/>
                    <a:lstStyle/>
                    <a:p>
                      <a:r>
                        <a:rPr lang="en-GB" dirty="0"/>
                        <a:t>How sure the model is that the object is of a certain class.</a:t>
                      </a:r>
                    </a:p>
                  </a:txBody>
                  <a:tcPr anchor="ctr"/>
                </a:tc>
                <a:extLst>
                  <a:ext uri="{0D108BD9-81ED-4DB2-BD59-A6C34878D82A}">
                    <a16:rowId xmlns:a16="http://schemas.microsoft.com/office/drawing/2014/main" val="2237586884"/>
                  </a:ext>
                </a:extLst>
              </a:tr>
            </a:tbl>
          </a:graphicData>
        </a:graphic>
      </p:graphicFrame>
    </p:spTree>
    <p:extLst>
      <p:ext uri="{BB962C8B-B14F-4D97-AF65-F5344CB8AC3E}">
        <p14:creationId xmlns:p14="http://schemas.microsoft.com/office/powerpoint/2010/main" val="2377176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AA75FE85-0C27-EF19-7D61-B737794B5EF8}"/>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82FCDA16-24B5-38EF-591B-DF71BE732A4D}"/>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dirty="0">
                <a:solidFill>
                  <a:srgbClr val="7030A0"/>
                </a:solidFill>
                <a:latin typeface="+mj-lt"/>
              </a:rPr>
              <a:t> Key Architectures</a:t>
            </a:r>
            <a:br>
              <a:rPr lang="en-GB" sz="3200" dirty="0">
                <a:solidFill>
                  <a:srgbClr val="7030A0"/>
                </a:solidFill>
                <a:latin typeface="+mj-lt"/>
              </a:rPr>
            </a:b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1F0A4E33-434E-EB6D-9828-9ACBE71297EA}"/>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C720A4C5-68A0-0AEB-0AA2-151B8DC96DCB}"/>
              </a:ext>
            </a:extLst>
          </p:cNvPr>
          <p:cNvSpPr txBox="1"/>
          <p:nvPr/>
        </p:nvSpPr>
        <p:spPr>
          <a:xfrm>
            <a:off x="211947" y="713964"/>
            <a:ext cx="8120599" cy="4755148"/>
          </a:xfrm>
          <a:prstGeom prst="rect">
            <a:avLst/>
          </a:prstGeom>
          <a:noFill/>
        </p:spPr>
        <p:txBody>
          <a:bodyPr wrap="square">
            <a:spAutoFit/>
          </a:bodyPr>
          <a:lstStyle/>
          <a:p>
            <a:pPr algn="l">
              <a:buNone/>
            </a:pPr>
            <a:r>
              <a:rPr lang="en-GB" b="1" i="0" u="none" strike="noStrike" dirty="0">
                <a:solidFill>
                  <a:srgbClr val="404040"/>
                </a:solidFill>
                <a:effectLst/>
                <a:latin typeface="+mj-lt"/>
              </a:rPr>
              <a:t>(1) YOLO (You Only Look Once)</a:t>
            </a:r>
          </a:p>
          <a:p>
            <a:pPr algn="l"/>
            <a:r>
              <a:rPr lang="en-GB" b="1" i="0" u="none" strike="noStrike" dirty="0">
                <a:solidFill>
                  <a:srgbClr val="404040"/>
                </a:solidFill>
                <a:effectLst/>
                <a:latin typeface="+mj-lt"/>
              </a:rPr>
              <a:t>Concept</a:t>
            </a:r>
            <a:r>
              <a:rPr lang="en-GB" b="0" i="0" u="none" strike="noStrike" dirty="0">
                <a:solidFill>
                  <a:srgbClr val="404040"/>
                </a:solidFill>
                <a:effectLst/>
                <a:latin typeface="+mj-lt"/>
              </a:rPr>
              <a:t>: Single-shot detector that predicts bounding boxes and class probabilities in one pass.</a:t>
            </a:r>
          </a:p>
          <a:p>
            <a:pPr algn="l">
              <a:spcBef>
                <a:spcPts val="300"/>
              </a:spcBef>
            </a:pPr>
            <a:r>
              <a:rPr lang="en-GB" b="1" i="0" u="none" strike="noStrike" dirty="0">
                <a:solidFill>
                  <a:srgbClr val="404040"/>
                </a:solidFill>
                <a:effectLst/>
                <a:latin typeface="+mj-lt"/>
              </a:rPr>
              <a:t>Versions</a:t>
            </a:r>
            <a:r>
              <a:rPr lang="en-GB" b="0" i="0" u="none" strike="noStrike" dirty="0">
                <a:solidFill>
                  <a:srgbClr val="404040"/>
                </a:solidFill>
                <a:effectLst/>
                <a:latin typeface="+mj-lt"/>
              </a:rPr>
              <a:t>: YOLOv1 (2015) to YOLOv8 (2023)</a:t>
            </a:r>
          </a:p>
          <a:p>
            <a:pPr algn="l">
              <a:spcBef>
                <a:spcPts val="300"/>
              </a:spcBef>
              <a:spcAft>
                <a:spcPts val="300"/>
              </a:spcAft>
            </a:pPr>
            <a:r>
              <a:rPr lang="en-GB" b="1" i="0" u="none" strike="noStrike" dirty="0">
                <a:solidFill>
                  <a:srgbClr val="404040"/>
                </a:solidFill>
                <a:effectLst/>
                <a:latin typeface="+mj-lt"/>
              </a:rPr>
              <a:t>Strengths</a:t>
            </a:r>
            <a:r>
              <a:rPr lang="en-GB" b="0" i="0" u="none" strike="noStrike" dirty="0">
                <a:solidFill>
                  <a:srgbClr val="404040"/>
                </a:solidFill>
                <a:effectLst/>
                <a:latin typeface="+mj-lt"/>
              </a:rPr>
              <a:t>:</a:t>
            </a:r>
          </a:p>
          <a:p>
            <a:pPr marL="742950" lvl="1" indent="-285750" algn="l">
              <a:spcBef>
                <a:spcPts val="300"/>
              </a:spcBef>
              <a:buFont typeface="Wingdings" pitchFamily="2" charset="2"/>
              <a:buChar char="ü"/>
            </a:pPr>
            <a:r>
              <a:rPr lang="en-GB" b="0" i="0" u="none" strike="noStrike" dirty="0">
                <a:solidFill>
                  <a:srgbClr val="404040"/>
                </a:solidFill>
                <a:effectLst/>
                <a:latin typeface="+mj-lt"/>
              </a:rPr>
              <a:t>Real-time performance (45+ FPS)</a:t>
            </a:r>
          </a:p>
          <a:p>
            <a:pPr marL="742950" lvl="1" indent="-285750" algn="l">
              <a:spcBef>
                <a:spcPts val="300"/>
              </a:spcBef>
              <a:buFont typeface="Wingdings" pitchFamily="2" charset="2"/>
              <a:buChar char="ü"/>
            </a:pPr>
            <a:r>
              <a:rPr lang="en-GB" b="0" i="0" u="none" strike="noStrike" dirty="0">
                <a:solidFill>
                  <a:srgbClr val="404040"/>
                </a:solidFill>
                <a:effectLst/>
                <a:latin typeface="+mj-lt"/>
              </a:rPr>
              <a:t>Good trade-off between speed and accuracy</a:t>
            </a:r>
          </a:p>
          <a:p>
            <a:pPr algn="l">
              <a:buNone/>
            </a:pPr>
            <a:r>
              <a:rPr lang="en-GB" b="1" i="0" u="none" strike="noStrike" dirty="0">
                <a:solidFill>
                  <a:srgbClr val="404040"/>
                </a:solidFill>
                <a:effectLst/>
                <a:latin typeface="+mj-lt"/>
              </a:rPr>
              <a:t>(2) SSD (Single Shot </a:t>
            </a:r>
            <a:r>
              <a:rPr lang="en-GB" b="1" i="0" u="none" strike="noStrike" dirty="0" err="1">
                <a:solidFill>
                  <a:srgbClr val="404040"/>
                </a:solidFill>
                <a:effectLst/>
                <a:latin typeface="+mj-lt"/>
              </a:rPr>
              <a:t>MultiBox</a:t>
            </a:r>
            <a:r>
              <a:rPr lang="en-GB" b="1" i="0" u="none" strike="noStrike" dirty="0">
                <a:solidFill>
                  <a:srgbClr val="404040"/>
                </a:solidFill>
                <a:effectLst/>
                <a:latin typeface="+mj-lt"/>
              </a:rPr>
              <a:t> Detector)</a:t>
            </a:r>
          </a:p>
          <a:p>
            <a:pPr algn="l"/>
            <a:r>
              <a:rPr lang="en-GB" b="1" i="0" u="none" strike="noStrike" dirty="0">
                <a:solidFill>
                  <a:srgbClr val="404040"/>
                </a:solidFill>
                <a:effectLst/>
                <a:latin typeface="+mj-lt"/>
              </a:rPr>
              <a:t>Concept</a:t>
            </a:r>
            <a:r>
              <a:rPr lang="en-GB" b="0" i="0" u="none" strike="noStrike" dirty="0">
                <a:solidFill>
                  <a:srgbClr val="404040"/>
                </a:solidFill>
                <a:effectLst/>
                <a:latin typeface="+mj-lt"/>
              </a:rPr>
              <a:t>: Uses predefined anchor boxes at multiple feature map scales.</a:t>
            </a:r>
          </a:p>
          <a:p>
            <a:pPr algn="l">
              <a:spcBef>
                <a:spcPts val="300"/>
              </a:spcBef>
              <a:spcAft>
                <a:spcPts val="300"/>
              </a:spcAft>
            </a:pPr>
            <a:r>
              <a:rPr lang="en-GB" b="1" i="0" u="none" strike="noStrike" dirty="0">
                <a:solidFill>
                  <a:srgbClr val="404040"/>
                </a:solidFill>
                <a:effectLst/>
                <a:latin typeface="+mj-lt"/>
              </a:rPr>
              <a:t>Strengths</a:t>
            </a:r>
            <a:r>
              <a:rPr lang="en-GB" b="0" i="0" u="none" strike="noStrike" dirty="0">
                <a:solidFill>
                  <a:srgbClr val="404040"/>
                </a:solidFill>
                <a:effectLst/>
                <a:latin typeface="+mj-lt"/>
              </a:rPr>
              <a:t>:</a:t>
            </a:r>
          </a:p>
          <a:p>
            <a:pPr marL="742950" lvl="1" indent="-285750" algn="l">
              <a:spcBef>
                <a:spcPts val="300"/>
              </a:spcBef>
              <a:buFont typeface="Wingdings" pitchFamily="2" charset="2"/>
              <a:buChar char="ü"/>
            </a:pPr>
            <a:r>
              <a:rPr lang="en-GB" b="0" i="0" u="none" strike="noStrike" dirty="0">
                <a:solidFill>
                  <a:srgbClr val="404040"/>
                </a:solidFill>
                <a:effectLst/>
                <a:latin typeface="+mj-lt"/>
              </a:rPr>
              <a:t>Faster than two-stage detectors (Faster R-CNN)</a:t>
            </a:r>
          </a:p>
          <a:p>
            <a:pPr marL="742950" lvl="1" indent="-285750" algn="l">
              <a:spcBef>
                <a:spcPts val="300"/>
              </a:spcBef>
              <a:buFont typeface="Wingdings" pitchFamily="2" charset="2"/>
              <a:buChar char="ü"/>
            </a:pPr>
            <a:r>
              <a:rPr lang="en-GB" b="0" i="0" u="none" strike="noStrike" dirty="0">
                <a:solidFill>
                  <a:srgbClr val="404040"/>
                </a:solidFill>
                <a:effectLst/>
                <a:latin typeface="+mj-lt"/>
              </a:rPr>
              <a:t>Handles objects of different sizes well</a:t>
            </a:r>
          </a:p>
          <a:p>
            <a:pPr algn="l">
              <a:buNone/>
            </a:pPr>
            <a:r>
              <a:rPr lang="en-GB" b="1" i="0" u="none" strike="noStrike" dirty="0">
                <a:solidFill>
                  <a:srgbClr val="404040"/>
                </a:solidFill>
                <a:effectLst/>
                <a:latin typeface="+mj-lt"/>
              </a:rPr>
              <a:t>(3) Faster R-CNN</a:t>
            </a:r>
          </a:p>
          <a:p>
            <a:pPr algn="l"/>
            <a:r>
              <a:rPr lang="en-GB" b="1" i="0" u="none" strike="noStrike" dirty="0">
                <a:solidFill>
                  <a:srgbClr val="404040"/>
                </a:solidFill>
                <a:effectLst/>
                <a:latin typeface="+mj-lt"/>
              </a:rPr>
              <a:t>Concept</a:t>
            </a:r>
            <a:r>
              <a:rPr lang="en-GB" b="0" i="0" u="none" strike="noStrike" dirty="0">
                <a:solidFill>
                  <a:srgbClr val="404040"/>
                </a:solidFill>
                <a:effectLst/>
                <a:latin typeface="+mj-lt"/>
              </a:rPr>
              <a:t>: Two-stage detector (Region Proposal Network + ROI Pooling).</a:t>
            </a:r>
          </a:p>
          <a:p>
            <a:pPr algn="l">
              <a:spcBef>
                <a:spcPts val="300"/>
              </a:spcBef>
              <a:spcAft>
                <a:spcPts val="300"/>
              </a:spcAft>
            </a:pPr>
            <a:r>
              <a:rPr lang="en-GB" b="1" i="0" u="none" strike="noStrike" dirty="0">
                <a:solidFill>
                  <a:srgbClr val="404040"/>
                </a:solidFill>
                <a:effectLst/>
                <a:latin typeface="+mj-lt"/>
              </a:rPr>
              <a:t>Strengths</a:t>
            </a:r>
            <a:r>
              <a:rPr lang="en-GB" b="0" i="0" u="none" strike="noStrike" dirty="0">
                <a:solidFill>
                  <a:srgbClr val="404040"/>
                </a:solidFill>
                <a:effectLst/>
                <a:latin typeface="+mj-lt"/>
              </a:rPr>
              <a:t>:</a:t>
            </a:r>
          </a:p>
          <a:p>
            <a:pPr marL="742950" lvl="1" indent="-285750" algn="l">
              <a:spcBef>
                <a:spcPts val="300"/>
              </a:spcBef>
              <a:buFont typeface="Wingdings" pitchFamily="2" charset="2"/>
              <a:buChar char="ü"/>
            </a:pPr>
            <a:r>
              <a:rPr lang="en-GB" b="0" i="0" u="none" strike="noStrike" dirty="0">
                <a:solidFill>
                  <a:srgbClr val="404040"/>
                </a:solidFill>
                <a:effectLst/>
                <a:latin typeface="+mj-lt"/>
              </a:rPr>
              <a:t>Higher accuracy than YOLO/SSD</a:t>
            </a:r>
          </a:p>
          <a:p>
            <a:pPr marL="742950" lvl="1" indent="-285750" algn="l">
              <a:spcBef>
                <a:spcPts val="300"/>
              </a:spcBef>
              <a:buFont typeface="Wingdings" pitchFamily="2" charset="2"/>
              <a:buChar char="ü"/>
            </a:pPr>
            <a:r>
              <a:rPr lang="en-GB" b="0" i="0" u="none" strike="noStrike" dirty="0">
                <a:solidFill>
                  <a:srgbClr val="404040"/>
                </a:solidFill>
                <a:effectLst/>
                <a:latin typeface="+mj-lt"/>
              </a:rPr>
              <a:t>Better for small objects</a:t>
            </a:r>
          </a:p>
          <a:p>
            <a:pPr marL="742950" lvl="1" indent="-285750" algn="l">
              <a:spcBef>
                <a:spcPts val="300"/>
              </a:spcBef>
              <a:buFont typeface="Arial" panose="020B0604020202020204" pitchFamily="34" charset="0"/>
              <a:buChar char="•"/>
            </a:pPr>
            <a:endParaRPr lang="en-GB" b="0" i="0" u="none" strike="noStrike" dirty="0">
              <a:solidFill>
                <a:srgbClr val="404040"/>
              </a:solidFill>
              <a:effectLst/>
              <a:latin typeface="+mj-lt"/>
            </a:endParaRPr>
          </a:p>
          <a:p>
            <a:br>
              <a:rPr lang="en-GB" sz="1500" dirty="0">
                <a:latin typeface="+mj-lt"/>
              </a:rPr>
            </a:br>
            <a:endParaRPr lang="en-GB" sz="1500" i="0" u="none" strike="noStrike" dirty="0">
              <a:solidFill>
                <a:srgbClr val="000000"/>
              </a:solidFill>
              <a:effectLst/>
              <a:latin typeface="+mj-lt"/>
            </a:endParaRPr>
          </a:p>
        </p:txBody>
      </p:sp>
    </p:spTree>
    <p:extLst>
      <p:ext uri="{BB962C8B-B14F-4D97-AF65-F5344CB8AC3E}">
        <p14:creationId xmlns:p14="http://schemas.microsoft.com/office/powerpoint/2010/main" val="27377192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39FA2DC-7484-FDA4-FAF9-7B7D6BC258CF}"/>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D1664DDC-4071-F20C-0052-0CAE833F385B}"/>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dirty="0">
                <a:solidFill>
                  <a:srgbClr val="7030A0"/>
                </a:solidFill>
                <a:latin typeface="+mj-lt"/>
              </a:rPr>
              <a:t> What is YOLO</a:t>
            </a: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6CBC994B-9093-9AF8-5A46-8D197D116BAD}"/>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608F2556-1E35-61DB-BD3D-CA79C305493C}"/>
              </a:ext>
            </a:extLst>
          </p:cNvPr>
          <p:cNvSpPr txBox="1"/>
          <p:nvPr/>
        </p:nvSpPr>
        <p:spPr>
          <a:xfrm>
            <a:off x="-30278" y="557949"/>
            <a:ext cx="8832221" cy="2062103"/>
          </a:xfrm>
          <a:prstGeom prst="rect">
            <a:avLst/>
          </a:prstGeom>
          <a:noFill/>
        </p:spPr>
        <p:txBody>
          <a:bodyPr wrap="square">
            <a:spAutoFit/>
          </a:bodyPr>
          <a:lstStyle/>
          <a:p>
            <a:pPr marL="285750" indent="-285750" algn="l">
              <a:buFont typeface="Wingdings" pitchFamily="2" charset="2"/>
              <a:buChar char="Ø"/>
            </a:pPr>
            <a:endParaRPr lang="en-GB" sz="1600" b="0" i="0" u="none" strike="noStrike" dirty="0">
              <a:solidFill>
                <a:srgbClr val="000000"/>
              </a:solidFill>
              <a:effectLst/>
            </a:endParaRPr>
          </a:p>
          <a:p>
            <a:pPr marL="285750" indent="-285750" algn="l">
              <a:buFont typeface="Wingdings" pitchFamily="2" charset="2"/>
              <a:buChar char="Ø"/>
            </a:pPr>
            <a:r>
              <a:rPr lang="en-GB" sz="1600" b="0" i="0" u="none" strike="noStrike" dirty="0">
                <a:solidFill>
                  <a:srgbClr val="000000"/>
                </a:solidFill>
                <a:effectLst/>
              </a:rPr>
              <a:t>YOLO stands for You Only Look Once.</a:t>
            </a:r>
          </a:p>
          <a:p>
            <a:pPr marL="285750" indent="-285750" algn="l">
              <a:buFont typeface="Wingdings" pitchFamily="2" charset="2"/>
              <a:buChar char="Ø"/>
            </a:pPr>
            <a:r>
              <a:rPr lang="en-GB" sz="1600" b="0" i="0" u="none" strike="noStrike" dirty="0">
                <a:solidFill>
                  <a:srgbClr val="000000"/>
                </a:solidFill>
                <a:effectLst/>
              </a:rPr>
              <a:t>It's a state-of-the-art algorithm for real-time object detection, introduced in 2015 by Joseph Redmon, Santosh </a:t>
            </a:r>
            <a:r>
              <a:rPr lang="en-GB" sz="1600" b="0" i="0" u="none" strike="noStrike" dirty="0" err="1">
                <a:solidFill>
                  <a:srgbClr val="000000"/>
                </a:solidFill>
                <a:effectLst/>
              </a:rPr>
              <a:t>Divvala</a:t>
            </a:r>
            <a:r>
              <a:rPr lang="en-GB" sz="1600" b="0" i="0" u="none" strike="noStrike" dirty="0">
                <a:solidFill>
                  <a:srgbClr val="000000"/>
                </a:solidFill>
                <a:effectLst/>
              </a:rPr>
              <a:t>, Ross </a:t>
            </a:r>
            <a:r>
              <a:rPr lang="en-GB" sz="1600" b="0" i="0" u="none" strike="noStrike" dirty="0" err="1">
                <a:solidFill>
                  <a:srgbClr val="000000"/>
                </a:solidFill>
                <a:effectLst/>
              </a:rPr>
              <a:t>Girshick</a:t>
            </a:r>
            <a:r>
              <a:rPr lang="en-GB" sz="1600" b="0" i="0" u="none" strike="noStrike" dirty="0">
                <a:solidFill>
                  <a:srgbClr val="000000"/>
                </a:solidFill>
                <a:effectLst/>
              </a:rPr>
              <a:t>, and Ali Farhadi in their paper "You Only Look Once: Unified, Real-Time Object Detection."</a:t>
            </a:r>
          </a:p>
          <a:p>
            <a:pPr marL="285750" indent="-285750" algn="l">
              <a:buFont typeface="Wingdings" pitchFamily="2" charset="2"/>
              <a:buChar char="Ø"/>
            </a:pPr>
            <a:r>
              <a:rPr lang="en-GB" sz="1600" b="0" i="0" u="none" strike="noStrike" dirty="0">
                <a:solidFill>
                  <a:srgbClr val="000000"/>
                </a:solidFill>
                <a:effectLst/>
              </a:rPr>
              <a:t>It achieves this by spatially separating bounding boxes and assigning probabilities to each detected object within an image using a single convolutional neural network (CNN).</a:t>
            </a:r>
          </a:p>
          <a:p>
            <a:pPr marL="342900" indent="-342900" algn="l">
              <a:buFont typeface="Wingdings" pitchFamily="2" charset="2"/>
              <a:buChar char="Ø"/>
            </a:pPr>
            <a:endParaRPr lang="en-GB" sz="1600" b="0" i="0" u="none" strike="noStrike" dirty="0">
              <a:solidFill>
                <a:srgbClr val="000000"/>
              </a:solidFill>
              <a:effectLst/>
            </a:endParaRPr>
          </a:p>
        </p:txBody>
      </p:sp>
      <p:pic>
        <p:nvPicPr>
          <p:cNvPr id="35846" name="Picture 6" descr="YOLO-You Only Look Once">
            <a:extLst>
              <a:ext uri="{FF2B5EF4-FFF2-40B4-BE49-F238E27FC236}">
                <a16:creationId xmlns:a16="http://schemas.microsoft.com/office/drawing/2014/main" id="{1A788C95-3001-95E5-C052-4B397BD73D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3146" y="2480916"/>
            <a:ext cx="4121793" cy="23082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89263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C3F52BD-26D0-BF43-4CAD-4BD26B5AEC26}"/>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2650F2DD-B17A-5A9D-25E2-DD2579CB92E6}"/>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dirty="0">
                <a:solidFill>
                  <a:srgbClr val="7030A0"/>
                </a:solidFill>
                <a:latin typeface="+mj-lt"/>
              </a:rPr>
              <a:t> Features of the YOLO algorithm:</a:t>
            </a:r>
            <a:br>
              <a:rPr lang="en-GB" sz="3200" dirty="0">
                <a:solidFill>
                  <a:srgbClr val="7030A0"/>
                </a:solidFill>
                <a:latin typeface="+mj-lt"/>
              </a:rPr>
            </a:b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FF2C3D5E-D6C7-763E-D8D3-877926FAF93E}"/>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D9C0C131-0B82-FD9F-9C1E-95B3CE6C1D8B}"/>
              </a:ext>
            </a:extLst>
          </p:cNvPr>
          <p:cNvSpPr txBox="1"/>
          <p:nvPr/>
        </p:nvSpPr>
        <p:spPr>
          <a:xfrm>
            <a:off x="99832" y="786632"/>
            <a:ext cx="8832221" cy="3293209"/>
          </a:xfrm>
          <a:prstGeom prst="rect">
            <a:avLst/>
          </a:prstGeom>
          <a:noFill/>
        </p:spPr>
        <p:txBody>
          <a:bodyPr wrap="square">
            <a:spAutoFit/>
          </a:bodyPr>
          <a:lstStyle/>
          <a:p>
            <a:pPr marL="342900" indent="-342900" algn="l">
              <a:buFont typeface="+mj-lt"/>
              <a:buAutoNum type="arabicPeriod"/>
            </a:pPr>
            <a:r>
              <a:rPr lang="en-GB" sz="1600" b="1" i="0" u="none" strike="noStrike" dirty="0">
                <a:solidFill>
                  <a:srgbClr val="000000"/>
                </a:solidFill>
                <a:effectLst/>
              </a:rPr>
              <a:t>Speed:</a:t>
            </a:r>
            <a:r>
              <a:rPr lang="en-GB" sz="1600" b="0" i="0" u="none" strike="noStrike" dirty="0">
                <a:solidFill>
                  <a:srgbClr val="000000"/>
                </a:solidFill>
                <a:effectLst/>
              </a:rPr>
              <a:t> YOLO is exceptionally fast, processing images at 45 Frames Per Second (FPS) and even reaching 91 FPS according to the provided graphic, significantly outperforming other object detectors.</a:t>
            </a:r>
          </a:p>
          <a:p>
            <a:pPr marL="342900" indent="-342900" algn="l">
              <a:buFont typeface="+mj-lt"/>
              <a:buAutoNum type="arabicPeriod"/>
            </a:pPr>
            <a:r>
              <a:rPr lang="en-GB" sz="1600" b="1" i="0" u="none" strike="noStrike" dirty="0">
                <a:solidFill>
                  <a:srgbClr val="000000"/>
                </a:solidFill>
                <a:effectLst/>
              </a:rPr>
              <a:t>High Detection Accuracy:</a:t>
            </a:r>
            <a:r>
              <a:rPr lang="en-GB" sz="1600" b="0" i="0" u="none" strike="noStrike" dirty="0">
                <a:solidFill>
                  <a:srgbClr val="000000"/>
                </a:solidFill>
                <a:effectLst/>
              </a:rPr>
              <a:t> YOLO achieves accuracy far beyond other state-of-the-art models, with minimal background errors.</a:t>
            </a:r>
          </a:p>
          <a:p>
            <a:pPr marL="342900" indent="-342900" algn="l">
              <a:buFont typeface="+mj-lt"/>
              <a:buAutoNum type="arabicPeriod"/>
            </a:pPr>
            <a:r>
              <a:rPr lang="en-GB" sz="1600" b="1" i="0" u="none" strike="noStrike" dirty="0">
                <a:solidFill>
                  <a:srgbClr val="000000"/>
                </a:solidFill>
                <a:effectLst/>
              </a:rPr>
              <a:t>Better Generalization:</a:t>
            </a:r>
            <a:r>
              <a:rPr lang="en-GB" sz="1600" b="0" i="0" u="none" strike="noStrike" dirty="0">
                <a:solidFill>
                  <a:srgbClr val="000000"/>
                </a:solidFill>
                <a:effectLst/>
              </a:rPr>
              <a:t> Especially newer YOLO versions, demonstrate improved generalization to new and unseen domains, making it suitable for robust object detection applications. The "Automatic Detection of Melanoma with Yolo Deep Convolutional Neural Networks" paper illustrates the improved </a:t>
            </a:r>
            <a:r>
              <a:rPr lang="en-GB" sz="1600" b="0" i="0" u="none" strike="noStrike" dirty="0" err="1">
                <a:solidFill>
                  <a:srgbClr val="000000"/>
                </a:solidFill>
                <a:effectLst/>
              </a:rPr>
              <a:t>mAP</a:t>
            </a:r>
            <a:r>
              <a:rPr lang="en-GB" sz="1600" b="0" i="0" u="none" strike="noStrike" dirty="0">
                <a:solidFill>
                  <a:srgbClr val="000000"/>
                </a:solidFill>
                <a:effectLst/>
              </a:rPr>
              <a:t> of later YOLO versions (v2 and v3) compared to v1 for melanoma detection.</a:t>
            </a:r>
          </a:p>
          <a:p>
            <a:pPr marL="342900" indent="-342900" algn="l">
              <a:buFont typeface="+mj-lt"/>
              <a:buAutoNum type="arabicPeriod"/>
            </a:pPr>
            <a:r>
              <a:rPr lang="en-GB" sz="1600" b="1" i="0" u="none" strike="noStrike" dirty="0">
                <a:solidFill>
                  <a:srgbClr val="000000"/>
                </a:solidFill>
                <a:effectLst/>
              </a:rPr>
              <a:t>Open-Source:</a:t>
            </a:r>
            <a:r>
              <a:rPr lang="en-GB" sz="1600" b="0" i="0" u="none" strike="noStrike" dirty="0">
                <a:solidFill>
                  <a:srgbClr val="000000"/>
                </a:solidFill>
                <a:effectLst/>
              </a:rPr>
              <a:t> Being open-source has fostered continuous community-driven improvements to the YOLO model.</a:t>
            </a:r>
          </a:p>
          <a:p>
            <a:pPr marL="342900" indent="-342900" algn="l">
              <a:buFont typeface="+mj-lt"/>
              <a:buAutoNum type="arabicPeriod"/>
            </a:pPr>
            <a:endParaRPr lang="en-GB" sz="1600" b="0" i="0" u="none" strike="noStrike" dirty="0">
              <a:solidFill>
                <a:srgbClr val="000000"/>
              </a:solidFill>
              <a:effectLst/>
            </a:endParaRPr>
          </a:p>
        </p:txBody>
      </p:sp>
    </p:spTree>
    <p:extLst>
      <p:ext uri="{BB962C8B-B14F-4D97-AF65-F5344CB8AC3E}">
        <p14:creationId xmlns:p14="http://schemas.microsoft.com/office/powerpoint/2010/main" val="2612514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B3DBC826-BC4E-FDF2-F328-F4310975588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58A64D47-451B-23ED-95BB-59B289E16DB4}"/>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b="1" i="0" u="none" strike="noStrike" dirty="0">
                <a:solidFill>
                  <a:srgbClr val="7030A0"/>
                </a:solidFill>
                <a:effectLst/>
                <a:latin typeface="Source Sans 3"/>
              </a:rPr>
              <a:t>YOLO Architecture</a:t>
            </a:r>
            <a:br>
              <a:rPr lang="en-GB" sz="3200" b="1" i="0" u="none" strike="noStrike" dirty="0">
                <a:solidFill>
                  <a:srgbClr val="7030A0"/>
                </a:solidFill>
                <a:effectLst/>
                <a:latin typeface="Source Sans 3"/>
              </a:rPr>
            </a:br>
            <a:br>
              <a:rPr lang="en-GB" sz="3200" b="1" i="0" u="none" strike="noStrike" dirty="0">
                <a:solidFill>
                  <a:srgbClr val="7030A0"/>
                </a:solidFill>
                <a:effectLst/>
                <a:latin typeface="Source Sans 3"/>
              </a:rPr>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993AB7DD-8F27-9CBE-D7F9-ADCC3CB2C0D3}"/>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09A4F231-4332-F87D-13D0-06E76CA253E2}"/>
              </a:ext>
            </a:extLst>
          </p:cNvPr>
          <p:cNvSpPr txBox="1"/>
          <p:nvPr/>
        </p:nvSpPr>
        <p:spPr>
          <a:xfrm>
            <a:off x="487445" y="715209"/>
            <a:ext cx="7797814" cy="1218282"/>
          </a:xfrm>
          <a:prstGeom prst="rect">
            <a:avLst/>
          </a:prstGeom>
          <a:noFill/>
        </p:spPr>
        <p:txBody>
          <a:bodyPr wrap="square">
            <a:spAutoFit/>
          </a:bodyPr>
          <a:lstStyle/>
          <a:p>
            <a:pPr algn="l">
              <a:spcAft>
                <a:spcPts val="1050"/>
              </a:spcAft>
              <a:buNone/>
            </a:pPr>
            <a:r>
              <a:rPr lang="en-GB" sz="1600" b="0" i="0" u="none" strike="noStrike" dirty="0">
                <a:solidFill>
                  <a:srgbClr val="05192D"/>
                </a:solidFill>
                <a:effectLst/>
                <a:latin typeface="+mj-lt"/>
              </a:rPr>
              <a:t>YOLO architecture is similar to </a:t>
            </a:r>
            <a:r>
              <a:rPr lang="en-GB" sz="1600" b="1" i="0" u="none" strike="noStrike" dirty="0">
                <a:solidFill>
                  <a:srgbClr val="0075AD"/>
                </a:solidFill>
                <a:effectLst/>
                <a:latin typeface="+mj-lt"/>
                <a:hlinkClick r:id="rId3"/>
              </a:rPr>
              <a:t>GoogleNet</a:t>
            </a:r>
            <a:r>
              <a:rPr lang="en-GB" sz="1600" b="0" i="0" u="none" strike="noStrike" dirty="0">
                <a:solidFill>
                  <a:srgbClr val="05192D"/>
                </a:solidFill>
                <a:effectLst/>
                <a:latin typeface="+mj-lt"/>
              </a:rPr>
              <a:t>. As illustrated below, it has 24 convolutional layers, four max-pooling layers, and two fully connected layers.</a:t>
            </a:r>
          </a:p>
          <a:p>
            <a:pPr>
              <a:buNone/>
            </a:pPr>
            <a:br>
              <a:rPr lang="en-GB" sz="1600" dirty="0">
                <a:latin typeface="+mj-lt"/>
              </a:rPr>
            </a:br>
            <a:endParaRPr lang="en-GB" sz="1600" b="0" i="0" u="none" strike="noStrike" dirty="0">
              <a:solidFill>
                <a:srgbClr val="000000"/>
              </a:solidFill>
              <a:effectLst/>
              <a:latin typeface="+mj-lt"/>
            </a:endParaRPr>
          </a:p>
        </p:txBody>
      </p:sp>
      <p:pic>
        <p:nvPicPr>
          <p:cNvPr id="36866" name="Picture 2" descr="YOLO Architecture from the original paper">
            <a:extLst>
              <a:ext uri="{FF2B5EF4-FFF2-40B4-BE49-F238E27FC236}">
                <a16:creationId xmlns:a16="http://schemas.microsoft.com/office/drawing/2014/main" id="{3ADA5E4F-3D8E-D78D-13CF-A0F65B04DC4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5820"/>
          <a:stretch/>
        </p:blipFill>
        <p:spPr bwMode="auto">
          <a:xfrm>
            <a:off x="1005234" y="1371267"/>
            <a:ext cx="6857843" cy="37704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0553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DC2F5E33-B4B8-7C65-1D56-31F31878EB94}"/>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C7001CE2-8680-442B-4CBC-EF4F3EC89689}"/>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b="1" i="0" u="none" strike="noStrike" dirty="0">
                <a:solidFill>
                  <a:srgbClr val="7030A0"/>
                </a:solidFill>
                <a:effectLst/>
                <a:latin typeface="Source Sans 3"/>
              </a:rPr>
              <a:t>YOLO Architecture- Explained</a:t>
            </a:r>
            <a:br>
              <a:rPr lang="en-GB" sz="3200" b="1" i="0" u="none" strike="noStrike" dirty="0">
                <a:solidFill>
                  <a:srgbClr val="7030A0"/>
                </a:solidFill>
                <a:effectLst/>
                <a:latin typeface="Source Sans 3"/>
              </a:rPr>
            </a:br>
            <a:br>
              <a:rPr lang="en-GB" sz="3200" b="1" i="0" u="none" strike="noStrike" dirty="0">
                <a:solidFill>
                  <a:srgbClr val="7030A0"/>
                </a:solidFill>
                <a:effectLst/>
                <a:latin typeface="Source Sans 3"/>
              </a:rPr>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B4D8E552-EE46-5606-5E0C-9BE8D758DDB3}"/>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757B06E3-9E4B-B1EF-0EDC-01AE0C632004}"/>
              </a:ext>
            </a:extLst>
          </p:cNvPr>
          <p:cNvSpPr txBox="1"/>
          <p:nvPr/>
        </p:nvSpPr>
        <p:spPr>
          <a:xfrm>
            <a:off x="407175" y="713964"/>
            <a:ext cx="7797814" cy="3957494"/>
          </a:xfrm>
          <a:prstGeom prst="rect">
            <a:avLst/>
          </a:prstGeom>
          <a:noFill/>
        </p:spPr>
        <p:txBody>
          <a:bodyPr wrap="square">
            <a:spAutoFit/>
          </a:bodyPr>
          <a:lstStyle/>
          <a:p>
            <a:pPr algn="l">
              <a:spcAft>
                <a:spcPts val="1050"/>
              </a:spcAft>
            </a:pPr>
            <a:r>
              <a:rPr lang="en-GB" sz="2000" b="0" i="0" u="none" strike="noStrike" dirty="0">
                <a:solidFill>
                  <a:srgbClr val="05192D"/>
                </a:solidFill>
                <a:effectLst/>
                <a:latin typeface="Studio-Feixen-Sans"/>
              </a:rPr>
              <a:t>The architecture works as follows:</a:t>
            </a:r>
          </a:p>
          <a:p>
            <a:pPr marL="457200" indent="-457200" algn="l">
              <a:spcAft>
                <a:spcPts val="900"/>
              </a:spcAft>
              <a:buFont typeface="+mj-lt"/>
              <a:buAutoNum type="arabicPeriod"/>
            </a:pPr>
            <a:r>
              <a:rPr lang="en-GB" sz="2000" b="0" i="0" u="none" strike="noStrike" dirty="0">
                <a:solidFill>
                  <a:srgbClr val="05192D"/>
                </a:solidFill>
                <a:effectLst/>
                <a:latin typeface="Studio-Feixen-Sans"/>
              </a:rPr>
              <a:t>Resizes the input image into 448x448 before going through the convolutional network.</a:t>
            </a:r>
          </a:p>
          <a:p>
            <a:pPr marL="457200" indent="-457200" algn="l">
              <a:spcAft>
                <a:spcPts val="900"/>
              </a:spcAft>
              <a:buFont typeface="+mj-lt"/>
              <a:buAutoNum type="arabicPeriod"/>
            </a:pPr>
            <a:r>
              <a:rPr lang="en-GB" sz="2000" b="0" i="0" u="none" strike="noStrike" dirty="0">
                <a:solidFill>
                  <a:srgbClr val="05192D"/>
                </a:solidFill>
                <a:effectLst/>
                <a:latin typeface="Studio-Feixen-Sans"/>
              </a:rPr>
              <a:t>A 1x1 convolution is first applied to reduce the number of channels, followed by a 3x3 convolution to generate a cuboidal output.</a:t>
            </a:r>
          </a:p>
          <a:p>
            <a:pPr marL="457200" indent="-457200" algn="l">
              <a:spcAft>
                <a:spcPts val="900"/>
              </a:spcAft>
              <a:buFont typeface="+mj-lt"/>
              <a:buAutoNum type="arabicPeriod"/>
            </a:pPr>
            <a:r>
              <a:rPr lang="en-GB" sz="2000" b="0" i="0" u="none" strike="noStrike" dirty="0">
                <a:solidFill>
                  <a:srgbClr val="05192D"/>
                </a:solidFill>
                <a:effectLst/>
                <a:latin typeface="Studio-Feixen-Sans"/>
              </a:rPr>
              <a:t>The activation function under the hood is </a:t>
            </a:r>
            <a:r>
              <a:rPr lang="en-GB" sz="2000" b="0" i="0" u="none" strike="noStrike" dirty="0" err="1">
                <a:solidFill>
                  <a:srgbClr val="05192D"/>
                </a:solidFill>
                <a:effectLst/>
                <a:latin typeface="Studio-Feixen-Sans"/>
              </a:rPr>
              <a:t>ReLU</a:t>
            </a:r>
            <a:r>
              <a:rPr lang="en-GB" sz="2000" b="0" i="0" u="none" strike="noStrike" dirty="0">
                <a:solidFill>
                  <a:srgbClr val="05192D"/>
                </a:solidFill>
                <a:effectLst/>
                <a:latin typeface="Studio-Feixen-Sans"/>
              </a:rPr>
              <a:t>, except for the final layer, which uses a linear activation function.</a:t>
            </a:r>
          </a:p>
          <a:p>
            <a:pPr marL="457200" indent="-457200" algn="l">
              <a:spcAft>
                <a:spcPts val="900"/>
              </a:spcAft>
              <a:buFont typeface="+mj-lt"/>
              <a:buAutoNum type="arabicPeriod"/>
            </a:pPr>
            <a:r>
              <a:rPr lang="en-GB" sz="2000" b="0" i="0" u="none" strike="noStrike" dirty="0">
                <a:solidFill>
                  <a:srgbClr val="05192D"/>
                </a:solidFill>
                <a:effectLst/>
                <a:latin typeface="Studio-Feixen-Sans"/>
              </a:rPr>
              <a:t>Some additional techniques, such as batch normalization and dropout, regularize the model and prevent it from overfitting.</a:t>
            </a:r>
          </a:p>
          <a:p>
            <a:br>
              <a:rPr lang="en-GB" sz="1600" dirty="0">
                <a:latin typeface="+mj-lt"/>
              </a:rPr>
            </a:br>
            <a:endParaRPr lang="en-GB" sz="1600" b="0" i="0" u="none" strike="noStrike" dirty="0">
              <a:solidFill>
                <a:srgbClr val="000000"/>
              </a:solidFill>
              <a:effectLst/>
              <a:latin typeface="+mj-lt"/>
            </a:endParaRPr>
          </a:p>
        </p:txBody>
      </p:sp>
    </p:spTree>
    <p:extLst>
      <p:ext uri="{BB962C8B-B14F-4D97-AF65-F5344CB8AC3E}">
        <p14:creationId xmlns:p14="http://schemas.microsoft.com/office/powerpoint/2010/main" val="5283805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2177FC52-570A-3F34-D78A-4C80CF6BDB60}"/>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774BA0A5-7358-DD53-9DCE-A58213824649}"/>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b="1" i="0" u="none" strike="noStrike" dirty="0">
                <a:solidFill>
                  <a:srgbClr val="7030A0"/>
                </a:solidFill>
                <a:effectLst/>
                <a:latin typeface="Source Sans 3"/>
              </a:rPr>
              <a:t>Working of YOLO Object Detection</a:t>
            </a:r>
          </a:p>
          <a:p>
            <a:br>
              <a:rPr lang="en-GB" sz="3200" b="1" i="0" u="none" strike="noStrike" dirty="0">
                <a:solidFill>
                  <a:srgbClr val="7030A0"/>
                </a:solidFill>
                <a:effectLst/>
                <a:latin typeface="Source Sans 3"/>
              </a:rPr>
            </a:br>
            <a:br>
              <a:rPr lang="en-GB" sz="3200" b="1" i="0" u="none" strike="noStrike" dirty="0">
                <a:solidFill>
                  <a:srgbClr val="7030A0"/>
                </a:solidFill>
                <a:effectLst/>
                <a:latin typeface="Source Sans 3"/>
              </a:rPr>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9938FB17-6C33-277E-43A8-F49CADA2AE41}"/>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1E7F250C-F0A6-C3F3-7A0D-E34B2654BCAE}"/>
              </a:ext>
            </a:extLst>
          </p:cNvPr>
          <p:cNvSpPr txBox="1"/>
          <p:nvPr/>
        </p:nvSpPr>
        <p:spPr>
          <a:xfrm>
            <a:off x="291589" y="3160438"/>
            <a:ext cx="7797814" cy="2418611"/>
          </a:xfrm>
          <a:prstGeom prst="rect">
            <a:avLst/>
          </a:prstGeom>
          <a:noFill/>
        </p:spPr>
        <p:txBody>
          <a:bodyPr wrap="square">
            <a:spAutoFit/>
          </a:bodyPr>
          <a:lstStyle/>
          <a:p>
            <a:pPr algn="l">
              <a:spcAft>
                <a:spcPts val="1050"/>
              </a:spcAft>
              <a:buNone/>
            </a:pPr>
            <a:r>
              <a:rPr lang="en-GB" sz="1600" b="0" i="0" u="none" strike="noStrike" dirty="0">
                <a:solidFill>
                  <a:srgbClr val="05192D"/>
                </a:solidFill>
                <a:effectLst/>
                <a:latin typeface="+mj-lt"/>
              </a:rPr>
              <a:t>The algorithm works based on the following four approaches: </a:t>
            </a:r>
          </a:p>
          <a:p>
            <a:pPr marL="342900" indent="-342900" algn="l">
              <a:spcAft>
                <a:spcPts val="900"/>
              </a:spcAft>
              <a:buFont typeface="+mj-lt"/>
              <a:buAutoNum type="arabicPeriod"/>
            </a:pPr>
            <a:r>
              <a:rPr lang="en-GB" sz="1600" b="0" i="0" u="none" strike="noStrike" dirty="0">
                <a:solidFill>
                  <a:srgbClr val="05192D"/>
                </a:solidFill>
                <a:effectLst/>
                <a:latin typeface="+mj-lt"/>
              </a:rPr>
              <a:t>Residual blocks</a:t>
            </a:r>
          </a:p>
          <a:p>
            <a:pPr marL="342900" indent="-342900" algn="l">
              <a:spcAft>
                <a:spcPts val="900"/>
              </a:spcAft>
              <a:buFont typeface="+mj-lt"/>
              <a:buAutoNum type="arabicPeriod"/>
            </a:pPr>
            <a:r>
              <a:rPr lang="en-GB" sz="1600" b="0" i="0" u="none" strike="noStrike" dirty="0">
                <a:solidFill>
                  <a:srgbClr val="05192D"/>
                </a:solidFill>
                <a:effectLst/>
                <a:latin typeface="+mj-lt"/>
              </a:rPr>
              <a:t>Bounding box regression</a:t>
            </a:r>
          </a:p>
          <a:p>
            <a:pPr marL="342900" indent="-342900" algn="l">
              <a:spcAft>
                <a:spcPts val="900"/>
              </a:spcAft>
              <a:buFont typeface="+mj-lt"/>
              <a:buAutoNum type="arabicPeriod"/>
            </a:pPr>
            <a:r>
              <a:rPr lang="en-GB" sz="1600" b="0" i="0" u="none" strike="noStrike" dirty="0">
                <a:solidFill>
                  <a:srgbClr val="05192D"/>
                </a:solidFill>
                <a:effectLst/>
                <a:latin typeface="+mj-lt"/>
              </a:rPr>
              <a:t>Intersection Over Unions or IOU for short</a:t>
            </a:r>
          </a:p>
          <a:p>
            <a:pPr marL="342900" indent="-342900" algn="l">
              <a:spcAft>
                <a:spcPts val="900"/>
              </a:spcAft>
              <a:buFont typeface="+mj-lt"/>
              <a:buAutoNum type="arabicPeriod"/>
            </a:pPr>
            <a:r>
              <a:rPr lang="en-GB" sz="1600" b="0" i="0" u="none" strike="noStrike" dirty="0">
                <a:solidFill>
                  <a:srgbClr val="05192D"/>
                </a:solidFill>
                <a:effectLst/>
                <a:latin typeface="+mj-lt"/>
              </a:rPr>
              <a:t>Non-Maximum Suppression. </a:t>
            </a:r>
          </a:p>
          <a:p>
            <a:br>
              <a:rPr lang="en-GB" sz="1600" dirty="0">
                <a:latin typeface="+mj-lt"/>
              </a:rPr>
            </a:br>
            <a:endParaRPr lang="en-GB" sz="1600" b="0" i="0" u="none" strike="noStrike" dirty="0">
              <a:solidFill>
                <a:srgbClr val="000000"/>
              </a:solidFill>
              <a:effectLst/>
              <a:latin typeface="+mj-lt"/>
            </a:endParaRPr>
          </a:p>
        </p:txBody>
      </p:sp>
      <p:pic>
        <p:nvPicPr>
          <p:cNvPr id="38914" name="Picture 2" descr="YOLO Object Detection Image by Jeffrey F Lin on Unsplash">
            <a:extLst>
              <a:ext uri="{FF2B5EF4-FFF2-40B4-BE49-F238E27FC236}">
                <a16:creationId xmlns:a16="http://schemas.microsoft.com/office/drawing/2014/main" id="{07B34E01-E358-E2D2-BEEB-2CEB2E9BBBB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346"/>
          <a:stretch/>
        </p:blipFill>
        <p:spPr bwMode="auto">
          <a:xfrm>
            <a:off x="508673" y="586110"/>
            <a:ext cx="6091962" cy="2574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50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34EB1D22-0FF8-98DC-D8ED-3048F0FAFA73}"/>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1A6BEBA2-DEE9-82E7-71F5-A25C5D476059}"/>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b="1" i="0" u="none" strike="noStrike" dirty="0">
                <a:solidFill>
                  <a:srgbClr val="7030A0"/>
                </a:solidFill>
                <a:effectLst/>
                <a:latin typeface="Source Sans 3"/>
              </a:rPr>
              <a:t>Working of YOLO Object Detection</a:t>
            </a:r>
          </a:p>
          <a:p>
            <a:br>
              <a:rPr lang="en-GB" sz="3200" b="1" i="0" u="none" strike="noStrike" dirty="0">
                <a:solidFill>
                  <a:srgbClr val="7030A0"/>
                </a:solidFill>
                <a:effectLst/>
                <a:latin typeface="Source Sans 3"/>
              </a:rPr>
            </a:br>
            <a:br>
              <a:rPr lang="en-GB" sz="3200" b="1" i="0" u="none" strike="noStrike" dirty="0">
                <a:solidFill>
                  <a:srgbClr val="7030A0"/>
                </a:solidFill>
                <a:effectLst/>
                <a:latin typeface="Source Sans 3"/>
              </a:rPr>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FC094810-BA25-84F8-BED9-0F94774379C2}"/>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9B7C3F06-7001-13E0-32C4-F6589A39E4EA}"/>
              </a:ext>
            </a:extLst>
          </p:cNvPr>
          <p:cNvSpPr txBox="1"/>
          <p:nvPr/>
        </p:nvSpPr>
        <p:spPr>
          <a:xfrm>
            <a:off x="237088" y="568628"/>
            <a:ext cx="7797814" cy="2110834"/>
          </a:xfrm>
          <a:prstGeom prst="rect">
            <a:avLst/>
          </a:prstGeom>
          <a:noFill/>
        </p:spPr>
        <p:txBody>
          <a:bodyPr wrap="square">
            <a:spAutoFit/>
          </a:bodyPr>
          <a:lstStyle/>
          <a:p>
            <a:pPr algn="l">
              <a:spcBef>
                <a:spcPts val="1200"/>
              </a:spcBef>
              <a:spcAft>
                <a:spcPts val="1200"/>
              </a:spcAft>
              <a:buNone/>
            </a:pPr>
            <a:r>
              <a:rPr lang="en-GB" sz="1600" b="1" i="0" u="none" strike="noStrike" dirty="0">
                <a:solidFill>
                  <a:srgbClr val="05192D"/>
                </a:solidFill>
                <a:effectLst/>
                <a:latin typeface="+mj-lt"/>
              </a:rPr>
              <a:t>1. Residual blocks</a:t>
            </a:r>
          </a:p>
          <a:p>
            <a:pPr algn="l">
              <a:spcAft>
                <a:spcPts val="1050"/>
              </a:spcAft>
            </a:pPr>
            <a:r>
              <a:rPr lang="en-GB" sz="1600" b="0" i="0" u="none" strike="noStrike" dirty="0">
                <a:solidFill>
                  <a:srgbClr val="05192D"/>
                </a:solidFill>
                <a:effectLst/>
                <a:latin typeface="+mj-lt"/>
              </a:rPr>
              <a:t>This first step starts by dividing the original image (A) into </a:t>
            </a:r>
            <a:r>
              <a:rPr lang="en-GB" sz="1600" b="0" i="0" u="none" strike="noStrike" dirty="0" err="1">
                <a:solidFill>
                  <a:srgbClr val="05192D"/>
                </a:solidFill>
                <a:effectLst/>
                <a:latin typeface="+mj-lt"/>
              </a:rPr>
              <a:t>NxN</a:t>
            </a:r>
            <a:r>
              <a:rPr lang="en-GB" sz="1600" b="0" i="0" u="none" strike="noStrike" dirty="0">
                <a:solidFill>
                  <a:srgbClr val="05192D"/>
                </a:solidFill>
                <a:effectLst/>
                <a:latin typeface="+mj-lt"/>
              </a:rPr>
              <a:t> grid cells of equal shape, where N, in our case, is 4, as shown in the image on the right. Each cell in the grid is responsible for localizing and predicting the class of the object that it covers, along with the probability/confidence value. </a:t>
            </a:r>
          </a:p>
          <a:p>
            <a:br>
              <a:rPr lang="en-GB" sz="1600" dirty="0">
                <a:latin typeface="+mj-lt"/>
              </a:rPr>
            </a:br>
            <a:endParaRPr lang="en-GB" sz="1600" b="0" i="0" u="none" strike="noStrike" dirty="0">
              <a:solidFill>
                <a:srgbClr val="000000"/>
              </a:solidFill>
              <a:effectLst/>
              <a:latin typeface="+mj-lt"/>
            </a:endParaRPr>
          </a:p>
        </p:txBody>
      </p:sp>
      <p:pic>
        <p:nvPicPr>
          <p:cNvPr id="40962" name="Picture 2" descr="Application of grid cells to the original image">
            <a:extLst>
              <a:ext uri="{FF2B5EF4-FFF2-40B4-BE49-F238E27FC236}">
                <a16:creationId xmlns:a16="http://schemas.microsoft.com/office/drawing/2014/main" id="{BB6F8B5A-E793-4398-FC82-AB015476368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019"/>
          <a:stretch/>
        </p:blipFill>
        <p:spPr bwMode="auto">
          <a:xfrm>
            <a:off x="776038" y="2121431"/>
            <a:ext cx="7001761" cy="29360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42930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1BFC445C-2580-5869-A6F2-CA089B4702D2}"/>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A17AAB90-495D-4354-E575-B521EA9C979D}"/>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b="1" i="0" u="none" strike="noStrike" dirty="0">
                <a:solidFill>
                  <a:srgbClr val="7030A0"/>
                </a:solidFill>
                <a:effectLst/>
                <a:latin typeface="Source Sans 3"/>
              </a:rPr>
              <a:t>Working of YOLO Object Detection</a:t>
            </a:r>
          </a:p>
          <a:p>
            <a:br>
              <a:rPr lang="en-GB" sz="3200" b="1" i="0" u="none" strike="noStrike" dirty="0">
                <a:solidFill>
                  <a:srgbClr val="7030A0"/>
                </a:solidFill>
                <a:effectLst/>
                <a:latin typeface="Source Sans 3"/>
              </a:rPr>
            </a:br>
            <a:br>
              <a:rPr lang="en-GB" sz="3200" b="1" i="0" u="none" strike="noStrike" dirty="0">
                <a:solidFill>
                  <a:srgbClr val="7030A0"/>
                </a:solidFill>
                <a:effectLst/>
                <a:latin typeface="Source Sans 3"/>
              </a:rPr>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B207AC53-DB55-6C0A-745E-04EA8C3B7E9B}"/>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E6C992D9-4B0F-6BC5-F4D8-03C2CFA12CB6}"/>
              </a:ext>
            </a:extLst>
          </p:cNvPr>
          <p:cNvSpPr txBox="1"/>
          <p:nvPr/>
        </p:nvSpPr>
        <p:spPr>
          <a:xfrm>
            <a:off x="237088" y="568628"/>
            <a:ext cx="7797814" cy="3765133"/>
          </a:xfrm>
          <a:prstGeom prst="rect">
            <a:avLst/>
          </a:prstGeom>
          <a:noFill/>
        </p:spPr>
        <p:txBody>
          <a:bodyPr wrap="square">
            <a:spAutoFit/>
          </a:bodyPr>
          <a:lstStyle/>
          <a:p>
            <a:pPr algn="l">
              <a:spcBef>
                <a:spcPts val="1200"/>
              </a:spcBef>
              <a:spcAft>
                <a:spcPts val="1200"/>
              </a:spcAft>
              <a:buNone/>
            </a:pPr>
            <a:r>
              <a:rPr lang="en-GB" sz="1600" b="1" i="0" u="none" strike="noStrike" dirty="0">
                <a:solidFill>
                  <a:srgbClr val="05192D"/>
                </a:solidFill>
                <a:effectLst/>
                <a:latin typeface="+mj-lt"/>
              </a:rPr>
              <a:t>2. Bounding box regression</a:t>
            </a:r>
          </a:p>
          <a:p>
            <a:pPr algn="l">
              <a:spcAft>
                <a:spcPts val="1050"/>
              </a:spcAft>
              <a:buNone/>
            </a:pPr>
            <a:r>
              <a:rPr lang="en-GB" sz="1600" b="0" i="0" u="none" strike="noStrike" dirty="0">
                <a:solidFill>
                  <a:srgbClr val="05192D"/>
                </a:solidFill>
                <a:effectLst/>
                <a:latin typeface="+mj-lt"/>
              </a:rPr>
              <a:t>The next step is to determine the bounding boxes corresponding to rectangles, highlighting all the objects in the image. We can have as many bounding boxes as there are objects within a given image. </a:t>
            </a:r>
          </a:p>
          <a:p>
            <a:pPr algn="l">
              <a:spcAft>
                <a:spcPts val="1050"/>
              </a:spcAft>
              <a:buNone/>
            </a:pPr>
            <a:r>
              <a:rPr lang="en-GB" sz="1600" b="0" i="0" u="none" strike="noStrike" dirty="0">
                <a:solidFill>
                  <a:srgbClr val="05192D"/>
                </a:solidFill>
                <a:effectLst/>
                <a:latin typeface="+mj-lt"/>
              </a:rPr>
              <a:t>YOLO determines the attributes of these bounding boxes using a single regression module in the following format, where Y is the final vector representation for each bounding box. </a:t>
            </a:r>
          </a:p>
          <a:p>
            <a:pPr algn="l">
              <a:spcAft>
                <a:spcPts val="1050"/>
              </a:spcAft>
              <a:buNone/>
            </a:pPr>
            <a:r>
              <a:rPr lang="en-GB" sz="1600" b="0" i="0" u="none" strike="noStrike" dirty="0">
                <a:solidFill>
                  <a:srgbClr val="05192D"/>
                </a:solidFill>
                <a:effectLst/>
                <a:latin typeface="+mj-lt"/>
              </a:rPr>
              <a:t>Y = [pc, </a:t>
            </a:r>
            <a:r>
              <a:rPr lang="en-GB" sz="1600" b="0" i="0" u="none" strike="noStrike" dirty="0" err="1">
                <a:solidFill>
                  <a:srgbClr val="05192D"/>
                </a:solidFill>
                <a:effectLst/>
                <a:latin typeface="+mj-lt"/>
              </a:rPr>
              <a:t>bx</a:t>
            </a:r>
            <a:r>
              <a:rPr lang="en-GB" sz="1600" b="0" i="0" u="none" strike="noStrike" dirty="0">
                <a:solidFill>
                  <a:srgbClr val="05192D"/>
                </a:solidFill>
                <a:effectLst/>
                <a:latin typeface="+mj-lt"/>
              </a:rPr>
              <a:t>, by, </a:t>
            </a:r>
            <a:r>
              <a:rPr lang="en-GB" sz="1600" b="0" i="0" u="none" strike="noStrike" dirty="0" err="1">
                <a:solidFill>
                  <a:srgbClr val="05192D"/>
                </a:solidFill>
                <a:effectLst/>
                <a:latin typeface="+mj-lt"/>
              </a:rPr>
              <a:t>bh</a:t>
            </a:r>
            <a:r>
              <a:rPr lang="en-GB" sz="1600" b="0" i="0" u="none" strike="noStrike" dirty="0">
                <a:solidFill>
                  <a:srgbClr val="05192D"/>
                </a:solidFill>
                <a:effectLst/>
                <a:latin typeface="+mj-lt"/>
              </a:rPr>
              <a:t>, </a:t>
            </a:r>
            <a:r>
              <a:rPr lang="en-GB" sz="1600" b="0" i="0" u="none" strike="noStrike" dirty="0" err="1">
                <a:solidFill>
                  <a:srgbClr val="05192D"/>
                </a:solidFill>
                <a:effectLst/>
                <a:latin typeface="+mj-lt"/>
              </a:rPr>
              <a:t>bw</a:t>
            </a:r>
            <a:r>
              <a:rPr lang="en-GB" sz="1600" b="0" i="0" u="none" strike="noStrike" dirty="0">
                <a:solidFill>
                  <a:srgbClr val="05192D"/>
                </a:solidFill>
                <a:effectLst/>
                <a:latin typeface="+mj-lt"/>
              </a:rPr>
              <a:t>, c1, c2]</a:t>
            </a:r>
          </a:p>
          <a:p>
            <a:pPr algn="l">
              <a:spcAft>
                <a:spcPts val="1050"/>
              </a:spcAft>
              <a:buNone/>
            </a:pPr>
            <a:r>
              <a:rPr lang="en-GB" sz="1600" b="0" i="0" u="none" strike="noStrike" dirty="0">
                <a:solidFill>
                  <a:srgbClr val="05192D"/>
                </a:solidFill>
                <a:effectLst/>
                <a:latin typeface="+mj-lt"/>
              </a:rPr>
              <a:t>This is especially important during the training phase of the model.</a:t>
            </a:r>
          </a:p>
          <a:p>
            <a:pPr marL="285750" indent="-285750" algn="l">
              <a:spcAft>
                <a:spcPts val="900"/>
              </a:spcAft>
              <a:buFont typeface="Wingdings" pitchFamily="2" charset="2"/>
              <a:buChar char="Ø"/>
            </a:pPr>
            <a:r>
              <a:rPr lang="en-GB" sz="1600" b="0" i="0" u="none" strike="noStrike" dirty="0">
                <a:solidFill>
                  <a:srgbClr val="05192D"/>
                </a:solidFill>
                <a:effectLst/>
                <a:latin typeface="+mj-lt"/>
              </a:rPr>
              <a:t>pc corresponds to the probability score of the grid containing an object. For instance, all the grids in red will have a probability score higher than zero. </a:t>
            </a:r>
            <a:br>
              <a:rPr lang="en-GB" sz="1600" dirty="0">
                <a:latin typeface="+mj-lt"/>
              </a:rPr>
            </a:br>
            <a:endParaRPr lang="en-GB" sz="1600" b="0" i="0" u="none" strike="noStrike" dirty="0">
              <a:solidFill>
                <a:srgbClr val="000000"/>
              </a:solidFill>
              <a:effectLst/>
              <a:latin typeface="+mj-lt"/>
            </a:endParaRPr>
          </a:p>
        </p:txBody>
      </p:sp>
    </p:spTree>
    <p:extLst>
      <p:ext uri="{BB962C8B-B14F-4D97-AF65-F5344CB8AC3E}">
        <p14:creationId xmlns:p14="http://schemas.microsoft.com/office/powerpoint/2010/main" val="33522156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CD514652-A921-CA26-A101-715B679492E9}"/>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4F8D473D-03D3-3D94-4A0F-9174127F2FB1}"/>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b="1" i="0" u="none" strike="noStrike" dirty="0">
                <a:solidFill>
                  <a:srgbClr val="7030A0"/>
                </a:solidFill>
                <a:effectLst/>
                <a:latin typeface="Source Sans 3"/>
              </a:rPr>
              <a:t>Working of YOLO Object Detection</a:t>
            </a:r>
          </a:p>
          <a:p>
            <a:br>
              <a:rPr lang="en-GB" sz="3200" b="1" i="0" u="none" strike="noStrike" dirty="0">
                <a:solidFill>
                  <a:srgbClr val="7030A0"/>
                </a:solidFill>
                <a:effectLst/>
                <a:latin typeface="Source Sans 3"/>
              </a:rPr>
            </a:br>
            <a:br>
              <a:rPr lang="en-GB" sz="3200" b="1" i="0" u="none" strike="noStrike" dirty="0">
                <a:solidFill>
                  <a:srgbClr val="7030A0"/>
                </a:solidFill>
                <a:effectLst/>
                <a:latin typeface="Source Sans 3"/>
              </a:rPr>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66A9DC68-012C-8D5B-6108-5BA607234711}"/>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25A31DA3-B818-09A4-A559-53C88D0319C0}"/>
              </a:ext>
            </a:extLst>
          </p:cNvPr>
          <p:cNvSpPr txBox="1"/>
          <p:nvPr/>
        </p:nvSpPr>
        <p:spPr>
          <a:xfrm>
            <a:off x="237088" y="568628"/>
            <a:ext cx="7797814" cy="584775"/>
          </a:xfrm>
          <a:prstGeom prst="rect">
            <a:avLst/>
          </a:prstGeom>
          <a:noFill/>
        </p:spPr>
        <p:txBody>
          <a:bodyPr wrap="square">
            <a:spAutoFit/>
          </a:bodyPr>
          <a:lstStyle/>
          <a:p>
            <a:br>
              <a:rPr lang="en-GB" sz="1600" dirty="0">
                <a:latin typeface="+mj-lt"/>
              </a:rPr>
            </a:br>
            <a:endParaRPr lang="en-GB" sz="1600" b="0" i="0" u="none" strike="noStrike" dirty="0">
              <a:solidFill>
                <a:srgbClr val="000000"/>
              </a:solidFill>
              <a:effectLst/>
              <a:latin typeface="+mj-lt"/>
            </a:endParaRPr>
          </a:p>
        </p:txBody>
      </p:sp>
      <p:pic>
        <p:nvPicPr>
          <p:cNvPr id="43010" name="Picture 2" descr="Identification of significant and insignificant grids">
            <a:extLst>
              <a:ext uri="{FF2B5EF4-FFF2-40B4-BE49-F238E27FC236}">
                <a16:creationId xmlns:a16="http://schemas.microsoft.com/office/drawing/2014/main" id="{4FA2EC9D-AC32-5132-4609-28426AC3078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838"/>
          <a:stretch/>
        </p:blipFill>
        <p:spPr bwMode="auto">
          <a:xfrm>
            <a:off x="1172781" y="588075"/>
            <a:ext cx="5559985" cy="256648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C7CC362-AB9C-F008-B45B-D0EA32359B0E}"/>
              </a:ext>
            </a:extLst>
          </p:cNvPr>
          <p:cNvSpPr txBox="1"/>
          <p:nvPr/>
        </p:nvSpPr>
        <p:spPr>
          <a:xfrm>
            <a:off x="798338" y="3337819"/>
            <a:ext cx="6675314" cy="1815882"/>
          </a:xfrm>
          <a:prstGeom prst="rect">
            <a:avLst/>
          </a:prstGeom>
          <a:noFill/>
        </p:spPr>
        <p:txBody>
          <a:bodyPr wrap="square">
            <a:spAutoFit/>
          </a:bodyPr>
          <a:lstStyle/>
          <a:p>
            <a:pPr marL="285750" indent="-285750">
              <a:buFont typeface="Wingdings" pitchFamily="2" charset="2"/>
              <a:buChar char="Ø"/>
            </a:pPr>
            <a:r>
              <a:rPr lang="en-GB" sz="1400" b="0" i="0" u="none" strike="noStrike" dirty="0">
                <a:solidFill>
                  <a:srgbClr val="05192D"/>
                </a:solidFill>
                <a:effectLst/>
                <a:latin typeface="+mj-lt"/>
              </a:rPr>
              <a:t>The image on the right is the simplified version since the probability of each yellow cell is zero (insignificant). </a:t>
            </a:r>
          </a:p>
          <a:p>
            <a:pPr marL="285750" indent="-285750">
              <a:buFont typeface="Wingdings" pitchFamily="2" charset="2"/>
              <a:buChar char="Ø"/>
            </a:pPr>
            <a:r>
              <a:rPr lang="en-GB" dirty="0" err="1"/>
              <a:t>bx</a:t>
            </a:r>
            <a:r>
              <a:rPr lang="en-GB" dirty="0"/>
              <a:t>, by are the x and y coordinates of the </a:t>
            </a:r>
            <a:r>
              <a:rPr lang="en-GB" dirty="0" err="1"/>
              <a:t>center</a:t>
            </a:r>
            <a:r>
              <a:rPr lang="en-GB" dirty="0"/>
              <a:t> of the bounding box with respect to the enveloping grid cell. </a:t>
            </a:r>
          </a:p>
          <a:p>
            <a:pPr marL="285750" indent="-285750">
              <a:buFont typeface="Wingdings" pitchFamily="2" charset="2"/>
              <a:buChar char="Ø"/>
            </a:pPr>
            <a:r>
              <a:rPr lang="en-GB" dirty="0" err="1"/>
              <a:t>bh</a:t>
            </a:r>
            <a:r>
              <a:rPr lang="en-GB" dirty="0"/>
              <a:t>, </a:t>
            </a:r>
            <a:r>
              <a:rPr lang="en-GB" dirty="0" err="1"/>
              <a:t>bw</a:t>
            </a:r>
            <a:r>
              <a:rPr lang="en-GB" dirty="0"/>
              <a:t> correspond to the height and the width of the bounding box with respect to the enveloping grid cell. </a:t>
            </a:r>
          </a:p>
          <a:p>
            <a:pPr marL="285750" indent="-285750">
              <a:buFont typeface="Wingdings" pitchFamily="2" charset="2"/>
              <a:buChar char="Ø"/>
            </a:pPr>
            <a:r>
              <a:rPr lang="en-GB" dirty="0"/>
              <a:t>c1 and c2 correspond to the two classes, Player and Ball.</a:t>
            </a:r>
          </a:p>
          <a:p>
            <a:pPr marL="285750" indent="-285750">
              <a:buFont typeface="Wingdings" pitchFamily="2" charset="2"/>
              <a:buChar char="Ø"/>
            </a:pPr>
            <a:r>
              <a:rPr lang="en-GB" dirty="0"/>
              <a:t> We can have as many classes as your use case requires. </a:t>
            </a:r>
            <a:endParaRPr lang="en-US" dirty="0"/>
          </a:p>
        </p:txBody>
      </p:sp>
    </p:spTree>
    <p:extLst>
      <p:ext uri="{BB962C8B-B14F-4D97-AF65-F5344CB8AC3E}">
        <p14:creationId xmlns:p14="http://schemas.microsoft.com/office/powerpoint/2010/main" val="12299650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A3BE09DF-0317-FFC5-0EC7-7F9598544842}"/>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E2CE6B4C-9DD9-4C3E-34FC-2BCEB8ABD9EC}"/>
              </a:ext>
            </a:extLst>
          </p:cNvPr>
          <p:cNvSpPr txBox="1">
            <a:spLocks noGrp="1"/>
          </p:cNvSpPr>
          <p:nvPr>
            <p:ph type="title"/>
          </p:nvPr>
        </p:nvSpPr>
        <p:spPr>
          <a:xfrm>
            <a:off x="1490761" y="343924"/>
            <a:ext cx="7246063" cy="370039"/>
          </a:xfrm>
          <a:prstGeom prst="rect">
            <a:avLst/>
          </a:prstGeom>
          <a:noFill/>
          <a:ln>
            <a:noFill/>
          </a:ln>
        </p:spPr>
        <p:txBody>
          <a:bodyPr spcFirstLastPara="1" wrap="square" lIns="91425" tIns="91425" rIns="91425" bIns="91425" anchor="t" anchorCtr="0">
            <a:normAutofit fontScale="90000"/>
          </a:bodyPr>
          <a:lstStyle/>
          <a:p>
            <a:r>
              <a:rPr lang="en-GB" sz="3200" b="1" i="0" u="none" strike="noStrike" dirty="0">
                <a:solidFill>
                  <a:srgbClr val="7030A0"/>
                </a:solidFill>
                <a:effectLst/>
                <a:latin typeface="Source Sans 3"/>
              </a:rPr>
              <a:t>Working of YOLO Object Detection</a:t>
            </a:r>
          </a:p>
          <a:p>
            <a:br>
              <a:rPr lang="en-GB" sz="3200" b="1" i="0" u="none" strike="noStrike" dirty="0">
                <a:solidFill>
                  <a:srgbClr val="7030A0"/>
                </a:solidFill>
                <a:effectLst/>
                <a:latin typeface="Source Sans 3"/>
              </a:rPr>
            </a:br>
            <a:br>
              <a:rPr lang="en-GB" sz="3200" b="1" i="0" u="none" strike="noStrike" dirty="0">
                <a:solidFill>
                  <a:srgbClr val="7030A0"/>
                </a:solidFill>
                <a:effectLst/>
                <a:latin typeface="Source Sans 3"/>
              </a:rPr>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A58D11BC-D776-40FA-0133-8F6362AC306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C89A327A-3682-48B3-592C-5D44A9DB99B5}"/>
              </a:ext>
            </a:extLst>
          </p:cNvPr>
          <p:cNvSpPr txBox="1"/>
          <p:nvPr/>
        </p:nvSpPr>
        <p:spPr>
          <a:xfrm>
            <a:off x="237088" y="568628"/>
            <a:ext cx="7797814" cy="584775"/>
          </a:xfrm>
          <a:prstGeom prst="rect">
            <a:avLst/>
          </a:prstGeom>
          <a:noFill/>
        </p:spPr>
        <p:txBody>
          <a:bodyPr wrap="square">
            <a:spAutoFit/>
          </a:bodyPr>
          <a:lstStyle/>
          <a:p>
            <a:br>
              <a:rPr lang="en-GB" sz="1600" dirty="0">
                <a:latin typeface="+mj-lt"/>
              </a:rPr>
            </a:br>
            <a:endParaRPr lang="en-GB" sz="1600" b="0" i="0" u="none" strike="noStrike" dirty="0">
              <a:solidFill>
                <a:srgbClr val="000000"/>
              </a:solidFill>
              <a:effectLst/>
              <a:latin typeface="+mj-lt"/>
            </a:endParaRPr>
          </a:p>
        </p:txBody>
      </p:sp>
      <p:sp>
        <p:nvSpPr>
          <p:cNvPr id="2" name="Rectangle 1">
            <a:extLst>
              <a:ext uri="{FF2B5EF4-FFF2-40B4-BE49-F238E27FC236}">
                <a16:creationId xmlns:a16="http://schemas.microsoft.com/office/drawing/2014/main" id="{9F7258D6-4DBF-0FA3-6D9D-9D85F378D05A}"/>
              </a:ext>
            </a:extLst>
          </p:cNvPr>
          <p:cNvSpPr>
            <a:spLocks noChangeArrowheads="1"/>
          </p:cNvSpPr>
          <p:nvPr/>
        </p:nvSpPr>
        <p:spPr bwMode="auto">
          <a:xfrm>
            <a:off x="1189524" y="-4940500"/>
            <a:ext cx="7954476" cy="10525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5192D"/>
                </a:solidFill>
                <a:effectLst/>
                <a:latin typeface="Studio-Feixen-Sans"/>
              </a:rPr>
              <a:t>To understand, let’s pay closer attention to the player on the bottom right. </a:t>
            </a:r>
            <a:endParaRPr kumimoji="0" lang="en-US" altLang="en-US" sz="1800" b="0" i="0" u="none" strike="noStrike" cap="none" normalizeH="0" baseline="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5192D"/>
                </a:solidFill>
                <a:effectLst/>
                <a:latin typeface="Studio-Feixen-Sans"/>
              </a:rPr>
              <a:t>  </a:t>
            </a:r>
            <a:r>
              <a:rPr kumimoji="0" lang="en-US" altLang="en-US" sz="33000" b="0" i="0" u="none" strike="noStrike" cap="none" normalizeH="0" baseline="0">
                <a:ln>
                  <a:noFill/>
                </a:ln>
                <a:solidFill>
                  <a:srgbClr val="05192D"/>
                </a:solidFill>
                <a:effectLst/>
                <a:latin typeface="Studio-Feixen-Sans"/>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45058" name="Picture 2" descr="Bounding box regression identification">
            <a:extLst>
              <a:ext uri="{FF2B5EF4-FFF2-40B4-BE49-F238E27FC236}">
                <a16:creationId xmlns:a16="http://schemas.microsoft.com/office/drawing/2014/main" id="{9F3953E1-5DAA-98C0-E15A-80B46C2B6A5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135"/>
          <a:stretch/>
        </p:blipFill>
        <p:spPr bwMode="auto">
          <a:xfrm>
            <a:off x="690342" y="1339881"/>
            <a:ext cx="7139587" cy="345969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5A4B7B8-58FB-86AE-DA62-0242EB52C436}"/>
              </a:ext>
            </a:extLst>
          </p:cNvPr>
          <p:cNvSpPr txBox="1"/>
          <p:nvPr/>
        </p:nvSpPr>
        <p:spPr>
          <a:xfrm>
            <a:off x="921373" y="937622"/>
            <a:ext cx="5969932" cy="307777"/>
          </a:xfrm>
          <a:prstGeom prst="rect">
            <a:avLst/>
          </a:prstGeom>
          <a:noFill/>
        </p:spPr>
        <p:txBody>
          <a:bodyPr wrap="square">
            <a:spAutoFit/>
          </a:bodyPr>
          <a:lstStyle/>
          <a:p>
            <a:r>
              <a:rPr lang="en-GB" b="0" i="0" u="none" strike="noStrike" dirty="0">
                <a:solidFill>
                  <a:srgbClr val="05192D"/>
                </a:solidFill>
                <a:effectLst/>
                <a:latin typeface="Studio-Feixen-Sans"/>
              </a:rPr>
              <a:t>To understand, let’s pay closer attention to the player on the bottom right. </a:t>
            </a:r>
            <a:endParaRPr lang="en-US" dirty="0"/>
          </a:p>
        </p:txBody>
      </p:sp>
    </p:spTree>
    <p:extLst>
      <p:ext uri="{BB962C8B-B14F-4D97-AF65-F5344CB8AC3E}">
        <p14:creationId xmlns:p14="http://schemas.microsoft.com/office/powerpoint/2010/main" val="2527753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7697E71F-027F-D272-8350-990431A70739}"/>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466D03FB-1A94-CDFD-A3C0-A0ABFA67C45C}"/>
              </a:ext>
            </a:extLst>
          </p:cNvPr>
          <p:cNvSpPr txBox="1">
            <a:spLocks noGrp="1"/>
          </p:cNvSpPr>
          <p:nvPr>
            <p:ph type="title"/>
          </p:nvPr>
        </p:nvSpPr>
        <p:spPr>
          <a:xfrm>
            <a:off x="1490761" y="343924"/>
            <a:ext cx="7246063" cy="370039"/>
          </a:xfrm>
          <a:prstGeom prst="rect">
            <a:avLst/>
          </a:prstGeom>
          <a:noFill/>
          <a:ln>
            <a:noFill/>
          </a:ln>
        </p:spPr>
        <p:txBody>
          <a:bodyPr spcFirstLastPara="1" wrap="square" lIns="91425" tIns="91425" rIns="91425" bIns="91425" anchor="t" anchorCtr="0">
            <a:normAutofit fontScale="90000"/>
          </a:bodyPr>
          <a:lstStyle/>
          <a:p>
            <a:r>
              <a:rPr lang="en-GB" sz="3200" b="1" i="0" u="none" strike="noStrike" dirty="0">
                <a:solidFill>
                  <a:srgbClr val="7030A0"/>
                </a:solidFill>
                <a:effectLst/>
                <a:latin typeface="Source Sans 3"/>
              </a:rPr>
              <a:t>Working of YOLO Object Detection</a:t>
            </a:r>
          </a:p>
          <a:p>
            <a:br>
              <a:rPr lang="en-GB" sz="3200" b="1" i="0" u="none" strike="noStrike" dirty="0">
                <a:solidFill>
                  <a:srgbClr val="7030A0"/>
                </a:solidFill>
                <a:effectLst/>
                <a:latin typeface="Source Sans 3"/>
              </a:rPr>
            </a:br>
            <a:br>
              <a:rPr lang="en-GB" sz="3200" b="1" i="0" u="none" strike="noStrike" dirty="0">
                <a:solidFill>
                  <a:srgbClr val="7030A0"/>
                </a:solidFill>
                <a:effectLst/>
                <a:latin typeface="Source Sans 3"/>
              </a:rPr>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22A2C358-E18D-123A-0679-8D5352B094CC}"/>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218ED666-B8F4-978A-FAAA-FD8EE4F6ACEF}"/>
              </a:ext>
            </a:extLst>
          </p:cNvPr>
          <p:cNvSpPr txBox="1"/>
          <p:nvPr/>
        </p:nvSpPr>
        <p:spPr>
          <a:xfrm>
            <a:off x="237088" y="568628"/>
            <a:ext cx="7797814" cy="584775"/>
          </a:xfrm>
          <a:prstGeom prst="rect">
            <a:avLst/>
          </a:prstGeom>
          <a:noFill/>
        </p:spPr>
        <p:txBody>
          <a:bodyPr wrap="square">
            <a:spAutoFit/>
          </a:bodyPr>
          <a:lstStyle/>
          <a:p>
            <a:br>
              <a:rPr lang="en-GB" sz="1600" dirty="0">
                <a:latin typeface="+mj-lt"/>
              </a:rPr>
            </a:br>
            <a:endParaRPr lang="en-GB" sz="1600" b="0" i="0" u="none" strike="noStrike" dirty="0">
              <a:solidFill>
                <a:srgbClr val="000000"/>
              </a:solidFill>
              <a:effectLst/>
              <a:latin typeface="+mj-lt"/>
            </a:endParaRPr>
          </a:p>
        </p:txBody>
      </p:sp>
      <p:sp>
        <p:nvSpPr>
          <p:cNvPr id="2" name="Rectangle 1">
            <a:extLst>
              <a:ext uri="{FF2B5EF4-FFF2-40B4-BE49-F238E27FC236}">
                <a16:creationId xmlns:a16="http://schemas.microsoft.com/office/drawing/2014/main" id="{1C255C40-FB96-E86D-D406-DB84EA115584}"/>
              </a:ext>
            </a:extLst>
          </p:cNvPr>
          <p:cNvSpPr>
            <a:spLocks noChangeArrowheads="1"/>
          </p:cNvSpPr>
          <p:nvPr/>
        </p:nvSpPr>
        <p:spPr bwMode="auto">
          <a:xfrm>
            <a:off x="1189524" y="-4940500"/>
            <a:ext cx="7954476" cy="10525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5192D"/>
                </a:solidFill>
                <a:effectLst/>
                <a:latin typeface="Studio-Feixen-Sans"/>
              </a:rPr>
              <a:t>To understand, let’s pay closer attention to the player on the bottom right. </a:t>
            </a:r>
            <a:endParaRPr kumimoji="0" lang="en-US" altLang="en-US" sz="1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5192D"/>
                </a:solidFill>
                <a:effectLst/>
                <a:latin typeface="Studio-Feixen-Sans"/>
              </a:rPr>
              <a:t>  </a:t>
            </a:r>
            <a:r>
              <a:rPr kumimoji="0" lang="en-US" altLang="en-US" sz="33000" b="0" i="0" u="none" strike="noStrike" cap="none" normalizeH="0" baseline="0" dirty="0">
                <a:ln>
                  <a:noFill/>
                </a:ln>
                <a:solidFill>
                  <a:srgbClr val="05192D"/>
                </a:solidFill>
                <a:effectLst/>
                <a:latin typeface="Studio-Feixen-Sans"/>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A7CA8644-DBF4-53C6-CF9C-5DD737850228}"/>
              </a:ext>
            </a:extLst>
          </p:cNvPr>
          <p:cNvSpPr txBox="1"/>
          <p:nvPr/>
        </p:nvSpPr>
        <p:spPr>
          <a:xfrm>
            <a:off x="921373" y="937622"/>
            <a:ext cx="5969932" cy="4180632"/>
          </a:xfrm>
          <a:prstGeom prst="rect">
            <a:avLst/>
          </a:prstGeom>
          <a:noFill/>
        </p:spPr>
        <p:txBody>
          <a:bodyPr wrap="square">
            <a:spAutoFit/>
          </a:bodyPr>
          <a:lstStyle/>
          <a:p>
            <a:pPr algn="l">
              <a:spcBef>
                <a:spcPts val="1200"/>
              </a:spcBef>
              <a:spcAft>
                <a:spcPts val="1200"/>
              </a:spcAft>
              <a:buNone/>
            </a:pPr>
            <a:r>
              <a:rPr lang="en-GB" sz="1600" b="1" i="0" u="none" strike="noStrike" dirty="0">
                <a:solidFill>
                  <a:srgbClr val="05192D"/>
                </a:solidFill>
                <a:effectLst/>
                <a:latin typeface="+mj-lt"/>
              </a:rPr>
              <a:t>3. Intersection Over Unions or IOU</a:t>
            </a:r>
          </a:p>
          <a:p>
            <a:pPr algn="l">
              <a:spcAft>
                <a:spcPts val="1050"/>
              </a:spcAft>
              <a:buNone/>
            </a:pPr>
            <a:r>
              <a:rPr lang="en-GB" sz="1600" b="0" i="0" u="none" strike="noStrike" dirty="0">
                <a:solidFill>
                  <a:srgbClr val="05192D"/>
                </a:solidFill>
                <a:effectLst/>
                <a:latin typeface="+mj-lt"/>
              </a:rPr>
              <a:t>Most of the time, a single object in an image can have multiple grid box candidates for prediction, even though not all are relevant. The goal of the IOU (a value between 0 and 1) is to discard such grid boxes to only keep those that are relevant. Here is the logic behind it: </a:t>
            </a:r>
          </a:p>
          <a:p>
            <a:pPr marL="285750" indent="-285750" algn="l">
              <a:spcAft>
                <a:spcPts val="900"/>
              </a:spcAft>
              <a:buFont typeface="Wingdings" pitchFamily="2" charset="2"/>
              <a:buChar char="ü"/>
            </a:pPr>
            <a:r>
              <a:rPr lang="en-GB" sz="1600" b="0" i="0" u="none" strike="noStrike" dirty="0">
                <a:solidFill>
                  <a:srgbClr val="05192D"/>
                </a:solidFill>
                <a:effectLst/>
                <a:latin typeface="+mj-lt"/>
              </a:rPr>
              <a:t>The user defines its IOU selection threshold, which can be, for instance, 0.5. </a:t>
            </a:r>
          </a:p>
          <a:p>
            <a:pPr marL="285750" indent="-285750" algn="l">
              <a:spcAft>
                <a:spcPts val="900"/>
              </a:spcAft>
              <a:buFont typeface="Wingdings" pitchFamily="2" charset="2"/>
              <a:buChar char="ü"/>
            </a:pPr>
            <a:r>
              <a:rPr lang="en-GB" sz="1600" b="0" i="0" u="none" strike="noStrike" dirty="0">
                <a:solidFill>
                  <a:srgbClr val="05192D"/>
                </a:solidFill>
                <a:effectLst/>
                <a:latin typeface="+mj-lt"/>
              </a:rPr>
              <a:t>Then, YOLO computes the IOU of each grid cell, which is the Intersection area divided by the Union Area. </a:t>
            </a:r>
          </a:p>
          <a:p>
            <a:pPr marL="285750" indent="-285750" algn="l">
              <a:spcAft>
                <a:spcPts val="900"/>
              </a:spcAft>
              <a:buFont typeface="Wingdings" pitchFamily="2" charset="2"/>
              <a:buChar char="ü"/>
            </a:pPr>
            <a:r>
              <a:rPr lang="en-GB" sz="1600" b="0" i="0" u="none" strike="noStrike" dirty="0">
                <a:solidFill>
                  <a:srgbClr val="05192D"/>
                </a:solidFill>
                <a:effectLst/>
                <a:latin typeface="+mj-lt"/>
              </a:rPr>
              <a:t>Finally, it ignores the prediction of the grid cells having an IOU ≤ threshold and considers those with an IOU &gt; threshold. </a:t>
            </a:r>
          </a:p>
          <a:p>
            <a:endParaRPr lang="en-US" sz="1600" dirty="0">
              <a:latin typeface="+mj-lt"/>
            </a:endParaRPr>
          </a:p>
        </p:txBody>
      </p:sp>
    </p:spTree>
    <p:extLst>
      <p:ext uri="{BB962C8B-B14F-4D97-AF65-F5344CB8AC3E}">
        <p14:creationId xmlns:p14="http://schemas.microsoft.com/office/powerpoint/2010/main" val="33409094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09C28682-E0AD-5791-4B60-DED52E0922F5}"/>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3346F4E0-BB24-CB30-9BB6-118DA51E8186}"/>
              </a:ext>
            </a:extLst>
          </p:cNvPr>
          <p:cNvSpPr txBox="1">
            <a:spLocks noGrp="1"/>
          </p:cNvSpPr>
          <p:nvPr>
            <p:ph type="title"/>
          </p:nvPr>
        </p:nvSpPr>
        <p:spPr>
          <a:xfrm>
            <a:off x="1490761" y="343924"/>
            <a:ext cx="7246063" cy="370039"/>
          </a:xfrm>
          <a:prstGeom prst="rect">
            <a:avLst/>
          </a:prstGeom>
          <a:noFill/>
          <a:ln>
            <a:noFill/>
          </a:ln>
        </p:spPr>
        <p:txBody>
          <a:bodyPr spcFirstLastPara="1" wrap="square" lIns="91425" tIns="91425" rIns="91425" bIns="91425" anchor="t" anchorCtr="0">
            <a:normAutofit fontScale="90000"/>
          </a:bodyPr>
          <a:lstStyle/>
          <a:p>
            <a:r>
              <a:rPr lang="en-GB" sz="3200" b="1" i="0" u="none" strike="noStrike" dirty="0">
                <a:solidFill>
                  <a:srgbClr val="7030A0"/>
                </a:solidFill>
                <a:effectLst/>
                <a:latin typeface="Source Sans 3"/>
              </a:rPr>
              <a:t>Working of YOLO Object Detection</a:t>
            </a:r>
          </a:p>
          <a:p>
            <a:br>
              <a:rPr lang="en-GB" sz="3200" b="1" i="0" u="none" strike="noStrike" dirty="0">
                <a:solidFill>
                  <a:srgbClr val="7030A0"/>
                </a:solidFill>
                <a:effectLst/>
                <a:latin typeface="Source Sans 3"/>
              </a:rPr>
            </a:br>
            <a:br>
              <a:rPr lang="en-GB" sz="3200" b="1" i="0" u="none" strike="noStrike" dirty="0">
                <a:solidFill>
                  <a:srgbClr val="7030A0"/>
                </a:solidFill>
                <a:effectLst/>
                <a:latin typeface="Source Sans 3"/>
              </a:rPr>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2D9BE18C-7147-5183-5D32-F95DDA907E3C}"/>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498FC681-5538-2441-B8DB-EBD066D5E083}"/>
              </a:ext>
            </a:extLst>
          </p:cNvPr>
          <p:cNvSpPr txBox="1"/>
          <p:nvPr/>
        </p:nvSpPr>
        <p:spPr>
          <a:xfrm>
            <a:off x="237088" y="568628"/>
            <a:ext cx="7797814" cy="584775"/>
          </a:xfrm>
          <a:prstGeom prst="rect">
            <a:avLst/>
          </a:prstGeom>
          <a:noFill/>
        </p:spPr>
        <p:txBody>
          <a:bodyPr wrap="square">
            <a:spAutoFit/>
          </a:bodyPr>
          <a:lstStyle/>
          <a:p>
            <a:br>
              <a:rPr lang="en-GB" sz="1600" dirty="0">
                <a:latin typeface="+mj-lt"/>
              </a:rPr>
            </a:br>
            <a:endParaRPr lang="en-GB" sz="1600" b="0" i="0" u="none" strike="noStrike" dirty="0">
              <a:solidFill>
                <a:srgbClr val="000000"/>
              </a:solidFill>
              <a:effectLst/>
              <a:latin typeface="+mj-lt"/>
            </a:endParaRPr>
          </a:p>
        </p:txBody>
      </p:sp>
      <p:sp>
        <p:nvSpPr>
          <p:cNvPr id="2" name="Rectangle 1">
            <a:extLst>
              <a:ext uri="{FF2B5EF4-FFF2-40B4-BE49-F238E27FC236}">
                <a16:creationId xmlns:a16="http://schemas.microsoft.com/office/drawing/2014/main" id="{93212C8D-4ACA-2EF3-B19A-E842BDE76BD1}"/>
              </a:ext>
            </a:extLst>
          </p:cNvPr>
          <p:cNvSpPr>
            <a:spLocks noChangeArrowheads="1"/>
          </p:cNvSpPr>
          <p:nvPr/>
        </p:nvSpPr>
        <p:spPr bwMode="auto">
          <a:xfrm>
            <a:off x="1189524" y="-4940500"/>
            <a:ext cx="7954476" cy="10525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5192D"/>
                </a:solidFill>
                <a:effectLst/>
                <a:latin typeface="Studio-Feixen-Sans"/>
              </a:rPr>
              <a:t>To understand, let’s pay closer attention to the player on the bottom right. </a:t>
            </a:r>
            <a:endParaRPr kumimoji="0" lang="en-US" altLang="en-US" sz="1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5192D"/>
                </a:solidFill>
                <a:effectLst/>
                <a:latin typeface="Studio-Feixen-Sans"/>
              </a:rPr>
              <a:t>  </a:t>
            </a:r>
            <a:r>
              <a:rPr kumimoji="0" lang="en-US" altLang="en-US" sz="33000" b="0" i="0" u="none" strike="noStrike" cap="none" normalizeH="0" baseline="0" dirty="0">
                <a:ln>
                  <a:noFill/>
                </a:ln>
                <a:solidFill>
                  <a:srgbClr val="05192D"/>
                </a:solidFill>
                <a:effectLst/>
                <a:latin typeface="Studio-Feixen-Sans"/>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B4119E1D-4624-A474-1D99-FD7E7D2C9156}"/>
              </a:ext>
            </a:extLst>
          </p:cNvPr>
          <p:cNvSpPr txBox="1"/>
          <p:nvPr/>
        </p:nvSpPr>
        <p:spPr>
          <a:xfrm>
            <a:off x="78722" y="937622"/>
            <a:ext cx="9065277" cy="830997"/>
          </a:xfrm>
          <a:prstGeom prst="rect">
            <a:avLst/>
          </a:prstGeom>
          <a:noFill/>
        </p:spPr>
        <p:txBody>
          <a:bodyPr wrap="square">
            <a:spAutoFit/>
          </a:bodyPr>
          <a:lstStyle/>
          <a:p>
            <a:r>
              <a:rPr lang="en-GB" sz="1600" b="0" i="0" u="none" strike="noStrike" dirty="0">
                <a:solidFill>
                  <a:srgbClr val="05192D"/>
                </a:solidFill>
                <a:effectLst/>
                <a:latin typeface="+mj-lt"/>
              </a:rPr>
              <a:t>Below is an illustration of applying the grid selection process to the bottom left object. We can observe that the object originally had two grid candidates, and only “Grid 2” was selected at the end. </a:t>
            </a:r>
            <a:endParaRPr lang="en-US" sz="1600" dirty="0">
              <a:latin typeface="+mj-lt"/>
            </a:endParaRPr>
          </a:p>
        </p:txBody>
      </p:sp>
      <p:pic>
        <p:nvPicPr>
          <p:cNvPr id="47106" name="Picture 2" descr="Process of selecting the best grids for prediction">
            <a:extLst>
              <a:ext uri="{FF2B5EF4-FFF2-40B4-BE49-F238E27FC236}">
                <a16:creationId xmlns:a16="http://schemas.microsoft.com/office/drawing/2014/main" id="{064A8888-6846-9A8B-E097-40CB04D2BE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7902" y="1453350"/>
            <a:ext cx="6431078" cy="361748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976F744D-217D-86D9-4E6F-7C8B9A311018}"/>
              </a:ext>
            </a:extLst>
          </p:cNvPr>
          <p:cNvSpPr/>
          <p:nvPr/>
        </p:nvSpPr>
        <p:spPr>
          <a:xfrm>
            <a:off x="6606691" y="4923226"/>
            <a:ext cx="690342" cy="133224"/>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787616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B6E985F-C49B-F9B8-6033-7220CF77A39E}"/>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6EEE5646-B398-B396-9D13-72589844C68C}"/>
              </a:ext>
            </a:extLst>
          </p:cNvPr>
          <p:cNvSpPr txBox="1">
            <a:spLocks noGrp="1"/>
          </p:cNvSpPr>
          <p:nvPr>
            <p:ph type="title"/>
          </p:nvPr>
        </p:nvSpPr>
        <p:spPr>
          <a:xfrm>
            <a:off x="1490761" y="343924"/>
            <a:ext cx="7246063" cy="370039"/>
          </a:xfrm>
          <a:prstGeom prst="rect">
            <a:avLst/>
          </a:prstGeom>
          <a:noFill/>
          <a:ln>
            <a:noFill/>
          </a:ln>
        </p:spPr>
        <p:txBody>
          <a:bodyPr spcFirstLastPara="1" wrap="square" lIns="91425" tIns="91425" rIns="91425" bIns="91425" anchor="t" anchorCtr="0">
            <a:normAutofit fontScale="90000"/>
          </a:bodyPr>
          <a:lstStyle/>
          <a:p>
            <a:r>
              <a:rPr lang="en-GB" sz="3200" b="1" i="0" u="none" strike="noStrike" dirty="0">
                <a:solidFill>
                  <a:srgbClr val="7030A0"/>
                </a:solidFill>
                <a:effectLst/>
                <a:latin typeface="Source Sans 3"/>
              </a:rPr>
              <a:t>Working of YOLO Object Detection</a:t>
            </a:r>
          </a:p>
          <a:p>
            <a:br>
              <a:rPr lang="en-GB" sz="3200" b="1" i="0" u="none" strike="noStrike" dirty="0">
                <a:solidFill>
                  <a:srgbClr val="7030A0"/>
                </a:solidFill>
                <a:effectLst/>
                <a:latin typeface="Source Sans 3"/>
              </a:rPr>
            </a:br>
            <a:br>
              <a:rPr lang="en-GB" sz="3200" b="1" i="0" u="none" strike="noStrike" dirty="0">
                <a:solidFill>
                  <a:srgbClr val="7030A0"/>
                </a:solidFill>
                <a:effectLst/>
                <a:latin typeface="Source Sans 3"/>
              </a:rPr>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18491A9C-BBD4-FD58-3BCB-2D7F9D46BE8D}"/>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DDA61422-4AD0-FC00-A0C7-11A53C9EE948}"/>
              </a:ext>
            </a:extLst>
          </p:cNvPr>
          <p:cNvSpPr txBox="1"/>
          <p:nvPr/>
        </p:nvSpPr>
        <p:spPr>
          <a:xfrm>
            <a:off x="237088" y="568628"/>
            <a:ext cx="7797814" cy="584775"/>
          </a:xfrm>
          <a:prstGeom prst="rect">
            <a:avLst/>
          </a:prstGeom>
          <a:noFill/>
        </p:spPr>
        <p:txBody>
          <a:bodyPr wrap="square">
            <a:spAutoFit/>
          </a:bodyPr>
          <a:lstStyle/>
          <a:p>
            <a:br>
              <a:rPr lang="en-GB" sz="1600" dirty="0">
                <a:latin typeface="+mj-lt"/>
              </a:rPr>
            </a:br>
            <a:endParaRPr lang="en-GB" sz="1600" b="0" i="0" u="none" strike="noStrike" dirty="0">
              <a:solidFill>
                <a:srgbClr val="000000"/>
              </a:solidFill>
              <a:effectLst/>
              <a:latin typeface="+mj-lt"/>
            </a:endParaRPr>
          </a:p>
        </p:txBody>
      </p:sp>
      <p:sp>
        <p:nvSpPr>
          <p:cNvPr id="2" name="Rectangle 1">
            <a:extLst>
              <a:ext uri="{FF2B5EF4-FFF2-40B4-BE49-F238E27FC236}">
                <a16:creationId xmlns:a16="http://schemas.microsoft.com/office/drawing/2014/main" id="{FE76AF9D-127C-1165-936F-8610DA96C29E}"/>
              </a:ext>
            </a:extLst>
          </p:cNvPr>
          <p:cNvSpPr>
            <a:spLocks noChangeArrowheads="1"/>
          </p:cNvSpPr>
          <p:nvPr/>
        </p:nvSpPr>
        <p:spPr bwMode="auto">
          <a:xfrm>
            <a:off x="1189524" y="-4940500"/>
            <a:ext cx="7954476" cy="10525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5192D"/>
                </a:solidFill>
                <a:effectLst/>
                <a:latin typeface="Studio-Feixen-Sans"/>
              </a:rPr>
              <a:t>To understand, let’s pay closer attention to the player on the bottom right. </a:t>
            </a:r>
            <a:endParaRPr kumimoji="0" lang="en-US" altLang="en-US" sz="1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5192D"/>
                </a:solidFill>
                <a:effectLst/>
                <a:latin typeface="Studio-Feixen-Sans"/>
              </a:rPr>
              <a:t>  </a:t>
            </a:r>
            <a:r>
              <a:rPr kumimoji="0" lang="en-US" altLang="en-US" sz="33000" b="0" i="0" u="none" strike="noStrike" cap="none" normalizeH="0" baseline="0" dirty="0">
                <a:ln>
                  <a:noFill/>
                </a:ln>
                <a:solidFill>
                  <a:srgbClr val="05192D"/>
                </a:solidFill>
                <a:effectLst/>
                <a:latin typeface="Studio-Feixen-Sans"/>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561CDB1E-7B9B-1EAE-5E19-6EB455CB97AB}"/>
              </a:ext>
            </a:extLst>
          </p:cNvPr>
          <p:cNvSpPr txBox="1"/>
          <p:nvPr/>
        </p:nvSpPr>
        <p:spPr>
          <a:xfrm>
            <a:off x="690341" y="1153403"/>
            <a:ext cx="6697527" cy="2480166"/>
          </a:xfrm>
          <a:prstGeom prst="rect">
            <a:avLst/>
          </a:prstGeom>
          <a:noFill/>
        </p:spPr>
        <p:txBody>
          <a:bodyPr wrap="square">
            <a:spAutoFit/>
          </a:bodyPr>
          <a:lstStyle/>
          <a:p>
            <a:pPr algn="l">
              <a:spcBef>
                <a:spcPts val="1200"/>
              </a:spcBef>
              <a:spcAft>
                <a:spcPts val="1200"/>
              </a:spcAft>
              <a:buNone/>
            </a:pPr>
            <a:r>
              <a:rPr lang="en-GB" sz="2000" b="1" i="0" u="none" strike="noStrike" dirty="0">
                <a:solidFill>
                  <a:srgbClr val="05192D"/>
                </a:solidFill>
                <a:effectLst/>
                <a:latin typeface="Studio-Feixen-Sans"/>
              </a:rPr>
              <a:t>4. Non-Max Suppression or NMS</a:t>
            </a:r>
          </a:p>
          <a:p>
            <a:pPr algn="l">
              <a:spcAft>
                <a:spcPts val="1050"/>
              </a:spcAft>
            </a:pPr>
            <a:r>
              <a:rPr lang="en-GB" sz="2000" b="0" i="0" u="none" strike="noStrike" dirty="0">
                <a:solidFill>
                  <a:srgbClr val="05192D"/>
                </a:solidFill>
                <a:effectLst/>
                <a:latin typeface="Studio-Feixen-Sans"/>
              </a:rPr>
              <a:t>Setting a threshold for the IOU is not always enough because an object can have multiple boxes with IOU beyond the threshold, and leaving all those boxes might include noise. Here is where we can use NMS to keep only the boxes with the highest probability detection score. </a:t>
            </a:r>
          </a:p>
          <a:p>
            <a:endParaRPr lang="en-US" sz="1600" dirty="0">
              <a:latin typeface="+mj-lt"/>
            </a:endParaRPr>
          </a:p>
        </p:txBody>
      </p:sp>
      <p:sp>
        <p:nvSpPr>
          <p:cNvPr id="3" name="Rectangle 2">
            <a:extLst>
              <a:ext uri="{FF2B5EF4-FFF2-40B4-BE49-F238E27FC236}">
                <a16:creationId xmlns:a16="http://schemas.microsoft.com/office/drawing/2014/main" id="{762D081A-41CF-33E8-619C-081F256EF0B1}"/>
              </a:ext>
            </a:extLst>
          </p:cNvPr>
          <p:cNvSpPr/>
          <p:nvPr/>
        </p:nvSpPr>
        <p:spPr>
          <a:xfrm>
            <a:off x="6606691" y="4923226"/>
            <a:ext cx="690342" cy="133224"/>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160507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C0A69-23A6-EFF6-7CC5-706C8DC39488}"/>
              </a:ext>
            </a:extLst>
          </p:cNvPr>
          <p:cNvSpPr>
            <a:spLocks noGrp="1"/>
          </p:cNvSpPr>
          <p:nvPr>
            <p:ph type="title"/>
          </p:nvPr>
        </p:nvSpPr>
        <p:spPr>
          <a:xfrm>
            <a:off x="208261" y="293635"/>
            <a:ext cx="6707400" cy="627900"/>
          </a:xfrm>
        </p:spPr>
        <p:txBody>
          <a:bodyPr>
            <a:normAutofit fontScale="90000"/>
          </a:bodyPr>
          <a:lstStyle/>
          <a:p>
            <a:r>
              <a:rPr lang="en-US" dirty="0"/>
              <a:t>YOLO Applications</a:t>
            </a:r>
            <a:br>
              <a:rPr lang="en-US" dirty="0"/>
            </a:br>
            <a:endParaRPr lang="en-US" dirty="0"/>
          </a:p>
        </p:txBody>
      </p:sp>
      <p:sp>
        <p:nvSpPr>
          <p:cNvPr id="5" name="TextBox 4">
            <a:extLst>
              <a:ext uri="{FF2B5EF4-FFF2-40B4-BE49-F238E27FC236}">
                <a16:creationId xmlns:a16="http://schemas.microsoft.com/office/drawing/2014/main" id="{BEFFCE4B-0440-96BD-511C-5EB06C0F8407}"/>
              </a:ext>
            </a:extLst>
          </p:cNvPr>
          <p:cNvSpPr txBox="1"/>
          <p:nvPr/>
        </p:nvSpPr>
        <p:spPr>
          <a:xfrm>
            <a:off x="284615" y="872828"/>
            <a:ext cx="3800139" cy="4534575"/>
          </a:xfrm>
          <a:prstGeom prst="rect">
            <a:avLst/>
          </a:prstGeom>
          <a:noFill/>
        </p:spPr>
        <p:txBody>
          <a:bodyPr wrap="square">
            <a:spAutoFit/>
          </a:bodyPr>
          <a:lstStyle/>
          <a:p>
            <a:pPr algn="l">
              <a:spcAft>
                <a:spcPts val="1050"/>
              </a:spcAft>
              <a:buNone/>
            </a:pPr>
            <a:r>
              <a:rPr lang="en-GB" b="0" i="0" u="none" strike="noStrike" dirty="0">
                <a:solidFill>
                  <a:srgbClr val="05192D"/>
                </a:solidFill>
                <a:effectLst/>
                <a:latin typeface="Studio-Feixen-Sans"/>
              </a:rPr>
              <a:t>YOLO object detection has different applications in our day-to-day life. In this section, we will cover some of them in the following domains: healthcare, agriculture, security surveillance, and self-driving </a:t>
            </a:r>
            <a:r>
              <a:rPr lang="en-GB" b="0" i="0" u="none" strike="noStrike" dirty="0" err="1">
                <a:solidFill>
                  <a:srgbClr val="05192D"/>
                </a:solidFill>
                <a:effectLst/>
                <a:latin typeface="Studio-Feixen-Sans"/>
              </a:rPr>
              <a:t>cars.Object</a:t>
            </a:r>
            <a:r>
              <a:rPr lang="en-GB" b="0" i="0" u="none" strike="noStrike" dirty="0">
                <a:solidFill>
                  <a:srgbClr val="05192D"/>
                </a:solidFill>
                <a:effectLst/>
                <a:latin typeface="Studio-Feixen-Sans"/>
              </a:rPr>
              <a:t> detection has been introduced in many practical industries, such as healthcare and agriculture. Let’s understand each one with specific examples. </a:t>
            </a:r>
            <a:endParaRPr lang="ar-SA" dirty="0">
              <a:solidFill>
                <a:srgbClr val="05192D"/>
              </a:solidFill>
              <a:latin typeface="Studio-Feixen-Sans"/>
            </a:endParaRPr>
          </a:p>
          <a:p>
            <a:pPr algn="l">
              <a:spcAft>
                <a:spcPts val="1050"/>
              </a:spcAft>
              <a:buNone/>
            </a:pPr>
            <a:r>
              <a:rPr lang="en-GB" b="1" i="0" u="none" strike="noStrike" dirty="0">
                <a:solidFill>
                  <a:srgbClr val="05192D"/>
                </a:solidFill>
                <a:effectLst/>
                <a:latin typeface="Studio-Feixen-Sans"/>
              </a:rPr>
              <a:t>Healthcare</a:t>
            </a:r>
          </a:p>
          <a:p>
            <a:pPr algn="l">
              <a:spcAft>
                <a:spcPts val="1050"/>
              </a:spcAft>
            </a:pPr>
            <a:r>
              <a:rPr lang="en-GB" b="0" i="0" u="none" strike="noStrike" dirty="0">
                <a:solidFill>
                  <a:srgbClr val="05192D"/>
                </a:solidFill>
                <a:effectLst/>
                <a:latin typeface="Studio-Feixen-Sans"/>
              </a:rPr>
              <a:t>Specifically, in surgery, it can be challenging to localize organs in real time due to biological diversity from one patient to another. </a:t>
            </a:r>
            <a:r>
              <a:rPr lang="en-GB" dirty="0">
                <a:solidFill>
                  <a:srgbClr val="05192D"/>
                </a:solidFill>
                <a:latin typeface="Studio-Feixen-Sans"/>
                <a:hlinkClick r:id="rId2">
                  <a:extLst>
                    <a:ext uri="{A12FA001-AC4F-418D-AE19-62706E023703}">
                      <ahyp:hlinkClr xmlns:ahyp="http://schemas.microsoft.com/office/drawing/2018/hyperlinkcolor" val="tx"/>
                    </a:ext>
                  </a:extLst>
                </a:hlinkClick>
              </a:rPr>
              <a:t>Kidney Recognition in CT used YOLOv3</a:t>
            </a:r>
            <a:r>
              <a:rPr lang="en-GB" dirty="0">
                <a:solidFill>
                  <a:srgbClr val="05192D"/>
                </a:solidFill>
                <a:latin typeface="Studio-Feixen-Sans"/>
              </a:rPr>
              <a:t> </a:t>
            </a:r>
            <a:r>
              <a:rPr lang="en-GB" b="0" i="0" u="none" strike="noStrike" dirty="0">
                <a:solidFill>
                  <a:srgbClr val="05192D"/>
                </a:solidFill>
                <a:effectLst/>
                <a:latin typeface="Studio-Feixen-Sans"/>
              </a:rPr>
              <a:t>to facilitate localizing kidneys in 2D and 3D from computerized tomography (CT) scans. </a:t>
            </a:r>
          </a:p>
          <a:p>
            <a:pPr algn="l">
              <a:spcAft>
                <a:spcPts val="1050"/>
              </a:spcAft>
              <a:buNone/>
            </a:pPr>
            <a:endParaRPr lang="en-GB" b="0" i="0" u="none" strike="noStrike" dirty="0">
              <a:solidFill>
                <a:srgbClr val="05192D"/>
              </a:solidFill>
              <a:effectLst/>
              <a:latin typeface="Studio-Feixen-Sans"/>
            </a:endParaRPr>
          </a:p>
          <a:p>
            <a:pPr>
              <a:buNone/>
            </a:pPr>
            <a:br>
              <a:rPr lang="en-GB" dirty="0"/>
            </a:br>
            <a:endParaRPr lang="en-US" dirty="0"/>
          </a:p>
        </p:txBody>
      </p:sp>
      <p:pic>
        <p:nvPicPr>
          <p:cNvPr id="49156" name="Picture 4" descr="2D Kidney detection by YOLOv3">
            <a:extLst>
              <a:ext uri="{FF2B5EF4-FFF2-40B4-BE49-F238E27FC236}">
                <a16:creationId xmlns:a16="http://schemas.microsoft.com/office/drawing/2014/main" id="{505FA82C-EA7C-D5AC-9828-E36B920726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4754" y="2386063"/>
            <a:ext cx="5059246" cy="26800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10683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E551B-2263-42A1-B863-1D743791F5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DD9F5E-B349-A158-70CA-FCAA8183EF9B}"/>
              </a:ext>
            </a:extLst>
          </p:cNvPr>
          <p:cNvSpPr>
            <a:spLocks noGrp="1"/>
          </p:cNvSpPr>
          <p:nvPr>
            <p:ph type="title"/>
          </p:nvPr>
        </p:nvSpPr>
        <p:spPr>
          <a:xfrm>
            <a:off x="208261" y="293635"/>
            <a:ext cx="6707400" cy="627900"/>
          </a:xfrm>
        </p:spPr>
        <p:txBody>
          <a:bodyPr>
            <a:normAutofit fontScale="90000"/>
          </a:bodyPr>
          <a:lstStyle/>
          <a:p>
            <a:r>
              <a:rPr lang="en-US" dirty="0"/>
              <a:t>YOLO Applications</a:t>
            </a:r>
            <a:br>
              <a:rPr lang="en-US" dirty="0"/>
            </a:br>
            <a:endParaRPr lang="en-US" dirty="0"/>
          </a:p>
        </p:txBody>
      </p:sp>
      <p:sp>
        <p:nvSpPr>
          <p:cNvPr id="5" name="TextBox 4">
            <a:extLst>
              <a:ext uri="{FF2B5EF4-FFF2-40B4-BE49-F238E27FC236}">
                <a16:creationId xmlns:a16="http://schemas.microsoft.com/office/drawing/2014/main" id="{EB536046-E8AE-1FE7-EB7B-0F804D04C4D4}"/>
              </a:ext>
            </a:extLst>
          </p:cNvPr>
          <p:cNvSpPr txBox="1"/>
          <p:nvPr/>
        </p:nvSpPr>
        <p:spPr>
          <a:xfrm>
            <a:off x="280928" y="1145332"/>
            <a:ext cx="3370616" cy="3236784"/>
          </a:xfrm>
          <a:prstGeom prst="rect">
            <a:avLst/>
          </a:prstGeom>
          <a:noFill/>
        </p:spPr>
        <p:txBody>
          <a:bodyPr wrap="square">
            <a:spAutoFit/>
          </a:bodyPr>
          <a:lstStyle/>
          <a:p>
            <a:pPr algn="l">
              <a:spcBef>
                <a:spcPts val="1200"/>
              </a:spcBef>
              <a:spcAft>
                <a:spcPts val="1200"/>
              </a:spcAft>
              <a:buNone/>
            </a:pPr>
            <a:r>
              <a:rPr lang="en-GB" sz="1600" b="1" i="0" u="none" strike="noStrike" dirty="0">
                <a:solidFill>
                  <a:srgbClr val="05192D"/>
                </a:solidFill>
                <a:effectLst/>
                <a:latin typeface="Studio-Feixen-Sans"/>
              </a:rPr>
              <a:t>Agriculture</a:t>
            </a:r>
          </a:p>
          <a:p>
            <a:pPr algn="l">
              <a:spcAft>
                <a:spcPts val="1050"/>
              </a:spcAft>
            </a:pPr>
            <a:r>
              <a:rPr lang="en-GB" sz="1600" u="sng" dirty="0">
                <a:solidFill>
                  <a:srgbClr val="05192D"/>
                </a:solidFill>
                <a:latin typeface="Studio-Feixen-Sans"/>
                <a:hlinkClick r:id="rId2">
                  <a:extLst>
                    <a:ext uri="{A12FA001-AC4F-418D-AE19-62706E023703}">
                      <ahyp:hlinkClr xmlns:ahyp="http://schemas.microsoft.com/office/drawing/2018/hyperlinkcolor" val="tx"/>
                    </a:ext>
                  </a:extLst>
                </a:hlinkClick>
              </a:rPr>
              <a:t>Artificial Intelligence</a:t>
            </a:r>
            <a:r>
              <a:rPr lang="en-GB" sz="1600" u="sng" dirty="0">
                <a:solidFill>
                  <a:srgbClr val="05192D"/>
                </a:solidFill>
                <a:latin typeface="Studio-Feixen-Sans"/>
              </a:rPr>
              <a:t> </a:t>
            </a:r>
            <a:r>
              <a:rPr lang="en-GB" sz="1600" b="0" i="0" u="none" strike="noStrike" dirty="0">
                <a:solidFill>
                  <a:srgbClr val="05192D"/>
                </a:solidFill>
                <a:effectLst/>
                <a:latin typeface="Studio-Feixen-Sans"/>
              </a:rPr>
              <a:t>and robotics play a major role in modern agriculture. Harvesting robots are vision-based robots that were introduced to replace manual picking of fruits and vegetables. One of the best models in this field uses YOLO</a:t>
            </a:r>
          </a:p>
          <a:p>
            <a:pPr algn="l">
              <a:spcAft>
                <a:spcPts val="1050"/>
              </a:spcAft>
              <a:buNone/>
            </a:pPr>
            <a:endParaRPr lang="en-GB" sz="1600" b="0" i="0" u="none" strike="noStrike" dirty="0">
              <a:solidFill>
                <a:srgbClr val="05192D"/>
              </a:solidFill>
              <a:effectLst/>
              <a:latin typeface="Studio-Feixen-Sans"/>
            </a:endParaRPr>
          </a:p>
          <a:p>
            <a:pPr>
              <a:buNone/>
            </a:pPr>
            <a:br>
              <a:rPr lang="en-GB" sz="1600" dirty="0"/>
            </a:br>
            <a:endParaRPr lang="en-US" sz="1600" dirty="0"/>
          </a:p>
        </p:txBody>
      </p:sp>
      <p:pic>
        <p:nvPicPr>
          <p:cNvPr id="51202" name="Picture 2" descr="Comparison of YOLO-tomato models">
            <a:extLst>
              <a:ext uri="{FF2B5EF4-FFF2-40B4-BE49-F238E27FC236}">
                <a16:creationId xmlns:a16="http://schemas.microsoft.com/office/drawing/2014/main" id="{74B75ACE-3EE0-70D0-2172-DF7BC5BA27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0037" y="829621"/>
            <a:ext cx="5193963" cy="43138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19222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7D363-9207-D1B3-007E-3A934C9B3B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52582D-F37A-29F6-A94F-63894DF718E8}"/>
              </a:ext>
            </a:extLst>
          </p:cNvPr>
          <p:cNvSpPr>
            <a:spLocks noGrp="1"/>
          </p:cNvSpPr>
          <p:nvPr>
            <p:ph type="title"/>
          </p:nvPr>
        </p:nvSpPr>
        <p:spPr>
          <a:xfrm>
            <a:off x="208261" y="293635"/>
            <a:ext cx="6707400" cy="627900"/>
          </a:xfrm>
        </p:spPr>
        <p:txBody>
          <a:bodyPr>
            <a:normAutofit fontScale="90000"/>
          </a:bodyPr>
          <a:lstStyle/>
          <a:p>
            <a:r>
              <a:rPr lang="en-US" dirty="0"/>
              <a:t>Different versions of YOLO </a:t>
            </a:r>
            <a:br>
              <a:rPr lang="en-US" dirty="0"/>
            </a:br>
            <a:endParaRPr lang="en-US" dirty="0"/>
          </a:p>
        </p:txBody>
      </p:sp>
      <p:sp>
        <p:nvSpPr>
          <p:cNvPr id="5" name="TextBox 4">
            <a:extLst>
              <a:ext uri="{FF2B5EF4-FFF2-40B4-BE49-F238E27FC236}">
                <a16:creationId xmlns:a16="http://schemas.microsoft.com/office/drawing/2014/main" id="{056AB95C-DD48-4679-0D01-07F42432F6EC}"/>
              </a:ext>
            </a:extLst>
          </p:cNvPr>
          <p:cNvSpPr txBox="1"/>
          <p:nvPr/>
        </p:nvSpPr>
        <p:spPr>
          <a:xfrm>
            <a:off x="147704" y="709326"/>
            <a:ext cx="8505790" cy="4626908"/>
          </a:xfrm>
          <a:prstGeom prst="rect">
            <a:avLst/>
          </a:prstGeom>
          <a:noFill/>
        </p:spPr>
        <p:txBody>
          <a:bodyPr wrap="square">
            <a:spAutoFit/>
          </a:bodyPr>
          <a:lstStyle/>
          <a:p>
            <a:pPr algn="l">
              <a:buNone/>
            </a:pPr>
            <a:r>
              <a:rPr lang="en-GB" b="0" i="0" u="none" strike="noStrike" dirty="0">
                <a:solidFill>
                  <a:srgbClr val="404040"/>
                </a:solidFill>
                <a:effectLst/>
                <a:latin typeface="+mj-lt"/>
              </a:rPr>
              <a:t>YOLO has evolved through multiple versions, each improving speed, accuracy, and functionality. Here's a concise breakdown of key YOLO versions:</a:t>
            </a:r>
          </a:p>
          <a:p>
            <a:pPr algn="l">
              <a:buNone/>
            </a:pPr>
            <a:r>
              <a:rPr lang="en-GB" b="1" i="0" u="none" strike="noStrike" dirty="0">
                <a:solidFill>
                  <a:srgbClr val="404040"/>
                </a:solidFill>
                <a:effectLst/>
                <a:latin typeface="+mj-lt"/>
              </a:rPr>
              <a:t>1. YOLOv1 (2015)</a:t>
            </a:r>
          </a:p>
          <a:p>
            <a:pPr algn="l">
              <a:buFont typeface="Arial" panose="020B0604020202020204" pitchFamily="34" charset="0"/>
              <a:buChar char="•"/>
            </a:pPr>
            <a:r>
              <a:rPr lang="en-GB" b="1" i="0" u="none" strike="noStrike" dirty="0">
                <a:solidFill>
                  <a:srgbClr val="404040"/>
                </a:solidFill>
                <a:effectLst/>
                <a:latin typeface="+mj-lt"/>
              </a:rPr>
              <a:t>Key Idea</a:t>
            </a:r>
            <a:r>
              <a:rPr lang="en-GB" b="0" i="0" u="none" strike="noStrike" dirty="0">
                <a:solidFill>
                  <a:srgbClr val="404040"/>
                </a:solidFill>
                <a:effectLst/>
                <a:latin typeface="+mj-lt"/>
              </a:rPr>
              <a:t>: First real-time object detector (45 FPS).</a:t>
            </a:r>
          </a:p>
          <a:p>
            <a:pPr algn="l">
              <a:spcBef>
                <a:spcPts val="300"/>
              </a:spcBef>
              <a:buFont typeface="Arial" panose="020B0604020202020204" pitchFamily="34" charset="0"/>
              <a:buChar char="•"/>
            </a:pPr>
            <a:r>
              <a:rPr lang="en-GB" b="1" i="0" u="none" strike="noStrike" dirty="0">
                <a:solidFill>
                  <a:srgbClr val="404040"/>
                </a:solidFill>
                <a:effectLst/>
                <a:latin typeface="+mj-lt"/>
              </a:rPr>
              <a:t>Architecture</a:t>
            </a:r>
            <a:r>
              <a:rPr lang="en-GB" b="0" i="0" u="none" strike="noStrike" dirty="0">
                <a:solidFill>
                  <a:srgbClr val="404040"/>
                </a:solidFill>
                <a:effectLst/>
                <a:latin typeface="+mj-lt"/>
              </a:rPr>
              <a:t>: Single CNN for bounding box + class prediction (grid-based).</a:t>
            </a:r>
          </a:p>
          <a:p>
            <a:pPr algn="l">
              <a:spcBef>
                <a:spcPts val="300"/>
              </a:spcBef>
              <a:spcAft>
                <a:spcPts val="300"/>
              </a:spcAft>
              <a:buFont typeface="Arial" panose="020B0604020202020204" pitchFamily="34" charset="0"/>
              <a:buChar char="•"/>
            </a:pPr>
            <a:r>
              <a:rPr lang="en-GB" b="1" i="0" u="none" strike="noStrike" dirty="0">
                <a:solidFill>
                  <a:srgbClr val="404040"/>
                </a:solidFill>
                <a:effectLst/>
                <a:latin typeface="+mj-lt"/>
              </a:rPr>
              <a:t>Limitations</a:t>
            </a:r>
            <a:r>
              <a:rPr lang="en-GB" b="0" i="0" u="none" strike="noStrike" dirty="0">
                <a:solidFill>
                  <a:srgbClr val="404040"/>
                </a:solidFill>
                <a:effectLst/>
                <a:latin typeface="+mj-lt"/>
              </a:rPr>
              <a:t>:</a:t>
            </a:r>
          </a:p>
          <a:p>
            <a:pPr marL="742950" lvl="1" indent="-285750" algn="l">
              <a:spcBef>
                <a:spcPts val="300"/>
              </a:spcBef>
              <a:buFont typeface="Arial" panose="020B0604020202020204" pitchFamily="34" charset="0"/>
              <a:buChar char="•"/>
            </a:pPr>
            <a:r>
              <a:rPr lang="en-GB" b="0" i="0" u="none" strike="noStrike" dirty="0">
                <a:solidFill>
                  <a:srgbClr val="404040"/>
                </a:solidFill>
                <a:effectLst/>
                <a:latin typeface="+mj-lt"/>
              </a:rPr>
              <a:t>Struggled with small objects.</a:t>
            </a:r>
          </a:p>
          <a:p>
            <a:pPr marL="742950" lvl="1" indent="-285750" algn="l">
              <a:spcBef>
                <a:spcPts val="300"/>
              </a:spcBef>
              <a:buFont typeface="Arial" panose="020B0604020202020204" pitchFamily="34" charset="0"/>
              <a:buChar char="•"/>
            </a:pPr>
            <a:r>
              <a:rPr lang="en-GB" b="0" i="0" u="none" strike="noStrike" dirty="0">
                <a:solidFill>
                  <a:srgbClr val="404040"/>
                </a:solidFill>
                <a:effectLst/>
                <a:latin typeface="+mj-lt"/>
              </a:rPr>
              <a:t>Low recall compared to two-stage detectors.</a:t>
            </a:r>
          </a:p>
          <a:p>
            <a:pPr algn="l">
              <a:buNone/>
            </a:pPr>
            <a:r>
              <a:rPr lang="en-GB" b="1" i="0" u="none" strike="noStrike" dirty="0">
                <a:solidFill>
                  <a:srgbClr val="404040"/>
                </a:solidFill>
                <a:effectLst/>
                <a:latin typeface="+mj-lt"/>
              </a:rPr>
              <a:t>2. YOLOv2 (YOLO9000, 2016)</a:t>
            </a:r>
          </a:p>
          <a:p>
            <a:pPr algn="l">
              <a:spcAft>
                <a:spcPts val="300"/>
              </a:spcAft>
              <a:buFont typeface="Arial" panose="020B0604020202020204" pitchFamily="34" charset="0"/>
              <a:buChar char="•"/>
            </a:pPr>
            <a:r>
              <a:rPr lang="en-GB" b="1" i="0" u="none" strike="noStrike" dirty="0">
                <a:solidFill>
                  <a:srgbClr val="404040"/>
                </a:solidFill>
                <a:effectLst/>
                <a:latin typeface="+mj-lt"/>
              </a:rPr>
              <a:t>Improvements</a:t>
            </a:r>
            <a:r>
              <a:rPr lang="en-GB" b="0" i="0" u="none" strike="noStrike" dirty="0">
                <a:solidFill>
                  <a:srgbClr val="404040"/>
                </a:solidFill>
                <a:effectLst/>
                <a:latin typeface="+mj-lt"/>
              </a:rPr>
              <a:t>:</a:t>
            </a:r>
          </a:p>
          <a:p>
            <a:pPr marL="742950" lvl="1" indent="-285750" algn="l">
              <a:spcBef>
                <a:spcPts val="300"/>
              </a:spcBef>
              <a:buFont typeface="Arial" panose="020B0604020202020204" pitchFamily="34" charset="0"/>
              <a:buChar char="•"/>
            </a:pPr>
            <a:r>
              <a:rPr lang="en-GB" b="0" i="0" u="none" strike="noStrike" dirty="0">
                <a:solidFill>
                  <a:srgbClr val="404040"/>
                </a:solidFill>
                <a:effectLst/>
                <a:latin typeface="+mj-lt"/>
              </a:rPr>
              <a:t>Added </a:t>
            </a:r>
            <a:r>
              <a:rPr lang="en-GB" b="1" i="0" u="none" strike="noStrike" dirty="0">
                <a:solidFill>
                  <a:srgbClr val="404040"/>
                </a:solidFill>
                <a:effectLst/>
                <a:latin typeface="+mj-lt"/>
              </a:rPr>
              <a:t>Batch Normalization</a:t>
            </a:r>
            <a:r>
              <a:rPr lang="en-GB" b="0" i="0" u="none" strike="noStrike" dirty="0">
                <a:solidFill>
                  <a:srgbClr val="404040"/>
                </a:solidFill>
                <a:effectLst/>
                <a:latin typeface="+mj-lt"/>
              </a:rPr>
              <a:t>.</a:t>
            </a:r>
          </a:p>
          <a:p>
            <a:pPr marL="742950" lvl="1" indent="-285750" algn="l">
              <a:spcBef>
                <a:spcPts val="300"/>
              </a:spcBef>
              <a:buFont typeface="Arial" panose="020B0604020202020204" pitchFamily="34" charset="0"/>
              <a:buChar char="•"/>
            </a:pPr>
            <a:r>
              <a:rPr lang="en-GB" b="0" i="0" u="none" strike="noStrike" dirty="0">
                <a:solidFill>
                  <a:srgbClr val="404040"/>
                </a:solidFill>
                <a:effectLst/>
                <a:latin typeface="+mj-lt"/>
              </a:rPr>
              <a:t>Introduced </a:t>
            </a:r>
            <a:r>
              <a:rPr lang="en-GB" b="1" i="0" u="none" strike="noStrike" dirty="0">
                <a:solidFill>
                  <a:srgbClr val="404040"/>
                </a:solidFill>
                <a:effectLst/>
                <a:latin typeface="+mj-lt"/>
              </a:rPr>
              <a:t>anchor boxes</a:t>
            </a:r>
            <a:r>
              <a:rPr lang="en-GB" b="0" i="0" u="none" strike="noStrike" dirty="0">
                <a:solidFill>
                  <a:srgbClr val="404040"/>
                </a:solidFill>
                <a:effectLst/>
                <a:latin typeface="+mj-lt"/>
              </a:rPr>
              <a:t> (improved localization).</a:t>
            </a:r>
          </a:p>
          <a:p>
            <a:pPr marL="742950" lvl="1" indent="-285750" algn="l">
              <a:spcBef>
                <a:spcPts val="300"/>
              </a:spcBef>
              <a:buFont typeface="Arial" panose="020B0604020202020204" pitchFamily="34" charset="0"/>
              <a:buChar char="•"/>
            </a:pPr>
            <a:r>
              <a:rPr lang="en-GB" b="0" i="0" u="none" strike="noStrike" dirty="0">
                <a:solidFill>
                  <a:srgbClr val="404040"/>
                </a:solidFill>
                <a:effectLst/>
                <a:latin typeface="+mj-lt"/>
              </a:rPr>
              <a:t>Used </a:t>
            </a:r>
            <a:r>
              <a:rPr lang="en-GB" b="1" i="0" u="none" strike="noStrike" dirty="0">
                <a:solidFill>
                  <a:srgbClr val="404040"/>
                </a:solidFill>
                <a:effectLst/>
                <a:latin typeface="+mj-lt"/>
              </a:rPr>
              <a:t>Darknet-19</a:t>
            </a:r>
            <a:r>
              <a:rPr lang="en-GB" b="0" i="0" u="none" strike="noStrike" dirty="0">
                <a:solidFill>
                  <a:srgbClr val="404040"/>
                </a:solidFill>
                <a:effectLst/>
                <a:latin typeface="+mj-lt"/>
              </a:rPr>
              <a:t> backbone.</a:t>
            </a:r>
          </a:p>
          <a:p>
            <a:pPr marL="742950" lvl="1" indent="-285750" algn="l">
              <a:spcBef>
                <a:spcPts val="300"/>
              </a:spcBef>
              <a:buFont typeface="Arial" panose="020B0604020202020204" pitchFamily="34" charset="0"/>
              <a:buChar char="•"/>
            </a:pPr>
            <a:r>
              <a:rPr lang="en-GB" b="0" i="0" u="none" strike="noStrike" dirty="0">
                <a:solidFill>
                  <a:srgbClr val="404040"/>
                </a:solidFill>
                <a:effectLst/>
                <a:latin typeface="+mj-lt"/>
              </a:rPr>
              <a:t>Could detect 9000 classes (hence "YOLO9000").</a:t>
            </a:r>
          </a:p>
          <a:p>
            <a:pPr algn="l">
              <a:spcBef>
                <a:spcPts val="300"/>
              </a:spcBef>
              <a:buFont typeface="Arial" panose="020B0604020202020204" pitchFamily="34" charset="0"/>
              <a:buChar char="•"/>
            </a:pPr>
            <a:r>
              <a:rPr lang="en-GB" b="1" i="0" u="none" strike="noStrike" dirty="0">
                <a:solidFill>
                  <a:srgbClr val="404040"/>
                </a:solidFill>
                <a:effectLst/>
                <a:latin typeface="+mj-lt"/>
              </a:rPr>
              <a:t>Speed</a:t>
            </a:r>
            <a:r>
              <a:rPr lang="en-GB" b="0" i="0" u="none" strike="noStrike" dirty="0">
                <a:solidFill>
                  <a:srgbClr val="404040"/>
                </a:solidFill>
                <a:effectLst/>
                <a:latin typeface="+mj-lt"/>
              </a:rPr>
              <a:t>: 67 FPS (faster than v1).</a:t>
            </a:r>
          </a:p>
          <a:p>
            <a:pPr algn="l">
              <a:spcAft>
                <a:spcPts val="1050"/>
              </a:spcAft>
              <a:buNone/>
            </a:pPr>
            <a:endParaRPr lang="en-GB" sz="1600" b="0" i="0" u="none" strike="noStrike" dirty="0">
              <a:solidFill>
                <a:srgbClr val="05192D"/>
              </a:solidFill>
              <a:effectLst/>
              <a:latin typeface="+mj-lt"/>
            </a:endParaRPr>
          </a:p>
          <a:p>
            <a:pPr>
              <a:buNone/>
            </a:pPr>
            <a:br>
              <a:rPr lang="en-GB" sz="1600" dirty="0">
                <a:latin typeface="+mj-lt"/>
              </a:rPr>
            </a:br>
            <a:endParaRPr lang="en-US" sz="1600" dirty="0">
              <a:latin typeface="+mj-lt"/>
            </a:endParaRPr>
          </a:p>
        </p:txBody>
      </p:sp>
    </p:spTree>
    <p:extLst>
      <p:ext uri="{BB962C8B-B14F-4D97-AF65-F5344CB8AC3E}">
        <p14:creationId xmlns:p14="http://schemas.microsoft.com/office/powerpoint/2010/main" val="39521733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759F8-B387-9DFB-D730-D0B30F58EA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C7B63D-E912-895E-A6AD-90C269C08F0E}"/>
              </a:ext>
            </a:extLst>
          </p:cNvPr>
          <p:cNvSpPr>
            <a:spLocks noGrp="1"/>
          </p:cNvSpPr>
          <p:nvPr>
            <p:ph type="title"/>
          </p:nvPr>
        </p:nvSpPr>
        <p:spPr>
          <a:xfrm>
            <a:off x="208261" y="293635"/>
            <a:ext cx="6707400" cy="627900"/>
          </a:xfrm>
        </p:spPr>
        <p:txBody>
          <a:bodyPr>
            <a:normAutofit fontScale="90000"/>
          </a:bodyPr>
          <a:lstStyle/>
          <a:p>
            <a:r>
              <a:rPr lang="en-US" dirty="0"/>
              <a:t>Different versions of YOLO </a:t>
            </a:r>
            <a:br>
              <a:rPr lang="en-US" dirty="0"/>
            </a:br>
            <a:endParaRPr lang="en-US" dirty="0"/>
          </a:p>
        </p:txBody>
      </p:sp>
      <p:sp>
        <p:nvSpPr>
          <p:cNvPr id="5" name="TextBox 4">
            <a:extLst>
              <a:ext uri="{FF2B5EF4-FFF2-40B4-BE49-F238E27FC236}">
                <a16:creationId xmlns:a16="http://schemas.microsoft.com/office/drawing/2014/main" id="{B37CC7D2-173A-1A9D-FF4E-8D98782B8293}"/>
              </a:ext>
            </a:extLst>
          </p:cNvPr>
          <p:cNvSpPr txBox="1"/>
          <p:nvPr/>
        </p:nvSpPr>
        <p:spPr>
          <a:xfrm>
            <a:off x="147704" y="709326"/>
            <a:ext cx="8505790" cy="4596130"/>
          </a:xfrm>
          <a:prstGeom prst="rect">
            <a:avLst/>
          </a:prstGeom>
          <a:noFill/>
        </p:spPr>
        <p:txBody>
          <a:bodyPr wrap="square">
            <a:spAutoFit/>
          </a:bodyPr>
          <a:lstStyle/>
          <a:p>
            <a:pPr algn="l">
              <a:buNone/>
            </a:pPr>
            <a:r>
              <a:rPr lang="en-GB" sz="1600" b="1" i="0" u="none" strike="noStrike" dirty="0">
                <a:solidFill>
                  <a:srgbClr val="404040"/>
                </a:solidFill>
                <a:effectLst/>
                <a:latin typeface="+mj-lt"/>
              </a:rPr>
              <a:t>3. YOLOv3 (2018)</a:t>
            </a:r>
          </a:p>
          <a:p>
            <a:pPr algn="l">
              <a:spcAft>
                <a:spcPts val="300"/>
              </a:spcAft>
              <a:buFont typeface="Arial" panose="020B0604020202020204" pitchFamily="34" charset="0"/>
              <a:buChar char="•"/>
            </a:pPr>
            <a:r>
              <a:rPr lang="en-GB" sz="1600" b="1" i="0" u="none" strike="noStrike" dirty="0">
                <a:solidFill>
                  <a:srgbClr val="404040"/>
                </a:solidFill>
                <a:effectLst/>
                <a:latin typeface="+mj-lt"/>
              </a:rPr>
              <a:t>Major Upgrades</a:t>
            </a:r>
            <a:r>
              <a:rPr lang="en-GB" sz="1600" b="0" i="0" u="none" strike="noStrike" dirty="0">
                <a:solidFill>
                  <a:srgbClr val="404040"/>
                </a:solidFill>
                <a:effectLst/>
                <a:latin typeface="+mj-lt"/>
              </a:rPr>
              <a:t>:</a:t>
            </a:r>
          </a:p>
          <a:p>
            <a:pPr marL="742950" lvl="1" indent="-285750" algn="l">
              <a:spcBef>
                <a:spcPts val="300"/>
              </a:spcBef>
              <a:buFont typeface="Arial" panose="020B0604020202020204" pitchFamily="34" charset="0"/>
              <a:buChar char="•"/>
            </a:pPr>
            <a:r>
              <a:rPr lang="en-GB" sz="1600" b="1" i="0" u="none" strike="noStrike" dirty="0">
                <a:solidFill>
                  <a:srgbClr val="404040"/>
                </a:solidFill>
                <a:effectLst/>
                <a:latin typeface="+mj-lt"/>
              </a:rPr>
              <a:t>Darknet-53</a:t>
            </a:r>
            <a:r>
              <a:rPr lang="en-GB" sz="1600" b="0" i="0" u="none" strike="noStrike" dirty="0">
                <a:solidFill>
                  <a:srgbClr val="404040"/>
                </a:solidFill>
                <a:effectLst/>
                <a:latin typeface="+mj-lt"/>
              </a:rPr>
              <a:t> backbone (deeper, more accurate).</a:t>
            </a:r>
          </a:p>
          <a:p>
            <a:pPr marL="742950" lvl="1" indent="-285750" algn="l">
              <a:spcBef>
                <a:spcPts val="300"/>
              </a:spcBef>
              <a:buFont typeface="Arial" panose="020B0604020202020204" pitchFamily="34" charset="0"/>
              <a:buChar char="•"/>
            </a:pPr>
            <a:r>
              <a:rPr lang="en-GB" sz="1600" b="1" i="0" u="none" strike="noStrike" dirty="0">
                <a:solidFill>
                  <a:srgbClr val="404040"/>
                </a:solidFill>
                <a:effectLst/>
                <a:latin typeface="+mj-lt"/>
              </a:rPr>
              <a:t>Multi-scale predictions</a:t>
            </a:r>
            <a:r>
              <a:rPr lang="en-GB" sz="1600" b="0" i="0" u="none" strike="noStrike" dirty="0">
                <a:solidFill>
                  <a:srgbClr val="404040"/>
                </a:solidFill>
                <a:effectLst/>
                <a:latin typeface="+mj-lt"/>
              </a:rPr>
              <a:t> (3 scales for small/medium/large objects).</a:t>
            </a:r>
          </a:p>
          <a:p>
            <a:pPr marL="742950" lvl="1" indent="-285750" algn="l">
              <a:spcBef>
                <a:spcPts val="300"/>
              </a:spcBef>
              <a:buFont typeface="Arial" panose="020B0604020202020204" pitchFamily="34" charset="0"/>
              <a:buChar char="•"/>
            </a:pPr>
            <a:r>
              <a:rPr lang="en-GB" sz="1600" b="0" i="0" u="none" strike="noStrike" dirty="0">
                <a:solidFill>
                  <a:srgbClr val="404040"/>
                </a:solidFill>
                <a:effectLst/>
                <a:latin typeface="+mj-lt"/>
              </a:rPr>
              <a:t>Better feature extraction with </a:t>
            </a:r>
            <a:r>
              <a:rPr lang="en-GB" sz="1600" b="1" i="0" u="none" strike="noStrike" dirty="0">
                <a:solidFill>
                  <a:srgbClr val="404040"/>
                </a:solidFill>
                <a:effectLst/>
                <a:latin typeface="+mj-lt"/>
              </a:rPr>
              <a:t>residual connections</a:t>
            </a:r>
            <a:r>
              <a:rPr lang="en-GB" sz="1600" b="0" i="0" u="none" strike="noStrike" dirty="0">
                <a:solidFill>
                  <a:srgbClr val="404040"/>
                </a:solidFill>
                <a:effectLst/>
                <a:latin typeface="+mj-lt"/>
              </a:rPr>
              <a:t>.</a:t>
            </a:r>
          </a:p>
          <a:p>
            <a:pPr algn="l">
              <a:spcBef>
                <a:spcPts val="300"/>
              </a:spcBef>
              <a:buFont typeface="Arial" panose="020B0604020202020204" pitchFamily="34" charset="0"/>
              <a:buChar char="•"/>
            </a:pPr>
            <a:r>
              <a:rPr lang="en-GB" sz="1600" b="1" i="0" u="none" strike="noStrike" dirty="0">
                <a:solidFill>
                  <a:srgbClr val="404040"/>
                </a:solidFill>
                <a:effectLst/>
                <a:latin typeface="+mj-lt"/>
              </a:rPr>
              <a:t>Performance</a:t>
            </a:r>
            <a:r>
              <a:rPr lang="en-GB" sz="1600" b="0" i="0" u="none" strike="noStrike" dirty="0">
                <a:solidFill>
                  <a:srgbClr val="404040"/>
                </a:solidFill>
                <a:effectLst/>
                <a:latin typeface="+mj-lt"/>
              </a:rPr>
              <a:t>: 30 FPS with COCO </a:t>
            </a:r>
            <a:r>
              <a:rPr lang="en-GB" sz="1600" b="0" i="0" u="none" strike="noStrike" dirty="0" err="1">
                <a:solidFill>
                  <a:srgbClr val="404040"/>
                </a:solidFill>
                <a:effectLst/>
                <a:latin typeface="+mj-lt"/>
              </a:rPr>
              <a:t>mAP</a:t>
            </a:r>
            <a:r>
              <a:rPr lang="en-GB" sz="1600" b="0" i="0" u="none" strike="noStrike" dirty="0">
                <a:solidFill>
                  <a:srgbClr val="404040"/>
                </a:solidFill>
                <a:effectLst/>
                <a:latin typeface="+mj-lt"/>
              </a:rPr>
              <a:t> of 33.0.</a:t>
            </a:r>
          </a:p>
          <a:p>
            <a:pPr algn="l">
              <a:buNone/>
            </a:pPr>
            <a:r>
              <a:rPr lang="en-GB" sz="1600" b="1" i="0" u="none" strike="noStrike" dirty="0">
                <a:solidFill>
                  <a:srgbClr val="404040"/>
                </a:solidFill>
                <a:effectLst/>
                <a:latin typeface="+mj-lt"/>
              </a:rPr>
              <a:t>4. YOLOv4 (2020)</a:t>
            </a:r>
          </a:p>
          <a:p>
            <a:pPr algn="l">
              <a:spcAft>
                <a:spcPts val="300"/>
              </a:spcAft>
              <a:buFont typeface="Arial" panose="020B0604020202020204" pitchFamily="34" charset="0"/>
              <a:buChar char="•"/>
            </a:pPr>
            <a:r>
              <a:rPr lang="en-GB" sz="1600" b="1" i="0" u="none" strike="noStrike" dirty="0">
                <a:solidFill>
                  <a:srgbClr val="404040"/>
                </a:solidFill>
                <a:effectLst/>
                <a:latin typeface="+mj-lt"/>
              </a:rPr>
              <a:t>Innovations</a:t>
            </a:r>
            <a:r>
              <a:rPr lang="en-GB" sz="1600" b="0" i="0" u="none" strike="noStrike" dirty="0">
                <a:solidFill>
                  <a:srgbClr val="404040"/>
                </a:solidFill>
                <a:effectLst/>
                <a:latin typeface="+mj-lt"/>
              </a:rPr>
              <a:t>:</a:t>
            </a:r>
          </a:p>
          <a:p>
            <a:pPr marL="742950" lvl="1" indent="-285750" algn="l">
              <a:spcBef>
                <a:spcPts val="300"/>
              </a:spcBef>
              <a:buFont typeface="Arial" panose="020B0604020202020204" pitchFamily="34" charset="0"/>
              <a:buChar char="•"/>
            </a:pPr>
            <a:r>
              <a:rPr lang="en-GB" sz="1600" b="1" i="0" u="none" strike="noStrike" dirty="0">
                <a:solidFill>
                  <a:srgbClr val="404040"/>
                </a:solidFill>
                <a:effectLst/>
                <a:latin typeface="+mj-lt"/>
              </a:rPr>
              <a:t>CSPDarknet53</a:t>
            </a:r>
            <a:r>
              <a:rPr lang="en-GB" sz="1600" b="0" i="0" u="none" strike="noStrike" dirty="0">
                <a:solidFill>
                  <a:srgbClr val="404040"/>
                </a:solidFill>
                <a:effectLst/>
                <a:latin typeface="+mj-lt"/>
              </a:rPr>
              <a:t> backbone (cross-stage partial networks).</a:t>
            </a:r>
          </a:p>
          <a:p>
            <a:pPr marL="742950" lvl="1" indent="-285750" algn="l">
              <a:spcBef>
                <a:spcPts val="300"/>
              </a:spcBef>
              <a:buFont typeface="Arial" panose="020B0604020202020204" pitchFamily="34" charset="0"/>
              <a:buChar char="•"/>
            </a:pPr>
            <a:r>
              <a:rPr lang="en-GB" sz="1600" b="1" i="0" u="none" strike="noStrike" dirty="0">
                <a:solidFill>
                  <a:srgbClr val="404040"/>
                </a:solidFill>
                <a:effectLst/>
                <a:latin typeface="+mj-lt"/>
              </a:rPr>
              <a:t>PANet</a:t>
            </a:r>
            <a:r>
              <a:rPr lang="en-GB" sz="1600" b="0" i="0" u="none" strike="noStrike" dirty="0">
                <a:solidFill>
                  <a:srgbClr val="404040"/>
                </a:solidFill>
                <a:effectLst/>
                <a:latin typeface="+mj-lt"/>
              </a:rPr>
              <a:t> (Path Aggregation Network) for better feature fusion.</a:t>
            </a:r>
          </a:p>
          <a:p>
            <a:pPr marL="742950" lvl="1" indent="-285750" algn="l">
              <a:spcBef>
                <a:spcPts val="300"/>
              </a:spcBef>
              <a:buFont typeface="Arial" panose="020B0604020202020204" pitchFamily="34" charset="0"/>
              <a:buChar char="•"/>
            </a:pPr>
            <a:r>
              <a:rPr lang="en-GB" sz="1600" b="1" i="0" u="none" strike="noStrike" dirty="0">
                <a:solidFill>
                  <a:srgbClr val="404040"/>
                </a:solidFill>
                <a:effectLst/>
                <a:latin typeface="+mj-lt"/>
              </a:rPr>
              <a:t>Mish activation</a:t>
            </a:r>
            <a:r>
              <a:rPr lang="en-GB" sz="1600" b="0" i="0" u="none" strike="noStrike" dirty="0">
                <a:solidFill>
                  <a:srgbClr val="404040"/>
                </a:solidFill>
                <a:effectLst/>
                <a:latin typeface="+mj-lt"/>
              </a:rPr>
              <a:t> (improves accuracy).</a:t>
            </a:r>
          </a:p>
          <a:p>
            <a:pPr marL="742950" lvl="1" indent="-285750" algn="l">
              <a:spcBef>
                <a:spcPts val="300"/>
              </a:spcBef>
              <a:buFont typeface="Arial" panose="020B0604020202020204" pitchFamily="34" charset="0"/>
              <a:buChar char="•"/>
            </a:pPr>
            <a:r>
              <a:rPr lang="en-GB" sz="1600" b="1" i="0" u="none" strike="noStrike" dirty="0">
                <a:solidFill>
                  <a:srgbClr val="404040"/>
                </a:solidFill>
                <a:effectLst/>
                <a:latin typeface="+mj-lt"/>
              </a:rPr>
              <a:t>SPP (Spatial Pyramid Pooling)</a:t>
            </a:r>
            <a:r>
              <a:rPr lang="en-GB" sz="1600" b="0" i="0" u="none" strike="noStrike" dirty="0">
                <a:solidFill>
                  <a:srgbClr val="404040"/>
                </a:solidFill>
                <a:effectLst/>
                <a:latin typeface="+mj-lt"/>
              </a:rPr>
              <a:t> for multi-scale features.</a:t>
            </a:r>
          </a:p>
          <a:p>
            <a:pPr algn="l">
              <a:spcBef>
                <a:spcPts val="300"/>
              </a:spcBef>
              <a:buFont typeface="Arial" panose="020B0604020202020204" pitchFamily="34" charset="0"/>
              <a:buChar char="•"/>
            </a:pPr>
            <a:r>
              <a:rPr lang="en-GB" sz="1600" b="1" i="0" u="none" strike="noStrike" dirty="0">
                <a:solidFill>
                  <a:srgbClr val="404040"/>
                </a:solidFill>
                <a:effectLst/>
                <a:latin typeface="+mj-lt"/>
              </a:rPr>
              <a:t>Speed</a:t>
            </a:r>
            <a:r>
              <a:rPr lang="en-GB" sz="1600" b="0" i="0" u="none" strike="noStrike" dirty="0">
                <a:solidFill>
                  <a:srgbClr val="404040"/>
                </a:solidFill>
                <a:effectLst/>
                <a:latin typeface="+mj-lt"/>
              </a:rPr>
              <a:t>: 65 FPS on Tesla V100.</a:t>
            </a:r>
          </a:p>
          <a:p>
            <a:pPr algn="l">
              <a:spcAft>
                <a:spcPts val="1050"/>
              </a:spcAft>
              <a:buNone/>
            </a:pPr>
            <a:endParaRPr lang="en-GB" sz="1600" b="0" i="0" u="none" strike="noStrike" dirty="0">
              <a:solidFill>
                <a:srgbClr val="05192D"/>
              </a:solidFill>
              <a:effectLst/>
              <a:latin typeface="+mj-lt"/>
            </a:endParaRPr>
          </a:p>
          <a:p>
            <a:pPr>
              <a:buNone/>
            </a:pPr>
            <a:br>
              <a:rPr lang="en-GB" sz="1600" dirty="0">
                <a:latin typeface="+mj-lt"/>
              </a:rPr>
            </a:br>
            <a:endParaRPr lang="en-US" sz="1600" dirty="0">
              <a:latin typeface="+mj-lt"/>
            </a:endParaRPr>
          </a:p>
        </p:txBody>
      </p:sp>
    </p:spTree>
    <p:extLst>
      <p:ext uri="{BB962C8B-B14F-4D97-AF65-F5344CB8AC3E}">
        <p14:creationId xmlns:p14="http://schemas.microsoft.com/office/powerpoint/2010/main" val="31854245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B8298-D3C4-7CCB-EEDF-9A23913B1C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A45B15-4424-853C-7D87-9B59D5710BFE}"/>
              </a:ext>
            </a:extLst>
          </p:cNvPr>
          <p:cNvSpPr>
            <a:spLocks noGrp="1"/>
          </p:cNvSpPr>
          <p:nvPr>
            <p:ph type="title"/>
          </p:nvPr>
        </p:nvSpPr>
        <p:spPr>
          <a:xfrm>
            <a:off x="208261" y="293635"/>
            <a:ext cx="6707400" cy="627900"/>
          </a:xfrm>
        </p:spPr>
        <p:txBody>
          <a:bodyPr>
            <a:normAutofit fontScale="90000"/>
          </a:bodyPr>
          <a:lstStyle/>
          <a:p>
            <a:r>
              <a:rPr lang="en-US" dirty="0"/>
              <a:t>Different versions of YOLO </a:t>
            </a:r>
            <a:br>
              <a:rPr lang="en-US" dirty="0"/>
            </a:br>
            <a:endParaRPr lang="en-US" dirty="0"/>
          </a:p>
        </p:txBody>
      </p:sp>
      <p:sp>
        <p:nvSpPr>
          <p:cNvPr id="5" name="TextBox 4">
            <a:extLst>
              <a:ext uri="{FF2B5EF4-FFF2-40B4-BE49-F238E27FC236}">
                <a16:creationId xmlns:a16="http://schemas.microsoft.com/office/drawing/2014/main" id="{A57ABDD4-A74C-17C9-1E7C-138BB566A939}"/>
              </a:ext>
            </a:extLst>
          </p:cNvPr>
          <p:cNvSpPr txBox="1"/>
          <p:nvPr/>
        </p:nvSpPr>
        <p:spPr>
          <a:xfrm>
            <a:off x="147704" y="709326"/>
            <a:ext cx="8505790" cy="4596130"/>
          </a:xfrm>
          <a:prstGeom prst="rect">
            <a:avLst/>
          </a:prstGeom>
          <a:noFill/>
        </p:spPr>
        <p:txBody>
          <a:bodyPr wrap="square">
            <a:spAutoFit/>
          </a:bodyPr>
          <a:lstStyle/>
          <a:p>
            <a:pPr algn="l">
              <a:buNone/>
            </a:pPr>
            <a:r>
              <a:rPr lang="en-GB" sz="1600" b="1" i="0" u="none" strike="noStrike" dirty="0">
                <a:solidFill>
                  <a:srgbClr val="404040"/>
                </a:solidFill>
                <a:effectLst/>
                <a:latin typeface="+mj-lt"/>
              </a:rPr>
              <a:t>5. YOLOv5 (2020)</a:t>
            </a:r>
          </a:p>
          <a:p>
            <a:pPr algn="l">
              <a:spcAft>
                <a:spcPts val="300"/>
              </a:spcAft>
              <a:buFont typeface="Arial" panose="020B0604020202020204" pitchFamily="34" charset="0"/>
              <a:buChar char="•"/>
            </a:pPr>
            <a:r>
              <a:rPr lang="en-GB" sz="1600" b="1" i="0" u="none" strike="noStrike" dirty="0">
                <a:solidFill>
                  <a:srgbClr val="404040"/>
                </a:solidFill>
                <a:effectLst/>
                <a:latin typeface="+mj-lt"/>
              </a:rPr>
              <a:t>Key Features</a:t>
            </a:r>
            <a:r>
              <a:rPr lang="en-GB" sz="1600" b="0" i="0" u="none" strike="noStrike" dirty="0">
                <a:solidFill>
                  <a:srgbClr val="404040"/>
                </a:solidFill>
                <a:effectLst/>
                <a:latin typeface="+mj-lt"/>
              </a:rPr>
              <a:t>:</a:t>
            </a:r>
          </a:p>
          <a:p>
            <a:pPr marL="742950" lvl="1" indent="-285750" algn="l">
              <a:spcBef>
                <a:spcPts val="300"/>
              </a:spcBef>
              <a:buFont typeface="Arial" panose="020B0604020202020204" pitchFamily="34" charset="0"/>
              <a:buChar char="•"/>
            </a:pPr>
            <a:r>
              <a:rPr lang="en-GB" sz="1600" b="1" i="0" u="none" strike="noStrike" dirty="0" err="1">
                <a:solidFill>
                  <a:srgbClr val="404040"/>
                </a:solidFill>
                <a:effectLst/>
                <a:latin typeface="+mj-lt"/>
              </a:rPr>
              <a:t>PyTorch</a:t>
            </a:r>
            <a:r>
              <a:rPr lang="en-GB" sz="1600" b="1" i="0" u="none" strike="noStrike" dirty="0">
                <a:solidFill>
                  <a:srgbClr val="404040"/>
                </a:solidFill>
                <a:effectLst/>
                <a:latin typeface="+mj-lt"/>
              </a:rPr>
              <a:t> implementation</a:t>
            </a:r>
            <a:r>
              <a:rPr lang="en-GB" sz="1600" b="0" i="0" u="none" strike="noStrike" dirty="0">
                <a:solidFill>
                  <a:srgbClr val="404040"/>
                </a:solidFill>
                <a:effectLst/>
                <a:latin typeface="+mj-lt"/>
              </a:rPr>
              <a:t> (easier to use than Darknet).</a:t>
            </a:r>
          </a:p>
          <a:p>
            <a:pPr marL="742950" lvl="1" indent="-285750" algn="l">
              <a:spcBef>
                <a:spcPts val="300"/>
              </a:spcBef>
              <a:buFont typeface="Arial" panose="020B0604020202020204" pitchFamily="34" charset="0"/>
              <a:buChar char="•"/>
            </a:pPr>
            <a:r>
              <a:rPr lang="en-GB" sz="1600" b="1" i="0" u="none" strike="noStrike" dirty="0">
                <a:solidFill>
                  <a:srgbClr val="404040"/>
                </a:solidFill>
                <a:effectLst/>
                <a:latin typeface="+mj-lt"/>
              </a:rPr>
              <a:t>Auto-learning anchor boxes</a:t>
            </a:r>
            <a:r>
              <a:rPr lang="en-GB" sz="1600" b="0" i="0" u="none" strike="noStrike" dirty="0">
                <a:solidFill>
                  <a:srgbClr val="404040"/>
                </a:solidFill>
                <a:effectLst/>
                <a:latin typeface="+mj-lt"/>
              </a:rPr>
              <a:t>.</a:t>
            </a:r>
          </a:p>
          <a:p>
            <a:pPr marL="742950" lvl="1" indent="-285750" algn="l">
              <a:spcBef>
                <a:spcPts val="300"/>
              </a:spcBef>
              <a:buFont typeface="Arial" panose="020B0604020202020204" pitchFamily="34" charset="0"/>
              <a:buChar char="•"/>
            </a:pPr>
            <a:r>
              <a:rPr lang="en-GB" sz="1600" b="1" i="0" u="none" strike="noStrike" dirty="0">
                <a:solidFill>
                  <a:srgbClr val="404040"/>
                </a:solidFill>
                <a:effectLst/>
                <a:latin typeface="+mj-lt"/>
              </a:rPr>
              <a:t>Simplified architecture</a:t>
            </a:r>
            <a:r>
              <a:rPr lang="en-GB" sz="1600" b="0" i="0" u="none" strike="noStrike" dirty="0">
                <a:solidFill>
                  <a:srgbClr val="404040"/>
                </a:solidFill>
                <a:effectLst/>
                <a:latin typeface="+mj-lt"/>
              </a:rPr>
              <a:t> (focus on usability).</a:t>
            </a:r>
          </a:p>
          <a:p>
            <a:pPr marL="742950" lvl="1" indent="-285750" algn="l">
              <a:spcBef>
                <a:spcPts val="300"/>
              </a:spcBef>
              <a:buFont typeface="Arial" panose="020B0604020202020204" pitchFamily="34" charset="0"/>
              <a:buChar char="•"/>
            </a:pPr>
            <a:r>
              <a:rPr lang="en-GB" sz="1600" b="1" i="0" u="none" strike="noStrike" dirty="0">
                <a:solidFill>
                  <a:srgbClr val="404040"/>
                </a:solidFill>
                <a:effectLst/>
                <a:latin typeface="+mj-lt"/>
              </a:rPr>
              <a:t>Four variants</a:t>
            </a:r>
            <a:r>
              <a:rPr lang="en-GB" sz="1600" b="0" i="0" u="none" strike="noStrike" dirty="0">
                <a:solidFill>
                  <a:srgbClr val="404040"/>
                </a:solidFill>
                <a:effectLst/>
                <a:latin typeface="+mj-lt"/>
              </a:rPr>
              <a:t> (s, m, l, x) for speed/accuracy trade-offs.</a:t>
            </a:r>
          </a:p>
          <a:p>
            <a:pPr algn="l">
              <a:spcBef>
                <a:spcPts val="300"/>
              </a:spcBef>
              <a:buFont typeface="Arial" panose="020B0604020202020204" pitchFamily="34" charset="0"/>
              <a:buChar char="•"/>
            </a:pPr>
            <a:r>
              <a:rPr lang="en-GB" sz="1600" b="1" i="0" u="none" strike="noStrike" dirty="0">
                <a:solidFill>
                  <a:srgbClr val="404040"/>
                </a:solidFill>
                <a:effectLst/>
                <a:latin typeface="+mj-lt"/>
              </a:rPr>
              <a:t>Controversy</a:t>
            </a:r>
            <a:r>
              <a:rPr lang="en-GB" sz="1600" b="0" i="0" u="none" strike="noStrike" dirty="0">
                <a:solidFill>
                  <a:srgbClr val="404040"/>
                </a:solidFill>
                <a:effectLst/>
                <a:latin typeface="+mj-lt"/>
              </a:rPr>
              <a:t>: Not officially part of the YOLO series (developed by </a:t>
            </a:r>
            <a:r>
              <a:rPr lang="en-GB" sz="1600" b="0" i="0" u="none" strike="noStrike" dirty="0" err="1">
                <a:solidFill>
                  <a:srgbClr val="404040"/>
                </a:solidFill>
                <a:effectLst/>
                <a:latin typeface="+mj-lt"/>
              </a:rPr>
              <a:t>Ultralytics</a:t>
            </a:r>
            <a:r>
              <a:rPr lang="en-GB" sz="1600" b="0" i="0" u="none" strike="noStrike" dirty="0">
                <a:solidFill>
                  <a:srgbClr val="404040"/>
                </a:solidFill>
                <a:effectLst/>
                <a:latin typeface="+mj-lt"/>
              </a:rPr>
              <a:t>).</a:t>
            </a:r>
          </a:p>
          <a:p>
            <a:pPr algn="l">
              <a:buNone/>
            </a:pPr>
            <a:r>
              <a:rPr lang="en-GB" sz="1600" b="1" i="0" u="none" strike="noStrike" dirty="0">
                <a:solidFill>
                  <a:srgbClr val="404040"/>
                </a:solidFill>
                <a:effectLst/>
                <a:latin typeface="+mj-lt"/>
              </a:rPr>
              <a:t>6. YOLOv6 (2022)</a:t>
            </a:r>
          </a:p>
          <a:p>
            <a:pPr algn="l">
              <a:buFont typeface="Arial" panose="020B0604020202020204" pitchFamily="34" charset="0"/>
              <a:buChar char="•"/>
            </a:pPr>
            <a:r>
              <a:rPr lang="en-GB" sz="1600" b="1" i="0" u="none" strike="noStrike" dirty="0">
                <a:solidFill>
                  <a:srgbClr val="404040"/>
                </a:solidFill>
                <a:effectLst/>
                <a:latin typeface="+mj-lt"/>
              </a:rPr>
              <a:t>Developed by</a:t>
            </a:r>
            <a:r>
              <a:rPr lang="en-GB" sz="1600" b="0" i="0" u="none" strike="noStrike" dirty="0">
                <a:solidFill>
                  <a:srgbClr val="404040"/>
                </a:solidFill>
                <a:effectLst/>
                <a:latin typeface="+mj-lt"/>
              </a:rPr>
              <a:t> </a:t>
            </a:r>
            <a:r>
              <a:rPr lang="en-GB" sz="1600" b="0" i="0" u="none" strike="noStrike" dirty="0" err="1">
                <a:solidFill>
                  <a:srgbClr val="404040"/>
                </a:solidFill>
                <a:effectLst/>
                <a:latin typeface="+mj-lt"/>
              </a:rPr>
              <a:t>Meituan</a:t>
            </a:r>
            <a:r>
              <a:rPr lang="en-GB" sz="1600" b="0" i="0" u="none" strike="noStrike" dirty="0">
                <a:solidFill>
                  <a:srgbClr val="404040"/>
                </a:solidFill>
                <a:effectLst/>
                <a:latin typeface="+mj-lt"/>
              </a:rPr>
              <a:t> (focused on industrial applications).</a:t>
            </a:r>
          </a:p>
          <a:p>
            <a:pPr algn="l">
              <a:spcBef>
                <a:spcPts val="300"/>
              </a:spcBef>
              <a:spcAft>
                <a:spcPts val="300"/>
              </a:spcAft>
              <a:buFont typeface="Arial" panose="020B0604020202020204" pitchFamily="34" charset="0"/>
              <a:buChar char="•"/>
            </a:pPr>
            <a:r>
              <a:rPr lang="en-GB" sz="1600" b="1" i="0" u="none" strike="noStrike" dirty="0">
                <a:solidFill>
                  <a:srgbClr val="404040"/>
                </a:solidFill>
                <a:effectLst/>
                <a:latin typeface="+mj-lt"/>
              </a:rPr>
              <a:t>Improvements</a:t>
            </a:r>
            <a:r>
              <a:rPr lang="en-GB" sz="1600" b="0" i="0" u="none" strike="noStrike" dirty="0">
                <a:solidFill>
                  <a:srgbClr val="404040"/>
                </a:solidFill>
                <a:effectLst/>
                <a:latin typeface="+mj-lt"/>
              </a:rPr>
              <a:t>:</a:t>
            </a:r>
          </a:p>
          <a:p>
            <a:pPr marL="742950" lvl="1" indent="-285750" algn="l">
              <a:spcBef>
                <a:spcPts val="300"/>
              </a:spcBef>
              <a:buFont typeface="Arial" panose="020B0604020202020204" pitchFamily="34" charset="0"/>
              <a:buChar char="•"/>
            </a:pPr>
            <a:r>
              <a:rPr lang="en-GB" sz="1600" b="1" i="0" u="none" strike="noStrike" dirty="0">
                <a:solidFill>
                  <a:srgbClr val="404040"/>
                </a:solidFill>
                <a:effectLst/>
                <a:latin typeface="+mj-lt"/>
              </a:rPr>
              <a:t>Efficient backbone</a:t>
            </a:r>
            <a:r>
              <a:rPr lang="en-GB" sz="1600" b="0" i="0" u="none" strike="noStrike" dirty="0">
                <a:solidFill>
                  <a:srgbClr val="404040"/>
                </a:solidFill>
                <a:effectLst/>
                <a:latin typeface="+mj-lt"/>
              </a:rPr>
              <a:t> (</a:t>
            </a:r>
            <a:r>
              <a:rPr lang="en-GB" sz="1600" b="0" i="0" u="none" strike="noStrike" dirty="0" err="1">
                <a:solidFill>
                  <a:srgbClr val="404040"/>
                </a:solidFill>
                <a:effectLst/>
                <a:latin typeface="+mj-lt"/>
              </a:rPr>
              <a:t>RepVGG</a:t>
            </a:r>
            <a:r>
              <a:rPr lang="en-GB" sz="1600" b="0" i="0" u="none" strike="noStrike" dirty="0">
                <a:solidFill>
                  <a:srgbClr val="404040"/>
                </a:solidFill>
                <a:effectLst/>
                <a:latin typeface="+mj-lt"/>
              </a:rPr>
              <a:t>-style).</a:t>
            </a:r>
          </a:p>
          <a:p>
            <a:pPr marL="742950" lvl="1" indent="-285750" algn="l">
              <a:spcBef>
                <a:spcPts val="300"/>
              </a:spcBef>
              <a:buFont typeface="Arial" panose="020B0604020202020204" pitchFamily="34" charset="0"/>
              <a:buChar char="•"/>
            </a:pPr>
            <a:r>
              <a:rPr lang="en-GB" sz="1600" b="1" i="0" u="none" strike="noStrike" dirty="0">
                <a:solidFill>
                  <a:srgbClr val="404040"/>
                </a:solidFill>
                <a:effectLst/>
                <a:latin typeface="+mj-lt"/>
              </a:rPr>
              <a:t>Anchor-free detection</a:t>
            </a:r>
            <a:r>
              <a:rPr lang="en-GB" sz="1600" b="0" i="0" u="none" strike="noStrike" dirty="0">
                <a:solidFill>
                  <a:srgbClr val="404040"/>
                </a:solidFill>
                <a:effectLst/>
                <a:latin typeface="+mj-lt"/>
              </a:rPr>
              <a:t> (simpler than anchor-based).</a:t>
            </a:r>
          </a:p>
          <a:p>
            <a:pPr marL="742950" lvl="1" indent="-285750" algn="l">
              <a:spcBef>
                <a:spcPts val="300"/>
              </a:spcBef>
              <a:buFont typeface="Arial" panose="020B0604020202020204" pitchFamily="34" charset="0"/>
              <a:buChar char="•"/>
            </a:pPr>
            <a:r>
              <a:rPr lang="en-GB" sz="1600" b="1" i="0" u="none" strike="noStrike" dirty="0">
                <a:solidFill>
                  <a:srgbClr val="404040"/>
                </a:solidFill>
                <a:effectLst/>
                <a:latin typeface="+mj-lt"/>
              </a:rPr>
              <a:t>Hardware-friendly design</a:t>
            </a:r>
            <a:r>
              <a:rPr lang="en-GB" sz="1600" b="0" i="0" u="none" strike="noStrike" dirty="0">
                <a:solidFill>
                  <a:srgbClr val="404040"/>
                </a:solidFill>
                <a:effectLst/>
                <a:latin typeface="+mj-lt"/>
              </a:rPr>
              <a:t> (optimized for GPUs).</a:t>
            </a:r>
          </a:p>
          <a:p>
            <a:pPr algn="l">
              <a:spcAft>
                <a:spcPts val="1050"/>
              </a:spcAft>
              <a:buNone/>
            </a:pPr>
            <a:endParaRPr lang="en-GB" sz="1600" b="0" i="0" u="none" strike="noStrike" dirty="0">
              <a:solidFill>
                <a:srgbClr val="05192D"/>
              </a:solidFill>
              <a:effectLst/>
              <a:latin typeface="+mj-lt"/>
            </a:endParaRPr>
          </a:p>
          <a:p>
            <a:pPr>
              <a:buNone/>
            </a:pPr>
            <a:br>
              <a:rPr lang="en-GB" sz="1600" dirty="0">
                <a:latin typeface="+mj-lt"/>
              </a:rPr>
            </a:br>
            <a:endParaRPr lang="en-US" sz="1600" dirty="0">
              <a:latin typeface="+mj-lt"/>
            </a:endParaRPr>
          </a:p>
        </p:txBody>
      </p:sp>
    </p:spTree>
    <p:extLst>
      <p:ext uri="{BB962C8B-B14F-4D97-AF65-F5344CB8AC3E}">
        <p14:creationId xmlns:p14="http://schemas.microsoft.com/office/powerpoint/2010/main" val="21821085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ACDE1-8B6D-79E3-63FD-F45D6E3B9C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49ED48-5AB8-5615-9169-8ED4871407E3}"/>
              </a:ext>
            </a:extLst>
          </p:cNvPr>
          <p:cNvSpPr>
            <a:spLocks noGrp="1"/>
          </p:cNvSpPr>
          <p:nvPr>
            <p:ph type="title"/>
          </p:nvPr>
        </p:nvSpPr>
        <p:spPr>
          <a:xfrm>
            <a:off x="208261" y="293635"/>
            <a:ext cx="6707400" cy="627900"/>
          </a:xfrm>
        </p:spPr>
        <p:txBody>
          <a:bodyPr>
            <a:normAutofit fontScale="90000"/>
          </a:bodyPr>
          <a:lstStyle/>
          <a:p>
            <a:r>
              <a:rPr lang="en-US" dirty="0"/>
              <a:t>Different versions of YOLO </a:t>
            </a:r>
            <a:br>
              <a:rPr lang="en-US" dirty="0"/>
            </a:br>
            <a:endParaRPr lang="en-US" dirty="0"/>
          </a:p>
        </p:txBody>
      </p:sp>
      <p:sp>
        <p:nvSpPr>
          <p:cNvPr id="5" name="TextBox 4">
            <a:extLst>
              <a:ext uri="{FF2B5EF4-FFF2-40B4-BE49-F238E27FC236}">
                <a16:creationId xmlns:a16="http://schemas.microsoft.com/office/drawing/2014/main" id="{F0AD84C7-479A-815F-DDFB-0CAFBC7131A5}"/>
              </a:ext>
            </a:extLst>
          </p:cNvPr>
          <p:cNvSpPr txBox="1"/>
          <p:nvPr/>
        </p:nvSpPr>
        <p:spPr>
          <a:xfrm>
            <a:off x="147704" y="709326"/>
            <a:ext cx="8505790" cy="5203989"/>
          </a:xfrm>
          <a:prstGeom prst="rect">
            <a:avLst/>
          </a:prstGeom>
          <a:noFill/>
        </p:spPr>
        <p:txBody>
          <a:bodyPr wrap="square">
            <a:spAutoFit/>
          </a:bodyPr>
          <a:lstStyle/>
          <a:p>
            <a:pPr algn="l">
              <a:buNone/>
            </a:pPr>
            <a:r>
              <a:rPr lang="en-GB" sz="1600" b="1" i="0" u="none" strike="noStrike" dirty="0">
                <a:solidFill>
                  <a:srgbClr val="404040"/>
                </a:solidFill>
                <a:effectLst/>
                <a:latin typeface="+mj-lt"/>
              </a:rPr>
              <a:t>7. YOLOv7 (2022)</a:t>
            </a:r>
          </a:p>
          <a:p>
            <a:pPr algn="l">
              <a:spcAft>
                <a:spcPts val="300"/>
              </a:spcAft>
              <a:buFont typeface="Arial" panose="020B0604020202020204" pitchFamily="34" charset="0"/>
              <a:buChar char="•"/>
            </a:pPr>
            <a:r>
              <a:rPr lang="en-GB" sz="1600" b="1" i="0" u="none" strike="noStrike" dirty="0">
                <a:solidFill>
                  <a:srgbClr val="404040"/>
                </a:solidFill>
                <a:effectLst/>
                <a:latin typeface="+mj-lt"/>
              </a:rPr>
              <a:t>Contributions</a:t>
            </a:r>
            <a:r>
              <a:rPr lang="en-GB" sz="1600" b="0" i="0" u="none" strike="noStrike" dirty="0">
                <a:solidFill>
                  <a:srgbClr val="404040"/>
                </a:solidFill>
                <a:effectLst/>
                <a:latin typeface="+mj-lt"/>
              </a:rPr>
              <a:t>:</a:t>
            </a:r>
          </a:p>
          <a:p>
            <a:pPr marL="742950" lvl="1" indent="-285750" algn="l">
              <a:spcBef>
                <a:spcPts val="300"/>
              </a:spcBef>
              <a:buFont typeface="Arial" panose="020B0604020202020204" pitchFamily="34" charset="0"/>
              <a:buChar char="•"/>
            </a:pPr>
            <a:r>
              <a:rPr lang="en-GB" sz="1600" b="1" i="0" u="none" strike="noStrike" dirty="0">
                <a:solidFill>
                  <a:srgbClr val="404040"/>
                </a:solidFill>
                <a:effectLst/>
                <a:latin typeface="+mj-lt"/>
              </a:rPr>
              <a:t>Trainable bag-of-freebies</a:t>
            </a:r>
            <a:r>
              <a:rPr lang="en-GB" sz="1600" b="0" i="0" u="none" strike="noStrike" dirty="0">
                <a:solidFill>
                  <a:srgbClr val="404040"/>
                </a:solidFill>
                <a:effectLst/>
                <a:latin typeface="+mj-lt"/>
              </a:rPr>
              <a:t> (improves accuracy without inference cost).</a:t>
            </a:r>
          </a:p>
          <a:p>
            <a:pPr marL="742950" lvl="1" indent="-285750" algn="l">
              <a:spcBef>
                <a:spcPts val="300"/>
              </a:spcBef>
              <a:buFont typeface="Arial" panose="020B0604020202020204" pitchFamily="34" charset="0"/>
              <a:buChar char="•"/>
            </a:pPr>
            <a:r>
              <a:rPr lang="en-GB" sz="1600" b="1" i="0" u="none" strike="noStrike" dirty="0">
                <a:solidFill>
                  <a:srgbClr val="404040"/>
                </a:solidFill>
                <a:effectLst/>
                <a:latin typeface="+mj-lt"/>
              </a:rPr>
              <a:t>Extended efficient layer aggregation</a:t>
            </a:r>
            <a:r>
              <a:rPr lang="en-GB" sz="1600" b="0" i="0" u="none" strike="noStrike" dirty="0">
                <a:solidFill>
                  <a:srgbClr val="404040"/>
                </a:solidFill>
                <a:effectLst/>
                <a:latin typeface="+mj-lt"/>
              </a:rPr>
              <a:t> (E-ELAN).</a:t>
            </a:r>
          </a:p>
          <a:p>
            <a:pPr marL="742950" lvl="1" indent="-285750" algn="l">
              <a:spcBef>
                <a:spcPts val="300"/>
              </a:spcBef>
              <a:buFont typeface="Arial" panose="020B0604020202020204" pitchFamily="34" charset="0"/>
              <a:buChar char="•"/>
            </a:pPr>
            <a:r>
              <a:rPr lang="en-GB" sz="1600" b="1" i="0" u="none" strike="noStrike" dirty="0">
                <a:solidFill>
                  <a:srgbClr val="404040"/>
                </a:solidFill>
                <a:effectLst/>
                <a:latin typeface="+mj-lt"/>
              </a:rPr>
              <a:t>Model scaling</a:t>
            </a:r>
            <a:r>
              <a:rPr lang="en-GB" sz="1600" b="0" i="0" u="none" strike="noStrike" dirty="0">
                <a:solidFill>
                  <a:srgbClr val="404040"/>
                </a:solidFill>
                <a:effectLst/>
                <a:latin typeface="+mj-lt"/>
              </a:rPr>
              <a:t> for different compute budgets.</a:t>
            </a:r>
          </a:p>
          <a:p>
            <a:pPr algn="l">
              <a:spcBef>
                <a:spcPts val="300"/>
              </a:spcBef>
              <a:buFont typeface="Arial" panose="020B0604020202020204" pitchFamily="34" charset="0"/>
              <a:buChar char="•"/>
            </a:pPr>
            <a:r>
              <a:rPr lang="en-GB" sz="1600" b="1" i="0" u="none" strike="noStrike" dirty="0">
                <a:solidFill>
                  <a:srgbClr val="404040"/>
                </a:solidFill>
                <a:effectLst/>
                <a:latin typeface="+mj-lt"/>
              </a:rPr>
              <a:t>Performance</a:t>
            </a:r>
            <a:r>
              <a:rPr lang="en-GB" sz="1600" b="0" i="0" u="none" strike="noStrike" dirty="0">
                <a:solidFill>
                  <a:srgbClr val="404040"/>
                </a:solidFill>
                <a:effectLst/>
                <a:latin typeface="+mj-lt"/>
              </a:rPr>
              <a:t>: Outperformed YOLOv4/v5 in accuracy/speed trade-offs.</a:t>
            </a:r>
          </a:p>
          <a:p>
            <a:pPr algn="l">
              <a:buNone/>
            </a:pPr>
            <a:r>
              <a:rPr lang="en-GB" sz="1600" b="1" i="0" u="none" strike="noStrike" dirty="0">
                <a:solidFill>
                  <a:srgbClr val="404040"/>
                </a:solidFill>
                <a:effectLst/>
                <a:latin typeface="+mj-lt"/>
              </a:rPr>
              <a:t>8. YOLOv8 (2023)</a:t>
            </a:r>
          </a:p>
          <a:p>
            <a:pPr algn="l">
              <a:spcAft>
                <a:spcPts val="300"/>
              </a:spcAft>
              <a:buFont typeface="Arial" panose="020B0604020202020204" pitchFamily="34" charset="0"/>
              <a:buChar char="•"/>
            </a:pPr>
            <a:r>
              <a:rPr lang="en-GB" sz="1600" b="1" i="0" u="none" strike="noStrike" dirty="0">
                <a:solidFill>
                  <a:srgbClr val="404040"/>
                </a:solidFill>
                <a:effectLst/>
                <a:latin typeface="+mj-lt"/>
              </a:rPr>
              <a:t>Latest Version</a:t>
            </a:r>
            <a:r>
              <a:rPr lang="en-GB" sz="1600" b="0" i="0" u="none" strike="noStrike" dirty="0">
                <a:solidFill>
                  <a:srgbClr val="404040"/>
                </a:solidFill>
                <a:effectLst/>
                <a:latin typeface="+mj-lt"/>
              </a:rPr>
              <a:t> (by </a:t>
            </a:r>
            <a:r>
              <a:rPr lang="en-GB" sz="1600" b="0" i="0" u="none" strike="noStrike" dirty="0" err="1">
                <a:solidFill>
                  <a:srgbClr val="404040"/>
                </a:solidFill>
                <a:effectLst/>
                <a:latin typeface="+mj-lt"/>
              </a:rPr>
              <a:t>Ultralytics</a:t>
            </a:r>
            <a:r>
              <a:rPr lang="en-GB" sz="1600" b="0" i="0" u="none" strike="noStrike" dirty="0">
                <a:solidFill>
                  <a:srgbClr val="404040"/>
                </a:solidFill>
                <a:effectLst/>
                <a:latin typeface="+mj-lt"/>
              </a:rPr>
              <a:t>):</a:t>
            </a:r>
          </a:p>
          <a:p>
            <a:pPr marL="742950" lvl="1" indent="-285750" algn="l">
              <a:spcBef>
                <a:spcPts val="300"/>
              </a:spcBef>
              <a:buFont typeface="Arial" panose="020B0604020202020204" pitchFamily="34" charset="0"/>
              <a:buChar char="•"/>
            </a:pPr>
            <a:r>
              <a:rPr lang="en-GB" sz="1600" b="1" i="0" u="none" strike="noStrike" dirty="0">
                <a:solidFill>
                  <a:srgbClr val="404040"/>
                </a:solidFill>
                <a:effectLst/>
                <a:latin typeface="+mj-lt"/>
              </a:rPr>
              <a:t>Anchor-free by default</a:t>
            </a:r>
            <a:r>
              <a:rPr lang="en-GB" sz="1600" b="0" i="0" u="none" strike="noStrike" dirty="0">
                <a:solidFill>
                  <a:srgbClr val="404040"/>
                </a:solidFill>
                <a:effectLst/>
                <a:latin typeface="+mj-lt"/>
              </a:rPr>
              <a:t>.</a:t>
            </a:r>
          </a:p>
          <a:p>
            <a:pPr marL="742950" lvl="1" indent="-285750" algn="l">
              <a:spcBef>
                <a:spcPts val="300"/>
              </a:spcBef>
              <a:buFont typeface="Arial" panose="020B0604020202020204" pitchFamily="34" charset="0"/>
              <a:buChar char="•"/>
            </a:pPr>
            <a:r>
              <a:rPr lang="en-GB" sz="1600" b="1" i="0" u="none" strike="noStrike" dirty="0">
                <a:solidFill>
                  <a:srgbClr val="404040"/>
                </a:solidFill>
                <a:effectLst/>
                <a:latin typeface="+mj-lt"/>
              </a:rPr>
              <a:t>User-friendly API</a:t>
            </a:r>
            <a:r>
              <a:rPr lang="en-GB" sz="1600" b="0" i="0" u="none" strike="noStrike" dirty="0">
                <a:solidFill>
                  <a:srgbClr val="404040"/>
                </a:solidFill>
                <a:effectLst/>
                <a:latin typeface="+mj-lt"/>
              </a:rPr>
              <a:t> (train/export/deploy with few lines of code).</a:t>
            </a:r>
          </a:p>
          <a:p>
            <a:pPr marL="742950" lvl="1" indent="-285750" algn="l">
              <a:spcBef>
                <a:spcPts val="300"/>
              </a:spcBef>
              <a:spcAft>
                <a:spcPts val="300"/>
              </a:spcAft>
              <a:buFont typeface="Arial" panose="020B0604020202020204" pitchFamily="34" charset="0"/>
              <a:buChar char="•"/>
            </a:pPr>
            <a:r>
              <a:rPr lang="en-GB" sz="1600" b="1" i="0" u="none" strike="noStrike" dirty="0">
                <a:solidFill>
                  <a:srgbClr val="404040"/>
                </a:solidFill>
                <a:effectLst/>
                <a:latin typeface="+mj-lt"/>
              </a:rPr>
              <a:t>Advanced features</a:t>
            </a:r>
            <a:r>
              <a:rPr lang="en-GB" sz="1600" b="0" i="0" u="none" strike="noStrike" dirty="0">
                <a:solidFill>
                  <a:srgbClr val="404040"/>
                </a:solidFill>
                <a:effectLst/>
                <a:latin typeface="+mj-lt"/>
              </a:rPr>
              <a:t>:</a:t>
            </a:r>
          </a:p>
          <a:p>
            <a:pPr marL="1143000" lvl="2" indent="-228600" algn="l">
              <a:spcBef>
                <a:spcPts val="300"/>
              </a:spcBef>
              <a:buFont typeface="Arial" panose="020B0604020202020204" pitchFamily="34" charset="0"/>
              <a:buChar char="•"/>
            </a:pPr>
            <a:r>
              <a:rPr lang="en-GB" sz="1600" b="0" i="0" u="none" strike="noStrike" dirty="0">
                <a:solidFill>
                  <a:srgbClr val="404040"/>
                </a:solidFill>
                <a:effectLst/>
                <a:latin typeface="+mj-lt"/>
              </a:rPr>
              <a:t>Instance segmentation.</a:t>
            </a:r>
          </a:p>
          <a:p>
            <a:pPr marL="1143000" lvl="2" indent="-228600" algn="l">
              <a:spcBef>
                <a:spcPts val="300"/>
              </a:spcBef>
              <a:buFont typeface="Arial" panose="020B0604020202020204" pitchFamily="34" charset="0"/>
              <a:buChar char="•"/>
            </a:pPr>
            <a:r>
              <a:rPr lang="en-GB" sz="1600" b="0" i="0" u="none" strike="noStrike" dirty="0">
                <a:solidFill>
                  <a:srgbClr val="404040"/>
                </a:solidFill>
                <a:effectLst/>
                <a:latin typeface="+mj-lt"/>
              </a:rPr>
              <a:t>Pose estimation (</a:t>
            </a:r>
            <a:r>
              <a:rPr lang="en-GB" sz="1600" b="0" i="0" u="none" strike="noStrike" dirty="0" err="1">
                <a:solidFill>
                  <a:srgbClr val="404040"/>
                </a:solidFill>
                <a:effectLst/>
                <a:latin typeface="+mj-lt"/>
              </a:rPr>
              <a:t>keypoint</a:t>
            </a:r>
            <a:r>
              <a:rPr lang="en-GB" sz="1600" b="0" i="0" u="none" strike="noStrike" dirty="0">
                <a:solidFill>
                  <a:srgbClr val="404040"/>
                </a:solidFill>
                <a:effectLst/>
                <a:latin typeface="+mj-lt"/>
              </a:rPr>
              <a:t> detection).</a:t>
            </a:r>
          </a:p>
          <a:p>
            <a:pPr marL="742950" lvl="1" indent="-285750" algn="l">
              <a:spcBef>
                <a:spcPts val="300"/>
              </a:spcBef>
              <a:buFont typeface="Arial" panose="020B0604020202020204" pitchFamily="34" charset="0"/>
              <a:buChar char="•"/>
            </a:pPr>
            <a:r>
              <a:rPr lang="en-GB" sz="1600" b="1" i="0" u="none" strike="noStrike" dirty="0">
                <a:solidFill>
                  <a:srgbClr val="404040"/>
                </a:solidFill>
                <a:effectLst/>
                <a:latin typeface="+mj-lt"/>
              </a:rPr>
              <a:t>Five pre-trained sizes</a:t>
            </a:r>
            <a:r>
              <a:rPr lang="en-GB" sz="1600" b="0" i="0" u="none" strike="noStrike" dirty="0">
                <a:solidFill>
                  <a:srgbClr val="404040"/>
                </a:solidFill>
                <a:effectLst/>
                <a:latin typeface="+mj-lt"/>
              </a:rPr>
              <a:t> (nano to extra-large).</a:t>
            </a:r>
          </a:p>
          <a:p>
            <a:pPr algn="l">
              <a:spcBef>
                <a:spcPts val="300"/>
              </a:spcBef>
              <a:buFont typeface="Arial" panose="020B0604020202020204" pitchFamily="34" charset="0"/>
              <a:buChar char="•"/>
            </a:pPr>
            <a:r>
              <a:rPr lang="en-GB" sz="1600" b="1" i="0" u="none" strike="noStrike" dirty="0">
                <a:solidFill>
                  <a:srgbClr val="404040"/>
                </a:solidFill>
                <a:effectLst/>
                <a:latin typeface="+mj-lt"/>
              </a:rPr>
              <a:t>Speed/Accuracy</a:t>
            </a:r>
            <a:r>
              <a:rPr lang="en-GB" sz="1600" b="0" i="0" u="none" strike="noStrike" dirty="0">
                <a:solidFill>
                  <a:srgbClr val="404040"/>
                </a:solidFill>
                <a:effectLst/>
                <a:latin typeface="+mj-lt"/>
              </a:rPr>
              <a:t>: 50 FPS at 53.9 </a:t>
            </a:r>
            <a:r>
              <a:rPr lang="en-GB" sz="1600" b="0" i="0" u="none" strike="noStrike" dirty="0" err="1">
                <a:solidFill>
                  <a:srgbClr val="404040"/>
                </a:solidFill>
                <a:effectLst/>
                <a:latin typeface="+mj-lt"/>
              </a:rPr>
              <a:t>mAP</a:t>
            </a:r>
            <a:r>
              <a:rPr lang="en-GB" sz="1600" b="0" i="0" u="none" strike="noStrike" dirty="0">
                <a:solidFill>
                  <a:srgbClr val="404040"/>
                </a:solidFill>
                <a:effectLst/>
                <a:latin typeface="+mj-lt"/>
              </a:rPr>
              <a:t> on COCO.</a:t>
            </a:r>
          </a:p>
          <a:p>
            <a:pPr algn="l">
              <a:spcAft>
                <a:spcPts val="1050"/>
              </a:spcAft>
              <a:buNone/>
            </a:pPr>
            <a:endParaRPr lang="en-GB" sz="1600" b="0" i="0" u="none" strike="noStrike" dirty="0">
              <a:solidFill>
                <a:srgbClr val="05192D"/>
              </a:solidFill>
              <a:effectLst/>
              <a:latin typeface="+mj-lt"/>
            </a:endParaRPr>
          </a:p>
          <a:p>
            <a:pPr>
              <a:buNone/>
            </a:pPr>
            <a:br>
              <a:rPr lang="en-GB" sz="1600" dirty="0">
                <a:latin typeface="+mj-lt"/>
              </a:rPr>
            </a:br>
            <a:endParaRPr lang="en-US" sz="1600" dirty="0">
              <a:latin typeface="+mj-lt"/>
            </a:endParaRPr>
          </a:p>
        </p:txBody>
      </p:sp>
    </p:spTree>
    <p:extLst>
      <p:ext uri="{BB962C8B-B14F-4D97-AF65-F5344CB8AC3E}">
        <p14:creationId xmlns:p14="http://schemas.microsoft.com/office/powerpoint/2010/main" val="9270538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p:cNvGrpSpPr/>
        <p:nvPr/>
      </p:nvGrpSpPr>
      <p:grpSpPr>
        <a:xfrm>
          <a:off x="0" y="0"/>
          <a:ext cx="0" cy="0"/>
          <a:chOff x="0" y="0"/>
          <a:chExt cx="0" cy="0"/>
        </a:xfrm>
      </p:grpSpPr>
      <p:pic>
        <p:nvPicPr>
          <p:cNvPr id="84" name="Google Shape;84;p7"/>
          <p:cNvPicPr preferRelativeResize="0"/>
          <p:nvPr/>
        </p:nvPicPr>
        <p:blipFill rotWithShape="1">
          <a:blip r:embed="rId3">
            <a:alphaModFix amt="60000"/>
          </a:blip>
          <a:srcRect/>
          <a:stretch/>
        </p:blipFill>
        <p:spPr>
          <a:xfrm>
            <a:off x="3080321" y="122160"/>
            <a:ext cx="5408998" cy="2939569"/>
          </a:xfrm>
          <a:prstGeom prst="rect">
            <a:avLst/>
          </a:prstGeom>
          <a:noFill/>
          <a:ln>
            <a:noFill/>
          </a:ln>
        </p:spPr>
      </p:pic>
      <p:sp>
        <p:nvSpPr>
          <p:cNvPr id="85" name="Google Shape;85;p7"/>
          <p:cNvSpPr txBox="1">
            <a:spLocks noGrp="1"/>
          </p:cNvSpPr>
          <p:nvPr>
            <p:ph type="title"/>
          </p:nvPr>
        </p:nvSpPr>
        <p:spPr>
          <a:xfrm>
            <a:off x="872950" y="122160"/>
            <a:ext cx="6707400" cy="494528"/>
          </a:xfrm>
          <a:prstGeom prst="rect">
            <a:avLst/>
          </a:prstGeom>
          <a:noFill/>
          <a:ln>
            <a:noFill/>
          </a:ln>
        </p:spPr>
        <p:txBody>
          <a:bodyPr spcFirstLastPara="1" wrap="square" lIns="91425" tIns="91425" rIns="91425" bIns="91425" anchor="t" anchorCtr="0">
            <a:noAutofit/>
          </a:bodyPr>
          <a:lstStyle/>
          <a:p>
            <a:pPr rtl="0"/>
            <a:r>
              <a:rPr lang="en-GB" sz="3200" dirty="0"/>
              <a:t>Comparison Table</a:t>
            </a:r>
            <a:br>
              <a:rPr lang="en-GB" sz="3200" dirty="0"/>
            </a:br>
            <a:br>
              <a:rPr lang="en-GB" sz="3200" dirty="0"/>
            </a:br>
            <a:endParaRPr lang="en-GB" sz="3200" dirty="0"/>
          </a:p>
        </p:txBody>
      </p:sp>
      <p:sp>
        <p:nvSpPr>
          <p:cNvPr id="6" name="Rectangle 2">
            <a:extLst>
              <a:ext uri="{FF2B5EF4-FFF2-40B4-BE49-F238E27FC236}">
                <a16:creationId xmlns:a16="http://schemas.microsoft.com/office/drawing/2014/main" id="{ABB93F30-5C6E-69B1-DEB4-47B973C1BF9D}"/>
              </a:ext>
            </a:extLst>
          </p:cNvPr>
          <p:cNvSpPr>
            <a:spLocks noChangeArrowheads="1"/>
          </p:cNvSpPr>
          <p:nvPr/>
        </p:nvSpPr>
        <p:spPr bwMode="auto">
          <a:xfrm>
            <a:off x="401638" y="1143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7" name="Table 6">
            <a:extLst>
              <a:ext uri="{FF2B5EF4-FFF2-40B4-BE49-F238E27FC236}">
                <a16:creationId xmlns:a16="http://schemas.microsoft.com/office/drawing/2014/main" id="{5E8EFD49-F108-5B27-76FD-3B6A77C84E3E}"/>
              </a:ext>
            </a:extLst>
          </p:cNvPr>
          <p:cNvGraphicFramePr>
            <a:graphicFrameLocks noGrp="1"/>
          </p:cNvGraphicFramePr>
          <p:nvPr>
            <p:extLst>
              <p:ext uri="{D42A27DB-BD31-4B8C-83A1-F6EECF244321}">
                <p14:modId xmlns:p14="http://schemas.microsoft.com/office/powerpoint/2010/main" val="2163044895"/>
              </p:ext>
            </p:extLst>
          </p:nvPr>
        </p:nvGraphicFramePr>
        <p:xfrm>
          <a:off x="926036" y="964277"/>
          <a:ext cx="5923355" cy="3477726"/>
        </p:xfrm>
        <a:graphic>
          <a:graphicData uri="http://schemas.openxmlformats.org/drawingml/2006/table">
            <a:tbl>
              <a:tblPr>
                <a:tableStyleId>{35758FB7-9AC5-4552-8A53-C91805E547FA}</a:tableStyleId>
              </a:tblPr>
              <a:tblGrid>
                <a:gridCol w="1167887">
                  <a:extLst>
                    <a:ext uri="{9D8B030D-6E8A-4147-A177-3AD203B41FA5}">
                      <a16:colId xmlns:a16="http://schemas.microsoft.com/office/drawing/2014/main" val="918138045"/>
                    </a:ext>
                  </a:extLst>
                </a:gridCol>
                <a:gridCol w="1188867">
                  <a:extLst>
                    <a:ext uri="{9D8B030D-6E8A-4147-A177-3AD203B41FA5}">
                      <a16:colId xmlns:a16="http://schemas.microsoft.com/office/drawing/2014/main" val="510537433"/>
                    </a:ext>
                  </a:extLst>
                </a:gridCol>
                <a:gridCol w="1188867">
                  <a:extLst>
                    <a:ext uri="{9D8B030D-6E8A-4147-A177-3AD203B41FA5}">
                      <a16:colId xmlns:a16="http://schemas.microsoft.com/office/drawing/2014/main" val="85829768"/>
                    </a:ext>
                  </a:extLst>
                </a:gridCol>
                <a:gridCol w="1188867">
                  <a:extLst>
                    <a:ext uri="{9D8B030D-6E8A-4147-A177-3AD203B41FA5}">
                      <a16:colId xmlns:a16="http://schemas.microsoft.com/office/drawing/2014/main" val="4220330748"/>
                    </a:ext>
                  </a:extLst>
                </a:gridCol>
                <a:gridCol w="1188867">
                  <a:extLst>
                    <a:ext uri="{9D8B030D-6E8A-4147-A177-3AD203B41FA5}">
                      <a16:colId xmlns:a16="http://schemas.microsoft.com/office/drawing/2014/main" val="1605951909"/>
                    </a:ext>
                  </a:extLst>
                </a:gridCol>
              </a:tblGrid>
              <a:tr h="280719">
                <a:tc>
                  <a:txBody>
                    <a:bodyPr/>
                    <a:lstStyle/>
                    <a:p>
                      <a:pPr algn="l"/>
                      <a:r>
                        <a:rPr lang="en-GB" sz="1000" b="1">
                          <a:effectLst/>
                        </a:rPr>
                        <a:t>Version</a:t>
                      </a:r>
                    </a:p>
                  </a:txBody>
                  <a:tcPr marL="63559" marR="66207" marT="66207" marB="66207" anchor="ctr"/>
                </a:tc>
                <a:tc>
                  <a:txBody>
                    <a:bodyPr/>
                    <a:lstStyle/>
                    <a:p>
                      <a:pPr algn="l"/>
                      <a:r>
                        <a:rPr lang="en-GB" sz="1000" b="1">
                          <a:effectLst/>
                        </a:rPr>
                        <a:t>Backbone</a:t>
                      </a:r>
                    </a:p>
                  </a:txBody>
                  <a:tcPr marL="66207" marR="66207" marT="66207" marB="66207" anchor="ctr"/>
                </a:tc>
                <a:tc>
                  <a:txBody>
                    <a:bodyPr/>
                    <a:lstStyle/>
                    <a:p>
                      <a:pPr algn="l"/>
                      <a:r>
                        <a:rPr lang="en-GB" sz="1000" b="1">
                          <a:effectLst/>
                        </a:rPr>
                        <a:t>mAP (COCO)</a:t>
                      </a:r>
                    </a:p>
                  </a:txBody>
                  <a:tcPr marL="66207" marR="66207" marT="66207" marB="66207" anchor="ctr"/>
                </a:tc>
                <a:tc>
                  <a:txBody>
                    <a:bodyPr/>
                    <a:lstStyle/>
                    <a:p>
                      <a:pPr algn="l"/>
                      <a:r>
                        <a:rPr lang="en-GB" sz="1000" b="1">
                          <a:effectLst/>
                        </a:rPr>
                        <a:t>FPS</a:t>
                      </a:r>
                    </a:p>
                  </a:txBody>
                  <a:tcPr marL="66207" marR="66207" marT="66207" marB="66207" anchor="ctr"/>
                </a:tc>
                <a:tc>
                  <a:txBody>
                    <a:bodyPr/>
                    <a:lstStyle/>
                    <a:p>
                      <a:pPr algn="l"/>
                      <a:r>
                        <a:rPr lang="en-GB" sz="1000" b="1">
                          <a:effectLst/>
                        </a:rPr>
                        <a:t>Key Feature</a:t>
                      </a:r>
                    </a:p>
                  </a:txBody>
                  <a:tcPr marL="66207" marR="66207" marT="66207" marB="66207" anchor="ctr"/>
                </a:tc>
                <a:extLst>
                  <a:ext uri="{0D108BD9-81ED-4DB2-BD59-A6C34878D82A}">
                    <a16:rowId xmlns:a16="http://schemas.microsoft.com/office/drawing/2014/main" val="995874913"/>
                  </a:ext>
                </a:extLst>
              </a:tr>
              <a:tr h="429024">
                <a:tc>
                  <a:txBody>
                    <a:bodyPr/>
                    <a:lstStyle/>
                    <a:p>
                      <a:r>
                        <a:rPr lang="en-GB" sz="1000">
                          <a:effectLst/>
                        </a:rPr>
                        <a:t>YOLOv1</a:t>
                      </a:r>
                    </a:p>
                  </a:txBody>
                  <a:tcPr marL="63559" marR="66207" marT="66207" marB="66207" anchor="ctr"/>
                </a:tc>
                <a:tc>
                  <a:txBody>
                    <a:bodyPr/>
                    <a:lstStyle/>
                    <a:p>
                      <a:r>
                        <a:rPr lang="en-GB" sz="1000" dirty="0">
                          <a:effectLst/>
                        </a:rPr>
                        <a:t>Custom CNN</a:t>
                      </a:r>
                    </a:p>
                  </a:txBody>
                  <a:tcPr marL="66207" marR="66207" marT="66207" marB="66207" anchor="ctr"/>
                </a:tc>
                <a:tc>
                  <a:txBody>
                    <a:bodyPr/>
                    <a:lstStyle/>
                    <a:p>
                      <a:r>
                        <a:rPr lang="en-GB" sz="1000">
                          <a:effectLst/>
                        </a:rPr>
                        <a:t>63.4 (VOC)</a:t>
                      </a:r>
                    </a:p>
                  </a:txBody>
                  <a:tcPr marL="66207" marR="66207" marT="66207" marB="66207" anchor="ctr"/>
                </a:tc>
                <a:tc>
                  <a:txBody>
                    <a:bodyPr/>
                    <a:lstStyle/>
                    <a:p>
                      <a:r>
                        <a:rPr lang="en-GB" sz="1000">
                          <a:effectLst/>
                        </a:rPr>
                        <a:t>45</a:t>
                      </a:r>
                    </a:p>
                  </a:txBody>
                  <a:tcPr marL="66207" marR="66207" marT="66207" marB="66207" anchor="ctr"/>
                </a:tc>
                <a:tc>
                  <a:txBody>
                    <a:bodyPr/>
                    <a:lstStyle/>
                    <a:p>
                      <a:r>
                        <a:rPr lang="en-GB" sz="1000">
                          <a:effectLst/>
                        </a:rPr>
                        <a:t>First real-time detector</a:t>
                      </a:r>
                    </a:p>
                  </a:txBody>
                  <a:tcPr marL="66207" marR="66207" marT="66207" marB="66207" anchor="ctr"/>
                </a:tc>
                <a:extLst>
                  <a:ext uri="{0D108BD9-81ED-4DB2-BD59-A6C34878D82A}">
                    <a16:rowId xmlns:a16="http://schemas.microsoft.com/office/drawing/2014/main" val="3683224560"/>
                  </a:ext>
                </a:extLst>
              </a:tr>
              <a:tr h="280719">
                <a:tc>
                  <a:txBody>
                    <a:bodyPr/>
                    <a:lstStyle/>
                    <a:p>
                      <a:r>
                        <a:rPr lang="en-GB" sz="1000">
                          <a:effectLst/>
                        </a:rPr>
                        <a:t>YOLOv2</a:t>
                      </a:r>
                    </a:p>
                  </a:txBody>
                  <a:tcPr marL="63559" marR="66207" marT="66207" marB="66207" anchor="ctr"/>
                </a:tc>
                <a:tc>
                  <a:txBody>
                    <a:bodyPr/>
                    <a:lstStyle/>
                    <a:p>
                      <a:r>
                        <a:rPr lang="en-GB" sz="1000" dirty="0">
                          <a:effectLst/>
                        </a:rPr>
                        <a:t>Darknet-19</a:t>
                      </a:r>
                    </a:p>
                  </a:txBody>
                  <a:tcPr marL="66207" marR="66207" marT="66207" marB="66207" anchor="ctr"/>
                </a:tc>
                <a:tc>
                  <a:txBody>
                    <a:bodyPr/>
                    <a:lstStyle/>
                    <a:p>
                      <a:r>
                        <a:rPr lang="en-GB" sz="1000">
                          <a:effectLst/>
                        </a:rPr>
                        <a:t>76.8 (VOC)</a:t>
                      </a:r>
                    </a:p>
                  </a:txBody>
                  <a:tcPr marL="66207" marR="66207" marT="66207" marB="66207" anchor="ctr"/>
                </a:tc>
                <a:tc>
                  <a:txBody>
                    <a:bodyPr/>
                    <a:lstStyle/>
                    <a:p>
                      <a:r>
                        <a:rPr lang="en-GB" sz="1000">
                          <a:effectLst/>
                        </a:rPr>
                        <a:t>67</a:t>
                      </a:r>
                    </a:p>
                  </a:txBody>
                  <a:tcPr marL="66207" marR="66207" marT="66207" marB="66207" anchor="ctr"/>
                </a:tc>
                <a:tc>
                  <a:txBody>
                    <a:bodyPr/>
                    <a:lstStyle/>
                    <a:p>
                      <a:r>
                        <a:rPr lang="en-GB" sz="1000">
                          <a:effectLst/>
                        </a:rPr>
                        <a:t>Anchor boxes</a:t>
                      </a:r>
                    </a:p>
                  </a:txBody>
                  <a:tcPr marL="66207" marR="66207" marT="66207" marB="66207" anchor="ctr"/>
                </a:tc>
                <a:extLst>
                  <a:ext uri="{0D108BD9-81ED-4DB2-BD59-A6C34878D82A}">
                    <a16:rowId xmlns:a16="http://schemas.microsoft.com/office/drawing/2014/main" val="3889628422"/>
                  </a:ext>
                </a:extLst>
              </a:tr>
              <a:tr h="429024">
                <a:tc>
                  <a:txBody>
                    <a:bodyPr/>
                    <a:lstStyle/>
                    <a:p>
                      <a:r>
                        <a:rPr lang="en-GB" sz="1000">
                          <a:effectLst/>
                        </a:rPr>
                        <a:t>YOLOv3</a:t>
                      </a:r>
                    </a:p>
                  </a:txBody>
                  <a:tcPr marL="63559" marR="66207" marT="66207" marB="66207" anchor="ctr"/>
                </a:tc>
                <a:tc>
                  <a:txBody>
                    <a:bodyPr/>
                    <a:lstStyle/>
                    <a:p>
                      <a:r>
                        <a:rPr lang="en-GB" sz="1000">
                          <a:effectLst/>
                        </a:rPr>
                        <a:t>Darknet-53</a:t>
                      </a:r>
                    </a:p>
                  </a:txBody>
                  <a:tcPr marL="66207" marR="66207" marT="66207" marB="66207" anchor="ctr"/>
                </a:tc>
                <a:tc>
                  <a:txBody>
                    <a:bodyPr/>
                    <a:lstStyle/>
                    <a:p>
                      <a:r>
                        <a:rPr lang="en-GB" sz="1000">
                          <a:effectLst/>
                        </a:rPr>
                        <a:t>33.0</a:t>
                      </a:r>
                    </a:p>
                  </a:txBody>
                  <a:tcPr marL="66207" marR="66207" marT="66207" marB="66207" anchor="ctr"/>
                </a:tc>
                <a:tc>
                  <a:txBody>
                    <a:bodyPr/>
                    <a:lstStyle/>
                    <a:p>
                      <a:r>
                        <a:rPr lang="en-GB" sz="1000">
                          <a:effectLst/>
                        </a:rPr>
                        <a:t>30</a:t>
                      </a:r>
                    </a:p>
                  </a:txBody>
                  <a:tcPr marL="66207" marR="66207" marT="66207" marB="66207" anchor="ctr"/>
                </a:tc>
                <a:tc>
                  <a:txBody>
                    <a:bodyPr/>
                    <a:lstStyle/>
                    <a:p>
                      <a:r>
                        <a:rPr lang="en-GB" sz="1000">
                          <a:effectLst/>
                        </a:rPr>
                        <a:t>Multi-scale predictions</a:t>
                      </a:r>
                    </a:p>
                  </a:txBody>
                  <a:tcPr marL="66207" marR="66207" marT="66207" marB="66207" anchor="ctr"/>
                </a:tc>
                <a:extLst>
                  <a:ext uri="{0D108BD9-81ED-4DB2-BD59-A6C34878D82A}">
                    <a16:rowId xmlns:a16="http://schemas.microsoft.com/office/drawing/2014/main" val="3273653774"/>
                  </a:ext>
                </a:extLst>
              </a:tr>
              <a:tr h="280719">
                <a:tc>
                  <a:txBody>
                    <a:bodyPr/>
                    <a:lstStyle/>
                    <a:p>
                      <a:r>
                        <a:rPr lang="en-GB" sz="1000">
                          <a:effectLst/>
                        </a:rPr>
                        <a:t>YOLOv4</a:t>
                      </a:r>
                    </a:p>
                  </a:txBody>
                  <a:tcPr marL="63559" marR="66207" marT="66207" marB="66207" anchor="ctr"/>
                </a:tc>
                <a:tc>
                  <a:txBody>
                    <a:bodyPr/>
                    <a:lstStyle/>
                    <a:p>
                      <a:r>
                        <a:rPr lang="en-GB" sz="1000">
                          <a:effectLst/>
                        </a:rPr>
                        <a:t>CSPDarknet53</a:t>
                      </a:r>
                    </a:p>
                  </a:txBody>
                  <a:tcPr marL="66207" marR="66207" marT="66207" marB="66207" anchor="ctr"/>
                </a:tc>
                <a:tc>
                  <a:txBody>
                    <a:bodyPr/>
                    <a:lstStyle/>
                    <a:p>
                      <a:r>
                        <a:rPr lang="en-GB" sz="1000">
                          <a:effectLst/>
                        </a:rPr>
                        <a:t>43.5</a:t>
                      </a:r>
                    </a:p>
                  </a:txBody>
                  <a:tcPr marL="66207" marR="66207" marT="66207" marB="66207" anchor="ctr"/>
                </a:tc>
                <a:tc>
                  <a:txBody>
                    <a:bodyPr/>
                    <a:lstStyle/>
                    <a:p>
                      <a:r>
                        <a:rPr lang="en-GB" sz="1000">
                          <a:effectLst/>
                        </a:rPr>
                        <a:t>65</a:t>
                      </a:r>
                    </a:p>
                  </a:txBody>
                  <a:tcPr marL="66207" marR="66207" marT="66207" marB="66207" anchor="ctr"/>
                </a:tc>
                <a:tc>
                  <a:txBody>
                    <a:bodyPr/>
                    <a:lstStyle/>
                    <a:p>
                      <a:r>
                        <a:rPr lang="en-GB" sz="1000">
                          <a:effectLst/>
                        </a:rPr>
                        <a:t>SPP, PANet, Mish</a:t>
                      </a:r>
                    </a:p>
                  </a:txBody>
                  <a:tcPr marL="66207" marR="66207" marT="66207" marB="66207" anchor="ctr"/>
                </a:tc>
                <a:extLst>
                  <a:ext uri="{0D108BD9-81ED-4DB2-BD59-A6C34878D82A}">
                    <a16:rowId xmlns:a16="http://schemas.microsoft.com/office/drawing/2014/main" val="584678078"/>
                  </a:ext>
                </a:extLst>
              </a:tr>
              <a:tr h="429024">
                <a:tc>
                  <a:txBody>
                    <a:bodyPr/>
                    <a:lstStyle/>
                    <a:p>
                      <a:r>
                        <a:rPr lang="en-GB" sz="1000">
                          <a:effectLst/>
                        </a:rPr>
                        <a:t>YOLOv5</a:t>
                      </a:r>
                    </a:p>
                  </a:txBody>
                  <a:tcPr marL="63559" marR="66207" marT="66207" marB="66207" anchor="ctr"/>
                </a:tc>
                <a:tc>
                  <a:txBody>
                    <a:bodyPr/>
                    <a:lstStyle/>
                    <a:p>
                      <a:r>
                        <a:rPr lang="en-GB" sz="1000">
                          <a:effectLst/>
                        </a:rPr>
                        <a:t>CSP-like</a:t>
                      </a:r>
                    </a:p>
                  </a:txBody>
                  <a:tcPr marL="66207" marR="66207" marT="66207" marB="66207" anchor="ctr"/>
                </a:tc>
                <a:tc>
                  <a:txBody>
                    <a:bodyPr/>
                    <a:lstStyle/>
                    <a:p>
                      <a:r>
                        <a:rPr lang="en-GB" sz="1000">
                          <a:effectLst/>
                        </a:rPr>
                        <a:t>55.6</a:t>
                      </a:r>
                    </a:p>
                  </a:txBody>
                  <a:tcPr marL="66207" marR="66207" marT="66207" marB="66207" anchor="ctr"/>
                </a:tc>
                <a:tc>
                  <a:txBody>
                    <a:bodyPr/>
                    <a:lstStyle/>
                    <a:p>
                      <a:r>
                        <a:rPr lang="en-GB" sz="1000">
                          <a:effectLst/>
                        </a:rPr>
                        <a:t>140*</a:t>
                      </a:r>
                    </a:p>
                  </a:txBody>
                  <a:tcPr marL="66207" marR="66207" marT="66207" marB="66207" anchor="ctr"/>
                </a:tc>
                <a:tc>
                  <a:txBody>
                    <a:bodyPr/>
                    <a:lstStyle/>
                    <a:p>
                      <a:r>
                        <a:rPr lang="en-GB" sz="1000">
                          <a:effectLst/>
                        </a:rPr>
                        <a:t>PyTorch, auto-anchors</a:t>
                      </a:r>
                    </a:p>
                  </a:txBody>
                  <a:tcPr marL="66207" marR="66207" marT="66207" marB="66207" anchor="ctr"/>
                </a:tc>
                <a:extLst>
                  <a:ext uri="{0D108BD9-81ED-4DB2-BD59-A6C34878D82A}">
                    <a16:rowId xmlns:a16="http://schemas.microsoft.com/office/drawing/2014/main" val="2407894626"/>
                  </a:ext>
                </a:extLst>
              </a:tr>
              <a:tr h="429024">
                <a:tc>
                  <a:txBody>
                    <a:bodyPr/>
                    <a:lstStyle/>
                    <a:p>
                      <a:r>
                        <a:rPr lang="en-GB" sz="1000">
                          <a:effectLst/>
                        </a:rPr>
                        <a:t>YOLOv6</a:t>
                      </a:r>
                    </a:p>
                  </a:txBody>
                  <a:tcPr marL="63559" marR="66207" marT="66207" marB="66207" anchor="ctr"/>
                </a:tc>
                <a:tc>
                  <a:txBody>
                    <a:bodyPr/>
                    <a:lstStyle/>
                    <a:p>
                      <a:r>
                        <a:rPr lang="en-GB" sz="1000">
                          <a:effectLst/>
                        </a:rPr>
                        <a:t>RepVGG-style</a:t>
                      </a:r>
                    </a:p>
                  </a:txBody>
                  <a:tcPr marL="66207" marR="66207" marT="66207" marB="66207" anchor="ctr"/>
                </a:tc>
                <a:tc>
                  <a:txBody>
                    <a:bodyPr/>
                    <a:lstStyle/>
                    <a:p>
                      <a:r>
                        <a:rPr lang="en-GB" sz="1000">
                          <a:effectLst/>
                        </a:rPr>
                        <a:t>52.5</a:t>
                      </a:r>
                    </a:p>
                  </a:txBody>
                  <a:tcPr marL="66207" marR="66207" marT="66207" marB="66207" anchor="ctr"/>
                </a:tc>
                <a:tc>
                  <a:txBody>
                    <a:bodyPr/>
                    <a:lstStyle/>
                    <a:p>
                      <a:r>
                        <a:rPr lang="en-GB" sz="1000">
                          <a:effectLst/>
                        </a:rPr>
                        <a:t>100*</a:t>
                      </a:r>
                    </a:p>
                  </a:txBody>
                  <a:tcPr marL="66207" marR="66207" marT="66207" marB="66207" anchor="ctr"/>
                </a:tc>
                <a:tc>
                  <a:txBody>
                    <a:bodyPr/>
                    <a:lstStyle/>
                    <a:p>
                      <a:r>
                        <a:rPr lang="en-GB" sz="1000">
                          <a:effectLst/>
                        </a:rPr>
                        <a:t>Anchor-free, industrial focus</a:t>
                      </a:r>
                    </a:p>
                  </a:txBody>
                  <a:tcPr marL="66207" marR="66207" marT="66207" marB="66207" anchor="ctr"/>
                </a:tc>
                <a:extLst>
                  <a:ext uri="{0D108BD9-81ED-4DB2-BD59-A6C34878D82A}">
                    <a16:rowId xmlns:a16="http://schemas.microsoft.com/office/drawing/2014/main" val="3032722241"/>
                  </a:ext>
                </a:extLst>
              </a:tr>
              <a:tr h="429024">
                <a:tc>
                  <a:txBody>
                    <a:bodyPr/>
                    <a:lstStyle/>
                    <a:p>
                      <a:r>
                        <a:rPr lang="en-GB" sz="1000">
                          <a:effectLst/>
                        </a:rPr>
                        <a:t>YOLOv7</a:t>
                      </a:r>
                    </a:p>
                  </a:txBody>
                  <a:tcPr marL="63559" marR="66207" marT="66207" marB="66207" anchor="ctr"/>
                </a:tc>
                <a:tc>
                  <a:txBody>
                    <a:bodyPr/>
                    <a:lstStyle/>
                    <a:p>
                      <a:r>
                        <a:rPr lang="en-GB" sz="1000">
                          <a:effectLst/>
                        </a:rPr>
                        <a:t>E-ELAN</a:t>
                      </a:r>
                    </a:p>
                  </a:txBody>
                  <a:tcPr marL="66207" marR="66207" marT="66207" marB="66207" anchor="ctr"/>
                </a:tc>
                <a:tc>
                  <a:txBody>
                    <a:bodyPr/>
                    <a:lstStyle/>
                    <a:p>
                      <a:r>
                        <a:rPr lang="en-GB" sz="1000">
                          <a:effectLst/>
                        </a:rPr>
                        <a:t>56.8</a:t>
                      </a:r>
                    </a:p>
                  </a:txBody>
                  <a:tcPr marL="66207" marR="66207" marT="66207" marB="66207" anchor="ctr"/>
                </a:tc>
                <a:tc>
                  <a:txBody>
                    <a:bodyPr/>
                    <a:lstStyle/>
                    <a:p>
                      <a:r>
                        <a:rPr lang="en-GB" sz="1000">
                          <a:effectLst/>
                        </a:rPr>
                        <a:t>160*</a:t>
                      </a:r>
                    </a:p>
                  </a:txBody>
                  <a:tcPr marL="66207" marR="66207" marT="66207" marB="66207" anchor="ctr"/>
                </a:tc>
                <a:tc>
                  <a:txBody>
                    <a:bodyPr/>
                    <a:lstStyle/>
                    <a:p>
                      <a:r>
                        <a:rPr lang="en-GB" sz="1000">
                          <a:effectLst/>
                        </a:rPr>
                        <a:t>Trainable bag-of-freebies</a:t>
                      </a:r>
                    </a:p>
                  </a:txBody>
                  <a:tcPr marL="66207" marR="66207" marT="66207" marB="66207" anchor="ctr"/>
                </a:tc>
                <a:extLst>
                  <a:ext uri="{0D108BD9-81ED-4DB2-BD59-A6C34878D82A}">
                    <a16:rowId xmlns:a16="http://schemas.microsoft.com/office/drawing/2014/main" val="3837689846"/>
                  </a:ext>
                </a:extLst>
              </a:tr>
              <a:tr h="429024">
                <a:tc>
                  <a:txBody>
                    <a:bodyPr/>
                    <a:lstStyle/>
                    <a:p>
                      <a:r>
                        <a:rPr lang="en-GB" sz="1000">
                          <a:effectLst/>
                        </a:rPr>
                        <a:t>YOLOv8</a:t>
                      </a:r>
                    </a:p>
                  </a:txBody>
                  <a:tcPr marL="63559" marR="66207" marT="66207" marB="66207" anchor="ctr"/>
                </a:tc>
                <a:tc>
                  <a:txBody>
                    <a:bodyPr/>
                    <a:lstStyle/>
                    <a:p>
                      <a:r>
                        <a:rPr lang="en-GB" sz="1000">
                          <a:effectLst/>
                        </a:rPr>
                        <a:t>CSPDarknet-like</a:t>
                      </a:r>
                    </a:p>
                  </a:txBody>
                  <a:tcPr marL="66207" marR="66207" marT="66207" marB="66207" anchor="ctr"/>
                </a:tc>
                <a:tc>
                  <a:txBody>
                    <a:bodyPr/>
                    <a:lstStyle/>
                    <a:p>
                      <a:r>
                        <a:rPr lang="en-GB" sz="1000">
                          <a:effectLst/>
                        </a:rPr>
                        <a:t>53.9</a:t>
                      </a:r>
                    </a:p>
                  </a:txBody>
                  <a:tcPr marL="66207" marR="66207" marT="66207" marB="66207" anchor="ctr"/>
                </a:tc>
                <a:tc>
                  <a:txBody>
                    <a:bodyPr/>
                    <a:lstStyle/>
                    <a:p>
                      <a:r>
                        <a:rPr lang="en-GB" sz="1000">
                          <a:effectLst/>
                        </a:rPr>
                        <a:t>50</a:t>
                      </a:r>
                    </a:p>
                  </a:txBody>
                  <a:tcPr marL="66207" marR="66207" marT="66207" marB="66207" anchor="ctr"/>
                </a:tc>
                <a:tc>
                  <a:txBody>
                    <a:bodyPr/>
                    <a:lstStyle/>
                    <a:p>
                      <a:r>
                        <a:rPr lang="en-GB" sz="1000" dirty="0">
                          <a:effectLst/>
                        </a:rPr>
                        <a:t>Segmentation/pose, anchor-free</a:t>
                      </a:r>
                    </a:p>
                  </a:txBody>
                  <a:tcPr marL="66207" marR="66207" marT="66207" marB="66207" anchor="ctr"/>
                </a:tc>
                <a:extLst>
                  <a:ext uri="{0D108BD9-81ED-4DB2-BD59-A6C34878D82A}">
                    <a16:rowId xmlns:a16="http://schemas.microsoft.com/office/drawing/2014/main" val="3616577877"/>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7"/>
          <p:cNvPicPr preferRelativeResize="0"/>
          <p:nvPr/>
        </p:nvPicPr>
        <p:blipFill rotWithShape="1">
          <a:blip r:embed="rId3">
            <a:alphaModFix amt="60000"/>
          </a:blip>
          <a:srcRect/>
          <a:stretch/>
        </p:blipFill>
        <p:spPr>
          <a:xfrm>
            <a:off x="3080321" y="122160"/>
            <a:ext cx="5408998" cy="2939569"/>
          </a:xfrm>
          <a:prstGeom prst="rect">
            <a:avLst/>
          </a:prstGeom>
          <a:noFill/>
          <a:ln>
            <a:noFill/>
          </a:ln>
        </p:spPr>
      </p:pic>
      <p:sp>
        <p:nvSpPr>
          <p:cNvPr id="85" name="Google Shape;85;p7"/>
          <p:cNvSpPr txBox="1">
            <a:spLocks noGrp="1"/>
          </p:cNvSpPr>
          <p:nvPr>
            <p:ph type="title"/>
          </p:nvPr>
        </p:nvSpPr>
        <p:spPr>
          <a:xfrm>
            <a:off x="872950" y="122160"/>
            <a:ext cx="6707400" cy="494528"/>
          </a:xfrm>
          <a:prstGeom prst="rect">
            <a:avLst/>
          </a:prstGeom>
          <a:noFill/>
          <a:ln>
            <a:noFill/>
          </a:ln>
        </p:spPr>
        <p:txBody>
          <a:bodyPr spcFirstLastPara="1" wrap="square" lIns="91425" tIns="91425" rIns="91425" bIns="91425" anchor="t" anchorCtr="0">
            <a:noAutofit/>
          </a:bodyPr>
          <a:lstStyle/>
          <a:p>
            <a:pPr rtl="0"/>
            <a:r>
              <a:rPr lang="en-GB" sz="3200" dirty="0"/>
              <a:t>Hands On Exercise </a:t>
            </a:r>
            <a:br>
              <a:rPr lang="en-GB" sz="3200" dirty="0"/>
            </a:br>
            <a:endParaRPr lang="en-GB" sz="3200" dirty="0"/>
          </a:p>
        </p:txBody>
      </p:sp>
      <p:sp>
        <p:nvSpPr>
          <p:cNvPr id="3" name="TextBox 2">
            <a:extLst>
              <a:ext uri="{FF2B5EF4-FFF2-40B4-BE49-F238E27FC236}">
                <a16:creationId xmlns:a16="http://schemas.microsoft.com/office/drawing/2014/main" id="{FD29B7B1-87C3-1A19-1CD5-4DC342054D89}"/>
              </a:ext>
            </a:extLst>
          </p:cNvPr>
          <p:cNvSpPr txBox="1"/>
          <p:nvPr/>
        </p:nvSpPr>
        <p:spPr>
          <a:xfrm>
            <a:off x="182139" y="1334239"/>
            <a:ext cx="4649490" cy="1631216"/>
          </a:xfrm>
          <a:prstGeom prst="rect">
            <a:avLst/>
          </a:prstGeom>
          <a:noFill/>
        </p:spPr>
        <p:txBody>
          <a:bodyPr wrap="square">
            <a:spAutoFit/>
          </a:bodyPr>
          <a:lstStyle/>
          <a:p>
            <a:pPr algn="ctr"/>
            <a:r>
              <a:rPr lang="en-GB" sz="2000" dirty="0">
                <a:hlinkClick r:id="rId4"/>
              </a:rPr>
              <a:t>Click Here For The Implementation on Google Colab</a:t>
            </a:r>
            <a:endParaRPr lang="en-GB" sz="2000" dirty="0"/>
          </a:p>
          <a:p>
            <a:pPr algn="ctr"/>
            <a:r>
              <a:rPr lang="en-GB" sz="2000" dirty="0"/>
              <a:t>https://</a:t>
            </a:r>
            <a:r>
              <a:rPr lang="en-GB" sz="2000" dirty="0" err="1"/>
              <a:t>drive.google.com</a:t>
            </a:r>
            <a:r>
              <a:rPr lang="en-GB" sz="2000" dirty="0"/>
              <a:t>/file/d/1M5yilm19fqi9BxUyGsIxGkKG3Zbp-oze/</a:t>
            </a:r>
            <a:r>
              <a:rPr lang="en-GB" sz="2000" dirty="0" err="1"/>
              <a:t>view?usp</a:t>
            </a:r>
            <a:r>
              <a:rPr lang="en-GB" sz="2000" dirty="0"/>
              <a:t>=</a:t>
            </a:r>
            <a:r>
              <a:rPr lang="en-GB" sz="2000" dirty="0" err="1"/>
              <a:t>share_link</a:t>
            </a:r>
            <a:endParaRPr lang="en-GB" sz="2000" dirty="0"/>
          </a:p>
        </p:txBody>
      </p:sp>
      <p:pic>
        <p:nvPicPr>
          <p:cNvPr id="4" name="Picture 3" descr="A computer with a screen on it&#10;&#10;AI-generated content may be incorrect.">
            <a:extLst>
              <a:ext uri="{FF2B5EF4-FFF2-40B4-BE49-F238E27FC236}">
                <a16:creationId xmlns:a16="http://schemas.microsoft.com/office/drawing/2014/main" id="{DFCACE6B-93A9-2C0B-6504-0868FF90065B}"/>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4572000" y="1890944"/>
            <a:ext cx="4311517" cy="2871186"/>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a:extLst>
            <a:ext uri="{FF2B5EF4-FFF2-40B4-BE49-F238E27FC236}">
              <a16:creationId xmlns:a16="http://schemas.microsoft.com/office/drawing/2014/main" id="{C7073A23-177A-F380-4E2C-BCE5184CC92A}"/>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E3B61B0B-C8A6-4063-AA38-0D213B633718}"/>
              </a:ext>
            </a:extLst>
          </p:cNvPr>
          <p:cNvPicPr preferRelativeResize="0"/>
          <p:nvPr/>
        </p:nvPicPr>
        <p:blipFill rotWithShape="1">
          <a:blip r:embed="rId3">
            <a:alphaModFix amt="60000"/>
          </a:blip>
          <a:srcRect/>
          <a:stretch/>
        </p:blipFill>
        <p:spPr>
          <a:xfrm>
            <a:off x="3080321" y="122160"/>
            <a:ext cx="5408998" cy="2939569"/>
          </a:xfrm>
          <a:prstGeom prst="rect">
            <a:avLst/>
          </a:prstGeom>
          <a:noFill/>
          <a:ln>
            <a:noFill/>
          </a:ln>
        </p:spPr>
      </p:pic>
      <p:sp>
        <p:nvSpPr>
          <p:cNvPr id="85" name="Google Shape;85;p7">
            <a:extLst>
              <a:ext uri="{FF2B5EF4-FFF2-40B4-BE49-F238E27FC236}">
                <a16:creationId xmlns:a16="http://schemas.microsoft.com/office/drawing/2014/main" id="{CC369EC6-6544-C062-953A-68234137BAFF}"/>
              </a:ext>
            </a:extLst>
          </p:cNvPr>
          <p:cNvSpPr txBox="1">
            <a:spLocks noGrp="1"/>
          </p:cNvSpPr>
          <p:nvPr>
            <p:ph type="title"/>
          </p:nvPr>
        </p:nvSpPr>
        <p:spPr>
          <a:xfrm>
            <a:off x="872950" y="122160"/>
            <a:ext cx="6707400" cy="494528"/>
          </a:xfrm>
          <a:prstGeom prst="rect">
            <a:avLst/>
          </a:prstGeom>
          <a:noFill/>
          <a:ln>
            <a:noFill/>
          </a:ln>
        </p:spPr>
        <p:txBody>
          <a:bodyPr spcFirstLastPara="1" wrap="square" lIns="91425" tIns="91425" rIns="91425" bIns="91425" anchor="t" anchorCtr="0">
            <a:noAutofit/>
          </a:bodyPr>
          <a:lstStyle/>
          <a:p>
            <a:pPr rtl="0"/>
            <a:r>
              <a:rPr lang="en-GB" sz="3200" dirty="0"/>
              <a:t>Books and References</a:t>
            </a:r>
            <a:br>
              <a:rPr lang="en-GB" sz="3200" dirty="0"/>
            </a:br>
            <a:endParaRPr lang="en-GB" sz="3200" dirty="0"/>
          </a:p>
        </p:txBody>
      </p:sp>
      <p:sp>
        <p:nvSpPr>
          <p:cNvPr id="3" name="TextBox 2">
            <a:extLst>
              <a:ext uri="{FF2B5EF4-FFF2-40B4-BE49-F238E27FC236}">
                <a16:creationId xmlns:a16="http://schemas.microsoft.com/office/drawing/2014/main" id="{BD36E5C5-A4EC-A514-661D-B1E7567D531F}"/>
              </a:ext>
            </a:extLst>
          </p:cNvPr>
          <p:cNvSpPr txBox="1"/>
          <p:nvPr/>
        </p:nvSpPr>
        <p:spPr>
          <a:xfrm>
            <a:off x="755575" y="1098322"/>
            <a:ext cx="6931332" cy="2439129"/>
          </a:xfrm>
          <a:prstGeom prst="rect">
            <a:avLst/>
          </a:prstGeom>
          <a:noFill/>
        </p:spPr>
        <p:txBody>
          <a:bodyPr wrap="square">
            <a:spAutoFit/>
          </a:bodyPr>
          <a:lstStyle/>
          <a:p>
            <a:pPr marL="457200" indent="-457200" algn="l">
              <a:buFont typeface="+mj-lt"/>
              <a:buAutoNum type="arabicPeriod"/>
            </a:pPr>
            <a:r>
              <a:rPr lang="en-GB" sz="2000" b="0" i="0" u="none" strike="noStrike" dirty="0">
                <a:solidFill>
                  <a:srgbClr val="404040"/>
                </a:solidFill>
                <a:effectLst/>
                <a:latin typeface="Inter" panose="02000503000000020004" pitchFamily="2" charset="0"/>
              </a:rPr>
              <a:t>"Deep Learning" (Ian Goodfellow et al.)</a:t>
            </a:r>
          </a:p>
          <a:p>
            <a:pPr marL="457200" indent="-457200" algn="l">
              <a:spcBef>
                <a:spcPts val="300"/>
              </a:spcBef>
              <a:buFont typeface="+mj-lt"/>
              <a:buAutoNum type="arabicPeriod"/>
            </a:pPr>
            <a:r>
              <a:rPr lang="en-GB" sz="2000" b="0" i="0" u="none" strike="noStrike" dirty="0">
                <a:solidFill>
                  <a:srgbClr val="404040"/>
                </a:solidFill>
                <a:effectLst/>
                <a:latin typeface="Inter" panose="02000503000000020004" pitchFamily="2" charset="0"/>
              </a:rPr>
              <a:t>"Neural Networks and Deep Learning" (Michael Nielsen)</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Deep Learning for Computer Vision (</a:t>
            </a:r>
            <a:r>
              <a:rPr lang="en-GB" sz="2000" b="0" i="0" u="none" strike="noStrike" dirty="0" err="1">
                <a:solidFill>
                  <a:srgbClr val="404040"/>
                </a:solidFill>
                <a:effectLst/>
                <a:latin typeface="Inter" panose="02000503000000020004" pitchFamily="2" charset="0"/>
              </a:rPr>
              <a:t>Rajalingappaa</a:t>
            </a:r>
            <a:r>
              <a:rPr lang="en-GB" sz="2000" b="0" i="0" u="none" strike="noStrike" dirty="0">
                <a:solidFill>
                  <a:srgbClr val="404040"/>
                </a:solidFill>
                <a:effectLst/>
                <a:latin typeface="Inter" panose="02000503000000020004" pitchFamily="2" charset="0"/>
              </a:rPr>
              <a:t> Shanmugamani)</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Courses: CS231n (Stanford), </a:t>
            </a:r>
            <a:r>
              <a:rPr lang="en-GB" sz="2000" b="0" i="0" u="none" strike="noStrike" dirty="0" err="1">
                <a:solidFill>
                  <a:srgbClr val="404040"/>
                </a:solidFill>
                <a:effectLst/>
                <a:latin typeface="Inter" panose="02000503000000020004" pitchFamily="2" charset="0"/>
              </a:rPr>
              <a:t>Fast.ai</a:t>
            </a:r>
            <a:endParaRPr lang="en-GB" sz="2000" b="0" i="0" u="none" strike="noStrike" dirty="0">
              <a:solidFill>
                <a:srgbClr val="404040"/>
              </a:solidFill>
              <a:effectLst/>
              <a:latin typeface="Inter" panose="02000503000000020004" pitchFamily="2" charset="0"/>
            </a:endParaRP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Datasets: COCO, Pascal VOC, Cityscapes</a:t>
            </a:r>
          </a:p>
          <a:p>
            <a:pPr marL="457200" indent="-457200">
              <a:spcBef>
                <a:spcPts val="300"/>
              </a:spcBef>
              <a:buFont typeface="+mj-lt"/>
              <a:buAutoNum type="arabicPeriod"/>
            </a:pPr>
            <a:r>
              <a:rPr lang="en-GB" sz="2000" dirty="0" err="1">
                <a:solidFill>
                  <a:srgbClr val="404040"/>
                </a:solidFill>
                <a:latin typeface="Inter" panose="02000503000000020004" pitchFamily="2" charset="0"/>
              </a:rPr>
              <a:t>www.Datacamp.com</a:t>
            </a:r>
            <a:endParaRPr lang="en-GB" sz="2000" b="0" i="0" u="none" strike="noStrike" dirty="0">
              <a:solidFill>
                <a:srgbClr val="404040"/>
              </a:solidFill>
              <a:effectLst/>
              <a:latin typeface="Inter" panose="02000503000000020004" pitchFamily="2" charset="0"/>
            </a:endParaRPr>
          </a:p>
        </p:txBody>
      </p:sp>
    </p:spTree>
    <p:extLst>
      <p:ext uri="{BB962C8B-B14F-4D97-AF65-F5344CB8AC3E}">
        <p14:creationId xmlns:p14="http://schemas.microsoft.com/office/powerpoint/2010/main" val="3740398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93"/>
        <p:cNvGrpSpPr/>
        <p:nvPr/>
      </p:nvGrpSpPr>
      <p:grpSpPr>
        <a:xfrm>
          <a:off x="0" y="0"/>
          <a:ext cx="0" cy="0"/>
          <a:chOff x="0" y="0"/>
          <a:chExt cx="0" cy="0"/>
        </a:xfrm>
      </p:grpSpPr>
      <p:pic>
        <p:nvPicPr>
          <p:cNvPr id="194" name="Google Shape;194;p20"/>
          <p:cNvPicPr preferRelativeResize="0"/>
          <p:nvPr/>
        </p:nvPicPr>
        <p:blipFill rotWithShape="1">
          <a:blip r:embed="rId3">
            <a:alphaModFix/>
          </a:blip>
          <a:srcRect l="8508"/>
          <a:stretch/>
        </p:blipFill>
        <p:spPr>
          <a:xfrm>
            <a:off x="6248550" y="1551586"/>
            <a:ext cx="1357692" cy="509366"/>
          </a:xfrm>
          <a:prstGeom prst="rect">
            <a:avLst/>
          </a:prstGeom>
          <a:noFill/>
          <a:ln>
            <a:noFill/>
          </a:ln>
        </p:spPr>
      </p:pic>
      <p:pic>
        <p:nvPicPr>
          <p:cNvPr id="195" name="Google Shape;195;p20"/>
          <p:cNvPicPr preferRelativeResize="0"/>
          <p:nvPr/>
        </p:nvPicPr>
        <p:blipFill rotWithShape="1">
          <a:blip r:embed="rId4">
            <a:alphaModFix/>
          </a:blip>
          <a:srcRect/>
          <a:stretch/>
        </p:blipFill>
        <p:spPr>
          <a:xfrm>
            <a:off x="1647216" y="2992069"/>
            <a:ext cx="995950" cy="405885"/>
          </a:xfrm>
          <a:prstGeom prst="rect">
            <a:avLst/>
          </a:prstGeom>
          <a:noFill/>
          <a:ln>
            <a:noFill/>
          </a:ln>
        </p:spPr>
      </p:pic>
      <p:pic>
        <p:nvPicPr>
          <p:cNvPr id="196" name="Google Shape;196;p20"/>
          <p:cNvPicPr preferRelativeResize="0"/>
          <p:nvPr/>
        </p:nvPicPr>
        <p:blipFill rotWithShape="1">
          <a:blip r:embed="rId5">
            <a:alphaModFix/>
          </a:blip>
          <a:srcRect/>
          <a:stretch/>
        </p:blipFill>
        <p:spPr>
          <a:xfrm>
            <a:off x="6319974" y="3081645"/>
            <a:ext cx="1214843" cy="226732"/>
          </a:xfrm>
          <a:prstGeom prst="rect">
            <a:avLst/>
          </a:prstGeom>
          <a:noFill/>
          <a:ln>
            <a:noFill/>
          </a:ln>
        </p:spPr>
      </p:pic>
      <p:pic>
        <p:nvPicPr>
          <p:cNvPr id="197" name="Google Shape;197;p20"/>
          <p:cNvPicPr preferRelativeResize="0"/>
          <p:nvPr/>
        </p:nvPicPr>
        <p:blipFill rotWithShape="1">
          <a:blip r:embed="rId6">
            <a:alphaModFix/>
          </a:blip>
          <a:srcRect l="11047" t="22524" r="11047" b="22523"/>
          <a:stretch/>
        </p:blipFill>
        <p:spPr>
          <a:xfrm>
            <a:off x="3316327" y="2249012"/>
            <a:ext cx="688702" cy="395541"/>
          </a:xfrm>
          <a:prstGeom prst="rect">
            <a:avLst/>
          </a:prstGeom>
          <a:noFill/>
          <a:ln>
            <a:noFill/>
          </a:ln>
        </p:spPr>
      </p:pic>
      <p:pic>
        <p:nvPicPr>
          <p:cNvPr id="198" name="Google Shape;198;p20"/>
          <p:cNvPicPr preferRelativeResize="0"/>
          <p:nvPr/>
        </p:nvPicPr>
        <p:blipFill rotWithShape="1">
          <a:blip r:embed="rId7">
            <a:alphaModFix/>
          </a:blip>
          <a:srcRect/>
          <a:stretch/>
        </p:blipFill>
        <p:spPr>
          <a:xfrm>
            <a:off x="6360782" y="2325188"/>
            <a:ext cx="1133228" cy="243189"/>
          </a:xfrm>
          <a:prstGeom prst="rect">
            <a:avLst/>
          </a:prstGeom>
          <a:noFill/>
          <a:ln>
            <a:noFill/>
          </a:ln>
        </p:spPr>
      </p:pic>
      <p:pic>
        <p:nvPicPr>
          <p:cNvPr id="199" name="Google Shape;199;p20"/>
          <p:cNvPicPr preferRelativeResize="0"/>
          <p:nvPr/>
        </p:nvPicPr>
        <p:blipFill rotWithShape="1">
          <a:blip r:embed="rId8">
            <a:alphaModFix/>
          </a:blip>
          <a:srcRect l="2114" t="19776" b="19777"/>
          <a:stretch/>
        </p:blipFill>
        <p:spPr>
          <a:xfrm>
            <a:off x="3094065" y="1608499"/>
            <a:ext cx="1133226" cy="395540"/>
          </a:xfrm>
          <a:prstGeom prst="rect">
            <a:avLst/>
          </a:prstGeom>
          <a:noFill/>
          <a:ln>
            <a:noFill/>
          </a:ln>
        </p:spPr>
      </p:pic>
      <p:pic>
        <p:nvPicPr>
          <p:cNvPr id="200" name="Google Shape;200;p20"/>
          <p:cNvPicPr preferRelativeResize="0"/>
          <p:nvPr/>
        </p:nvPicPr>
        <p:blipFill rotWithShape="1">
          <a:blip r:embed="rId9">
            <a:alphaModFix/>
          </a:blip>
          <a:srcRect/>
          <a:stretch/>
        </p:blipFill>
        <p:spPr>
          <a:xfrm>
            <a:off x="3183573" y="3074674"/>
            <a:ext cx="954210" cy="240673"/>
          </a:xfrm>
          <a:prstGeom prst="rect">
            <a:avLst/>
          </a:prstGeom>
          <a:noFill/>
          <a:ln>
            <a:noFill/>
          </a:ln>
        </p:spPr>
      </p:pic>
      <p:pic>
        <p:nvPicPr>
          <p:cNvPr id="201" name="Google Shape;201;p20" descr="Text&#10;&#10;Description automatically generated with low confidence"/>
          <p:cNvPicPr preferRelativeResize="0"/>
          <p:nvPr/>
        </p:nvPicPr>
        <p:blipFill rotWithShape="1">
          <a:blip r:embed="rId10">
            <a:alphaModFix/>
          </a:blip>
          <a:srcRect/>
          <a:stretch/>
        </p:blipFill>
        <p:spPr>
          <a:xfrm>
            <a:off x="4992620" y="3040838"/>
            <a:ext cx="750589" cy="308346"/>
          </a:xfrm>
          <a:prstGeom prst="rect">
            <a:avLst/>
          </a:prstGeom>
          <a:noFill/>
          <a:ln>
            <a:noFill/>
          </a:ln>
        </p:spPr>
      </p:pic>
      <p:pic>
        <p:nvPicPr>
          <p:cNvPr id="202" name="Google Shape;202;p20" descr="A red and black sign&#10;&#10;Description automatically generated with low confidence"/>
          <p:cNvPicPr preferRelativeResize="0"/>
          <p:nvPr/>
        </p:nvPicPr>
        <p:blipFill rotWithShape="1">
          <a:blip r:embed="rId11">
            <a:alphaModFix/>
          </a:blip>
          <a:srcRect/>
          <a:stretch/>
        </p:blipFill>
        <p:spPr>
          <a:xfrm>
            <a:off x="3183572" y="3696038"/>
            <a:ext cx="954213" cy="202631"/>
          </a:xfrm>
          <a:prstGeom prst="rect">
            <a:avLst/>
          </a:prstGeom>
          <a:noFill/>
          <a:ln>
            <a:noFill/>
          </a:ln>
        </p:spPr>
      </p:pic>
      <p:pic>
        <p:nvPicPr>
          <p:cNvPr id="203" name="Google Shape;203;p20" descr="A picture containing text, clipart, vector graphics&#10;&#10;Description automatically generated"/>
          <p:cNvPicPr preferRelativeResize="0"/>
          <p:nvPr/>
        </p:nvPicPr>
        <p:blipFill rotWithShape="1">
          <a:blip r:embed="rId12">
            <a:alphaModFix/>
          </a:blip>
          <a:srcRect/>
          <a:stretch/>
        </p:blipFill>
        <p:spPr>
          <a:xfrm>
            <a:off x="5018971" y="3677016"/>
            <a:ext cx="697888" cy="240674"/>
          </a:xfrm>
          <a:prstGeom prst="rect">
            <a:avLst/>
          </a:prstGeom>
          <a:noFill/>
          <a:ln>
            <a:noFill/>
          </a:ln>
        </p:spPr>
      </p:pic>
      <p:pic>
        <p:nvPicPr>
          <p:cNvPr id="204" name="Google Shape;204;p20"/>
          <p:cNvPicPr preferRelativeResize="0"/>
          <p:nvPr/>
        </p:nvPicPr>
        <p:blipFill rotWithShape="1">
          <a:blip r:embed="rId13">
            <a:alphaModFix/>
          </a:blip>
          <a:srcRect b="18915"/>
          <a:stretch/>
        </p:blipFill>
        <p:spPr>
          <a:xfrm>
            <a:off x="6450290" y="3643177"/>
            <a:ext cx="954212" cy="308352"/>
          </a:xfrm>
          <a:prstGeom prst="rect">
            <a:avLst/>
          </a:prstGeom>
          <a:noFill/>
          <a:ln>
            <a:noFill/>
          </a:ln>
        </p:spPr>
      </p:pic>
      <p:pic>
        <p:nvPicPr>
          <p:cNvPr id="205" name="Google Shape;205;p20"/>
          <p:cNvPicPr preferRelativeResize="0"/>
          <p:nvPr/>
        </p:nvPicPr>
        <p:blipFill rotWithShape="1">
          <a:blip r:embed="rId14">
            <a:alphaModFix/>
          </a:blip>
          <a:srcRect l="12270" t="12270" r="12262" b="12262"/>
          <a:stretch/>
        </p:blipFill>
        <p:spPr>
          <a:xfrm>
            <a:off x="3885746" y="4245539"/>
            <a:ext cx="1133228" cy="382770"/>
          </a:xfrm>
          <a:prstGeom prst="rect">
            <a:avLst/>
          </a:prstGeom>
          <a:noFill/>
          <a:ln>
            <a:noFill/>
          </a:ln>
        </p:spPr>
      </p:pic>
      <p:pic>
        <p:nvPicPr>
          <p:cNvPr id="206" name="Google Shape;206;p20"/>
          <p:cNvPicPr preferRelativeResize="0"/>
          <p:nvPr/>
        </p:nvPicPr>
        <p:blipFill rotWithShape="1">
          <a:blip r:embed="rId15">
            <a:alphaModFix/>
          </a:blip>
          <a:srcRect/>
          <a:stretch/>
        </p:blipFill>
        <p:spPr>
          <a:xfrm>
            <a:off x="1798086" y="3621493"/>
            <a:ext cx="694210" cy="351721"/>
          </a:xfrm>
          <a:prstGeom prst="rect">
            <a:avLst/>
          </a:prstGeom>
          <a:noFill/>
          <a:ln>
            <a:noFill/>
          </a:ln>
        </p:spPr>
      </p:pic>
      <p:pic>
        <p:nvPicPr>
          <p:cNvPr id="207" name="Google Shape;207;p20"/>
          <p:cNvPicPr preferRelativeResize="0"/>
          <p:nvPr/>
        </p:nvPicPr>
        <p:blipFill rotWithShape="1">
          <a:blip r:embed="rId16">
            <a:alphaModFix/>
          </a:blip>
          <a:srcRect t="18905" b="18904"/>
          <a:stretch/>
        </p:blipFill>
        <p:spPr>
          <a:xfrm>
            <a:off x="1537771" y="1614885"/>
            <a:ext cx="1214840" cy="382767"/>
          </a:xfrm>
          <a:prstGeom prst="rect">
            <a:avLst/>
          </a:prstGeom>
          <a:noFill/>
          <a:ln>
            <a:noFill/>
          </a:ln>
        </p:spPr>
      </p:pic>
      <p:pic>
        <p:nvPicPr>
          <p:cNvPr id="208" name="Google Shape;208;p20"/>
          <p:cNvPicPr preferRelativeResize="0"/>
          <p:nvPr/>
        </p:nvPicPr>
        <p:blipFill rotWithShape="1">
          <a:blip r:embed="rId17">
            <a:alphaModFix/>
          </a:blip>
          <a:srcRect l="2114" t="28897" b="28892"/>
          <a:stretch/>
        </p:blipFill>
        <p:spPr>
          <a:xfrm>
            <a:off x="4740627" y="1652095"/>
            <a:ext cx="1254574" cy="308347"/>
          </a:xfrm>
          <a:prstGeom prst="rect">
            <a:avLst/>
          </a:prstGeom>
          <a:noFill/>
          <a:ln>
            <a:noFill/>
          </a:ln>
        </p:spPr>
      </p:pic>
      <p:pic>
        <p:nvPicPr>
          <p:cNvPr id="209" name="Google Shape;209;p20"/>
          <p:cNvPicPr preferRelativeResize="0"/>
          <p:nvPr/>
        </p:nvPicPr>
        <p:blipFill rotWithShape="1">
          <a:blip r:embed="rId18">
            <a:alphaModFix/>
          </a:blip>
          <a:srcRect/>
          <a:stretch/>
        </p:blipFill>
        <p:spPr>
          <a:xfrm>
            <a:off x="4760495" y="2253777"/>
            <a:ext cx="1214839" cy="386012"/>
          </a:xfrm>
          <a:prstGeom prst="rect">
            <a:avLst/>
          </a:prstGeom>
          <a:noFill/>
          <a:ln>
            <a:noFill/>
          </a:ln>
        </p:spPr>
      </p:pic>
      <p:pic>
        <p:nvPicPr>
          <p:cNvPr id="210" name="Google Shape;210;p20"/>
          <p:cNvPicPr preferRelativeResize="0"/>
          <p:nvPr/>
        </p:nvPicPr>
        <p:blipFill rotWithShape="1">
          <a:blip r:embed="rId19">
            <a:alphaModFix/>
          </a:blip>
          <a:srcRect/>
          <a:stretch/>
        </p:blipFill>
        <p:spPr>
          <a:xfrm>
            <a:off x="1647215" y="2294778"/>
            <a:ext cx="995952" cy="304010"/>
          </a:xfrm>
          <a:prstGeom prst="rect">
            <a:avLst/>
          </a:prstGeom>
          <a:noFill/>
          <a:ln>
            <a:noFill/>
          </a:ln>
        </p:spPr>
      </p:pic>
      <p:sp>
        <p:nvSpPr>
          <p:cNvPr id="211" name="Google Shape;211;p20"/>
          <p:cNvSpPr txBox="1">
            <a:spLocks noGrp="1"/>
          </p:cNvSpPr>
          <p:nvPr>
            <p:ph type="title" idx="4294967295"/>
          </p:nvPr>
        </p:nvSpPr>
        <p:spPr>
          <a:xfrm>
            <a:off x="2079450" y="745725"/>
            <a:ext cx="6373800" cy="511500"/>
          </a:xfrm>
          <a:prstGeom prst="rect">
            <a:avLst/>
          </a:prstGeom>
          <a:noFill/>
          <a:ln>
            <a:noFill/>
          </a:ln>
        </p:spPr>
        <p:txBody>
          <a:bodyPr spcFirstLastPara="1" wrap="square" lIns="91425" tIns="91425" rIns="91425" bIns="91425" anchor="t" anchorCtr="0">
            <a:noAutofit/>
          </a:bodyPr>
          <a:lstStyle/>
          <a:p>
            <a:pPr marL="0" lvl="0" indent="0" algn="r" rtl="1">
              <a:lnSpc>
                <a:spcPct val="100000"/>
              </a:lnSpc>
              <a:spcBef>
                <a:spcPts val="0"/>
              </a:spcBef>
              <a:spcAft>
                <a:spcPts val="0"/>
              </a:spcAft>
              <a:buSzPts val="990"/>
              <a:buNone/>
            </a:pPr>
            <a:r>
              <a:rPr lang="en-US">
                <a:solidFill>
                  <a:srgbClr val="4F29B6"/>
                </a:solidFill>
                <a:latin typeface="IBM Plex Sans Arabic SemiBold"/>
                <a:ea typeface="IBM Plex Sans Arabic SemiBold"/>
                <a:cs typeface="IBM Plex Sans Arabic SemiBold"/>
                <a:sym typeface="IBM Plex Sans Arabic SemiBold"/>
              </a:rPr>
              <a:t>الشراكات العالمية</a:t>
            </a:r>
            <a:endParaRPr>
              <a:solidFill>
                <a:srgbClr val="4F29B6"/>
              </a:solidFill>
              <a:latin typeface="IBM Plex Sans Arabic SemiBold"/>
              <a:ea typeface="IBM Plex Sans Arabic SemiBold"/>
              <a:cs typeface="IBM Plex Sans Arabic SemiBold"/>
              <a:sym typeface="IBM Plex Sans Arabic SemiBo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1"/>
          <p:cNvSpPr txBox="1">
            <a:spLocks noGrp="1"/>
          </p:cNvSpPr>
          <p:nvPr>
            <p:ph type="title"/>
          </p:nvPr>
        </p:nvSpPr>
        <p:spPr>
          <a:xfrm>
            <a:off x="5548225" y="2230950"/>
            <a:ext cx="3062100" cy="681600"/>
          </a:xfrm>
          <a:prstGeom prst="rect">
            <a:avLst/>
          </a:prstGeom>
          <a:noFill/>
          <a:ln>
            <a:noFill/>
          </a:ln>
        </p:spPr>
        <p:txBody>
          <a:bodyPr spcFirstLastPara="1" wrap="square" lIns="91425" tIns="91425" rIns="91425" bIns="91425" anchor="b" anchorCtr="0">
            <a:normAutofit fontScale="90000"/>
          </a:bodyPr>
          <a:lstStyle/>
          <a:p>
            <a:pPr marL="0" lvl="0" indent="0" algn="r" rtl="0">
              <a:lnSpc>
                <a:spcPct val="100000"/>
              </a:lnSpc>
              <a:spcBef>
                <a:spcPts val="0"/>
              </a:spcBef>
              <a:spcAft>
                <a:spcPts val="0"/>
              </a:spcAft>
              <a:buSzPct val="333333"/>
              <a:buNone/>
            </a:pPr>
            <a:r>
              <a:rPr lang="en-US" sz="4000" b="1">
                <a:solidFill>
                  <a:schemeClr val="lt1"/>
                </a:solidFill>
                <a:latin typeface="IBM Plex Sans Arabic"/>
                <a:ea typeface="IBM Plex Sans Arabic"/>
                <a:cs typeface="IBM Plex Sans Arabic"/>
                <a:sym typeface="IBM Plex Sans Arabic"/>
              </a:rPr>
              <a:t>شــــــكــــرًا لكــــــم</a:t>
            </a:r>
            <a:endParaRPr sz="4000" b="1">
              <a:solidFill>
                <a:schemeClr val="lt1"/>
              </a:solidFill>
              <a:latin typeface="IBM Plex Sans Arabic"/>
              <a:ea typeface="IBM Plex Sans Arabic"/>
              <a:cs typeface="IBM Plex Sans Arabic"/>
              <a:sym typeface="IBM Plex Sans Arabic"/>
            </a:endParaRPr>
          </a:p>
        </p:txBody>
      </p:sp>
      <p:sp>
        <p:nvSpPr>
          <p:cNvPr id="217" name="Google Shape;217;p21"/>
          <p:cNvSpPr txBox="1">
            <a:spLocks noGrp="1"/>
          </p:cNvSpPr>
          <p:nvPr>
            <p:ph type="ctrTitle" idx="4294967295"/>
          </p:nvPr>
        </p:nvSpPr>
        <p:spPr>
          <a:xfrm>
            <a:off x="4166050" y="2870075"/>
            <a:ext cx="4444200" cy="576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4F29B7"/>
              </a:buClr>
              <a:buSzPts val="990"/>
              <a:buFont typeface="IBM Plex Sans Arabic Medium"/>
              <a:buNone/>
            </a:pPr>
            <a:r>
              <a:rPr lang="en-US" sz="2900" b="1" i="0" u="none" strike="noStrike" cap="none">
                <a:solidFill>
                  <a:schemeClr val="lt1"/>
                </a:solidFill>
                <a:latin typeface="IBM Plex Sans Arabic"/>
                <a:ea typeface="IBM Plex Sans Arabic"/>
                <a:cs typeface="IBM Plex Sans Arabic"/>
                <a:sym typeface="IBM Plex Sans Arabic"/>
              </a:rPr>
              <a:t>THANK YOU</a:t>
            </a:r>
            <a:endParaRPr sz="2900" b="1" i="0" u="none" strike="noStrike" cap="none">
              <a:solidFill>
                <a:schemeClr val="lt1"/>
              </a:solidFill>
              <a:latin typeface="IBM Plex Sans Arabic"/>
              <a:ea typeface="IBM Plex Sans Arabic"/>
              <a:cs typeface="IBM Plex Sans Arabic"/>
              <a:sym typeface="IBM Plex Sans Arabic"/>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6203</TotalTime>
  <Words>2144</Words>
  <Application>Microsoft Macintosh PowerPoint</Application>
  <PresentationFormat>On-screen Show (16:9)</PresentationFormat>
  <Paragraphs>265</Paragraphs>
  <Slides>28</Slides>
  <Notes>22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28</vt:i4>
      </vt:variant>
    </vt:vector>
  </HeadingPairs>
  <TitlesOfParts>
    <vt:vector size="40" baseType="lpstr">
      <vt:lpstr>IBM Plex Sans Arabic SemiBold</vt:lpstr>
      <vt:lpstr>Source Sans 3</vt:lpstr>
      <vt:lpstr>Arial</vt:lpstr>
      <vt:lpstr>IBM Plex Sans Arabic</vt:lpstr>
      <vt:lpstr>Studio-Feixen-Sans</vt:lpstr>
      <vt:lpstr>Times New Roman</vt:lpstr>
      <vt:lpstr>IBM Plex Sans Arabic Medium</vt:lpstr>
      <vt:lpstr>Calibri</vt:lpstr>
      <vt:lpstr>Inter</vt:lpstr>
      <vt:lpstr>Wingdings</vt:lpstr>
      <vt:lpstr>Tajawal</vt:lpstr>
      <vt:lpstr>Simple Light</vt:lpstr>
      <vt:lpstr>أكـــــاديميــــة طــــويـــق</vt:lpstr>
      <vt:lpstr>Object Detection     </vt:lpstr>
      <vt:lpstr>PowerPoint Presentation</vt:lpstr>
      <vt:lpstr>Object Detection    </vt:lpstr>
      <vt:lpstr> Key Architectures     </vt:lpstr>
      <vt:lpstr> What is YOLO    </vt:lpstr>
      <vt:lpstr> Features of the YOLO algorithm:     </vt:lpstr>
      <vt:lpstr>YOLO Architecture     </vt:lpstr>
      <vt:lpstr>YOLO Architecture- Explained     </vt:lpstr>
      <vt:lpstr>Working of YOLO Object Detection      </vt:lpstr>
      <vt:lpstr>Working of YOLO Object Detection      </vt:lpstr>
      <vt:lpstr>Working of YOLO Object Detection      </vt:lpstr>
      <vt:lpstr>Working of YOLO Object Detection      </vt:lpstr>
      <vt:lpstr>Working of YOLO Object Detection      </vt:lpstr>
      <vt:lpstr>Working of YOLO Object Detection      </vt:lpstr>
      <vt:lpstr>Working of YOLO Object Detection      </vt:lpstr>
      <vt:lpstr>Working of YOLO Object Detection      </vt:lpstr>
      <vt:lpstr>YOLO Applications </vt:lpstr>
      <vt:lpstr>YOLO Applications </vt:lpstr>
      <vt:lpstr>Different versions of YOLO  </vt:lpstr>
      <vt:lpstr>Different versions of YOLO  </vt:lpstr>
      <vt:lpstr>Different versions of YOLO  </vt:lpstr>
      <vt:lpstr>Different versions of YOLO  </vt:lpstr>
      <vt:lpstr>Comparison Table  </vt:lpstr>
      <vt:lpstr>Hands On Exercise  </vt:lpstr>
      <vt:lpstr>Books and References </vt:lpstr>
      <vt:lpstr>الشراكات العالمية</vt:lpstr>
      <vt:lpstr>شــــــكــــرًا لكــــــم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lastModifiedBy>Afshan Hashmi</cp:lastModifiedBy>
  <cp:revision>32</cp:revision>
  <dcterms:modified xsi:type="dcterms:W3CDTF">2025-05-06T13:55:55Z</dcterms:modified>
</cp:coreProperties>
</file>