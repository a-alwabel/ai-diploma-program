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58" r:id="rId4"/>
    <p:sldId id="298" r:id="rId5"/>
    <p:sldId id="474" r:id="rId6"/>
    <p:sldId id="476" r:id="rId7"/>
    <p:sldId id="484" r:id="rId8"/>
    <p:sldId id="483" r:id="rId9"/>
    <p:sldId id="485" r:id="rId10"/>
    <p:sldId id="486" r:id="rId11"/>
    <p:sldId id="487" r:id="rId12"/>
    <p:sldId id="488" r:id="rId13"/>
    <p:sldId id="489" r:id="rId14"/>
    <p:sldId id="490" r:id="rId15"/>
    <p:sldId id="492" r:id="rId16"/>
    <p:sldId id="493" r:id="rId17"/>
    <p:sldId id="495" r:id="rId18"/>
    <p:sldId id="496" r:id="rId19"/>
    <p:sldId id="497" r:id="rId20"/>
    <p:sldId id="499" r:id="rId21"/>
    <p:sldId id="498" r:id="rId22"/>
    <p:sldId id="500" r:id="rId23"/>
    <p:sldId id="501" r:id="rId24"/>
    <p:sldId id="502" r:id="rId25"/>
    <p:sldId id="312" r:id="rId26"/>
    <p:sldId id="275" r:id="rId27"/>
    <p:sldId id="276" r:id="rId28"/>
  </p:sldIdLst>
  <p:sldSz cx="9144000" cy="5143500" type="screen16x9"/>
  <p:notesSz cx="6858000" cy="9144000"/>
  <p:embeddedFontLst>
    <p:embeddedFont>
      <p:font typeface="Cambria Math" panose="02040503050406030204" pitchFamily="18" charset="0"/>
      <p:regular r:id="rId30"/>
    </p:embeddedFont>
    <p:embeddedFont>
      <p:font typeface="IBM Plex Sans Arabic" panose="020B0603050203000203" pitchFamily="34" charset="-78"/>
      <p:regular r:id="rId31"/>
      <p:bold r:id="rId32"/>
    </p:embeddedFont>
    <p:embeddedFont>
      <p:font typeface="IBM Plex Sans Arabic Medium" panose="020B0603050203000203" pitchFamily="34" charset="-78"/>
      <p:regular r:id="rId33"/>
      <p:bold r:id="rId34"/>
    </p:embeddedFont>
    <p:embeddedFont>
      <p:font typeface="IBM Plex Sans Arabic SemiBold" panose="020B0603050203000203" pitchFamily="34" charset="-78"/>
      <p:regular r:id="rId35"/>
      <p:bold r:id="rId36"/>
    </p:embeddedFont>
    <p:embeddedFont>
      <p:font typeface="Inter" panose="020F0502020204030204" pitchFamily="34" charset="0"/>
      <p:regular r:id="rId37"/>
      <p:bold r:id="rId38"/>
      <p:italic r:id="rId39"/>
      <p:boldItalic r:id="rId40"/>
    </p:embeddedFont>
    <p:embeddedFont>
      <p:font typeface="Nunito" pitchFamily="2" charset="77"/>
      <p:regular r:id="rId41"/>
      <p:bold r:id="rId42"/>
      <p:italic r:id="rId43"/>
      <p:boldItalic r:id="rId44"/>
    </p:embeddedFont>
    <p:embeddedFont>
      <p:font typeface="Tajawal" pitchFamily="2" charset="-78"/>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06"/>
    <p:restoredTop sz="94227"/>
  </p:normalViewPr>
  <p:slideViewPr>
    <p:cSldViewPr snapToGrid="0">
      <p:cViewPr varScale="1">
        <p:scale>
          <a:sx n="209" d="100"/>
          <a:sy n="209" d="100"/>
        </p:scale>
        <p:origin x="472" y="17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3724D22-3E25-F7B7-1122-F4713356334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8B0ACFC-F110-CF74-3E0C-A3F7E2A82A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D370751-7552-C5AC-4079-FBFAC3C5B5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7576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928F5CC-EEA9-91E0-DB6B-B5CF7FCAC52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308DFC7-417B-FD3A-8AF1-5F5B496C46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6FD376C-AE62-CED1-3125-AB862EADE0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3379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FC055FA-5341-DDC8-1CB0-11767ACBA3B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9D8C84-42C5-9B05-4F65-516466FF93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BB24F13-1CBF-6130-F57E-8753E70237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1576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E17190C-8FC9-D3B5-2F64-11450CAE737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AAB8D7F-DA1B-A63B-3651-1A65186600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720EB99-8082-F848-BCBC-07998C4DA0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9341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D41BCDD-609F-6544-F13D-7214BAA9BDE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2F003D4-66F8-68B0-EF1F-F37CC6875E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D30CEA2-DB5B-CA01-A501-989303F79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8241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0A6DCA3-0936-C90D-EDE5-D2FE18D5EC6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A45A095-D2F2-7DF6-5102-E2A548BDB0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52242C4-C42E-0403-B9D4-AA4A0A4E65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885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8DA1083-1487-85DC-16AA-77B9273E54F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7872933-A402-9218-77AC-1A46FEF4D8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368D3DA-2B07-F155-A68F-62E31CE44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97254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A0A7863-1D02-70E4-D78C-0AD6AB5D8FD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F313CF0-0D53-0A7C-F59A-599154FF10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C108109-C1A8-D354-8A72-81B4A62BD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4835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E4B85AD-0A3C-2922-0069-24E6FD5B9BA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7548F49-D7E9-FB5D-C351-2C5ED4AA2D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E086591-2D56-EB40-4CFE-75468226C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73957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85EF87E-3694-3DEA-DDE2-4260738DFD9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944C128-CF6A-CBBB-D047-7123AB981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A25D0D8-E03E-89B9-7CC0-B8B0D4B210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079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1D582E1-3016-C05D-4DF8-404547F8176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606D977-761E-2422-66F5-DE0D71719D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DB720FF-32E5-B6AD-C0E3-FC7A26075A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0781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A512EAA-3F65-D8A6-7D1C-4D58053E698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4D1078D-B3EF-C5A5-E355-D7DAE8C275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8C42D7B-C1B8-8D65-3882-98A7D13BDB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87184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2A02FCD-9F55-5478-2962-95447731F9E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C1C91F7-CE92-DE06-2CD5-294C641EC0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7091786-9BED-11AA-F78B-54F52010BC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93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F96D57B-7B20-2FCD-EECC-25F5FE9DCC7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4F6C033-29FB-DAD3-79FC-BA594ABDD8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C80BA3E-2C0D-D47D-1F23-C700F71502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270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13D646D-CBD1-402B-D951-FEE9AD4E829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DC3A2D1-E0E7-6139-4550-FDB61665B7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AB2B81F-A775-A5F2-770F-6BD61F1CF4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12031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71707EC-9278-9AAC-A98C-9643F1912B5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A0A0953-1283-F444-DD20-4AFEFCC8A4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C9F8F5E-C50C-53D5-1E79-FCBBE77DEF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4182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4772611-6B79-C9E3-F35D-AD62375AF61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34A9F14-D21D-3DE1-EBBC-45EBCAD169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DBD654B-08A6-079E-6905-8C3689EB9A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37117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3C17495-659E-486A-1F9C-9BE6BBB79E4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0214E1B-B58E-A12B-A986-A5D79F5DCC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60F5B78-7360-79BC-1346-17C0DF72C2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0924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1A6E6E4-1903-016D-FACF-4AC398A8DBC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5F90A60-AB1B-24CD-9099-0A417BE3A8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7EBDB02-0D09-ABDE-7022-79C2172247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65853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C1FDBCA-2C3E-1EEC-2ABB-0A4787FF614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71215CB-5124-B14D-C43D-28F59C0813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81F9F87-2E72-7B5E-0872-4A06518BA3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88655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26.xml"/><Relationship Id="rId16"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498670"/>
            <a:ext cx="8520600" cy="2052600"/>
          </a:xfrm>
          <a:prstGeom prst="rect">
            <a:avLst/>
          </a:prstGeom>
          <a:noFill/>
          <a:ln>
            <a:noFill/>
          </a:ln>
        </p:spPr>
        <p:txBody>
          <a:bodyPr spcFirstLastPara="1" wrap="square" lIns="91425" tIns="91425" rIns="91425" bIns="91425" anchor="b" anchorCtr="0">
            <a:normAutofit fontScale="90000"/>
          </a:bodyPr>
          <a:lstStyle/>
          <a:p>
            <a:r>
              <a:rPr lang="en-GB" sz="4000" dirty="0">
                <a:solidFill>
                  <a:srgbClr val="7030A0"/>
                </a:solidFill>
                <a:latin typeface="Times New Roman" panose="02020603050405020304" pitchFamily="18" charset="0"/>
              </a:rPr>
              <a:t>Attention Mechanism</a:t>
            </a:r>
            <a:br>
              <a:rPr lang="en-GB" sz="4000" b="1" i="0" u="none" strike="noStrike" dirty="0">
                <a:solidFill>
                  <a:srgbClr val="7030A0"/>
                </a:solidFill>
                <a:effectLst/>
                <a:latin typeface="Times New Roman" panose="02020603050405020304" pitchFamily="18" charset="0"/>
              </a:rPr>
            </a:br>
            <a:r>
              <a:rPr lang="en-GB" sz="3200" b="1" i="0" u="none" strike="noStrike" dirty="0">
                <a:solidFill>
                  <a:srgbClr val="7030A0"/>
                </a:solidFill>
                <a:effectLst/>
                <a:latin typeface="Arial" panose="020B0604020202020204" pitchFamily="34" charset="0"/>
              </a:rPr>
              <a:t> </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5691535" cy="792600"/>
          </a:xfrm>
          <a:prstGeom prst="rect">
            <a:avLst/>
          </a:prstGeom>
          <a:noFill/>
          <a:ln>
            <a:noFill/>
          </a:ln>
        </p:spPr>
        <p:txBody>
          <a:bodyPr spcFirstLastPara="1" wrap="square" lIns="91425" tIns="91425" rIns="91425" bIns="91425" anchor="t" anchorCtr="0">
            <a:normAutofit/>
          </a:bodyPr>
          <a:lstStyle/>
          <a:p>
            <a:pPr marL="114300" indent="0" rtl="0" fontAlgn="base">
              <a:spcBef>
                <a:spcPts val="1200"/>
              </a:spcBef>
              <a:spcAft>
                <a:spcPts val="1200"/>
              </a:spcAft>
            </a:pPr>
            <a:r>
              <a:rPr lang="en-GB" sz="1800" b="0" i="0" u="none" strike="noStrike" dirty="0">
                <a:solidFill>
                  <a:srgbClr val="000000"/>
                </a:solidFill>
                <a:effectLst/>
                <a:latin typeface="Times New Roman" panose="02020603050405020304" pitchFamily="18" charset="0"/>
              </a:rPr>
              <a:t>			</a:t>
            </a:r>
            <a:endParaRPr lang="en-GB" sz="1800" dirty="0">
              <a:solidFill>
                <a:srgbClr val="000000"/>
              </a:solidFill>
              <a:latin typeface="Times New Roman" panose="02020603050405020304" pitchFamily="18" charset="0"/>
            </a:endParaRPr>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838658" y="1343963"/>
            <a:ext cx="6634716" cy="1846619"/>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algn="l" rtl="0">
              <a:buNone/>
            </a:pPr>
            <a:endParaRPr lang="en-GB" b="0" i="0" u="none" strike="noStrike" dirty="0">
              <a:solidFill>
                <a:srgbClr val="000000"/>
              </a:solidFill>
              <a:effectLst/>
            </a:endParaRPr>
          </a:p>
          <a:p>
            <a:pPr marL="342900" indent="-342900" algn="l" rtl="0">
              <a:buFont typeface="+mj-lt"/>
              <a:buAutoNum type="arabicPeriod"/>
            </a:pPr>
            <a:r>
              <a:rPr lang="en-GB" b="0" i="0" u="none" strike="noStrike" dirty="0">
                <a:solidFill>
                  <a:srgbClr val="000000"/>
                </a:solidFill>
                <a:effectLst/>
              </a:rPr>
              <a:t>Introduction to attention mechanism.</a:t>
            </a:r>
          </a:p>
          <a:p>
            <a:pPr marL="342900" indent="-342900">
              <a:buFont typeface="+mj-lt"/>
              <a:buAutoNum type="arabicPeriod"/>
            </a:pPr>
            <a:r>
              <a:rPr lang="en-GB" b="0" i="0" u="none" strike="noStrike" dirty="0">
                <a:solidFill>
                  <a:srgbClr val="000000"/>
                </a:solidFill>
                <a:effectLst/>
              </a:rPr>
              <a:t>Working of Attention </a:t>
            </a:r>
            <a:r>
              <a:rPr lang="en-GB" dirty="0"/>
              <a:t>M</a:t>
            </a:r>
            <a:r>
              <a:rPr lang="en-GB" b="0" i="0" u="none" strike="noStrike" dirty="0">
                <a:solidFill>
                  <a:srgbClr val="000000"/>
                </a:solidFill>
                <a:effectLst/>
              </a:rPr>
              <a:t>echanism.</a:t>
            </a:r>
          </a:p>
          <a:p>
            <a:pPr marL="342900" indent="-342900" algn="l" rtl="0">
              <a:buFont typeface="+mj-lt"/>
              <a:buAutoNum type="arabicPeriod"/>
            </a:pPr>
            <a:r>
              <a:rPr lang="en-GB" b="0" i="0" u="none" strike="noStrike" dirty="0">
                <a:solidFill>
                  <a:srgbClr val="000000"/>
                </a:solidFill>
                <a:effectLst/>
              </a:rPr>
              <a:t>Architecture of Attention </a:t>
            </a:r>
            <a:r>
              <a:rPr lang="en-GB" dirty="0"/>
              <a:t>M</a:t>
            </a:r>
            <a:r>
              <a:rPr lang="en-GB" b="0" i="0" u="none" strike="noStrike" dirty="0">
                <a:solidFill>
                  <a:srgbClr val="000000"/>
                </a:solidFill>
                <a:effectLst/>
              </a:rPr>
              <a:t>echanism</a:t>
            </a:r>
          </a:p>
          <a:p>
            <a:pPr marL="342900" indent="-342900" algn="l" rtl="0">
              <a:buFont typeface="+mj-lt"/>
              <a:buAutoNum type="arabicPeriod"/>
            </a:pPr>
            <a:r>
              <a:rPr lang="en-GB" dirty="0"/>
              <a:t>Encoder, Attention and Decoder</a:t>
            </a:r>
            <a:endParaRPr lang="en-GB" b="0" i="0" u="none" strike="noStrike" dirty="0">
              <a:solidFill>
                <a:srgbClr val="000000"/>
              </a:solidFill>
              <a:effectLst/>
            </a:endParaRPr>
          </a:p>
          <a:p>
            <a:pPr marL="342900" indent="-342900">
              <a:buFont typeface="+mj-lt"/>
              <a:buAutoNum type="arabicPeriod"/>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buFont typeface="Arial" panose="020B0604020202020204" pitchFamily="34" charset="0"/>
              <a:buChar char="•"/>
            </a:pPr>
            <a:r>
              <a:rPr lang="en-GB" sz="3200" b="1" dirty="0">
                <a:effectLst/>
              </a:rPr>
              <a:t>Introduction to Attention Mechanisms</a:t>
            </a:r>
            <a:br>
              <a:rPr lang="en-GB" sz="3200" b="1" dirty="0">
                <a:effectLst/>
              </a:rPr>
            </a:br>
            <a:br>
              <a:rPr lang="en-GB" sz="3200" b="1" dirty="0">
                <a:effectLst/>
              </a:rPr>
            </a:br>
            <a:br>
              <a:rPr lang="en-GB" b="0" i="0" u="none" strike="noStrike" dirty="0">
                <a:solidFill>
                  <a:srgbClr val="404040"/>
                </a:solidFill>
                <a:effectLst/>
                <a:latin typeface="DeepSeek-CJK-patch"/>
              </a:rPr>
            </a:br>
            <a:br>
              <a:rPr lang="en-GB" b="1" i="0" u="none" strike="noStrike" dirty="0">
                <a:solidFill>
                  <a:srgbClr val="7030A0"/>
                </a:solidFill>
                <a:effectLst/>
                <a:latin typeface="+mj-lt"/>
              </a:rPr>
            </a:br>
            <a:br>
              <a:rPr lang="en-GB" b="1" i="0" u="none" strike="noStrike" dirty="0">
                <a:solidFill>
                  <a:srgbClr val="7030A0"/>
                </a:solidFill>
                <a:effectLst/>
                <a:latin typeface="+mj-lt"/>
              </a:rPr>
            </a:br>
            <a:endParaRPr lang="en-GB"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542544" y="625781"/>
            <a:ext cx="7351776" cy="3970318"/>
          </a:xfrm>
          <a:prstGeom prst="rect">
            <a:avLst/>
          </a:prstGeom>
          <a:noFill/>
        </p:spPr>
        <p:txBody>
          <a:bodyPr wrap="square">
            <a:spAutoFit/>
          </a:bodyPr>
          <a:lstStyle/>
          <a:p>
            <a:pPr>
              <a:buNone/>
            </a:pPr>
            <a:r>
              <a:rPr lang="en-GB" b="1" dirty="0"/>
              <a:t>What is Attention?</a:t>
            </a:r>
          </a:p>
          <a:p>
            <a:pPr>
              <a:buNone/>
            </a:pPr>
            <a:r>
              <a:rPr lang="en-GB" dirty="0"/>
              <a:t>Attention mechanisms are a powerful concept in deep learning that allow models to </a:t>
            </a:r>
            <a:r>
              <a:rPr lang="en-GB" b="1" dirty="0"/>
              <a:t>focus on the most relevant parts</a:t>
            </a:r>
            <a:r>
              <a:rPr lang="en-GB" dirty="0"/>
              <a:t> of the input when making predictions. Originally developed for Natural Language Processing (NLP), attention has since been applied to computer vision, speech recognition, and other domains.</a:t>
            </a:r>
          </a:p>
          <a:p>
            <a:pPr>
              <a:buNone/>
            </a:pPr>
            <a:r>
              <a:rPr lang="en-GB" b="1" dirty="0"/>
              <a:t>Why Use Attention?</a:t>
            </a:r>
          </a:p>
          <a:p>
            <a:pPr>
              <a:buNone/>
            </a:pPr>
            <a:r>
              <a:rPr lang="en-GB" dirty="0"/>
              <a:t>In traditional sequence models like RNNs or LSTMs, each word or token is processed in order, and long-range dependencies can be hard to capture. Attention addresses this limitation by assigning different weights to different parts of the input, enabling the model to dynamically decide what to "pay attention" to. Basic Idea</a:t>
            </a:r>
          </a:p>
          <a:p>
            <a:pPr>
              <a:buNone/>
            </a:pPr>
            <a:r>
              <a:rPr lang="en-GB" dirty="0"/>
              <a:t>Given a query, attention allows the model to:</a:t>
            </a:r>
          </a:p>
          <a:p>
            <a:pPr>
              <a:buFont typeface="+mj-lt"/>
              <a:buAutoNum type="arabicPeriod"/>
            </a:pPr>
            <a:r>
              <a:rPr lang="en-GB" dirty="0"/>
              <a:t>Compare the query with a set of key-value pairs.</a:t>
            </a:r>
          </a:p>
          <a:p>
            <a:pPr>
              <a:buFont typeface="+mj-lt"/>
              <a:buAutoNum type="arabicPeriod"/>
            </a:pPr>
            <a:r>
              <a:rPr lang="en-GB" dirty="0"/>
              <a:t>Assign a weight (attention score) to each key.</a:t>
            </a:r>
          </a:p>
          <a:p>
            <a:pPr>
              <a:buFont typeface="+mj-lt"/>
              <a:buAutoNum type="arabicPeriod"/>
            </a:pPr>
            <a:r>
              <a:rPr lang="en-GB" dirty="0"/>
              <a:t>Use the weighted combination of the corresponding values to form the output.</a:t>
            </a:r>
          </a:p>
          <a:p>
            <a:pPr>
              <a:buFont typeface="+mj-lt"/>
              <a:buAutoNum type="arabicPeriod"/>
            </a:pPr>
            <a:endParaRPr lang="en-GB" dirty="0"/>
          </a:p>
          <a:p>
            <a:r>
              <a:rPr lang="en-GB" b="1" dirty="0"/>
              <a:t>Analogy</a:t>
            </a:r>
            <a:r>
              <a:rPr lang="en-GB" dirty="0"/>
              <a:t>: Imagine reading a paragraph and trying to answer a question. You don’t re-read the whole paragraph word-by-word—you focus on the parts that seem most relevant. That’s what attention does.</a:t>
            </a: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76448EF-3786-83D9-3118-65E3B057A4B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77FEEBA-960E-81E9-6F23-D82E5CC87BC1}"/>
              </a:ext>
            </a:extLst>
          </p:cNvPr>
          <p:cNvSpPr txBox="1">
            <a:spLocks noGrp="1"/>
          </p:cNvSpPr>
          <p:nvPr>
            <p:ph type="title"/>
          </p:nvPr>
        </p:nvSpPr>
        <p:spPr>
          <a:xfrm>
            <a:off x="126759" y="86064"/>
            <a:ext cx="8329650" cy="627900"/>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latin typeface="+mj-lt"/>
              </a:rPr>
              <a:t>Key Takeaways about Attention Mechanism:</a:t>
            </a: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br>
              <a:rPr lang="en-GB" sz="2400" b="1" i="0" u="none" strike="noStrike" dirty="0">
                <a:solidFill>
                  <a:srgbClr val="7030A0"/>
                </a:solidFill>
                <a:effectLst/>
                <a:latin typeface="+mj-lt"/>
              </a:rPr>
            </a:br>
            <a:endParaRPr lang="en-GB" sz="24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864701C-1291-6820-BC78-E5FB9903F75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C540911-A359-6E62-D0C0-DD4B0B739F83}"/>
              </a:ext>
            </a:extLst>
          </p:cNvPr>
          <p:cNvSpPr txBox="1"/>
          <p:nvPr/>
        </p:nvSpPr>
        <p:spPr>
          <a:xfrm>
            <a:off x="182881" y="713964"/>
            <a:ext cx="8113775" cy="830997"/>
          </a:xfrm>
          <a:prstGeom prst="rect">
            <a:avLst/>
          </a:prstGeom>
          <a:noFill/>
        </p:spPr>
        <p:txBody>
          <a:bodyPr wrap="square">
            <a:spAutoFit/>
          </a:bodyPr>
          <a:lstStyle/>
          <a:p>
            <a:pPr algn="l">
              <a:buNone/>
            </a:pPr>
            <a:br>
              <a:rPr lang="en-GB" sz="1600" dirty="0">
                <a:latin typeface="+mj-lt"/>
              </a:rPr>
            </a:br>
            <a:br>
              <a:rPr lang="en-GB" sz="1600" dirty="0">
                <a:latin typeface="+mj-lt"/>
              </a:rPr>
            </a:br>
            <a:endParaRPr lang="en-GB" sz="1600" i="0" u="none" strike="noStrike" dirty="0">
              <a:solidFill>
                <a:srgbClr val="000000"/>
              </a:solidFill>
              <a:effectLst/>
              <a:latin typeface="+mj-lt"/>
            </a:endParaRPr>
          </a:p>
        </p:txBody>
      </p:sp>
      <p:sp>
        <p:nvSpPr>
          <p:cNvPr id="7" name="TextBox 6">
            <a:extLst>
              <a:ext uri="{FF2B5EF4-FFF2-40B4-BE49-F238E27FC236}">
                <a16:creationId xmlns:a16="http://schemas.microsoft.com/office/drawing/2014/main" id="{AEBF7C45-D6CB-8C89-47A7-F7FAF6DF2E63}"/>
              </a:ext>
            </a:extLst>
          </p:cNvPr>
          <p:cNvSpPr txBox="1"/>
          <p:nvPr/>
        </p:nvSpPr>
        <p:spPr>
          <a:xfrm>
            <a:off x="74943" y="713964"/>
            <a:ext cx="8221713" cy="3970318"/>
          </a:xfrm>
          <a:prstGeom prst="rect">
            <a:avLst/>
          </a:prstGeom>
          <a:noFill/>
        </p:spPr>
        <p:txBody>
          <a:bodyPr wrap="square">
            <a:spAutoFit/>
          </a:bodyPr>
          <a:lstStyle/>
          <a:p>
            <a:pPr marL="285750" indent="-285750" algn="l">
              <a:buFont typeface="Wingdings" pitchFamily="2" charset="2"/>
              <a:buChar char="Ø"/>
            </a:pPr>
            <a:r>
              <a:rPr lang="en-GB" b="1" i="0" u="none" strike="noStrike" dirty="0">
                <a:solidFill>
                  <a:srgbClr val="000000"/>
                </a:solidFill>
                <a:effectLst/>
              </a:rPr>
              <a:t>Inspired by Human Attention:</a:t>
            </a:r>
            <a:r>
              <a:rPr lang="en-GB" b="0" i="0" u="none" strike="noStrike" dirty="0">
                <a:solidFill>
                  <a:srgbClr val="000000"/>
                </a:solidFill>
                <a:effectLst/>
              </a:rPr>
              <a:t> Attention mechanisms mimic our natural ability to focus on the most important information.</a:t>
            </a:r>
          </a:p>
          <a:p>
            <a:pPr marL="285750" indent="-285750" algn="l">
              <a:buFont typeface="Wingdings" pitchFamily="2" charset="2"/>
              <a:buChar char="Ø"/>
            </a:pPr>
            <a:r>
              <a:rPr lang="en-GB" b="1" i="0" u="none" strike="noStrike" dirty="0">
                <a:solidFill>
                  <a:srgbClr val="000000"/>
                </a:solidFill>
                <a:effectLst/>
              </a:rPr>
              <a:t>Selective Focus:</a:t>
            </a:r>
            <a:r>
              <a:rPr lang="en-GB" b="0" i="0" u="none" strike="noStrike" dirty="0">
                <a:solidFill>
                  <a:srgbClr val="000000"/>
                </a:solidFill>
                <a:effectLst/>
              </a:rPr>
              <a:t> They allow models to process all input but prioritize the most relevant parts for the current task.</a:t>
            </a:r>
          </a:p>
          <a:p>
            <a:pPr marL="285750" indent="-285750" algn="l">
              <a:buFont typeface="Wingdings" pitchFamily="2" charset="2"/>
              <a:buChar char="Ø"/>
            </a:pPr>
            <a:r>
              <a:rPr lang="en-GB" b="1" i="0" u="none" strike="noStrike" dirty="0">
                <a:solidFill>
                  <a:srgbClr val="000000"/>
                </a:solidFill>
                <a:effectLst/>
              </a:rPr>
              <a:t>Attention Weights:</a:t>
            </a:r>
            <a:r>
              <a:rPr lang="en-GB" b="0" i="0" u="none" strike="noStrike" dirty="0">
                <a:solidFill>
                  <a:srgbClr val="000000"/>
                </a:solidFill>
                <a:effectLst/>
              </a:rPr>
              <a:t> Mathematically, they compute weights indicating the importance of each input element.</a:t>
            </a:r>
          </a:p>
          <a:p>
            <a:pPr marL="285750" indent="-285750" algn="l">
              <a:buFont typeface="Wingdings" pitchFamily="2" charset="2"/>
              <a:buChar char="Ø"/>
            </a:pPr>
            <a:r>
              <a:rPr lang="en-GB" b="1" i="0" u="none" strike="noStrike" dirty="0">
                <a:solidFill>
                  <a:srgbClr val="000000"/>
                </a:solidFill>
                <a:effectLst/>
              </a:rPr>
              <a:t>Weighted Influence:</a:t>
            </a:r>
            <a:r>
              <a:rPr lang="en-GB" b="0" i="0" u="none" strike="noStrike" dirty="0">
                <a:solidFill>
                  <a:srgbClr val="000000"/>
                </a:solidFill>
                <a:effectLst/>
              </a:rPr>
              <a:t> These weights are used to scale the influence of different parts of the input.</a:t>
            </a:r>
          </a:p>
          <a:p>
            <a:pPr marL="285750" indent="-285750" algn="l">
              <a:buFont typeface="Wingdings" pitchFamily="2" charset="2"/>
              <a:buChar char="Ø"/>
            </a:pPr>
            <a:r>
              <a:rPr lang="en-GB" b="1" i="0" u="none" strike="noStrike" dirty="0">
                <a:solidFill>
                  <a:srgbClr val="000000"/>
                </a:solidFill>
                <a:effectLst/>
              </a:rPr>
              <a:t>Trained on Data:</a:t>
            </a:r>
            <a:r>
              <a:rPr lang="en-GB" b="0" i="0" u="none" strike="noStrike" dirty="0">
                <a:solidFill>
                  <a:srgbClr val="000000"/>
                </a:solidFill>
                <a:effectLst/>
              </a:rPr>
              <a:t> Attention models learn to assign accurate weights through supervised or self-supervised learning.</a:t>
            </a:r>
          </a:p>
          <a:p>
            <a:pPr marL="285750" indent="-285750" algn="l">
              <a:buFont typeface="Wingdings" pitchFamily="2" charset="2"/>
              <a:buChar char="Ø"/>
            </a:pPr>
            <a:r>
              <a:rPr lang="en-GB" b="1" i="0" u="none" strike="noStrike" dirty="0">
                <a:solidFill>
                  <a:srgbClr val="000000"/>
                </a:solidFill>
                <a:effectLst/>
              </a:rPr>
              <a:t>Revolutionized Machine Translation:</a:t>
            </a:r>
            <a:r>
              <a:rPr lang="en-GB" b="0" i="0" u="none" strike="noStrike" dirty="0">
                <a:solidFill>
                  <a:srgbClr val="000000"/>
                </a:solidFill>
                <a:effectLst/>
              </a:rPr>
              <a:t> Initially introduced to improve RNN-based machine translation.</a:t>
            </a:r>
          </a:p>
          <a:p>
            <a:pPr marL="285750" indent="-285750" algn="l">
              <a:buFont typeface="Wingdings" pitchFamily="2" charset="2"/>
              <a:buChar char="Ø"/>
            </a:pPr>
            <a:r>
              <a:rPr lang="en-GB" b="1" i="0" u="none" strike="noStrike" dirty="0">
                <a:solidFill>
                  <a:srgbClr val="000000"/>
                </a:solidFill>
                <a:effectLst/>
              </a:rPr>
              <a:t>Integrated into CNNs:</a:t>
            </a:r>
            <a:r>
              <a:rPr lang="en-GB" b="0" i="0" u="none" strike="noStrike" dirty="0">
                <a:solidFill>
                  <a:srgbClr val="000000"/>
                </a:solidFill>
                <a:effectLst/>
              </a:rPr>
              <a:t> Later applied to tasks like image captioning and visual question answering.</a:t>
            </a:r>
          </a:p>
          <a:p>
            <a:pPr marL="285750" indent="-285750" algn="l">
              <a:buFont typeface="Wingdings" pitchFamily="2" charset="2"/>
              <a:buChar char="Ø"/>
            </a:pPr>
            <a:r>
              <a:rPr lang="en-GB" b="1" i="0" u="none" strike="noStrike" dirty="0">
                <a:solidFill>
                  <a:srgbClr val="000000"/>
                </a:solidFill>
                <a:effectLst/>
              </a:rPr>
              <a:t>Transformer Architecture:</a:t>
            </a:r>
            <a:r>
              <a:rPr lang="en-GB" b="0" i="0" u="none" strike="noStrike" dirty="0">
                <a:solidFill>
                  <a:srgbClr val="000000"/>
                </a:solidFill>
                <a:effectLst/>
              </a:rPr>
              <a:t> The "Attention is All You Need" paper introduced a novel architecture relying solely on attention, which has become foundational for modern generative AI.</a:t>
            </a:r>
          </a:p>
          <a:p>
            <a:pPr algn="l"/>
            <a:r>
              <a:rPr lang="en-GB" b="0" i="0" u="none" strike="noStrike" dirty="0">
                <a:solidFill>
                  <a:srgbClr val="000000"/>
                </a:solidFill>
                <a:effectLst/>
              </a:rPr>
              <a:t>In essence, attention mechanisms provide a powerful way for neural networks to dynamically focus on the most pertinent information within a sequence or across different modalities, leading to significant improvements in performance across a wide range of tasks. The rise of the Transformer architecture further solidified the central role of attention in modern deep learning.</a:t>
            </a:r>
          </a:p>
        </p:txBody>
      </p:sp>
    </p:spTree>
    <p:extLst>
      <p:ext uri="{BB962C8B-B14F-4D97-AF65-F5344CB8AC3E}">
        <p14:creationId xmlns:p14="http://schemas.microsoft.com/office/powerpoint/2010/main" val="3217804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74CC63C-31E8-C399-9967-0E46E8D47AD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51F97B8-9075-742F-454D-58A7C3F40EFA}"/>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Why attention mechanisms are so important ?</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8EC9DA3-F5EF-C4D8-E7D3-74AF032B4A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BD33E262-31FC-5F1E-6A4B-EB28DE5C7B6D}"/>
              </a:ext>
            </a:extLst>
          </p:cNvPr>
          <p:cNvSpPr txBox="1"/>
          <p:nvPr/>
        </p:nvSpPr>
        <p:spPr>
          <a:xfrm>
            <a:off x="477012" y="504438"/>
            <a:ext cx="7179564" cy="4185761"/>
          </a:xfrm>
          <a:prstGeom prst="rect">
            <a:avLst/>
          </a:prstGeom>
          <a:noFill/>
        </p:spPr>
        <p:txBody>
          <a:bodyPr wrap="square">
            <a:spAutoFit/>
          </a:bodyPr>
          <a:lstStyle/>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State-of-the-Art Performance:</a:t>
            </a:r>
            <a:r>
              <a:rPr lang="en-GB" b="0" i="0" u="none" strike="noStrike" dirty="0">
                <a:solidFill>
                  <a:srgbClr val="000000"/>
                </a:solidFill>
                <a:effectLst/>
              </a:rPr>
              <a:t> Attention mechanisms have been instrumental in achieving top-tier results across a vast spectrum of deep learning tasks. Their effectiveness has been demonstrated in virtually every subdomain.</a:t>
            </a:r>
          </a:p>
          <a:p>
            <a:pPr marL="342900" indent="-342900" algn="l">
              <a:buFont typeface="+mj-lt"/>
              <a:buAutoNum type="arabicPeriod"/>
            </a:pPr>
            <a:r>
              <a:rPr lang="en-GB" b="1" i="0" u="none" strike="noStrike" dirty="0">
                <a:solidFill>
                  <a:srgbClr val="000000"/>
                </a:solidFill>
                <a:effectLst/>
              </a:rPr>
              <a:t>Overcoming RNN Serial Processing (Flexibility over Time):</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Traditional RNNs process sequences step-by-step, making it challenging to capture long-range dependencies where relevant information is separated by many time steps.</a:t>
            </a:r>
          </a:p>
          <a:p>
            <a:pPr marL="800100" lvl="1" indent="-342900" algn="l">
              <a:buFont typeface="+mj-lt"/>
              <a:buAutoNum type="alphaLcPeriod"/>
            </a:pPr>
            <a:r>
              <a:rPr lang="en-GB" b="0" i="0" u="none" strike="noStrike" dirty="0">
                <a:solidFill>
                  <a:srgbClr val="000000"/>
                </a:solidFill>
                <a:effectLst/>
              </a:rPr>
              <a:t>Attention mechanisms can process the entire sequence </a:t>
            </a:r>
            <a:r>
              <a:rPr lang="en-GB" b="1" i="0" u="none" strike="noStrike" dirty="0">
                <a:solidFill>
                  <a:srgbClr val="000000"/>
                </a:solidFill>
                <a:effectLst/>
              </a:rPr>
              <a:t>simultaneously</a:t>
            </a:r>
            <a:r>
              <a:rPr lang="en-GB" b="0" i="0" u="none" strike="noStrike" dirty="0">
                <a:solidFill>
                  <a:srgbClr val="000000"/>
                </a:solidFill>
                <a:effectLst/>
              </a:rPr>
              <a:t>, allowing the model to directly assess relationships between distant elements and decide which parts to focus on, regardless of their sequential order.</a:t>
            </a:r>
          </a:p>
          <a:p>
            <a:pPr marL="342900" indent="-342900" algn="l">
              <a:buFont typeface="+mj-lt"/>
              <a:buAutoNum type="arabicPeriod"/>
            </a:pPr>
            <a:r>
              <a:rPr lang="en-GB" b="1" i="0" u="none" strike="noStrike" dirty="0">
                <a:solidFill>
                  <a:srgbClr val="000000"/>
                </a:solidFill>
                <a:effectLst/>
              </a:rPr>
              <a:t>Addressing CNN Locality (Flexibility over Space):</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CNNs, with their convolutional operations, process local regions of the input, struggling to capture long-range dependencies in spatial data like text or images where relevant parts might be far apart.</a:t>
            </a:r>
          </a:p>
          <a:p>
            <a:pPr marL="800100" lvl="1" indent="-342900" algn="l">
              <a:buFont typeface="+mj-lt"/>
              <a:buAutoNum type="alphaLcPeriod"/>
            </a:pPr>
            <a:r>
              <a:rPr lang="en-GB" b="0" i="0" u="none" strike="noStrike" dirty="0">
                <a:solidFill>
                  <a:srgbClr val="000000"/>
                </a:solidFill>
                <a:effectLst/>
              </a:rPr>
              <a:t>Attention mechanisms don't have this locality constraint. They can directly compute relationships between any two positions in the input, regardless of their spatial or sequential distance.</a:t>
            </a:r>
            <a:br>
              <a:rPr lang="en-GB" dirty="0">
                <a:latin typeface="+mj-lt"/>
              </a:rPr>
            </a:br>
            <a:endParaRPr lang="en-US" dirty="0">
              <a:latin typeface="+mj-lt"/>
            </a:endParaRPr>
          </a:p>
        </p:txBody>
      </p:sp>
    </p:spTree>
    <p:extLst>
      <p:ext uri="{BB962C8B-B14F-4D97-AF65-F5344CB8AC3E}">
        <p14:creationId xmlns:p14="http://schemas.microsoft.com/office/powerpoint/2010/main" val="2793189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E214A4C-24CD-35AA-B93F-3C84561E3DF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C480D74-7AF5-06FC-D5FA-44E65D8A33BD}"/>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Why attention mechanisms are so important ?</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7194AAE-DAF3-8EE5-F84D-9E0F5F56A8D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1707214F-370D-AF62-BF8C-16BB79E5FC5D}"/>
              </a:ext>
            </a:extLst>
          </p:cNvPr>
          <p:cNvSpPr txBox="1"/>
          <p:nvPr/>
        </p:nvSpPr>
        <p:spPr>
          <a:xfrm>
            <a:off x="414528" y="1004310"/>
            <a:ext cx="7370064" cy="4278094"/>
          </a:xfrm>
          <a:prstGeom prst="rect">
            <a:avLst/>
          </a:prstGeom>
          <a:noFill/>
        </p:spPr>
        <p:txBody>
          <a:bodyPr wrap="square">
            <a:spAutoFit/>
          </a:bodyPr>
          <a:lstStyle/>
          <a:p>
            <a:pPr algn="l"/>
            <a:r>
              <a:rPr lang="en-GB" sz="1600" dirty="0"/>
              <a:t>4.</a:t>
            </a:r>
            <a:r>
              <a:rPr lang="en-GB" sz="1600" b="1" i="0" u="none" strike="noStrike" dirty="0">
                <a:solidFill>
                  <a:srgbClr val="000000"/>
                </a:solidFill>
                <a:effectLst/>
              </a:rPr>
              <a:t>Enabling Parallelization:</a:t>
            </a:r>
            <a:endParaRPr lang="en-GB" sz="1600" b="0" i="0" u="none" strike="noStrike" dirty="0">
              <a:solidFill>
                <a:srgbClr val="000000"/>
              </a:solidFill>
              <a:effectLst/>
            </a:endParaRPr>
          </a:p>
          <a:p>
            <a:pPr marL="800100" lvl="1" indent="-342900" algn="l">
              <a:buFont typeface="+mj-lt"/>
              <a:buAutoNum type="alphaLcPeriod"/>
            </a:pPr>
            <a:r>
              <a:rPr lang="en-GB" sz="1600" b="0" i="0" u="none" strike="noStrike" dirty="0">
                <a:solidFill>
                  <a:srgbClr val="000000"/>
                </a:solidFill>
                <a:effectLst/>
              </a:rPr>
              <a:t>The inherent design of attention mechanisms allows for many computations to be performed in parallel, rather than sequentially.</a:t>
            </a:r>
          </a:p>
          <a:p>
            <a:pPr marL="800100" lvl="1" indent="-342900" algn="l">
              <a:buFont typeface="+mj-lt"/>
              <a:buAutoNum type="alphaLcPeriod"/>
            </a:pPr>
            <a:r>
              <a:rPr lang="en-GB" sz="1600" b="0" i="0" u="none" strike="noStrike" dirty="0">
                <a:solidFill>
                  <a:srgbClr val="000000"/>
                </a:solidFill>
                <a:effectLst/>
              </a:rPr>
              <a:t>This parallel nature makes them highly amenable to acceleration using GPUs, significantly speeding up training and inference times compared to the sequential processing of RNNs.</a:t>
            </a:r>
          </a:p>
          <a:p>
            <a:pPr marL="457200" lvl="1" algn="l"/>
            <a:endParaRPr lang="en-GB" sz="1600" b="0" i="0" u="none" strike="noStrike" dirty="0">
              <a:solidFill>
                <a:srgbClr val="000000"/>
              </a:solidFill>
              <a:effectLst/>
            </a:endParaRPr>
          </a:p>
          <a:p>
            <a:pPr algn="l"/>
            <a:r>
              <a:rPr lang="en-GB" sz="1600" b="0" i="0" u="none" strike="noStrike" dirty="0">
                <a:solidFill>
                  <a:srgbClr val="000000"/>
                </a:solidFill>
                <a:effectLst/>
              </a:rPr>
              <a:t>In essence, attention mechanisms provide neural networks with a more flexible and efficient way to process sequential and spatial data by allowing them to selectively focus on the most relevant information, regardless of its position, and to do so in a highly parallelizable manner. These advantages were key to the success of Transformer models and the subsequent revolution in generative AI. The initial motivation to improve RNN-based sequence-to-sequence models for machine translation underscores their fundamental importance in handling complex sequential relationships.</a:t>
            </a:r>
          </a:p>
          <a:p>
            <a:br>
              <a:rPr lang="en-GB" sz="1600" dirty="0">
                <a:latin typeface="+mj-lt"/>
              </a:rPr>
            </a:br>
            <a:endParaRPr lang="en-US" sz="1600" dirty="0">
              <a:latin typeface="+mj-lt"/>
            </a:endParaRPr>
          </a:p>
        </p:txBody>
      </p:sp>
    </p:spTree>
    <p:extLst>
      <p:ext uri="{BB962C8B-B14F-4D97-AF65-F5344CB8AC3E}">
        <p14:creationId xmlns:p14="http://schemas.microsoft.com/office/powerpoint/2010/main" val="1220704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70DBE88-D4BC-816D-6585-56C89639C6F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9964592-9512-66DD-152E-61CD77A05643}"/>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How attention mechanisms works. </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0834469-7E80-0D03-8153-BE18B8504BA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90B4CF16-95BE-DBFE-CE8C-8F710AB4DC1C}"/>
              </a:ext>
            </a:extLst>
          </p:cNvPr>
          <p:cNvSpPr txBox="1"/>
          <p:nvPr/>
        </p:nvSpPr>
        <p:spPr>
          <a:xfrm>
            <a:off x="336804" y="467862"/>
            <a:ext cx="7179564" cy="3570208"/>
          </a:xfrm>
          <a:prstGeom prst="rect">
            <a:avLst/>
          </a:prstGeom>
          <a:noFill/>
        </p:spPr>
        <p:txBody>
          <a:bodyPr wrap="square">
            <a:spAutoFit/>
          </a:bodyPr>
          <a:lstStyle/>
          <a:p>
            <a:pPr algn="l">
              <a:buNone/>
            </a:pPr>
            <a:endParaRPr lang="en-GB" b="0" i="0" u="none" strike="noStrike" dirty="0">
              <a:solidFill>
                <a:srgbClr val="000000"/>
              </a:solidFill>
              <a:effectLst/>
            </a:endParaRPr>
          </a:p>
          <a:p>
            <a:pPr algn="l">
              <a:buFont typeface="+mj-lt"/>
              <a:buAutoNum type="arabicPeriod"/>
            </a:pPr>
            <a:r>
              <a:rPr lang="en-GB" b="1" i="0" u="none" strike="noStrike" dirty="0">
                <a:solidFill>
                  <a:srgbClr val="000000"/>
                </a:solidFill>
                <a:effectLst/>
              </a:rPr>
              <a:t>Embedding Input Sequences:</a:t>
            </a:r>
            <a:r>
              <a:rPr lang="en-GB" b="0" i="0" u="none" strike="noStrike" dirty="0">
                <a:solidFill>
                  <a:srgbClr val="000000"/>
                </a:solidFill>
                <a:effectLst/>
              </a:rPr>
              <a:t> The initial step involves transforming the raw input data (e.g., words in a sentence, pixels in an image) into </a:t>
            </a:r>
            <a:r>
              <a:rPr lang="en-GB" b="1" i="0" u="none" strike="noStrike" dirty="0">
                <a:solidFill>
                  <a:srgbClr val="000000"/>
                </a:solidFill>
                <a:effectLst/>
              </a:rPr>
              <a:t>vector embeddings</a:t>
            </a:r>
            <a:r>
              <a:rPr lang="en-GB" b="0" i="0" u="none" strike="noStrike" dirty="0">
                <a:solidFill>
                  <a:srgbClr val="000000"/>
                </a:solidFill>
                <a:effectLst/>
              </a:rPr>
              <a:t>. Each element in the input sequence is represented by one or more feature vectors. This embedding process converts discrete input units into continuous, dense representations that capture semantic or other relevant information.   </a:t>
            </a:r>
          </a:p>
          <a:p>
            <a:pPr algn="l">
              <a:buFont typeface="+mj-lt"/>
              <a:buAutoNum type="arabicPeriod"/>
            </a:pPr>
            <a:r>
              <a:rPr lang="en-GB" b="1" i="0" u="none" strike="noStrike" dirty="0">
                <a:solidFill>
                  <a:srgbClr val="000000"/>
                </a:solidFill>
                <a:effectLst/>
              </a:rPr>
              <a:t>Calculating Attention Weights:</a:t>
            </a:r>
            <a:r>
              <a:rPr lang="en-GB" b="0" i="0" u="none" strike="noStrike" dirty="0">
                <a:solidFill>
                  <a:srgbClr val="000000"/>
                </a:solidFill>
                <a:effectLst/>
              </a:rPr>
              <a:t> This is the core of the attention mechanism. It involves two sub-steps:   </a:t>
            </a:r>
          </a:p>
          <a:p>
            <a:pPr marL="800100" lvl="1" indent="-342900" algn="l">
              <a:buFont typeface="+mj-lt"/>
              <a:buAutoNum type="alphaLcPeriod"/>
            </a:pPr>
            <a:r>
              <a:rPr lang="en-GB" b="1" i="0" u="none" strike="noStrike" dirty="0">
                <a:solidFill>
                  <a:srgbClr val="000000"/>
                </a:solidFill>
                <a:effectLst/>
              </a:rPr>
              <a:t>Determining Alignment Scores (Attention Scores):</a:t>
            </a:r>
            <a:r>
              <a:rPr lang="en-GB" b="0" i="0" u="none" strike="noStrike" dirty="0">
                <a:solidFill>
                  <a:srgbClr val="000000"/>
                </a:solidFill>
                <a:effectLst/>
              </a:rPr>
              <a:t> The mechanism calculates a score for each pair of elements in the input (or between the input and some context, depending on the specific type of attention).These scores quantify the </a:t>
            </a:r>
            <a:r>
              <a:rPr lang="en-GB" b="1" i="0" u="none" strike="noStrike" dirty="0">
                <a:solidFill>
                  <a:srgbClr val="000000"/>
                </a:solidFill>
                <a:effectLst/>
              </a:rPr>
              <a:t>similarity, correlation, or dependency</a:t>
            </a:r>
            <a:r>
              <a:rPr lang="en-GB" b="0" i="0" u="none" strike="noStrike" dirty="0">
                <a:solidFill>
                  <a:srgbClr val="000000"/>
                </a:solidFill>
                <a:effectLst/>
              </a:rPr>
              <a:t> between the vectors. Various functions can be used to compute these alignment scores (e.g., dot product, scaled dot product, concatenation followed by a linear layer).   </a:t>
            </a:r>
            <a:br>
              <a:rPr lang="en-GB" sz="1600" dirty="0">
                <a:latin typeface="+mj-lt"/>
              </a:rPr>
            </a:br>
            <a:endParaRPr lang="en-US" sz="1600" dirty="0">
              <a:latin typeface="+mj-lt"/>
            </a:endParaRPr>
          </a:p>
        </p:txBody>
      </p:sp>
    </p:spTree>
    <p:extLst>
      <p:ext uri="{BB962C8B-B14F-4D97-AF65-F5344CB8AC3E}">
        <p14:creationId xmlns:p14="http://schemas.microsoft.com/office/powerpoint/2010/main" val="3102581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ED2059B-5242-88AA-86A7-E1012DFAD2E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A57D6D6-F0DB-4C00-6AB8-F6FCA68A0C9A}"/>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How attention mechanisms works contd... </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47761BE-50DE-447B-5802-F6864C49D1A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02AE9B7C-4D02-21E5-60DF-3388BFB7F266}"/>
              </a:ext>
            </a:extLst>
          </p:cNvPr>
          <p:cNvSpPr txBox="1"/>
          <p:nvPr/>
        </p:nvSpPr>
        <p:spPr>
          <a:xfrm>
            <a:off x="336804" y="467862"/>
            <a:ext cx="7179564" cy="4462760"/>
          </a:xfrm>
          <a:prstGeom prst="rect">
            <a:avLst/>
          </a:prstGeom>
          <a:noFill/>
        </p:spPr>
        <p:txBody>
          <a:bodyPr wrap="square">
            <a:spAutoFit/>
          </a:bodyPr>
          <a:lstStyle/>
          <a:p>
            <a:pPr algn="l">
              <a:buNone/>
            </a:pPr>
            <a:r>
              <a:rPr lang="en-GB" b="0" i="0" u="none" strike="noStrike" dirty="0">
                <a:solidFill>
                  <a:srgbClr val="000000"/>
                </a:solidFill>
                <a:effectLst/>
              </a:rPr>
              <a:t>  </a:t>
            </a:r>
          </a:p>
          <a:p>
            <a:pPr marL="800100" lvl="1" indent="-342900" algn="l">
              <a:buFont typeface="+mj-lt"/>
              <a:buAutoNum type="alphaLcPeriod" startAt="2"/>
            </a:pPr>
            <a:r>
              <a:rPr lang="en-GB" b="1" i="0" u="none" strike="noStrike" dirty="0">
                <a:solidFill>
                  <a:srgbClr val="000000"/>
                </a:solidFill>
                <a:effectLst/>
              </a:rPr>
              <a:t>Computing Attention Weights via </a:t>
            </a:r>
            <a:r>
              <a:rPr lang="en-GB" b="1" i="0" u="none" strike="noStrike" dirty="0" err="1">
                <a:solidFill>
                  <a:srgbClr val="000000"/>
                </a:solidFill>
                <a:effectLst/>
              </a:rPr>
              <a:t>Softmax</a:t>
            </a:r>
            <a:r>
              <a:rPr lang="en-GB" b="1" i="0" u="none" strike="noStrike" dirty="0">
                <a:solidFill>
                  <a:srgbClr val="000000"/>
                </a:solidFill>
                <a:effectLst/>
              </a:rPr>
              <a:t>:</a:t>
            </a:r>
            <a:r>
              <a:rPr lang="en-GB" b="0" i="0" u="none" strike="noStrike" dirty="0">
                <a:solidFill>
                  <a:srgbClr val="000000"/>
                </a:solidFill>
                <a:effectLst/>
              </a:rPr>
              <a:t> The calculated alignment scores are then normalized using a </a:t>
            </a:r>
            <a:r>
              <a:rPr lang="en-GB" b="1" i="0" u="none" strike="noStrike" dirty="0" err="1">
                <a:solidFill>
                  <a:srgbClr val="000000"/>
                </a:solidFill>
                <a:effectLst/>
              </a:rPr>
              <a:t>softmax</a:t>
            </a:r>
            <a:r>
              <a:rPr lang="en-GB" b="1" i="0" u="none" strike="noStrike" dirty="0">
                <a:solidFill>
                  <a:srgbClr val="000000"/>
                </a:solidFill>
                <a:effectLst/>
              </a:rPr>
              <a:t> function</a:t>
            </a:r>
            <a:r>
              <a:rPr lang="en-GB" b="0" i="0" u="none" strike="noStrike" dirty="0">
                <a:solidFill>
                  <a:srgbClr val="000000"/>
                </a:solidFill>
                <a:effectLst/>
              </a:rPr>
              <a:t>. This function converts the scores into a </a:t>
            </a:r>
            <a:r>
              <a:rPr lang="en-GB" b="1" i="0" u="none" strike="noStrike" dirty="0">
                <a:solidFill>
                  <a:srgbClr val="000000"/>
                </a:solidFill>
                <a:effectLst/>
              </a:rPr>
              <a:t>probability distribution</a:t>
            </a:r>
            <a:r>
              <a:rPr lang="en-GB" b="0" i="0" u="none" strike="noStrike" dirty="0">
                <a:solidFill>
                  <a:srgbClr val="000000"/>
                </a:solidFill>
                <a:effectLst/>
              </a:rPr>
              <a:t> over the input </a:t>
            </a:r>
            <a:r>
              <a:rPr lang="en-GB" b="0" i="0" u="none" strike="noStrike" dirty="0" err="1">
                <a:solidFill>
                  <a:srgbClr val="000000"/>
                </a:solidFill>
                <a:effectLst/>
              </a:rPr>
              <a:t>elements.The</a:t>
            </a:r>
            <a:r>
              <a:rPr lang="en-GB" b="0" i="0" u="none" strike="noStrike" dirty="0">
                <a:solidFill>
                  <a:srgbClr val="000000"/>
                </a:solidFill>
                <a:effectLst/>
              </a:rPr>
              <a:t> resulting </a:t>
            </a:r>
            <a:r>
              <a:rPr lang="en-GB" b="1" i="0" u="none" strike="noStrike" dirty="0">
                <a:solidFill>
                  <a:srgbClr val="000000"/>
                </a:solidFill>
                <a:effectLst/>
              </a:rPr>
              <a:t>attention weights</a:t>
            </a:r>
            <a:r>
              <a:rPr lang="en-GB" b="0" i="0" u="none" strike="noStrike" dirty="0">
                <a:solidFill>
                  <a:srgbClr val="000000"/>
                </a:solidFill>
                <a:effectLst/>
              </a:rPr>
              <a:t> are values between 0 and 1, and they sum up to 1. A higher weight indicates greater importance, while a weight close to 0 suggests the element is less relevant for the current context.   </a:t>
            </a:r>
          </a:p>
          <a:p>
            <a:pPr marL="342900" indent="-342900" algn="l">
              <a:buFont typeface="+mj-lt"/>
              <a:buAutoNum type="arabicPeriod" startAt="3"/>
            </a:pPr>
            <a:r>
              <a:rPr lang="en-GB" b="1" i="0" u="none" strike="noStrike" dirty="0">
                <a:solidFill>
                  <a:srgbClr val="000000"/>
                </a:solidFill>
                <a:effectLst/>
              </a:rPr>
              <a:t>Applying Attention Weights:</a:t>
            </a:r>
            <a:r>
              <a:rPr lang="en-GB" b="0" i="0" u="none" strike="noStrike" dirty="0">
                <a:solidFill>
                  <a:srgbClr val="000000"/>
                </a:solidFill>
                <a:effectLst/>
              </a:rPr>
              <a:t> Finally, the computed attention weights are used to influence the model's processing of the input. This is typically done by taking a </a:t>
            </a:r>
            <a:r>
              <a:rPr lang="en-GB" b="1" i="0" u="none" strike="noStrike" dirty="0">
                <a:solidFill>
                  <a:srgbClr val="000000"/>
                </a:solidFill>
                <a:effectLst/>
              </a:rPr>
              <a:t>weighted sum</a:t>
            </a:r>
            <a:r>
              <a:rPr lang="en-GB" b="0" i="0" u="none" strike="noStrike" dirty="0">
                <a:solidFill>
                  <a:srgbClr val="000000"/>
                </a:solidFill>
                <a:effectLst/>
              </a:rPr>
              <a:t> of the input embeddings (or some transformed version of them). The attention weights determine the contribution of each input element to this weighted sum. Elements with higher attention weights have a greater impact on the output, effectively allowing the model to "attend to" the most important parts of the input and "disregard" the less important ones.</a:t>
            </a:r>
          </a:p>
          <a:p>
            <a:pPr algn="l"/>
            <a:r>
              <a:rPr lang="en-GB" b="0" i="0" u="none" strike="noStrike" dirty="0">
                <a:solidFill>
                  <a:srgbClr val="000000"/>
                </a:solidFill>
                <a:effectLst/>
              </a:rPr>
              <a:t>In essence, attention mechanisms enable models to dynamically learn which parts of the input are most relevant for a given task by learning to assign appropriate weights. This selective focus is what makes them so powerful for handling complex relationships in sequential and other types of data.</a:t>
            </a:r>
          </a:p>
          <a:p>
            <a:br>
              <a:rPr lang="en-GB" sz="1600" dirty="0">
                <a:latin typeface="+mj-lt"/>
              </a:rPr>
            </a:br>
            <a:endParaRPr lang="en-US" sz="1600" dirty="0">
              <a:latin typeface="+mj-lt"/>
            </a:endParaRPr>
          </a:p>
        </p:txBody>
      </p:sp>
    </p:spTree>
    <p:extLst>
      <p:ext uri="{BB962C8B-B14F-4D97-AF65-F5344CB8AC3E}">
        <p14:creationId xmlns:p14="http://schemas.microsoft.com/office/powerpoint/2010/main" val="3962625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FC3D4D0-9F47-EB35-1F6C-FB04CBE01F2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B041862-3F40-5FA9-2C1E-A9D83DB61A84}"/>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rPr>
              <a:t>How attention mechanisms works contd... </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5B23658-5D2A-6053-C61D-703AA0AF191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6CC00B18-844A-31A5-8F81-78D686ED9FCE}"/>
              </a:ext>
            </a:extLst>
          </p:cNvPr>
          <p:cNvSpPr txBox="1"/>
          <p:nvPr/>
        </p:nvSpPr>
        <p:spPr>
          <a:xfrm>
            <a:off x="336804" y="467862"/>
            <a:ext cx="7179564" cy="4462760"/>
          </a:xfrm>
          <a:prstGeom prst="rect">
            <a:avLst/>
          </a:prstGeom>
          <a:noFill/>
        </p:spPr>
        <p:txBody>
          <a:bodyPr wrap="square">
            <a:spAutoFit/>
          </a:bodyPr>
          <a:lstStyle/>
          <a:p>
            <a:pPr algn="l">
              <a:buNone/>
            </a:pPr>
            <a:r>
              <a:rPr lang="en-GB" b="0" i="0" u="none" strike="noStrike" dirty="0">
                <a:solidFill>
                  <a:srgbClr val="000000"/>
                </a:solidFill>
                <a:effectLst/>
              </a:rPr>
              <a:t>  </a:t>
            </a:r>
          </a:p>
          <a:p>
            <a:pPr marL="800100" lvl="1" indent="-342900" algn="l">
              <a:buFont typeface="+mj-lt"/>
              <a:buAutoNum type="alphaLcPeriod" startAt="2"/>
            </a:pPr>
            <a:r>
              <a:rPr lang="en-GB" b="1" i="0" u="none" strike="noStrike" dirty="0">
                <a:solidFill>
                  <a:srgbClr val="000000"/>
                </a:solidFill>
                <a:effectLst/>
              </a:rPr>
              <a:t>Computing Attention Weights via </a:t>
            </a:r>
            <a:r>
              <a:rPr lang="en-GB" b="1" i="0" u="none" strike="noStrike" dirty="0" err="1">
                <a:solidFill>
                  <a:srgbClr val="000000"/>
                </a:solidFill>
                <a:effectLst/>
              </a:rPr>
              <a:t>Softmax</a:t>
            </a:r>
            <a:r>
              <a:rPr lang="en-GB" b="1" i="0" u="none" strike="noStrike" dirty="0">
                <a:solidFill>
                  <a:srgbClr val="000000"/>
                </a:solidFill>
                <a:effectLst/>
              </a:rPr>
              <a:t>:</a:t>
            </a:r>
            <a:r>
              <a:rPr lang="en-GB" b="0" i="0" u="none" strike="noStrike" dirty="0">
                <a:solidFill>
                  <a:srgbClr val="000000"/>
                </a:solidFill>
                <a:effectLst/>
              </a:rPr>
              <a:t> The calculated alignment scores are then normalized using a </a:t>
            </a:r>
            <a:r>
              <a:rPr lang="en-GB" b="1" i="0" u="none" strike="noStrike" dirty="0" err="1">
                <a:solidFill>
                  <a:srgbClr val="000000"/>
                </a:solidFill>
                <a:effectLst/>
              </a:rPr>
              <a:t>softmax</a:t>
            </a:r>
            <a:r>
              <a:rPr lang="en-GB" b="1" i="0" u="none" strike="noStrike" dirty="0">
                <a:solidFill>
                  <a:srgbClr val="000000"/>
                </a:solidFill>
                <a:effectLst/>
              </a:rPr>
              <a:t> function</a:t>
            </a:r>
            <a:r>
              <a:rPr lang="en-GB" b="0" i="0" u="none" strike="noStrike" dirty="0">
                <a:solidFill>
                  <a:srgbClr val="000000"/>
                </a:solidFill>
                <a:effectLst/>
              </a:rPr>
              <a:t>. This function converts the scores into a </a:t>
            </a:r>
            <a:r>
              <a:rPr lang="en-GB" b="1" i="0" u="none" strike="noStrike" dirty="0">
                <a:solidFill>
                  <a:srgbClr val="000000"/>
                </a:solidFill>
                <a:effectLst/>
              </a:rPr>
              <a:t>probability distribution</a:t>
            </a:r>
            <a:r>
              <a:rPr lang="en-GB" b="0" i="0" u="none" strike="noStrike" dirty="0">
                <a:solidFill>
                  <a:srgbClr val="000000"/>
                </a:solidFill>
                <a:effectLst/>
              </a:rPr>
              <a:t> over the input </a:t>
            </a:r>
            <a:r>
              <a:rPr lang="en-GB" b="0" i="0" u="none" strike="noStrike" dirty="0" err="1">
                <a:solidFill>
                  <a:srgbClr val="000000"/>
                </a:solidFill>
                <a:effectLst/>
              </a:rPr>
              <a:t>elements.The</a:t>
            </a:r>
            <a:r>
              <a:rPr lang="en-GB" b="0" i="0" u="none" strike="noStrike" dirty="0">
                <a:solidFill>
                  <a:srgbClr val="000000"/>
                </a:solidFill>
                <a:effectLst/>
              </a:rPr>
              <a:t> resulting </a:t>
            </a:r>
            <a:r>
              <a:rPr lang="en-GB" b="1" i="0" u="none" strike="noStrike" dirty="0">
                <a:solidFill>
                  <a:srgbClr val="000000"/>
                </a:solidFill>
                <a:effectLst/>
              </a:rPr>
              <a:t>attention weights</a:t>
            </a:r>
            <a:r>
              <a:rPr lang="en-GB" b="0" i="0" u="none" strike="noStrike" dirty="0">
                <a:solidFill>
                  <a:srgbClr val="000000"/>
                </a:solidFill>
                <a:effectLst/>
              </a:rPr>
              <a:t> are values between 0 and 1, and they sum up to 1. A higher weight indicates greater importance, while a weight close to 0 suggests the element is less relevant for the current context.   </a:t>
            </a:r>
          </a:p>
          <a:p>
            <a:pPr marL="342900" indent="-342900" algn="l">
              <a:buFont typeface="+mj-lt"/>
              <a:buAutoNum type="arabicPeriod" startAt="3"/>
            </a:pPr>
            <a:r>
              <a:rPr lang="en-GB" b="1" i="0" u="none" strike="noStrike" dirty="0">
                <a:solidFill>
                  <a:srgbClr val="000000"/>
                </a:solidFill>
                <a:effectLst/>
              </a:rPr>
              <a:t>Applying Attention Weights:</a:t>
            </a:r>
            <a:r>
              <a:rPr lang="en-GB" b="0" i="0" u="none" strike="noStrike" dirty="0">
                <a:solidFill>
                  <a:srgbClr val="000000"/>
                </a:solidFill>
                <a:effectLst/>
              </a:rPr>
              <a:t> Finally, the computed attention weights are used to influence the model's processing of the input. This is typically done by taking a </a:t>
            </a:r>
            <a:r>
              <a:rPr lang="en-GB" b="1" i="0" u="none" strike="noStrike" dirty="0">
                <a:solidFill>
                  <a:srgbClr val="000000"/>
                </a:solidFill>
                <a:effectLst/>
              </a:rPr>
              <a:t>weighted sum</a:t>
            </a:r>
            <a:r>
              <a:rPr lang="en-GB" b="0" i="0" u="none" strike="noStrike" dirty="0">
                <a:solidFill>
                  <a:srgbClr val="000000"/>
                </a:solidFill>
                <a:effectLst/>
              </a:rPr>
              <a:t> of the input embeddings (or some transformed version of them). The attention weights determine the contribution of each input element to this weighted sum. Elements with higher attention weights have a greater impact on the output, effectively allowing the model to "attend to" the most important parts of the input and "disregard" the less important ones.</a:t>
            </a:r>
          </a:p>
          <a:p>
            <a:pPr algn="l"/>
            <a:r>
              <a:rPr lang="en-GB" b="0" i="0" u="none" strike="noStrike" dirty="0">
                <a:solidFill>
                  <a:srgbClr val="000000"/>
                </a:solidFill>
                <a:effectLst/>
              </a:rPr>
              <a:t>In essence, attention mechanisms enable models to dynamically learn which parts of the input are most relevant for a given task by learning to assign appropriate weights. This selective focus is what makes them so powerful for handling complex relationships in sequential and other types of data.</a:t>
            </a:r>
          </a:p>
          <a:p>
            <a:br>
              <a:rPr lang="en-GB" sz="1600" dirty="0">
                <a:latin typeface="+mj-lt"/>
              </a:rPr>
            </a:br>
            <a:endParaRPr lang="en-US" sz="1600" dirty="0">
              <a:latin typeface="+mj-lt"/>
            </a:endParaRPr>
          </a:p>
        </p:txBody>
      </p:sp>
    </p:spTree>
    <p:extLst>
      <p:ext uri="{BB962C8B-B14F-4D97-AF65-F5344CB8AC3E}">
        <p14:creationId xmlns:p14="http://schemas.microsoft.com/office/powerpoint/2010/main" val="94105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4BD1299-F0A0-9924-D44C-5309D59E955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A941543-FB6B-DCE7-0903-55B17AC004C0}"/>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webkit-standard"/>
              </a:rPr>
              <a:t>Q</a:t>
            </a:r>
            <a:r>
              <a:rPr lang="en-GB" sz="2400" i="0" u="none" strike="noStrike" dirty="0">
                <a:solidFill>
                  <a:srgbClr val="7030A0"/>
                </a:solidFill>
                <a:effectLst/>
                <a:latin typeface="-webkit-standard"/>
              </a:rPr>
              <a:t>uery, Keys, and Values</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B6E3EFC-9081-CDFA-905B-36A17635177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ECBCAC0D-90CD-8F34-7037-5F98D1A70501}"/>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245E45A0-0D19-707F-FB73-2E4F590F7BF5}"/>
              </a:ext>
            </a:extLst>
          </p:cNvPr>
          <p:cNvSpPr txBox="1"/>
          <p:nvPr/>
        </p:nvSpPr>
        <p:spPr>
          <a:xfrm>
            <a:off x="379476" y="400014"/>
            <a:ext cx="6862572" cy="3970318"/>
          </a:xfrm>
          <a:prstGeom prst="rect">
            <a:avLst/>
          </a:prstGeom>
          <a:noFill/>
        </p:spPr>
        <p:txBody>
          <a:bodyPr wrap="square">
            <a:spAutoFit/>
          </a:bodyPr>
          <a:lstStyle/>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Relational Database Analogy:</a:t>
            </a:r>
            <a:r>
              <a:rPr lang="en-GB" b="0" i="0" u="none" strike="noStrike" dirty="0">
                <a:solidFill>
                  <a:srgbClr val="000000"/>
                </a:solidFill>
                <a:effectLst/>
              </a:rPr>
              <a:t> The paper draws a parallel to how databases store and retrieve information using unique </a:t>
            </a:r>
            <a:r>
              <a:rPr lang="en-GB" b="1" i="0" u="none" strike="noStrike" dirty="0">
                <a:solidFill>
                  <a:srgbClr val="000000"/>
                </a:solidFill>
                <a:effectLst/>
              </a:rPr>
              <a:t>keys</a:t>
            </a:r>
            <a:r>
              <a:rPr lang="en-GB" b="0" i="0" u="none" strike="noStrike" dirty="0">
                <a:solidFill>
                  <a:srgbClr val="000000"/>
                </a:solidFill>
                <a:effectLst/>
              </a:rPr>
              <a:t> associated with </a:t>
            </a:r>
            <a:r>
              <a:rPr lang="en-GB" b="1" i="0" u="none" strike="noStrike" dirty="0">
                <a:solidFill>
                  <a:srgbClr val="000000"/>
                </a:solidFill>
                <a:effectLst/>
              </a:rPr>
              <a:t>values</a:t>
            </a:r>
            <a:r>
              <a:rPr lang="en-GB" b="0" i="0" u="none" strike="noStrike" dirty="0">
                <a:solidFill>
                  <a:srgbClr val="000000"/>
                </a:solidFill>
                <a:effectLst/>
              </a:rPr>
              <a:t>. The model's "database" in NLP can be thought of as the learned vocabulary.</a:t>
            </a:r>
          </a:p>
          <a:p>
            <a:pPr marL="342900" indent="-342900" algn="l">
              <a:buFont typeface="+mj-lt"/>
              <a:buAutoNum type="arabicPeriod"/>
            </a:pPr>
            <a:r>
              <a:rPr lang="en-GB" b="1" i="0" u="none" strike="noStrike" dirty="0">
                <a:solidFill>
                  <a:srgbClr val="000000"/>
                </a:solidFill>
                <a:effectLst/>
              </a:rPr>
              <a:t>Query Vector:</a:t>
            </a:r>
            <a:r>
              <a:rPr lang="en-GB" b="0" i="0" u="none" strike="noStrike" dirty="0">
                <a:solidFill>
                  <a:srgbClr val="000000"/>
                </a:solidFill>
                <a:effectLst/>
              </a:rPr>
              <a:t> Represents what a specific token in the input sequence is "looking for" or its information needs in relation to other tokens. It's like a question being asked to the "database."</a:t>
            </a:r>
          </a:p>
          <a:p>
            <a:pPr marL="342900" indent="-342900" algn="l">
              <a:buFont typeface="+mj-lt"/>
              <a:buAutoNum type="arabicPeriod"/>
            </a:pPr>
            <a:r>
              <a:rPr lang="en-GB" b="1" i="0" u="none" strike="noStrike" dirty="0">
                <a:solidFill>
                  <a:srgbClr val="000000"/>
                </a:solidFill>
                <a:effectLst/>
              </a:rPr>
              <a:t>Key Vectors:</a:t>
            </a:r>
            <a:r>
              <a:rPr lang="en-GB" b="0" i="0" u="none" strike="noStrike" dirty="0">
                <a:solidFill>
                  <a:srgbClr val="000000"/>
                </a:solidFill>
                <a:effectLst/>
              </a:rPr>
              <a:t> Represent the information content of each token in the input sequence. They act like the unique identifiers or "keys" in the database, indicating what information each token "offers."</a:t>
            </a:r>
          </a:p>
          <a:p>
            <a:pPr marL="342900" indent="-342900" algn="l">
              <a:buFont typeface="+mj-lt"/>
              <a:buAutoNum type="arabicPeriod"/>
            </a:pPr>
            <a:r>
              <a:rPr lang="en-GB" b="1" i="0" u="none" strike="noStrike" dirty="0">
                <a:solidFill>
                  <a:srgbClr val="000000"/>
                </a:solidFill>
                <a:effectLst/>
              </a:rPr>
              <a:t>Alignment (Query-Key):</a:t>
            </a:r>
            <a:r>
              <a:rPr lang="en-GB" b="0" i="0" u="none" strike="noStrike" dirty="0">
                <a:solidFill>
                  <a:srgbClr val="000000"/>
                </a:solidFill>
                <a:effectLst/>
              </a:rPr>
              <a:t> The attention mechanism calculates the similarity or "alignment" between the </a:t>
            </a:r>
            <a:r>
              <a:rPr lang="en-GB" b="1" i="0" u="none" strike="noStrike" dirty="0">
                <a:solidFill>
                  <a:srgbClr val="000000"/>
                </a:solidFill>
                <a:effectLst/>
              </a:rPr>
              <a:t>query vector</a:t>
            </a:r>
            <a:r>
              <a:rPr lang="en-GB" b="0" i="0" u="none" strike="noStrike" dirty="0">
                <a:solidFill>
                  <a:srgbClr val="000000"/>
                </a:solidFill>
                <a:effectLst/>
              </a:rPr>
              <a:t> of one token and the </a:t>
            </a:r>
            <a:r>
              <a:rPr lang="en-GB" b="1" i="0" u="none" strike="noStrike" dirty="0">
                <a:solidFill>
                  <a:srgbClr val="000000"/>
                </a:solidFill>
                <a:effectLst/>
              </a:rPr>
              <a:t>key vector</a:t>
            </a:r>
            <a:r>
              <a:rPr lang="en-GB" b="0" i="0" u="none" strike="noStrike" dirty="0">
                <a:solidFill>
                  <a:srgbClr val="000000"/>
                </a:solidFill>
                <a:effectLst/>
              </a:rPr>
              <a:t> of every other token (including itself) in the sequence. This alignment score determines how relevant each token's information (key) is to the current token's need (query).</a:t>
            </a:r>
          </a:p>
          <a:p>
            <a:pPr marL="342900" indent="-342900" algn="l">
              <a:buFont typeface="+mj-lt"/>
              <a:buAutoNum type="arabicPeriod"/>
            </a:pPr>
            <a:r>
              <a:rPr lang="en-GB" b="1" i="0" u="none" strike="noStrike" dirty="0">
                <a:solidFill>
                  <a:srgbClr val="000000"/>
                </a:solidFill>
                <a:effectLst/>
              </a:rPr>
              <a:t>Value Vectors:</a:t>
            </a:r>
            <a:r>
              <a:rPr lang="en-GB" b="0" i="0" u="none" strike="noStrike" dirty="0">
                <a:solidFill>
                  <a:srgbClr val="000000"/>
                </a:solidFill>
                <a:effectLst/>
              </a:rPr>
              <a:t> Each token also has a </a:t>
            </a:r>
            <a:r>
              <a:rPr lang="en-GB" b="1" i="0" u="none" strike="noStrike" dirty="0">
                <a:solidFill>
                  <a:srgbClr val="000000"/>
                </a:solidFill>
                <a:effectLst/>
              </a:rPr>
              <a:t>value vector</a:t>
            </a:r>
            <a:r>
              <a:rPr lang="en-GB" b="0" i="0" u="none" strike="noStrike" dirty="0">
                <a:solidFill>
                  <a:srgbClr val="000000"/>
                </a:solidFill>
                <a:effectLst/>
              </a:rPr>
              <a:t>, which contains the actual information to be retrieved. The attention weights (derived from the query-key alignment) are then applied to these </a:t>
            </a:r>
            <a:r>
              <a:rPr lang="en-GB" b="1" i="0" u="none" strike="noStrike" dirty="0">
                <a:solidFill>
                  <a:srgbClr val="000000"/>
                </a:solidFill>
                <a:effectLst/>
              </a:rPr>
              <a:t>value vectors</a:t>
            </a:r>
            <a:r>
              <a:rPr lang="en-GB" b="0" i="0" u="none" strike="noStrike" dirty="0">
                <a:solidFill>
                  <a:srgbClr val="000000"/>
                </a:solidFill>
                <a:effectLst/>
              </a:rPr>
              <a:t>.</a:t>
            </a:r>
          </a:p>
        </p:txBody>
      </p:sp>
    </p:spTree>
    <p:extLst>
      <p:ext uri="{BB962C8B-B14F-4D97-AF65-F5344CB8AC3E}">
        <p14:creationId xmlns:p14="http://schemas.microsoft.com/office/powerpoint/2010/main" val="23149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DAE68E2-5407-1466-F201-3BEEBC5AA4C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1BB3893-37AF-0F36-EEED-A0E7E69CC278}"/>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webkit-standard"/>
              </a:rPr>
              <a:t>Q</a:t>
            </a:r>
            <a:r>
              <a:rPr lang="en-GB" sz="2400" i="0" u="none" strike="noStrike" dirty="0">
                <a:solidFill>
                  <a:srgbClr val="7030A0"/>
                </a:solidFill>
                <a:effectLst/>
                <a:latin typeface="-webkit-standard"/>
              </a:rPr>
              <a:t>uery, Keys, and Values</a:t>
            </a: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B81A1869-8368-9F68-BCF1-6B1ABC9DF1A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ADEB30BD-E06E-C986-A059-E823A6A263BC}"/>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F3F4FF77-D364-B98A-2D61-BF36F8D79BBF}"/>
              </a:ext>
            </a:extLst>
          </p:cNvPr>
          <p:cNvSpPr txBox="1"/>
          <p:nvPr/>
        </p:nvSpPr>
        <p:spPr>
          <a:xfrm>
            <a:off x="336804" y="601182"/>
            <a:ext cx="7667244" cy="3754874"/>
          </a:xfrm>
          <a:prstGeom prst="rect">
            <a:avLst/>
          </a:prstGeom>
          <a:noFill/>
        </p:spPr>
        <p:txBody>
          <a:bodyPr wrap="square">
            <a:spAutoFit/>
          </a:bodyPr>
          <a:lstStyle/>
          <a:p>
            <a:pPr marL="342900" indent="-342900" algn="l">
              <a:buFont typeface="+mj-lt"/>
              <a:buAutoNum type="arabicPeriod" startAt="5"/>
            </a:pPr>
            <a:r>
              <a:rPr lang="en-GB" b="1" i="0" u="none" strike="noStrike" dirty="0">
                <a:solidFill>
                  <a:srgbClr val="000000"/>
                </a:solidFill>
                <a:effectLst/>
              </a:rPr>
              <a:t>Weighted Sum (Attention Output):</a:t>
            </a:r>
            <a:r>
              <a:rPr lang="en-GB" b="0" i="0" u="none" strike="noStrike" dirty="0">
                <a:solidFill>
                  <a:srgbClr val="000000"/>
                </a:solidFill>
                <a:effectLst/>
              </a:rPr>
              <a:t> Tokens whose </a:t>
            </a:r>
            <a:r>
              <a:rPr lang="en-GB" b="1" i="0" u="none" strike="noStrike" dirty="0">
                <a:solidFill>
                  <a:srgbClr val="000000"/>
                </a:solidFill>
                <a:effectLst/>
              </a:rPr>
              <a:t>key vectors</a:t>
            </a:r>
            <a:r>
              <a:rPr lang="en-GB" b="0" i="0" u="none" strike="noStrike" dirty="0">
                <a:solidFill>
                  <a:srgbClr val="000000"/>
                </a:solidFill>
                <a:effectLst/>
              </a:rPr>
              <a:t> have a high alignment with the current token's </a:t>
            </a:r>
            <a:r>
              <a:rPr lang="en-GB" b="1" i="0" u="none" strike="noStrike" dirty="0">
                <a:solidFill>
                  <a:srgbClr val="000000"/>
                </a:solidFill>
                <a:effectLst/>
              </a:rPr>
              <a:t>query vector</a:t>
            </a:r>
            <a:r>
              <a:rPr lang="en-GB" b="0" i="0" u="none" strike="noStrike" dirty="0">
                <a:solidFill>
                  <a:srgbClr val="000000"/>
                </a:solidFill>
                <a:effectLst/>
              </a:rPr>
              <a:t> will have higher attention weights. Consequently, their corresponding </a:t>
            </a:r>
            <a:r>
              <a:rPr lang="en-GB" b="1" i="0" u="none" strike="noStrike" dirty="0">
                <a:solidFill>
                  <a:srgbClr val="000000"/>
                </a:solidFill>
                <a:effectLst/>
              </a:rPr>
              <a:t>value vectors</a:t>
            </a:r>
            <a:r>
              <a:rPr lang="en-GB" b="0" i="0" u="none" strike="noStrike" dirty="0">
                <a:solidFill>
                  <a:srgbClr val="000000"/>
                </a:solidFill>
                <a:effectLst/>
              </a:rPr>
              <a:t> will contribute more significantly to the output for the current token. Tokens with low alignment will contribute less. This weighted sum of the value vectors is the output of the attention mechanism for that specific query token, representing the contextually enriched information.</a:t>
            </a:r>
          </a:p>
          <a:p>
            <a:pPr marL="342900" indent="-342900" algn="l">
              <a:buFont typeface="+mj-lt"/>
              <a:buAutoNum type="arabicPeriod" startAt="5"/>
            </a:pPr>
            <a:r>
              <a:rPr lang="en-GB" b="1" i="0" u="none" strike="noStrike" dirty="0">
                <a:solidFill>
                  <a:srgbClr val="000000"/>
                </a:solidFill>
                <a:effectLst/>
              </a:rPr>
              <a:t>Differentiation of Attention Variants:</a:t>
            </a:r>
            <a:r>
              <a:rPr lang="en-GB" b="0" i="0" u="none" strike="noStrike" dirty="0">
                <a:solidFill>
                  <a:srgbClr val="000000"/>
                </a:solidFill>
                <a:effectLst/>
              </a:rPr>
              <a:t> Various attention mechanisms differ primarily in:</a:t>
            </a:r>
          </a:p>
          <a:p>
            <a:pPr marL="800100" lvl="1" indent="-342900" algn="l">
              <a:buFont typeface="+mj-lt"/>
              <a:buAutoNum type="arabicPeriod"/>
            </a:pPr>
            <a:r>
              <a:rPr lang="en-GB" b="0" i="0" u="none" strike="noStrike" dirty="0">
                <a:solidFill>
                  <a:srgbClr val="000000"/>
                </a:solidFill>
                <a:effectLst/>
              </a:rPr>
              <a:t>How the </a:t>
            </a:r>
            <a:r>
              <a:rPr lang="en-GB" b="1" i="0" u="none" strike="noStrike" dirty="0">
                <a:solidFill>
                  <a:srgbClr val="000000"/>
                </a:solidFill>
                <a:effectLst/>
              </a:rPr>
              <a:t>query, key, and value vectors</a:t>
            </a:r>
            <a:r>
              <a:rPr lang="en-GB" b="0" i="0" u="none" strike="noStrike" dirty="0">
                <a:solidFill>
                  <a:srgbClr val="000000"/>
                </a:solidFill>
                <a:effectLst/>
              </a:rPr>
              <a:t> are derived (encoded) from the input.</a:t>
            </a:r>
          </a:p>
          <a:p>
            <a:pPr marL="800100" lvl="1" indent="-342900" algn="l">
              <a:buFont typeface="+mj-lt"/>
              <a:buAutoNum type="arabicPeriod"/>
            </a:pPr>
            <a:r>
              <a:rPr lang="en-GB" b="0" i="0" u="none" strike="noStrike" dirty="0">
                <a:solidFill>
                  <a:srgbClr val="000000"/>
                </a:solidFill>
                <a:effectLst/>
              </a:rPr>
              <a:t>The specific function used to calculate the </a:t>
            </a:r>
            <a:r>
              <a:rPr lang="en-GB" b="1" i="0" u="none" strike="noStrike" dirty="0">
                <a:solidFill>
                  <a:srgbClr val="000000"/>
                </a:solidFill>
                <a:effectLst/>
              </a:rPr>
              <a:t>alignment scores</a:t>
            </a:r>
            <a:r>
              <a:rPr lang="en-GB" b="0" i="0" u="none" strike="noStrike" dirty="0">
                <a:solidFill>
                  <a:srgbClr val="000000"/>
                </a:solidFill>
                <a:effectLst/>
              </a:rPr>
              <a:t> between queries and keys.</a:t>
            </a:r>
          </a:p>
          <a:p>
            <a:pPr marL="800100" lvl="1" indent="-342900" algn="l">
              <a:buFont typeface="+mj-lt"/>
              <a:buAutoNum type="arabicPeriod"/>
            </a:pPr>
            <a:r>
              <a:rPr lang="en-GB" b="0" i="0" u="none" strike="noStrike" dirty="0">
                <a:solidFill>
                  <a:srgbClr val="000000"/>
                </a:solidFill>
                <a:effectLst/>
              </a:rPr>
              <a:t>How the resulting </a:t>
            </a:r>
            <a:r>
              <a:rPr lang="en-GB" b="1" i="0" u="none" strike="noStrike" dirty="0">
                <a:solidFill>
                  <a:srgbClr val="000000"/>
                </a:solidFill>
                <a:effectLst/>
              </a:rPr>
              <a:t>attention weights</a:t>
            </a:r>
            <a:r>
              <a:rPr lang="en-GB" b="0" i="0" u="none" strike="noStrike" dirty="0">
                <a:solidFill>
                  <a:srgbClr val="000000"/>
                </a:solidFill>
                <a:effectLst/>
              </a:rPr>
              <a:t> are applied to the value vectors to produce the final output.</a:t>
            </a:r>
          </a:p>
          <a:p>
            <a:pPr algn="l"/>
            <a:r>
              <a:rPr lang="en-GB" b="0" i="0" u="none" strike="noStrike" dirty="0">
                <a:solidFill>
                  <a:srgbClr val="000000"/>
                </a:solidFill>
                <a:effectLst/>
              </a:rPr>
              <a:t>In essence, this "query, keys, and values" framework provides a structured way for the model to compare each part of the input (query) against all other parts (keys) to determine relevance and then selectively aggregate the relevant information (values) to produce a context-aware representation. This mechanism is fundamental to the power and flexibility of Transformer models.</a:t>
            </a:r>
          </a:p>
        </p:txBody>
      </p:sp>
    </p:spTree>
    <p:extLst>
      <p:ext uri="{BB962C8B-B14F-4D97-AF65-F5344CB8AC3E}">
        <p14:creationId xmlns:p14="http://schemas.microsoft.com/office/powerpoint/2010/main" val="6283938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BD80A51-0F8E-2914-C63A-0FB75B1C22A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7C775BD-42F3-826F-FBBD-5124F5680A15}"/>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webkit-standard"/>
              </a:rPr>
              <a:t>Additive Attention (</a:t>
            </a:r>
            <a:r>
              <a:rPr lang="en-GB" sz="2400" dirty="0" err="1">
                <a:solidFill>
                  <a:srgbClr val="7030A0"/>
                </a:solidFill>
                <a:latin typeface="-webkit-standard"/>
              </a:rPr>
              <a:t>Bahdanau</a:t>
            </a:r>
            <a:r>
              <a:rPr lang="en-GB" sz="2400" dirty="0">
                <a:solidFill>
                  <a:srgbClr val="7030A0"/>
                </a:solidFill>
                <a:latin typeface="-webkit-standard"/>
              </a:rPr>
              <a:t> et al., 2014):</a:t>
            </a: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69024A9-5761-3AC0-4B74-0A93DA601D0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D6621A6D-65A8-1612-E290-8854ACE5F9CA}"/>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42E8B6A7-A69E-9D9B-7C30-1EDB2B15A278}"/>
              </a:ext>
            </a:extLst>
          </p:cNvPr>
          <p:cNvSpPr txBox="1"/>
          <p:nvPr/>
        </p:nvSpPr>
        <p:spPr>
          <a:xfrm>
            <a:off x="336804" y="601182"/>
            <a:ext cx="7667244" cy="3785652"/>
          </a:xfrm>
          <a:prstGeom prst="rect">
            <a:avLst/>
          </a:prstGeom>
          <a:noFill/>
        </p:spPr>
        <p:txBody>
          <a:bodyPr wrap="square">
            <a:spAutoFit/>
          </a:bodyPr>
          <a:lstStyle/>
          <a:p>
            <a:pPr algn="l"/>
            <a:r>
              <a:rPr lang="en-GB" sz="1600" b="1" i="0" u="none" strike="noStrike" dirty="0">
                <a:solidFill>
                  <a:srgbClr val="000000"/>
                </a:solidFill>
                <a:effectLst/>
              </a:rPr>
              <a:t>Motivation:</a:t>
            </a:r>
            <a:r>
              <a:rPr lang="en-GB" sz="1600" b="0" i="0" u="none" strike="noStrike" dirty="0">
                <a:solidFill>
                  <a:srgbClr val="000000"/>
                </a:solidFill>
                <a:effectLst/>
              </a:rPr>
              <a:t> Specifically designed for machine translation, particularly handling different word orderings.</a:t>
            </a:r>
          </a:p>
          <a:p>
            <a:pPr algn="l"/>
            <a:r>
              <a:rPr lang="en-GB" sz="1600" b="1" i="0" u="none" strike="noStrike" dirty="0">
                <a:solidFill>
                  <a:srgbClr val="000000"/>
                </a:solidFill>
                <a:effectLst/>
              </a:rPr>
              <a:t>Encoder:</a:t>
            </a:r>
            <a:r>
              <a:rPr lang="en-GB" sz="1600" b="0" i="0" u="none" strike="noStrike" dirty="0">
                <a:solidFill>
                  <a:srgbClr val="000000"/>
                </a:solidFill>
                <a:effectLst/>
              </a:rPr>
              <a:t> Uses a bidirectional RNN to encode input tokens.</a:t>
            </a:r>
          </a:p>
          <a:p>
            <a:pPr algn="l"/>
            <a:r>
              <a:rPr lang="en-GB" sz="1600" b="1" i="0" u="none" strike="noStrike" dirty="0">
                <a:solidFill>
                  <a:srgbClr val="000000"/>
                </a:solidFill>
                <a:effectLst/>
              </a:rPr>
              <a:t>Query:</a:t>
            </a:r>
            <a:r>
              <a:rPr lang="en-GB" sz="1600" b="0" i="0" u="none" strike="noStrike" dirty="0">
                <a:solidFill>
                  <a:srgbClr val="000000"/>
                </a:solidFill>
                <a:effectLst/>
              </a:rPr>
              <a:t> Decoder hidden state at each timestep.</a:t>
            </a:r>
          </a:p>
          <a:p>
            <a:pPr algn="l"/>
            <a:r>
              <a:rPr lang="en-GB" sz="1600" b="1" i="0" u="none" strike="noStrike" dirty="0">
                <a:solidFill>
                  <a:srgbClr val="000000"/>
                </a:solidFill>
                <a:effectLst/>
              </a:rPr>
              <a:t>Key:</a:t>
            </a:r>
            <a:r>
              <a:rPr lang="en-GB" sz="1600" b="0" i="0" u="none" strike="noStrike" dirty="0">
                <a:solidFill>
                  <a:srgbClr val="000000"/>
                </a:solidFill>
                <a:effectLst/>
              </a:rPr>
              <a:t> Encoder hidden state at each step.</a:t>
            </a:r>
          </a:p>
          <a:p>
            <a:pPr algn="l"/>
            <a:r>
              <a:rPr lang="en-GB" sz="1600" b="1" i="0" u="none" strike="noStrike" dirty="0">
                <a:solidFill>
                  <a:srgbClr val="000000"/>
                </a:solidFill>
                <a:effectLst/>
              </a:rPr>
              <a:t>Alignment Score:</a:t>
            </a:r>
            <a:r>
              <a:rPr lang="en-GB" sz="1600" b="0" i="0" u="none" strike="noStrike" dirty="0">
                <a:solidFill>
                  <a:srgbClr val="000000"/>
                </a:solidFill>
                <a:effectLst/>
              </a:rPr>
              <a:t> Calculated by a small feedforward neural network (the attention layer) with learnable weights (</a:t>
            </a:r>
            <a:r>
              <a:rPr lang="en-GB" sz="1600" b="0" i="0" u="none" strike="noStrike" dirty="0" err="1">
                <a:solidFill>
                  <a:srgbClr val="000000"/>
                </a:solidFill>
                <a:effectLst/>
              </a:rPr>
              <a:t>Wq</a:t>
            </a:r>
            <a:r>
              <a:rPr lang="en-GB" sz="1600" b="0" i="0" u="none" strike="noStrike" dirty="0">
                <a:solidFill>
                  <a:srgbClr val="000000"/>
                </a:solidFill>
                <a:effectLst/>
              </a:rPr>
              <a:t>​, </a:t>
            </a:r>
            <a:r>
              <a:rPr lang="en-GB" sz="1600" b="0" i="0" u="none" strike="noStrike" dirty="0" err="1">
                <a:solidFill>
                  <a:srgbClr val="000000"/>
                </a:solidFill>
                <a:effectLst/>
              </a:rPr>
              <a:t>Wk</a:t>
            </a:r>
            <a:r>
              <a:rPr lang="en-GB" sz="1600" b="0" i="0" u="none" strike="noStrike" dirty="0">
                <a:solidFill>
                  <a:srgbClr val="000000"/>
                </a:solidFill>
                <a:effectLst/>
              </a:rPr>
              <a:t>​, </a:t>
            </a:r>
            <a:r>
              <a:rPr lang="en-GB" sz="1600" b="0" i="0" u="none" strike="noStrike" dirty="0" err="1">
                <a:solidFill>
                  <a:srgbClr val="000000"/>
                </a:solidFill>
                <a:effectLst/>
              </a:rPr>
              <a:t>wv</a:t>
            </a:r>
            <a:r>
              <a:rPr lang="en-GB" sz="1600" b="0" i="0" u="none" strike="noStrike" dirty="0">
                <a:solidFill>
                  <a:srgbClr val="000000"/>
                </a:solidFill>
                <a:effectLst/>
              </a:rPr>
              <a:t>​).</a:t>
            </a:r>
          </a:p>
          <a:p>
            <a:pPr algn="l"/>
            <a:r>
              <a:rPr lang="en-GB" sz="1600" b="1" i="0" u="none" strike="noStrike" dirty="0">
                <a:solidFill>
                  <a:srgbClr val="000000"/>
                </a:solidFill>
                <a:effectLst/>
              </a:rPr>
              <a:t>Process:</a:t>
            </a:r>
            <a:endParaRPr lang="en-GB" sz="1600" b="0" i="0" u="none" strike="noStrike" dirty="0">
              <a:solidFill>
                <a:srgbClr val="000000"/>
              </a:solidFill>
              <a:effectLst/>
            </a:endParaRPr>
          </a:p>
          <a:p>
            <a:pPr marL="457200" lvl="1" algn="l"/>
            <a:r>
              <a:rPr lang="en-GB" sz="1600" b="0" i="0" u="none" strike="noStrike" dirty="0">
                <a:solidFill>
                  <a:srgbClr val="000000"/>
                </a:solidFill>
                <a:effectLst/>
              </a:rPr>
              <a:t>Query (</a:t>
            </a:r>
            <a:r>
              <a:rPr lang="en-GB" sz="1600" b="0" i="0" u="none" strike="noStrike" dirty="0" err="1">
                <a:solidFill>
                  <a:srgbClr val="000000"/>
                </a:solidFill>
                <a:effectLst/>
              </a:rPr>
              <a:t>hd</a:t>
            </a:r>
            <a:r>
              <a:rPr lang="en-GB" sz="1600" b="0" i="0" u="none" strike="noStrike" dirty="0">
                <a:solidFill>
                  <a:srgbClr val="000000"/>
                </a:solidFill>
                <a:effectLst/>
              </a:rPr>
              <a:t>​⋅</a:t>
            </a:r>
            <a:r>
              <a:rPr lang="en-GB" sz="1600" b="0" i="0" u="none" strike="noStrike" dirty="0" err="1">
                <a:solidFill>
                  <a:srgbClr val="000000"/>
                </a:solidFill>
                <a:effectLst/>
              </a:rPr>
              <a:t>Wq</a:t>
            </a:r>
            <a:r>
              <a:rPr lang="en-GB" sz="1600" b="0" i="0" u="none" strike="noStrike" dirty="0">
                <a:solidFill>
                  <a:srgbClr val="000000"/>
                </a:solidFill>
                <a:effectLst/>
              </a:rPr>
              <a:t>​) + Key (he​⋅</a:t>
            </a:r>
            <a:r>
              <a:rPr lang="en-GB" sz="1600" b="0" i="0" u="none" strike="noStrike" dirty="0" err="1">
                <a:solidFill>
                  <a:srgbClr val="000000"/>
                </a:solidFill>
                <a:effectLst/>
              </a:rPr>
              <a:t>Wk</a:t>
            </a:r>
            <a:r>
              <a:rPr lang="en-GB" sz="1600" b="0" i="0" u="none" strike="noStrike" dirty="0">
                <a:solidFill>
                  <a:srgbClr val="000000"/>
                </a:solidFill>
                <a:effectLst/>
              </a:rPr>
              <a:t>​)</a:t>
            </a:r>
          </a:p>
          <a:p>
            <a:pPr marL="457200" lvl="1" algn="l"/>
            <a:r>
              <a:rPr lang="en-GB" sz="1600" b="0" i="0" u="none" strike="noStrike" dirty="0">
                <a:solidFill>
                  <a:srgbClr val="000000"/>
                </a:solidFill>
                <a:effectLst/>
              </a:rPr>
              <a:t>tanh(result)</a:t>
            </a:r>
          </a:p>
          <a:p>
            <a:pPr marL="457200" lvl="1" algn="l"/>
            <a:r>
              <a:rPr lang="en-GB" sz="1600" b="0" i="0" u="none" strike="noStrike" dirty="0">
                <a:solidFill>
                  <a:srgbClr val="000000"/>
                </a:solidFill>
                <a:effectLst/>
              </a:rPr>
              <a:t>tanh(result)⋅</a:t>
            </a:r>
            <a:r>
              <a:rPr lang="en-GB" sz="1600" b="0" i="0" u="none" strike="noStrike" dirty="0" err="1">
                <a:solidFill>
                  <a:srgbClr val="000000"/>
                </a:solidFill>
                <a:effectLst/>
              </a:rPr>
              <a:t>wv</a:t>
            </a:r>
            <a:r>
              <a:rPr lang="en-GB" sz="1600" b="0" i="0" u="none" strike="noStrike" dirty="0">
                <a:solidFill>
                  <a:srgbClr val="000000"/>
                </a:solidFill>
                <a:effectLst/>
              </a:rPr>
              <a:t>​ = Alignment Score</a:t>
            </a:r>
          </a:p>
          <a:p>
            <a:pPr marL="457200" lvl="1" algn="l"/>
            <a:r>
              <a:rPr lang="en-GB" sz="1600" b="0" i="0" u="none" strike="noStrike" dirty="0" err="1">
                <a:solidFill>
                  <a:srgbClr val="000000"/>
                </a:solidFill>
                <a:effectLst/>
              </a:rPr>
              <a:t>Softmax</a:t>
            </a:r>
            <a:r>
              <a:rPr lang="en-GB" sz="1600" b="0" i="0" u="none" strike="noStrike" dirty="0">
                <a:solidFill>
                  <a:srgbClr val="000000"/>
                </a:solidFill>
                <a:effectLst/>
              </a:rPr>
              <a:t>(Alignment Scores) = Attention Weights</a:t>
            </a:r>
          </a:p>
          <a:p>
            <a:pPr algn="l"/>
            <a:r>
              <a:rPr lang="en-GB" sz="1600" b="1" i="0" u="none" strike="noStrike" dirty="0">
                <a:solidFill>
                  <a:srgbClr val="000000"/>
                </a:solidFill>
                <a:effectLst/>
              </a:rPr>
              <a:t>Context Vector:</a:t>
            </a:r>
            <a:r>
              <a:rPr lang="en-GB" sz="1600" b="0" i="0" u="none" strike="noStrike" dirty="0">
                <a:solidFill>
                  <a:srgbClr val="000000"/>
                </a:solidFill>
                <a:effectLst/>
              </a:rPr>
              <a:t> Attention-weighted sum of key vectors.</a:t>
            </a:r>
          </a:p>
          <a:p>
            <a:pPr algn="l"/>
            <a:r>
              <a:rPr lang="en-GB" sz="1600" b="1" i="0" u="none" strike="noStrike" dirty="0">
                <a:solidFill>
                  <a:srgbClr val="000000"/>
                </a:solidFill>
                <a:effectLst/>
              </a:rPr>
              <a:t>Benefit:</a:t>
            </a:r>
            <a:r>
              <a:rPr lang="en-GB" sz="1600" b="0" i="0" u="none" strike="noStrike" dirty="0">
                <a:solidFill>
                  <a:srgbClr val="000000"/>
                </a:solidFill>
                <a:effectLst/>
              </a:rPr>
              <a:t> Doesn't require query and key vectors to have the same length.</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3137411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E8DB9FF-F1BB-1F86-7710-5ED0C983FEF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37D84BE-4F1F-0D57-2787-02C0D65C7D4B}"/>
              </a:ext>
            </a:extLst>
          </p:cNvPr>
          <p:cNvSpPr txBox="1">
            <a:spLocks noGrp="1"/>
          </p:cNvSpPr>
          <p:nvPr>
            <p:ph type="title"/>
          </p:nvPr>
        </p:nvSpPr>
        <p:spPr>
          <a:xfrm>
            <a:off x="79248" y="86064"/>
            <a:ext cx="6987540"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webkit-standard"/>
              </a:rPr>
              <a:t>Dot Product Attention (Luong et al., 2015):</a:t>
            </a: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6EB0830-DBE0-D760-744C-7A8DD526062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D4F37D0F-9152-5A6E-6740-D0CE3C4BF049}"/>
              </a:ext>
            </a:extLst>
          </p:cNvPr>
          <p:cNvSpPr txBox="1"/>
          <p:nvPr/>
        </p:nvSpPr>
        <p:spPr>
          <a:xfrm>
            <a:off x="336804" y="467862"/>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3" name="TextBox 2">
            <a:extLst>
              <a:ext uri="{FF2B5EF4-FFF2-40B4-BE49-F238E27FC236}">
                <a16:creationId xmlns:a16="http://schemas.microsoft.com/office/drawing/2014/main" id="{C6FF83B3-D25F-09BB-6DF1-31BE552E97C4}"/>
              </a:ext>
            </a:extLst>
          </p:cNvPr>
          <p:cNvSpPr txBox="1"/>
          <p:nvPr/>
        </p:nvSpPr>
        <p:spPr>
          <a:xfrm>
            <a:off x="336804" y="784062"/>
            <a:ext cx="7667244" cy="3293209"/>
          </a:xfrm>
          <a:prstGeom prst="rect">
            <a:avLst/>
          </a:prstGeom>
          <a:noFill/>
        </p:spPr>
        <p:txBody>
          <a:bodyPr wrap="square">
            <a:spAutoFit/>
          </a:bodyPr>
          <a:lstStyle/>
          <a:p>
            <a:pPr algn="l"/>
            <a:r>
              <a:rPr lang="en-GB" sz="1600" b="1" i="0" u="none" strike="noStrike" dirty="0">
                <a:solidFill>
                  <a:srgbClr val="000000"/>
                </a:solidFill>
                <a:effectLst/>
              </a:rPr>
              <a:t>Motivation:</a:t>
            </a:r>
            <a:r>
              <a:rPr lang="en-GB" sz="1600" b="0" i="0" u="none" strike="noStrike" dirty="0">
                <a:solidFill>
                  <a:srgbClr val="000000"/>
                </a:solidFill>
                <a:effectLst/>
              </a:rPr>
              <a:t> To simplify and enhance additive attention for machine translation.</a:t>
            </a:r>
          </a:p>
          <a:p>
            <a:pPr algn="l"/>
            <a:r>
              <a:rPr lang="en-GB" sz="1600" b="1" i="0" u="none" strike="noStrike" dirty="0">
                <a:solidFill>
                  <a:srgbClr val="000000"/>
                </a:solidFill>
                <a:effectLst/>
              </a:rPr>
              <a:t>Key Innovation:</a:t>
            </a:r>
            <a:r>
              <a:rPr lang="en-GB" sz="1600" b="0" i="0" u="none" strike="noStrike" dirty="0">
                <a:solidFill>
                  <a:srgbClr val="000000"/>
                </a:solidFill>
                <a:effectLst/>
              </a:rPr>
              <a:t> Uses multiplication (dot product) instead of addition for alignment scores.</a:t>
            </a:r>
          </a:p>
          <a:p>
            <a:pPr algn="l"/>
            <a:r>
              <a:rPr lang="en-GB" sz="1600" b="1" i="0" u="none" strike="noStrike" dirty="0">
                <a:solidFill>
                  <a:srgbClr val="000000"/>
                </a:solidFill>
                <a:effectLst/>
              </a:rPr>
              <a:t>Process:</a:t>
            </a:r>
            <a:endParaRPr lang="en-GB" sz="1600" b="0" i="0" u="none" strike="noStrike" dirty="0">
              <a:solidFill>
                <a:srgbClr val="000000"/>
              </a:solidFill>
              <a:effectLst/>
            </a:endParaRPr>
          </a:p>
          <a:p>
            <a:pPr marL="457200" lvl="1" algn="l"/>
            <a:r>
              <a:rPr lang="en-GB" sz="1600" b="0" i="0" u="none" strike="noStrike" dirty="0">
                <a:solidFill>
                  <a:srgbClr val="000000"/>
                </a:solidFill>
                <a:effectLst/>
              </a:rPr>
              <a:t>Alignment Score = </a:t>
            </a:r>
            <a:r>
              <a:rPr lang="en-GB" sz="1600" b="0" i="0" u="none" strike="noStrike" dirty="0" err="1">
                <a:solidFill>
                  <a:srgbClr val="000000"/>
                </a:solidFill>
                <a:effectLst/>
              </a:rPr>
              <a:t>Query⋅Key</a:t>
            </a:r>
            <a:endParaRPr lang="en-GB" sz="1600" b="0" i="0" u="none" strike="noStrike" dirty="0">
              <a:solidFill>
                <a:srgbClr val="000000"/>
              </a:solidFill>
              <a:effectLst/>
            </a:endParaRPr>
          </a:p>
          <a:p>
            <a:pPr marL="457200" lvl="1" algn="l"/>
            <a:r>
              <a:rPr lang="en-GB" sz="1600" b="0" i="0" u="none" strike="noStrike" dirty="0" err="1">
                <a:solidFill>
                  <a:srgbClr val="000000"/>
                </a:solidFill>
                <a:effectLst/>
              </a:rPr>
              <a:t>Softmax</a:t>
            </a:r>
            <a:r>
              <a:rPr lang="en-GB" sz="1600" b="0" i="0" u="none" strike="noStrike" dirty="0">
                <a:solidFill>
                  <a:srgbClr val="000000"/>
                </a:solidFill>
                <a:effectLst/>
              </a:rPr>
              <a:t>(Alignment Scores) = Attention Weights</a:t>
            </a:r>
          </a:p>
          <a:p>
            <a:pPr algn="l"/>
            <a:r>
              <a:rPr lang="en-GB" sz="1600" b="1" i="0" u="none" strike="noStrike" dirty="0">
                <a:solidFill>
                  <a:srgbClr val="000000"/>
                </a:solidFill>
                <a:effectLst/>
              </a:rPr>
              <a:t>Intuition:</a:t>
            </a:r>
            <a:r>
              <a:rPr lang="en-GB" sz="1600" b="0" i="0" u="none" strike="noStrike" dirty="0">
                <a:solidFill>
                  <a:srgbClr val="000000"/>
                </a:solidFill>
                <a:effectLst/>
              </a:rPr>
              <a:t> Aligned (similar) vectors yield a large dot product, resulting in a high attention weight after </a:t>
            </a:r>
            <a:r>
              <a:rPr lang="en-GB" sz="1600" b="0" i="0" u="none" strike="noStrike" dirty="0" err="1">
                <a:solidFill>
                  <a:srgbClr val="000000"/>
                </a:solidFill>
                <a:effectLst/>
              </a:rPr>
              <a:t>softmax</a:t>
            </a:r>
            <a:r>
              <a:rPr lang="en-GB" sz="1600" b="0" i="0" u="none" strike="noStrike" dirty="0">
                <a:solidFill>
                  <a:srgbClr val="000000"/>
                </a:solidFill>
                <a:effectLst/>
              </a:rPr>
              <a:t>.</a:t>
            </a:r>
          </a:p>
          <a:p>
            <a:pPr algn="l"/>
            <a:r>
              <a:rPr lang="en-GB" sz="1600" b="1" i="0" u="none" strike="noStrike" dirty="0">
                <a:solidFill>
                  <a:srgbClr val="000000"/>
                </a:solidFill>
                <a:effectLst/>
              </a:rPr>
              <a:t>Benefit:</a:t>
            </a:r>
            <a:r>
              <a:rPr lang="en-GB" sz="1600" b="0" i="0" u="none" strike="noStrike" dirty="0">
                <a:solidFill>
                  <a:srgbClr val="000000"/>
                </a:solidFill>
                <a:effectLst/>
              </a:rPr>
              <a:t> More computationally efficient than additive attention due to matrix multiplication.</a:t>
            </a:r>
          </a:p>
          <a:p>
            <a:pPr algn="l"/>
            <a:r>
              <a:rPr lang="en-GB" sz="1600" b="1" i="0" u="none" strike="noStrike" dirty="0">
                <a:solidFill>
                  <a:srgbClr val="000000"/>
                </a:solidFill>
                <a:effectLst/>
              </a:rPr>
              <a:t>Constraint:</a:t>
            </a:r>
            <a:r>
              <a:rPr lang="en-GB" sz="1600" b="0" i="0" u="none" strike="noStrike" dirty="0">
                <a:solidFill>
                  <a:srgbClr val="000000"/>
                </a:solidFill>
                <a:effectLst/>
              </a:rPr>
              <a:t> Requires query and key vectors to have the same dimensionality (dk​).</a:t>
            </a:r>
          </a:p>
          <a:p>
            <a:pPr algn="l"/>
            <a:r>
              <a:rPr lang="en-GB" sz="1600" b="1" i="0" u="none" strike="noStrike" dirty="0">
                <a:solidFill>
                  <a:srgbClr val="000000"/>
                </a:solidFill>
                <a:effectLst/>
              </a:rPr>
              <a:t>Context Vector:</a:t>
            </a:r>
            <a:r>
              <a:rPr lang="en-GB" sz="1600" b="0" i="0" u="none" strike="noStrike" dirty="0">
                <a:solidFill>
                  <a:srgbClr val="000000"/>
                </a:solidFill>
                <a:effectLst/>
              </a:rPr>
              <a:t> Attention-weighted </a:t>
            </a:r>
            <a:r>
              <a:rPr lang="en-GB" sz="1600" b="0" i="1" u="none" strike="noStrike" dirty="0">
                <a:solidFill>
                  <a:srgbClr val="000000"/>
                </a:solidFill>
                <a:effectLst/>
              </a:rPr>
              <a:t>average</a:t>
            </a:r>
            <a:r>
              <a:rPr lang="en-GB" sz="1600" b="0" i="0" u="none" strike="noStrike" dirty="0">
                <a:solidFill>
                  <a:srgbClr val="000000"/>
                </a:solidFill>
                <a:effectLst/>
              </a:rPr>
              <a:t> of key vectors.</a:t>
            </a:r>
          </a:p>
          <a:p>
            <a:pPr algn="l"/>
            <a:endParaRPr lang="en-GB" sz="1600" b="0" i="0" u="none" strike="noStrike" dirty="0">
              <a:solidFill>
                <a:srgbClr val="000000"/>
              </a:solidFill>
              <a:effectLst/>
            </a:endParaRPr>
          </a:p>
        </p:txBody>
      </p:sp>
    </p:spTree>
    <p:extLst>
      <p:ext uri="{BB962C8B-B14F-4D97-AF65-F5344CB8AC3E}">
        <p14:creationId xmlns:p14="http://schemas.microsoft.com/office/powerpoint/2010/main" val="169900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785D8C0-3A2E-4F10-0567-4AA46961D49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5A522CC-965C-2176-3AE9-FA1A2E7C9C28}"/>
              </a:ext>
            </a:extLst>
          </p:cNvPr>
          <p:cNvSpPr txBox="1">
            <a:spLocks noGrp="1"/>
          </p:cNvSpPr>
          <p:nvPr>
            <p:ph type="title"/>
          </p:nvPr>
        </p:nvSpPr>
        <p:spPr>
          <a:xfrm>
            <a:off x="79248" y="86064"/>
            <a:ext cx="7973568" cy="627900"/>
          </a:xfrm>
          <a:prstGeom prst="rect">
            <a:avLst/>
          </a:prstGeom>
          <a:noFill/>
          <a:ln>
            <a:noFill/>
          </a:ln>
        </p:spPr>
        <p:txBody>
          <a:bodyPr spcFirstLastPara="1" wrap="square" lIns="91425" tIns="91425" rIns="91425" bIns="91425" anchor="t" anchorCtr="0">
            <a:noAutofit/>
          </a:bodyPr>
          <a:lstStyle/>
          <a:p>
            <a:pPr algn="ctr"/>
            <a:r>
              <a:rPr kumimoji="0" lang="en-US" altLang="en-US" sz="2400" b="1" i="0" u="none" strike="noStrike" cap="none" normalizeH="0" baseline="0" dirty="0">
                <a:ln>
                  <a:noFill/>
                </a:ln>
                <a:solidFill>
                  <a:srgbClr val="7030A0"/>
                </a:solidFill>
                <a:effectLst/>
                <a:latin typeface="Aptos" panose="020B0004020202020204" pitchFamily="34" charset="0"/>
                <a:ea typeface="Times New Roman" panose="02020603050405020304" pitchFamily="18" charset="0"/>
                <a:cs typeface="Arial" panose="020B0604020202020204" pitchFamily="34" charset="0"/>
              </a:rPr>
              <a:t>Scaled Dot Product Attention (Vaswani et al., 2017):</a:t>
            </a: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E473721D-0736-20BA-C061-E252C493224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59AD889A-C3BA-5997-9517-6A5A4AB2DD49}"/>
              </a:ext>
            </a:extLst>
          </p:cNvPr>
          <p:cNvSpPr txBox="1"/>
          <p:nvPr/>
        </p:nvSpPr>
        <p:spPr>
          <a:xfrm>
            <a:off x="372206" y="492421"/>
            <a:ext cx="7179564" cy="800219"/>
          </a:xfrm>
          <a:prstGeom prst="rect">
            <a:avLst/>
          </a:prstGeom>
          <a:noFill/>
        </p:spPr>
        <p:txBody>
          <a:bodyPr wrap="square">
            <a:spAutoFit/>
          </a:bodyPr>
          <a:lstStyle/>
          <a:p>
            <a:pPr algn="l">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12" name="Rectangle 11">
            <a:extLst>
              <a:ext uri="{FF2B5EF4-FFF2-40B4-BE49-F238E27FC236}">
                <a16:creationId xmlns:a16="http://schemas.microsoft.com/office/drawing/2014/main" id="{504E55DB-CC7D-36CB-7740-021864210D4C}"/>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114B4708-49AB-A1A5-925D-45AD5B4D2138}"/>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3ED86D73-7701-130C-B7D0-B57C0EB336F6}"/>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mc:AlternateContent xmlns:mc="http://schemas.openxmlformats.org/markup-compatibility/2006">
        <mc:Choice xmlns:a14="http://schemas.microsoft.com/office/drawing/2010/main" Requires="a14">
          <p:sp>
            <p:nvSpPr>
              <p:cNvPr id="15" name="Rectangle 11">
                <a:extLst>
                  <a:ext uri="{FF2B5EF4-FFF2-40B4-BE49-F238E27FC236}">
                    <a16:creationId xmlns:a16="http://schemas.microsoft.com/office/drawing/2014/main" id="{2486B388-F6EC-7A52-A8CB-9C6D4A4E087E}"/>
                  </a:ext>
                </a:extLst>
              </p:cNvPr>
              <p:cNvSpPr>
                <a:spLocks noChangeArrowheads="1"/>
              </p:cNvSpPr>
              <p:nvPr/>
            </p:nvSpPr>
            <p:spPr bwMode="auto">
              <a:xfrm>
                <a:off x="286100" y="1037295"/>
                <a:ext cx="7351776" cy="366318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itchFamily="2" charset="2"/>
                  <a:buChar char="Ø"/>
                </a:pPr>
                <a:r>
                  <a:rPr lang="en-GB" sz="1600" dirty="0"/>
                  <a:t>Scaled dot-product attention is a core component in transformer architectures.</a:t>
                </a:r>
              </a:p>
              <a:p>
                <a:pPr marL="285750" indent="-285750">
                  <a:buFont typeface="Wingdings" pitchFamily="2" charset="2"/>
                  <a:buChar char="Ø"/>
                </a:pPr>
                <a:r>
                  <a:rPr lang="en-GB" sz="1600" dirty="0"/>
                  <a:t>It is more computationally efficient and faster compared to additive attention.</a:t>
                </a:r>
              </a:p>
              <a:p>
                <a:pPr marL="285750" indent="-285750">
                  <a:buFont typeface="Wingdings" pitchFamily="2" charset="2"/>
                  <a:buChar char="Ø"/>
                </a:pPr>
                <a:r>
                  <a:rPr lang="en-GB" sz="1600" dirty="0"/>
                  <a:t>However, in cases where the dimensionality of the key vectors (</a:t>
                </a:r>
                <a:r>
                  <a:rPr lang="en-GB" sz="1600" b="1" dirty="0"/>
                  <a:t>dₖ</a:t>
                </a:r>
                <a:r>
                  <a:rPr lang="en-GB" sz="1600" dirty="0"/>
                  <a:t>) is large, the raw dot products can have very high values.</a:t>
                </a:r>
              </a:p>
              <a:p>
                <a:pPr marL="285750" indent="-285750">
                  <a:buFont typeface="Wingdings" pitchFamily="2" charset="2"/>
                  <a:buChar char="Ø"/>
                </a:pPr>
                <a:r>
                  <a:rPr lang="en-GB" sz="1600" dirty="0"/>
                  <a:t>These large values, when passed through a </a:t>
                </a:r>
                <a:r>
                  <a:rPr lang="en-GB" sz="1600" b="1" dirty="0" err="1"/>
                  <a:t>softmax</a:t>
                </a:r>
                <a:r>
                  <a:rPr lang="en-GB" sz="1600" dirty="0"/>
                  <a:t> function, lead to very small gradients during backpropagation, making optimization difficult.</a:t>
                </a:r>
              </a:p>
              <a:p>
                <a:pPr marL="285750" indent="-285750">
                  <a:buFont typeface="Wingdings" pitchFamily="2" charset="2"/>
                  <a:buChar char="Ø"/>
                </a:pPr>
                <a:r>
                  <a:rPr lang="en-GB" sz="1600" dirty="0"/>
                  <a:t>To address this, the dot product is scaled down by the square root of </a:t>
                </a:r>
                <a:r>
                  <a:rPr lang="en-GB" sz="1600" b="1" dirty="0"/>
                  <a:t>dₖ</a:t>
                </a:r>
                <a:r>
                  <a:rPr lang="en-GB" sz="1600" dirty="0"/>
                  <a:t>, which helps in producing more stable gradients and improves training efficiency.</a:t>
                </a:r>
              </a:p>
              <a:p>
                <a:pPr marL="285750" indent="-285750">
                  <a:buFont typeface="Wingdings" pitchFamily="2" charset="2"/>
                  <a:buChar char="Ø"/>
                </a:pPr>
                <a:r>
                  <a:rPr lang="en-GB" sz="1600" dirty="0"/>
                  <a:t>This scaling enhances the performance of dot-product attention, especially in high-dimensional spaces.</a:t>
                </a:r>
              </a:p>
              <a:p>
                <a:pPr>
                  <a:buNone/>
                </a:pPr>
                <a:r>
                  <a:rPr lang="en-GB" sz="1600" b="1" dirty="0"/>
                  <a:t>Formula: </a:t>
                </a:r>
              </a:p>
              <a:p>
                <a:pPr>
                  <a:buNone/>
                </a:pPr>
                <a:r>
                  <a:rPr lang="en-GB" sz="1600" i="1" dirty="0"/>
                  <a:t>Attention(Q,K,V)=</a:t>
                </a:r>
                <a:r>
                  <a:rPr lang="en-GB" sz="1600" i="1" dirty="0" err="1"/>
                  <a:t>softmax</a:t>
                </a:r>
                <a:r>
                  <a:rPr lang="en-GB" sz="1600" i="1" dirty="0"/>
                  <a:t>(QK</a:t>
                </a:r>
                <a:r>
                  <a:rPr lang="en-GB" sz="1600" i="1" baseline="30000" dirty="0"/>
                  <a:t>T </a:t>
                </a:r>
                <a:r>
                  <a:rPr lang="en-GB" sz="1600" i="1" dirty="0"/>
                  <a:t>/</a:t>
                </a:r>
                <a14:m>
                  <m:oMath xmlns:m="http://schemas.openxmlformats.org/officeDocument/2006/math">
                    <m:r>
                      <a:rPr lang="en-GB" sz="1600" i="1" smtClean="0">
                        <a:latin typeface="Cambria Math" panose="02040503050406030204" pitchFamily="18" charset="0"/>
                        <a:ea typeface="Cambria Math" panose="02040503050406030204" pitchFamily="18" charset="0"/>
                      </a:rPr>
                      <m:t>√</m:t>
                    </m:r>
                  </m:oMath>
                </a14:m>
                <a:r>
                  <a:rPr lang="en-GB" sz="1600" i="1" dirty="0"/>
                  <a:t>dk)V</a:t>
                </a:r>
                <a:endParaRPr kumimoji="0" lang="en-US" altLang="en-US" sz="1800" b="0" i="1" u="none" strike="noStrike" cap="none" normalizeH="0" baseline="0" dirty="0">
                  <a:ln>
                    <a:noFill/>
                  </a:ln>
                  <a:solidFill>
                    <a:schemeClr val="tx1"/>
                  </a:solidFill>
                  <a:effectLst/>
                  <a:latin typeface="Arial" panose="020B0604020202020204" pitchFamily="34" charset="0"/>
                </a:endParaRPr>
              </a:p>
            </p:txBody>
          </p:sp>
        </mc:Choice>
        <mc:Fallback>
          <p:sp>
            <p:nvSpPr>
              <p:cNvPr id="15" name="Rectangle 11">
                <a:extLst>
                  <a:ext uri="{FF2B5EF4-FFF2-40B4-BE49-F238E27FC236}">
                    <a16:creationId xmlns:a16="http://schemas.microsoft.com/office/drawing/2014/main" id="{2486B388-F6EC-7A52-A8CB-9C6D4A4E087E}"/>
                  </a:ext>
                </a:extLst>
              </p:cNvPr>
              <p:cNvSpPr>
                <a:spLocks noRot="1" noChangeAspect="1" noMove="1" noResize="1" noEditPoints="1" noAdjustHandles="1" noChangeArrowheads="1" noChangeShapeType="1" noTextEdit="1"/>
              </p:cNvSpPr>
              <p:nvPr/>
            </p:nvSpPr>
            <p:spPr bwMode="auto">
              <a:xfrm>
                <a:off x="286100" y="1037295"/>
                <a:ext cx="7351776" cy="3663182"/>
              </a:xfrm>
              <a:prstGeom prst="rect">
                <a:avLst/>
              </a:prstGeom>
              <a:blipFill>
                <a:blip r:embed="rId3"/>
                <a:stretch>
                  <a:fillRect l="-345" r="-172" b="-34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3141825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88A495B-13B5-569D-07B9-7FBE4AFD259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27A7D2E-1674-E142-64B4-A3BD25E0D795}"/>
              </a:ext>
            </a:extLst>
          </p:cNvPr>
          <p:cNvSpPr txBox="1">
            <a:spLocks noGrp="1"/>
          </p:cNvSpPr>
          <p:nvPr>
            <p:ph type="title"/>
          </p:nvPr>
        </p:nvSpPr>
        <p:spPr>
          <a:xfrm>
            <a:off x="79248" y="86064"/>
            <a:ext cx="8369808" cy="627900"/>
          </a:xfrm>
          <a:prstGeom prst="rect">
            <a:avLst/>
          </a:prstGeom>
          <a:noFill/>
          <a:ln>
            <a:noFill/>
          </a:ln>
        </p:spPr>
        <p:txBody>
          <a:bodyPr spcFirstLastPara="1" wrap="square" lIns="91425" tIns="91425" rIns="91425" bIns="91425" anchor="t" anchorCtr="0">
            <a:noAutofit/>
          </a:bodyPr>
          <a:lstStyle/>
          <a:p>
            <a:pPr algn="ctr"/>
            <a:r>
              <a:rPr lang="en-GB" sz="2400" b="1" i="0" dirty="0">
                <a:solidFill>
                  <a:srgbClr val="7030A0"/>
                </a:solidFill>
                <a:effectLst/>
                <a:latin typeface="Nunito" pitchFamily="2" charset="77"/>
              </a:rPr>
              <a:t>Attention Mechanism Architecture for Machine Translation</a:t>
            </a: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173F879-1733-0C05-CBD6-501F62ACE91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FB56E131-E425-2AD0-18B6-687C27858ABB}"/>
              </a:ext>
            </a:extLst>
          </p:cNvPr>
          <p:cNvSpPr txBox="1"/>
          <p:nvPr/>
        </p:nvSpPr>
        <p:spPr>
          <a:xfrm>
            <a:off x="-158496" y="230412"/>
            <a:ext cx="7665042" cy="800219"/>
          </a:xfrm>
          <a:prstGeom prst="rect">
            <a:avLst/>
          </a:prstGeom>
          <a:noFill/>
        </p:spPr>
        <p:txBody>
          <a:bodyPr wrap="square">
            <a:spAutoFit/>
          </a:bodyPr>
          <a:lstStyle/>
          <a:p>
            <a:pPr>
              <a:buNone/>
            </a:pPr>
            <a:r>
              <a:rPr lang="en-GB" b="0" i="0" u="none" strike="noStrike" dirty="0">
                <a:solidFill>
                  <a:srgbClr val="000000"/>
                </a:solidFill>
                <a:effectLst/>
              </a:rPr>
              <a:t>  </a:t>
            </a:r>
          </a:p>
          <a:p>
            <a:br>
              <a:rPr lang="en-GB" sz="1600" dirty="0">
                <a:latin typeface="+mj-lt"/>
              </a:rPr>
            </a:br>
            <a:endParaRPr lang="en-US" sz="1600" dirty="0">
              <a:latin typeface="+mj-lt"/>
            </a:endParaRPr>
          </a:p>
        </p:txBody>
      </p:sp>
      <p:sp>
        <p:nvSpPr>
          <p:cNvPr id="12" name="Rectangle 11">
            <a:extLst>
              <a:ext uri="{FF2B5EF4-FFF2-40B4-BE49-F238E27FC236}">
                <a16:creationId xmlns:a16="http://schemas.microsoft.com/office/drawing/2014/main" id="{BD0E05E2-1607-A2A4-2E7B-0DCE968D592B}"/>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69C4D700-6115-62A3-B9F6-02B856DCA5E3}"/>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841A2288-0178-9AED-4953-7E917998E614}"/>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5" name="Rectangle 11">
            <a:extLst>
              <a:ext uri="{FF2B5EF4-FFF2-40B4-BE49-F238E27FC236}">
                <a16:creationId xmlns:a16="http://schemas.microsoft.com/office/drawing/2014/main" id="{256D374E-0971-396F-C470-9F6658F0C57B}"/>
              </a:ext>
            </a:extLst>
          </p:cNvPr>
          <p:cNvSpPr>
            <a:spLocks noChangeArrowheads="1"/>
          </p:cNvSpPr>
          <p:nvPr/>
        </p:nvSpPr>
        <p:spPr bwMode="auto">
          <a:xfrm>
            <a:off x="187875" y="912437"/>
            <a:ext cx="8768250" cy="933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fontAlgn="base">
              <a:spcAft>
                <a:spcPts val="750"/>
              </a:spcAft>
            </a:pPr>
            <a:r>
              <a:rPr lang="en-GB" sz="1600" b="0" i="0" dirty="0">
                <a:solidFill>
                  <a:srgbClr val="273239"/>
                </a:solidFill>
                <a:effectLst/>
                <a:latin typeface="+mj-lt"/>
              </a:rPr>
              <a:t>Attention mechanism in machine translation has three main components: </a:t>
            </a:r>
            <a:r>
              <a:rPr lang="en-GB" sz="1600" b="1" i="0" dirty="0">
                <a:solidFill>
                  <a:srgbClr val="273239"/>
                </a:solidFill>
                <a:effectLst/>
                <a:latin typeface="+mj-lt"/>
              </a:rPr>
              <a:t>Encoder</a:t>
            </a:r>
            <a:r>
              <a:rPr lang="en-GB" sz="1600" b="0" i="0" dirty="0">
                <a:solidFill>
                  <a:srgbClr val="273239"/>
                </a:solidFill>
                <a:effectLst/>
                <a:latin typeface="+mj-lt"/>
              </a:rPr>
              <a:t>, </a:t>
            </a:r>
            <a:r>
              <a:rPr lang="en-GB" sz="1600" b="1" i="0" dirty="0">
                <a:solidFill>
                  <a:srgbClr val="273239"/>
                </a:solidFill>
                <a:effectLst/>
                <a:latin typeface="+mj-lt"/>
              </a:rPr>
              <a:t>Attention</a:t>
            </a:r>
            <a:r>
              <a:rPr lang="en-GB" sz="1600" b="0" i="0" dirty="0">
                <a:solidFill>
                  <a:srgbClr val="273239"/>
                </a:solidFill>
                <a:effectLst/>
                <a:latin typeface="+mj-lt"/>
              </a:rPr>
              <a:t> and </a:t>
            </a:r>
            <a:r>
              <a:rPr lang="en-GB" sz="1600" b="1" i="0" dirty="0">
                <a:solidFill>
                  <a:srgbClr val="273239"/>
                </a:solidFill>
                <a:effectLst/>
                <a:latin typeface="+mj-lt"/>
              </a:rPr>
              <a:t>Decoder</a:t>
            </a:r>
            <a:r>
              <a:rPr lang="en-GB" sz="1600" b="0" i="0" dirty="0">
                <a:solidFill>
                  <a:srgbClr val="273239"/>
                </a:solidFill>
                <a:effectLst/>
                <a:latin typeface="+mj-lt"/>
              </a:rPr>
              <a:t>. Here's how each of these components works:</a:t>
            </a:r>
          </a:p>
          <a:p>
            <a:pPr marL="285750" indent="-285750">
              <a:buFont typeface="Wingdings" pitchFamily="2" charset="2"/>
              <a:buChar char="Ø"/>
            </a:pPr>
            <a:endParaRPr kumimoji="0" lang="en-US" altLang="en-US" sz="1600" b="0" i="1" u="none" strike="noStrike" cap="none" normalizeH="0" baseline="0" dirty="0">
              <a:ln>
                <a:noFill/>
              </a:ln>
              <a:solidFill>
                <a:schemeClr val="tx1"/>
              </a:solidFill>
              <a:effectLst/>
              <a:latin typeface="+mj-lt"/>
            </a:endParaRPr>
          </a:p>
        </p:txBody>
      </p:sp>
      <p:pic>
        <p:nvPicPr>
          <p:cNvPr id="21506" name="Picture 2" descr="Lightbox">
            <a:extLst>
              <a:ext uri="{FF2B5EF4-FFF2-40B4-BE49-F238E27FC236}">
                <a16:creationId xmlns:a16="http://schemas.microsoft.com/office/drawing/2014/main" id="{D5CC7761-2AF5-10F6-1564-3C066C996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723" y="1581228"/>
            <a:ext cx="5448554" cy="3432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1372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921EE2B-A7B3-4E93-7262-591600E14DC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AF90610-D18A-1FA8-F5FC-9E4119AF447B}"/>
              </a:ext>
            </a:extLst>
          </p:cNvPr>
          <p:cNvSpPr txBox="1">
            <a:spLocks noGrp="1"/>
          </p:cNvSpPr>
          <p:nvPr>
            <p:ph type="title"/>
          </p:nvPr>
        </p:nvSpPr>
        <p:spPr>
          <a:xfrm>
            <a:off x="79248" y="86064"/>
            <a:ext cx="8369808"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Nunito" pitchFamily="2" charset="77"/>
              </a:rPr>
              <a:t>1. Encoder</a:t>
            </a: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E396BCE-8021-89FA-C90D-46562CF9E5B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DEFB973B-A5CE-C229-A3B1-DB0BCB1EE507}"/>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4F6ACBFB-F8F1-CF47-86E7-33AA5B79337B}"/>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386AC914-80FC-DA75-2DB4-96E7165F0121}"/>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5" name="Rectangle 11">
            <a:extLst>
              <a:ext uri="{FF2B5EF4-FFF2-40B4-BE49-F238E27FC236}">
                <a16:creationId xmlns:a16="http://schemas.microsoft.com/office/drawing/2014/main" id="{EA9E403B-92C6-B792-4B28-46A65F64550A}"/>
              </a:ext>
            </a:extLst>
          </p:cNvPr>
          <p:cNvSpPr>
            <a:spLocks noChangeArrowheads="1"/>
          </p:cNvSpPr>
          <p:nvPr/>
        </p:nvSpPr>
        <p:spPr bwMode="auto">
          <a:xfrm>
            <a:off x="599004" y="1073381"/>
            <a:ext cx="7063668"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GB" b="1" dirty="0"/>
              <a:t>Input Processing:</a:t>
            </a:r>
            <a:r>
              <a:rPr lang="en-GB" dirty="0"/>
              <a:t> The encoder takes the input sequence (e.g., a sentence) and processes it step by step.</a:t>
            </a:r>
          </a:p>
          <a:p>
            <a:pPr marL="342900" indent="-342900">
              <a:buFont typeface="+mj-lt"/>
              <a:buAutoNum type="arabicPeriod"/>
            </a:pPr>
            <a:r>
              <a:rPr lang="en-GB" b="1" dirty="0"/>
              <a:t>Model Types:</a:t>
            </a:r>
            <a:r>
              <a:rPr lang="en-GB" dirty="0"/>
              <a:t> It typically uses RNNs, LSTMs, GRUs, or transformer-based models for this processing.</a:t>
            </a:r>
          </a:p>
          <a:p>
            <a:pPr marL="342900" indent="-342900">
              <a:buFont typeface="+mj-lt"/>
              <a:buAutoNum type="arabicPeriod"/>
            </a:pPr>
            <a:r>
              <a:rPr lang="en-GB" b="1" dirty="0"/>
              <a:t>Hidden State Generation:</a:t>
            </a:r>
            <a:r>
              <a:rPr lang="en-GB" dirty="0"/>
              <a:t> At each step, the encoder produces a </a:t>
            </a:r>
            <a:r>
              <a:rPr lang="en-GB" b="1" dirty="0"/>
              <a:t>hidden state</a:t>
            </a:r>
            <a:r>
              <a:rPr lang="en-GB" dirty="0"/>
              <a:t>.</a:t>
            </a:r>
          </a:p>
          <a:p>
            <a:pPr marL="342900" indent="-342900">
              <a:buFont typeface="+mj-lt"/>
              <a:buAutoNum type="arabicPeriod"/>
            </a:pPr>
            <a:r>
              <a:rPr lang="en-GB" b="1" dirty="0"/>
              <a:t>Information Encoding:</a:t>
            </a:r>
            <a:r>
              <a:rPr lang="en-GB" dirty="0"/>
              <a:t> Each hidden state encapsulates information from the previous hidden state and the current input token.</a:t>
            </a:r>
          </a:p>
          <a:p>
            <a:pPr marL="342900" indent="-342900">
              <a:buFont typeface="+mj-lt"/>
              <a:buAutoNum type="arabicPeriod"/>
            </a:pPr>
            <a:r>
              <a:rPr lang="en-GB" b="1" dirty="0"/>
              <a:t>Relationship Capture:</a:t>
            </a:r>
            <a:r>
              <a:rPr lang="en-GB" dirty="0"/>
              <a:t> This mechanism allows the encoder to capture the relationships and dependencies between tokens in the input sequence.</a:t>
            </a:r>
          </a:p>
          <a:p>
            <a:pPr marL="342900" indent="-342900">
              <a:buFont typeface="+mj-lt"/>
              <a:buAutoNum type="arabicPeriod"/>
            </a:pPr>
            <a:r>
              <a:rPr lang="en-GB" b="1" dirty="0"/>
              <a:t>Sequence Representation:</a:t>
            </a:r>
            <a:r>
              <a:rPr lang="en-GB" dirty="0"/>
              <a:t> The encoder generates a </a:t>
            </a:r>
            <a:r>
              <a:rPr lang="en-GB" b="1" dirty="0"/>
              <a:t>series of hidden states</a:t>
            </a:r>
            <a:r>
              <a:rPr lang="en-GB" dirty="0"/>
              <a:t> that collectively represent the entire input sequence.</a:t>
            </a:r>
          </a:p>
          <a:p>
            <a:pPr marL="342900" indent="-342900">
              <a:buFont typeface="+mj-lt"/>
              <a:buAutoNum type="arabicPeriod"/>
            </a:pPr>
            <a:r>
              <a:rPr lang="en-GB" b="1" dirty="0"/>
              <a:t>Passing to Attention:</a:t>
            </a:r>
            <a:r>
              <a:rPr lang="en-GB" dirty="0"/>
              <a:t> These generated hidden states are then passed on to the attention mechanism for subsequent processing.</a:t>
            </a:r>
          </a:p>
          <a:p>
            <a:r>
              <a:rPr lang="en-GB" b="1" dirty="0"/>
              <a:t>Importance:</a:t>
            </a:r>
            <a:r>
              <a:rPr lang="en-GB" dirty="0"/>
              <a:t> The encoder's role is crucial as it creates a comprehensive representation of the input, which the attention mechanism and decoder will use to generate an accurate output sequence.</a:t>
            </a:r>
            <a:br>
              <a:rPr lang="en-GB" dirty="0">
                <a:latin typeface="+mj-lt"/>
              </a:rPr>
            </a:br>
            <a:endParaRPr kumimoji="0" lang="en-US" altLang="en-US" b="0" i="1"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320147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5CE1DDC-8178-A3DF-08AE-509D61F967E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3E135C0-D39F-6876-5891-A37F47D7C4E0}"/>
              </a:ext>
            </a:extLst>
          </p:cNvPr>
          <p:cNvSpPr txBox="1">
            <a:spLocks noGrp="1"/>
          </p:cNvSpPr>
          <p:nvPr>
            <p:ph type="title"/>
          </p:nvPr>
        </p:nvSpPr>
        <p:spPr>
          <a:xfrm>
            <a:off x="79248" y="86064"/>
            <a:ext cx="8369808"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Nunito" pitchFamily="2" charset="77"/>
              </a:rPr>
              <a:t>Encoder</a:t>
            </a: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2AC67E2-6ED0-F23C-5524-3E4983C68A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125216B1-C8B4-BD7B-7EDA-876DA619C0CE}"/>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BFEE66BD-711D-DB7F-FCF7-4F51177D435D}"/>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C3DE7DC2-CB04-80D5-65DD-6BB28CB528DF}"/>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pic>
        <p:nvPicPr>
          <p:cNvPr id="23554" name="Picture 2" descr="Lightbox">
            <a:extLst>
              <a:ext uri="{FF2B5EF4-FFF2-40B4-BE49-F238E27FC236}">
                <a16:creationId xmlns:a16="http://schemas.microsoft.com/office/drawing/2014/main" id="{5BB19392-139E-DB5E-FF2E-2FCA72D0FC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3487" y="2886542"/>
            <a:ext cx="5185955" cy="20207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6418402-DFB9-1352-D284-96466B8462D8}"/>
              </a:ext>
            </a:extLst>
          </p:cNvPr>
          <p:cNvSpPr txBox="1"/>
          <p:nvPr/>
        </p:nvSpPr>
        <p:spPr>
          <a:xfrm>
            <a:off x="407609" y="713964"/>
            <a:ext cx="7373378" cy="2395528"/>
          </a:xfrm>
          <a:prstGeom prst="rect">
            <a:avLst/>
          </a:prstGeom>
          <a:noFill/>
        </p:spPr>
        <p:txBody>
          <a:bodyPr wrap="square">
            <a:spAutoFit/>
          </a:bodyPr>
          <a:lstStyle/>
          <a:p>
            <a:pPr rtl="0" fontAlgn="base">
              <a:spcAft>
                <a:spcPts val="750"/>
              </a:spcAft>
              <a:buNone/>
            </a:pPr>
            <a:r>
              <a:rPr lang="en-GB" b="1" dirty="0">
                <a:effectLst/>
              </a:rPr>
              <a:t>Contains an RNN layer (Can be LSTMs or GRU): </a:t>
            </a:r>
            <a:endParaRPr lang="en-GB" dirty="0">
              <a:effectLst/>
            </a:endParaRPr>
          </a:p>
          <a:p>
            <a:pPr marL="342900" indent="-342900" algn="l" fontAlgn="base">
              <a:spcAft>
                <a:spcPts val="1800"/>
              </a:spcAft>
              <a:buFont typeface="+mj-lt"/>
              <a:buAutoNum type="arabicPeriod"/>
            </a:pPr>
            <a:r>
              <a:rPr lang="en-GB" dirty="0">
                <a:solidFill>
                  <a:srgbClr val="273239"/>
                </a:solidFill>
                <a:effectLst/>
              </a:rPr>
              <a:t>Let's say, there are 4 words sentence then inputs  will be: </a:t>
            </a:r>
            <a:r>
              <a:rPr lang="en-GB" dirty="0">
                <a:solidFill>
                  <a:srgbClr val="273239"/>
                </a:solidFill>
                <a:effectLst/>
                <a:latin typeface="KaTeX_Main"/>
              </a:rPr>
              <a:t>x0,x1,x2,x3​</a:t>
            </a:r>
            <a:endParaRPr lang="en-GB" dirty="0">
              <a:solidFill>
                <a:srgbClr val="273239"/>
              </a:solidFill>
              <a:effectLst/>
            </a:endParaRPr>
          </a:p>
          <a:p>
            <a:pPr marL="342900" indent="-342900" algn="l" fontAlgn="base">
              <a:spcAft>
                <a:spcPts val="1800"/>
              </a:spcAft>
              <a:buFont typeface="+mj-lt"/>
              <a:buAutoNum type="arabicPeriod"/>
            </a:pPr>
            <a:r>
              <a:rPr lang="en-GB" dirty="0">
                <a:solidFill>
                  <a:srgbClr val="273239"/>
                </a:solidFill>
                <a:effectLst/>
              </a:rPr>
              <a:t>Each input goes through an Embedding Layer, It can be RNN, LSTM, GRU or transformers</a:t>
            </a:r>
          </a:p>
          <a:p>
            <a:pPr marL="342900" indent="-342900" algn="l" fontAlgn="base">
              <a:spcAft>
                <a:spcPts val="1800"/>
              </a:spcAft>
              <a:buFont typeface="+mj-lt"/>
              <a:buAutoNum type="arabicPeriod"/>
            </a:pPr>
            <a:r>
              <a:rPr lang="en-GB" dirty="0">
                <a:solidFill>
                  <a:srgbClr val="273239"/>
                </a:solidFill>
                <a:effectLst/>
              </a:rPr>
              <a:t>Each of the inputs generates a hidden representation.</a:t>
            </a:r>
          </a:p>
          <a:p>
            <a:pPr marL="342900" indent="-342900" algn="l" fontAlgn="base">
              <a:spcAft>
                <a:spcPts val="1800"/>
              </a:spcAft>
              <a:buFont typeface="+mj-lt"/>
              <a:buAutoNum type="arabicPeriod"/>
            </a:pPr>
            <a:r>
              <a:rPr lang="en-GB" dirty="0">
                <a:solidFill>
                  <a:srgbClr val="273239"/>
                </a:solidFill>
                <a:effectLst/>
              </a:rPr>
              <a:t>This generates the outputs for the Encoder: </a:t>
            </a:r>
            <a:r>
              <a:rPr lang="en-GB" dirty="0">
                <a:solidFill>
                  <a:srgbClr val="273239"/>
                </a:solidFill>
                <a:effectLst/>
                <a:latin typeface="KaTeX_Main"/>
              </a:rPr>
              <a:t>h0,h1,h2,h3</a:t>
            </a:r>
            <a:br>
              <a:rPr lang="en-GB" b="0" i="0" dirty="0">
                <a:solidFill>
                  <a:srgbClr val="273239"/>
                </a:solidFill>
                <a:effectLst/>
                <a:latin typeface="KaTeX_Main"/>
              </a:rPr>
            </a:br>
            <a:endParaRPr lang="en-GB" dirty="0">
              <a:solidFill>
                <a:srgbClr val="273239"/>
              </a:solidFill>
              <a:effectLst/>
            </a:endParaRPr>
          </a:p>
        </p:txBody>
      </p:sp>
    </p:spTree>
    <p:extLst>
      <p:ext uri="{BB962C8B-B14F-4D97-AF65-F5344CB8AC3E}">
        <p14:creationId xmlns:p14="http://schemas.microsoft.com/office/powerpoint/2010/main" val="633344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CAF7525-581C-B820-4BC8-5C2CA3367D7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4089AC1-DE98-37B5-466A-EE5B84B6027E}"/>
              </a:ext>
            </a:extLst>
          </p:cNvPr>
          <p:cNvSpPr txBox="1">
            <a:spLocks noGrp="1"/>
          </p:cNvSpPr>
          <p:nvPr>
            <p:ph type="title"/>
          </p:nvPr>
        </p:nvSpPr>
        <p:spPr>
          <a:xfrm>
            <a:off x="79248" y="86064"/>
            <a:ext cx="507187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Nunito" pitchFamily="2" charset="77"/>
              </a:rPr>
              <a:t>2. Attention: </a:t>
            </a:r>
            <a:br>
              <a:rPr lang="en-GB" sz="2400" dirty="0">
                <a:solidFill>
                  <a:srgbClr val="7030A0"/>
                </a:solidFill>
                <a:latin typeface="Nunito" pitchFamily="2" charset="77"/>
              </a:rPr>
            </a:b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99311EF-7A46-F2FB-7AE8-146487BFF7F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2B12DA04-2832-CB58-65BD-6011B221D6E7}"/>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50E8A90D-42C2-8527-41A7-36F22CADDC25}"/>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C08E7872-70DC-63F3-F449-9093C32E1565}"/>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3" name="TextBox 2">
            <a:extLst>
              <a:ext uri="{FF2B5EF4-FFF2-40B4-BE49-F238E27FC236}">
                <a16:creationId xmlns:a16="http://schemas.microsoft.com/office/drawing/2014/main" id="{5292863F-DCF9-4130-C4AC-69B9C21A98FB}"/>
              </a:ext>
            </a:extLst>
          </p:cNvPr>
          <p:cNvSpPr txBox="1"/>
          <p:nvPr/>
        </p:nvSpPr>
        <p:spPr>
          <a:xfrm>
            <a:off x="79248" y="524256"/>
            <a:ext cx="7120128" cy="4380686"/>
          </a:xfrm>
          <a:prstGeom prst="rect">
            <a:avLst/>
          </a:prstGeom>
          <a:noFill/>
        </p:spPr>
        <p:txBody>
          <a:bodyPr wrap="square">
            <a:spAutoFit/>
          </a:bodyPr>
          <a:lstStyle/>
          <a:p>
            <a:pPr algn="l" rtl="0" fontAlgn="base">
              <a:spcAft>
                <a:spcPts val="750"/>
              </a:spcAft>
              <a:buNone/>
            </a:pPr>
            <a:r>
              <a:rPr lang="en-GB" b="0" i="0" dirty="0">
                <a:solidFill>
                  <a:srgbClr val="273239"/>
                </a:solidFill>
                <a:effectLst/>
                <a:latin typeface="+mj-lt"/>
              </a:rPr>
              <a:t>Attention component find importance of each encoder's hidden state with respect to the current target hidden state. It generates a context vector that captures the relevant information from the encoder's hidden states. Its mechanism can be represented mathematically as follows:</a:t>
            </a:r>
          </a:p>
          <a:p>
            <a:pPr marL="342900" indent="-342900" algn="l" fontAlgn="base">
              <a:spcAft>
                <a:spcPts val="1800"/>
              </a:spcAft>
              <a:buFont typeface="+mj-lt"/>
              <a:buAutoNum type="arabicPeriod"/>
            </a:pPr>
            <a:r>
              <a:rPr lang="en-GB" b="0" i="0" dirty="0">
                <a:solidFill>
                  <a:srgbClr val="273239"/>
                </a:solidFill>
                <a:effectLst/>
                <a:latin typeface="+mj-lt"/>
              </a:rPr>
              <a:t>Our goal is to generate the context vectors.</a:t>
            </a:r>
          </a:p>
          <a:p>
            <a:pPr marL="342900" indent="-342900" algn="l" fontAlgn="base">
              <a:spcAft>
                <a:spcPts val="1800"/>
              </a:spcAft>
              <a:buFont typeface="+mj-lt"/>
              <a:buAutoNum type="arabicPeriod"/>
            </a:pPr>
            <a:r>
              <a:rPr lang="en-GB" b="0" i="0" dirty="0">
                <a:solidFill>
                  <a:srgbClr val="273239"/>
                </a:solidFill>
                <a:effectLst/>
                <a:latin typeface="+mj-lt"/>
              </a:rPr>
              <a:t>For example, context vector C1 </a:t>
            </a:r>
            <a:r>
              <a:rPr lang="en-GB" b="0" i="1" dirty="0">
                <a:solidFill>
                  <a:srgbClr val="273239"/>
                </a:solidFill>
                <a:effectLst/>
                <a:latin typeface="+mj-lt"/>
              </a:rPr>
              <a:t>C</a:t>
            </a:r>
            <a:r>
              <a:rPr lang="en-GB" b="0" i="0" dirty="0">
                <a:solidFill>
                  <a:srgbClr val="273239"/>
                </a:solidFill>
                <a:effectLst/>
                <a:latin typeface="+mj-lt"/>
              </a:rPr>
              <a:t>1​ tells us how much importance, attention should be given the inputs: x0,x1,x2,x3 .</a:t>
            </a:r>
          </a:p>
          <a:p>
            <a:pPr marL="342900" indent="-342900" algn="l" fontAlgn="base">
              <a:spcAft>
                <a:spcPts val="1800"/>
              </a:spcAft>
              <a:buFont typeface="+mj-lt"/>
              <a:buAutoNum type="arabicPeriod"/>
            </a:pPr>
            <a:r>
              <a:rPr lang="en-GB" b="0" i="0" dirty="0">
                <a:solidFill>
                  <a:srgbClr val="273239"/>
                </a:solidFill>
                <a:effectLst/>
                <a:latin typeface="+mj-lt"/>
              </a:rPr>
              <a:t>This layer in turn contains 3 subparts: </a:t>
            </a:r>
          </a:p>
          <a:p>
            <a:pPr marL="800100" lvl="1" indent="-342900" algn="l" fontAlgn="base">
              <a:spcAft>
                <a:spcPts val="1800"/>
              </a:spcAft>
              <a:buFont typeface="+mj-lt"/>
              <a:buAutoNum type="alphaLcPeriod"/>
            </a:pPr>
            <a:r>
              <a:rPr lang="en-GB" b="0" i="0" dirty="0">
                <a:solidFill>
                  <a:srgbClr val="273239"/>
                </a:solidFill>
                <a:effectLst/>
                <a:latin typeface="+mj-lt"/>
              </a:rPr>
              <a:t>Feed Forward Network</a:t>
            </a:r>
          </a:p>
          <a:p>
            <a:pPr marL="800100" lvl="1" indent="-342900" algn="l" fontAlgn="base">
              <a:spcAft>
                <a:spcPts val="1800"/>
              </a:spcAft>
              <a:buFont typeface="+mj-lt"/>
              <a:buAutoNum type="alphaLcPeriod"/>
            </a:pPr>
            <a:r>
              <a:rPr lang="en-GB" b="0" i="0" dirty="0" err="1">
                <a:solidFill>
                  <a:srgbClr val="273239"/>
                </a:solidFill>
                <a:effectLst/>
                <a:latin typeface="+mj-lt"/>
              </a:rPr>
              <a:t>Softmax</a:t>
            </a:r>
            <a:r>
              <a:rPr lang="en-GB" b="0" i="0" dirty="0">
                <a:solidFill>
                  <a:srgbClr val="273239"/>
                </a:solidFill>
                <a:effectLst/>
                <a:latin typeface="+mj-lt"/>
              </a:rPr>
              <a:t> Calculation</a:t>
            </a:r>
          </a:p>
          <a:p>
            <a:pPr marL="800100" lvl="1" indent="-342900" algn="l" fontAlgn="base">
              <a:spcAft>
                <a:spcPts val="1800"/>
              </a:spcAft>
              <a:buFont typeface="+mj-lt"/>
              <a:buAutoNum type="alphaLcPeriod"/>
            </a:pPr>
            <a:r>
              <a:rPr lang="en-GB" b="0" i="0" dirty="0">
                <a:solidFill>
                  <a:srgbClr val="273239"/>
                </a:solidFill>
                <a:effectLst/>
                <a:latin typeface="+mj-lt"/>
              </a:rPr>
              <a:t>Context vector generation</a:t>
            </a:r>
          </a:p>
          <a:p>
            <a:pPr rtl="0" fontAlgn="base">
              <a:spcAft>
                <a:spcPts val="750"/>
              </a:spcAft>
              <a:buNone/>
            </a:pPr>
            <a:br>
              <a:rPr lang="en-GB" b="0" i="0" dirty="0">
                <a:solidFill>
                  <a:srgbClr val="273239"/>
                </a:solidFill>
                <a:effectLst/>
                <a:latin typeface="+mj-lt"/>
              </a:rPr>
            </a:br>
            <a:endParaRPr lang="en-GB" dirty="0">
              <a:solidFill>
                <a:srgbClr val="273239"/>
              </a:solidFill>
              <a:effectLst/>
              <a:latin typeface="+mj-lt"/>
            </a:endParaRPr>
          </a:p>
        </p:txBody>
      </p:sp>
      <p:pic>
        <p:nvPicPr>
          <p:cNvPr id="25602" name="Picture 2" descr="attention">
            <a:extLst>
              <a:ext uri="{FF2B5EF4-FFF2-40B4-BE49-F238E27FC236}">
                <a16:creationId xmlns:a16="http://schemas.microsoft.com/office/drawing/2014/main" id="{2F0FF04A-8D9F-767E-4D9D-82E3B42101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3174" y="2289032"/>
            <a:ext cx="4139184" cy="2854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5272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FCCFDED-DC52-6543-06CE-56ACACEA0A3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520A012-BA0E-9F7F-8BEC-33BE69EAF4E4}"/>
              </a:ext>
            </a:extLst>
          </p:cNvPr>
          <p:cNvSpPr txBox="1">
            <a:spLocks noGrp="1"/>
          </p:cNvSpPr>
          <p:nvPr>
            <p:ph type="title"/>
          </p:nvPr>
        </p:nvSpPr>
        <p:spPr>
          <a:xfrm>
            <a:off x="79248" y="86064"/>
            <a:ext cx="507187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Nunito" pitchFamily="2" charset="77"/>
              </a:rPr>
              <a:t>2. Attention: </a:t>
            </a:r>
            <a:br>
              <a:rPr lang="en-GB" sz="2400" dirty="0">
                <a:solidFill>
                  <a:srgbClr val="7030A0"/>
                </a:solidFill>
                <a:latin typeface="Nunito" pitchFamily="2" charset="77"/>
              </a:rPr>
            </a:b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67FB0D7-1FA7-AC59-0079-1AE831BC1B2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00C64A20-4758-8AB5-211C-7E9A6D23C0DA}"/>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A5410847-D00C-AFA2-8BA7-84EC97F08CF0}"/>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7516D8E6-7EF1-3856-BFFB-A7EFE92C4B78}"/>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3" name="TextBox 2">
            <a:extLst>
              <a:ext uri="{FF2B5EF4-FFF2-40B4-BE49-F238E27FC236}">
                <a16:creationId xmlns:a16="http://schemas.microsoft.com/office/drawing/2014/main" id="{9BA1A142-D4A3-DECF-74D2-B33A494C8350}"/>
              </a:ext>
            </a:extLst>
          </p:cNvPr>
          <p:cNvSpPr txBox="1"/>
          <p:nvPr/>
        </p:nvSpPr>
        <p:spPr>
          <a:xfrm>
            <a:off x="79248" y="524256"/>
            <a:ext cx="7674864" cy="5037276"/>
          </a:xfrm>
          <a:prstGeom prst="rect">
            <a:avLst/>
          </a:prstGeom>
          <a:noFill/>
        </p:spPr>
        <p:txBody>
          <a:bodyPr wrap="square">
            <a:spAutoFit/>
          </a:bodyPr>
          <a:lstStyle/>
          <a:p>
            <a:pPr algn="l" rtl="0" fontAlgn="base">
              <a:spcAft>
                <a:spcPts val="750"/>
              </a:spcAft>
              <a:buNone/>
            </a:pPr>
            <a:r>
              <a:rPr lang="en-GB" b="1" i="0" dirty="0">
                <a:solidFill>
                  <a:srgbClr val="273239"/>
                </a:solidFill>
                <a:effectLst/>
                <a:latin typeface="+mj-lt"/>
              </a:rPr>
              <a:t>a. Feed Forward Network: </a:t>
            </a:r>
            <a:endParaRPr lang="en-GB" b="0" i="0" dirty="0">
              <a:solidFill>
                <a:srgbClr val="273239"/>
              </a:solidFill>
              <a:effectLst/>
              <a:latin typeface="+mj-lt"/>
            </a:endParaRPr>
          </a:p>
          <a:p>
            <a:pPr algn="l" rtl="0" fontAlgn="base">
              <a:spcAft>
                <a:spcPts val="750"/>
              </a:spcAft>
              <a:buNone/>
            </a:pPr>
            <a:r>
              <a:rPr lang="en-GB" b="0" i="0" dirty="0">
                <a:solidFill>
                  <a:srgbClr val="273239"/>
                </a:solidFill>
                <a:effectLst/>
                <a:latin typeface="+mj-lt"/>
              </a:rPr>
              <a:t>It transform target hidden state into a form that is compatible with the attention mechanism. This transformation is done using a linear transformation followed by a non-linear activation function like </a:t>
            </a:r>
            <a:r>
              <a:rPr lang="en-GB" b="0" i="0" dirty="0" err="1">
                <a:solidFill>
                  <a:srgbClr val="273239"/>
                </a:solidFill>
                <a:effectLst/>
                <a:latin typeface="+mj-lt"/>
              </a:rPr>
              <a:t>ReLU</a:t>
            </a:r>
            <a:r>
              <a:rPr lang="en-GB" b="0" i="0" dirty="0">
                <a:solidFill>
                  <a:srgbClr val="273239"/>
                </a:solidFill>
                <a:effectLst/>
                <a:latin typeface="+mj-lt"/>
              </a:rPr>
              <a:t> or sigmoid. This step helps in finding alignment between target and the encoder's hidden states.</a:t>
            </a:r>
          </a:p>
          <a:p>
            <a:pPr algn="l" rtl="0" fontAlgn="base">
              <a:spcAft>
                <a:spcPts val="750"/>
              </a:spcAft>
              <a:buNone/>
            </a:pPr>
            <a:r>
              <a:rPr lang="en-GB" b="0" i="0" dirty="0">
                <a:solidFill>
                  <a:srgbClr val="273239"/>
                </a:solidFill>
                <a:effectLst/>
                <a:latin typeface="Nunito" pitchFamily="2" charset="77"/>
              </a:rPr>
              <a:t>Each </a:t>
            </a:r>
            <a:r>
              <a:rPr lang="en-GB" b="0" i="0" dirty="0">
                <a:solidFill>
                  <a:srgbClr val="273239"/>
                </a:solidFill>
                <a:effectLst/>
                <a:latin typeface="KaTeX_Main"/>
              </a:rPr>
              <a:t>A00,A01,A02,A03  </a:t>
            </a:r>
            <a:r>
              <a:rPr lang="en-GB" b="0" i="0" dirty="0">
                <a:solidFill>
                  <a:srgbClr val="273239"/>
                </a:solidFill>
                <a:effectLst/>
                <a:latin typeface="Nunito" pitchFamily="2" charset="77"/>
              </a:rPr>
              <a:t>is a simple feed-forward neural network with one hidden layer. The input for this feed-forward network is:</a:t>
            </a:r>
          </a:p>
          <a:p>
            <a:pPr marL="342900" indent="-342900" algn="l" fontAlgn="base">
              <a:spcAft>
                <a:spcPts val="1800"/>
              </a:spcAft>
              <a:buFont typeface="+mj-lt"/>
              <a:buAutoNum type="alphaLcPeriod"/>
            </a:pPr>
            <a:r>
              <a:rPr lang="en-GB" b="0" i="0" dirty="0">
                <a:solidFill>
                  <a:srgbClr val="273239"/>
                </a:solidFill>
                <a:effectLst/>
                <a:latin typeface="Nunito" pitchFamily="2" charset="77"/>
              </a:rPr>
              <a:t>Previous Decoder state</a:t>
            </a:r>
          </a:p>
          <a:p>
            <a:pPr marL="342900" indent="-342900" algn="l" fontAlgn="base">
              <a:spcAft>
                <a:spcPts val="1800"/>
              </a:spcAft>
              <a:buFont typeface="+mj-lt"/>
              <a:buAutoNum type="alphaLcPeriod"/>
            </a:pPr>
            <a:r>
              <a:rPr lang="en-GB" b="0" i="0" dirty="0">
                <a:solidFill>
                  <a:srgbClr val="273239"/>
                </a:solidFill>
                <a:effectLst/>
                <a:latin typeface="Nunito" pitchFamily="2" charset="77"/>
              </a:rPr>
              <a:t>The output of Encoder states.</a:t>
            </a:r>
          </a:p>
          <a:p>
            <a:pPr algn="l" rtl="0" fontAlgn="base">
              <a:spcAft>
                <a:spcPts val="750"/>
              </a:spcAft>
            </a:pPr>
            <a:r>
              <a:rPr lang="en-GB" b="0" i="0" dirty="0">
                <a:solidFill>
                  <a:srgbClr val="273239"/>
                </a:solidFill>
                <a:effectLst/>
                <a:latin typeface="Nunito" pitchFamily="2" charset="77"/>
              </a:rPr>
              <a:t>Each unit generates outputs: </a:t>
            </a:r>
            <a:r>
              <a:rPr lang="en-GB" b="0" i="0" dirty="0">
                <a:solidFill>
                  <a:srgbClr val="273239"/>
                </a:solidFill>
                <a:effectLst/>
                <a:latin typeface="KaTeX_Main"/>
              </a:rPr>
              <a:t>e00,e01,e02,e03 </a:t>
            </a:r>
          </a:p>
          <a:p>
            <a:pPr algn="l" rtl="0" fontAlgn="base">
              <a:spcAft>
                <a:spcPts val="750"/>
              </a:spcAft>
            </a:pPr>
            <a:r>
              <a:rPr lang="en-GB" b="0" i="0" dirty="0">
                <a:solidFill>
                  <a:srgbClr val="273239"/>
                </a:solidFill>
                <a:effectLst/>
                <a:latin typeface="KaTeX_Main"/>
              </a:rPr>
              <a:t> </a:t>
            </a:r>
            <a:r>
              <a:rPr lang="en-GB" b="0" i="0" dirty="0">
                <a:solidFill>
                  <a:srgbClr val="273239"/>
                </a:solidFill>
                <a:effectLst/>
                <a:latin typeface="Nunito" pitchFamily="2" charset="77"/>
              </a:rPr>
              <a:t> </a:t>
            </a:r>
            <a:r>
              <a:rPr lang="en-GB" b="0" i="0" dirty="0" err="1">
                <a:solidFill>
                  <a:srgbClr val="273239"/>
                </a:solidFill>
                <a:effectLst/>
                <a:latin typeface="Nunito" pitchFamily="2" charset="77"/>
              </a:rPr>
              <a:t>i.e</a:t>
            </a:r>
            <a:r>
              <a:rPr lang="en-GB" b="0" i="0" dirty="0">
                <a:solidFill>
                  <a:srgbClr val="273239"/>
                </a:solidFill>
                <a:effectLst/>
                <a:latin typeface="Nunito" pitchFamily="2" charset="77"/>
              </a:rPr>
              <a:t> </a:t>
            </a:r>
            <a:r>
              <a:rPr lang="en-GB" b="0" i="0" dirty="0">
                <a:solidFill>
                  <a:srgbClr val="273239"/>
                </a:solidFill>
                <a:effectLst/>
                <a:latin typeface="KaTeX_Main"/>
              </a:rPr>
              <a:t>e0i=g(S0,hi) </a:t>
            </a:r>
          </a:p>
          <a:p>
            <a:pPr algn="l" rtl="0" fontAlgn="base">
              <a:spcAft>
                <a:spcPts val="750"/>
              </a:spcAft>
            </a:pPr>
            <a:r>
              <a:rPr lang="en-GB" b="0" i="0" dirty="0">
                <a:solidFill>
                  <a:srgbClr val="273239"/>
                </a:solidFill>
                <a:effectLst/>
                <a:latin typeface="Nunito" pitchFamily="2" charset="77"/>
              </a:rPr>
              <a:t>Here </a:t>
            </a:r>
            <a:r>
              <a:rPr lang="en-GB" b="1" i="0" dirty="0">
                <a:solidFill>
                  <a:srgbClr val="273239"/>
                </a:solidFill>
                <a:effectLst/>
                <a:latin typeface="Nunito" pitchFamily="2" charset="77"/>
              </a:rPr>
              <a:t>g</a:t>
            </a:r>
            <a:r>
              <a:rPr lang="en-GB" b="0" i="0" dirty="0">
                <a:solidFill>
                  <a:srgbClr val="273239"/>
                </a:solidFill>
                <a:effectLst/>
                <a:latin typeface="Nunito" pitchFamily="2" charset="77"/>
              </a:rPr>
              <a:t> can be any activation function such as sigmoid, </a:t>
            </a:r>
          </a:p>
          <a:p>
            <a:pPr algn="l" rtl="0" fontAlgn="base">
              <a:spcAft>
                <a:spcPts val="750"/>
              </a:spcAft>
            </a:pPr>
            <a:r>
              <a:rPr lang="en-GB" b="0" i="0" dirty="0">
                <a:solidFill>
                  <a:srgbClr val="273239"/>
                </a:solidFill>
                <a:effectLst/>
                <a:latin typeface="Nunito" pitchFamily="2" charset="77"/>
              </a:rPr>
              <a:t>tanh or </a:t>
            </a:r>
            <a:r>
              <a:rPr lang="en-GB" b="0" i="0" dirty="0" err="1">
                <a:solidFill>
                  <a:srgbClr val="273239"/>
                </a:solidFill>
                <a:effectLst/>
                <a:latin typeface="Nunito" pitchFamily="2" charset="77"/>
              </a:rPr>
              <a:t>ReLu</a:t>
            </a:r>
            <a:r>
              <a:rPr lang="en-GB" b="0" i="0" dirty="0">
                <a:solidFill>
                  <a:srgbClr val="273239"/>
                </a:solidFill>
                <a:effectLst/>
                <a:latin typeface="Nunito" pitchFamily="2" charset="77"/>
              </a:rPr>
              <a:t>.</a:t>
            </a:r>
          </a:p>
          <a:p>
            <a:pPr algn="l" rtl="0" fontAlgn="base">
              <a:spcAft>
                <a:spcPts val="750"/>
              </a:spcAft>
              <a:buNone/>
            </a:pPr>
            <a:endParaRPr lang="en-GB" b="0" i="0" dirty="0">
              <a:solidFill>
                <a:srgbClr val="273239"/>
              </a:solidFill>
              <a:effectLst/>
              <a:latin typeface="+mj-lt"/>
            </a:endParaRPr>
          </a:p>
          <a:p>
            <a:pPr>
              <a:buNone/>
            </a:pPr>
            <a:br>
              <a:rPr lang="en-GB" dirty="0">
                <a:latin typeface="+mj-lt"/>
              </a:rPr>
            </a:br>
            <a:br>
              <a:rPr lang="en-GB" b="0" i="0" dirty="0">
                <a:solidFill>
                  <a:srgbClr val="273239"/>
                </a:solidFill>
                <a:effectLst/>
                <a:latin typeface="+mj-lt"/>
              </a:rPr>
            </a:br>
            <a:endParaRPr lang="en-GB" dirty="0">
              <a:solidFill>
                <a:srgbClr val="273239"/>
              </a:solidFill>
              <a:effectLst/>
              <a:latin typeface="+mj-lt"/>
            </a:endParaRPr>
          </a:p>
        </p:txBody>
      </p:sp>
      <p:pic>
        <p:nvPicPr>
          <p:cNvPr id="27650" name="Picture 2" descr="Feed-Forward-Network">
            <a:extLst>
              <a:ext uri="{FF2B5EF4-FFF2-40B4-BE49-F238E27FC236}">
                <a16:creationId xmlns:a16="http://schemas.microsoft.com/office/drawing/2014/main" id="{DA0C9654-E061-71FF-B07E-28FE5289B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8137" y="2127120"/>
            <a:ext cx="4295863" cy="3016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823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017223C-96A5-79AF-CA6C-F28F2565706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0D560D8-6B56-0BDE-305D-AC206DAE7DA6}"/>
              </a:ext>
            </a:extLst>
          </p:cNvPr>
          <p:cNvSpPr txBox="1">
            <a:spLocks noGrp="1"/>
          </p:cNvSpPr>
          <p:nvPr>
            <p:ph type="title"/>
          </p:nvPr>
        </p:nvSpPr>
        <p:spPr>
          <a:xfrm>
            <a:off x="79248" y="86064"/>
            <a:ext cx="507187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Nunito" pitchFamily="2" charset="77"/>
              </a:rPr>
              <a:t>2. Attention: </a:t>
            </a:r>
            <a:br>
              <a:rPr lang="en-GB" sz="2400" dirty="0">
                <a:solidFill>
                  <a:srgbClr val="7030A0"/>
                </a:solidFill>
                <a:latin typeface="Nunito" pitchFamily="2" charset="77"/>
              </a:rPr>
            </a:b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27281A5B-7712-9073-9FEF-791F8A99905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5038B456-C055-62E2-3193-328D5610D6DF}"/>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DBE0D208-3345-1AFD-742D-EB3306913FE2}"/>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BAA0B159-1D1C-CC18-6423-9550F8503BF1}"/>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3" name="TextBox 2">
            <a:extLst>
              <a:ext uri="{FF2B5EF4-FFF2-40B4-BE49-F238E27FC236}">
                <a16:creationId xmlns:a16="http://schemas.microsoft.com/office/drawing/2014/main" id="{BF5CB06B-57AD-CE6B-9A15-5DFFB716EE52}"/>
              </a:ext>
            </a:extLst>
          </p:cNvPr>
          <p:cNvSpPr txBox="1"/>
          <p:nvPr/>
        </p:nvSpPr>
        <p:spPr>
          <a:xfrm>
            <a:off x="79248" y="524256"/>
            <a:ext cx="7674864" cy="2451953"/>
          </a:xfrm>
          <a:prstGeom prst="rect">
            <a:avLst/>
          </a:prstGeom>
          <a:noFill/>
        </p:spPr>
        <p:txBody>
          <a:bodyPr wrap="square">
            <a:spAutoFit/>
          </a:bodyPr>
          <a:lstStyle/>
          <a:p>
            <a:pPr algn="l" rtl="0" fontAlgn="base">
              <a:spcAft>
                <a:spcPts val="750"/>
              </a:spcAft>
              <a:buNone/>
            </a:pPr>
            <a:r>
              <a:rPr lang="en-GB" b="1" i="0" dirty="0">
                <a:solidFill>
                  <a:srgbClr val="273239"/>
                </a:solidFill>
                <a:effectLst/>
                <a:latin typeface="Nunito" pitchFamily="2" charset="77"/>
              </a:rPr>
              <a:t>b. </a:t>
            </a:r>
            <a:r>
              <a:rPr lang="en-GB" b="1" i="0" dirty="0" err="1">
                <a:solidFill>
                  <a:srgbClr val="273239"/>
                </a:solidFill>
                <a:effectLst/>
                <a:latin typeface="Nunito" pitchFamily="2" charset="77"/>
              </a:rPr>
              <a:t>Softmax</a:t>
            </a:r>
            <a:r>
              <a:rPr lang="en-GB" b="1" i="0" dirty="0">
                <a:solidFill>
                  <a:srgbClr val="273239"/>
                </a:solidFill>
                <a:effectLst/>
                <a:latin typeface="Nunito" pitchFamily="2" charset="77"/>
              </a:rPr>
              <a:t> Calculation: </a:t>
            </a:r>
            <a:endParaRPr lang="en-GB" b="0" i="0" dirty="0">
              <a:solidFill>
                <a:srgbClr val="273239"/>
              </a:solidFill>
              <a:effectLst/>
              <a:latin typeface="Nunito" pitchFamily="2" charset="77"/>
            </a:endParaRPr>
          </a:p>
          <a:p>
            <a:pPr algn="l" rtl="0" fontAlgn="base">
              <a:spcAft>
                <a:spcPts val="750"/>
              </a:spcAft>
              <a:buNone/>
            </a:pPr>
            <a:r>
              <a:rPr lang="en-GB" b="0" i="0" dirty="0">
                <a:solidFill>
                  <a:srgbClr val="273239"/>
                </a:solidFill>
                <a:effectLst/>
                <a:latin typeface="Nunito" pitchFamily="2" charset="77"/>
              </a:rPr>
              <a:t>Once the feed-forward network generates the relevant scores these scores are passed through a </a:t>
            </a:r>
            <a:r>
              <a:rPr lang="en-GB" b="0" i="0" dirty="0" err="1">
                <a:solidFill>
                  <a:srgbClr val="273239"/>
                </a:solidFill>
                <a:effectLst/>
                <a:latin typeface="Nunito" pitchFamily="2" charset="77"/>
              </a:rPr>
              <a:t>softmax</a:t>
            </a:r>
            <a:r>
              <a:rPr lang="en-GB" b="0" i="0" dirty="0">
                <a:solidFill>
                  <a:srgbClr val="273239"/>
                </a:solidFill>
                <a:effectLst/>
                <a:latin typeface="Nunito" pitchFamily="2" charset="77"/>
              </a:rPr>
              <a:t> function. It converts scores into probability-like attention weights. These weights indicate the relative importance of each encoder's hidden state in generating current target token. For example higher attention weights shows that a particular encoder's hidden state is more important for the current step in the decoding process.</a:t>
            </a:r>
          </a:p>
          <a:p>
            <a:pPr>
              <a:buNone/>
            </a:pPr>
            <a:br>
              <a:rPr lang="en-GB" dirty="0"/>
            </a:br>
            <a:br>
              <a:rPr lang="en-GB" dirty="0">
                <a:latin typeface="+mj-lt"/>
              </a:rPr>
            </a:br>
            <a:br>
              <a:rPr lang="en-GB" b="0" i="0" dirty="0">
                <a:solidFill>
                  <a:srgbClr val="273239"/>
                </a:solidFill>
                <a:effectLst/>
                <a:latin typeface="+mj-lt"/>
              </a:rPr>
            </a:br>
            <a:endParaRPr lang="en-GB" dirty="0">
              <a:solidFill>
                <a:srgbClr val="273239"/>
              </a:solidFill>
              <a:effectLst/>
              <a:latin typeface="+mj-lt"/>
            </a:endParaRPr>
          </a:p>
        </p:txBody>
      </p:sp>
      <p:sp>
        <p:nvSpPr>
          <p:cNvPr id="5" name="TextBox 4">
            <a:extLst>
              <a:ext uri="{FF2B5EF4-FFF2-40B4-BE49-F238E27FC236}">
                <a16:creationId xmlns:a16="http://schemas.microsoft.com/office/drawing/2014/main" id="{F1BC6BDF-5AC3-5701-6842-18C3FFDB3B4B}"/>
              </a:ext>
            </a:extLst>
          </p:cNvPr>
          <p:cNvSpPr txBox="1"/>
          <p:nvPr/>
        </p:nvSpPr>
        <p:spPr>
          <a:xfrm>
            <a:off x="840716" y="2868124"/>
            <a:ext cx="4648200" cy="738664"/>
          </a:xfrm>
          <a:prstGeom prst="rect">
            <a:avLst/>
          </a:prstGeom>
          <a:noFill/>
        </p:spPr>
        <p:txBody>
          <a:bodyPr wrap="square">
            <a:spAutoFit/>
          </a:bodyPr>
          <a:lstStyle/>
          <a:p>
            <a:pPr algn="l" rtl="0" fontAlgn="base">
              <a:spcAft>
                <a:spcPts val="750"/>
              </a:spcAft>
            </a:pPr>
            <a:r>
              <a:rPr lang="en-GB" b="0" i="0" dirty="0">
                <a:solidFill>
                  <a:srgbClr val="273239"/>
                </a:solidFill>
                <a:effectLst/>
                <a:latin typeface="Nunito" pitchFamily="2" charset="77"/>
              </a:rPr>
              <a:t>These </a:t>
            </a:r>
            <a:r>
              <a:rPr lang="en-GB" b="0" i="0" dirty="0">
                <a:solidFill>
                  <a:srgbClr val="273239"/>
                </a:solidFill>
                <a:effectLst/>
                <a:latin typeface="KaTeX_Main"/>
              </a:rPr>
              <a:t>E00,E01,E02,E03    </a:t>
            </a:r>
            <a:r>
              <a:rPr lang="en-GB" b="0" i="0" dirty="0">
                <a:solidFill>
                  <a:srgbClr val="273239"/>
                </a:solidFill>
                <a:effectLst/>
                <a:latin typeface="Nunito" pitchFamily="2" charset="77"/>
              </a:rPr>
              <a:t>are called the attention weights. It decides how much importance should be given to the inputs </a:t>
            </a:r>
            <a:r>
              <a:rPr lang="en-GB" b="0" i="0" dirty="0">
                <a:solidFill>
                  <a:srgbClr val="273239"/>
                </a:solidFill>
                <a:effectLst/>
                <a:latin typeface="KaTeX_Main"/>
              </a:rPr>
              <a:t> </a:t>
            </a:r>
            <a:r>
              <a:rPr lang="en-GB" b="0" i="1" dirty="0">
                <a:solidFill>
                  <a:srgbClr val="273239"/>
                </a:solidFill>
                <a:effectLst/>
                <a:latin typeface="KaTeX_Math"/>
              </a:rPr>
              <a:t>x</a:t>
            </a:r>
            <a:r>
              <a:rPr lang="en-GB" b="0" i="0" dirty="0">
                <a:solidFill>
                  <a:srgbClr val="273239"/>
                </a:solidFill>
                <a:effectLst/>
                <a:latin typeface="KaTeX_Main"/>
              </a:rPr>
              <a:t>0​,</a:t>
            </a:r>
            <a:r>
              <a:rPr lang="en-GB" b="0" i="1" dirty="0">
                <a:solidFill>
                  <a:srgbClr val="273239"/>
                </a:solidFill>
                <a:effectLst/>
                <a:latin typeface="KaTeX_Math"/>
              </a:rPr>
              <a:t>x</a:t>
            </a:r>
            <a:r>
              <a:rPr lang="en-GB" b="0" i="0" dirty="0">
                <a:solidFill>
                  <a:srgbClr val="273239"/>
                </a:solidFill>
                <a:effectLst/>
                <a:latin typeface="KaTeX_Main"/>
              </a:rPr>
              <a:t>1​,</a:t>
            </a:r>
            <a:r>
              <a:rPr lang="en-GB" b="0" i="1" dirty="0">
                <a:solidFill>
                  <a:srgbClr val="273239"/>
                </a:solidFill>
                <a:effectLst/>
                <a:latin typeface="KaTeX_Math"/>
              </a:rPr>
              <a:t>x</a:t>
            </a:r>
            <a:r>
              <a:rPr lang="en-GB" b="0" i="0" dirty="0">
                <a:solidFill>
                  <a:srgbClr val="273239"/>
                </a:solidFill>
                <a:effectLst/>
                <a:latin typeface="KaTeX_Main"/>
              </a:rPr>
              <a:t>2​,</a:t>
            </a:r>
            <a:r>
              <a:rPr lang="en-GB" b="0" i="1" dirty="0">
                <a:solidFill>
                  <a:srgbClr val="273239"/>
                </a:solidFill>
                <a:effectLst/>
                <a:latin typeface="KaTeX_Math"/>
              </a:rPr>
              <a:t>x</a:t>
            </a:r>
            <a:r>
              <a:rPr lang="en-GB" b="0" i="0" dirty="0">
                <a:solidFill>
                  <a:srgbClr val="273239"/>
                </a:solidFill>
                <a:effectLst/>
                <a:latin typeface="KaTeX_Main"/>
              </a:rPr>
              <a:t>3​  </a:t>
            </a:r>
            <a:r>
              <a:rPr lang="en-GB" b="0" i="0" dirty="0">
                <a:solidFill>
                  <a:srgbClr val="273239"/>
                </a:solidFill>
                <a:effectLst/>
                <a:latin typeface="Nunito" pitchFamily="2" charset="77"/>
              </a:rPr>
              <a:t>. </a:t>
            </a:r>
          </a:p>
        </p:txBody>
      </p:sp>
      <p:pic>
        <p:nvPicPr>
          <p:cNvPr id="6" name="Picture 5">
            <a:extLst>
              <a:ext uri="{FF2B5EF4-FFF2-40B4-BE49-F238E27FC236}">
                <a16:creationId xmlns:a16="http://schemas.microsoft.com/office/drawing/2014/main" id="{CADC91A0-CE04-1A0C-DF4F-3CDA493F9691}"/>
              </a:ext>
            </a:extLst>
          </p:cNvPr>
          <p:cNvPicPr>
            <a:picLocks noChangeAspect="1"/>
          </p:cNvPicPr>
          <p:nvPr/>
        </p:nvPicPr>
        <p:blipFill>
          <a:blip r:embed="rId3"/>
          <a:stretch>
            <a:fillRect/>
          </a:stretch>
        </p:blipFill>
        <p:spPr>
          <a:xfrm>
            <a:off x="6397752" y="1750232"/>
            <a:ext cx="2667000" cy="3225800"/>
          </a:xfrm>
          <a:prstGeom prst="rect">
            <a:avLst/>
          </a:prstGeom>
        </p:spPr>
      </p:pic>
    </p:spTree>
    <p:extLst>
      <p:ext uri="{BB962C8B-B14F-4D97-AF65-F5344CB8AC3E}">
        <p14:creationId xmlns:p14="http://schemas.microsoft.com/office/powerpoint/2010/main" val="11596802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DAE1EBA-1755-AE46-762C-CC8481F3E11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D3BA985-BCFC-E407-4053-B16E9A4B20E0}"/>
              </a:ext>
            </a:extLst>
          </p:cNvPr>
          <p:cNvSpPr txBox="1">
            <a:spLocks noGrp="1"/>
          </p:cNvSpPr>
          <p:nvPr>
            <p:ph type="title"/>
          </p:nvPr>
        </p:nvSpPr>
        <p:spPr>
          <a:xfrm>
            <a:off x="79248" y="86064"/>
            <a:ext cx="5071872"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Nunito" pitchFamily="2" charset="77"/>
              </a:rPr>
              <a:t>2. Attention: </a:t>
            </a:r>
            <a:br>
              <a:rPr lang="en-GB" sz="2400" dirty="0">
                <a:solidFill>
                  <a:srgbClr val="7030A0"/>
                </a:solidFill>
                <a:latin typeface="Nunito" pitchFamily="2" charset="77"/>
              </a:rPr>
            </a:b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99198E9A-B494-7E5E-D2F0-A678F592409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70500131-43BB-93E1-9889-B4CD1085F24D}"/>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27D8EC98-1568-E798-5127-FB1901107CCC}"/>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32A7DAE4-44D4-33B5-624A-EB453F610D7A}"/>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3" name="TextBox 2">
            <a:extLst>
              <a:ext uri="{FF2B5EF4-FFF2-40B4-BE49-F238E27FC236}">
                <a16:creationId xmlns:a16="http://schemas.microsoft.com/office/drawing/2014/main" id="{D5828C01-5132-0E57-F6D3-E13E75DCD1B2}"/>
              </a:ext>
            </a:extLst>
          </p:cNvPr>
          <p:cNvSpPr txBox="1"/>
          <p:nvPr/>
        </p:nvSpPr>
        <p:spPr>
          <a:xfrm>
            <a:off x="79248" y="498864"/>
            <a:ext cx="7674864" cy="4606389"/>
          </a:xfrm>
          <a:prstGeom prst="rect">
            <a:avLst/>
          </a:prstGeom>
          <a:noFill/>
        </p:spPr>
        <p:txBody>
          <a:bodyPr wrap="square">
            <a:spAutoFit/>
          </a:bodyPr>
          <a:lstStyle/>
          <a:p>
            <a:pPr algn="l" rtl="0" fontAlgn="base">
              <a:spcAft>
                <a:spcPts val="750"/>
              </a:spcAft>
              <a:buNone/>
            </a:pPr>
            <a:r>
              <a:rPr lang="en-GB" b="1" i="0" dirty="0">
                <a:solidFill>
                  <a:srgbClr val="273239"/>
                </a:solidFill>
                <a:effectLst/>
                <a:latin typeface="+mj-lt"/>
              </a:rPr>
              <a:t>c. Context Vector Generation: </a:t>
            </a:r>
            <a:endParaRPr lang="en-GB" b="0" i="0" dirty="0">
              <a:solidFill>
                <a:srgbClr val="273239"/>
              </a:solidFill>
              <a:effectLst/>
              <a:latin typeface="+mj-lt"/>
            </a:endParaRPr>
          </a:p>
          <a:p>
            <a:pPr algn="l" rtl="0" fontAlgn="base">
              <a:spcAft>
                <a:spcPts val="750"/>
              </a:spcAft>
            </a:pPr>
            <a:r>
              <a:rPr lang="en-GB" b="0" i="0" dirty="0">
                <a:solidFill>
                  <a:srgbClr val="273239"/>
                </a:solidFill>
                <a:effectLst/>
                <a:latin typeface="+mj-lt"/>
              </a:rPr>
              <a:t>When the attention weights are calculated they are applied to encoder's hidden states which helps in generating a weighted sum. This weighted sum forms the</a:t>
            </a:r>
            <a:r>
              <a:rPr lang="en-GB" b="1" i="0" dirty="0">
                <a:solidFill>
                  <a:srgbClr val="273239"/>
                </a:solidFill>
                <a:effectLst/>
                <a:latin typeface="+mj-lt"/>
              </a:rPr>
              <a:t> context vector</a:t>
            </a:r>
            <a:r>
              <a:rPr lang="en-GB" b="0" i="0" dirty="0">
                <a:solidFill>
                  <a:srgbClr val="273239"/>
                </a:solidFill>
                <a:effectLst/>
                <a:latin typeface="+mj-lt"/>
              </a:rPr>
              <a:t> which finds most relevant information from the encoder's hidden states based on their attention weights.</a:t>
            </a:r>
          </a:p>
          <a:p>
            <a:pPr>
              <a:buNone/>
            </a:pPr>
            <a:endParaRPr lang="en-GB" dirty="0">
              <a:latin typeface="+mj-lt"/>
            </a:endParaRPr>
          </a:p>
          <a:p>
            <a:pPr>
              <a:buNone/>
            </a:pPr>
            <a:endParaRPr lang="en-GB" dirty="0">
              <a:latin typeface="+mj-lt"/>
            </a:endParaRPr>
          </a:p>
          <a:p>
            <a:pPr>
              <a:buNone/>
            </a:pPr>
            <a:endParaRPr lang="en-GB" dirty="0">
              <a:latin typeface="+mj-lt"/>
            </a:endParaRPr>
          </a:p>
          <a:p>
            <a:pPr>
              <a:buNone/>
            </a:pPr>
            <a:endParaRPr lang="en-GB" dirty="0">
              <a:latin typeface="+mj-lt"/>
            </a:endParaRPr>
          </a:p>
          <a:p>
            <a:pPr>
              <a:buNone/>
            </a:pPr>
            <a:endParaRPr lang="en-GB" dirty="0">
              <a:latin typeface="+mj-lt"/>
            </a:endParaRPr>
          </a:p>
          <a:p>
            <a:pPr>
              <a:buNone/>
            </a:pPr>
            <a:endParaRPr lang="en-GB" dirty="0">
              <a:latin typeface="+mj-lt"/>
            </a:endParaRPr>
          </a:p>
          <a:p>
            <a:pPr>
              <a:buNone/>
            </a:pPr>
            <a:endParaRPr lang="en-GB" dirty="0">
              <a:latin typeface="+mj-lt"/>
            </a:endParaRPr>
          </a:p>
          <a:p>
            <a:pPr>
              <a:buNone/>
            </a:pPr>
            <a:endParaRPr lang="en-GB" dirty="0">
              <a:latin typeface="+mj-lt"/>
            </a:endParaRPr>
          </a:p>
          <a:p>
            <a:pPr>
              <a:buNone/>
            </a:pPr>
            <a:endParaRPr lang="en-GB" dirty="0">
              <a:latin typeface="+mj-lt"/>
            </a:endParaRPr>
          </a:p>
          <a:p>
            <a:pPr>
              <a:buNone/>
            </a:pPr>
            <a:endParaRPr lang="en-GB" dirty="0">
              <a:latin typeface="+mj-lt"/>
            </a:endParaRPr>
          </a:p>
          <a:p>
            <a:pPr>
              <a:buNone/>
            </a:pPr>
            <a:br>
              <a:rPr lang="en-GB" dirty="0">
                <a:latin typeface="+mj-lt"/>
              </a:rPr>
            </a:br>
            <a:r>
              <a:rPr lang="en-GB" b="0" i="0" dirty="0">
                <a:solidFill>
                  <a:srgbClr val="273239"/>
                </a:solidFill>
                <a:effectLst/>
                <a:latin typeface="+mj-lt"/>
              </a:rPr>
              <a:t>We find </a:t>
            </a:r>
            <a:r>
              <a:rPr lang="en-GB" dirty="0">
                <a:effectLst/>
                <a:latin typeface="+mj-lt"/>
              </a:rPr>
              <a:t>C1,C2,C3</a:t>
            </a:r>
            <a:r>
              <a:rPr lang="en-GB" b="0" i="0" dirty="0">
                <a:solidFill>
                  <a:srgbClr val="273239"/>
                </a:solidFill>
                <a:effectLst/>
                <a:latin typeface="+mj-lt"/>
              </a:rPr>
              <a:t> in the same way and feed it to different RNN units of the Decoder layer. So this is the final vector which is the product of Probability Distribution and Encoder's output which is nothing but the attention paid to the input words.</a:t>
            </a:r>
            <a:br>
              <a:rPr lang="en-GB" dirty="0">
                <a:latin typeface="+mj-lt"/>
              </a:rPr>
            </a:br>
            <a:br>
              <a:rPr lang="en-GB" b="0" i="0" dirty="0">
                <a:solidFill>
                  <a:srgbClr val="273239"/>
                </a:solidFill>
                <a:effectLst/>
                <a:latin typeface="+mj-lt"/>
              </a:rPr>
            </a:br>
            <a:endParaRPr lang="en-GB" dirty="0">
              <a:solidFill>
                <a:srgbClr val="273239"/>
              </a:solidFill>
              <a:effectLst/>
              <a:latin typeface="+mj-lt"/>
            </a:endParaRPr>
          </a:p>
        </p:txBody>
      </p:sp>
      <p:pic>
        <p:nvPicPr>
          <p:cNvPr id="8" name="Picture 7">
            <a:extLst>
              <a:ext uri="{FF2B5EF4-FFF2-40B4-BE49-F238E27FC236}">
                <a16:creationId xmlns:a16="http://schemas.microsoft.com/office/drawing/2014/main" id="{582909FA-B9B6-F60A-C598-B42B621497ED}"/>
              </a:ext>
            </a:extLst>
          </p:cNvPr>
          <p:cNvPicPr>
            <a:picLocks noChangeAspect="1"/>
          </p:cNvPicPr>
          <p:nvPr/>
        </p:nvPicPr>
        <p:blipFill>
          <a:blip r:embed="rId3"/>
          <a:stretch>
            <a:fillRect/>
          </a:stretch>
        </p:blipFill>
        <p:spPr>
          <a:xfrm>
            <a:off x="2322576" y="1568170"/>
            <a:ext cx="3029712" cy="2370707"/>
          </a:xfrm>
          <a:prstGeom prst="rect">
            <a:avLst/>
          </a:prstGeom>
        </p:spPr>
      </p:pic>
    </p:spTree>
    <p:extLst>
      <p:ext uri="{BB962C8B-B14F-4D97-AF65-F5344CB8AC3E}">
        <p14:creationId xmlns:p14="http://schemas.microsoft.com/office/powerpoint/2010/main" val="3936316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07469FF-9130-F901-9C1D-4044F7511A3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A462439-8D67-E5F0-360E-1E4B416EF341}"/>
              </a:ext>
            </a:extLst>
          </p:cNvPr>
          <p:cNvSpPr txBox="1">
            <a:spLocks noGrp="1"/>
          </p:cNvSpPr>
          <p:nvPr>
            <p:ph type="title"/>
          </p:nvPr>
        </p:nvSpPr>
        <p:spPr>
          <a:xfrm>
            <a:off x="79248" y="86064"/>
            <a:ext cx="3480816" cy="627900"/>
          </a:xfrm>
          <a:prstGeom prst="rect">
            <a:avLst/>
          </a:prstGeom>
          <a:noFill/>
          <a:ln>
            <a:noFill/>
          </a:ln>
        </p:spPr>
        <p:txBody>
          <a:bodyPr spcFirstLastPara="1" wrap="square" lIns="91425" tIns="91425" rIns="91425" bIns="91425" anchor="t" anchorCtr="0">
            <a:noAutofit/>
          </a:bodyPr>
          <a:lstStyle/>
          <a:p>
            <a:pPr algn="ctr"/>
            <a:r>
              <a:rPr lang="en-GB" sz="2400" dirty="0">
                <a:solidFill>
                  <a:srgbClr val="7030A0"/>
                </a:solidFill>
                <a:latin typeface="Nunito" pitchFamily="2" charset="77"/>
              </a:rPr>
              <a:t>3. Decoder:</a:t>
            </a:r>
            <a:br>
              <a:rPr lang="en-GB" sz="2400" dirty="0">
                <a:solidFill>
                  <a:srgbClr val="7030A0"/>
                </a:solidFill>
                <a:latin typeface="Nunito" pitchFamily="2" charset="77"/>
              </a:rPr>
            </a:br>
            <a:br>
              <a:rPr lang="en-GB" sz="2400" dirty="0">
                <a:solidFill>
                  <a:srgbClr val="7030A0"/>
                </a:solidFill>
                <a:latin typeface="Nunito" pitchFamily="2" charset="77"/>
              </a:rPr>
            </a:br>
            <a:br>
              <a:rPr lang="en-GB" sz="2400" b="1" i="0" dirty="0">
                <a:solidFill>
                  <a:srgbClr val="273239"/>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1AFA535-3064-B7F9-60E5-A26E59C0262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248C60BA-3FDA-BBBB-5960-5C0B6BF5EA21}"/>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8F62CC6B-CCB1-8B25-38C3-2D34E35D8999}"/>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48B606EF-3D00-426B-1E36-6DD387C959FE}"/>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5" name="TextBox 4">
            <a:extLst>
              <a:ext uri="{FF2B5EF4-FFF2-40B4-BE49-F238E27FC236}">
                <a16:creationId xmlns:a16="http://schemas.microsoft.com/office/drawing/2014/main" id="{B9E363B0-C299-476A-765D-CC308766F967}"/>
              </a:ext>
            </a:extLst>
          </p:cNvPr>
          <p:cNvSpPr txBox="1"/>
          <p:nvPr/>
        </p:nvSpPr>
        <p:spPr>
          <a:xfrm>
            <a:off x="355092" y="713964"/>
            <a:ext cx="6320028" cy="3046988"/>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Input:</a:t>
            </a:r>
            <a:r>
              <a:rPr lang="en-GB" sz="1600" b="0" i="0" u="none" strike="noStrike" dirty="0">
                <a:solidFill>
                  <a:srgbClr val="000000"/>
                </a:solidFill>
                <a:effectLst/>
              </a:rPr>
              <a:t> Receives a </a:t>
            </a:r>
            <a:r>
              <a:rPr lang="en-GB" sz="1600" b="1" i="0" u="none" strike="noStrike" dirty="0">
                <a:solidFill>
                  <a:srgbClr val="000000"/>
                </a:solidFill>
                <a:effectLst/>
              </a:rPr>
              <a:t>context vector</a:t>
            </a:r>
            <a:r>
              <a:rPr lang="en-GB" sz="1600" b="0" i="0" u="none" strike="noStrike" dirty="0">
                <a:solidFill>
                  <a:srgbClr val="000000"/>
                </a:solidFill>
                <a:effectLst/>
              </a:rPr>
              <a:t> from the attention layer (containing relevant encoder information) and its own </a:t>
            </a:r>
            <a:r>
              <a:rPr lang="en-GB" sz="1600" b="1" i="0" u="none" strike="noStrike" dirty="0">
                <a:solidFill>
                  <a:srgbClr val="000000"/>
                </a:solidFill>
                <a:effectLst/>
              </a:rPr>
              <a:t>current hidden state</a:t>
            </a:r>
            <a:r>
              <a:rPr lang="en-GB" sz="1600" b="0" i="0" u="none" strike="noStrike" dirty="0">
                <a:solidFill>
                  <a:srgbClr val="000000"/>
                </a:solidFill>
                <a:effectLst/>
              </a:rPr>
              <a:t>.</a:t>
            </a:r>
          </a:p>
          <a:p>
            <a:pPr marL="342900" indent="-342900" algn="l">
              <a:buFont typeface="+mj-lt"/>
              <a:buAutoNum type="arabicPeriod"/>
            </a:pPr>
            <a:r>
              <a:rPr lang="en-GB" sz="1600" b="1" i="0" u="none" strike="noStrike" dirty="0">
                <a:solidFill>
                  <a:srgbClr val="000000"/>
                </a:solidFill>
                <a:effectLst/>
              </a:rPr>
              <a:t>Prediction:</a:t>
            </a:r>
            <a:r>
              <a:rPr lang="en-GB" sz="1600" b="0" i="0" u="none" strike="noStrike" dirty="0">
                <a:solidFill>
                  <a:srgbClr val="000000"/>
                </a:solidFill>
                <a:effectLst/>
              </a:rPr>
              <a:t> Uses this combined information to predict the </a:t>
            </a:r>
            <a:r>
              <a:rPr lang="en-GB" sz="1600" b="1" i="0" u="none" strike="noStrike" dirty="0">
                <a:solidFill>
                  <a:srgbClr val="000000"/>
                </a:solidFill>
                <a:effectLst/>
              </a:rPr>
              <a:t>next token</a:t>
            </a:r>
            <a:r>
              <a:rPr lang="en-GB" sz="1600" b="0" i="0" u="none" strike="noStrike" dirty="0">
                <a:solidFill>
                  <a:srgbClr val="000000"/>
                </a:solidFill>
                <a:effectLst/>
              </a:rPr>
              <a:t> in the output sequence.</a:t>
            </a:r>
          </a:p>
          <a:p>
            <a:pPr marL="342900" indent="-342900" algn="l">
              <a:buFont typeface="+mj-lt"/>
              <a:buAutoNum type="arabicPeriod"/>
            </a:pPr>
            <a:r>
              <a:rPr lang="en-GB" sz="1600" b="1" i="0" u="none" strike="noStrike" dirty="0">
                <a:solidFill>
                  <a:srgbClr val="000000"/>
                </a:solidFill>
                <a:effectLst/>
              </a:rPr>
              <a:t>Hidden State Update:</a:t>
            </a:r>
            <a:r>
              <a:rPr lang="en-GB" sz="1600" b="0" i="0" u="none" strike="noStrike" dirty="0">
                <a:solidFill>
                  <a:srgbClr val="000000"/>
                </a:solidFill>
                <a:effectLst/>
              </a:rPr>
              <a:t> The decoder's hidden state is updated based on the predicted token.</a:t>
            </a:r>
          </a:p>
          <a:p>
            <a:pPr marL="342900" indent="-342900" algn="l">
              <a:buFont typeface="+mj-lt"/>
              <a:buAutoNum type="arabicPeriod"/>
            </a:pPr>
            <a:r>
              <a:rPr lang="en-GB" sz="1600" b="1" i="0" u="none" strike="noStrike" dirty="0">
                <a:solidFill>
                  <a:srgbClr val="000000"/>
                </a:solidFill>
                <a:effectLst/>
              </a:rPr>
              <a:t>Iterative Generation:</a:t>
            </a:r>
            <a:r>
              <a:rPr lang="en-GB" sz="1600" b="0" i="0" u="none" strike="noStrike" dirty="0">
                <a:solidFill>
                  <a:srgbClr val="000000"/>
                </a:solidFill>
                <a:effectLst/>
              </a:rPr>
              <a:t> This prediction and update process repeats for each token in the output sequence.</a:t>
            </a:r>
          </a:p>
          <a:p>
            <a:pPr marL="342900" indent="-342900" algn="l">
              <a:buFont typeface="+mj-lt"/>
              <a:buAutoNum type="arabicPeriod"/>
            </a:pPr>
            <a:r>
              <a:rPr lang="en-GB" sz="1600" b="1" i="0" u="none" strike="noStrike" dirty="0">
                <a:solidFill>
                  <a:srgbClr val="000000"/>
                </a:solidFill>
                <a:effectLst/>
              </a:rPr>
              <a:t>Focus on Important Parts:</a:t>
            </a:r>
            <a:r>
              <a:rPr lang="en-GB" sz="1600" b="0" i="0" u="none" strike="noStrike" dirty="0">
                <a:solidFill>
                  <a:srgbClr val="000000"/>
                </a:solidFill>
                <a:effectLst/>
              </a:rPr>
              <a:t> Enables the model to generate the output sequence (e.g., translation) word by word, focusing on the most important parts of the input at each step.</a:t>
            </a:r>
          </a:p>
        </p:txBody>
      </p:sp>
    </p:spTree>
    <p:extLst>
      <p:ext uri="{BB962C8B-B14F-4D97-AF65-F5344CB8AC3E}">
        <p14:creationId xmlns:p14="http://schemas.microsoft.com/office/powerpoint/2010/main" val="4302566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D7BCDF8-2554-6847-AAAF-048661D8D4F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3514D9A-21E2-BDE9-160C-B11105B0814C}"/>
              </a:ext>
            </a:extLst>
          </p:cNvPr>
          <p:cNvSpPr txBox="1">
            <a:spLocks noGrp="1"/>
          </p:cNvSpPr>
          <p:nvPr>
            <p:ph type="title"/>
          </p:nvPr>
        </p:nvSpPr>
        <p:spPr>
          <a:xfrm>
            <a:off x="79248" y="86064"/>
            <a:ext cx="6827520" cy="627900"/>
          </a:xfrm>
          <a:prstGeom prst="rect">
            <a:avLst/>
          </a:prstGeom>
          <a:noFill/>
          <a:ln>
            <a:noFill/>
          </a:ln>
        </p:spPr>
        <p:txBody>
          <a:bodyPr spcFirstLastPara="1" wrap="square" lIns="91425" tIns="91425" rIns="91425" bIns="91425" anchor="t" anchorCtr="0">
            <a:noAutofit/>
          </a:bodyPr>
          <a:lstStyle/>
          <a:p>
            <a:pPr algn="ctr"/>
            <a:r>
              <a:rPr lang="en-GB" sz="2400" b="1" i="0" u="none" strike="noStrike" dirty="0">
                <a:solidFill>
                  <a:srgbClr val="7030A0"/>
                </a:solidFill>
                <a:effectLst/>
              </a:rPr>
              <a:t>Applications of Attention Mechanisms:</a:t>
            </a:r>
            <a:br>
              <a:rPr lang="en-GB" sz="2400" b="0" i="0" u="none" strike="noStrike" dirty="0">
                <a:solidFill>
                  <a:srgbClr val="7030A0"/>
                </a:solidFill>
                <a:effectLst/>
              </a:rPr>
            </a:br>
            <a:br>
              <a:rPr lang="en-GB" sz="2400" dirty="0">
                <a:solidFill>
                  <a:srgbClr val="7030A0"/>
                </a:solidFill>
                <a:latin typeface="Nunito" pitchFamily="2" charset="77"/>
              </a:rPr>
            </a:br>
            <a:br>
              <a:rPr lang="en-GB" sz="2400" dirty="0">
                <a:solidFill>
                  <a:srgbClr val="7030A0"/>
                </a:solidFill>
                <a:latin typeface="Nunito" pitchFamily="2" charset="77"/>
              </a:rPr>
            </a:br>
            <a:br>
              <a:rPr lang="en-GB" sz="2400" b="1" i="0" dirty="0">
                <a:solidFill>
                  <a:srgbClr val="7030A0"/>
                </a:solidFill>
                <a:effectLst/>
                <a:latin typeface="Nunito" pitchFamily="2" charset="77"/>
              </a:rPr>
            </a:br>
            <a:br>
              <a:rPr kumimoji="0" lang="en-US" altLang="en-US" sz="800" b="0" i="0" u="none" strike="noStrike" cap="none" normalizeH="0" baseline="0" dirty="0">
                <a:ln>
                  <a:noFill/>
                </a:ln>
                <a:solidFill>
                  <a:srgbClr val="7030A0"/>
                </a:solidFill>
                <a:effectLst/>
              </a:rPr>
            </a:br>
            <a:br>
              <a:rPr lang="en-GB" sz="2400" dirty="0">
                <a:solidFill>
                  <a:srgbClr val="7030A0"/>
                </a:solidFill>
                <a:latin typeface="-webkit-standard"/>
              </a:rPr>
            </a:br>
            <a:br>
              <a:rPr lang="en-GB" sz="2400" dirty="0">
                <a:solidFill>
                  <a:srgbClr val="7030A0"/>
                </a:solidFill>
                <a:latin typeface="-webkit-standard"/>
              </a:rPr>
            </a:br>
            <a:br>
              <a:rPr lang="en-GB" sz="2400" dirty="0">
                <a:solidFill>
                  <a:srgbClr val="7030A0"/>
                </a:solidFill>
              </a:rPr>
            </a:br>
            <a:br>
              <a:rPr lang="en-GB" sz="2400" dirty="0">
                <a:solidFill>
                  <a:srgbClr val="7030A0"/>
                </a:solidFill>
              </a:rPr>
            </a:br>
            <a:br>
              <a:rPr lang="en-GB" sz="2000" b="1" i="0" u="none" strike="noStrike" dirty="0">
                <a:solidFill>
                  <a:srgbClr val="7030A0"/>
                </a:solidFill>
                <a:effectLst/>
                <a:latin typeface="+mj-lt"/>
              </a:rPr>
            </a:br>
            <a:br>
              <a:rPr lang="en-GB" sz="2000" b="1" i="0" u="none" strike="noStrike" dirty="0">
                <a:solidFill>
                  <a:srgbClr val="7030A0"/>
                </a:solidFill>
                <a:effectLst/>
                <a:latin typeface="+mj-lt"/>
              </a:rPr>
            </a:br>
            <a:endParaRPr lang="en-GB" sz="2000" b="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1701D3F0-250D-F0F6-DC25-FC379FEDDA2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33D514C8-8AE5-6576-8616-904AB03DBE14}"/>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3" name="Rectangle 12">
            <a:extLst>
              <a:ext uri="{FF2B5EF4-FFF2-40B4-BE49-F238E27FC236}">
                <a16:creationId xmlns:a16="http://schemas.microsoft.com/office/drawing/2014/main" id="{4E4F6D93-F5EF-3C31-65DB-E97357F7C4EC}"/>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14" name="Rectangle 13">
            <a:extLst>
              <a:ext uri="{FF2B5EF4-FFF2-40B4-BE49-F238E27FC236}">
                <a16:creationId xmlns:a16="http://schemas.microsoft.com/office/drawing/2014/main" id="{71BB0383-E105-94C1-3515-9580797AED1A}"/>
              </a:ext>
            </a:extLst>
          </p:cNvPr>
          <p:cNvSpPr>
            <a:spLocks noChangeAspect="1" noChangeArrowheads="1"/>
          </p:cNvSpPr>
          <p:nvPr/>
        </p:nvSpPr>
        <p:spPr bwMode="auto">
          <a:xfrm>
            <a:off x="164592" y="1871317"/>
            <a:ext cx="243017" cy="30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GB"/>
          </a:p>
        </p:txBody>
      </p:sp>
      <p:sp>
        <p:nvSpPr>
          <p:cNvPr id="5" name="TextBox 4">
            <a:extLst>
              <a:ext uri="{FF2B5EF4-FFF2-40B4-BE49-F238E27FC236}">
                <a16:creationId xmlns:a16="http://schemas.microsoft.com/office/drawing/2014/main" id="{B473A920-3FC0-04F7-FBB3-735BFD2254C5}"/>
              </a:ext>
            </a:extLst>
          </p:cNvPr>
          <p:cNvSpPr txBox="1"/>
          <p:nvPr/>
        </p:nvSpPr>
        <p:spPr>
          <a:xfrm>
            <a:off x="812292" y="737108"/>
            <a:ext cx="6320028" cy="3785652"/>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Machine Translation:</a:t>
            </a:r>
            <a:r>
              <a:rPr lang="en-GB" sz="1600" b="0" i="0" u="none" strike="noStrike" dirty="0">
                <a:solidFill>
                  <a:srgbClr val="000000"/>
                </a:solidFill>
                <a:effectLst/>
              </a:rPr>
              <a:t> Significantly improves accuracy by focusing on relevant source sentence parts during target word generation.</a:t>
            </a:r>
          </a:p>
          <a:p>
            <a:pPr marL="342900" indent="-342900" algn="l">
              <a:buFont typeface="+mj-lt"/>
              <a:buAutoNum type="arabicPeriod"/>
            </a:pPr>
            <a:r>
              <a:rPr lang="en-GB" sz="1600" b="1" i="0" u="none" strike="noStrike" dirty="0">
                <a:solidFill>
                  <a:srgbClr val="000000"/>
                </a:solidFill>
                <a:effectLst/>
              </a:rPr>
              <a:t>Sentiment Analysis &amp; Named Entity Recognition:</a:t>
            </a:r>
            <a:r>
              <a:rPr lang="en-GB" sz="1600" b="0" i="0" u="none" strike="noStrike" dirty="0">
                <a:solidFill>
                  <a:srgbClr val="000000"/>
                </a:solidFill>
                <a:effectLst/>
              </a:rPr>
              <a:t> Helps models identify key words crucial for tasks like sentiment classification and entity extraction.</a:t>
            </a:r>
          </a:p>
          <a:p>
            <a:pPr marL="342900" indent="-342900" algn="l">
              <a:buFont typeface="+mj-lt"/>
              <a:buAutoNum type="arabicPeriod"/>
            </a:pPr>
            <a:r>
              <a:rPr lang="en-GB" sz="1600" b="1" i="0" u="none" strike="noStrike" dirty="0">
                <a:solidFill>
                  <a:srgbClr val="000000"/>
                </a:solidFill>
                <a:effectLst/>
              </a:rPr>
              <a:t>Text Summarization:</a:t>
            </a:r>
            <a:r>
              <a:rPr lang="en-GB" sz="1600" b="0" i="0" u="none" strike="noStrike" dirty="0">
                <a:solidFill>
                  <a:srgbClr val="000000"/>
                </a:solidFill>
                <a:effectLst/>
              </a:rPr>
              <a:t> Enables the selection of important information for generating concise and accurate summaries.</a:t>
            </a:r>
          </a:p>
          <a:p>
            <a:pPr marL="342900" indent="-342900" algn="l">
              <a:buFont typeface="+mj-lt"/>
              <a:buAutoNum type="arabicPeriod"/>
            </a:pPr>
            <a:r>
              <a:rPr lang="en-GB" sz="1600" b="1" i="0" u="none" strike="noStrike" dirty="0">
                <a:solidFill>
                  <a:srgbClr val="000000"/>
                </a:solidFill>
                <a:effectLst/>
              </a:rPr>
              <a:t>Image Captioning:</a:t>
            </a:r>
            <a:r>
              <a:rPr lang="en-GB" sz="1600" b="0" i="0" u="none" strike="noStrike" dirty="0">
                <a:solidFill>
                  <a:srgbClr val="000000"/>
                </a:solidFill>
                <a:effectLst/>
              </a:rPr>
              <a:t> Allows models to focus on specific regions of an image when generating descriptive captions, enhancing detail.</a:t>
            </a:r>
          </a:p>
          <a:p>
            <a:pPr marL="342900" indent="-342900" algn="l">
              <a:buFont typeface="+mj-lt"/>
              <a:buAutoNum type="arabicPeriod"/>
            </a:pPr>
            <a:r>
              <a:rPr lang="en-GB" sz="1600" b="1" i="0" u="none" strike="noStrike" dirty="0">
                <a:solidFill>
                  <a:srgbClr val="000000"/>
                </a:solidFill>
                <a:effectLst/>
              </a:rPr>
              <a:t>Future Potential:</a:t>
            </a:r>
            <a:r>
              <a:rPr lang="en-GB" sz="1600" b="0" i="0" u="none" strike="noStrike" dirty="0">
                <a:solidFill>
                  <a:srgbClr val="000000"/>
                </a:solidFill>
                <a:effectLst/>
              </a:rPr>
              <a:t> Attention mechanisms are expected to continue improving, leading to more efficient and capable models for increasingly complex tasks.</a:t>
            </a:r>
          </a:p>
          <a:p>
            <a:pPr marL="342900" indent="-342900" algn="l">
              <a:buFont typeface="+mj-lt"/>
              <a:buAutoNum type="arabicPeriod"/>
            </a:pPr>
            <a:endParaRPr lang="en-GB" sz="1600" b="0" i="0" u="none" strike="noStrike" dirty="0">
              <a:solidFill>
                <a:srgbClr val="000000"/>
              </a:solidFill>
              <a:effectLst/>
            </a:endParaRPr>
          </a:p>
        </p:txBody>
      </p:sp>
    </p:spTree>
    <p:extLst>
      <p:ext uri="{BB962C8B-B14F-4D97-AF65-F5344CB8AC3E}">
        <p14:creationId xmlns:p14="http://schemas.microsoft.com/office/powerpoint/2010/main" val="3088299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362459"/>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https://</a:t>
            </a:r>
            <a:r>
              <a:rPr lang="en-GB" sz="2000" b="0" i="0" u="none" strike="noStrike" dirty="0" err="1">
                <a:solidFill>
                  <a:srgbClr val="404040"/>
                </a:solidFill>
                <a:effectLst/>
                <a:latin typeface="Inter" panose="02000503000000020004" pitchFamily="2" charset="0"/>
              </a:rPr>
              <a:t>www.geeksforgeeks.org</a:t>
            </a:r>
            <a:r>
              <a:rPr lang="en-GB" sz="2000" b="0" i="0" u="none" strike="noStrike" dirty="0">
                <a:solidFill>
                  <a:srgbClr val="404040"/>
                </a:solidFill>
                <a:effectLst/>
                <a:latin typeface="Inter" panose="02000503000000020004" pitchFamily="2" charset="0"/>
              </a:rPr>
              <a:t>/ml-attention-mechanism/ </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22112</TotalTime>
  <Words>3425</Words>
  <Application>Microsoft Macintosh PowerPoint</Application>
  <PresentationFormat>On-screen Show (16:9)</PresentationFormat>
  <Paragraphs>203</Paragraphs>
  <Slides>27</Slides>
  <Notes>27</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27</vt:i4>
      </vt:variant>
    </vt:vector>
  </HeadingPairs>
  <TitlesOfParts>
    <vt:vector size="44" baseType="lpstr">
      <vt:lpstr>-webkit-standard</vt:lpstr>
      <vt:lpstr>DeepSeek-CJK-patch</vt:lpstr>
      <vt:lpstr>Tajawal</vt:lpstr>
      <vt:lpstr>IBM Plex Sans Arabic Medium</vt:lpstr>
      <vt:lpstr>Nunito</vt:lpstr>
      <vt:lpstr>IBM Plex Sans Arabic SemiBold</vt:lpstr>
      <vt:lpstr>Cambria Math</vt:lpstr>
      <vt:lpstr>IBM Plex Sans Arabic</vt:lpstr>
      <vt:lpstr>Calibri</vt:lpstr>
      <vt:lpstr>Wingdings</vt:lpstr>
      <vt:lpstr>KaTeX_Main</vt:lpstr>
      <vt:lpstr>Aptos</vt:lpstr>
      <vt:lpstr>Inter</vt:lpstr>
      <vt:lpstr>Times New Roman</vt:lpstr>
      <vt:lpstr>KaTeX_Math</vt:lpstr>
      <vt:lpstr>Arial</vt:lpstr>
      <vt:lpstr>Simple Light</vt:lpstr>
      <vt:lpstr>أكـــــاديميــــة طــــويـــق</vt:lpstr>
      <vt:lpstr>Attention Mechanism    </vt:lpstr>
      <vt:lpstr>PowerPoint Presentation</vt:lpstr>
      <vt:lpstr>Introduction to Attention Mechanisms     </vt:lpstr>
      <vt:lpstr>Key Takeaways about Attention Mechanism:    </vt:lpstr>
      <vt:lpstr>Why attention mechanisms are so important ?    </vt:lpstr>
      <vt:lpstr>Why attention mechanisms are so important ?    </vt:lpstr>
      <vt:lpstr>How attention mechanisms works.     </vt:lpstr>
      <vt:lpstr>How attention mechanisms works contd...     </vt:lpstr>
      <vt:lpstr>How attention mechanisms works contd...     </vt:lpstr>
      <vt:lpstr>Query, Keys, and Values    </vt:lpstr>
      <vt:lpstr>Query, Keys, and Values    </vt:lpstr>
      <vt:lpstr>Additive Attention (Bahdanau et al., 2014):     </vt:lpstr>
      <vt:lpstr>Dot Product Attention (Luong et al., 2015):      </vt:lpstr>
      <vt:lpstr>Scaled Dot Product Attention (Vaswani et al., 2017):       </vt:lpstr>
      <vt:lpstr>Attention Mechanism Architecture for Machine Translation        </vt:lpstr>
      <vt:lpstr>1. Encoder        </vt:lpstr>
      <vt:lpstr>Encoder        </vt:lpstr>
      <vt:lpstr>2. Attention:          </vt:lpstr>
      <vt:lpstr>2. Attention:          </vt:lpstr>
      <vt:lpstr>2. Attention:          </vt:lpstr>
      <vt:lpstr>2. Attention:          </vt:lpstr>
      <vt:lpstr>3. Decoder:          </vt:lpstr>
      <vt:lpstr>Applications of Attention Mechanisms: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53</cp:revision>
  <dcterms:modified xsi:type="dcterms:W3CDTF">2025-05-18T17:15:48Z</dcterms:modified>
</cp:coreProperties>
</file>