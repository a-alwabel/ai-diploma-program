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98" r:id="rId5"/>
    <p:sldId id="313" r:id="rId6"/>
    <p:sldId id="314" r:id="rId7"/>
    <p:sldId id="324" r:id="rId8"/>
    <p:sldId id="325" r:id="rId9"/>
    <p:sldId id="315" r:id="rId10"/>
    <p:sldId id="327" r:id="rId11"/>
    <p:sldId id="329" r:id="rId12"/>
    <p:sldId id="330" r:id="rId13"/>
    <p:sldId id="326" r:id="rId14"/>
    <p:sldId id="262" r:id="rId15"/>
    <p:sldId id="291" r:id="rId16"/>
    <p:sldId id="312" r:id="rId17"/>
    <p:sldId id="275" r:id="rId18"/>
    <p:sldId id="276" r:id="rId19"/>
  </p:sldIdLst>
  <p:sldSz cx="9144000" cy="5143500" type="screen16x9"/>
  <p:notesSz cx="6858000" cy="9144000"/>
  <p:embeddedFontLst>
    <p:embeddedFont>
      <p:font typeface="IBM Plex Sans Arabic" panose="020B0603050203000203" pitchFamily="34" charset="-78"/>
      <p:regular r:id="rId21"/>
      <p:bold r:id="rId22"/>
    </p:embeddedFont>
    <p:embeddedFont>
      <p:font typeface="IBM Plex Sans Arabic Medium" panose="020B0603050203000203" pitchFamily="34" charset="-78"/>
      <p:regular r:id="rId23"/>
      <p:bold r:id="rId24"/>
    </p:embeddedFont>
    <p:embeddedFont>
      <p:font typeface="IBM Plex Sans Arabic SemiBold" panose="020B0603050203000203" pitchFamily="34" charset="-78"/>
      <p:regular r:id="rId25"/>
      <p:bold r:id="rId26"/>
    </p:embeddedFont>
    <p:embeddedFont>
      <p:font typeface="Inter" panose="02000503000000020004" pitchFamily="2" charset="0"/>
      <p:regular r:id="rId27"/>
      <p:bold r:id="rId28"/>
      <p:italic r:id="rId29"/>
      <p:boldItalic r:id="rId30"/>
    </p:embeddedFont>
    <p:embeddedFont>
      <p:font typeface="Tajawal" pitchFamily="2" charset="-78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KcFO/Xev719AjEfE5iQO6xfjK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E1F5B-7058-4A9B-AF8C-0847D0C7EE07}">
  <a:tblStyle styleId="{541E1F5B-7058-4A9B-AF8C-0847D0C7EE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4"/>
    <p:restoredTop sz="94650"/>
  </p:normalViewPr>
  <p:slideViewPr>
    <p:cSldViewPr snapToGrid="0">
      <p:cViewPr varScale="1">
        <p:scale>
          <a:sx n="168" d="100"/>
          <a:sy n="168" d="100"/>
        </p:scale>
        <p:origin x="136" y="872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CE20816-1F24-46D9-89DD-6FFEE700F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07CD495B-FC5A-F226-2523-6E0861CBC8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6B7203EE-8E11-9321-099D-0620FB1838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9817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952F22A-B522-3F7F-EB7F-9FA66A6CB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3AB2B379-32B8-A8BF-C5B5-FEED64C71A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0968CF6E-7557-32C7-5F5B-890A408C4D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8624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F7F05E1-AD3D-8D31-9318-164D5046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9BAC08A2-768E-5EC5-6BAA-B89FE6E09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A094B54C-B45B-DB09-7C17-4475342A31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6589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421C5779-D55A-BC11-78BD-0EB710430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08D8DEAE-9DCE-BD23-05A8-1DA6865979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1FE162AD-15A1-BE46-C7EC-627A00BE15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6149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DC95949-2EEA-8B1C-4D08-8A033F1E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813A456B-7921-B82A-75CA-5FA9E6C1DB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FA7CB862-7D1B-8EE8-9F52-C857357372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5591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6D49381-67C0-C07B-203A-A470AC9AA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5169901A-C176-27A7-35F4-E0C74757DC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F8414AF8-D49A-730B-2ADA-FBFE385578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9220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4450B0A-1150-0D8C-F60C-B74E653F0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D5B76E02-2564-F9FA-91DE-7F78DC03B7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9D8D8A83-DAC6-07C6-84AF-186438FBE8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2711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B594632-9BEA-A1E6-5A55-C9BE3A3BA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43078E59-3468-E632-4EC3-E879055D56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556CB5E5-EC54-7194-7ACD-1992072B14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7792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4C5C78B-D26F-253B-8CDD-86E3DA04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87BDFEE1-5384-B2F7-E3E0-4E9E73D64F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25602BC4-6D21-0DFE-C05C-CF5D2040A1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53895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57752C9-1940-D326-B0AB-642E9C608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8F876F7F-82BC-6ED1-C8F7-37CF990D71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EAAC30DF-FAC6-C682-5B1A-9A5814DBED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84522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BECD89B-AAA3-F8FE-DFBC-CC79A9A4E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F508F7A9-5506-B123-0264-14DD3EE902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CCD177CE-FC44-74CB-378D-8296859D5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2857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keras.io/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Deep Learning</a:t>
            </a:r>
            <a:endParaRPr sz="3600" dirty="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311700" y="1984439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GB" sz="3200" b="1" i="0" u="none" strike="noStrike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Training Neural Networks</a:t>
            </a: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</a:b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</a:b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2500"/>
              <a:buFont typeface="Tajawal"/>
              <a:buNone/>
            </a:pPr>
            <a:r>
              <a:rPr lang="en-GB" sz="20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Forward Propagation to Optimizers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655513" y="612177"/>
            <a:ext cx="6634716" cy="3393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sz="1800" dirty="0"/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Understand the biological inspiration</a:t>
            </a:r>
            <a:r>
              <a:rPr lang="en-GB" sz="1600" dirty="0"/>
              <a:t> behind artificial neural networks and how they relate to human brain structure.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Describe the structure and function</a:t>
            </a:r>
            <a:r>
              <a:rPr lang="en-GB" sz="1600" dirty="0"/>
              <a:t> of a perceptron and multi-layer </a:t>
            </a:r>
            <a:r>
              <a:rPr lang="en-GB" sz="1600" dirty="0" err="1"/>
              <a:t>perceptrons</a:t>
            </a:r>
            <a:r>
              <a:rPr lang="en-GB" sz="1600" dirty="0"/>
              <a:t> (MLPs).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Differentiate between common activation functions</a:t>
            </a:r>
            <a:r>
              <a:rPr lang="en-GB" sz="1600" dirty="0"/>
              <a:t> (</a:t>
            </a:r>
            <a:r>
              <a:rPr lang="en-GB" sz="1600" dirty="0" err="1"/>
              <a:t>ReLU</a:t>
            </a:r>
            <a:r>
              <a:rPr lang="en-GB" sz="1600" dirty="0"/>
              <a:t>, Sigmoid, Tanh, </a:t>
            </a:r>
            <a:r>
              <a:rPr lang="en-GB" sz="1600" dirty="0" err="1"/>
              <a:t>Softmax</a:t>
            </a:r>
            <a:r>
              <a:rPr lang="en-GB" sz="1600" dirty="0"/>
              <a:t>) and understand when to use them.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Explain the training process of neural networks</a:t>
            </a:r>
            <a:r>
              <a:rPr lang="en-GB" sz="1600" dirty="0"/>
              <a:t>, including forward propagation, loss computation, backpropagation, and optimization.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Implement and train a simple neural network model</a:t>
            </a:r>
            <a:r>
              <a:rPr lang="en-GB" sz="1600" dirty="0"/>
              <a:t> using Python and </a:t>
            </a:r>
            <a:r>
              <a:rPr lang="en-GB" sz="1600" dirty="0" err="1"/>
              <a:t>Keras</a:t>
            </a:r>
            <a:r>
              <a:rPr lang="en-GB" sz="1600" dirty="0"/>
              <a:t> on real-world datasets.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4EF5623-6B09-C586-D026-E18156823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1B8CE39D-1BAA-9EAF-5C66-19BBE6DD20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dirty="0"/>
              <a:t>Forward Propagation</a:t>
            </a:r>
            <a:br>
              <a:rPr lang="en-GB" sz="3200" b="1" dirty="0"/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A4482F75-B306-CAB6-0919-E013D5E5A0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7B443-016B-2F0F-23AA-504B7B468665}"/>
              </a:ext>
            </a:extLst>
          </p:cNvPr>
          <p:cNvSpPr txBox="1"/>
          <p:nvPr/>
        </p:nvSpPr>
        <p:spPr>
          <a:xfrm>
            <a:off x="174929" y="850790"/>
            <a:ext cx="88418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The process where input data passes through the network to generate predictions.</a:t>
            </a:r>
          </a:p>
          <a:p>
            <a:pPr>
              <a:buNone/>
            </a:pPr>
            <a:r>
              <a:rPr lang="en-GB" sz="1600" b="1" dirty="0"/>
              <a:t>What Happens?</a:t>
            </a: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Inputs pass through each layer (using weights, biases, activation functions)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Each neuron outputs a value to the next layer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Final output is used to make predictions</a:t>
            </a:r>
          </a:p>
          <a:p>
            <a:pPr>
              <a:buNone/>
            </a:pPr>
            <a:r>
              <a:rPr lang="en-GB" sz="1600" b="1" dirty="0"/>
              <a:t>Mathematically:</a:t>
            </a:r>
            <a:endParaRPr lang="en-GB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z=</a:t>
            </a:r>
            <a:r>
              <a:rPr lang="en-GB" sz="1600" dirty="0" err="1"/>
              <a:t>w⋅x+b</a:t>
            </a:r>
            <a:endParaRPr lang="en-GB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a=activation(z)</a:t>
            </a:r>
          </a:p>
          <a:p>
            <a:r>
              <a:rPr lang="en-GB" sz="1600" b="1" dirty="0"/>
              <a:t>Example:</a:t>
            </a:r>
            <a:endParaRPr lang="en-GB" sz="1600" dirty="0"/>
          </a:p>
          <a:p>
            <a:pPr algn="l"/>
            <a:endParaRPr lang="en-GB" sz="160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560B76-570A-28B7-4FC5-CD83ADEAB5B3}"/>
              </a:ext>
            </a:extLst>
          </p:cNvPr>
          <p:cNvSpPr txBox="1"/>
          <p:nvPr/>
        </p:nvSpPr>
        <p:spPr>
          <a:xfrm>
            <a:off x="1397508" y="3007335"/>
            <a:ext cx="5789676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Input Layer       Hidden Layer       Output</a:t>
            </a:r>
          </a:p>
          <a:p>
            <a:r>
              <a:rPr lang="en-US" dirty="0"/>
              <a:t>   x₁=0.5 \ </a:t>
            </a:r>
          </a:p>
          <a:p>
            <a:r>
              <a:rPr lang="en-US" dirty="0"/>
              <a:t>            → z = (0.5×0.1 + -1.2×-0.3) + 0.2 = 0.61 → </a:t>
            </a:r>
            <a:r>
              <a:rPr lang="en-US" dirty="0" err="1"/>
              <a:t>σ</a:t>
            </a:r>
            <a:r>
              <a:rPr lang="en-US" dirty="0"/>
              <a:t>(0.61) = 0.648</a:t>
            </a:r>
          </a:p>
          <a:p>
            <a:r>
              <a:rPr lang="en-US" dirty="0"/>
              <a:t>   x₂=-1.2 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D08ED7-3CB5-0547-1306-65B800389FF5}"/>
              </a:ext>
            </a:extLst>
          </p:cNvPr>
          <p:cNvSpPr txBox="1"/>
          <p:nvPr/>
        </p:nvSpPr>
        <p:spPr>
          <a:xfrm>
            <a:off x="451371" y="4029359"/>
            <a:ext cx="1795684" cy="8194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Where , 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C00000"/>
                </a:solidFill>
                <a:effectLst/>
                <a:latin typeface="Courier New" panose="02070309020205020404" pitchFamily="49" charset="0"/>
              </a:rPr>
              <a:t>X = [0.5, -1.2]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C00000"/>
                </a:solidFill>
                <a:effectLst/>
                <a:latin typeface="Courier New" panose="02070309020205020404" pitchFamily="49" charset="0"/>
              </a:rPr>
              <a:t>W = [0.1, -0.3</a:t>
            </a:r>
            <a:r>
              <a:rPr lang="en-GB" dirty="0">
                <a:solidFill>
                  <a:srgbClr val="C00000"/>
                </a:solidFill>
                <a:latin typeface="Courier New" panose="02070309020205020404" pitchFamily="49" charset="0"/>
              </a:rPr>
              <a:t>]</a:t>
            </a:r>
            <a:endParaRPr lang="en-GB" b="0" i="0" u="none" strike="noStrike" dirty="0">
              <a:solidFill>
                <a:srgbClr val="C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lnSpc>
                <a:spcPts val="1425"/>
              </a:lnSpc>
            </a:pPr>
            <a:r>
              <a:rPr lang="en-GB" b="0" i="0" u="none" strike="noStrike" dirty="0">
                <a:solidFill>
                  <a:srgbClr val="C00000"/>
                </a:solidFill>
                <a:effectLst/>
                <a:latin typeface="Courier New" panose="02070309020205020404" pitchFamily="49" charset="0"/>
              </a:rPr>
              <a:t>bias = 0.2</a:t>
            </a:r>
          </a:p>
        </p:txBody>
      </p:sp>
    </p:spTree>
    <p:extLst>
      <p:ext uri="{BB962C8B-B14F-4D97-AF65-F5344CB8AC3E}">
        <p14:creationId xmlns:p14="http://schemas.microsoft.com/office/powerpoint/2010/main" val="2377176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3DBC826-BC4E-FDF2-F328-F43109755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58A64D47-451B-23ED-95BB-59B289E16D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dirty="0"/>
              <a:t>Loss Computation</a:t>
            </a:r>
            <a:br>
              <a:rPr lang="en-GB" sz="3200" b="1" dirty="0"/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993AB7DD-8F27-9CBE-D7F9-ADCC3CB2C0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4F231-4332-F87D-13D0-06E76CA253E2}"/>
              </a:ext>
            </a:extLst>
          </p:cNvPr>
          <p:cNvSpPr txBox="1"/>
          <p:nvPr/>
        </p:nvSpPr>
        <p:spPr>
          <a:xfrm>
            <a:off x="174929" y="850790"/>
            <a:ext cx="712436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Purpose:</a:t>
            </a:r>
            <a:r>
              <a:rPr lang="en-GB" sz="1600" dirty="0"/>
              <a:t> Measure how far the prediction is from the true value.</a:t>
            </a:r>
          </a:p>
          <a:p>
            <a:pPr>
              <a:buNone/>
            </a:pPr>
            <a:r>
              <a:rPr lang="en-GB" sz="1600" b="1" dirty="0"/>
              <a:t>Common Loss Functions:</a:t>
            </a: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Mean Squared Error (MSE):</a:t>
            </a:r>
            <a:r>
              <a:rPr lang="en-GB" sz="1600" dirty="0"/>
              <a:t> For regression</a:t>
            </a:r>
            <a:br>
              <a:rPr lang="en-GB" sz="1600" dirty="0"/>
            </a:br>
            <a:r>
              <a:rPr lang="en-GB" sz="1600" dirty="0"/>
              <a:t>L=1/n∑(</a:t>
            </a:r>
            <a:r>
              <a:rPr lang="en-GB" sz="1600" dirty="0" err="1"/>
              <a:t>y</a:t>
            </a:r>
            <a:r>
              <a:rPr lang="en-GB" sz="1600" baseline="-25000" dirty="0" err="1"/>
              <a:t>true</a:t>
            </a:r>
            <a:r>
              <a:rPr lang="en-GB" sz="1600" dirty="0" err="1"/>
              <a:t>−y</a:t>
            </a:r>
            <a:r>
              <a:rPr lang="en-GB" sz="1600" baseline="-25000" dirty="0" err="1"/>
              <a:t>pred</a:t>
            </a:r>
            <a:r>
              <a:rPr lang="en-GB" sz="1600" dirty="0"/>
              <a:t>)</a:t>
            </a:r>
            <a:r>
              <a:rPr lang="en-GB" sz="1600" baseline="30000" dirty="0"/>
              <a:t>2</a:t>
            </a:r>
            <a:r>
              <a:rPr lang="en-GB" sz="1600" dirty="0"/>
              <a:t> </a:t>
            </a:r>
          </a:p>
          <a:p>
            <a:pPr marL="342900" indent="-342900">
              <a:buFont typeface="+mj-lt"/>
              <a:buAutoNum type="arabicPeriod"/>
            </a:pP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Categorical </a:t>
            </a:r>
            <a:r>
              <a:rPr lang="en-GB" sz="1600" b="1" dirty="0" err="1"/>
              <a:t>Crossentropy</a:t>
            </a:r>
            <a:r>
              <a:rPr lang="en-GB" sz="1600" b="1" dirty="0"/>
              <a:t>:</a:t>
            </a:r>
            <a:r>
              <a:rPr lang="en-GB" sz="1600" dirty="0"/>
              <a:t> For multi-class classification</a:t>
            </a:r>
            <a:br>
              <a:rPr lang="en-GB" sz="1600" dirty="0"/>
            </a:br>
            <a:r>
              <a:rPr lang="en-GB" sz="1600" dirty="0"/>
              <a:t>L=</a:t>
            </a:r>
            <a:r>
              <a:rPr lang="en-GB" sz="1600" b="0" dirty="0">
                <a:effectLst/>
              </a:rPr>
              <a:t>−∑</a:t>
            </a:r>
            <a:r>
              <a:rPr lang="en-GB" sz="1600" b="0" dirty="0" err="1">
                <a:effectLst/>
              </a:rPr>
              <a:t>y</a:t>
            </a:r>
            <a:r>
              <a:rPr lang="en-GB" sz="1600" b="0" baseline="-25000" dirty="0" err="1">
                <a:effectLst/>
              </a:rPr>
              <a:t>true</a:t>
            </a:r>
            <a:r>
              <a:rPr lang="en-GB" sz="1600" b="0" dirty="0" err="1">
                <a:effectLst/>
              </a:rPr>
              <a:t>log</a:t>
            </a:r>
            <a:r>
              <a:rPr lang="en-GB" sz="1600" b="0" dirty="0">
                <a:effectLst/>
              </a:rPr>
              <a:t>⁡(</a:t>
            </a:r>
            <a:r>
              <a:rPr lang="en-GB" sz="1600" b="0" dirty="0" err="1">
                <a:effectLst/>
              </a:rPr>
              <a:t>y</a:t>
            </a:r>
            <a:r>
              <a:rPr lang="en-GB" sz="1600" b="0" baseline="-25000" dirty="0" err="1">
                <a:effectLst/>
              </a:rPr>
              <a:t>pred</a:t>
            </a:r>
            <a:r>
              <a:rPr lang="en-GB" sz="1600" b="0" dirty="0">
                <a:effectLst/>
              </a:rPr>
              <a:t>)</a:t>
            </a:r>
            <a:endParaRPr lang="en-GB" sz="16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sz="1600" i="0" u="none" strike="noStrike" dirty="0">
              <a:solidFill>
                <a:srgbClr val="000000"/>
              </a:solidFill>
              <a:effectLst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06642E-AC7A-8518-074F-06BB2758F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861244"/>
              </p:ext>
            </p:extLst>
          </p:nvPr>
        </p:nvGraphicFramePr>
        <p:xfrm>
          <a:off x="215124" y="3049719"/>
          <a:ext cx="8521701" cy="134112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4225347612"/>
                    </a:ext>
                  </a:extLst>
                </a:gridCol>
                <a:gridCol w="3163740">
                  <a:extLst>
                    <a:ext uri="{9D8B030D-6E8A-4147-A177-3AD203B41FA5}">
                      <a16:colId xmlns:a16="http://schemas.microsoft.com/office/drawing/2014/main" val="1964551886"/>
                    </a:ext>
                  </a:extLst>
                </a:gridCol>
                <a:gridCol w="2517394">
                  <a:extLst>
                    <a:ext uri="{9D8B030D-6E8A-4147-A177-3AD203B41FA5}">
                      <a16:colId xmlns:a16="http://schemas.microsoft.com/office/drawing/2014/main" val="138716711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>
                          <a:effectLst/>
                        </a:rPr>
                        <a:t>Loss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effectLst/>
                        </a:rPr>
                        <a:t>Formula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effectLst/>
                        </a:rPr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55334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 b="1">
                          <a:effectLst/>
                        </a:rPr>
                        <a:t>Mean Squared Error (MSE)</a:t>
                      </a:r>
                      <a:endParaRPr lang="en-GB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0" dirty="0">
                          <a:effectLst/>
                        </a:rPr>
                        <a:t>1/n∑(</a:t>
                      </a:r>
                      <a:r>
                        <a:rPr lang="en-GB" sz="1400" b="0" dirty="0" err="1">
                          <a:effectLst/>
                        </a:rPr>
                        <a:t>y</a:t>
                      </a:r>
                      <a:r>
                        <a:rPr lang="en-GB" sz="1400" b="0" baseline="-25000" dirty="0" err="1">
                          <a:effectLst/>
                        </a:rPr>
                        <a:t>pred</a:t>
                      </a:r>
                      <a:r>
                        <a:rPr lang="en-GB" sz="1400" b="0" dirty="0" err="1">
                          <a:effectLst/>
                        </a:rPr>
                        <a:t>−y</a:t>
                      </a:r>
                      <a:r>
                        <a:rPr lang="en-GB" sz="1400" b="0" baseline="-25000" dirty="0" err="1">
                          <a:effectLst/>
                        </a:rPr>
                        <a:t>true</a:t>
                      </a:r>
                      <a:r>
                        <a:rPr lang="en-GB" sz="1400" b="0" dirty="0">
                          <a:effectLst/>
                        </a:rPr>
                        <a:t>)</a:t>
                      </a:r>
                      <a:r>
                        <a:rPr lang="en-GB" sz="1400" b="0" baseline="30000" dirty="0">
                          <a:effectLst/>
                        </a:rPr>
                        <a:t>2</a:t>
                      </a:r>
                      <a:endParaRPr lang="en-GB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Regression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90495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 b="1">
                          <a:effectLst/>
                        </a:rPr>
                        <a:t>Cross-Entropy</a:t>
                      </a:r>
                      <a:endParaRPr lang="en-GB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0" dirty="0">
                          <a:effectLst/>
                        </a:rPr>
                        <a:t>−∑</a:t>
                      </a:r>
                      <a:r>
                        <a:rPr lang="en-GB" sz="1400" b="0" dirty="0" err="1">
                          <a:effectLst/>
                        </a:rPr>
                        <a:t>y</a:t>
                      </a:r>
                      <a:r>
                        <a:rPr lang="en-GB" sz="1400" b="0" baseline="-25000" dirty="0" err="1">
                          <a:effectLst/>
                        </a:rPr>
                        <a:t>true</a:t>
                      </a:r>
                      <a:r>
                        <a:rPr lang="en-GB" sz="1400" b="0" dirty="0" err="1">
                          <a:effectLst/>
                        </a:rPr>
                        <a:t>log</a:t>
                      </a:r>
                      <a:r>
                        <a:rPr lang="en-GB" sz="1400" b="0" dirty="0">
                          <a:effectLst/>
                        </a:rPr>
                        <a:t>⁡(</a:t>
                      </a:r>
                      <a:r>
                        <a:rPr lang="en-GB" sz="1400" b="0" dirty="0" err="1">
                          <a:effectLst/>
                        </a:rPr>
                        <a:t>y</a:t>
                      </a:r>
                      <a:r>
                        <a:rPr lang="en-GB" sz="1400" b="0" baseline="-25000" dirty="0" err="1">
                          <a:effectLst/>
                        </a:rPr>
                        <a:t>pred</a:t>
                      </a:r>
                      <a:r>
                        <a:rPr lang="en-GB" sz="1400" b="0" dirty="0">
                          <a:effectLst/>
                        </a:rPr>
                        <a:t>)</a:t>
                      </a:r>
                      <a:endParaRPr lang="en-GB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</a:rPr>
                        <a:t>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182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55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CFF5452A-080C-4003-C98E-0830A14DE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23F34580-052E-046C-9F0C-B024EF07D9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dirty="0"/>
              <a:t>Backpropagation</a:t>
            </a:r>
            <a:br>
              <a:rPr lang="en-GB" sz="3200" b="1" dirty="0"/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CCF8A11C-F730-F67F-7CD8-90370F3DBA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531081-5F6E-B37E-770F-19FC2381CD48}"/>
              </a:ext>
            </a:extLst>
          </p:cNvPr>
          <p:cNvSpPr txBox="1"/>
          <p:nvPr/>
        </p:nvSpPr>
        <p:spPr>
          <a:xfrm>
            <a:off x="182880" y="779228"/>
            <a:ext cx="87782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>
                <a:latin typeface="+mj-lt"/>
              </a:rPr>
              <a:t>Goal:</a:t>
            </a:r>
            <a:r>
              <a:rPr lang="en-GB" sz="1600" dirty="0">
                <a:latin typeface="+mj-lt"/>
              </a:rPr>
              <a:t> Find how each weight contributed to the loss, then adjust it.</a:t>
            </a:r>
          </a:p>
          <a:p>
            <a:pPr>
              <a:buNone/>
            </a:pPr>
            <a:r>
              <a:rPr lang="en-GB" sz="1600" b="1" dirty="0">
                <a:latin typeface="+mj-lt"/>
              </a:rPr>
              <a:t>How?</a:t>
            </a:r>
            <a:endParaRPr lang="en-GB" sz="1600" dirty="0">
              <a:latin typeface="+mj-lt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n-GB" sz="1600" dirty="0">
                <a:latin typeface="+mj-lt"/>
              </a:rPr>
              <a:t>Use </a:t>
            </a:r>
            <a:r>
              <a:rPr lang="en-GB" sz="1600" b="1" dirty="0">
                <a:latin typeface="+mj-lt"/>
              </a:rPr>
              <a:t>chain rule of calculus</a:t>
            </a:r>
            <a:r>
              <a:rPr lang="en-GB" sz="1600" dirty="0">
                <a:latin typeface="+mj-lt"/>
              </a:rPr>
              <a:t> to compute derivatives of loss </a:t>
            </a:r>
            <a:r>
              <a:rPr lang="en-GB" sz="1600" dirty="0" err="1">
                <a:latin typeface="+mj-lt"/>
              </a:rPr>
              <a:t>w.r.t.</a:t>
            </a:r>
            <a:r>
              <a:rPr lang="en-GB" sz="1600" dirty="0">
                <a:latin typeface="+mj-lt"/>
              </a:rPr>
              <a:t> weights.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1600" dirty="0">
                <a:latin typeface="+mj-lt"/>
              </a:rPr>
              <a:t>Gradients flow backward from output layer to input layer.</a:t>
            </a:r>
          </a:p>
          <a:p>
            <a:pPr marL="342900" indent="-342900">
              <a:buFont typeface="Wingdings" pitchFamily="2" charset="2"/>
              <a:buChar char="ü"/>
            </a:pPr>
            <a:endParaRPr lang="en-GB" sz="1600" dirty="0">
              <a:latin typeface="+mj-lt"/>
            </a:endParaRP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j-lt"/>
              </a:rPr>
              <a:t>Step-by-Step Process:</a:t>
            </a:r>
          </a:p>
          <a:p>
            <a:pPr algn="l">
              <a:buNone/>
            </a:pPr>
            <a:endParaRPr lang="en-GB" sz="1600" b="0" i="0" u="none" strike="noStrike" dirty="0">
              <a:solidFill>
                <a:srgbClr val="404040"/>
              </a:solidFill>
              <a:effectLst/>
              <a:latin typeface="+mj-lt"/>
            </a:endParaRP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Compute loss derivative </a:t>
            </a:r>
            <a:r>
              <a:rPr lang="en-GB" sz="1600" b="0" i="0" u="none" strike="noStrike" dirty="0" err="1">
                <a:solidFill>
                  <a:srgbClr val="404040"/>
                </a:solidFill>
                <a:effectLst/>
                <a:latin typeface="+mj-lt"/>
              </a:rPr>
              <a:t>w.r.t.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 output:</a:t>
            </a:r>
          </a:p>
          <a:p>
            <a:pPr marL="457200" lvl="1" algn="l">
              <a:spcBef>
                <a:spcPts val="300"/>
              </a:spcBef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For MSE: ∂L/∂</a:t>
            </a:r>
            <a:r>
              <a:rPr lang="en-GB" sz="1600" b="0" i="0" u="none" strike="noStrike" dirty="0" err="1">
                <a:solidFill>
                  <a:srgbClr val="404040"/>
                </a:solidFill>
                <a:effectLst/>
                <a:latin typeface="+mj-lt"/>
              </a:rPr>
              <a:t>y_pred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 = 2(</a:t>
            </a:r>
            <a:r>
              <a:rPr lang="en-GB" sz="1600" b="0" i="0" u="none" strike="noStrike" dirty="0" err="1">
                <a:solidFill>
                  <a:srgbClr val="404040"/>
                </a:solidFill>
                <a:effectLst/>
                <a:latin typeface="+mj-lt"/>
              </a:rPr>
              <a:t>y_pred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 - </a:t>
            </a:r>
            <a:r>
              <a:rPr lang="en-GB" sz="1600" b="0" i="0" u="none" strike="noStrike" dirty="0" err="1">
                <a:solidFill>
                  <a:srgbClr val="404040"/>
                </a:solidFill>
                <a:effectLst/>
                <a:latin typeface="+mj-lt"/>
              </a:rPr>
              <a:t>y_true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Calculate activation derivative:</a:t>
            </a:r>
          </a:p>
          <a:p>
            <a:pPr marL="457200" lvl="1" algn="l">
              <a:spcBef>
                <a:spcPts val="300"/>
              </a:spcBef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Sigmoid: ∂</a:t>
            </a:r>
            <a:r>
              <a:rPr lang="el-GR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σ(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z)/∂z = </a:t>
            </a:r>
            <a:r>
              <a:rPr lang="el-GR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σ(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z)(1 - </a:t>
            </a:r>
            <a:r>
              <a:rPr lang="el-GR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σ(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z))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Determine weight gradients:</a:t>
            </a:r>
          </a:p>
          <a:p>
            <a:pPr marL="457200" lvl="1" algn="l">
              <a:spcBef>
                <a:spcPts val="300"/>
              </a:spcBef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∂L/∂wᵢ = (∂L/∂</a:t>
            </a:r>
            <a:r>
              <a:rPr lang="en-GB" sz="1600" b="0" i="0" u="none" strike="noStrike" dirty="0" err="1">
                <a:solidFill>
                  <a:srgbClr val="404040"/>
                </a:solidFill>
                <a:effectLst/>
                <a:latin typeface="+mj-lt"/>
              </a:rPr>
              <a:t>y_pred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)·(∂</a:t>
            </a:r>
            <a:r>
              <a:rPr lang="en-GB" sz="1600" b="0" i="0" u="none" strike="noStrike" dirty="0" err="1">
                <a:solidFill>
                  <a:srgbClr val="404040"/>
                </a:solidFill>
                <a:effectLst/>
                <a:latin typeface="+mj-lt"/>
              </a:rPr>
              <a:t>y_pred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/∂z)·(∂z/∂wᵢ)</a:t>
            </a:r>
          </a:p>
          <a:p>
            <a:pPr>
              <a:buNone/>
            </a:pPr>
            <a:br>
              <a:rPr lang="en-GB" sz="1600" dirty="0">
                <a:latin typeface="+mj-lt"/>
              </a:rPr>
            </a:br>
            <a:endParaRPr lang="en-GB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07372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E414B0D-F073-A6B5-B6BB-72837DEA9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7237992B-5652-D224-4DE3-E343C52C66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dirty="0"/>
              <a:t>Backpropagation</a:t>
            </a:r>
            <a:br>
              <a:rPr lang="en-GB" sz="3200" b="1" dirty="0"/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3226C410-0CE5-662F-DC60-4E156B28D7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62B06C-BD92-45E5-4759-A3363AF5C0ED}"/>
              </a:ext>
            </a:extLst>
          </p:cNvPr>
          <p:cNvSpPr txBox="1"/>
          <p:nvPr/>
        </p:nvSpPr>
        <p:spPr>
          <a:xfrm>
            <a:off x="182880" y="779228"/>
            <a:ext cx="8778240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Numerical Example:</a:t>
            </a:r>
            <a:b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</a:b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Given: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u="none" strike="noStrike" dirty="0" err="1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y_true</a:t>
            </a: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 = 1, </a:t>
            </a:r>
            <a:r>
              <a:rPr lang="en-GB" sz="2000" b="0" i="0" u="none" strike="noStrike" dirty="0" err="1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y_pred</a:t>
            </a: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 = 0.7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x = 0.5, w = 0.8, b = 0.1</a:t>
            </a:r>
          </a:p>
          <a:p>
            <a:pPr>
              <a:buNone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Calculations:</a:t>
            </a:r>
            <a:br>
              <a:rPr lang="en-GB" sz="1600" dirty="0">
                <a:latin typeface="+mj-lt"/>
              </a:rPr>
            </a:br>
            <a:endParaRPr lang="en-GB" sz="1600" b="1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968970-C7A9-99EC-8495-6FD6C1ED0DEA}"/>
              </a:ext>
            </a:extLst>
          </p:cNvPr>
          <p:cNvSpPr txBox="1"/>
          <p:nvPr/>
        </p:nvSpPr>
        <p:spPr>
          <a:xfrm>
            <a:off x="1946148" y="2156528"/>
            <a:ext cx="4648200" cy="10772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∂L/∂</a:t>
            </a:r>
            <a:r>
              <a:rPr lang="en-US" sz="1600" dirty="0" err="1"/>
              <a:t>y_pred</a:t>
            </a:r>
            <a:r>
              <a:rPr lang="en-US" sz="1600" dirty="0"/>
              <a:t> = 2(0.7 - 1) = -0.6</a:t>
            </a:r>
          </a:p>
          <a:p>
            <a:r>
              <a:rPr lang="en-US" sz="1600" dirty="0"/>
              <a:t>∂</a:t>
            </a:r>
            <a:r>
              <a:rPr lang="en-US" sz="1600" dirty="0" err="1"/>
              <a:t>y_pred</a:t>
            </a:r>
            <a:r>
              <a:rPr lang="en-US" sz="1600" dirty="0"/>
              <a:t>/∂z = 0.7(1-0.7) = 0.21</a:t>
            </a:r>
          </a:p>
          <a:p>
            <a:r>
              <a:rPr lang="en-US" sz="1600" dirty="0"/>
              <a:t>∂z/∂w = x = 0.5</a:t>
            </a:r>
          </a:p>
          <a:p>
            <a:r>
              <a:rPr lang="en-US" sz="1600" dirty="0"/>
              <a:t>∂L/∂w = -0.6 × 0.21 × 0.5 ≈ -0.063</a:t>
            </a:r>
          </a:p>
        </p:txBody>
      </p:sp>
    </p:spTree>
    <p:extLst>
      <p:ext uri="{BB962C8B-B14F-4D97-AF65-F5344CB8AC3E}">
        <p14:creationId xmlns:p14="http://schemas.microsoft.com/office/powerpoint/2010/main" val="2981802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122FECB-6130-4CF7-3B9C-F286CD09A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DA95CE3F-1B5A-1582-0C74-3A5B2812CE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dirty="0"/>
              <a:t>Backpropagation</a:t>
            </a:r>
            <a:br>
              <a:rPr lang="en-GB" sz="3200" b="1" dirty="0"/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FF49C288-5DEF-AE89-F474-203A781339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0D03C1-658F-6DA7-4C19-F8753F79AE8A}"/>
              </a:ext>
            </a:extLst>
          </p:cNvPr>
          <p:cNvSpPr txBox="1"/>
          <p:nvPr/>
        </p:nvSpPr>
        <p:spPr>
          <a:xfrm>
            <a:off x="725424" y="580712"/>
            <a:ext cx="8119872" cy="4562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2.2 Gradient Descent Optimization</a:t>
            </a:r>
          </a:p>
          <a:p>
            <a:pPr algn="l">
              <a:buNone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Updates weights to minimize loss:</a:t>
            </a:r>
          </a:p>
          <a:p>
            <a:pPr algn="l"/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Weight Update Rule:</a:t>
            </a:r>
            <a:endParaRPr lang="en-GB" sz="1600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algn="l">
              <a:buNone/>
            </a:pPr>
            <a:r>
              <a:rPr lang="en-GB" sz="1600" dirty="0" err="1">
                <a:latin typeface="+mj-lt"/>
              </a:rPr>
              <a:t>w_new</a:t>
            </a:r>
            <a:r>
              <a:rPr lang="en-GB" sz="1600" dirty="0">
                <a:latin typeface="+mj-lt"/>
              </a:rPr>
              <a:t> = </a:t>
            </a:r>
            <a:r>
              <a:rPr lang="en-GB" sz="1600" dirty="0" err="1">
                <a:latin typeface="+mj-lt"/>
              </a:rPr>
              <a:t>w_old</a:t>
            </a:r>
            <a:r>
              <a:rPr lang="en-GB" sz="1600" dirty="0">
                <a:latin typeface="+mj-lt"/>
              </a:rPr>
              <a:t> - </a:t>
            </a:r>
            <a:r>
              <a:rPr lang="el-GR" sz="1600" dirty="0">
                <a:latin typeface="+mj-lt"/>
              </a:rPr>
              <a:t>η·(∂</a:t>
            </a:r>
            <a:r>
              <a:rPr lang="en-GB" sz="1600" dirty="0">
                <a:latin typeface="+mj-lt"/>
              </a:rPr>
              <a:t>L/∂w)</a:t>
            </a:r>
            <a:br>
              <a:rPr lang="en-GB" sz="1600" dirty="0">
                <a:latin typeface="+mj-lt"/>
              </a:rPr>
            </a:b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Where </a:t>
            </a:r>
            <a:r>
              <a:rPr lang="el-GR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η 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is the learning rate.</a:t>
            </a:r>
          </a:p>
          <a:p>
            <a:pPr algn="l"/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Visualization of Convergence:</a:t>
            </a:r>
            <a:endParaRPr lang="en-GB" sz="1600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algn="l">
              <a:buNone/>
            </a:pPr>
            <a:endParaRPr lang="en-GB" sz="1600" b="1" i="0" u="none" strike="noStrike" dirty="0">
              <a:solidFill>
                <a:srgbClr val="404040"/>
              </a:solidFill>
              <a:effectLst/>
              <a:latin typeface="+mj-lt"/>
            </a:endParaRPr>
          </a:p>
          <a:p>
            <a:pPr algn="l">
              <a:buNone/>
            </a:pPr>
            <a:endParaRPr lang="en-GB" sz="1600" b="1" dirty="0">
              <a:solidFill>
                <a:srgbClr val="404040"/>
              </a:solidFill>
              <a:latin typeface="+mj-lt"/>
            </a:endParaRPr>
          </a:p>
          <a:p>
            <a:pPr algn="l">
              <a:buNone/>
            </a:pPr>
            <a:endParaRPr lang="en-GB" sz="1600" b="1" i="0" u="none" strike="noStrike" dirty="0">
              <a:solidFill>
                <a:srgbClr val="404040"/>
              </a:solidFill>
              <a:effectLst/>
              <a:latin typeface="+mj-lt"/>
            </a:endParaRPr>
          </a:p>
          <a:p>
            <a:pPr algn="l">
              <a:buNone/>
            </a:pPr>
            <a:endParaRPr lang="en-GB" sz="1600" b="1" dirty="0">
              <a:solidFill>
                <a:srgbClr val="404040"/>
              </a:solidFill>
              <a:latin typeface="+mj-lt"/>
            </a:endParaRPr>
          </a:p>
          <a:p>
            <a:pPr algn="l">
              <a:buNone/>
            </a:pPr>
            <a:endParaRPr lang="en-GB" sz="1600" b="1" i="0" u="none" strike="noStrike" dirty="0">
              <a:solidFill>
                <a:srgbClr val="404040"/>
              </a:solidFill>
              <a:effectLst/>
              <a:latin typeface="+mj-lt"/>
            </a:endParaRPr>
          </a:p>
          <a:p>
            <a:pPr algn="l">
              <a:buNone/>
            </a:pPr>
            <a:endParaRPr lang="en-GB" sz="1600" b="1" i="0" u="none" strike="noStrike" dirty="0">
              <a:solidFill>
                <a:srgbClr val="404040"/>
              </a:solidFill>
              <a:effectLst/>
              <a:latin typeface="+mj-lt"/>
            </a:endParaRPr>
          </a:p>
          <a:p>
            <a:pPr algn="l">
              <a:buNone/>
            </a:pPr>
            <a:endParaRPr lang="en-GB" sz="1600" b="1" dirty="0">
              <a:solidFill>
                <a:srgbClr val="404040"/>
              </a:solidFill>
              <a:latin typeface="+mj-lt"/>
            </a:endParaRPr>
          </a:p>
          <a:p>
            <a:pPr algn="l">
              <a:buNone/>
            </a:pPr>
            <a:endParaRPr lang="en-GB" sz="1600" b="1" i="0" u="none" strike="noStrike" dirty="0">
              <a:solidFill>
                <a:srgbClr val="404040"/>
              </a:solidFill>
              <a:effectLst/>
              <a:latin typeface="+mj-lt"/>
            </a:endParaRP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j-lt"/>
              </a:rPr>
              <a:t>Learning Rate Effects:</a:t>
            </a:r>
            <a:endParaRPr lang="en-GB" sz="1600" b="0" i="0" u="none" strike="noStrike" dirty="0">
              <a:solidFill>
                <a:srgbClr val="404040"/>
              </a:solidFill>
              <a:effectLst/>
              <a:latin typeface="+mj-lt"/>
            </a:endParaRPr>
          </a:p>
          <a:p>
            <a:pPr marL="285750" indent="-285750" algn="l">
              <a:buFont typeface="Wingdings" pitchFamily="2" charset="2"/>
              <a:buChar char="ü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Too small: Slow convergence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Too large: May overshoot minimum</a:t>
            </a:r>
          </a:p>
          <a:p>
            <a:pPr algn="l">
              <a:buNone/>
            </a:pPr>
            <a:endParaRPr lang="en-GB" sz="1600" b="1" dirty="0">
              <a:latin typeface="+mj-lt"/>
            </a:endParaRPr>
          </a:p>
        </p:txBody>
      </p:sp>
      <p:pic>
        <p:nvPicPr>
          <p:cNvPr id="12290" name="Picture 2" descr="Learning Rate Comparison">
            <a:extLst>
              <a:ext uri="{FF2B5EF4-FFF2-40B4-BE49-F238E27FC236}">
                <a16:creationId xmlns:a16="http://schemas.microsoft.com/office/drawing/2014/main" id="{F5180931-43D6-FE6F-C45B-B91180D3A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811" y="1830670"/>
            <a:ext cx="5776229" cy="2240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8305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FB73C57-71D7-DB2C-C67C-BDC92827C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38AC77D1-4899-4A25-BC96-71902B1608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  <a:t>Optimization Algorithms</a:t>
            </a: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A1A7BF3D-9C75-9C3D-FB70-DFC043042E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E8206-3CEF-B2A8-B1A0-5DDF4CACEC20}"/>
              </a:ext>
            </a:extLst>
          </p:cNvPr>
          <p:cNvSpPr txBox="1"/>
          <p:nvPr/>
        </p:nvSpPr>
        <p:spPr>
          <a:xfrm>
            <a:off x="407175" y="737108"/>
            <a:ext cx="87782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Why Optimization Algorithms?</a:t>
            </a:r>
            <a:endParaRPr lang="en-GB" sz="1600" dirty="0"/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Improve convergence speed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Handle noisy gradients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Adapt learning rates</a:t>
            </a:r>
          </a:p>
          <a:p>
            <a:pPr algn="l"/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 Common Optimizers</a:t>
            </a:r>
          </a:p>
          <a:p>
            <a:pPr>
              <a:buNone/>
            </a:pPr>
            <a:r>
              <a:rPr lang="en-GB" sz="1600" b="1" dirty="0"/>
              <a:t>1. SGD (Stochastic Gradient Descent)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Updates weights using one (or a few) data points at a time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Faster than batch gradient descent</a:t>
            </a:r>
          </a:p>
          <a:p>
            <a:r>
              <a:rPr lang="en-GB" sz="1600" b="1" dirty="0"/>
              <a:t>Pros: </a:t>
            </a:r>
            <a:r>
              <a:rPr lang="en-GB" sz="1600" dirty="0"/>
              <a:t>Simple and efficient</a:t>
            </a:r>
            <a:br>
              <a:rPr lang="en-GB" sz="1600" dirty="0"/>
            </a:br>
            <a:r>
              <a:rPr lang="en-GB" sz="1600" b="1" dirty="0"/>
              <a:t>Cons: </a:t>
            </a:r>
            <a:r>
              <a:rPr lang="en-GB" sz="1600" dirty="0"/>
              <a:t>May get stuck in local minima, noisy updates</a:t>
            </a:r>
          </a:p>
          <a:p>
            <a:pPr>
              <a:buNone/>
            </a:pPr>
            <a:r>
              <a:rPr lang="en-GB" sz="1600" dirty="0"/>
              <a:t>2. </a:t>
            </a:r>
            <a:r>
              <a:rPr lang="en-GB" sz="1600" b="1" dirty="0"/>
              <a:t>Adam (Adaptive Moment Estimation)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Combines momentum + adaptive learning rates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Maintains running averages of gradients and squared gradients</a:t>
            </a:r>
          </a:p>
          <a:p>
            <a:r>
              <a:rPr lang="en-GB" sz="1600" b="1" dirty="0"/>
              <a:t>Pros:</a:t>
            </a:r>
            <a:r>
              <a:rPr lang="en-GB" sz="1600" dirty="0"/>
              <a:t> Fast, widely used, works well in practice</a:t>
            </a:r>
            <a:br>
              <a:rPr lang="en-GB" sz="1600" dirty="0"/>
            </a:br>
            <a:r>
              <a:rPr lang="en-GB" sz="1600" b="1" dirty="0"/>
              <a:t>Cons:</a:t>
            </a:r>
            <a:r>
              <a:rPr lang="en-GB" sz="1600" dirty="0"/>
              <a:t> Can overfit if not regularized</a:t>
            </a:r>
          </a:p>
          <a:p>
            <a:pPr algn="l"/>
            <a:endParaRPr lang="en-GB" sz="2000" b="1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algn="l"/>
            <a:endParaRPr lang="en-GB" sz="160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06172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C00206EE-0AD6-C00A-6DAE-B341F6677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92FD43B2-D3FB-D877-C6D8-2D857BC034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  <a:t>Optimization Algorithms</a:t>
            </a: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5389E3AC-4D00-FF5A-8CF0-8AECCA7BAF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A04E5-3844-4EEC-D8F6-031D83FAD022}"/>
              </a:ext>
            </a:extLst>
          </p:cNvPr>
          <p:cNvSpPr txBox="1"/>
          <p:nvPr/>
        </p:nvSpPr>
        <p:spPr>
          <a:xfrm>
            <a:off x="140208" y="573756"/>
            <a:ext cx="8778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RMSprop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dirty="0"/>
              <a:t>Similar to Adam but slightly simpler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dirty="0"/>
              <a:t>Adapts learning rate based on recent gradients</a:t>
            </a:r>
          </a:p>
          <a:p>
            <a:pPr algn="l"/>
            <a:r>
              <a:rPr lang="en-GB" b="1" dirty="0"/>
              <a:t>Pros:</a:t>
            </a:r>
            <a:r>
              <a:rPr lang="en-GB" dirty="0"/>
              <a:t> Good for recurrent networks</a:t>
            </a:r>
            <a:br>
              <a:rPr lang="en-GB" dirty="0"/>
            </a:br>
            <a:r>
              <a:rPr lang="en-GB" b="1" dirty="0"/>
              <a:t>Cons:</a:t>
            </a:r>
            <a:r>
              <a:rPr lang="en-GB" dirty="0"/>
              <a:t> Hyperparameter tuning required</a:t>
            </a:r>
          </a:p>
          <a:p>
            <a:r>
              <a:rPr lang="en-GB" b="1" dirty="0"/>
              <a:t>Momentum</a:t>
            </a:r>
            <a:br>
              <a:rPr lang="en-GB" dirty="0"/>
            </a:br>
            <a:r>
              <a:rPr lang="en-GB" dirty="0"/>
              <a:t>Accelerates gradient descent by remembering past gradients</a:t>
            </a:r>
            <a:br>
              <a:rPr lang="en-GB" dirty="0"/>
            </a:br>
            <a:r>
              <a:rPr lang="en-GB" dirty="0"/>
              <a:t>Helps updates move consistently in one direction</a:t>
            </a:r>
          </a:p>
          <a:p>
            <a:r>
              <a:rPr lang="en-GB" b="1" dirty="0"/>
              <a:t>Pros:</a:t>
            </a:r>
            <a:r>
              <a:rPr lang="en-GB" dirty="0"/>
              <a:t> Faster convergence, reduces oscillations</a:t>
            </a:r>
            <a:br>
              <a:rPr lang="en-GB" dirty="0"/>
            </a:br>
            <a:r>
              <a:rPr lang="en-GB" b="1" dirty="0"/>
              <a:t>Cons:</a:t>
            </a:r>
            <a:r>
              <a:rPr lang="en-GB" dirty="0"/>
              <a:t> Needs tuning of momentum coefficient (usually 0.9)</a:t>
            </a:r>
          </a:p>
          <a:p>
            <a:pPr algn="l"/>
            <a:endParaRPr lang="en-GB" b="1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algn="l"/>
            <a:endParaRPr lang="en-GB" i="0" u="none" strike="noStrike" dirty="0">
              <a:solidFill>
                <a:srgbClr val="000000"/>
              </a:solidFill>
              <a:effectLst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01CAE6-90AE-D667-CE73-F40BD84E1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61201"/>
              </p:ext>
            </p:extLst>
          </p:nvPr>
        </p:nvGraphicFramePr>
        <p:xfrm>
          <a:off x="225552" y="2832396"/>
          <a:ext cx="7748016" cy="21640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937004">
                  <a:extLst>
                    <a:ext uri="{9D8B030D-6E8A-4147-A177-3AD203B41FA5}">
                      <a16:colId xmlns:a16="http://schemas.microsoft.com/office/drawing/2014/main" val="2724836550"/>
                    </a:ext>
                  </a:extLst>
                </a:gridCol>
                <a:gridCol w="1937004">
                  <a:extLst>
                    <a:ext uri="{9D8B030D-6E8A-4147-A177-3AD203B41FA5}">
                      <a16:colId xmlns:a16="http://schemas.microsoft.com/office/drawing/2014/main" val="1850969259"/>
                    </a:ext>
                  </a:extLst>
                </a:gridCol>
                <a:gridCol w="1937004">
                  <a:extLst>
                    <a:ext uri="{9D8B030D-6E8A-4147-A177-3AD203B41FA5}">
                      <a16:colId xmlns:a16="http://schemas.microsoft.com/office/drawing/2014/main" val="63980229"/>
                    </a:ext>
                  </a:extLst>
                </a:gridCol>
                <a:gridCol w="1937004">
                  <a:extLst>
                    <a:ext uri="{9D8B030D-6E8A-4147-A177-3AD203B41FA5}">
                      <a16:colId xmlns:a16="http://schemas.microsoft.com/office/drawing/2014/main" val="3047402468"/>
                    </a:ext>
                  </a:extLst>
                </a:gridCol>
              </a:tblGrid>
              <a:tr h="283997"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</a:rPr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effectLst/>
                        </a:rPr>
                        <a:t>Update Rule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effectLst/>
                        </a:rPr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</a:rPr>
                        <a:t>Disadvantages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6748186"/>
                  </a:ext>
                </a:extLst>
              </a:tr>
              <a:tr h="283997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SGD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w = w - </a:t>
                      </a:r>
                      <a:r>
                        <a:rPr lang="el-GR" dirty="0">
                          <a:effectLst/>
                        </a:rPr>
                        <a:t>η·∇</a:t>
                      </a:r>
                      <a:r>
                        <a:rPr lang="en-GB" dirty="0">
                          <a:effectLst/>
                        </a:rPr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Slow convergence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277359"/>
                  </a:ext>
                </a:extLst>
              </a:tr>
              <a:tr h="482795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Momentum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v = </a:t>
                      </a:r>
                      <a:r>
                        <a:rPr lang="el-GR">
                          <a:effectLst/>
                        </a:rPr>
                        <a:t>β</a:t>
                      </a:r>
                      <a:r>
                        <a:rPr lang="en-GB">
                          <a:effectLst/>
                        </a:rPr>
                        <a:t>v + (1-</a:t>
                      </a:r>
                      <a:r>
                        <a:rPr lang="el-GR">
                          <a:effectLst/>
                        </a:rPr>
                        <a:t>β)∇</a:t>
                      </a:r>
                      <a:r>
                        <a:rPr lang="en-GB">
                          <a:effectLst/>
                        </a:rPr>
                        <a:t>L</a:t>
                      </a:r>
                      <a:br>
                        <a:rPr lang="en-GB">
                          <a:effectLst/>
                        </a:rPr>
                      </a:br>
                      <a:r>
                        <a:rPr lang="en-GB">
                          <a:effectLst/>
                        </a:rPr>
                        <a:t>w = w - </a:t>
                      </a:r>
                      <a:r>
                        <a:rPr lang="el-GR">
                          <a:effectLst/>
                        </a:rPr>
                        <a:t>η</a:t>
                      </a:r>
                      <a:r>
                        <a:rPr lang="en-GB">
                          <a:effectLst/>
                        </a:rPr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Reduces oscillations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Extra parameter (</a:t>
                      </a:r>
                      <a:r>
                        <a:rPr lang="el-GR">
                          <a:effectLst/>
                        </a:rPr>
                        <a:t>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167684"/>
                  </a:ext>
                </a:extLst>
              </a:tr>
              <a:tr h="482795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RMSprop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s = </a:t>
                      </a:r>
                      <a:r>
                        <a:rPr lang="el-GR">
                          <a:effectLst/>
                        </a:rPr>
                        <a:t>γ</a:t>
                      </a:r>
                      <a:r>
                        <a:rPr lang="en-GB">
                          <a:effectLst/>
                        </a:rPr>
                        <a:t>s + (1-</a:t>
                      </a:r>
                      <a:r>
                        <a:rPr lang="el-GR">
                          <a:effectLst/>
                        </a:rPr>
                        <a:t>γ)(∇</a:t>
                      </a:r>
                      <a:r>
                        <a:rPr lang="en-GB">
                          <a:effectLst/>
                        </a:rPr>
                        <a:t>L)²</a:t>
                      </a:r>
                      <a:br>
                        <a:rPr lang="en-GB">
                          <a:effectLst/>
                        </a:rPr>
                      </a:br>
                      <a:r>
                        <a:rPr lang="en-GB">
                          <a:effectLst/>
                        </a:rPr>
                        <a:t>w = w - </a:t>
                      </a:r>
                      <a:r>
                        <a:rPr lang="el-GR">
                          <a:effectLst/>
                        </a:rPr>
                        <a:t>η(∇</a:t>
                      </a:r>
                      <a:r>
                        <a:rPr lang="en-GB">
                          <a:effectLst/>
                        </a:rPr>
                        <a:t>L/√(s+</a:t>
                      </a:r>
                      <a:r>
                        <a:rPr lang="el-GR">
                          <a:effectLst/>
                        </a:rPr>
                        <a:t>ε))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Adapts learning rates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Sensitive to </a:t>
                      </a:r>
                      <a:r>
                        <a:rPr lang="el-GR">
                          <a:effectLst/>
                        </a:rPr>
                        <a:t>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4363752"/>
                  </a:ext>
                </a:extLst>
              </a:tr>
              <a:tr h="482795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Adam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Combines Momentum + RMSprop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Fast convergence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Multiple hyperparameters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5660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585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F289AA9-1D0D-6AF7-3A92-12E578F02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08375E8-EC46-AD10-FC2E-609A911479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dirty="0"/>
              <a:t>Common Challenges and Solutions</a:t>
            </a:r>
            <a:br>
              <a:rPr lang="en-GB" sz="3200" b="1" dirty="0"/>
            </a:b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282538F8-44E4-8CAD-6587-FBD9D7C646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49BACC-87F9-9DA2-53E6-E6F1E00D84E7}"/>
              </a:ext>
            </a:extLst>
          </p:cNvPr>
          <p:cNvSpPr txBox="1"/>
          <p:nvPr/>
        </p:nvSpPr>
        <p:spPr>
          <a:xfrm>
            <a:off x="407175" y="737108"/>
            <a:ext cx="87782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Vanishing / Exploding Gradients</a:t>
            </a:r>
          </a:p>
          <a:p>
            <a:pPr>
              <a:buNone/>
            </a:pPr>
            <a:r>
              <a:rPr lang="en-GB" sz="1600" b="1" dirty="0"/>
              <a:t>Problem:</a:t>
            </a:r>
            <a:br>
              <a:rPr lang="en-GB" sz="1600" dirty="0"/>
            </a:br>
            <a:r>
              <a:rPr lang="en-GB" sz="1600" dirty="0"/>
              <a:t>Gradients become too small or too large during backpropagation, making learning unstable or very slow.</a:t>
            </a:r>
          </a:p>
          <a:p>
            <a:pPr>
              <a:buNone/>
            </a:pPr>
            <a:r>
              <a:rPr lang="en-GB" sz="1600" b="1" dirty="0"/>
              <a:t>Causes: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Deep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Sigmoid/Tanh activations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Improper initialization</a:t>
            </a:r>
          </a:p>
          <a:p>
            <a:r>
              <a:rPr lang="en-GB" sz="1600" b="1" dirty="0"/>
              <a:t>Solutions:</a:t>
            </a:r>
            <a:endParaRPr lang="en-GB" sz="1600" dirty="0"/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Use </a:t>
            </a:r>
            <a:r>
              <a:rPr lang="en-GB" sz="1600" b="1" dirty="0" err="1"/>
              <a:t>ReLU</a:t>
            </a:r>
            <a:r>
              <a:rPr lang="en-GB" sz="1600" dirty="0"/>
              <a:t> activation instead of Sigmoid/Tanh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Apply </a:t>
            </a:r>
            <a:r>
              <a:rPr lang="en-GB" sz="1600" b="1" dirty="0"/>
              <a:t>Batch Normalization</a:t>
            </a:r>
            <a:r>
              <a:rPr lang="en-GB" sz="1600" dirty="0"/>
              <a:t> to stabilize layer inputs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Use </a:t>
            </a:r>
            <a:r>
              <a:rPr lang="en-GB" sz="1600" b="1" dirty="0"/>
              <a:t>Residual Connections</a:t>
            </a:r>
            <a:r>
              <a:rPr lang="en-GB" sz="1600" dirty="0"/>
              <a:t> (as in </a:t>
            </a:r>
            <a:r>
              <a:rPr lang="en-GB" sz="1600" dirty="0" err="1"/>
              <a:t>ResNet</a:t>
            </a:r>
            <a:r>
              <a:rPr lang="en-GB" sz="1600" dirty="0"/>
              <a:t>) to ease gradient flow</a:t>
            </a:r>
          </a:p>
          <a:p>
            <a:pPr algn="l"/>
            <a:endParaRPr lang="en-GB" sz="1600" b="1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algn="l"/>
            <a:endParaRPr lang="en-GB" sz="160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51323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22618961-8FF3-8868-6121-CBC7031F6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BCB786C9-CFCC-31FD-8DA7-8BA54AB51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dirty="0"/>
              <a:t>Common Challenges and Solutions</a:t>
            </a:r>
            <a:br>
              <a:rPr lang="en-GB" sz="3200" b="1" dirty="0"/>
            </a:b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F18615AB-59F5-89B4-3B74-58E4B84ACA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E89EF-D4DC-8B80-A408-4DFDD825E4A5}"/>
              </a:ext>
            </a:extLst>
          </p:cNvPr>
          <p:cNvSpPr txBox="1"/>
          <p:nvPr/>
        </p:nvSpPr>
        <p:spPr>
          <a:xfrm>
            <a:off x="242583" y="554228"/>
            <a:ext cx="877824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500" b="1" dirty="0"/>
              <a:t>5.2 Overfitting</a:t>
            </a:r>
          </a:p>
          <a:p>
            <a:pPr>
              <a:buNone/>
            </a:pPr>
            <a:r>
              <a:rPr lang="en-GB" sz="1500" b="1" dirty="0"/>
              <a:t>Problem:</a:t>
            </a:r>
            <a:br>
              <a:rPr lang="en-GB" sz="1500" dirty="0"/>
            </a:br>
            <a:r>
              <a:rPr lang="en-GB" sz="1500" dirty="0"/>
              <a:t>Model performs well on training data but poorly on unseen data.</a:t>
            </a:r>
          </a:p>
          <a:p>
            <a:pPr>
              <a:buNone/>
            </a:pPr>
            <a:r>
              <a:rPr lang="en-GB" sz="1500" b="1" dirty="0"/>
              <a:t>Causes:</a:t>
            </a:r>
            <a:endParaRPr lang="en-GB" sz="1500" dirty="0"/>
          </a:p>
          <a:p>
            <a:pPr marL="342900" indent="-342900">
              <a:buFont typeface="+mj-lt"/>
              <a:buAutoNum type="arabicPeriod"/>
            </a:pPr>
            <a:r>
              <a:rPr lang="en-GB" sz="1500" dirty="0"/>
              <a:t>Too complex models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500" dirty="0"/>
              <a:t>Insufficient training data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500" dirty="0"/>
              <a:t>Lack of regularization</a:t>
            </a:r>
          </a:p>
          <a:p>
            <a:r>
              <a:rPr lang="en-GB" sz="1500" b="1" dirty="0"/>
              <a:t>Prevention Methods:</a:t>
            </a:r>
            <a:endParaRPr lang="en-GB" sz="1500" dirty="0"/>
          </a:p>
          <a:p>
            <a:pPr marL="285750" indent="-285750">
              <a:buFont typeface="Wingdings" pitchFamily="2" charset="2"/>
              <a:buChar char="ü"/>
            </a:pPr>
            <a:r>
              <a:rPr lang="en-GB" sz="1500" dirty="0"/>
              <a:t>Use </a:t>
            </a:r>
            <a:r>
              <a:rPr lang="en-GB" sz="1500" b="1" dirty="0"/>
              <a:t>L1/L2 Regularization</a:t>
            </a:r>
            <a:r>
              <a:rPr lang="en-GB" sz="1500" dirty="0"/>
              <a:t> to penalize large weights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500" dirty="0"/>
              <a:t>Add </a:t>
            </a:r>
            <a:r>
              <a:rPr lang="en-GB" sz="1500" b="1" dirty="0"/>
              <a:t>Dropout Layers</a:t>
            </a:r>
            <a:r>
              <a:rPr lang="en-GB" sz="1500" dirty="0"/>
              <a:t> to randomly deactivate neurons during training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500" dirty="0"/>
              <a:t>Apply </a:t>
            </a:r>
            <a:r>
              <a:rPr lang="en-GB" sz="1500" b="1" dirty="0"/>
              <a:t>Data Augmentation</a:t>
            </a:r>
            <a:r>
              <a:rPr lang="en-GB" sz="1500" dirty="0"/>
              <a:t> to artificially increase dataset diversity</a:t>
            </a:r>
          </a:p>
          <a:p>
            <a:pPr>
              <a:buNone/>
            </a:pPr>
            <a:r>
              <a:rPr lang="en-GB" sz="1500" b="1" dirty="0"/>
              <a:t>5.3 Learning Rate Selection</a:t>
            </a:r>
          </a:p>
          <a:p>
            <a:pPr>
              <a:buNone/>
            </a:pPr>
            <a:r>
              <a:rPr lang="en-GB" sz="1500" b="1" dirty="0"/>
              <a:t>Problem:</a:t>
            </a:r>
            <a:br>
              <a:rPr lang="en-GB" sz="1500" dirty="0"/>
            </a:br>
            <a:r>
              <a:rPr lang="en-GB" sz="1500" dirty="0"/>
              <a:t>Too high = overshooting minimum</a:t>
            </a:r>
            <a:br>
              <a:rPr lang="en-GB" sz="1500" dirty="0"/>
            </a:br>
            <a:r>
              <a:rPr lang="en-GB" sz="1500" dirty="0"/>
              <a:t>Too low = slow convergence or getting stuck</a:t>
            </a:r>
          </a:p>
          <a:p>
            <a:pPr>
              <a:buNone/>
            </a:pPr>
            <a:r>
              <a:rPr lang="en-GB" sz="1500" b="1" dirty="0"/>
              <a:t>Strategies:</a:t>
            </a:r>
            <a:endParaRPr lang="en-GB" sz="1500" dirty="0"/>
          </a:p>
          <a:p>
            <a:pPr marL="285750" indent="-285750">
              <a:buFont typeface="Wingdings" pitchFamily="2" charset="2"/>
              <a:buChar char="ü"/>
            </a:pPr>
            <a:r>
              <a:rPr lang="en-GB" sz="1500" dirty="0"/>
              <a:t>Use </a:t>
            </a:r>
            <a:r>
              <a:rPr lang="en-GB" sz="1500" b="1" dirty="0"/>
              <a:t>Learning Rate Schedules</a:t>
            </a:r>
            <a:r>
              <a:rPr lang="en-GB" sz="1500" dirty="0"/>
              <a:t> to gradually decrease learning rate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500" dirty="0"/>
              <a:t>Try </a:t>
            </a:r>
            <a:r>
              <a:rPr lang="en-GB" sz="1500" b="1" dirty="0"/>
              <a:t>Cyclical Learning Rates</a:t>
            </a:r>
            <a:r>
              <a:rPr lang="en-GB" sz="1500" dirty="0"/>
              <a:t> (oscillate between a range)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500" dirty="0"/>
              <a:t>Use </a:t>
            </a:r>
            <a:r>
              <a:rPr lang="en-GB" sz="1500" b="1" dirty="0"/>
              <a:t>Adaptive Optimizers</a:t>
            </a:r>
            <a:r>
              <a:rPr lang="en-GB" sz="1500" dirty="0"/>
              <a:t> like </a:t>
            </a:r>
            <a:r>
              <a:rPr lang="en-GB" sz="1500" b="1" dirty="0"/>
              <a:t>Adam</a:t>
            </a:r>
            <a:r>
              <a:rPr lang="en-GB" sz="1500" dirty="0"/>
              <a:t>, </a:t>
            </a:r>
            <a:r>
              <a:rPr lang="en-GB" sz="1500" b="1" dirty="0"/>
              <a:t>RMSprop</a:t>
            </a:r>
            <a:endParaRPr lang="en-GB" sz="1500" dirty="0"/>
          </a:p>
          <a:p>
            <a:pPr algn="l"/>
            <a:endParaRPr lang="en-GB" sz="1500" b="1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algn="l"/>
            <a:endParaRPr lang="en-GB" sz="150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5887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0D35519-56EC-4828-9F15-0511D070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0C75D3E-A2CD-F9E7-2D72-95B8AC66E9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  <a:t>Practical Implementation</a:t>
            </a: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042E40A1-7836-3A73-8DCB-801E971428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80E26-D17C-760A-9103-127137F8EF1B}"/>
              </a:ext>
            </a:extLst>
          </p:cNvPr>
          <p:cNvSpPr txBox="1"/>
          <p:nvPr/>
        </p:nvSpPr>
        <p:spPr>
          <a:xfrm>
            <a:off x="90183" y="664597"/>
            <a:ext cx="87782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TensorFlow/</a:t>
            </a:r>
            <a:r>
              <a:rPr lang="en-GB" sz="1600" b="1" i="0" u="none" strike="noStrike" dirty="0" err="1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Keras</a:t>
            </a: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 Example</a:t>
            </a:r>
          </a:p>
          <a:p>
            <a:pPr algn="l"/>
            <a:endParaRPr lang="en-GB" sz="2000" b="1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algn="l"/>
            <a:endParaRPr lang="en-GB" sz="160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449ED9-76FC-CB15-B83D-7FDB30EAB77A}"/>
              </a:ext>
            </a:extLst>
          </p:cNvPr>
          <p:cNvSpPr txBox="1"/>
          <p:nvPr/>
        </p:nvSpPr>
        <p:spPr>
          <a:xfrm>
            <a:off x="45720" y="1058181"/>
            <a:ext cx="9052560" cy="10926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300" dirty="0"/>
              <a:t>model = </a:t>
            </a:r>
            <a:r>
              <a:rPr lang="en-US" sz="1300" dirty="0" err="1"/>
              <a:t>tf.keras.Sequential</a:t>
            </a:r>
            <a:r>
              <a:rPr lang="en-US" sz="1300" dirty="0"/>
              <a:t>([</a:t>
            </a:r>
            <a:r>
              <a:rPr lang="en-US" sz="1300" dirty="0" err="1"/>
              <a:t>tf.keras.layers.Dense</a:t>
            </a:r>
            <a:r>
              <a:rPr lang="en-US" sz="1300" dirty="0"/>
              <a:t>(64,activation='</a:t>
            </a:r>
            <a:r>
              <a:rPr lang="en-US" sz="1300" dirty="0" err="1"/>
              <a:t>relu</a:t>
            </a:r>
            <a:r>
              <a:rPr lang="en-US" sz="1300" dirty="0"/>
              <a:t>'),</a:t>
            </a:r>
            <a:r>
              <a:rPr lang="en-US" sz="1300" dirty="0" err="1"/>
              <a:t>tf.keras.layers.Dense</a:t>
            </a:r>
            <a:r>
              <a:rPr lang="en-US" sz="1300" dirty="0"/>
              <a:t>(1,activation='sigmoid')])</a:t>
            </a:r>
          </a:p>
          <a:p>
            <a:endParaRPr lang="en-US" sz="1300" dirty="0"/>
          </a:p>
          <a:p>
            <a:r>
              <a:rPr lang="en-US" sz="1300" dirty="0" err="1"/>
              <a:t>model.compile</a:t>
            </a:r>
            <a:r>
              <a:rPr lang="en-US" sz="1300" dirty="0"/>
              <a:t>(optimizer=</a:t>
            </a:r>
            <a:r>
              <a:rPr lang="en-US" sz="1300" dirty="0" err="1"/>
              <a:t>tf.keras.optimizers.Adam</a:t>
            </a:r>
            <a:r>
              <a:rPr lang="en-US" sz="1300" dirty="0"/>
              <a:t>(</a:t>
            </a:r>
            <a:r>
              <a:rPr lang="en-US" sz="1300" dirty="0" err="1"/>
              <a:t>learning_rate</a:t>
            </a:r>
            <a:r>
              <a:rPr lang="en-US" sz="1300" dirty="0"/>
              <a:t>=0.001),loss='binary_</a:t>
            </a:r>
            <a:r>
              <a:rPr lang="en-US" sz="1300" dirty="0" err="1"/>
              <a:t>crossentropy</a:t>
            </a:r>
            <a:r>
              <a:rPr lang="en-US" sz="1300" dirty="0"/>
              <a:t>',metrics=['accuracy'])</a:t>
            </a:r>
          </a:p>
          <a:p>
            <a:endParaRPr lang="en-US" sz="1300" dirty="0"/>
          </a:p>
          <a:p>
            <a:r>
              <a:rPr lang="en-US" sz="1300" dirty="0"/>
              <a:t>history = </a:t>
            </a:r>
            <a:r>
              <a:rPr lang="en-US" sz="1300" dirty="0" err="1"/>
              <a:t>model.fit</a:t>
            </a:r>
            <a:r>
              <a:rPr lang="en-US" sz="1300" dirty="0"/>
              <a:t>(X_train, </a:t>
            </a:r>
            <a:r>
              <a:rPr lang="en-US" sz="1300" dirty="0" err="1"/>
              <a:t>y_train</a:t>
            </a:r>
            <a:r>
              <a:rPr lang="en-US" sz="1300" dirty="0"/>
              <a:t>, epochs=10)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7CCBB1-077C-7E62-53F8-EC227965CF49}"/>
              </a:ext>
            </a:extLst>
          </p:cNvPr>
          <p:cNvSpPr txBox="1"/>
          <p:nvPr/>
        </p:nvSpPr>
        <p:spPr>
          <a:xfrm>
            <a:off x="90183" y="2219847"/>
            <a:ext cx="5194783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Monitoring Training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Key Metrics to Track:</a:t>
            </a:r>
            <a:endParaRPr lang="en-GB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marL="285750" indent="-285750" algn="l">
              <a:buFont typeface="Wingdings" pitchFamily="2" charset="2"/>
              <a:buChar char="ü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Training loss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Validation loss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Accuracy/other task-specific metrics</a:t>
            </a:r>
          </a:p>
          <a:p>
            <a:pPr algn="l"/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Early Stopping Implementation:</a:t>
            </a:r>
            <a:endParaRPr lang="en-GB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9E92FF-2F66-A48C-B699-3616A6E1B8DE}"/>
              </a:ext>
            </a:extLst>
          </p:cNvPr>
          <p:cNvSpPr txBox="1"/>
          <p:nvPr/>
        </p:nvSpPr>
        <p:spPr>
          <a:xfrm>
            <a:off x="2460728" y="3619807"/>
            <a:ext cx="4580152" cy="1169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early_stopping</a:t>
            </a:r>
            <a:r>
              <a:rPr lang="en-US" dirty="0"/>
              <a:t> = </a:t>
            </a:r>
            <a:r>
              <a:rPr lang="en-US" dirty="0" err="1"/>
              <a:t>tf.keras.callbacks.EarlyStopping</a:t>
            </a:r>
            <a:r>
              <a:rPr lang="en-US" dirty="0"/>
              <a:t>(</a:t>
            </a:r>
          </a:p>
          <a:p>
            <a:r>
              <a:rPr lang="en-US" dirty="0"/>
              <a:t>    monitor='</a:t>
            </a:r>
            <a:r>
              <a:rPr lang="en-US" dirty="0" err="1"/>
              <a:t>val_loss</a:t>
            </a:r>
            <a:r>
              <a:rPr lang="en-US" dirty="0"/>
              <a:t>',</a:t>
            </a:r>
          </a:p>
          <a:p>
            <a:r>
              <a:rPr lang="en-US" dirty="0"/>
              <a:t>    patience=3,</a:t>
            </a:r>
          </a:p>
          <a:p>
            <a:r>
              <a:rPr lang="en-US" dirty="0"/>
              <a:t>    </a:t>
            </a:r>
            <a:r>
              <a:rPr lang="en-US" dirty="0" err="1"/>
              <a:t>restore_best_weights</a:t>
            </a:r>
            <a:r>
              <a:rPr lang="en-US" dirty="0"/>
              <a:t>=True</a:t>
            </a:r>
          </a:p>
          <a:p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17537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080321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r>
              <a:rPr lang="en-GB" sz="3200" dirty="0"/>
              <a:t>Summary</a:t>
            </a:r>
            <a:br>
              <a:rPr lang="en-GB" sz="3200" dirty="0"/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29B7B1-87C3-1A19-1CD5-4DC342054D89}"/>
              </a:ext>
            </a:extLst>
          </p:cNvPr>
          <p:cNvSpPr txBox="1"/>
          <p:nvPr/>
        </p:nvSpPr>
        <p:spPr>
          <a:xfrm>
            <a:off x="297962" y="986767"/>
            <a:ext cx="7114773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/>
              <a:t>Forward Propagation</a:t>
            </a:r>
            <a:r>
              <a:rPr lang="en-GB" dirty="0"/>
              <a:t>: Input data flows through the network, layer by layer, producing an output (prediction).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Loss Computation</a:t>
            </a:r>
            <a:r>
              <a:rPr lang="en-GB" dirty="0"/>
              <a:t>: Compares predicted output with true labels to calculate the model’s error.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Backpropagation</a:t>
            </a:r>
            <a:r>
              <a:rPr lang="en-GB" dirty="0"/>
              <a:t>: Uses the chain rule to compute how much each weight contributed to the error and calculates gradients.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Gradient Descent</a:t>
            </a:r>
            <a:r>
              <a:rPr lang="en-GB" dirty="0"/>
              <a:t>: Updates the weights in the opposite direction of the gradient to reduce error over time.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Optimization Algorithms</a:t>
            </a:r>
            <a:r>
              <a:rPr lang="en-GB" dirty="0"/>
              <a:t>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GB" b="1" dirty="0"/>
              <a:t>SGD (Stochastic Gradient Descent)</a:t>
            </a:r>
            <a:r>
              <a:rPr lang="en-GB" dirty="0"/>
              <a:t>: Updates weights using a few samples at a time.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GB" b="1" dirty="0"/>
              <a:t>Adam</a:t>
            </a:r>
            <a:r>
              <a:rPr lang="en-GB" dirty="0"/>
              <a:t>: Combines momentum and adaptive learning rates — most commonly used.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GB" b="1" dirty="0"/>
              <a:t>RMSprop</a:t>
            </a:r>
            <a:r>
              <a:rPr lang="en-GB" dirty="0"/>
              <a:t>: Good for sequences and time-series data; adjusts learning rates dynamically.</a:t>
            </a:r>
          </a:p>
          <a:p>
            <a:r>
              <a:rPr lang="en-GB" dirty="0"/>
              <a:t>Training is an iterative process where the model continuously learns by minimizing the error until it achieves the best possible performance on the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DA329-DDC0-B523-AEBE-B35BF5693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with Google COLAB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DFB29-6CFE-B48D-9134-B424D9775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marR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</a:pPr>
            <a:r>
              <a:rPr lang="en-US" dirty="0">
                <a:hlinkClick r:id=""/>
              </a:rPr>
              <a:t>Click here </a:t>
            </a:r>
          </a:p>
          <a:p>
            <a:pPr marL="114300" marR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</a:pPr>
            <a:r>
              <a:rPr lang="en-US" dirty="0"/>
              <a:t>https://</a:t>
            </a:r>
            <a:r>
              <a:rPr lang="en-US" dirty="0" err="1"/>
              <a:t>colab.research.google.com</a:t>
            </a:r>
            <a:r>
              <a:rPr lang="en-US" dirty="0"/>
              <a:t>/drive/1q6eotKITDVzktiE8euBlTQjdi_rbYWCq</a:t>
            </a:r>
          </a:p>
        </p:txBody>
      </p:sp>
    </p:spTree>
    <p:extLst>
      <p:ext uri="{BB962C8B-B14F-4D97-AF65-F5344CB8AC3E}">
        <p14:creationId xmlns:p14="http://schemas.microsoft.com/office/powerpoint/2010/main" val="1517079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C7073A23-177A-F380-4E2C-BCE5184CC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E3B61B0B-C8A6-4063-AA38-0D213B63371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080321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CC369EC6-6544-C062-953A-68234137BA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r>
              <a:rPr lang="en-GB" sz="3200" dirty="0"/>
              <a:t>Books and References</a:t>
            </a:r>
            <a:br>
              <a:rPr lang="en-GB" sz="3200" dirty="0"/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36E5C5-A4EC-A514-661D-B1E7567D531F}"/>
              </a:ext>
            </a:extLst>
          </p:cNvPr>
          <p:cNvSpPr txBox="1"/>
          <p:nvPr/>
        </p:nvSpPr>
        <p:spPr>
          <a:xfrm>
            <a:off x="755575" y="1098322"/>
            <a:ext cx="540899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"Deep Learning" by Ian Goodfellow, Yoshua Bengio, and Aaron Courville</a:t>
            </a: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"Neural Networks and Deep Learning" by Michael Nielsen</a:t>
            </a: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"Hands-On Machine Learning with Scikit-Learn, </a:t>
            </a:r>
            <a:r>
              <a:rPr lang="en-GB" sz="1600" b="1" dirty="0" err="1"/>
              <a:t>Keras</a:t>
            </a:r>
            <a:r>
              <a:rPr lang="en-GB" sz="1600" b="1" dirty="0"/>
              <a:t>, and TensorFlow" by Aurélien </a:t>
            </a:r>
            <a:r>
              <a:rPr lang="en-GB" sz="1600" b="1" dirty="0" err="1"/>
              <a:t>Géron</a:t>
            </a:r>
            <a:endParaRPr lang="en-GB" sz="1600" b="1" dirty="0"/>
          </a:p>
          <a:p>
            <a:pPr marL="342900" indent="-342900">
              <a:buFont typeface="+mj-lt"/>
              <a:buAutoNum type="arabicPeriod"/>
            </a:pPr>
            <a:r>
              <a:rPr lang="en-GB" sz="1600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Keras Documentation</a:t>
            </a:r>
            <a:r>
              <a:rPr lang="en-GB" sz="1600" b="1" dirty="0"/>
              <a:t> Official documentation for building neural networks using </a:t>
            </a:r>
            <a:r>
              <a:rPr lang="en-GB" sz="1600" b="1" dirty="0" err="1"/>
              <a:t>Keras</a:t>
            </a:r>
            <a:r>
              <a:rPr lang="en-GB" sz="1600" b="1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TensorFlow Tutorials Official tutorials for implementing and training neural networks.</a:t>
            </a:r>
          </a:p>
          <a:p>
            <a:pPr marL="342900" indent="-342900">
              <a:buFont typeface="+mj-lt"/>
              <a:buAutoNum type="arabicPeriod"/>
            </a:pPr>
            <a:endParaRPr lang="en-GB" sz="1600" dirty="0"/>
          </a:p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39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6">
            <a:alphaModFix/>
          </a:blip>
          <a:srcRect l="11047" t="22524" r="11047" b="22523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8">
            <a:alphaModFix/>
          </a:blip>
          <a:srcRect l="2114" t="19776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13">
            <a:alphaModFix/>
          </a:blip>
          <a:srcRect b="18915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14">
            <a:alphaModFix/>
          </a:blip>
          <a:srcRect l="12270" t="12270" r="12262" b="12262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 rotWithShape="1">
          <a:blip r:embed="rId16">
            <a:alphaModFix/>
          </a:blip>
          <a:srcRect t="18905" b="18904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2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3848</TotalTime>
  <Words>1460</Words>
  <Application>Microsoft Macintosh PowerPoint</Application>
  <PresentationFormat>On-screen Show (16:9)</PresentationFormat>
  <Paragraphs>194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IBM Plex Sans Arabic Medium</vt:lpstr>
      <vt:lpstr>Tajawal</vt:lpstr>
      <vt:lpstr>Inter</vt:lpstr>
      <vt:lpstr>Calibri</vt:lpstr>
      <vt:lpstr>IBM Plex Sans Arabic</vt:lpstr>
      <vt:lpstr>IBM Plex Sans Arabic SemiBold</vt:lpstr>
      <vt:lpstr>Wingdings</vt:lpstr>
      <vt:lpstr>Courier New</vt:lpstr>
      <vt:lpstr>Arial</vt:lpstr>
      <vt:lpstr>Simple Light</vt:lpstr>
      <vt:lpstr>أكـــــاديميــــة طــــويـــق</vt:lpstr>
      <vt:lpstr>Training Neural Networks   </vt:lpstr>
      <vt:lpstr>PowerPoint Presentation</vt:lpstr>
      <vt:lpstr>Forward Propagation    </vt:lpstr>
      <vt:lpstr>Loss Computation    </vt:lpstr>
      <vt:lpstr>Backpropagation    </vt:lpstr>
      <vt:lpstr>Backpropagation    </vt:lpstr>
      <vt:lpstr>Backpropagation    </vt:lpstr>
      <vt:lpstr>Optimization Algorithms    </vt:lpstr>
      <vt:lpstr>Optimization Algorithms    </vt:lpstr>
      <vt:lpstr>Common Challenges and Solutions     </vt:lpstr>
      <vt:lpstr>Common Challenges and Solutions     </vt:lpstr>
      <vt:lpstr>Practical Implementation     </vt:lpstr>
      <vt:lpstr>Summary </vt:lpstr>
      <vt:lpstr>Practice with Google COLAB</vt:lpstr>
      <vt:lpstr>Books and References </vt:lpstr>
      <vt:lpstr>الشراكات العالمية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Afshan Hashmi</cp:lastModifiedBy>
  <cp:revision>31</cp:revision>
  <dcterms:modified xsi:type="dcterms:W3CDTF">2025-04-06T08:17:27Z</dcterms:modified>
</cp:coreProperties>
</file>