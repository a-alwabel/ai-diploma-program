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56" r:id="rId2"/>
    <p:sldId id="257" r:id="rId3"/>
    <p:sldId id="258" r:id="rId4"/>
    <p:sldId id="298" r:id="rId5"/>
    <p:sldId id="588" r:id="rId6"/>
    <p:sldId id="539" r:id="rId7"/>
    <p:sldId id="583" r:id="rId8"/>
    <p:sldId id="567" r:id="rId9"/>
    <p:sldId id="568" r:id="rId10"/>
    <p:sldId id="585" r:id="rId11"/>
    <p:sldId id="586" r:id="rId12"/>
    <p:sldId id="587" r:id="rId13"/>
    <p:sldId id="589" r:id="rId14"/>
    <p:sldId id="597" r:id="rId15"/>
    <p:sldId id="599" r:id="rId16"/>
    <p:sldId id="600" r:id="rId17"/>
    <p:sldId id="601" r:id="rId18"/>
    <p:sldId id="602" r:id="rId19"/>
    <p:sldId id="603" r:id="rId20"/>
    <p:sldId id="591" r:id="rId21"/>
    <p:sldId id="593" r:id="rId22"/>
    <p:sldId id="592" r:id="rId23"/>
    <p:sldId id="594" r:id="rId24"/>
    <p:sldId id="596" r:id="rId25"/>
    <p:sldId id="605" r:id="rId26"/>
    <p:sldId id="604" r:id="rId27"/>
    <p:sldId id="606" r:id="rId28"/>
    <p:sldId id="370" r:id="rId29"/>
    <p:sldId id="312" r:id="rId30"/>
    <p:sldId id="275" r:id="rId31"/>
    <p:sldId id="276" r:id="rId32"/>
  </p:sldIdLst>
  <p:sldSz cx="9144000" cy="5143500" type="screen16x9"/>
  <p:notesSz cx="6858000" cy="9144000"/>
  <p:embeddedFontLst>
    <p:embeddedFont>
      <p:font typeface="IBM Plex Sans Arabic" panose="020B0603050203000203" pitchFamily="34" charset="-78"/>
      <p:regular r:id="rId34"/>
      <p:bold r:id="rId35"/>
    </p:embeddedFont>
    <p:embeddedFont>
      <p:font typeface="IBM Plex Sans Arabic Medium" panose="020B0603050203000203" pitchFamily="34" charset="-78"/>
      <p:regular r:id="rId36"/>
      <p:bold r:id="rId37"/>
    </p:embeddedFont>
    <p:embeddedFont>
      <p:font typeface="IBM Plex Sans Arabic SemiBold" panose="020B0603050203000203" pitchFamily="34" charset="-78"/>
      <p:regular r:id="rId38"/>
      <p:bold r:id="rId39"/>
    </p:embeddedFont>
    <p:embeddedFont>
      <p:font typeface="Inter" panose="020F0502020204030204" pitchFamily="34" charset="0"/>
      <p:regular r:id="rId40"/>
      <p:bold r:id="rId41"/>
      <p:italic r:id="rId42"/>
      <p:boldItalic r:id="rId43"/>
    </p:embeddedFont>
    <p:embeddedFont>
      <p:font typeface="Tajawal" pitchFamily="2" charset="-78"/>
      <p:regular r:id="rId44"/>
      <p:bold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47"/>
    <p:restoredTop sz="94227"/>
  </p:normalViewPr>
  <p:slideViewPr>
    <p:cSldViewPr snapToGrid="0">
      <p:cViewPr varScale="1">
        <p:scale>
          <a:sx n="175" d="100"/>
          <a:sy n="175" d="100"/>
        </p:scale>
        <p:origin x="176" y="720"/>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62118B4-1173-7AFC-87E1-C65D8A3C3F5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08809AF-4CA4-BFAD-BE36-3FBB248E08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EB0B25C2-2E64-E05F-88BD-CABD5F7D7E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9175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6B9BDE8-2C21-E8E2-343E-690C2E12EF0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E229485-EB2F-925E-9172-598BFC53F1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DB3474E-4E76-9301-6F58-CEFCA74FAB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4339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B836598-9389-0CAC-2F30-73155BAE667E}"/>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22F0D46-87CC-3FBA-3915-801A91E40F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FE17BCE-DBBB-C07A-CBA3-F17A0D6E5A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7219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3409D09-AE72-A11D-60FE-D7260A70AEB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9E99DA8-A180-9C9D-B77E-FCDA4C517B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AC3140F-2990-F249-4B9A-9AA5B039C9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1946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C3CBAEE-3CA6-3524-EE2A-2CCE2EF127E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FCDCA62-EA06-9839-365E-35966829F7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FD1D454-EF54-B47F-B4BC-AA709624B0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00255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463ECF7-ACB1-108C-A5FB-0A5670605DE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EAAE672-E659-E6D8-B768-4A8FE58DCC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98829AE-4D23-246B-902C-C23A0DFE18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25464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60466BE-5D75-BB5D-1C09-6610FF47F71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CB589AB-FE26-C8E0-A459-980341CB8A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FC6EC28-48C5-AB19-547A-7FA08885A8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66575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FD95C04-3560-BBA4-A4CB-7B22CD0F12B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1930655-B748-F2A4-F580-192A9F56EC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8989498-94E8-F95C-8BDB-9D12E7EE9D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86811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8145DFC-6577-6C69-B4DC-242035375F3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DA73BCF-8D82-2210-DDBD-808A407BA5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11933D9-D301-3198-6B4A-5CC70567EC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92437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E7E21FD-E619-78D4-09E9-C43BA8C31F5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C4847A7-CF68-08F2-E5B3-4452BEDD3D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D9F72BE-DBBF-9E8D-8D38-B7E3259D2D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129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6330CBE-760A-7B78-3AC8-9C61FB1EFA0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2D75E37-7E93-0637-116F-A6250C1B6F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A1A7929-5E30-B576-6F6F-105D4C2A95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28545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D8CFD59-F679-AD07-1B0C-770B1592195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DF9DB85-D758-7B14-073F-B38730247C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4C251AD-91A2-6946-169F-B485728B34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0588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6C03444-83CC-F9D0-D536-389D00EA4F5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E1099F7-B80A-6557-6EDF-C3B44EE085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009FC3B-73BD-2BF1-C7D7-A4106F1D08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74189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CC58D52-B7F3-A4ED-C6C6-89CA36E7309C}"/>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AE0211A-A0B9-2A9C-1EE8-D96F7FE29C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29649F5C-D422-EB76-5E2B-D42632102F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2110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3C5C7FE-D12E-6B16-DDBF-2CC670D8B36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6464D9B-E59A-3F3C-5940-3F96CEDF82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8323661-EEB9-0399-23F4-272084BC6F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74218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03AC82B-AB86-08AC-8640-9E3EE467EF7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50458AE-8010-FBF9-28AE-80390A330D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DB0077A-03E7-9056-73E1-6485EBEDF8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59125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CDB58B1-2235-FFEE-6099-EA30A26A127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256E444-21A6-A5A5-E2E8-23D385D910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6A46D11-D058-F89F-DBC6-4836A403CA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36190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32701D9-320C-7A00-E275-01F395DA495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DB05C11-0081-53BC-06CD-A2556A389F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7C11406-F6D8-5968-027B-B67F32B96C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40397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0999FFC-A889-8DD9-91D9-112B2F85E1D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1ED4CEC-7C43-7937-D338-7C8C398320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CBCA2FE-290C-2E0F-9C27-17D58E7B0F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69995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A8721D6-C225-0D58-2D70-7B7525D8DB9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3679BD4-E62E-27E8-1BBC-C056CC9DCD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EF3949E-44F1-3A40-B081-937E4EDEFF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73746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4BE32F0-1726-97A0-CEFA-D7EFD2B94BB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DC101A6-C597-E66F-80D0-9FEED721FD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7A4142D-2EA9-9925-540E-00AC249AD7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52410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F2FF4D4-C476-6C73-6EE0-07875426D5A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F7FDA86-20F9-93EB-0BC9-6A7BC06047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42466CE-4392-3335-7D78-4202C0733D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57486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EED31B8-54AE-10C3-E5FB-428552A6B6A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0276BB8-2FCC-0EAF-CC39-AB0A3FB1DF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3A98A4D-CD6A-D3AF-B3E3-F97B04B6EE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23270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builtin.com/machine-learning/vgg16#:~:text=What%20Is%20VGG16%3F,the%20best%20vision%20model%20architectures."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hyperlink" Target="https://www.wallpaperflare.com/wallpaper-programmer-coding-pattern-text-full-frame-backgrounds-wallpaper-pfdto" TargetMode="External"/><Relationship Id="rId5" Type="http://schemas.openxmlformats.org/officeDocument/2006/relationships/image" Target="../media/image8.jpg"/><Relationship Id="rId4" Type="http://schemas.openxmlformats.org/officeDocument/2006/relationships/hyperlink" Target="https://drive.google.com/file/d/1kUi1Y-zhJNgJlP-5g1WV6ZsHaa9uaNYi/view?usp=share_link"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notesSlide" Target="../notesSlides/notesSlide30.xml"/><Relationship Id="rId16" Type="http://schemas.openxmlformats.org/officeDocument/2006/relationships/image" Target="../media/image22.png"/><Relationship Id="rId1" Type="http://schemas.openxmlformats.org/officeDocument/2006/relationships/slideLayout" Target="../slideLayouts/slideLayout4.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123371" y="1643594"/>
            <a:ext cx="8520600" cy="3112070"/>
          </a:xfrm>
          <a:prstGeom prst="rect">
            <a:avLst/>
          </a:prstGeom>
          <a:noFill/>
          <a:ln>
            <a:noFill/>
          </a:ln>
        </p:spPr>
        <p:txBody>
          <a:bodyPr spcFirstLastPara="1" wrap="square" lIns="91425" tIns="91425" rIns="91425" bIns="91425" anchor="b" anchorCtr="0">
            <a:normAutofit fontScale="90000"/>
          </a:bodyPr>
          <a:lstStyle/>
          <a:p>
            <a:br>
              <a:rPr lang="en-GB" sz="4000" b="1" dirty="0"/>
            </a:br>
            <a:br>
              <a:rPr lang="en-GB" sz="4000" b="1" dirty="0"/>
            </a:br>
            <a:br>
              <a:rPr lang="en-GB" sz="4000" b="1" dirty="0"/>
            </a:br>
            <a:br>
              <a:rPr lang="en-GB" sz="4000" b="1" dirty="0"/>
            </a:br>
            <a:br>
              <a:rPr lang="en-GB" sz="4000" b="1" dirty="0"/>
            </a:br>
            <a:br>
              <a:rPr lang="en-GB" sz="4000" b="1" dirty="0"/>
            </a:br>
            <a:br>
              <a:rPr lang="en-GB" sz="4000" b="1" dirty="0"/>
            </a:br>
            <a:r>
              <a:rPr lang="en-GB" sz="4000" b="1" dirty="0"/>
              <a:t>Transfer Learning</a:t>
            </a:r>
            <a:br>
              <a:rPr lang="en-GB" sz="4000" b="1" dirty="0"/>
            </a:br>
            <a:r>
              <a:rPr lang="en-GB" sz="2000" b="1" dirty="0">
                <a:solidFill>
                  <a:schemeClr val="tx1"/>
                </a:solidFill>
              </a:rPr>
              <a:t>How to use pre-trained models (VGG, </a:t>
            </a:r>
            <a:r>
              <a:rPr lang="en-GB" sz="2000" b="1" dirty="0" err="1">
                <a:solidFill>
                  <a:schemeClr val="tx1"/>
                </a:solidFill>
              </a:rPr>
              <a:t>ResNet</a:t>
            </a:r>
            <a:r>
              <a:rPr lang="en-GB" sz="2000" b="1" dirty="0">
                <a:solidFill>
                  <a:schemeClr val="tx1"/>
                </a:solidFill>
              </a:rPr>
              <a:t>, BERT)</a:t>
            </a:r>
            <a:br>
              <a:rPr lang="en-GB" sz="2000" b="1" dirty="0">
                <a:solidFill>
                  <a:schemeClr val="tx1"/>
                </a:solidFill>
              </a:rPr>
            </a:br>
            <a:r>
              <a:rPr lang="en-GB" sz="2000" b="1" dirty="0">
                <a:solidFill>
                  <a:schemeClr val="tx1"/>
                </a:solidFill>
              </a:rPr>
              <a:t>Fine-tuning for domain-specific applications </a:t>
            </a:r>
            <a:br>
              <a:rPr lang="en-GB" sz="4000" b="1" dirty="0"/>
            </a:br>
            <a:br>
              <a:rPr lang="en-GB" sz="4000" b="1" dirty="0"/>
            </a:b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1402680" y="1326871"/>
            <a:ext cx="6634716" cy="2062063"/>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dirty="0">
                <a:solidFill>
                  <a:srgbClr val="7030A0"/>
                </a:solidFill>
              </a:rPr>
              <a:t>Topics Covered</a:t>
            </a:r>
            <a:r>
              <a:rPr lang="en-US" sz="2400" b="1" i="0" u="none" strike="noStrike" cap="none" dirty="0">
                <a:solidFill>
                  <a:srgbClr val="7030A0"/>
                </a:solidFill>
                <a:latin typeface="Arial"/>
                <a:ea typeface="Arial"/>
                <a:cs typeface="Arial"/>
                <a:sym typeface="Arial"/>
              </a:rPr>
              <a:t>:</a:t>
            </a:r>
            <a:endParaRPr lang="en-GB" b="0" i="0" u="none" strike="noStrike" dirty="0">
              <a:solidFill>
                <a:srgbClr val="000000"/>
              </a:solidFill>
              <a:effectLst/>
            </a:endParaRPr>
          </a:p>
          <a:p>
            <a:pPr marL="342900" indent="-342900" algn="l" rtl="0">
              <a:buFont typeface="+mj-lt"/>
              <a:buAutoNum type="arabicPeriod"/>
            </a:pPr>
            <a:r>
              <a:rPr lang="en-GB" b="1" dirty="0"/>
              <a:t>What is Transfer Learning</a:t>
            </a:r>
          </a:p>
          <a:p>
            <a:pPr marL="342900" indent="-342900">
              <a:buFont typeface="+mj-lt"/>
              <a:buAutoNum type="arabicPeriod"/>
            </a:pPr>
            <a:r>
              <a:rPr lang="en-GB" b="1" dirty="0"/>
              <a:t>Types of Transfer Learning</a:t>
            </a:r>
          </a:p>
          <a:p>
            <a:pPr marL="342900" indent="-342900" algn="l" rtl="0">
              <a:buFont typeface="+mj-lt"/>
              <a:buAutoNum type="arabicPeriod"/>
            </a:pPr>
            <a:r>
              <a:rPr lang="en-GB" sz="1400" b="1" i="0" u="none" strike="noStrike" dirty="0">
                <a:solidFill>
                  <a:schemeClr val="tx1"/>
                </a:solidFill>
                <a:effectLst/>
              </a:rPr>
              <a:t>Transfer Learning Vs Fine Tuning</a:t>
            </a:r>
          </a:p>
          <a:p>
            <a:pPr marL="342900" indent="-342900">
              <a:buFont typeface="+mj-lt"/>
              <a:buAutoNum type="arabicPeriod"/>
            </a:pPr>
            <a:r>
              <a:rPr lang="en-GB" b="1" dirty="0"/>
              <a:t>Advantage and Disadvantage of Transfer Learning</a:t>
            </a:r>
          </a:p>
          <a:p>
            <a:pPr marL="342900" indent="-342900" algn="l" rtl="0">
              <a:buFont typeface="+mj-lt"/>
              <a:buAutoNum type="arabicPeriod"/>
            </a:pPr>
            <a:r>
              <a:rPr lang="en-GB" sz="1400" b="1" i="0" u="none" strike="noStrike" dirty="0">
                <a:solidFill>
                  <a:schemeClr val="tx1"/>
                </a:solidFill>
                <a:effectLst/>
              </a:rPr>
              <a:t>Transfer Learning Use Case</a:t>
            </a:r>
          </a:p>
          <a:p>
            <a:pPr marL="342900" indent="-342900" algn="l" rtl="0">
              <a:buFont typeface="+mj-lt"/>
              <a:buAutoNum type="arabicPeriod"/>
            </a:pPr>
            <a:r>
              <a:rPr lang="en-GB" b="1" i="0" u="none" strike="noStrike" dirty="0">
                <a:solidFill>
                  <a:srgbClr val="000000"/>
                </a:solidFill>
                <a:effectLst/>
              </a:rPr>
              <a:t>Domain specific Fine Tuning</a:t>
            </a:r>
          </a:p>
          <a:p>
            <a:pPr marL="342900" indent="-342900" algn="l" rtl="0">
              <a:buFont typeface="+mj-lt"/>
              <a:buAutoNum type="arabicPeriod"/>
            </a:pPr>
            <a:r>
              <a:rPr lang="en-GB" b="1" dirty="0"/>
              <a:t>Implementation of Transfer Learning</a:t>
            </a:r>
            <a:endParaRPr lang="en-GB" b="1" i="0" u="none" strike="noStrike" dirty="0">
              <a:solidFill>
                <a:srgbClr val="000000"/>
              </a:solidFill>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284775" y="0"/>
            <a:ext cx="4178368" cy="627900"/>
          </a:xfrm>
          <a:prstGeom prst="rect">
            <a:avLst/>
          </a:prstGeom>
          <a:noFill/>
          <a:ln>
            <a:noFill/>
          </a:ln>
        </p:spPr>
        <p:txBody>
          <a:bodyPr spcFirstLastPara="1" wrap="square" lIns="91425" tIns="91425" rIns="91425" bIns="91425" anchor="t" anchorCtr="0">
            <a:normAutofit/>
          </a:bodyPr>
          <a:lstStyle/>
          <a:p>
            <a:pPr>
              <a:buNone/>
            </a:pPr>
            <a:r>
              <a:rPr lang="en-GB" sz="2800" i="0" u="none" strike="noStrike" dirty="0">
                <a:solidFill>
                  <a:srgbClr val="7030A0"/>
                </a:solidFill>
                <a:effectLst/>
              </a:rPr>
              <a:t>Transfer learning</a:t>
            </a:r>
            <a:endParaRPr lang="en-GB" sz="2800" dirty="0">
              <a:solidFill>
                <a:srgbClr val="7030A0"/>
              </a:solidFill>
            </a:endParaRP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91F168CB-0CDB-B6DB-AE67-BA9ABA3C3998}"/>
              </a:ext>
            </a:extLst>
          </p:cNvPr>
          <p:cNvSpPr txBox="1"/>
          <p:nvPr/>
        </p:nvSpPr>
        <p:spPr>
          <a:xfrm>
            <a:off x="127221" y="686618"/>
            <a:ext cx="7920240" cy="3785652"/>
          </a:xfrm>
          <a:prstGeom prst="rect">
            <a:avLst/>
          </a:prstGeom>
          <a:noFill/>
        </p:spPr>
        <p:txBody>
          <a:bodyPr wrap="square">
            <a:spAutoFit/>
          </a:bodyPr>
          <a:lstStyle/>
          <a:p>
            <a:pPr marL="342900" indent="-342900" algn="l">
              <a:buFont typeface="+mj-lt"/>
              <a:buAutoNum type="arabicPeriod"/>
            </a:pPr>
            <a:r>
              <a:rPr lang="en-GB" sz="1600" b="0" i="0" u="none" strike="noStrike" dirty="0">
                <a:solidFill>
                  <a:srgbClr val="000000"/>
                </a:solidFill>
                <a:effectLst/>
              </a:rPr>
              <a:t>Transfer learning is a machine learning approach where expertise acquired from one task or dataset is applied to enhance model effectiveness and adaptability on a distinct but related task or dataset.</a:t>
            </a:r>
          </a:p>
          <a:p>
            <a:pPr marL="342900" indent="-342900" algn="l">
              <a:buFont typeface="+mj-lt"/>
              <a:buAutoNum type="arabicPeriod"/>
            </a:pPr>
            <a:r>
              <a:rPr lang="en-GB" sz="1600" b="0" i="0" u="none" strike="noStrike" dirty="0">
                <a:solidFill>
                  <a:srgbClr val="000000"/>
                </a:solidFill>
                <a:effectLst/>
              </a:rPr>
              <a:t>In essence, transfer learning leverages existing knowledge to improve generalization capabilities in new scenarios. This technique finds broad utility, from solving regression problems in data science to training deep learning models, where it's especially valuable given the extensive data typically required for deep neural networks.</a:t>
            </a:r>
          </a:p>
          <a:p>
            <a:pPr marL="342900" indent="-342900" algn="l">
              <a:buFont typeface="+mj-lt"/>
              <a:buAutoNum type="arabicPeriod"/>
            </a:pPr>
            <a:r>
              <a:rPr lang="en-GB" sz="1600" b="0" i="0" u="none" strike="noStrike" dirty="0">
                <a:solidFill>
                  <a:srgbClr val="000000"/>
                </a:solidFill>
                <a:effectLst/>
              </a:rPr>
              <a:t>Unlike traditional learning, which necessitates building a fresh model for each new task from scratch assuming training and test data share the same characteristics transfer learning takes an already-trained model or network as its initial foundation. It then adapts the knowledge gained from an initial source task or data (e.g., classifying movie reviews) to a new, yet analogous, target task or dataset (e.g., classifying song reviews).</a:t>
            </a:r>
          </a:p>
          <a:p>
            <a:pPr marL="342900" indent="-342900">
              <a:buFont typeface="+mj-lt"/>
              <a:buAutoNum type="arabicPeriod"/>
            </a:pPr>
            <a:endParaRPr lang="en-GB" sz="1600" b="1" dirty="0">
              <a:latin typeface="+mj-lt"/>
            </a:endParaRPr>
          </a:p>
        </p:txBody>
      </p:sp>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303ED5D-96B5-8C6F-0E95-A2CA163DA2FF}"/>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55D29E0-CFCC-A20A-BF0B-3793B1B83BB7}"/>
              </a:ext>
            </a:extLst>
          </p:cNvPr>
          <p:cNvSpPr txBox="1">
            <a:spLocks noGrp="1"/>
          </p:cNvSpPr>
          <p:nvPr>
            <p:ph type="title"/>
          </p:nvPr>
        </p:nvSpPr>
        <p:spPr>
          <a:xfrm>
            <a:off x="284775" y="0"/>
            <a:ext cx="4824254" cy="627900"/>
          </a:xfrm>
          <a:prstGeom prst="rect">
            <a:avLst/>
          </a:prstGeom>
          <a:noFill/>
          <a:ln>
            <a:noFill/>
          </a:ln>
        </p:spPr>
        <p:txBody>
          <a:bodyPr spcFirstLastPara="1" wrap="square" lIns="91425" tIns="91425" rIns="91425" bIns="91425" anchor="t" anchorCtr="0">
            <a:normAutofit fontScale="90000"/>
          </a:bodyPr>
          <a:lstStyle/>
          <a:p>
            <a:pPr>
              <a:buNone/>
            </a:pPr>
            <a:r>
              <a:rPr lang="en-GB" sz="2800" i="0" u="none" strike="noStrike" dirty="0">
                <a:solidFill>
                  <a:srgbClr val="7030A0"/>
                </a:solidFill>
                <a:effectLst/>
              </a:rPr>
              <a:t>Why use Transfer Learning?</a:t>
            </a:r>
            <a:br>
              <a:rPr lang="en-GB" sz="2800" i="0" u="none" strike="noStrike" dirty="0">
                <a:solidFill>
                  <a:srgbClr val="7030A0"/>
                </a:solidFill>
                <a:effectLst/>
              </a:rPr>
            </a:br>
            <a:endParaRPr lang="en-GB" sz="2800" dirty="0">
              <a:solidFill>
                <a:srgbClr val="7030A0"/>
              </a:solidFill>
            </a:endParaRPr>
          </a:p>
        </p:txBody>
      </p:sp>
      <p:sp>
        <p:nvSpPr>
          <p:cNvPr id="4" name="AutoShape 2" descr="Optimized Python with Numba library">
            <a:extLst>
              <a:ext uri="{FF2B5EF4-FFF2-40B4-BE49-F238E27FC236}">
                <a16:creationId xmlns:a16="http://schemas.microsoft.com/office/drawing/2014/main" id="{8F532BA1-D990-5B01-4E53-AA0EC43A0C3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96751DC-FD4C-9486-788F-A69EBCFEE5E2}"/>
              </a:ext>
            </a:extLst>
          </p:cNvPr>
          <p:cNvSpPr txBox="1"/>
          <p:nvPr/>
        </p:nvSpPr>
        <p:spPr>
          <a:xfrm>
            <a:off x="284775" y="1229550"/>
            <a:ext cx="7378768" cy="2800767"/>
          </a:xfrm>
          <a:prstGeom prst="rect">
            <a:avLst/>
          </a:prstGeom>
          <a:noFill/>
        </p:spPr>
        <p:txBody>
          <a:bodyPr wrap="square">
            <a:spAutoFit/>
          </a:bodyPr>
          <a:lstStyle/>
          <a:p>
            <a:pPr algn="l">
              <a:lnSpc>
                <a:spcPts val="2400"/>
              </a:lnSpc>
              <a:buFont typeface="+mj-lt"/>
              <a:buAutoNum type="arabicPeriod"/>
            </a:pPr>
            <a:r>
              <a:rPr lang="en-GB" sz="2000" b="1" i="0" u="none" strike="noStrike" dirty="0">
                <a:solidFill>
                  <a:srgbClr val="242424"/>
                </a:solidFill>
                <a:effectLst/>
                <a:latin typeface="source-serif-pro"/>
              </a:rPr>
              <a:t>Faster Training</a:t>
            </a:r>
            <a:r>
              <a:rPr lang="en-GB" sz="2000" b="0" i="0" u="none" strike="noStrike" dirty="0">
                <a:solidFill>
                  <a:srgbClr val="242424"/>
                </a:solidFill>
                <a:effectLst/>
                <a:latin typeface="source-serif-pro"/>
              </a:rPr>
              <a:t>: Pre-trained models act as a strong foundation, reducing the time needed for training.</a:t>
            </a:r>
          </a:p>
          <a:p>
            <a:pPr algn="l">
              <a:lnSpc>
                <a:spcPts val="2400"/>
              </a:lnSpc>
              <a:buFont typeface="+mj-lt"/>
              <a:buAutoNum type="arabicPeriod"/>
            </a:pPr>
            <a:r>
              <a:rPr lang="en-GB" sz="2000" b="1" i="0" u="none" strike="noStrike" dirty="0">
                <a:solidFill>
                  <a:srgbClr val="242424"/>
                </a:solidFill>
                <a:effectLst/>
                <a:latin typeface="source-serif-pro"/>
              </a:rPr>
              <a:t>Higher Accuracy</a:t>
            </a:r>
            <a:r>
              <a:rPr lang="en-GB" sz="2000" b="0" i="0" u="none" strike="noStrike" dirty="0">
                <a:solidFill>
                  <a:srgbClr val="242424"/>
                </a:solidFill>
                <a:effectLst/>
                <a:latin typeface="source-serif-pro"/>
              </a:rPr>
              <a:t>: Leveraging learned features improves model performance, especially on small datasets.</a:t>
            </a:r>
          </a:p>
          <a:p>
            <a:pPr algn="l">
              <a:lnSpc>
                <a:spcPts val="2400"/>
              </a:lnSpc>
              <a:buFont typeface="+mj-lt"/>
              <a:buAutoNum type="arabicPeriod"/>
            </a:pPr>
            <a:r>
              <a:rPr lang="en-GB" sz="2000" b="1" i="0" u="none" strike="noStrike" dirty="0">
                <a:solidFill>
                  <a:srgbClr val="242424"/>
                </a:solidFill>
                <a:effectLst/>
                <a:latin typeface="source-serif-pro"/>
              </a:rPr>
              <a:t>Cost Efficiency</a:t>
            </a:r>
            <a:r>
              <a:rPr lang="en-GB" sz="2000" b="0" i="0" u="none" strike="noStrike" dirty="0">
                <a:solidFill>
                  <a:srgbClr val="242424"/>
                </a:solidFill>
                <a:effectLst/>
                <a:latin typeface="source-serif-pro"/>
              </a:rPr>
              <a:t>: Avoids the need for vast computational resources to train models from scratch.</a:t>
            </a:r>
          </a:p>
          <a:p>
            <a:pPr algn="l">
              <a:lnSpc>
                <a:spcPts val="2400"/>
              </a:lnSpc>
              <a:buFont typeface="+mj-lt"/>
              <a:buAutoNum type="arabicPeriod"/>
            </a:pPr>
            <a:r>
              <a:rPr lang="en-GB" sz="2000" b="1" i="0" u="none" strike="noStrike" dirty="0">
                <a:solidFill>
                  <a:srgbClr val="242424"/>
                </a:solidFill>
                <a:effectLst/>
                <a:latin typeface="source-serif-pro"/>
              </a:rPr>
              <a:t>Versatility</a:t>
            </a:r>
            <a:r>
              <a:rPr lang="en-GB" sz="2000" b="0" i="0" u="none" strike="noStrike" dirty="0">
                <a:solidFill>
                  <a:srgbClr val="242424"/>
                </a:solidFill>
                <a:effectLst/>
                <a:latin typeface="source-serif-pro"/>
              </a:rPr>
              <a:t>: Can be applied to various domains, including image classification, natural language processing, and audio analysis.</a:t>
            </a:r>
          </a:p>
          <a:p>
            <a:pPr marL="342900" indent="-342900">
              <a:buFont typeface="+mj-lt"/>
              <a:buAutoNum type="arabicPeriod"/>
            </a:pPr>
            <a:endParaRPr lang="en-GB" sz="1600" b="1" dirty="0">
              <a:latin typeface="+mj-lt"/>
            </a:endParaRPr>
          </a:p>
        </p:txBody>
      </p:sp>
    </p:spTree>
    <p:extLst>
      <p:ext uri="{BB962C8B-B14F-4D97-AF65-F5344CB8AC3E}">
        <p14:creationId xmlns:p14="http://schemas.microsoft.com/office/powerpoint/2010/main" val="1551610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C179245-137F-67F9-2E05-2A73F9E590A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4895422-AF95-F2F7-FACD-DCF1236BFB89}"/>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Types of Transfer Learning</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3142855-31B3-B00B-D5F7-C77B4057FEA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2CF73AC-550B-53A3-1A6F-6F1C60520B55}"/>
              </a:ext>
            </a:extLst>
          </p:cNvPr>
          <p:cNvSpPr txBox="1"/>
          <p:nvPr/>
        </p:nvSpPr>
        <p:spPr>
          <a:xfrm>
            <a:off x="79513" y="511689"/>
            <a:ext cx="7438887" cy="4278094"/>
          </a:xfrm>
          <a:prstGeom prst="rect">
            <a:avLst/>
          </a:prstGeom>
          <a:noFill/>
        </p:spPr>
        <p:txBody>
          <a:bodyPr wrap="square">
            <a:spAutoFit/>
          </a:bodyPr>
          <a:lstStyle/>
          <a:p>
            <a:pPr algn="l">
              <a:buNone/>
            </a:pPr>
            <a:r>
              <a:rPr lang="en-GB" sz="1600" b="0" i="0" u="none" strike="noStrike" dirty="0">
                <a:solidFill>
                  <a:srgbClr val="000000"/>
                </a:solidFill>
                <a:effectLst/>
              </a:rPr>
              <a:t>The distinctions between different transfer learning settings largely depend on the relationship between the source domain, target domain, and the tasks involved.</a:t>
            </a:r>
          </a:p>
          <a:p>
            <a:pPr algn="l">
              <a:buFont typeface="+mj-lt"/>
              <a:buAutoNum type="arabicPeriod"/>
            </a:pPr>
            <a:r>
              <a:rPr lang="en-GB" sz="1600" b="1" i="0" u="none" strike="noStrike" dirty="0">
                <a:solidFill>
                  <a:srgbClr val="000000"/>
                </a:solidFill>
                <a:effectLst/>
              </a:rPr>
              <a:t>Inductive Transfer:</a:t>
            </a:r>
            <a:endParaRPr lang="en-GB" sz="1600" b="0" i="0" u="none" strike="noStrike" dirty="0">
              <a:solidFill>
                <a:srgbClr val="000000"/>
              </a:solidFill>
              <a:effectLst/>
            </a:endParaRPr>
          </a:p>
          <a:p>
            <a:pPr marL="742950" lvl="1" indent="-285750" algn="l">
              <a:buFont typeface="+mj-lt"/>
              <a:buAutoNum type="arabicPeriod"/>
            </a:pPr>
            <a:r>
              <a:rPr lang="en-GB" sz="1600" b="1" i="0" u="none" strike="noStrike" dirty="0">
                <a:solidFill>
                  <a:srgbClr val="000000"/>
                </a:solidFill>
                <a:effectLst/>
              </a:rPr>
              <a:t>Relationship:</a:t>
            </a:r>
            <a:r>
              <a:rPr lang="en-GB" sz="1600" b="0" i="0" u="none" strike="noStrike" dirty="0">
                <a:solidFill>
                  <a:srgbClr val="000000"/>
                </a:solidFill>
                <a:effectLst/>
              </a:rPr>
              <a:t> Source task and target task are </a:t>
            </a:r>
            <a:r>
              <a:rPr lang="en-GB" sz="1600" b="1" i="0" u="none" strike="noStrike" dirty="0">
                <a:solidFill>
                  <a:srgbClr val="000000"/>
                </a:solidFill>
                <a:effectLst/>
              </a:rPr>
              <a:t>different</a:t>
            </a:r>
            <a:r>
              <a:rPr lang="en-GB" sz="1600" b="0" i="0" u="none" strike="noStrike" dirty="0">
                <a:solidFill>
                  <a:srgbClr val="000000"/>
                </a:solidFill>
                <a:effectLst/>
              </a:rPr>
              <a:t>, regardless of whether the source and target domains (datasets) are similar or different.</a:t>
            </a:r>
          </a:p>
          <a:p>
            <a:pPr marL="742950" lvl="1" indent="-285750" algn="l">
              <a:buFont typeface="+mj-lt"/>
              <a:buAutoNum type="arabicPeriod"/>
            </a:pPr>
            <a:r>
              <a:rPr lang="en-GB" sz="1600" b="1" i="0" u="none" strike="noStrike" dirty="0">
                <a:solidFill>
                  <a:srgbClr val="000000"/>
                </a:solidFill>
                <a:effectLst/>
              </a:rPr>
              <a:t>Example:</a:t>
            </a:r>
            <a:r>
              <a:rPr lang="en-GB" sz="1600" b="0" i="0" u="none" strike="noStrike" dirty="0">
                <a:solidFill>
                  <a:srgbClr val="000000"/>
                </a:solidFill>
                <a:effectLst/>
              </a:rPr>
              <a:t> A computer vision model pre-trained for general feature extraction on a large dataset is then adapted for a specific task like object detection.</a:t>
            </a:r>
          </a:p>
          <a:p>
            <a:pPr marL="742950" lvl="1" indent="-285750" algn="l">
              <a:buFont typeface="+mj-lt"/>
              <a:buAutoNum type="arabicPeriod"/>
            </a:pPr>
            <a:r>
              <a:rPr lang="en-GB" sz="1600" b="1" i="0" u="none" strike="noStrike" dirty="0">
                <a:solidFill>
                  <a:srgbClr val="000000"/>
                </a:solidFill>
                <a:effectLst/>
              </a:rPr>
              <a:t>Related Concept:</a:t>
            </a:r>
            <a:r>
              <a:rPr lang="en-GB" sz="1600" b="0" i="0" u="none" strike="noStrike" dirty="0">
                <a:solidFill>
                  <a:srgbClr val="000000"/>
                </a:solidFill>
                <a:effectLst/>
              </a:rPr>
              <a:t> Multitask learning (simultaneously learning two different tasks on the same dataset) can be considered a form of inductive transfer.</a:t>
            </a:r>
          </a:p>
          <a:p>
            <a:pPr marL="742950" lvl="1" indent="-285750" algn="l">
              <a:buFont typeface="+mj-lt"/>
              <a:buAutoNum type="arabicPeriod"/>
            </a:pPr>
            <a:r>
              <a:rPr lang="en-GB" sz="1600" b="1" i="0" u="none" strike="noStrike" dirty="0">
                <a:solidFill>
                  <a:srgbClr val="000000"/>
                </a:solidFill>
                <a:effectLst/>
              </a:rPr>
              <a:t>Supervision:</a:t>
            </a:r>
            <a:r>
              <a:rPr lang="en-GB" sz="1600" b="0" i="0" u="none" strike="noStrike" dirty="0">
                <a:solidFill>
                  <a:srgbClr val="000000"/>
                </a:solidFill>
                <a:effectLst/>
              </a:rPr>
              <a:t> Often involves </a:t>
            </a:r>
            <a:r>
              <a:rPr lang="en-GB" sz="1600" b="0" i="0" u="none" strike="noStrike" dirty="0" err="1">
                <a:solidFill>
                  <a:srgbClr val="000000"/>
                </a:solidFill>
                <a:effectLst/>
              </a:rPr>
              <a:t>labeled</a:t>
            </a:r>
            <a:r>
              <a:rPr lang="en-GB" sz="1600" b="0" i="0" u="none" strike="noStrike" dirty="0">
                <a:solidFill>
                  <a:srgbClr val="000000"/>
                </a:solidFill>
                <a:effectLst/>
              </a:rPr>
              <a:t> source and/or target data, thus sometimes referred to as supervised transfer learning.</a:t>
            </a:r>
          </a:p>
          <a:p>
            <a:pPr>
              <a:buNone/>
            </a:pPr>
            <a:br>
              <a:rPr lang="en-GB" sz="1600" dirty="0"/>
            </a:br>
            <a:endParaRPr lang="en-GB" sz="1600" b="0" i="0" u="none" strike="noStrike" dirty="0">
              <a:solidFill>
                <a:srgbClr val="000000"/>
              </a:solidFill>
              <a:effectLst/>
            </a:endParaRPr>
          </a:p>
        </p:txBody>
      </p:sp>
    </p:spTree>
    <p:extLst>
      <p:ext uri="{BB962C8B-B14F-4D97-AF65-F5344CB8AC3E}">
        <p14:creationId xmlns:p14="http://schemas.microsoft.com/office/powerpoint/2010/main" val="2194060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9E8FEA6-65F0-B9D4-B07A-025DE0E9492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918C6AA-24AD-A805-B63B-3607E3CD1BD6}"/>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Types of Transfer Learning</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65830205-9A81-73FF-C5E7-17950F1281F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425C88D6-F512-2293-0325-3BF6E9B1B933}"/>
              </a:ext>
            </a:extLst>
          </p:cNvPr>
          <p:cNvSpPr txBox="1"/>
          <p:nvPr/>
        </p:nvSpPr>
        <p:spPr>
          <a:xfrm>
            <a:off x="79513" y="511689"/>
            <a:ext cx="8090266" cy="4001095"/>
          </a:xfrm>
          <a:prstGeom prst="rect">
            <a:avLst/>
          </a:prstGeom>
          <a:noFill/>
        </p:spPr>
        <p:txBody>
          <a:bodyPr wrap="square">
            <a:spAutoFit/>
          </a:bodyPr>
          <a:lstStyle/>
          <a:p>
            <a:pPr marL="342900" indent="-342900" algn="l">
              <a:buFont typeface="+mj-lt"/>
              <a:buAutoNum type="arabicPeriod" startAt="2"/>
            </a:pPr>
            <a:r>
              <a:rPr lang="en-GB" b="1" i="0" u="none" strike="noStrike" dirty="0">
                <a:solidFill>
                  <a:srgbClr val="000000"/>
                </a:solidFill>
                <a:effectLst/>
              </a:rPr>
              <a:t>Unsupervised Transfer Learning:</a:t>
            </a:r>
            <a:endParaRPr lang="en-GB" b="0" i="0" u="none" strike="noStrike" dirty="0">
              <a:solidFill>
                <a:srgbClr val="000000"/>
              </a:solidFill>
              <a:effectLst/>
            </a:endParaRPr>
          </a:p>
          <a:p>
            <a:pPr marL="742950" lvl="1" indent="-285750" algn="l">
              <a:buFont typeface="+mj-lt"/>
              <a:buAutoNum type="arabicPeriod"/>
            </a:pPr>
            <a:r>
              <a:rPr lang="en-GB" b="1" i="0" u="none" strike="noStrike" dirty="0">
                <a:solidFill>
                  <a:srgbClr val="000000"/>
                </a:solidFill>
                <a:effectLst/>
              </a:rPr>
              <a:t>Relationship:</a:t>
            </a:r>
            <a:r>
              <a:rPr lang="en-GB" b="0" i="0" u="none" strike="noStrike" dirty="0">
                <a:solidFill>
                  <a:srgbClr val="000000"/>
                </a:solidFill>
                <a:effectLst/>
              </a:rPr>
              <a:t> Similar to inductive transfer, the target and source tasks are </a:t>
            </a:r>
            <a:r>
              <a:rPr lang="en-GB" b="1" i="0" u="none" strike="noStrike" dirty="0">
                <a:solidFill>
                  <a:srgbClr val="000000"/>
                </a:solidFill>
                <a:effectLst/>
              </a:rPr>
              <a:t>different</a:t>
            </a:r>
            <a:r>
              <a:rPr lang="en-GB" b="0" i="0" u="none" strike="noStrike" dirty="0">
                <a:solidFill>
                  <a:srgbClr val="000000"/>
                </a:solidFill>
                <a:effectLst/>
              </a:rPr>
              <a:t>.</a:t>
            </a:r>
          </a:p>
          <a:p>
            <a:pPr marL="742950" lvl="1" indent="-285750" algn="l">
              <a:buFont typeface="+mj-lt"/>
              <a:buAutoNum type="arabicPeriod"/>
            </a:pPr>
            <a:r>
              <a:rPr lang="en-GB" b="1" i="0" u="none" strike="noStrike" dirty="0">
                <a:solidFill>
                  <a:srgbClr val="000000"/>
                </a:solidFill>
                <a:effectLst/>
              </a:rPr>
              <a:t>Key Distinction:</a:t>
            </a:r>
            <a:r>
              <a:rPr lang="en-GB" b="0" i="0" u="none" strike="noStrike" dirty="0">
                <a:solidFill>
                  <a:srgbClr val="000000"/>
                </a:solidFill>
                <a:effectLst/>
              </a:rPr>
              <a:t> Unlike inductive transfer where data can be </a:t>
            </a:r>
            <a:r>
              <a:rPr lang="en-GB" b="0" i="0" u="none" strike="noStrike" dirty="0" err="1">
                <a:solidFill>
                  <a:srgbClr val="000000"/>
                </a:solidFill>
                <a:effectLst/>
              </a:rPr>
              <a:t>labeled</a:t>
            </a:r>
            <a:r>
              <a:rPr lang="en-GB" b="0" i="0" u="none" strike="noStrike" dirty="0">
                <a:solidFill>
                  <a:srgbClr val="000000"/>
                </a:solidFill>
                <a:effectLst/>
              </a:rPr>
              <a:t>, unsupervised transfer learning deals with </a:t>
            </a:r>
            <a:r>
              <a:rPr lang="en-GB" b="1" i="0" u="none" strike="noStrike" dirty="0">
                <a:solidFill>
                  <a:srgbClr val="000000"/>
                </a:solidFill>
                <a:effectLst/>
              </a:rPr>
              <a:t>no manually </a:t>
            </a:r>
            <a:r>
              <a:rPr lang="en-GB" b="1" i="0" u="none" strike="noStrike" dirty="0" err="1">
                <a:solidFill>
                  <a:srgbClr val="000000"/>
                </a:solidFill>
                <a:effectLst/>
              </a:rPr>
              <a:t>labeled</a:t>
            </a:r>
            <a:r>
              <a:rPr lang="en-GB" b="1" i="0" u="none" strike="noStrike" dirty="0">
                <a:solidFill>
                  <a:srgbClr val="000000"/>
                </a:solidFill>
                <a:effectLst/>
              </a:rPr>
              <a:t> data</a:t>
            </a:r>
            <a:r>
              <a:rPr lang="en-GB" b="0" i="0" u="none" strike="noStrike" dirty="0">
                <a:solidFill>
                  <a:srgbClr val="000000"/>
                </a:solidFill>
                <a:effectLst/>
              </a:rPr>
              <a:t> in either the source or target domains.</a:t>
            </a:r>
          </a:p>
          <a:p>
            <a:pPr marL="742950" lvl="1" indent="-285750" algn="l">
              <a:buFont typeface="+mj-lt"/>
              <a:buAutoNum type="arabicPeriod"/>
            </a:pPr>
            <a:r>
              <a:rPr lang="en-GB" b="1" i="0" u="none" strike="noStrike" dirty="0">
                <a:solidFill>
                  <a:srgbClr val="000000"/>
                </a:solidFill>
                <a:effectLst/>
              </a:rPr>
              <a:t>Example:</a:t>
            </a:r>
            <a:r>
              <a:rPr lang="en-GB" b="0" i="0" u="none" strike="noStrike" dirty="0">
                <a:solidFill>
                  <a:srgbClr val="000000"/>
                </a:solidFill>
                <a:effectLst/>
              </a:rPr>
              <a:t> In fraud detection, identifying common patterns across an </a:t>
            </a:r>
            <a:r>
              <a:rPr lang="en-GB" b="0" i="0" u="none" strike="noStrike" dirty="0" err="1">
                <a:solidFill>
                  <a:srgbClr val="000000"/>
                </a:solidFill>
                <a:effectLst/>
              </a:rPr>
              <a:t>unlabeled</a:t>
            </a:r>
            <a:r>
              <a:rPr lang="en-GB" b="0" i="0" u="none" strike="noStrike" dirty="0">
                <a:solidFill>
                  <a:srgbClr val="000000"/>
                </a:solidFill>
                <a:effectLst/>
              </a:rPr>
              <a:t> dataset of transactions to then identify deviating </a:t>
            </a:r>
            <a:r>
              <a:rPr lang="en-GB" b="0" i="0" u="none" strike="noStrike" dirty="0" err="1">
                <a:solidFill>
                  <a:srgbClr val="000000"/>
                </a:solidFill>
                <a:effectLst/>
              </a:rPr>
              <a:t>behaviors</a:t>
            </a:r>
            <a:r>
              <a:rPr lang="en-GB" b="0" i="0" u="none" strike="noStrike" dirty="0">
                <a:solidFill>
                  <a:srgbClr val="000000"/>
                </a:solidFill>
                <a:effectLst/>
              </a:rPr>
              <a:t> as potential fraud.</a:t>
            </a:r>
          </a:p>
          <a:p>
            <a:pPr algn="l">
              <a:buFont typeface="+mj-lt"/>
              <a:buAutoNum type="arabicPeriod" startAt="2"/>
            </a:pPr>
            <a:r>
              <a:rPr lang="en-GB" b="1" i="0" u="none" strike="noStrike" dirty="0">
                <a:solidFill>
                  <a:srgbClr val="000000"/>
                </a:solidFill>
                <a:effectLst/>
              </a:rPr>
              <a:t> </a:t>
            </a:r>
            <a:r>
              <a:rPr lang="en-GB" b="1" i="0" u="none" strike="noStrike" dirty="0" err="1">
                <a:solidFill>
                  <a:srgbClr val="000000"/>
                </a:solidFill>
                <a:effectLst/>
              </a:rPr>
              <a:t>Transductive</a:t>
            </a:r>
            <a:r>
              <a:rPr lang="en-GB" b="1" i="0" u="none" strike="noStrike" dirty="0">
                <a:solidFill>
                  <a:srgbClr val="000000"/>
                </a:solidFill>
                <a:effectLst/>
              </a:rPr>
              <a:t> Transfer:</a:t>
            </a:r>
            <a:endParaRPr lang="en-GB" b="0" i="0" u="none" strike="noStrike" dirty="0">
              <a:solidFill>
                <a:srgbClr val="000000"/>
              </a:solidFill>
              <a:effectLst/>
            </a:endParaRPr>
          </a:p>
          <a:p>
            <a:pPr marL="742950" lvl="1" indent="-285750" algn="l">
              <a:buFont typeface="+mj-lt"/>
              <a:buAutoNum type="arabicPeriod"/>
            </a:pPr>
            <a:r>
              <a:rPr lang="en-GB" b="1" i="0" u="none" strike="noStrike" dirty="0">
                <a:solidFill>
                  <a:srgbClr val="000000"/>
                </a:solidFill>
                <a:effectLst/>
              </a:rPr>
              <a:t>Relationship:</a:t>
            </a:r>
            <a:r>
              <a:rPr lang="en-GB" b="0" i="0" u="none" strike="noStrike" dirty="0">
                <a:solidFill>
                  <a:srgbClr val="000000"/>
                </a:solidFill>
                <a:effectLst/>
              </a:rPr>
              <a:t> The source task and target task are the </a:t>
            </a:r>
            <a:r>
              <a:rPr lang="en-GB" b="1" i="0" u="none" strike="noStrike" dirty="0">
                <a:solidFill>
                  <a:srgbClr val="000000"/>
                </a:solidFill>
                <a:effectLst/>
              </a:rPr>
              <a:t>same</a:t>
            </a:r>
            <a:r>
              <a:rPr lang="en-GB" b="0" i="0" u="none" strike="noStrike" dirty="0">
                <a:solidFill>
                  <a:srgbClr val="000000"/>
                </a:solidFill>
                <a:effectLst/>
              </a:rPr>
              <a:t>, but the datasets (or domains) are </a:t>
            </a:r>
            <a:r>
              <a:rPr lang="en-GB" b="1" i="0" u="none" strike="noStrike" dirty="0">
                <a:solidFill>
                  <a:srgbClr val="000000"/>
                </a:solidFill>
                <a:effectLst/>
              </a:rPr>
              <a:t>different</a:t>
            </a:r>
            <a:r>
              <a:rPr lang="en-GB" b="0" i="0" u="none" strike="noStrike" dirty="0">
                <a:solidFill>
                  <a:srgbClr val="000000"/>
                </a:solidFill>
                <a:effectLst/>
              </a:rPr>
              <a:t>.</a:t>
            </a:r>
          </a:p>
          <a:p>
            <a:pPr marL="742950" lvl="1" indent="-285750" algn="l">
              <a:buFont typeface="+mj-lt"/>
              <a:buAutoNum type="arabicPeriod"/>
            </a:pPr>
            <a:r>
              <a:rPr lang="en-GB" b="1" i="0" u="none" strike="noStrike" dirty="0">
                <a:solidFill>
                  <a:srgbClr val="000000"/>
                </a:solidFill>
                <a:effectLst/>
              </a:rPr>
              <a:t>Data </a:t>
            </a:r>
            <a:r>
              <a:rPr lang="en-GB" b="1" i="0" u="none" strike="noStrike" dirty="0" err="1">
                <a:solidFill>
                  <a:srgbClr val="000000"/>
                </a:solidFill>
                <a:effectLst/>
              </a:rPr>
              <a:t>Labeling</a:t>
            </a:r>
            <a:r>
              <a:rPr lang="en-GB" b="1" i="0" u="none" strike="noStrike" dirty="0">
                <a:solidFill>
                  <a:srgbClr val="000000"/>
                </a:solidFill>
                <a:effectLst/>
              </a:rPr>
              <a:t>:</a:t>
            </a:r>
            <a:r>
              <a:rPr lang="en-GB" b="0" i="0" u="none" strike="noStrike" dirty="0">
                <a:solidFill>
                  <a:srgbClr val="000000"/>
                </a:solidFill>
                <a:effectLst/>
              </a:rPr>
              <a:t> Typically, the source data is </a:t>
            </a:r>
            <a:r>
              <a:rPr lang="en-GB" b="0" i="0" u="none" strike="noStrike" dirty="0" err="1">
                <a:solidFill>
                  <a:srgbClr val="000000"/>
                </a:solidFill>
                <a:effectLst/>
              </a:rPr>
              <a:t>labeled</a:t>
            </a:r>
            <a:r>
              <a:rPr lang="en-GB" b="0" i="0" u="none" strike="noStrike" dirty="0">
                <a:solidFill>
                  <a:srgbClr val="000000"/>
                </a:solidFill>
                <a:effectLst/>
              </a:rPr>
              <a:t>, while the target data is </a:t>
            </a:r>
            <a:r>
              <a:rPr lang="en-GB" b="0" i="0" u="none" strike="noStrike" dirty="0" err="1">
                <a:solidFill>
                  <a:srgbClr val="000000"/>
                </a:solidFill>
                <a:effectLst/>
              </a:rPr>
              <a:t>unlabeled</a:t>
            </a:r>
            <a:r>
              <a:rPr lang="en-GB" b="0" i="0" u="none" strike="noStrike" dirty="0">
                <a:solidFill>
                  <a:srgbClr val="000000"/>
                </a:solidFill>
                <a:effectLst/>
              </a:rPr>
              <a:t>.</a:t>
            </a:r>
          </a:p>
          <a:p>
            <a:pPr marL="742950" lvl="1" indent="-285750" algn="l">
              <a:buFont typeface="+mj-lt"/>
              <a:buAutoNum type="arabicPeriod"/>
            </a:pPr>
            <a:r>
              <a:rPr lang="en-GB" b="1" i="0" u="none" strike="noStrike" dirty="0">
                <a:solidFill>
                  <a:srgbClr val="000000"/>
                </a:solidFill>
                <a:effectLst/>
              </a:rPr>
              <a:t>Example:</a:t>
            </a:r>
            <a:r>
              <a:rPr lang="en-GB" b="0" i="0" u="none" strike="noStrike" dirty="0">
                <a:solidFill>
                  <a:srgbClr val="000000"/>
                </a:solidFill>
                <a:effectLst/>
              </a:rPr>
              <a:t> Applying a text classification model initially trained on restaurant reviews to classify movie reviews (same task, different domains/datasets).</a:t>
            </a:r>
          </a:p>
          <a:p>
            <a:pPr marL="742950" lvl="1" indent="-285750" algn="l">
              <a:buFont typeface="+mj-lt"/>
              <a:buAutoNum type="arabicPeriod"/>
            </a:pPr>
            <a:r>
              <a:rPr lang="en-GB" b="1" i="0" u="none" strike="noStrike" dirty="0">
                <a:solidFill>
                  <a:srgbClr val="000000"/>
                </a:solidFill>
                <a:effectLst/>
              </a:rPr>
              <a:t>Related Concept:</a:t>
            </a:r>
            <a:r>
              <a:rPr lang="en-GB" b="0" i="0" u="none" strike="noStrike" dirty="0">
                <a:solidFill>
                  <a:srgbClr val="000000"/>
                </a:solidFill>
                <a:effectLst/>
              </a:rPr>
              <a:t> Domain adaptation is a specific form of </a:t>
            </a:r>
            <a:r>
              <a:rPr lang="en-GB" b="0" i="0" u="none" strike="noStrike" dirty="0" err="1">
                <a:solidFill>
                  <a:srgbClr val="000000"/>
                </a:solidFill>
                <a:effectLst/>
              </a:rPr>
              <a:t>transductive</a:t>
            </a:r>
            <a:r>
              <a:rPr lang="en-GB" b="0" i="0" u="none" strike="noStrike" dirty="0">
                <a:solidFill>
                  <a:srgbClr val="000000"/>
                </a:solidFill>
                <a:effectLst/>
              </a:rPr>
              <a:t> learning, where knowledge from one data distribution is applied to the same task on a different data distribution.</a:t>
            </a:r>
          </a:p>
          <a:p>
            <a:pPr>
              <a:buNone/>
            </a:pPr>
            <a:br>
              <a:rPr lang="en-GB" dirty="0"/>
            </a:br>
            <a:endParaRPr lang="en-GB" sz="1600" b="0" i="0" u="none" strike="noStrike" dirty="0">
              <a:solidFill>
                <a:srgbClr val="000000"/>
              </a:solidFill>
              <a:effectLst/>
            </a:endParaRPr>
          </a:p>
        </p:txBody>
      </p:sp>
    </p:spTree>
    <p:extLst>
      <p:ext uri="{BB962C8B-B14F-4D97-AF65-F5344CB8AC3E}">
        <p14:creationId xmlns:p14="http://schemas.microsoft.com/office/powerpoint/2010/main" val="1507521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2E869E3-5FE7-A655-147B-4587AE981B7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186ECF3-5789-6B9B-E7D7-37890C921ACA}"/>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Transfer Learning versus Fine-tuning</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7E6A667A-2DB8-9E5C-F623-5CA5D79482E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2C531382-20D4-23FE-AEF6-E6B8C9C25C1E}"/>
              </a:ext>
            </a:extLst>
          </p:cNvPr>
          <p:cNvSpPr txBox="1"/>
          <p:nvPr/>
        </p:nvSpPr>
        <p:spPr>
          <a:xfrm>
            <a:off x="137570" y="765689"/>
            <a:ext cx="8090266" cy="3770263"/>
          </a:xfrm>
          <a:prstGeom prst="rect">
            <a:avLst/>
          </a:prstGeom>
          <a:noFill/>
        </p:spPr>
        <p:txBody>
          <a:bodyPr wrap="square">
            <a:spAutoFit/>
          </a:bodyPr>
          <a:lstStyle/>
          <a:p>
            <a:pPr algn="l">
              <a:buNone/>
            </a:pPr>
            <a:r>
              <a:rPr lang="en-GB" b="0" i="0" u="none" strike="noStrike" dirty="0">
                <a:solidFill>
                  <a:srgbClr val="000000"/>
                </a:solidFill>
                <a:effectLst/>
              </a:rPr>
              <a:t>While both techniques reuse pre-existing machine learning models instead of training new ones, their objectives differ significantly:</a:t>
            </a:r>
          </a:p>
          <a:p>
            <a:pPr algn="l"/>
            <a:r>
              <a:rPr lang="en-GB" b="1" i="0" u="none" strike="noStrike" dirty="0">
                <a:solidFill>
                  <a:srgbClr val="000000"/>
                </a:solidFill>
                <a:effectLst/>
              </a:rPr>
              <a:t>Fine-tuning:</a:t>
            </a:r>
            <a:endParaRPr lang="en-GB" b="0" i="0" u="none" strike="noStrike" dirty="0">
              <a:solidFill>
                <a:srgbClr val="000000"/>
              </a:solidFill>
              <a:effectLst/>
            </a:endParaRPr>
          </a:p>
          <a:p>
            <a:pPr marL="800100" lvl="1" indent="-342900" algn="l">
              <a:buFont typeface="+mj-lt"/>
              <a:buAutoNum type="arabicPeriod"/>
            </a:pPr>
            <a:r>
              <a:rPr lang="en-GB" b="1" i="0" u="none" strike="noStrike" dirty="0">
                <a:solidFill>
                  <a:srgbClr val="000000"/>
                </a:solidFill>
                <a:effectLst/>
              </a:rPr>
              <a:t>Process:</a:t>
            </a:r>
            <a:r>
              <a:rPr lang="en-GB" b="0" i="0" u="none" strike="noStrike" dirty="0">
                <a:solidFill>
                  <a:srgbClr val="000000"/>
                </a:solidFill>
                <a:effectLst/>
              </a:rPr>
              <a:t> Involves further training a model on a </a:t>
            </a:r>
            <a:r>
              <a:rPr lang="en-GB" b="1" i="0" u="none" strike="noStrike" dirty="0">
                <a:solidFill>
                  <a:srgbClr val="000000"/>
                </a:solidFill>
                <a:effectLst/>
              </a:rPr>
              <a:t>task-specific dataset</a:t>
            </a:r>
            <a:r>
              <a:rPr lang="en-GB" b="0" i="0" u="none" strike="noStrike" dirty="0">
                <a:solidFill>
                  <a:srgbClr val="000000"/>
                </a:solidFill>
                <a:effectLst/>
              </a:rPr>
              <a:t>.</a:t>
            </a:r>
          </a:p>
          <a:p>
            <a:pPr marL="800100" lvl="1" indent="-342900" algn="l">
              <a:buFont typeface="+mj-lt"/>
              <a:buAutoNum type="arabicPeriod"/>
            </a:pPr>
            <a:r>
              <a:rPr lang="en-GB" b="1" i="0" u="none" strike="noStrike" dirty="0">
                <a:solidFill>
                  <a:srgbClr val="000000"/>
                </a:solidFill>
                <a:effectLst/>
              </a:rPr>
              <a:t>Goal:</a:t>
            </a:r>
            <a:r>
              <a:rPr lang="en-GB" b="0" i="0" u="none" strike="noStrike" dirty="0">
                <a:solidFill>
                  <a:srgbClr val="000000"/>
                </a:solidFill>
                <a:effectLst/>
              </a:rPr>
              <a:t> To improve performance on the </a:t>
            </a:r>
            <a:r>
              <a:rPr lang="en-GB" b="1" i="0" u="none" strike="noStrike" dirty="0">
                <a:solidFill>
                  <a:srgbClr val="000000"/>
                </a:solidFill>
                <a:effectLst/>
              </a:rPr>
              <a:t>initial, specific task</a:t>
            </a:r>
            <a:r>
              <a:rPr lang="en-GB" b="0" i="0" u="none" strike="noStrike" dirty="0">
                <a:solidFill>
                  <a:srgbClr val="000000"/>
                </a:solidFill>
                <a:effectLst/>
              </a:rPr>
              <a:t> for which the model was originally built.</a:t>
            </a:r>
          </a:p>
          <a:p>
            <a:pPr marL="800100" lvl="1" indent="-342900" algn="l">
              <a:buFont typeface="+mj-lt"/>
              <a:buAutoNum type="arabicPeriod"/>
            </a:pPr>
            <a:r>
              <a:rPr lang="en-GB" b="1" i="0" u="none" strike="noStrike" dirty="0">
                <a:solidFill>
                  <a:srgbClr val="000000"/>
                </a:solidFill>
                <a:effectLst/>
              </a:rPr>
              <a:t>Example:</a:t>
            </a:r>
            <a:r>
              <a:rPr lang="en-GB" b="0" i="0" u="none" strike="noStrike" dirty="0">
                <a:solidFill>
                  <a:srgbClr val="000000"/>
                </a:solidFill>
                <a:effectLst/>
              </a:rPr>
              <a:t> Taking a general object detection model (trained on COCO/ImageNet) and further training it on a smaller, </a:t>
            </a:r>
            <a:r>
              <a:rPr lang="en-GB" b="0" i="0" u="none" strike="noStrike" dirty="0" err="1">
                <a:solidFill>
                  <a:srgbClr val="000000"/>
                </a:solidFill>
                <a:effectLst/>
              </a:rPr>
              <a:t>labeled</a:t>
            </a:r>
            <a:r>
              <a:rPr lang="en-GB" b="0" i="0" u="none" strike="noStrike" dirty="0">
                <a:solidFill>
                  <a:srgbClr val="000000"/>
                </a:solidFill>
                <a:effectLst/>
              </a:rPr>
              <a:t> dataset specifically for </a:t>
            </a:r>
            <a:r>
              <a:rPr lang="en-GB" b="0" i="1" u="none" strike="noStrike" dirty="0">
                <a:solidFill>
                  <a:srgbClr val="000000"/>
                </a:solidFill>
                <a:effectLst/>
              </a:rPr>
              <a:t>car detection</a:t>
            </a:r>
            <a:r>
              <a:rPr lang="en-GB" b="0" i="0" u="none" strike="noStrike" dirty="0">
                <a:solidFill>
                  <a:srgbClr val="000000"/>
                </a:solidFill>
                <a:effectLst/>
              </a:rPr>
              <a:t> to make it better at detecting cars.</a:t>
            </a:r>
          </a:p>
          <a:p>
            <a:pPr algn="l"/>
            <a:r>
              <a:rPr lang="en-GB" b="1" i="0" u="none" strike="noStrike" dirty="0">
                <a:solidFill>
                  <a:srgbClr val="000000"/>
                </a:solidFill>
                <a:effectLst/>
              </a:rPr>
              <a:t>Transfer Learning:</a:t>
            </a:r>
            <a:endParaRPr lang="en-GB" b="0" i="0" u="none" strike="noStrike" dirty="0">
              <a:solidFill>
                <a:srgbClr val="000000"/>
              </a:solidFill>
              <a:effectLst/>
            </a:endParaRPr>
          </a:p>
          <a:p>
            <a:pPr marL="800100" lvl="1" indent="-342900" algn="l">
              <a:buFont typeface="+mj-lt"/>
              <a:buAutoNum type="arabicPeriod"/>
            </a:pPr>
            <a:r>
              <a:rPr lang="en-GB" b="1" i="0" u="none" strike="noStrike" dirty="0">
                <a:solidFill>
                  <a:srgbClr val="000000"/>
                </a:solidFill>
                <a:effectLst/>
              </a:rPr>
              <a:t>Process:</a:t>
            </a:r>
            <a:r>
              <a:rPr lang="en-GB" b="0" i="0" u="none" strike="noStrike" dirty="0">
                <a:solidFill>
                  <a:srgbClr val="000000"/>
                </a:solidFill>
                <a:effectLst/>
              </a:rPr>
              <a:t> Adapts a model's learned knowledge.</a:t>
            </a:r>
          </a:p>
          <a:p>
            <a:pPr marL="800100" lvl="1" indent="-342900" algn="l">
              <a:buFont typeface="+mj-lt"/>
              <a:buAutoNum type="arabicPeriod"/>
            </a:pPr>
            <a:r>
              <a:rPr lang="en-GB" b="1" i="0" u="none" strike="noStrike" dirty="0">
                <a:solidFill>
                  <a:srgbClr val="000000"/>
                </a:solidFill>
                <a:effectLst/>
              </a:rPr>
              <a:t>Goal:</a:t>
            </a:r>
            <a:r>
              <a:rPr lang="en-GB" b="0" i="0" u="none" strike="noStrike" dirty="0">
                <a:solidFill>
                  <a:srgbClr val="000000"/>
                </a:solidFill>
                <a:effectLst/>
              </a:rPr>
              <a:t> To solve a </a:t>
            </a:r>
            <a:r>
              <a:rPr lang="en-GB" b="1" i="0" u="none" strike="noStrike" dirty="0">
                <a:solidFill>
                  <a:srgbClr val="000000"/>
                </a:solidFill>
                <a:effectLst/>
              </a:rPr>
              <a:t>new, related problem</a:t>
            </a:r>
            <a:r>
              <a:rPr lang="en-GB" b="0" i="0" u="none" strike="noStrike" dirty="0">
                <a:solidFill>
                  <a:srgbClr val="000000"/>
                </a:solidFill>
                <a:effectLst/>
              </a:rPr>
              <a:t> (a </a:t>
            </a:r>
            <a:r>
              <a:rPr lang="en-GB" b="0" i="1" u="none" strike="noStrike" dirty="0">
                <a:solidFill>
                  <a:srgbClr val="000000"/>
                </a:solidFill>
                <a:effectLst/>
              </a:rPr>
              <a:t>different</a:t>
            </a:r>
            <a:r>
              <a:rPr lang="en-GB" b="0" i="0" u="none" strike="noStrike" dirty="0">
                <a:solidFill>
                  <a:srgbClr val="000000"/>
                </a:solidFill>
                <a:effectLst/>
              </a:rPr>
              <a:t> task or a </a:t>
            </a:r>
            <a:r>
              <a:rPr lang="en-GB" b="0" i="1" u="none" strike="noStrike" dirty="0">
                <a:solidFill>
                  <a:srgbClr val="000000"/>
                </a:solidFill>
                <a:effectLst/>
              </a:rPr>
              <a:t>different domain</a:t>
            </a:r>
            <a:r>
              <a:rPr lang="en-GB" b="0" i="0" u="none" strike="noStrike" dirty="0">
                <a:solidFill>
                  <a:srgbClr val="000000"/>
                </a:solidFill>
                <a:effectLst/>
              </a:rPr>
              <a:t> for the same task), as opposed to just enhancing performance on the original task.</a:t>
            </a:r>
          </a:p>
          <a:p>
            <a:pPr marL="800100" lvl="1" indent="-342900" algn="l">
              <a:buFont typeface="+mj-lt"/>
              <a:buAutoNum type="arabicPeriod"/>
            </a:pPr>
            <a:r>
              <a:rPr lang="en-GB" b="1" i="0" u="none" strike="noStrike" dirty="0">
                <a:solidFill>
                  <a:srgbClr val="000000"/>
                </a:solidFill>
                <a:effectLst/>
              </a:rPr>
              <a:t>Example:</a:t>
            </a:r>
            <a:r>
              <a:rPr lang="en-GB" b="0" i="0" u="none" strike="noStrike" dirty="0">
                <a:solidFill>
                  <a:srgbClr val="000000"/>
                </a:solidFill>
                <a:effectLst/>
              </a:rPr>
              <a:t> Using a model trained on image classification to extract features for a completely different task like image captioning, or using a sentiment analysis model trained on movie reviews to classify song reviews.</a:t>
            </a:r>
          </a:p>
          <a:p>
            <a:pPr algn="l">
              <a:buNone/>
            </a:pPr>
            <a:endParaRPr lang="en-GB" sz="1500" b="0" i="0" u="none" strike="noStrike" dirty="0">
              <a:solidFill>
                <a:srgbClr val="000000"/>
              </a:solidFill>
              <a:effectLst/>
            </a:endParaRPr>
          </a:p>
        </p:txBody>
      </p:sp>
    </p:spTree>
    <p:extLst>
      <p:ext uri="{BB962C8B-B14F-4D97-AF65-F5344CB8AC3E}">
        <p14:creationId xmlns:p14="http://schemas.microsoft.com/office/powerpoint/2010/main" val="3131061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5311E50-1C1F-C4F0-1363-D00998BC585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67CD5D3-38AB-61C8-7613-DBEA8C17E7BB}"/>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Advantages of Transfer Learning</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387FCE14-EAF2-7370-FDD5-6B568ADB6EC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F538E8B3-44E5-D250-EBC5-FFE9C3D97E39}"/>
              </a:ext>
            </a:extLst>
          </p:cNvPr>
          <p:cNvSpPr txBox="1"/>
          <p:nvPr/>
        </p:nvSpPr>
        <p:spPr>
          <a:xfrm>
            <a:off x="130313" y="714889"/>
            <a:ext cx="8090266" cy="4201150"/>
          </a:xfrm>
          <a:prstGeom prst="rect">
            <a:avLst/>
          </a:prstGeom>
          <a:noFill/>
        </p:spPr>
        <p:txBody>
          <a:bodyPr wrap="square">
            <a:spAutoFit/>
          </a:bodyPr>
          <a:lstStyle/>
          <a:p>
            <a:pPr marL="342900" indent="-342900" algn="l">
              <a:buFont typeface="+mj-lt"/>
              <a:buAutoNum type="arabicPeriod"/>
            </a:pPr>
            <a:r>
              <a:rPr lang="en-GB" b="1" i="0" u="none" strike="noStrike" dirty="0">
                <a:solidFill>
                  <a:srgbClr val="000000"/>
                </a:solidFill>
                <a:effectLst/>
              </a:rPr>
              <a:t>Reduced Computational Costs:</a:t>
            </a:r>
            <a:endParaRPr lang="en-GB" b="0" i="0" u="none" strike="noStrike" dirty="0">
              <a:solidFill>
                <a:srgbClr val="000000"/>
              </a:solidFill>
              <a:effectLst/>
            </a:endParaRPr>
          </a:p>
          <a:p>
            <a:pPr marL="800100" lvl="1" indent="-342900" algn="l">
              <a:buFont typeface="+mj-lt"/>
              <a:buAutoNum type="alphaLcPeriod"/>
            </a:pPr>
            <a:r>
              <a:rPr lang="en-GB" b="0" i="0" u="none" strike="noStrike" dirty="0">
                <a:solidFill>
                  <a:srgbClr val="000000"/>
                </a:solidFill>
                <a:effectLst/>
              </a:rPr>
              <a:t>Significantly lowers the computational resources (training time, data, processing units) needed to build models for new problems.</a:t>
            </a:r>
          </a:p>
          <a:p>
            <a:pPr marL="800100" lvl="1" indent="-342900" algn="l">
              <a:buFont typeface="+mj-lt"/>
              <a:buAutoNum type="alphaLcPeriod"/>
            </a:pPr>
            <a:r>
              <a:rPr lang="en-GB" b="0" i="0" u="none" strike="noStrike" dirty="0">
                <a:solidFill>
                  <a:srgbClr val="000000"/>
                </a:solidFill>
                <a:effectLst/>
              </a:rPr>
              <a:t>Achieved by reusing pre-trained models, requiring fewer training epochs for desired learning rates.</a:t>
            </a:r>
          </a:p>
          <a:p>
            <a:pPr marL="800100" lvl="1" indent="-342900" algn="l">
              <a:buFont typeface="+mj-lt"/>
              <a:buAutoNum type="alphaLcPeriod"/>
            </a:pPr>
            <a:r>
              <a:rPr lang="en-GB" b="0" i="0" u="none" strike="noStrike" dirty="0">
                <a:solidFill>
                  <a:srgbClr val="000000"/>
                </a:solidFill>
                <a:effectLst/>
              </a:rPr>
              <a:t>Accelerates and simplifies the model training process.</a:t>
            </a:r>
          </a:p>
          <a:p>
            <a:pPr marL="342900" indent="-342900" algn="l">
              <a:buFont typeface="+mj-lt"/>
              <a:buAutoNum type="arabicPeriod"/>
            </a:pPr>
            <a:r>
              <a:rPr lang="en-GB" b="1" i="0" u="none" strike="noStrike" dirty="0">
                <a:solidFill>
                  <a:srgbClr val="000000"/>
                </a:solidFill>
                <a:effectLst/>
              </a:rPr>
              <a:t>Alleviates Dataset Size Limitations:</a:t>
            </a:r>
            <a:endParaRPr lang="en-GB" b="0" i="0" u="none" strike="noStrike" dirty="0">
              <a:solidFill>
                <a:srgbClr val="000000"/>
              </a:solidFill>
              <a:effectLst/>
            </a:endParaRPr>
          </a:p>
          <a:p>
            <a:pPr marL="800100" lvl="1" indent="-342900" algn="l">
              <a:buFont typeface="+mj-lt"/>
              <a:buAutoNum type="alphaLcPeriod"/>
            </a:pPr>
            <a:r>
              <a:rPr lang="en-GB" b="0" i="0" u="none" strike="noStrike" dirty="0">
                <a:solidFill>
                  <a:srgbClr val="000000"/>
                </a:solidFill>
                <a:effectLst/>
              </a:rPr>
              <a:t>Especially beneficial when acquiring large, </a:t>
            </a:r>
            <a:r>
              <a:rPr lang="en-GB" b="0" i="0" u="none" strike="noStrike" dirty="0" err="1">
                <a:solidFill>
                  <a:srgbClr val="000000"/>
                </a:solidFill>
                <a:effectLst/>
              </a:rPr>
              <a:t>labeled</a:t>
            </a:r>
            <a:r>
              <a:rPr lang="en-GB" b="0" i="0" u="none" strike="noStrike" dirty="0">
                <a:solidFill>
                  <a:srgbClr val="000000"/>
                </a:solidFill>
                <a:effectLst/>
              </a:rPr>
              <a:t> datasets is challenging, time-consuming, or expensive (e.g., for large language models, where public high-quality datasets can be scarce).</a:t>
            </a:r>
          </a:p>
          <a:p>
            <a:pPr marL="800100" lvl="1" indent="-342900" algn="l">
              <a:buFont typeface="+mj-lt"/>
              <a:buAutoNum type="alphaLcPeriod"/>
            </a:pPr>
            <a:r>
              <a:rPr lang="en-GB" b="0" i="0" u="none" strike="noStrike" dirty="0">
                <a:solidFill>
                  <a:srgbClr val="000000"/>
                </a:solidFill>
                <a:effectLst/>
              </a:rPr>
              <a:t>Reduces the need for massive amounts of task-specific </a:t>
            </a:r>
            <a:r>
              <a:rPr lang="en-GB" b="0" i="0" u="none" strike="noStrike" dirty="0" err="1">
                <a:solidFill>
                  <a:srgbClr val="000000"/>
                </a:solidFill>
                <a:effectLst/>
              </a:rPr>
              <a:t>labeled</a:t>
            </a:r>
            <a:r>
              <a:rPr lang="en-GB" b="0" i="0" u="none" strike="noStrike" dirty="0">
                <a:solidFill>
                  <a:srgbClr val="000000"/>
                </a:solidFill>
                <a:effectLst/>
              </a:rPr>
              <a:t> data.</a:t>
            </a:r>
          </a:p>
          <a:p>
            <a:pPr marL="342900" indent="-342900" algn="l">
              <a:buFont typeface="+mj-lt"/>
              <a:buAutoNum type="arabicPeriod"/>
            </a:pPr>
            <a:r>
              <a:rPr lang="en-GB" b="1" i="0" u="none" strike="noStrike" dirty="0">
                <a:solidFill>
                  <a:srgbClr val="000000"/>
                </a:solidFill>
                <a:effectLst/>
              </a:rPr>
              <a:t>Improved Generalizability:</a:t>
            </a:r>
            <a:endParaRPr lang="en-GB" b="0" i="0" u="none" strike="noStrike" dirty="0">
              <a:solidFill>
                <a:srgbClr val="000000"/>
              </a:solidFill>
              <a:effectLst/>
            </a:endParaRPr>
          </a:p>
          <a:p>
            <a:pPr marL="800100" lvl="1" indent="-342900" algn="l">
              <a:buFont typeface="+mj-lt"/>
              <a:buAutoNum type="alphaLcPeriod"/>
            </a:pPr>
            <a:r>
              <a:rPr lang="en-GB" b="0" i="0" u="none" strike="noStrike" dirty="0">
                <a:solidFill>
                  <a:srgbClr val="000000"/>
                </a:solidFill>
                <a:effectLst/>
              </a:rPr>
              <a:t>Enhances a model's ability to perform well on diverse, unseen data.</a:t>
            </a:r>
          </a:p>
          <a:p>
            <a:pPr marL="800100" lvl="1" indent="-342900" algn="l">
              <a:buFont typeface="+mj-lt"/>
              <a:buAutoNum type="alphaLcPeriod"/>
            </a:pPr>
            <a:r>
              <a:rPr lang="en-GB" b="0" i="0" u="none" strike="noStrike" dirty="0">
                <a:solidFill>
                  <a:srgbClr val="000000"/>
                </a:solidFill>
                <a:effectLst/>
              </a:rPr>
              <a:t>The retrained model incorporates knowledge from multiple datasets (the original pre-training dataset and the new target dataset).</a:t>
            </a:r>
          </a:p>
          <a:p>
            <a:pPr marL="800100" lvl="1" indent="-342900" algn="l">
              <a:buFont typeface="+mj-lt"/>
              <a:buAutoNum type="alphaLcPeriod"/>
            </a:pPr>
            <a:r>
              <a:rPr lang="en-GB" b="0" i="0" u="none" strike="noStrike" dirty="0">
                <a:solidFill>
                  <a:srgbClr val="000000"/>
                </a:solidFill>
                <a:effectLst/>
              </a:rPr>
              <a:t>Potentially leads to better performance across a wider variety of data than a model trained on a single dataset.</a:t>
            </a:r>
          </a:p>
          <a:p>
            <a:pPr marL="800100" lvl="1" indent="-342900" algn="l">
              <a:buFont typeface="+mj-lt"/>
              <a:buAutoNum type="alphaLcPeriod"/>
            </a:pPr>
            <a:r>
              <a:rPr lang="en-GB" b="0" i="0" u="none" strike="noStrike" dirty="0">
                <a:solidFill>
                  <a:srgbClr val="000000"/>
                </a:solidFill>
                <a:effectLst/>
              </a:rPr>
              <a:t>Can help </a:t>
            </a:r>
            <a:r>
              <a:rPr lang="en-GB" b="1" i="0" u="none" strike="noStrike" dirty="0">
                <a:solidFill>
                  <a:srgbClr val="000000"/>
                </a:solidFill>
                <a:effectLst/>
              </a:rPr>
              <a:t>inhibit overfitting</a:t>
            </a:r>
            <a:r>
              <a:rPr lang="en-GB" b="0" i="0" u="none" strike="noStrike" dirty="0">
                <a:solidFill>
                  <a:srgbClr val="000000"/>
                </a:solidFill>
                <a:effectLst/>
              </a:rPr>
              <a:t> to the target dataset.</a:t>
            </a:r>
          </a:p>
          <a:p>
            <a:pPr marL="342900" indent="-342900" algn="l">
              <a:buFont typeface="+mj-lt"/>
              <a:buAutoNum type="arabicPeriod"/>
            </a:pPr>
            <a:endParaRPr lang="en-GB" sz="1500" b="0" i="0" u="none" strike="noStrike" dirty="0">
              <a:solidFill>
                <a:srgbClr val="000000"/>
              </a:solidFill>
              <a:effectLst/>
            </a:endParaRPr>
          </a:p>
        </p:txBody>
      </p:sp>
    </p:spTree>
    <p:extLst>
      <p:ext uri="{BB962C8B-B14F-4D97-AF65-F5344CB8AC3E}">
        <p14:creationId xmlns:p14="http://schemas.microsoft.com/office/powerpoint/2010/main" val="607683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B89A358-4B3F-24A0-3665-15189AC5653F}"/>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C799722-D184-78EC-86F8-D59AE0F1F6E2}"/>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Disadvantages of Transfer Learning</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8839B8F0-219C-B72C-C333-FA8BE40D006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BB2EB174-13DD-076C-3A01-A6939B4DBC57}"/>
              </a:ext>
            </a:extLst>
          </p:cNvPr>
          <p:cNvSpPr txBox="1"/>
          <p:nvPr/>
        </p:nvSpPr>
        <p:spPr>
          <a:xfrm>
            <a:off x="130313" y="714889"/>
            <a:ext cx="8090266" cy="4201150"/>
          </a:xfrm>
          <a:prstGeom prst="rect">
            <a:avLst/>
          </a:prstGeom>
          <a:noFill/>
        </p:spPr>
        <p:txBody>
          <a:bodyPr wrap="square">
            <a:spAutoFit/>
          </a:bodyPr>
          <a:lstStyle/>
          <a:p>
            <a:pPr algn="l">
              <a:buNone/>
            </a:pPr>
            <a:r>
              <a:rPr lang="en-GB" b="0" i="0" u="none" strike="noStrike" dirty="0">
                <a:solidFill>
                  <a:srgbClr val="000000"/>
                </a:solidFill>
                <a:effectLst/>
              </a:rPr>
              <a:t>Transfer learning itself doesn't have inherent disadvantages as much as it has conditions under which its misapplication can lead to poor results. It works best when three conditions are met:</a:t>
            </a:r>
          </a:p>
          <a:p>
            <a:pPr algn="l">
              <a:buFont typeface="+mj-lt"/>
              <a:buAutoNum type="arabicPeriod"/>
            </a:pPr>
            <a:r>
              <a:rPr lang="en-GB" b="1" i="0" u="none" strike="noStrike" dirty="0">
                <a:solidFill>
                  <a:srgbClr val="000000"/>
                </a:solidFill>
                <a:effectLst/>
              </a:rPr>
              <a:t>Similarity of Learning Tasks:</a:t>
            </a:r>
            <a:r>
              <a:rPr lang="en-GB" b="0" i="0" u="none" strike="noStrike" dirty="0">
                <a:solidFill>
                  <a:srgbClr val="000000"/>
                </a:solidFill>
                <a:effectLst/>
              </a:rPr>
              <a:t> Both the source task and the target task are sufficiently similar.</a:t>
            </a:r>
          </a:p>
          <a:p>
            <a:pPr algn="l">
              <a:buFont typeface="+mj-lt"/>
              <a:buAutoNum type="arabicPeriod"/>
            </a:pPr>
            <a:r>
              <a:rPr lang="en-GB" b="1" i="0" u="none" strike="noStrike" dirty="0">
                <a:solidFill>
                  <a:srgbClr val="000000"/>
                </a:solidFill>
                <a:effectLst/>
              </a:rPr>
              <a:t>Dataset Distribution Consistency:</a:t>
            </a:r>
            <a:r>
              <a:rPr lang="en-GB" b="0" i="0" u="none" strike="noStrike" dirty="0">
                <a:solidFill>
                  <a:srgbClr val="000000"/>
                </a:solidFill>
                <a:effectLst/>
              </a:rPr>
              <a:t> The data distributions of the source and target datasets do not vary too significantly.</a:t>
            </a:r>
          </a:p>
          <a:p>
            <a:pPr algn="l">
              <a:buFont typeface="+mj-lt"/>
              <a:buAutoNum type="arabicPeriod"/>
            </a:pPr>
            <a:r>
              <a:rPr lang="en-GB" b="1" i="0" u="none" strike="noStrike" dirty="0">
                <a:solidFill>
                  <a:srgbClr val="000000"/>
                </a:solidFill>
                <a:effectLst/>
              </a:rPr>
              <a:t>Model Applicability:</a:t>
            </a:r>
            <a:r>
              <a:rPr lang="en-GB" b="0" i="0" u="none" strike="noStrike" dirty="0">
                <a:solidFill>
                  <a:srgbClr val="000000"/>
                </a:solidFill>
                <a:effectLst/>
              </a:rPr>
              <a:t> A comparable model architecture can effectively be applied to both the source and target tasks.</a:t>
            </a:r>
          </a:p>
          <a:p>
            <a:pPr algn="l"/>
            <a:r>
              <a:rPr lang="en-GB" b="1" i="0" u="none" strike="noStrike" dirty="0">
                <a:solidFill>
                  <a:srgbClr val="000000"/>
                </a:solidFill>
                <a:effectLst/>
              </a:rPr>
              <a:t>Negative Transfer:</a:t>
            </a:r>
            <a:endParaRPr lang="en-GB" b="0" i="0" u="none" strike="noStrike" dirty="0">
              <a:solidFill>
                <a:srgbClr val="000000"/>
              </a:solidFill>
              <a:effectLst/>
            </a:endParaRPr>
          </a:p>
          <a:p>
            <a:pPr marL="800100" lvl="1" indent="-342900" algn="l">
              <a:buFont typeface="+mj-lt"/>
              <a:buAutoNum type="alphaLcPeriod"/>
            </a:pPr>
            <a:r>
              <a:rPr lang="en-GB" b="0" i="0" u="none" strike="noStrike" dirty="0">
                <a:solidFill>
                  <a:srgbClr val="000000"/>
                </a:solidFill>
                <a:effectLst/>
              </a:rPr>
              <a:t>If the above conditions are </a:t>
            </a:r>
            <a:r>
              <a:rPr lang="en-GB" b="0" i="1" u="none" strike="noStrike" dirty="0">
                <a:solidFill>
                  <a:srgbClr val="000000"/>
                </a:solidFill>
                <a:effectLst/>
              </a:rPr>
              <a:t>not</a:t>
            </a:r>
            <a:r>
              <a:rPr lang="en-GB" b="0" i="0" u="none" strike="noStrike" dirty="0">
                <a:solidFill>
                  <a:srgbClr val="000000"/>
                </a:solidFill>
                <a:effectLst/>
              </a:rPr>
              <a:t> met, transfer learning can actually </a:t>
            </a:r>
            <a:r>
              <a:rPr lang="en-GB" b="1" i="0" u="none" strike="noStrike" dirty="0">
                <a:solidFill>
                  <a:srgbClr val="000000"/>
                </a:solidFill>
                <a:effectLst/>
              </a:rPr>
              <a:t>negatively affect model performance</a:t>
            </a:r>
            <a:r>
              <a:rPr lang="en-GB" b="0" i="0" u="none" strike="noStrike" dirty="0">
                <a:solidFill>
                  <a:srgbClr val="000000"/>
                </a:solidFill>
                <a:effectLst/>
              </a:rPr>
              <a:t>(worsen it compared to training from scratch). This phenomenon is known as </a:t>
            </a:r>
            <a:r>
              <a:rPr lang="en-GB" b="1" i="0" u="none" strike="noStrike" dirty="0">
                <a:solidFill>
                  <a:srgbClr val="000000"/>
                </a:solidFill>
                <a:effectLst/>
              </a:rPr>
              <a:t>negative transfer</a:t>
            </a:r>
            <a:r>
              <a:rPr lang="en-GB" b="0" i="0" u="none" strike="noStrike" dirty="0">
                <a:solidFill>
                  <a:srgbClr val="000000"/>
                </a:solidFill>
                <a:effectLst/>
              </a:rPr>
              <a:t>.</a:t>
            </a:r>
          </a:p>
          <a:p>
            <a:pPr marL="800100" lvl="1" indent="-342900" algn="l">
              <a:buFont typeface="+mj-lt"/>
              <a:buAutoNum type="alphaLcPeriod"/>
            </a:pPr>
            <a:r>
              <a:rPr lang="en-GB" b="0" i="0" u="none" strike="noStrike" dirty="0">
                <a:solidFill>
                  <a:srgbClr val="000000"/>
                </a:solidFill>
                <a:effectLst/>
              </a:rPr>
              <a:t>Ongoing research aims to develop tests and metrics to determine if datasets and tasks meet the necessary conditions to avoid negative transfer.</a:t>
            </a:r>
          </a:p>
          <a:p>
            <a:pPr marL="800100" lvl="1" indent="-342900" algn="l">
              <a:buFont typeface="+mj-lt"/>
              <a:buAutoNum type="alphaLcPeriod"/>
            </a:pPr>
            <a:r>
              <a:rPr lang="en-GB" b="1" i="0" u="none" strike="noStrike" dirty="0">
                <a:solidFill>
                  <a:srgbClr val="000000"/>
                </a:solidFill>
                <a:effectLst/>
              </a:rPr>
              <a:t>Distant transfer</a:t>
            </a:r>
            <a:r>
              <a:rPr lang="en-GB" b="0" i="0" u="none" strike="noStrike" dirty="0">
                <a:solidFill>
                  <a:srgbClr val="000000"/>
                </a:solidFill>
                <a:effectLst/>
              </a:rPr>
              <a:t> is one method developed to mitigate negative transfer caused by large dissimilarities in data distributions between source and target datasets.</a:t>
            </a:r>
          </a:p>
          <a:p>
            <a:pPr algn="l"/>
            <a:r>
              <a:rPr lang="en-GB" b="1" i="0" u="none" strike="noStrike" dirty="0">
                <a:solidFill>
                  <a:srgbClr val="000000"/>
                </a:solidFill>
                <a:effectLst/>
              </a:rPr>
              <a:t>Lack of Standard Similarity Metrics:</a:t>
            </a:r>
            <a:r>
              <a:rPr lang="en-GB" b="0" i="0" u="none" strike="noStrike" dirty="0">
                <a:solidFill>
                  <a:srgbClr val="000000"/>
                </a:solidFill>
                <a:effectLst/>
              </a:rPr>
              <a:t> Currently, there is no single, widely accepted standard metric to definitively quantify the similarity between tasks, making it challenging to precisely predict the viability of transfer learning for any given scenario.</a:t>
            </a:r>
          </a:p>
          <a:p>
            <a:pPr marL="342900" indent="-342900" algn="l">
              <a:buFont typeface="+mj-lt"/>
              <a:buAutoNum type="arabicPeriod"/>
            </a:pPr>
            <a:endParaRPr lang="en-GB" sz="1500" b="0" i="0" u="none" strike="noStrike" dirty="0">
              <a:solidFill>
                <a:srgbClr val="000000"/>
              </a:solidFill>
              <a:effectLst/>
            </a:endParaRPr>
          </a:p>
        </p:txBody>
      </p:sp>
    </p:spTree>
    <p:extLst>
      <p:ext uri="{BB962C8B-B14F-4D97-AF65-F5344CB8AC3E}">
        <p14:creationId xmlns:p14="http://schemas.microsoft.com/office/powerpoint/2010/main" val="3727358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84C1212-5B05-5DC4-A553-7DA883D3BBEF}"/>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F2BBA94-C724-1B9D-5009-0F9DE47565FA}"/>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700" b="1" i="0" u="none" strike="noStrike" dirty="0">
                <a:solidFill>
                  <a:srgbClr val="7030A0"/>
                </a:solidFill>
                <a:effectLst/>
              </a:rPr>
              <a:t>Transfer Learning Use Cases</a:t>
            </a:r>
            <a:br>
              <a:rPr lang="en-GB" sz="2700" b="0"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642C228-32D8-E1B7-7C77-AF28BBD1D41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FBAD1DCA-369B-EFA1-59BD-D2EF7C1E9612}"/>
              </a:ext>
            </a:extLst>
          </p:cNvPr>
          <p:cNvSpPr txBox="1"/>
          <p:nvPr/>
        </p:nvSpPr>
        <p:spPr>
          <a:xfrm>
            <a:off x="0" y="511463"/>
            <a:ext cx="8679858" cy="4632037"/>
          </a:xfrm>
          <a:prstGeom prst="rect">
            <a:avLst/>
          </a:prstGeom>
          <a:noFill/>
        </p:spPr>
        <p:txBody>
          <a:bodyPr wrap="square">
            <a:spAutoFit/>
          </a:bodyPr>
          <a:lstStyle/>
          <a:p>
            <a:pPr algn="l">
              <a:buNone/>
            </a:pPr>
            <a:r>
              <a:rPr lang="en-GB" b="0" i="0" u="none" strike="noStrike" dirty="0">
                <a:solidFill>
                  <a:srgbClr val="000000"/>
                </a:solidFill>
                <a:effectLst/>
              </a:rPr>
              <a:t>Transfer learning is widely applied in real-world ML and AI settings, often combined with other </a:t>
            </a:r>
          </a:p>
          <a:p>
            <a:pPr algn="l">
              <a:buNone/>
            </a:pPr>
            <a:r>
              <a:rPr lang="en-GB" b="0" i="0" u="none" strike="noStrike" dirty="0">
                <a:solidFill>
                  <a:srgbClr val="000000"/>
                </a:solidFill>
                <a:effectLst/>
              </a:rPr>
              <a:t>approaches like reinforcement learning.</a:t>
            </a:r>
          </a:p>
          <a:p>
            <a:pPr marL="342900" indent="-342900" algn="l">
              <a:buFont typeface="+mj-lt"/>
              <a:buAutoNum type="arabicPeriod"/>
            </a:pPr>
            <a:r>
              <a:rPr lang="en-GB" b="1" i="0" u="none" strike="noStrike" dirty="0">
                <a:solidFill>
                  <a:srgbClr val="000000"/>
                </a:solidFill>
                <a:effectLst/>
              </a:rPr>
              <a:t>Natural Language Processing (NLP):</a:t>
            </a:r>
            <a:endParaRPr lang="en-GB" b="0" i="0" u="none" strike="noStrike" dirty="0">
              <a:solidFill>
                <a:srgbClr val="000000"/>
              </a:solidFill>
              <a:effectLst/>
            </a:endParaRPr>
          </a:p>
          <a:p>
            <a:pPr marL="457200" lvl="1" algn="l"/>
            <a:r>
              <a:rPr lang="en-GB" b="1" i="0" u="none" strike="noStrike" dirty="0">
                <a:solidFill>
                  <a:srgbClr val="000000"/>
                </a:solidFill>
                <a:effectLst/>
              </a:rPr>
              <a:t>Challenge:</a:t>
            </a:r>
            <a:r>
              <a:rPr lang="en-GB" b="0" i="0" u="none" strike="noStrike" dirty="0">
                <a:solidFill>
                  <a:srgbClr val="000000"/>
                </a:solidFill>
                <a:effectLst/>
              </a:rPr>
              <a:t> A common issue is </a:t>
            </a:r>
            <a:r>
              <a:rPr lang="en-GB" b="1" i="0" u="none" strike="noStrike" dirty="0">
                <a:solidFill>
                  <a:srgbClr val="000000"/>
                </a:solidFill>
                <a:effectLst/>
              </a:rPr>
              <a:t>feature mismatch</a:t>
            </a:r>
            <a:r>
              <a:rPr lang="en-GB" b="0" i="0" u="none" strike="noStrike" dirty="0">
                <a:solidFill>
                  <a:srgbClr val="000000"/>
                </a:solidFill>
                <a:effectLst/>
              </a:rPr>
              <a:t>, where words (features) have different meanings or connotations across domains (e.g., "light" in weight vs. optics). This affects sentiment classification, language models, etc.</a:t>
            </a:r>
          </a:p>
          <a:p>
            <a:pPr marL="457200" lvl="1" algn="l"/>
            <a:r>
              <a:rPr lang="en-GB" b="1" i="0" u="none" strike="noStrike" dirty="0">
                <a:solidFill>
                  <a:srgbClr val="000000"/>
                </a:solidFill>
                <a:effectLst/>
              </a:rPr>
              <a:t>Solution:</a:t>
            </a:r>
            <a:r>
              <a:rPr lang="en-GB" b="0" i="0" u="none" strike="noStrike" dirty="0">
                <a:solidFill>
                  <a:srgbClr val="000000"/>
                </a:solidFill>
                <a:effectLst/>
              </a:rPr>
              <a:t> Deep learning-based models, especially </a:t>
            </a:r>
            <a:r>
              <a:rPr lang="en-GB" b="1" i="0" u="none" strike="noStrike" dirty="0">
                <a:solidFill>
                  <a:srgbClr val="000000"/>
                </a:solidFill>
                <a:effectLst/>
              </a:rPr>
              <a:t>word embeddings</a:t>
            </a:r>
            <a:r>
              <a:rPr lang="en-GB" b="0" i="0" u="none" strike="noStrike" dirty="0">
                <a:solidFill>
                  <a:srgbClr val="000000"/>
                </a:solidFill>
                <a:effectLst/>
              </a:rPr>
              <a:t>, are promising. They can effectively capture semantic relations and orientations for domain adaptation tasks.</a:t>
            </a:r>
          </a:p>
          <a:p>
            <a:pPr marL="342900" indent="-342900" algn="l">
              <a:buFont typeface="+mj-lt"/>
              <a:buAutoNum type="arabicPeriod"/>
            </a:pPr>
            <a:r>
              <a:rPr lang="en-GB" b="1" i="0" u="none" strike="noStrike" dirty="0">
                <a:solidFill>
                  <a:srgbClr val="000000"/>
                </a:solidFill>
                <a:effectLst/>
              </a:rPr>
              <a:t>Computer Vision:</a:t>
            </a:r>
            <a:endParaRPr lang="en-GB" b="0" i="0" u="none" strike="noStrike" dirty="0">
              <a:solidFill>
                <a:srgbClr val="000000"/>
              </a:solidFill>
              <a:effectLst/>
            </a:endParaRPr>
          </a:p>
          <a:p>
            <a:pPr marL="457200" lvl="1" algn="l"/>
            <a:r>
              <a:rPr lang="en-GB" b="1" i="0" u="none" strike="noStrike" dirty="0">
                <a:solidFill>
                  <a:srgbClr val="000000"/>
                </a:solidFill>
                <a:effectLst/>
              </a:rPr>
              <a:t>Motivation:</a:t>
            </a:r>
            <a:r>
              <a:rPr lang="en-GB" b="0" i="0" u="none" strike="noStrike" dirty="0">
                <a:solidFill>
                  <a:srgbClr val="000000"/>
                </a:solidFill>
                <a:effectLst/>
              </a:rPr>
              <a:t> Driven by the difficulty in acquiring sufficient manually </a:t>
            </a:r>
            <a:r>
              <a:rPr lang="en-GB" b="0" i="0" u="none" strike="noStrike" dirty="0" err="1">
                <a:solidFill>
                  <a:srgbClr val="000000"/>
                </a:solidFill>
                <a:effectLst/>
              </a:rPr>
              <a:t>labeled</a:t>
            </a:r>
            <a:r>
              <a:rPr lang="en-GB" b="0" i="0" u="none" strike="noStrike" dirty="0">
                <a:solidFill>
                  <a:srgbClr val="000000"/>
                </a:solidFill>
                <a:effectLst/>
              </a:rPr>
              <a:t> data for diverse computer vision tasks.</a:t>
            </a:r>
          </a:p>
          <a:p>
            <a:pPr marL="457200" lvl="1" algn="l"/>
            <a:r>
              <a:rPr lang="en-GB" b="1" i="0" u="none" strike="noStrike" dirty="0">
                <a:solidFill>
                  <a:srgbClr val="000000"/>
                </a:solidFill>
                <a:effectLst/>
              </a:rPr>
              <a:t>Application:</a:t>
            </a:r>
            <a:r>
              <a:rPr lang="en-GB" b="0" i="0" u="none" strike="noStrike" dirty="0">
                <a:solidFill>
                  <a:srgbClr val="000000"/>
                </a:solidFill>
                <a:effectLst/>
              </a:rPr>
              <a:t> Extensive research focuses on transfer learning with </a:t>
            </a:r>
            <a:r>
              <a:rPr lang="en-GB" b="1" i="0" u="none" strike="noStrike" dirty="0">
                <a:solidFill>
                  <a:srgbClr val="000000"/>
                </a:solidFill>
                <a:effectLst/>
              </a:rPr>
              <a:t>Convolutional Neural Networks (CNNs)</a:t>
            </a:r>
            <a:r>
              <a:rPr lang="en-GB" b="0" i="0" u="none" strike="noStrike" dirty="0">
                <a:solidFill>
                  <a:srgbClr val="000000"/>
                </a:solidFill>
                <a:effectLst/>
              </a:rPr>
              <a:t>.</a:t>
            </a:r>
          </a:p>
          <a:p>
            <a:pPr marL="457200" lvl="1" algn="l"/>
            <a:r>
              <a:rPr lang="en-GB" b="1" i="0" u="none" strike="noStrike" dirty="0">
                <a:solidFill>
                  <a:srgbClr val="000000"/>
                </a:solidFill>
                <a:effectLst/>
              </a:rPr>
              <a:t>Examples:</a:t>
            </a:r>
            <a:endParaRPr lang="en-GB" b="0" i="0" u="none" strike="noStrike" dirty="0">
              <a:solidFill>
                <a:srgbClr val="000000"/>
              </a:solidFill>
              <a:effectLst/>
            </a:endParaRPr>
          </a:p>
          <a:p>
            <a:pPr marL="914400" lvl="2" algn="l"/>
            <a:r>
              <a:rPr lang="en-GB" b="1" i="0" u="none" strike="noStrike" dirty="0" err="1">
                <a:solidFill>
                  <a:srgbClr val="000000"/>
                </a:solidFill>
                <a:effectLst/>
              </a:rPr>
              <a:t>ResNet</a:t>
            </a:r>
            <a:r>
              <a:rPr lang="en-GB" b="1" i="0" u="none" strike="noStrike" dirty="0">
                <a:solidFill>
                  <a:srgbClr val="000000"/>
                </a:solidFill>
                <a:effectLst/>
              </a:rPr>
              <a:t>:</a:t>
            </a:r>
            <a:r>
              <a:rPr lang="en-GB" b="0" i="0" u="none" strike="noStrike" dirty="0">
                <a:solidFill>
                  <a:srgbClr val="000000"/>
                </a:solidFill>
                <a:effectLst/>
              </a:rPr>
              <a:t> A notable pre-trained model architecture that shows improved performance in tasks like image classification and object detection when used with transfer learning.</a:t>
            </a:r>
          </a:p>
          <a:p>
            <a:pPr marL="914400" lvl="2" algn="l"/>
            <a:r>
              <a:rPr lang="en-GB" b="1" i="0" u="none" strike="noStrike" dirty="0">
                <a:solidFill>
                  <a:srgbClr val="000000"/>
                </a:solidFill>
                <a:effectLst/>
              </a:rPr>
              <a:t>ImageNet:</a:t>
            </a:r>
            <a:r>
              <a:rPr lang="en-GB" b="0" i="0" u="none" strike="noStrike" dirty="0">
                <a:solidFill>
                  <a:srgbClr val="000000"/>
                </a:solidFill>
                <a:effectLst/>
              </a:rPr>
              <a:t> Research suggests that even small subsets of the large ImageNet dataset are sufficient to train reliably generalizable models for transfer learning in computer vision.</a:t>
            </a:r>
          </a:p>
          <a:p>
            <a:pPr marL="457200" lvl="1" algn="l"/>
            <a:r>
              <a:rPr lang="en-GB" b="1" i="0" u="none" strike="noStrike" dirty="0">
                <a:solidFill>
                  <a:srgbClr val="000000"/>
                </a:solidFill>
                <a:effectLst/>
              </a:rPr>
              <a:t>Common Practice:</a:t>
            </a:r>
            <a:r>
              <a:rPr lang="en-GB" b="0" i="0" u="none" strike="noStrike" dirty="0">
                <a:solidFill>
                  <a:srgbClr val="000000"/>
                </a:solidFill>
                <a:effectLst/>
              </a:rPr>
              <a:t> Many tutorials for computer vision transfer learning utilize </a:t>
            </a:r>
            <a:r>
              <a:rPr lang="en-GB" b="0" i="0" u="none" strike="noStrike" dirty="0" err="1">
                <a:solidFill>
                  <a:srgbClr val="000000"/>
                </a:solidFill>
                <a:effectLst/>
              </a:rPr>
              <a:t>ResNet</a:t>
            </a:r>
            <a:r>
              <a:rPr lang="en-GB" b="0" i="0" u="none" strike="noStrike" dirty="0">
                <a:solidFill>
                  <a:srgbClr val="000000"/>
                </a:solidFill>
                <a:effectLst/>
              </a:rPr>
              <a:t> and/or ImageNet with libraries like TensorFlow's </a:t>
            </a:r>
            <a:r>
              <a:rPr lang="en-GB" b="0" i="0" u="none" strike="noStrike" dirty="0" err="1">
                <a:solidFill>
                  <a:srgbClr val="000000"/>
                </a:solidFill>
                <a:effectLst/>
              </a:rPr>
              <a:t>Keras</a:t>
            </a:r>
            <a:r>
              <a:rPr lang="en-GB" b="0" i="0" u="none" strike="noStrike" dirty="0">
                <a:solidFill>
                  <a:srgbClr val="000000"/>
                </a:solidFill>
                <a:effectLst/>
              </a:rPr>
              <a:t>.</a:t>
            </a:r>
          </a:p>
          <a:p>
            <a:pPr marL="342900" indent="-342900" algn="l">
              <a:buFont typeface="+mj-lt"/>
              <a:buAutoNum type="arabicPeriod"/>
            </a:pPr>
            <a:endParaRPr lang="en-GB" sz="1500" b="0" i="0" u="none" strike="noStrike" dirty="0">
              <a:solidFill>
                <a:srgbClr val="000000"/>
              </a:solidFill>
              <a:effectLst/>
            </a:endParaRPr>
          </a:p>
        </p:txBody>
      </p:sp>
    </p:spTree>
    <p:extLst>
      <p:ext uri="{BB962C8B-B14F-4D97-AF65-F5344CB8AC3E}">
        <p14:creationId xmlns:p14="http://schemas.microsoft.com/office/powerpoint/2010/main" val="2137600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3EFF342-72CD-E756-E978-9F838F99B63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1A8572D-432E-967E-5EE7-44784759BDE2}"/>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700" b="1" i="0" u="none" strike="noStrike" dirty="0">
                <a:solidFill>
                  <a:srgbClr val="7030A0"/>
                </a:solidFill>
                <a:effectLst/>
              </a:rPr>
              <a:t>Steps in Transfer Learning</a:t>
            </a:r>
            <a:br>
              <a:rPr lang="en-GB" sz="2700" b="1" i="0" u="none" strike="noStrike" dirty="0">
                <a:solidFill>
                  <a:srgbClr val="7030A0"/>
                </a:solidFill>
                <a:effectLst/>
              </a:rPr>
            </a:br>
            <a:br>
              <a:rPr lang="en-GB" sz="2700" b="0"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E7FF034C-17C3-B970-F43F-9ECB6CE2107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CA02CA69-7FAD-359F-C658-F6E9537FEE2B}"/>
              </a:ext>
            </a:extLst>
          </p:cNvPr>
          <p:cNvSpPr txBox="1"/>
          <p:nvPr/>
        </p:nvSpPr>
        <p:spPr>
          <a:xfrm>
            <a:off x="-39914" y="380833"/>
            <a:ext cx="7906658" cy="4201150"/>
          </a:xfrm>
          <a:prstGeom prst="rect">
            <a:avLst/>
          </a:prstGeom>
          <a:noFill/>
        </p:spPr>
        <p:txBody>
          <a:bodyPr wrap="square">
            <a:spAutoFit/>
          </a:bodyPr>
          <a:lstStyle/>
          <a:p>
            <a:pPr algn="l">
              <a:buFont typeface="+mj-lt"/>
              <a:buAutoNum type="arabicPeriod"/>
            </a:pPr>
            <a:r>
              <a:rPr lang="en-GB" b="1" i="0" u="none" strike="noStrike" dirty="0">
                <a:solidFill>
                  <a:srgbClr val="000000"/>
                </a:solidFill>
                <a:effectLst/>
              </a:rPr>
              <a:t>Use a Pre-trained Model:</a:t>
            </a:r>
            <a:endParaRPr lang="en-GB" b="0" i="0" u="none" strike="noStrike" dirty="0">
              <a:solidFill>
                <a:srgbClr val="000000"/>
              </a:solidFill>
              <a:effectLst/>
            </a:endParaRPr>
          </a:p>
          <a:p>
            <a:pPr marL="800100" lvl="1" indent="-342900" algn="l">
              <a:buFont typeface="+mj-lt"/>
              <a:buAutoNum type="alphaLcPeriod"/>
            </a:pPr>
            <a:r>
              <a:rPr lang="en-GB" b="0" i="0" u="none" strike="noStrike" dirty="0">
                <a:solidFill>
                  <a:srgbClr val="000000"/>
                </a:solidFill>
                <a:effectLst/>
              </a:rPr>
              <a:t>Start with models that have already been trained on vast datasets (e.g., </a:t>
            </a:r>
            <a:r>
              <a:rPr lang="en-GB" b="0" i="0" u="none" strike="noStrike" dirty="0" err="1">
                <a:solidFill>
                  <a:srgbClr val="000000"/>
                </a:solidFill>
                <a:effectLst/>
              </a:rPr>
              <a:t>ResNet</a:t>
            </a:r>
            <a:r>
              <a:rPr lang="en-GB" b="0" i="0" u="none" strike="noStrike" dirty="0">
                <a:solidFill>
                  <a:srgbClr val="000000"/>
                </a:solidFill>
                <a:effectLst/>
              </a:rPr>
              <a:t> or VGG on </a:t>
            </a:r>
          </a:p>
          <a:p>
            <a:pPr marL="457200" lvl="1" algn="l"/>
            <a:r>
              <a:rPr lang="en-GB" dirty="0"/>
              <a:t>       </a:t>
            </a:r>
            <a:r>
              <a:rPr lang="en-GB" b="0" i="0" u="none" strike="noStrike" dirty="0">
                <a:solidFill>
                  <a:srgbClr val="000000"/>
                </a:solidFill>
                <a:effectLst/>
              </a:rPr>
              <a:t>ImageNet for images; BERT on Wikipedia/books for text).</a:t>
            </a:r>
          </a:p>
          <a:p>
            <a:pPr marL="800100" lvl="1" indent="-342900" algn="l">
              <a:buFont typeface="+mj-lt"/>
              <a:buAutoNum type="alphaLcPeriod" startAt="2"/>
            </a:pPr>
            <a:r>
              <a:rPr lang="en-GB" b="0" i="0" u="none" strike="noStrike" dirty="0">
                <a:solidFill>
                  <a:srgbClr val="000000"/>
                </a:solidFill>
                <a:effectLst/>
              </a:rPr>
              <a:t>These pre-trained models have learned highly useful, generic features (e.g., edges, shapes, textures for images; contextual word relationships for text) that can be beneficial for related tasks.</a:t>
            </a:r>
          </a:p>
          <a:p>
            <a:pPr algn="l">
              <a:buFont typeface="+mj-lt"/>
              <a:buAutoNum type="arabicPeriod"/>
            </a:pPr>
            <a:r>
              <a:rPr lang="en-GB" b="1" i="0" u="none" strike="noStrike" dirty="0">
                <a:solidFill>
                  <a:srgbClr val="000000"/>
                </a:solidFill>
                <a:effectLst/>
              </a:rPr>
              <a:t>Fine-tuning:</a:t>
            </a:r>
            <a:endParaRPr lang="en-GB" b="0" i="0" u="none" strike="noStrike" dirty="0">
              <a:solidFill>
                <a:srgbClr val="000000"/>
              </a:solidFill>
              <a:effectLst/>
            </a:endParaRPr>
          </a:p>
          <a:p>
            <a:pPr marL="800100" lvl="1" indent="-342900" algn="l">
              <a:buFont typeface="+mj-lt"/>
              <a:buAutoNum type="alphaLcPeriod"/>
            </a:pPr>
            <a:r>
              <a:rPr lang="en-GB" b="0" i="0" u="none" strike="noStrike" dirty="0">
                <a:solidFill>
                  <a:srgbClr val="000000"/>
                </a:solidFill>
                <a:effectLst/>
              </a:rPr>
              <a:t>After selecting a pre-trained model, the process of adapting it to your specific new task is called fine-tuning. There are two primary strategies:</a:t>
            </a:r>
          </a:p>
          <a:p>
            <a:pPr marL="800100" lvl="1" indent="-342900" algn="l">
              <a:buFont typeface="+mj-lt"/>
              <a:buAutoNum type="alphaLcPeriod"/>
            </a:pPr>
            <a:r>
              <a:rPr lang="en-GB" b="1" i="0" u="none" strike="noStrike" dirty="0">
                <a:solidFill>
                  <a:srgbClr val="000000"/>
                </a:solidFill>
                <a:effectLst/>
              </a:rPr>
              <a:t>Feature Extraction:</a:t>
            </a:r>
            <a:endParaRPr lang="en-GB" b="0" i="0" u="none" strike="noStrike" dirty="0">
              <a:solidFill>
                <a:srgbClr val="000000"/>
              </a:solidFill>
              <a:effectLst/>
            </a:endParaRPr>
          </a:p>
          <a:p>
            <a:pPr marL="1314450" lvl="2" indent="-400050" algn="l">
              <a:buFont typeface="+mj-lt"/>
              <a:buAutoNum type="romanLcPeriod"/>
            </a:pPr>
            <a:r>
              <a:rPr lang="en-GB" b="1" i="0" u="none" strike="noStrike" dirty="0">
                <a:solidFill>
                  <a:srgbClr val="000000"/>
                </a:solidFill>
                <a:effectLst/>
              </a:rPr>
              <a:t>Approach:</a:t>
            </a:r>
            <a:r>
              <a:rPr lang="en-GB" b="0" i="0" u="none" strike="noStrike" dirty="0">
                <a:solidFill>
                  <a:srgbClr val="000000"/>
                </a:solidFill>
                <a:effectLst/>
              </a:rPr>
              <a:t> "Freeze" (keep unchanged) all or most of the pre-trained model's layers.</a:t>
            </a:r>
          </a:p>
          <a:p>
            <a:pPr marL="1314450" lvl="2" indent="-400050" algn="l">
              <a:buFont typeface="+mj-lt"/>
              <a:buAutoNum type="romanLcPeriod"/>
            </a:pPr>
            <a:r>
              <a:rPr lang="en-GB" b="1" i="0" u="none" strike="noStrike" dirty="0">
                <a:solidFill>
                  <a:srgbClr val="000000"/>
                </a:solidFill>
                <a:effectLst/>
              </a:rPr>
              <a:t>Process:</a:t>
            </a:r>
            <a:r>
              <a:rPr lang="en-GB" b="0" i="0" u="none" strike="noStrike" dirty="0">
                <a:solidFill>
                  <a:srgbClr val="000000"/>
                </a:solidFill>
                <a:effectLst/>
              </a:rPr>
              <a:t> Treat the frozen layers as a fixed feature extractor. Add a new, custom classification (or regression) layer(s) on top of these frozen layers. Only train this newly added custom layer(s) on your specific dataset.</a:t>
            </a:r>
          </a:p>
          <a:p>
            <a:pPr marL="1314450" lvl="2" indent="-400050" algn="l">
              <a:buFont typeface="+mj-lt"/>
              <a:buAutoNum type="romanLcPeriod"/>
            </a:pPr>
            <a:r>
              <a:rPr lang="en-GB" b="1" i="0" u="none" strike="noStrike" dirty="0">
                <a:solidFill>
                  <a:srgbClr val="000000"/>
                </a:solidFill>
                <a:effectLst/>
              </a:rPr>
              <a:t>Use Case:</a:t>
            </a:r>
            <a:r>
              <a:rPr lang="en-GB" b="0" i="0" u="none" strike="noStrike" dirty="0">
                <a:solidFill>
                  <a:srgbClr val="000000"/>
                </a:solidFill>
                <a:effectLst/>
              </a:rPr>
              <a:t> Ideal when your new dataset is small and very similar to the pre-training dataset.</a:t>
            </a:r>
          </a:p>
          <a:p>
            <a:pPr marL="342900" indent="-342900" algn="l">
              <a:buFont typeface="+mj-lt"/>
              <a:buAutoNum type="alphaLcPeriod" startAt="3"/>
            </a:pPr>
            <a:endParaRPr lang="en-GB" sz="1500" b="0" i="0" u="none" strike="noStrike" dirty="0">
              <a:solidFill>
                <a:srgbClr val="000000"/>
              </a:solidFill>
              <a:effectLst/>
            </a:endParaRPr>
          </a:p>
        </p:txBody>
      </p:sp>
    </p:spTree>
    <p:extLst>
      <p:ext uri="{BB962C8B-B14F-4D97-AF65-F5344CB8AC3E}">
        <p14:creationId xmlns:p14="http://schemas.microsoft.com/office/powerpoint/2010/main" val="557715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B4519D3-70F6-4CBC-7E05-554BE38C48F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33C8A25-BACE-2870-79F6-EDB7C512109E}"/>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700" b="1" i="0" u="none" strike="noStrike" dirty="0">
                <a:solidFill>
                  <a:srgbClr val="7030A0"/>
                </a:solidFill>
                <a:effectLst/>
              </a:rPr>
              <a:t>Steps in Transfer Learning</a:t>
            </a:r>
            <a:br>
              <a:rPr lang="en-GB" sz="2700" b="1" i="0" u="none" strike="noStrike" dirty="0">
                <a:solidFill>
                  <a:srgbClr val="7030A0"/>
                </a:solidFill>
                <a:effectLst/>
              </a:rPr>
            </a:br>
            <a:br>
              <a:rPr lang="en-GB" sz="2700" b="0"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32EF514D-5166-22EC-A163-DBC03894250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52F06646-9375-4232-CB5D-78EFF12F4A1C}"/>
              </a:ext>
            </a:extLst>
          </p:cNvPr>
          <p:cNvSpPr txBox="1"/>
          <p:nvPr/>
        </p:nvSpPr>
        <p:spPr>
          <a:xfrm>
            <a:off x="555171" y="1019461"/>
            <a:ext cx="6910566" cy="3293209"/>
          </a:xfrm>
          <a:prstGeom prst="rect">
            <a:avLst/>
          </a:prstGeom>
          <a:noFill/>
        </p:spPr>
        <p:txBody>
          <a:bodyPr wrap="square">
            <a:spAutoFit/>
          </a:bodyPr>
          <a:lstStyle/>
          <a:p>
            <a:pPr marL="800100" indent="-342900">
              <a:buFont typeface="+mj-lt"/>
              <a:buAutoNum type="alphaLcPeriod" startAt="3"/>
            </a:pPr>
            <a:r>
              <a:rPr lang="en-GB" sz="1600" b="1" i="0" u="none" strike="noStrike" dirty="0">
                <a:solidFill>
                  <a:srgbClr val="000000"/>
                </a:solidFill>
                <a:effectLst/>
              </a:rPr>
              <a:t>Fine-tuning (Full or Partial Unfreezing):</a:t>
            </a:r>
            <a:endParaRPr lang="en-GB" sz="1600" b="0" i="0" u="none" strike="noStrike" dirty="0">
              <a:solidFill>
                <a:srgbClr val="000000"/>
              </a:solidFill>
              <a:effectLst/>
            </a:endParaRPr>
          </a:p>
          <a:p>
            <a:pPr marL="1314450" lvl="1" indent="-400050">
              <a:buFont typeface="+mj-lt"/>
              <a:buAutoNum type="romanLcPeriod"/>
            </a:pPr>
            <a:r>
              <a:rPr lang="en-GB" sz="1600" b="1" i="0" u="none" strike="noStrike" dirty="0">
                <a:solidFill>
                  <a:srgbClr val="000000"/>
                </a:solidFill>
                <a:effectLst/>
              </a:rPr>
              <a:t>Approach:</a:t>
            </a:r>
            <a:r>
              <a:rPr lang="en-GB" sz="1600" b="0" i="0" u="none" strike="noStrike" dirty="0">
                <a:solidFill>
                  <a:srgbClr val="000000"/>
                </a:solidFill>
                <a:effectLst/>
              </a:rPr>
              <a:t> "Unfreeze" some of the deeper layers of the pre-trained model (leaving the very initial layers often frozen as they learn very generic features).</a:t>
            </a:r>
          </a:p>
          <a:p>
            <a:pPr marL="1314450" lvl="1" indent="-400050">
              <a:buFont typeface="+mj-lt"/>
              <a:buAutoNum type="romanLcPeriod"/>
            </a:pPr>
            <a:r>
              <a:rPr lang="en-GB" sz="1600" b="1" i="0" u="none" strike="noStrike" dirty="0">
                <a:solidFill>
                  <a:srgbClr val="000000"/>
                </a:solidFill>
                <a:effectLst/>
              </a:rPr>
              <a:t>Process:</a:t>
            </a:r>
            <a:r>
              <a:rPr lang="en-GB" sz="1600" b="0" i="0" u="none" strike="noStrike" dirty="0">
                <a:solidFill>
                  <a:srgbClr val="000000"/>
                </a:solidFill>
                <a:effectLst/>
              </a:rPr>
              <a:t> Retrain these unfrozen deeper layers along with the newly added custom classification (or regression) layer(s) on your specific dataset. The learning rate is typically much smaller for the pre-trained layers.</a:t>
            </a:r>
          </a:p>
          <a:p>
            <a:pPr marL="1314450" lvl="1" indent="-400050">
              <a:buFont typeface="+mj-lt"/>
              <a:buAutoNum type="romanLcPeriod"/>
            </a:pPr>
            <a:r>
              <a:rPr lang="en-GB" sz="1600" b="1" i="0" u="none" strike="noStrike" dirty="0">
                <a:solidFill>
                  <a:srgbClr val="000000"/>
                </a:solidFill>
                <a:effectLst/>
              </a:rPr>
              <a:t>Use Case:</a:t>
            </a:r>
            <a:r>
              <a:rPr lang="en-GB" sz="1600" b="0" i="0" u="none" strike="noStrike" dirty="0">
                <a:solidFill>
                  <a:srgbClr val="000000"/>
                </a:solidFill>
                <a:effectLst/>
              </a:rPr>
              <a:t> More suitable when your new dataset is larger and/or has some differences from the pre-training dataset. It allows the model to adapt its learned features more closely to your specific task.</a:t>
            </a:r>
          </a:p>
          <a:p>
            <a:pPr marL="342900" indent="-342900" algn="l">
              <a:buFont typeface="+mj-lt"/>
              <a:buAutoNum type="alphaLcPeriod" startAt="3"/>
            </a:pPr>
            <a:endParaRPr lang="en-GB" sz="1600" b="0" i="0" u="none" strike="noStrike" dirty="0">
              <a:solidFill>
                <a:srgbClr val="000000"/>
              </a:solidFill>
              <a:effectLst/>
            </a:endParaRPr>
          </a:p>
        </p:txBody>
      </p:sp>
    </p:spTree>
    <p:extLst>
      <p:ext uri="{BB962C8B-B14F-4D97-AF65-F5344CB8AC3E}">
        <p14:creationId xmlns:p14="http://schemas.microsoft.com/office/powerpoint/2010/main" val="81235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1E82789-AB1B-5906-194D-1A5BC0364E7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172AEE8-CDDF-D242-1540-5A85CE80C350}"/>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dirty="0"/>
              <a:t>What Are Pre-trained Models?</a:t>
            </a:r>
            <a:br>
              <a:rPr lang="en-GB" sz="2800" b="1" dirty="0"/>
            </a:br>
            <a:br>
              <a:rPr lang="en-GB" sz="2700" b="1" i="0" u="none" strike="noStrike" dirty="0">
                <a:solidFill>
                  <a:srgbClr val="7030A0"/>
                </a:solidFill>
                <a:effectLst/>
              </a:rPr>
            </a:br>
            <a:br>
              <a:rPr lang="en-GB" sz="2700" b="0"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23103F6B-B1D8-85FD-128F-EDA36652A04F}"/>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3DD6F9B4-3F96-5C4F-7216-DAACE25BEBCE}"/>
              </a:ext>
            </a:extLst>
          </p:cNvPr>
          <p:cNvSpPr txBox="1"/>
          <p:nvPr/>
        </p:nvSpPr>
        <p:spPr>
          <a:xfrm>
            <a:off x="605971" y="627900"/>
            <a:ext cx="6910566" cy="3046988"/>
          </a:xfrm>
          <a:prstGeom prst="rect">
            <a:avLst/>
          </a:prstGeom>
          <a:noFill/>
        </p:spPr>
        <p:txBody>
          <a:bodyPr wrap="square">
            <a:spAutoFit/>
          </a:bodyPr>
          <a:lstStyle/>
          <a:p>
            <a:pPr>
              <a:buNone/>
            </a:pPr>
            <a:r>
              <a:rPr lang="en-GB" sz="1600" dirty="0"/>
              <a:t>Pre-trained models are </a:t>
            </a:r>
            <a:r>
              <a:rPr lang="en-GB" sz="1600" b="1" dirty="0"/>
              <a:t>neural networks that have already been trained on large datasets</a:t>
            </a:r>
            <a:r>
              <a:rPr lang="en-GB" sz="1600" dirty="0"/>
              <a:t> by researchers or companies. You don’t need to train them from scratch, which saves a </a:t>
            </a:r>
            <a:r>
              <a:rPr lang="en-GB" sz="1600" b="1" dirty="0"/>
              <a:t>lot of time, compute power</a:t>
            </a:r>
            <a:r>
              <a:rPr lang="en-GB" sz="1600" dirty="0"/>
              <a:t>, and effort.</a:t>
            </a:r>
          </a:p>
          <a:p>
            <a:pPr marL="342900" indent="-342900">
              <a:buFont typeface="+mj-lt"/>
              <a:buAutoNum type="arabicPeriod"/>
            </a:pPr>
            <a:r>
              <a:rPr lang="en-GB" sz="1600" b="1" dirty="0"/>
              <a:t>For vision tasks</a:t>
            </a:r>
            <a:r>
              <a:rPr lang="en-GB" sz="1600" dirty="0"/>
              <a:t>, they're usually trained on </a:t>
            </a:r>
            <a:r>
              <a:rPr lang="en-GB" sz="1600" b="1" dirty="0"/>
              <a:t>ImageNet</a:t>
            </a:r>
            <a:r>
              <a:rPr lang="en-GB" sz="1600" dirty="0"/>
              <a:t>, a dataset with over </a:t>
            </a:r>
            <a:r>
              <a:rPr lang="en-GB" sz="1600" b="1" dirty="0"/>
              <a:t>1 million </a:t>
            </a:r>
            <a:r>
              <a:rPr lang="en-GB" sz="1600" b="1" dirty="0" err="1"/>
              <a:t>labeled</a:t>
            </a:r>
            <a:r>
              <a:rPr lang="en-GB" sz="1600" b="1" dirty="0"/>
              <a:t> images across 1000 categories</a:t>
            </a:r>
            <a:r>
              <a:rPr lang="en-GB" sz="1600" dirty="0"/>
              <a:t>.</a:t>
            </a:r>
          </a:p>
          <a:p>
            <a:pPr marL="342900" indent="-342900">
              <a:buFont typeface="+mj-lt"/>
              <a:buAutoNum type="arabicPeriod"/>
            </a:pPr>
            <a:r>
              <a:rPr lang="en-GB" sz="1600" b="1" dirty="0"/>
              <a:t>For NLP</a:t>
            </a:r>
            <a:r>
              <a:rPr lang="en-GB" sz="1600" dirty="0"/>
              <a:t>, they are trained on massive corpora like </a:t>
            </a:r>
            <a:r>
              <a:rPr lang="en-GB" sz="1600" b="1" dirty="0"/>
              <a:t>Wikipedia</a:t>
            </a:r>
            <a:r>
              <a:rPr lang="en-GB" sz="1600" dirty="0"/>
              <a:t> (e.g., BERT, GPT).</a:t>
            </a:r>
          </a:p>
          <a:p>
            <a:pPr marL="342900" indent="-342900">
              <a:buFont typeface="+mj-lt"/>
              <a:buAutoNum type="arabicPeriod"/>
            </a:pPr>
            <a:r>
              <a:rPr lang="en-GB" sz="1600" dirty="0"/>
              <a:t>You can </a:t>
            </a:r>
            <a:r>
              <a:rPr lang="en-GB" sz="1600" b="1" dirty="0"/>
              <a:t>load these models</a:t>
            </a:r>
            <a:r>
              <a:rPr lang="en-GB" sz="1600" dirty="0"/>
              <a:t> and:</a:t>
            </a:r>
          </a:p>
          <a:p>
            <a:pPr marL="342900" indent="-342900">
              <a:buFont typeface="+mj-lt"/>
              <a:buAutoNum type="arabicPeriod"/>
            </a:pPr>
            <a:r>
              <a:rPr lang="en-GB" sz="1600" dirty="0"/>
              <a:t>Use them </a:t>
            </a:r>
            <a:r>
              <a:rPr lang="en-GB" sz="1600" b="1" dirty="0"/>
              <a:t>directly</a:t>
            </a:r>
            <a:r>
              <a:rPr lang="en-GB" sz="1600" dirty="0"/>
              <a:t> (for prediction),</a:t>
            </a:r>
          </a:p>
          <a:p>
            <a:pPr marL="342900" indent="-342900">
              <a:buFont typeface="+mj-lt"/>
              <a:buAutoNum type="arabicPeriod"/>
            </a:pPr>
            <a:r>
              <a:rPr lang="en-GB" sz="1600" dirty="0"/>
              <a:t>Or </a:t>
            </a:r>
            <a:r>
              <a:rPr lang="en-GB" sz="1600" b="1" dirty="0"/>
              <a:t>fine-tune them</a:t>
            </a:r>
            <a:r>
              <a:rPr lang="en-GB" sz="1600" dirty="0"/>
              <a:t> (retrain a bit with your own dataset to adapt them to your task).</a:t>
            </a:r>
          </a:p>
          <a:p>
            <a:pPr marL="342900" indent="-342900" algn="l">
              <a:buFont typeface="+mj-lt"/>
              <a:buAutoNum type="alphaLcPeriod" startAt="3"/>
            </a:pPr>
            <a:endParaRPr lang="en-GB" sz="1600" b="0" i="0" u="none" strike="noStrike" dirty="0">
              <a:solidFill>
                <a:srgbClr val="000000"/>
              </a:solidFill>
              <a:effectLst/>
            </a:endParaRPr>
          </a:p>
        </p:txBody>
      </p:sp>
    </p:spTree>
    <p:extLst>
      <p:ext uri="{BB962C8B-B14F-4D97-AF65-F5344CB8AC3E}">
        <p14:creationId xmlns:p14="http://schemas.microsoft.com/office/powerpoint/2010/main" val="10913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3A0DC51-3657-5902-66D4-FD038D5A0FA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2A7CEC3-AE0A-82E5-9324-73A642C1CAF8}"/>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dirty="0"/>
              <a:t>Popular Vision Models</a:t>
            </a:r>
            <a:br>
              <a:rPr lang="en-GB" sz="2800" b="1" dirty="0"/>
            </a:br>
            <a:br>
              <a:rPr lang="en-GB" sz="2800" b="1" dirty="0"/>
            </a:br>
            <a:br>
              <a:rPr lang="en-GB" sz="2700" b="1" i="0" u="none" strike="noStrike" dirty="0">
                <a:solidFill>
                  <a:srgbClr val="7030A0"/>
                </a:solidFill>
                <a:effectLst/>
              </a:rPr>
            </a:br>
            <a:br>
              <a:rPr lang="en-GB" sz="2700" b="0"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C016DD8D-2423-8A12-10D3-E57705722E9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C8E7342B-AED1-AD41-0413-E528A550EC5D}"/>
              </a:ext>
            </a:extLst>
          </p:cNvPr>
          <p:cNvSpPr txBox="1"/>
          <p:nvPr/>
        </p:nvSpPr>
        <p:spPr>
          <a:xfrm>
            <a:off x="605971" y="627900"/>
            <a:ext cx="6910566" cy="1846659"/>
          </a:xfrm>
          <a:prstGeom prst="rect">
            <a:avLst/>
          </a:prstGeom>
          <a:noFill/>
        </p:spPr>
        <p:txBody>
          <a:bodyPr wrap="square">
            <a:spAutoFit/>
          </a:bodyPr>
          <a:lstStyle/>
          <a:p>
            <a:pPr>
              <a:buNone/>
            </a:pPr>
            <a:r>
              <a:rPr lang="en-GB" b="1" dirty="0"/>
              <a:t>A. VGG (Visual Geometry Group)</a:t>
            </a:r>
          </a:p>
          <a:p>
            <a:r>
              <a:rPr lang="en-GB" b="1" dirty="0"/>
              <a:t>Architecture</a:t>
            </a:r>
            <a:r>
              <a:rPr lang="en-GB" dirty="0"/>
              <a:t>: Simple — many </a:t>
            </a:r>
            <a:r>
              <a:rPr lang="en-GB" b="1" dirty="0"/>
              <a:t>3×3 convolution layers</a:t>
            </a:r>
            <a:r>
              <a:rPr lang="en-GB" dirty="0"/>
              <a:t> stacked one after another, followed by </a:t>
            </a:r>
            <a:r>
              <a:rPr lang="en-GB" b="1" dirty="0"/>
              <a:t>max pooling</a:t>
            </a:r>
            <a:r>
              <a:rPr lang="en-GB" dirty="0"/>
              <a:t>.</a:t>
            </a:r>
          </a:p>
          <a:p>
            <a:r>
              <a:rPr lang="en-GB" b="1" dirty="0"/>
              <a:t>Use Cases</a:t>
            </a:r>
            <a:r>
              <a:rPr lang="en-GB" dirty="0"/>
              <a:t>:</a:t>
            </a:r>
          </a:p>
          <a:p>
            <a:pPr marL="457200" lvl="1"/>
            <a:r>
              <a:rPr lang="en-GB" dirty="0"/>
              <a:t>Image classification</a:t>
            </a:r>
          </a:p>
          <a:p>
            <a:pPr marL="457200" lvl="1"/>
            <a:r>
              <a:rPr lang="en-GB" dirty="0"/>
              <a:t>As a </a:t>
            </a:r>
            <a:r>
              <a:rPr lang="en-GB" b="1" dirty="0"/>
              <a:t>feature extractor</a:t>
            </a:r>
            <a:r>
              <a:rPr lang="en-GB" dirty="0"/>
              <a:t> (to feed features to another model)</a:t>
            </a:r>
          </a:p>
          <a:p>
            <a:r>
              <a:rPr lang="en-GB" b="1" dirty="0"/>
              <a:t>How to Load VGG in </a:t>
            </a:r>
            <a:r>
              <a:rPr lang="en-GB" b="1" dirty="0" err="1"/>
              <a:t>PyTorch</a:t>
            </a:r>
            <a:r>
              <a:rPr lang="en-GB" b="1" dirty="0"/>
              <a:t>:</a:t>
            </a:r>
          </a:p>
          <a:p>
            <a:pPr marL="342900" indent="-342900" algn="l">
              <a:buFont typeface="+mj-lt"/>
              <a:buAutoNum type="alphaLcPeriod" startAt="3"/>
            </a:pPr>
            <a:endParaRPr lang="en-GB" sz="1600" b="0" i="0" u="none" strike="noStrike" dirty="0">
              <a:solidFill>
                <a:srgbClr val="000000"/>
              </a:solidFill>
              <a:effectLst/>
            </a:endParaRPr>
          </a:p>
        </p:txBody>
      </p:sp>
      <p:sp>
        <p:nvSpPr>
          <p:cNvPr id="5" name="TextBox 4">
            <a:extLst>
              <a:ext uri="{FF2B5EF4-FFF2-40B4-BE49-F238E27FC236}">
                <a16:creationId xmlns:a16="http://schemas.microsoft.com/office/drawing/2014/main" id="{500CA1D6-BB73-5EC4-F163-D9960209BCA1}"/>
              </a:ext>
            </a:extLst>
          </p:cNvPr>
          <p:cNvSpPr txBox="1"/>
          <p:nvPr/>
        </p:nvSpPr>
        <p:spPr>
          <a:xfrm>
            <a:off x="936123" y="2337546"/>
            <a:ext cx="4648200" cy="954107"/>
          </a:xfrm>
          <a:prstGeom prst="rect">
            <a:avLst/>
          </a:prstGeom>
          <a:solidFill>
            <a:schemeClr val="accent6">
              <a:lumMod val="20000"/>
              <a:lumOff val="80000"/>
            </a:schemeClr>
          </a:solidFill>
        </p:spPr>
        <p:txBody>
          <a:bodyPr wrap="square">
            <a:spAutoFit/>
          </a:bodyPr>
          <a:lstStyle/>
          <a:p>
            <a:r>
              <a:rPr lang="en-US" dirty="0"/>
              <a:t>import </a:t>
            </a:r>
            <a:r>
              <a:rPr lang="en-US" dirty="0" err="1"/>
              <a:t>torchvision.models</a:t>
            </a:r>
            <a:r>
              <a:rPr lang="en-US" dirty="0"/>
              <a:t> as models</a:t>
            </a:r>
          </a:p>
          <a:p>
            <a:endParaRPr lang="en-US" dirty="0"/>
          </a:p>
          <a:p>
            <a:r>
              <a:rPr lang="en-US" dirty="0"/>
              <a:t># Load the VGG-16 model pre-trained on ImageNet</a:t>
            </a:r>
          </a:p>
          <a:p>
            <a:r>
              <a:rPr lang="en-US" dirty="0"/>
              <a:t>vgg16 = models.vgg16(pretrained=True)</a:t>
            </a:r>
          </a:p>
        </p:txBody>
      </p:sp>
      <p:sp>
        <p:nvSpPr>
          <p:cNvPr id="7" name="TextBox 6">
            <a:extLst>
              <a:ext uri="{FF2B5EF4-FFF2-40B4-BE49-F238E27FC236}">
                <a16:creationId xmlns:a16="http://schemas.microsoft.com/office/drawing/2014/main" id="{7A05038C-EAA3-B70B-A7FC-7335C43DBD4E}"/>
              </a:ext>
            </a:extLst>
          </p:cNvPr>
          <p:cNvSpPr txBox="1"/>
          <p:nvPr/>
        </p:nvSpPr>
        <p:spPr>
          <a:xfrm>
            <a:off x="671189" y="3398261"/>
            <a:ext cx="6651268" cy="738664"/>
          </a:xfrm>
          <a:prstGeom prst="rect">
            <a:avLst/>
          </a:prstGeom>
          <a:noFill/>
        </p:spPr>
        <p:txBody>
          <a:bodyPr wrap="square">
            <a:spAutoFit/>
          </a:bodyPr>
          <a:lstStyle/>
          <a:p>
            <a:r>
              <a:rPr lang="en-GB" dirty="0"/>
              <a:t>After loading, you can:</a:t>
            </a:r>
          </a:p>
          <a:p>
            <a:pPr marL="342900" indent="-342900">
              <a:buFont typeface="+mj-lt"/>
              <a:buAutoNum type="arabicPeriod"/>
            </a:pPr>
            <a:r>
              <a:rPr lang="en-GB" dirty="0"/>
              <a:t>Use vgg16 directly to classify images.</a:t>
            </a:r>
          </a:p>
          <a:p>
            <a:pPr marL="342900" indent="-342900">
              <a:buFont typeface="+mj-lt"/>
              <a:buAutoNum type="arabicPeriod"/>
            </a:pPr>
            <a:r>
              <a:rPr lang="en-GB" dirty="0"/>
              <a:t>Remove the last layer and use the rest to extract features.</a:t>
            </a:r>
          </a:p>
        </p:txBody>
      </p:sp>
    </p:spTree>
    <p:extLst>
      <p:ext uri="{BB962C8B-B14F-4D97-AF65-F5344CB8AC3E}">
        <p14:creationId xmlns:p14="http://schemas.microsoft.com/office/powerpoint/2010/main" val="933220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6CDB011-EE6E-E1AE-39A1-05A99900588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019C26A-EB07-7E23-3DE2-022905D58D5E}"/>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dirty="0"/>
              <a:t>Popular Vision Models</a:t>
            </a:r>
            <a:br>
              <a:rPr lang="en-GB" sz="2800" b="1" dirty="0"/>
            </a:br>
            <a:br>
              <a:rPr lang="en-GB" sz="2800" b="1" dirty="0"/>
            </a:br>
            <a:br>
              <a:rPr lang="en-GB" sz="2700" b="1" i="0" u="none" strike="noStrike" dirty="0">
                <a:solidFill>
                  <a:srgbClr val="7030A0"/>
                </a:solidFill>
                <a:effectLst/>
              </a:rPr>
            </a:br>
            <a:br>
              <a:rPr lang="en-GB" sz="2700" b="0"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6ACF2A2E-B6FC-9645-4A16-132B98ACBA9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16185C13-2FF9-0850-F090-5313889E8016}"/>
              </a:ext>
            </a:extLst>
          </p:cNvPr>
          <p:cNvSpPr txBox="1"/>
          <p:nvPr/>
        </p:nvSpPr>
        <p:spPr>
          <a:xfrm>
            <a:off x="605971" y="627900"/>
            <a:ext cx="6910566" cy="2277547"/>
          </a:xfrm>
          <a:prstGeom prst="rect">
            <a:avLst/>
          </a:prstGeom>
          <a:noFill/>
        </p:spPr>
        <p:txBody>
          <a:bodyPr wrap="square">
            <a:spAutoFit/>
          </a:bodyPr>
          <a:lstStyle/>
          <a:p>
            <a:pPr>
              <a:buNone/>
            </a:pPr>
            <a:r>
              <a:rPr lang="en-GB" b="1" dirty="0"/>
              <a:t>B. </a:t>
            </a:r>
            <a:r>
              <a:rPr lang="en-GB" b="1" dirty="0" err="1"/>
              <a:t>ResNet</a:t>
            </a:r>
            <a:r>
              <a:rPr lang="en-GB" b="1" dirty="0"/>
              <a:t> (Residual Network)</a:t>
            </a:r>
          </a:p>
          <a:p>
            <a:pPr>
              <a:buFont typeface="Arial" panose="020B0604020202020204" pitchFamily="34" charset="0"/>
              <a:buChar char="•"/>
            </a:pPr>
            <a:r>
              <a:rPr lang="en-GB" b="1" dirty="0"/>
              <a:t>Key Innovation</a:t>
            </a:r>
            <a:r>
              <a:rPr lang="en-GB" dirty="0"/>
              <a:t>: Introduced </a:t>
            </a:r>
            <a:r>
              <a:rPr lang="en-GB" b="1" dirty="0"/>
              <a:t>skip connections</a:t>
            </a:r>
            <a:r>
              <a:rPr lang="en-GB" dirty="0"/>
              <a:t> (or residual connections) to allow gradients to flow more easily through deep networks, solving the </a:t>
            </a:r>
            <a:r>
              <a:rPr lang="en-GB" b="1" dirty="0"/>
              <a:t>vanishing gradient problem</a:t>
            </a:r>
            <a:r>
              <a:rPr lang="en-GB" dirty="0"/>
              <a:t>.</a:t>
            </a:r>
          </a:p>
          <a:p>
            <a:pPr>
              <a:buFont typeface="Arial" panose="020B0604020202020204" pitchFamily="34" charset="0"/>
              <a:buChar char="•"/>
            </a:pPr>
            <a:r>
              <a:rPr lang="en-GB" b="1" dirty="0"/>
              <a:t>Use Cases</a:t>
            </a:r>
            <a:r>
              <a:rPr lang="en-GB" dirty="0"/>
              <a:t>:</a:t>
            </a:r>
          </a:p>
          <a:p>
            <a:pPr marL="742950" lvl="1" indent="-285750">
              <a:buFont typeface="Arial" panose="020B0604020202020204" pitchFamily="34" charset="0"/>
              <a:buChar char="•"/>
            </a:pPr>
            <a:r>
              <a:rPr lang="en-GB" dirty="0"/>
              <a:t>Image classification</a:t>
            </a:r>
          </a:p>
          <a:p>
            <a:pPr marL="742950" lvl="1" indent="-285750">
              <a:buFont typeface="Arial" panose="020B0604020202020204" pitchFamily="34" charset="0"/>
              <a:buChar char="•"/>
            </a:pPr>
            <a:r>
              <a:rPr lang="en-GB" dirty="0"/>
              <a:t>Object detection</a:t>
            </a:r>
          </a:p>
          <a:p>
            <a:pPr marL="742950" lvl="1" indent="-285750">
              <a:buFont typeface="Arial" panose="020B0604020202020204" pitchFamily="34" charset="0"/>
              <a:buChar char="•"/>
            </a:pPr>
            <a:r>
              <a:rPr lang="en-GB" dirty="0"/>
              <a:t>Face recognition, etc.</a:t>
            </a:r>
          </a:p>
          <a:p>
            <a:r>
              <a:rPr lang="en-GB" b="1" dirty="0"/>
              <a:t>How to Load </a:t>
            </a:r>
            <a:r>
              <a:rPr lang="en-GB" b="1" dirty="0" err="1"/>
              <a:t>ResNet</a:t>
            </a:r>
            <a:r>
              <a:rPr lang="en-GB" b="1" dirty="0"/>
              <a:t> in </a:t>
            </a:r>
            <a:r>
              <a:rPr lang="en-GB" b="1" dirty="0" err="1"/>
              <a:t>PyTorch</a:t>
            </a:r>
            <a:r>
              <a:rPr lang="en-GB" b="1" dirty="0"/>
              <a:t>:</a:t>
            </a:r>
          </a:p>
          <a:p>
            <a:pPr marL="342900" indent="-342900" algn="l">
              <a:buFont typeface="+mj-lt"/>
              <a:buAutoNum type="alphaLcPeriod" startAt="3"/>
            </a:pPr>
            <a:endParaRPr lang="en-GB" sz="1600" b="0" i="0" u="none" strike="noStrike" dirty="0">
              <a:solidFill>
                <a:srgbClr val="000000"/>
              </a:solidFill>
              <a:effectLst/>
            </a:endParaRPr>
          </a:p>
        </p:txBody>
      </p:sp>
      <p:sp>
        <p:nvSpPr>
          <p:cNvPr id="6" name="TextBox 5">
            <a:extLst>
              <a:ext uri="{FF2B5EF4-FFF2-40B4-BE49-F238E27FC236}">
                <a16:creationId xmlns:a16="http://schemas.microsoft.com/office/drawing/2014/main" id="{3AA16407-9A5A-FCD6-3CA0-143661547BA8}"/>
              </a:ext>
            </a:extLst>
          </p:cNvPr>
          <p:cNvSpPr txBox="1"/>
          <p:nvPr/>
        </p:nvSpPr>
        <p:spPr>
          <a:xfrm>
            <a:off x="1279071" y="2751558"/>
            <a:ext cx="4648200" cy="307777"/>
          </a:xfrm>
          <a:prstGeom prst="rect">
            <a:avLst/>
          </a:prstGeom>
          <a:solidFill>
            <a:schemeClr val="accent6">
              <a:lumMod val="20000"/>
              <a:lumOff val="80000"/>
            </a:schemeClr>
          </a:solidFill>
        </p:spPr>
        <p:txBody>
          <a:bodyPr wrap="square">
            <a:spAutoFit/>
          </a:bodyPr>
          <a:lstStyle/>
          <a:p>
            <a:r>
              <a:rPr lang="en-US" dirty="0"/>
              <a:t>resnet50 = models.resnet50(pretrained=True)</a:t>
            </a:r>
          </a:p>
        </p:txBody>
      </p:sp>
      <p:sp>
        <p:nvSpPr>
          <p:cNvPr id="9" name="TextBox 8">
            <a:extLst>
              <a:ext uri="{FF2B5EF4-FFF2-40B4-BE49-F238E27FC236}">
                <a16:creationId xmlns:a16="http://schemas.microsoft.com/office/drawing/2014/main" id="{CAA6084D-8A63-EA2A-844C-766064D6CEDA}"/>
              </a:ext>
            </a:extLst>
          </p:cNvPr>
          <p:cNvSpPr txBox="1"/>
          <p:nvPr/>
        </p:nvSpPr>
        <p:spPr>
          <a:xfrm>
            <a:off x="793813" y="3194757"/>
            <a:ext cx="6804415" cy="954107"/>
          </a:xfrm>
          <a:prstGeom prst="rect">
            <a:avLst/>
          </a:prstGeom>
          <a:noFill/>
        </p:spPr>
        <p:txBody>
          <a:bodyPr wrap="square">
            <a:spAutoFit/>
          </a:bodyPr>
          <a:lstStyle/>
          <a:p>
            <a:pPr>
              <a:buNone/>
            </a:pPr>
            <a:r>
              <a:rPr lang="en-GB" dirty="0"/>
              <a:t>resnet50 means a </a:t>
            </a:r>
            <a:r>
              <a:rPr lang="en-GB" dirty="0" err="1"/>
              <a:t>ResNet</a:t>
            </a:r>
            <a:r>
              <a:rPr lang="en-GB" dirty="0"/>
              <a:t> with </a:t>
            </a:r>
            <a:r>
              <a:rPr lang="en-GB" b="1" dirty="0"/>
              <a:t>50 layers</a:t>
            </a:r>
            <a:r>
              <a:rPr lang="en-GB" dirty="0"/>
              <a:t>.</a:t>
            </a:r>
          </a:p>
          <a:p>
            <a:pPr>
              <a:buNone/>
            </a:pPr>
            <a:r>
              <a:rPr lang="en-GB" dirty="0"/>
              <a:t>Like VGG, you can:</a:t>
            </a:r>
          </a:p>
          <a:p>
            <a:pPr marL="342900" indent="-342900">
              <a:buFont typeface="+mj-lt"/>
              <a:buAutoNum type="arabicPeriod"/>
            </a:pPr>
            <a:r>
              <a:rPr lang="en-GB" dirty="0"/>
              <a:t>Use it directly,</a:t>
            </a:r>
          </a:p>
          <a:p>
            <a:pPr marL="342900" indent="-342900">
              <a:buFont typeface="+mj-lt"/>
              <a:buAutoNum type="arabicPeriod"/>
            </a:pPr>
            <a:r>
              <a:rPr lang="en-GB" dirty="0"/>
              <a:t>Or remove the classification head and </a:t>
            </a:r>
            <a:r>
              <a:rPr lang="en-GB" b="1" dirty="0"/>
              <a:t>fine-tune it on your own dataset</a:t>
            </a:r>
            <a:r>
              <a:rPr lang="en-GB" dirty="0"/>
              <a:t>.</a:t>
            </a:r>
          </a:p>
        </p:txBody>
      </p:sp>
    </p:spTree>
    <p:extLst>
      <p:ext uri="{BB962C8B-B14F-4D97-AF65-F5344CB8AC3E}">
        <p14:creationId xmlns:p14="http://schemas.microsoft.com/office/powerpoint/2010/main" val="308869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374B9F4-AB16-2F71-F224-B8177FA4BB3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5155021C-9FD9-8052-3393-87EF9A1C2D6D}"/>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Autofit/>
          </a:bodyPr>
          <a:lstStyle/>
          <a:p>
            <a:r>
              <a:rPr lang="en-GB" sz="2000" b="1" dirty="0"/>
              <a:t>BERT (Bidirectional Encoder Representations from Transformers)</a:t>
            </a:r>
            <a:br>
              <a:rPr lang="en-GB" sz="2000" b="1" dirty="0"/>
            </a:br>
            <a:br>
              <a:rPr lang="en-GB" sz="2000" b="1" dirty="0"/>
            </a:br>
            <a:br>
              <a:rPr lang="en-GB" sz="2000" b="1" dirty="0"/>
            </a:br>
            <a:br>
              <a:rPr lang="en-GB" sz="2000" b="1" i="0" u="none" strike="noStrike" dirty="0">
                <a:solidFill>
                  <a:srgbClr val="7030A0"/>
                </a:solidFill>
                <a:effectLst/>
              </a:rPr>
            </a:br>
            <a:br>
              <a:rPr lang="en-GB" sz="2000" b="0"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F317CCA9-EDF9-D033-5FB8-6A28C074AF7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580C828-85B9-21F3-0809-2A25A3651F32}"/>
              </a:ext>
            </a:extLst>
          </p:cNvPr>
          <p:cNvSpPr txBox="1"/>
          <p:nvPr/>
        </p:nvSpPr>
        <p:spPr>
          <a:xfrm>
            <a:off x="605971" y="627900"/>
            <a:ext cx="7297058" cy="3785652"/>
          </a:xfrm>
          <a:prstGeom prst="rect">
            <a:avLst/>
          </a:prstGeom>
          <a:noFill/>
        </p:spPr>
        <p:txBody>
          <a:bodyPr wrap="square">
            <a:spAutoFit/>
          </a:bodyPr>
          <a:lstStyle/>
          <a:p>
            <a:pPr>
              <a:buNone/>
            </a:pPr>
            <a:r>
              <a:rPr lang="en-GB" sz="1600" dirty="0"/>
              <a:t>BERT is a transformer-based model developed by Google. It's one of the most powerful pre-trained models in Natural Language Processing (NLP).</a:t>
            </a:r>
          </a:p>
          <a:p>
            <a:pPr>
              <a:buNone/>
            </a:pPr>
            <a:r>
              <a:rPr lang="en-GB" sz="1600" b="1" dirty="0"/>
              <a:t>Key Concepts:</a:t>
            </a:r>
          </a:p>
          <a:p>
            <a:pPr marL="342900" indent="-342900">
              <a:buFont typeface="+mj-lt"/>
              <a:buAutoNum type="arabicPeriod"/>
            </a:pPr>
            <a:r>
              <a:rPr lang="en-GB" sz="1600" dirty="0"/>
              <a:t>Bidirectional: BERT reads text in both directions (left-to-right and right-to-left) during training. This helps it understand the context of a word based on the entire sentence, not just the words before or after it.</a:t>
            </a:r>
          </a:p>
          <a:p>
            <a:pPr marL="342900" indent="-342900">
              <a:buFont typeface="+mj-lt"/>
              <a:buAutoNum type="arabicPeriod"/>
            </a:pPr>
            <a:r>
              <a:rPr lang="en-GB" sz="1600" dirty="0"/>
              <a:t>Pre-trained: BERT is trained on huge corpora (like Wikipedia and </a:t>
            </a:r>
            <a:r>
              <a:rPr lang="en-GB" sz="1600" dirty="0" err="1"/>
              <a:t>BooksCorpus</a:t>
            </a:r>
            <a:r>
              <a:rPr lang="en-GB" sz="1600" dirty="0"/>
              <a:t>) using two tasks:</a:t>
            </a:r>
          </a:p>
          <a:p>
            <a:pPr marL="800100" lvl="1" indent="-342900">
              <a:buFont typeface="+mj-lt"/>
              <a:buAutoNum type="alphaLcPeriod"/>
            </a:pPr>
            <a:r>
              <a:rPr lang="en-GB" sz="1600" dirty="0"/>
              <a:t>Masked Language </a:t>
            </a:r>
            <a:r>
              <a:rPr lang="en-GB" sz="1600" dirty="0" err="1"/>
              <a:t>Modeling</a:t>
            </a:r>
            <a:r>
              <a:rPr lang="en-GB" sz="1600" dirty="0"/>
              <a:t> (MLM) – predicts randomly masked words in a sentence.</a:t>
            </a:r>
          </a:p>
          <a:p>
            <a:pPr marL="800100" lvl="1" indent="-342900">
              <a:buFont typeface="+mj-lt"/>
              <a:buAutoNum type="alphaLcPeriod"/>
            </a:pPr>
            <a:r>
              <a:rPr lang="en-GB" sz="1600" dirty="0"/>
              <a:t>Next Sentence Prediction (NSP) – predicts whether one sentence logically follows another.</a:t>
            </a:r>
          </a:p>
          <a:p>
            <a:pPr marL="342900" indent="-342900">
              <a:buFont typeface="+mj-lt"/>
              <a:buAutoNum type="arabicPeriod"/>
            </a:pPr>
            <a:r>
              <a:rPr lang="en-GB" sz="1600" dirty="0"/>
              <a:t>Transformer Architecture: It uses the Transformer encoder layers with self-attention mechanisms to learn contextual relationships.</a:t>
            </a:r>
          </a:p>
          <a:p>
            <a:pPr marL="342900" indent="-342900" algn="l">
              <a:buFont typeface="+mj-lt"/>
              <a:buAutoNum type="alphaLcPeriod" startAt="3"/>
            </a:pPr>
            <a:endParaRPr lang="en-GB" sz="1600" b="0" i="0" u="none" strike="noStrike" dirty="0">
              <a:solidFill>
                <a:srgbClr val="000000"/>
              </a:solidFill>
              <a:effectLst/>
            </a:endParaRPr>
          </a:p>
        </p:txBody>
      </p:sp>
    </p:spTree>
    <p:extLst>
      <p:ext uri="{BB962C8B-B14F-4D97-AF65-F5344CB8AC3E}">
        <p14:creationId xmlns:p14="http://schemas.microsoft.com/office/powerpoint/2010/main" val="2161505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4B3AF10-EE0F-7C02-6A2D-3959AC09B33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5818FBBC-E729-0D9A-8C27-A74267E26962}"/>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Autofit/>
          </a:bodyPr>
          <a:lstStyle/>
          <a:p>
            <a:r>
              <a:rPr lang="en-GB" sz="2000" b="1" dirty="0"/>
              <a:t>BERT (Bidirectional Encoder Representations from Transformers)</a:t>
            </a:r>
            <a:br>
              <a:rPr lang="en-GB" sz="2000" b="1" dirty="0"/>
            </a:br>
            <a:br>
              <a:rPr lang="en-GB" sz="2000" b="1" dirty="0"/>
            </a:br>
            <a:br>
              <a:rPr lang="en-GB" sz="2000" b="1" dirty="0"/>
            </a:br>
            <a:br>
              <a:rPr lang="en-GB" sz="2000" b="1" i="0" u="none" strike="noStrike" dirty="0">
                <a:solidFill>
                  <a:srgbClr val="7030A0"/>
                </a:solidFill>
                <a:effectLst/>
              </a:rPr>
            </a:br>
            <a:br>
              <a:rPr lang="en-GB" sz="2000" b="0"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6DD4F8D4-8B50-5A6D-0E4E-B57AA3180C62}"/>
              </a:ext>
            </a:extLst>
          </p:cNvPr>
          <p:cNvSpPr>
            <a:spLocks noChangeAspect="1" noChangeArrowheads="1"/>
          </p:cNvSpPr>
          <p:nvPr/>
        </p:nvSpPr>
        <p:spPr bwMode="auto">
          <a:xfrm>
            <a:off x="502962" y="3492232"/>
            <a:ext cx="7503076"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GB" b="1" dirty="0"/>
              <a:t>What this does:</a:t>
            </a:r>
          </a:p>
          <a:p>
            <a:r>
              <a:rPr lang="en-GB" dirty="0"/>
              <a:t>Downloads and loads the </a:t>
            </a:r>
            <a:r>
              <a:rPr lang="en-GB" b="1" dirty="0"/>
              <a:t>BERT-base model</a:t>
            </a:r>
            <a:r>
              <a:rPr lang="en-GB" dirty="0"/>
              <a:t>, which has:</a:t>
            </a:r>
          </a:p>
          <a:p>
            <a:pPr lvl="1"/>
            <a:r>
              <a:rPr lang="en-GB" dirty="0"/>
              <a:t>12 transformer layers</a:t>
            </a:r>
          </a:p>
          <a:p>
            <a:pPr lvl="1"/>
            <a:r>
              <a:rPr lang="en-GB" dirty="0"/>
              <a:t>768 hidden units</a:t>
            </a:r>
          </a:p>
          <a:p>
            <a:pPr lvl="1"/>
            <a:r>
              <a:rPr lang="en-GB" dirty="0"/>
              <a:t>110 million parameters</a:t>
            </a:r>
          </a:p>
          <a:p>
            <a:r>
              <a:rPr lang="en-GB" dirty="0"/>
              <a:t>'</a:t>
            </a:r>
            <a:r>
              <a:rPr lang="en-GB" dirty="0" err="1"/>
              <a:t>bert</a:t>
            </a:r>
            <a:r>
              <a:rPr lang="en-GB" dirty="0"/>
              <a:t>-base-uncased': This version is </a:t>
            </a:r>
            <a:r>
              <a:rPr lang="en-GB" b="1" dirty="0"/>
              <a:t>case-insensitive</a:t>
            </a:r>
            <a:r>
              <a:rPr lang="en-GB" dirty="0"/>
              <a:t> (treats "Apple" and "apple" the same).</a:t>
            </a:r>
          </a:p>
        </p:txBody>
      </p:sp>
      <p:sp>
        <p:nvSpPr>
          <p:cNvPr id="3" name="TextBox 2">
            <a:extLst>
              <a:ext uri="{FF2B5EF4-FFF2-40B4-BE49-F238E27FC236}">
                <a16:creationId xmlns:a16="http://schemas.microsoft.com/office/drawing/2014/main" id="{986C1C02-D52C-05F9-C3A2-5C5EAF8A9492}"/>
              </a:ext>
            </a:extLst>
          </p:cNvPr>
          <p:cNvSpPr txBox="1"/>
          <p:nvPr/>
        </p:nvSpPr>
        <p:spPr>
          <a:xfrm>
            <a:off x="605971" y="627900"/>
            <a:ext cx="7297058" cy="1815882"/>
          </a:xfrm>
          <a:prstGeom prst="rect">
            <a:avLst/>
          </a:prstGeom>
          <a:noFill/>
        </p:spPr>
        <p:txBody>
          <a:bodyPr wrap="square">
            <a:spAutoFit/>
          </a:bodyPr>
          <a:lstStyle/>
          <a:p>
            <a:pPr>
              <a:buNone/>
            </a:pPr>
            <a:r>
              <a:rPr lang="en-GB" sz="1600" b="1" dirty="0"/>
              <a:t>Use Cases of BERT:</a:t>
            </a:r>
          </a:p>
          <a:p>
            <a:pPr marL="342900" indent="-342900">
              <a:buFont typeface="+mj-lt"/>
              <a:buAutoNum type="arabicPeriod"/>
            </a:pPr>
            <a:r>
              <a:rPr lang="en-GB" sz="1600" dirty="0"/>
              <a:t>Text classification (e.g., sentiment analysis)</a:t>
            </a:r>
          </a:p>
          <a:p>
            <a:pPr marL="342900" indent="-342900">
              <a:buFont typeface="+mj-lt"/>
              <a:buAutoNum type="arabicPeriod"/>
            </a:pPr>
            <a:r>
              <a:rPr lang="en-GB" sz="1600" dirty="0"/>
              <a:t>Named Entity Recognition (NER)</a:t>
            </a:r>
          </a:p>
          <a:p>
            <a:pPr marL="342900" indent="-342900">
              <a:buFont typeface="+mj-lt"/>
              <a:buAutoNum type="arabicPeriod"/>
            </a:pPr>
            <a:r>
              <a:rPr lang="en-GB" sz="1600" dirty="0"/>
              <a:t>Question answering (e.g., </a:t>
            </a:r>
            <a:r>
              <a:rPr lang="en-GB" sz="1600" dirty="0" err="1"/>
              <a:t>SQuAD</a:t>
            </a:r>
            <a:r>
              <a:rPr lang="en-GB" sz="1600" dirty="0"/>
              <a:t>)</a:t>
            </a:r>
          </a:p>
          <a:p>
            <a:pPr marL="342900" indent="-342900">
              <a:buFont typeface="+mj-lt"/>
              <a:buAutoNum type="arabicPeriod"/>
            </a:pPr>
            <a:r>
              <a:rPr lang="en-GB" sz="1600" dirty="0"/>
              <a:t>Text similarity</a:t>
            </a:r>
          </a:p>
          <a:p>
            <a:pPr marL="342900" indent="-342900">
              <a:buFont typeface="+mj-lt"/>
              <a:buAutoNum type="arabicPeriod"/>
            </a:pPr>
            <a:r>
              <a:rPr lang="en-GB" sz="1600" dirty="0"/>
              <a:t>Text summarization (with fine-tuning)</a:t>
            </a:r>
          </a:p>
          <a:p>
            <a:pPr marL="342900" indent="-342900" algn="l">
              <a:buFont typeface="+mj-lt"/>
              <a:buAutoNum type="alphaLcPeriod" startAt="3"/>
            </a:pPr>
            <a:endParaRPr lang="en-GB" sz="1600" b="0" i="0" u="none" strike="noStrike" dirty="0">
              <a:solidFill>
                <a:srgbClr val="000000"/>
              </a:solidFill>
              <a:effectLst/>
            </a:endParaRPr>
          </a:p>
        </p:txBody>
      </p:sp>
      <p:sp>
        <p:nvSpPr>
          <p:cNvPr id="5" name="TextBox 4">
            <a:extLst>
              <a:ext uri="{FF2B5EF4-FFF2-40B4-BE49-F238E27FC236}">
                <a16:creationId xmlns:a16="http://schemas.microsoft.com/office/drawing/2014/main" id="{29AD7135-1EE2-1546-E3E4-C77BD1CE2A43}"/>
              </a:ext>
            </a:extLst>
          </p:cNvPr>
          <p:cNvSpPr txBox="1"/>
          <p:nvPr/>
        </p:nvSpPr>
        <p:spPr>
          <a:xfrm>
            <a:off x="605971" y="2136005"/>
            <a:ext cx="5578929" cy="307777"/>
          </a:xfrm>
          <a:prstGeom prst="rect">
            <a:avLst/>
          </a:prstGeom>
          <a:noFill/>
        </p:spPr>
        <p:txBody>
          <a:bodyPr wrap="square">
            <a:spAutoFit/>
          </a:bodyPr>
          <a:lstStyle/>
          <a:p>
            <a:r>
              <a:rPr lang="en-GB" dirty="0"/>
              <a:t>How to Load BERT using Hugging Face (Transformers library):</a:t>
            </a:r>
            <a:endParaRPr lang="en-US" dirty="0"/>
          </a:p>
        </p:txBody>
      </p:sp>
      <p:sp>
        <p:nvSpPr>
          <p:cNvPr id="7" name="TextBox 6">
            <a:extLst>
              <a:ext uri="{FF2B5EF4-FFF2-40B4-BE49-F238E27FC236}">
                <a16:creationId xmlns:a16="http://schemas.microsoft.com/office/drawing/2014/main" id="{370C2DCC-7CC7-6DE5-6674-EFCB00095B4B}"/>
              </a:ext>
            </a:extLst>
          </p:cNvPr>
          <p:cNvSpPr txBox="1"/>
          <p:nvPr/>
        </p:nvSpPr>
        <p:spPr>
          <a:xfrm>
            <a:off x="883460" y="2443782"/>
            <a:ext cx="4648200" cy="954107"/>
          </a:xfrm>
          <a:prstGeom prst="rect">
            <a:avLst/>
          </a:prstGeom>
          <a:solidFill>
            <a:schemeClr val="accent6">
              <a:lumMod val="20000"/>
              <a:lumOff val="80000"/>
            </a:schemeClr>
          </a:solidFill>
        </p:spPr>
        <p:txBody>
          <a:bodyPr wrap="square">
            <a:spAutoFit/>
          </a:bodyPr>
          <a:lstStyle/>
          <a:p>
            <a:r>
              <a:rPr lang="en-US" dirty="0"/>
              <a:t>from transformers import </a:t>
            </a:r>
            <a:r>
              <a:rPr lang="en-US" dirty="0" err="1"/>
              <a:t>BertModel</a:t>
            </a:r>
            <a:endParaRPr lang="en-US" dirty="0"/>
          </a:p>
          <a:p>
            <a:endParaRPr lang="en-US" dirty="0"/>
          </a:p>
          <a:p>
            <a:r>
              <a:rPr lang="en-US" dirty="0"/>
              <a:t># Load the pre-trained BERT base model</a:t>
            </a:r>
          </a:p>
          <a:p>
            <a:r>
              <a:rPr lang="en-US" dirty="0" err="1"/>
              <a:t>bert</a:t>
            </a:r>
            <a:r>
              <a:rPr lang="en-US" dirty="0"/>
              <a:t> = </a:t>
            </a:r>
            <a:r>
              <a:rPr lang="en-US" dirty="0" err="1"/>
              <a:t>BertModel.from_pretrained</a:t>
            </a:r>
            <a:r>
              <a:rPr lang="en-US" dirty="0"/>
              <a:t>('</a:t>
            </a:r>
            <a:r>
              <a:rPr lang="en-US" dirty="0" err="1"/>
              <a:t>bert</a:t>
            </a:r>
            <a:r>
              <a:rPr lang="en-US" dirty="0"/>
              <a:t>-base-uncased')</a:t>
            </a:r>
          </a:p>
        </p:txBody>
      </p:sp>
    </p:spTree>
    <p:extLst>
      <p:ext uri="{BB962C8B-B14F-4D97-AF65-F5344CB8AC3E}">
        <p14:creationId xmlns:p14="http://schemas.microsoft.com/office/powerpoint/2010/main" val="4169387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5EDD368-D1BE-F7DE-F89F-3BF835DFCBA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F56AD56-EF54-4F4C-7C3D-DC5269105858}"/>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Autofit/>
          </a:bodyPr>
          <a:lstStyle/>
          <a:p>
            <a:r>
              <a:rPr lang="en-GB" sz="2000" b="1" dirty="0"/>
              <a:t>BERT (Bidirectional Encoder Representations from Transformers)</a:t>
            </a:r>
            <a:br>
              <a:rPr lang="en-GB" sz="2000" b="1" dirty="0"/>
            </a:br>
            <a:br>
              <a:rPr lang="en-GB" sz="2000" b="1" dirty="0"/>
            </a:br>
            <a:br>
              <a:rPr lang="en-GB" sz="2000" b="1" dirty="0"/>
            </a:br>
            <a:br>
              <a:rPr lang="en-GB" sz="2000" b="1" i="0" u="none" strike="noStrike" dirty="0">
                <a:solidFill>
                  <a:srgbClr val="7030A0"/>
                </a:solidFill>
                <a:effectLst/>
              </a:rPr>
            </a:br>
            <a:br>
              <a:rPr lang="en-GB" sz="2000" b="0"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latin typeface="+mj-lt"/>
            </a:endParaRPr>
          </a:p>
        </p:txBody>
      </p:sp>
      <p:sp>
        <p:nvSpPr>
          <p:cNvPr id="3" name="TextBox 2">
            <a:extLst>
              <a:ext uri="{FF2B5EF4-FFF2-40B4-BE49-F238E27FC236}">
                <a16:creationId xmlns:a16="http://schemas.microsoft.com/office/drawing/2014/main" id="{669B6092-DB7F-BF11-AE9C-AFCA826E27DE}"/>
              </a:ext>
            </a:extLst>
          </p:cNvPr>
          <p:cNvSpPr txBox="1"/>
          <p:nvPr/>
        </p:nvSpPr>
        <p:spPr>
          <a:xfrm>
            <a:off x="605971" y="627900"/>
            <a:ext cx="7297058" cy="830997"/>
          </a:xfrm>
          <a:prstGeom prst="rect">
            <a:avLst/>
          </a:prstGeom>
          <a:noFill/>
        </p:spPr>
        <p:txBody>
          <a:bodyPr wrap="square">
            <a:spAutoFit/>
          </a:bodyPr>
          <a:lstStyle/>
          <a:p>
            <a:pPr>
              <a:buNone/>
            </a:pPr>
            <a:r>
              <a:rPr lang="en-GB" sz="1600" b="1" dirty="0"/>
              <a:t>If you want to use BERT for classification (e.g., sentiment analysis):</a:t>
            </a:r>
          </a:p>
          <a:p>
            <a:r>
              <a:rPr lang="en-GB" sz="1600" dirty="0"/>
              <a:t>You’ll typically use:</a:t>
            </a:r>
          </a:p>
          <a:p>
            <a:pPr marL="342900" indent="-342900" algn="l">
              <a:buFont typeface="+mj-lt"/>
              <a:buAutoNum type="alphaLcPeriod" startAt="3"/>
            </a:pPr>
            <a:endParaRPr lang="en-GB" sz="1600" b="0" i="0" u="none" strike="noStrike" dirty="0">
              <a:solidFill>
                <a:srgbClr val="000000"/>
              </a:solidFill>
              <a:effectLst/>
            </a:endParaRPr>
          </a:p>
        </p:txBody>
      </p:sp>
      <p:sp>
        <p:nvSpPr>
          <p:cNvPr id="6" name="TextBox 5">
            <a:extLst>
              <a:ext uri="{FF2B5EF4-FFF2-40B4-BE49-F238E27FC236}">
                <a16:creationId xmlns:a16="http://schemas.microsoft.com/office/drawing/2014/main" id="{104BD5DA-FF6B-608B-3766-C0384A0F41F3}"/>
              </a:ext>
            </a:extLst>
          </p:cNvPr>
          <p:cNvSpPr txBox="1"/>
          <p:nvPr/>
        </p:nvSpPr>
        <p:spPr>
          <a:xfrm>
            <a:off x="655055" y="1255800"/>
            <a:ext cx="7603672" cy="954107"/>
          </a:xfrm>
          <a:prstGeom prst="rect">
            <a:avLst/>
          </a:prstGeom>
          <a:solidFill>
            <a:schemeClr val="accent6">
              <a:lumMod val="20000"/>
              <a:lumOff val="80000"/>
            </a:schemeClr>
          </a:solidFill>
        </p:spPr>
        <p:txBody>
          <a:bodyPr wrap="square">
            <a:spAutoFit/>
          </a:bodyPr>
          <a:lstStyle/>
          <a:p>
            <a:r>
              <a:rPr lang="en-US" dirty="0"/>
              <a:t>from transformers import </a:t>
            </a:r>
            <a:r>
              <a:rPr lang="en-US" dirty="0" err="1"/>
              <a:t>BertTokenizer</a:t>
            </a:r>
            <a:r>
              <a:rPr lang="en-US" dirty="0"/>
              <a:t>, </a:t>
            </a:r>
            <a:r>
              <a:rPr lang="en-US" dirty="0" err="1"/>
              <a:t>BertForSequenceClassification</a:t>
            </a:r>
            <a:endParaRPr lang="en-US" dirty="0"/>
          </a:p>
          <a:p>
            <a:r>
              <a:rPr lang="en-US" dirty="0"/>
              <a:t># Load tokenizer and classification model</a:t>
            </a:r>
          </a:p>
          <a:p>
            <a:r>
              <a:rPr lang="en-US" dirty="0"/>
              <a:t>tokenizer = </a:t>
            </a:r>
            <a:r>
              <a:rPr lang="en-US" dirty="0" err="1"/>
              <a:t>BertTokenizer.from_pretrained</a:t>
            </a:r>
            <a:r>
              <a:rPr lang="en-US" dirty="0"/>
              <a:t>('</a:t>
            </a:r>
            <a:r>
              <a:rPr lang="en-US" dirty="0" err="1"/>
              <a:t>bert</a:t>
            </a:r>
            <a:r>
              <a:rPr lang="en-US" dirty="0"/>
              <a:t>-base-uncased')</a:t>
            </a:r>
          </a:p>
          <a:p>
            <a:r>
              <a:rPr lang="en-US" dirty="0"/>
              <a:t>model = </a:t>
            </a:r>
            <a:r>
              <a:rPr lang="en-US" dirty="0" err="1"/>
              <a:t>BertForSequenceClassification.from_pretrained</a:t>
            </a:r>
            <a:r>
              <a:rPr lang="en-US" dirty="0"/>
              <a:t>('</a:t>
            </a:r>
            <a:r>
              <a:rPr lang="en-US" dirty="0" err="1"/>
              <a:t>bert</a:t>
            </a:r>
            <a:r>
              <a:rPr lang="en-US" dirty="0"/>
              <a:t>-base-uncased', </a:t>
            </a:r>
            <a:r>
              <a:rPr lang="en-US" dirty="0" err="1"/>
              <a:t>num_labels</a:t>
            </a:r>
            <a:r>
              <a:rPr lang="en-US" dirty="0"/>
              <a:t>=2)</a:t>
            </a:r>
          </a:p>
        </p:txBody>
      </p:sp>
      <p:sp>
        <p:nvSpPr>
          <p:cNvPr id="9" name="TextBox 8">
            <a:extLst>
              <a:ext uri="{FF2B5EF4-FFF2-40B4-BE49-F238E27FC236}">
                <a16:creationId xmlns:a16="http://schemas.microsoft.com/office/drawing/2014/main" id="{143D96B8-FECD-44A2-056D-95964CAFB837}"/>
              </a:ext>
            </a:extLst>
          </p:cNvPr>
          <p:cNvSpPr txBox="1"/>
          <p:nvPr/>
        </p:nvSpPr>
        <p:spPr>
          <a:xfrm>
            <a:off x="749300" y="2263973"/>
            <a:ext cx="4648200" cy="307777"/>
          </a:xfrm>
          <a:prstGeom prst="rect">
            <a:avLst/>
          </a:prstGeom>
          <a:noFill/>
        </p:spPr>
        <p:txBody>
          <a:bodyPr wrap="square">
            <a:spAutoFit/>
          </a:bodyPr>
          <a:lstStyle/>
          <a:p>
            <a:r>
              <a:rPr lang="en-GB" dirty="0"/>
              <a:t>Example: Tokenizing and Getting Output</a:t>
            </a:r>
            <a:endParaRPr lang="en-US" dirty="0"/>
          </a:p>
        </p:txBody>
      </p:sp>
      <p:sp>
        <p:nvSpPr>
          <p:cNvPr id="11" name="TextBox 10">
            <a:extLst>
              <a:ext uri="{FF2B5EF4-FFF2-40B4-BE49-F238E27FC236}">
                <a16:creationId xmlns:a16="http://schemas.microsoft.com/office/drawing/2014/main" id="{53144E43-CDFE-45A8-8C97-D6328B2C5366}"/>
              </a:ext>
            </a:extLst>
          </p:cNvPr>
          <p:cNvSpPr txBox="1"/>
          <p:nvPr/>
        </p:nvSpPr>
        <p:spPr>
          <a:xfrm>
            <a:off x="891721" y="2718149"/>
            <a:ext cx="6725557" cy="1169551"/>
          </a:xfrm>
          <a:prstGeom prst="rect">
            <a:avLst/>
          </a:prstGeom>
          <a:solidFill>
            <a:schemeClr val="accent6">
              <a:lumMod val="20000"/>
              <a:lumOff val="80000"/>
            </a:schemeClr>
          </a:solidFill>
        </p:spPr>
        <p:txBody>
          <a:bodyPr wrap="square">
            <a:spAutoFit/>
          </a:bodyPr>
          <a:lstStyle/>
          <a:p>
            <a:r>
              <a:rPr lang="en-US" dirty="0"/>
              <a:t>import torch</a:t>
            </a:r>
          </a:p>
          <a:p>
            <a:r>
              <a:rPr lang="en-US" dirty="0"/>
              <a:t>inputs = tokenizer("This is a great day!", </a:t>
            </a:r>
            <a:r>
              <a:rPr lang="en-US" dirty="0" err="1"/>
              <a:t>return_tensors</a:t>
            </a:r>
            <a:r>
              <a:rPr lang="en-US" dirty="0"/>
              <a:t>="pt")</a:t>
            </a:r>
          </a:p>
          <a:p>
            <a:r>
              <a:rPr lang="en-US" dirty="0"/>
              <a:t>outputs = model(**inputs)</a:t>
            </a:r>
          </a:p>
          <a:p>
            <a:r>
              <a:rPr lang="en-US" dirty="0"/>
              <a:t># Output logits (raw classification scores)</a:t>
            </a:r>
          </a:p>
          <a:p>
            <a:r>
              <a:rPr lang="en-US" dirty="0"/>
              <a:t>print(</a:t>
            </a:r>
            <a:r>
              <a:rPr lang="en-US" dirty="0" err="1"/>
              <a:t>outputs.logits</a:t>
            </a:r>
            <a:r>
              <a:rPr lang="en-US" dirty="0"/>
              <a:t>)</a:t>
            </a:r>
          </a:p>
        </p:txBody>
      </p:sp>
    </p:spTree>
    <p:extLst>
      <p:ext uri="{BB962C8B-B14F-4D97-AF65-F5344CB8AC3E}">
        <p14:creationId xmlns:p14="http://schemas.microsoft.com/office/powerpoint/2010/main" val="231783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23C476E-5E7B-8FFB-12D8-28786E98E6B7}"/>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63BB843-312A-7E2A-CAB9-81D266DF3E5C}"/>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Autofit/>
          </a:bodyPr>
          <a:lstStyle/>
          <a:p>
            <a:pPr>
              <a:lnSpc>
                <a:spcPts val="2250"/>
              </a:lnSpc>
              <a:buNone/>
            </a:pPr>
            <a:r>
              <a:rPr lang="en-GB" sz="2400" i="0" dirty="0">
                <a:solidFill>
                  <a:srgbClr val="7030A0"/>
                </a:solidFill>
                <a:effectLst/>
                <a:latin typeface="source-serif-pro"/>
              </a:rPr>
              <a:t>Transfer Learning to classify images of dogs and cats.</a:t>
            </a:r>
            <a:br>
              <a:rPr lang="en-GB" sz="2400" i="0" dirty="0">
                <a:solidFill>
                  <a:srgbClr val="7030A0"/>
                </a:solidFill>
                <a:effectLst/>
                <a:latin typeface="source-serif-pro"/>
              </a:rPr>
            </a:br>
            <a:br>
              <a:rPr lang="en-GB" sz="2400" dirty="0">
                <a:solidFill>
                  <a:srgbClr val="7030A0"/>
                </a:solidFill>
              </a:rPr>
            </a:br>
            <a:br>
              <a:rPr lang="en-GB" sz="2400" i="0" u="none" strike="noStrike" dirty="0">
                <a:solidFill>
                  <a:srgbClr val="7030A0"/>
                </a:solidFill>
                <a:effectLst/>
              </a:rPr>
            </a:br>
            <a:br>
              <a:rPr lang="en-GB" sz="2400" i="0" u="none" strike="noStrike" dirty="0">
                <a:solidFill>
                  <a:srgbClr val="7030A0"/>
                </a:solidFill>
                <a:effectLst/>
              </a:rPr>
            </a:br>
            <a:br>
              <a:rPr lang="en-GB" sz="2400" i="0" u="none" strike="noStrike" dirty="0">
                <a:solidFill>
                  <a:srgbClr val="7030A0"/>
                </a:solidFill>
                <a:effectLst/>
              </a:rPr>
            </a:br>
            <a:br>
              <a:rPr lang="en-GB" sz="2400" i="0" u="none" strike="noStrike" dirty="0">
                <a:solidFill>
                  <a:srgbClr val="7030A0"/>
                </a:solidFill>
                <a:effectLst/>
              </a:rPr>
            </a:br>
            <a:br>
              <a:rPr lang="en-GB" sz="2400" i="0" u="none" strike="noStrike" dirty="0">
                <a:solidFill>
                  <a:srgbClr val="7030A0"/>
                </a:solidFill>
                <a:effectLst/>
              </a:rPr>
            </a:br>
            <a:r>
              <a:rPr lang="en-GB" sz="2400" i="0" u="none" strike="noStrike" dirty="0">
                <a:solidFill>
                  <a:srgbClr val="7030A0"/>
                </a:solidFill>
                <a:effectLst/>
              </a:rPr>
              <a:t> </a:t>
            </a:r>
            <a:r>
              <a:rPr lang="en-GB" sz="1600" b="0" i="0" u="none" strike="noStrike" dirty="0">
                <a:solidFill>
                  <a:schemeClr val="tx1"/>
                </a:solidFill>
                <a:effectLst/>
                <a:latin typeface="source-serif-pro"/>
              </a:rPr>
              <a:t>We’ll use </a:t>
            </a:r>
            <a:r>
              <a:rPr lang="en-GB" sz="1600" b="0" i="0" u="sng" dirty="0">
                <a:solidFill>
                  <a:schemeClr val="tx1"/>
                </a:solidFill>
                <a:effectLst/>
                <a:latin typeface="source-serif-pro"/>
                <a:hlinkClick r:id="rId3">
                  <a:extLst>
                    <a:ext uri="{A12FA001-AC4F-418D-AE19-62706E023703}">
                      <ahyp:hlinkClr xmlns:ahyp="http://schemas.microsoft.com/office/drawing/2018/hyperlinkcolor" val="tx"/>
                    </a:ext>
                  </a:extLst>
                </a:hlinkClick>
              </a:rPr>
              <a:t>VGG16</a:t>
            </a:r>
            <a:r>
              <a:rPr lang="en-GB" sz="1600" b="0" i="0" u="none" strike="noStrike" dirty="0">
                <a:solidFill>
                  <a:schemeClr val="tx1"/>
                </a:solidFill>
                <a:effectLst/>
                <a:latin typeface="source-serif-pro"/>
              </a:rPr>
              <a:t>, </a:t>
            </a:r>
            <a:r>
              <a:rPr lang="en-GB" sz="1600" b="0" i="0" u="none" strike="noStrike" dirty="0">
                <a:solidFill>
                  <a:srgbClr val="242424"/>
                </a:solidFill>
                <a:effectLst/>
                <a:latin typeface="source-serif-pro"/>
              </a:rPr>
              <a:t>pre-trained on the ImageNet dataset.</a:t>
            </a:r>
            <a:br>
              <a:rPr lang="en-GB" sz="2400" i="0" u="none" strike="noStrike" dirty="0">
                <a:solidFill>
                  <a:srgbClr val="7030A0"/>
                </a:solidFill>
                <a:effectLs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19EBE71-FF9A-7351-16EB-EEDED808E12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58879337-5FF4-9C2A-3F38-FC6E88633A3A}"/>
              </a:ext>
            </a:extLst>
          </p:cNvPr>
          <p:cNvSpPr txBox="1"/>
          <p:nvPr/>
        </p:nvSpPr>
        <p:spPr>
          <a:xfrm>
            <a:off x="415471" y="627900"/>
            <a:ext cx="5789386" cy="1384995"/>
          </a:xfrm>
          <a:prstGeom prst="rect">
            <a:avLst/>
          </a:prstGeom>
          <a:solidFill>
            <a:schemeClr val="accent6">
              <a:lumMod val="20000"/>
              <a:lumOff val="80000"/>
            </a:schemeClr>
          </a:solidFill>
        </p:spPr>
        <p:txBody>
          <a:bodyPr wrap="square">
            <a:spAutoFit/>
          </a:bodyPr>
          <a:lstStyle/>
          <a:p>
            <a:r>
              <a:rPr lang="en-GB" b="0" i="0" u="none" strike="noStrike" dirty="0">
                <a:solidFill>
                  <a:srgbClr val="007400"/>
                </a:solidFill>
                <a:effectLst/>
                <a:latin typeface="source-code-pro"/>
              </a:rPr>
              <a:t># Import Libraries</a:t>
            </a:r>
            <a:br>
              <a:rPr lang="en-GB" dirty="0"/>
            </a:br>
            <a:r>
              <a:rPr lang="en-GB" b="0" i="0" u="none" strike="noStrike" dirty="0">
                <a:solidFill>
                  <a:srgbClr val="AA0D91"/>
                </a:solidFill>
                <a:effectLst/>
                <a:latin typeface="source-code-pro"/>
              </a:rPr>
              <a:t>import</a:t>
            </a:r>
            <a:r>
              <a:rPr lang="en-GB" b="0" i="0" u="none" strike="noStrike" dirty="0">
                <a:solidFill>
                  <a:srgbClr val="242424"/>
                </a:solidFill>
                <a:effectLst/>
                <a:latin typeface="source-code-pro"/>
              </a:rPr>
              <a:t> </a:t>
            </a:r>
            <a:r>
              <a:rPr lang="en-GB" b="0" i="0" u="none" strike="noStrike" dirty="0" err="1">
                <a:solidFill>
                  <a:srgbClr val="242424"/>
                </a:solidFill>
                <a:effectLst/>
                <a:latin typeface="source-code-pro"/>
              </a:rPr>
              <a:t>tensorflow</a:t>
            </a:r>
            <a:r>
              <a:rPr lang="en-GB" b="0" i="0" u="none" strike="noStrike" dirty="0">
                <a:solidFill>
                  <a:srgbClr val="242424"/>
                </a:solidFill>
                <a:effectLst/>
                <a:latin typeface="source-code-pro"/>
              </a:rPr>
              <a:t> </a:t>
            </a:r>
            <a:r>
              <a:rPr lang="en-GB" b="0" i="0" u="none" strike="noStrike" dirty="0">
                <a:solidFill>
                  <a:srgbClr val="AA0D91"/>
                </a:solidFill>
                <a:effectLst/>
                <a:latin typeface="source-code-pro"/>
              </a:rPr>
              <a:t>as</a:t>
            </a:r>
            <a:r>
              <a:rPr lang="en-GB" b="0" i="0" u="none" strike="noStrike" dirty="0">
                <a:solidFill>
                  <a:srgbClr val="242424"/>
                </a:solidFill>
                <a:effectLst/>
                <a:latin typeface="source-code-pro"/>
              </a:rPr>
              <a:t> </a:t>
            </a:r>
            <a:r>
              <a:rPr lang="en-GB" b="0" i="0" u="none" strike="noStrike" dirty="0" err="1">
                <a:solidFill>
                  <a:srgbClr val="242424"/>
                </a:solidFill>
                <a:effectLst/>
                <a:latin typeface="source-code-pro"/>
              </a:rPr>
              <a:t>tf</a:t>
            </a:r>
            <a:br>
              <a:rPr lang="en-GB" dirty="0"/>
            </a:br>
            <a:r>
              <a:rPr lang="en-GB" b="0" i="0" u="none" strike="noStrike" dirty="0">
                <a:solidFill>
                  <a:srgbClr val="AA0D91"/>
                </a:solidFill>
                <a:effectLst/>
                <a:latin typeface="source-code-pro"/>
              </a:rPr>
              <a:t>from</a:t>
            </a:r>
            <a:r>
              <a:rPr lang="en-GB" b="0" i="0" u="none" strike="noStrike" dirty="0">
                <a:solidFill>
                  <a:srgbClr val="242424"/>
                </a:solidFill>
                <a:effectLst/>
                <a:latin typeface="source-code-pro"/>
              </a:rPr>
              <a:t> </a:t>
            </a:r>
            <a:r>
              <a:rPr lang="en-GB" b="0" i="0" u="none" strike="noStrike" dirty="0" err="1">
                <a:solidFill>
                  <a:srgbClr val="242424"/>
                </a:solidFill>
                <a:effectLst/>
                <a:latin typeface="source-code-pro"/>
              </a:rPr>
              <a:t>keras.applications</a:t>
            </a:r>
            <a:r>
              <a:rPr lang="en-GB" b="0" i="0" u="none" strike="noStrike" dirty="0">
                <a:solidFill>
                  <a:srgbClr val="242424"/>
                </a:solidFill>
                <a:effectLst/>
                <a:latin typeface="source-code-pro"/>
              </a:rPr>
              <a:t> </a:t>
            </a:r>
            <a:r>
              <a:rPr lang="en-GB" b="0" i="0" u="none" strike="noStrike" dirty="0">
                <a:solidFill>
                  <a:srgbClr val="AA0D91"/>
                </a:solidFill>
                <a:effectLst/>
                <a:latin typeface="source-code-pro"/>
              </a:rPr>
              <a:t>import</a:t>
            </a:r>
            <a:r>
              <a:rPr lang="en-GB" b="0" i="0" u="none" strike="noStrike" dirty="0">
                <a:solidFill>
                  <a:srgbClr val="242424"/>
                </a:solidFill>
                <a:effectLst/>
                <a:latin typeface="source-code-pro"/>
              </a:rPr>
              <a:t> VGG16</a:t>
            </a:r>
            <a:br>
              <a:rPr lang="en-GB" dirty="0"/>
            </a:br>
            <a:r>
              <a:rPr lang="en-GB" b="0" i="0" u="none" strike="noStrike" dirty="0">
                <a:solidFill>
                  <a:srgbClr val="AA0D91"/>
                </a:solidFill>
                <a:effectLst/>
                <a:latin typeface="source-code-pro"/>
              </a:rPr>
              <a:t>from</a:t>
            </a:r>
            <a:r>
              <a:rPr lang="en-GB" b="0" i="0" u="none" strike="noStrike" dirty="0">
                <a:solidFill>
                  <a:srgbClr val="242424"/>
                </a:solidFill>
                <a:effectLst/>
                <a:latin typeface="source-code-pro"/>
              </a:rPr>
              <a:t> </a:t>
            </a:r>
            <a:r>
              <a:rPr lang="en-GB" b="0" i="0" u="none" strike="noStrike" dirty="0" err="1">
                <a:solidFill>
                  <a:srgbClr val="242424"/>
                </a:solidFill>
                <a:effectLst/>
                <a:latin typeface="source-code-pro"/>
              </a:rPr>
              <a:t>keras.models</a:t>
            </a:r>
            <a:r>
              <a:rPr lang="en-GB" b="0" i="0" u="none" strike="noStrike" dirty="0">
                <a:solidFill>
                  <a:srgbClr val="242424"/>
                </a:solidFill>
                <a:effectLst/>
                <a:latin typeface="source-code-pro"/>
              </a:rPr>
              <a:t> </a:t>
            </a:r>
            <a:r>
              <a:rPr lang="en-GB" b="0" i="0" u="none" strike="noStrike" dirty="0">
                <a:solidFill>
                  <a:srgbClr val="AA0D91"/>
                </a:solidFill>
                <a:effectLst/>
                <a:latin typeface="source-code-pro"/>
              </a:rPr>
              <a:t>import</a:t>
            </a:r>
            <a:r>
              <a:rPr lang="en-GB" b="0" i="0" u="none" strike="noStrike" dirty="0">
                <a:solidFill>
                  <a:srgbClr val="242424"/>
                </a:solidFill>
                <a:effectLst/>
                <a:latin typeface="source-code-pro"/>
              </a:rPr>
              <a:t> Model</a:t>
            </a:r>
            <a:br>
              <a:rPr lang="en-GB" dirty="0"/>
            </a:br>
            <a:r>
              <a:rPr lang="en-GB" b="0" i="0" u="none" strike="noStrike" dirty="0">
                <a:solidFill>
                  <a:srgbClr val="AA0D91"/>
                </a:solidFill>
                <a:effectLst/>
                <a:latin typeface="source-code-pro"/>
              </a:rPr>
              <a:t>from</a:t>
            </a:r>
            <a:r>
              <a:rPr lang="en-GB" b="0" i="0" u="none" strike="noStrike" dirty="0">
                <a:solidFill>
                  <a:srgbClr val="242424"/>
                </a:solidFill>
                <a:effectLst/>
                <a:latin typeface="source-code-pro"/>
              </a:rPr>
              <a:t> </a:t>
            </a:r>
            <a:r>
              <a:rPr lang="en-GB" b="0" i="0" u="none" strike="noStrike" dirty="0" err="1">
                <a:solidFill>
                  <a:srgbClr val="242424"/>
                </a:solidFill>
                <a:effectLst/>
                <a:latin typeface="source-code-pro"/>
              </a:rPr>
              <a:t>keras.layers</a:t>
            </a:r>
            <a:r>
              <a:rPr lang="en-GB" b="0" i="0" u="none" strike="noStrike" dirty="0">
                <a:solidFill>
                  <a:srgbClr val="242424"/>
                </a:solidFill>
                <a:effectLst/>
                <a:latin typeface="source-code-pro"/>
              </a:rPr>
              <a:t> </a:t>
            </a:r>
            <a:r>
              <a:rPr lang="en-GB" b="0" i="0" u="none" strike="noStrike" dirty="0">
                <a:solidFill>
                  <a:srgbClr val="AA0D91"/>
                </a:solidFill>
                <a:effectLst/>
                <a:latin typeface="source-code-pro"/>
              </a:rPr>
              <a:t>import</a:t>
            </a:r>
            <a:r>
              <a:rPr lang="en-GB" b="0" i="0" u="none" strike="noStrike" dirty="0">
                <a:solidFill>
                  <a:srgbClr val="242424"/>
                </a:solidFill>
                <a:effectLst/>
                <a:latin typeface="source-code-pro"/>
              </a:rPr>
              <a:t> Dense, Flatten</a:t>
            </a:r>
            <a:br>
              <a:rPr lang="en-GB" dirty="0"/>
            </a:br>
            <a:r>
              <a:rPr lang="en-GB" b="0" i="0" u="none" strike="noStrike" dirty="0">
                <a:solidFill>
                  <a:srgbClr val="AA0D91"/>
                </a:solidFill>
                <a:effectLst/>
                <a:latin typeface="source-code-pro"/>
              </a:rPr>
              <a:t>from</a:t>
            </a:r>
            <a:r>
              <a:rPr lang="en-GB" b="0" i="0" u="none" strike="noStrike" dirty="0">
                <a:solidFill>
                  <a:srgbClr val="242424"/>
                </a:solidFill>
                <a:effectLst/>
                <a:latin typeface="source-code-pro"/>
              </a:rPr>
              <a:t> </a:t>
            </a:r>
            <a:r>
              <a:rPr lang="en-GB" b="0" i="0" u="none" strike="noStrike" dirty="0" err="1">
                <a:solidFill>
                  <a:srgbClr val="242424"/>
                </a:solidFill>
                <a:effectLst/>
                <a:latin typeface="source-code-pro"/>
              </a:rPr>
              <a:t>tensorflow.keras.preprocessing.image</a:t>
            </a:r>
            <a:r>
              <a:rPr lang="en-GB" b="0" i="0" u="none" strike="noStrike" dirty="0">
                <a:solidFill>
                  <a:srgbClr val="242424"/>
                </a:solidFill>
                <a:effectLst/>
                <a:latin typeface="source-code-pro"/>
              </a:rPr>
              <a:t> </a:t>
            </a:r>
            <a:r>
              <a:rPr lang="en-GB" b="0" i="0" u="none" strike="noStrike" dirty="0">
                <a:solidFill>
                  <a:srgbClr val="AA0D91"/>
                </a:solidFill>
                <a:effectLst/>
                <a:latin typeface="source-code-pro"/>
              </a:rPr>
              <a:t>import</a:t>
            </a:r>
            <a:r>
              <a:rPr lang="en-GB" b="0" i="0" u="none" strike="noStrike" dirty="0">
                <a:solidFill>
                  <a:srgbClr val="242424"/>
                </a:solidFill>
                <a:effectLst/>
                <a:latin typeface="source-code-pro"/>
              </a:rPr>
              <a:t> </a:t>
            </a:r>
            <a:r>
              <a:rPr lang="en-GB" b="0" i="0" u="none" strike="noStrike" dirty="0" err="1">
                <a:solidFill>
                  <a:srgbClr val="242424"/>
                </a:solidFill>
                <a:effectLst/>
                <a:latin typeface="source-code-pro"/>
              </a:rPr>
              <a:t>ImageDataGenerator</a:t>
            </a:r>
            <a:endParaRPr lang="en-US" dirty="0"/>
          </a:p>
        </p:txBody>
      </p:sp>
      <p:sp>
        <p:nvSpPr>
          <p:cNvPr id="7" name="TextBox 6">
            <a:extLst>
              <a:ext uri="{FF2B5EF4-FFF2-40B4-BE49-F238E27FC236}">
                <a16:creationId xmlns:a16="http://schemas.microsoft.com/office/drawing/2014/main" id="{B1351213-7D2D-292A-B21A-EBEA89019565}"/>
              </a:ext>
            </a:extLst>
          </p:cNvPr>
          <p:cNvSpPr txBox="1"/>
          <p:nvPr/>
        </p:nvSpPr>
        <p:spPr>
          <a:xfrm>
            <a:off x="415471" y="2517648"/>
            <a:ext cx="7023100" cy="738664"/>
          </a:xfrm>
          <a:prstGeom prst="rect">
            <a:avLst/>
          </a:prstGeom>
          <a:solidFill>
            <a:schemeClr val="accent6">
              <a:lumMod val="20000"/>
              <a:lumOff val="80000"/>
            </a:schemeClr>
          </a:solidFill>
        </p:spPr>
        <p:txBody>
          <a:bodyPr wrap="square">
            <a:spAutoFit/>
          </a:bodyPr>
          <a:lstStyle/>
          <a:p>
            <a:r>
              <a:rPr lang="en-GB" b="0" i="0" u="none" strike="noStrike" dirty="0">
                <a:solidFill>
                  <a:srgbClr val="007400"/>
                </a:solidFill>
                <a:effectLst/>
                <a:latin typeface="source-code-pro"/>
              </a:rPr>
              <a:t># Load the pre-trained model</a:t>
            </a:r>
            <a:br>
              <a:rPr lang="en-GB" dirty="0"/>
            </a:br>
            <a:r>
              <a:rPr lang="en-GB" b="0" i="0" u="none" strike="noStrike" dirty="0" err="1">
                <a:solidFill>
                  <a:srgbClr val="242424"/>
                </a:solidFill>
                <a:effectLst/>
                <a:latin typeface="source-code-pro"/>
              </a:rPr>
              <a:t>base_model</a:t>
            </a:r>
            <a:r>
              <a:rPr lang="en-GB" b="0" i="0" u="none" strike="noStrike" dirty="0">
                <a:solidFill>
                  <a:srgbClr val="242424"/>
                </a:solidFill>
                <a:effectLst/>
                <a:latin typeface="source-code-pro"/>
              </a:rPr>
              <a:t> = VGG16(weights=</a:t>
            </a:r>
            <a:r>
              <a:rPr lang="en-GB" b="0" i="0" u="none" strike="noStrike" dirty="0">
                <a:solidFill>
                  <a:srgbClr val="C41A16"/>
                </a:solidFill>
                <a:effectLst/>
                <a:latin typeface="source-code-pro"/>
              </a:rPr>
              <a:t>'</a:t>
            </a:r>
            <a:r>
              <a:rPr lang="en-GB" b="0" i="0" u="none" strike="noStrike" dirty="0" err="1">
                <a:solidFill>
                  <a:srgbClr val="C41A16"/>
                </a:solidFill>
                <a:effectLst/>
                <a:latin typeface="source-code-pro"/>
              </a:rPr>
              <a:t>imagenet</a:t>
            </a:r>
            <a:r>
              <a:rPr lang="en-GB" b="0" i="0" u="none" strike="noStrike" dirty="0">
                <a:solidFill>
                  <a:srgbClr val="C41A16"/>
                </a:solidFill>
                <a:effectLst/>
                <a:latin typeface="source-code-pro"/>
              </a:rPr>
              <a:t>'</a:t>
            </a:r>
            <a:r>
              <a:rPr lang="en-GB" b="0" i="0" u="none" strike="noStrike" dirty="0">
                <a:solidFill>
                  <a:srgbClr val="242424"/>
                </a:solidFill>
                <a:effectLst/>
                <a:latin typeface="source-code-pro"/>
              </a:rPr>
              <a:t>, </a:t>
            </a:r>
            <a:r>
              <a:rPr lang="en-GB" b="0" i="0" u="none" strike="noStrike" dirty="0" err="1">
                <a:solidFill>
                  <a:srgbClr val="242424"/>
                </a:solidFill>
                <a:effectLst/>
                <a:latin typeface="source-code-pro"/>
              </a:rPr>
              <a:t>include_top</a:t>
            </a:r>
            <a:r>
              <a:rPr lang="en-GB" b="0" i="0" u="none" strike="noStrike" dirty="0">
                <a:solidFill>
                  <a:srgbClr val="242424"/>
                </a:solidFill>
                <a:effectLst/>
                <a:latin typeface="source-code-pro"/>
              </a:rPr>
              <a:t>=</a:t>
            </a:r>
            <a:r>
              <a:rPr lang="en-GB" b="0" i="0" u="none" strike="noStrike" dirty="0">
                <a:solidFill>
                  <a:srgbClr val="AA0D91"/>
                </a:solidFill>
                <a:effectLst/>
                <a:latin typeface="source-code-pro"/>
              </a:rPr>
              <a:t>False</a:t>
            </a:r>
            <a:r>
              <a:rPr lang="en-GB" b="0" i="0" u="none" strike="noStrike" dirty="0">
                <a:solidFill>
                  <a:srgbClr val="242424"/>
                </a:solidFill>
                <a:effectLst/>
                <a:latin typeface="source-code-pro"/>
              </a:rPr>
              <a:t>, </a:t>
            </a:r>
            <a:r>
              <a:rPr lang="en-GB" b="0" i="0" u="none" strike="noStrike" dirty="0" err="1">
                <a:solidFill>
                  <a:srgbClr val="242424"/>
                </a:solidFill>
                <a:effectLst/>
                <a:latin typeface="source-code-pro"/>
              </a:rPr>
              <a:t>input_shape</a:t>
            </a:r>
            <a:r>
              <a:rPr lang="en-GB" b="0" i="0" u="none" strike="noStrike" dirty="0">
                <a:solidFill>
                  <a:srgbClr val="242424"/>
                </a:solidFill>
                <a:effectLst/>
                <a:latin typeface="source-code-pro"/>
              </a:rPr>
              <a:t>=(</a:t>
            </a:r>
            <a:r>
              <a:rPr lang="en-GB" b="0" i="0" u="none" strike="noStrike" dirty="0">
                <a:solidFill>
                  <a:srgbClr val="1C00CF"/>
                </a:solidFill>
                <a:effectLst/>
                <a:latin typeface="source-code-pro"/>
              </a:rPr>
              <a:t>224</a:t>
            </a:r>
            <a:r>
              <a:rPr lang="en-GB" b="0" i="0" u="none" strike="noStrike" dirty="0">
                <a:solidFill>
                  <a:srgbClr val="242424"/>
                </a:solidFill>
                <a:effectLst/>
                <a:latin typeface="source-code-pro"/>
              </a:rPr>
              <a:t>, </a:t>
            </a:r>
            <a:r>
              <a:rPr lang="en-GB" b="0" i="0" u="none" strike="noStrike" dirty="0">
                <a:solidFill>
                  <a:srgbClr val="1C00CF"/>
                </a:solidFill>
                <a:effectLst/>
                <a:latin typeface="source-code-pro"/>
              </a:rPr>
              <a:t>224</a:t>
            </a:r>
            <a:r>
              <a:rPr lang="en-GB" b="0" i="0" u="none" strike="noStrike" dirty="0">
                <a:solidFill>
                  <a:srgbClr val="242424"/>
                </a:solidFill>
                <a:effectLst/>
                <a:latin typeface="source-code-pro"/>
              </a:rPr>
              <a:t>, </a:t>
            </a:r>
            <a:r>
              <a:rPr lang="en-GB" b="0" i="0" u="none" strike="noStrike" dirty="0">
                <a:solidFill>
                  <a:srgbClr val="1C00CF"/>
                </a:solidFill>
                <a:effectLst/>
                <a:latin typeface="source-code-pro"/>
              </a:rPr>
              <a:t>3</a:t>
            </a:r>
            <a:r>
              <a:rPr lang="en-GB" b="0" i="0" u="none" strike="noStrike" dirty="0">
                <a:solidFill>
                  <a:srgbClr val="242424"/>
                </a:solidFill>
                <a:effectLst/>
                <a:latin typeface="source-code-pro"/>
              </a:rPr>
              <a:t>))</a:t>
            </a:r>
            <a:br>
              <a:rPr lang="en-GB" dirty="0"/>
            </a:br>
            <a:r>
              <a:rPr lang="en-GB" b="0" i="0" u="none" strike="noStrike" dirty="0" err="1">
                <a:solidFill>
                  <a:srgbClr val="242424"/>
                </a:solidFill>
                <a:effectLst/>
                <a:latin typeface="source-code-pro"/>
              </a:rPr>
              <a:t>base_model.trainable</a:t>
            </a:r>
            <a:r>
              <a:rPr lang="en-GB" b="0" i="0" u="none" strike="noStrike" dirty="0">
                <a:solidFill>
                  <a:srgbClr val="242424"/>
                </a:solidFill>
                <a:effectLst/>
                <a:latin typeface="source-code-pro"/>
              </a:rPr>
              <a:t> = </a:t>
            </a:r>
            <a:r>
              <a:rPr lang="en-GB" b="0" i="0" u="none" strike="noStrike" dirty="0">
                <a:solidFill>
                  <a:srgbClr val="AA0D91"/>
                </a:solidFill>
                <a:effectLst/>
                <a:latin typeface="source-code-pro"/>
              </a:rPr>
              <a:t>False</a:t>
            </a:r>
            <a:r>
              <a:rPr lang="en-GB" b="0" i="0" u="none" strike="noStrike" dirty="0">
                <a:solidFill>
                  <a:srgbClr val="242424"/>
                </a:solidFill>
                <a:effectLst/>
                <a:latin typeface="source-code-pro"/>
              </a:rPr>
              <a:t> </a:t>
            </a:r>
            <a:r>
              <a:rPr lang="en-GB" b="0" i="0" u="none" strike="noStrike" dirty="0">
                <a:solidFill>
                  <a:srgbClr val="007400"/>
                </a:solidFill>
                <a:effectLst/>
                <a:latin typeface="source-code-pro"/>
              </a:rPr>
              <a:t># Freeze all layers</a:t>
            </a:r>
            <a:endParaRPr lang="en-US" dirty="0"/>
          </a:p>
        </p:txBody>
      </p:sp>
      <p:sp>
        <p:nvSpPr>
          <p:cNvPr id="9" name="TextBox 8">
            <a:extLst>
              <a:ext uri="{FF2B5EF4-FFF2-40B4-BE49-F238E27FC236}">
                <a16:creationId xmlns:a16="http://schemas.microsoft.com/office/drawing/2014/main" id="{B3C1C0DA-D6F5-CCF3-B1A9-228C9EEBE81D}"/>
              </a:ext>
            </a:extLst>
          </p:cNvPr>
          <p:cNvSpPr txBox="1"/>
          <p:nvPr/>
        </p:nvSpPr>
        <p:spPr>
          <a:xfrm>
            <a:off x="284775" y="3311658"/>
            <a:ext cx="8583387" cy="338554"/>
          </a:xfrm>
          <a:prstGeom prst="rect">
            <a:avLst/>
          </a:prstGeom>
          <a:noFill/>
        </p:spPr>
        <p:txBody>
          <a:bodyPr wrap="square">
            <a:spAutoFit/>
          </a:bodyPr>
          <a:lstStyle/>
          <a:p>
            <a:r>
              <a:rPr lang="en-GB" sz="1600" b="0" i="0" u="none" strike="noStrike" dirty="0">
                <a:solidFill>
                  <a:srgbClr val="242424"/>
                </a:solidFill>
                <a:effectLst/>
                <a:latin typeface="source-serif-pro"/>
              </a:rPr>
              <a:t>Here, </a:t>
            </a:r>
            <a:r>
              <a:rPr lang="en-GB" sz="1600" dirty="0" err="1"/>
              <a:t>include_top</a:t>
            </a:r>
            <a:r>
              <a:rPr lang="en-GB" sz="1600" dirty="0"/>
              <a:t>=False</a:t>
            </a:r>
            <a:r>
              <a:rPr lang="en-GB" sz="1600" b="0" i="0" u="none" strike="noStrike" dirty="0">
                <a:solidFill>
                  <a:srgbClr val="242424"/>
                </a:solidFill>
                <a:effectLst/>
                <a:latin typeface="source-serif-pro"/>
              </a:rPr>
              <a:t> removes the fully connected layers, allowing us to customize the output.</a:t>
            </a:r>
            <a:endParaRPr lang="en-US" sz="1600" dirty="0"/>
          </a:p>
        </p:txBody>
      </p:sp>
      <p:sp>
        <p:nvSpPr>
          <p:cNvPr id="11" name="TextBox 10">
            <a:extLst>
              <a:ext uri="{FF2B5EF4-FFF2-40B4-BE49-F238E27FC236}">
                <a16:creationId xmlns:a16="http://schemas.microsoft.com/office/drawing/2014/main" id="{6D52EDF4-DFD7-D72A-E5C4-3161E14C7CA3}"/>
              </a:ext>
            </a:extLst>
          </p:cNvPr>
          <p:cNvSpPr txBox="1"/>
          <p:nvPr/>
        </p:nvSpPr>
        <p:spPr>
          <a:xfrm>
            <a:off x="415470" y="3705559"/>
            <a:ext cx="5121729" cy="1169551"/>
          </a:xfrm>
          <a:prstGeom prst="rect">
            <a:avLst/>
          </a:prstGeom>
          <a:solidFill>
            <a:schemeClr val="accent6">
              <a:lumMod val="20000"/>
              <a:lumOff val="80000"/>
            </a:schemeClr>
          </a:solidFill>
        </p:spPr>
        <p:txBody>
          <a:bodyPr wrap="square">
            <a:spAutoFit/>
          </a:bodyPr>
          <a:lstStyle/>
          <a:p>
            <a:r>
              <a:rPr lang="en-GB" b="0" i="0" u="none" strike="noStrike" dirty="0">
                <a:solidFill>
                  <a:srgbClr val="007400"/>
                </a:solidFill>
                <a:effectLst/>
                <a:latin typeface="source-code-pro"/>
              </a:rPr>
              <a:t># Add custom layers</a:t>
            </a:r>
            <a:br>
              <a:rPr lang="en-GB" dirty="0"/>
            </a:br>
            <a:r>
              <a:rPr lang="en-GB" b="0" i="0" u="none" strike="noStrike" dirty="0">
                <a:solidFill>
                  <a:srgbClr val="242424"/>
                </a:solidFill>
                <a:effectLst/>
                <a:latin typeface="source-code-pro"/>
              </a:rPr>
              <a:t>x = Flatten()(</a:t>
            </a:r>
            <a:r>
              <a:rPr lang="en-GB" b="0" i="0" u="none" strike="noStrike" dirty="0" err="1">
                <a:solidFill>
                  <a:srgbClr val="242424"/>
                </a:solidFill>
                <a:effectLst/>
                <a:latin typeface="source-code-pro"/>
              </a:rPr>
              <a:t>base_model.output</a:t>
            </a:r>
            <a:r>
              <a:rPr lang="en-GB" b="0" i="0" u="none" strike="noStrike" dirty="0">
                <a:solidFill>
                  <a:srgbClr val="242424"/>
                </a:solidFill>
                <a:effectLst/>
                <a:latin typeface="source-code-pro"/>
              </a:rPr>
              <a:t>)</a:t>
            </a:r>
            <a:br>
              <a:rPr lang="en-GB" dirty="0"/>
            </a:br>
            <a:r>
              <a:rPr lang="en-GB" b="0" i="0" u="none" strike="noStrike" dirty="0">
                <a:solidFill>
                  <a:srgbClr val="242424"/>
                </a:solidFill>
                <a:effectLst/>
                <a:latin typeface="source-code-pro"/>
              </a:rPr>
              <a:t>x = Dense(</a:t>
            </a:r>
            <a:r>
              <a:rPr lang="en-GB" b="0" i="0" u="none" strike="noStrike" dirty="0">
                <a:solidFill>
                  <a:srgbClr val="1C00CF"/>
                </a:solidFill>
                <a:effectLst/>
                <a:latin typeface="source-code-pro"/>
              </a:rPr>
              <a:t>128</a:t>
            </a:r>
            <a:r>
              <a:rPr lang="en-GB" b="0" i="0" u="none" strike="noStrike" dirty="0">
                <a:solidFill>
                  <a:srgbClr val="242424"/>
                </a:solidFill>
                <a:effectLst/>
                <a:latin typeface="source-code-pro"/>
              </a:rPr>
              <a:t>, activation=</a:t>
            </a:r>
            <a:r>
              <a:rPr lang="en-GB" b="0" i="0" u="none" strike="noStrike" dirty="0">
                <a:solidFill>
                  <a:srgbClr val="C41A16"/>
                </a:solidFill>
                <a:effectLst/>
                <a:latin typeface="source-code-pro"/>
              </a:rPr>
              <a:t>'</a:t>
            </a:r>
            <a:r>
              <a:rPr lang="en-GB" b="0" i="0" u="none" strike="noStrike" dirty="0" err="1">
                <a:solidFill>
                  <a:srgbClr val="C41A16"/>
                </a:solidFill>
                <a:effectLst/>
                <a:latin typeface="source-code-pro"/>
              </a:rPr>
              <a:t>relu</a:t>
            </a:r>
            <a:r>
              <a:rPr lang="en-GB" b="0" i="0" u="none" strike="noStrike" dirty="0">
                <a:solidFill>
                  <a:srgbClr val="C41A16"/>
                </a:solidFill>
                <a:effectLst/>
                <a:latin typeface="source-code-pro"/>
              </a:rPr>
              <a:t>'</a:t>
            </a:r>
            <a:r>
              <a:rPr lang="en-GB" b="0" i="0" u="none" strike="noStrike" dirty="0">
                <a:solidFill>
                  <a:srgbClr val="242424"/>
                </a:solidFill>
                <a:effectLst/>
                <a:latin typeface="source-code-pro"/>
              </a:rPr>
              <a:t>)(x)</a:t>
            </a:r>
            <a:br>
              <a:rPr lang="en-GB" dirty="0"/>
            </a:br>
            <a:r>
              <a:rPr lang="en-GB" b="0" i="0" u="none" strike="noStrike" dirty="0">
                <a:solidFill>
                  <a:srgbClr val="242424"/>
                </a:solidFill>
                <a:effectLst/>
                <a:latin typeface="source-code-pro"/>
              </a:rPr>
              <a:t>x = Dense(</a:t>
            </a:r>
            <a:r>
              <a:rPr lang="en-GB" b="0" i="0" u="none" strike="noStrike" dirty="0">
                <a:solidFill>
                  <a:srgbClr val="1C00CF"/>
                </a:solidFill>
                <a:effectLst/>
                <a:latin typeface="source-code-pro"/>
              </a:rPr>
              <a:t>1</a:t>
            </a:r>
            <a:r>
              <a:rPr lang="en-GB" b="0" i="0" u="none" strike="noStrike" dirty="0">
                <a:solidFill>
                  <a:srgbClr val="242424"/>
                </a:solidFill>
                <a:effectLst/>
                <a:latin typeface="source-code-pro"/>
              </a:rPr>
              <a:t>, activation=</a:t>
            </a:r>
            <a:r>
              <a:rPr lang="en-GB" b="0" i="0" u="none" strike="noStrike" dirty="0">
                <a:solidFill>
                  <a:srgbClr val="C41A16"/>
                </a:solidFill>
                <a:effectLst/>
                <a:latin typeface="source-code-pro"/>
              </a:rPr>
              <a:t>'sigmoid'</a:t>
            </a:r>
            <a:r>
              <a:rPr lang="en-GB" b="0" i="0" u="none" strike="noStrike" dirty="0">
                <a:solidFill>
                  <a:srgbClr val="242424"/>
                </a:solidFill>
                <a:effectLst/>
                <a:latin typeface="source-code-pro"/>
              </a:rPr>
              <a:t>)(x) </a:t>
            </a:r>
            <a:r>
              <a:rPr lang="en-GB" b="0" i="0" u="none" strike="noStrike" dirty="0">
                <a:solidFill>
                  <a:srgbClr val="007400"/>
                </a:solidFill>
                <a:effectLst/>
                <a:latin typeface="source-code-pro"/>
              </a:rPr>
              <a:t># Binary classification</a:t>
            </a:r>
            <a:br>
              <a:rPr lang="en-GB" dirty="0"/>
            </a:br>
            <a:r>
              <a:rPr lang="en-GB" b="0" i="0" u="none" strike="noStrike" dirty="0">
                <a:solidFill>
                  <a:srgbClr val="242424"/>
                </a:solidFill>
                <a:effectLst/>
                <a:latin typeface="source-code-pro"/>
              </a:rPr>
              <a:t>model = Model(inputs=</a:t>
            </a:r>
            <a:r>
              <a:rPr lang="en-GB" b="0" i="0" u="none" strike="noStrike" dirty="0" err="1">
                <a:solidFill>
                  <a:srgbClr val="242424"/>
                </a:solidFill>
                <a:effectLst/>
                <a:latin typeface="source-code-pro"/>
              </a:rPr>
              <a:t>base_model.</a:t>
            </a:r>
            <a:r>
              <a:rPr lang="en-GB" b="0" i="0" u="none" strike="noStrike" dirty="0" err="1">
                <a:solidFill>
                  <a:srgbClr val="5C2699"/>
                </a:solidFill>
                <a:effectLst/>
                <a:latin typeface="source-code-pro"/>
              </a:rPr>
              <a:t>input</a:t>
            </a:r>
            <a:r>
              <a:rPr lang="en-GB" b="0" i="0" u="none" strike="noStrike" dirty="0">
                <a:solidFill>
                  <a:srgbClr val="242424"/>
                </a:solidFill>
                <a:effectLst/>
                <a:latin typeface="source-code-pro"/>
              </a:rPr>
              <a:t>, outputs=x)</a:t>
            </a:r>
            <a:endParaRPr lang="en-US" dirty="0"/>
          </a:p>
        </p:txBody>
      </p:sp>
    </p:spTree>
    <p:extLst>
      <p:ext uri="{BB962C8B-B14F-4D97-AF65-F5344CB8AC3E}">
        <p14:creationId xmlns:p14="http://schemas.microsoft.com/office/powerpoint/2010/main" val="1998853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9C62498-BE91-F670-04BB-4FFC932AE1D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676C7AA-86AB-AA51-A088-F2759D675CF1}"/>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pPr>
              <a:lnSpc>
                <a:spcPts val="2250"/>
              </a:lnSpc>
              <a:buNone/>
            </a:pPr>
            <a:r>
              <a:rPr lang="en-GB" sz="2000" i="0" dirty="0">
                <a:solidFill>
                  <a:srgbClr val="7030A0"/>
                </a:solidFill>
                <a:effectLst/>
                <a:latin typeface="source-serif-pro"/>
              </a:rPr>
              <a:t>Transfer Learning to classify images of dogs and cats.</a:t>
            </a:r>
            <a:br>
              <a:rPr lang="en-GB" sz="2000" b="0" i="0" dirty="0">
                <a:solidFill>
                  <a:srgbClr val="7030A0"/>
                </a:solidFill>
                <a:effectLst/>
                <a:latin typeface="source-serif-pro"/>
              </a:rPr>
            </a:br>
            <a:br>
              <a:rPr lang="en-GB" sz="2000" dirty="0">
                <a:solidFill>
                  <a:srgbClr val="7030A0"/>
                </a:solidFill>
              </a:rPr>
            </a:br>
            <a:br>
              <a:rPr lang="en-GB" sz="2700" b="1" i="0" u="none" strike="noStrike" dirty="0">
                <a:solidFill>
                  <a:srgbClr val="7030A0"/>
                </a:solidFill>
                <a:effectLst/>
              </a:rPr>
            </a:br>
            <a:br>
              <a:rPr lang="en-GB" sz="2700" b="0"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8F8A40BB-F003-D1C8-AB21-F94A72ABD0B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F5635D3A-06C4-FA9C-AC41-6ACA6B57B9AF}"/>
              </a:ext>
            </a:extLst>
          </p:cNvPr>
          <p:cNvSpPr txBox="1"/>
          <p:nvPr/>
        </p:nvSpPr>
        <p:spPr>
          <a:xfrm>
            <a:off x="420914" y="627900"/>
            <a:ext cx="6342742" cy="523220"/>
          </a:xfrm>
          <a:prstGeom prst="rect">
            <a:avLst/>
          </a:prstGeom>
          <a:solidFill>
            <a:schemeClr val="accent6">
              <a:lumMod val="20000"/>
              <a:lumOff val="80000"/>
            </a:schemeClr>
          </a:solidFill>
        </p:spPr>
        <p:txBody>
          <a:bodyPr wrap="square">
            <a:spAutoFit/>
          </a:bodyPr>
          <a:lstStyle/>
          <a:p>
            <a:r>
              <a:rPr lang="en-GB" b="0" i="0" u="none" strike="noStrike" dirty="0">
                <a:solidFill>
                  <a:srgbClr val="007400"/>
                </a:solidFill>
                <a:effectLst/>
                <a:latin typeface="source-code-pro"/>
              </a:rPr>
              <a:t># Compile the model</a:t>
            </a:r>
            <a:br>
              <a:rPr lang="en-GB" dirty="0"/>
            </a:br>
            <a:r>
              <a:rPr lang="en-GB" b="0" i="0" u="none" strike="noStrike" dirty="0" err="1">
                <a:solidFill>
                  <a:srgbClr val="242424"/>
                </a:solidFill>
                <a:effectLst/>
                <a:latin typeface="source-code-pro"/>
              </a:rPr>
              <a:t>model.</a:t>
            </a:r>
            <a:r>
              <a:rPr lang="en-GB" b="0" i="0" u="none" strike="noStrike" dirty="0" err="1">
                <a:solidFill>
                  <a:srgbClr val="5C2699"/>
                </a:solidFill>
                <a:effectLst/>
                <a:latin typeface="source-code-pro"/>
              </a:rPr>
              <a:t>compile</a:t>
            </a:r>
            <a:r>
              <a:rPr lang="en-GB" b="0" i="0" u="none" strike="noStrike" dirty="0">
                <a:solidFill>
                  <a:srgbClr val="242424"/>
                </a:solidFill>
                <a:effectLst/>
                <a:latin typeface="source-code-pro"/>
              </a:rPr>
              <a:t>(optimizer=</a:t>
            </a:r>
            <a:r>
              <a:rPr lang="en-GB" b="0" i="0" u="none" strike="noStrike" dirty="0">
                <a:solidFill>
                  <a:srgbClr val="C41A16"/>
                </a:solidFill>
                <a:effectLst/>
                <a:latin typeface="source-code-pro"/>
              </a:rPr>
              <a:t>'</a:t>
            </a:r>
            <a:r>
              <a:rPr lang="en-GB" b="0" i="0" u="none" strike="noStrike" dirty="0" err="1">
                <a:solidFill>
                  <a:srgbClr val="C41A16"/>
                </a:solidFill>
                <a:effectLst/>
                <a:latin typeface="source-code-pro"/>
              </a:rPr>
              <a:t>adam</a:t>
            </a:r>
            <a:r>
              <a:rPr lang="en-GB" b="0" i="0" u="none" strike="noStrike" dirty="0">
                <a:solidFill>
                  <a:srgbClr val="C41A16"/>
                </a:solidFill>
                <a:effectLst/>
                <a:latin typeface="source-code-pro"/>
              </a:rPr>
              <a:t>'</a:t>
            </a:r>
            <a:r>
              <a:rPr lang="en-GB" b="0" i="0" u="none" strike="noStrike" dirty="0">
                <a:solidFill>
                  <a:srgbClr val="242424"/>
                </a:solidFill>
                <a:effectLst/>
                <a:latin typeface="source-code-pro"/>
              </a:rPr>
              <a:t>, loss=</a:t>
            </a:r>
            <a:r>
              <a:rPr lang="en-GB" b="0" i="0" u="none" strike="noStrike" dirty="0">
                <a:solidFill>
                  <a:srgbClr val="C41A16"/>
                </a:solidFill>
                <a:effectLst/>
                <a:latin typeface="source-code-pro"/>
              </a:rPr>
              <a:t>'</a:t>
            </a:r>
            <a:r>
              <a:rPr lang="en-GB" b="0" i="0" u="none" strike="noStrike" dirty="0" err="1">
                <a:solidFill>
                  <a:srgbClr val="C41A16"/>
                </a:solidFill>
                <a:effectLst/>
                <a:latin typeface="source-code-pro"/>
              </a:rPr>
              <a:t>binary_crossentropy</a:t>
            </a:r>
            <a:r>
              <a:rPr lang="en-GB" b="0" i="0" u="none" strike="noStrike" dirty="0">
                <a:solidFill>
                  <a:srgbClr val="C41A16"/>
                </a:solidFill>
                <a:effectLst/>
                <a:latin typeface="source-code-pro"/>
              </a:rPr>
              <a:t>'</a:t>
            </a:r>
            <a:r>
              <a:rPr lang="en-GB" b="0" i="0" u="none" strike="noStrike" dirty="0">
                <a:solidFill>
                  <a:srgbClr val="242424"/>
                </a:solidFill>
                <a:effectLst/>
                <a:latin typeface="source-code-pro"/>
              </a:rPr>
              <a:t>, metrics=[</a:t>
            </a:r>
            <a:r>
              <a:rPr lang="en-GB" b="0" i="0" u="none" strike="noStrike" dirty="0">
                <a:solidFill>
                  <a:srgbClr val="C41A16"/>
                </a:solidFill>
                <a:effectLst/>
                <a:latin typeface="source-code-pro"/>
              </a:rPr>
              <a:t>'accuracy'</a:t>
            </a:r>
            <a:r>
              <a:rPr lang="en-GB" b="0" i="0" u="none" strike="noStrike" dirty="0">
                <a:solidFill>
                  <a:srgbClr val="242424"/>
                </a:solidFill>
                <a:effectLst/>
                <a:latin typeface="source-code-pro"/>
              </a:rPr>
              <a:t>])</a:t>
            </a:r>
            <a:endParaRPr lang="en-US" dirty="0"/>
          </a:p>
        </p:txBody>
      </p:sp>
      <p:sp>
        <p:nvSpPr>
          <p:cNvPr id="7" name="TextBox 6">
            <a:extLst>
              <a:ext uri="{FF2B5EF4-FFF2-40B4-BE49-F238E27FC236}">
                <a16:creationId xmlns:a16="http://schemas.microsoft.com/office/drawing/2014/main" id="{E2B2037C-303D-50E7-DC3C-49A0FBB70DD4}"/>
              </a:ext>
            </a:extLst>
          </p:cNvPr>
          <p:cNvSpPr txBox="1"/>
          <p:nvPr/>
        </p:nvSpPr>
        <p:spPr>
          <a:xfrm>
            <a:off x="420914" y="1255800"/>
            <a:ext cx="7017656" cy="3539430"/>
          </a:xfrm>
          <a:prstGeom prst="rect">
            <a:avLst/>
          </a:prstGeom>
          <a:solidFill>
            <a:schemeClr val="accent6">
              <a:lumMod val="20000"/>
              <a:lumOff val="80000"/>
            </a:schemeClr>
          </a:solidFill>
        </p:spPr>
        <p:txBody>
          <a:bodyPr wrap="square">
            <a:spAutoFit/>
          </a:bodyPr>
          <a:lstStyle/>
          <a:p>
            <a:r>
              <a:rPr lang="en-GB" b="0" i="0" u="none" strike="noStrike" dirty="0">
                <a:solidFill>
                  <a:srgbClr val="007400"/>
                </a:solidFill>
                <a:effectLst/>
                <a:latin typeface="source-code-pro"/>
              </a:rPr>
              <a:t># Preprocessing data</a:t>
            </a:r>
            <a:br>
              <a:rPr lang="en-GB" dirty="0"/>
            </a:br>
            <a:r>
              <a:rPr lang="en-GB" b="0" i="0" u="none" strike="noStrike" dirty="0" err="1">
                <a:solidFill>
                  <a:srgbClr val="242424"/>
                </a:solidFill>
                <a:effectLst/>
                <a:latin typeface="source-code-pro"/>
              </a:rPr>
              <a:t>train_datagen</a:t>
            </a:r>
            <a:r>
              <a:rPr lang="en-GB" b="0" i="0" u="none" strike="noStrike" dirty="0">
                <a:solidFill>
                  <a:srgbClr val="242424"/>
                </a:solidFill>
                <a:effectLst/>
                <a:latin typeface="source-code-pro"/>
              </a:rPr>
              <a:t> = </a:t>
            </a:r>
            <a:r>
              <a:rPr lang="en-GB" b="0" i="0" u="none" strike="noStrike" dirty="0" err="1">
                <a:solidFill>
                  <a:srgbClr val="242424"/>
                </a:solidFill>
                <a:effectLst/>
                <a:latin typeface="source-code-pro"/>
              </a:rPr>
              <a:t>ImageDataGenerator</a:t>
            </a:r>
            <a:r>
              <a:rPr lang="en-GB" b="0" i="0" u="none" strike="noStrike" dirty="0">
                <a:solidFill>
                  <a:srgbClr val="242424"/>
                </a:solidFill>
                <a:effectLst/>
                <a:latin typeface="source-code-pro"/>
              </a:rPr>
              <a:t>(rescale=</a:t>
            </a:r>
            <a:r>
              <a:rPr lang="en-GB" b="0" i="0" u="none" strike="noStrike" dirty="0">
                <a:solidFill>
                  <a:srgbClr val="1C00CF"/>
                </a:solidFill>
                <a:effectLst/>
                <a:latin typeface="source-code-pro"/>
              </a:rPr>
              <a:t>1.</a:t>
            </a:r>
            <a:r>
              <a:rPr lang="en-GB" b="0" i="0" u="none" strike="noStrike" dirty="0">
                <a:solidFill>
                  <a:srgbClr val="242424"/>
                </a:solidFill>
                <a:effectLst/>
                <a:latin typeface="source-code-pro"/>
              </a:rPr>
              <a:t>/</a:t>
            </a:r>
            <a:r>
              <a:rPr lang="en-GB" b="0" i="0" u="none" strike="noStrike" dirty="0">
                <a:solidFill>
                  <a:srgbClr val="1C00CF"/>
                </a:solidFill>
                <a:effectLst/>
                <a:latin typeface="source-code-pro"/>
              </a:rPr>
              <a:t>255</a:t>
            </a:r>
            <a:r>
              <a:rPr lang="en-GB" b="0" i="0" u="none" strike="noStrike" dirty="0">
                <a:solidFill>
                  <a:srgbClr val="242424"/>
                </a:solidFill>
                <a:effectLst/>
                <a:latin typeface="source-code-pro"/>
              </a:rPr>
              <a:t>, </a:t>
            </a:r>
            <a:r>
              <a:rPr lang="en-GB" b="0" i="0" u="none" strike="noStrike" dirty="0" err="1">
                <a:solidFill>
                  <a:srgbClr val="242424"/>
                </a:solidFill>
                <a:effectLst/>
                <a:latin typeface="source-code-pro"/>
              </a:rPr>
              <a:t>rotation_range</a:t>
            </a:r>
            <a:r>
              <a:rPr lang="en-GB" b="0" i="0" u="none" strike="noStrike" dirty="0">
                <a:solidFill>
                  <a:srgbClr val="242424"/>
                </a:solidFill>
                <a:effectLst/>
                <a:latin typeface="source-code-pro"/>
              </a:rPr>
              <a:t>=</a:t>
            </a:r>
            <a:r>
              <a:rPr lang="en-GB" b="0" i="0" u="none" strike="noStrike" dirty="0">
                <a:solidFill>
                  <a:srgbClr val="1C00CF"/>
                </a:solidFill>
                <a:effectLst/>
                <a:latin typeface="source-code-pro"/>
              </a:rPr>
              <a:t>20</a:t>
            </a:r>
            <a:r>
              <a:rPr lang="en-GB" b="0" i="0" u="none" strike="noStrike" dirty="0">
                <a:solidFill>
                  <a:srgbClr val="242424"/>
                </a:solidFill>
                <a:effectLst/>
                <a:latin typeface="source-code-pro"/>
              </a:rPr>
              <a:t>, </a:t>
            </a:r>
            <a:r>
              <a:rPr lang="en-GB" b="0" i="0" u="none" strike="noStrike" dirty="0" err="1">
                <a:solidFill>
                  <a:srgbClr val="242424"/>
                </a:solidFill>
                <a:effectLst/>
                <a:latin typeface="source-code-pro"/>
              </a:rPr>
              <a:t>zoom_range</a:t>
            </a:r>
            <a:r>
              <a:rPr lang="en-GB" b="0" i="0" u="none" strike="noStrike" dirty="0">
                <a:solidFill>
                  <a:srgbClr val="242424"/>
                </a:solidFill>
                <a:effectLst/>
                <a:latin typeface="source-code-pro"/>
              </a:rPr>
              <a:t>=</a:t>
            </a:r>
            <a:r>
              <a:rPr lang="en-GB" b="0" i="0" u="none" strike="noStrike" dirty="0">
                <a:solidFill>
                  <a:srgbClr val="1C00CF"/>
                </a:solidFill>
                <a:effectLst/>
                <a:latin typeface="source-code-pro"/>
              </a:rPr>
              <a:t>0.2</a:t>
            </a:r>
            <a:r>
              <a:rPr lang="en-GB" b="0" i="0" u="none" strike="noStrike" dirty="0">
                <a:solidFill>
                  <a:srgbClr val="242424"/>
                </a:solidFill>
                <a:effectLst/>
                <a:latin typeface="source-code-pro"/>
              </a:rPr>
              <a:t>, </a:t>
            </a:r>
            <a:r>
              <a:rPr lang="en-GB" b="0" i="0" u="none" strike="noStrike" dirty="0" err="1">
                <a:solidFill>
                  <a:srgbClr val="242424"/>
                </a:solidFill>
                <a:effectLst/>
                <a:latin typeface="source-code-pro"/>
              </a:rPr>
              <a:t>horizontal_flip</a:t>
            </a:r>
            <a:r>
              <a:rPr lang="en-GB" b="0" i="0" u="none" strike="noStrike" dirty="0">
                <a:solidFill>
                  <a:srgbClr val="242424"/>
                </a:solidFill>
                <a:effectLst/>
                <a:latin typeface="source-code-pro"/>
              </a:rPr>
              <a:t>=</a:t>
            </a:r>
            <a:r>
              <a:rPr lang="en-GB" b="0" i="0" u="none" strike="noStrike" dirty="0">
                <a:solidFill>
                  <a:srgbClr val="AA0D91"/>
                </a:solidFill>
                <a:effectLst/>
                <a:latin typeface="source-code-pro"/>
              </a:rPr>
              <a:t>True</a:t>
            </a:r>
            <a:r>
              <a:rPr lang="en-GB" b="0" i="0" u="none" strike="noStrike" dirty="0">
                <a:solidFill>
                  <a:srgbClr val="242424"/>
                </a:solidFill>
                <a:effectLst/>
                <a:latin typeface="source-code-pro"/>
              </a:rPr>
              <a:t>)</a:t>
            </a:r>
            <a:br>
              <a:rPr lang="en-GB" dirty="0"/>
            </a:br>
            <a:r>
              <a:rPr lang="en-GB" b="0" i="0" u="none" strike="noStrike" dirty="0" err="1">
                <a:solidFill>
                  <a:srgbClr val="242424"/>
                </a:solidFill>
                <a:effectLst/>
                <a:latin typeface="source-code-pro"/>
              </a:rPr>
              <a:t>train_generator</a:t>
            </a:r>
            <a:r>
              <a:rPr lang="en-GB" b="0" i="0" u="none" strike="noStrike" dirty="0">
                <a:solidFill>
                  <a:srgbClr val="242424"/>
                </a:solidFill>
                <a:effectLst/>
                <a:latin typeface="source-code-pro"/>
              </a:rPr>
              <a:t> = </a:t>
            </a:r>
            <a:r>
              <a:rPr lang="en-GB" b="0" i="0" u="none" strike="noStrike" dirty="0" err="1">
                <a:solidFill>
                  <a:srgbClr val="242424"/>
                </a:solidFill>
                <a:effectLst/>
                <a:latin typeface="source-code-pro"/>
              </a:rPr>
              <a:t>train_datagen.flow_from_directory</a:t>
            </a:r>
            <a:r>
              <a:rPr lang="en-GB" b="0" i="0" u="none" strike="noStrike" dirty="0">
                <a:solidFill>
                  <a:srgbClr val="242424"/>
                </a:solidFill>
                <a:effectLst/>
                <a:latin typeface="source-code-pro"/>
              </a:rPr>
              <a:t>(</a:t>
            </a:r>
            <a:br>
              <a:rPr lang="en-GB" dirty="0"/>
            </a:br>
            <a:r>
              <a:rPr lang="en-GB" b="0" i="0" u="none" strike="noStrike" dirty="0">
                <a:solidFill>
                  <a:srgbClr val="C41A16"/>
                </a:solidFill>
                <a:effectLst/>
                <a:latin typeface="source-code-pro"/>
              </a:rPr>
              <a:t>'</a:t>
            </a:r>
            <a:r>
              <a:rPr lang="en-GB" b="0" i="0" u="none" strike="noStrike" dirty="0" err="1">
                <a:solidFill>
                  <a:srgbClr val="C41A16"/>
                </a:solidFill>
                <a:effectLst/>
                <a:latin typeface="source-code-pro"/>
              </a:rPr>
              <a:t>path_to_train_data</a:t>
            </a:r>
            <a:r>
              <a:rPr lang="en-GB" b="0" i="0" u="none" strike="noStrike" dirty="0">
                <a:solidFill>
                  <a:srgbClr val="C41A16"/>
                </a:solidFill>
                <a:effectLst/>
                <a:latin typeface="source-code-pro"/>
              </a:rPr>
              <a:t>'</a:t>
            </a:r>
            <a:r>
              <a:rPr lang="en-GB" b="0" i="0" u="none" strike="noStrike" dirty="0">
                <a:solidFill>
                  <a:srgbClr val="242424"/>
                </a:solidFill>
                <a:effectLst/>
                <a:latin typeface="source-code-pro"/>
              </a:rPr>
              <a:t>,</a:t>
            </a:r>
            <a:br>
              <a:rPr lang="en-GB" dirty="0"/>
            </a:br>
            <a:r>
              <a:rPr lang="en-GB" b="0" i="0" u="none" strike="noStrike" dirty="0" err="1">
                <a:solidFill>
                  <a:srgbClr val="242424"/>
                </a:solidFill>
                <a:effectLst/>
                <a:latin typeface="source-code-pro"/>
              </a:rPr>
              <a:t>target_size</a:t>
            </a:r>
            <a:r>
              <a:rPr lang="en-GB" b="0" i="0" u="none" strike="noStrike" dirty="0">
                <a:solidFill>
                  <a:srgbClr val="242424"/>
                </a:solidFill>
                <a:effectLst/>
                <a:latin typeface="source-code-pro"/>
              </a:rPr>
              <a:t>=(</a:t>
            </a:r>
            <a:r>
              <a:rPr lang="en-GB" b="0" i="0" u="none" strike="noStrike" dirty="0">
                <a:solidFill>
                  <a:srgbClr val="1C00CF"/>
                </a:solidFill>
                <a:effectLst/>
                <a:latin typeface="source-code-pro"/>
              </a:rPr>
              <a:t>224</a:t>
            </a:r>
            <a:r>
              <a:rPr lang="en-GB" b="0" i="0" u="none" strike="noStrike" dirty="0">
                <a:solidFill>
                  <a:srgbClr val="242424"/>
                </a:solidFill>
                <a:effectLst/>
                <a:latin typeface="source-code-pro"/>
              </a:rPr>
              <a:t>, </a:t>
            </a:r>
            <a:r>
              <a:rPr lang="en-GB" b="0" i="0" u="none" strike="noStrike" dirty="0">
                <a:solidFill>
                  <a:srgbClr val="1C00CF"/>
                </a:solidFill>
                <a:effectLst/>
                <a:latin typeface="source-code-pro"/>
              </a:rPr>
              <a:t>224</a:t>
            </a:r>
            <a:r>
              <a:rPr lang="en-GB" b="0" i="0" u="none" strike="noStrike" dirty="0">
                <a:solidFill>
                  <a:srgbClr val="242424"/>
                </a:solidFill>
                <a:effectLst/>
                <a:latin typeface="source-code-pro"/>
              </a:rPr>
              <a:t>),</a:t>
            </a:r>
            <a:br>
              <a:rPr lang="en-GB" dirty="0"/>
            </a:br>
            <a:r>
              <a:rPr lang="en-GB" b="0" i="0" u="none" strike="noStrike" dirty="0" err="1">
                <a:solidFill>
                  <a:srgbClr val="242424"/>
                </a:solidFill>
                <a:effectLst/>
                <a:latin typeface="source-code-pro"/>
              </a:rPr>
              <a:t>batch_size</a:t>
            </a:r>
            <a:r>
              <a:rPr lang="en-GB" b="0" i="0" u="none" strike="noStrike" dirty="0">
                <a:solidFill>
                  <a:srgbClr val="242424"/>
                </a:solidFill>
                <a:effectLst/>
                <a:latin typeface="source-code-pro"/>
              </a:rPr>
              <a:t>=</a:t>
            </a:r>
            <a:r>
              <a:rPr lang="en-GB" b="0" i="0" u="none" strike="noStrike" dirty="0">
                <a:solidFill>
                  <a:srgbClr val="1C00CF"/>
                </a:solidFill>
                <a:effectLst/>
                <a:latin typeface="source-code-pro"/>
              </a:rPr>
              <a:t>32</a:t>
            </a:r>
            <a:r>
              <a:rPr lang="en-GB" b="0" i="0" u="none" strike="noStrike" dirty="0">
                <a:solidFill>
                  <a:srgbClr val="242424"/>
                </a:solidFill>
                <a:effectLst/>
                <a:latin typeface="source-code-pro"/>
              </a:rPr>
              <a:t>,</a:t>
            </a:r>
            <a:br>
              <a:rPr lang="en-GB" dirty="0"/>
            </a:br>
            <a:r>
              <a:rPr lang="en-GB" b="0" i="0" u="none" strike="noStrike" dirty="0" err="1">
                <a:solidFill>
                  <a:srgbClr val="242424"/>
                </a:solidFill>
                <a:effectLst/>
                <a:latin typeface="source-code-pro"/>
              </a:rPr>
              <a:t>class_mode</a:t>
            </a:r>
            <a:r>
              <a:rPr lang="en-GB" b="0" i="0" u="none" strike="noStrike" dirty="0">
                <a:solidFill>
                  <a:srgbClr val="242424"/>
                </a:solidFill>
                <a:effectLst/>
                <a:latin typeface="source-code-pro"/>
              </a:rPr>
              <a:t>=</a:t>
            </a:r>
            <a:r>
              <a:rPr lang="en-GB" b="0" i="0" u="none" strike="noStrike" dirty="0">
                <a:solidFill>
                  <a:srgbClr val="C41A16"/>
                </a:solidFill>
                <a:effectLst/>
                <a:latin typeface="source-code-pro"/>
              </a:rPr>
              <a:t>'binary'</a:t>
            </a:r>
            <a:br>
              <a:rPr lang="en-GB" dirty="0"/>
            </a:br>
            <a:r>
              <a:rPr lang="en-GB" b="0" i="0" u="none" strike="noStrike" dirty="0">
                <a:solidFill>
                  <a:srgbClr val="242424"/>
                </a:solidFill>
                <a:effectLst/>
                <a:latin typeface="source-code-pro"/>
              </a:rPr>
              <a:t>)</a:t>
            </a:r>
            <a:br>
              <a:rPr lang="en-GB" dirty="0"/>
            </a:br>
            <a:r>
              <a:rPr lang="en-GB" b="0" i="0" u="none" strike="noStrike" dirty="0" err="1">
                <a:solidFill>
                  <a:srgbClr val="242424"/>
                </a:solidFill>
                <a:effectLst/>
                <a:latin typeface="source-code-pro"/>
              </a:rPr>
              <a:t>validation_datagen</a:t>
            </a:r>
            <a:r>
              <a:rPr lang="en-GB" b="0" i="0" u="none" strike="noStrike" dirty="0">
                <a:solidFill>
                  <a:srgbClr val="242424"/>
                </a:solidFill>
                <a:effectLst/>
                <a:latin typeface="source-code-pro"/>
              </a:rPr>
              <a:t> = </a:t>
            </a:r>
            <a:r>
              <a:rPr lang="en-GB" b="0" i="0" u="none" strike="noStrike" dirty="0" err="1">
                <a:solidFill>
                  <a:srgbClr val="242424"/>
                </a:solidFill>
                <a:effectLst/>
                <a:latin typeface="source-code-pro"/>
              </a:rPr>
              <a:t>ImageDataGenerator</a:t>
            </a:r>
            <a:r>
              <a:rPr lang="en-GB" b="0" i="0" u="none" strike="noStrike" dirty="0">
                <a:solidFill>
                  <a:srgbClr val="242424"/>
                </a:solidFill>
                <a:effectLst/>
                <a:latin typeface="source-code-pro"/>
              </a:rPr>
              <a:t>(rescale=</a:t>
            </a:r>
            <a:r>
              <a:rPr lang="en-GB" b="0" i="0" u="none" strike="noStrike" dirty="0">
                <a:solidFill>
                  <a:srgbClr val="1C00CF"/>
                </a:solidFill>
                <a:effectLst/>
                <a:latin typeface="source-code-pro"/>
              </a:rPr>
              <a:t>1.</a:t>
            </a:r>
            <a:r>
              <a:rPr lang="en-GB" b="0" i="0" u="none" strike="noStrike" dirty="0">
                <a:solidFill>
                  <a:srgbClr val="242424"/>
                </a:solidFill>
                <a:effectLst/>
                <a:latin typeface="source-code-pro"/>
              </a:rPr>
              <a:t>/</a:t>
            </a:r>
            <a:r>
              <a:rPr lang="en-GB" b="0" i="0" u="none" strike="noStrike" dirty="0">
                <a:solidFill>
                  <a:srgbClr val="1C00CF"/>
                </a:solidFill>
                <a:effectLst/>
                <a:latin typeface="source-code-pro"/>
              </a:rPr>
              <a:t>255</a:t>
            </a:r>
            <a:r>
              <a:rPr lang="en-GB" b="0" i="0" u="none" strike="noStrike" dirty="0">
                <a:solidFill>
                  <a:srgbClr val="242424"/>
                </a:solidFill>
                <a:effectLst/>
                <a:latin typeface="source-code-pro"/>
              </a:rPr>
              <a:t>)</a:t>
            </a:r>
            <a:br>
              <a:rPr lang="en-GB" dirty="0"/>
            </a:br>
            <a:r>
              <a:rPr lang="en-GB" b="0" i="0" u="none" strike="noStrike" dirty="0" err="1">
                <a:solidFill>
                  <a:srgbClr val="242424"/>
                </a:solidFill>
                <a:effectLst/>
                <a:latin typeface="source-code-pro"/>
              </a:rPr>
              <a:t>validation_generator</a:t>
            </a:r>
            <a:r>
              <a:rPr lang="en-GB" b="0" i="0" u="none" strike="noStrike" dirty="0">
                <a:solidFill>
                  <a:srgbClr val="242424"/>
                </a:solidFill>
                <a:effectLst/>
                <a:latin typeface="source-code-pro"/>
              </a:rPr>
              <a:t> = </a:t>
            </a:r>
            <a:r>
              <a:rPr lang="en-GB" b="0" i="0" u="none" strike="noStrike" dirty="0" err="1">
                <a:solidFill>
                  <a:srgbClr val="242424"/>
                </a:solidFill>
                <a:effectLst/>
                <a:latin typeface="source-code-pro"/>
              </a:rPr>
              <a:t>validation_datagen.flow_from_directory</a:t>
            </a:r>
            <a:r>
              <a:rPr lang="en-GB" b="0" i="0" u="none" strike="noStrike" dirty="0">
                <a:solidFill>
                  <a:srgbClr val="242424"/>
                </a:solidFill>
                <a:effectLst/>
                <a:latin typeface="source-code-pro"/>
              </a:rPr>
              <a:t>(</a:t>
            </a:r>
            <a:br>
              <a:rPr lang="en-GB" dirty="0"/>
            </a:br>
            <a:r>
              <a:rPr lang="en-GB" b="0" i="0" u="none" strike="noStrike" dirty="0">
                <a:solidFill>
                  <a:srgbClr val="C41A16"/>
                </a:solidFill>
                <a:effectLst/>
                <a:latin typeface="source-code-pro"/>
              </a:rPr>
              <a:t>'</a:t>
            </a:r>
            <a:r>
              <a:rPr lang="en-GB" b="0" i="0" u="none" strike="noStrike" dirty="0" err="1">
                <a:solidFill>
                  <a:srgbClr val="C41A16"/>
                </a:solidFill>
                <a:effectLst/>
                <a:latin typeface="source-code-pro"/>
              </a:rPr>
              <a:t>path_to_validation_data</a:t>
            </a:r>
            <a:r>
              <a:rPr lang="en-GB" b="0" i="0" u="none" strike="noStrike" dirty="0">
                <a:solidFill>
                  <a:srgbClr val="C41A16"/>
                </a:solidFill>
                <a:effectLst/>
                <a:latin typeface="source-code-pro"/>
              </a:rPr>
              <a:t>'</a:t>
            </a:r>
            <a:r>
              <a:rPr lang="en-GB" b="0" i="0" u="none" strike="noStrike" dirty="0">
                <a:solidFill>
                  <a:srgbClr val="242424"/>
                </a:solidFill>
                <a:effectLst/>
                <a:latin typeface="source-code-pro"/>
              </a:rPr>
              <a:t>,</a:t>
            </a:r>
            <a:br>
              <a:rPr lang="en-GB" dirty="0"/>
            </a:br>
            <a:r>
              <a:rPr lang="en-GB" b="0" i="0" u="none" strike="noStrike" dirty="0" err="1">
                <a:solidFill>
                  <a:srgbClr val="242424"/>
                </a:solidFill>
                <a:effectLst/>
                <a:latin typeface="source-code-pro"/>
              </a:rPr>
              <a:t>target_size</a:t>
            </a:r>
            <a:r>
              <a:rPr lang="en-GB" b="0" i="0" u="none" strike="noStrike" dirty="0">
                <a:solidFill>
                  <a:srgbClr val="242424"/>
                </a:solidFill>
                <a:effectLst/>
                <a:latin typeface="source-code-pro"/>
              </a:rPr>
              <a:t>=(</a:t>
            </a:r>
            <a:r>
              <a:rPr lang="en-GB" b="0" i="0" u="none" strike="noStrike" dirty="0">
                <a:solidFill>
                  <a:srgbClr val="1C00CF"/>
                </a:solidFill>
                <a:effectLst/>
                <a:latin typeface="source-code-pro"/>
              </a:rPr>
              <a:t>224</a:t>
            </a:r>
            <a:r>
              <a:rPr lang="en-GB" b="0" i="0" u="none" strike="noStrike" dirty="0">
                <a:solidFill>
                  <a:srgbClr val="242424"/>
                </a:solidFill>
                <a:effectLst/>
                <a:latin typeface="source-code-pro"/>
              </a:rPr>
              <a:t>, </a:t>
            </a:r>
            <a:r>
              <a:rPr lang="en-GB" b="0" i="0" u="none" strike="noStrike" dirty="0">
                <a:solidFill>
                  <a:srgbClr val="1C00CF"/>
                </a:solidFill>
                <a:effectLst/>
                <a:latin typeface="source-code-pro"/>
              </a:rPr>
              <a:t>224</a:t>
            </a:r>
            <a:r>
              <a:rPr lang="en-GB" b="0" i="0" u="none" strike="noStrike" dirty="0">
                <a:solidFill>
                  <a:srgbClr val="242424"/>
                </a:solidFill>
                <a:effectLst/>
                <a:latin typeface="source-code-pro"/>
              </a:rPr>
              <a:t>),</a:t>
            </a:r>
            <a:br>
              <a:rPr lang="en-GB" dirty="0"/>
            </a:br>
            <a:r>
              <a:rPr lang="en-GB" b="0" i="0" u="none" strike="noStrike" dirty="0" err="1">
                <a:solidFill>
                  <a:srgbClr val="242424"/>
                </a:solidFill>
                <a:effectLst/>
                <a:latin typeface="source-code-pro"/>
              </a:rPr>
              <a:t>batch_size</a:t>
            </a:r>
            <a:r>
              <a:rPr lang="en-GB" b="0" i="0" u="none" strike="noStrike" dirty="0">
                <a:solidFill>
                  <a:srgbClr val="242424"/>
                </a:solidFill>
                <a:effectLst/>
                <a:latin typeface="source-code-pro"/>
              </a:rPr>
              <a:t>=</a:t>
            </a:r>
            <a:r>
              <a:rPr lang="en-GB" b="0" i="0" u="none" strike="noStrike" dirty="0">
                <a:solidFill>
                  <a:srgbClr val="1C00CF"/>
                </a:solidFill>
                <a:effectLst/>
                <a:latin typeface="source-code-pro"/>
              </a:rPr>
              <a:t>32</a:t>
            </a:r>
            <a:r>
              <a:rPr lang="en-GB" b="0" i="0" u="none" strike="noStrike" dirty="0">
                <a:solidFill>
                  <a:srgbClr val="242424"/>
                </a:solidFill>
                <a:effectLst/>
                <a:latin typeface="source-code-pro"/>
              </a:rPr>
              <a:t>,</a:t>
            </a:r>
            <a:br>
              <a:rPr lang="en-GB" dirty="0"/>
            </a:br>
            <a:r>
              <a:rPr lang="en-GB" b="0" i="0" u="none" strike="noStrike" dirty="0" err="1">
                <a:solidFill>
                  <a:srgbClr val="242424"/>
                </a:solidFill>
                <a:effectLst/>
                <a:latin typeface="source-code-pro"/>
              </a:rPr>
              <a:t>class_mode</a:t>
            </a:r>
            <a:r>
              <a:rPr lang="en-GB" b="0" i="0" u="none" strike="noStrike" dirty="0">
                <a:solidFill>
                  <a:srgbClr val="242424"/>
                </a:solidFill>
                <a:effectLst/>
                <a:latin typeface="source-code-pro"/>
              </a:rPr>
              <a:t>=</a:t>
            </a:r>
            <a:r>
              <a:rPr lang="en-GB" b="0" i="0" u="none" strike="noStrike" dirty="0">
                <a:solidFill>
                  <a:srgbClr val="C41A16"/>
                </a:solidFill>
                <a:effectLst/>
                <a:latin typeface="source-code-pro"/>
              </a:rPr>
              <a:t>'binary'</a:t>
            </a:r>
            <a:br>
              <a:rPr lang="en-GB" dirty="0"/>
            </a:br>
            <a:r>
              <a:rPr lang="en-GB" b="0" i="0" u="none" strike="noStrike" dirty="0">
                <a:solidFill>
                  <a:srgbClr val="242424"/>
                </a:solidFill>
                <a:effectLst/>
                <a:latin typeface="source-code-pro"/>
              </a:rPr>
              <a:t>)</a:t>
            </a:r>
            <a:endParaRPr lang="en-US" dirty="0"/>
          </a:p>
        </p:txBody>
      </p:sp>
    </p:spTree>
    <p:extLst>
      <p:ext uri="{BB962C8B-B14F-4D97-AF65-F5344CB8AC3E}">
        <p14:creationId xmlns:p14="http://schemas.microsoft.com/office/powerpoint/2010/main" val="250734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F8409CF-95A4-62A2-D834-EB72D7561A5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0AD56E8-CA48-E02A-4401-164FBCF35535}"/>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pPr>
              <a:lnSpc>
                <a:spcPts val="2250"/>
              </a:lnSpc>
              <a:buNone/>
            </a:pPr>
            <a:r>
              <a:rPr lang="en-GB" sz="2000" i="0" dirty="0">
                <a:solidFill>
                  <a:srgbClr val="7030A0"/>
                </a:solidFill>
                <a:effectLst/>
                <a:latin typeface="source-serif-pro"/>
              </a:rPr>
              <a:t>Transfer Learning to classify images of dogs and cats.</a:t>
            </a:r>
            <a:br>
              <a:rPr lang="en-GB" sz="2000" b="0" i="0" dirty="0">
                <a:solidFill>
                  <a:srgbClr val="7030A0"/>
                </a:solidFill>
                <a:effectLst/>
                <a:latin typeface="source-serif-pro"/>
              </a:rPr>
            </a:br>
            <a:br>
              <a:rPr lang="en-GB" sz="2000" dirty="0">
                <a:solidFill>
                  <a:srgbClr val="7030A0"/>
                </a:solidFill>
              </a:rPr>
            </a:br>
            <a:br>
              <a:rPr lang="en-GB" sz="2700" b="1" i="0" u="none" strike="noStrike" dirty="0">
                <a:solidFill>
                  <a:srgbClr val="7030A0"/>
                </a:solidFill>
                <a:effectLst/>
              </a:rPr>
            </a:br>
            <a:br>
              <a:rPr lang="en-GB" sz="2700" b="0"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321C8A7C-D11C-8492-97C0-D29CD14E016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1353F85A-DA69-BDE5-6667-DC90C7727566}"/>
              </a:ext>
            </a:extLst>
          </p:cNvPr>
          <p:cNvSpPr txBox="1"/>
          <p:nvPr/>
        </p:nvSpPr>
        <p:spPr>
          <a:xfrm>
            <a:off x="529575" y="1239617"/>
            <a:ext cx="4648200" cy="307777"/>
          </a:xfrm>
          <a:prstGeom prst="rect">
            <a:avLst/>
          </a:prstGeom>
          <a:noFill/>
        </p:spPr>
        <p:txBody>
          <a:bodyPr wrap="square">
            <a:spAutoFit/>
          </a:bodyPr>
          <a:lstStyle/>
          <a:p>
            <a:r>
              <a:rPr lang="en-GB" b="0" i="0" u="none" strike="noStrike" dirty="0">
                <a:solidFill>
                  <a:srgbClr val="242424"/>
                </a:solidFill>
                <a:effectLst/>
                <a:latin typeface="source-serif-pro"/>
              </a:rPr>
              <a:t>To improve accuracy, we can</a:t>
            </a:r>
            <a:r>
              <a:rPr lang="en-GB" b="1" i="0" u="none" strike="noStrike" dirty="0">
                <a:solidFill>
                  <a:srgbClr val="242424"/>
                </a:solidFill>
                <a:effectLst/>
                <a:latin typeface="source-serif-pro"/>
              </a:rPr>
              <a:t> fine-tune</a:t>
            </a:r>
            <a:r>
              <a:rPr lang="en-GB" b="0" i="0" u="none" strike="noStrike" dirty="0">
                <a:solidFill>
                  <a:srgbClr val="242424"/>
                </a:solidFill>
                <a:effectLst/>
                <a:latin typeface="source-serif-pro"/>
              </a:rPr>
              <a:t> the deeper layers.</a:t>
            </a:r>
            <a:endParaRPr lang="en-US" dirty="0"/>
          </a:p>
        </p:txBody>
      </p:sp>
      <p:sp>
        <p:nvSpPr>
          <p:cNvPr id="8" name="TextBox 7">
            <a:extLst>
              <a:ext uri="{FF2B5EF4-FFF2-40B4-BE49-F238E27FC236}">
                <a16:creationId xmlns:a16="http://schemas.microsoft.com/office/drawing/2014/main" id="{FA1176E0-1DC8-8619-6839-83100A7FA0F5}"/>
              </a:ext>
            </a:extLst>
          </p:cNvPr>
          <p:cNvSpPr txBox="1"/>
          <p:nvPr/>
        </p:nvSpPr>
        <p:spPr>
          <a:xfrm>
            <a:off x="529575" y="569739"/>
            <a:ext cx="6255854" cy="523220"/>
          </a:xfrm>
          <a:prstGeom prst="rect">
            <a:avLst/>
          </a:prstGeom>
          <a:solidFill>
            <a:schemeClr val="accent6">
              <a:lumMod val="20000"/>
              <a:lumOff val="80000"/>
            </a:schemeClr>
          </a:solidFill>
        </p:spPr>
        <p:txBody>
          <a:bodyPr wrap="square">
            <a:spAutoFit/>
          </a:bodyPr>
          <a:lstStyle/>
          <a:p>
            <a:r>
              <a:rPr lang="en-GB" b="0" i="0" u="none" strike="noStrike" dirty="0">
                <a:solidFill>
                  <a:srgbClr val="007400"/>
                </a:solidFill>
                <a:effectLst/>
                <a:latin typeface="source-code-pro"/>
              </a:rPr>
              <a:t># Train the model</a:t>
            </a:r>
            <a:br>
              <a:rPr lang="en-GB" dirty="0"/>
            </a:br>
            <a:r>
              <a:rPr lang="en-GB" b="0" i="0" u="none" strike="noStrike" dirty="0" err="1">
                <a:solidFill>
                  <a:srgbClr val="242424"/>
                </a:solidFill>
                <a:effectLst/>
                <a:latin typeface="source-code-pro"/>
              </a:rPr>
              <a:t>model.fit</a:t>
            </a:r>
            <a:r>
              <a:rPr lang="en-GB" b="0" i="0" u="none" strike="noStrike" dirty="0">
                <a:solidFill>
                  <a:srgbClr val="242424"/>
                </a:solidFill>
                <a:effectLst/>
                <a:latin typeface="source-code-pro"/>
              </a:rPr>
              <a:t>(</a:t>
            </a:r>
            <a:r>
              <a:rPr lang="en-GB" b="0" i="0" u="none" strike="noStrike" dirty="0" err="1">
                <a:solidFill>
                  <a:srgbClr val="242424"/>
                </a:solidFill>
                <a:effectLst/>
                <a:latin typeface="source-code-pro"/>
              </a:rPr>
              <a:t>train_generator,epochs</a:t>
            </a:r>
            <a:r>
              <a:rPr lang="en-GB" b="0" i="0" u="none" strike="noStrike" dirty="0">
                <a:solidFill>
                  <a:srgbClr val="242424"/>
                </a:solidFill>
                <a:effectLst/>
                <a:latin typeface="source-code-pro"/>
              </a:rPr>
              <a:t>=</a:t>
            </a:r>
            <a:r>
              <a:rPr lang="en-GB" b="0" i="0" u="none" strike="noStrike" dirty="0">
                <a:solidFill>
                  <a:srgbClr val="1C00CF"/>
                </a:solidFill>
                <a:effectLst/>
                <a:latin typeface="source-code-pro"/>
              </a:rPr>
              <a:t>5</a:t>
            </a:r>
            <a:r>
              <a:rPr lang="en-GB" b="0" i="0" u="none" strike="noStrike" dirty="0">
                <a:solidFill>
                  <a:srgbClr val="242424"/>
                </a:solidFill>
                <a:effectLst/>
                <a:latin typeface="source-code-pro"/>
              </a:rPr>
              <a:t>,validation_data=</a:t>
            </a:r>
            <a:r>
              <a:rPr lang="en-GB" b="0" i="0" u="none" strike="noStrike" dirty="0" err="1">
                <a:solidFill>
                  <a:srgbClr val="242424"/>
                </a:solidFill>
                <a:effectLst/>
                <a:latin typeface="source-code-pro"/>
              </a:rPr>
              <a:t>validation_generator</a:t>
            </a:r>
            <a:r>
              <a:rPr lang="en-GB" b="0" i="0" u="none" strike="noStrike" dirty="0">
                <a:solidFill>
                  <a:srgbClr val="242424"/>
                </a:solidFill>
                <a:effectLst/>
                <a:latin typeface="source-code-pro"/>
              </a:rPr>
              <a:t>)</a:t>
            </a:r>
            <a:endParaRPr lang="en-US" dirty="0"/>
          </a:p>
        </p:txBody>
      </p:sp>
      <p:sp>
        <p:nvSpPr>
          <p:cNvPr id="12" name="TextBox 11">
            <a:extLst>
              <a:ext uri="{FF2B5EF4-FFF2-40B4-BE49-F238E27FC236}">
                <a16:creationId xmlns:a16="http://schemas.microsoft.com/office/drawing/2014/main" id="{D05EA40E-E0A0-87C1-1BE4-FDB346170C45}"/>
              </a:ext>
            </a:extLst>
          </p:cNvPr>
          <p:cNvSpPr txBox="1"/>
          <p:nvPr/>
        </p:nvSpPr>
        <p:spPr>
          <a:xfrm>
            <a:off x="529575" y="1662698"/>
            <a:ext cx="6110711" cy="2893100"/>
          </a:xfrm>
          <a:prstGeom prst="rect">
            <a:avLst/>
          </a:prstGeom>
          <a:solidFill>
            <a:schemeClr val="accent6">
              <a:lumMod val="20000"/>
              <a:lumOff val="80000"/>
            </a:schemeClr>
          </a:solidFill>
        </p:spPr>
        <p:txBody>
          <a:bodyPr wrap="square">
            <a:spAutoFit/>
          </a:bodyPr>
          <a:lstStyle/>
          <a:p>
            <a:r>
              <a:rPr lang="en-GB" b="0" i="0" u="none" strike="noStrike" dirty="0">
                <a:solidFill>
                  <a:srgbClr val="007400"/>
                </a:solidFill>
                <a:effectLst/>
                <a:latin typeface="source-code-pro"/>
              </a:rPr>
              <a:t># Fine-tuning</a:t>
            </a:r>
            <a:br>
              <a:rPr lang="en-GB" dirty="0"/>
            </a:br>
            <a:r>
              <a:rPr lang="en-GB" b="0" i="0" u="none" strike="noStrike" dirty="0" err="1">
                <a:solidFill>
                  <a:srgbClr val="242424"/>
                </a:solidFill>
                <a:effectLst/>
                <a:latin typeface="source-code-pro"/>
              </a:rPr>
              <a:t>base_model.trainable</a:t>
            </a:r>
            <a:r>
              <a:rPr lang="en-GB" b="0" i="0" u="none" strike="noStrike" dirty="0">
                <a:solidFill>
                  <a:srgbClr val="242424"/>
                </a:solidFill>
                <a:effectLst/>
                <a:latin typeface="source-code-pro"/>
              </a:rPr>
              <a:t> = </a:t>
            </a:r>
            <a:r>
              <a:rPr lang="en-GB" b="0" i="0" u="none" strike="noStrike" dirty="0">
                <a:solidFill>
                  <a:srgbClr val="AA0D91"/>
                </a:solidFill>
                <a:effectLst/>
                <a:latin typeface="source-code-pro"/>
              </a:rPr>
              <a:t>True</a:t>
            </a:r>
            <a:br>
              <a:rPr lang="en-GB" dirty="0"/>
            </a:br>
            <a:r>
              <a:rPr lang="en-GB" b="0" i="0" u="none" strike="noStrike" dirty="0">
                <a:solidFill>
                  <a:srgbClr val="AA0D91"/>
                </a:solidFill>
                <a:effectLst/>
                <a:latin typeface="source-code-pro"/>
              </a:rPr>
              <a:t>for</a:t>
            </a:r>
            <a:r>
              <a:rPr lang="en-GB" b="0" i="0" u="none" strike="noStrike" dirty="0">
                <a:solidFill>
                  <a:srgbClr val="242424"/>
                </a:solidFill>
                <a:effectLst/>
                <a:latin typeface="source-code-pro"/>
              </a:rPr>
              <a:t> layer </a:t>
            </a:r>
            <a:r>
              <a:rPr lang="en-GB" b="0" i="0" u="none" strike="noStrike" dirty="0">
                <a:solidFill>
                  <a:srgbClr val="AA0D91"/>
                </a:solidFill>
                <a:effectLst/>
                <a:latin typeface="source-code-pro"/>
              </a:rPr>
              <a:t>in</a:t>
            </a:r>
            <a:r>
              <a:rPr lang="en-GB" b="0" i="0" u="none" strike="noStrike" dirty="0">
                <a:solidFill>
                  <a:srgbClr val="242424"/>
                </a:solidFill>
                <a:effectLst/>
                <a:latin typeface="source-code-pro"/>
              </a:rPr>
              <a:t> </a:t>
            </a:r>
            <a:r>
              <a:rPr lang="en-GB" b="0" i="0" u="none" strike="noStrike" dirty="0" err="1">
                <a:solidFill>
                  <a:srgbClr val="242424"/>
                </a:solidFill>
                <a:effectLst/>
                <a:latin typeface="source-code-pro"/>
              </a:rPr>
              <a:t>base_model.layers</a:t>
            </a:r>
            <a:r>
              <a:rPr lang="en-GB" b="0" i="0" u="none" strike="noStrike" dirty="0">
                <a:solidFill>
                  <a:srgbClr val="242424"/>
                </a:solidFill>
                <a:effectLst/>
                <a:latin typeface="source-code-pro"/>
              </a:rPr>
              <a:t>[:-</a:t>
            </a:r>
            <a:r>
              <a:rPr lang="en-GB" b="0" i="0" u="none" strike="noStrike" dirty="0">
                <a:solidFill>
                  <a:srgbClr val="1C00CF"/>
                </a:solidFill>
                <a:effectLst/>
                <a:latin typeface="source-code-pro"/>
              </a:rPr>
              <a:t>4</a:t>
            </a:r>
            <a:r>
              <a:rPr lang="en-GB" b="0" i="0" u="none" strike="noStrike" dirty="0">
                <a:solidFill>
                  <a:srgbClr val="242424"/>
                </a:solidFill>
                <a:effectLst/>
                <a:latin typeface="source-code-pro"/>
              </a:rPr>
              <a:t>]:</a:t>
            </a:r>
            <a:br>
              <a:rPr lang="en-GB" dirty="0"/>
            </a:br>
            <a:r>
              <a:rPr lang="en-GB" b="0" i="0" u="none" strike="noStrike" dirty="0" err="1">
                <a:solidFill>
                  <a:srgbClr val="242424"/>
                </a:solidFill>
                <a:effectLst/>
                <a:latin typeface="source-code-pro"/>
              </a:rPr>
              <a:t>layer.trainable</a:t>
            </a:r>
            <a:r>
              <a:rPr lang="en-GB" b="0" i="0" u="none" strike="noStrike" dirty="0">
                <a:solidFill>
                  <a:srgbClr val="242424"/>
                </a:solidFill>
                <a:effectLst/>
                <a:latin typeface="source-code-pro"/>
              </a:rPr>
              <a:t> = </a:t>
            </a:r>
            <a:r>
              <a:rPr lang="en-GB" b="0" i="0" u="none" strike="noStrike" dirty="0">
                <a:solidFill>
                  <a:srgbClr val="AA0D91"/>
                </a:solidFill>
                <a:effectLst/>
                <a:latin typeface="source-code-pro"/>
              </a:rPr>
              <a:t>False</a:t>
            </a:r>
            <a:r>
              <a:rPr lang="en-GB" b="0" i="0" u="none" strike="noStrike" dirty="0">
                <a:solidFill>
                  <a:srgbClr val="242424"/>
                </a:solidFill>
                <a:effectLst/>
                <a:latin typeface="source-code-pro"/>
              </a:rPr>
              <a:t> </a:t>
            </a:r>
            <a:r>
              <a:rPr lang="en-GB" b="0" i="0" u="none" strike="noStrike" dirty="0">
                <a:solidFill>
                  <a:srgbClr val="007400"/>
                </a:solidFill>
                <a:effectLst/>
                <a:latin typeface="source-code-pro"/>
              </a:rPr>
              <a:t># Freeze earlier layers</a:t>
            </a:r>
            <a:br>
              <a:rPr lang="en-GB" dirty="0"/>
            </a:br>
            <a:br>
              <a:rPr lang="en-GB" dirty="0"/>
            </a:br>
            <a:r>
              <a:rPr lang="en-GB" b="0" i="0" u="none" strike="noStrike" dirty="0" err="1">
                <a:solidFill>
                  <a:srgbClr val="242424"/>
                </a:solidFill>
                <a:effectLst/>
                <a:latin typeface="source-code-pro"/>
              </a:rPr>
              <a:t>model.</a:t>
            </a:r>
            <a:r>
              <a:rPr lang="en-GB" b="0" i="0" u="none" strike="noStrike" dirty="0" err="1">
                <a:solidFill>
                  <a:srgbClr val="5C2699"/>
                </a:solidFill>
                <a:effectLst/>
                <a:latin typeface="source-code-pro"/>
              </a:rPr>
              <a:t>compile</a:t>
            </a:r>
            <a:r>
              <a:rPr lang="en-GB" b="0" i="0" u="none" strike="noStrike" dirty="0">
                <a:solidFill>
                  <a:srgbClr val="242424"/>
                </a:solidFill>
                <a:effectLst/>
                <a:latin typeface="source-code-pro"/>
              </a:rPr>
              <a:t>(optimizer=</a:t>
            </a:r>
            <a:r>
              <a:rPr lang="en-GB" b="0" i="0" u="none" strike="noStrike" dirty="0" err="1">
                <a:solidFill>
                  <a:srgbClr val="242424"/>
                </a:solidFill>
                <a:effectLst/>
                <a:latin typeface="source-code-pro"/>
              </a:rPr>
              <a:t>tf.keras.optimizers.Adam</a:t>
            </a:r>
            <a:r>
              <a:rPr lang="en-GB" b="0" i="0" u="none" strike="noStrike" dirty="0">
                <a:solidFill>
                  <a:srgbClr val="242424"/>
                </a:solidFill>
                <a:effectLst/>
                <a:latin typeface="source-code-pro"/>
              </a:rPr>
              <a:t>(</a:t>
            </a:r>
            <a:r>
              <a:rPr lang="en-GB" b="0" i="0" u="none" strike="noStrike" dirty="0" err="1">
                <a:solidFill>
                  <a:srgbClr val="242424"/>
                </a:solidFill>
                <a:effectLst/>
                <a:latin typeface="source-code-pro"/>
              </a:rPr>
              <a:t>learning_rate</a:t>
            </a:r>
            <a:r>
              <a:rPr lang="en-GB" b="0" i="0" u="none" strike="noStrike" dirty="0">
                <a:solidFill>
                  <a:srgbClr val="242424"/>
                </a:solidFill>
                <a:effectLst/>
                <a:latin typeface="source-code-pro"/>
              </a:rPr>
              <a:t>=</a:t>
            </a:r>
            <a:r>
              <a:rPr lang="en-GB" b="0" i="0" u="none" strike="noStrike" dirty="0">
                <a:solidFill>
                  <a:srgbClr val="1C00CF"/>
                </a:solidFill>
                <a:effectLst/>
                <a:latin typeface="source-code-pro"/>
              </a:rPr>
              <a:t>0.0001</a:t>
            </a:r>
            <a:r>
              <a:rPr lang="en-GB" b="0" i="0" u="none" strike="noStrike" dirty="0">
                <a:solidFill>
                  <a:srgbClr val="242424"/>
                </a:solidFill>
                <a:effectLst/>
                <a:latin typeface="source-code-pro"/>
              </a:rPr>
              <a:t>),</a:t>
            </a:r>
            <a:br>
              <a:rPr lang="en-GB" dirty="0"/>
            </a:br>
            <a:r>
              <a:rPr lang="en-GB" b="0" i="0" u="none" strike="noStrike" dirty="0">
                <a:solidFill>
                  <a:srgbClr val="242424"/>
                </a:solidFill>
                <a:effectLst/>
                <a:latin typeface="source-code-pro"/>
              </a:rPr>
              <a:t>loss=</a:t>
            </a:r>
            <a:r>
              <a:rPr lang="en-GB" b="0" i="0" u="none" strike="noStrike" dirty="0">
                <a:solidFill>
                  <a:srgbClr val="C41A16"/>
                </a:solidFill>
                <a:effectLst/>
                <a:latin typeface="source-code-pro"/>
              </a:rPr>
              <a:t>'</a:t>
            </a:r>
            <a:r>
              <a:rPr lang="en-GB" b="0" i="0" u="none" strike="noStrike" dirty="0" err="1">
                <a:solidFill>
                  <a:srgbClr val="C41A16"/>
                </a:solidFill>
                <a:effectLst/>
                <a:latin typeface="source-code-pro"/>
              </a:rPr>
              <a:t>binary_crossentropy</a:t>
            </a:r>
            <a:r>
              <a:rPr lang="en-GB" b="0" i="0" u="none" strike="noStrike" dirty="0">
                <a:solidFill>
                  <a:srgbClr val="C41A16"/>
                </a:solidFill>
                <a:effectLst/>
                <a:latin typeface="source-code-pro"/>
              </a:rPr>
              <a:t>'</a:t>
            </a:r>
            <a:r>
              <a:rPr lang="en-GB" b="0" i="0" u="none" strike="noStrike" dirty="0">
                <a:solidFill>
                  <a:srgbClr val="242424"/>
                </a:solidFill>
                <a:effectLst/>
                <a:latin typeface="source-code-pro"/>
              </a:rPr>
              <a:t>, metrics=[</a:t>
            </a:r>
            <a:r>
              <a:rPr lang="en-GB" b="0" i="0" u="none" strike="noStrike" dirty="0">
                <a:solidFill>
                  <a:srgbClr val="C41A16"/>
                </a:solidFill>
                <a:effectLst/>
                <a:latin typeface="source-code-pro"/>
              </a:rPr>
              <a:t>'accuracy'</a:t>
            </a:r>
            <a:r>
              <a:rPr lang="en-GB" b="0" i="0" u="none" strike="noStrike" dirty="0">
                <a:solidFill>
                  <a:srgbClr val="242424"/>
                </a:solidFill>
                <a:effectLst/>
                <a:latin typeface="source-code-pro"/>
              </a:rPr>
              <a:t>])</a:t>
            </a:r>
            <a:br>
              <a:rPr lang="en-GB" dirty="0"/>
            </a:br>
            <a:br>
              <a:rPr lang="en-GB" dirty="0"/>
            </a:br>
            <a:r>
              <a:rPr lang="en-GB" b="0" i="0" u="none" strike="noStrike" dirty="0" err="1">
                <a:solidFill>
                  <a:srgbClr val="242424"/>
                </a:solidFill>
                <a:effectLst/>
                <a:latin typeface="source-code-pro"/>
              </a:rPr>
              <a:t>model.fit</a:t>
            </a:r>
            <a:r>
              <a:rPr lang="en-GB" b="0" i="0" u="none" strike="noStrike" dirty="0">
                <a:solidFill>
                  <a:srgbClr val="242424"/>
                </a:solidFill>
                <a:effectLst/>
                <a:latin typeface="source-code-pro"/>
              </a:rPr>
              <a:t>(</a:t>
            </a:r>
            <a:br>
              <a:rPr lang="en-GB" dirty="0"/>
            </a:br>
            <a:r>
              <a:rPr lang="en-GB" b="0" i="0" u="none" strike="noStrike" dirty="0" err="1">
                <a:solidFill>
                  <a:srgbClr val="242424"/>
                </a:solidFill>
                <a:effectLst/>
                <a:latin typeface="source-code-pro"/>
              </a:rPr>
              <a:t>train_generator</a:t>
            </a:r>
            <a:r>
              <a:rPr lang="en-GB" b="0" i="0" u="none" strike="noStrike" dirty="0">
                <a:solidFill>
                  <a:srgbClr val="242424"/>
                </a:solidFill>
                <a:effectLst/>
                <a:latin typeface="source-code-pro"/>
              </a:rPr>
              <a:t>,</a:t>
            </a:r>
            <a:br>
              <a:rPr lang="en-GB" dirty="0"/>
            </a:br>
            <a:r>
              <a:rPr lang="en-GB" b="0" i="0" u="none" strike="noStrike" dirty="0">
                <a:solidFill>
                  <a:srgbClr val="242424"/>
                </a:solidFill>
                <a:effectLst/>
                <a:latin typeface="source-code-pro"/>
              </a:rPr>
              <a:t>epochs=</a:t>
            </a:r>
            <a:r>
              <a:rPr lang="en-GB" b="0" i="0" u="none" strike="noStrike" dirty="0">
                <a:solidFill>
                  <a:srgbClr val="1C00CF"/>
                </a:solidFill>
                <a:effectLst/>
                <a:latin typeface="source-code-pro"/>
              </a:rPr>
              <a:t>5</a:t>
            </a:r>
            <a:r>
              <a:rPr lang="en-GB" b="0" i="0" u="none" strike="noStrike" dirty="0">
                <a:solidFill>
                  <a:srgbClr val="242424"/>
                </a:solidFill>
                <a:effectLst/>
                <a:latin typeface="source-code-pro"/>
              </a:rPr>
              <a:t>,</a:t>
            </a:r>
            <a:br>
              <a:rPr lang="en-GB" dirty="0"/>
            </a:br>
            <a:r>
              <a:rPr lang="en-GB" b="0" i="0" u="none" strike="noStrike" dirty="0" err="1">
                <a:solidFill>
                  <a:srgbClr val="242424"/>
                </a:solidFill>
                <a:effectLst/>
                <a:latin typeface="source-code-pro"/>
              </a:rPr>
              <a:t>validation_data</a:t>
            </a:r>
            <a:r>
              <a:rPr lang="en-GB" b="0" i="0" u="none" strike="noStrike" dirty="0">
                <a:solidFill>
                  <a:srgbClr val="242424"/>
                </a:solidFill>
                <a:effectLst/>
                <a:latin typeface="source-code-pro"/>
              </a:rPr>
              <a:t>=</a:t>
            </a:r>
            <a:r>
              <a:rPr lang="en-GB" b="0" i="0" u="none" strike="noStrike" dirty="0" err="1">
                <a:solidFill>
                  <a:srgbClr val="242424"/>
                </a:solidFill>
                <a:effectLst/>
                <a:latin typeface="source-code-pro"/>
              </a:rPr>
              <a:t>validation_generator</a:t>
            </a:r>
            <a:br>
              <a:rPr lang="en-GB" dirty="0"/>
            </a:br>
            <a:r>
              <a:rPr lang="en-GB" b="0" i="0" u="none" strike="noStrike" dirty="0">
                <a:solidFill>
                  <a:srgbClr val="242424"/>
                </a:solidFill>
                <a:effectLst/>
                <a:latin typeface="source-code-pro"/>
              </a:rPr>
              <a:t>)</a:t>
            </a:r>
            <a:endParaRPr lang="en-US" dirty="0"/>
          </a:p>
        </p:txBody>
      </p:sp>
    </p:spTree>
    <p:extLst>
      <p:ext uri="{BB962C8B-B14F-4D97-AF65-F5344CB8AC3E}">
        <p14:creationId xmlns:p14="http://schemas.microsoft.com/office/powerpoint/2010/main" val="1162638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9D581FA-D2D2-D755-1DB9-9A1F4941B02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578E75D-A96C-C21C-1F51-7DD98D062EB0}"/>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pPr>
              <a:lnSpc>
                <a:spcPts val="2250"/>
              </a:lnSpc>
              <a:buNone/>
            </a:pPr>
            <a:r>
              <a:rPr lang="en-GB" sz="2000" i="0" dirty="0">
                <a:solidFill>
                  <a:srgbClr val="7030A0"/>
                </a:solidFill>
                <a:effectLst/>
                <a:latin typeface="source-serif-pro"/>
              </a:rPr>
              <a:t>Transfer Learning to classify images of dogs and cats.</a:t>
            </a:r>
            <a:br>
              <a:rPr lang="en-GB" sz="2000" b="0" i="0" dirty="0">
                <a:solidFill>
                  <a:srgbClr val="7030A0"/>
                </a:solidFill>
                <a:effectLst/>
                <a:latin typeface="source-serif-pro"/>
              </a:rPr>
            </a:br>
            <a:br>
              <a:rPr lang="en-GB" sz="2000" dirty="0">
                <a:solidFill>
                  <a:srgbClr val="7030A0"/>
                </a:solidFill>
              </a:rPr>
            </a:br>
            <a:br>
              <a:rPr lang="en-GB" sz="2700" b="1" i="0" u="none" strike="noStrike" dirty="0">
                <a:solidFill>
                  <a:srgbClr val="7030A0"/>
                </a:solidFill>
                <a:effectLst/>
              </a:rPr>
            </a:br>
            <a:br>
              <a:rPr lang="en-GB" sz="2700" b="0"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BA5FCDF8-AEB7-4491-904F-68D6610CA12F}"/>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0369A72E-EDC9-E270-598F-4E8DC6283B27}"/>
              </a:ext>
            </a:extLst>
          </p:cNvPr>
          <p:cNvSpPr txBox="1"/>
          <p:nvPr/>
        </p:nvSpPr>
        <p:spPr>
          <a:xfrm>
            <a:off x="348146" y="787943"/>
            <a:ext cx="6313911" cy="307777"/>
          </a:xfrm>
          <a:prstGeom prst="rect">
            <a:avLst/>
          </a:prstGeom>
          <a:noFill/>
        </p:spPr>
        <p:txBody>
          <a:bodyPr wrap="square">
            <a:spAutoFit/>
          </a:bodyPr>
          <a:lstStyle/>
          <a:p>
            <a:r>
              <a:rPr lang="en-GB" b="0" i="0" u="none" strike="noStrike" dirty="0">
                <a:solidFill>
                  <a:srgbClr val="242424"/>
                </a:solidFill>
                <a:effectLst/>
                <a:latin typeface="source-serif-pro"/>
              </a:rPr>
              <a:t>Optional: Once trained, visualize accuracy and loss metrics using Matplotlib..</a:t>
            </a:r>
            <a:endParaRPr lang="en-US" dirty="0"/>
          </a:p>
        </p:txBody>
      </p:sp>
      <p:sp>
        <p:nvSpPr>
          <p:cNvPr id="5" name="TextBox 4">
            <a:extLst>
              <a:ext uri="{FF2B5EF4-FFF2-40B4-BE49-F238E27FC236}">
                <a16:creationId xmlns:a16="http://schemas.microsoft.com/office/drawing/2014/main" id="{7933E2BD-81C3-9289-D21B-BE624872BA10}"/>
              </a:ext>
            </a:extLst>
          </p:cNvPr>
          <p:cNvSpPr txBox="1"/>
          <p:nvPr/>
        </p:nvSpPr>
        <p:spPr>
          <a:xfrm>
            <a:off x="545094" y="1403497"/>
            <a:ext cx="6973306" cy="1815882"/>
          </a:xfrm>
          <a:prstGeom prst="rect">
            <a:avLst/>
          </a:prstGeom>
          <a:solidFill>
            <a:schemeClr val="accent6">
              <a:lumMod val="20000"/>
              <a:lumOff val="80000"/>
            </a:schemeClr>
          </a:solidFill>
        </p:spPr>
        <p:txBody>
          <a:bodyPr wrap="square">
            <a:spAutoFit/>
          </a:bodyPr>
          <a:lstStyle/>
          <a:p>
            <a:r>
              <a:rPr lang="en-GB" b="0" i="0" u="none" strike="noStrike" dirty="0">
                <a:solidFill>
                  <a:srgbClr val="AA0D91"/>
                </a:solidFill>
                <a:effectLst/>
                <a:latin typeface="source-code-pro"/>
              </a:rPr>
              <a:t>import</a:t>
            </a:r>
            <a:r>
              <a:rPr lang="en-GB" b="0" i="0" u="none" strike="noStrike" dirty="0">
                <a:solidFill>
                  <a:srgbClr val="242424"/>
                </a:solidFill>
                <a:effectLst/>
                <a:latin typeface="source-code-pro"/>
              </a:rPr>
              <a:t> </a:t>
            </a:r>
            <a:r>
              <a:rPr lang="en-GB" b="0" i="0" u="none" strike="noStrike" dirty="0" err="1">
                <a:solidFill>
                  <a:srgbClr val="242424"/>
                </a:solidFill>
                <a:effectLst/>
                <a:latin typeface="source-code-pro"/>
              </a:rPr>
              <a:t>matplotlib.pyplot</a:t>
            </a:r>
            <a:r>
              <a:rPr lang="en-GB" b="0" i="0" u="none" strike="noStrike" dirty="0">
                <a:solidFill>
                  <a:srgbClr val="242424"/>
                </a:solidFill>
                <a:effectLst/>
                <a:latin typeface="source-code-pro"/>
              </a:rPr>
              <a:t> </a:t>
            </a:r>
            <a:r>
              <a:rPr lang="en-GB" b="0" i="0" u="none" strike="noStrike" dirty="0">
                <a:solidFill>
                  <a:srgbClr val="AA0D91"/>
                </a:solidFill>
                <a:effectLst/>
                <a:latin typeface="source-code-pro"/>
              </a:rPr>
              <a:t>as</a:t>
            </a:r>
            <a:r>
              <a:rPr lang="en-GB" b="0" i="0" u="none" strike="noStrike" dirty="0">
                <a:solidFill>
                  <a:srgbClr val="242424"/>
                </a:solidFill>
                <a:effectLst/>
                <a:latin typeface="source-code-pro"/>
              </a:rPr>
              <a:t> </a:t>
            </a:r>
            <a:r>
              <a:rPr lang="en-GB" b="0" i="0" u="none" strike="noStrike" dirty="0" err="1">
                <a:solidFill>
                  <a:srgbClr val="242424"/>
                </a:solidFill>
                <a:effectLst/>
                <a:latin typeface="source-code-pro"/>
              </a:rPr>
              <a:t>plt</a:t>
            </a:r>
            <a:br>
              <a:rPr lang="en-GB" dirty="0"/>
            </a:br>
            <a:br>
              <a:rPr lang="en-GB" dirty="0"/>
            </a:br>
            <a:r>
              <a:rPr lang="en-GB" b="0" i="0" u="none" strike="noStrike" dirty="0">
                <a:solidFill>
                  <a:srgbClr val="007400"/>
                </a:solidFill>
                <a:effectLst/>
                <a:latin typeface="source-code-pro"/>
              </a:rPr>
              <a:t># Example: Plot accuracy</a:t>
            </a:r>
            <a:br>
              <a:rPr lang="en-GB" dirty="0"/>
            </a:br>
            <a:r>
              <a:rPr lang="en-GB" b="0" i="0" u="none" strike="noStrike" dirty="0" err="1">
                <a:solidFill>
                  <a:srgbClr val="242424"/>
                </a:solidFill>
                <a:effectLst/>
                <a:latin typeface="source-code-pro"/>
              </a:rPr>
              <a:t>plt.plot</a:t>
            </a:r>
            <a:r>
              <a:rPr lang="en-GB" b="0" i="0" u="none" strike="noStrike" dirty="0">
                <a:solidFill>
                  <a:srgbClr val="242424"/>
                </a:solidFill>
                <a:effectLst/>
                <a:latin typeface="source-code-pro"/>
              </a:rPr>
              <a:t>(</a:t>
            </a:r>
            <a:r>
              <a:rPr lang="en-GB" b="0" i="0" u="none" strike="noStrike" dirty="0" err="1">
                <a:solidFill>
                  <a:srgbClr val="242424"/>
                </a:solidFill>
                <a:effectLst/>
                <a:latin typeface="source-code-pro"/>
              </a:rPr>
              <a:t>history.history</a:t>
            </a:r>
            <a:r>
              <a:rPr lang="en-GB" b="0" i="0" u="none" strike="noStrike" dirty="0">
                <a:solidFill>
                  <a:srgbClr val="242424"/>
                </a:solidFill>
                <a:effectLst/>
                <a:latin typeface="source-code-pro"/>
              </a:rPr>
              <a:t>[</a:t>
            </a:r>
            <a:r>
              <a:rPr lang="en-GB" b="0" i="0" u="none" strike="noStrike" dirty="0">
                <a:solidFill>
                  <a:srgbClr val="C41A16"/>
                </a:solidFill>
                <a:effectLst/>
                <a:latin typeface="source-code-pro"/>
              </a:rPr>
              <a:t>'accuracy'</a:t>
            </a:r>
            <a:r>
              <a:rPr lang="en-GB" b="0" i="0" u="none" strike="noStrike" dirty="0">
                <a:solidFill>
                  <a:srgbClr val="242424"/>
                </a:solidFill>
                <a:effectLst/>
                <a:latin typeface="source-code-pro"/>
              </a:rPr>
              <a:t>], label=</a:t>
            </a:r>
            <a:r>
              <a:rPr lang="en-GB" b="0" i="0" u="none" strike="noStrike" dirty="0">
                <a:solidFill>
                  <a:srgbClr val="C41A16"/>
                </a:solidFill>
                <a:effectLst/>
                <a:latin typeface="source-code-pro"/>
              </a:rPr>
              <a:t>'Training Accuracy'</a:t>
            </a:r>
            <a:r>
              <a:rPr lang="en-GB" b="0" i="0" u="none" strike="noStrike" dirty="0">
                <a:solidFill>
                  <a:srgbClr val="242424"/>
                </a:solidFill>
                <a:effectLst/>
                <a:latin typeface="source-code-pro"/>
              </a:rPr>
              <a:t>)</a:t>
            </a:r>
            <a:br>
              <a:rPr lang="en-GB" dirty="0"/>
            </a:br>
            <a:r>
              <a:rPr lang="en-GB" b="0" i="0" u="none" strike="noStrike" dirty="0" err="1">
                <a:solidFill>
                  <a:srgbClr val="242424"/>
                </a:solidFill>
                <a:effectLst/>
                <a:latin typeface="source-code-pro"/>
              </a:rPr>
              <a:t>plt.plot</a:t>
            </a:r>
            <a:r>
              <a:rPr lang="en-GB" b="0" i="0" u="none" strike="noStrike" dirty="0">
                <a:solidFill>
                  <a:srgbClr val="242424"/>
                </a:solidFill>
                <a:effectLst/>
                <a:latin typeface="source-code-pro"/>
              </a:rPr>
              <a:t>(</a:t>
            </a:r>
            <a:r>
              <a:rPr lang="en-GB" b="0" i="0" u="none" strike="noStrike" dirty="0" err="1">
                <a:solidFill>
                  <a:srgbClr val="242424"/>
                </a:solidFill>
                <a:effectLst/>
                <a:latin typeface="source-code-pro"/>
              </a:rPr>
              <a:t>history.history</a:t>
            </a:r>
            <a:r>
              <a:rPr lang="en-GB" b="0" i="0" u="none" strike="noStrike" dirty="0">
                <a:solidFill>
                  <a:srgbClr val="242424"/>
                </a:solidFill>
                <a:effectLst/>
                <a:latin typeface="source-code-pro"/>
              </a:rPr>
              <a:t>[</a:t>
            </a:r>
            <a:r>
              <a:rPr lang="en-GB" b="0" i="0" u="none" strike="noStrike" dirty="0">
                <a:solidFill>
                  <a:srgbClr val="C41A16"/>
                </a:solidFill>
                <a:effectLst/>
                <a:latin typeface="source-code-pro"/>
              </a:rPr>
              <a:t>'</a:t>
            </a:r>
            <a:r>
              <a:rPr lang="en-GB" b="0" i="0" u="none" strike="noStrike" dirty="0" err="1">
                <a:solidFill>
                  <a:srgbClr val="C41A16"/>
                </a:solidFill>
                <a:effectLst/>
                <a:latin typeface="source-code-pro"/>
              </a:rPr>
              <a:t>val_accuracy</a:t>
            </a:r>
            <a:r>
              <a:rPr lang="en-GB" b="0" i="0" u="none" strike="noStrike" dirty="0">
                <a:solidFill>
                  <a:srgbClr val="C41A16"/>
                </a:solidFill>
                <a:effectLst/>
                <a:latin typeface="source-code-pro"/>
              </a:rPr>
              <a:t>'</a:t>
            </a:r>
            <a:r>
              <a:rPr lang="en-GB" b="0" i="0" u="none" strike="noStrike" dirty="0">
                <a:solidFill>
                  <a:srgbClr val="242424"/>
                </a:solidFill>
                <a:effectLst/>
                <a:latin typeface="source-code-pro"/>
              </a:rPr>
              <a:t>], label=</a:t>
            </a:r>
            <a:r>
              <a:rPr lang="en-GB" b="0" i="0" u="none" strike="noStrike" dirty="0">
                <a:solidFill>
                  <a:srgbClr val="C41A16"/>
                </a:solidFill>
                <a:effectLst/>
                <a:latin typeface="source-code-pro"/>
              </a:rPr>
              <a:t>'Validation Accuracy'</a:t>
            </a:r>
            <a:r>
              <a:rPr lang="en-GB" b="0" i="0" u="none" strike="noStrike" dirty="0">
                <a:solidFill>
                  <a:srgbClr val="242424"/>
                </a:solidFill>
                <a:effectLst/>
                <a:latin typeface="source-code-pro"/>
              </a:rPr>
              <a:t>)</a:t>
            </a:r>
            <a:br>
              <a:rPr lang="en-GB" dirty="0"/>
            </a:br>
            <a:r>
              <a:rPr lang="en-GB" b="0" i="0" u="none" strike="noStrike" dirty="0" err="1">
                <a:solidFill>
                  <a:srgbClr val="242424"/>
                </a:solidFill>
                <a:effectLst/>
                <a:latin typeface="source-code-pro"/>
              </a:rPr>
              <a:t>plt.legend</a:t>
            </a:r>
            <a:r>
              <a:rPr lang="en-GB" b="0" i="0" u="none" strike="noStrike" dirty="0">
                <a:solidFill>
                  <a:srgbClr val="242424"/>
                </a:solidFill>
                <a:effectLst/>
                <a:latin typeface="source-code-pro"/>
              </a:rPr>
              <a:t>()</a:t>
            </a:r>
            <a:br>
              <a:rPr lang="en-GB" dirty="0"/>
            </a:br>
            <a:r>
              <a:rPr lang="en-GB" b="0" i="0" u="none" strike="noStrike" dirty="0" err="1">
                <a:solidFill>
                  <a:srgbClr val="242424"/>
                </a:solidFill>
                <a:effectLst/>
                <a:latin typeface="source-code-pro"/>
              </a:rPr>
              <a:t>plt.title</a:t>
            </a:r>
            <a:r>
              <a:rPr lang="en-GB" b="0" i="0" u="none" strike="noStrike" dirty="0">
                <a:solidFill>
                  <a:srgbClr val="242424"/>
                </a:solidFill>
                <a:effectLst/>
                <a:latin typeface="source-code-pro"/>
              </a:rPr>
              <a:t>(</a:t>
            </a:r>
            <a:r>
              <a:rPr lang="en-GB" b="0" i="0" u="none" strike="noStrike" dirty="0">
                <a:solidFill>
                  <a:srgbClr val="C41A16"/>
                </a:solidFill>
                <a:effectLst/>
                <a:latin typeface="source-code-pro"/>
              </a:rPr>
              <a:t>'Model Accuracy'</a:t>
            </a:r>
            <a:r>
              <a:rPr lang="en-GB" b="0" i="0" u="none" strike="noStrike" dirty="0">
                <a:solidFill>
                  <a:srgbClr val="242424"/>
                </a:solidFill>
                <a:effectLst/>
                <a:latin typeface="source-code-pro"/>
              </a:rPr>
              <a:t>)</a:t>
            </a:r>
            <a:br>
              <a:rPr lang="en-GB" dirty="0"/>
            </a:br>
            <a:r>
              <a:rPr lang="en-GB" b="0" i="0" u="none" strike="noStrike" dirty="0" err="1">
                <a:solidFill>
                  <a:srgbClr val="242424"/>
                </a:solidFill>
                <a:effectLst/>
                <a:latin typeface="source-code-pro"/>
              </a:rPr>
              <a:t>plt.show</a:t>
            </a:r>
            <a:r>
              <a:rPr lang="en-GB" b="0" i="0" u="none" strike="noStrike" dirty="0">
                <a:solidFill>
                  <a:srgbClr val="242424"/>
                </a:solidFill>
                <a:effectLst/>
                <a:latin typeface="source-code-pro"/>
              </a:rPr>
              <a:t>()</a:t>
            </a:r>
            <a:endParaRPr lang="en-US" dirty="0"/>
          </a:p>
        </p:txBody>
      </p:sp>
    </p:spTree>
    <p:extLst>
      <p:ext uri="{BB962C8B-B14F-4D97-AF65-F5344CB8AC3E}">
        <p14:creationId xmlns:p14="http://schemas.microsoft.com/office/powerpoint/2010/main" val="3474147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50EB967-E2D7-A4CC-11AC-B3D285FC3047}"/>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8387224-DB22-C0AF-E718-0958A0B4D608}"/>
              </a:ext>
            </a:extLst>
          </p:cNvPr>
          <p:cNvSpPr txBox="1">
            <a:spLocks noGrp="1"/>
          </p:cNvSpPr>
          <p:nvPr>
            <p:ph type="title"/>
          </p:nvPr>
        </p:nvSpPr>
        <p:spPr>
          <a:xfrm>
            <a:off x="309204" y="167300"/>
            <a:ext cx="7480368" cy="627900"/>
          </a:xfrm>
          <a:prstGeom prst="rect">
            <a:avLst/>
          </a:prstGeom>
          <a:noFill/>
          <a:ln>
            <a:noFill/>
          </a:ln>
        </p:spPr>
        <p:txBody>
          <a:bodyPr spcFirstLastPara="1" wrap="square" lIns="91425" tIns="91425" rIns="91425" bIns="91425" anchor="t" anchorCtr="0">
            <a:noAutofit/>
          </a:bodyPr>
          <a:lstStyle/>
          <a:p>
            <a:pPr>
              <a:lnSpc>
                <a:spcPts val="2250"/>
              </a:lnSpc>
            </a:pPr>
            <a:r>
              <a:rPr lang="en-GB" sz="2400" i="0" dirty="0">
                <a:solidFill>
                  <a:srgbClr val="7030A0"/>
                </a:solidFill>
                <a:effectLst/>
                <a:latin typeface="source-serif-pro"/>
              </a:rPr>
              <a:t>What Is Domain-Specific Model Fine-Tuning &amp; Why Is It Important?</a:t>
            </a:r>
            <a:br>
              <a:rPr lang="en-GB" sz="2400" i="0" dirty="0">
                <a:solidFill>
                  <a:srgbClr val="7030A0"/>
                </a:solidFill>
                <a:effectLst/>
                <a:latin typeface="source-serif-pro"/>
              </a:rPr>
            </a:br>
            <a:br>
              <a:rPr lang="en-GB" sz="2400" b="0" i="0" dirty="0">
                <a:solidFill>
                  <a:srgbClr val="7030A0"/>
                </a:solidFill>
                <a:effectLst/>
                <a:latin typeface="source-serif-pro"/>
              </a:rPr>
            </a:br>
            <a:br>
              <a:rPr lang="en-GB" sz="2400" dirty="0">
                <a:solidFill>
                  <a:srgbClr val="7030A0"/>
                </a:solidFill>
              </a:rPr>
            </a:br>
            <a:br>
              <a:rPr lang="en-GB" sz="2400" b="1" i="0" u="none" strike="noStrike" dirty="0">
                <a:solidFill>
                  <a:srgbClr val="7030A0"/>
                </a:solidFill>
                <a:effectLst/>
              </a:rPr>
            </a:br>
            <a:br>
              <a:rPr lang="en-GB" sz="2400" b="0" i="0" u="none" strike="noStrike" dirty="0">
                <a:solidFill>
                  <a:srgbClr val="7030A0"/>
                </a:solidFill>
                <a:effectLst/>
              </a:rPr>
            </a:br>
            <a:endParaRPr lang="en-GB" sz="24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01524964-B091-F370-0062-210ECA0D9D1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A10AB099-A4F4-7FFE-BF5A-7822C86B713E}"/>
              </a:ext>
            </a:extLst>
          </p:cNvPr>
          <p:cNvSpPr txBox="1"/>
          <p:nvPr/>
        </p:nvSpPr>
        <p:spPr>
          <a:xfrm>
            <a:off x="609403" y="795200"/>
            <a:ext cx="7480367" cy="4185761"/>
          </a:xfrm>
          <a:prstGeom prst="rect">
            <a:avLst/>
          </a:prstGeom>
          <a:noFill/>
        </p:spPr>
        <p:txBody>
          <a:bodyPr wrap="square">
            <a:spAutoFit/>
          </a:bodyPr>
          <a:lstStyle/>
          <a:p>
            <a:pPr algn="l">
              <a:buNone/>
            </a:pPr>
            <a:r>
              <a:rPr lang="en-GB" b="0" i="0" u="none" strike="noStrike" dirty="0">
                <a:solidFill>
                  <a:srgbClr val="000000"/>
                </a:solidFill>
                <a:effectLst/>
              </a:rPr>
              <a:t>Domain-specific model fine-tuning is the process of adapting a general-purpose AI model (typically pre-trained on broad datasets) to perform exceptionally well within a specialized field like medicine, law, finance, or engineering.</a:t>
            </a:r>
          </a:p>
          <a:p>
            <a:pPr algn="l"/>
            <a:r>
              <a:rPr lang="en-GB" b="1" i="0" u="none" strike="noStrike" dirty="0">
                <a:solidFill>
                  <a:srgbClr val="000000"/>
                </a:solidFill>
                <a:effectLst/>
              </a:rPr>
              <a:t>Process:</a:t>
            </a:r>
            <a:r>
              <a:rPr lang="en-GB" b="0" i="0" u="none" strike="noStrike" dirty="0">
                <a:solidFill>
                  <a:srgbClr val="000000"/>
                </a:solidFill>
                <a:effectLst/>
              </a:rPr>
              <a:t> It involves adjusting the model's parameters using data specifically from that domain. This helps the model focus on the unique requirements, vocabulary, context, and data structures inherent to that specialized field.</a:t>
            </a:r>
          </a:p>
          <a:p>
            <a:pPr marL="742950" lvl="1" indent="-285750" algn="l">
              <a:buFont typeface="Arial" panose="020B0604020202020204" pitchFamily="34" charset="0"/>
              <a:buChar char="•"/>
            </a:pPr>
            <a:r>
              <a:rPr lang="en-GB" b="0" i="1" u="none" strike="noStrike" dirty="0">
                <a:solidFill>
                  <a:srgbClr val="000000"/>
                </a:solidFill>
                <a:effectLst/>
              </a:rPr>
              <a:t>Example:</a:t>
            </a:r>
            <a:r>
              <a:rPr lang="en-GB" b="0" i="0" u="none" strike="noStrike" dirty="0">
                <a:solidFill>
                  <a:srgbClr val="000000"/>
                </a:solidFill>
                <a:effectLst/>
              </a:rPr>
              <a:t> A language model trained on general internet text might be fine-tuned with medical journals to improve its accuracy in medical diagnosis or information retrieval.</a:t>
            </a:r>
          </a:p>
          <a:p>
            <a:pPr algn="l">
              <a:buNone/>
            </a:pPr>
            <a:r>
              <a:rPr lang="en-GB" sz="1600" b="1" i="0" u="none" strike="noStrike" dirty="0">
                <a:solidFill>
                  <a:srgbClr val="000000"/>
                </a:solidFill>
                <a:effectLst/>
              </a:rPr>
              <a:t>Importance:</a:t>
            </a:r>
            <a:endParaRPr lang="en-GB" sz="1600" b="0" i="0" u="none" strike="noStrike" dirty="0">
              <a:solidFill>
                <a:srgbClr val="000000"/>
              </a:solidFill>
              <a:effectLst/>
            </a:endParaRPr>
          </a:p>
          <a:p>
            <a:pPr marL="342900" indent="-342900" algn="l">
              <a:buFont typeface="+mj-lt"/>
              <a:buAutoNum type="arabicPeriod"/>
            </a:pPr>
            <a:r>
              <a:rPr lang="en-GB" b="1" i="0" u="none" strike="noStrike" dirty="0">
                <a:solidFill>
                  <a:srgbClr val="000000"/>
                </a:solidFill>
                <a:effectLst/>
              </a:rPr>
              <a:t>Addresses Precision Gap:</a:t>
            </a:r>
            <a:r>
              <a:rPr lang="en-GB" b="0" i="0" u="none" strike="noStrike" dirty="0">
                <a:solidFill>
                  <a:srgbClr val="000000"/>
                </a:solidFill>
                <a:effectLst/>
              </a:rPr>
              <a:t> General-purpose models, while versatile, often lack the precision, specific vocabulary, and contextual understanding required for specialized applications.</a:t>
            </a:r>
          </a:p>
          <a:p>
            <a:pPr marL="342900" indent="-342900" algn="l">
              <a:buFont typeface="+mj-lt"/>
              <a:buAutoNum type="arabicPeriod"/>
            </a:pPr>
            <a:r>
              <a:rPr lang="en-GB" b="1" i="0" u="none" strike="noStrike" dirty="0">
                <a:solidFill>
                  <a:srgbClr val="000000"/>
                </a:solidFill>
                <a:effectLst/>
              </a:rPr>
              <a:t>Industry-Specific Alignment:</a:t>
            </a:r>
            <a:r>
              <a:rPr lang="en-GB" b="0" i="0" u="none" strike="noStrike" dirty="0">
                <a:solidFill>
                  <a:srgbClr val="000000"/>
                </a:solidFill>
                <a:effectLst/>
              </a:rPr>
              <a:t> Fine-tuning bridges this gap by exposing the model to industry-specific terminology, patterns, and workflows.</a:t>
            </a:r>
          </a:p>
          <a:p>
            <a:pPr marL="342900" indent="-342900" algn="l">
              <a:buFont typeface="+mj-lt"/>
              <a:buAutoNum type="arabicPeriod"/>
            </a:pPr>
            <a:r>
              <a:rPr lang="en-GB" b="1" i="0" u="none" strike="noStrike" dirty="0">
                <a:solidFill>
                  <a:srgbClr val="000000"/>
                </a:solidFill>
                <a:effectLst/>
              </a:rPr>
              <a:t>Meets Stringent Requirements:</a:t>
            </a:r>
            <a:r>
              <a:rPr lang="en-GB" b="0" i="0" u="none" strike="noStrike" dirty="0">
                <a:solidFill>
                  <a:srgbClr val="000000"/>
                </a:solidFill>
                <a:effectLst/>
              </a:rPr>
              <a:t> It enables AI systems to meet the high accuracy, reliability, and often regulatory standards critical in risk-sensitive fields such as healthcare or finance, where errors have severe consequences.</a:t>
            </a:r>
          </a:p>
          <a:p>
            <a:pPr marL="342900" indent="-342900">
              <a:buFont typeface="+mj-lt"/>
              <a:buAutoNum type="arabicPeriod"/>
            </a:pPr>
            <a:endParaRPr lang="en-US" dirty="0"/>
          </a:p>
        </p:txBody>
      </p:sp>
    </p:spTree>
    <p:extLst>
      <p:ext uri="{BB962C8B-B14F-4D97-AF65-F5344CB8AC3E}">
        <p14:creationId xmlns:p14="http://schemas.microsoft.com/office/powerpoint/2010/main" val="3835826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CDB043E-CF0A-97D0-8E9E-E835A49E855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E96487F-ADB5-90A5-E5EC-BE46163BEA89}"/>
              </a:ext>
            </a:extLst>
          </p:cNvPr>
          <p:cNvSpPr txBox="1">
            <a:spLocks noGrp="1"/>
          </p:cNvSpPr>
          <p:nvPr>
            <p:ph type="title"/>
          </p:nvPr>
        </p:nvSpPr>
        <p:spPr>
          <a:xfrm>
            <a:off x="309204" y="167300"/>
            <a:ext cx="7480368" cy="627900"/>
          </a:xfrm>
          <a:prstGeom prst="rect">
            <a:avLst/>
          </a:prstGeom>
          <a:noFill/>
          <a:ln>
            <a:noFill/>
          </a:ln>
        </p:spPr>
        <p:txBody>
          <a:bodyPr spcFirstLastPara="1" wrap="square" lIns="91425" tIns="91425" rIns="91425" bIns="91425" anchor="t" anchorCtr="0">
            <a:noAutofit/>
          </a:bodyPr>
          <a:lstStyle/>
          <a:p>
            <a:pPr>
              <a:lnSpc>
                <a:spcPts val="2250"/>
              </a:lnSpc>
            </a:pPr>
            <a:r>
              <a:rPr lang="en-GB" sz="2400" i="0" dirty="0">
                <a:solidFill>
                  <a:srgbClr val="7030A0"/>
                </a:solidFill>
                <a:effectLst/>
                <a:latin typeface="source-serif-pro"/>
              </a:rPr>
              <a:t>Fine-Tuning for Domain-Specific Applications</a:t>
            </a:r>
            <a:br>
              <a:rPr lang="en-GB" sz="2400" i="0" dirty="0">
                <a:solidFill>
                  <a:srgbClr val="7030A0"/>
                </a:solidFill>
                <a:effectLst/>
                <a:latin typeface="source-serif-pro"/>
              </a:rPr>
            </a:br>
            <a:br>
              <a:rPr lang="en-GB" sz="2400" i="0" dirty="0">
                <a:solidFill>
                  <a:srgbClr val="7030A0"/>
                </a:solidFill>
                <a:effectLst/>
                <a:latin typeface="source-serif-pro"/>
              </a:rPr>
            </a:br>
            <a:br>
              <a:rPr lang="en-GB" sz="2400" b="0" i="0" dirty="0">
                <a:solidFill>
                  <a:srgbClr val="7030A0"/>
                </a:solidFill>
                <a:effectLst/>
                <a:latin typeface="source-serif-pro"/>
              </a:rPr>
            </a:br>
            <a:br>
              <a:rPr lang="en-GB" sz="2400" dirty="0">
                <a:solidFill>
                  <a:srgbClr val="7030A0"/>
                </a:solidFill>
              </a:rPr>
            </a:br>
            <a:br>
              <a:rPr lang="en-GB" sz="2400" b="1" i="0" u="none" strike="noStrike" dirty="0">
                <a:solidFill>
                  <a:srgbClr val="7030A0"/>
                </a:solidFill>
                <a:effectLst/>
              </a:rPr>
            </a:br>
            <a:br>
              <a:rPr lang="en-GB" sz="2400" b="0" i="0" u="none" strike="noStrike" dirty="0">
                <a:solidFill>
                  <a:srgbClr val="7030A0"/>
                </a:solidFill>
                <a:effectLst/>
              </a:rPr>
            </a:br>
            <a:endParaRPr lang="en-GB" sz="24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4FA3E097-D003-A6DF-5D6A-D538FBFDF9B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7B1A96D4-56D4-D7EE-E5CB-451F6378C55F}"/>
              </a:ext>
            </a:extLst>
          </p:cNvPr>
          <p:cNvSpPr txBox="1"/>
          <p:nvPr/>
        </p:nvSpPr>
        <p:spPr>
          <a:xfrm>
            <a:off x="449745" y="532489"/>
            <a:ext cx="7480367" cy="2677656"/>
          </a:xfrm>
          <a:prstGeom prst="rect">
            <a:avLst/>
          </a:prstGeom>
          <a:noFill/>
        </p:spPr>
        <p:txBody>
          <a:bodyPr wrap="square">
            <a:spAutoFit/>
          </a:bodyPr>
          <a:lstStyle/>
          <a:p>
            <a:pPr>
              <a:buNone/>
            </a:pPr>
            <a:r>
              <a:rPr lang="en-GB" b="1" dirty="0"/>
              <a:t>What is Fine-tuning?</a:t>
            </a:r>
          </a:p>
          <a:p>
            <a:pPr>
              <a:buNone/>
            </a:pPr>
            <a:r>
              <a:rPr lang="en-GB" dirty="0"/>
              <a:t>Fine-tuning is the process of taking a </a:t>
            </a:r>
            <a:r>
              <a:rPr lang="en-GB" b="1" dirty="0"/>
              <a:t>pre-trained model</a:t>
            </a:r>
            <a:r>
              <a:rPr lang="en-GB" dirty="0"/>
              <a:t> (trained on a large general dataset) and </a:t>
            </a:r>
            <a:r>
              <a:rPr lang="en-GB" b="1" dirty="0"/>
              <a:t>adapting it to a specific task or domain</a:t>
            </a:r>
            <a:r>
              <a:rPr lang="en-GB" dirty="0"/>
              <a:t> (like detecting pneumonia in chest X-rays or classifying satellite images).</a:t>
            </a:r>
          </a:p>
          <a:p>
            <a:pPr>
              <a:buNone/>
            </a:pPr>
            <a:r>
              <a:rPr lang="en-GB" dirty="0"/>
              <a:t>It allows us to </a:t>
            </a:r>
            <a:r>
              <a:rPr lang="en-GB" b="1" dirty="0"/>
              <a:t>save time, resources</a:t>
            </a:r>
            <a:r>
              <a:rPr lang="en-GB" dirty="0"/>
              <a:t>, and get </a:t>
            </a:r>
            <a:r>
              <a:rPr lang="en-GB" b="1" dirty="0"/>
              <a:t>better performance</a:t>
            </a:r>
            <a:r>
              <a:rPr lang="en-GB" dirty="0"/>
              <a:t>, especially when we have limited data.</a:t>
            </a:r>
          </a:p>
          <a:p>
            <a:pPr>
              <a:buNone/>
            </a:pPr>
            <a:r>
              <a:rPr lang="en-GB" b="1" dirty="0"/>
              <a:t>Steps to Fine-tune a Pre-trained Model</a:t>
            </a:r>
          </a:p>
          <a:p>
            <a:r>
              <a:rPr lang="en-GB" dirty="0"/>
              <a:t>Let’s say we are fine-tuning </a:t>
            </a:r>
            <a:r>
              <a:rPr lang="en-GB" b="1" dirty="0"/>
              <a:t>ResNet50</a:t>
            </a:r>
            <a:r>
              <a:rPr lang="en-GB" dirty="0"/>
              <a:t> (a vision model trained on ImageNet) to classify </a:t>
            </a:r>
            <a:r>
              <a:rPr lang="en-GB" b="1" dirty="0"/>
              <a:t>X-ray images</a:t>
            </a:r>
            <a:r>
              <a:rPr lang="en-GB" dirty="0"/>
              <a:t>.</a:t>
            </a:r>
          </a:p>
          <a:p>
            <a:r>
              <a:rPr lang="en-GB" dirty="0"/>
              <a:t>1. </a:t>
            </a:r>
            <a:r>
              <a:rPr lang="en-GB" b="1" dirty="0"/>
              <a:t>Load a Pre-trained Model</a:t>
            </a:r>
            <a:endParaRPr lang="en-GB" dirty="0"/>
          </a:p>
          <a:p>
            <a:endParaRPr lang="en-GB" dirty="0"/>
          </a:p>
          <a:p>
            <a:pPr marL="342900" indent="-342900">
              <a:buFont typeface="+mj-lt"/>
              <a:buAutoNum type="arabicPeriod"/>
            </a:pPr>
            <a:endParaRPr lang="en-US" dirty="0"/>
          </a:p>
        </p:txBody>
      </p:sp>
      <p:sp>
        <p:nvSpPr>
          <p:cNvPr id="5" name="TextBox 4">
            <a:extLst>
              <a:ext uri="{FF2B5EF4-FFF2-40B4-BE49-F238E27FC236}">
                <a16:creationId xmlns:a16="http://schemas.microsoft.com/office/drawing/2014/main" id="{753F83ED-198D-90EE-E1C2-FDE62F141FFB}"/>
              </a:ext>
            </a:extLst>
          </p:cNvPr>
          <p:cNvSpPr txBox="1"/>
          <p:nvPr/>
        </p:nvSpPr>
        <p:spPr>
          <a:xfrm>
            <a:off x="899715" y="2799089"/>
            <a:ext cx="4648200" cy="523220"/>
          </a:xfrm>
          <a:prstGeom prst="rect">
            <a:avLst/>
          </a:prstGeom>
          <a:solidFill>
            <a:schemeClr val="accent6">
              <a:lumMod val="20000"/>
              <a:lumOff val="80000"/>
            </a:schemeClr>
          </a:solidFill>
        </p:spPr>
        <p:txBody>
          <a:bodyPr wrap="square">
            <a:spAutoFit/>
          </a:bodyPr>
          <a:lstStyle/>
          <a:p>
            <a:r>
              <a:rPr lang="en-US" dirty="0"/>
              <a:t>from </a:t>
            </a:r>
            <a:r>
              <a:rPr lang="en-US" dirty="0" err="1"/>
              <a:t>torchvision</a:t>
            </a:r>
            <a:r>
              <a:rPr lang="en-US" dirty="0"/>
              <a:t> import models</a:t>
            </a:r>
          </a:p>
          <a:p>
            <a:r>
              <a:rPr lang="en-US" dirty="0"/>
              <a:t>model = models.resnet50(pretrained=True)</a:t>
            </a:r>
          </a:p>
        </p:txBody>
      </p:sp>
      <p:sp>
        <p:nvSpPr>
          <p:cNvPr id="6" name="TextBox 5">
            <a:extLst>
              <a:ext uri="{FF2B5EF4-FFF2-40B4-BE49-F238E27FC236}">
                <a16:creationId xmlns:a16="http://schemas.microsoft.com/office/drawing/2014/main" id="{B9BE49DA-F2F4-5DEF-391F-EA4F74D05ABB}"/>
              </a:ext>
            </a:extLst>
          </p:cNvPr>
          <p:cNvSpPr txBox="1"/>
          <p:nvPr/>
        </p:nvSpPr>
        <p:spPr>
          <a:xfrm>
            <a:off x="524329" y="3414703"/>
            <a:ext cx="7175500" cy="523220"/>
          </a:xfrm>
          <a:prstGeom prst="rect">
            <a:avLst/>
          </a:prstGeom>
          <a:noFill/>
        </p:spPr>
        <p:txBody>
          <a:bodyPr wrap="square">
            <a:spAutoFit/>
          </a:bodyPr>
          <a:lstStyle/>
          <a:p>
            <a:pPr>
              <a:buNone/>
            </a:pPr>
            <a:r>
              <a:rPr lang="en-GB" b="1" dirty="0"/>
              <a:t>2. Modify the Final Layer</a:t>
            </a:r>
          </a:p>
          <a:p>
            <a:r>
              <a:rPr lang="en-GB" dirty="0"/>
              <a:t>We change the final fully connected layer to match our number of output classes:</a:t>
            </a:r>
          </a:p>
        </p:txBody>
      </p:sp>
      <p:sp>
        <p:nvSpPr>
          <p:cNvPr id="8" name="TextBox 7">
            <a:extLst>
              <a:ext uri="{FF2B5EF4-FFF2-40B4-BE49-F238E27FC236}">
                <a16:creationId xmlns:a16="http://schemas.microsoft.com/office/drawing/2014/main" id="{80EBAF1D-BC62-D62B-D230-790CD509EE42}"/>
              </a:ext>
            </a:extLst>
          </p:cNvPr>
          <p:cNvSpPr txBox="1"/>
          <p:nvPr/>
        </p:nvSpPr>
        <p:spPr>
          <a:xfrm>
            <a:off x="778329" y="4030317"/>
            <a:ext cx="6660242" cy="523220"/>
          </a:xfrm>
          <a:prstGeom prst="rect">
            <a:avLst/>
          </a:prstGeom>
          <a:solidFill>
            <a:schemeClr val="accent6">
              <a:lumMod val="20000"/>
              <a:lumOff val="80000"/>
            </a:schemeClr>
          </a:solidFill>
        </p:spPr>
        <p:txBody>
          <a:bodyPr wrap="square">
            <a:spAutoFit/>
          </a:bodyPr>
          <a:lstStyle/>
          <a:p>
            <a:r>
              <a:rPr lang="en-US" dirty="0"/>
              <a:t>import </a:t>
            </a:r>
            <a:r>
              <a:rPr lang="en-US" dirty="0" err="1"/>
              <a:t>torch.nn</a:t>
            </a:r>
            <a:r>
              <a:rPr lang="en-US" dirty="0"/>
              <a:t> as </a:t>
            </a:r>
            <a:r>
              <a:rPr lang="en-US" dirty="0" err="1"/>
              <a:t>nn</a:t>
            </a:r>
            <a:endParaRPr lang="en-US" dirty="0"/>
          </a:p>
          <a:p>
            <a:r>
              <a:rPr lang="en-US" dirty="0" err="1"/>
              <a:t>model.fc</a:t>
            </a:r>
            <a:r>
              <a:rPr lang="en-US" dirty="0"/>
              <a:t> = </a:t>
            </a:r>
            <a:r>
              <a:rPr lang="en-US" dirty="0" err="1"/>
              <a:t>nn.Linear</a:t>
            </a:r>
            <a:r>
              <a:rPr lang="en-US" dirty="0"/>
              <a:t>(2048, </a:t>
            </a:r>
            <a:r>
              <a:rPr lang="en-US" dirty="0" err="1"/>
              <a:t>num_classes</a:t>
            </a:r>
            <a:r>
              <a:rPr lang="en-US" dirty="0"/>
              <a:t>)  # For example, </a:t>
            </a:r>
            <a:r>
              <a:rPr lang="en-US" dirty="0" err="1"/>
              <a:t>num_classes</a:t>
            </a:r>
            <a:r>
              <a:rPr lang="en-US" dirty="0"/>
              <a:t> = 3</a:t>
            </a:r>
          </a:p>
        </p:txBody>
      </p:sp>
    </p:spTree>
    <p:extLst>
      <p:ext uri="{BB962C8B-B14F-4D97-AF65-F5344CB8AC3E}">
        <p14:creationId xmlns:p14="http://schemas.microsoft.com/office/powerpoint/2010/main" val="29066373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8145541-E8A2-7706-FE44-7BC7CD8F78D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85B4D4F-DF84-F7B0-C731-48CDCA79AD5C}"/>
              </a:ext>
            </a:extLst>
          </p:cNvPr>
          <p:cNvSpPr txBox="1">
            <a:spLocks noGrp="1"/>
          </p:cNvSpPr>
          <p:nvPr>
            <p:ph type="title"/>
          </p:nvPr>
        </p:nvSpPr>
        <p:spPr>
          <a:xfrm>
            <a:off x="309204" y="167300"/>
            <a:ext cx="7480368" cy="627900"/>
          </a:xfrm>
          <a:prstGeom prst="rect">
            <a:avLst/>
          </a:prstGeom>
          <a:noFill/>
          <a:ln>
            <a:noFill/>
          </a:ln>
        </p:spPr>
        <p:txBody>
          <a:bodyPr spcFirstLastPara="1" wrap="square" lIns="91425" tIns="91425" rIns="91425" bIns="91425" anchor="t" anchorCtr="0">
            <a:noAutofit/>
          </a:bodyPr>
          <a:lstStyle/>
          <a:p>
            <a:pPr>
              <a:lnSpc>
                <a:spcPts val="2250"/>
              </a:lnSpc>
            </a:pPr>
            <a:r>
              <a:rPr lang="en-GB" sz="2400" i="0" dirty="0">
                <a:solidFill>
                  <a:srgbClr val="7030A0"/>
                </a:solidFill>
                <a:effectLst/>
                <a:latin typeface="source-serif-pro"/>
              </a:rPr>
              <a:t>Fine-Tuning for Domain-Specific Applications</a:t>
            </a:r>
            <a:br>
              <a:rPr lang="en-GB" sz="2400" i="0" dirty="0">
                <a:solidFill>
                  <a:srgbClr val="7030A0"/>
                </a:solidFill>
                <a:effectLst/>
                <a:latin typeface="source-serif-pro"/>
              </a:rPr>
            </a:br>
            <a:br>
              <a:rPr lang="en-GB" sz="2400" i="0" dirty="0">
                <a:solidFill>
                  <a:srgbClr val="7030A0"/>
                </a:solidFill>
                <a:effectLst/>
                <a:latin typeface="source-serif-pro"/>
              </a:rPr>
            </a:br>
            <a:br>
              <a:rPr lang="en-GB" sz="2400" b="0" i="0" dirty="0">
                <a:solidFill>
                  <a:srgbClr val="7030A0"/>
                </a:solidFill>
                <a:effectLst/>
                <a:latin typeface="source-serif-pro"/>
              </a:rPr>
            </a:br>
            <a:br>
              <a:rPr lang="en-GB" sz="2400" dirty="0">
                <a:solidFill>
                  <a:srgbClr val="7030A0"/>
                </a:solidFill>
              </a:rPr>
            </a:br>
            <a:br>
              <a:rPr lang="en-GB" sz="2400" b="1" i="0" u="none" strike="noStrike" dirty="0">
                <a:solidFill>
                  <a:srgbClr val="7030A0"/>
                </a:solidFill>
                <a:effectLst/>
              </a:rPr>
            </a:br>
            <a:br>
              <a:rPr lang="en-GB" sz="2400" b="0" i="0" u="none" strike="noStrike" dirty="0">
                <a:solidFill>
                  <a:srgbClr val="7030A0"/>
                </a:solidFill>
                <a:effectLst/>
              </a:rPr>
            </a:br>
            <a:endParaRPr lang="en-GB" sz="24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EF70F9B-E731-1467-FCE9-3487E2E75B0B}"/>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48B2DFBA-235C-7964-F797-D596884D3BF7}"/>
              </a:ext>
            </a:extLst>
          </p:cNvPr>
          <p:cNvSpPr txBox="1"/>
          <p:nvPr/>
        </p:nvSpPr>
        <p:spPr>
          <a:xfrm>
            <a:off x="427974" y="795200"/>
            <a:ext cx="7480367" cy="738664"/>
          </a:xfrm>
          <a:prstGeom prst="rect">
            <a:avLst/>
          </a:prstGeom>
          <a:noFill/>
        </p:spPr>
        <p:txBody>
          <a:bodyPr wrap="square">
            <a:spAutoFit/>
          </a:bodyPr>
          <a:lstStyle/>
          <a:p>
            <a:pPr>
              <a:buNone/>
            </a:pPr>
            <a:r>
              <a:rPr lang="en-GB" b="1" dirty="0"/>
              <a:t>3. Freeze Early Layers (Optional)</a:t>
            </a:r>
          </a:p>
          <a:p>
            <a:r>
              <a:rPr lang="en-GB" dirty="0"/>
              <a:t>We can prevent earlier layers from being updated (useful when dataset is small):</a:t>
            </a:r>
          </a:p>
          <a:p>
            <a:pPr marL="342900" indent="-342900">
              <a:buFont typeface="+mj-lt"/>
              <a:buAutoNum type="arabicPeriod"/>
            </a:pPr>
            <a:endParaRPr lang="en-US" dirty="0"/>
          </a:p>
        </p:txBody>
      </p:sp>
      <p:sp>
        <p:nvSpPr>
          <p:cNvPr id="7" name="TextBox 6">
            <a:extLst>
              <a:ext uri="{FF2B5EF4-FFF2-40B4-BE49-F238E27FC236}">
                <a16:creationId xmlns:a16="http://schemas.microsoft.com/office/drawing/2014/main" id="{4D020091-7307-7A47-F966-3534AB768219}"/>
              </a:ext>
            </a:extLst>
          </p:cNvPr>
          <p:cNvSpPr txBox="1"/>
          <p:nvPr/>
        </p:nvSpPr>
        <p:spPr>
          <a:xfrm>
            <a:off x="976895" y="1423100"/>
            <a:ext cx="6144986" cy="954107"/>
          </a:xfrm>
          <a:prstGeom prst="rect">
            <a:avLst/>
          </a:prstGeom>
          <a:solidFill>
            <a:schemeClr val="accent6">
              <a:lumMod val="20000"/>
              <a:lumOff val="80000"/>
            </a:schemeClr>
          </a:solidFill>
        </p:spPr>
        <p:txBody>
          <a:bodyPr wrap="square">
            <a:spAutoFit/>
          </a:bodyPr>
          <a:lstStyle/>
          <a:p>
            <a:r>
              <a:rPr lang="en-US" dirty="0"/>
              <a:t>for param in </a:t>
            </a:r>
            <a:r>
              <a:rPr lang="en-US" dirty="0" err="1"/>
              <a:t>model.parameters</a:t>
            </a:r>
            <a:r>
              <a:rPr lang="en-US" dirty="0"/>
              <a:t>():</a:t>
            </a:r>
          </a:p>
          <a:p>
            <a:r>
              <a:rPr lang="en-US" dirty="0"/>
              <a:t>    </a:t>
            </a:r>
            <a:r>
              <a:rPr lang="en-US" dirty="0" err="1"/>
              <a:t>param.requires_grad</a:t>
            </a:r>
            <a:r>
              <a:rPr lang="en-US" dirty="0"/>
              <a:t> = False  # Freeze all layers</a:t>
            </a:r>
          </a:p>
          <a:p>
            <a:endParaRPr lang="en-US" dirty="0"/>
          </a:p>
          <a:p>
            <a:r>
              <a:rPr lang="en-US" dirty="0" err="1"/>
              <a:t>model.fc.requires_grad</a:t>
            </a:r>
            <a:r>
              <a:rPr lang="en-US" dirty="0"/>
              <a:t> = True    # Unfreeze only the final layer</a:t>
            </a:r>
          </a:p>
        </p:txBody>
      </p:sp>
      <p:sp>
        <p:nvSpPr>
          <p:cNvPr id="9" name="TextBox 8">
            <a:extLst>
              <a:ext uri="{FF2B5EF4-FFF2-40B4-BE49-F238E27FC236}">
                <a16:creationId xmlns:a16="http://schemas.microsoft.com/office/drawing/2014/main" id="{4EE4F0C1-1D2B-2805-89C0-8D325B27D93F}"/>
              </a:ext>
            </a:extLst>
          </p:cNvPr>
          <p:cNvSpPr txBox="1"/>
          <p:nvPr/>
        </p:nvSpPr>
        <p:spPr>
          <a:xfrm>
            <a:off x="542811" y="2377207"/>
            <a:ext cx="5712846" cy="523220"/>
          </a:xfrm>
          <a:prstGeom prst="rect">
            <a:avLst/>
          </a:prstGeom>
          <a:noFill/>
        </p:spPr>
        <p:txBody>
          <a:bodyPr wrap="square">
            <a:spAutoFit/>
          </a:bodyPr>
          <a:lstStyle/>
          <a:p>
            <a:pPr>
              <a:buNone/>
            </a:pPr>
            <a:r>
              <a:rPr lang="en-GB" b="1" dirty="0"/>
              <a:t>4. Train on New Data</a:t>
            </a:r>
          </a:p>
          <a:p>
            <a:pPr>
              <a:buNone/>
            </a:pPr>
            <a:r>
              <a:rPr lang="en-GB" dirty="0"/>
              <a:t>Set up the loss function and optimizer:</a:t>
            </a:r>
          </a:p>
        </p:txBody>
      </p:sp>
      <p:sp>
        <p:nvSpPr>
          <p:cNvPr id="11" name="TextBox 10">
            <a:extLst>
              <a:ext uri="{FF2B5EF4-FFF2-40B4-BE49-F238E27FC236}">
                <a16:creationId xmlns:a16="http://schemas.microsoft.com/office/drawing/2014/main" id="{CB88E8E5-3872-204F-1A35-573A8B7C70D8}"/>
              </a:ext>
            </a:extLst>
          </p:cNvPr>
          <p:cNvSpPr txBox="1"/>
          <p:nvPr/>
        </p:nvSpPr>
        <p:spPr>
          <a:xfrm>
            <a:off x="933304" y="3076210"/>
            <a:ext cx="4648200" cy="954107"/>
          </a:xfrm>
          <a:prstGeom prst="rect">
            <a:avLst/>
          </a:prstGeom>
          <a:solidFill>
            <a:schemeClr val="accent6">
              <a:lumMod val="20000"/>
              <a:lumOff val="80000"/>
            </a:schemeClr>
          </a:solidFill>
        </p:spPr>
        <p:txBody>
          <a:bodyPr wrap="square">
            <a:spAutoFit/>
          </a:bodyPr>
          <a:lstStyle/>
          <a:p>
            <a:r>
              <a:rPr lang="en-US" dirty="0"/>
              <a:t>import </a:t>
            </a:r>
            <a:r>
              <a:rPr lang="en-US" dirty="0" err="1"/>
              <a:t>torch.optim</a:t>
            </a:r>
            <a:r>
              <a:rPr lang="en-US" dirty="0"/>
              <a:t> as </a:t>
            </a:r>
            <a:r>
              <a:rPr lang="en-US" dirty="0" err="1"/>
              <a:t>optim</a:t>
            </a:r>
            <a:endParaRPr lang="en-US" dirty="0"/>
          </a:p>
          <a:p>
            <a:endParaRPr lang="en-US" dirty="0"/>
          </a:p>
          <a:p>
            <a:r>
              <a:rPr lang="en-US" dirty="0"/>
              <a:t>criterion = </a:t>
            </a:r>
            <a:r>
              <a:rPr lang="en-US" dirty="0" err="1"/>
              <a:t>nn.CrossEntropyLoss</a:t>
            </a:r>
            <a:r>
              <a:rPr lang="en-US" dirty="0"/>
              <a:t>()</a:t>
            </a:r>
          </a:p>
          <a:p>
            <a:r>
              <a:rPr lang="en-US" dirty="0"/>
              <a:t>optimizer = </a:t>
            </a:r>
            <a:r>
              <a:rPr lang="en-US" dirty="0" err="1"/>
              <a:t>optim.Adam</a:t>
            </a:r>
            <a:r>
              <a:rPr lang="en-US" dirty="0"/>
              <a:t>(</a:t>
            </a:r>
            <a:r>
              <a:rPr lang="en-US" dirty="0" err="1"/>
              <a:t>model.parameters</a:t>
            </a:r>
            <a:r>
              <a:rPr lang="en-US" dirty="0"/>
              <a:t>(), </a:t>
            </a:r>
            <a:r>
              <a:rPr lang="en-US" dirty="0" err="1"/>
              <a:t>lr</a:t>
            </a:r>
            <a:r>
              <a:rPr lang="en-US" dirty="0"/>
              <a:t>=0.001)</a:t>
            </a:r>
          </a:p>
        </p:txBody>
      </p:sp>
    </p:spTree>
    <p:extLst>
      <p:ext uri="{BB962C8B-B14F-4D97-AF65-F5344CB8AC3E}">
        <p14:creationId xmlns:p14="http://schemas.microsoft.com/office/powerpoint/2010/main" val="19713017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74A34F9-A2F2-B34C-088D-A440F138693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98BADF4-FD1C-668C-3C9E-14A60217CB5A}"/>
              </a:ext>
            </a:extLst>
          </p:cNvPr>
          <p:cNvSpPr txBox="1">
            <a:spLocks noGrp="1"/>
          </p:cNvSpPr>
          <p:nvPr>
            <p:ph type="title"/>
          </p:nvPr>
        </p:nvSpPr>
        <p:spPr>
          <a:xfrm>
            <a:off x="309204" y="167300"/>
            <a:ext cx="7480368" cy="627900"/>
          </a:xfrm>
          <a:prstGeom prst="rect">
            <a:avLst/>
          </a:prstGeom>
          <a:noFill/>
          <a:ln>
            <a:noFill/>
          </a:ln>
        </p:spPr>
        <p:txBody>
          <a:bodyPr spcFirstLastPara="1" wrap="square" lIns="91425" tIns="91425" rIns="91425" bIns="91425" anchor="t" anchorCtr="0">
            <a:noAutofit/>
          </a:bodyPr>
          <a:lstStyle/>
          <a:p>
            <a:pPr>
              <a:lnSpc>
                <a:spcPts val="2250"/>
              </a:lnSpc>
            </a:pPr>
            <a:r>
              <a:rPr lang="en-GB" sz="2400" i="0" dirty="0">
                <a:solidFill>
                  <a:srgbClr val="7030A0"/>
                </a:solidFill>
                <a:effectLst/>
                <a:latin typeface="source-serif-pro"/>
              </a:rPr>
              <a:t>Fine-Tuning for Domain-Specific Applications</a:t>
            </a:r>
            <a:br>
              <a:rPr lang="en-GB" sz="2400" i="0" dirty="0">
                <a:solidFill>
                  <a:srgbClr val="7030A0"/>
                </a:solidFill>
                <a:effectLst/>
                <a:latin typeface="source-serif-pro"/>
              </a:rPr>
            </a:br>
            <a:br>
              <a:rPr lang="en-GB" sz="2400" i="0" dirty="0">
                <a:solidFill>
                  <a:srgbClr val="7030A0"/>
                </a:solidFill>
                <a:effectLst/>
                <a:latin typeface="source-serif-pro"/>
              </a:rPr>
            </a:br>
            <a:br>
              <a:rPr lang="en-GB" sz="2400" b="0" i="0" dirty="0">
                <a:solidFill>
                  <a:srgbClr val="7030A0"/>
                </a:solidFill>
                <a:effectLst/>
                <a:latin typeface="source-serif-pro"/>
              </a:rPr>
            </a:br>
            <a:br>
              <a:rPr lang="en-GB" sz="2400" dirty="0">
                <a:solidFill>
                  <a:srgbClr val="7030A0"/>
                </a:solidFill>
              </a:rPr>
            </a:br>
            <a:br>
              <a:rPr lang="en-GB" sz="2400" b="1" i="0" u="none" strike="noStrike" dirty="0">
                <a:solidFill>
                  <a:srgbClr val="7030A0"/>
                </a:solidFill>
                <a:effectLst/>
              </a:rPr>
            </a:br>
            <a:br>
              <a:rPr lang="en-GB" sz="2400" b="0" i="0" u="none" strike="noStrike" dirty="0">
                <a:solidFill>
                  <a:srgbClr val="7030A0"/>
                </a:solidFill>
                <a:effectLst/>
              </a:rPr>
            </a:br>
            <a:endParaRPr lang="en-GB" sz="24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36BEE389-8FA2-25EF-DCE9-F31702E92E6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2A6D4226-CC5F-9499-FEE5-7E0B2571DB4B}"/>
              </a:ext>
            </a:extLst>
          </p:cNvPr>
          <p:cNvSpPr txBox="1"/>
          <p:nvPr/>
        </p:nvSpPr>
        <p:spPr>
          <a:xfrm>
            <a:off x="427974" y="795200"/>
            <a:ext cx="7480367" cy="523220"/>
          </a:xfrm>
          <a:prstGeom prst="rect">
            <a:avLst/>
          </a:prstGeom>
          <a:noFill/>
        </p:spPr>
        <p:txBody>
          <a:bodyPr wrap="square">
            <a:spAutoFit/>
          </a:bodyPr>
          <a:lstStyle/>
          <a:p>
            <a:endParaRPr lang="en-GB" dirty="0"/>
          </a:p>
          <a:p>
            <a:pPr marL="342900" indent="-342900">
              <a:buFont typeface="+mj-lt"/>
              <a:buAutoNum type="arabicPeriod"/>
            </a:pPr>
            <a:endParaRPr lang="en-US" dirty="0"/>
          </a:p>
        </p:txBody>
      </p:sp>
      <p:graphicFrame>
        <p:nvGraphicFramePr>
          <p:cNvPr id="2" name="Table 1">
            <a:extLst>
              <a:ext uri="{FF2B5EF4-FFF2-40B4-BE49-F238E27FC236}">
                <a16:creationId xmlns:a16="http://schemas.microsoft.com/office/drawing/2014/main" id="{977AD303-F7AF-7489-0DB2-9994DC524BB6}"/>
              </a:ext>
            </a:extLst>
          </p:cNvPr>
          <p:cNvGraphicFramePr>
            <a:graphicFrameLocks noGrp="1"/>
          </p:cNvGraphicFramePr>
          <p:nvPr>
            <p:extLst>
              <p:ext uri="{D42A27DB-BD31-4B8C-83A1-F6EECF244321}">
                <p14:modId xmlns:p14="http://schemas.microsoft.com/office/powerpoint/2010/main" val="2702495554"/>
              </p:ext>
            </p:extLst>
          </p:nvPr>
        </p:nvGraphicFramePr>
        <p:xfrm>
          <a:off x="311150" y="1494971"/>
          <a:ext cx="8521701" cy="2295344"/>
        </p:xfrm>
        <a:graphic>
          <a:graphicData uri="http://schemas.openxmlformats.org/drawingml/2006/table">
            <a:tbl>
              <a:tblPr>
                <a:tableStyleId>{35758FB7-9AC5-4552-8A53-C91805E547FA}</a:tableStyleId>
              </a:tblPr>
              <a:tblGrid>
                <a:gridCol w="2548164">
                  <a:extLst>
                    <a:ext uri="{9D8B030D-6E8A-4147-A177-3AD203B41FA5}">
                      <a16:colId xmlns:a16="http://schemas.microsoft.com/office/drawing/2014/main" val="259078147"/>
                    </a:ext>
                  </a:extLst>
                </a:gridCol>
                <a:gridCol w="3132970">
                  <a:extLst>
                    <a:ext uri="{9D8B030D-6E8A-4147-A177-3AD203B41FA5}">
                      <a16:colId xmlns:a16="http://schemas.microsoft.com/office/drawing/2014/main" val="414328872"/>
                    </a:ext>
                  </a:extLst>
                </a:gridCol>
                <a:gridCol w="2840567">
                  <a:extLst>
                    <a:ext uri="{9D8B030D-6E8A-4147-A177-3AD203B41FA5}">
                      <a16:colId xmlns:a16="http://schemas.microsoft.com/office/drawing/2014/main" val="2880644268"/>
                    </a:ext>
                  </a:extLst>
                </a:gridCol>
              </a:tblGrid>
              <a:tr h="740864">
                <a:tc>
                  <a:txBody>
                    <a:bodyPr/>
                    <a:lstStyle/>
                    <a:p>
                      <a:r>
                        <a:rPr lang="en-GB" sz="1400" b="1" dirty="0"/>
                        <a:t>Strategy</a:t>
                      </a:r>
                    </a:p>
                  </a:txBody>
                  <a:tcPr anchor="ctr"/>
                </a:tc>
                <a:tc>
                  <a:txBody>
                    <a:bodyPr/>
                    <a:lstStyle/>
                    <a:p>
                      <a:r>
                        <a:rPr lang="en-GB" sz="1400" b="1"/>
                        <a:t>Description</a:t>
                      </a:r>
                    </a:p>
                  </a:txBody>
                  <a:tcPr anchor="ctr"/>
                </a:tc>
                <a:tc>
                  <a:txBody>
                    <a:bodyPr/>
                    <a:lstStyle/>
                    <a:p>
                      <a:r>
                        <a:rPr lang="en-GB" sz="1400" b="1" dirty="0"/>
                        <a:t>When to Use</a:t>
                      </a:r>
                    </a:p>
                  </a:txBody>
                  <a:tcPr anchor="ctr"/>
                </a:tc>
                <a:extLst>
                  <a:ext uri="{0D108BD9-81ED-4DB2-BD59-A6C34878D82A}">
                    <a16:rowId xmlns:a16="http://schemas.microsoft.com/office/drawing/2014/main" val="2374003853"/>
                  </a:ext>
                </a:extLst>
              </a:tr>
              <a:tr h="518160">
                <a:tc>
                  <a:txBody>
                    <a:bodyPr/>
                    <a:lstStyle/>
                    <a:p>
                      <a:r>
                        <a:rPr lang="en-GB" sz="1400" b="1" dirty="0"/>
                        <a:t>Feature Extraction</a:t>
                      </a:r>
                      <a:endParaRPr lang="en-GB" sz="1400" dirty="0"/>
                    </a:p>
                  </a:txBody>
                  <a:tcPr anchor="ctr"/>
                </a:tc>
                <a:tc>
                  <a:txBody>
                    <a:bodyPr/>
                    <a:lstStyle/>
                    <a:p>
                      <a:r>
                        <a:rPr lang="en-GB" sz="1400"/>
                        <a:t>Freeze all layers, train only final layer</a:t>
                      </a:r>
                    </a:p>
                  </a:txBody>
                  <a:tcPr anchor="ctr"/>
                </a:tc>
                <a:tc>
                  <a:txBody>
                    <a:bodyPr/>
                    <a:lstStyle/>
                    <a:p>
                      <a:r>
                        <a:rPr lang="en-GB" sz="1400"/>
                        <a:t>Small dataset, similar domain</a:t>
                      </a:r>
                    </a:p>
                  </a:txBody>
                  <a:tcPr anchor="ctr"/>
                </a:tc>
                <a:extLst>
                  <a:ext uri="{0D108BD9-81ED-4DB2-BD59-A6C34878D82A}">
                    <a16:rowId xmlns:a16="http://schemas.microsoft.com/office/drawing/2014/main" val="1959328581"/>
                  </a:ext>
                </a:extLst>
              </a:tr>
              <a:tr h="518160">
                <a:tc>
                  <a:txBody>
                    <a:bodyPr/>
                    <a:lstStyle/>
                    <a:p>
                      <a:r>
                        <a:rPr lang="en-GB" sz="1400" b="1"/>
                        <a:t>Partial Fine-tuning</a:t>
                      </a:r>
                      <a:endParaRPr lang="en-GB" sz="1400"/>
                    </a:p>
                  </a:txBody>
                  <a:tcPr anchor="ctr"/>
                </a:tc>
                <a:tc>
                  <a:txBody>
                    <a:bodyPr/>
                    <a:lstStyle/>
                    <a:p>
                      <a:r>
                        <a:rPr lang="en-GB" sz="1400"/>
                        <a:t>Unfreeze some top layers</a:t>
                      </a:r>
                    </a:p>
                  </a:txBody>
                  <a:tcPr anchor="ctr"/>
                </a:tc>
                <a:tc>
                  <a:txBody>
                    <a:bodyPr/>
                    <a:lstStyle/>
                    <a:p>
                      <a:r>
                        <a:rPr lang="en-GB" sz="1400"/>
                        <a:t>Medium dataset, slightly different domain</a:t>
                      </a:r>
                    </a:p>
                  </a:txBody>
                  <a:tcPr anchor="ctr"/>
                </a:tc>
                <a:extLst>
                  <a:ext uri="{0D108BD9-81ED-4DB2-BD59-A6C34878D82A}">
                    <a16:rowId xmlns:a16="http://schemas.microsoft.com/office/drawing/2014/main" val="1441436828"/>
                  </a:ext>
                </a:extLst>
              </a:tr>
              <a:tr h="518160">
                <a:tc>
                  <a:txBody>
                    <a:bodyPr/>
                    <a:lstStyle/>
                    <a:p>
                      <a:r>
                        <a:rPr lang="en-GB" sz="1400" b="1"/>
                        <a:t>Full Fine-tuning</a:t>
                      </a:r>
                      <a:endParaRPr lang="en-GB" sz="1400"/>
                    </a:p>
                  </a:txBody>
                  <a:tcPr anchor="ctr"/>
                </a:tc>
                <a:tc>
                  <a:txBody>
                    <a:bodyPr/>
                    <a:lstStyle/>
                    <a:p>
                      <a:r>
                        <a:rPr lang="en-GB" sz="1400"/>
                        <a:t>Train all layers</a:t>
                      </a:r>
                    </a:p>
                  </a:txBody>
                  <a:tcPr anchor="ctr"/>
                </a:tc>
                <a:tc>
                  <a:txBody>
                    <a:bodyPr/>
                    <a:lstStyle/>
                    <a:p>
                      <a:r>
                        <a:rPr lang="en-GB" sz="1400" dirty="0"/>
                        <a:t>Large dataset, very different domain</a:t>
                      </a:r>
                    </a:p>
                  </a:txBody>
                  <a:tcPr anchor="ctr"/>
                </a:tc>
                <a:extLst>
                  <a:ext uri="{0D108BD9-81ED-4DB2-BD59-A6C34878D82A}">
                    <a16:rowId xmlns:a16="http://schemas.microsoft.com/office/drawing/2014/main" val="95780806"/>
                  </a:ext>
                </a:extLst>
              </a:tr>
            </a:tbl>
          </a:graphicData>
        </a:graphic>
      </p:graphicFrame>
    </p:spTree>
    <p:extLst>
      <p:ext uri="{BB962C8B-B14F-4D97-AF65-F5344CB8AC3E}">
        <p14:creationId xmlns:p14="http://schemas.microsoft.com/office/powerpoint/2010/main" val="42692552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Hands On Exercise </a:t>
            </a:r>
            <a:br>
              <a:rPr lang="en-GB" sz="3200" dirty="0"/>
            </a:br>
            <a:endParaRPr lang="en-GB" sz="3200" dirty="0"/>
          </a:p>
        </p:txBody>
      </p:sp>
      <p:sp>
        <p:nvSpPr>
          <p:cNvPr id="3" name="TextBox 2">
            <a:extLst>
              <a:ext uri="{FF2B5EF4-FFF2-40B4-BE49-F238E27FC236}">
                <a16:creationId xmlns:a16="http://schemas.microsoft.com/office/drawing/2014/main" id="{FD29B7B1-87C3-1A19-1CD5-4DC342054D89}"/>
              </a:ext>
            </a:extLst>
          </p:cNvPr>
          <p:cNvSpPr txBox="1"/>
          <p:nvPr/>
        </p:nvSpPr>
        <p:spPr>
          <a:xfrm>
            <a:off x="49952" y="1837425"/>
            <a:ext cx="4913417" cy="1631216"/>
          </a:xfrm>
          <a:prstGeom prst="rect">
            <a:avLst/>
          </a:prstGeom>
          <a:noFill/>
        </p:spPr>
        <p:txBody>
          <a:bodyPr wrap="square">
            <a:spAutoFit/>
          </a:bodyPr>
          <a:lstStyle/>
          <a:p>
            <a:pPr algn="ctr"/>
            <a:r>
              <a:rPr lang="en-GB" sz="2000" dirty="0">
                <a:hlinkClick r:id="rId4"/>
              </a:rPr>
              <a:t>Click Here For The Implementation</a:t>
            </a:r>
            <a:endParaRPr lang="en-GB" sz="2000" dirty="0"/>
          </a:p>
          <a:p>
            <a:pPr algn="ctr"/>
            <a:r>
              <a:rPr lang="en-GB" sz="2000" dirty="0"/>
              <a:t>https://</a:t>
            </a:r>
            <a:r>
              <a:rPr lang="en-GB" sz="2000" dirty="0" err="1"/>
              <a:t>drive.google.com</a:t>
            </a:r>
            <a:r>
              <a:rPr lang="en-GB" sz="2000" dirty="0"/>
              <a:t>/file/d/1kUi1Y-zhJNgJlP-5g1WV6ZsHaa9uaNYi/</a:t>
            </a:r>
            <a:r>
              <a:rPr lang="en-GB" sz="2000" dirty="0" err="1"/>
              <a:t>view?usp</a:t>
            </a:r>
            <a:r>
              <a:rPr lang="en-GB" sz="2000" dirty="0"/>
              <a:t>=</a:t>
            </a:r>
            <a:r>
              <a:rPr lang="en-GB" sz="2000" dirty="0" err="1"/>
              <a:t>share_link</a:t>
            </a:r>
            <a:endParaRPr lang="en-GB" sz="2000" dirty="0"/>
          </a:p>
        </p:txBody>
      </p:sp>
      <p:pic>
        <p:nvPicPr>
          <p:cNvPr id="4" name="Picture 3" descr="A computer with a screen on it&#10;&#10;AI-generated content may be incorrect.">
            <a:extLst>
              <a:ext uri="{FF2B5EF4-FFF2-40B4-BE49-F238E27FC236}">
                <a16:creationId xmlns:a16="http://schemas.microsoft.com/office/drawing/2014/main" id="{DFCACE6B-93A9-2C0B-6504-0868FF90065B}"/>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5203371" y="2468255"/>
            <a:ext cx="3859608" cy="257024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6931332" cy="2708434"/>
          </a:xfrm>
          <a:prstGeom prst="rect">
            <a:avLst/>
          </a:prstGeom>
          <a:noFill/>
        </p:spPr>
        <p:txBody>
          <a:bodyPr wrap="square">
            <a:spAutoFit/>
          </a:bodyPr>
          <a:lstStyle/>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"Neural Networks and Deep Learning" (Michael Nielsen)</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Reinforcement Learning: An Introduction – Sutton &amp; Barto</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Goodfellow, I., Bengio, Y., &amp; Courville, A. (2016). Deep Learning. MIT Press.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Chollet, F. (2017). Deep Learning with Python. Manning Publications.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Hochreiter, S., &amp; </a:t>
            </a:r>
            <a:r>
              <a:rPr lang="en-GB" sz="2000" b="0" i="0" u="none" strike="noStrike" dirty="0" err="1">
                <a:solidFill>
                  <a:srgbClr val="404040"/>
                </a:solidFill>
                <a:effectLst/>
                <a:latin typeface="Inter" panose="02000503000000020004" pitchFamily="2" charset="0"/>
              </a:rPr>
              <a:t>Schmidhuber</a:t>
            </a:r>
            <a:r>
              <a:rPr lang="en-GB" sz="2000" b="0" i="0" u="none" strike="noStrike" dirty="0">
                <a:solidFill>
                  <a:srgbClr val="404040"/>
                </a:solidFill>
                <a:effectLst/>
                <a:latin typeface="Inter" panose="02000503000000020004" pitchFamily="2" charset="0"/>
              </a:rPr>
              <a:t>, J. (1997). Long Short-Term Memory. Neural Computation.</a:t>
            </a:r>
          </a:p>
        </p:txBody>
      </p:sp>
    </p:spTree>
    <p:extLst>
      <p:ext uri="{BB962C8B-B14F-4D97-AF65-F5344CB8AC3E}">
        <p14:creationId xmlns:p14="http://schemas.microsoft.com/office/powerpoint/2010/main" val="3740398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33777</TotalTime>
  <Words>3730</Words>
  <Application>Microsoft Macintosh PowerPoint</Application>
  <PresentationFormat>On-screen Show (16:9)</PresentationFormat>
  <Paragraphs>249</Paragraphs>
  <Slides>31</Slides>
  <Notes>31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IBM Plex Sans Arabic SemiBold</vt:lpstr>
      <vt:lpstr>source-code-pro</vt:lpstr>
      <vt:lpstr>Arial</vt:lpstr>
      <vt:lpstr>IBM Plex Sans Arabic</vt:lpstr>
      <vt:lpstr>IBM Plex Sans Arabic Medium</vt:lpstr>
      <vt:lpstr>source-serif-pro</vt:lpstr>
      <vt:lpstr>Calibri</vt:lpstr>
      <vt:lpstr>Inter</vt:lpstr>
      <vt:lpstr>Tajawal</vt:lpstr>
      <vt:lpstr>Simple Light</vt:lpstr>
      <vt:lpstr>أكـــــاديميــــة طــــويـــق</vt:lpstr>
      <vt:lpstr>       Transfer Learning How to use pre-trained models (VGG, ResNet, BERT) Fine-tuning for domain-specific applications     </vt:lpstr>
      <vt:lpstr>PowerPoint Presentation</vt:lpstr>
      <vt:lpstr>Transfer learning</vt:lpstr>
      <vt:lpstr>Why use Transfer Learning? </vt:lpstr>
      <vt:lpstr>Types of Transfer Learning   </vt:lpstr>
      <vt:lpstr>Types of Transfer Learning   </vt:lpstr>
      <vt:lpstr>Transfer Learning versus Fine-tuning   </vt:lpstr>
      <vt:lpstr>Advantages of Transfer Learning    </vt:lpstr>
      <vt:lpstr>Disadvantages of Transfer Learning    </vt:lpstr>
      <vt:lpstr>Transfer Learning Use Cases     </vt:lpstr>
      <vt:lpstr>Steps in Transfer Learning      </vt:lpstr>
      <vt:lpstr>Steps in Transfer Learning      </vt:lpstr>
      <vt:lpstr>What Are Pre-trained Models?       </vt:lpstr>
      <vt:lpstr>Popular Vision Models        </vt:lpstr>
      <vt:lpstr>Popular Vision Models        </vt:lpstr>
      <vt:lpstr>BERT (Bidirectional Encoder Representations from Transformers)         </vt:lpstr>
      <vt:lpstr>BERT (Bidirectional Encoder Representations from Transformers)         </vt:lpstr>
      <vt:lpstr>BERT (Bidirectional Encoder Representations from Transformers)         </vt:lpstr>
      <vt:lpstr>Transfer Learning to classify images of dogs and cats.        We’ll use VGG16, pre-trained on the ImageNet dataset. </vt:lpstr>
      <vt:lpstr>Transfer Learning to classify images of dogs and cats.    </vt:lpstr>
      <vt:lpstr>Transfer Learning to classify images of dogs and cats.    </vt:lpstr>
      <vt:lpstr>Transfer Learning to classify images of dogs and cats.    </vt:lpstr>
      <vt:lpstr>What Is Domain-Specific Model Fine-Tuning &amp; Why Is It Important?     </vt:lpstr>
      <vt:lpstr>Fine-Tuning for Domain-Specific Applications      </vt:lpstr>
      <vt:lpstr>Fine-Tuning for Domain-Specific Applications      </vt:lpstr>
      <vt:lpstr>Fine-Tuning for Domain-Specific Applications      </vt:lpstr>
      <vt:lpstr>Hands On Exercise  </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79</cp:revision>
  <dcterms:modified xsi:type="dcterms:W3CDTF">2025-05-27T18:28:12Z</dcterms:modified>
</cp:coreProperties>
</file>