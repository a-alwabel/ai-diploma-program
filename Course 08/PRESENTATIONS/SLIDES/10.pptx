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98" r:id="rId5"/>
    <p:sldId id="341" r:id="rId6"/>
    <p:sldId id="342" r:id="rId7"/>
    <p:sldId id="391" r:id="rId8"/>
    <p:sldId id="371" r:id="rId9"/>
    <p:sldId id="392" r:id="rId10"/>
    <p:sldId id="393" r:id="rId11"/>
    <p:sldId id="404" r:id="rId12"/>
    <p:sldId id="405" r:id="rId13"/>
    <p:sldId id="394" r:id="rId14"/>
    <p:sldId id="399" r:id="rId15"/>
    <p:sldId id="401" r:id="rId16"/>
    <p:sldId id="402" r:id="rId17"/>
    <p:sldId id="400" r:id="rId18"/>
    <p:sldId id="395" r:id="rId19"/>
    <p:sldId id="396" r:id="rId20"/>
    <p:sldId id="397" r:id="rId21"/>
    <p:sldId id="398" r:id="rId22"/>
    <p:sldId id="403" r:id="rId23"/>
    <p:sldId id="262" r:id="rId24"/>
    <p:sldId id="406" r:id="rId25"/>
    <p:sldId id="370" r:id="rId26"/>
    <p:sldId id="312" r:id="rId27"/>
    <p:sldId id="275" r:id="rId28"/>
    <p:sldId id="276" r:id="rId29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31"/>
      <p:bold r:id="rId32"/>
    </p:embeddedFont>
    <p:embeddedFont>
      <p:font typeface="IBM Plex Sans Arabic Medium" panose="020B0603050203000203" pitchFamily="34" charset="-78"/>
      <p:regular r:id="rId33"/>
      <p:bold r:id="rId34"/>
    </p:embeddedFont>
    <p:embeddedFont>
      <p:font typeface="IBM Plex Sans Arabic SemiBold" panose="020B0603050203000203" pitchFamily="34" charset="-78"/>
      <p:regular r:id="rId35"/>
      <p:bold r:id="rId36"/>
    </p:embeddedFont>
    <p:embeddedFont>
      <p:font typeface="Inter" panose="020F0502020204030204" pitchFamily="34" charset="0"/>
      <p:regular r:id="rId37"/>
      <p:bold r:id="rId38"/>
      <p:italic r:id="rId39"/>
      <p:boldItalic r:id="rId40"/>
    </p:embeddedFont>
    <p:embeddedFont>
      <p:font typeface="Nunito" pitchFamily="2" charset="77"/>
      <p:regular r:id="rId41"/>
      <p:bold r:id="rId42"/>
      <p:italic r:id="rId43"/>
      <p:boldItalic r:id="rId44"/>
    </p:embeddedFont>
    <p:embeddedFont>
      <p:font typeface="Tajawal" pitchFamily="2" charset="-78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247"/>
  </p:normalViewPr>
  <p:slideViewPr>
    <p:cSldViewPr snapToGrid="0">
      <p:cViewPr varScale="1">
        <p:scale>
          <a:sx n="160" d="100"/>
          <a:sy n="160" d="100"/>
        </p:scale>
        <p:origin x="1024" y="16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CE20816-1F24-46D9-89DD-6FFEE700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7CD495B-FC5A-F226-2523-6E0861CBC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B7203EE-8E11-9321-099D-0620FB183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81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D5FB054-4041-FBDF-BF84-251B64D8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12C8CFC-FED1-4861-96BC-9B9E92624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F8BB73-E37B-AA29-4439-2D2E858DF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317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DE4E313-3CCA-BCBE-51C4-BAFAE4C2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46A6ECD-162F-E038-E304-9E56E70C5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945A551F-ADAC-7961-F338-E44C6D0E8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6900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0B400B4-708D-83F0-DE1D-9A640379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79BC11F-3995-29C0-1754-351B84EA5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7791615-2235-8698-00A7-FD24CC364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127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6DBD8EB-3357-7908-9050-8098B2EE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5452C9C-BC94-8BBA-F37D-072FA358B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24C3C90-F5C9-F51F-2799-76661DBAA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263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4D8DBBF-C1CD-501A-73A2-03B20AF8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74E754F-415A-80E3-0496-77D367BE7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34A4D4C-8182-B2A7-FBF1-A786D42101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9628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B7B2EB5-F97C-63EF-11AC-9104E787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BEA7BFD-DE44-49AC-54B0-780893B7E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DE02DEE-BA9E-E1F4-19A0-35941C27E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1704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05BF740-2D4C-8EBF-8968-7E388163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49E254B-8714-C77C-6FA7-E8CCF2D62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4E24179-8B1F-12AD-704E-AC4EAE8B0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099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CF0A739-E8B5-C201-F06F-16C0D5EE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7EC5F1A-6996-E882-89C3-0BC3C4911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E1581A-99E8-B8B0-69E9-A3B4AC5AB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775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DDE303E-8512-177C-533D-16667C34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CC46803-5C82-3898-7CAE-D8F4A8627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21BFD25-AA2E-9BCA-F0E2-D82547076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352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3651A55-4894-C947-AA21-DB81395C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FF5440D-DD00-4479-78FB-D2055EB79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0339D82-F289-EC11-997B-57C574640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1045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CEEF028-970F-AAC3-5283-C8447912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0B37B5E-FB1C-DC8E-72C4-58CE39F84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DF24E30-96AA-8D9A-3DA8-809ED1511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217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55BBF6D-A358-67F9-7110-F06ADF56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89A01A9-BC08-F9A8-4CA1-A51EBBDDB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3AF8DEC-86E2-BE8E-3440-D2BD91FB2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1240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B876955-FF33-0CD2-1A34-B90ECB47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CC3FE97-F133-F5D2-655A-7F9D7BDC0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7846D5-F27F-51A1-DC86-0D82A1232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713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E063CF-2E3F-8DB2-CC08-417B8784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A0CFBBA-9FB6-1776-7343-7418DA4DF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40E3274-BE22-C5A3-03C6-640591D72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941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B77666F-3E35-AAC9-4A70-C26B0729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5D52830-55A9-DAB1-0C33-657C07DC8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AE312E6-4CBF-E811-078F-19462FDBD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0177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F201F74-EFF9-5123-D2E4-ECA55A23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6B6B7C8-38F2-51DF-21CE-FC6B5B6B40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021D225-A7F9-9551-FFBF-B3C1E73DC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330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6180F95-9A29-D4D6-0CC5-D7BCFBDB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4301E8B-7B37-96BC-2A1B-D7C09098DA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07701CF-B9C5-50E5-CFCD-BB401A566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621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E0FE5DB-13F9-E635-73D4-D0C14C98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0630E1B-7205-35C3-FBF1-BC76A94BB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9A36F994-08C7-36E3-90FA-7697DA6B7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5014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BBDC46D-20C2-0737-D579-3E427028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FDB80055-0C2E-EF2C-7D17-7DD9B238C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DF3EBCC7-AA83-0F87-F555-B9023843C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031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BECD89B-AAA3-F8FE-DFBC-CC79A9A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F508F7A9-5506-B123-0264-14DD3EE90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CCD177CE-FC44-74CB-378D-8296859D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85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allpaperflare.com/wallpaper-programmer-coding-pattern-text-full-frame-backgrounds-wallpaper-pfdto" TargetMode="External"/><Relationship Id="rId5" Type="http://schemas.openxmlformats.org/officeDocument/2006/relationships/image" Target="../media/image15.jpg"/><Relationship Id="rId4" Type="http://schemas.openxmlformats.org/officeDocument/2006/relationships/hyperlink" Target="https://drive.google.com/file/d/1BtBen-9rjjuvaHL6d6dvQ6MRti_zd2fn/view?usp=share_link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medium.com/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Deep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0" y="149867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GB" sz="4000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  <a:t>Object Detection </a:t>
            </a: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r>
              <a:rPr lang="en-GB" sz="2000" b="0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5691535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rtl="0" fontAlgn="base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		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Faster-RCNN &amp; SSD</a:t>
            </a:r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552146" y="691691"/>
            <a:ext cx="6634716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effectLst/>
              </a:rPr>
              <a:t>Understanding Object Detection with Faster RCNN and SSD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effectLst/>
              </a:rPr>
              <a:t>Features of Faster RCNN and SSD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Architecture of </a:t>
            </a:r>
            <a:r>
              <a:rPr lang="en-GB" sz="1600" dirty="0">
                <a:effectLst/>
              </a:rPr>
              <a:t>Faster RCNN and SSD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Working of </a:t>
            </a:r>
            <a:r>
              <a:rPr lang="en-GB" sz="1600" dirty="0">
                <a:effectLst/>
              </a:rPr>
              <a:t>Faster RCNN and SSD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Comparison of </a:t>
            </a:r>
            <a:r>
              <a:rPr lang="en-GB" sz="1600" dirty="0">
                <a:effectLst/>
              </a:rPr>
              <a:t>Faster RCNN and SSD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effectLst/>
              </a:rPr>
              <a:t>Implementing of </a:t>
            </a:r>
            <a:r>
              <a:rPr lang="en-GB" sz="1400" dirty="0">
                <a:effectLst/>
              </a:rPr>
              <a:t>Faster RCNN and SSD</a:t>
            </a:r>
          </a:p>
          <a:p>
            <a:pPr marL="342900" indent="-342900">
              <a:buFont typeface="+mj-lt"/>
              <a:buAutoNum type="arabicPeriod"/>
            </a:pPr>
            <a:endParaRPr lang="en-GB" sz="1400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4EF5623-6B09-C586-D026-E1815682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B8CE39D-1BAA-9EAF-5C66-19BBE6DD2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dirty="0"/>
              <a:t>Faster R-CNN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4482F75-B306-CAB6-0919-E013D5E5A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7B443-016B-2F0F-23AA-504B7B468665}"/>
              </a:ext>
            </a:extLst>
          </p:cNvPr>
          <p:cNvSpPr txBox="1"/>
          <p:nvPr/>
        </p:nvSpPr>
        <p:spPr>
          <a:xfrm>
            <a:off x="310064" y="713964"/>
            <a:ext cx="89532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Faster R-CNN is a two-stage object detector.</a:t>
            </a:r>
          </a:p>
          <a:p>
            <a:endParaRPr lang="en-GB" sz="1600" dirty="0"/>
          </a:p>
          <a:p>
            <a:r>
              <a:rPr lang="en-GB" sz="1600" b="1" dirty="0"/>
              <a:t>Stage 1 (Region Proposal Network - RPN):</a:t>
            </a:r>
            <a:r>
              <a:rPr lang="en-GB" sz="1600" dirty="0"/>
              <a:t> Proposes potential regions within the image that are likely to contain objects.</a:t>
            </a:r>
          </a:p>
          <a:p>
            <a:endParaRPr lang="en-GB" sz="1600" dirty="0"/>
          </a:p>
          <a:p>
            <a:r>
              <a:rPr lang="en-GB" sz="1600" b="1" dirty="0"/>
              <a:t>Stage 2:</a:t>
            </a:r>
            <a:r>
              <a:rPr lang="en-GB" sz="1600" dirty="0"/>
              <a:t> Uses the proposed regions from Stage 1 to: Predict the class (category) of the object within each region.</a:t>
            </a:r>
          </a:p>
          <a:p>
            <a:r>
              <a:rPr lang="en-GB" sz="1600" dirty="0"/>
              <a:t>Refine the bounding box coordinates to better fit the detected object.</a:t>
            </a:r>
          </a:p>
          <a:p>
            <a:br>
              <a:rPr lang="en-GB" sz="1600" dirty="0">
                <a:latin typeface="+mj-lt"/>
              </a:rPr>
            </a:br>
            <a:endParaRPr lang="en-GB" sz="160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2052" name="Picture 4" descr="Faster R-CNN: Down the rabbit hole of modern object detection | Tryolabs">
            <a:extLst>
              <a:ext uri="{FF2B5EF4-FFF2-40B4-BE49-F238E27FC236}">
                <a16:creationId xmlns:a16="http://schemas.microsoft.com/office/drawing/2014/main" id="{445DB8A6-DB4C-D31B-4400-A893D6838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90" y="2846566"/>
            <a:ext cx="6249727" cy="228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17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A75FE85-0C27-EF19-7D61-B737794B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2FCDA16-24B5-38EF-591B-DF71BE732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2590" y="-47707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dirty="0">
                <a:solidFill>
                  <a:srgbClr val="7030A0"/>
                </a:solidFill>
                <a:latin typeface="+mj-lt"/>
              </a:rPr>
              <a:t> The Architecture of Faster R-CNN</a:t>
            </a:r>
            <a:br>
              <a:rPr lang="en-GB" sz="3200" dirty="0">
                <a:solidFill>
                  <a:srgbClr val="7030A0"/>
                </a:solidFill>
                <a:latin typeface="+mj-lt"/>
              </a:rPr>
            </a:br>
            <a:br>
              <a:rPr lang="en-GB" sz="3200" dirty="0">
                <a:solidFill>
                  <a:srgbClr val="7030A0"/>
                </a:solidFill>
                <a:latin typeface="+mj-lt"/>
              </a:rPr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1F0A4E33-434E-EB6D-9828-9ACBE71297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3F4D6F-6362-ACFE-C821-41696037B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44" y="580193"/>
            <a:ext cx="6456461" cy="456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71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39FA2DC-7484-FDA4-FAF9-7B7D6BC2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1664DDC-4071-F20C-0052-0CAE833F3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lnSpc>
                <a:spcPts val="2250"/>
              </a:lnSpc>
            </a:pPr>
            <a:r>
              <a:rPr lang="en-GB" sz="3200" dirty="0">
                <a:solidFill>
                  <a:srgbClr val="7030A0"/>
                </a:solidFill>
                <a:latin typeface="+mj-lt"/>
              </a:rPr>
              <a:t> Stage 1: Region Proposal Network (RPN):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242424"/>
                </a:solidFill>
                <a:effectLst/>
                <a:latin typeface="sohne"/>
              </a:rPr>
            </a:br>
            <a: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  <a:t>Backbone Network:</a:t>
            </a:r>
            <a:b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image passes through a convolutional network (like </a:t>
            </a:r>
            <a:r>
              <a:rPr lang="en-GB" sz="1800" b="0" i="0" u="none" strike="noStrike" dirty="0" err="1">
                <a:solidFill>
                  <a:srgbClr val="242424"/>
                </a:solidFill>
                <a:effectLst/>
                <a:latin typeface="+mj-lt"/>
              </a:rPr>
              <a:t>ResNet</a:t>
            </a: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 or VGG16).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This extracts important features from the image and creates a </a:t>
            </a:r>
            <a: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  <a:t>feature map</a:t>
            </a: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  <a:t>Anchors:</a:t>
            </a:r>
            <a:b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1" i="0" u="none" strike="noStrike" dirty="0">
                <a:solidFill>
                  <a:srgbClr val="242424"/>
                </a:solidFill>
                <a:effectLst/>
                <a:latin typeface="+mj-lt"/>
              </a:rPr>
              <a:t>Anchors</a:t>
            </a: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 are boxes of different sizes and shapes placed over points on the feature map.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Each anchor box represents a possible object location.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At every point on the feature map, anchor boxes are generated with different sizes and aspect ratios.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i="0" u="none" strike="noStrike" dirty="0">
                <a:solidFill>
                  <a:srgbClr val="242424"/>
                </a:solidFill>
                <a:effectLst/>
                <a:latin typeface="+mj-lt"/>
              </a:rPr>
              <a:t>Bounding Box Refinement: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RPN also refines the anchor boxes to better align them with the actual objects by predicting offsets (adjustments).</a:t>
            </a: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br>
              <a:rPr lang="en-GB" sz="1800" b="0" i="0" u="none" strike="noStrike" dirty="0">
                <a:solidFill>
                  <a:srgbClr val="242424"/>
                </a:solidFill>
                <a:effectLst/>
                <a:latin typeface="+mj-lt"/>
              </a:rPr>
            </a:br>
            <a:br>
              <a:rPr lang="en-GB" b="0" i="0" u="none" strike="noStrike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GB" dirty="0"/>
            </a:br>
            <a:endParaRPr lang="en-GB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6CBC994B-9093-9AF8-5A46-8D197D116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2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7AD8385-D2C3-6803-D88F-85685818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150AF46-62C6-10A3-C1ED-DBB8FCE55A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lnSpc>
                <a:spcPts val="2250"/>
              </a:lnSpc>
            </a:pPr>
            <a:r>
              <a:rPr lang="en-GB" sz="3200" dirty="0">
                <a:solidFill>
                  <a:srgbClr val="7030A0"/>
                </a:solidFill>
                <a:latin typeface="+mj-lt"/>
              </a:rPr>
              <a:t> Stage 1: Region Proposal Network (RPN):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b="1" i="0" u="none" strike="noStrike" dirty="0">
                <a:solidFill>
                  <a:srgbClr val="242424"/>
                </a:solidFill>
                <a:effectLst/>
                <a:latin typeface="sohne"/>
              </a:rPr>
            </a:br>
            <a:br>
              <a:rPr lang="en-GB" b="0" i="0" u="none" strike="noStrike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GB" dirty="0"/>
            </a:br>
            <a:endParaRPr lang="en-GB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DDAA311-B169-8F06-4078-332EBC7697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577FE-8F54-587B-C665-98F94AD0458A}"/>
              </a:ext>
            </a:extLst>
          </p:cNvPr>
          <p:cNvSpPr txBox="1"/>
          <p:nvPr/>
        </p:nvSpPr>
        <p:spPr>
          <a:xfrm>
            <a:off x="653994" y="713964"/>
            <a:ext cx="7066721" cy="398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Classification of Anchors:</a:t>
            </a:r>
          </a:p>
          <a:p>
            <a:pPr marL="285750" indent="-285750" algn="l">
              <a:lnSpc>
                <a:spcPts val="2400"/>
              </a:lnSpc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RPN predicts whether each anchor box is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background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(no object) or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foreground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(contains an object).</a:t>
            </a:r>
          </a:p>
          <a:p>
            <a:pPr marL="285750" indent="-285750" algn="l">
              <a:lnSpc>
                <a:spcPts val="2400"/>
              </a:lnSpc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Positive (foreground) anchors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Boxes with high overlap with actual objects.</a:t>
            </a:r>
          </a:p>
          <a:p>
            <a:pPr marL="285750" indent="-285750" algn="l">
              <a:lnSpc>
                <a:spcPts val="2400"/>
              </a:lnSpc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Negative (background) anchors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Boxes with little or no overlap with objects.</a:t>
            </a:r>
          </a:p>
          <a:p>
            <a:pPr algn="l">
              <a:lnSpc>
                <a:spcPts val="24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Loss functions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</a:t>
            </a:r>
          </a:p>
          <a:p>
            <a:pPr algn="l">
              <a:lnSpc>
                <a:spcPts val="24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I)Classification loss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Helps the model decide if the anchor is background or foreground.</a:t>
            </a:r>
          </a:p>
          <a:p>
            <a:pPr algn="l">
              <a:lnSpc>
                <a:spcPts val="2400"/>
              </a:lnSpc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II)Regression loss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Helps adjust the anchor boxes to fit the objects more precisely.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948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C3F52BD-26D0-BF43-4CAD-4BD26B5A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650F2DD-B17A-5A9D-25E2-DD2579CB9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Stage 2: Object Classification and Box Refinement: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F2C3D5E-D6C7-763E-D8D3-877926FAF9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0C131-0B82-FD9F-9C1E-95B3CE6C1D8B}"/>
              </a:ext>
            </a:extLst>
          </p:cNvPr>
          <p:cNvSpPr txBox="1"/>
          <p:nvPr/>
        </p:nvSpPr>
        <p:spPr>
          <a:xfrm>
            <a:off x="99832" y="786632"/>
            <a:ext cx="8832221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Region Proposals: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After RPN, we get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region proposals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(refined boxes that likely contain objects).</a:t>
            </a:r>
          </a:p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ROI Pooling: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region proposals have different sizes, but the neural network needs fixed-size inputs.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ROI Pooling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resizes all region proposals to a fixed size by dividing them into smaller regions and applying pooling, making them uniform.</a:t>
            </a:r>
          </a:p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Object Classification: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Each region proposal is passed through a small network to predict the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category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(e.g., dog, car, etc.) of the object inside it.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Cross-entropy loss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is used to classify the objects into categories.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251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888F7E6-4942-FDCA-2217-D5D1B7AC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A385034-0947-9D25-E948-ED2CB39A5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Stage 2: Object Classification and Box Refinement: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2411F09-ECAC-84DF-C5E4-C823052DE5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A360F-9010-B955-91F6-FDAC120C21CC}"/>
              </a:ext>
            </a:extLst>
          </p:cNvPr>
          <p:cNvSpPr txBox="1"/>
          <p:nvPr/>
        </p:nvSpPr>
        <p:spPr>
          <a:xfrm>
            <a:off x="99832" y="786632"/>
            <a:ext cx="8832221" cy="478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Bounding Box Refinement (Again):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region proposals are refined again to better match the actual objects, using offsets.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This uses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regression loss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to adjust the proposals.</a:t>
            </a:r>
          </a:p>
          <a:p>
            <a:pPr algn="l">
              <a:lnSpc>
                <a:spcPts val="18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Multi-task Learning: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The network in stage 2 learns both to predict object categories and refine bounding boxes at the same time.</a:t>
            </a:r>
          </a:p>
          <a:p>
            <a:pPr algn="l">
              <a:lnSpc>
                <a:spcPts val="225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Inference (Testing/Prediction Time):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Top Region Proposals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During testing, the model generates a large number of region proposals, but only the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top proposals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(with the highest classification scores) are passed to the second stage.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Final Predictions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The second stage predicts the final categories and bounding boxes.</a:t>
            </a:r>
          </a:p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Non-Max Suppression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A technique called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Non-Max Suppression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is applied to remove duplicate or overlapping boxes, keeping only the best ones.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974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AC05FFD-04B7-6FC0-2C5B-B82755F4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09CB4B2-9D38-5607-2984-63DBB00D6A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Stage 2: Object Classification and Box Refinement: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C4B3C6C-5BDD-8B32-2E7D-0C9FDC0517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2D4E3-FF92-3E87-52FB-6EDE17B37E3B}"/>
              </a:ext>
            </a:extLst>
          </p:cNvPr>
          <p:cNvSpPr txBox="1"/>
          <p:nvPr/>
        </p:nvSpPr>
        <p:spPr>
          <a:xfrm>
            <a:off x="99832" y="786632"/>
            <a:ext cx="8832221" cy="371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2. Final Predictions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The second stage predicts the final categories and bounding boxes.</a:t>
            </a:r>
          </a:p>
          <a:p>
            <a:pPr algn="l">
              <a:lnSpc>
                <a:spcPts val="2400"/>
              </a:lnSpc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3. Non-Max Suppression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A technique called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Non-Max Suppression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is applied to remove duplicate or overlapping boxes, keeping only the best ones.</a:t>
            </a:r>
          </a:p>
          <a:p>
            <a:pPr algn="l">
              <a:lnSpc>
                <a:spcPts val="225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Training:</a:t>
            </a:r>
          </a:p>
          <a:p>
            <a:pPr algn="l">
              <a:lnSpc>
                <a:spcPts val="2400"/>
              </a:lnSpc>
              <a:buNone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Two ways to train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Train in stages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First, train the region proposal network (RPN) and then the classifier and regressor.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Train together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: Train both stages at the same time (faster and more efficient)</a:t>
            </a:r>
          </a:p>
          <a:p>
            <a:pPr algn="l">
              <a:lnSpc>
                <a:spcPts val="2400"/>
              </a:lnSpc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3671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1D0154E-46B1-F64D-859E-7E7B5F34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23CDD9E-282A-3D62-13BA-DB48B572C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b="1" dirty="0"/>
              <a:t>Key Components of Faster R-CNN</a:t>
            </a:r>
            <a:br>
              <a:rPr lang="en-GB" sz="2800" b="1" dirty="0"/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C7BEDDA-9107-61F7-6AE1-C7CBBBE6D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3DC01-61C8-6A8B-41FE-ACE0EB021B02}"/>
              </a:ext>
            </a:extLst>
          </p:cNvPr>
          <p:cNvSpPr txBox="1"/>
          <p:nvPr/>
        </p:nvSpPr>
        <p:spPr>
          <a:xfrm>
            <a:off x="99832" y="786632"/>
            <a:ext cx="883222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1. Backbone (Feature Extractor)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 pre-trained CNN like </a:t>
            </a:r>
            <a:r>
              <a:rPr lang="en-GB" sz="1600" b="1" dirty="0"/>
              <a:t>ResNet-50</a:t>
            </a:r>
            <a:r>
              <a:rPr lang="en-GB" sz="1600" dirty="0"/>
              <a:t> or </a:t>
            </a:r>
            <a:r>
              <a:rPr lang="en-GB" sz="1600" b="1" dirty="0"/>
              <a:t>VGG16</a:t>
            </a:r>
            <a:r>
              <a:rPr lang="en-GB" sz="1600" dirty="0"/>
              <a:t> is used to extract features from the input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Output: a </a:t>
            </a:r>
            <a:r>
              <a:rPr lang="en-GB" sz="1600" b="1" dirty="0"/>
              <a:t>feature map</a:t>
            </a:r>
            <a:r>
              <a:rPr lang="en-GB" sz="1600" dirty="0"/>
              <a:t> representing the spatial layout of the image.</a:t>
            </a:r>
          </a:p>
          <a:p>
            <a:pPr>
              <a:buNone/>
            </a:pPr>
            <a:r>
              <a:rPr lang="en-GB" sz="1600" b="1" dirty="0"/>
              <a:t>2. Region Proposal Network (RPN)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Takes the feature map and proposes </a:t>
            </a:r>
            <a:r>
              <a:rPr lang="en-GB" sz="1600" b="1" dirty="0"/>
              <a:t>candidate object regions</a:t>
            </a:r>
            <a:r>
              <a:rPr lang="en-GB" sz="1600" dirty="0"/>
              <a:t> (bounding boxes).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It predicts: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 err="1"/>
              <a:t>Objectness</a:t>
            </a:r>
            <a:r>
              <a:rPr lang="en-GB" sz="1600" b="1" dirty="0"/>
              <a:t> score</a:t>
            </a:r>
            <a:r>
              <a:rPr lang="en-GB" sz="1600" dirty="0"/>
              <a:t> (Is it an object or background?)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Bounding box coordinates</a:t>
            </a:r>
            <a:r>
              <a:rPr lang="en-GB" sz="1600" dirty="0"/>
              <a:t> (refinements)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It uses </a:t>
            </a:r>
            <a:r>
              <a:rPr lang="en-GB" sz="1600" b="1" dirty="0"/>
              <a:t>anchors</a:t>
            </a:r>
            <a:r>
              <a:rPr lang="en-GB" sz="1600" dirty="0"/>
              <a:t> (predefined boxes of various sizes and aspect ratios) at each location in the feature map.</a:t>
            </a:r>
          </a:p>
          <a:p>
            <a:pPr>
              <a:buNone/>
            </a:pPr>
            <a:r>
              <a:rPr lang="en-GB" sz="1600" b="1" dirty="0"/>
              <a:t>3. </a:t>
            </a:r>
            <a:r>
              <a:rPr lang="en-GB" sz="1600" b="1" dirty="0" err="1"/>
              <a:t>RoI</a:t>
            </a:r>
            <a:r>
              <a:rPr lang="en-GB" sz="1600" b="1" dirty="0"/>
              <a:t> Pooling (Region of Interest Pooling)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Takes the proposed regions and </a:t>
            </a:r>
            <a:r>
              <a:rPr lang="en-GB" sz="1600" b="1" dirty="0"/>
              <a:t>warps them into a fixed size</a:t>
            </a:r>
            <a:r>
              <a:rPr lang="en-GB" sz="1600" dirty="0"/>
              <a:t>, so they can be processed by the classifier regardless of shape.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This allows batching and consistent input size.</a:t>
            </a:r>
          </a:p>
          <a:p>
            <a:pPr>
              <a:buNone/>
            </a:pPr>
            <a:r>
              <a:rPr lang="en-GB" sz="1600" b="1" dirty="0"/>
              <a:t>4. Fast R-CNN Head (Classifier + Regressor)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Classifies each </a:t>
            </a:r>
            <a:r>
              <a:rPr lang="en-GB" sz="1600" dirty="0" err="1"/>
              <a:t>RoI</a:t>
            </a:r>
            <a:r>
              <a:rPr lang="en-GB" sz="1600" dirty="0"/>
              <a:t> into object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Refines the bounding box prediction for each detected object.</a:t>
            </a:r>
          </a:p>
          <a:p>
            <a:pPr algn="l">
              <a:lnSpc>
                <a:spcPts val="2400"/>
              </a:lnSpc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23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E69551D-052D-735F-BFF4-2F689303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0249EDA-0F27-69CE-2F37-225AA2F49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b="1" dirty="0"/>
              <a:t>Advantages of Faster R-CNN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C1A1088-4834-9FA0-FDD3-63FE267DE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51322-FBE5-4FF3-FD32-0EA61D8DB3BE}"/>
              </a:ext>
            </a:extLst>
          </p:cNvPr>
          <p:cNvSpPr txBox="1"/>
          <p:nvPr/>
        </p:nvSpPr>
        <p:spPr>
          <a:xfrm>
            <a:off x="99832" y="786632"/>
            <a:ext cx="883222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GB" sz="2000" b="1" dirty="0"/>
              <a:t>End-to-end trainable</a:t>
            </a:r>
            <a:r>
              <a:rPr lang="en-GB" sz="2000" dirty="0"/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000" b="1" dirty="0"/>
              <a:t>Fast</a:t>
            </a:r>
            <a:r>
              <a:rPr lang="en-GB" sz="2000" dirty="0"/>
              <a:t> compared to older R-CNN versions.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000" b="1" dirty="0"/>
              <a:t>High accuracy</a:t>
            </a:r>
            <a:r>
              <a:rPr lang="en-GB" sz="2000" dirty="0"/>
              <a:t> on datasets like COCO, PASCAL VOC.</a:t>
            </a:r>
          </a:p>
          <a:p>
            <a:pPr algn="l">
              <a:lnSpc>
                <a:spcPts val="2400"/>
              </a:lnSpc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658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AEEA11F-2D2E-586E-A649-57CF8420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4D5AC5D-5FFA-9E46-CE80-D10D2E922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1EFF518-F26A-B072-6EB7-3C1A8DC1AB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E110F-4EC1-F18C-F4BB-CDC34B718785}"/>
              </a:ext>
            </a:extLst>
          </p:cNvPr>
          <p:cNvSpPr txBox="1"/>
          <p:nvPr/>
        </p:nvSpPr>
        <p:spPr>
          <a:xfrm>
            <a:off x="99832" y="786632"/>
            <a:ext cx="883222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Object Detection Task: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SSD addresses the critical computer vision task of identifying and locating objects within an image.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Traditional Methods Limitation: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Earlier object detection methods were computationally expensive and slow due to requiring multiple passes over the image.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SSD's Core Idea: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SSD revolutionized the field by performing object detection in a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single pass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over the image, hence its name.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Benefits of Single-Shot Detection: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This single-pass approach significantly speeds up the detection process while maintaining high accuracy.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Real-time Applications: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The speed and accuracy of SSD make it a popular choice for real-time applications.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356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6C72BC3-0C0A-B3FF-4B88-9E228A9A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0978E79-7F50-1BDC-326B-4DD018829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Key Concepts in SSD</a:t>
            </a:r>
          </a:p>
          <a:p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8D37FE3-1EF4-C649-3A65-1ED20E09EE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01BEF3-5FF9-A3B4-F1EF-16908E836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510409"/>
              </p:ext>
            </p:extLst>
          </p:nvPr>
        </p:nvGraphicFramePr>
        <p:xfrm>
          <a:off x="215125" y="1126686"/>
          <a:ext cx="8521700" cy="33832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901079467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211088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06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Single Pass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One forward pass through the network predicts bounding boxes and class scores.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82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Default Boxes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Predefined anchor boxes of various scales and aspect ratios are used to detect objects at different sizes.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0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Multi-Scale Feature Maps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SSD makes predictions at multiple layers in the CNN, allowing detection of objects at various scales.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45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Loss Function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Combines localization loss (Smooth L1) and confidence loss (cross-entropy) to train the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494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392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D9DD9FC-455B-97B5-5BEC-2811036C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233710F-7910-CFD7-F446-E81B1E69F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 architecture works:</a:t>
            </a: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7E9A318-A07F-5E58-071C-771050A10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54221-C466-3AA9-FB2E-2C5609B1ADEC}"/>
              </a:ext>
            </a:extLst>
          </p:cNvPr>
          <p:cNvSpPr txBox="1"/>
          <p:nvPr/>
        </p:nvSpPr>
        <p:spPr>
          <a:xfrm>
            <a:off x="143124" y="619185"/>
            <a:ext cx="90962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1. Base Network: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Starts with a pre-trained CNN (like VGG16) for strong feature extraction.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Processes the input image to generate feature maps.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2. Extra Layers: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Adds more convolutional layers after the base network.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These layers progressively decrease in size.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They are responsible for detecting objects at different scales.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Each extra layer produces feature maps that contribute to the final detections.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3. Multi-scale Feature Maps: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Uses feature maps at various resolutions for detecting objects of different sizes.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Higher resolution maps detect smaller objects.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Lower resolution maps detect larger objects.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4. Default Boxes (Anchor Boxes):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Applies a set of default boxes (anchor boxes) with different aspect ratios and scales at each location in the feature maps.</a:t>
            </a:r>
          </a:p>
          <a:p>
            <a:pPr marL="342900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For each default box, SSD predicts: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Class Scores: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Likelihood of an object belonging to a specific class.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Bounding Box Offsets: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Adjustments to refine the default box to better fit the object.</a:t>
            </a:r>
          </a:p>
        </p:txBody>
      </p:sp>
    </p:spTree>
    <p:extLst>
      <p:ext uri="{BB962C8B-B14F-4D97-AF65-F5344CB8AC3E}">
        <p14:creationId xmlns:p14="http://schemas.microsoft.com/office/powerpoint/2010/main" val="167789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20BD32B-BF70-43CC-C829-0FCB4A4D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634AC14-BF62-73C7-F7ED-C5352FA36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 architecture works:</a:t>
            </a: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0FC96DE-9B84-DA05-7082-6D259C21BA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0CBA1-9EBA-2774-04BC-A20CC69DFABD}"/>
              </a:ext>
            </a:extLst>
          </p:cNvPr>
          <p:cNvSpPr txBox="1"/>
          <p:nvPr/>
        </p:nvSpPr>
        <p:spPr>
          <a:xfrm>
            <a:off x="779228" y="934880"/>
            <a:ext cx="694148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5. Predictions: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For every default box, the model outputs: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Class Confidences: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Probability of the box containing a particular object class.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Bounding Box Adjustments: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Coordinates to fine-tune the default box's position and size.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6. Loss Function: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Combines two loss components: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Localization Loss (</a:t>
            </a:r>
            <a:r>
              <a:rPr lang="en-GB" sz="1600" b="1" i="0" u="none" strike="noStrike" dirty="0" err="1">
                <a:solidFill>
                  <a:srgbClr val="000000"/>
                </a:solidFill>
                <a:effectLst/>
              </a:rPr>
              <a:t>Lloc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):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Measures the accuracy of predicted bounding boxes compared to ground truth using Smooth L1 loss.</a:t>
            </a:r>
          </a:p>
          <a:p>
            <a:pPr marL="857250" lvl="1" indent="-400050" algn="l">
              <a:buFont typeface="+mj-lt"/>
              <a:buAutoNum type="roman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Confidence Loss (</a:t>
            </a:r>
            <a:r>
              <a:rPr lang="en-GB" sz="1600" b="1" i="0" u="none" strike="noStrike" dirty="0" err="1">
                <a:solidFill>
                  <a:srgbClr val="000000"/>
                </a:solidFill>
                <a:effectLst/>
              </a:rPr>
              <a:t>Lconf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):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Evaluates the confidence in the predicted class scores using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softmax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loss.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7. Non-Maximum Suppression (NMS):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 post-processing step to eliminate redundant, overlapping bounding boxes with lower confidence scores, keeping only the most confident and relevant detections.</a:t>
            </a:r>
          </a:p>
        </p:txBody>
      </p:sp>
    </p:spTree>
    <p:extLst>
      <p:ext uri="{BB962C8B-B14F-4D97-AF65-F5344CB8AC3E}">
        <p14:creationId xmlns:p14="http://schemas.microsoft.com/office/powerpoint/2010/main" val="291484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7C67D44-2695-CE89-3BE3-9DDFC8F6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A447F1DD-0CAF-5F7C-7F23-55402BD51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Steps in Single Shot Detection 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16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Input Image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The image is passed through the base network to extract feature maps.</a:t>
            </a: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Feature Extraction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The extra layers process these maps at multiple scales.</a:t>
            </a: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Default Boxes Assignment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Default boxes of various sizes and aspect ratios are assigned to each feature map cell.</a:t>
            </a: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Prediction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For each default box, class scores and bounding box offsets are predicted.</a:t>
            </a: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Loss Calculation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The loss is computed based on localization and confidence.</a:t>
            </a: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b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</a:br>
            <a:r>
              <a:rPr lang="en-GB" sz="1600" b="1" i="0" u="none" strike="noStrike" dirty="0">
                <a:solidFill>
                  <a:srgbClr val="273239"/>
                </a:solidFill>
                <a:effectLst/>
                <a:latin typeface="+mj-lt"/>
              </a:rPr>
              <a:t>NMS</a:t>
            </a:r>
            <a:r>
              <a:rPr lang="en-GB" sz="1600" b="0" i="0" u="none" strike="noStrike" dirty="0">
                <a:solidFill>
                  <a:srgbClr val="273239"/>
                </a:solidFill>
                <a:effectLst/>
                <a:latin typeface="+mj-lt"/>
              </a:rPr>
              <a:t>: Redundant boxes are removed to produce the final set of detections.</a:t>
            </a:r>
            <a:br>
              <a:rPr lang="en-GB" sz="1400" b="0" i="0" u="none" strike="noStrike" dirty="0">
                <a:solidFill>
                  <a:srgbClr val="273239"/>
                </a:solidFill>
                <a:effectLst/>
                <a:latin typeface="Nunito" pitchFamily="2" charset="77"/>
              </a:rPr>
            </a:br>
            <a:br>
              <a:rPr lang="en-GB" sz="1400" dirty="0"/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D7FCA18-693A-53D3-D553-E114082DB6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3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00153CF-DB6B-E83A-E124-ED5B5D0B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4BF88AE-FE2D-6731-B821-67AACD345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6064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C1EA41E-C156-E75D-0F5F-8371FF7707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2EAEB-E7DB-7062-C02F-179EF3C43D15}"/>
              </a:ext>
            </a:extLst>
          </p:cNvPr>
          <p:cNvSpPr txBox="1"/>
          <p:nvPr/>
        </p:nvSpPr>
        <p:spPr>
          <a:xfrm>
            <a:off x="0" y="664603"/>
            <a:ext cx="883222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GB" sz="1600" b="0" i="0" dirty="0">
                <a:solidFill>
                  <a:srgbClr val="242424"/>
                </a:solidFill>
                <a:effectLst/>
                <a:latin typeface="+mj-lt"/>
              </a:rPr>
              <a:t>The SSD object detection composes of 2 parts:</a:t>
            </a: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en-GB" sz="1600" b="0" i="0" dirty="0">
                <a:solidFill>
                  <a:srgbClr val="242424"/>
                </a:solidFill>
                <a:effectLst/>
                <a:latin typeface="+mj-lt"/>
              </a:rPr>
              <a:t>Extract feature maps, and</a:t>
            </a:r>
          </a:p>
          <a:p>
            <a:pPr marL="457200" indent="-457200">
              <a:lnSpc>
                <a:spcPts val="2400"/>
              </a:lnSpc>
              <a:buFont typeface="+mj-lt"/>
              <a:buAutoNum type="arabicPeriod"/>
            </a:pPr>
            <a:r>
              <a:rPr lang="en-GB" sz="1600" b="0" i="0" dirty="0">
                <a:solidFill>
                  <a:srgbClr val="242424"/>
                </a:solidFill>
                <a:effectLst/>
                <a:latin typeface="+mj-lt"/>
              </a:rPr>
              <a:t>Apply convolution filters to detect objects.</a:t>
            </a: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4CA982-D752-B9E2-DA3D-B30D03D0C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24" y="1637698"/>
            <a:ext cx="6552096" cy="320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215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4A5D94F-2D4E-F8C9-7CA0-1FA287BE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F973808-6B40-102B-4BBC-7E7C497B5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2682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0BA3A452-76BF-C209-1BF4-052D945CAB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8AA07-B846-F742-2E04-6C5A7FB261DD}"/>
              </a:ext>
            </a:extLst>
          </p:cNvPr>
          <p:cNvSpPr txBox="1"/>
          <p:nvPr/>
        </p:nvSpPr>
        <p:spPr>
          <a:xfrm>
            <a:off x="87464" y="840265"/>
            <a:ext cx="883222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SSD uses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VGG16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to extract feature maps. Then it detects objects using the </a:t>
            </a:r>
            <a:r>
              <a:rPr lang="en-GB" sz="1600" b="1" i="0" u="none" strike="noStrike" dirty="0">
                <a:solidFill>
                  <a:srgbClr val="242424"/>
                </a:solidFill>
                <a:effectLst/>
                <a:latin typeface="+mj-lt"/>
              </a:rPr>
              <a:t>Conv4_3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 layer. For illustration, we draw the Conv4_3 to be 8 × 8 spatially (it should be 38 × 38). For each cell (also called location), it makes 4 object </a:t>
            </a:r>
            <a:r>
              <a:rPr lang="en-GB" sz="1600" b="0" i="0" u="none" strike="noStrike" dirty="0" err="1">
                <a:solidFill>
                  <a:srgbClr val="242424"/>
                </a:solidFill>
                <a:effectLst/>
                <a:latin typeface="+mj-lt"/>
              </a:rPr>
              <a:t>predictions.as</a:t>
            </a: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+mj-lt"/>
              </a:rPr>
              <a:t> shown in the figure:</a:t>
            </a:r>
          </a:p>
          <a:p>
            <a:pPr>
              <a:lnSpc>
                <a:spcPts val="2400"/>
              </a:lnSpc>
              <a:buNone/>
            </a:pPr>
            <a:endParaRPr lang="en-GB" sz="1600" b="0" i="0" dirty="0">
              <a:solidFill>
                <a:srgbClr val="242424"/>
              </a:solidFill>
              <a:effectLst/>
              <a:latin typeface="+mj-lt"/>
            </a:endParaRP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30891A8-E154-59AF-7879-85104FFC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261" y="1871317"/>
            <a:ext cx="6623477" cy="330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094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8E42A02-40E6-875B-D309-6AF2DEBF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99FC1DC-7083-BE88-79F0-803C73D02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F565381-7675-2DF5-6FDE-DE7B2C80D3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68C25-3AD2-5A73-F1E5-BB9A27A1E684}"/>
              </a:ext>
            </a:extLst>
          </p:cNvPr>
          <p:cNvSpPr txBox="1"/>
          <p:nvPr/>
        </p:nvSpPr>
        <p:spPr>
          <a:xfrm>
            <a:off x="3146" y="484533"/>
            <a:ext cx="82375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source-serif-pro"/>
              </a:rPr>
              <a:t>Each prediction composes of a boundary box and 21 scores for each class (one extra class for no object), and we pick the highest score as the class for the bounded object. Conv4_3 makes a total of 38 × 38 × 4 predictions: four predictions per cell regardless of the depth of the feature maps. As expected, many predictions contain no object. SSD reserves a class “0” to indicate it has no objects.</a:t>
            </a:r>
            <a:endParaRPr lang="en-GB" sz="1600" b="0" i="0" dirty="0">
              <a:solidFill>
                <a:srgbClr val="242424"/>
              </a:solidFill>
              <a:effectLst/>
              <a:latin typeface="+mj-lt"/>
            </a:endParaRP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E28EA17-CDB2-C041-ED9F-64C040316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60" y="1796995"/>
            <a:ext cx="6936215" cy="334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7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B3769D-5AC5-DFDF-6DB3-19FC25D9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CCE8104-2B90-F82E-7967-DE36B1717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BEC29AE3-31D3-C2E0-FAAF-F9BAC52D66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44C11-FBFA-4959-3892-AA54C0EAB20A}"/>
              </a:ext>
            </a:extLst>
          </p:cNvPr>
          <p:cNvSpPr txBox="1"/>
          <p:nvPr/>
        </p:nvSpPr>
        <p:spPr>
          <a:xfrm>
            <a:off x="3146" y="484533"/>
            <a:ext cx="82375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GB" sz="1600" b="0" i="0" u="none" strike="noStrike" dirty="0">
                <a:solidFill>
                  <a:srgbClr val="242424"/>
                </a:solidFill>
                <a:effectLst/>
                <a:latin typeface="source-serif-pro"/>
              </a:rPr>
              <a:t>Each prediction composes of a boundary box and 21 scores for each class (one extra class for no object), and we pick the highest score as the class for the bounded object. Conv4_3 makes a total of 38 × 38 × 4 predictions: four predictions per cell regardless of the depth of the feature maps. As expected, many predictions contain no object. SSD reserves a class “0” to indicate it has no objects.</a:t>
            </a:r>
            <a:endParaRPr lang="en-GB" sz="1600" b="0" i="0" dirty="0">
              <a:solidFill>
                <a:srgbClr val="242424"/>
              </a:solidFill>
              <a:effectLst/>
              <a:latin typeface="+mj-lt"/>
            </a:endParaRP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A627FD0-D113-EE32-B256-F42A10287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60" y="1796995"/>
            <a:ext cx="6936215" cy="334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138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EB45042-F2F1-8495-AC6F-C575D7A6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B6AE664-CAA7-13C7-5027-6CD891BA5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8736825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GB" sz="2800" i="0" u="none" strike="noStrike" dirty="0">
                <a:solidFill>
                  <a:srgbClr val="7030A0"/>
                </a:solidFill>
                <a:effectLst/>
              </a:rPr>
              <a:t>Single Shot Detector (SSD) Vs Faster RCNN</a:t>
            </a:r>
            <a:br>
              <a:rPr lang="en-GB" sz="2000" dirty="0">
                <a:solidFill>
                  <a:srgbClr val="7030A0"/>
                </a:solidFill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  <a:latin typeface="+mj-lt"/>
              </a:rPr>
            </a:br>
            <a:endParaRPr lang="en-GB" sz="2000" b="0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65F28265-3BDC-BE71-3DC6-4ACFC2566C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64FD7-3F6C-3DCA-219B-9A17047AED3C}"/>
              </a:ext>
            </a:extLst>
          </p:cNvPr>
          <p:cNvSpPr txBox="1"/>
          <p:nvPr/>
        </p:nvSpPr>
        <p:spPr>
          <a:xfrm>
            <a:off x="3146" y="484533"/>
            <a:ext cx="823755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+mj-lt"/>
            </a:endParaRP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F4847C-B97E-4ADC-4F5D-8784F7C1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6490"/>
              </p:ext>
            </p:extLst>
          </p:nvPr>
        </p:nvGraphicFramePr>
        <p:xfrm>
          <a:off x="497481" y="1506966"/>
          <a:ext cx="8149038" cy="1737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16346">
                  <a:extLst>
                    <a:ext uri="{9D8B030D-6E8A-4147-A177-3AD203B41FA5}">
                      <a16:colId xmlns:a16="http://schemas.microsoft.com/office/drawing/2014/main" val="1769806612"/>
                    </a:ext>
                  </a:extLst>
                </a:gridCol>
                <a:gridCol w="2716346">
                  <a:extLst>
                    <a:ext uri="{9D8B030D-6E8A-4147-A177-3AD203B41FA5}">
                      <a16:colId xmlns:a16="http://schemas.microsoft.com/office/drawing/2014/main" val="2444840467"/>
                    </a:ext>
                  </a:extLst>
                </a:gridCol>
                <a:gridCol w="2716346">
                  <a:extLst>
                    <a:ext uri="{9D8B030D-6E8A-4147-A177-3AD203B41FA5}">
                      <a16:colId xmlns:a16="http://schemas.microsoft.com/office/drawing/2014/main" val="103646252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Faster R-CNN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75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Faster (real-time)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7016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Slightly 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0764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Single-stage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Two-stage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87942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Real-time systems (e.g. mobile, robotics)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High-accuracy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842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281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Comparison Table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BB93F30-5C6E-69B1-DEB4-47B973C1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143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B041DB-6E5F-CFB2-ECE7-96EAE86C4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232693"/>
              </p:ext>
            </p:extLst>
          </p:nvPr>
        </p:nvGraphicFramePr>
        <p:xfrm>
          <a:off x="0" y="933076"/>
          <a:ext cx="9032682" cy="4155759"/>
        </p:xfrm>
        <a:graphic>
          <a:graphicData uri="http://schemas.openxmlformats.org/drawingml/2006/table">
            <a:tbl>
              <a:tblPr firstRow="1" bandRow="1">
                <a:tableStyleId>{541E1F5B-7058-4A9B-AF8C-0847D0C7EE07}</a:tableStyleId>
              </a:tblPr>
              <a:tblGrid>
                <a:gridCol w="4516341">
                  <a:extLst>
                    <a:ext uri="{9D8B030D-6E8A-4147-A177-3AD203B41FA5}">
                      <a16:colId xmlns:a16="http://schemas.microsoft.com/office/drawing/2014/main" val="1431254422"/>
                    </a:ext>
                  </a:extLst>
                </a:gridCol>
                <a:gridCol w="4516341">
                  <a:extLst>
                    <a:ext uri="{9D8B030D-6E8A-4147-A177-3AD203B41FA5}">
                      <a16:colId xmlns:a16="http://schemas.microsoft.com/office/drawing/2014/main" val="2332961037"/>
                    </a:ext>
                  </a:extLst>
                </a:gridCol>
              </a:tblGrid>
              <a:tr h="845934">
                <a:tc>
                  <a:txBody>
                    <a:bodyPr/>
                    <a:lstStyle/>
                    <a:p>
                      <a:r>
                        <a:rPr lang="en-US" dirty="0"/>
                        <a:t>Faster R-CNN- It is Visible that its more accurate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SSD- Not that accurate as compared to Faster R-CNN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39730"/>
                  </a:ext>
                </a:extLst>
              </a:tr>
              <a:tr h="33098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5247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23E65F1-49AF-00AC-24A9-38BAB4463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" y="1796915"/>
            <a:ext cx="4384335" cy="320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4A96A6C8-EF72-2E38-4D20-705CEEF81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341" y="1822623"/>
            <a:ext cx="4537029" cy="319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BA17822A-231F-6CDC-048D-C7AF6E01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25C88260-9926-5634-B4D3-04C543FA0FCE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7AD6C31-C23F-1A8E-CB49-55D7725CF5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Comparison Table 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B8D691-3233-65CC-5826-E9A2DF2CD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143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127E0F-1E72-D0B2-912A-249999373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369035"/>
              </p:ext>
            </p:extLst>
          </p:nvPr>
        </p:nvGraphicFramePr>
        <p:xfrm>
          <a:off x="311150" y="1322070"/>
          <a:ext cx="8521700" cy="2499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3762124306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839849477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36261272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526016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Faster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SSD (Single Shot Detector)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YOLO (You Only Look Once)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498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Detection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Two-stage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One-stage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One-stage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738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Fastest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13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58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Region Proposals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Yes (RPN)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816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Real-time, medium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Real-time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1917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0AF9F31-A2E1-D131-1CD1-54A2B50CE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7335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26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Hands On Exercise 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9B7B1-87C3-1A19-1CD5-4DC342054D89}"/>
              </a:ext>
            </a:extLst>
          </p:cNvPr>
          <p:cNvSpPr txBox="1"/>
          <p:nvPr/>
        </p:nvSpPr>
        <p:spPr>
          <a:xfrm>
            <a:off x="182139" y="1334239"/>
            <a:ext cx="46494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hlinkClick r:id="rId4"/>
              </a:rPr>
              <a:t>Click Here For The Implementation on Google Colab</a:t>
            </a:r>
            <a:endParaRPr lang="en-GB" sz="2000" dirty="0"/>
          </a:p>
          <a:p>
            <a:pPr algn="ctr"/>
            <a:r>
              <a:rPr lang="en-GB" sz="2000" dirty="0"/>
              <a:t>https://</a:t>
            </a:r>
            <a:r>
              <a:rPr lang="en-GB" sz="2000" dirty="0" err="1"/>
              <a:t>drive.google.com</a:t>
            </a:r>
            <a:r>
              <a:rPr lang="en-GB" sz="2000" dirty="0"/>
              <a:t>/file/d/1BtBen-9rjjuvaHL6d6dvQ6MRti_zd2fn/</a:t>
            </a:r>
            <a:r>
              <a:rPr lang="en-GB" sz="2000" dirty="0" err="1"/>
              <a:t>view?usp</a:t>
            </a:r>
            <a:r>
              <a:rPr lang="en-GB" sz="2000" dirty="0"/>
              <a:t>=</a:t>
            </a:r>
            <a:r>
              <a:rPr lang="en-GB" sz="2000" dirty="0" err="1"/>
              <a:t>share_link</a:t>
            </a:r>
            <a:endParaRPr lang="en-GB" sz="2000" dirty="0"/>
          </a:p>
        </p:txBody>
      </p:sp>
      <p:pic>
        <p:nvPicPr>
          <p:cNvPr id="4" name="Picture 3" descr="A computer with a screen on it&#10;&#10;AI-generated content may be incorrect.">
            <a:extLst>
              <a:ext uri="{FF2B5EF4-FFF2-40B4-BE49-F238E27FC236}">
                <a16:creationId xmlns:a16="http://schemas.microsoft.com/office/drawing/2014/main" id="{DFCACE6B-93A9-2C0B-6504-0868FF900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572000" y="1890944"/>
            <a:ext cx="4311517" cy="28711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7073A23-177A-F380-4E2C-BCE5184C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E3B61B0B-C8A6-4063-AA38-0D213B63371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CC369EC6-6544-C062-953A-68234137B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Books and References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6E5C5-A4EC-A514-661D-B1E7567D531F}"/>
              </a:ext>
            </a:extLst>
          </p:cNvPr>
          <p:cNvSpPr txBox="1"/>
          <p:nvPr/>
        </p:nvSpPr>
        <p:spPr>
          <a:xfrm>
            <a:off x="755575" y="1098322"/>
            <a:ext cx="693133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"Deep Learning" (Ian Goodfellow et al.)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"Neural Networks and Deep Learning" (Michael Nielsen)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Deep Learning for Computer Vision (</a:t>
            </a:r>
            <a:r>
              <a:rPr lang="en-GB" sz="2000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Rajalingappaa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Shanmugamani)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Courses: CS231n (Stanford), </a:t>
            </a:r>
            <a:r>
              <a:rPr lang="en-GB" sz="2000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Fast.ai</a:t>
            </a:r>
            <a:endParaRPr lang="en-GB" sz="20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Datasets: COCO, Pascal VOC, Cityscapes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sz="2000" dirty="0">
                <a:solidFill>
                  <a:srgbClr val="404040"/>
                </a:solidFill>
                <a:latin typeface="Inter" panose="02000503000000020004" pitchFamily="2" charset="0"/>
                <a:hlinkClick r:id="rId4"/>
              </a:rPr>
              <a:t>www.medium.com</a:t>
            </a:r>
            <a:endParaRPr lang="en-GB" sz="2000" dirty="0">
              <a:solidFill>
                <a:srgbClr val="404040"/>
              </a:solidFill>
              <a:latin typeface="Inter" panose="02000503000000020004" pitchFamily="2" charset="0"/>
            </a:endParaRP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https://</a:t>
            </a:r>
            <a:r>
              <a:rPr lang="en-GB" sz="2000" b="1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www.geeksforgeeks.org</a:t>
            </a: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/how-single-shot-detector-</a:t>
            </a:r>
            <a:r>
              <a:rPr lang="en-GB" sz="2000" b="1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ssd</a:t>
            </a: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-works/</a:t>
            </a:r>
          </a:p>
        </p:txBody>
      </p:sp>
    </p:spTree>
    <p:extLst>
      <p:ext uri="{BB962C8B-B14F-4D97-AF65-F5344CB8AC3E}">
        <p14:creationId xmlns:p14="http://schemas.microsoft.com/office/powerpoint/2010/main" val="374039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7659</TotalTime>
  <Words>2132</Words>
  <Application>Microsoft Macintosh PowerPoint</Application>
  <PresentationFormat>On-screen Show (16:9)</PresentationFormat>
  <Paragraphs>208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IBM Plex Sans Arabic SemiBold</vt:lpstr>
      <vt:lpstr>Arial</vt:lpstr>
      <vt:lpstr>IBM Plex Sans Arabic</vt:lpstr>
      <vt:lpstr>Times New Roman</vt:lpstr>
      <vt:lpstr>IBM Plex Sans Arabic Medium</vt:lpstr>
      <vt:lpstr>source-serif-pro</vt:lpstr>
      <vt:lpstr>Calibri</vt:lpstr>
      <vt:lpstr>Inter</vt:lpstr>
      <vt:lpstr>sohne</vt:lpstr>
      <vt:lpstr>Wingdings</vt:lpstr>
      <vt:lpstr>Nunito</vt:lpstr>
      <vt:lpstr>Tajawal</vt:lpstr>
      <vt:lpstr>Simple Light</vt:lpstr>
      <vt:lpstr>أكـــــاديميــــة طــــويـــق</vt:lpstr>
      <vt:lpstr>Object Detection   With   </vt:lpstr>
      <vt:lpstr>PowerPoint Presentation</vt:lpstr>
      <vt:lpstr>Faster R-CNN    </vt:lpstr>
      <vt:lpstr> The Architecture of Faster R-CNN      </vt:lpstr>
      <vt:lpstr> Stage 1: Region Proposal Network (RPN):  Backbone Network: The image passes through a convolutional network (like ResNet or VGG16). This extracts important features from the image and creates a feature map. Anchors: Anchors are boxes of different sizes and shapes placed over points on the feature map. Each anchor box represents a possible object location. At every point on the feature map, anchor boxes are generated with different sizes and aspect ratios. Bounding Box Refinement: The RPN also refines the anchor boxes to better align them with the actual objects by predicting offsets (adjustments).    </vt:lpstr>
      <vt:lpstr> Stage 1: Region Proposal Network (RPN):    </vt:lpstr>
      <vt:lpstr> Stage 2: Object Classification and Box Refinement:      </vt:lpstr>
      <vt:lpstr> Stage 2: Object Classification and Box Refinement:      </vt:lpstr>
      <vt:lpstr> Stage 2: Object Classification and Box Refinement:      </vt:lpstr>
      <vt:lpstr> Key Components of Faster R-CNN       </vt:lpstr>
      <vt:lpstr> Advantages of Faster R-CNN        </vt:lpstr>
      <vt:lpstr> Single Shot Detector (SSD)     </vt:lpstr>
      <vt:lpstr> Key Concepts in SSD      </vt:lpstr>
      <vt:lpstr> Single Shot Detector (SSD) architecture works:      </vt:lpstr>
      <vt:lpstr> Single Shot Detector (SSD) architecture works:      </vt:lpstr>
      <vt:lpstr> Steps in Single Shot Detection    Input Image: The image is passed through the base network to extract feature maps.  Feature Extraction: The extra layers process these maps at multiple scales.  Default Boxes Assignment: Default boxes of various sizes and aspect ratios are assigned to each feature map cell.  Prediction: For each default box, class scores and bounding box offsets are predicted.  Loss Calculation: The loss is computed based on localization and confidence.  NMS: Redundant boxes are removed to produce the final set of detections.   </vt:lpstr>
      <vt:lpstr> Single Shot Detector (SSD)     </vt:lpstr>
      <vt:lpstr> Single Shot Detector (SSD)     </vt:lpstr>
      <vt:lpstr> Single Shot Detector (SSD)     </vt:lpstr>
      <vt:lpstr> Single Shot Detector (SSD)     </vt:lpstr>
      <vt:lpstr> Single Shot Detector (SSD) Vs Faster RCNN     </vt:lpstr>
      <vt:lpstr>Comparison Table  </vt:lpstr>
      <vt:lpstr>Comparison Table   </vt:lpstr>
      <vt:lpstr>Hands On Exercise  </vt:lpstr>
      <vt:lpstr>Books and References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35</cp:revision>
  <dcterms:modified xsi:type="dcterms:W3CDTF">2025-05-07T16:03:10Z</dcterms:modified>
</cp:coreProperties>
</file>