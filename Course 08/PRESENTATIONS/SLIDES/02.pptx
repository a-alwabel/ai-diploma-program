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98" r:id="rId5"/>
    <p:sldId id="313" r:id="rId6"/>
    <p:sldId id="314" r:id="rId7"/>
    <p:sldId id="315" r:id="rId8"/>
    <p:sldId id="316" r:id="rId9"/>
    <p:sldId id="317" r:id="rId10"/>
    <p:sldId id="318" r:id="rId11"/>
    <p:sldId id="259" r:id="rId12"/>
    <p:sldId id="299" r:id="rId13"/>
    <p:sldId id="319" r:id="rId14"/>
    <p:sldId id="277" r:id="rId15"/>
    <p:sldId id="289" r:id="rId16"/>
    <p:sldId id="320" r:id="rId17"/>
    <p:sldId id="321" r:id="rId18"/>
    <p:sldId id="300" r:id="rId19"/>
    <p:sldId id="322" r:id="rId20"/>
    <p:sldId id="323" r:id="rId21"/>
    <p:sldId id="301" r:id="rId22"/>
    <p:sldId id="262" r:id="rId23"/>
    <p:sldId id="312" r:id="rId24"/>
    <p:sldId id="275" r:id="rId25"/>
    <p:sldId id="276" r:id="rId26"/>
  </p:sldIdLst>
  <p:sldSz cx="9144000" cy="5143500" type="screen16x9"/>
  <p:notesSz cx="6858000" cy="9144000"/>
  <p:embeddedFontLst>
    <p:embeddedFont>
      <p:font typeface="IBM Plex Sans Arabic" panose="020B0603050203000203" pitchFamily="34" charset="-78"/>
      <p:regular r:id="rId28"/>
      <p:bold r:id="rId29"/>
    </p:embeddedFont>
    <p:embeddedFont>
      <p:font typeface="IBM Plex Sans Arabic Medium" panose="020B0603050203000203" pitchFamily="34" charset="-78"/>
      <p:regular r:id="rId30"/>
      <p:bold r:id="rId31"/>
    </p:embeddedFont>
    <p:embeddedFont>
      <p:font typeface="IBM Plex Sans Arabic SemiBold" panose="020B0603050203000203" pitchFamily="34" charset="-78"/>
      <p:regular r:id="rId32"/>
      <p:bold r:id="rId33"/>
    </p:embeddedFont>
    <p:embeddedFont>
      <p:font typeface="Inter" panose="02000503000000020004" pitchFamily="2" charset="0"/>
      <p:regular r:id="rId34"/>
      <p:bold r:id="rId35"/>
      <p:italic r:id="rId36"/>
      <p:boldItalic r:id="rId37"/>
    </p:embeddedFont>
    <p:embeddedFont>
      <p:font typeface="Tajawal" pitchFamily="2" charset="-78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24">
          <p15:clr>
            <a:srgbClr val="747775"/>
          </p15:clr>
        </p15:guide>
        <p15:guide id="2" orient="horz" pos="2560">
          <p15:clr>
            <a:srgbClr val="747775"/>
          </p15:clr>
        </p15:guide>
        <p15:guide id="3" pos="2880">
          <p15:clr>
            <a:srgbClr val="747775"/>
          </p15:clr>
        </p15:guide>
        <p15:guide id="4" orient="horz" pos="759">
          <p15:clr>
            <a:srgbClr val="747775"/>
          </p15:clr>
        </p15:guide>
        <p15:guide id="5" orient="horz" pos="2428">
          <p15:clr>
            <a:srgbClr val="747775"/>
          </p15:clr>
        </p15:guide>
        <p15:guide id="6" pos="5325">
          <p15:clr>
            <a:srgbClr val="747775"/>
          </p15:clr>
        </p15:guide>
        <p15:guide id="7" orient="horz" pos="96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KcFO/Xev719AjEfE5iQO6xfjK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41E1F5B-7058-4A9B-AF8C-0847D0C7EE07}">
  <a:tblStyle styleId="{541E1F5B-7058-4A9B-AF8C-0847D0C7EE0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27F97BB-C833-4FB7-BDE5-3F7075034690}" styleName="Themed Style 2 –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03447BB-5D67-496B-8E87-E561075AD55C}" styleName="Dark Style 1 –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–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06"/>
    <p:restoredTop sz="94650"/>
  </p:normalViewPr>
  <p:slideViewPr>
    <p:cSldViewPr snapToGrid="0">
      <p:cViewPr varScale="1">
        <p:scale>
          <a:sx n="209" d="100"/>
          <a:sy n="209" d="100"/>
        </p:scale>
        <p:origin x="64" y="192"/>
      </p:cViewPr>
      <p:guideLst>
        <p:guide orient="horz" pos="524"/>
        <p:guide orient="horz" pos="2560"/>
        <p:guide pos="2880"/>
        <p:guide orient="horz" pos="759"/>
        <p:guide orient="horz" pos="2428"/>
        <p:guide pos="5325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1CE20816-1F24-46D9-89DD-6FFEE700F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07CD495B-FC5A-F226-2523-6E0861CBC8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6B7203EE-8E11-9321-099D-0620FB1838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98175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952F22A-B522-3F7F-EB7F-9FA66A6CB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3AB2B379-32B8-A8BF-C5B5-FEED64C71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0968CF6E-7557-32C7-5F5B-890A408C4D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886247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F7F05E1-AD3D-8D31-9318-164D5046E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9BAC08A2-768E-5EC5-6BAA-B89FE6E09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A094B54C-B45B-DB09-7C17-4475342A313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65899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6D49381-67C0-C07B-203A-A470AC9AA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5169901A-C176-27A7-35F4-E0C74757DC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8414AF8-D49A-730B-2ADA-FBFE385578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92202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E11E588-D7E6-6879-798A-FAE82EA02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1C2DE4EE-38AF-4322-8E6C-85ADFF36F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B54A639-48E7-D468-01CB-6732170C81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7270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466B9E4F-F76F-46E5-2B8C-D043181D2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1F19155B-45C2-E976-8CE6-32500FD6BD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CACB811A-ABE7-4FF0-A4D2-A651F7E79C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75557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34FFB17-BAF0-3BB6-588E-E619A0C57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E0C7F15-9E3D-E56C-4D14-5B3C7E3BA2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B6D32F02-AB54-9E51-ED1E-AE20B06CEA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712611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3EB7C7DF-1FA1-0CD7-00D5-09F035529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73CE6E6F-336F-328B-7A4F-C35099326B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C83DF9AF-EFFA-AC8F-2C8C-78AF4579BB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78178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EC0B9D96-E2E1-3F9B-FA76-CA82EF52F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808CB336-D207-3FE1-7016-326E14BE0D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366B1C7C-F621-990E-A62F-A2AB2EF95F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12872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F1AD9250-5886-DD78-0A4D-058B017C9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27D27D27-4545-5FFB-CF85-99C5F401BD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D0680113-8711-039C-65A5-F03BF541D2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8588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1DBEC0B-5F2A-7641-990B-7CC5539F5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D402806A-E72C-CA47-7DBC-D48ED66650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4ECD1969-C2F0-1AA4-C75D-4C753BCC2D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952350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477B1D43-D3F7-3CBB-96D0-E3CB458E5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496EA89F-FE43-C2AF-EE73-73C7ED8252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080DE7FA-A78F-960F-78C6-DD678AF73C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1831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56DA1E1C-14E3-4EA0-4DC8-CBF5A51C1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3099D4C4-2028-C8F8-6F26-D042657A85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10C77FBA-C99B-9CCD-2E9E-EBA3EE48CC9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21312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A9246AC-6D42-6E93-B8B1-68924593F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4ECAF8A0-7E1A-E42D-366D-0BD07F08C4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F544375B-A526-8454-A195-078483B223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594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9F26EB12-282E-C742-85E7-0E93576E6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5242B93C-315A-1BFF-C059-538C545230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E61F58D2-B623-489D-A6EE-B5B6FF3D71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435823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21746077-931E-1CE6-B16F-1764359F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7FAF9BDF-6809-99C5-EBD4-915549B91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E18AFBAF-5D79-967F-9FC4-8155E9014A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99584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>
          <a:extLst>
            <a:ext uri="{FF2B5EF4-FFF2-40B4-BE49-F238E27FC236}">
              <a16:creationId xmlns:a16="http://schemas.microsoft.com/office/drawing/2014/main" id="{7D05136C-3AC2-5038-E4DB-2BCEA0895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>
            <a:extLst>
              <a:ext uri="{FF2B5EF4-FFF2-40B4-BE49-F238E27FC236}">
                <a16:creationId xmlns:a16="http://schemas.microsoft.com/office/drawing/2014/main" id="{A05823AB-A032-8800-FEEC-5FDD5C273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:notes">
            <a:extLst>
              <a:ext uri="{FF2B5EF4-FFF2-40B4-BE49-F238E27FC236}">
                <a16:creationId xmlns:a16="http://schemas.microsoft.com/office/drawing/2014/main" id="{6ECDFF1C-717D-99EE-2E5E-4AA2AB98C7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543865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>
          <a:extLst>
            <a:ext uri="{FF2B5EF4-FFF2-40B4-BE49-F238E27FC236}">
              <a16:creationId xmlns:a16="http://schemas.microsoft.com/office/drawing/2014/main" id="{3BECD89B-AAA3-F8FE-DFBC-CC79A9A4E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7:notes">
            <a:extLst>
              <a:ext uri="{FF2B5EF4-FFF2-40B4-BE49-F238E27FC236}">
                <a16:creationId xmlns:a16="http://schemas.microsoft.com/office/drawing/2014/main" id="{F508F7A9-5506-B123-0264-14DD3EE902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7:notes">
            <a:extLst>
              <a:ext uri="{FF2B5EF4-FFF2-40B4-BE49-F238E27FC236}">
                <a16:creationId xmlns:a16="http://schemas.microsoft.com/office/drawing/2014/main" id="{CCD177CE-FC44-74CB-378D-8296859D59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2857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4" name="Google Shape;214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pic>
        <p:nvPicPr>
          <p:cNvPr id="12" name="Google Shape;1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7371" y="317427"/>
            <a:ext cx="1356656" cy="26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300"/>
              <a:buFont typeface="Tajawal"/>
              <a:buNone/>
              <a:defRPr sz="4300" b="1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900"/>
              <a:buFont typeface="Tajawal"/>
              <a:buNone/>
              <a:defRPr sz="49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5" name="Google Shape;15;p2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Tajawal"/>
              <a:buNone/>
              <a:defRPr sz="25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16" name="Google Shape;1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title"/>
          </p:nvPr>
        </p:nvSpPr>
        <p:spPr>
          <a:xfrm>
            <a:off x="2079450" y="445025"/>
            <a:ext cx="67074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body" idx="1"/>
          </p:nvPr>
        </p:nvSpPr>
        <p:spPr>
          <a:xfrm>
            <a:off x="2758650" y="1334150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ajawal"/>
              <a:buNone/>
              <a:defRPr sz="3600">
                <a:latin typeface="Tajawal"/>
                <a:ea typeface="Tajawal"/>
                <a:cs typeface="Tajawal"/>
                <a:sym typeface="Tajawal"/>
              </a:defRPr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8"/>
          <p:cNvSpPr txBox="1">
            <a:spLocks noGrp="1"/>
          </p:cNvSpPr>
          <p:nvPr>
            <p:ph type="title"/>
          </p:nvPr>
        </p:nvSpPr>
        <p:spPr>
          <a:xfrm>
            <a:off x="2079450" y="714175"/>
            <a:ext cx="67074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500"/>
              <a:buNone/>
              <a:defRPr b="1">
                <a:solidFill>
                  <a:srgbClr val="5431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43198"/>
              </a:buClr>
              <a:buSzPts val="2800"/>
              <a:buNone/>
              <a:defRPr b="1">
                <a:solidFill>
                  <a:srgbClr val="543198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28"/>
          <p:cNvSpPr txBox="1">
            <a:spLocks noGrp="1"/>
          </p:cNvSpPr>
          <p:nvPr>
            <p:ph type="body" idx="1"/>
          </p:nvPr>
        </p:nvSpPr>
        <p:spPr>
          <a:xfrm>
            <a:off x="2758650" y="1526325"/>
            <a:ext cx="6028200" cy="17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Char char="●"/>
              <a:defRPr>
                <a:solidFill>
                  <a:srgbClr val="424242"/>
                </a:solidFill>
              </a:defRPr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●"/>
              <a:defRPr>
                <a:solidFill>
                  <a:srgbClr val="424242"/>
                </a:solidFill>
              </a:defRPr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○"/>
              <a:defRPr>
                <a:solidFill>
                  <a:srgbClr val="424242"/>
                </a:solidFill>
              </a:defRPr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Char char="■"/>
              <a:defRPr>
                <a:solidFill>
                  <a:srgbClr val="42424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6" name="Google Shape;36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7" name="Google Shape;37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311700" y="2824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2500"/>
              <a:buFont typeface="IBM Plex Sans Arabic Medium"/>
              <a:buNone/>
              <a:defRPr sz="2500" b="0" i="0" u="none" strike="noStrike" cap="none">
                <a:solidFill>
                  <a:srgbClr val="4F29B7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defRPr>
            </a:lvl1pPr>
            <a:lvl2pPr marR="0" lvl="1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marR="0" lvl="2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marR="0" lvl="3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marR="0" lvl="4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marR="0" lvl="5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marR="0" lvl="6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marR="0" lvl="7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marR="0" lvl="8" algn="l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BM Plex Sans Medium"/>
              <a:buNone/>
              <a:defRPr sz="2800" b="0" i="0" u="none" strike="noStrike" cap="none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800"/>
              <a:buFont typeface="IBM Plex Sans Arabic"/>
              <a:buChar char="●"/>
              <a:defRPr sz="18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1pPr>
            <a:lvl2pPr marL="914400" marR="0" lvl="1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2pPr>
            <a:lvl3pPr marL="1371600" marR="0" lvl="2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3pPr>
            <a:lvl4pPr marL="1828800" marR="0" lvl="3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4pPr>
            <a:lvl5pPr marL="2286000" marR="0" lvl="4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5pPr>
            <a:lvl6pPr marL="2743200" marR="0" lvl="5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6pPr>
            <a:lvl7pPr marL="3200400" marR="0" lvl="6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●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7pPr>
            <a:lvl8pPr marL="3657600" marR="0" lvl="7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○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8pPr>
            <a:lvl9pPr marL="4114800" marR="0" lvl="8" indent="-31750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1400"/>
              <a:buFont typeface="IBM Plex Sans Arabic"/>
              <a:buChar char="■"/>
              <a:defRPr sz="1400" b="0" i="0" u="none" strike="noStrike" cap="none">
                <a:solidFill>
                  <a:srgbClr val="252526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" name="Google Shape;9;p2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030954" y="17475"/>
            <a:ext cx="1266092" cy="100790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pixabay.com/en/clipboard-chart-document-paper-312468/" TargetMode="Externa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ourse.fast.ai/" TargetMode="External"/><Relationship Id="rId4" Type="http://schemas.openxmlformats.org/officeDocument/2006/relationships/hyperlink" Target="https://www.coursera.org/specializations/deep-learning" TargetMode="Externa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1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17" Type="http://schemas.openxmlformats.org/officeDocument/2006/relationships/image" Target="../media/image29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19" Type="http://schemas.openxmlformats.org/officeDocument/2006/relationships/image" Target="../media/image31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>
            <a:spLocks noGrp="1"/>
          </p:cNvSpPr>
          <p:nvPr>
            <p:ph type="title"/>
          </p:nvPr>
        </p:nvSpPr>
        <p:spPr>
          <a:xfrm>
            <a:off x="5435226" y="867625"/>
            <a:ext cx="2974200" cy="22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-US" sz="4800">
                <a:solidFill>
                  <a:srgbClr val="58E3D8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أكـــــاديميــــة طــــويـــق</a:t>
            </a:r>
            <a:endParaRPr sz="4800">
              <a:solidFill>
                <a:srgbClr val="58E3D8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  <p:sp>
        <p:nvSpPr>
          <p:cNvPr id="44" name="Google Shape;44;p1"/>
          <p:cNvSpPr txBox="1">
            <a:spLocks noGrp="1"/>
          </p:cNvSpPr>
          <p:nvPr>
            <p:ph type="body" idx="4294967295"/>
          </p:nvPr>
        </p:nvSpPr>
        <p:spPr>
          <a:xfrm>
            <a:off x="3902100" y="3253272"/>
            <a:ext cx="4447500" cy="1973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en-US" sz="3600" dirty="0">
                <a:solidFill>
                  <a:schemeClr val="lt1"/>
                </a:solidFill>
                <a:latin typeface="IBM Plex Sans Arabic Medium"/>
                <a:ea typeface="IBM Plex Sans Arabic Medium"/>
                <a:cs typeface="IBM Plex Sans Arabic Medium"/>
                <a:sym typeface="IBM Plex Sans Arabic Medium"/>
              </a:rPr>
              <a:t>Deep Learning</a:t>
            </a:r>
            <a:endParaRPr sz="3600" dirty="0">
              <a:solidFill>
                <a:schemeClr val="lt1"/>
              </a:solidFill>
              <a:latin typeface="IBM Plex Sans Arabic Medium"/>
              <a:ea typeface="IBM Plex Sans Arabic Medium"/>
              <a:cs typeface="IBM Plex Sans Arabic Medium"/>
              <a:sym typeface="IBM Plex Sans Arabic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 txBox="1">
            <a:spLocks noGrp="1"/>
          </p:cNvSpPr>
          <p:nvPr>
            <p:ph type="ctrTitle"/>
          </p:nvPr>
        </p:nvSpPr>
        <p:spPr>
          <a:xfrm>
            <a:off x="311700" y="1984439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r>
              <a:rPr lang="en-GB" sz="32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Artificial Neural Networks (ANNs)</a:t>
            </a: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</a:br>
            <a:br>
              <a:rPr lang="en-GB" sz="3200" b="1" i="0" u="none" strike="noStrike" dirty="0">
                <a:solidFill>
                  <a:srgbClr val="7030A0"/>
                </a:solidFill>
                <a:effectLst/>
                <a:latin typeface="Arial" panose="020B0604020202020204" pitchFamily="34" charset="0"/>
              </a:rPr>
            </a:br>
            <a:br>
              <a:rPr lang="en-US" sz="1800" dirty="0">
                <a:latin typeface="Calibri"/>
                <a:ea typeface="Calibri"/>
                <a:cs typeface="Calibri"/>
                <a:sym typeface="Calibri"/>
              </a:rPr>
            </a:br>
            <a:endParaRPr dirty="0"/>
          </a:p>
        </p:txBody>
      </p:sp>
      <p:sp>
        <p:nvSpPr>
          <p:cNvPr id="50" name="Google Shape;50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marR="0" lvl="0" indent="-3429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2526"/>
              </a:buClr>
              <a:buSzPts val="2500"/>
              <a:buFont typeface="Tajawal"/>
              <a:buNone/>
            </a:pPr>
            <a:r>
              <a:rPr lang="en-US" dirty="0"/>
              <a:t>From Biological Neurons to Deep Learning</a:t>
            </a:r>
            <a:endParaRPr dirty="0"/>
          </a:p>
        </p:txBody>
      </p:sp>
      <p:sp>
        <p:nvSpPr>
          <p:cNvPr id="51" name="Google Shape;51;p2"/>
          <p:cNvSpPr txBox="1"/>
          <p:nvPr/>
        </p:nvSpPr>
        <p:spPr>
          <a:xfrm>
            <a:off x="3527778" y="4245036"/>
            <a:ext cx="457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By: Dr. Afshan Hashmi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/>
        </p:nvSpPr>
        <p:spPr>
          <a:xfrm>
            <a:off x="655513" y="612177"/>
            <a:ext cx="6634716" cy="2246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7030A0"/>
                </a:solidFill>
                <a:latin typeface="Arial"/>
                <a:ea typeface="Arial"/>
                <a:cs typeface="Arial"/>
                <a:sym typeface="Arial"/>
              </a:rPr>
              <a:t>Course Objectives:</a:t>
            </a:r>
            <a:endParaRPr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dirty="0">
                <a:effectLst/>
              </a:rPr>
              <a:t>Understand the biological inspiration behind ANNs.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dirty="0">
                <a:effectLst/>
              </a:rPr>
              <a:t>Describe the structure of a perceptron and MLP.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dirty="0">
                <a:effectLst/>
              </a:rPr>
              <a:t>Explain key activation functions (</a:t>
            </a:r>
            <a:r>
              <a:rPr lang="en-GB" sz="1600" dirty="0" err="1">
                <a:effectLst/>
              </a:rPr>
              <a:t>ReLU</a:t>
            </a:r>
            <a:r>
              <a:rPr lang="en-GB" sz="1600" dirty="0">
                <a:effectLst/>
              </a:rPr>
              <a:t>, Sigmoid, Tanh, </a:t>
            </a:r>
            <a:r>
              <a:rPr lang="en-GB" sz="1600" dirty="0" err="1">
                <a:effectLst/>
              </a:rPr>
              <a:t>Softmax</a:t>
            </a:r>
            <a:r>
              <a:rPr lang="en-GB" sz="1600" dirty="0">
                <a:effectLst/>
              </a:rPr>
              <a:t>).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GB" sz="1600" dirty="0">
                <a:effectLst/>
              </a:rPr>
              <a:t>Implement a basic ANN in Python/</a:t>
            </a:r>
            <a:r>
              <a:rPr lang="en-GB" sz="1600" dirty="0" err="1">
                <a:effectLst/>
              </a:rPr>
              <a:t>Keras</a:t>
            </a:r>
            <a:r>
              <a:rPr lang="en-GB" sz="1600" dirty="0">
                <a:effectLst/>
              </a:rPr>
              <a:t>.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4EF5623-6B09-C586-D026-E1815682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1B8CE39D-1BAA-9EAF-5C66-19BBE6DD20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What are Artificial Neural Networks (ANNs)?</a:t>
            </a: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4482F75-B306-CAB6-0919-E013D5E5A0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E7B443-016B-2F0F-23AA-504B7B468665}"/>
              </a:ext>
            </a:extLst>
          </p:cNvPr>
          <p:cNvSpPr txBox="1"/>
          <p:nvPr/>
        </p:nvSpPr>
        <p:spPr>
          <a:xfrm>
            <a:off x="174929" y="850790"/>
            <a:ext cx="884185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dirty="0"/>
              <a:t>Artificial Neural Networks (ANNs) are computing systems that are inspired by the structure and function of the human brain specifically, how neurons work together to process information.</a:t>
            </a:r>
          </a:p>
          <a:p>
            <a:pPr>
              <a:buNone/>
            </a:pPr>
            <a:endParaRPr lang="en-GB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In the human brain, neurons receive signals, process them, and send them to other neurons.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ANNs try to mimic this </a:t>
            </a:r>
            <a:r>
              <a:rPr lang="en-GB" sz="1600" dirty="0" err="1"/>
              <a:t>behavior</a:t>
            </a:r>
            <a:r>
              <a:rPr lang="en-GB" sz="1600" dirty="0"/>
              <a:t> using artificial "neurons" (also called nodes or units) that are connected in layers.</a:t>
            </a:r>
          </a:p>
          <a:p>
            <a:pPr>
              <a:buNone/>
            </a:pPr>
            <a:r>
              <a:rPr lang="en-GB" sz="1600" b="1" dirty="0"/>
              <a:t>What Can ANNs Do?</a:t>
            </a:r>
          </a:p>
          <a:p>
            <a:r>
              <a:rPr lang="en-GB" sz="1600" dirty="0"/>
              <a:t>ANNs are machine learning models that can: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Classify data (e.g., recognize handwritten digits or detect spam emails)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Predict values (regression), such as stock prices or house prices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Understand patterns and learn from examples, like translating languages or recommending movies</a:t>
            </a:r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77176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3DBC826-BC4E-FDF2-F328-F431097558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58A64D47-451B-23ED-95BB-59B289E16D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Artificial Neural Networks</a:t>
            </a: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993AB7DD-8F27-9CBE-D7F9-ADCC3CB2C0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A4F231-4332-F87D-13D0-06E76CA253E2}"/>
              </a:ext>
            </a:extLst>
          </p:cNvPr>
          <p:cNvSpPr txBox="1"/>
          <p:nvPr/>
        </p:nvSpPr>
        <p:spPr>
          <a:xfrm>
            <a:off x="174929" y="850790"/>
            <a:ext cx="712436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How Do They Work?</a:t>
            </a:r>
          </a:p>
          <a:p>
            <a:pPr>
              <a:buNone/>
            </a:pPr>
            <a:endParaRPr lang="en-GB" sz="1600" b="1" dirty="0"/>
          </a:p>
          <a:p>
            <a:pPr>
              <a:buFont typeface="+mj-lt"/>
              <a:buAutoNum type="arabicPeriod"/>
            </a:pPr>
            <a:r>
              <a:rPr lang="en-GB" sz="1600" b="1" dirty="0"/>
              <a:t>Input layer:</a:t>
            </a:r>
            <a:r>
              <a:rPr lang="en-GB" sz="1600" dirty="0"/>
              <a:t> Takes in the raw data (like an image or text).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Hidden layers:</a:t>
            </a:r>
            <a:r>
              <a:rPr lang="en-GB" sz="1600" dirty="0"/>
              <a:t> These layers perform complex computations and pattern recognition.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Output layer:</a:t>
            </a:r>
            <a:r>
              <a:rPr lang="en-GB" sz="1600" dirty="0"/>
              <a:t> Produces the final result (like “cat” or “not cat”).</a:t>
            </a:r>
          </a:p>
          <a:p>
            <a:pPr>
              <a:buNone/>
            </a:pPr>
            <a:r>
              <a:rPr lang="en-GB" sz="1600" dirty="0"/>
              <a:t>Each connection between neurons has a weight, and during training, these weights are adjusted to improve accuracy.</a:t>
            </a:r>
          </a:p>
          <a:p>
            <a:pPr>
              <a:buNone/>
            </a:pPr>
            <a:endParaRPr lang="en-GB" sz="1600" dirty="0"/>
          </a:p>
          <a:p>
            <a:pPr>
              <a:buNone/>
            </a:pPr>
            <a:r>
              <a:rPr lang="en-GB" sz="1600" b="1" dirty="0"/>
              <a:t>Why Are They Powerful?</a:t>
            </a:r>
          </a:p>
          <a:p>
            <a:pPr>
              <a:buNone/>
            </a:pPr>
            <a:r>
              <a:rPr lang="en-GB" sz="1600" dirty="0"/>
              <a:t>Because ANNs: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Can learn from examples (just like humans)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Work well even with large, complex datasets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Are the foundation of many AI systems including speech recognition, image classification, and self-driving cars</a:t>
            </a:r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30553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CFF5452A-080C-4003-C98E-0830A14DE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23F34580-052E-046C-9F0C-B024EF07D9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Biological Inspiration of Neural Networks</a:t>
            </a: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CCF8A11C-F730-F67F-7CD8-90370F3DBA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531081-5F6E-B37E-770F-19FC2381CD48}"/>
              </a:ext>
            </a:extLst>
          </p:cNvPr>
          <p:cNvSpPr txBox="1"/>
          <p:nvPr/>
        </p:nvSpPr>
        <p:spPr>
          <a:xfrm>
            <a:off x="182880" y="779228"/>
            <a:ext cx="877824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n-GB" sz="1600" b="1" dirty="0"/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endParaRPr lang="en-GB" sz="1600" b="1" dirty="0"/>
          </a:p>
          <a:p>
            <a:pPr>
              <a:buNone/>
            </a:pPr>
            <a:r>
              <a:rPr lang="en-GB" sz="1600" b="1" dirty="0"/>
              <a:t>How This Inspires Artificial Neurons:</a:t>
            </a:r>
          </a:p>
          <a:p>
            <a:r>
              <a:rPr lang="en-GB" sz="1600" dirty="0"/>
              <a:t>Artificial Neural Networks mimic this idea: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1" dirty="0"/>
              <a:t>Input</a:t>
            </a:r>
            <a:r>
              <a:rPr lang="en-GB" sz="1600" dirty="0"/>
              <a:t> → like dendrites, receives data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1" dirty="0"/>
              <a:t>Processing</a:t>
            </a:r>
            <a:r>
              <a:rPr lang="en-GB" sz="1600" dirty="0"/>
              <a:t> → the neuron calculates something based on that input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sz="1600" b="1" dirty="0"/>
              <a:t>Output</a:t>
            </a:r>
            <a:r>
              <a:rPr lang="en-GB" sz="1600" dirty="0"/>
              <a:t> → passes the result to the next neuron (or layer)</a:t>
            </a:r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258450-91B4-B1B3-5D45-89153BCE69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6735" y="713964"/>
            <a:ext cx="4785361" cy="268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372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FB73C57-71D7-DB2C-C67C-BDC92827C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8AC77D1-4899-4A25-BC96-71902B1608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Biological Inspiration of Neural Networks</a:t>
            </a: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1A7BF3D-9C75-9C3D-FB70-DFC043042E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E8206-3CEF-B2A8-B1A0-5DDF4CACEC20}"/>
              </a:ext>
            </a:extLst>
          </p:cNvPr>
          <p:cNvSpPr txBox="1"/>
          <p:nvPr/>
        </p:nvSpPr>
        <p:spPr>
          <a:xfrm>
            <a:off x="182880" y="779228"/>
            <a:ext cx="87782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The Human Brain as a Model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The human brain is made up of billions of neurons.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These neurons form a highly complex and powerful system that enables us to think, learn, remember, and make decisions.</a:t>
            </a:r>
          </a:p>
          <a:p>
            <a:pPr>
              <a:buNone/>
            </a:pPr>
            <a:r>
              <a:rPr lang="en-GB" sz="1600" b="1" dirty="0"/>
              <a:t>How a Biological Neuron Works:</a:t>
            </a:r>
          </a:p>
          <a:p>
            <a:pPr>
              <a:buFont typeface="+mj-lt"/>
              <a:buAutoNum type="arabicPeriod"/>
            </a:pPr>
            <a:r>
              <a:rPr lang="en-GB" sz="1600" dirty="0"/>
              <a:t>Receives signals from other neurons through structures called dendrites.</a:t>
            </a:r>
          </a:p>
          <a:p>
            <a:pPr>
              <a:buFont typeface="+mj-lt"/>
              <a:buAutoNum type="arabicPeriod"/>
            </a:pPr>
            <a:r>
              <a:rPr lang="en-GB" sz="1600" dirty="0"/>
              <a:t>Processes the signal in the cell body.</a:t>
            </a:r>
          </a:p>
          <a:p>
            <a:pPr>
              <a:buFont typeface="+mj-lt"/>
              <a:buAutoNum type="arabicPeriod"/>
            </a:pPr>
            <a:r>
              <a:rPr lang="en-GB" sz="1600" dirty="0"/>
              <a:t>If the signal is strong enough, it sends an electrical pulse through its axon to other neurons.</a:t>
            </a:r>
          </a:p>
          <a:p>
            <a:pPr>
              <a:buFont typeface="+mj-lt"/>
              <a:buAutoNum type="arabicPeriod"/>
            </a:pPr>
            <a:r>
              <a:rPr lang="en-GB" sz="1600" dirty="0"/>
              <a:t>This creates a network of connected neurons constantly passing information.</a:t>
            </a:r>
          </a:p>
          <a:p>
            <a:pPr>
              <a:buNone/>
            </a:pPr>
            <a:r>
              <a:rPr lang="en-GB" sz="1600" b="1" dirty="0"/>
              <a:t>From Brain to Machine: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Scientists and engineers designed artificial neurons based on this process.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By connecting thousands or millions of these artificial neurons in layers, computers can begin to “learn” from data, just as our brains do.</a:t>
            </a:r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06172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30ADD72-F288-4D94-3D22-B1F5884E3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B940C89-7522-536E-FD65-F91B9EC73C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700" b="1" dirty="0"/>
              <a:t>Artificial Neuron (Perceptron)</a:t>
            </a:r>
            <a:br>
              <a:rPr lang="en-GB" sz="1600" b="1" dirty="0"/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353A1197-150A-717B-84F4-802427D23F9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0D11F4-6A38-8F13-13F2-E68E3402DEE4}"/>
              </a:ext>
            </a:extLst>
          </p:cNvPr>
          <p:cNvSpPr txBox="1"/>
          <p:nvPr/>
        </p:nvSpPr>
        <p:spPr>
          <a:xfrm>
            <a:off x="182880" y="779228"/>
            <a:ext cx="6175248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The </a:t>
            </a:r>
            <a:r>
              <a:rPr lang="en-GB" b="1" dirty="0"/>
              <a:t>Perceptron</a:t>
            </a:r>
            <a:r>
              <a:rPr lang="en-GB" dirty="0"/>
              <a:t> is the simplest form of an artificial neuron and represents a fundamental building block in neural networks.</a:t>
            </a:r>
          </a:p>
          <a:p>
            <a:pPr>
              <a:buNone/>
            </a:pP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Simplified Version of a Biological Neuron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The perceptron mimics the </a:t>
            </a:r>
            <a:r>
              <a:rPr lang="en-GB" dirty="0" err="1"/>
              <a:t>behavior</a:t>
            </a:r>
            <a:r>
              <a:rPr lang="en-GB" dirty="0"/>
              <a:t> of a biological neuron, which receives signals (inputs) from other neurons, processes them, and generates an output signal.</a:t>
            </a:r>
          </a:p>
          <a:p>
            <a:pPr>
              <a:buFont typeface="+mj-lt"/>
              <a:buAutoNum type="arabicPeriod"/>
            </a:pPr>
            <a:endParaRPr lang="en-GB" dirty="0"/>
          </a:p>
          <a:p>
            <a:pPr>
              <a:buFont typeface="+mj-lt"/>
              <a:buAutoNum type="arabicPeriod"/>
            </a:pPr>
            <a:r>
              <a:rPr lang="en-GB" b="1" dirty="0"/>
              <a:t>Input, Weights, and Bias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Inputs</a:t>
            </a:r>
            <a:r>
              <a:rPr lang="en-GB" dirty="0"/>
              <a:t>: The perceptron receives several input values, denoted as x1,x2,…,</a:t>
            </a:r>
            <a:r>
              <a:rPr lang="en-GB" dirty="0" err="1"/>
              <a:t>xn</a:t>
            </a:r>
            <a:r>
              <a:rPr lang="en-GB" dirty="0"/>
              <a:t>, which represent the features or data points.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Weights</a:t>
            </a:r>
            <a:r>
              <a:rPr lang="en-GB" dirty="0"/>
              <a:t>: Each input is associated with a weight, denoted as w1,w2,…,</a:t>
            </a:r>
            <a:r>
              <a:rPr lang="en-GB" dirty="0" err="1"/>
              <a:t>wn</a:t>
            </a:r>
            <a:r>
              <a:rPr lang="en-GB" dirty="0"/>
              <a:t>, Weights control the importance or strength of each input in determining the output.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b="1" dirty="0"/>
              <a:t>Bias</a:t>
            </a:r>
            <a:r>
              <a:rPr lang="en-GB" dirty="0"/>
              <a:t>: The bias, b, is an additional parameter that shifts the output and helps the model to fit data better. It acts as a threshold that adjusts the decision boundary.</a:t>
            </a:r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87827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9D610E6-B2A8-E07C-99B3-6BD7CA6C4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0798D20-F1A5-B7E3-9153-34FD0E276D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700" b="1" dirty="0"/>
              <a:t>Artificial Neuron (Perceptron)</a:t>
            </a:r>
            <a:br>
              <a:rPr lang="en-GB" sz="1600" b="1" dirty="0"/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589973A6-5246-EA38-A370-365B84B6B8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14CE50-2B87-FA89-32DF-D7E5B3A2954B}"/>
              </a:ext>
            </a:extLst>
          </p:cNvPr>
          <p:cNvSpPr txBox="1"/>
          <p:nvPr/>
        </p:nvSpPr>
        <p:spPr>
          <a:xfrm>
            <a:off x="182880" y="779228"/>
            <a:ext cx="4328160" cy="3570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GB" b="1" dirty="0"/>
              <a:t>Weighted Sum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The perceptron calculates a weighted sum of the inputs, which is the sum of the product of each input and its corresponding weight:</a:t>
            </a:r>
          </a:p>
          <a:p>
            <a:r>
              <a:rPr lang="en-GB" dirty="0"/>
              <a:t>Weighted Sum=w1x1+w2x2+⋯+</a:t>
            </a:r>
            <a:r>
              <a:rPr lang="en-GB" dirty="0" err="1"/>
              <a:t>wnxn+b</a:t>
            </a:r>
            <a:endParaRPr lang="en-GB" dirty="0"/>
          </a:p>
          <a:p>
            <a:r>
              <a:rPr lang="en-GB" b="1" dirty="0"/>
              <a:t>4. Activation Function</a:t>
            </a:r>
            <a:r>
              <a:rPr lang="en-GB" dirty="0"/>
              <a:t>:</a:t>
            </a:r>
            <a:br>
              <a:rPr lang="en-GB" dirty="0"/>
            </a:br>
            <a:r>
              <a:rPr lang="en-GB" dirty="0"/>
              <a:t>The perceptron then applies an activation function f to the weighted sum to produce the output. Commonly, this function could be a step function (for binary classification) or other activation functions like sigmoid or </a:t>
            </a:r>
            <a:r>
              <a:rPr lang="en-GB" dirty="0" err="1"/>
              <a:t>ReLU</a:t>
            </a:r>
            <a:r>
              <a:rPr lang="en-GB" dirty="0"/>
              <a:t>:</a:t>
            </a:r>
          </a:p>
          <a:p>
            <a:r>
              <a:rPr lang="en-GB" dirty="0"/>
              <a:t>Output=f(w1x1+w2x2+⋯+</a:t>
            </a:r>
            <a:r>
              <a:rPr lang="en-GB" dirty="0" err="1"/>
              <a:t>wnxn+b</a:t>
            </a:r>
            <a:r>
              <a:rPr lang="en-GB" dirty="0"/>
              <a:t>) The output y is typically a binary value in the simplest form, but more complex versions may output continuous values.</a:t>
            </a:r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2" name="Picture 2" descr="Perceptron: Concept, function, and applications">
            <a:extLst>
              <a:ext uri="{FF2B5EF4-FFF2-40B4-BE49-F238E27FC236}">
                <a16:creationId xmlns:a16="http://schemas.microsoft.com/office/drawing/2014/main" id="{8F1517F3-0D12-F3B9-3991-C2CE480DB1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7072" y="1113183"/>
            <a:ext cx="4194048" cy="2806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7274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09DAA8BC-3ED2-9124-B52E-ADC996E8F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5AF6372-05A1-69FB-00DB-5CCD0ABC55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700" b="1" dirty="0"/>
              <a:t>Perceptron Output Function</a:t>
            </a:r>
            <a:br>
              <a:rPr lang="en-GB" sz="2700" b="1" dirty="0"/>
            </a:br>
            <a:br>
              <a:rPr lang="en-GB" sz="1600" b="1" dirty="0"/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A411CA11-2BFA-8DDA-E2F8-8379D60D282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837D23-923C-06A6-11FB-93590C099D96}"/>
              </a:ext>
            </a:extLst>
          </p:cNvPr>
          <p:cNvSpPr txBox="1"/>
          <p:nvPr/>
        </p:nvSpPr>
        <p:spPr>
          <a:xfrm>
            <a:off x="182880" y="779228"/>
            <a:ext cx="463905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The </a:t>
            </a:r>
            <a:r>
              <a:rPr lang="en-GB" b="1" dirty="0"/>
              <a:t>perceptron</a:t>
            </a:r>
            <a:r>
              <a:rPr lang="en-GB" dirty="0"/>
              <a:t> is a fundamental unit of a neural network, and its </a:t>
            </a:r>
            <a:r>
              <a:rPr lang="en-GB" b="1" dirty="0"/>
              <a:t>output function</a:t>
            </a:r>
            <a:r>
              <a:rPr lang="en-GB" dirty="0"/>
              <a:t> determines whether the neuron "fires" (activates) based on the inputs it receives. The output function is an </a:t>
            </a:r>
            <a:r>
              <a:rPr lang="en-GB" b="1" dirty="0"/>
              <a:t>activation function</a:t>
            </a:r>
            <a:r>
              <a:rPr lang="en-GB" dirty="0"/>
              <a:t> that produces the output after the weighted sum of the inputs is calculated.</a:t>
            </a:r>
          </a:p>
          <a:p>
            <a:r>
              <a:rPr lang="en-GB" b="1" dirty="0"/>
              <a:t>Originally Used Step Function</a:t>
            </a:r>
            <a:r>
              <a:rPr lang="en-GB" dirty="0"/>
              <a:t>: In the early perceptron model, the activation function was a </a:t>
            </a:r>
            <a:r>
              <a:rPr lang="en-GB" b="1" dirty="0"/>
              <a:t>step function</a:t>
            </a:r>
            <a:r>
              <a:rPr lang="en-GB" dirty="0"/>
              <a:t>. Here's how it worked: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1" dirty="0"/>
              <a:t>Step Function</a:t>
            </a:r>
            <a:r>
              <a:rPr lang="en-GB" dirty="0"/>
              <a:t>: If the sum of the weighted inputs exceeded a certain </a:t>
            </a:r>
            <a:r>
              <a:rPr lang="en-GB" b="1" dirty="0"/>
              <a:t>threshold</a:t>
            </a:r>
            <a:r>
              <a:rPr lang="en-GB" dirty="0"/>
              <a:t>, the output was </a:t>
            </a:r>
            <a:r>
              <a:rPr lang="en-GB" b="1" dirty="0"/>
              <a:t>1</a:t>
            </a:r>
            <a:r>
              <a:rPr lang="en-GB" dirty="0"/>
              <a:t> (the neuron fired). Otherwise, the output was </a:t>
            </a:r>
            <a:r>
              <a:rPr lang="en-GB" b="1" dirty="0"/>
              <a:t>0</a:t>
            </a:r>
            <a:r>
              <a:rPr lang="en-GB" dirty="0"/>
              <a:t> (the neuron did not fire).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GB" b="1" dirty="0"/>
              <a:t>Mathematically</a:t>
            </a:r>
            <a:r>
              <a:rPr lang="en-GB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Output = 1 if (Sum of inputs) &gt; Threshold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GB" dirty="0"/>
              <a:t>Output = 0 if (Sum of inputs) ≤ Threshold</a:t>
            </a:r>
          </a:p>
          <a:p>
            <a:r>
              <a:rPr lang="en-GB" dirty="0"/>
              <a:t>This was a simple binary decision, essentially classifying inputs into two classes: </a:t>
            </a:r>
            <a:r>
              <a:rPr lang="en-GB" b="1" dirty="0"/>
              <a:t>1</a:t>
            </a:r>
            <a:r>
              <a:rPr lang="en-GB" dirty="0"/>
              <a:t> or </a:t>
            </a:r>
            <a:r>
              <a:rPr lang="en-GB" b="1" dirty="0"/>
              <a:t>0</a:t>
            </a:r>
            <a:r>
              <a:rPr lang="en-GB" dirty="0"/>
              <a:t> based on the threshold.</a:t>
            </a:r>
          </a:p>
          <a:p>
            <a:endParaRPr lang="en-GB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157C727-5908-4CCF-D312-C5A49A82EC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911" r="50000"/>
          <a:stretch/>
        </p:blipFill>
        <p:spPr>
          <a:xfrm>
            <a:off x="5103495" y="938064"/>
            <a:ext cx="3857625" cy="411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7043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  <a:t>Limitation of Single Perceptron</a:t>
            </a: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96A7B2FB-F1D0-B703-37E3-F7BCF16345E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8339E2-582F-95EA-2F60-4D6D9E923ECD}"/>
              </a:ext>
            </a:extLst>
          </p:cNvPr>
          <p:cNvSpPr txBox="1"/>
          <p:nvPr/>
        </p:nvSpPr>
        <p:spPr>
          <a:xfrm>
            <a:off x="174929" y="802035"/>
            <a:ext cx="5354143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dirty="0"/>
              <a:t>While the perceptron is a foundational concept in neural networks, it has a key limitation.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Can only solve linearly separable problems</a:t>
            </a:r>
            <a:r>
              <a:rPr lang="en-GB" dirty="0"/>
              <a:t>: A perceptron can only solve problems where the data can be separated into two classes using a straight line (or hyperplane in higher dimensions). This is called a </a:t>
            </a:r>
            <a:r>
              <a:rPr lang="en-GB" b="1" dirty="0"/>
              <a:t>linearly separable</a:t>
            </a:r>
            <a:r>
              <a:rPr lang="en-GB" dirty="0"/>
              <a:t> problem.</a:t>
            </a:r>
          </a:p>
          <a:p>
            <a:pPr marL="457200" lvl="1"/>
            <a:r>
              <a:rPr lang="en-GB" dirty="0"/>
              <a:t>Example: Problems where one class lies entirely on one side of a line and the other class lies on the opposite side.</a:t>
            </a:r>
          </a:p>
          <a:p>
            <a:pPr marL="342900" indent="-342900">
              <a:buFont typeface="+mj-lt"/>
              <a:buAutoNum type="arabicPeriod"/>
            </a:pPr>
            <a:r>
              <a:rPr lang="en-GB" b="1" dirty="0"/>
              <a:t>Cannot handle XOR problem</a:t>
            </a:r>
            <a:r>
              <a:rPr lang="en-GB" dirty="0"/>
              <a:t>: One of the classic problems that a single perceptron cannot solve is the </a:t>
            </a:r>
            <a:r>
              <a:rPr lang="en-GB" b="1" dirty="0"/>
              <a:t>XOR problem</a:t>
            </a:r>
            <a:r>
              <a:rPr lang="en-GB" dirty="0"/>
              <a:t>. The XOR function returns </a:t>
            </a:r>
            <a:r>
              <a:rPr lang="en-GB" b="1" dirty="0"/>
              <a:t>1</a:t>
            </a:r>
            <a:r>
              <a:rPr lang="en-GB" dirty="0"/>
              <a:t> when the inputs are different, and </a:t>
            </a:r>
            <a:r>
              <a:rPr lang="en-GB" b="1" dirty="0"/>
              <a:t>0</a:t>
            </a:r>
            <a:r>
              <a:rPr lang="en-GB" dirty="0"/>
              <a:t> when they are the same. The problem is not linearly separable, meaning you cannot draw a straight line that separates the </a:t>
            </a:r>
            <a:r>
              <a:rPr lang="en-GB" b="1" dirty="0"/>
              <a:t>1s</a:t>
            </a:r>
            <a:r>
              <a:rPr lang="en-GB" dirty="0"/>
              <a:t> from the </a:t>
            </a:r>
            <a:r>
              <a:rPr lang="en-GB" b="1" dirty="0"/>
              <a:t>0s</a:t>
            </a:r>
            <a:r>
              <a:rPr lang="en-GB" dirty="0"/>
              <a:t> in the input space.</a:t>
            </a:r>
          </a:p>
          <a:p>
            <a:r>
              <a:rPr lang="en-GB" dirty="0"/>
              <a:t>This limitation led to the development of more complex neural networks that use multiple layers of </a:t>
            </a:r>
            <a:r>
              <a:rPr lang="en-GB" dirty="0" err="1"/>
              <a:t>perceptrons</a:t>
            </a:r>
            <a:r>
              <a:rPr lang="en-GB" dirty="0"/>
              <a:t>, which are capable of solving non-linear problems.</a:t>
            </a:r>
          </a:p>
          <a:p>
            <a:pPr algn="l"/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57DC39-94B3-BDEA-4A07-BD74FFDC6B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817" t="20148"/>
          <a:stretch/>
        </p:blipFill>
        <p:spPr>
          <a:xfrm>
            <a:off x="5426583" y="950256"/>
            <a:ext cx="3717417" cy="41071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E222165A-E76C-EDE9-5F74-27ED5E7661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453E71E6-1293-06AC-FD8C-356E9DF731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Multi-Layer Perceptron (MLP)</a:t>
            </a:r>
            <a:br>
              <a:rPr lang="en-GB" sz="3200" b="1" dirty="0"/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2130394C-66E2-A849-FC9E-3E27C9749E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F98001-B672-0035-47D7-A391717E3EAC}"/>
              </a:ext>
            </a:extLst>
          </p:cNvPr>
          <p:cNvSpPr txBox="1"/>
          <p:nvPr/>
        </p:nvSpPr>
        <p:spPr>
          <a:xfrm>
            <a:off x="174929" y="802035"/>
            <a:ext cx="7762312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1600" b="1" dirty="0"/>
              <a:t>Overcomes perceptron limitations by adding hidden layers</a:t>
            </a:r>
            <a:br>
              <a:rPr lang="en-GB" sz="1600" dirty="0"/>
            </a:br>
            <a:r>
              <a:rPr lang="en-GB" sz="1600" dirty="0"/>
              <a:t>The original perceptron could only solve linear problems. MLP introduces one or more hidden layers, allowing it to learn non-linear relationships.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600" b="1" dirty="0"/>
              <a:t>Each layer consists of multiple neurons</a:t>
            </a:r>
            <a:br>
              <a:rPr lang="en-GB" sz="1600" dirty="0"/>
            </a:br>
            <a:r>
              <a:rPr lang="en-GB" sz="1600" dirty="0"/>
              <a:t>A neuron receives inputs, applies weights, adds a bias, and passes the result through an activation function. Multiple neurons in each layer process different parts/features of the input.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600" b="1" dirty="0"/>
              <a:t>Enables </a:t>
            </a:r>
            <a:r>
              <a:rPr lang="en-GB" sz="1600" b="1" dirty="0" err="1"/>
              <a:t>modeling</a:t>
            </a:r>
            <a:r>
              <a:rPr lang="en-GB" sz="1600" b="1" dirty="0"/>
              <a:t> of complex functions</a:t>
            </a:r>
            <a:br>
              <a:rPr lang="en-GB" sz="1600" dirty="0"/>
            </a:br>
            <a:r>
              <a:rPr lang="en-GB" sz="1600" dirty="0"/>
              <a:t>By combining multiple layers and non-linear activations, MLPs can approximate any continuous function, making them suitable for tasks like image recognition, speech processing, etc.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sz="1600" dirty="0"/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17882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E702EBB-067D-0211-81C1-0EA61BC0B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5233D6CE-FAE3-9140-9EC8-2F7DD5CD4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86064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3200" b="1" dirty="0"/>
              <a:t>Multi-Layer Perceptron (MLP)</a:t>
            </a:r>
            <a:br>
              <a:rPr lang="en-GB" sz="3200" b="1" dirty="0"/>
            </a:br>
            <a:br>
              <a:rPr lang="en-GB" sz="3100" b="1" i="0" u="none" strike="noStrike" dirty="0">
                <a:solidFill>
                  <a:srgbClr val="7030A0"/>
                </a:solidFill>
                <a:effectLst/>
                <a:latin typeface="Inter" panose="02000503000000020004" pitchFamily="2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0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AutoShape 2" descr="Optimized Python with Numba library">
            <a:extLst>
              <a:ext uri="{FF2B5EF4-FFF2-40B4-BE49-F238E27FC236}">
                <a16:creationId xmlns:a16="http://schemas.microsoft.com/office/drawing/2014/main" id="{7C9CFB66-E998-1A1F-C803-73F6DDB4E39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960866" y="1871317"/>
            <a:ext cx="3771900" cy="215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F9EAB-5850-92C5-DD02-46585A8BB654}"/>
              </a:ext>
            </a:extLst>
          </p:cNvPr>
          <p:cNvSpPr txBox="1"/>
          <p:nvPr/>
        </p:nvSpPr>
        <p:spPr>
          <a:xfrm>
            <a:off x="174929" y="802035"/>
            <a:ext cx="77623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Input Layer</a:t>
            </a:r>
            <a:r>
              <a:rPr lang="en-GB" sz="1600" dirty="0"/>
              <a:t>: The first layer that receives raw input data (e.g., pixel values of an image or features of a dataset).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Hidden Layer(s)</a:t>
            </a:r>
            <a:r>
              <a:rPr lang="en-GB" sz="1600" dirty="0"/>
              <a:t>: Intermediate layers that transform data using learned weights and activation functions (like </a:t>
            </a:r>
            <a:r>
              <a:rPr lang="en-GB" sz="1600" dirty="0" err="1"/>
              <a:t>ReLU</a:t>
            </a:r>
            <a:r>
              <a:rPr lang="en-GB" sz="1600" dirty="0"/>
              <a:t>, Sigmoid, etc.).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Output Layer</a:t>
            </a:r>
            <a:r>
              <a:rPr lang="en-GB" sz="1600" dirty="0"/>
              <a:t>: Produces the final result, e.g., class scores or regression output.</a:t>
            </a:r>
          </a:p>
          <a:p>
            <a:pPr marL="285750" indent="-285750">
              <a:buFont typeface="Wingdings" pitchFamily="2" charset="2"/>
              <a:buChar char="Ø"/>
            </a:pPr>
            <a:endParaRPr lang="en-GB" sz="1600" dirty="0"/>
          </a:p>
          <a:p>
            <a:pPr algn="l"/>
            <a:endParaRPr lang="en-GB" sz="1600" i="0" u="none" strike="noStrike" dirty="0">
              <a:solidFill>
                <a:srgbClr val="000000"/>
              </a:solidFill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35D4DB-1C78-8691-F57B-6B2E91292E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593"/>
          <a:stretch/>
        </p:blipFill>
        <p:spPr>
          <a:xfrm>
            <a:off x="1615439" y="2147412"/>
            <a:ext cx="5308473" cy="298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619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9321C5F-5887-88FC-5A55-2EB85D26C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C39B0603-80F6-6813-A911-33AD170E76A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1901" y="54920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DeepSeek-CJK-patch"/>
              </a:rPr>
              <a:t>Activation Functions</a:t>
            </a:r>
            <a:b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DeepSeek-CJK-patch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2F1C77-9C5B-EF4B-F2AB-E3C6B67E23BB}"/>
              </a:ext>
            </a:extLst>
          </p:cNvPr>
          <p:cNvSpPr txBox="1"/>
          <p:nvPr/>
        </p:nvSpPr>
        <p:spPr>
          <a:xfrm>
            <a:off x="332487" y="974803"/>
            <a:ext cx="8242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en-GB" sz="1800" b="0" i="0" u="none" strike="noStrike" dirty="0">
              <a:solidFill>
                <a:srgbClr val="000000"/>
              </a:solidFill>
              <a:effectLst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BBD1D85-6035-F733-F9FE-F5416C57FC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878931"/>
              </p:ext>
            </p:extLst>
          </p:nvPr>
        </p:nvGraphicFramePr>
        <p:xfrm>
          <a:off x="311150" y="1851025"/>
          <a:ext cx="8521701" cy="201930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2102103">
                  <a:extLst>
                    <a:ext uri="{9D8B030D-6E8A-4147-A177-3AD203B41FA5}">
                      <a16:colId xmlns:a16="http://schemas.microsoft.com/office/drawing/2014/main" val="4023904890"/>
                    </a:ext>
                  </a:extLst>
                </a:gridCol>
                <a:gridCol w="2139866">
                  <a:extLst>
                    <a:ext uri="{9D8B030D-6E8A-4147-A177-3AD203B41FA5}">
                      <a16:colId xmlns:a16="http://schemas.microsoft.com/office/drawing/2014/main" val="2614255014"/>
                    </a:ext>
                  </a:extLst>
                </a:gridCol>
                <a:gridCol w="2139866">
                  <a:extLst>
                    <a:ext uri="{9D8B030D-6E8A-4147-A177-3AD203B41FA5}">
                      <a16:colId xmlns:a16="http://schemas.microsoft.com/office/drawing/2014/main" val="1873840058"/>
                    </a:ext>
                  </a:extLst>
                </a:gridCol>
                <a:gridCol w="2139866">
                  <a:extLst>
                    <a:ext uri="{9D8B030D-6E8A-4147-A177-3AD203B41FA5}">
                      <a16:colId xmlns:a16="http://schemas.microsoft.com/office/drawing/2014/main" val="3074647831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effectLst/>
                        </a:rPr>
                        <a:t>Function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 dirty="0">
                          <a:effectLst/>
                        </a:rPr>
                        <a:t>Equation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effectLst/>
                        </a:rPr>
                        <a:t>Range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effectLst/>
                        </a:rPr>
                        <a:t>Use Case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842661665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Sigmoid</a:t>
                      </a:r>
                      <a:endParaRPr lang="en-GB" sz="1400">
                        <a:effectLst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1/(1+e⁻ˣ)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(0,1)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Binary classification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292210398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Tanh</a:t>
                      </a:r>
                      <a:endParaRPr lang="en-GB" sz="1400">
                        <a:effectLst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(eˣ - e⁻ˣ)/(eˣ + e⁻ˣ)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(-1,1)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Hidden layers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77959997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ReLU</a:t>
                      </a:r>
                      <a:endParaRPr lang="en-GB" sz="1400">
                        <a:effectLst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max(0,x)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[0,∞)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Default for hidden layers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21044777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r>
                        <a:rPr lang="en-GB" sz="1400" b="1">
                          <a:effectLst/>
                        </a:rPr>
                        <a:t>Softmax</a:t>
                      </a:r>
                      <a:endParaRPr lang="en-GB" sz="1400">
                        <a:effectLst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eˣ/</a:t>
                      </a:r>
                      <a:r>
                        <a:rPr lang="el-GR" sz="1400">
                          <a:effectLst/>
                        </a:rPr>
                        <a:t>Σ</a:t>
                      </a:r>
                      <a:r>
                        <a:rPr lang="en-GB" sz="1400">
                          <a:effectLst/>
                        </a:rPr>
                        <a:t>eˣ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effectLst/>
                        </a:rPr>
                        <a:t>(0,1)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GB" sz="1400" dirty="0">
                          <a:effectLst/>
                        </a:rPr>
                        <a:t>Multi-class output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749518755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B32DFE44-A44E-2B11-815C-B2A0C92BE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878" y="1296938"/>
            <a:ext cx="296267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Purpose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DeepSeek-CJK-patch"/>
              </a:rPr>
              <a:t>: Introduce non-linearity.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148591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49B3FE5F-B39D-9AA9-B708-409963FC6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EB024A57-E0FF-FEC8-BFB5-7A6B8D0497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/>
            <a:r>
              <a:rPr lang="en-GB" b="1" dirty="0"/>
              <a:t>Forward Propagation</a:t>
            </a: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3C7E5D-21A2-CB49-8E6C-276C2D0EBF76}"/>
              </a:ext>
            </a:extLst>
          </p:cNvPr>
          <p:cNvSpPr txBox="1"/>
          <p:nvPr/>
        </p:nvSpPr>
        <p:spPr>
          <a:xfrm>
            <a:off x="223500" y="496074"/>
            <a:ext cx="806096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GB" dirty="0"/>
            </a:br>
            <a:r>
              <a:rPr lang="en-GB" dirty="0"/>
              <a:t>Forward Propagation is the process of passing input data through a neural network (from input layer to output layer) to get predictions.</a:t>
            </a:r>
          </a:p>
          <a:p>
            <a:pPr>
              <a:buNone/>
            </a:pPr>
            <a:r>
              <a:rPr lang="en-GB" b="1" dirty="0"/>
              <a:t>How it Works (per neuron)</a:t>
            </a:r>
          </a:p>
          <a:p>
            <a:pPr>
              <a:buNone/>
            </a:pPr>
            <a:r>
              <a:rPr lang="en-GB" dirty="0"/>
              <a:t>Each </a:t>
            </a:r>
            <a:r>
              <a:rPr lang="en-GB" b="1" dirty="0"/>
              <a:t>neuron</a:t>
            </a:r>
            <a:r>
              <a:rPr lang="en-GB" dirty="0"/>
              <a:t> (like a processing unit) performs this calculation:</a:t>
            </a:r>
          </a:p>
          <a:p>
            <a:pPr>
              <a:buNone/>
            </a:pPr>
            <a:r>
              <a:rPr lang="en-GB" dirty="0"/>
              <a:t>y=activation(</a:t>
            </a:r>
            <a:r>
              <a:rPr lang="en-GB" dirty="0" err="1"/>
              <a:t>W⋅x+b</a:t>
            </a:r>
            <a:r>
              <a:rPr lang="en-GB" dirty="0"/>
              <a:t>) Where: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x = Input vector (from previous layer or the dataset)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W = Weights vector (learned parameters)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b = Bias term (helps the model shift the activation function)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 err="1"/>
              <a:t>Wx+b</a:t>
            </a:r>
            <a:r>
              <a:rPr lang="en-GB" dirty="0"/>
              <a:t>= Linear combination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activation= Non-linear function (e.g., </a:t>
            </a:r>
            <a:r>
              <a:rPr lang="en-GB" dirty="0" err="1"/>
              <a:t>ReLU</a:t>
            </a:r>
            <a:r>
              <a:rPr lang="en-GB" dirty="0"/>
              <a:t>, Sigmoid)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y = Output of the neuron</a:t>
            </a:r>
          </a:p>
          <a:p>
            <a:pPr>
              <a:buNone/>
            </a:pPr>
            <a:r>
              <a:rPr lang="en-GB" b="1" dirty="0"/>
              <a:t>Step-by-step Flow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Input Layer</a:t>
            </a:r>
            <a:r>
              <a:rPr lang="en-GB" dirty="0"/>
              <a:t>: Takes raw input features (like pixel values or data points).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Hidden Layers</a:t>
            </a:r>
            <a:r>
              <a:rPr lang="en-GB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Each neuron does: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z=</a:t>
            </a:r>
            <a:r>
              <a:rPr lang="en-GB" dirty="0" err="1"/>
              <a:t>W⋅x+b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 a=activation(z)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Passes a to next layer.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Output Layer</a:t>
            </a:r>
            <a:r>
              <a:rPr lang="en-GB" dirty="0"/>
              <a:t>: Final layer gives predictions (e.g., class scores or values).</a:t>
            </a: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81002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C83D9304-872E-6ED9-DF2A-EA1A7086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ED0A2731-7E35-D4DA-3614-1639BD788B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/>
            <a:r>
              <a:rPr lang="en-GB" b="1" dirty="0"/>
              <a:t>Backpropagation</a:t>
            </a: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D8E364-9A59-03D6-928C-82DD1AE2622E}"/>
              </a:ext>
            </a:extLst>
          </p:cNvPr>
          <p:cNvSpPr txBox="1"/>
          <p:nvPr/>
        </p:nvSpPr>
        <p:spPr>
          <a:xfrm>
            <a:off x="150348" y="743741"/>
            <a:ext cx="677470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What is Backpropagation?</a:t>
            </a:r>
            <a:r>
              <a:rPr lang="en-GB" sz="1600" dirty="0"/>
              <a:t> Backpropagation is a supervised learning algorithm used to train multilayer </a:t>
            </a:r>
            <a:r>
              <a:rPr lang="en-GB" sz="1600" dirty="0" err="1"/>
              <a:t>perceptrons</a:t>
            </a:r>
            <a:r>
              <a:rPr lang="en-GB" sz="1600" dirty="0"/>
              <a:t> (MLPs) or other neural networks. It works by minimizing the loss (error) between the predicted output and the actual target.</a:t>
            </a:r>
          </a:p>
          <a:p>
            <a:pPr>
              <a:buNone/>
            </a:pPr>
            <a:r>
              <a:rPr lang="en-GB" sz="1600" b="1" dirty="0"/>
              <a:t>Step-by-Step Explanation: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Forward Pass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Input data passes through the network (input → hidden layers → output).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Each neuron calculates its output using weights and activation functions.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Final output is generated.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Loss Calculation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The output is compared with the true label using a </a:t>
            </a:r>
            <a:r>
              <a:rPr lang="en-GB" sz="1600" b="1" dirty="0"/>
              <a:t>loss function</a:t>
            </a:r>
            <a:r>
              <a:rPr lang="en-GB" sz="1600" dirty="0"/>
              <a:t> (e.g., MSE, cross-entropy).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The </a:t>
            </a:r>
            <a:r>
              <a:rPr lang="en-GB" sz="1600" b="1" dirty="0"/>
              <a:t>loss (error)</a:t>
            </a:r>
            <a:r>
              <a:rPr lang="en-GB" sz="1600" dirty="0"/>
              <a:t> is a measure of how far off the predictions are.</a:t>
            </a:r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477069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D4F0AF42-6E41-0E36-3570-E4E50E46B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DC371A64-E886-1121-90E4-82DF7A9976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algn="l"/>
            <a:r>
              <a:rPr lang="en-GB" b="1" dirty="0"/>
              <a:t>Backpropagation</a:t>
            </a: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7B6B5C-C944-98B0-15CB-208A395FE1C5}"/>
              </a:ext>
            </a:extLst>
          </p:cNvPr>
          <p:cNvSpPr txBox="1"/>
          <p:nvPr/>
        </p:nvSpPr>
        <p:spPr>
          <a:xfrm>
            <a:off x="205212" y="666762"/>
            <a:ext cx="8060964" cy="4216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GB" b="1" dirty="0"/>
              <a:t>Backward Pass (Backpropagation)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The algorithm calculates gradients of the loss function with respect to each weight using the chain rule of calculus.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These gradients tell us how to change the weights to reduce the loss.</a:t>
            </a:r>
          </a:p>
          <a:p>
            <a:pPr>
              <a:buFont typeface="+mj-lt"/>
              <a:buAutoNum type="arabicPeriod" startAt="3"/>
            </a:pPr>
            <a:r>
              <a:rPr lang="en-GB" b="1" dirty="0"/>
              <a:t>Weight Update (Gradient Descent)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Weights are adjusted using: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w=w−</a:t>
            </a:r>
            <a:r>
              <a:rPr lang="el-GR" dirty="0"/>
              <a:t>η⋅∂</a:t>
            </a:r>
            <a:r>
              <a:rPr lang="en-GB" dirty="0"/>
              <a:t>L/∂w where: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dirty="0"/>
              <a:t>w = weight</a:t>
            </a:r>
          </a:p>
          <a:p>
            <a:pPr marL="1143000" lvl="2" indent="-228600">
              <a:buFont typeface="+mj-lt"/>
              <a:buAutoNum type="arabicPeriod"/>
            </a:pPr>
            <a:r>
              <a:rPr lang="el-GR" dirty="0"/>
              <a:t>η= </a:t>
            </a:r>
            <a:r>
              <a:rPr lang="en-GB" dirty="0"/>
              <a:t>learning rate</a:t>
            </a:r>
          </a:p>
          <a:p>
            <a:pPr marL="1143000" lvl="2" indent="-228600">
              <a:buFont typeface="+mj-lt"/>
              <a:buAutoNum type="arabicPeriod"/>
            </a:pPr>
            <a:r>
              <a:rPr lang="en-GB" dirty="0"/>
              <a:t>∂L/∂w= gradient of loss </a:t>
            </a:r>
            <a:r>
              <a:rPr lang="en-GB" dirty="0" err="1"/>
              <a:t>w.r.t.</a:t>
            </a:r>
            <a:r>
              <a:rPr lang="en-GB" dirty="0"/>
              <a:t> weight</a:t>
            </a:r>
          </a:p>
          <a:p>
            <a:pPr>
              <a:buFont typeface="+mj-lt"/>
              <a:buAutoNum type="arabicPeriod" startAt="3"/>
            </a:pPr>
            <a:r>
              <a:rPr lang="en-GB" b="1" dirty="0"/>
              <a:t>Repeat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This process is repeated for many epochs until the network learns (i.e., the loss is minimized).</a:t>
            </a:r>
          </a:p>
          <a:p>
            <a:pPr>
              <a:buNone/>
            </a:pPr>
            <a:r>
              <a:rPr lang="en-GB" b="1" dirty="0"/>
              <a:t>In Summary: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Goal</a:t>
            </a:r>
            <a:r>
              <a:rPr lang="en-GB" dirty="0"/>
              <a:t>: Minimize error/loss.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How</a:t>
            </a:r>
            <a:r>
              <a:rPr lang="en-GB" dirty="0"/>
              <a:t>: Use gradient descent to adjust weights based on error.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Where</a:t>
            </a:r>
            <a:r>
              <a:rPr lang="en-GB" dirty="0"/>
              <a:t>: Through layers of a neural network (MLP).</a:t>
            </a:r>
          </a:p>
          <a:p>
            <a:pPr marL="742950" lvl="1" indent="-285750">
              <a:buFont typeface="+mj-lt"/>
              <a:buAutoNum type="arabicPeriod"/>
            </a:pPr>
            <a:endParaRPr lang="en-GB" dirty="0"/>
          </a:p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108972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5E9B24E9-9FC9-0025-09F8-BD3CCFAC2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72D5EC0A-D432-D455-08C4-05683B2522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i="0" u="none" strike="noStrike" dirty="0">
                <a:solidFill>
                  <a:srgbClr val="7030A0"/>
                </a:solidFill>
                <a:effectLst/>
                <a:latin typeface="DeepSeek-CJK-patch"/>
              </a:rPr>
              <a:t>Sigmoid Function</a:t>
            </a:r>
            <a:br>
              <a:rPr lang="en-GB" sz="28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019705-DE85-3A3C-8DA2-33851E195E57}"/>
              </a:ext>
            </a:extLst>
          </p:cNvPr>
          <p:cNvSpPr txBox="1"/>
          <p:nvPr/>
        </p:nvSpPr>
        <p:spPr>
          <a:xfrm>
            <a:off x="186924" y="865406"/>
            <a:ext cx="4989211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Graph Shape:</a:t>
            </a:r>
            <a:r>
              <a:rPr lang="en-GB" sz="1600" dirty="0"/>
              <a:t> S-shaped curve</a:t>
            </a:r>
            <a:br>
              <a:rPr lang="en-GB" sz="1600" dirty="0"/>
            </a:br>
            <a:r>
              <a:rPr lang="en-GB" sz="1600" b="1" dirty="0"/>
              <a:t>Range:</a:t>
            </a:r>
            <a:r>
              <a:rPr lang="en-GB" sz="1600" dirty="0"/>
              <a:t> (0, 1)</a:t>
            </a:r>
          </a:p>
          <a:p>
            <a:pPr>
              <a:buNone/>
            </a:pPr>
            <a:r>
              <a:rPr lang="en-GB" sz="1600" b="1" dirty="0" err="1"/>
              <a:t>Behavior</a:t>
            </a:r>
            <a:r>
              <a:rPr lang="en-GB" sz="1600" b="1" dirty="0"/>
              <a:t>:</a:t>
            </a:r>
            <a:endParaRPr lang="en-GB" sz="16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Converts input to a value between 0 and 1.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Small or large values of x squash to close to 0 or 1.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Used often in binary classification (like in logistic regression).</a:t>
            </a:r>
          </a:p>
          <a:p>
            <a:pPr>
              <a:buNone/>
            </a:pPr>
            <a:r>
              <a:rPr lang="en-GB" sz="1600" b="1" dirty="0"/>
              <a:t>Pros:</a:t>
            </a:r>
            <a:endParaRPr lang="en-GB" sz="1600" dirty="0"/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Smooth gradient.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Output is always between 0 and 1 (useful for probabilities).</a:t>
            </a:r>
          </a:p>
          <a:p>
            <a:r>
              <a:rPr lang="en-GB" sz="1600" b="1" dirty="0"/>
              <a:t>Cons: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Vanishing gradient problem for very large or very small inputs.</a:t>
            </a:r>
          </a:p>
          <a:p>
            <a:pPr marL="342900" indent="-342900">
              <a:buFont typeface="+mj-lt"/>
              <a:buAutoNum type="arabicPeriod"/>
            </a:pPr>
            <a:r>
              <a:rPr lang="en-GB" sz="1600" dirty="0"/>
              <a:t>Outputs not </a:t>
            </a:r>
            <a:r>
              <a:rPr lang="en-GB" sz="1600" dirty="0" err="1"/>
              <a:t>centered</a:t>
            </a:r>
            <a:r>
              <a:rPr lang="en-GB" sz="1600" dirty="0"/>
              <a:t> around zero (can slow down learning).</a:t>
            </a:r>
          </a:p>
        </p:txBody>
      </p:sp>
      <p:pic>
        <p:nvPicPr>
          <p:cNvPr id="5122" name="Picture 2" descr="Activation Plots">
            <a:extLst>
              <a:ext uri="{FF2B5EF4-FFF2-40B4-BE49-F238E27FC236}">
                <a16:creationId xmlns:a16="http://schemas.microsoft.com/office/drawing/2014/main" id="{DBD911DA-5069-910D-28E1-0A5ABA6AEF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0"/>
          <a:stretch/>
        </p:blipFill>
        <p:spPr bwMode="auto">
          <a:xfrm>
            <a:off x="5176135" y="1354610"/>
            <a:ext cx="4030082" cy="3178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96293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AAF87069-E6AF-20AC-F37C-F0BA878AF1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3822B316-8E93-5FA4-06F7-446F9A543E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/>
              <a:t>tanh Function (Hyperbolic Tangent)</a:t>
            </a:r>
            <a:br>
              <a:rPr lang="en-GB" sz="2800" b="1" dirty="0"/>
            </a:br>
            <a:br>
              <a:rPr lang="en-GB" sz="28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4BC21A-DF15-83CA-FA6D-67414BD9A423}"/>
              </a:ext>
            </a:extLst>
          </p:cNvPr>
          <p:cNvSpPr txBox="1"/>
          <p:nvPr/>
        </p:nvSpPr>
        <p:spPr>
          <a:xfrm>
            <a:off x="186925" y="865406"/>
            <a:ext cx="394616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Graph Shape:</a:t>
            </a:r>
            <a:r>
              <a:rPr lang="en-GB" sz="1600" dirty="0"/>
              <a:t> S-shaped like sigmoid, but steeper</a:t>
            </a:r>
            <a:br>
              <a:rPr lang="en-GB" sz="1600" dirty="0"/>
            </a:br>
            <a:r>
              <a:rPr lang="en-GB" sz="1600" b="1" dirty="0"/>
              <a:t>Range:</a:t>
            </a:r>
            <a:r>
              <a:rPr lang="en-GB" sz="1600" dirty="0"/>
              <a:t> (-1, 1)</a:t>
            </a:r>
          </a:p>
          <a:p>
            <a:pPr>
              <a:buNone/>
            </a:pPr>
            <a:r>
              <a:rPr lang="en-GB" sz="1600" b="1" dirty="0" err="1"/>
              <a:t>Behavior</a:t>
            </a:r>
            <a:r>
              <a:rPr lang="en-GB" sz="1600" b="1" dirty="0"/>
              <a:t>:</a:t>
            </a:r>
            <a:endParaRPr lang="en-GB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Similar to sigmoid but </a:t>
            </a:r>
            <a:r>
              <a:rPr lang="en-GB" sz="1600" dirty="0" err="1"/>
              <a:t>centered</a:t>
            </a:r>
            <a:r>
              <a:rPr lang="en-GB" sz="1600" dirty="0"/>
              <a:t> around 0.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Negative inputs map to negative outputs.</a:t>
            </a:r>
          </a:p>
          <a:p>
            <a:pPr>
              <a:buNone/>
            </a:pPr>
            <a:r>
              <a:rPr lang="en-GB" sz="1600" b="1" dirty="0"/>
              <a:t>Pros:</a:t>
            </a:r>
            <a:endParaRPr lang="en-GB" sz="16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Outputs are zero-</a:t>
            </a:r>
            <a:r>
              <a:rPr lang="en-GB" sz="1600" dirty="0" err="1"/>
              <a:t>centered</a:t>
            </a:r>
            <a:r>
              <a:rPr lang="en-GB" sz="1600" dirty="0"/>
              <a:t> (better than sigmoid for training).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Stronger gradients than sigmoid.</a:t>
            </a:r>
          </a:p>
          <a:p>
            <a:pPr>
              <a:buNone/>
            </a:pPr>
            <a:r>
              <a:rPr lang="en-GB" sz="1600" b="1" dirty="0"/>
              <a:t>Cons:</a:t>
            </a:r>
            <a:endParaRPr lang="en-GB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Still suffers from the vanishing gradient problem.</a:t>
            </a:r>
          </a:p>
        </p:txBody>
      </p:sp>
      <p:pic>
        <p:nvPicPr>
          <p:cNvPr id="7170" name="Picture 2" descr="Tanh Activation Explained | Papers With Code">
            <a:extLst>
              <a:ext uri="{FF2B5EF4-FFF2-40B4-BE49-F238E27FC236}">
                <a16:creationId xmlns:a16="http://schemas.microsoft.com/office/drawing/2014/main" id="{51DBE525-AC73-2133-BF37-A59DFA0DCA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6928" y="927106"/>
            <a:ext cx="4675632" cy="3479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3903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F2365CB6-D904-B411-23E3-91C6FBFE7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E195373F-6C4C-AA21-13A3-7BB6D27EA4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GB" sz="2800" b="1" dirty="0" err="1"/>
              <a:t>ReLU</a:t>
            </a:r>
            <a:r>
              <a:rPr lang="en-GB" sz="2800" b="1" dirty="0"/>
              <a:t> Function (Rectified Linear Unit)</a:t>
            </a:r>
            <a:br>
              <a:rPr lang="en-GB" sz="2800" b="1" dirty="0"/>
            </a:br>
            <a:br>
              <a:rPr lang="en-GB" sz="2800" b="1" dirty="0"/>
            </a:br>
            <a:br>
              <a:rPr lang="en-GB" sz="2800" b="1" i="0" u="none" strike="noStrike" dirty="0">
                <a:solidFill>
                  <a:srgbClr val="404040"/>
                </a:solidFill>
                <a:effectLst/>
                <a:latin typeface="DeepSeek-CJK-patch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07A57F-6B60-6B2B-D3C3-1B345EE4CC89}"/>
              </a:ext>
            </a:extLst>
          </p:cNvPr>
          <p:cNvSpPr txBox="1"/>
          <p:nvPr/>
        </p:nvSpPr>
        <p:spPr>
          <a:xfrm>
            <a:off x="186924" y="865406"/>
            <a:ext cx="4214387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600" b="1" dirty="0"/>
              <a:t>Graph Shape:</a:t>
            </a:r>
            <a:r>
              <a:rPr lang="en-GB" sz="1600" dirty="0"/>
              <a:t> Flat at zero for negative x, linear for positive x</a:t>
            </a:r>
            <a:br>
              <a:rPr lang="en-GB" sz="1600" dirty="0"/>
            </a:br>
            <a:r>
              <a:rPr lang="en-GB" sz="1600" b="1" dirty="0"/>
              <a:t>Range:</a:t>
            </a:r>
            <a:r>
              <a:rPr lang="en-GB" sz="1600" dirty="0"/>
              <a:t> [0, ∞)</a:t>
            </a:r>
          </a:p>
          <a:p>
            <a:pPr>
              <a:buNone/>
            </a:pPr>
            <a:r>
              <a:rPr lang="en-GB" sz="1600" b="1" dirty="0" err="1"/>
              <a:t>Behavior</a:t>
            </a:r>
            <a:r>
              <a:rPr lang="en-GB" sz="1600" b="1" dirty="0"/>
              <a:t>:</a:t>
            </a:r>
            <a:endParaRPr lang="en-GB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Outputs 0 for all negative inputs.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dirty="0"/>
              <a:t>Outputs x (identity) for all positive inputs.</a:t>
            </a:r>
          </a:p>
          <a:p>
            <a:pPr>
              <a:buNone/>
            </a:pPr>
            <a:r>
              <a:rPr lang="en-GB" sz="1600" b="1" dirty="0"/>
              <a:t>Pros:</a:t>
            </a:r>
            <a:endParaRPr lang="en-GB" sz="1600" dirty="0"/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Very simple and fast.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Solves vanishing gradient problem for positive values.</a:t>
            </a:r>
          </a:p>
          <a:p>
            <a:pPr marL="285750" indent="-285750">
              <a:buFont typeface="Wingdings" pitchFamily="2" charset="2"/>
              <a:buChar char="ü"/>
            </a:pPr>
            <a:r>
              <a:rPr lang="en-GB" sz="1600" dirty="0"/>
              <a:t>Sparse activation (many neurons are inactive at once).</a:t>
            </a:r>
          </a:p>
          <a:p>
            <a:pPr>
              <a:buNone/>
            </a:pPr>
            <a:r>
              <a:rPr lang="en-GB" sz="1600" b="1" dirty="0"/>
              <a:t>Cons:</a:t>
            </a:r>
            <a:endParaRPr lang="en-GB" sz="1600" dirty="0"/>
          </a:p>
          <a:p>
            <a:pPr marL="285750" indent="-285750">
              <a:buFont typeface="Wingdings" pitchFamily="2" charset="2"/>
              <a:buChar char="Ø"/>
            </a:pPr>
            <a:r>
              <a:rPr lang="en-GB" sz="1600" b="1" dirty="0"/>
              <a:t>Dying </a:t>
            </a:r>
            <a:r>
              <a:rPr lang="en-GB" sz="1600" b="1" dirty="0" err="1"/>
              <a:t>ReLU</a:t>
            </a:r>
            <a:r>
              <a:rPr lang="en-GB" sz="1600" dirty="0"/>
              <a:t> problem: if too many neurons output 0, they might never recover (weights don't update).</a:t>
            </a:r>
          </a:p>
        </p:txBody>
      </p:sp>
      <p:pic>
        <p:nvPicPr>
          <p:cNvPr id="9218" name="Picture 2" descr="Activations">
            <a:extLst>
              <a:ext uri="{FF2B5EF4-FFF2-40B4-BE49-F238E27FC236}">
                <a16:creationId xmlns:a16="http://schemas.microsoft.com/office/drawing/2014/main" id="{572D82D8-9293-1C5F-4FE6-159C9349ED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467"/>
          <a:stretch/>
        </p:blipFill>
        <p:spPr bwMode="auto">
          <a:xfrm>
            <a:off x="4523232" y="731838"/>
            <a:ext cx="4620768" cy="3678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644235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>
          <a:extLst>
            <a:ext uri="{FF2B5EF4-FFF2-40B4-BE49-F238E27FC236}">
              <a16:creationId xmlns:a16="http://schemas.microsoft.com/office/drawing/2014/main" id="{B68411D2-01BF-DAA5-E2EE-E2B4B9AE5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">
            <a:extLst>
              <a:ext uri="{FF2B5EF4-FFF2-40B4-BE49-F238E27FC236}">
                <a16:creationId xmlns:a16="http://schemas.microsoft.com/office/drawing/2014/main" id="{84C86892-C0C8-D4D7-718B-8EAB0B48B0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7175" y="115841"/>
            <a:ext cx="832965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kumimoji="0" lang="en-US" altLang="en-US" sz="3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Summary Comparison</a:t>
            </a:r>
            <a:br>
              <a:rPr kumimoji="0" lang="en-US" altLang="en-US" sz="3100" b="1" i="0" u="none" strike="noStrike" cap="none" normalizeH="0" baseline="0" dirty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</a:br>
            <a:br>
              <a:rPr lang="en-GB" b="1" i="0" u="none" strike="noStrike" dirty="0">
                <a:solidFill>
                  <a:srgbClr val="7030A0"/>
                </a:solidFill>
                <a:effectLst/>
              </a:rPr>
            </a:br>
            <a:endParaRPr lang="en-GB" b="1" i="0" u="none" strike="noStrike" dirty="0">
              <a:solidFill>
                <a:srgbClr val="7030A0"/>
              </a:solidFill>
              <a:effectLst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DFC334-17E0-0868-2612-65B0DE91F40A}"/>
              </a:ext>
            </a:extLst>
          </p:cNvPr>
          <p:cNvSpPr txBox="1"/>
          <p:nvPr/>
        </p:nvSpPr>
        <p:spPr>
          <a:xfrm>
            <a:off x="66467" y="527685"/>
            <a:ext cx="86703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+mj-lt"/>
              <a:buAutoNum type="arabicPeriod"/>
            </a:pPr>
            <a:endParaRPr lang="en-GB" sz="1600" b="0" i="0" u="none" strike="noStrike" dirty="0">
              <a:solidFill>
                <a:srgbClr val="000000"/>
              </a:solidFill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094FB8-748D-AAB2-BBFC-CFB44EDE4F14}"/>
              </a:ext>
            </a:extLst>
          </p:cNvPr>
          <p:cNvSpPr txBox="1"/>
          <p:nvPr/>
        </p:nvSpPr>
        <p:spPr>
          <a:xfrm>
            <a:off x="1677924" y="701510"/>
            <a:ext cx="4648200" cy="116955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activations = {</a:t>
            </a:r>
          </a:p>
          <a:p>
            <a:r>
              <a:rPr lang="en-US" dirty="0"/>
              <a:t>    "Sigmoid": </a:t>
            </a:r>
            <a:r>
              <a:rPr lang="en-US" dirty="0" err="1"/>
              <a:t>tf.keras.activations.sigmoid</a:t>
            </a:r>
            <a:r>
              <a:rPr lang="en-US" dirty="0"/>
              <a:t>,</a:t>
            </a:r>
          </a:p>
          <a:p>
            <a:r>
              <a:rPr lang="en-US" dirty="0"/>
              <a:t>    "</a:t>
            </a:r>
            <a:r>
              <a:rPr lang="en-US" dirty="0" err="1"/>
              <a:t>ReLU</a:t>
            </a:r>
            <a:r>
              <a:rPr lang="en-US" dirty="0"/>
              <a:t>": </a:t>
            </a:r>
            <a:r>
              <a:rPr lang="en-US" dirty="0" err="1"/>
              <a:t>tf.keras.activations.relu</a:t>
            </a:r>
            <a:r>
              <a:rPr lang="en-US" dirty="0"/>
              <a:t>,</a:t>
            </a:r>
          </a:p>
          <a:p>
            <a:r>
              <a:rPr lang="en-US" dirty="0"/>
              <a:t>    "</a:t>
            </a:r>
            <a:r>
              <a:rPr lang="en-US" dirty="0" err="1"/>
              <a:t>Softmax</a:t>
            </a:r>
            <a:r>
              <a:rPr lang="en-US" dirty="0"/>
              <a:t>": </a:t>
            </a:r>
            <a:r>
              <a:rPr lang="en-US" dirty="0" err="1"/>
              <a:t>tf.keras.activations.softmax</a:t>
            </a:r>
            <a:endParaRPr lang="en-US" dirty="0"/>
          </a:p>
          <a:p>
            <a:r>
              <a:rPr lang="en-US" dirty="0"/>
              <a:t>}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4B64A93-55C0-838F-429C-425D71B095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003277"/>
              </p:ext>
            </p:extLst>
          </p:nvPr>
        </p:nvGraphicFramePr>
        <p:xfrm>
          <a:off x="403515" y="2266315"/>
          <a:ext cx="8521700" cy="1859280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704340">
                  <a:extLst>
                    <a:ext uri="{9D8B030D-6E8A-4147-A177-3AD203B41FA5}">
                      <a16:colId xmlns:a16="http://schemas.microsoft.com/office/drawing/2014/main" val="4236938516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476443219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223586083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3130935518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3141345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Zero-Centered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Vanishing Gradient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Use Case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0559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Sigmoid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(0, 1)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Binary classification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94869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tanh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(-1, 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Better than sigmoid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9175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ReLU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/>
                        <a:t>[0, ∞)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No (mostly)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Most deep learning models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59783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628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080321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en-GB" sz="3200" dirty="0"/>
              <a:t>Summary</a:t>
            </a:r>
            <a:br>
              <a:rPr lang="en-GB" sz="3200" dirty="0"/>
            </a:br>
            <a:endParaRPr lang="en-GB" sz="3200" dirty="0"/>
          </a:p>
        </p:txBody>
      </p:sp>
      <p:pic>
        <p:nvPicPr>
          <p:cNvPr id="5" name="Picture 4" descr="A clipboard with a white paper on it&#10;&#10;AI-generated content may be incorrect.">
            <a:extLst>
              <a:ext uri="{FF2B5EF4-FFF2-40B4-BE49-F238E27FC236}">
                <a16:creationId xmlns:a16="http://schemas.microsoft.com/office/drawing/2014/main" id="{0E18C5E0-932B-64BB-27C8-0FA868107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586984" y="907707"/>
            <a:ext cx="2589784" cy="233080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D29B7B1-87C3-1A19-1CD5-4DC342054D89}"/>
              </a:ext>
            </a:extLst>
          </p:cNvPr>
          <p:cNvSpPr txBox="1"/>
          <p:nvPr/>
        </p:nvSpPr>
        <p:spPr>
          <a:xfrm>
            <a:off x="182139" y="1334239"/>
            <a:ext cx="464949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GB" sz="2000" dirty="0"/>
              <a:t>ANNs mimic brain structure for learning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 err="1"/>
              <a:t>Perceptrons</a:t>
            </a:r>
            <a:r>
              <a:rPr lang="en-GB" sz="2000" dirty="0"/>
              <a:t> and MLPs are building blocks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Activation functions add non-linearity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/>
              <a:t>Python libraries like </a:t>
            </a:r>
            <a:r>
              <a:rPr lang="en-GB" sz="2000" dirty="0" err="1"/>
              <a:t>Keras</a:t>
            </a:r>
            <a:r>
              <a:rPr lang="en-GB" sz="2000" dirty="0"/>
              <a:t> make it easy to build models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A"/>
        </a:solidFill>
        <a:effectLst/>
      </p:bgPr>
    </p:bg>
    <p:spTree>
      <p:nvGrpSpPr>
        <p:cNvPr id="1" name="Shape 83">
          <a:extLst>
            <a:ext uri="{FF2B5EF4-FFF2-40B4-BE49-F238E27FC236}">
              <a16:creationId xmlns:a16="http://schemas.microsoft.com/office/drawing/2014/main" id="{C7073A23-177A-F380-4E2C-BCE5184CC9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7">
            <a:extLst>
              <a:ext uri="{FF2B5EF4-FFF2-40B4-BE49-F238E27FC236}">
                <a16:creationId xmlns:a16="http://schemas.microsoft.com/office/drawing/2014/main" id="{E3B61B0B-C8A6-4063-AA38-0D213B633718}"/>
              </a:ext>
            </a:extLst>
          </p:cNvPr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3080321" y="122160"/>
            <a:ext cx="5408998" cy="293956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>
            <a:extLst>
              <a:ext uri="{FF2B5EF4-FFF2-40B4-BE49-F238E27FC236}">
                <a16:creationId xmlns:a16="http://schemas.microsoft.com/office/drawing/2014/main" id="{CC369EC6-6544-C062-953A-68234137BA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72950" y="122160"/>
            <a:ext cx="6707400" cy="494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r>
              <a:rPr lang="en-GB" sz="3200" dirty="0"/>
              <a:t>Books and References</a:t>
            </a:r>
            <a:br>
              <a:rPr lang="en-GB" sz="3200" dirty="0"/>
            </a:br>
            <a:endParaRPr lang="en-GB" sz="3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36E5C5-A4EC-A514-661D-B1E7567D531F}"/>
              </a:ext>
            </a:extLst>
          </p:cNvPr>
          <p:cNvSpPr txBox="1"/>
          <p:nvPr/>
        </p:nvSpPr>
        <p:spPr>
          <a:xfrm>
            <a:off x="755575" y="1098322"/>
            <a:ext cx="5408997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"Deep Learning" (Ian Goodfellow et al.)</a:t>
            </a:r>
          </a:p>
          <a:p>
            <a:pPr marL="457200" indent="-457200" algn="l">
              <a:spcBef>
                <a:spcPts val="300"/>
              </a:spcBef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"Neural Networks and Deep Learning" (Michael Nielsen)</a:t>
            </a:r>
          </a:p>
          <a:p>
            <a:pPr algn="l"/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Courses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  <a:hlinkClick r:id="rId4"/>
              </a:rPr>
              <a:t>Deep Learning Specialization (Andrew Ng, Coursera)</a:t>
            </a:r>
            <a:endParaRPr lang="en-GB" sz="2000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marL="457200" indent="-457200" algn="l">
              <a:spcBef>
                <a:spcPts val="300"/>
              </a:spcBef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  <a:hlinkClick r:id="rId5"/>
              </a:rPr>
              <a:t>Fast.ai Practical Deep Learning</a:t>
            </a:r>
            <a:endParaRPr lang="en-GB" sz="2000" b="0" i="0" u="none" strike="noStrike" dirty="0">
              <a:solidFill>
                <a:srgbClr val="404040"/>
              </a:solidFill>
              <a:effectLst/>
              <a:latin typeface="Inter" panose="02000503000000020004" pitchFamily="2" charset="0"/>
            </a:endParaRPr>
          </a:p>
          <a:p>
            <a:pPr algn="l"/>
            <a:r>
              <a:rPr lang="en-GB" sz="2000" b="1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Datasets for Practice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MNIST (Handwritten digits)</a:t>
            </a:r>
          </a:p>
          <a:p>
            <a:pPr marL="457200" indent="-457200" algn="l">
              <a:spcBef>
                <a:spcPts val="300"/>
              </a:spcBef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CIFAR-10 (Image classification)</a:t>
            </a:r>
          </a:p>
          <a:p>
            <a:pPr marL="457200" indent="-457200" algn="l">
              <a:spcBef>
                <a:spcPts val="300"/>
              </a:spcBef>
              <a:buFont typeface="+mj-lt"/>
              <a:buAutoNum type="arabicPeriod"/>
            </a:pPr>
            <a:r>
              <a:rPr lang="en-GB" sz="2000" b="0" i="0" u="none" strike="noStrike" dirty="0">
                <a:solidFill>
                  <a:srgbClr val="404040"/>
                </a:solidFill>
                <a:effectLst/>
                <a:latin typeface="Inter" panose="02000503000000020004" pitchFamily="2" charset="0"/>
              </a:rPr>
              <a:t>IMDB Reviews (Sentiment analysis)</a:t>
            </a:r>
          </a:p>
        </p:txBody>
      </p:sp>
    </p:spTree>
    <p:extLst>
      <p:ext uri="{BB962C8B-B14F-4D97-AF65-F5344CB8AC3E}">
        <p14:creationId xmlns:p14="http://schemas.microsoft.com/office/powerpoint/2010/main" val="374039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20"/>
          <p:cNvPicPr preferRelativeResize="0"/>
          <p:nvPr/>
        </p:nvPicPr>
        <p:blipFill rotWithShape="1">
          <a:blip r:embed="rId3">
            <a:alphaModFix/>
          </a:blip>
          <a:srcRect l="8508"/>
          <a:stretch/>
        </p:blipFill>
        <p:spPr>
          <a:xfrm>
            <a:off x="6248550" y="1551586"/>
            <a:ext cx="1357692" cy="509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47216" y="2992069"/>
            <a:ext cx="995950" cy="4058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19974" y="3081645"/>
            <a:ext cx="1214843" cy="226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0"/>
          <p:cNvPicPr preferRelativeResize="0"/>
          <p:nvPr/>
        </p:nvPicPr>
        <p:blipFill rotWithShape="1">
          <a:blip r:embed="rId6">
            <a:alphaModFix/>
          </a:blip>
          <a:srcRect l="11047" t="22524" r="11047" b="22523"/>
          <a:stretch/>
        </p:blipFill>
        <p:spPr>
          <a:xfrm>
            <a:off x="3316327" y="2249012"/>
            <a:ext cx="688702" cy="3955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60782" y="2325188"/>
            <a:ext cx="1133228" cy="2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 rotWithShape="1">
          <a:blip r:embed="rId8">
            <a:alphaModFix/>
          </a:blip>
          <a:srcRect l="2114" t="19776" b="19777"/>
          <a:stretch/>
        </p:blipFill>
        <p:spPr>
          <a:xfrm>
            <a:off x="3094065" y="1608499"/>
            <a:ext cx="1133226" cy="3955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183573" y="3074674"/>
            <a:ext cx="954210" cy="24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0" descr="Text&#10;&#10;Description automatically generated with low confidence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92620" y="3040838"/>
            <a:ext cx="750589" cy="308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0" descr="A red and black sign&#10;&#10;Description automatically generated with low confidence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83572" y="3696038"/>
            <a:ext cx="954213" cy="2026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0" descr="A picture containing text, clipart,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018971" y="3677016"/>
            <a:ext cx="697888" cy="240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0"/>
          <p:cNvPicPr preferRelativeResize="0"/>
          <p:nvPr/>
        </p:nvPicPr>
        <p:blipFill rotWithShape="1">
          <a:blip r:embed="rId13">
            <a:alphaModFix/>
          </a:blip>
          <a:srcRect b="18915"/>
          <a:stretch/>
        </p:blipFill>
        <p:spPr>
          <a:xfrm>
            <a:off x="6450290" y="3643177"/>
            <a:ext cx="954212" cy="308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0"/>
          <p:cNvPicPr preferRelativeResize="0"/>
          <p:nvPr/>
        </p:nvPicPr>
        <p:blipFill rotWithShape="1">
          <a:blip r:embed="rId14">
            <a:alphaModFix/>
          </a:blip>
          <a:srcRect l="12270" t="12270" r="12262" b="12262"/>
          <a:stretch/>
        </p:blipFill>
        <p:spPr>
          <a:xfrm>
            <a:off x="3885746" y="4245539"/>
            <a:ext cx="1133228" cy="3827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0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98086" y="3621493"/>
            <a:ext cx="694210" cy="3517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0"/>
          <p:cNvPicPr preferRelativeResize="0"/>
          <p:nvPr/>
        </p:nvPicPr>
        <p:blipFill rotWithShape="1">
          <a:blip r:embed="rId16">
            <a:alphaModFix/>
          </a:blip>
          <a:srcRect t="18905" b="18904"/>
          <a:stretch/>
        </p:blipFill>
        <p:spPr>
          <a:xfrm>
            <a:off x="1537771" y="1614885"/>
            <a:ext cx="1214840" cy="3827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0"/>
          <p:cNvPicPr preferRelativeResize="0"/>
          <p:nvPr/>
        </p:nvPicPr>
        <p:blipFill rotWithShape="1">
          <a:blip r:embed="rId17">
            <a:alphaModFix/>
          </a:blip>
          <a:srcRect l="2114" t="28897" b="28892"/>
          <a:stretch/>
        </p:blipFill>
        <p:spPr>
          <a:xfrm>
            <a:off x="4740627" y="1652095"/>
            <a:ext cx="1254574" cy="308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4760495" y="2253777"/>
            <a:ext cx="1214839" cy="3860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647215" y="2294778"/>
            <a:ext cx="995952" cy="30401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>
            <a:spLocks noGrp="1"/>
          </p:cNvSpPr>
          <p:nvPr>
            <p:ph type="title" idx="4294967295"/>
          </p:nvPr>
        </p:nvSpPr>
        <p:spPr>
          <a:xfrm>
            <a:off x="2079450" y="745725"/>
            <a:ext cx="6373800" cy="5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>
                <a:solidFill>
                  <a:srgbClr val="4F29B6"/>
                </a:solidFill>
                <a:latin typeface="IBM Plex Sans Arabic SemiBold"/>
                <a:ea typeface="IBM Plex Sans Arabic SemiBold"/>
                <a:cs typeface="IBM Plex Sans Arabic SemiBold"/>
                <a:sym typeface="IBM Plex Sans Arabic SemiBold"/>
              </a:rPr>
              <a:t>الشراكات العالمية</a:t>
            </a:r>
            <a:endParaRPr>
              <a:solidFill>
                <a:srgbClr val="4F29B6"/>
              </a:solidFill>
              <a:latin typeface="IBM Plex Sans Arabic SemiBold"/>
              <a:ea typeface="IBM Plex Sans Arabic SemiBold"/>
              <a:cs typeface="IBM Plex Sans Arabic SemiBold"/>
              <a:sym typeface="IBM Plex Sans Arabic SemiBol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1"/>
          <p:cNvSpPr txBox="1">
            <a:spLocks noGrp="1"/>
          </p:cNvSpPr>
          <p:nvPr>
            <p:ph type="title"/>
          </p:nvPr>
        </p:nvSpPr>
        <p:spPr>
          <a:xfrm>
            <a:off x="5548225" y="2230950"/>
            <a:ext cx="3062100" cy="6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333333"/>
              <a:buNone/>
            </a:pPr>
            <a:r>
              <a:rPr lang="en-US" sz="4000" b="1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شــــــكــــرًا لكــــــم</a:t>
            </a:r>
            <a:endParaRPr sz="4000" b="1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  <p:sp>
        <p:nvSpPr>
          <p:cNvPr id="217" name="Google Shape;217;p21"/>
          <p:cNvSpPr txBox="1">
            <a:spLocks noGrp="1"/>
          </p:cNvSpPr>
          <p:nvPr>
            <p:ph type="ctrTitle" idx="4294967295"/>
          </p:nvPr>
        </p:nvSpPr>
        <p:spPr>
          <a:xfrm>
            <a:off x="4166050" y="2870075"/>
            <a:ext cx="4444200" cy="5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29B7"/>
              </a:buClr>
              <a:buSzPts val="990"/>
              <a:buFont typeface="IBM Plex Sans Arabic Medium"/>
              <a:buNone/>
            </a:pPr>
            <a:r>
              <a:rPr lang="en-US" sz="2900" b="1" i="0" u="none" strike="noStrike" cap="none">
                <a:solidFill>
                  <a:schemeClr val="lt1"/>
                </a:solidFill>
                <a:latin typeface="IBM Plex Sans Arabic"/>
                <a:ea typeface="IBM Plex Sans Arabic"/>
                <a:cs typeface="IBM Plex Sans Arabic"/>
                <a:sym typeface="IBM Plex Sans Arabic"/>
              </a:rPr>
              <a:t>THANK YOU</a:t>
            </a:r>
            <a:endParaRPr sz="2900" b="1" i="0" u="none" strike="noStrike" cap="none">
              <a:solidFill>
                <a:schemeClr val="lt1"/>
              </a:solidFill>
              <a:latin typeface="IBM Plex Sans Arabic"/>
              <a:ea typeface="IBM Plex Sans Arabic"/>
              <a:cs typeface="IBM Plex Sans Arabic"/>
              <a:sym typeface="IBM Plex Sans Arab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3535</TotalTime>
  <Words>2316</Words>
  <Application>Microsoft Macintosh PowerPoint</Application>
  <PresentationFormat>On-screen Show (16:9)</PresentationFormat>
  <Paragraphs>243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IBM Plex Sans Arabic Medium</vt:lpstr>
      <vt:lpstr>Tajawal</vt:lpstr>
      <vt:lpstr>Inter</vt:lpstr>
      <vt:lpstr>Calibri</vt:lpstr>
      <vt:lpstr>IBM Plex Sans Arabic</vt:lpstr>
      <vt:lpstr>IBM Plex Sans Arabic SemiBold</vt:lpstr>
      <vt:lpstr>Wingdings</vt:lpstr>
      <vt:lpstr>Arial</vt:lpstr>
      <vt:lpstr>DeepSeek-CJK-patch</vt:lpstr>
      <vt:lpstr>Simple Light</vt:lpstr>
      <vt:lpstr>أكـــــاديميــــة طــــويـــق</vt:lpstr>
      <vt:lpstr>Artificial Neural Networks (ANNs)   </vt:lpstr>
      <vt:lpstr>PowerPoint Presentation</vt:lpstr>
      <vt:lpstr>What are Artificial Neural Networks (ANNs)?   </vt:lpstr>
      <vt:lpstr>Artificial Neural Networks   </vt:lpstr>
      <vt:lpstr>Biological Inspiration of Neural Networks   </vt:lpstr>
      <vt:lpstr>Biological Inspiration of Neural Networks   </vt:lpstr>
      <vt:lpstr>Artificial Neuron (Perceptron)    </vt:lpstr>
      <vt:lpstr>Artificial Neuron (Perceptron)    </vt:lpstr>
      <vt:lpstr>Perceptron Output Function     </vt:lpstr>
      <vt:lpstr>Limitation of Single Perceptron    </vt:lpstr>
      <vt:lpstr>Multi-Layer Perceptron (MLP)    </vt:lpstr>
      <vt:lpstr>Multi-Layer Perceptron (MLP)    </vt:lpstr>
      <vt:lpstr>Activation Functions  </vt:lpstr>
      <vt:lpstr>Forward Propagation </vt:lpstr>
      <vt:lpstr>Backpropagation </vt:lpstr>
      <vt:lpstr>Backpropagation </vt:lpstr>
      <vt:lpstr>Sigmoid Function  </vt:lpstr>
      <vt:lpstr>tanh Function (Hyperbolic Tangent)   </vt:lpstr>
      <vt:lpstr>ReLU Function (Rectified Linear Unit)    </vt:lpstr>
      <vt:lpstr>Summary Comparison  </vt:lpstr>
      <vt:lpstr>Summary </vt:lpstr>
      <vt:lpstr>Books and References </vt:lpstr>
      <vt:lpstr>الشراكات العالمية</vt:lpstr>
      <vt:lpstr>شــــــكــــرًا لكــــــم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Afshan Hashmi</cp:lastModifiedBy>
  <cp:revision>26</cp:revision>
  <dcterms:modified xsi:type="dcterms:W3CDTF">2025-04-06T03:03:55Z</dcterms:modified>
</cp:coreProperties>
</file>