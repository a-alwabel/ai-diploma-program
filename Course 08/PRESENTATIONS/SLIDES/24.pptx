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98" r:id="rId5"/>
    <p:sldId id="539" r:id="rId6"/>
    <p:sldId id="591" r:id="rId7"/>
    <p:sldId id="598" r:id="rId8"/>
    <p:sldId id="567" r:id="rId9"/>
    <p:sldId id="592" r:id="rId10"/>
    <p:sldId id="599" r:id="rId11"/>
    <p:sldId id="593" r:id="rId12"/>
    <p:sldId id="594" r:id="rId13"/>
    <p:sldId id="600" r:id="rId14"/>
    <p:sldId id="595" r:id="rId15"/>
    <p:sldId id="596" r:id="rId16"/>
    <p:sldId id="597" r:id="rId17"/>
    <p:sldId id="601" r:id="rId18"/>
    <p:sldId id="602" r:id="rId19"/>
    <p:sldId id="312" r:id="rId20"/>
    <p:sldId id="275" r:id="rId21"/>
    <p:sldId id="276" r:id="rId22"/>
  </p:sldIdLst>
  <p:sldSz cx="9144000" cy="5143500" type="screen16x9"/>
  <p:notesSz cx="6858000" cy="9144000"/>
  <p:embeddedFontLst>
    <p:embeddedFont>
      <p:font typeface="IBM Plex Sans Arabic" panose="020B0603050203000203" pitchFamily="34" charset="-78"/>
      <p:regular r:id="rId24"/>
      <p:bold r:id="rId25"/>
    </p:embeddedFont>
    <p:embeddedFont>
      <p:font typeface="IBM Plex Sans Arabic Medium" panose="020B0603050203000203" pitchFamily="34" charset="-78"/>
      <p:regular r:id="rId26"/>
      <p:bold r:id="rId27"/>
    </p:embeddedFont>
    <p:embeddedFont>
      <p:font typeface="IBM Plex Sans Arabic SemiBold" panose="020B0603050203000203" pitchFamily="34" charset="-78"/>
      <p:regular r:id="rId28"/>
      <p:bold r:id="rId29"/>
    </p:embeddedFont>
    <p:embeddedFont>
      <p:font typeface="Inter" panose="020F0502020204030204" pitchFamily="34" charset="0"/>
      <p:regular r:id="rId30"/>
      <p:bold r:id="rId31"/>
      <p:italic r:id="rId32"/>
      <p:boldItalic r:id="rId33"/>
    </p:embeddedFont>
    <p:embeddedFont>
      <p:font typeface="Tajawal" pitchFamily="2" charset="-78"/>
      <p:regular r:id="rId34"/>
      <p:bold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gKcFO/Xev719AjEfE5iQO6xfjK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1E1F5B-7058-4A9B-AF8C-0847D0C7EE07}">
  <a:tblStyle styleId="{541E1F5B-7058-4A9B-AF8C-0847D0C7EE07}"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16"/>
    <p:restoredTop sz="94315"/>
  </p:normalViewPr>
  <p:slideViewPr>
    <p:cSldViewPr snapToGrid="0">
      <p:cViewPr varScale="1">
        <p:scale>
          <a:sx n="160" d="100"/>
          <a:sy n="160" d="100"/>
        </p:scale>
        <p:origin x="1000" y="168"/>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font" Target="fonts/font11.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CE20816-1F24-46D9-89DD-6FFEE700F24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7CD495B-FC5A-F226-2523-6E0861CBC8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B7203EE-8E11-9321-099D-0620FB1838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9817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6B9BDE8-2C21-E8E2-343E-690C2E12EF0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2E229485-EB2F-925E-9172-598BFC53F1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5DB3474E-4E76-9301-6F58-CEFCA74FAB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43396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BDF85AD-C646-EBBE-7773-F1C2B65A6BAF}"/>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2C4231F6-C114-41B2-96EB-5C7472E402F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C4040842-6EC1-463D-1B43-B1CB45106F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0592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B9757D72-FEFB-8731-1BB7-4BC5D0D15FF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F6F9F677-5357-0937-8E5E-6DBBB35F1E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DA9964D1-C1E4-E826-4418-28F6D769BD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68181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3409D09-AE72-A11D-60FE-D7260A70AEB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C9E99DA8-A180-9C9D-B77E-FCDA4C517B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1AC3140F-2990-F249-4B9A-9AA5B039C9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19461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C058D84C-3903-0AA9-4E4E-64962730B55F}"/>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20AA9E46-7F18-6BDB-2F65-3AE49E5FC4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E2347797-DDA8-A3F8-60B0-6714408204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38777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000F230-05B9-8314-727C-98383390D3B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1B4422CC-A4AB-591A-D5B4-A035CD182F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0A39016B-A391-AD64-E2F6-2E4B9EE37A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58785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337CB17-C21B-BD7D-04B2-DE2CD230C6D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629982DE-DD62-6063-C0AC-418D2CACE5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5A3D5EC6-658C-61A5-744F-AA7070F735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0511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B205F0F2-6BE7-EE6A-9E05-4399EFB808F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C4FF12B1-A5E7-E097-0F03-225F0C6F45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03A14CE0-6219-A4CF-021A-61AA57953C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60817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6C8DCA3-C145-BE89-8BA9-E06E38973CF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E09B1E09-92F4-3EEA-4AD4-F4F4CCB5CD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762FADC4-72FA-B0A9-298E-B4DBCE8EB9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63947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F3DBB64-635D-1E02-DBEF-ACFF426D610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BFF500ED-DD96-5A15-5BE4-329D070B79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3E7A77E5-B4F6-04FF-4B2A-917F19A6C6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13345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F1495E9-835B-3895-D50D-7D953022E500}"/>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C3AAF89B-5E24-DC9E-27F6-87608E73CD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7FB80116-231B-5707-A84D-D0535B99D4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58695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77C9EB3-2EE6-8BE0-EA22-1046EDEBBFBD}"/>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B12F7D2B-24E4-1376-12E3-C105447A8F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0820E12F-E3F1-9505-6FE5-D1058C80FF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68451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006A6EA-2DE4-0A59-7C80-22BB506CAE5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D9490A2-F08E-F567-4028-FA9ACF0AAF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17C4831-B714-0FD9-6256-EF5B55B14D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1479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091D0B13-F83C-283C-9837-9C42E5F5AABD}"/>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C9B76376-DC9D-0897-F10F-CAE0C01A4A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521A758E-DB09-8BBC-F7B4-FE805D2673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35148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BECD89B-AAA3-F8FE-DFBC-CC79A9A4E0AF}"/>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F508F7A9-5506-B123-0264-14DD3EE902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CCD177CE-FC44-74CB-378D-8296859D59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02857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12000"/>
              <a:buNone/>
              <a:defRPr sz="12000"/>
            </a:lvl1pPr>
            <a:lvl2pPr lvl="1" algn="ctr" rtl="1">
              <a:lnSpc>
                <a:spcPct val="100000"/>
              </a:lnSpc>
              <a:spcBef>
                <a:spcPts val="0"/>
              </a:spcBef>
              <a:spcAft>
                <a:spcPts val="0"/>
              </a:spcAft>
              <a:buSzPts val="12000"/>
              <a:buNone/>
              <a:defRPr sz="12000"/>
            </a:lvl2pPr>
            <a:lvl3pPr lvl="2" algn="ctr" rtl="1">
              <a:lnSpc>
                <a:spcPct val="100000"/>
              </a:lnSpc>
              <a:spcBef>
                <a:spcPts val="0"/>
              </a:spcBef>
              <a:spcAft>
                <a:spcPts val="0"/>
              </a:spcAft>
              <a:buSzPts val="12000"/>
              <a:buNone/>
              <a:defRPr sz="12000"/>
            </a:lvl3pPr>
            <a:lvl4pPr lvl="3" algn="ctr" rtl="1">
              <a:lnSpc>
                <a:spcPct val="100000"/>
              </a:lnSpc>
              <a:spcBef>
                <a:spcPts val="0"/>
              </a:spcBef>
              <a:spcAft>
                <a:spcPts val="0"/>
              </a:spcAft>
              <a:buSzPts val="12000"/>
              <a:buNone/>
              <a:defRPr sz="12000"/>
            </a:lvl4pPr>
            <a:lvl5pPr lvl="4" algn="ctr" rtl="1">
              <a:lnSpc>
                <a:spcPct val="100000"/>
              </a:lnSpc>
              <a:spcBef>
                <a:spcPts val="0"/>
              </a:spcBef>
              <a:spcAft>
                <a:spcPts val="0"/>
              </a:spcAft>
              <a:buSzPts val="12000"/>
              <a:buNone/>
              <a:defRPr sz="12000"/>
            </a:lvl5pPr>
            <a:lvl6pPr lvl="5" algn="ctr" rtl="1">
              <a:lnSpc>
                <a:spcPct val="100000"/>
              </a:lnSpc>
              <a:spcBef>
                <a:spcPts val="0"/>
              </a:spcBef>
              <a:spcAft>
                <a:spcPts val="0"/>
              </a:spcAft>
              <a:buSzPts val="12000"/>
              <a:buNone/>
              <a:defRPr sz="12000"/>
            </a:lvl6pPr>
            <a:lvl7pPr lvl="6" algn="ctr" rtl="1">
              <a:lnSpc>
                <a:spcPct val="100000"/>
              </a:lnSpc>
              <a:spcBef>
                <a:spcPts val="0"/>
              </a:spcBef>
              <a:spcAft>
                <a:spcPts val="0"/>
              </a:spcAft>
              <a:buSzPts val="12000"/>
              <a:buNone/>
              <a:defRPr sz="12000"/>
            </a:lvl7pPr>
            <a:lvl8pPr lvl="7" algn="ctr" rtl="1">
              <a:lnSpc>
                <a:spcPct val="100000"/>
              </a:lnSpc>
              <a:spcBef>
                <a:spcPts val="0"/>
              </a:spcBef>
              <a:spcAft>
                <a:spcPts val="0"/>
              </a:spcAft>
              <a:buSzPts val="12000"/>
              <a:buNone/>
              <a:defRPr sz="12000"/>
            </a:lvl8pPr>
            <a:lvl9pPr lvl="8" algn="ctr" rtl="1">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300"/>
              <a:buFont typeface="Tajawal"/>
              <a:buNone/>
              <a:defRPr sz="4300" b="1">
                <a:latin typeface="Tajawal"/>
                <a:ea typeface="Tajawal"/>
                <a:cs typeface="Tajawal"/>
                <a:sym typeface="Tajawal"/>
              </a:defRPr>
            </a:lvl1pPr>
            <a:lvl2pPr lvl="1" algn="ctr" rtl="1">
              <a:lnSpc>
                <a:spcPct val="100000"/>
              </a:lnSpc>
              <a:spcBef>
                <a:spcPts val="0"/>
              </a:spcBef>
              <a:spcAft>
                <a:spcPts val="0"/>
              </a:spcAft>
              <a:buSzPts val="4900"/>
              <a:buFont typeface="Tajawal"/>
              <a:buNone/>
              <a:defRPr sz="4900">
                <a:latin typeface="Tajawal"/>
                <a:ea typeface="Tajawal"/>
                <a:cs typeface="Tajawal"/>
                <a:sym typeface="Tajawal"/>
              </a:defRPr>
            </a:lvl2pPr>
            <a:lvl3pPr lvl="2" algn="ctr" rtl="1">
              <a:lnSpc>
                <a:spcPct val="100000"/>
              </a:lnSpc>
              <a:spcBef>
                <a:spcPts val="0"/>
              </a:spcBef>
              <a:spcAft>
                <a:spcPts val="0"/>
              </a:spcAft>
              <a:buSzPts val="4900"/>
              <a:buFont typeface="Tajawal"/>
              <a:buNone/>
              <a:defRPr sz="4900">
                <a:latin typeface="Tajawal"/>
                <a:ea typeface="Tajawal"/>
                <a:cs typeface="Tajawal"/>
                <a:sym typeface="Tajawal"/>
              </a:defRPr>
            </a:lvl3pPr>
            <a:lvl4pPr lvl="3" algn="ctr" rtl="1">
              <a:lnSpc>
                <a:spcPct val="100000"/>
              </a:lnSpc>
              <a:spcBef>
                <a:spcPts val="0"/>
              </a:spcBef>
              <a:spcAft>
                <a:spcPts val="0"/>
              </a:spcAft>
              <a:buSzPts val="4900"/>
              <a:buFont typeface="Tajawal"/>
              <a:buNone/>
              <a:defRPr sz="4900">
                <a:latin typeface="Tajawal"/>
                <a:ea typeface="Tajawal"/>
                <a:cs typeface="Tajawal"/>
                <a:sym typeface="Tajawal"/>
              </a:defRPr>
            </a:lvl4pPr>
            <a:lvl5pPr lvl="4" algn="ctr" rtl="1">
              <a:lnSpc>
                <a:spcPct val="100000"/>
              </a:lnSpc>
              <a:spcBef>
                <a:spcPts val="0"/>
              </a:spcBef>
              <a:spcAft>
                <a:spcPts val="0"/>
              </a:spcAft>
              <a:buSzPts val="4900"/>
              <a:buFont typeface="Tajawal"/>
              <a:buNone/>
              <a:defRPr sz="4900">
                <a:latin typeface="Tajawal"/>
                <a:ea typeface="Tajawal"/>
                <a:cs typeface="Tajawal"/>
                <a:sym typeface="Tajawal"/>
              </a:defRPr>
            </a:lvl5pPr>
            <a:lvl6pPr lvl="5" algn="ctr" rtl="1">
              <a:lnSpc>
                <a:spcPct val="100000"/>
              </a:lnSpc>
              <a:spcBef>
                <a:spcPts val="0"/>
              </a:spcBef>
              <a:spcAft>
                <a:spcPts val="0"/>
              </a:spcAft>
              <a:buSzPts val="4900"/>
              <a:buFont typeface="Tajawal"/>
              <a:buNone/>
              <a:defRPr sz="4900">
                <a:latin typeface="Tajawal"/>
                <a:ea typeface="Tajawal"/>
                <a:cs typeface="Tajawal"/>
                <a:sym typeface="Tajawal"/>
              </a:defRPr>
            </a:lvl6pPr>
            <a:lvl7pPr lvl="6" algn="ctr" rtl="1">
              <a:lnSpc>
                <a:spcPct val="100000"/>
              </a:lnSpc>
              <a:spcBef>
                <a:spcPts val="0"/>
              </a:spcBef>
              <a:spcAft>
                <a:spcPts val="0"/>
              </a:spcAft>
              <a:buSzPts val="4900"/>
              <a:buFont typeface="Tajawal"/>
              <a:buNone/>
              <a:defRPr sz="4900">
                <a:latin typeface="Tajawal"/>
                <a:ea typeface="Tajawal"/>
                <a:cs typeface="Tajawal"/>
                <a:sym typeface="Tajawal"/>
              </a:defRPr>
            </a:lvl7pPr>
            <a:lvl8pPr lvl="7" algn="ctr" rtl="1">
              <a:lnSpc>
                <a:spcPct val="100000"/>
              </a:lnSpc>
              <a:spcBef>
                <a:spcPts val="0"/>
              </a:spcBef>
              <a:spcAft>
                <a:spcPts val="0"/>
              </a:spcAft>
              <a:buSzPts val="4900"/>
              <a:buFont typeface="Tajawal"/>
              <a:buNone/>
              <a:defRPr sz="4900">
                <a:latin typeface="Tajawal"/>
                <a:ea typeface="Tajawal"/>
                <a:cs typeface="Tajawal"/>
                <a:sym typeface="Tajawal"/>
              </a:defRPr>
            </a:lvl8pPr>
            <a:lvl9pPr lvl="8" algn="ctr" rtl="1">
              <a:lnSpc>
                <a:spcPct val="100000"/>
              </a:lnSpc>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5" name="Google Shape;15;p2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500"/>
              <a:buFont typeface="Tajawal"/>
              <a:buNone/>
              <a:defRPr sz="2500">
                <a:latin typeface="Tajawal"/>
                <a:ea typeface="Tajawal"/>
                <a:cs typeface="Tajawal"/>
                <a:sym typeface="Tajawal"/>
              </a:defRPr>
            </a:lvl1pPr>
            <a:lvl2pPr lvl="1" algn="ctr" rtl="1">
              <a:lnSpc>
                <a:spcPct val="100000"/>
              </a:lnSpc>
              <a:spcBef>
                <a:spcPts val="0"/>
              </a:spcBef>
              <a:spcAft>
                <a:spcPts val="0"/>
              </a:spcAft>
              <a:buSzPts val="2500"/>
              <a:buFont typeface="Tajawal"/>
              <a:buNone/>
              <a:defRPr sz="2500">
                <a:latin typeface="Tajawal"/>
                <a:ea typeface="Tajawal"/>
                <a:cs typeface="Tajawal"/>
                <a:sym typeface="Tajawal"/>
              </a:defRPr>
            </a:lvl2pPr>
            <a:lvl3pPr lvl="2" algn="ctr" rtl="1">
              <a:lnSpc>
                <a:spcPct val="100000"/>
              </a:lnSpc>
              <a:spcBef>
                <a:spcPts val="0"/>
              </a:spcBef>
              <a:spcAft>
                <a:spcPts val="0"/>
              </a:spcAft>
              <a:buSzPts val="2500"/>
              <a:buFont typeface="Tajawal"/>
              <a:buNone/>
              <a:defRPr sz="2500">
                <a:latin typeface="Tajawal"/>
                <a:ea typeface="Tajawal"/>
                <a:cs typeface="Tajawal"/>
                <a:sym typeface="Tajawal"/>
              </a:defRPr>
            </a:lvl3pPr>
            <a:lvl4pPr lvl="3" algn="ctr" rtl="1">
              <a:lnSpc>
                <a:spcPct val="100000"/>
              </a:lnSpc>
              <a:spcBef>
                <a:spcPts val="0"/>
              </a:spcBef>
              <a:spcAft>
                <a:spcPts val="0"/>
              </a:spcAft>
              <a:buSzPts val="2500"/>
              <a:buFont typeface="Tajawal"/>
              <a:buNone/>
              <a:defRPr sz="2500">
                <a:latin typeface="Tajawal"/>
                <a:ea typeface="Tajawal"/>
                <a:cs typeface="Tajawal"/>
                <a:sym typeface="Tajawal"/>
              </a:defRPr>
            </a:lvl4pPr>
            <a:lvl5pPr lvl="4" algn="ctr" rtl="1">
              <a:lnSpc>
                <a:spcPct val="100000"/>
              </a:lnSpc>
              <a:spcBef>
                <a:spcPts val="0"/>
              </a:spcBef>
              <a:spcAft>
                <a:spcPts val="0"/>
              </a:spcAft>
              <a:buSzPts val="2500"/>
              <a:buFont typeface="Tajawal"/>
              <a:buNone/>
              <a:defRPr sz="2500">
                <a:latin typeface="Tajawal"/>
                <a:ea typeface="Tajawal"/>
                <a:cs typeface="Tajawal"/>
                <a:sym typeface="Tajawal"/>
              </a:defRPr>
            </a:lvl5pPr>
            <a:lvl6pPr lvl="5" algn="ctr" rtl="1">
              <a:lnSpc>
                <a:spcPct val="100000"/>
              </a:lnSpc>
              <a:spcBef>
                <a:spcPts val="0"/>
              </a:spcBef>
              <a:spcAft>
                <a:spcPts val="0"/>
              </a:spcAft>
              <a:buSzPts val="2500"/>
              <a:buFont typeface="Tajawal"/>
              <a:buNone/>
              <a:defRPr sz="2500">
                <a:latin typeface="Tajawal"/>
                <a:ea typeface="Tajawal"/>
                <a:cs typeface="Tajawal"/>
                <a:sym typeface="Tajawal"/>
              </a:defRPr>
            </a:lvl6pPr>
            <a:lvl7pPr lvl="6" algn="ctr" rtl="1">
              <a:lnSpc>
                <a:spcPct val="100000"/>
              </a:lnSpc>
              <a:spcBef>
                <a:spcPts val="0"/>
              </a:spcBef>
              <a:spcAft>
                <a:spcPts val="0"/>
              </a:spcAft>
              <a:buSzPts val="2500"/>
              <a:buFont typeface="Tajawal"/>
              <a:buNone/>
              <a:defRPr sz="2500">
                <a:latin typeface="Tajawal"/>
                <a:ea typeface="Tajawal"/>
                <a:cs typeface="Tajawal"/>
                <a:sym typeface="Tajawal"/>
              </a:defRPr>
            </a:lvl7pPr>
            <a:lvl8pPr lvl="7" algn="ctr" rtl="1">
              <a:lnSpc>
                <a:spcPct val="100000"/>
              </a:lnSpc>
              <a:spcBef>
                <a:spcPts val="0"/>
              </a:spcBef>
              <a:spcAft>
                <a:spcPts val="0"/>
              </a:spcAft>
              <a:buSzPts val="2500"/>
              <a:buFont typeface="Tajawal"/>
              <a:buNone/>
              <a:defRPr sz="2500">
                <a:latin typeface="Tajawal"/>
                <a:ea typeface="Tajawal"/>
                <a:cs typeface="Tajawal"/>
                <a:sym typeface="Tajawal"/>
              </a:defRPr>
            </a:lvl8pPr>
            <a:lvl9pPr lvl="8" algn="ctr" rtl="1">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6" name="Google Shape;1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5"/>
          <p:cNvSpPr txBox="1">
            <a:spLocks noGrp="1"/>
          </p:cNvSpPr>
          <p:nvPr>
            <p:ph type="title"/>
          </p:nvPr>
        </p:nvSpPr>
        <p:spPr>
          <a:xfrm>
            <a:off x="2079450" y="445025"/>
            <a:ext cx="6707400" cy="6279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rtl="1">
              <a:lnSpc>
                <a:spcPct val="100000"/>
              </a:lnSpc>
              <a:spcBef>
                <a:spcPts val="0"/>
              </a:spcBef>
              <a:spcAft>
                <a:spcPts val="0"/>
              </a:spcAft>
              <a:buClr>
                <a:srgbClr val="543198"/>
              </a:buClr>
              <a:buSzPts val="2800"/>
              <a:buNone/>
              <a:defRPr b="1">
                <a:solidFill>
                  <a:srgbClr val="543198"/>
                </a:solidFill>
              </a:defRPr>
            </a:lvl2pPr>
            <a:lvl3pPr lvl="2" algn="l" rtl="1">
              <a:lnSpc>
                <a:spcPct val="100000"/>
              </a:lnSpc>
              <a:spcBef>
                <a:spcPts val="0"/>
              </a:spcBef>
              <a:spcAft>
                <a:spcPts val="0"/>
              </a:spcAft>
              <a:buClr>
                <a:srgbClr val="543198"/>
              </a:buClr>
              <a:buSzPts val="2800"/>
              <a:buNone/>
              <a:defRPr b="1">
                <a:solidFill>
                  <a:srgbClr val="543198"/>
                </a:solidFill>
              </a:defRPr>
            </a:lvl3pPr>
            <a:lvl4pPr lvl="3" algn="l" rtl="1">
              <a:lnSpc>
                <a:spcPct val="100000"/>
              </a:lnSpc>
              <a:spcBef>
                <a:spcPts val="0"/>
              </a:spcBef>
              <a:spcAft>
                <a:spcPts val="0"/>
              </a:spcAft>
              <a:buClr>
                <a:srgbClr val="543198"/>
              </a:buClr>
              <a:buSzPts val="2800"/>
              <a:buNone/>
              <a:defRPr b="1">
                <a:solidFill>
                  <a:srgbClr val="543198"/>
                </a:solidFill>
              </a:defRPr>
            </a:lvl4pPr>
            <a:lvl5pPr lvl="4" algn="l" rtl="1">
              <a:lnSpc>
                <a:spcPct val="100000"/>
              </a:lnSpc>
              <a:spcBef>
                <a:spcPts val="0"/>
              </a:spcBef>
              <a:spcAft>
                <a:spcPts val="0"/>
              </a:spcAft>
              <a:buClr>
                <a:srgbClr val="543198"/>
              </a:buClr>
              <a:buSzPts val="2800"/>
              <a:buNone/>
              <a:defRPr b="1">
                <a:solidFill>
                  <a:srgbClr val="543198"/>
                </a:solidFill>
              </a:defRPr>
            </a:lvl5pPr>
            <a:lvl6pPr lvl="5" algn="l" rtl="1">
              <a:lnSpc>
                <a:spcPct val="100000"/>
              </a:lnSpc>
              <a:spcBef>
                <a:spcPts val="0"/>
              </a:spcBef>
              <a:spcAft>
                <a:spcPts val="0"/>
              </a:spcAft>
              <a:buClr>
                <a:srgbClr val="543198"/>
              </a:buClr>
              <a:buSzPts val="2800"/>
              <a:buNone/>
              <a:defRPr b="1">
                <a:solidFill>
                  <a:srgbClr val="543198"/>
                </a:solidFill>
              </a:defRPr>
            </a:lvl6pPr>
            <a:lvl7pPr lvl="6" algn="l" rtl="1">
              <a:lnSpc>
                <a:spcPct val="100000"/>
              </a:lnSpc>
              <a:spcBef>
                <a:spcPts val="0"/>
              </a:spcBef>
              <a:spcAft>
                <a:spcPts val="0"/>
              </a:spcAft>
              <a:buClr>
                <a:srgbClr val="543198"/>
              </a:buClr>
              <a:buSzPts val="2800"/>
              <a:buNone/>
              <a:defRPr b="1">
                <a:solidFill>
                  <a:srgbClr val="543198"/>
                </a:solidFill>
              </a:defRPr>
            </a:lvl7pPr>
            <a:lvl8pPr lvl="7" algn="l" rtl="1">
              <a:lnSpc>
                <a:spcPct val="100000"/>
              </a:lnSpc>
              <a:spcBef>
                <a:spcPts val="0"/>
              </a:spcBef>
              <a:spcAft>
                <a:spcPts val="0"/>
              </a:spcAft>
              <a:buClr>
                <a:srgbClr val="543198"/>
              </a:buClr>
              <a:buSzPts val="2800"/>
              <a:buNone/>
              <a:defRPr b="1">
                <a:solidFill>
                  <a:srgbClr val="543198"/>
                </a:solidFill>
              </a:defRPr>
            </a:lvl8pPr>
            <a:lvl9pPr lvl="8" algn="l" rtl="1">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0" name="Google Shape;20;p25"/>
          <p:cNvSpPr txBox="1">
            <a:spLocks noGrp="1"/>
          </p:cNvSpPr>
          <p:nvPr>
            <p:ph type="body" idx="1"/>
          </p:nvPr>
        </p:nvSpPr>
        <p:spPr>
          <a:xfrm>
            <a:off x="2758650" y="1334150"/>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1">
              <a:lnSpc>
                <a:spcPct val="100000"/>
              </a:lnSpc>
              <a:spcBef>
                <a:spcPts val="0"/>
              </a:spcBef>
              <a:spcAft>
                <a:spcPts val="0"/>
              </a:spcAft>
              <a:buSzPts val="3600"/>
              <a:buFont typeface="Tajawal"/>
              <a:buNone/>
              <a:defRPr sz="3600">
                <a:latin typeface="Tajawal"/>
                <a:ea typeface="Tajawal"/>
                <a:cs typeface="Tajawal"/>
                <a:sym typeface="Tajawal"/>
              </a:defRPr>
            </a:lvl1pPr>
            <a:lvl2pPr lvl="1" algn="ctr" rtl="1">
              <a:lnSpc>
                <a:spcPct val="100000"/>
              </a:lnSpc>
              <a:spcBef>
                <a:spcPts val="0"/>
              </a:spcBef>
              <a:spcAft>
                <a:spcPts val="0"/>
              </a:spcAft>
              <a:buSzPts val="3600"/>
              <a:buFont typeface="Tajawal"/>
              <a:buNone/>
              <a:defRPr sz="3600">
                <a:latin typeface="Tajawal"/>
                <a:ea typeface="Tajawal"/>
                <a:cs typeface="Tajawal"/>
                <a:sym typeface="Tajawal"/>
              </a:defRPr>
            </a:lvl2pPr>
            <a:lvl3pPr lvl="2" algn="ctr" rtl="1">
              <a:lnSpc>
                <a:spcPct val="100000"/>
              </a:lnSpc>
              <a:spcBef>
                <a:spcPts val="0"/>
              </a:spcBef>
              <a:spcAft>
                <a:spcPts val="0"/>
              </a:spcAft>
              <a:buSzPts val="3600"/>
              <a:buFont typeface="Tajawal"/>
              <a:buNone/>
              <a:defRPr sz="3600">
                <a:latin typeface="Tajawal"/>
                <a:ea typeface="Tajawal"/>
                <a:cs typeface="Tajawal"/>
                <a:sym typeface="Tajawal"/>
              </a:defRPr>
            </a:lvl3pPr>
            <a:lvl4pPr lvl="3" algn="ctr" rtl="1">
              <a:lnSpc>
                <a:spcPct val="100000"/>
              </a:lnSpc>
              <a:spcBef>
                <a:spcPts val="0"/>
              </a:spcBef>
              <a:spcAft>
                <a:spcPts val="0"/>
              </a:spcAft>
              <a:buSzPts val="3600"/>
              <a:buFont typeface="Tajawal"/>
              <a:buNone/>
              <a:defRPr sz="3600">
                <a:latin typeface="Tajawal"/>
                <a:ea typeface="Tajawal"/>
                <a:cs typeface="Tajawal"/>
                <a:sym typeface="Tajawal"/>
              </a:defRPr>
            </a:lvl4pPr>
            <a:lvl5pPr lvl="4" algn="ctr" rtl="1">
              <a:lnSpc>
                <a:spcPct val="100000"/>
              </a:lnSpc>
              <a:spcBef>
                <a:spcPts val="0"/>
              </a:spcBef>
              <a:spcAft>
                <a:spcPts val="0"/>
              </a:spcAft>
              <a:buSzPts val="3600"/>
              <a:buFont typeface="Tajawal"/>
              <a:buNone/>
              <a:defRPr sz="3600">
                <a:latin typeface="Tajawal"/>
                <a:ea typeface="Tajawal"/>
                <a:cs typeface="Tajawal"/>
                <a:sym typeface="Tajawal"/>
              </a:defRPr>
            </a:lvl5pPr>
            <a:lvl6pPr lvl="5" algn="ctr" rtl="1">
              <a:lnSpc>
                <a:spcPct val="100000"/>
              </a:lnSpc>
              <a:spcBef>
                <a:spcPts val="0"/>
              </a:spcBef>
              <a:spcAft>
                <a:spcPts val="0"/>
              </a:spcAft>
              <a:buSzPts val="3600"/>
              <a:buFont typeface="Tajawal"/>
              <a:buNone/>
              <a:defRPr sz="3600">
                <a:latin typeface="Tajawal"/>
                <a:ea typeface="Tajawal"/>
                <a:cs typeface="Tajawal"/>
                <a:sym typeface="Tajawal"/>
              </a:defRPr>
            </a:lvl6pPr>
            <a:lvl7pPr lvl="6" algn="ctr" rtl="1">
              <a:lnSpc>
                <a:spcPct val="100000"/>
              </a:lnSpc>
              <a:spcBef>
                <a:spcPts val="0"/>
              </a:spcBef>
              <a:spcAft>
                <a:spcPts val="0"/>
              </a:spcAft>
              <a:buSzPts val="3600"/>
              <a:buFont typeface="Tajawal"/>
              <a:buNone/>
              <a:defRPr sz="3600">
                <a:latin typeface="Tajawal"/>
                <a:ea typeface="Tajawal"/>
                <a:cs typeface="Tajawal"/>
                <a:sym typeface="Tajawal"/>
              </a:defRPr>
            </a:lvl7pPr>
            <a:lvl8pPr lvl="7" algn="ctr" rtl="1">
              <a:lnSpc>
                <a:spcPct val="100000"/>
              </a:lnSpc>
              <a:spcBef>
                <a:spcPts val="0"/>
              </a:spcBef>
              <a:spcAft>
                <a:spcPts val="0"/>
              </a:spcAft>
              <a:buSzPts val="3600"/>
              <a:buFont typeface="Tajawal"/>
              <a:buNone/>
              <a:defRPr sz="3600">
                <a:latin typeface="Tajawal"/>
                <a:ea typeface="Tajawal"/>
                <a:cs typeface="Tajawal"/>
                <a:sym typeface="Tajawal"/>
              </a:defRPr>
            </a:lvl8pPr>
            <a:lvl9pPr lvl="8" algn="ctr" rtl="1">
              <a:lnSpc>
                <a:spcPct val="100000"/>
              </a:lnSpc>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25" name="Google Shape;2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28"/>
          <p:cNvSpPr txBox="1">
            <a:spLocks noGrp="1"/>
          </p:cNvSpPr>
          <p:nvPr>
            <p:ph type="title"/>
          </p:nvPr>
        </p:nvSpPr>
        <p:spPr>
          <a:xfrm>
            <a:off x="2079450" y="714175"/>
            <a:ext cx="6707400" cy="7773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a:lnSpc>
                <a:spcPct val="100000"/>
              </a:lnSpc>
              <a:spcBef>
                <a:spcPts val="0"/>
              </a:spcBef>
              <a:spcAft>
                <a:spcPts val="0"/>
              </a:spcAft>
              <a:buClr>
                <a:srgbClr val="543198"/>
              </a:buClr>
              <a:buSzPts val="2800"/>
              <a:buNone/>
              <a:defRPr b="1">
                <a:solidFill>
                  <a:srgbClr val="543198"/>
                </a:solidFill>
              </a:defRPr>
            </a:lvl2pPr>
            <a:lvl3pPr lvl="2" algn="l">
              <a:lnSpc>
                <a:spcPct val="100000"/>
              </a:lnSpc>
              <a:spcBef>
                <a:spcPts val="0"/>
              </a:spcBef>
              <a:spcAft>
                <a:spcPts val="0"/>
              </a:spcAft>
              <a:buClr>
                <a:srgbClr val="543198"/>
              </a:buClr>
              <a:buSzPts val="2800"/>
              <a:buNone/>
              <a:defRPr b="1">
                <a:solidFill>
                  <a:srgbClr val="543198"/>
                </a:solidFill>
              </a:defRPr>
            </a:lvl3pPr>
            <a:lvl4pPr lvl="3" algn="l">
              <a:lnSpc>
                <a:spcPct val="100000"/>
              </a:lnSpc>
              <a:spcBef>
                <a:spcPts val="0"/>
              </a:spcBef>
              <a:spcAft>
                <a:spcPts val="0"/>
              </a:spcAft>
              <a:buClr>
                <a:srgbClr val="543198"/>
              </a:buClr>
              <a:buSzPts val="2800"/>
              <a:buNone/>
              <a:defRPr b="1">
                <a:solidFill>
                  <a:srgbClr val="543198"/>
                </a:solidFill>
              </a:defRPr>
            </a:lvl4pPr>
            <a:lvl5pPr lvl="4" algn="l">
              <a:lnSpc>
                <a:spcPct val="100000"/>
              </a:lnSpc>
              <a:spcBef>
                <a:spcPts val="0"/>
              </a:spcBef>
              <a:spcAft>
                <a:spcPts val="0"/>
              </a:spcAft>
              <a:buClr>
                <a:srgbClr val="543198"/>
              </a:buClr>
              <a:buSzPts val="2800"/>
              <a:buNone/>
              <a:defRPr b="1">
                <a:solidFill>
                  <a:srgbClr val="543198"/>
                </a:solidFill>
              </a:defRPr>
            </a:lvl5pPr>
            <a:lvl6pPr lvl="5" algn="l">
              <a:lnSpc>
                <a:spcPct val="100000"/>
              </a:lnSpc>
              <a:spcBef>
                <a:spcPts val="0"/>
              </a:spcBef>
              <a:spcAft>
                <a:spcPts val="0"/>
              </a:spcAft>
              <a:buClr>
                <a:srgbClr val="543198"/>
              </a:buClr>
              <a:buSzPts val="2800"/>
              <a:buNone/>
              <a:defRPr b="1">
                <a:solidFill>
                  <a:srgbClr val="543198"/>
                </a:solidFill>
              </a:defRPr>
            </a:lvl6pPr>
            <a:lvl7pPr lvl="6" algn="l">
              <a:lnSpc>
                <a:spcPct val="100000"/>
              </a:lnSpc>
              <a:spcBef>
                <a:spcPts val="0"/>
              </a:spcBef>
              <a:spcAft>
                <a:spcPts val="0"/>
              </a:spcAft>
              <a:buClr>
                <a:srgbClr val="543198"/>
              </a:buClr>
              <a:buSzPts val="2800"/>
              <a:buNone/>
              <a:defRPr b="1">
                <a:solidFill>
                  <a:srgbClr val="543198"/>
                </a:solidFill>
              </a:defRPr>
            </a:lvl7pPr>
            <a:lvl8pPr lvl="7" algn="l">
              <a:lnSpc>
                <a:spcPct val="100000"/>
              </a:lnSpc>
              <a:spcBef>
                <a:spcPts val="0"/>
              </a:spcBef>
              <a:spcAft>
                <a:spcPts val="0"/>
              </a:spcAft>
              <a:buClr>
                <a:srgbClr val="543198"/>
              </a:buClr>
              <a:buSzPts val="2800"/>
              <a:buNone/>
              <a:defRPr b="1">
                <a:solidFill>
                  <a:srgbClr val="543198"/>
                </a:solidFill>
              </a:defRPr>
            </a:lvl8pPr>
            <a:lvl9pPr lvl="8" algn="l">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9" name="Google Shape;29;p28"/>
          <p:cNvSpPr txBox="1">
            <a:spLocks noGrp="1"/>
          </p:cNvSpPr>
          <p:nvPr>
            <p:ph type="body" idx="1"/>
          </p:nvPr>
        </p:nvSpPr>
        <p:spPr>
          <a:xfrm>
            <a:off x="2758650" y="1526325"/>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200"/>
              <a:buNone/>
              <a:defRPr sz="4200"/>
            </a:lvl1pPr>
            <a:lvl2pPr lvl="1" algn="ctr" rtl="1">
              <a:lnSpc>
                <a:spcPct val="100000"/>
              </a:lnSpc>
              <a:spcBef>
                <a:spcPts val="0"/>
              </a:spcBef>
              <a:spcAft>
                <a:spcPts val="0"/>
              </a:spcAft>
              <a:buSzPts val="4200"/>
              <a:buNone/>
              <a:defRPr sz="4200"/>
            </a:lvl2pPr>
            <a:lvl3pPr lvl="2" algn="ctr" rtl="1">
              <a:lnSpc>
                <a:spcPct val="100000"/>
              </a:lnSpc>
              <a:spcBef>
                <a:spcPts val="0"/>
              </a:spcBef>
              <a:spcAft>
                <a:spcPts val="0"/>
              </a:spcAft>
              <a:buSzPts val="4200"/>
              <a:buNone/>
              <a:defRPr sz="4200"/>
            </a:lvl3pPr>
            <a:lvl4pPr lvl="3" algn="ctr" rtl="1">
              <a:lnSpc>
                <a:spcPct val="100000"/>
              </a:lnSpc>
              <a:spcBef>
                <a:spcPts val="0"/>
              </a:spcBef>
              <a:spcAft>
                <a:spcPts val="0"/>
              </a:spcAft>
              <a:buSzPts val="4200"/>
              <a:buNone/>
              <a:defRPr sz="4200"/>
            </a:lvl4pPr>
            <a:lvl5pPr lvl="4" algn="ctr" rtl="1">
              <a:lnSpc>
                <a:spcPct val="100000"/>
              </a:lnSpc>
              <a:spcBef>
                <a:spcPts val="0"/>
              </a:spcBef>
              <a:spcAft>
                <a:spcPts val="0"/>
              </a:spcAft>
              <a:buSzPts val="4200"/>
              <a:buNone/>
              <a:defRPr sz="4200"/>
            </a:lvl5pPr>
            <a:lvl6pPr lvl="5" algn="ctr" rtl="1">
              <a:lnSpc>
                <a:spcPct val="100000"/>
              </a:lnSpc>
              <a:spcBef>
                <a:spcPts val="0"/>
              </a:spcBef>
              <a:spcAft>
                <a:spcPts val="0"/>
              </a:spcAft>
              <a:buSzPts val="4200"/>
              <a:buNone/>
              <a:defRPr sz="4200"/>
            </a:lvl6pPr>
            <a:lvl7pPr lvl="6" algn="ctr" rtl="1">
              <a:lnSpc>
                <a:spcPct val="100000"/>
              </a:lnSpc>
              <a:spcBef>
                <a:spcPts val="0"/>
              </a:spcBef>
              <a:spcAft>
                <a:spcPts val="0"/>
              </a:spcAft>
              <a:buSzPts val="4200"/>
              <a:buNone/>
              <a:defRPr sz="4200"/>
            </a:lvl7pPr>
            <a:lvl8pPr lvl="7" algn="ctr" rtl="1">
              <a:lnSpc>
                <a:spcPct val="100000"/>
              </a:lnSpc>
              <a:spcBef>
                <a:spcPts val="0"/>
              </a:spcBef>
              <a:spcAft>
                <a:spcPts val="0"/>
              </a:spcAft>
              <a:buSzPts val="4200"/>
              <a:buNone/>
              <a:defRPr sz="4200"/>
            </a:lvl8pPr>
            <a:lvl9pPr lvl="8" algn="ctr" rtl="1">
              <a:lnSpc>
                <a:spcPct val="100000"/>
              </a:lnSpc>
              <a:spcBef>
                <a:spcPts val="0"/>
              </a:spcBef>
              <a:spcAft>
                <a:spcPts val="0"/>
              </a:spcAft>
              <a:buSzPts val="4200"/>
              <a:buNone/>
              <a:defRPr sz="4200"/>
            </a:lvl9pPr>
          </a:lstStyle>
          <a:p>
            <a:endParaRPr/>
          </a:p>
        </p:txBody>
      </p:sp>
      <p:sp>
        <p:nvSpPr>
          <p:cNvPr id="36" name="Google Shape;36;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7" name="Google Shape;37;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1">
              <a:lnSpc>
                <a:spcPct val="115000"/>
              </a:lnSpc>
              <a:spcBef>
                <a:spcPts val="0"/>
              </a:spcBef>
              <a:spcAft>
                <a:spcPts val="0"/>
              </a:spcAft>
              <a:buSzPts val="1800"/>
              <a:buChar char="●"/>
              <a:defRPr/>
            </a:lvl1pPr>
            <a:lvl2pPr marL="914400" lvl="1" indent="-317500" algn="l" rtl="1">
              <a:lnSpc>
                <a:spcPct val="115000"/>
              </a:lnSpc>
              <a:spcBef>
                <a:spcPts val="0"/>
              </a:spcBef>
              <a:spcAft>
                <a:spcPts val="0"/>
              </a:spcAft>
              <a:buSzPts val="1400"/>
              <a:buChar char="○"/>
              <a:defRPr/>
            </a:lvl2pPr>
            <a:lvl3pPr marL="1371600" lvl="2" indent="-317500" algn="l" rtl="1">
              <a:lnSpc>
                <a:spcPct val="115000"/>
              </a:lnSpc>
              <a:spcBef>
                <a:spcPts val="0"/>
              </a:spcBef>
              <a:spcAft>
                <a:spcPts val="0"/>
              </a:spcAft>
              <a:buSzPts val="1400"/>
              <a:buChar char="■"/>
              <a:defRPr/>
            </a:lvl3pPr>
            <a:lvl4pPr marL="1828800" lvl="3" indent="-317500" algn="l" rtl="1">
              <a:lnSpc>
                <a:spcPct val="115000"/>
              </a:lnSpc>
              <a:spcBef>
                <a:spcPts val="0"/>
              </a:spcBef>
              <a:spcAft>
                <a:spcPts val="0"/>
              </a:spcAft>
              <a:buSzPts val="1400"/>
              <a:buChar char="●"/>
              <a:defRPr/>
            </a:lvl4pPr>
            <a:lvl5pPr marL="2286000" lvl="4" indent="-317500" algn="l" rtl="1">
              <a:lnSpc>
                <a:spcPct val="115000"/>
              </a:lnSpc>
              <a:spcBef>
                <a:spcPts val="0"/>
              </a:spcBef>
              <a:spcAft>
                <a:spcPts val="0"/>
              </a:spcAft>
              <a:buSzPts val="1400"/>
              <a:buChar char="○"/>
              <a:defRPr/>
            </a:lvl5pPr>
            <a:lvl6pPr marL="2743200" lvl="5" indent="-317500" algn="l" rtl="1">
              <a:lnSpc>
                <a:spcPct val="115000"/>
              </a:lnSpc>
              <a:spcBef>
                <a:spcPts val="0"/>
              </a:spcBef>
              <a:spcAft>
                <a:spcPts val="0"/>
              </a:spcAft>
              <a:buSzPts val="1400"/>
              <a:buChar char="■"/>
              <a:defRPr/>
            </a:lvl6pPr>
            <a:lvl7pPr marL="3200400" lvl="6" indent="-317500" algn="l" rtl="1">
              <a:lnSpc>
                <a:spcPct val="115000"/>
              </a:lnSpc>
              <a:spcBef>
                <a:spcPts val="0"/>
              </a:spcBef>
              <a:spcAft>
                <a:spcPts val="0"/>
              </a:spcAft>
              <a:buSzPts val="1400"/>
              <a:buChar char="●"/>
              <a:defRPr/>
            </a:lvl7pPr>
            <a:lvl8pPr marL="3657600" lvl="7" indent="-317500" algn="l" rtl="1">
              <a:lnSpc>
                <a:spcPct val="115000"/>
              </a:lnSpc>
              <a:spcBef>
                <a:spcPts val="0"/>
              </a:spcBef>
              <a:spcAft>
                <a:spcPts val="0"/>
              </a:spcAft>
              <a:buSzPts val="1400"/>
              <a:buChar char="○"/>
              <a:defRPr/>
            </a:lvl8pPr>
            <a:lvl9pPr marL="4114800" lvl="8" indent="-317500" algn="l" rtl="1">
              <a:lnSpc>
                <a:spcPct val="115000"/>
              </a:lnSpc>
              <a:spcBef>
                <a:spcPts val="0"/>
              </a:spcBef>
              <a:spcAft>
                <a:spcPts val="0"/>
              </a:spcAft>
              <a:buSzPts val="1400"/>
              <a:buChar char="■"/>
              <a:defRPr/>
            </a:lvl9pPr>
          </a:lstStyle>
          <a:p>
            <a:endParaRPr/>
          </a:p>
        </p:txBody>
      </p:sp>
      <p:sp>
        <p:nvSpPr>
          <p:cNvPr id="38" name="Google Shape;3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9">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marR="0" lvl="0" algn="l" rtl="1">
              <a:lnSpc>
                <a:spcPct val="100000"/>
              </a:lnSpc>
              <a:spcBef>
                <a:spcPts val="0"/>
              </a:spcBef>
              <a:spcAft>
                <a:spcPts val="0"/>
              </a:spcAft>
              <a:buClr>
                <a:srgbClr val="4F29B7"/>
              </a:buClr>
              <a:buSzPts val="2500"/>
              <a:buFont typeface="IBM Plex Sans Arabic Medium"/>
              <a:buNone/>
              <a:defRPr sz="2500" b="0" i="0" u="none" strike="noStrike" cap="none">
                <a:solidFill>
                  <a:srgbClr val="4F29B7"/>
                </a:solidFill>
                <a:latin typeface="IBM Plex Sans Arabic Medium"/>
                <a:ea typeface="IBM Plex Sans Arabic Medium"/>
                <a:cs typeface="IBM Plex Sans Arabic Medium"/>
                <a:sym typeface="IBM Plex Sans Arabic Medium"/>
              </a:defRPr>
            </a:lvl1pPr>
            <a:lvl2pPr marR="0" lvl="1"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2pPr>
            <a:lvl3pPr marR="0" lvl="2"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3pPr>
            <a:lvl4pPr marR="0" lvl="3"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4pPr>
            <a:lvl5pPr marR="0" lvl="4"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5pPr>
            <a:lvl6pPr marR="0" lvl="5"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6pPr>
            <a:lvl7pPr marR="0" lvl="6"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7pPr>
            <a:lvl8pPr marR="0" lvl="7"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8pPr>
            <a:lvl9pPr marR="0" lvl="8"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1">
              <a:lnSpc>
                <a:spcPct val="115000"/>
              </a:lnSpc>
              <a:spcBef>
                <a:spcPts val="0"/>
              </a:spcBef>
              <a:spcAft>
                <a:spcPts val="0"/>
              </a:spcAft>
              <a:buClr>
                <a:srgbClr val="252526"/>
              </a:buClr>
              <a:buSzPts val="1800"/>
              <a:buFont typeface="IBM Plex Sans Arabic"/>
              <a:buChar char="●"/>
              <a:defRPr sz="1800" b="0" i="0" u="none" strike="noStrike" cap="none">
                <a:solidFill>
                  <a:srgbClr val="252526"/>
                </a:solidFill>
                <a:latin typeface="IBM Plex Sans Arabic"/>
                <a:ea typeface="IBM Plex Sans Arabic"/>
                <a:cs typeface="IBM Plex Sans Arabic"/>
                <a:sym typeface="IBM Plex Sans Arabic"/>
              </a:defRPr>
            </a:lvl1pPr>
            <a:lvl2pPr marL="914400" marR="0" lvl="1"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2pPr>
            <a:lvl3pPr marL="1371600" marR="0" lvl="2"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3pPr>
            <a:lvl4pPr marL="1828800" marR="0" lvl="3"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4pPr>
            <a:lvl5pPr marL="2286000" marR="0" lvl="4"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5pPr>
            <a:lvl6pPr marL="2743200" marR="0" lvl="5"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6pPr>
            <a:lvl7pPr marL="3200400" marR="0" lvl="6"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7pPr>
            <a:lvl8pPr marL="3657600" marR="0" lvl="7"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8pPr>
            <a:lvl9pPr marL="4114800" marR="0" lvl="8"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10">
            <a:alphaModFix/>
          </a:blip>
          <a:srcRect/>
          <a:stretch/>
        </p:blipFill>
        <p:spPr>
          <a:xfrm>
            <a:off x="8030954" y="17475"/>
            <a:ext cx="1266092" cy="10079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notesSlide" Target="../notesSlides/notesSlide20.xml"/><Relationship Id="rId16" Type="http://schemas.openxmlformats.org/officeDocument/2006/relationships/image" Target="../media/image21.png"/><Relationship Id="rId1" Type="http://schemas.openxmlformats.org/officeDocument/2006/relationships/slideLayout" Target="../slideLayouts/slideLayout4.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5435226" y="867625"/>
            <a:ext cx="2974200" cy="2262000"/>
          </a:xfrm>
          <a:prstGeom prst="rect">
            <a:avLst/>
          </a:prstGeom>
          <a:noFill/>
          <a:ln>
            <a:noFill/>
          </a:ln>
        </p:spPr>
        <p:txBody>
          <a:bodyPr spcFirstLastPara="1" wrap="square" lIns="91425" tIns="91425" rIns="91425" bIns="91425" anchor="b" anchorCtr="0">
            <a:normAutofit/>
          </a:bodyPr>
          <a:lstStyle/>
          <a:p>
            <a:pPr marL="0" lvl="0" indent="0" algn="r" rtl="0">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a:spLocks noGrp="1"/>
          </p:cNvSpPr>
          <p:nvPr>
            <p:ph type="body" idx="4294967295"/>
          </p:nvPr>
        </p:nvSpPr>
        <p:spPr>
          <a:xfrm>
            <a:off x="3902100" y="3253272"/>
            <a:ext cx="4447500" cy="1973484"/>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200"/>
              </a:spcAft>
              <a:buSzPts val="1800"/>
              <a:buNone/>
            </a:pPr>
            <a:r>
              <a:rPr lang="en-US" sz="3600" dirty="0">
                <a:solidFill>
                  <a:schemeClr val="lt1"/>
                </a:solidFill>
                <a:latin typeface="IBM Plex Sans Arabic Medium"/>
                <a:ea typeface="IBM Plex Sans Arabic Medium"/>
                <a:cs typeface="IBM Plex Sans Arabic Medium"/>
                <a:sym typeface="IBM Plex Sans Arabic Medium"/>
              </a:rPr>
              <a:t>Deep Learning</a:t>
            </a:r>
            <a:endParaRPr sz="3600" dirty="0">
              <a:solidFill>
                <a:schemeClr val="lt1"/>
              </a:solidFill>
              <a:latin typeface="IBM Plex Sans Arabic Medium"/>
              <a:ea typeface="IBM Plex Sans Arabic Medium"/>
              <a:cs typeface="IBM Plex Sans Arabic Medium"/>
              <a:sym typeface="IBM Plex Sans Arabic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2"/>
          <p:cNvSpPr txBox="1">
            <a:spLocks noGrp="1"/>
          </p:cNvSpPr>
          <p:nvPr>
            <p:ph type="ctrTitle"/>
          </p:nvPr>
        </p:nvSpPr>
        <p:spPr>
          <a:xfrm>
            <a:off x="492981" y="1807024"/>
            <a:ext cx="7975158" cy="2591900"/>
          </a:xfrm>
          <a:prstGeom prst="rect">
            <a:avLst/>
          </a:prstGeom>
          <a:noFill/>
          <a:ln>
            <a:noFill/>
          </a:ln>
        </p:spPr>
        <p:txBody>
          <a:bodyPr spcFirstLastPara="1" wrap="square" lIns="91425" tIns="91425" rIns="91425" bIns="91425" anchor="b" anchorCtr="0">
            <a:normAutofit/>
          </a:bodyPr>
          <a:lstStyle/>
          <a:p>
            <a:r>
              <a:rPr lang="en-GB" sz="4000" b="1" dirty="0"/>
              <a:t>Cloud and Edge Deployment of Deep Learning Models</a:t>
            </a:r>
            <a:br>
              <a:rPr lang="en-GB" sz="4000" b="1" dirty="0"/>
            </a:br>
            <a:br>
              <a:rPr lang="en-US" sz="1800" dirty="0">
                <a:latin typeface="Calibri"/>
                <a:ea typeface="Calibri"/>
                <a:cs typeface="Calibri"/>
                <a:sym typeface="Calibri"/>
              </a:rPr>
            </a:br>
            <a:endParaRPr dirty="0"/>
          </a:p>
        </p:txBody>
      </p:sp>
      <p:sp>
        <p:nvSpPr>
          <p:cNvPr id="51" name="Google Shape;51;p2"/>
          <p:cNvSpPr txBox="1"/>
          <p:nvPr/>
        </p:nvSpPr>
        <p:spPr>
          <a:xfrm>
            <a:off x="3527778" y="4245036"/>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Calibri"/>
                <a:ea typeface="Calibri"/>
                <a:cs typeface="Calibri"/>
                <a:sym typeface="Calibri"/>
              </a:rPr>
              <a:t>By: Dr. Afshan Hashmi</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p:nvPr/>
        </p:nvSpPr>
        <p:spPr>
          <a:xfrm>
            <a:off x="1402680" y="1326871"/>
            <a:ext cx="6634716" cy="2862282"/>
          </a:xfrm>
          <a:prstGeom prst="rect">
            <a:avLst/>
          </a:prstGeom>
          <a:noFill/>
          <a:ln>
            <a:noFill/>
          </a:ln>
        </p:spPr>
        <p:txBody>
          <a:bodyPr spcFirstLastPara="1" wrap="square" lIns="91425" tIns="45700" rIns="91425" bIns="45700" anchor="t" anchorCtr="0">
            <a:spAutoFit/>
          </a:bodyPr>
          <a:lstStyle/>
          <a:p>
            <a:pPr>
              <a:buNone/>
            </a:pPr>
            <a:r>
              <a:rPr lang="en-GB" sz="2400" b="1" dirty="0">
                <a:solidFill>
                  <a:srgbClr val="7030A0"/>
                </a:solidFill>
              </a:rPr>
              <a:t>Learning Objectives:</a:t>
            </a:r>
          </a:p>
          <a:p>
            <a:r>
              <a:rPr lang="en-GB" sz="1600" dirty="0"/>
              <a:t>By the end of this module, students will be able to:</a:t>
            </a:r>
          </a:p>
          <a:p>
            <a:pPr marL="342900" indent="-342900">
              <a:buFont typeface="+mj-lt"/>
              <a:buAutoNum type="arabicPeriod"/>
            </a:pPr>
            <a:r>
              <a:rPr lang="en-GB" sz="1600" dirty="0"/>
              <a:t>Understand the concepts of cloud and edge deployment.</a:t>
            </a:r>
          </a:p>
          <a:p>
            <a:pPr marL="342900" indent="-342900">
              <a:buFont typeface="+mj-lt"/>
              <a:buAutoNum type="arabicPeriod"/>
            </a:pPr>
            <a:r>
              <a:rPr lang="en-GB" sz="1600" dirty="0"/>
              <a:t>Deploy machine learning models on major cloud platforms: Google Cloud Platform (GCP), Amazon Web Services (AWS), and Microsoft Azure.</a:t>
            </a:r>
          </a:p>
          <a:p>
            <a:pPr marL="342900" indent="-342900">
              <a:buFont typeface="+mj-lt"/>
              <a:buAutoNum type="arabicPeriod"/>
            </a:pPr>
            <a:r>
              <a:rPr lang="en-GB" sz="1600" dirty="0"/>
              <a:t>Use tools and services specific to each platform.</a:t>
            </a:r>
          </a:p>
          <a:p>
            <a:pPr marL="342900" indent="-342900">
              <a:buFont typeface="+mj-lt"/>
              <a:buAutoNum type="arabicPeriod"/>
            </a:pPr>
            <a:r>
              <a:rPr lang="en-GB" sz="1600" dirty="0"/>
              <a:t>Deploy lightweight deep learning models on edge devices using TensorFlow Lite.</a:t>
            </a:r>
          </a:p>
          <a:p>
            <a:pPr marL="342900" indent="-342900" algn="l" rtl="0">
              <a:buFont typeface="+mj-lt"/>
              <a:buAutoNum type="arabicPeriod"/>
            </a:pPr>
            <a:endParaRPr lang="en-GB" b="0" i="0" u="none" strike="noStrike" dirty="0">
              <a:solidFill>
                <a:srgbClr val="000000"/>
              </a:solidFill>
              <a:effectLst/>
            </a:endParaRPr>
          </a:p>
          <a:p>
            <a:pPr marL="342900" indent="-342900" algn="l" rtl="0">
              <a:buFont typeface="+mj-lt"/>
              <a:buAutoNum type="arabicPeriod"/>
            </a:pPr>
            <a:endParaRPr lang="en-GB" b="0" i="0" u="none" strike="noStrike" dirty="0">
              <a:solidFill>
                <a:srgbClr val="000000"/>
              </a:solidFill>
              <a:effectLs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4EF5623-6B09-C586-D026-E1815682342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B8CE39D-1BAA-9EAF-5C66-19BBE6DD2056}"/>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a:bodyPr>
          <a:lstStyle/>
          <a:p>
            <a:pPr>
              <a:buNone/>
            </a:pPr>
            <a:r>
              <a:rPr lang="en-GB" sz="2800" b="1" dirty="0"/>
              <a:t>Introduction to Cloud and Edge Deployment</a:t>
            </a:r>
          </a:p>
        </p:txBody>
      </p:sp>
      <p:sp>
        <p:nvSpPr>
          <p:cNvPr id="4" name="AutoShape 2" descr="Optimized Python with Numba library">
            <a:extLst>
              <a:ext uri="{FF2B5EF4-FFF2-40B4-BE49-F238E27FC236}">
                <a16:creationId xmlns:a16="http://schemas.microsoft.com/office/drawing/2014/main" id="{A4482F75-B306-CAB6-0919-E013D5E5A03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91F168CB-0CDB-B6DB-AE67-BA9ABA3C3998}"/>
              </a:ext>
            </a:extLst>
          </p:cNvPr>
          <p:cNvSpPr txBox="1"/>
          <p:nvPr/>
        </p:nvSpPr>
        <p:spPr>
          <a:xfrm>
            <a:off x="127220" y="686618"/>
            <a:ext cx="8102379" cy="4031873"/>
          </a:xfrm>
          <a:prstGeom prst="rect">
            <a:avLst/>
          </a:prstGeom>
          <a:noFill/>
        </p:spPr>
        <p:txBody>
          <a:bodyPr wrap="square">
            <a:spAutoFit/>
          </a:bodyPr>
          <a:lstStyle/>
          <a:p>
            <a:pPr>
              <a:buNone/>
            </a:pPr>
            <a:r>
              <a:rPr lang="en-GB" sz="1600" b="1" dirty="0"/>
              <a:t>What is Deployment?</a:t>
            </a:r>
          </a:p>
          <a:p>
            <a:pPr>
              <a:buNone/>
            </a:pPr>
            <a:r>
              <a:rPr lang="en-GB" sz="1600" dirty="0"/>
              <a:t>Deployment in machine learning refers to the process of making a trained model available in a production environment where it can be accessed and used by other applications or users.</a:t>
            </a:r>
          </a:p>
          <a:p>
            <a:pPr>
              <a:buNone/>
            </a:pPr>
            <a:r>
              <a:rPr lang="en-GB" sz="1600" b="1" dirty="0"/>
              <a:t>Cloud Deployment</a:t>
            </a:r>
          </a:p>
          <a:p>
            <a:pPr marL="342900" indent="-342900">
              <a:buFont typeface="+mj-lt"/>
              <a:buAutoNum type="arabicPeriod"/>
            </a:pPr>
            <a:r>
              <a:rPr lang="en-GB" sz="1600" dirty="0"/>
              <a:t>Cloud platforms provide scalable infrastructure to host, manage, and monitor AI models.</a:t>
            </a:r>
          </a:p>
          <a:p>
            <a:pPr marL="342900" indent="-342900">
              <a:buFont typeface="+mj-lt"/>
              <a:buAutoNum type="arabicPeriod"/>
            </a:pPr>
            <a:r>
              <a:rPr lang="en-GB" sz="1600" dirty="0"/>
              <a:t>Benefits: Scalability, easy integration, security, real-time access.</a:t>
            </a:r>
          </a:p>
          <a:p>
            <a:pPr marL="342900" indent="-342900">
              <a:buFont typeface="+mj-lt"/>
              <a:buAutoNum type="arabicPeriod"/>
            </a:pPr>
            <a:r>
              <a:rPr lang="en-GB" sz="1600" dirty="0"/>
              <a:t>Examples: AWS </a:t>
            </a:r>
            <a:r>
              <a:rPr lang="en-GB" sz="1600" dirty="0" err="1"/>
              <a:t>SageMaker</a:t>
            </a:r>
            <a:r>
              <a:rPr lang="en-GB" sz="1600" dirty="0"/>
              <a:t>, GCP AI Platform, Azure Machine Learning.</a:t>
            </a:r>
          </a:p>
          <a:p>
            <a:pPr>
              <a:buNone/>
            </a:pPr>
            <a:r>
              <a:rPr lang="en-GB" sz="1600" b="1" dirty="0"/>
              <a:t>Edge Deployment</a:t>
            </a:r>
          </a:p>
          <a:p>
            <a:pPr marL="342900" indent="-342900">
              <a:buFont typeface="+mj-lt"/>
              <a:buAutoNum type="arabicPeriod"/>
            </a:pPr>
            <a:r>
              <a:rPr lang="en-GB" sz="1600" dirty="0"/>
              <a:t>Involves running models directly on local devices (mobile, IoT devices) without relying on cloud resources.</a:t>
            </a:r>
          </a:p>
          <a:p>
            <a:pPr marL="342900" indent="-342900">
              <a:buFont typeface="+mj-lt"/>
              <a:buAutoNum type="arabicPeriod"/>
            </a:pPr>
            <a:r>
              <a:rPr lang="en-GB" sz="1600" dirty="0"/>
              <a:t>Benefits: Lower latency, offline capabilities, data privacy.</a:t>
            </a:r>
          </a:p>
          <a:p>
            <a:pPr marL="342900" indent="-342900">
              <a:buFont typeface="+mj-lt"/>
              <a:buAutoNum type="arabicPeriod"/>
            </a:pPr>
            <a:r>
              <a:rPr lang="en-GB" sz="1600" dirty="0"/>
              <a:t>Example Tools: TensorFlow Lite, ONNX Runtime, Core ML.</a:t>
            </a:r>
          </a:p>
          <a:p>
            <a:pPr>
              <a:buNone/>
            </a:pPr>
            <a:br>
              <a:rPr lang="en-GB" sz="1600" dirty="0"/>
            </a:br>
            <a:endParaRPr lang="en-GB" sz="1600" b="1" dirty="0">
              <a:latin typeface="+mj-lt"/>
            </a:endParaRPr>
          </a:p>
        </p:txBody>
      </p:sp>
    </p:spTree>
    <p:extLst>
      <p:ext uri="{BB962C8B-B14F-4D97-AF65-F5344CB8AC3E}">
        <p14:creationId xmlns:p14="http://schemas.microsoft.com/office/powerpoint/2010/main" val="2377176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2C179245-137F-67F9-2E05-2A73F9E590A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B4895422-AF95-F2F7-FACD-DCF1236BFB89}"/>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Autofit/>
          </a:bodyPr>
          <a:lstStyle/>
          <a:p>
            <a:pPr>
              <a:buNone/>
            </a:pPr>
            <a:r>
              <a:rPr lang="en-GB" sz="2400" b="1" dirty="0"/>
              <a:t>Deploying Models on Google Cloud Platform (GCP)</a:t>
            </a:r>
            <a:br>
              <a:rPr lang="en-GB" sz="2400" b="1" dirty="0"/>
            </a:br>
            <a:br>
              <a:rPr lang="en-GB" sz="2400" dirty="0"/>
            </a:br>
            <a:br>
              <a:rPr lang="en-GB" sz="2400" b="1" i="0" u="none" strike="noStrike" dirty="0">
                <a:solidFill>
                  <a:srgbClr val="7030A0"/>
                </a:solidFill>
                <a:effectLst/>
              </a:rPr>
            </a:br>
            <a:br>
              <a:rPr lang="en-GB" sz="2400" b="1" i="0" u="none" strike="noStrike" dirty="0">
                <a:solidFill>
                  <a:srgbClr val="7030A0"/>
                </a:solidFill>
                <a:effectLst/>
              </a:rPr>
            </a:br>
            <a:endParaRPr lang="en-GB" sz="24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53142855-31B3-B00B-D5F7-C77B4057FEA1}"/>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82CF73AC-550B-53A3-1A6F-6F1C60520B55}"/>
              </a:ext>
            </a:extLst>
          </p:cNvPr>
          <p:cNvSpPr txBox="1"/>
          <p:nvPr/>
        </p:nvSpPr>
        <p:spPr>
          <a:xfrm>
            <a:off x="79513" y="511689"/>
            <a:ext cx="8090266" cy="553998"/>
          </a:xfrm>
          <a:prstGeom prst="rect">
            <a:avLst/>
          </a:prstGeom>
          <a:noFill/>
        </p:spPr>
        <p:txBody>
          <a:bodyPr wrap="square">
            <a:spAutoFit/>
          </a:bodyPr>
          <a:lstStyle/>
          <a:p>
            <a:pPr algn="l">
              <a:buNone/>
            </a:pPr>
            <a:endParaRPr lang="en-GB" b="0" i="0" u="none" strike="noStrike" dirty="0">
              <a:solidFill>
                <a:srgbClr val="000000"/>
              </a:solidFill>
              <a:effectLst/>
            </a:endParaRPr>
          </a:p>
          <a:p>
            <a:pPr algn="l">
              <a:buNone/>
            </a:pPr>
            <a:endParaRPr lang="en-GB" sz="1600" b="0" i="0" u="none" strike="noStrike" dirty="0">
              <a:solidFill>
                <a:srgbClr val="000000"/>
              </a:solidFill>
              <a:effectLst/>
            </a:endParaRPr>
          </a:p>
        </p:txBody>
      </p:sp>
      <p:sp>
        <p:nvSpPr>
          <p:cNvPr id="5" name="TextBox 4">
            <a:extLst>
              <a:ext uri="{FF2B5EF4-FFF2-40B4-BE49-F238E27FC236}">
                <a16:creationId xmlns:a16="http://schemas.microsoft.com/office/drawing/2014/main" id="{F85DC211-52D1-BFE8-DD4E-BA2DF9BAEFB6}"/>
              </a:ext>
            </a:extLst>
          </p:cNvPr>
          <p:cNvSpPr txBox="1"/>
          <p:nvPr/>
        </p:nvSpPr>
        <p:spPr>
          <a:xfrm>
            <a:off x="219474" y="511689"/>
            <a:ext cx="8084850" cy="4770537"/>
          </a:xfrm>
          <a:prstGeom prst="rect">
            <a:avLst/>
          </a:prstGeom>
          <a:noFill/>
        </p:spPr>
        <p:txBody>
          <a:bodyPr wrap="square">
            <a:spAutoFit/>
          </a:bodyPr>
          <a:lstStyle/>
          <a:p>
            <a:r>
              <a:rPr lang="en-GB" sz="1600" b="1" dirty="0"/>
              <a:t>Tools Used:</a:t>
            </a:r>
            <a:br>
              <a:rPr lang="en-GB" sz="1600" b="1" dirty="0"/>
            </a:br>
            <a:r>
              <a:rPr lang="en-GB" sz="1600" dirty="0"/>
              <a:t>AI Platform (Vertex AI)</a:t>
            </a:r>
            <a:br>
              <a:rPr lang="en-GB" sz="1600" dirty="0"/>
            </a:br>
            <a:r>
              <a:rPr lang="en-GB" sz="1600" dirty="0"/>
              <a:t>Cloud Storage (for model files)</a:t>
            </a:r>
            <a:br>
              <a:rPr lang="en-GB" sz="1600" dirty="0"/>
            </a:br>
            <a:r>
              <a:rPr lang="en-GB" sz="1600" dirty="0"/>
              <a:t>Cloud Functions / App Engine / Kubernetes Engine (for API deployment)</a:t>
            </a:r>
          </a:p>
          <a:p>
            <a:pPr algn="l">
              <a:buNone/>
            </a:pPr>
            <a:endParaRPr lang="en-GB" sz="1600" b="0" i="0" u="none" strike="noStrike" dirty="0">
              <a:solidFill>
                <a:srgbClr val="000000"/>
              </a:solidFill>
              <a:effectLst/>
            </a:endParaRPr>
          </a:p>
          <a:p>
            <a:pPr marL="342900" indent="-342900" algn="l">
              <a:buFont typeface="+mj-lt"/>
              <a:buAutoNum type="arabicPeriod"/>
            </a:pPr>
            <a:r>
              <a:rPr lang="en-GB" sz="1600" b="1" i="0" u="none" strike="noStrike" dirty="0">
                <a:solidFill>
                  <a:srgbClr val="000000"/>
                </a:solidFill>
                <a:effectLst/>
              </a:rPr>
              <a:t>Vertex AI (formerly AI Platform):</a:t>
            </a:r>
            <a:r>
              <a:rPr lang="en-GB" sz="1600" b="0" i="0" u="none" strike="noStrike" dirty="0">
                <a:solidFill>
                  <a:srgbClr val="000000"/>
                </a:solidFill>
                <a:effectLst/>
              </a:rPr>
              <a:t> This is Google's main platform for managing the entire machine learning lifecycle, including deploying your models. Think of it as your central hub for making models ready for use.</a:t>
            </a:r>
          </a:p>
          <a:p>
            <a:pPr marL="342900" indent="-342900" algn="l">
              <a:buFont typeface="+mj-lt"/>
              <a:buAutoNum type="arabicPeriod"/>
            </a:pPr>
            <a:r>
              <a:rPr lang="en-GB" sz="1600" b="1" i="0" u="none" strike="noStrike" dirty="0">
                <a:solidFill>
                  <a:srgbClr val="000000"/>
                </a:solidFill>
                <a:effectLst/>
              </a:rPr>
              <a:t>Cloud Storage:</a:t>
            </a:r>
            <a:r>
              <a:rPr lang="en-GB" sz="1600" b="0" i="0" u="none" strike="noStrike" dirty="0">
                <a:solidFill>
                  <a:srgbClr val="000000"/>
                </a:solidFill>
                <a:effectLst/>
              </a:rPr>
              <a:t> This is like a massive, secure hard drive in the cloud. You'll use it to store your trained model files.</a:t>
            </a:r>
          </a:p>
          <a:p>
            <a:pPr marL="342900" indent="-342900" algn="l">
              <a:buFont typeface="+mj-lt"/>
              <a:buAutoNum type="arabicPeriod"/>
            </a:pPr>
            <a:r>
              <a:rPr lang="en-GB" sz="1600" b="1" i="0" u="none" strike="noStrike" dirty="0">
                <a:solidFill>
                  <a:srgbClr val="000000"/>
                </a:solidFill>
                <a:effectLst/>
              </a:rPr>
              <a:t>Cloud Functions / App Engine / Kubernetes Engine:</a:t>
            </a:r>
            <a:r>
              <a:rPr lang="en-GB" sz="1600" b="0" i="0" u="none" strike="noStrike" dirty="0">
                <a:solidFill>
                  <a:srgbClr val="000000"/>
                </a:solidFill>
                <a:effectLst/>
              </a:rPr>
              <a:t> These are different ways to create the "doorway" (an API) that allows other applications to send data to your model and get predictions back.</a:t>
            </a:r>
          </a:p>
          <a:p>
            <a:pPr marL="800100" lvl="1" indent="-342900" algn="l">
              <a:buFont typeface="+mj-lt"/>
              <a:buAutoNum type="alphaLcPeriod"/>
            </a:pPr>
            <a:r>
              <a:rPr lang="en-GB" sz="1600" b="1" i="0" u="none" strike="noStrike" dirty="0">
                <a:solidFill>
                  <a:srgbClr val="000000"/>
                </a:solidFill>
                <a:effectLst/>
              </a:rPr>
              <a:t>Cloud Functions:</a:t>
            </a:r>
            <a:r>
              <a:rPr lang="en-GB" sz="1600" b="0" i="0" u="none" strike="noStrike" dirty="0">
                <a:solidFill>
                  <a:srgbClr val="000000"/>
                </a:solidFill>
                <a:effectLst/>
              </a:rPr>
              <a:t> Best for simple, event-driven tasks (like when something new is uploaded).</a:t>
            </a:r>
          </a:p>
          <a:p>
            <a:pPr marL="800100" lvl="1" indent="-342900" algn="l">
              <a:buFont typeface="+mj-lt"/>
              <a:buAutoNum type="alphaLcPeriod"/>
            </a:pPr>
            <a:r>
              <a:rPr lang="en-GB" sz="1600" b="1" i="0" u="none" strike="noStrike" dirty="0">
                <a:solidFill>
                  <a:srgbClr val="000000"/>
                </a:solidFill>
                <a:effectLst/>
              </a:rPr>
              <a:t>App Engine:</a:t>
            </a:r>
            <a:r>
              <a:rPr lang="en-GB" sz="1600" b="0" i="0" u="none" strike="noStrike" dirty="0">
                <a:solidFill>
                  <a:srgbClr val="000000"/>
                </a:solidFill>
                <a:effectLst/>
              </a:rPr>
              <a:t> Good for web applications that need to scale automatically.</a:t>
            </a:r>
          </a:p>
          <a:p>
            <a:pPr marL="800100" lvl="1" indent="-342900" algn="l">
              <a:buFont typeface="+mj-lt"/>
              <a:buAutoNum type="alphaLcPeriod"/>
            </a:pPr>
            <a:r>
              <a:rPr lang="en-GB" sz="1600" b="1" i="0" u="none" strike="noStrike" dirty="0">
                <a:solidFill>
                  <a:srgbClr val="000000"/>
                </a:solidFill>
                <a:effectLst/>
              </a:rPr>
              <a:t>Kubernetes Engine:</a:t>
            </a:r>
            <a:r>
              <a:rPr lang="en-GB" sz="1600" b="0" i="0" u="none" strike="noStrike" dirty="0">
                <a:solidFill>
                  <a:srgbClr val="000000"/>
                </a:solidFill>
                <a:effectLst/>
              </a:rPr>
              <a:t> For more complex applications that need fine-grained control over how they run.</a:t>
            </a:r>
          </a:p>
          <a:p>
            <a:endParaRPr lang="en-US" sz="1600" dirty="0"/>
          </a:p>
        </p:txBody>
      </p:sp>
    </p:spTree>
    <p:extLst>
      <p:ext uri="{BB962C8B-B14F-4D97-AF65-F5344CB8AC3E}">
        <p14:creationId xmlns:p14="http://schemas.microsoft.com/office/powerpoint/2010/main" val="2194060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FFB81B2A-AA37-886A-0BBF-52EB7FDD2AC0}"/>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4975A5A5-AEBD-41BE-9E86-83E270FD0C79}"/>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Autofit/>
          </a:bodyPr>
          <a:lstStyle/>
          <a:p>
            <a:pPr>
              <a:buNone/>
            </a:pPr>
            <a:r>
              <a:rPr lang="en-GB" sz="2400" b="1" dirty="0"/>
              <a:t>Deploying Models on Google Cloud Platform (GCP)</a:t>
            </a:r>
            <a:br>
              <a:rPr lang="en-GB" sz="2400" b="1" dirty="0"/>
            </a:br>
            <a:br>
              <a:rPr lang="en-GB" sz="2400" dirty="0"/>
            </a:br>
            <a:br>
              <a:rPr lang="en-GB" sz="2400" b="1" i="0" u="none" strike="noStrike" dirty="0">
                <a:solidFill>
                  <a:srgbClr val="7030A0"/>
                </a:solidFill>
                <a:effectLst/>
              </a:rPr>
            </a:br>
            <a:br>
              <a:rPr lang="en-GB" sz="2400" b="1" i="0" u="none" strike="noStrike" dirty="0">
                <a:solidFill>
                  <a:srgbClr val="7030A0"/>
                </a:solidFill>
                <a:effectLst/>
              </a:rPr>
            </a:br>
            <a:endParaRPr lang="en-GB" sz="24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2D74525E-BA03-F096-4C76-82EC4C87316A}"/>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44E2A61A-5CCB-7633-89D7-64C6E775EBCB}"/>
              </a:ext>
            </a:extLst>
          </p:cNvPr>
          <p:cNvSpPr txBox="1"/>
          <p:nvPr/>
        </p:nvSpPr>
        <p:spPr>
          <a:xfrm>
            <a:off x="79513" y="511689"/>
            <a:ext cx="8090266" cy="553998"/>
          </a:xfrm>
          <a:prstGeom prst="rect">
            <a:avLst/>
          </a:prstGeom>
          <a:noFill/>
        </p:spPr>
        <p:txBody>
          <a:bodyPr wrap="square">
            <a:spAutoFit/>
          </a:bodyPr>
          <a:lstStyle/>
          <a:p>
            <a:pPr algn="l">
              <a:buNone/>
            </a:pPr>
            <a:endParaRPr lang="en-GB" b="0" i="0" u="none" strike="noStrike" dirty="0">
              <a:solidFill>
                <a:srgbClr val="000000"/>
              </a:solidFill>
              <a:effectLst/>
            </a:endParaRPr>
          </a:p>
          <a:p>
            <a:pPr algn="l">
              <a:buNone/>
            </a:pPr>
            <a:endParaRPr lang="en-GB" sz="1600" b="0" i="0" u="none" strike="noStrike" dirty="0">
              <a:solidFill>
                <a:srgbClr val="000000"/>
              </a:solidFill>
              <a:effectLst/>
            </a:endParaRPr>
          </a:p>
        </p:txBody>
      </p:sp>
      <p:sp>
        <p:nvSpPr>
          <p:cNvPr id="5" name="TextBox 4">
            <a:extLst>
              <a:ext uri="{FF2B5EF4-FFF2-40B4-BE49-F238E27FC236}">
                <a16:creationId xmlns:a16="http://schemas.microsoft.com/office/drawing/2014/main" id="{8721ECEA-AC55-9645-DF32-722D6B64879E}"/>
              </a:ext>
            </a:extLst>
          </p:cNvPr>
          <p:cNvSpPr txBox="1"/>
          <p:nvPr/>
        </p:nvSpPr>
        <p:spPr>
          <a:xfrm>
            <a:off x="135172" y="627104"/>
            <a:ext cx="8479253" cy="4647426"/>
          </a:xfrm>
          <a:prstGeom prst="rect">
            <a:avLst/>
          </a:prstGeom>
          <a:noFill/>
        </p:spPr>
        <p:txBody>
          <a:bodyPr wrap="square">
            <a:spAutoFit/>
          </a:bodyPr>
          <a:lstStyle/>
          <a:p>
            <a:pPr algn="l">
              <a:buNone/>
            </a:pPr>
            <a:r>
              <a:rPr lang="en-GB" b="1" i="0" u="none" strike="noStrike" dirty="0">
                <a:solidFill>
                  <a:srgbClr val="000000"/>
                </a:solidFill>
                <a:effectLst/>
              </a:rPr>
              <a:t>Steps to Deploy Your Model:</a:t>
            </a:r>
            <a:endParaRPr lang="en-GB" b="0" i="0" u="none" strike="noStrike" dirty="0">
              <a:solidFill>
                <a:srgbClr val="000000"/>
              </a:solidFill>
              <a:effectLst/>
            </a:endParaRPr>
          </a:p>
          <a:p>
            <a:pPr algn="l">
              <a:buFont typeface="+mj-lt"/>
              <a:buAutoNum type="arabicPeriod"/>
            </a:pPr>
            <a:r>
              <a:rPr lang="en-GB" b="1" i="0" u="none" strike="noStrike" dirty="0">
                <a:solidFill>
                  <a:srgbClr val="000000"/>
                </a:solidFill>
                <a:effectLst/>
              </a:rPr>
              <a:t>Prepare Your Model for Deployment: </a:t>
            </a:r>
            <a:r>
              <a:rPr lang="en-GB" b="0" i="0" u="none" strike="noStrike" dirty="0">
                <a:solidFill>
                  <a:srgbClr val="000000"/>
                </a:solidFill>
                <a:effectLst/>
              </a:rPr>
              <a:t>After you've finished training your model, you need to save it in a specific format. Common formats include .</a:t>
            </a:r>
            <a:r>
              <a:rPr lang="en-GB" b="0" i="0" u="none" strike="noStrike" dirty="0" err="1">
                <a:solidFill>
                  <a:srgbClr val="000000"/>
                </a:solidFill>
                <a:effectLst/>
              </a:rPr>
              <a:t>pkl</a:t>
            </a:r>
            <a:r>
              <a:rPr lang="en-GB" b="0" i="0" u="none" strike="noStrike" dirty="0">
                <a:solidFill>
                  <a:srgbClr val="000000"/>
                </a:solidFill>
                <a:effectLst/>
              </a:rPr>
              <a:t> (for Python models), .h5 (for </a:t>
            </a:r>
            <a:r>
              <a:rPr lang="en-GB" b="0" i="0" u="none" strike="noStrike" dirty="0" err="1">
                <a:solidFill>
                  <a:srgbClr val="000000"/>
                </a:solidFill>
                <a:effectLst/>
              </a:rPr>
              <a:t>Keras</a:t>
            </a:r>
            <a:r>
              <a:rPr lang="en-GB" b="0" i="0" u="none" strike="noStrike" dirty="0">
                <a:solidFill>
                  <a:srgbClr val="000000"/>
                </a:solidFill>
                <a:effectLst/>
              </a:rPr>
              <a:t>/TensorFlow models), or .pb (for TensorFlow </a:t>
            </a:r>
            <a:r>
              <a:rPr lang="en-GB" b="0" i="0" u="none" strike="noStrike" dirty="0" err="1">
                <a:solidFill>
                  <a:srgbClr val="000000"/>
                </a:solidFill>
                <a:effectLst/>
              </a:rPr>
              <a:t>SavedModel</a:t>
            </a:r>
            <a:r>
              <a:rPr lang="en-GB" b="0" i="0" u="none" strike="noStrike" dirty="0">
                <a:solidFill>
                  <a:srgbClr val="000000"/>
                </a:solidFill>
                <a:effectLst/>
              </a:rPr>
              <a:t>). This exported file is your complete, ready-to-use model.</a:t>
            </a:r>
          </a:p>
          <a:p>
            <a:pPr algn="l">
              <a:buFont typeface="+mj-lt"/>
              <a:buAutoNum type="arabicPeriod"/>
            </a:pPr>
            <a:r>
              <a:rPr lang="en-GB" b="1" i="0" u="none" strike="noStrike" dirty="0">
                <a:solidFill>
                  <a:srgbClr val="000000"/>
                </a:solidFill>
                <a:effectLst/>
              </a:rPr>
              <a:t>Store Your Model in the Cloud:</a:t>
            </a:r>
            <a:r>
              <a:rPr lang="en-GB" dirty="0"/>
              <a:t> </a:t>
            </a:r>
            <a:r>
              <a:rPr lang="en-GB" b="0" i="0" u="none" strike="noStrike" dirty="0">
                <a:solidFill>
                  <a:srgbClr val="000000"/>
                </a:solidFill>
                <a:effectLst/>
              </a:rPr>
              <a:t>Upload this saved model file to Google Cloud Storage. This ensures your model is securely stored and accessible from other GCP services.</a:t>
            </a:r>
          </a:p>
          <a:p>
            <a:pPr algn="l">
              <a:buFont typeface="+mj-lt"/>
              <a:buAutoNum type="arabicPeriod"/>
            </a:pPr>
            <a:r>
              <a:rPr lang="en-GB" b="1" i="0" u="none" strike="noStrike" dirty="0">
                <a:solidFill>
                  <a:srgbClr val="000000"/>
                </a:solidFill>
                <a:effectLst/>
              </a:rPr>
              <a:t>Register Your Model with Vertex AI:</a:t>
            </a:r>
            <a:r>
              <a:rPr lang="en-GB" dirty="0"/>
              <a:t> </a:t>
            </a:r>
            <a:r>
              <a:rPr lang="en-GB" b="0" i="0" u="none" strike="noStrike" dirty="0">
                <a:solidFill>
                  <a:srgbClr val="000000"/>
                </a:solidFill>
                <a:effectLst/>
              </a:rPr>
              <a:t>Using Vertex AI, you'll create what's called a "model resource." This essentially tells Vertex AI where your model file is located in Cloud Storage and provides metadata about it.</a:t>
            </a:r>
          </a:p>
          <a:p>
            <a:pPr algn="l">
              <a:buFont typeface="+mj-lt"/>
              <a:buAutoNum type="arabicPeriod"/>
            </a:pPr>
            <a:r>
              <a:rPr lang="en-GB" b="1" i="0" u="none" strike="noStrike" dirty="0">
                <a:solidFill>
                  <a:srgbClr val="000000"/>
                </a:solidFill>
                <a:effectLst/>
              </a:rPr>
              <a:t>Make Your Model Accessible (Deploy to an Endpoint):</a:t>
            </a:r>
            <a:r>
              <a:rPr lang="en-GB" dirty="0"/>
              <a:t> </a:t>
            </a:r>
            <a:r>
              <a:rPr lang="en-GB" b="0" i="0" u="none" strike="noStrike" dirty="0">
                <a:solidFill>
                  <a:srgbClr val="000000"/>
                </a:solidFill>
                <a:effectLst/>
              </a:rPr>
              <a:t>Once your model is registered, you deploy it to an "endpoint" within Vertex AI. An endpoint is a live, accessible point where your model runs and is ready to receive requests. When someone sends data to this endpoint, your model will process it and return a prediction.</a:t>
            </a:r>
          </a:p>
          <a:p>
            <a:pPr algn="l">
              <a:buFont typeface="+mj-lt"/>
              <a:buAutoNum type="arabicPeriod"/>
            </a:pPr>
            <a:r>
              <a:rPr lang="en-GB" b="1" i="0" u="none" strike="noStrike" dirty="0">
                <a:solidFill>
                  <a:srgbClr val="000000"/>
                </a:solidFill>
                <a:effectLst/>
              </a:rPr>
              <a:t>Allow Access through an API: </a:t>
            </a:r>
            <a:r>
              <a:rPr lang="en-GB" b="0" i="0" u="none" strike="noStrike" dirty="0">
                <a:solidFill>
                  <a:srgbClr val="000000"/>
                </a:solidFill>
                <a:effectLst/>
              </a:rPr>
              <a:t>Finally, you need to set up an API (Application Programming Interface). This API acts as the communication layer, allowing other applications or services to send data to your deployed model's endpoint and receive results. This typically involves using services like Cloud Functions, App Engine, or Kubernetes Engine to create the code that handles incoming requests and passes them to your model. When you have a machine learning model that you've trained, you need to make it available for others to use, often through an application or a service. Google Cloud Platform (GCP) provides a powerful suite of tools to do this, especially through its </a:t>
            </a:r>
            <a:r>
              <a:rPr lang="en-GB" b="1" i="0" u="none" strike="noStrike" dirty="0">
                <a:solidFill>
                  <a:srgbClr val="000000"/>
                </a:solidFill>
                <a:effectLst/>
              </a:rPr>
              <a:t>Vertex AI</a:t>
            </a:r>
            <a:r>
              <a:rPr lang="en-GB" b="0" i="0" u="none" strike="noStrike" dirty="0">
                <a:solidFill>
                  <a:srgbClr val="000000"/>
                </a:solidFill>
                <a:effectLst/>
              </a:rPr>
              <a:t> service.</a:t>
            </a:r>
          </a:p>
          <a:p>
            <a:endParaRPr lang="en-US" sz="1600" dirty="0"/>
          </a:p>
        </p:txBody>
      </p:sp>
    </p:spTree>
    <p:extLst>
      <p:ext uri="{BB962C8B-B14F-4D97-AF65-F5344CB8AC3E}">
        <p14:creationId xmlns:p14="http://schemas.microsoft.com/office/powerpoint/2010/main" val="1896729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F2445793-EA0F-6297-530C-C8399F9437BC}"/>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ED6CC8F6-BAEC-301C-46C8-BFA9A7A4625B}"/>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Autofit/>
          </a:bodyPr>
          <a:lstStyle/>
          <a:p>
            <a:r>
              <a:rPr lang="en-GB" sz="2400" dirty="0"/>
              <a:t>Deploying on Google Cloud (Vertex AI)</a:t>
            </a:r>
            <a:br>
              <a:rPr lang="en-GB" sz="1600" b="1" i="0" u="none" strike="noStrike" dirty="0">
                <a:solidFill>
                  <a:srgbClr val="7030A0"/>
                </a:solidFill>
                <a:effectLst/>
                <a:latin typeface="DeepSeek-CJK-patch"/>
              </a:rPr>
            </a:br>
            <a:br>
              <a:rPr lang="en-GB" sz="2400" b="1" dirty="0"/>
            </a:br>
            <a:br>
              <a:rPr lang="en-GB" sz="2400" dirty="0"/>
            </a:br>
            <a:br>
              <a:rPr lang="en-GB" sz="2400" b="1" i="0" u="none" strike="noStrike" dirty="0">
                <a:solidFill>
                  <a:srgbClr val="7030A0"/>
                </a:solidFill>
                <a:effectLst/>
              </a:rPr>
            </a:br>
            <a:br>
              <a:rPr lang="en-GB" sz="2400" b="1" i="0" u="none" strike="noStrike" dirty="0">
                <a:solidFill>
                  <a:srgbClr val="7030A0"/>
                </a:solidFill>
                <a:effectLst/>
              </a:rPr>
            </a:br>
            <a:endParaRPr lang="en-GB" sz="24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3743B1FA-48F0-3241-E214-265C34C273C0}"/>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19672BD9-EF5E-E68F-6E12-9DDEC844AA22}"/>
              </a:ext>
            </a:extLst>
          </p:cNvPr>
          <p:cNvSpPr txBox="1"/>
          <p:nvPr/>
        </p:nvSpPr>
        <p:spPr>
          <a:xfrm>
            <a:off x="79513" y="511689"/>
            <a:ext cx="8090266" cy="553998"/>
          </a:xfrm>
          <a:prstGeom prst="rect">
            <a:avLst/>
          </a:prstGeom>
          <a:noFill/>
        </p:spPr>
        <p:txBody>
          <a:bodyPr wrap="square">
            <a:spAutoFit/>
          </a:bodyPr>
          <a:lstStyle/>
          <a:p>
            <a:pPr algn="l">
              <a:buNone/>
            </a:pPr>
            <a:endParaRPr lang="en-GB" b="0" i="0" u="none" strike="noStrike" dirty="0">
              <a:solidFill>
                <a:srgbClr val="000000"/>
              </a:solidFill>
              <a:effectLst/>
            </a:endParaRPr>
          </a:p>
          <a:p>
            <a:pPr algn="l">
              <a:buNone/>
            </a:pPr>
            <a:endParaRPr lang="en-GB" sz="1600" b="0" i="0" u="none" strike="noStrike" dirty="0">
              <a:solidFill>
                <a:srgbClr val="000000"/>
              </a:solidFill>
              <a:effectLst/>
            </a:endParaRPr>
          </a:p>
        </p:txBody>
      </p:sp>
      <p:sp>
        <p:nvSpPr>
          <p:cNvPr id="5" name="TextBox 4">
            <a:extLst>
              <a:ext uri="{FF2B5EF4-FFF2-40B4-BE49-F238E27FC236}">
                <a16:creationId xmlns:a16="http://schemas.microsoft.com/office/drawing/2014/main" id="{455E0470-32BB-987E-DC22-E5EBDF7FA28F}"/>
              </a:ext>
            </a:extLst>
          </p:cNvPr>
          <p:cNvSpPr txBox="1"/>
          <p:nvPr/>
        </p:nvSpPr>
        <p:spPr>
          <a:xfrm>
            <a:off x="135172" y="627104"/>
            <a:ext cx="8479253" cy="1277273"/>
          </a:xfrm>
          <a:prstGeom prst="rect">
            <a:avLst/>
          </a:prstGeom>
          <a:noFill/>
        </p:spPr>
        <p:txBody>
          <a:bodyPr wrap="square">
            <a:spAutoFit/>
          </a:bodyPr>
          <a:lstStyle/>
          <a:p>
            <a:pPr algn="l">
              <a:buNone/>
            </a:pPr>
            <a:r>
              <a:rPr lang="en-GB" b="1" i="0" u="none" strike="noStrike" dirty="0">
                <a:solidFill>
                  <a:srgbClr val="404040"/>
                </a:solidFill>
                <a:effectLst/>
                <a:latin typeface="DeepSeek-CJK-patch"/>
              </a:rPr>
              <a:t>Steps:</a:t>
            </a:r>
            <a:endParaRPr lang="en-GB" b="0" i="0" u="none" strike="noStrike" dirty="0">
              <a:solidFill>
                <a:srgbClr val="404040"/>
              </a:solidFill>
              <a:effectLst/>
              <a:latin typeface="DeepSeek-CJK-patch"/>
            </a:endParaRPr>
          </a:p>
          <a:p>
            <a:pPr algn="l">
              <a:buFont typeface="+mj-lt"/>
              <a:buAutoNum type="arabicPeriod"/>
            </a:pPr>
            <a:r>
              <a:rPr lang="en-GB" b="1" i="0" u="none" strike="noStrike" dirty="0">
                <a:solidFill>
                  <a:srgbClr val="404040"/>
                </a:solidFill>
                <a:effectLst/>
                <a:latin typeface="DeepSeek-CJK-patch"/>
              </a:rPr>
              <a:t>Train &amp; Export Model</a:t>
            </a:r>
            <a:r>
              <a:rPr lang="en-GB" b="0" i="0" u="none" strike="noStrike" dirty="0">
                <a:solidFill>
                  <a:srgbClr val="404040"/>
                </a:solidFill>
                <a:effectLst/>
                <a:latin typeface="DeepSeek-CJK-patch"/>
              </a:rPr>
              <a:t> (</a:t>
            </a:r>
            <a:r>
              <a:rPr lang="en-GB" b="0" i="0" u="none" strike="noStrike" dirty="0" err="1">
                <a:solidFill>
                  <a:srgbClr val="404040"/>
                </a:solidFill>
                <a:effectLst/>
                <a:latin typeface="DeepSeek-CJK-patch"/>
              </a:rPr>
              <a:t>SavedModel</a:t>
            </a:r>
            <a:r>
              <a:rPr lang="en-GB" b="0" i="0" u="none" strike="noStrike" dirty="0">
                <a:solidFill>
                  <a:srgbClr val="404040"/>
                </a:solidFill>
                <a:effectLst/>
                <a:latin typeface="DeepSeek-CJK-patch"/>
              </a:rPr>
              <a:t> format).</a:t>
            </a:r>
          </a:p>
          <a:p>
            <a:pPr algn="l">
              <a:spcBef>
                <a:spcPts val="300"/>
              </a:spcBef>
              <a:spcAft>
                <a:spcPts val="300"/>
              </a:spcAft>
              <a:buFont typeface="+mj-lt"/>
              <a:buAutoNum type="arabicPeriod"/>
            </a:pPr>
            <a:r>
              <a:rPr lang="en-GB" b="1" i="0" u="none" strike="noStrike" dirty="0">
                <a:solidFill>
                  <a:srgbClr val="404040"/>
                </a:solidFill>
                <a:effectLst/>
                <a:latin typeface="DeepSeek-CJK-patch"/>
              </a:rPr>
              <a:t>Upload to Google Cloud Storage (GCS):</a:t>
            </a:r>
            <a:endParaRPr lang="en-GB" b="0" i="0" u="none" strike="noStrike" dirty="0">
              <a:solidFill>
                <a:srgbClr val="404040"/>
              </a:solidFill>
              <a:effectLst/>
              <a:latin typeface="DeepSeek-CJK-patch"/>
            </a:endParaRPr>
          </a:p>
          <a:p>
            <a:pPr algn="l">
              <a:buNone/>
            </a:pPr>
            <a:endParaRPr lang="en-GB" b="0" i="0" u="none" strike="noStrike" dirty="0">
              <a:solidFill>
                <a:srgbClr val="000000"/>
              </a:solidFill>
              <a:effectLst/>
            </a:endParaRPr>
          </a:p>
          <a:p>
            <a:endParaRPr lang="en-US" sz="1600" dirty="0"/>
          </a:p>
        </p:txBody>
      </p:sp>
      <p:sp>
        <p:nvSpPr>
          <p:cNvPr id="6" name="TextBox 5">
            <a:extLst>
              <a:ext uri="{FF2B5EF4-FFF2-40B4-BE49-F238E27FC236}">
                <a16:creationId xmlns:a16="http://schemas.microsoft.com/office/drawing/2014/main" id="{D3AF8738-16F9-9C51-593B-02052656A101}"/>
              </a:ext>
            </a:extLst>
          </p:cNvPr>
          <p:cNvSpPr txBox="1"/>
          <p:nvPr/>
        </p:nvSpPr>
        <p:spPr>
          <a:xfrm>
            <a:off x="2006760" y="1466539"/>
            <a:ext cx="4647536" cy="307777"/>
          </a:xfrm>
          <a:prstGeom prst="rect">
            <a:avLst/>
          </a:prstGeom>
          <a:solidFill>
            <a:schemeClr val="accent1">
              <a:lumMod val="40000"/>
              <a:lumOff val="60000"/>
            </a:schemeClr>
          </a:solidFill>
        </p:spPr>
        <p:txBody>
          <a:bodyPr wrap="square">
            <a:spAutoFit/>
          </a:bodyPr>
          <a:lstStyle/>
          <a:p>
            <a:r>
              <a:rPr lang="en-US" dirty="0" err="1"/>
              <a:t>gsutil</a:t>
            </a:r>
            <a:r>
              <a:rPr lang="en-US" dirty="0"/>
              <a:t> cp -r </a:t>
            </a:r>
            <a:r>
              <a:rPr lang="en-US" dirty="0" err="1"/>
              <a:t>saved_model</a:t>
            </a:r>
            <a:r>
              <a:rPr lang="en-US" dirty="0"/>
              <a:t>/ </a:t>
            </a:r>
            <a:r>
              <a:rPr lang="en-US" dirty="0" err="1"/>
              <a:t>gs</a:t>
            </a:r>
            <a:r>
              <a:rPr lang="en-US" dirty="0"/>
              <a:t>://your-bucket/models/</a:t>
            </a:r>
          </a:p>
        </p:txBody>
      </p:sp>
      <p:sp>
        <p:nvSpPr>
          <p:cNvPr id="8" name="TextBox 7">
            <a:extLst>
              <a:ext uri="{FF2B5EF4-FFF2-40B4-BE49-F238E27FC236}">
                <a16:creationId xmlns:a16="http://schemas.microsoft.com/office/drawing/2014/main" id="{0FA4A2FB-8DA3-2785-E004-04F4C58D0F67}"/>
              </a:ext>
            </a:extLst>
          </p:cNvPr>
          <p:cNvSpPr txBox="1"/>
          <p:nvPr/>
        </p:nvSpPr>
        <p:spPr>
          <a:xfrm>
            <a:off x="135172" y="1832024"/>
            <a:ext cx="4647536" cy="307777"/>
          </a:xfrm>
          <a:prstGeom prst="rect">
            <a:avLst/>
          </a:prstGeom>
          <a:noFill/>
        </p:spPr>
        <p:txBody>
          <a:bodyPr wrap="square">
            <a:spAutoFit/>
          </a:bodyPr>
          <a:lstStyle/>
          <a:p>
            <a:r>
              <a:rPr lang="en-GB" b="1" i="0" u="none" strike="noStrike" dirty="0">
                <a:solidFill>
                  <a:srgbClr val="404040"/>
                </a:solidFill>
                <a:effectLst/>
                <a:latin typeface="DeepSeek-CJK-patch"/>
              </a:rPr>
              <a:t>3. Deploy to Vertex AI:</a:t>
            </a:r>
            <a:endParaRPr lang="en-US" dirty="0"/>
          </a:p>
        </p:txBody>
      </p:sp>
      <p:sp>
        <p:nvSpPr>
          <p:cNvPr id="10" name="TextBox 9">
            <a:extLst>
              <a:ext uri="{FF2B5EF4-FFF2-40B4-BE49-F238E27FC236}">
                <a16:creationId xmlns:a16="http://schemas.microsoft.com/office/drawing/2014/main" id="{F6156CE3-D8E9-C795-5403-45250DF3D032}"/>
              </a:ext>
            </a:extLst>
          </p:cNvPr>
          <p:cNvSpPr txBox="1"/>
          <p:nvPr/>
        </p:nvSpPr>
        <p:spPr>
          <a:xfrm>
            <a:off x="2006760" y="1871317"/>
            <a:ext cx="5682349" cy="1569660"/>
          </a:xfrm>
          <a:prstGeom prst="rect">
            <a:avLst/>
          </a:prstGeom>
          <a:solidFill>
            <a:schemeClr val="accent1">
              <a:lumMod val="40000"/>
              <a:lumOff val="60000"/>
            </a:schemeClr>
          </a:solidFill>
        </p:spPr>
        <p:txBody>
          <a:bodyPr wrap="square">
            <a:spAutoFit/>
          </a:bodyPr>
          <a:lstStyle/>
          <a:p>
            <a:r>
              <a:rPr lang="en-US" sz="1200" dirty="0"/>
              <a:t>from </a:t>
            </a:r>
            <a:r>
              <a:rPr lang="en-US" sz="1200" dirty="0" err="1"/>
              <a:t>google.cloud</a:t>
            </a:r>
            <a:r>
              <a:rPr lang="en-US" sz="1200" dirty="0"/>
              <a:t> import </a:t>
            </a:r>
            <a:r>
              <a:rPr lang="en-US" sz="1200" dirty="0" err="1"/>
              <a:t>aiplatform</a:t>
            </a:r>
            <a:endParaRPr lang="en-US" sz="1200" dirty="0"/>
          </a:p>
          <a:p>
            <a:endParaRPr lang="en-US" sz="1200" dirty="0"/>
          </a:p>
          <a:p>
            <a:r>
              <a:rPr lang="en-US" sz="1200" dirty="0" err="1"/>
              <a:t>aiplatform.init</a:t>
            </a:r>
            <a:r>
              <a:rPr lang="en-US" sz="1200" dirty="0"/>
              <a:t>(project="your-project", location="us-central1")</a:t>
            </a:r>
          </a:p>
          <a:p>
            <a:r>
              <a:rPr lang="en-US" sz="1200" dirty="0"/>
              <a:t>model = </a:t>
            </a:r>
            <a:r>
              <a:rPr lang="en-US" sz="1200" dirty="0" err="1"/>
              <a:t>aiplatform.Model.upload</a:t>
            </a:r>
            <a:r>
              <a:rPr lang="en-US" sz="1200" dirty="0"/>
              <a:t>(</a:t>
            </a:r>
          </a:p>
          <a:p>
            <a:r>
              <a:rPr lang="en-US" sz="1200" dirty="0"/>
              <a:t>    </a:t>
            </a:r>
            <a:r>
              <a:rPr lang="en-US" sz="1200" dirty="0" err="1"/>
              <a:t>display_name</a:t>
            </a:r>
            <a:r>
              <a:rPr lang="en-US" sz="1200" dirty="0"/>
              <a:t>="iris-classifier",</a:t>
            </a:r>
          </a:p>
          <a:p>
            <a:r>
              <a:rPr lang="en-US" sz="1200" dirty="0"/>
              <a:t>    </a:t>
            </a:r>
            <a:r>
              <a:rPr lang="en-US" sz="1200" dirty="0" err="1"/>
              <a:t>artifact_uri</a:t>
            </a:r>
            <a:r>
              <a:rPr lang="en-US" sz="1200" dirty="0"/>
              <a:t>="</a:t>
            </a:r>
            <a:r>
              <a:rPr lang="en-US" sz="1200" dirty="0" err="1"/>
              <a:t>gs</a:t>
            </a:r>
            <a:r>
              <a:rPr lang="en-US" sz="1200" dirty="0"/>
              <a:t>://your-bucket/models/"</a:t>
            </a:r>
          </a:p>
          <a:p>
            <a:r>
              <a:rPr lang="en-US" sz="1200" dirty="0"/>
              <a:t>)</a:t>
            </a:r>
          </a:p>
          <a:p>
            <a:r>
              <a:rPr lang="en-US" sz="1200" dirty="0"/>
              <a:t>endpoint = </a:t>
            </a:r>
            <a:r>
              <a:rPr lang="en-US" sz="1200" dirty="0" err="1"/>
              <a:t>model.deploy</a:t>
            </a:r>
            <a:r>
              <a:rPr lang="en-US" sz="1200" dirty="0"/>
              <a:t>(</a:t>
            </a:r>
            <a:r>
              <a:rPr lang="en-US" sz="1200" dirty="0" err="1"/>
              <a:t>machine_type</a:t>
            </a:r>
            <a:r>
              <a:rPr lang="en-US" sz="1200" dirty="0"/>
              <a:t>="n1-standard-4")</a:t>
            </a:r>
          </a:p>
        </p:txBody>
      </p:sp>
      <p:sp>
        <p:nvSpPr>
          <p:cNvPr id="12" name="TextBox 11">
            <a:extLst>
              <a:ext uri="{FF2B5EF4-FFF2-40B4-BE49-F238E27FC236}">
                <a16:creationId xmlns:a16="http://schemas.microsoft.com/office/drawing/2014/main" id="{0663E8F9-FB96-94BE-683B-F73C4AB9D2C5}"/>
              </a:ext>
            </a:extLst>
          </p:cNvPr>
          <p:cNvSpPr txBox="1"/>
          <p:nvPr/>
        </p:nvSpPr>
        <p:spPr>
          <a:xfrm>
            <a:off x="135172" y="3440977"/>
            <a:ext cx="4647536" cy="307777"/>
          </a:xfrm>
          <a:prstGeom prst="rect">
            <a:avLst/>
          </a:prstGeom>
          <a:noFill/>
        </p:spPr>
        <p:txBody>
          <a:bodyPr wrap="square">
            <a:spAutoFit/>
          </a:bodyPr>
          <a:lstStyle/>
          <a:p>
            <a:r>
              <a:rPr lang="en-GB" b="1" i="0" u="none" strike="noStrike" dirty="0">
                <a:solidFill>
                  <a:srgbClr val="404040"/>
                </a:solidFill>
                <a:effectLst/>
                <a:latin typeface="DeepSeek-CJK-patch"/>
              </a:rPr>
              <a:t>4. Make Predictions:</a:t>
            </a:r>
            <a:endParaRPr lang="en-US" dirty="0"/>
          </a:p>
        </p:txBody>
      </p:sp>
      <p:sp>
        <p:nvSpPr>
          <p:cNvPr id="14" name="TextBox 13">
            <a:extLst>
              <a:ext uri="{FF2B5EF4-FFF2-40B4-BE49-F238E27FC236}">
                <a16:creationId xmlns:a16="http://schemas.microsoft.com/office/drawing/2014/main" id="{8E1841DC-BA03-292E-54FB-7B113AE378C4}"/>
              </a:ext>
            </a:extLst>
          </p:cNvPr>
          <p:cNvSpPr txBox="1"/>
          <p:nvPr/>
        </p:nvSpPr>
        <p:spPr>
          <a:xfrm>
            <a:off x="2004523" y="3537978"/>
            <a:ext cx="4647536" cy="738664"/>
          </a:xfrm>
          <a:prstGeom prst="rect">
            <a:avLst/>
          </a:prstGeom>
          <a:solidFill>
            <a:schemeClr val="accent1">
              <a:lumMod val="40000"/>
              <a:lumOff val="60000"/>
            </a:schemeClr>
          </a:solidFill>
        </p:spPr>
        <p:txBody>
          <a:bodyPr wrap="square">
            <a:spAutoFit/>
          </a:bodyPr>
          <a:lstStyle/>
          <a:p>
            <a:r>
              <a:rPr lang="en-US" dirty="0"/>
              <a:t>response = </a:t>
            </a:r>
            <a:r>
              <a:rPr lang="en-US" dirty="0" err="1"/>
              <a:t>endpoint.predict</a:t>
            </a:r>
            <a:r>
              <a:rPr lang="en-US" dirty="0"/>
              <a:t>(instances=[[5.1, 3.5, 1.4, 0.2]])</a:t>
            </a:r>
          </a:p>
          <a:p>
            <a:r>
              <a:rPr lang="en-US" dirty="0"/>
              <a:t>print(</a:t>
            </a:r>
            <a:r>
              <a:rPr lang="en-US" dirty="0" err="1"/>
              <a:t>response.predictions</a:t>
            </a:r>
            <a:r>
              <a:rPr lang="en-US" dirty="0"/>
              <a:t>)</a:t>
            </a:r>
          </a:p>
        </p:txBody>
      </p:sp>
      <p:sp>
        <p:nvSpPr>
          <p:cNvPr id="16" name="TextBox 15">
            <a:extLst>
              <a:ext uri="{FF2B5EF4-FFF2-40B4-BE49-F238E27FC236}">
                <a16:creationId xmlns:a16="http://schemas.microsoft.com/office/drawing/2014/main" id="{C1D7F3F3-4269-0E52-863A-6C8E9FA97663}"/>
              </a:ext>
            </a:extLst>
          </p:cNvPr>
          <p:cNvSpPr txBox="1"/>
          <p:nvPr/>
        </p:nvSpPr>
        <p:spPr>
          <a:xfrm>
            <a:off x="284775" y="4341350"/>
            <a:ext cx="4647536" cy="777136"/>
          </a:xfrm>
          <a:prstGeom prst="rect">
            <a:avLst/>
          </a:prstGeom>
          <a:noFill/>
        </p:spPr>
        <p:txBody>
          <a:bodyPr wrap="square">
            <a:spAutoFit/>
          </a:bodyPr>
          <a:lstStyle/>
          <a:p>
            <a:pPr algn="l">
              <a:buNone/>
            </a:pPr>
            <a:r>
              <a:rPr lang="en-GB" b="1" i="0" u="none" strike="noStrike" dirty="0">
                <a:solidFill>
                  <a:srgbClr val="404040"/>
                </a:solidFill>
                <a:effectLst/>
                <a:latin typeface="DeepSeek-CJK-patch"/>
              </a:rPr>
              <a:t>Key Concepts</a:t>
            </a:r>
          </a:p>
          <a:p>
            <a:pPr marL="342900" indent="-342900" algn="l">
              <a:buFont typeface="+mj-lt"/>
              <a:buAutoNum type="arabicPeriod"/>
            </a:pPr>
            <a:r>
              <a:rPr lang="en-GB" b="1" i="0" u="none" strike="noStrike" dirty="0">
                <a:solidFill>
                  <a:srgbClr val="404040"/>
                </a:solidFill>
                <a:effectLst/>
                <a:latin typeface="DeepSeek-CJK-patch"/>
              </a:rPr>
              <a:t>Auto-scaling</a:t>
            </a:r>
            <a:r>
              <a:rPr lang="en-GB" b="0" i="0" u="none" strike="noStrike" dirty="0">
                <a:solidFill>
                  <a:srgbClr val="404040"/>
                </a:solidFill>
                <a:effectLst/>
                <a:latin typeface="DeepSeek-CJK-patch"/>
              </a:rPr>
              <a:t>: Vertex AI handles traffic spikes.</a:t>
            </a:r>
          </a:p>
          <a:p>
            <a:pPr marL="342900" indent="-342900" algn="l">
              <a:spcBef>
                <a:spcPts val="300"/>
              </a:spcBef>
              <a:buFont typeface="+mj-lt"/>
              <a:buAutoNum type="arabicPeriod"/>
            </a:pPr>
            <a:r>
              <a:rPr lang="en-GB" b="1" i="0" u="none" strike="noStrike" dirty="0">
                <a:solidFill>
                  <a:srgbClr val="404040"/>
                </a:solidFill>
                <a:effectLst/>
                <a:latin typeface="DeepSeek-CJK-patch"/>
              </a:rPr>
              <a:t>Model monitoring</a:t>
            </a:r>
            <a:r>
              <a:rPr lang="en-GB" b="0" i="0" u="none" strike="noStrike" dirty="0">
                <a:solidFill>
                  <a:srgbClr val="404040"/>
                </a:solidFill>
                <a:effectLst/>
                <a:latin typeface="DeepSeek-CJK-patch"/>
              </a:rPr>
              <a:t>: Detects data drift.</a:t>
            </a:r>
          </a:p>
        </p:txBody>
      </p:sp>
    </p:spTree>
    <p:extLst>
      <p:ext uri="{BB962C8B-B14F-4D97-AF65-F5344CB8AC3E}">
        <p14:creationId xmlns:p14="http://schemas.microsoft.com/office/powerpoint/2010/main" val="2240837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2E869E3-5FE7-A655-147B-4587AE981B75}"/>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9186ECF3-5789-6B9B-E7D7-37890C921ACA}"/>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dirty="0"/>
              <a:t>Deploying Models on Amazon Web Services (AWS)</a:t>
            </a:r>
            <a:br>
              <a:rPr lang="en-GB" sz="2800" b="1" dirty="0"/>
            </a:br>
            <a:br>
              <a:rPr lang="en-GB" sz="2400" kern="100" dirty="0">
                <a:solidFill>
                  <a:srgbClr val="7030A0"/>
                </a:solidFill>
                <a:effectLst/>
                <a:latin typeface="Aptos" panose="020B0004020202020204" pitchFamily="34" charset="0"/>
                <a:ea typeface="Aptos" panose="020B0004020202020204" pitchFamily="34" charset="0"/>
                <a:cs typeface="Arial" panose="020B0604020202020204" pitchFamily="34" charset="0"/>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7E6A667A-2DB8-9E5C-F623-5CA5D79482E7}"/>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2C531382-20D4-23FE-AEF6-E6B8C9C25C1E}"/>
              </a:ext>
            </a:extLst>
          </p:cNvPr>
          <p:cNvSpPr txBox="1"/>
          <p:nvPr/>
        </p:nvSpPr>
        <p:spPr>
          <a:xfrm>
            <a:off x="79513" y="511689"/>
            <a:ext cx="8534912" cy="4770537"/>
          </a:xfrm>
          <a:prstGeom prst="rect">
            <a:avLst/>
          </a:prstGeom>
          <a:noFill/>
        </p:spPr>
        <p:txBody>
          <a:bodyPr wrap="square">
            <a:spAutoFit/>
          </a:bodyPr>
          <a:lstStyle/>
          <a:p>
            <a:pPr>
              <a:buNone/>
            </a:pPr>
            <a:r>
              <a:rPr lang="en-GB" sz="1600" b="1" dirty="0"/>
              <a:t>Tools Used:</a:t>
            </a:r>
            <a:endParaRPr lang="en-GB" sz="1600" b="1" i="0" u="none" strike="noStrike" dirty="0">
              <a:solidFill>
                <a:srgbClr val="000000"/>
              </a:solidFill>
              <a:effectLst/>
            </a:endParaRPr>
          </a:p>
          <a:p>
            <a:pPr marL="342900" indent="-342900" algn="l">
              <a:buFont typeface="+mj-lt"/>
              <a:buAutoNum type="arabicPeriod"/>
            </a:pPr>
            <a:r>
              <a:rPr lang="en-GB" sz="1600" b="1" i="0" u="none" strike="noStrike" dirty="0" err="1">
                <a:solidFill>
                  <a:srgbClr val="000000"/>
                </a:solidFill>
                <a:effectLst/>
              </a:rPr>
              <a:t>SageMaker</a:t>
            </a:r>
            <a:r>
              <a:rPr lang="en-GB" sz="1600" b="1" i="0" u="none" strike="noStrike" dirty="0">
                <a:solidFill>
                  <a:srgbClr val="000000"/>
                </a:solidFill>
                <a:effectLst/>
              </a:rPr>
              <a:t>:</a:t>
            </a:r>
            <a:r>
              <a:rPr lang="en-GB" sz="1600" b="0" i="0" u="none" strike="noStrike" dirty="0">
                <a:solidFill>
                  <a:srgbClr val="000000"/>
                </a:solidFill>
                <a:effectLst/>
              </a:rPr>
              <a:t> This is AWS's dedicated service for machine learning. It provides comprehensive tools for building, training, and, importantly, deploying your models. It simplifies the often, complex process of getting a model ready for use by others.</a:t>
            </a:r>
          </a:p>
          <a:p>
            <a:pPr marL="342900" indent="-342900" algn="l">
              <a:buFont typeface="+mj-lt"/>
              <a:buAutoNum type="arabicPeriod"/>
            </a:pPr>
            <a:endParaRPr lang="en-GB" sz="1600" b="0" i="0" u="none" strike="noStrike" dirty="0">
              <a:solidFill>
                <a:srgbClr val="000000"/>
              </a:solidFill>
              <a:effectLst/>
            </a:endParaRPr>
          </a:p>
          <a:p>
            <a:pPr marL="342900" indent="-342900" algn="l">
              <a:buFont typeface="+mj-lt"/>
              <a:buAutoNum type="arabicPeriod"/>
            </a:pPr>
            <a:r>
              <a:rPr lang="en-GB" sz="1600" b="1" i="0" u="none" strike="noStrike" dirty="0">
                <a:solidFill>
                  <a:srgbClr val="000000"/>
                </a:solidFill>
                <a:effectLst/>
              </a:rPr>
              <a:t>S3 Bucket:</a:t>
            </a:r>
            <a:r>
              <a:rPr lang="en-GB" sz="1600" b="0" i="0" u="none" strike="noStrike" dirty="0">
                <a:solidFill>
                  <a:srgbClr val="000000"/>
                </a:solidFill>
                <a:effectLst/>
              </a:rPr>
              <a:t> S3 (Simple Storage Service) is AWS's highly scalable and durable object storage service. Think of an S3 bucket as a secure, cloud-based folder where you'll store your trained model files.</a:t>
            </a:r>
          </a:p>
          <a:p>
            <a:pPr marL="342900" indent="-342900" algn="l">
              <a:buFont typeface="+mj-lt"/>
              <a:buAutoNum type="arabicPeriod"/>
            </a:pPr>
            <a:endParaRPr lang="en-GB" sz="1600" b="0" i="0" u="none" strike="noStrike" dirty="0">
              <a:solidFill>
                <a:srgbClr val="000000"/>
              </a:solidFill>
              <a:effectLst/>
            </a:endParaRPr>
          </a:p>
          <a:p>
            <a:pPr marL="342900" indent="-342900" algn="l">
              <a:buFont typeface="+mj-lt"/>
              <a:buAutoNum type="arabicPeriod"/>
            </a:pPr>
            <a:r>
              <a:rPr lang="en-GB" sz="1600" b="1" i="0" u="none" strike="noStrike" dirty="0">
                <a:solidFill>
                  <a:srgbClr val="000000"/>
                </a:solidFill>
                <a:effectLst/>
              </a:rPr>
              <a:t>Lambda Functions (Optional):</a:t>
            </a:r>
            <a:r>
              <a:rPr lang="en-GB" sz="1600" b="0" i="0" u="none" strike="noStrike" dirty="0">
                <a:solidFill>
                  <a:srgbClr val="000000"/>
                </a:solidFill>
                <a:effectLst/>
              </a:rPr>
              <a:t> AWS Lambda is a serverless computing service that allows you to run code without provisioning or managing servers. You might use it to add custom logic around your model, like preprocessing input data or formatting output predictions.</a:t>
            </a:r>
          </a:p>
          <a:p>
            <a:pPr marL="342900" indent="-342900" algn="l">
              <a:buFont typeface="+mj-lt"/>
              <a:buAutoNum type="arabicPeriod"/>
            </a:pPr>
            <a:endParaRPr lang="en-GB" sz="1600" b="0" i="0" u="none" strike="noStrike" dirty="0">
              <a:solidFill>
                <a:srgbClr val="000000"/>
              </a:solidFill>
              <a:effectLst/>
            </a:endParaRPr>
          </a:p>
          <a:p>
            <a:pPr marL="342900" indent="-342900" algn="l">
              <a:buFont typeface="+mj-lt"/>
              <a:buAutoNum type="arabicPeriod"/>
            </a:pPr>
            <a:r>
              <a:rPr lang="en-GB" sz="1600" b="1" i="0" u="none" strike="noStrike" dirty="0">
                <a:solidFill>
                  <a:srgbClr val="000000"/>
                </a:solidFill>
                <a:effectLst/>
              </a:rPr>
              <a:t>API Gateway:</a:t>
            </a:r>
            <a:r>
              <a:rPr lang="en-GB" sz="1600" b="0" i="0" u="none" strike="noStrike" dirty="0">
                <a:solidFill>
                  <a:srgbClr val="000000"/>
                </a:solidFill>
                <a:effectLst/>
              </a:rPr>
              <a:t> This service helps you create, publish, maintain, monitor, and secure APIs (Application Programming Interfaces) at any scale. It acts as the "front door" for applications to access your deployed model.</a:t>
            </a:r>
          </a:p>
          <a:p>
            <a:pPr>
              <a:buFont typeface="Arial" panose="020B0604020202020204" pitchFamily="34" charset="0"/>
              <a:buChar char="•"/>
            </a:pPr>
            <a:endParaRPr lang="en-GB" sz="1600" dirty="0"/>
          </a:p>
          <a:p>
            <a:pPr algn="l">
              <a:buNone/>
            </a:pPr>
            <a:endParaRPr lang="en-GB" sz="1600" b="0" i="0" u="none" strike="noStrike" dirty="0">
              <a:solidFill>
                <a:srgbClr val="000000"/>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31061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1CF882A7-FBD0-4BAB-FC6C-73ACAFE05C5E}"/>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DE7E0DD-AD56-6E7F-551A-40D1EA3AFB7A}"/>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dirty="0"/>
              <a:t>Deploying Models on Amazon Web Services (AWS)</a:t>
            </a:r>
            <a:br>
              <a:rPr lang="en-GB" sz="2800" b="1" dirty="0"/>
            </a:br>
            <a:br>
              <a:rPr lang="en-GB" sz="2400" kern="100" dirty="0">
                <a:solidFill>
                  <a:srgbClr val="7030A0"/>
                </a:solidFill>
                <a:effectLst/>
                <a:latin typeface="Aptos" panose="020B0004020202020204" pitchFamily="34" charset="0"/>
                <a:ea typeface="Aptos" panose="020B0004020202020204" pitchFamily="34" charset="0"/>
                <a:cs typeface="Arial" panose="020B0604020202020204" pitchFamily="34" charset="0"/>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4849A79E-F123-50D6-FDBD-74106BDFA7F0}"/>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6BE7BF14-CD53-9C66-1124-0037D017A43C}"/>
              </a:ext>
            </a:extLst>
          </p:cNvPr>
          <p:cNvSpPr txBox="1"/>
          <p:nvPr/>
        </p:nvSpPr>
        <p:spPr>
          <a:xfrm>
            <a:off x="0" y="463981"/>
            <a:ext cx="8534913" cy="5093702"/>
          </a:xfrm>
          <a:prstGeom prst="rect">
            <a:avLst/>
          </a:prstGeom>
          <a:noFill/>
        </p:spPr>
        <p:txBody>
          <a:bodyPr wrap="square">
            <a:spAutoFit/>
          </a:bodyPr>
          <a:lstStyle/>
          <a:p>
            <a:pPr algn="l">
              <a:buNone/>
            </a:pPr>
            <a:r>
              <a:rPr lang="en-GB" sz="1300" b="1" i="0" u="none" strike="noStrike" dirty="0">
                <a:solidFill>
                  <a:srgbClr val="000000"/>
                </a:solidFill>
                <a:effectLst/>
              </a:rPr>
              <a:t>Steps to Deploy Your Model on AWS:</a:t>
            </a:r>
          </a:p>
          <a:p>
            <a:pPr algn="l">
              <a:buFont typeface="+mj-lt"/>
              <a:buAutoNum type="arabicPeriod"/>
            </a:pPr>
            <a:r>
              <a:rPr lang="en-GB" sz="1300" b="1" i="0" u="none" strike="noStrike" dirty="0">
                <a:solidFill>
                  <a:srgbClr val="000000"/>
                </a:solidFill>
                <a:effectLst/>
              </a:rPr>
              <a:t>Store Your Model in S3:</a:t>
            </a:r>
            <a:r>
              <a:rPr lang="en-GB" sz="1300" dirty="0"/>
              <a:t> </a:t>
            </a:r>
            <a:r>
              <a:rPr lang="en-GB" sz="1300" b="0" i="0" u="none" strike="noStrike" dirty="0">
                <a:solidFill>
                  <a:srgbClr val="000000"/>
                </a:solidFill>
                <a:effectLst/>
              </a:rPr>
              <a:t>First, take your trained machine learning model (e.g., a file like </a:t>
            </a:r>
            <a:r>
              <a:rPr lang="en-GB" sz="1300" b="0" i="0" u="none" strike="noStrike" dirty="0" err="1">
                <a:solidFill>
                  <a:srgbClr val="000000"/>
                </a:solidFill>
                <a:effectLst/>
              </a:rPr>
              <a:t>model.pkl</a:t>
            </a:r>
            <a:r>
              <a:rPr lang="en-GB" sz="1300" b="0" i="0" u="none" strike="noStrike" dirty="0">
                <a:solidFill>
                  <a:srgbClr val="000000"/>
                </a:solidFill>
                <a:effectLst/>
              </a:rPr>
              <a:t>, model.h5, or a TensorFlow </a:t>
            </a:r>
            <a:r>
              <a:rPr lang="en-GB" sz="1300" b="0" i="0" u="none" strike="noStrike" dirty="0" err="1">
                <a:solidFill>
                  <a:srgbClr val="000000"/>
                </a:solidFill>
                <a:effectLst/>
              </a:rPr>
              <a:t>SavedModel</a:t>
            </a:r>
            <a:r>
              <a:rPr lang="en-GB" sz="1300" b="0" i="0" u="none" strike="noStrike" dirty="0">
                <a:solidFill>
                  <a:srgbClr val="000000"/>
                </a:solidFill>
                <a:effectLst/>
              </a:rPr>
              <a:t> directory) and upload it to an </a:t>
            </a:r>
            <a:r>
              <a:rPr lang="en-GB" sz="1300" b="1" i="0" u="none" strike="noStrike" dirty="0">
                <a:solidFill>
                  <a:srgbClr val="000000"/>
                </a:solidFill>
                <a:effectLst/>
              </a:rPr>
              <a:t>S3 bucket</a:t>
            </a:r>
            <a:r>
              <a:rPr lang="en-GB" sz="1300" b="0" i="0" u="none" strike="noStrike" dirty="0">
                <a:solidFill>
                  <a:srgbClr val="000000"/>
                </a:solidFill>
                <a:effectLst/>
              </a:rPr>
              <a:t>. This makes your model accessible within the AWS ecosystem.</a:t>
            </a:r>
          </a:p>
          <a:p>
            <a:pPr algn="l">
              <a:buFont typeface="+mj-lt"/>
              <a:buAutoNum type="arabicPeriod"/>
            </a:pPr>
            <a:r>
              <a:rPr lang="en-GB" sz="1300" b="1" i="0" u="none" strike="noStrike" dirty="0">
                <a:solidFill>
                  <a:srgbClr val="000000"/>
                </a:solidFill>
                <a:effectLst/>
              </a:rPr>
              <a:t>Create a Model Instance in </a:t>
            </a:r>
            <a:r>
              <a:rPr lang="en-GB" sz="1300" b="1" i="0" u="none" strike="noStrike" dirty="0" err="1">
                <a:solidFill>
                  <a:srgbClr val="000000"/>
                </a:solidFill>
                <a:effectLst/>
              </a:rPr>
              <a:t>SageMaker</a:t>
            </a:r>
            <a:r>
              <a:rPr lang="en-GB" sz="1300" b="1" i="0" u="none" strike="noStrike" dirty="0">
                <a:solidFill>
                  <a:srgbClr val="000000"/>
                </a:solidFill>
                <a:effectLst/>
              </a:rPr>
              <a:t>:</a:t>
            </a:r>
            <a:r>
              <a:rPr lang="en-GB" sz="1300" dirty="0"/>
              <a:t> </a:t>
            </a:r>
            <a:r>
              <a:rPr lang="en-GB" sz="1300" b="0" i="0" u="none" strike="noStrike" dirty="0">
                <a:solidFill>
                  <a:srgbClr val="000000"/>
                </a:solidFill>
                <a:effectLst/>
              </a:rPr>
              <a:t>Within </a:t>
            </a:r>
            <a:r>
              <a:rPr lang="en-GB" sz="1300" b="1" i="0" u="none" strike="noStrike" dirty="0">
                <a:solidFill>
                  <a:srgbClr val="000000"/>
                </a:solidFill>
                <a:effectLst/>
              </a:rPr>
              <a:t>Amazon </a:t>
            </a:r>
            <a:r>
              <a:rPr lang="en-GB" sz="1300" b="1" i="0" u="none" strike="noStrike" dirty="0" err="1">
                <a:solidFill>
                  <a:srgbClr val="000000"/>
                </a:solidFill>
                <a:effectLst/>
              </a:rPr>
              <a:t>SageMaker</a:t>
            </a:r>
            <a:r>
              <a:rPr lang="en-GB" sz="1300" b="0" i="0" u="none" strike="noStrike" dirty="0">
                <a:solidFill>
                  <a:srgbClr val="000000"/>
                </a:solidFill>
                <a:effectLst/>
              </a:rPr>
              <a:t>, you'll define a "model." This step essentially tells </a:t>
            </a:r>
            <a:r>
              <a:rPr lang="en-GB" sz="1300" b="0" i="0" u="none" strike="noStrike" dirty="0" err="1">
                <a:solidFill>
                  <a:srgbClr val="000000"/>
                </a:solidFill>
                <a:effectLst/>
              </a:rPr>
              <a:t>SageMaker</a:t>
            </a:r>
            <a:r>
              <a:rPr lang="en-GB" sz="1300" b="0" i="0" u="none" strike="noStrike" dirty="0">
                <a:solidFill>
                  <a:srgbClr val="000000"/>
                </a:solidFill>
                <a:effectLst/>
              </a:rPr>
              <a:t> where your model file is located in S3 and what kind of container image it should use to run your model. The container image provides the necessary software environment (like Python, specific libraries, etc.) for your model to operate.</a:t>
            </a:r>
          </a:p>
          <a:p>
            <a:pPr algn="l">
              <a:buFont typeface="+mj-lt"/>
              <a:buAutoNum type="arabicPeriod"/>
            </a:pPr>
            <a:r>
              <a:rPr lang="en-GB" sz="1300" b="1" i="0" u="none" strike="noStrike" dirty="0">
                <a:solidFill>
                  <a:srgbClr val="000000"/>
                </a:solidFill>
                <a:effectLst/>
              </a:rPr>
              <a:t>Deploy Your Model Using a </a:t>
            </a:r>
            <a:r>
              <a:rPr lang="en-GB" sz="1300" b="1" i="0" u="none" strike="noStrike" dirty="0" err="1">
                <a:solidFill>
                  <a:srgbClr val="000000"/>
                </a:solidFill>
                <a:effectLst/>
              </a:rPr>
              <a:t>SageMaker</a:t>
            </a:r>
            <a:r>
              <a:rPr lang="en-GB" sz="1300" b="1" i="0" u="none" strike="noStrike" dirty="0">
                <a:solidFill>
                  <a:srgbClr val="000000"/>
                </a:solidFill>
                <a:effectLst/>
              </a:rPr>
              <a:t> Endpoint:</a:t>
            </a:r>
            <a:r>
              <a:rPr lang="en-GB" sz="1300" dirty="0"/>
              <a:t> </a:t>
            </a:r>
            <a:r>
              <a:rPr lang="en-GB" sz="1300" b="0" i="0" u="none" strike="noStrike" dirty="0">
                <a:solidFill>
                  <a:srgbClr val="000000"/>
                </a:solidFill>
                <a:effectLst/>
              </a:rPr>
              <a:t>To make your model available for real-time predictions, you'll deploy it to a </a:t>
            </a:r>
            <a:r>
              <a:rPr lang="en-GB" sz="1300" b="1" i="0" u="none" strike="noStrike" dirty="0" err="1">
                <a:solidFill>
                  <a:srgbClr val="000000"/>
                </a:solidFill>
                <a:effectLst/>
              </a:rPr>
              <a:t>SageMaker</a:t>
            </a:r>
            <a:r>
              <a:rPr lang="en-GB" sz="1300" b="1" i="0" u="none" strike="noStrike" dirty="0">
                <a:solidFill>
                  <a:srgbClr val="000000"/>
                </a:solidFill>
                <a:effectLst/>
              </a:rPr>
              <a:t> Endpoint</a:t>
            </a:r>
            <a:r>
              <a:rPr lang="en-GB" sz="1300" b="0" i="0" u="none" strike="noStrike" dirty="0">
                <a:solidFill>
                  <a:srgbClr val="000000"/>
                </a:solidFill>
                <a:effectLst/>
              </a:rPr>
              <a:t>. This endpoint is a continuously running, highly available service that can receive prediction requests. </a:t>
            </a:r>
            <a:r>
              <a:rPr lang="en-GB" sz="1300" b="0" i="0" u="none" strike="noStrike" dirty="0" err="1">
                <a:solidFill>
                  <a:srgbClr val="000000"/>
                </a:solidFill>
                <a:effectLst/>
              </a:rPr>
              <a:t>SageMaker</a:t>
            </a:r>
            <a:r>
              <a:rPr lang="en-GB" sz="1300" b="0" i="0" u="none" strike="noStrike" dirty="0">
                <a:solidFill>
                  <a:srgbClr val="000000"/>
                </a:solidFill>
                <a:effectLst/>
              </a:rPr>
              <a:t> handles all the underlying infrastructure, including scaling the number of instances running your model based on demand. When an application sends data to this endpoint, your model processes it and returns a prediction.</a:t>
            </a:r>
          </a:p>
          <a:p>
            <a:pPr algn="l">
              <a:buFont typeface="+mj-lt"/>
              <a:buAutoNum type="arabicPeriod"/>
            </a:pPr>
            <a:r>
              <a:rPr lang="en-GB" sz="1300" b="1" i="0" u="none" strike="noStrike" dirty="0">
                <a:solidFill>
                  <a:srgbClr val="000000"/>
                </a:solidFill>
                <a:effectLst/>
              </a:rPr>
              <a:t>(Optional) Add Custom Logic with Lambda and Expose via API Gateway:</a:t>
            </a:r>
            <a:r>
              <a:rPr lang="en-GB" sz="1300" dirty="0"/>
              <a:t> </a:t>
            </a:r>
            <a:r>
              <a:rPr lang="en-GB" sz="1300" b="0" i="0" u="none" strike="noStrike" dirty="0">
                <a:solidFill>
                  <a:srgbClr val="000000"/>
                </a:solidFill>
                <a:effectLst/>
              </a:rPr>
              <a:t>For more advanced scenarios, you might want to add a layer of logic between your client application and the </a:t>
            </a:r>
            <a:r>
              <a:rPr lang="en-GB" sz="1300" b="0" i="0" u="none" strike="noStrike" dirty="0" err="1">
                <a:solidFill>
                  <a:srgbClr val="000000"/>
                </a:solidFill>
                <a:effectLst/>
              </a:rPr>
              <a:t>SageMaker</a:t>
            </a:r>
            <a:r>
              <a:rPr lang="en-GB" sz="1300" b="0" i="0" u="none" strike="noStrike" dirty="0">
                <a:solidFill>
                  <a:srgbClr val="000000"/>
                </a:solidFill>
                <a:effectLst/>
              </a:rPr>
              <a:t> Endpoint.</a:t>
            </a:r>
          </a:p>
          <a:p>
            <a:pPr marL="1257300" lvl="2" indent="-342900" algn="l">
              <a:buFont typeface="+mj-lt"/>
              <a:buAutoNum type="alphaLcPeriod"/>
            </a:pPr>
            <a:r>
              <a:rPr lang="en-GB" sz="1300" b="0" i="0" u="none" strike="noStrike" dirty="0">
                <a:solidFill>
                  <a:srgbClr val="000000"/>
                </a:solidFill>
                <a:effectLst/>
              </a:rPr>
              <a:t>You can create an </a:t>
            </a:r>
            <a:r>
              <a:rPr lang="en-GB" sz="1300" b="1" i="0" u="none" strike="noStrike" dirty="0">
                <a:solidFill>
                  <a:srgbClr val="000000"/>
                </a:solidFill>
                <a:effectLst/>
              </a:rPr>
              <a:t>AWS Lambda function</a:t>
            </a:r>
            <a:r>
              <a:rPr lang="en-GB" sz="1300" b="0" i="0" u="none" strike="noStrike" dirty="0">
                <a:solidFill>
                  <a:srgbClr val="000000"/>
                </a:solidFill>
                <a:effectLst/>
              </a:rPr>
              <a:t> that acts as an intermediary. This Lambda function can receive requests, perform any necessary data transformation or validation before sending it to the </a:t>
            </a:r>
            <a:r>
              <a:rPr lang="en-GB" sz="1300" b="0" i="0" u="none" strike="noStrike" dirty="0" err="1">
                <a:solidFill>
                  <a:srgbClr val="000000"/>
                </a:solidFill>
                <a:effectLst/>
              </a:rPr>
              <a:t>SageMaker</a:t>
            </a:r>
            <a:r>
              <a:rPr lang="en-GB" sz="1300" b="0" i="0" u="none" strike="noStrike" dirty="0">
                <a:solidFill>
                  <a:srgbClr val="000000"/>
                </a:solidFill>
                <a:effectLst/>
              </a:rPr>
              <a:t> Endpoint, and then process the model's prediction before sending it back to the client.</a:t>
            </a:r>
          </a:p>
          <a:p>
            <a:pPr marL="1257300" lvl="2" indent="-342900" algn="l">
              <a:buFont typeface="+mj-lt"/>
              <a:buAutoNum type="alphaLcPeriod"/>
            </a:pPr>
            <a:r>
              <a:rPr lang="en-GB" sz="1300" b="0" i="0" u="none" strike="noStrike" dirty="0">
                <a:solidFill>
                  <a:srgbClr val="000000"/>
                </a:solidFill>
                <a:effectLst/>
              </a:rPr>
              <a:t>Then, you use </a:t>
            </a:r>
            <a:r>
              <a:rPr lang="en-GB" sz="1300" b="1" i="0" u="none" strike="noStrike" dirty="0">
                <a:solidFill>
                  <a:srgbClr val="000000"/>
                </a:solidFill>
                <a:effectLst/>
              </a:rPr>
              <a:t>API Gateway</a:t>
            </a:r>
            <a:r>
              <a:rPr lang="en-GB" sz="1300" b="0" i="0" u="none" strike="noStrike" dirty="0">
                <a:solidFill>
                  <a:srgbClr val="000000"/>
                </a:solidFill>
                <a:effectLst/>
              </a:rPr>
              <a:t> to create a public-facing API endpoint. This API Gateway endpoint would trigger your Lambda function, which in turn interacts with your </a:t>
            </a:r>
            <a:r>
              <a:rPr lang="en-GB" sz="1300" b="0" i="0" u="none" strike="noStrike" dirty="0" err="1">
                <a:solidFill>
                  <a:srgbClr val="000000"/>
                </a:solidFill>
                <a:effectLst/>
              </a:rPr>
              <a:t>SageMaker</a:t>
            </a:r>
            <a:r>
              <a:rPr lang="en-GB" sz="1300" b="0" i="0" u="none" strike="noStrike" dirty="0">
                <a:solidFill>
                  <a:srgbClr val="000000"/>
                </a:solidFill>
                <a:effectLst/>
              </a:rPr>
              <a:t> Endpoint. This setup allows you to build sophisticated, serverless prediction services with custom logic and robust security.</a:t>
            </a:r>
          </a:p>
          <a:p>
            <a:pPr>
              <a:buFont typeface="Arial" panose="020B0604020202020204" pitchFamily="34" charset="0"/>
              <a:buChar char="•"/>
            </a:pPr>
            <a:endParaRPr lang="en-GB" sz="1300" dirty="0"/>
          </a:p>
          <a:p>
            <a:pPr algn="l">
              <a:buNone/>
            </a:pPr>
            <a:endParaRPr lang="en-GB" sz="1300" b="0" i="0" u="none" strike="noStrike" dirty="0">
              <a:solidFill>
                <a:srgbClr val="000000"/>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49383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17CEBFCC-512E-E4F2-B8C6-3B403AFCEA2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142A894-28E1-3CA9-88D3-5117C1BFC3D4}"/>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700" dirty="0"/>
              <a:t>Deploying on AWS </a:t>
            </a:r>
            <a:r>
              <a:rPr lang="en-GB" sz="2700" dirty="0" err="1"/>
              <a:t>SageMaker</a:t>
            </a:r>
            <a:br>
              <a:rPr lang="en-GB" sz="2800" b="1" i="0" u="none" strike="noStrike" dirty="0">
                <a:solidFill>
                  <a:srgbClr val="7030A0"/>
                </a:solidFill>
                <a:effectLst/>
                <a:latin typeface="DeepSeek-CJK-patch"/>
              </a:rPr>
            </a:br>
            <a:br>
              <a:rPr lang="en-GB" sz="2800" b="1" dirty="0"/>
            </a:br>
            <a:br>
              <a:rPr lang="en-GB" sz="2400" kern="100" dirty="0">
                <a:solidFill>
                  <a:srgbClr val="7030A0"/>
                </a:solidFill>
                <a:effectLst/>
                <a:latin typeface="Aptos" panose="020B0004020202020204" pitchFamily="34" charset="0"/>
                <a:ea typeface="Aptos" panose="020B0004020202020204" pitchFamily="34" charset="0"/>
                <a:cs typeface="Arial" panose="020B0604020202020204" pitchFamily="34" charset="0"/>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F897B368-8739-0171-61F6-5AC0A0E4D893}"/>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09D66685-36F9-11AC-C645-3C7DC2BDCD28}"/>
              </a:ext>
            </a:extLst>
          </p:cNvPr>
          <p:cNvSpPr txBox="1"/>
          <p:nvPr/>
        </p:nvSpPr>
        <p:spPr>
          <a:xfrm>
            <a:off x="0" y="463981"/>
            <a:ext cx="8534913" cy="1023357"/>
          </a:xfrm>
          <a:prstGeom prst="rect">
            <a:avLst/>
          </a:prstGeom>
          <a:noFill/>
        </p:spPr>
        <p:txBody>
          <a:bodyPr wrap="square">
            <a:spAutoFit/>
          </a:bodyPr>
          <a:lstStyle/>
          <a:p>
            <a:pPr algn="l">
              <a:buNone/>
            </a:pPr>
            <a:r>
              <a:rPr lang="en-GB" sz="1600" b="1" i="0" u="none" strike="noStrike" dirty="0">
                <a:solidFill>
                  <a:srgbClr val="404040"/>
                </a:solidFill>
                <a:effectLst/>
                <a:latin typeface="DeepSeek-CJK-patch"/>
              </a:rPr>
              <a:t>Steps:</a:t>
            </a:r>
            <a:endParaRPr lang="en-GB" sz="1600" b="0" i="0" u="none" strike="noStrike" dirty="0">
              <a:solidFill>
                <a:srgbClr val="404040"/>
              </a:solidFill>
              <a:effectLst/>
              <a:latin typeface="DeepSeek-CJK-patch"/>
            </a:endParaRPr>
          </a:p>
          <a:p>
            <a:pPr algn="l">
              <a:spcAft>
                <a:spcPts val="300"/>
              </a:spcAft>
              <a:buFont typeface="+mj-lt"/>
              <a:buAutoNum type="arabicPeriod"/>
            </a:pPr>
            <a:r>
              <a:rPr lang="en-GB" sz="1600" b="1" i="0" u="none" strike="noStrike" dirty="0">
                <a:solidFill>
                  <a:srgbClr val="404040"/>
                </a:solidFill>
                <a:effectLst/>
                <a:latin typeface="DeepSeek-CJK-patch"/>
              </a:rPr>
              <a:t>Save Model in </a:t>
            </a:r>
            <a:r>
              <a:rPr lang="en-GB" sz="1600" b="1" i="0" u="none" strike="noStrike" dirty="0" err="1">
                <a:solidFill>
                  <a:srgbClr val="404040"/>
                </a:solidFill>
                <a:effectLst/>
                <a:latin typeface="DeepSeek-CJK-patch"/>
              </a:rPr>
              <a:t>SageMaker</a:t>
            </a:r>
            <a:r>
              <a:rPr lang="en-GB" sz="1600" b="1" i="0" u="none" strike="noStrike" dirty="0">
                <a:solidFill>
                  <a:srgbClr val="404040"/>
                </a:solidFill>
                <a:effectLst/>
                <a:latin typeface="DeepSeek-CJK-patch"/>
              </a:rPr>
              <a:t>-Compatible Format</a:t>
            </a:r>
            <a:r>
              <a:rPr lang="en-GB" sz="1600" b="0" i="0" u="none" strike="noStrike" dirty="0">
                <a:solidFill>
                  <a:srgbClr val="404040"/>
                </a:solidFill>
                <a:effectLst/>
                <a:latin typeface="DeepSeek-CJK-patch"/>
              </a:rPr>
              <a:t> (.</a:t>
            </a:r>
            <a:r>
              <a:rPr lang="en-GB" sz="1600" b="0" i="0" u="none" strike="noStrike" dirty="0" err="1">
                <a:solidFill>
                  <a:srgbClr val="404040"/>
                </a:solidFill>
                <a:effectLst/>
                <a:latin typeface="DeepSeek-CJK-patch"/>
              </a:rPr>
              <a:t>tar.gz</a:t>
            </a:r>
            <a:r>
              <a:rPr lang="en-GB" sz="1600" b="0" i="0" u="none" strike="noStrike" dirty="0">
                <a:solidFill>
                  <a:srgbClr val="404040"/>
                </a:solidFill>
                <a:effectLst/>
                <a:latin typeface="DeepSeek-CJK-patch"/>
              </a:rPr>
              <a:t>):</a:t>
            </a:r>
          </a:p>
          <a:p>
            <a:pPr>
              <a:buFont typeface="Arial" panose="020B0604020202020204" pitchFamily="34" charset="0"/>
              <a:buChar char="•"/>
            </a:pPr>
            <a:endParaRPr lang="en-GB" sz="1300" dirty="0"/>
          </a:p>
          <a:p>
            <a:pPr algn="l">
              <a:buNone/>
            </a:pPr>
            <a:endParaRPr lang="en-GB" sz="1300" b="0" i="0" u="none" strike="noStrike" dirty="0">
              <a:solidFill>
                <a:srgbClr val="000000"/>
              </a:solidFill>
              <a:effectLst/>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72C45A94-DCBB-7407-793B-EEEC4726729D}"/>
              </a:ext>
            </a:extLst>
          </p:cNvPr>
          <p:cNvSpPr txBox="1"/>
          <p:nvPr/>
        </p:nvSpPr>
        <p:spPr>
          <a:xfrm>
            <a:off x="1011803" y="1067457"/>
            <a:ext cx="4663440" cy="461665"/>
          </a:xfrm>
          <a:prstGeom prst="rect">
            <a:avLst/>
          </a:prstGeom>
          <a:solidFill>
            <a:schemeClr val="accent1">
              <a:lumMod val="40000"/>
              <a:lumOff val="60000"/>
            </a:schemeClr>
          </a:solidFill>
        </p:spPr>
        <p:txBody>
          <a:bodyPr wrap="square">
            <a:spAutoFit/>
          </a:bodyPr>
          <a:lstStyle/>
          <a:p>
            <a:r>
              <a:rPr lang="en-US" sz="1200" dirty="0"/>
              <a:t>tar -</a:t>
            </a:r>
            <a:r>
              <a:rPr lang="en-US" sz="1200" dirty="0" err="1"/>
              <a:t>czvf</a:t>
            </a:r>
            <a:r>
              <a:rPr lang="en-US" sz="1200" dirty="0"/>
              <a:t> </a:t>
            </a:r>
            <a:r>
              <a:rPr lang="en-US" sz="1200" dirty="0" err="1"/>
              <a:t>model.tar.gz</a:t>
            </a:r>
            <a:r>
              <a:rPr lang="en-US" sz="1200" dirty="0"/>
              <a:t> </a:t>
            </a:r>
            <a:r>
              <a:rPr lang="en-US" sz="1200" dirty="0" err="1"/>
              <a:t>saved_model</a:t>
            </a:r>
            <a:r>
              <a:rPr lang="en-US" sz="1200" dirty="0"/>
              <a:t>/</a:t>
            </a:r>
          </a:p>
          <a:p>
            <a:r>
              <a:rPr lang="en-US" sz="1200" dirty="0" err="1"/>
              <a:t>aws</a:t>
            </a:r>
            <a:r>
              <a:rPr lang="en-US" sz="1200" dirty="0"/>
              <a:t> s3 cp </a:t>
            </a:r>
            <a:r>
              <a:rPr lang="en-US" sz="1200" dirty="0" err="1"/>
              <a:t>model.tar.gz</a:t>
            </a:r>
            <a:r>
              <a:rPr lang="en-US" sz="1200" dirty="0"/>
              <a:t> s3://your-bucket/</a:t>
            </a:r>
          </a:p>
        </p:txBody>
      </p:sp>
      <p:sp>
        <p:nvSpPr>
          <p:cNvPr id="7" name="TextBox 6">
            <a:extLst>
              <a:ext uri="{FF2B5EF4-FFF2-40B4-BE49-F238E27FC236}">
                <a16:creationId xmlns:a16="http://schemas.microsoft.com/office/drawing/2014/main" id="{183DF9C7-4F42-460F-0499-2B88327199AB}"/>
              </a:ext>
            </a:extLst>
          </p:cNvPr>
          <p:cNvSpPr txBox="1"/>
          <p:nvPr/>
        </p:nvSpPr>
        <p:spPr>
          <a:xfrm>
            <a:off x="0" y="1797430"/>
            <a:ext cx="4663440" cy="307777"/>
          </a:xfrm>
          <a:prstGeom prst="rect">
            <a:avLst/>
          </a:prstGeom>
          <a:noFill/>
        </p:spPr>
        <p:txBody>
          <a:bodyPr wrap="square">
            <a:spAutoFit/>
          </a:bodyPr>
          <a:lstStyle/>
          <a:p>
            <a:r>
              <a:rPr lang="en-GB" b="1" i="0" u="none" strike="noStrike" dirty="0">
                <a:solidFill>
                  <a:srgbClr val="404040"/>
                </a:solidFill>
                <a:effectLst/>
                <a:latin typeface="DeepSeek-CJK-patch"/>
              </a:rPr>
              <a:t>2. Deploy via </a:t>
            </a:r>
            <a:r>
              <a:rPr lang="en-GB" b="1" i="0" u="none" strike="noStrike" dirty="0" err="1">
                <a:solidFill>
                  <a:srgbClr val="404040"/>
                </a:solidFill>
                <a:effectLst/>
                <a:latin typeface="DeepSeek-CJK-patch"/>
              </a:rPr>
              <a:t>SageMaker</a:t>
            </a:r>
            <a:r>
              <a:rPr lang="en-GB" b="1" i="0" u="none" strike="noStrike" dirty="0">
                <a:solidFill>
                  <a:srgbClr val="404040"/>
                </a:solidFill>
                <a:effectLst/>
                <a:latin typeface="DeepSeek-CJK-patch"/>
              </a:rPr>
              <a:t> SDK:</a:t>
            </a:r>
            <a:endParaRPr lang="en-US" dirty="0"/>
          </a:p>
        </p:txBody>
      </p:sp>
      <p:sp>
        <p:nvSpPr>
          <p:cNvPr id="9" name="TextBox 8">
            <a:extLst>
              <a:ext uri="{FF2B5EF4-FFF2-40B4-BE49-F238E27FC236}">
                <a16:creationId xmlns:a16="http://schemas.microsoft.com/office/drawing/2014/main" id="{1C724F18-B6C3-4B28-9B4E-66C005288351}"/>
              </a:ext>
            </a:extLst>
          </p:cNvPr>
          <p:cNvSpPr txBox="1"/>
          <p:nvPr/>
        </p:nvSpPr>
        <p:spPr>
          <a:xfrm>
            <a:off x="2331720" y="1753215"/>
            <a:ext cx="5667292" cy="1754326"/>
          </a:xfrm>
          <a:prstGeom prst="rect">
            <a:avLst/>
          </a:prstGeom>
          <a:solidFill>
            <a:schemeClr val="accent1">
              <a:lumMod val="40000"/>
              <a:lumOff val="60000"/>
            </a:schemeClr>
          </a:solidFill>
        </p:spPr>
        <p:txBody>
          <a:bodyPr wrap="square">
            <a:spAutoFit/>
          </a:bodyPr>
          <a:lstStyle/>
          <a:p>
            <a:r>
              <a:rPr lang="en-US" sz="1200" dirty="0"/>
              <a:t>import </a:t>
            </a:r>
            <a:r>
              <a:rPr lang="en-US" sz="1200" dirty="0" err="1"/>
              <a:t>sagemaker</a:t>
            </a:r>
            <a:endParaRPr lang="en-US" sz="1200" dirty="0"/>
          </a:p>
          <a:p>
            <a:r>
              <a:rPr lang="en-US" sz="1200" dirty="0"/>
              <a:t>from </a:t>
            </a:r>
            <a:r>
              <a:rPr lang="en-US" sz="1200" dirty="0" err="1"/>
              <a:t>sagemaker.tensorflow</a:t>
            </a:r>
            <a:r>
              <a:rPr lang="en-US" sz="1200" dirty="0"/>
              <a:t> import </a:t>
            </a:r>
            <a:r>
              <a:rPr lang="en-US" sz="1200" dirty="0" err="1"/>
              <a:t>TensorFlowModel</a:t>
            </a:r>
            <a:endParaRPr lang="en-US" sz="1200" dirty="0"/>
          </a:p>
          <a:p>
            <a:r>
              <a:rPr lang="en-US" sz="1200" dirty="0"/>
              <a:t>role = </a:t>
            </a:r>
            <a:r>
              <a:rPr lang="en-US" sz="1200" dirty="0" err="1"/>
              <a:t>sagemaker.get_execution_role</a:t>
            </a:r>
            <a:r>
              <a:rPr lang="en-US" sz="1200" dirty="0"/>
              <a:t>()</a:t>
            </a:r>
          </a:p>
          <a:p>
            <a:r>
              <a:rPr lang="en-US" sz="1200" dirty="0"/>
              <a:t>model = </a:t>
            </a:r>
            <a:r>
              <a:rPr lang="en-US" sz="1200" dirty="0" err="1"/>
              <a:t>TensorFlowModel</a:t>
            </a:r>
            <a:r>
              <a:rPr lang="en-US" sz="1200" dirty="0"/>
              <a:t>(</a:t>
            </a:r>
          </a:p>
          <a:p>
            <a:r>
              <a:rPr lang="en-US" sz="1200" dirty="0"/>
              <a:t>    </a:t>
            </a:r>
            <a:r>
              <a:rPr lang="en-US" sz="1200" dirty="0" err="1"/>
              <a:t>model_data</a:t>
            </a:r>
            <a:r>
              <a:rPr lang="en-US" sz="1200" dirty="0"/>
              <a:t>="s3://your-bucket/</a:t>
            </a:r>
            <a:r>
              <a:rPr lang="en-US" sz="1200" dirty="0" err="1"/>
              <a:t>model.tar.gz</a:t>
            </a:r>
            <a:r>
              <a:rPr lang="en-US" sz="1200" dirty="0"/>
              <a:t>",</a:t>
            </a:r>
          </a:p>
          <a:p>
            <a:r>
              <a:rPr lang="en-US" sz="1200" dirty="0"/>
              <a:t>    role=role,</a:t>
            </a:r>
          </a:p>
          <a:p>
            <a:r>
              <a:rPr lang="en-US" sz="1200" dirty="0"/>
              <a:t>    </a:t>
            </a:r>
            <a:r>
              <a:rPr lang="en-US" sz="1200" dirty="0" err="1"/>
              <a:t>framework_version</a:t>
            </a:r>
            <a:r>
              <a:rPr lang="en-US" sz="1200" dirty="0"/>
              <a:t>="2.10"</a:t>
            </a:r>
          </a:p>
          <a:p>
            <a:r>
              <a:rPr lang="en-US" sz="1200" dirty="0"/>
              <a:t>)</a:t>
            </a:r>
          </a:p>
          <a:p>
            <a:r>
              <a:rPr lang="en-US" sz="1200" dirty="0"/>
              <a:t>predictor = </a:t>
            </a:r>
            <a:r>
              <a:rPr lang="en-US" sz="1200" dirty="0" err="1"/>
              <a:t>model.deploy</a:t>
            </a:r>
            <a:r>
              <a:rPr lang="en-US" sz="1200" dirty="0"/>
              <a:t>(</a:t>
            </a:r>
            <a:r>
              <a:rPr lang="en-US" sz="1200" dirty="0" err="1"/>
              <a:t>instance_type</a:t>
            </a:r>
            <a:r>
              <a:rPr lang="en-US" sz="1200" dirty="0"/>
              <a:t>="ml.m5.large", </a:t>
            </a:r>
            <a:r>
              <a:rPr lang="en-US" sz="1200" dirty="0" err="1"/>
              <a:t>initial_instance_count</a:t>
            </a:r>
            <a:r>
              <a:rPr lang="en-US" sz="1200" dirty="0"/>
              <a:t>=1)</a:t>
            </a:r>
          </a:p>
        </p:txBody>
      </p:sp>
      <p:sp>
        <p:nvSpPr>
          <p:cNvPr id="11" name="TextBox 10">
            <a:extLst>
              <a:ext uri="{FF2B5EF4-FFF2-40B4-BE49-F238E27FC236}">
                <a16:creationId xmlns:a16="http://schemas.microsoft.com/office/drawing/2014/main" id="{5C44F422-0E1A-4B08-1AD6-1216A44EB5BB}"/>
              </a:ext>
            </a:extLst>
          </p:cNvPr>
          <p:cNvSpPr txBox="1"/>
          <p:nvPr/>
        </p:nvSpPr>
        <p:spPr>
          <a:xfrm>
            <a:off x="0" y="3551756"/>
            <a:ext cx="4663440" cy="307777"/>
          </a:xfrm>
          <a:prstGeom prst="rect">
            <a:avLst/>
          </a:prstGeom>
          <a:noFill/>
        </p:spPr>
        <p:txBody>
          <a:bodyPr wrap="square">
            <a:spAutoFit/>
          </a:bodyPr>
          <a:lstStyle/>
          <a:p>
            <a:r>
              <a:rPr lang="en-GB" b="1" i="0" u="none" strike="noStrike" dirty="0">
                <a:solidFill>
                  <a:srgbClr val="404040"/>
                </a:solidFill>
                <a:effectLst/>
                <a:latin typeface="DeepSeek-CJK-patch"/>
              </a:rPr>
              <a:t>3. Invoke the Endpoint:</a:t>
            </a:r>
            <a:endParaRPr lang="en-US" dirty="0"/>
          </a:p>
        </p:txBody>
      </p:sp>
      <p:sp>
        <p:nvSpPr>
          <p:cNvPr id="13" name="TextBox 12">
            <a:extLst>
              <a:ext uri="{FF2B5EF4-FFF2-40B4-BE49-F238E27FC236}">
                <a16:creationId xmlns:a16="http://schemas.microsoft.com/office/drawing/2014/main" id="{66617E48-2FA5-862E-1A2A-8BB1C592D40A}"/>
              </a:ext>
            </a:extLst>
          </p:cNvPr>
          <p:cNvSpPr txBox="1"/>
          <p:nvPr/>
        </p:nvSpPr>
        <p:spPr>
          <a:xfrm>
            <a:off x="2069326" y="3634918"/>
            <a:ext cx="4663440" cy="276999"/>
          </a:xfrm>
          <a:prstGeom prst="rect">
            <a:avLst/>
          </a:prstGeom>
          <a:solidFill>
            <a:schemeClr val="accent1">
              <a:lumMod val="40000"/>
              <a:lumOff val="60000"/>
            </a:schemeClr>
          </a:solidFill>
        </p:spPr>
        <p:txBody>
          <a:bodyPr wrap="square">
            <a:spAutoFit/>
          </a:bodyPr>
          <a:lstStyle/>
          <a:p>
            <a:r>
              <a:rPr lang="en-US" sz="1200" dirty="0" err="1"/>
              <a:t>predictor.predict</a:t>
            </a:r>
            <a:r>
              <a:rPr lang="en-US" sz="1200" dirty="0"/>
              <a:t>([[5.1, 3.5, 1.4, 0.2]])</a:t>
            </a:r>
          </a:p>
        </p:txBody>
      </p:sp>
      <p:sp>
        <p:nvSpPr>
          <p:cNvPr id="15" name="TextBox 14">
            <a:extLst>
              <a:ext uri="{FF2B5EF4-FFF2-40B4-BE49-F238E27FC236}">
                <a16:creationId xmlns:a16="http://schemas.microsoft.com/office/drawing/2014/main" id="{290584FE-1E9B-4AE9-1EC0-DD582516A843}"/>
              </a:ext>
            </a:extLst>
          </p:cNvPr>
          <p:cNvSpPr txBox="1"/>
          <p:nvPr/>
        </p:nvSpPr>
        <p:spPr>
          <a:xfrm>
            <a:off x="183376" y="4104204"/>
            <a:ext cx="4663440" cy="777136"/>
          </a:xfrm>
          <a:prstGeom prst="rect">
            <a:avLst/>
          </a:prstGeom>
          <a:noFill/>
        </p:spPr>
        <p:txBody>
          <a:bodyPr wrap="square">
            <a:spAutoFit/>
          </a:bodyPr>
          <a:lstStyle/>
          <a:p>
            <a:pPr algn="l">
              <a:buNone/>
            </a:pPr>
            <a:r>
              <a:rPr lang="en-GB" b="1" i="0" u="none" strike="noStrike" dirty="0">
                <a:solidFill>
                  <a:srgbClr val="404040"/>
                </a:solidFill>
                <a:effectLst/>
                <a:latin typeface="DeepSeek-CJK-patch"/>
              </a:rPr>
              <a:t>Key Features</a:t>
            </a:r>
          </a:p>
          <a:p>
            <a:pPr algn="l">
              <a:buFont typeface="Arial" panose="020B0604020202020204" pitchFamily="34" charset="0"/>
              <a:buChar char="•"/>
            </a:pPr>
            <a:r>
              <a:rPr lang="en-GB" b="1" i="0" u="none" strike="noStrike" dirty="0">
                <a:solidFill>
                  <a:srgbClr val="404040"/>
                </a:solidFill>
                <a:effectLst/>
                <a:latin typeface="DeepSeek-CJK-patch"/>
              </a:rPr>
              <a:t>A/B Testing</a:t>
            </a:r>
            <a:r>
              <a:rPr lang="en-GB" b="0" i="0" u="none" strike="noStrike" dirty="0">
                <a:solidFill>
                  <a:srgbClr val="404040"/>
                </a:solidFill>
                <a:effectLst/>
                <a:latin typeface="DeepSeek-CJK-patch"/>
              </a:rPr>
              <a:t>: Deploy multiple model versions.</a:t>
            </a:r>
          </a:p>
          <a:p>
            <a:pPr algn="l">
              <a:spcBef>
                <a:spcPts val="300"/>
              </a:spcBef>
              <a:buFont typeface="Arial" panose="020B0604020202020204" pitchFamily="34" charset="0"/>
              <a:buChar char="•"/>
            </a:pPr>
            <a:r>
              <a:rPr lang="en-GB" b="1" i="0" u="none" strike="noStrike" dirty="0">
                <a:solidFill>
                  <a:srgbClr val="404040"/>
                </a:solidFill>
                <a:effectLst/>
                <a:latin typeface="DeepSeek-CJK-patch"/>
              </a:rPr>
              <a:t>Spot Instances</a:t>
            </a:r>
            <a:r>
              <a:rPr lang="en-GB" b="0" i="0" u="none" strike="noStrike" dirty="0">
                <a:solidFill>
                  <a:srgbClr val="404040"/>
                </a:solidFill>
                <a:effectLst/>
                <a:latin typeface="DeepSeek-CJK-patch"/>
              </a:rPr>
              <a:t>: Reduce costs.</a:t>
            </a:r>
          </a:p>
        </p:txBody>
      </p:sp>
    </p:spTree>
    <p:extLst>
      <p:ext uri="{BB962C8B-B14F-4D97-AF65-F5344CB8AC3E}">
        <p14:creationId xmlns:p14="http://schemas.microsoft.com/office/powerpoint/2010/main" val="17334936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14059285-FE42-34ED-A4BD-FC22E7952BDA}"/>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40D2E0FF-03E1-0421-AB80-C6102C49B3AC}"/>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dirty="0"/>
              <a:t>Deploying Models on Microsoft Azure</a:t>
            </a:r>
            <a:br>
              <a:rPr lang="en-GB" sz="2800" b="1" dirty="0"/>
            </a:br>
            <a:br>
              <a:rPr lang="en-GB" sz="2800" b="1" dirty="0"/>
            </a:br>
            <a:br>
              <a:rPr lang="en-GB" sz="2400" kern="100" dirty="0">
                <a:solidFill>
                  <a:srgbClr val="7030A0"/>
                </a:solidFill>
                <a:effectLst/>
                <a:latin typeface="Aptos" panose="020B0004020202020204" pitchFamily="34" charset="0"/>
                <a:ea typeface="Aptos" panose="020B0004020202020204" pitchFamily="34" charset="0"/>
                <a:cs typeface="Arial" panose="020B0604020202020204" pitchFamily="34" charset="0"/>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3BDA4068-3B6F-378F-A6BB-324CF1FEB4F8}"/>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686EB21C-2B39-AD94-5D20-4498CB717666}"/>
              </a:ext>
            </a:extLst>
          </p:cNvPr>
          <p:cNvSpPr txBox="1"/>
          <p:nvPr/>
        </p:nvSpPr>
        <p:spPr>
          <a:xfrm>
            <a:off x="0" y="463981"/>
            <a:ext cx="8534913" cy="4031873"/>
          </a:xfrm>
          <a:prstGeom prst="rect">
            <a:avLst/>
          </a:prstGeom>
          <a:noFill/>
        </p:spPr>
        <p:txBody>
          <a:bodyPr wrap="square">
            <a:spAutoFit/>
          </a:bodyPr>
          <a:lstStyle/>
          <a:p>
            <a:r>
              <a:rPr lang="en-GB" sz="1600" b="1" dirty="0"/>
              <a:t>Tools Used:</a:t>
            </a:r>
            <a:endParaRPr lang="en-GB" sz="1600" b="1" i="0" u="none" strike="noStrike" dirty="0">
              <a:solidFill>
                <a:srgbClr val="000000"/>
              </a:solidFill>
              <a:effectLst/>
            </a:endParaRPr>
          </a:p>
          <a:p>
            <a:pPr marL="342900" indent="-342900" algn="l">
              <a:buFont typeface="+mj-lt"/>
              <a:buAutoNum type="arabicPeriod"/>
            </a:pPr>
            <a:r>
              <a:rPr lang="en-GB" sz="1600" b="1" i="0" u="none" strike="noStrike" dirty="0">
                <a:solidFill>
                  <a:srgbClr val="000000"/>
                </a:solidFill>
                <a:effectLst/>
              </a:rPr>
              <a:t>Azure Machine Learning Studio:</a:t>
            </a:r>
            <a:r>
              <a:rPr lang="en-GB" sz="1600" b="0" i="0" u="none" strike="noStrike" dirty="0">
                <a:solidFill>
                  <a:srgbClr val="000000"/>
                </a:solidFill>
                <a:effectLst/>
              </a:rPr>
              <a:t> This is a web-based portal that serves as your central workspace for all machine learning activities on Azure. You'll use it to manage your models, datasets, compute resources, and deployments.</a:t>
            </a:r>
          </a:p>
          <a:p>
            <a:pPr marL="342900" indent="-342900" algn="l">
              <a:buFont typeface="+mj-lt"/>
              <a:buAutoNum type="arabicPeriod"/>
            </a:pPr>
            <a:r>
              <a:rPr lang="en-GB" sz="1600" b="1" i="0" u="none" strike="noStrike" dirty="0">
                <a:solidFill>
                  <a:srgbClr val="000000"/>
                </a:solidFill>
                <a:effectLst/>
              </a:rPr>
              <a:t>Azure Blob Storage:</a:t>
            </a:r>
            <a:r>
              <a:rPr lang="en-GB" sz="1600" b="0" i="0" u="none" strike="noStrike" dirty="0">
                <a:solidFill>
                  <a:srgbClr val="000000"/>
                </a:solidFill>
                <a:effectLst/>
              </a:rPr>
              <a:t> This is Microsoft's cloud storage solution for large amounts of unstructured data. Your trained model files will be stored here before they are deployed.</a:t>
            </a:r>
          </a:p>
          <a:p>
            <a:pPr marL="342900" indent="-342900" algn="l">
              <a:buFont typeface="+mj-lt"/>
              <a:buAutoNum type="arabicPeriod"/>
            </a:pPr>
            <a:r>
              <a:rPr lang="en-GB" sz="1600" b="1" i="0" u="none" strike="noStrike" dirty="0">
                <a:solidFill>
                  <a:srgbClr val="000000"/>
                </a:solidFill>
                <a:effectLst/>
              </a:rPr>
              <a:t>Azure Container Instances (ACI) or Azure Kubernetes Service (AKS):</a:t>
            </a:r>
            <a:r>
              <a:rPr lang="en-GB" sz="1600" b="0" i="0" u="none" strike="noStrike" dirty="0">
                <a:solidFill>
                  <a:srgbClr val="000000"/>
                </a:solidFill>
                <a:effectLst/>
              </a:rPr>
              <a:t> These services are used to host your deployed model as a web service, allowing other applications to interact with it via an API.</a:t>
            </a:r>
          </a:p>
          <a:p>
            <a:pPr marL="800100" lvl="1" indent="-342900" algn="l">
              <a:buFont typeface="+mj-lt"/>
              <a:buAutoNum type="alphaLcPeriod"/>
            </a:pPr>
            <a:r>
              <a:rPr lang="en-GB" sz="1600" b="1" i="0" u="none" strike="noStrike" dirty="0">
                <a:solidFill>
                  <a:srgbClr val="000000"/>
                </a:solidFill>
                <a:effectLst/>
              </a:rPr>
              <a:t>Azure Container Instances (ACI):</a:t>
            </a:r>
            <a:r>
              <a:rPr lang="en-GB" sz="1600" b="0" i="0" u="none" strike="noStrike" dirty="0">
                <a:solidFill>
                  <a:srgbClr val="000000"/>
                </a:solidFill>
                <a:effectLst/>
              </a:rPr>
              <a:t> A quick and simple way to run containers in Azure without managing servers. It's suitable for smaller-scale deployments, testing, or when you need to quickly spin up a single container.</a:t>
            </a:r>
          </a:p>
          <a:p>
            <a:pPr marL="800100" lvl="1" indent="-342900" algn="l">
              <a:buFont typeface="+mj-lt"/>
              <a:buAutoNum type="alphaLcPeriod"/>
            </a:pPr>
            <a:r>
              <a:rPr lang="en-GB" sz="1600" b="1" i="0" u="none" strike="noStrike" dirty="0">
                <a:solidFill>
                  <a:srgbClr val="000000"/>
                </a:solidFill>
                <a:effectLst/>
              </a:rPr>
              <a:t>Azure Kubernetes Service (AKS):</a:t>
            </a:r>
            <a:r>
              <a:rPr lang="en-GB" sz="1600" b="0" i="0" u="none" strike="noStrike" dirty="0">
                <a:solidFill>
                  <a:srgbClr val="000000"/>
                </a:solidFill>
                <a:effectLst/>
              </a:rPr>
              <a:t> A more advanced and scalable solution for managing containerized applications. AKS is ideal for production workloads that require high availability, complex scaling, and robust orchestration.</a:t>
            </a:r>
          </a:p>
          <a:p>
            <a:pPr>
              <a:buFont typeface="Arial" panose="020B0604020202020204" pitchFamily="34" charset="0"/>
              <a:buChar char="•"/>
            </a:pPr>
            <a:endParaRPr lang="en-GB" sz="1600" dirty="0"/>
          </a:p>
        </p:txBody>
      </p:sp>
    </p:spTree>
    <p:extLst>
      <p:ext uri="{BB962C8B-B14F-4D97-AF65-F5344CB8AC3E}">
        <p14:creationId xmlns:p14="http://schemas.microsoft.com/office/powerpoint/2010/main" val="32774850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156F4826-8A0A-6DD7-A2D9-DB525F80EE3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530F801B-EEDF-4E4C-F5B9-49EE61262F06}"/>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dirty="0"/>
              <a:t>Deploying Models on Microsoft Azure</a:t>
            </a:r>
            <a:br>
              <a:rPr lang="en-GB" sz="2800" b="1" dirty="0"/>
            </a:br>
            <a:br>
              <a:rPr lang="en-GB" sz="2800" b="1" dirty="0"/>
            </a:br>
            <a:br>
              <a:rPr lang="en-GB" sz="2400" kern="100" dirty="0">
                <a:solidFill>
                  <a:srgbClr val="7030A0"/>
                </a:solidFill>
                <a:effectLst/>
                <a:latin typeface="Aptos" panose="020B0004020202020204" pitchFamily="34" charset="0"/>
                <a:ea typeface="Aptos" panose="020B0004020202020204" pitchFamily="34" charset="0"/>
                <a:cs typeface="Arial" panose="020B0604020202020204" pitchFamily="34" charset="0"/>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6108E450-11A9-713B-43A3-77010BEBC752}"/>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7EDC4907-7308-DED7-AAA6-B8CB6EE4EECD}"/>
              </a:ext>
            </a:extLst>
          </p:cNvPr>
          <p:cNvSpPr txBox="1"/>
          <p:nvPr/>
        </p:nvSpPr>
        <p:spPr>
          <a:xfrm>
            <a:off x="0" y="463981"/>
            <a:ext cx="8534913" cy="4862870"/>
          </a:xfrm>
          <a:prstGeom prst="rect">
            <a:avLst/>
          </a:prstGeom>
          <a:noFill/>
        </p:spPr>
        <p:txBody>
          <a:bodyPr wrap="square">
            <a:spAutoFit/>
          </a:bodyPr>
          <a:lstStyle/>
          <a:p>
            <a:pPr algn="l">
              <a:buNone/>
            </a:pPr>
            <a:r>
              <a:rPr lang="en-GB" b="1" i="0" u="none" strike="noStrike" dirty="0">
                <a:solidFill>
                  <a:srgbClr val="000000"/>
                </a:solidFill>
                <a:effectLst/>
              </a:rPr>
              <a:t>Steps for Model Deployment:</a:t>
            </a:r>
          </a:p>
          <a:p>
            <a:pPr algn="l">
              <a:buFont typeface="+mj-lt"/>
              <a:buAutoNum type="arabicPeriod"/>
            </a:pPr>
            <a:r>
              <a:rPr lang="en-GB" b="1" i="0" u="none" strike="noStrike" dirty="0">
                <a:solidFill>
                  <a:srgbClr val="000000"/>
                </a:solidFill>
                <a:effectLst/>
              </a:rPr>
              <a:t>Upload Your Model to Azure Blob Storage:</a:t>
            </a:r>
            <a:r>
              <a:rPr lang="en-GB" dirty="0"/>
              <a:t> </a:t>
            </a:r>
            <a:r>
              <a:rPr lang="en-GB" b="0" i="0" u="none" strike="noStrike" dirty="0">
                <a:solidFill>
                  <a:srgbClr val="000000"/>
                </a:solidFill>
                <a:effectLst/>
              </a:rPr>
              <a:t>First, you'll take your trained model file (e.g., a .</a:t>
            </a:r>
            <a:r>
              <a:rPr lang="en-GB" b="0" i="0" u="none" strike="noStrike" dirty="0" err="1">
                <a:solidFill>
                  <a:srgbClr val="000000"/>
                </a:solidFill>
                <a:effectLst/>
              </a:rPr>
              <a:t>pkl</a:t>
            </a:r>
            <a:r>
              <a:rPr lang="en-GB" b="0" i="0" u="none" strike="noStrike" dirty="0">
                <a:solidFill>
                  <a:srgbClr val="000000"/>
                </a:solidFill>
                <a:effectLst/>
              </a:rPr>
              <a:t> for scikit-learn models, .h5 for </a:t>
            </a:r>
            <a:r>
              <a:rPr lang="en-GB" b="0" i="0" u="none" strike="noStrike" dirty="0" err="1">
                <a:solidFill>
                  <a:srgbClr val="000000"/>
                </a:solidFill>
                <a:effectLst/>
              </a:rPr>
              <a:t>Keras</a:t>
            </a:r>
            <a:r>
              <a:rPr lang="en-GB" b="0" i="0" u="none" strike="noStrike" dirty="0">
                <a:solidFill>
                  <a:srgbClr val="000000"/>
                </a:solidFill>
                <a:effectLst/>
              </a:rPr>
              <a:t>, or .pb for TensorFlow) and upload it to an </a:t>
            </a:r>
            <a:r>
              <a:rPr lang="en-GB" b="1" i="0" u="none" strike="noStrike" dirty="0">
                <a:solidFill>
                  <a:srgbClr val="000000"/>
                </a:solidFill>
                <a:effectLst/>
              </a:rPr>
              <a:t>Azure Blob Storage container</a:t>
            </a:r>
            <a:r>
              <a:rPr lang="en-GB" b="0" i="0" u="none" strike="noStrike" dirty="0">
                <a:solidFill>
                  <a:srgbClr val="000000"/>
                </a:solidFill>
                <a:effectLst/>
              </a:rPr>
              <a:t>. This makes your model accessible within the Azure environment.</a:t>
            </a:r>
          </a:p>
          <a:p>
            <a:pPr algn="l">
              <a:buFont typeface="+mj-lt"/>
              <a:buAutoNum type="arabicPeriod"/>
            </a:pPr>
            <a:r>
              <a:rPr lang="en-GB" b="1" i="0" u="none" strike="noStrike" dirty="0">
                <a:solidFill>
                  <a:srgbClr val="000000"/>
                </a:solidFill>
                <a:effectLst/>
              </a:rPr>
              <a:t>Register the Model in Azure ML Workspace:</a:t>
            </a:r>
            <a:r>
              <a:rPr lang="en-GB" dirty="0"/>
              <a:t> </a:t>
            </a:r>
            <a:r>
              <a:rPr lang="en-GB" b="0" i="0" u="none" strike="noStrike" dirty="0">
                <a:solidFill>
                  <a:srgbClr val="000000"/>
                </a:solidFill>
                <a:effectLst/>
              </a:rPr>
              <a:t>Within your </a:t>
            </a:r>
            <a:r>
              <a:rPr lang="en-GB" b="1" i="0" u="none" strike="noStrike" dirty="0">
                <a:solidFill>
                  <a:srgbClr val="000000"/>
                </a:solidFill>
                <a:effectLst/>
              </a:rPr>
              <a:t>Azure Machine Learning Workspace</a:t>
            </a:r>
            <a:r>
              <a:rPr lang="en-GB" b="0" i="0" u="none" strike="noStrike" dirty="0">
                <a:solidFill>
                  <a:srgbClr val="000000"/>
                </a:solidFill>
                <a:effectLst/>
              </a:rPr>
              <a:t>, you'll "register" your model. This means you're creating a record of your model, pointing to its location in Azure Blob Storage. Registering allows Azure ML to keep track of different model versions and metadata.</a:t>
            </a:r>
          </a:p>
          <a:p>
            <a:pPr algn="l">
              <a:buFont typeface="+mj-lt"/>
              <a:buAutoNum type="arabicPeriod"/>
            </a:pPr>
            <a:r>
              <a:rPr lang="en-GB" b="1" i="0" u="none" strike="noStrike" dirty="0">
                <a:solidFill>
                  <a:srgbClr val="000000"/>
                </a:solidFill>
                <a:effectLst/>
              </a:rPr>
              <a:t>Create an Inference Configuration and Deployment </a:t>
            </a:r>
            <a:r>
              <a:rPr lang="en-GB" b="1" i="0" u="none" strike="noStrike" dirty="0" err="1">
                <a:solidFill>
                  <a:srgbClr val="000000"/>
                </a:solidFill>
                <a:effectLst/>
              </a:rPr>
              <a:t>Configuration:</a:t>
            </a:r>
            <a:r>
              <a:rPr lang="en-GB" b="0" i="0" u="none" strike="noStrike" dirty="0" err="1">
                <a:solidFill>
                  <a:srgbClr val="000000"/>
                </a:solidFill>
                <a:effectLst/>
              </a:rPr>
              <a:t>To</a:t>
            </a:r>
            <a:r>
              <a:rPr lang="en-GB" b="0" i="0" u="none" strike="noStrike" dirty="0">
                <a:solidFill>
                  <a:srgbClr val="000000"/>
                </a:solidFill>
                <a:effectLst/>
              </a:rPr>
              <a:t> prepare your model for deployment, you define two key configurations:</a:t>
            </a:r>
          </a:p>
          <a:p>
            <a:pPr marL="1257300" lvl="2" indent="-342900" algn="l">
              <a:buFont typeface="+mj-lt"/>
              <a:buAutoNum type="alphaLcPeriod"/>
            </a:pPr>
            <a:r>
              <a:rPr lang="en-GB" b="1" i="0" u="none" strike="noStrike" dirty="0">
                <a:solidFill>
                  <a:srgbClr val="000000"/>
                </a:solidFill>
                <a:effectLst/>
              </a:rPr>
              <a:t>Inference Configuration:</a:t>
            </a:r>
            <a:r>
              <a:rPr lang="en-GB" b="0" i="0" u="none" strike="noStrike" dirty="0">
                <a:solidFill>
                  <a:srgbClr val="000000"/>
                </a:solidFill>
                <a:effectLst/>
              </a:rPr>
              <a:t> This specifies how your model should run when it receives a request. It includes things like the scoring script (a Python file that loads your model and processes incoming data to generate predictions) and the environment (the software dependencies your model needs to run, like specific Python libraries).</a:t>
            </a:r>
          </a:p>
          <a:p>
            <a:pPr marL="1257300" lvl="2" indent="-342900" algn="l">
              <a:buFont typeface="+mj-lt"/>
              <a:buAutoNum type="alphaLcPeriod"/>
            </a:pPr>
            <a:r>
              <a:rPr lang="en-GB" b="1" i="0" u="none" strike="noStrike" dirty="0">
                <a:solidFill>
                  <a:srgbClr val="000000"/>
                </a:solidFill>
                <a:effectLst/>
              </a:rPr>
              <a:t>Deployment Configuration:</a:t>
            </a:r>
            <a:r>
              <a:rPr lang="en-GB" b="0" i="0" u="none" strike="noStrike" dirty="0">
                <a:solidFill>
                  <a:srgbClr val="000000"/>
                </a:solidFill>
                <a:effectLst/>
              </a:rPr>
              <a:t> This dictates the compute resources and infrastructure for your deployment. You choose whether to use ACI or AKS, specify the number of instances, CPU/memory requirements, and other scaling settings.</a:t>
            </a:r>
          </a:p>
          <a:p>
            <a:pPr algn="l">
              <a:buFont typeface="+mj-lt"/>
              <a:buAutoNum type="arabicPeriod"/>
            </a:pPr>
            <a:r>
              <a:rPr lang="en-GB" b="1" i="0" u="none" strike="noStrike" dirty="0">
                <a:solidFill>
                  <a:srgbClr val="000000"/>
                </a:solidFill>
                <a:effectLst/>
              </a:rPr>
              <a:t>Deploy the Model to Azure Container Instance or AKS:</a:t>
            </a:r>
            <a:r>
              <a:rPr lang="en-GB" dirty="0"/>
              <a:t> </a:t>
            </a:r>
            <a:r>
              <a:rPr lang="en-GB" b="0" i="0" u="none" strike="noStrike" dirty="0">
                <a:solidFill>
                  <a:srgbClr val="000000"/>
                </a:solidFill>
                <a:effectLst/>
              </a:rPr>
              <a:t>Finally, you initiate the deployment using the configurations you just created. Azure will take your registered model, the inference and deployment settings, and deploy it as a web service onto either an </a:t>
            </a:r>
            <a:r>
              <a:rPr lang="en-GB" b="1" i="0" u="none" strike="noStrike" dirty="0">
                <a:solidFill>
                  <a:srgbClr val="000000"/>
                </a:solidFill>
                <a:effectLst/>
              </a:rPr>
              <a:t>Azure Container Instance</a:t>
            </a:r>
            <a:r>
              <a:rPr lang="en-GB" b="0" i="0" u="none" strike="noStrike" dirty="0">
                <a:solidFill>
                  <a:srgbClr val="000000"/>
                </a:solidFill>
                <a:effectLst/>
              </a:rPr>
              <a:t> or an </a:t>
            </a:r>
            <a:r>
              <a:rPr lang="en-GB" b="1" i="0" u="none" strike="noStrike" dirty="0">
                <a:solidFill>
                  <a:srgbClr val="000000"/>
                </a:solidFill>
                <a:effectLst/>
              </a:rPr>
              <a:t>Azure Kubernetes Service cluster</a:t>
            </a:r>
            <a:r>
              <a:rPr lang="en-GB" b="0" i="0" u="none" strike="noStrike" dirty="0">
                <a:solidFill>
                  <a:srgbClr val="000000"/>
                </a:solidFill>
                <a:effectLst/>
              </a:rPr>
              <a:t>. This creates a live endpoint (a unique web address) that applications can call to send data to your model and get predictions back.</a:t>
            </a:r>
          </a:p>
          <a:p>
            <a:pPr>
              <a:buFont typeface="Arial" panose="020B0604020202020204" pitchFamily="34" charset="0"/>
              <a:buChar char="•"/>
            </a:pPr>
            <a:endParaRPr lang="en-GB" sz="1600" dirty="0"/>
          </a:p>
        </p:txBody>
      </p:sp>
    </p:spTree>
    <p:extLst>
      <p:ext uri="{BB962C8B-B14F-4D97-AF65-F5344CB8AC3E}">
        <p14:creationId xmlns:p14="http://schemas.microsoft.com/office/powerpoint/2010/main" val="11769635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A6EBE3DC-1FE8-32CA-D053-0B5A8EC503FF}"/>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DCB1CC01-28C4-6514-5F18-FCF715CD2C84}"/>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i="0" u="none" strike="noStrike" dirty="0">
                <a:solidFill>
                  <a:srgbClr val="7030A0"/>
                </a:solidFill>
                <a:effectLst/>
                <a:latin typeface="DeepSeek-CJK-patch"/>
              </a:rPr>
              <a:t>Deploying on Azure ML</a:t>
            </a:r>
            <a:br>
              <a:rPr lang="en-GB" sz="2800" b="1" i="0" u="none" strike="noStrike" dirty="0">
                <a:solidFill>
                  <a:srgbClr val="404040"/>
                </a:solidFill>
                <a:effectLst/>
                <a:latin typeface="DeepSeek-CJK-patch"/>
              </a:rPr>
            </a:br>
            <a:br>
              <a:rPr lang="en-GB" sz="2800" b="1" dirty="0"/>
            </a:br>
            <a:br>
              <a:rPr lang="en-GB" sz="2800" b="1" dirty="0"/>
            </a:br>
            <a:br>
              <a:rPr lang="en-GB" sz="2400" kern="100" dirty="0">
                <a:solidFill>
                  <a:srgbClr val="7030A0"/>
                </a:solidFill>
                <a:effectLst/>
                <a:latin typeface="Aptos" panose="020B0004020202020204" pitchFamily="34" charset="0"/>
                <a:ea typeface="Aptos" panose="020B0004020202020204" pitchFamily="34" charset="0"/>
                <a:cs typeface="Arial" panose="020B0604020202020204" pitchFamily="34" charset="0"/>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C6B9969D-5CF2-80E9-9E91-16CBA0CC72FF}"/>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B281B720-6323-D9F0-E33A-852B3B8ADCD7}"/>
              </a:ext>
            </a:extLst>
          </p:cNvPr>
          <p:cNvSpPr txBox="1"/>
          <p:nvPr/>
        </p:nvSpPr>
        <p:spPr>
          <a:xfrm>
            <a:off x="0" y="463981"/>
            <a:ext cx="8534913" cy="1031051"/>
          </a:xfrm>
          <a:prstGeom prst="rect">
            <a:avLst/>
          </a:prstGeom>
          <a:noFill/>
        </p:spPr>
        <p:txBody>
          <a:bodyPr wrap="square">
            <a:spAutoFit/>
          </a:bodyPr>
          <a:lstStyle/>
          <a:p>
            <a:pPr algn="l">
              <a:buNone/>
            </a:pPr>
            <a:r>
              <a:rPr lang="en-GB" i="0" u="none" strike="noStrike" dirty="0">
                <a:solidFill>
                  <a:srgbClr val="404040"/>
                </a:solidFill>
                <a:effectLst/>
                <a:latin typeface="Arial" panose="020B0604020202020204" pitchFamily="34" charset="0"/>
                <a:cs typeface="Arial" panose="020B0604020202020204" pitchFamily="34" charset="0"/>
              </a:rPr>
              <a:t>Steps:</a:t>
            </a:r>
          </a:p>
          <a:p>
            <a:pPr algn="l">
              <a:buFont typeface="+mj-lt"/>
              <a:buAutoNum type="arabicPeriod"/>
            </a:pPr>
            <a:r>
              <a:rPr lang="en-GB" i="0" u="none" strike="noStrike" dirty="0">
                <a:solidFill>
                  <a:srgbClr val="404040"/>
                </a:solidFill>
                <a:effectLst/>
                <a:latin typeface="Arial" panose="020B0604020202020204" pitchFamily="34" charset="0"/>
                <a:cs typeface="Arial" panose="020B0604020202020204" pitchFamily="34" charset="0"/>
              </a:rPr>
              <a:t>Register Model in Azure ML Studio.</a:t>
            </a:r>
          </a:p>
          <a:p>
            <a:pPr algn="l">
              <a:spcBef>
                <a:spcPts val="300"/>
              </a:spcBef>
              <a:spcAft>
                <a:spcPts val="300"/>
              </a:spcAft>
              <a:buFont typeface="+mj-lt"/>
              <a:buAutoNum type="arabicPeriod"/>
            </a:pPr>
            <a:r>
              <a:rPr lang="en-GB" i="0" u="none" strike="noStrike" dirty="0">
                <a:solidFill>
                  <a:srgbClr val="404040"/>
                </a:solidFill>
                <a:effectLst/>
                <a:latin typeface="Arial" panose="020B0604020202020204" pitchFamily="34" charset="0"/>
                <a:cs typeface="Arial" panose="020B0604020202020204" pitchFamily="34" charset="0"/>
              </a:rPr>
              <a:t>Deploy as ACI (Azure Container Instance) or AKS (Kubernetes):</a:t>
            </a:r>
          </a:p>
          <a:p>
            <a:pPr>
              <a:buFont typeface="Arial" panose="020B0604020202020204" pitchFamily="34" charset="0"/>
              <a:buChar char="•"/>
            </a:pPr>
            <a:endParaRPr lang="en-GB"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A516514E-38E6-4428-4715-BE294099FA0B}"/>
              </a:ext>
            </a:extLst>
          </p:cNvPr>
          <p:cNvSpPr txBox="1"/>
          <p:nvPr/>
        </p:nvSpPr>
        <p:spPr>
          <a:xfrm>
            <a:off x="284775" y="1232922"/>
            <a:ext cx="6410740" cy="2123658"/>
          </a:xfrm>
          <a:prstGeom prst="rect">
            <a:avLst/>
          </a:prstGeom>
          <a:solidFill>
            <a:schemeClr val="accent1">
              <a:lumMod val="40000"/>
              <a:lumOff val="60000"/>
            </a:schemeClr>
          </a:solidFill>
        </p:spPr>
        <p:txBody>
          <a:bodyPr wrap="square">
            <a:spAutoFit/>
          </a:bodyPr>
          <a:lstStyle/>
          <a:p>
            <a:r>
              <a:rPr lang="en-US" sz="1200" dirty="0"/>
              <a:t>from </a:t>
            </a:r>
            <a:r>
              <a:rPr lang="en-US" sz="1200" dirty="0" err="1"/>
              <a:t>azureml.core</a:t>
            </a:r>
            <a:r>
              <a:rPr lang="en-US" sz="1200" dirty="0"/>
              <a:t> import Model, Environment</a:t>
            </a:r>
          </a:p>
          <a:p>
            <a:r>
              <a:rPr lang="en-US" sz="1200" dirty="0"/>
              <a:t>from </a:t>
            </a:r>
            <a:r>
              <a:rPr lang="en-US" sz="1200" dirty="0" err="1"/>
              <a:t>azureml.core.webservice</a:t>
            </a:r>
            <a:r>
              <a:rPr lang="en-US" sz="1200" dirty="0"/>
              <a:t> import </a:t>
            </a:r>
            <a:r>
              <a:rPr lang="en-US" sz="1200" dirty="0" err="1"/>
              <a:t>AciWebservice</a:t>
            </a:r>
            <a:endParaRPr lang="en-US" sz="1200" dirty="0"/>
          </a:p>
          <a:p>
            <a:r>
              <a:rPr lang="en-US" sz="1200" dirty="0"/>
              <a:t>env = </a:t>
            </a:r>
            <a:r>
              <a:rPr lang="en-US" sz="1200" dirty="0" err="1"/>
              <a:t>Environment.from_conda_specification</a:t>
            </a:r>
            <a:r>
              <a:rPr lang="en-US" sz="1200" dirty="0"/>
              <a:t>("</a:t>
            </a:r>
            <a:r>
              <a:rPr lang="en-US" sz="1200" dirty="0" err="1"/>
              <a:t>tf</a:t>
            </a:r>
            <a:r>
              <a:rPr lang="en-US" sz="1200" dirty="0"/>
              <a:t>-env", "</a:t>
            </a:r>
            <a:r>
              <a:rPr lang="en-US" sz="1200" dirty="0" err="1"/>
              <a:t>env.yml</a:t>
            </a:r>
            <a:r>
              <a:rPr lang="en-US" sz="1200" dirty="0"/>
              <a:t>")</a:t>
            </a:r>
          </a:p>
          <a:p>
            <a:r>
              <a:rPr lang="en-US" sz="1200" dirty="0"/>
              <a:t>service = </a:t>
            </a:r>
            <a:r>
              <a:rPr lang="en-US" sz="1200" dirty="0" err="1"/>
              <a:t>Model.deploy</a:t>
            </a:r>
            <a:r>
              <a:rPr lang="en-US" sz="1200" dirty="0"/>
              <a:t>(</a:t>
            </a:r>
          </a:p>
          <a:p>
            <a:r>
              <a:rPr lang="en-US" sz="1200" dirty="0"/>
              <a:t>    workspace=</a:t>
            </a:r>
            <a:r>
              <a:rPr lang="en-US" sz="1200" dirty="0" err="1"/>
              <a:t>ws</a:t>
            </a:r>
            <a:r>
              <a:rPr lang="en-US" sz="1200" dirty="0"/>
              <a:t>,</a:t>
            </a:r>
          </a:p>
          <a:p>
            <a:r>
              <a:rPr lang="en-US" sz="1200" dirty="0"/>
              <a:t>    name="iris-service",</a:t>
            </a:r>
          </a:p>
          <a:p>
            <a:r>
              <a:rPr lang="en-US" sz="1200" dirty="0"/>
              <a:t>    models=[model],   </a:t>
            </a:r>
            <a:r>
              <a:rPr lang="en-US" sz="1200" dirty="0" err="1"/>
              <a:t>inference_config</a:t>
            </a:r>
            <a:r>
              <a:rPr lang="en-US" sz="1200" dirty="0"/>
              <a:t>=</a:t>
            </a:r>
            <a:r>
              <a:rPr lang="en-US" sz="1200" dirty="0" err="1"/>
              <a:t>InferenceConfig</a:t>
            </a:r>
            <a:r>
              <a:rPr lang="en-US" sz="1200" dirty="0"/>
              <a:t>(</a:t>
            </a:r>
            <a:r>
              <a:rPr lang="en-US" sz="1200" dirty="0" err="1"/>
              <a:t>entry_script</a:t>
            </a:r>
            <a:r>
              <a:rPr lang="en-US" sz="1200" dirty="0"/>
              <a:t>="</a:t>
            </a:r>
            <a:r>
              <a:rPr lang="en-US" sz="1200" dirty="0" err="1"/>
              <a:t>score.py</a:t>
            </a:r>
            <a:r>
              <a:rPr lang="en-US" sz="1200" dirty="0"/>
              <a:t>", environment=env),   </a:t>
            </a:r>
            <a:r>
              <a:rPr lang="en-US" sz="1200" dirty="0" err="1"/>
              <a:t>deployment_config</a:t>
            </a:r>
            <a:r>
              <a:rPr lang="en-US" sz="1200" dirty="0"/>
              <a:t>=</a:t>
            </a:r>
            <a:r>
              <a:rPr lang="en-US" sz="1200" dirty="0" err="1"/>
              <a:t>AciWebservice.deploy_configuration</a:t>
            </a:r>
            <a:r>
              <a:rPr lang="en-US" sz="1200" dirty="0"/>
              <a:t>(</a:t>
            </a:r>
            <a:r>
              <a:rPr lang="en-US" sz="1200" dirty="0" err="1"/>
              <a:t>cpu_cores</a:t>
            </a:r>
            <a:r>
              <a:rPr lang="en-US" sz="1200" dirty="0"/>
              <a:t>=1, </a:t>
            </a:r>
            <a:r>
              <a:rPr lang="en-US" sz="1200" dirty="0" err="1"/>
              <a:t>memory_gb</a:t>
            </a:r>
            <a:r>
              <a:rPr lang="en-US" sz="1200" dirty="0"/>
              <a:t>=1)</a:t>
            </a:r>
          </a:p>
          <a:p>
            <a:r>
              <a:rPr lang="en-US" sz="1200" dirty="0"/>
              <a:t>)</a:t>
            </a:r>
          </a:p>
          <a:p>
            <a:r>
              <a:rPr lang="en-US" sz="1200" dirty="0" err="1"/>
              <a:t>service.wait_for_deployment</a:t>
            </a:r>
            <a:r>
              <a:rPr lang="en-US" sz="1200" dirty="0"/>
              <a:t>(</a:t>
            </a:r>
            <a:r>
              <a:rPr lang="en-US" sz="1200" dirty="0" err="1"/>
              <a:t>show_output</a:t>
            </a:r>
            <a:r>
              <a:rPr lang="en-US" sz="1200" dirty="0"/>
              <a:t>=True)</a:t>
            </a:r>
          </a:p>
        </p:txBody>
      </p:sp>
      <p:sp>
        <p:nvSpPr>
          <p:cNvPr id="7" name="TextBox 6">
            <a:extLst>
              <a:ext uri="{FF2B5EF4-FFF2-40B4-BE49-F238E27FC236}">
                <a16:creationId xmlns:a16="http://schemas.microsoft.com/office/drawing/2014/main" id="{ED2C48A8-8FB5-DC81-1B0C-C4AA4A070CA8}"/>
              </a:ext>
            </a:extLst>
          </p:cNvPr>
          <p:cNvSpPr txBox="1"/>
          <p:nvPr/>
        </p:nvSpPr>
        <p:spPr>
          <a:xfrm>
            <a:off x="191328" y="3539560"/>
            <a:ext cx="4655488" cy="307777"/>
          </a:xfrm>
          <a:prstGeom prst="rect">
            <a:avLst/>
          </a:prstGeom>
          <a:noFill/>
        </p:spPr>
        <p:txBody>
          <a:bodyPr wrap="square">
            <a:spAutoFit/>
          </a:bodyPr>
          <a:lstStyle/>
          <a:p>
            <a:r>
              <a:rPr lang="en-GB" b="1" i="0" u="none" strike="noStrike" dirty="0">
                <a:solidFill>
                  <a:srgbClr val="404040"/>
                </a:solidFill>
                <a:effectLst/>
                <a:latin typeface="DeepSeek-CJK-patch"/>
              </a:rPr>
              <a:t>3. Call the Endpoint:</a:t>
            </a:r>
            <a:endParaRPr lang="en-US" dirty="0"/>
          </a:p>
        </p:txBody>
      </p:sp>
      <p:sp>
        <p:nvSpPr>
          <p:cNvPr id="9" name="TextBox 8">
            <a:extLst>
              <a:ext uri="{FF2B5EF4-FFF2-40B4-BE49-F238E27FC236}">
                <a16:creationId xmlns:a16="http://schemas.microsoft.com/office/drawing/2014/main" id="{10791512-7505-3D45-C512-F02AE73E44B9}"/>
              </a:ext>
            </a:extLst>
          </p:cNvPr>
          <p:cNvSpPr txBox="1"/>
          <p:nvPr/>
        </p:nvSpPr>
        <p:spPr>
          <a:xfrm>
            <a:off x="1939712" y="3564914"/>
            <a:ext cx="4655488" cy="276999"/>
          </a:xfrm>
          <a:prstGeom prst="rect">
            <a:avLst/>
          </a:prstGeom>
          <a:solidFill>
            <a:schemeClr val="accent1">
              <a:lumMod val="40000"/>
              <a:lumOff val="60000"/>
            </a:schemeClr>
          </a:solidFill>
        </p:spPr>
        <p:txBody>
          <a:bodyPr wrap="square">
            <a:spAutoFit/>
          </a:bodyPr>
          <a:lstStyle/>
          <a:p>
            <a:r>
              <a:rPr lang="en-US" sz="1200" dirty="0" err="1"/>
              <a:t>service.run</a:t>
            </a:r>
            <a:r>
              <a:rPr lang="en-US" sz="1200" dirty="0"/>
              <a:t>(</a:t>
            </a:r>
            <a:r>
              <a:rPr lang="en-US" sz="1200" dirty="0" err="1"/>
              <a:t>input_data</a:t>
            </a:r>
            <a:r>
              <a:rPr lang="en-US" sz="1200" dirty="0"/>
              <a:t>=[[5.1, 3.5, 1.4, 0.2]])</a:t>
            </a:r>
          </a:p>
        </p:txBody>
      </p:sp>
      <p:sp>
        <p:nvSpPr>
          <p:cNvPr id="11" name="TextBox 10">
            <a:extLst>
              <a:ext uri="{FF2B5EF4-FFF2-40B4-BE49-F238E27FC236}">
                <a16:creationId xmlns:a16="http://schemas.microsoft.com/office/drawing/2014/main" id="{7ED1334E-BB42-93F1-D6A3-112BF0766708}"/>
              </a:ext>
            </a:extLst>
          </p:cNvPr>
          <p:cNvSpPr txBox="1"/>
          <p:nvPr/>
        </p:nvSpPr>
        <p:spPr>
          <a:xfrm>
            <a:off x="467140" y="3961602"/>
            <a:ext cx="4655488" cy="777136"/>
          </a:xfrm>
          <a:prstGeom prst="rect">
            <a:avLst/>
          </a:prstGeom>
          <a:noFill/>
        </p:spPr>
        <p:txBody>
          <a:bodyPr wrap="square">
            <a:spAutoFit/>
          </a:bodyPr>
          <a:lstStyle/>
          <a:p>
            <a:pPr algn="l">
              <a:buNone/>
            </a:pPr>
            <a:r>
              <a:rPr lang="en-GB" b="1" i="0" u="none" strike="noStrike" dirty="0">
                <a:solidFill>
                  <a:srgbClr val="404040"/>
                </a:solidFill>
                <a:effectLst/>
                <a:latin typeface="DeepSeek-CJK-patch"/>
              </a:rPr>
              <a:t>Key Benefits</a:t>
            </a:r>
          </a:p>
          <a:p>
            <a:pPr marL="342900" indent="-342900" algn="l">
              <a:buFont typeface="+mj-lt"/>
              <a:buAutoNum type="arabicPeriod"/>
            </a:pPr>
            <a:r>
              <a:rPr lang="en-GB" b="1" i="0" u="none" strike="noStrike" dirty="0" err="1">
                <a:solidFill>
                  <a:srgbClr val="404040"/>
                </a:solidFill>
                <a:effectLst/>
                <a:latin typeface="DeepSeek-CJK-patch"/>
              </a:rPr>
              <a:t>MLOps</a:t>
            </a:r>
            <a:r>
              <a:rPr lang="en-GB" b="1" i="0" u="none" strike="noStrike" dirty="0">
                <a:solidFill>
                  <a:srgbClr val="404040"/>
                </a:solidFill>
                <a:effectLst/>
                <a:latin typeface="DeepSeek-CJK-patch"/>
              </a:rPr>
              <a:t> Integration</a:t>
            </a:r>
            <a:r>
              <a:rPr lang="en-GB" b="0" i="0" u="none" strike="noStrike" dirty="0">
                <a:solidFill>
                  <a:srgbClr val="404040"/>
                </a:solidFill>
                <a:effectLst/>
                <a:latin typeface="DeepSeek-CJK-patch"/>
              </a:rPr>
              <a:t>: Azure Pipelines for CI/CD.</a:t>
            </a:r>
          </a:p>
          <a:p>
            <a:pPr marL="342900" indent="-342900" algn="l">
              <a:spcBef>
                <a:spcPts val="300"/>
              </a:spcBef>
              <a:buFont typeface="+mj-lt"/>
              <a:buAutoNum type="arabicPeriod"/>
            </a:pPr>
            <a:r>
              <a:rPr lang="en-GB" b="1" i="0" u="none" strike="noStrike" dirty="0">
                <a:solidFill>
                  <a:srgbClr val="404040"/>
                </a:solidFill>
                <a:effectLst/>
                <a:latin typeface="DeepSeek-CJK-patch"/>
              </a:rPr>
              <a:t>Security</a:t>
            </a:r>
            <a:r>
              <a:rPr lang="en-GB" b="0" i="0" u="none" strike="noStrike" dirty="0">
                <a:solidFill>
                  <a:srgbClr val="404040"/>
                </a:solidFill>
                <a:effectLst/>
                <a:latin typeface="DeepSeek-CJK-patch"/>
              </a:rPr>
              <a:t>: </a:t>
            </a:r>
            <a:r>
              <a:rPr lang="en-GB" b="0" i="0" u="none" strike="noStrike" dirty="0" err="1">
                <a:solidFill>
                  <a:srgbClr val="404040"/>
                </a:solidFill>
                <a:effectLst/>
                <a:latin typeface="DeepSeek-CJK-patch"/>
              </a:rPr>
              <a:t>VNet</a:t>
            </a:r>
            <a:r>
              <a:rPr lang="en-GB" b="0" i="0" u="none" strike="noStrike" dirty="0">
                <a:solidFill>
                  <a:srgbClr val="404040"/>
                </a:solidFill>
                <a:effectLst/>
                <a:latin typeface="DeepSeek-CJK-patch"/>
              </a:rPr>
              <a:t> isolation.</a:t>
            </a:r>
          </a:p>
        </p:txBody>
      </p:sp>
    </p:spTree>
    <p:extLst>
      <p:ext uri="{BB962C8B-B14F-4D97-AF65-F5344CB8AC3E}">
        <p14:creationId xmlns:p14="http://schemas.microsoft.com/office/powerpoint/2010/main" val="1680719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28A943C6-2583-862C-F8CC-C53A465C05A3}"/>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BB819111-E6E1-3377-339F-7A85C6FBC82A}"/>
              </a:ext>
            </a:extLst>
          </p:cNvPr>
          <p:cNvSpPr txBox="1">
            <a:spLocks noGrp="1"/>
          </p:cNvSpPr>
          <p:nvPr>
            <p:ph type="title"/>
          </p:nvPr>
        </p:nvSpPr>
        <p:spPr>
          <a:xfrm>
            <a:off x="0" y="0"/>
            <a:ext cx="8614425" cy="627900"/>
          </a:xfrm>
          <a:prstGeom prst="rect">
            <a:avLst/>
          </a:prstGeom>
          <a:noFill/>
          <a:ln>
            <a:noFill/>
          </a:ln>
        </p:spPr>
        <p:txBody>
          <a:bodyPr spcFirstLastPara="1" wrap="square" lIns="91425" tIns="91425" rIns="91425" bIns="91425" anchor="t" anchorCtr="0">
            <a:noAutofit/>
          </a:bodyPr>
          <a:lstStyle/>
          <a:p>
            <a:r>
              <a:rPr lang="en-GB" sz="2000" b="1" dirty="0"/>
              <a:t>Running Deep Learning Models on Mobile using TensorFlow Lite</a:t>
            </a:r>
            <a:br>
              <a:rPr lang="en-GB" sz="2000" b="1" dirty="0"/>
            </a:br>
            <a:br>
              <a:rPr lang="en-GB" sz="2000" b="1" dirty="0"/>
            </a:br>
            <a:br>
              <a:rPr lang="en-GB" sz="2000" b="1" dirty="0"/>
            </a:br>
            <a:br>
              <a:rPr lang="en-GB" sz="2000" kern="100" dirty="0">
                <a:solidFill>
                  <a:srgbClr val="7030A0"/>
                </a:solidFill>
                <a:effectLst/>
                <a:latin typeface="Aptos" panose="020B0004020202020204" pitchFamily="34" charset="0"/>
                <a:ea typeface="Aptos" panose="020B0004020202020204" pitchFamily="34" charset="0"/>
                <a:cs typeface="Arial" panose="020B0604020202020204" pitchFamily="34" charset="0"/>
              </a:rPr>
            </a:br>
            <a:br>
              <a:rPr lang="en-GB" sz="2000" b="1" i="0" u="none" strike="noStrike" dirty="0">
                <a:solidFill>
                  <a:srgbClr val="7030A0"/>
                </a:solidFill>
                <a:effectLst/>
              </a:rPr>
            </a:br>
            <a:br>
              <a:rPr lang="en-GB" sz="2000" b="1" i="0" u="none" strike="noStrike" dirty="0">
                <a:solidFill>
                  <a:srgbClr val="7030A0"/>
                </a:solidFill>
                <a:effectLst/>
              </a:rPr>
            </a:br>
            <a:endParaRPr lang="en-GB" sz="20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456BA66-7B33-2261-B9EF-FCD8BBF77CDF}"/>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338688A9-B138-CFE1-BB86-68063DC321D8}"/>
              </a:ext>
            </a:extLst>
          </p:cNvPr>
          <p:cNvSpPr txBox="1"/>
          <p:nvPr/>
        </p:nvSpPr>
        <p:spPr>
          <a:xfrm>
            <a:off x="0" y="463981"/>
            <a:ext cx="8534913" cy="4339650"/>
          </a:xfrm>
          <a:prstGeom prst="rect">
            <a:avLst/>
          </a:prstGeom>
          <a:noFill/>
        </p:spPr>
        <p:txBody>
          <a:bodyPr wrap="square">
            <a:spAutoFit/>
          </a:bodyPr>
          <a:lstStyle/>
          <a:p>
            <a:pPr>
              <a:buNone/>
            </a:pPr>
            <a:r>
              <a:rPr lang="en-GB" sz="1800" b="0" i="0" u="none" strike="noStrike" dirty="0">
                <a:solidFill>
                  <a:srgbClr val="000000"/>
                </a:solidFill>
                <a:effectLst/>
                <a:latin typeface="Arial" panose="020B0604020202020204" pitchFamily="34" charset="0"/>
                <a:cs typeface="Arial" panose="020B0604020202020204" pitchFamily="34" charset="0"/>
              </a:rPr>
              <a:t>Running advanced AI models, specifically "deep learning" models, on everyday devices like your smartphone or a small, low-power device (like a Raspberry Pi or a microcontroller) presents a challenge because these devices have limited processing power and memory compared to powerful computers or cloud servers. This is where </a:t>
            </a:r>
            <a:r>
              <a:rPr lang="en-GB" sz="1800" b="1" i="0" u="none" strike="noStrike" dirty="0">
                <a:solidFill>
                  <a:srgbClr val="000000"/>
                </a:solidFill>
                <a:effectLst/>
                <a:latin typeface="Arial" panose="020B0604020202020204" pitchFamily="34" charset="0"/>
                <a:cs typeface="Arial" panose="020B0604020202020204" pitchFamily="34" charset="0"/>
              </a:rPr>
              <a:t>TensorFlow Lite</a:t>
            </a:r>
            <a:r>
              <a:rPr lang="en-GB" sz="1800" b="0" i="0" u="none" strike="noStrike" dirty="0">
                <a:solidFill>
                  <a:srgbClr val="000000"/>
                </a:solidFill>
                <a:effectLst/>
                <a:latin typeface="Arial" panose="020B0604020202020204" pitchFamily="34" charset="0"/>
                <a:cs typeface="Arial" panose="020B0604020202020204" pitchFamily="34" charset="0"/>
              </a:rPr>
              <a:t> comes in.</a:t>
            </a:r>
          </a:p>
          <a:p>
            <a:pPr>
              <a:buNone/>
            </a:pPr>
            <a:r>
              <a:rPr lang="en-GB" sz="1600" b="1" dirty="0"/>
              <a:t>What is TensorFlow Lite?</a:t>
            </a:r>
          </a:p>
          <a:p>
            <a:r>
              <a:rPr lang="en-GB" sz="1600" dirty="0"/>
              <a:t>A lightweight version of TensorFlow designed for mobile and embedded devices.</a:t>
            </a:r>
          </a:p>
          <a:p>
            <a:pPr>
              <a:buNone/>
            </a:pPr>
            <a:r>
              <a:rPr lang="en-GB" sz="1600" b="1" dirty="0"/>
              <a:t>Supported Platforms:</a:t>
            </a:r>
            <a:endParaRPr lang="en-GB" sz="1600" b="0" i="0" u="none" strike="noStrike" dirty="0">
              <a:solidFill>
                <a:srgbClr val="000000"/>
              </a:solidFill>
              <a:effectLst/>
            </a:endParaRPr>
          </a:p>
          <a:p>
            <a:pPr marL="342900" indent="-342900" algn="l">
              <a:buFont typeface="+mj-lt"/>
              <a:buAutoNum type="arabicPeriod"/>
            </a:pPr>
            <a:r>
              <a:rPr lang="en-GB" sz="1600" b="1" i="0" u="none" strike="noStrike" dirty="0">
                <a:solidFill>
                  <a:srgbClr val="000000"/>
                </a:solidFill>
                <a:effectLst/>
              </a:rPr>
              <a:t>Android phones and tablets:</a:t>
            </a:r>
            <a:r>
              <a:rPr lang="en-GB" sz="1600" b="0" i="0" u="none" strike="noStrike" dirty="0">
                <a:solidFill>
                  <a:srgbClr val="000000"/>
                </a:solidFill>
                <a:effectLst/>
              </a:rPr>
              <a:t> Powering features like real-time image recognition or intelligent text suggestions.</a:t>
            </a:r>
          </a:p>
          <a:p>
            <a:pPr marL="342900" indent="-342900" algn="l">
              <a:buFont typeface="+mj-lt"/>
              <a:buAutoNum type="arabicPeriod"/>
            </a:pPr>
            <a:r>
              <a:rPr lang="en-GB" sz="1600" b="1" i="0" u="none" strike="noStrike" dirty="0">
                <a:solidFill>
                  <a:srgbClr val="000000"/>
                </a:solidFill>
                <a:effectLst/>
              </a:rPr>
              <a:t>iOS (Apple) devices:</a:t>
            </a:r>
            <a:r>
              <a:rPr lang="en-GB" sz="1600" b="0" i="0" u="none" strike="noStrike" dirty="0">
                <a:solidFill>
                  <a:srgbClr val="000000"/>
                </a:solidFill>
                <a:effectLst/>
              </a:rPr>
              <a:t> Enabling similar AI capabilities on iPhones and iPads.</a:t>
            </a:r>
          </a:p>
          <a:p>
            <a:pPr marL="342900" indent="-342900" algn="l">
              <a:buFont typeface="+mj-lt"/>
              <a:buAutoNum type="arabicPeriod"/>
            </a:pPr>
            <a:r>
              <a:rPr lang="en-GB" sz="1600" b="1" i="0" u="none" strike="noStrike" dirty="0">
                <a:solidFill>
                  <a:srgbClr val="000000"/>
                </a:solidFill>
                <a:effectLst/>
              </a:rPr>
              <a:t>Raspberry Pi:</a:t>
            </a:r>
            <a:r>
              <a:rPr lang="en-GB" sz="1600" b="0" i="0" u="none" strike="noStrike" dirty="0">
                <a:solidFill>
                  <a:srgbClr val="000000"/>
                </a:solidFill>
                <a:effectLst/>
              </a:rPr>
              <a:t> Small, inexpensive computers often used for hobby projects and IoT (Internet of Things) applications.</a:t>
            </a:r>
          </a:p>
          <a:p>
            <a:pPr marL="342900" indent="-342900" algn="l">
              <a:buFont typeface="+mj-lt"/>
              <a:buAutoNum type="arabicPeriod"/>
            </a:pPr>
            <a:r>
              <a:rPr lang="en-GB" sz="1600" b="1" i="0" u="none" strike="noStrike" dirty="0">
                <a:solidFill>
                  <a:srgbClr val="000000"/>
                </a:solidFill>
                <a:effectLst/>
              </a:rPr>
              <a:t>Microcontrollers:</a:t>
            </a:r>
            <a:r>
              <a:rPr lang="en-GB" sz="1600" b="0" i="0" u="none" strike="noStrike" dirty="0">
                <a:solidFill>
                  <a:srgbClr val="000000"/>
                </a:solidFill>
                <a:effectLst/>
              </a:rPr>
              <a:t> Tiny, very low-power computer chips found in smart appliances, wearables, and many other "smart" devices.</a:t>
            </a:r>
          </a:p>
          <a:p>
            <a:pPr>
              <a:buFont typeface="Arial" panose="020B0604020202020204" pitchFamily="34" charset="0"/>
              <a:buChar char="•"/>
            </a:pPr>
            <a:endParaRPr lang="en-GB" sz="1600" dirty="0"/>
          </a:p>
        </p:txBody>
      </p:sp>
    </p:spTree>
    <p:extLst>
      <p:ext uri="{BB962C8B-B14F-4D97-AF65-F5344CB8AC3E}">
        <p14:creationId xmlns:p14="http://schemas.microsoft.com/office/powerpoint/2010/main" val="24178239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22C4CE75-972D-8219-2E02-7B782EC4B0E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E8C9B52-A650-FE0C-A98E-2B15D70F6A39}"/>
              </a:ext>
            </a:extLst>
          </p:cNvPr>
          <p:cNvSpPr txBox="1">
            <a:spLocks noGrp="1"/>
          </p:cNvSpPr>
          <p:nvPr>
            <p:ph type="title"/>
          </p:nvPr>
        </p:nvSpPr>
        <p:spPr>
          <a:xfrm>
            <a:off x="0" y="0"/>
            <a:ext cx="8614425" cy="627900"/>
          </a:xfrm>
          <a:prstGeom prst="rect">
            <a:avLst/>
          </a:prstGeom>
          <a:noFill/>
          <a:ln>
            <a:noFill/>
          </a:ln>
        </p:spPr>
        <p:txBody>
          <a:bodyPr spcFirstLastPara="1" wrap="square" lIns="91425" tIns="91425" rIns="91425" bIns="91425" anchor="t" anchorCtr="0">
            <a:noAutofit/>
          </a:bodyPr>
          <a:lstStyle/>
          <a:p>
            <a:r>
              <a:rPr lang="en-GB" sz="2000" b="1" dirty="0"/>
              <a:t>Running Deep Learning Models on Mobile using TensorFlow Lite</a:t>
            </a:r>
            <a:br>
              <a:rPr lang="en-GB" sz="2000" b="1" dirty="0"/>
            </a:br>
            <a:br>
              <a:rPr lang="en-GB" sz="2000" b="1" dirty="0"/>
            </a:br>
            <a:br>
              <a:rPr lang="en-GB" sz="2000" b="1" dirty="0"/>
            </a:br>
            <a:br>
              <a:rPr lang="en-GB" sz="2000" kern="100" dirty="0">
                <a:solidFill>
                  <a:srgbClr val="7030A0"/>
                </a:solidFill>
                <a:effectLst/>
                <a:latin typeface="Aptos" panose="020B0004020202020204" pitchFamily="34" charset="0"/>
                <a:ea typeface="Aptos" panose="020B0004020202020204" pitchFamily="34" charset="0"/>
                <a:cs typeface="Arial" panose="020B0604020202020204" pitchFamily="34" charset="0"/>
              </a:rPr>
            </a:br>
            <a:br>
              <a:rPr lang="en-GB" sz="2000" b="1" i="0" u="none" strike="noStrike" dirty="0">
                <a:solidFill>
                  <a:srgbClr val="7030A0"/>
                </a:solidFill>
                <a:effectLst/>
              </a:rPr>
            </a:br>
            <a:br>
              <a:rPr lang="en-GB" sz="2000" b="1" i="0" u="none" strike="noStrike" dirty="0">
                <a:solidFill>
                  <a:srgbClr val="7030A0"/>
                </a:solidFill>
                <a:effectLst/>
              </a:rPr>
            </a:br>
            <a:endParaRPr lang="en-GB" sz="20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2206EA05-B9EA-43A0-FB41-8548D3E27D56}"/>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29CC2BBD-7765-9A53-40D0-FBACB122549F}"/>
              </a:ext>
            </a:extLst>
          </p:cNvPr>
          <p:cNvSpPr txBox="1"/>
          <p:nvPr/>
        </p:nvSpPr>
        <p:spPr>
          <a:xfrm>
            <a:off x="0" y="463981"/>
            <a:ext cx="8534913" cy="4185761"/>
          </a:xfrm>
          <a:prstGeom prst="rect">
            <a:avLst/>
          </a:prstGeom>
          <a:noFill/>
        </p:spPr>
        <p:txBody>
          <a:bodyPr wrap="square">
            <a:spAutoFit/>
          </a:bodyPr>
          <a:lstStyle/>
          <a:p>
            <a:pPr algn="l">
              <a:buNone/>
            </a:pPr>
            <a:r>
              <a:rPr lang="en-GB" b="1" i="0" u="none" strike="noStrike" dirty="0">
                <a:solidFill>
                  <a:srgbClr val="000000"/>
                </a:solidFill>
                <a:effectLst/>
              </a:rPr>
              <a:t>How Do You Get a Model Running on These Devices? (Steps)</a:t>
            </a:r>
          </a:p>
          <a:p>
            <a:pPr algn="l">
              <a:buFont typeface="+mj-lt"/>
              <a:buAutoNum type="arabicPeriod"/>
            </a:pPr>
            <a:r>
              <a:rPr lang="en-GB" b="1" i="0" u="none" strike="noStrike" dirty="0">
                <a:solidFill>
                  <a:srgbClr val="000000"/>
                </a:solidFill>
                <a:effectLst/>
              </a:rPr>
              <a:t>Convert Your Model:</a:t>
            </a:r>
            <a:endParaRPr lang="en-GB" b="0" i="0" u="none" strike="noStrike" dirty="0">
              <a:solidFill>
                <a:srgbClr val="000000"/>
              </a:solidFill>
              <a:effectLst/>
            </a:endParaRPr>
          </a:p>
          <a:p>
            <a:pPr marL="742950" lvl="1" indent="-285750" algn="l">
              <a:buFont typeface="+mj-lt"/>
              <a:buAutoNum type="arabicPeriod"/>
            </a:pPr>
            <a:r>
              <a:rPr lang="en-GB" b="0" i="0" u="none" strike="noStrike" dirty="0">
                <a:solidFill>
                  <a:srgbClr val="000000"/>
                </a:solidFill>
                <a:effectLst/>
              </a:rPr>
              <a:t>You start with a deep learning model that you've already trained using the standard TensorFlow framework.</a:t>
            </a:r>
          </a:p>
          <a:p>
            <a:pPr marL="742950" lvl="1" indent="-285750" algn="l">
              <a:buFont typeface="+mj-lt"/>
              <a:buAutoNum type="arabicPeriod"/>
            </a:pPr>
            <a:r>
              <a:rPr lang="en-GB" b="0" i="0" u="none" strike="noStrike" dirty="0">
                <a:solidFill>
                  <a:srgbClr val="000000"/>
                </a:solidFill>
                <a:effectLst/>
              </a:rPr>
              <a:t>The first step is to use special tools provided by TensorFlow Lite to </a:t>
            </a:r>
            <a:r>
              <a:rPr lang="en-GB" b="1" i="0" u="none" strike="noStrike" dirty="0">
                <a:solidFill>
                  <a:srgbClr val="000000"/>
                </a:solidFill>
                <a:effectLst/>
              </a:rPr>
              <a:t>convert this trained model into a .</a:t>
            </a:r>
            <a:r>
              <a:rPr lang="en-GB" b="1" i="0" u="none" strike="noStrike" dirty="0" err="1">
                <a:solidFill>
                  <a:srgbClr val="000000"/>
                </a:solidFill>
                <a:effectLst/>
              </a:rPr>
              <a:t>tflite</a:t>
            </a:r>
            <a:r>
              <a:rPr lang="en-GB" b="1" i="0" u="none" strike="noStrike" dirty="0">
                <a:solidFill>
                  <a:srgbClr val="000000"/>
                </a:solidFill>
                <a:effectLst/>
              </a:rPr>
              <a:t> file format.</a:t>
            </a:r>
            <a:r>
              <a:rPr lang="en-GB" b="0" i="0" u="none" strike="noStrike" dirty="0">
                <a:solidFill>
                  <a:srgbClr val="000000"/>
                </a:solidFill>
                <a:effectLst/>
              </a:rPr>
              <a:t> This format is highly optimized for size and speed on mobile and embedded systems.</a:t>
            </a:r>
          </a:p>
          <a:p>
            <a:pPr algn="l">
              <a:buFont typeface="+mj-lt"/>
              <a:buAutoNum type="arabicPeriod"/>
            </a:pPr>
            <a:r>
              <a:rPr lang="en-GB" b="1" i="0" u="none" strike="noStrike" dirty="0">
                <a:solidFill>
                  <a:srgbClr val="000000"/>
                </a:solidFill>
                <a:effectLst/>
              </a:rPr>
              <a:t>Optimize the Model (Optional, but Recommended):</a:t>
            </a:r>
            <a:endParaRPr lang="en-GB" b="0" i="0" u="none" strike="noStrike" dirty="0">
              <a:solidFill>
                <a:srgbClr val="000000"/>
              </a:solidFill>
              <a:effectLst/>
            </a:endParaRPr>
          </a:p>
          <a:p>
            <a:pPr marL="742950" lvl="1" indent="-285750" algn="l">
              <a:buFont typeface="+mj-lt"/>
              <a:buAutoNum type="arabicPeriod"/>
            </a:pPr>
            <a:r>
              <a:rPr lang="en-GB" b="0" i="0" u="none" strike="noStrike" dirty="0">
                <a:solidFill>
                  <a:srgbClr val="000000"/>
                </a:solidFill>
                <a:effectLst/>
              </a:rPr>
              <a:t>Since mobile devices have limited resources, you often want to make your model even smaller and faster without losing much accuracy. TensorFlow Lite offers optimization techniques:</a:t>
            </a:r>
          </a:p>
          <a:p>
            <a:pPr marL="1143000" lvl="2" indent="-228600" algn="l">
              <a:buFont typeface="+mj-lt"/>
              <a:buAutoNum type="arabicPeriod"/>
            </a:pPr>
            <a:r>
              <a:rPr lang="en-GB" b="1" i="0" u="none" strike="noStrike" dirty="0">
                <a:solidFill>
                  <a:srgbClr val="000000"/>
                </a:solidFill>
                <a:effectLst/>
              </a:rPr>
              <a:t>Quantization:</a:t>
            </a:r>
            <a:r>
              <a:rPr lang="en-GB" b="0" i="0" u="none" strike="noStrike" dirty="0">
                <a:solidFill>
                  <a:srgbClr val="000000"/>
                </a:solidFill>
                <a:effectLst/>
              </a:rPr>
              <a:t> This technique reduces the precision of the numbers (weights and activations) used within your model. Instead of using high-precision floating-point numbers, it might convert them to lower-precision integers (e.g., 8-bit integers). This significantly shrinks the model size and speeds up calculations, as integer operations are faster than floating-point ones.</a:t>
            </a:r>
          </a:p>
          <a:p>
            <a:pPr marL="1143000" lvl="2" indent="-228600" algn="l">
              <a:buFont typeface="+mj-lt"/>
              <a:buAutoNum type="arabicPeriod"/>
            </a:pPr>
            <a:r>
              <a:rPr lang="en-GB" b="1" i="0" u="none" strike="noStrike" dirty="0">
                <a:solidFill>
                  <a:srgbClr val="000000"/>
                </a:solidFill>
                <a:effectLst/>
              </a:rPr>
              <a:t>Pruning:</a:t>
            </a:r>
            <a:r>
              <a:rPr lang="en-GB" b="0" i="0" u="none" strike="noStrike" dirty="0">
                <a:solidFill>
                  <a:srgbClr val="000000"/>
                </a:solidFill>
                <a:effectLst/>
              </a:rPr>
              <a:t> This involves removing unnecessary connections or "weights" within the neural network that contribute very little to the model's overall performance. Imagine trimming branches from a tree that aren't producing much fruit – it makes the tree more efficient. Pruning can lead to smaller models that are faster to load and run.</a:t>
            </a:r>
            <a:endParaRPr lang="en-GB" sz="1600" dirty="0"/>
          </a:p>
        </p:txBody>
      </p:sp>
    </p:spTree>
    <p:extLst>
      <p:ext uri="{BB962C8B-B14F-4D97-AF65-F5344CB8AC3E}">
        <p14:creationId xmlns:p14="http://schemas.microsoft.com/office/powerpoint/2010/main" val="30436969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12111040-539A-ABDE-353E-589581D330F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5AB740E5-8557-B6F7-E946-E582A954E9D5}"/>
              </a:ext>
            </a:extLst>
          </p:cNvPr>
          <p:cNvSpPr txBox="1">
            <a:spLocks noGrp="1"/>
          </p:cNvSpPr>
          <p:nvPr>
            <p:ph type="title"/>
          </p:nvPr>
        </p:nvSpPr>
        <p:spPr>
          <a:xfrm>
            <a:off x="0" y="0"/>
            <a:ext cx="8614425" cy="627900"/>
          </a:xfrm>
          <a:prstGeom prst="rect">
            <a:avLst/>
          </a:prstGeom>
          <a:noFill/>
          <a:ln>
            <a:noFill/>
          </a:ln>
        </p:spPr>
        <p:txBody>
          <a:bodyPr spcFirstLastPara="1" wrap="square" lIns="91425" tIns="91425" rIns="91425" bIns="91425" anchor="t" anchorCtr="0">
            <a:noAutofit/>
          </a:bodyPr>
          <a:lstStyle/>
          <a:p>
            <a:r>
              <a:rPr lang="en-GB" sz="2000" b="1" dirty="0"/>
              <a:t>Running Deep Learning Models on Mobile using TensorFlow Lite</a:t>
            </a:r>
            <a:br>
              <a:rPr lang="en-GB" sz="2000" b="1" dirty="0"/>
            </a:br>
            <a:br>
              <a:rPr lang="en-GB" sz="2000" b="1" dirty="0"/>
            </a:br>
            <a:br>
              <a:rPr lang="en-GB" sz="2000" b="1" dirty="0"/>
            </a:br>
            <a:br>
              <a:rPr lang="en-GB" sz="2000" kern="100" dirty="0">
                <a:solidFill>
                  <a:srgbClr val="7030A0"/>
                </a:solidFill>
                <a:effectLst/>
                <a:latin typeface="Aptos" panose="020B0004020202020204" pitchFamily="34" charset="0"/>
                <a:ea typeface="Aptos" panose="020B0004020202020204" pitchFamily="34" charset="0"/>
                <a:cs typeface="Arial" panose="020B0604020202020204" pitchFamily="34" charset="0"/>
              </a:rPr>
            </a:br>
            <a:br>
              <a:rPr lang="en-GB" sz="2000" b="1" i="0" u="none" strike="noStrike" dirty="0">
                <a:solidFill>
                  <a:srgbClr val="7030A0"/>
                </a:solidFill>
                <a:effectLst/>
              </a:rPr>
            </a:br>
            <a:br>
              <a:rPr lang="en-GB" sz="2000" b="1" i="0" u="none" strike="noStrike" dirty="0">
                <a:solidFill>
                  <a:srgbClr val="7030A0"/>
                </a:solidFill>
                <a:effectLst/>
              </a:rPr>
            </a:br>
            <a:endParaRPr lang="en-GB" sz="20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20744FDA-DC7B-7224-A273-BF141B5CA2B1}"/>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96E9DBF6-F99C-6807-EF84-6639B644DA4D}"/>
              </a:ext>
            </a:extLst>
          </p:cNvPr>
          <p:cNvSpPr txBox="1"/>
          <p:nvPr/>
        </p:nvSpPr>
        <p:spPr>
          <a:xfrm>
            <a:off x="0" y="463981"/>
            <a:ext cx="8534913" cy="2492990"/>
          </a:xfrm>
          <a:prstGeom prst="rect">
            <a:avLst/>
          </a:prstGeom>
          <a:noFill/>
        </p:spPr>
        <p:txBody>
          <a:bodyPr wrap="square">
            <a:spAutoFit/>
          </a:bodyPr>
          <a:lstStyle/>
          <a:p>
            <a:pPr marL="342900" indent="-342900" algn="l">
              <a:buFont typeface="+mj-lt"/>
              <a:buAutoNum type="arabicPeriod" startAt="3"/>
            </a:pPr>
            <a:r>
              <a:rPr lang="en-GB" b="1" i="0" u="none" strike="noStrike" dirty="0">
                <a:solidFill>
                  <a:srgbClr val="000000"/>
                </a:solidFill>
                <a:effectLst/>
              </a:rPr>
              <a:t>Integrate into Your Application:</a:t>
            </a:r>
            <a:endParaRPr lang="en-GB" b="0" i="0" u="none" strike="noStrike" dirty="0">
              <a:solidFill>
                <a:srgbClr val="000000"/>
              </a:solidFill>
              <a:effectLst/>
            </a:endParaRPr>
          </a:p>
          <a:p>
            <a:pPr marL="742950" lvl="1" indent="-285750" algn="l">
              <a:buFont typeface="+mj-lt"/>
              <a:buAutoNum type="arabicPeriod"/>
            </a:pPr>
            <a:r>
              <a:rPr lang="en-GB" b="0" i="0" u="none" strike="noStrike" dirty="0">
                <a:solidFill>
                  <a:srgbClr val="000000"/>
                </a:solidFill>
                <a:effectLst/>
              </a:rPr>
              <a:t>Once you have your optimized .</a:t>
            </a:r>
            <a:r>
              <a:rPr lang="en-GB" b="0" i="0" u="none" strike="noStrike" dirty="0" err="1">
                <a:solidFill>
                  <a:srgbClr val="000000"/>
                </a:solidFill>
                <a:effectLst/>
              </a:rPr>
              <a:t>tflite</a:t>
            </a:r>
            <a:r>
              <a:rPr lang="en-GB" b="0" i="0" u="none" strike="noStrike" dirty="0">
                <a:solidFill>
                  <a:srgbClr val="000000"/>
                </a:solidFill>
                <a:effectLst/>
              </a:rPr>
              <a:t> model, you'll incorporate it into your mobile application (e.g., an Android app built with Java/Kotlin or an iOS app with Swift/Objective-C).</a:t>
            </a:r>
          </a:p>
          <a:p>
            <a:pPr marL="742950" lvl="1" indent="-285750" algn="l">
              <a:buFont typeface="+mj-lt"/>
              <a:buAutoNum type="arabicPeriod"/>
            </a:pPr>
            <a:r>
              <a:rPr lang="en-GB" b="0" i="0" u="none" strike="noStrike" dirty="0">
                <a:solidFill>
                  <a:srgbClr val="000000"/>
                </a:solidFill>
                <a:effectLst/>
              </a:rPr>
              <a:t>You use the </a:t>
            </a:r>
            <a:r>
              <a:rPr lang="en-GB" b="1" i="0" u="none" strike="noStrike" dirty="0">
                <a:solidFill>
                  <a:srgbClr val="000000"/>
                </a:solidFill>
                <a:effectLst/>
              </a:rPr>
              <a:t>TensorFlow Lite Interpreter</a:t>
            </a:r>
            <a:r>
              <a:rPr lang="en-GB" b="0" i="0" u="none" strike="noStrike" dirty="0">
                <a:solidFill>
                  <a:srgbClr val="000000"/>
                </a:solidFill>
                <a:effectLst/>
              </a:rPr>
              <a:t> within your app. This interpreter is a small, efficient engine that takes your .</a:t>
            </a:r>
            <a:r>
              <a:rPr lang="en-GB" b="0" i="0" u="none" strike="noStrike" dirty="0" err="1">
                <a:solidFill>
                  <a:srgbClr val="000000"/>
                </a:solidFill>
                <a:effectLst/>
              </a:rPr>
              <a:t>tflite</a:t>
            </a:r>
            <a:r>
              <a:rPr lang="en-GB" b="0" i="0" u="none" strike="noStrike" dirty="0">
                <a:solidFill>
                  <a:srgbClr val="000000"/>
                </a:solidFill>
                <a:effectLst/>
              </a:rPr>
              <a:t> model, feeds it new data (like an image from the phone's camera), and gets predictions or results back directly on the device, without needing to send data to a cloud server.</a:t>
            </a:r>
          </a:p>
          <a:p>
            <a:pPr algn="l"/>
            <a:r>
              <a:rPr lang="en-GB" dirty="0"/>
              <a:t>Overall</a:t>
            </a:r>
            <a:r>
              <a:rPr lang="en-GB" b="0" i="0" u="none" strike="noStrike" dirty="0">
                <a:solidFill>
                  <a:srgbClr val="000000"/>
                </a:solidFill>
                <a:effectLst/>
              </a:rPr>
              <a:t>, TensorFlow Lite is a bridge that allows powerful deep learning models, usually trained on high-end hardware, to run efficiently and effectively on the ubiquitous, resource-constrained devices we use every day.</a:t>
            </a:r>
          </a:p>
          <a:p>
            <a:pPr>
              <a:buFont typeface="Arial" panose="020B0604020202020204" pitchFamily="34" charset="0"/>
              <a:buChar char="•"/>
            </a:pPr>
            <a:endParaRPr lang="en-GB" sz="1600" dirty="0"/>
          </a:p>
        </p:txBody>
      </p:sp>
    </p:spTree>
    <p:extLst>
      <p:ext uri="{BB962C8B-B14F-4D97-AF65-F5344CB8AC3E}">
        <p14:creationId xmlns:p14="http://schemas.microsoft.com/office/powerpoint/2010/main" val="8851089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1EB5D26C-F3A2-C46A-80E2-549C350FAD63}"/>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A622FFA0-8792-276E-FB23-F240CB3071F9}"/>
              </a:ext>
            </a:extLst>
          </p:cNvPr>
          <p:cNvSpPr txBox="1">
            <a:spLocks noGrp="1"/>
          </p:cNvSpPr>
          <p:nvPr>
            <p:ph type="title"/>
          </p:nvPr>
        </p:nvSpPr>
        <p:spPr>
          <a:xfrm>
            <a:off x="0" y="0"/>
            <a:ext cx="8614425" cy="627900"/>
          </a:xfrm>
          <a:prstGeom prst="rect">
            <a:avLst/>
          </a:prstGeom>
          <a:noFill/>
          <a:ln>
            <a:noFill/>
          </a:ln>
        </p:spPr>
        <p:txBody>
          <a:bodyPr spcFirstLastPara="1" wrap="square" lIns="91425" tIns="91425" rIns="91425" bIns="91425" anchor="t" anchorCtr="0">
            <a:noAutofit/>
          </a:bodyPr>
          <a:lstStyle/>
          <a:p>
            <a:r>
              <a:rPr lang="en-GB" sz="2000" b="1" i="0" u="none" strike="noStrike" dirty="0">
                <a:solidFill>
                  <a:srgbClr val="7030A0"/>
                </a:solidFill>
                <a:effectLst/>
                <a:latin typeface="DeepSeek-CJK-patch"/>
              </a:rPr>
              <a:t>Edge Deployment (Mobile with TensorFlow Lite)</a:t>
            </a:r>
            <a:br>
              <a:rPr lang="en-GB" sz="2000" b="1" i="0" u="none" strike="noStrike" dirty="0">
                <a:solidFill>
                  <a:srgbClr val="404040"/>
                </a:solidFill>
                <a:effectLst/>
                <a:latin typeface="DeepSeek-CJK-patch"/>
              </a:rPr>
            </a:br>
            <a:br>
              <a:rPr lang="en-GB" sz="2000" b="1" dirty="0"/>
            </a:br>
            <a:br>
              <a:rPr lang="en-GB" sz="2000" b="1" dirty="0"/>
            </a:br>
            <a:br>
              <a:rPr lang="en-GB" sz="2000" b="1" dirty="0"/>
            </a:br>
            <a:br>
              <a:rPr lang="en-GB" sz="2000" kern="100" dirty="0">
                <a:solidFill>
                  <a:srgbClr val="7030A0"/>
                </a:solidFill>
                <a:effectLst/>
                <a:latin typeface="Aptos" panose="020B0004020202020204" pitchFamily="34" charset="0"/>
                <a:ea typeface="Aptos" panose="020B0004020202020204" pitchFamily="34" charset="0"/>
                <a:cs typeface="Arial" panose="020B0604020202020204" pitchFamily="34" charset="0"/>
              </a:rPr>
            </a:br>
            <a:br>
              <a:rPr lang="en-GB" sz="2000" b="1" i="0" u="none" strike="noStrike" dirty="0">
                <a:solidFill>
                  <a:srgbClr val="7030A0"/>
                </a:solidFill>
                <a:effectLst/>
              </a:rPr>
            </a:br>
            <a:br>
              <a:rPr lang="en-GB" sz="2000" b="1" i="0" u="none" strike="noStrike" dirty="0">
                <a:solidFill>
                  <a:srgbClr val="7030A0"/>
                </a:solidFill>
                <a:effectLst/>
              </a:rPr>
            </a:br>
            <a:endParaRPr lang="en-GB" sz="20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09632AB-288C-173A-7031-38C3C1000C65}"/>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5283E704-3872-2E1D-E352-0B16B9E4856C}"/>
              </a:ext>
            </a:extLst>
          </p:cNvPr>
          <p:cNvSpPr txBox="1"/>
          <p:nvPr/>
        </p:nvSpPr>
        <p:spPr>
          <a:xfrm>
            <a:off x="82059" y="637109"/>
            <a:ext cx="8534913" cy="523220"/>
          </a:xfrm>
          <a:prstGeom prst="rect">
            <a:avLst/>
          </a:prstGeom>
          <a:noFill/>
        </p:spPr>
        <p:txBody>
          <a:bodyPr wrap="square">
            <a:spAutoFit/>
          </a:bodyPr>
          <a:lstStyle>
            <a:defPPr marR="0" lvl="0" algn="l" rtl="0">
              <a:lnSpc>
                <a:spcPct val="100000"/>
              </a:lnSpc>
              <a:spcBef>
                <a:spcPts val="0"/>
              </a:spcBef>
              <a:spcAft>
                <a:spcPts val="0"/>
              </a:spcAft>
            </a:defPPr>
            <a:lvl1pPr>
              <a:buNone/>
              <a:defRPr b="1">
                <a:solidFill>
                  <a:srgbClr val="404040"/>
                </a:solidFill>
                <a:latin typeface="Arial" panose="020B0604020202020204" pitchFamily="34" charset="0"/>
                <a:cs typeface="Arial" panose="020B0604020202020204" pitchFamily="34" charset="0"/>
              </a:defRPr>
            </a:lvl1pPr>
          </a:lstStyle>
          <a:p>
            <a:r>
              <a:rPr lang="en-GB" dirty="0"/>
              <a:t>1 Convert Model to TensorFlow Lite:</a:t>
            </a:r>
          </a:p>
          <a:p>
            <a:endParaRPr lang="en-GB" dirty="0"/>
          </a:p>
        </p:txBody>
      </p:sp>
      <p:sp>
        <p:nvSpPr>
          <p:cNvPr id="6" name="TextBox 5">
            <a:extLst>
              <a:ext uri="{FF2B5EF4-FFF2-40B4-BE49-F238E27FC236}">
                <a16:creationId xmlns:a16="http://schemas.microsoft.com/office/drawing/2014/main" id="{5E489A75-FD24-AC24-934E-5F0156BA43E4}"/>
              </a:ext>
            </a:extLst>
          </p:cNvPr>
          <p:cNvSpPr txBox="1"/>
          <p:nvPr/>
        </p:nvSpPr>
        <p:spPr>
          <a:xfrm>
            <a:off x="2045473" y="926442"/>
            <a:ext cx="5786562" cy="954107"/>
          </a:xfrm>
          <a:prstGeom prst="rect">
            <a:avLst/>
          </a:prstGeom>
          <a:solidFill>
            <a:schemeClr val="accent1">
              <a:lumMod val="40000"/>
              <a:lumOff val="60000"/>
            </a:schemeClr>
          </a:solidFill>
        </p:spPr>
        <p:txBody>
          <a:bodyPr wrap="square">
            <a:spAutoFit/>
          </a:bodyPr>
          <a:lstStyle/>
          <a:p>
            <a:r>
              <a:rPr lang="en-US" dirty="0"/>
              <a:t>converter = </a:t>
            </a:r>
            <a:r>
              <a:rPr lang="en-US" dirty="0" err="1"/>
              <a:t>tf.lite.TFLiteConverter.from_saved_model</a:t>
            </a:r>
            <a:r>
              <a:rPr lang="en-US" dirty="0"/>
              <a:t>("</a:t>
            </a:r>
            <a:r>
              <a:rPr lang="en-US" dirty="0" err="1"/>
              <a:t>saved_model</a:t>
            </a:r>
            <a:r>
              <a:rPr lang="en-US" dirty="0"/>
              <a:t>/")</a:t>
            </a:r>
          </a:p>
          <a:p>
            <a:r>
              <a:rPr lang="en-US" dirty="0" err="1"/>
              <a:t>tflite_model</a:t>
            </a:r>
            <a:r>
              <a:rPr lang="en-US" dirty="0"/>
              <a:t> = </a:t>
            </a:r>
            <a:r>
              <a:rPr lang="en-US" dirty="0" err="1"/>
              <a:t>converter.convert</a:t>
            </a:r>
            <a:r>
              <a:rPr lang="en-US" dirty="0"/>
              <a:t>()</a:t>
            </a:r>
          </a:p>
          <a:p>
            <a:r>
              <a:rPr lang="en-US" dirty="0"/>
              <a:t>with open("</a:t>
            </a:r>
            <a:r>
              <a:rPr lang="en-US" dirty="0" err="1"/>
              <a:t>model.tflite</a:t>
            </a:r>
            <a:r>
              <a:rPr lang="en-US" dirty="0"/>
              <a:t>", "</a:t>
            </a:r>
            <a:r>
              <a:rPr lang="en-US" dirty="0" err="1"/>
              <a:t>wb</a:t>
            </a:r>
            <a:r>
              <a:rPr lang="en-US" dirty="0"/>
              <a:t>") as f:</a:t>
            </a:r>
          </a:p>
          <a:p>
            <a:r>
              <a:rPr lang="en-US" dirty="0"/>
              <a:t>    </a:t>
            </a:r>
            <a:r>
              <a:rPr lang="en-US" dirty="0" err="1"/>
              <a:t>f.write</a:t>
            </a:r>
            <a:r>
              <a:rPr lang="en-US" dirty="0"/>
              <a:t>(</a:t>
            </a:r>
            <a:r>
              <a:rPr lang="en-US" dirty="0" err="1"/>
              <a:t>tflite_model</a:t>
            </a:r>
            <a:r>
              <a:rPr lang="en-US" dirty="0"/>
              <a:t>)</a:t>
            </a:r>
          </a:p>
        </p:txBody>
      </p:sp>
      <p:sp>
        <p:nvSpPr>
          <p:cNvPr id="8" name="TextBox 7">
            <a:extLst>
              <a:ext uri="{FF2B5EF4-FFF2-40B4-BE49-F238E27FC236}">
                <a16:creationId xmlns:a16="http://schemas.microsoft.com/office/drawing/2014/main" id="{5B8F23A2-2E80-63E5-10D7-FBDE6CA81A2E}"/>
              </a:ext>
            </a:extLst>
          </p:cNvPr>
          <p:cNvSpPr txBox="1"/>
          <p:nvPr/>
        </p:nvSpPr>
        <p:spPr>
          <a:xfrm>
            <a:off x="65192" y="1880549"/>
            <a:ext cx="4679342" cy="523220"/>
          </a:xfrm>
          <a:prstGeom prst="rect">
            <a:avLst/>
          </a:prstGeom>
          <a:noFill/>
        </p:spPr>
        <p:txBody>
          <a:bodyPr wrap="square">
            <a:spAutoFit/>
          </a:bodyPr>
          <a:lstStyle/>
          <a:p>
            <a:pPr>
              <a:buFont typeface="Arial"/>
              <a:buNone/>
            </a:pPr>
            <a:r>
              <a:rPr lang="en-GB" b="1" dirty="0">
                <a:solidFill>
                  <a:srgbClr val="404040"/>
                </a:solidFill>
                <a:latin typeface="Arial" panose="020B0604020202020204" pitchFamily="34" charset="0"/>
                <a:cs typeface="Arial" panose="020B0604020202020204" pitchFamily="34" charset="0"/>
              </a:rPr>
              <a:t>2 Optimize for Mobile</a:t>
            </a:r>
          </a:p>
          <a:p>
            <a:r>
              <a:rPr lang="en-GB" b="1" dirty="0">
                <a:solidFill>
                  <a:srgbClr val="404040"/>
                </a:solidFill>
                <a:latin typeface="Arial" panose="020B0604020202020204" pitchFamily="34" charset="0"/>
                <a:cs typeface="Arial" panose="020B0604020202020204" pitchFamily="34" charset="0"/>
              </a:rPr>
              <a:t>a. Quantization (Reduce Size by 4x):</a:t>
            </a:r>
          </a:p>
        </p:txBody>
      </p:sp>
      <p:sp>
        <p:nvSpPr>
          <p:cNvPr id="10" name="TextBox 9">
            <a:extLst>
              <a:ext uri="{FF2B5EF4-FFF2-40B4-BE49-F238E27FC236}">
                <a16:creationId xmlns:a16="http://schemas.microsoft.com/office/drawing/2014/main" id="{F155572F-5416-08D0-5353-BB7869ADC1D4}"/>
              </a:ext>
            </a:extLst>
          </p:cNvPr>
          <p:cNvSpPr txBox="1"/>
          <p:nvPr/>
        </p:nvSpPr>
        <p:spPr>
          <a:xfrm>
            <a:off x="2850791" y="2134605"/>
            <a:ext cx="4679342" cy="307777"/>
          </a:xfrm>
          <a:prstGeom prst="rect">
            <a:avLst/>
          </a:prstGeom>
          <a:solidFill>
            <a:schemeClr val="accent1">
              <a:lumMod val="40000"/>
              <a:lumOff val="60000"/>
            </a:schemeClr>
          </a:solidFill>
        </p:spPr>
        <p:txBody>
          <a:bodyPr wrap="square">
            <a:spAutoFit/>
          </a:bodyPr>
          <a:lstStyle/>
          <a:p>
            <a:r>
              <a:rPr lang="en-US" dirty="0" err="1"/>
              <a:t>converter.optimizations</a:t>
            </a:r>
            <a:r>
              <a:rPr lang="en-US" dirty="0"/>
              <a:t> = [</a:t>
            </a:r>
            <a:r>
              <a:rPr lang="en-US" dirty="0" err="1"/>
              <a:t>tf.lite.Optimize.DEFAULT</a:t>
            </a:r>
            <a:r>
              <a:rPr lang="en-US" dirty="0"/>
              <a:t>]</a:t>
            </a:r>
          </a:p>
        </p:txBody>
      </p:sp>
      <p:sp>
        <p:nvSpPr>
          <p:cNvPr id="12" name="TextBox 11">
            <a:extLst>
              <a:ext uri="{FF2B5EF4-FFF2-40B4-BE49-F238E27FC236}">
                <a16:creationId xmlns:a16="http://schemas.microsoft.com/office/drawing/2014/main" id="{108F98C8-277D-090E-D528-B72A9C4D1DD4}"/>
              </a:ext>
            </a:extLst>
          </p:cNvPr>
          <p:cNvSpPr txBox="1"/>
          <p:nvPr/>
        </p:nvSpPr>
        <p:spPr>
          <a:xfrm>
            <a:off x="112437" y="2614539"/>
            <a:ext cx="4679342" cy="307777"/>
          </a:xfrm>
          <a:prstGeom prst="rect">
            <a:avLst/>
          </a:prstGeom>
          <a:noFill/>
        </p:spPr>
        <p:txBody>
          <a:bodyPr wrap="square">
            <a:spAutoFit/>
          </a:bodyPr>
          <a:lstStyle/>
          <a:p>
            <a:r>
              <a:rPr lang="en-GB" b="1" dirty="0">
                <a:solidFill>
                  <a:srgbClr val="404040"/>
                </a:solidFill>
                <a:latin typeface="Arial" panose="020B0604020202020204" pitchFamily="34" charset="0"/>
                <a:cs typeface="Arial" panose="020B0604020202020204" pitchFamily="34" charset="0"/>
              </a:rPr>
              <a:t>b. GPU Acceleration (Android/iOS):</a:t>
            </a:r>
            <a:endParaRPr lang="en-US" b="1" dirty="0">
              <a:solidFill>
                <a:srgbClr val="404040"/>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37393E51-2D5D-1DAB-886E-5EE1E05C2CA9}"/>
              </a:ext>
            </a:extLst>
          </p:cNvPr>
          <p:cNvSpPr txBox="1"/>
          <p:nvPr/>
        </p:nvSpPr>
        <p:spPr>
          <a:xfrm>
            <a:off x="2825260" y="2674516"/>
            <a:ext cx="5874026" cy="523220"/>
          </a:xfrm>
          <a:prstGeom prst="rect">
            <a:avLst/>
          </a:prstGeom>
          <a:solidFill>
            <a:schemeClr val="accent1">
              <a:lumMod val="40000"/>
              <a:lumOff val="60000"/>
            </a:schemeClr>
          </a:solidFill>
        </p:spPr>
        <p:txBody>
          <a:bodyPr wrap="square">
            <a:spAutoFit/>
          </a:bodyPr>
          <a:lstStyle/>
          <a:p>
            <a:r>
              <a:rPr lang="en-US" dirty="0"/>
              <a:t>interpreter = </a:t>
            </a:r>
            <a:r>
              <a:rPr lang="en-US" dirty="0" err="1"/>
              <a:t>tf.lite.Interpreter</a:t>
            </a:r>
            <a:r>
              <a:rPr lang="en-US" dirty="0"/>
              <a:t>(</a:t>
            </a:r>
            <a:r>
              <a:rPr lang="en-US" dirty="0" err="1"/>
              <a:t>model_content</a:t>
            </a:r>
            <a:r>
              <a:rPr lang="en-US" dirty="0"/>
              <a:t>=</a:t>
            </a:r>
            <a:r>
              <a:rPr lang="en-US" dirty="0" err="1"/>
              <a:t>tflite_model</a:t>
            </a:r>
            <a:r>
              <a:rPr lang="en-US" dirty="0"/>
              <a:t>)</a:t>
            </a:r>
          </a:p>
          <a:p>
            <a:r>
              <a:rPr lang="en-US" dirty="0" err="1"/>
              <a:t>interpreter.allocate_tensors</a:t>
            </a:r>
            <a:r>
              <a:rPr lang="en-US" dirty="0"/>
              <a:t>()</a:t>
            </a:r>
          </a:p>
        </p:txBody>
      </p:sp>
      <p:sp>
        <p:nvSpPr>
          <p:cNvPr id="16" name="TextBox 15">
            <a:extLst>
              <a:ext uri="{FF2B5EF4-FFF2-40B4-BE49-F238E27FC236}">
                <a16:creationId xmlns:a16="http://schemas.microsoft.com/office/drawing/2014/main" id="{ABD2B259-AB68-E41F-4359-778B13479369}"/>
              </a:ext>
            </a:extLst>
          </p:cNvPr>
          <p:cNvSpPr txBox="1"/>
          <p:nvPr/>
        </p:nvSpPr>
        <p:spPr>
          <a:xfrm>
            <a:off x="167474" y="3225458"/>
            <a:ext cx="4679342" cy="777136"/>
          </a:xfrm>
          <a:prstGeom prst="rect">
            <a:avLst/>
          </a:prstGeom>
          <a:noFill/>
        </p:spPr>
        <p:txBody>
          <a:bodyPr wrap="square">
            <a:spAutoFit/>
          </a:bodyPr>
          <a:lstStyle/>
          <a:p>
            <a:pPr algn="l">
              <a:buNone/>
            </a:pPr>
            <a:r>
              <a:rPr lang="en-GB" b="1" i="0" u="none" strike="noStrike" dirty="0">
                <a:solidFill>
                  <a:srgbClr val="404040"/>
                </a:solidFill>
                <a:effectLst/>
                <a:latin typeface="Arial" panose="020B0604020202020204" pitchFamily="34" charset="0"/>
                <a:cs typeface="Arial" panose="020B0604020202020204" pitchFamily="34" charset="0"/>
              </a:rPr>
              <a:t>3 Deploy to Android</a:t>
            </a:r>
          </a:p>
          <a:p>
            <a:pPr algn="l">
              <a:buFont typeface="+mj-lt"/>
              <a:buAutoNum type="arabicPeriod"/>
            </a:pPr>
            <a:r>
              <a:rPr lang="en-GB" b="0" i="0" u="none" strike="noStrike" dirty="0">
                <a:solidFill>
                  <a:srgbClr val="404040"/>
                </a:solidFill>
                <a:effectLst/>
                <a:latin typeface="Arial" panose="020B0604020202020204" pitchFamily="34" charset="0"/>
                <a:cs typeface="Arial" panose="020B0604020202020204" pitchFamily="34" charset="0"/>
              </a:rPr>
              <a:t>Add </a:t>
            </a:r>
            <a:r>
              <a:rPr lang="en-GB" b="0" i="0" u="none" strike="noStrike" dirty="0" err="1">
                <a:solidFill>
                  <a:srgbClr val="404040"/>
                </a:solidFill>
                <a:effectLst/>
                <a:latin typeface="Arial" panose="020B0604020202020204" pitchFamily="34" charset="0"/>
                <a:cs typeface="Arial" panose="020B0604020202020204" pitchFamily="34" charset="0"/>
              </a:rPr>
              <a:t>model.tflite</a:t>
            </a:r>
            <a:r>
              <a:rPr lang="en-GB" b="0" i="0" u="none" strike="noStrike" dirty="0">
                <a:solidFill>
                  <a:srgbClr val="404040"/>
                </a:solidFill>
                <a:effectLst/>
                <a:latin typeface="Arial" panose="020B0604020202020204" pitchFamily="34" charset="0"/>
                <a:cs typeface="Arial" panose="020B0604020202020204" pitchFamily="34" charset="0"/>
              </a:rPr>
              <a:t> to app/</a:t>
            </a:r>
            <a:r>
              <a:rPr lang="en-GB" b="0" i="0" u="none" strike="noStrike" dirty="0" err="1">
                <a:solidFill>
                  <a:srgbClr val="404040"/>
                </a:solidFill>
                <a:effectLst/>
                <a:latin typeface="Arial" panose="020B0604020202020204" pitchFamily="34" charset="0"/>
                <a:cs typeface="Arial" panose="020B0604020202020204" pitchFamily="34" charset="0"/>
              </a:rPr>
              <a:t>src</a:t>
            </a:r>
            <a:r>
              <a:rPr lang="en-GB" b="0" i="0" u="none" strike="noStrike" dirty="0">
                <a:solidFill>
                  <a:srgbClr val="404040"/>
                </a:solidFill>
                <a:effectLst/>
                <a:latin typeface="Arial" panose="020B0604020202020204" pitchFamily="34" charset="0"/>
                <a:cs typeface="Arial" panose="020B0604020202020204" pitchFamily="34" charset="0"/>
              </a:rPr>
              <a:t>/main/assets/.</a:t>
            </a:r>
          </a:p>
          <a:p>
            <a:pPr algn="l">
              <a:spcBef>
                <a:spcPts val="300"/>
              </a:spcBef>
              <a:spcAft>
                <a:spcPts val="300"/>
              </a:spcAft>
              <a:buFont typeface="+mj-lt"/>
              <a:buAutoNum type="arabicPeriod"/>
            </a:pPr>
            <a:r>
              <a:rPr lang="en-GB" b="0" i="0" u="none" strike="noStrike" dirty="0">
                <a:solidFill>
                  <a:srgbClr val="404040"/>
                </a:solidFill>
                <a:effectLst/>
                <a:latin typeface="Arial" panose="020B0604020202020204" pitchFamily="34" charset="0"/>
                <a:cs typeface="Arial" panose="020B0604020202020204" pitchFamily="34" charset="0"/>
              </a:rPr>
              <a:t>Load model in Android Studio:</a:t>
            </a:r>
          </a:p>
        </p:txBody>
      </p:sp>
      <p:sp>
        <p:nvSpPr>
          <p:cNvPr id="18" name="TextBox 17">
            <a:extLst>
              <a:ext uri="{FF2B5EF4-FFF2-40B4-BE49-F238E27FC236}">
                <a16:creationId xmlns:a16="http://schemas.microsoft.com/office/drawing/2014/main" id="{CDD22363-116A-4227-DBFB-36B42A525E7B}"/>
              </a:ext>
            </a:extLst>
          </p:cNvPr>
          <p:cNvSpPr txBox="1"/>
          <p:nvPr/>
        </p:nvSpPr>
        <p:spPr>
          <a:xfrm>
            <a:off x="3935083" y="3406927"/>
            <a:ext cx="4679342" cy="1169551"/>
          </a:xfrm>
          <a:prstGeom prst="rect">
            <a:avLst/>
          </a:prstGeom>
          <a:solidFill>
            <a:schemeClr val="accent1">
              <a:lumMod val="40000"/>
              <a:lumOff val="60000"/>
            </a:schemeClr>
          </a:solidFill>
        </p:spPr>
        <p:txBody>
          <a:bodyPr wrap="square">
            <a:spAutoFit/>
          </a:bodyPr>
          <a:lstStyle/>
          <a:p>
            <a:r>
              <a:rPr lang="en-US" dirty="0"/>
              <a:t>Interpreter </a:t>
            </a:r>
            <a:r>
              <a:rPr lang="en-US" dirty="0" err="1"/>
              <a:t>tflite</a:t>
            </a:r>
            <a:r>
              <a:rPr lang="en-US" dirty="0"/>
              <a:t> = new Interpreter(</a:t>
            </a:r>
            <a:r>
              <a:rPr lang="en-US" dirty="0" err="1"/>
              <a:t>loadModelFile</a:t>
            </a:r>
            <a:r>
              <a:rPr lang="en-US" dirty="0"/>
              <a:t>(</a:t>
            </a:r>
            <a:r>
              <a:rPr lang="en-US" dirty="0" err="1"/>
              <a:t>getAssets</a:t>
            </a:r>
            <a:r>
              <a:rPr lang="en-US" dirty="0"/>
              <a:t>(), "</a:t>
            </a:r>
            <a:r>
              <a:rPr lang="en-US" dirty="0" err="1"/>
              <a:t>model.tflite</a:t>
            </a:r>
            <a:r>
              <a:rPr lang="en-US" dirty="0"/>
              <a:t>"));</a:t>
            </a:r>
          </a:p>
          <a:p>
            <a:r>
              <a:rPr lang="en-US" dirty="0"/>
              <a:t>float[][] input = {{5.1f, 3.5f, 1.4f, 0.2f}};</a:t>
            </a:r>
          </a:p>
          <a:p>
            <a:r>
              <a:rPr lang="en-US" dirty="0"/>
              <a:t>float[][] output = new float[1][3];</a:t>
            </a:r>
          </a:p>
          <a:p>
            <a:r>
              <a:rPr lang="en-US" dirty="0" err="1"/>
              <a:t>tflite.run</a:t>
            </a:r>
            <a:r>
              <a:rPr lang="en-US" dirty="0"/>
              <a:t>(input, output);</a:t>
            </a:r>
          </a:p>
        </p:txBody>
      </p:sp>
      <p:sp>
        <p:nvSpPr>
          <p:cNvPr id="20" name="TextBox 19">
            <a:extLst>
              <a:ext uri="{FF2B5EF4-FFF2-40B4-BE49-F238E27FC236}">
                <a16:creationId xmlns:a16="http://schemas.microsoft.com/office/drawing/2014/main" id="{44411C84-53D7-9C82-67F1-96186DC34A2E}"/>
              </a:ext>
            </a:extLst>
          </p:cNvPr>
          <p:cNvSpPr txBox="1"/>
          <p:nvPr/>
        </p:nvSpPr>
        <p:spPr>
          <a:xfrm>
            <a:off x="61465" y="4366364"/>
            <a:ext cx="4679342" cy="777136"/>
          </a:xfrm>
          <a:prstGeom prst="rect">
            <a:avLst/>
          </a:prstGeom>
          <a:noFill/>
        </p:spPr>
        <p:txBody>
          <a:bodyPr wrap="square">
            <a:spAutoFit/>
          </a:bodyPr>
          <a:lstStyle/>
          <a:p>
            <a:pPr algn="l">
              <a:buNone/>
            </a:pPr>
            <a:r>
              <a:rPr lang="en-GB" b="1" i="0" u="none" strike="noStrike" dirty="0">
                <a:solidFill>
                  <a:srgbClr val="404040"/>
                </a:solidFill>
                <a:effectLst/>
                <a:latin typeface="Arial" panose="020B0604020202020204" pitchFamily="34" charset="0"/>
                <a:cs typeface="Arial" panose="020B0604020202020204" pitchFamily="34" charset="0"/>
              </a:rPr>
              <a:t>Key Considerations</a:t>
            </a:r>
          </a:p>
          <a:p>
            <a:pPr marL="342900" indent="-342900" algn="l">
              <a:buFont typeface="+mj-lt"/>
              <a:buAutoNum type="arabicPeriod"/>
            </a:pPr>
            <a:r>
              <a:rPr lang="en-GB" b="1" i="0" u="none" strike="noStrike" dirty="0">
                <a:solidFill>
                  <a:srgbClr val="404040"/>
                </a:solidFill>
                <a:effectLst/>
                <a:latin typeface="Arial" panose="020B0604020202020204" pitchFamily="34" charset="0"/>
                <a:cs typeface="Arial" panose="020B0604020202020204" pitchFamily="34" charset="0"/>
              </a:rPr>
              <a:t>Latency</a:t>
            </a:r>
            <a:r>
              <a:rPr lang="en-GB" b="0" i="0" u="none" strike="noStrike" dirty="0">
                <a:solidFill>
                  <a:srgbClr val="404040"/>
                </a:solidFill>
                <a:effectLst/>
                <a:latin typeface="Arial" panose="020B0604020202020204" pitchFamily="34" charset="0"/>
                <a:cs typeface="Arial" panose="020B0604020202020204" pitchFamily="34" charset="0"/>
              </a:rPr>
              <a:t>: </a:t>
            </a:r>
            <a:r>
              <a:rPr lang="en-GB" b="0" i="0" u="none" strike="noStrike" dirty="0" err="1">
                <a:solidFill>
                  <a:srgbClr val="404040"/>
                </a:solidFill>
                <a:effectLst/>
                <a:latin typeface="Arial" panose="020B0604020202020204" pitchFamily="34" charset="0"/>
                <a:cs typeface="Arial" panose="020B0604020202020204" pitchFamily="34" charset="0"/>
              </a:rPr>
              <a:t>TFLite</a:t>
            </a:r>
            <a:r>
              <a:rPr lang="en-GB" b="0" i="0" u="none" strike="noStrike" dirty="0">
                <a:solidFill>
                  <a:srgbClr val="404040"/>
                </a:solidFill>
                <a:effectLst/>
                <a:latin typeface="Arial" panose="020B0604020202020204" pitchFamily="34" charset="0"/>
                <a:cs typeface="Arial" panose="020B0604020202020204" pitchFamily="34" charset="0"/>
              </a:rPr>
              <a:t> runs locally (no network calls).</a:t>
            </a:r>
          </a:p>
          <a:p>
            <a:pPr marL="342900" indent="-342900" algn="l">
              <a:spcBef>
                <a:spcPts val="300"/>
              </a:spcBef>
              <a:buFont typeface="+mj-lt"/>
              <a:buAutoNum type="arabicPeriod"/>
            </a:pPr>
            <a:r>
              <a:rPr lang="en-GB" b="1" i="0" u="none" strike="noStrike" dirty="0">
                <a:solidFill>
                  <a:srgbClr val="404040"/>
                </a:solidFill>
                <a:effectLst/>
                <a:latin typeface="Arial" panose="020B0604020202020204" pitchFamily="34" charset="0"/>
                <a:cs typeface="Arial" panose="020B0604020202020204" pitchFamily="34" charset="0"/>
              </a:rPr>
              <a:t>Privacy</a:t>
            </a:r>
            <a:r>
              <a:rPr lang="en-GB" b="0" i="0" u="none" strike="noStrike" dirty="0">
                <a:solidFill>
                  <a:srgbClr val="404040"/>
                </a:solidFill>
                <a:effectLst/>
                <a:latin typeface="Arial" panose="020B0604020202020204" pitchFamily="34" charset="0"/>
                <a:cs typeface="Arial" panose="020B0604020202020204" pitchFamily="34" charset="0"/>
              </a:rPr>
              <a:t>: Data stays on-device.</a:t>
            </a:r>
          </a:p>
        </p:txBody>
      </p:sp>
    </p:spTree>
    <p:extLst>
      <p:ext uri="{BB962C8B-B14F-4D97-AF65-F5344CB8AC3E}">
        <p14:creationId xmlns:p14="http://schemas.microsoft.com/office/powerpoint/2010/main" val="22755740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A535B76E-ECF2-AA6C-A07D-43FDF88CFAEF}"/>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C829B4A3-5FF8-8BD7-0A6A-7B36D91B5482}"/>
              </a:ext>
            </a:extLst>
          </p:cNvPr>
          <p:cNvSpPr txBox="1">
            <a:spLocks noGrp="1"/>
          </p:cNvSpPr>
          <p:nvPr>
            <p:ph type="title"/>
          </p:nvPr>
        </p:nvSpPr>
        <p:spPr>
          <a:xfrm>
            <a:off x="218425" y="206734"/>
            <a:ext cx="8614425" cy="627900"/>
          </a:xfrm>
          <a:prstGeom prst="rect">
            <a:avLst/>
          </a:prstGeom>
          <a:noFill/>
          <a:ln>
            <a:noFill/>
          </a:ln>
        </p:spPr>
        <p:txBody>
          <a:bodyPr spcFirstLastPara="1" wrap="square" lIns="91425" tIns="91425" rIns="91425" bIns="91425" anchor="t" anchorCtr="0">
            <a:noAutofit/>
          </a:bodyPr>
          <a:lstStyle/>
          <a:p>
            <a:r>
              <a:rPr kumimoji="0" lang="en-US" altLang="en-US" sz="2000" b="1" i="0" u="none" strike="noStrike" cap="none" normalizeH="0" baseline="0" dirty="0">
                <a:ln>
                  <a:noFill/>
                </a:ln>
                <a:solidFill>
                  <a:srgbClr val="7030A0"/>
                </a:solidFill>
                <a:effectLst/>
                <a:latin typeface="DeepSeek-CJK-patch"/>
              </a:rPr>
              <a:t>Cloud vs. Edge Trade-Offs</a:t>
            </a:r>
            <a:br>
              <a:rPr kumimoji="0" lang="en-US" altLang="en-US" sz="2000" b="1" i="0" u="none" strike="noStrike" cap="none" normalizeH="0" baseline="0" dirty="0">
                <a:ln>
                  <a:noFill/>
                </a:ln>
                <a:solidFill>
                  <a:srgbClr val="7030A0"/>
                </a:solidFill>
                <a:effectLst/>
                <a:latin typeface="DeepSeek-CJK-patch"/>
              </a:rPr>
            </a:br>
            <a:br>
              <a:rPr lang="en-GB" sz="2000" b="1" i="0" u="none" strike="noStrike" dirty="0">
                <a:solidFill>
                  <a:srgbClr val="7030A0"/>
                </a:solidFill>
                <a:effectLst/>
                <a:latin typeface="DeepSeek-CJK-patch"/>
              </a:rPr>
            </a:br>
            <a:br>
              <a:rPr lang="en-GB" sz="2000" b="1" dirty="0">
                <a:solidFill>
                  <a:srgbClr val="7030A0"/>
                </a:solidFill>
              </a:rPr>
            </a:br>
            <a:br>
              <a:rPr lang="en-GB" sz="2000" b="1" dirty="0">
                <a:solidFill>
                  <a:srgbClr val="7030A0"/>
                </a:solidFill>
              </a:rPr>
            </a:br>
            <a:br>
              <a:rPr lang="en-GB" sz="2000" b="1" dirty="0">
                <a:solidFill>
                  <a:srgbClr val="7030A0"/>
                </a:solidFill>
              </a:rPr>
            </a:br>
            <a:br>
              <a:rPr lang="en-GB" sz="2000" kern="100" dirty="0">
                <a:solidFill>
                  <a:srgbClr val="7030A0"/>
                </a:solidFill>
                <a:effectLst/>
                <a:latin typeface="Aptos" panose="020B0004020202020204" pitchFamily="34" charset="0"/>
                <a:ea typeface="Aptos" panose="020B0004020202020204" pitchFamily="34" charset="0"/>
                <a:cs typeface="Arial" panose="020B0604020202020204" pitchFamily="34" charset="0"/>
              </a:rPr>
            </a:br>
            <a:br>
              <a:rPr lang="en-GB" sz="2000" b="1" i="0" u="none" strike="noStrike" dirty="0">
                <a:solidFill>
                  <a:srgbClr val="7030A0"/>
                </a:solidFill>
                <a:effectLst/>
              </a:rPr>
            </a:br>
            <a:br>
              <a:rPr lang="en-GB" sz="2000" b="1" i="0" u="none" strike="noStrike" dirty="0">
                <a:solidFill>
                  <a:srgbClr val="7030A0"/>
                </a:solidFill>
                <a:effectLst/>
              </a:rPr>
            </a:br>
            <a:endParaRPr lang="en-GB" sz="20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2547B69-4F68-A03D-63C7-97C35F5845B4}"/>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2" name="Table 1">
            <a:extLst>
              <a:ext uri="{FF2B5EF4-FFF2-40B4-BE49-F238E27FC236}">
                <a16:creationId xmlns:a16="http://schemas.microsoft.com/office/drawing/2014/main" id="{F1F66D5F-2B2A-21DE-F898-C033CA88B67A}"/>
              </a:ext>
            </a:extLst>
          </p:cNvPr>
          <p:cNvGraphicFramePr>
            <a:graphicFrameLocks noGrp="1"/>
          </p:cNvGraphicFramePr>
          <p:nvPr>
            <p:extLst>
              <p:ext uri="{D42A27DB-BD31-4B8C-83A1-F6EECF244321}">
                <p14:modId xmlns:p14="http://schemas.microsoft.com/office/powerpoint/2010/main" val="453342205"/>
              </p:ext>
            </p:extLst>
          </p:nvPr>
        </p:nvGraphicFramePr>
        <p:xfrm>
          <a:off x="311150" y="1851025"/>
          <a:ext cx="8521700" cy="2019300"/>
        </p:xfrm>
        <a:graphic>
          <a:graphicData uri="http://schemas.openxmlformats.org/drawingml/2006/table">
            <a:tbl>
              <a:tblPr>
                <a:tableStyleId>{35758FB7-9AC5-4552-8A53-C91805E547FA}</a:tableStyleId>
              </a:tblPr>
              <a:tblGrid>
                <a:gridCol w="2806950">
                  <a:extLst>
                    <a:ext uri="{9D8B030D-6E8A-4147-A177-3AD203B41FA5}">
                      <a16:colId xmlns:a16="http://schemas.microsoft.com/office/drawing/2014/main" val="314886591"/>
                    </a:ext>
                  </a:extLst>
                </a:gridCol>
                <a:gridCol w="2857375">
                  <a:extLst>
                    <a:ext uri="{9D8B030D-6E8A-4147-A177-3AD203B41FA5}">
                      <a16:colId xmlns:a16="http://schemas.microsoft.com/office/drawing/2014/main" val="2136888172"/>
                    </a:ext>
                  </a:extLst>
                </a:gridCol>
                <a:gridCol w="2857375">
                  <a:extLst>
                    <a:ext uri="{9D8B030D-6E8A-4147-A177-3AD203B41FA5}">
                      <a16:colId xmlns:a16="http://schemas.microsoft.com/office/drawing/2014/main" val="3548206142"/>
                    </a:ext>
                  </a:extLst>
                </a:gridCol>
              </a:tblGrid>
              <a:tr h="0">
                <a:tc>
                  <a:txBody>
                    <a:bodyPr/>
                    <a:lstStyle/>
                    <a:p>
                      <a:pPr algn="l"/>
                      <a:r>
                        <a:rPr lang="en-GB" b="1">
                          <a:effectLst/>
                        </a:rPr>
                        <a:t>Factor</a:t>
                      </a:r>
                    </a:p>
                  </a:txBody>
                  <a:tcPr marR="95250" marT="95250" marB="95250" anchor="ctr"/>
                </a:tc>
                <a:tc>
                  <a:txBody>
                    <a:bodyPr/>
                    <a:lstStyle/>
                    <a:p>
                      <a:pPr algn="l"/>
                      <a:r>
                        <a:rPr lang="en-GB" b="1">
                          <a:effectLst/>
                        </a:rPr>
                        <a:t>Cloud</a:t>
                      </a:r>
                    </a:p>
                  </a:txBody>
                  <a:tcPr marL="95250" marR="95250" marT="95250" marB="95250" anchor="ctr"/>
                </a:tc>
                <a:tc>
                  <a:txBody>
                    <a:bodyPr/>
                    <a:lstStyle/>
                    <a:p>
                      <a:pPr algn="l"/>
                      <a:r>
                        <a:rPr lang="en-GB" b="1">
                          <a:effectLst/>
                        </a:rPr>
                        <a:t>Edge (Mobile)</a:t>
                      </a:r>
                    </a:p>
                  </a:txBody>
                  <a:tcPr marL="95250" marR="95250" marT="95250" marB="95250" anchor="ctr"/>
                </a:tc>
                <a:extLst>
                  <a:ext uri="{0D108BD9-81ED-4DB2-BD59-A6C34878D82A}">
                    <a16:rowId xmlns:a16="http://schemas.microsoft.com/office/drawing/2014/main" val="927588470"/>
                  </a:ext>
                </a:extLst>
              </a:tr>
              <a:tr h="0">
                <a:tc>
                  <a:txBody>
                    <a:bodyPr/>
                    <a:lstStyle/>
                    <a:p>
                      <a:r>
                        <a:rPr lang="en-GB" b="1">
                          <a:effectLst/>
                        </a:rPr>
                        <a:t>Latency</a:t>
                      </a:r>
                      <a:endParaRPr lang="en-GB">
                        <a:effectLst/>
                      </a:endParaRPr>
                    </a:p>
                  </a:txBody>
                  <a:tcPr marR="95250" marT="95250" marB="95250" anchor="ctr"/>
                </a:tc>
                <a:tc>
                  <a:txBody>
                    <a:bodyPr/>
                    <a:lstStyle/>
                    <a:p>
                      <a:r>
                        <a:rPr lang="en-GB">
                          <a:effectLst/>
                        </a:rPr>
                        <a:t>Higher (network-dependent)</a:t>
                      </a:r>
                    </a:p>
                  </a:txBody>
                  <a:tcPr marL="95250" marR="95250" marT="95250" marB="95250" anchor="ctr"/>
                </a:tc>
                <a:tc>
                  <a:txBody>
                    <a:bodyPr/>
                    <a:lstStyle/>
                    <a:p>
                      <a:r>
                        <a:rPr lang="en-GB">
                          <a:effectLst/>
                        </a:rPr>
                        <a:t>Lower (on-device)</a:t>
                      </a:r>
                    </a:p>
                  </a:txBody>
                  <a:tcPr marL="95250" marR="95250" marT="95250" marB="95250" anchor="ctr"/>
                </a:tc>
                <a:extLst>
                  <a:ext uri="{0D108BD9-81ED-4DB2-BD59-A6C34878D82A}">
                    <a16:rowId xmlns:a16="http://schemas.microsoft.com/office/drawing/2014/main" val="557456388"/>
                  </a:ext>
                </a:extLst>
              </a:tr>
              <a:tr h="0">
                <a:tc>
                  <a:txBody>
                    <a:bodyPr/>
                    <a:lstStyle/>
                    <a:p>
                      <a:r>
                        <a:rPr lang="en-GB" b="1">
                          <a:effectLst/>
                        </a:rPr>
                        <a:t>Cost</a:t>
                      </a:r>
                      <a:endParaRPr lang="en-GB">
                        <a:effectLst/>
                      </a:endParaRPr>
                    </a:p>
                  </a:txBody>
                  <a:tcPr marR="95250" marT="95250" marB="95250" anchor="ctr"/>
                </a:tc>
                <a:tc>
                  <a:txBody>
                    <a:bodyPr/>
                    <a:lstStyle/>
                    <a:p>
                      <a:r>
                        <a:rPr lang="en-GB" dirty="0">
                          <a:effectLst/>
                        </a:rPr>
                        <a:t>Pay per inference</a:t>
                      </a:r>
                    </a:p>
                  </a:txBody>
                  <a:tcPr marL="95250" marR="95250" marT="95250" marB="95250" anchor="ctr"/>
                </a:tc>
                <a:tc>
                  <a:txBody>
                    <a:bodyPr/>
                    <a:lstStyle/>
                    <a:p>
                      <a:r>
                        <a:rPr lang="en-GB">
                          <a:effectLst/>
                        </a:rPr>
                        <a:t>Free after deployment</a:t>
                      </a:r>
                    </a:p>
                  </a:txBody>
                  <a:tcPr marL="95250" marR="95250" marT="95250" marB="95250" anchor="ctr"/>
                </a:tc>
                <a:extLst>
                  <a:ext uri="{0D108BD9-81ED-4DB2-BD59-A6C34878D82A}">
                    <a16:rowId xmlns:a16="http://schemas.microsoft.com/office/drawing/2014/main" val="1469767602"/>
                  </a:ext>
                </a:extLst>
              </a:tr>
              <a:tr h="0">
                <a:tc>
                  <a:txBody>
                    <a:bodyPr/>
                    <a:lstStyle/>
                    <a:p>
                      <a:r>
                        <a:rPr lang="en-GB" b="1">
                          <a:effectLst/>
                        </a:rPr>
                        <a:t>Privacy</a:t>
                      </a:r>
                      <a:endParaRPr lang="en-GB">
                        <a:effectLst/>
                      </a:endParaRPr>
                    </a:p>
                  </a:txBody>
                  <a:tcPr marR="95250" marT="95250" marB="95250" anchor="ctr"/>
                </a:tc>
                <a:tc>
                  <a:txBody>
                    <a:bodyPr/>
                    <a:lstStyle/>
                    <a:p>
                      <a:r>
                        <a:rPr lang="en-GB">
                          <a:effectLst/>
                        </a:rPr>
                        <a:t>Data sent to server</a:t>
                      </a:r>
                    </a:p>
                  </a:txBody>
                  <a:tcPr marL="95250" marR="95250" marT="95250" marB="95250" anchor="ctr"/>
                </a:tc>
                <a:tc>
                  <a:txBody>
                    <a:bodyPr/>
                    <a:lstStyle/>
                    <a:p>
                      <a:r>
                        <a:rPr lang="en-GB">
                          <a:effectLst/>
                        </a:rPr>
                        <a:t>Data stays local</a:t>
                      </a:r>
                    </a:p>
                  </a:txBody>
                  <a:tcPr marL="95250" marR="95250" marT="95250" marB="95250" anchor="ctr"/>
                </a:tc>
                <a:extLst>
                  <a:ext uri="{0D108BD9-81ED-4DB2-BD59-A6C34878D82A}">
                    <a16:rowId xmlns:a16="http://schemas.microsoft.com/office/drawing/2014/main" val="3349960177"/>
                  </a:ext>
                </a:extLst>
              </a:tr>
              <a:tr h="0">
                <a:tc>
                  <a:txBody>
                    <a:bodyPr/>
                    <a:lstStyle/>
                    <a:p>
                      <a:r>
                        <a:rPr lang="en-GB" b="1">
                          <a:effectLst/>
                        </a:rPr>
                        <a:t>Hardware</a:t>
                      </a:r>
                      <a:endParaRPr lang="en-GB">
                        <a:effectLst/>
                      </a:endParaRPr>
                    </a:p>
                  </a:txBody>
                  <a:tcPr marR="95250" marT="95250" marB="95250" anchor="ctr"/>
                </a:tc>
                <a:tc>
                  <a:txBody>
                    <a:bodyPr/>
                    <a:lstStyle/>
                    <a:p>
                      <a:r>
                        <a:rPr lang="en-GB">
                          <a:effectLst/>
                        </a:rPr>
                        <a:t>Uses cloud GPUs/TPUs</a:t>
                      </a:r>
                    </a:p>
                  </a:txBody>
                  <a:tcPr marL="95250" marR="95250" marT="95250" marB="95250" anchor="ctr"/>
                </a:tc>
                <a:tc>
                  <a:txBody>
                    <a:bodyPr/>
                    <a:lstStyle/>
                    <a:p>
                      <a:r>
                        <a:rPr lang="en-GB" dirty="0">
                          <a:effectLst/>
                        </a:rPr>
                        <a:t>Limited to device CPU/GPU</a:t>
                      </a:r>
                    </a:p>
                  </a:txBody>
                  <a:tcPr marL="95250" marR="95250" marT="95250" marB="95250" anchor="ctr"/>
                </a:tc>
                <a:extLst>
                  <a:ext uri="{0D108BD9-81ED-4DB2-BD59-A6C34878D82A}">
                    <a16:rowId xmlns:a16="http://schemas.microsoft.com/office/drawing/2014/main" val="1683064627"/>
                  </a:ext>
                </a:extLst>
              </a:tr>
            </a:tbl>
          </a:graphicData>
        </a:graphic>
      </p:graphicFrame>
    </p:spTree>
    <p:extLst>
      <p:ext uri="{BB962C8B-B14F-4D97-AF65-F5344CB8AC3E}">
        <p14:creationId xmlns:p14="http://schemas.microsoft.com/office/powerpoint/2010/main" val="38930987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C7073A23-177A-F380-4E2C-BCE5184CC92A}"/>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E3B61B0B-C8A6-4063-AA38-0D213B633718}"/>
              </a:ext>
            </a:extLst>
          </p:cNvPr>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a:extLst>
              <a:ext uri="{FF2B5EF4-FFF2-40B4-BE49-F238E27FC236}">
                <a16:creationId xmlns:a16="http://schemas.microsoft.com/office/drawing/2014/main" id="{CC369EC6-6544-C062-953A-68234137BAFF}"/>
              </a:ext>
            </a:extLst>
          </p:cNvPr>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Books and References</a:t>
            </a:r>
            <a:br>
              <a:rPr lang="en-GB" sz="3200" dirty="0"/>
            </a:br>
            <a:endParaRPr lang="en-GB" sz="3200" dirty="0"/>
          </a:p>
        </p:txBody>
      </p:sp>
      <p:sp>
        <p:nvSpPr>
          <p:cNvPr id="3" name="TextBox 2">
            <a:extLst>
              <a:ext uri="{FF2B5EF4-FFF2-40B4-BE49-F238E27FC236}">
                <a16:creationId xmlns:a16="http://schemas.microsoft.com/office/drawing/2014/main" id="{BD36E5C5-A4EC-A514-661D-B1E7567D531F}"/>
              </a:ext>
            </a:extLst>
          </p:cNvPr>
          <p:cNvSpPr txBox="1"/>
          <p:nvPr/>
        </p:nvSpPr>
        <p:spPr>
          <a:xfrm>
            <a:off x="755575" y="1098322"/>
            <a:ext cx="6931332" cy="4016484"/>
          </a:xfrm>
          <a:prstGeom prst="rect">
            <a:avLst/>
          </a:prstGeom>
          <a:noFill/>
        </p:spPr>
        <p:txBody>
          <a:bodyPr wrap="square">
            <a:spAutoFit/>
          </a:bodyPr>
          <a:lstStyle/>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"Machine Learning System Design" – Chip Huyen</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Google Cloud Vertex AI Docs: https://</a:t>
            </a:r>
            <a:r>
              <a:rPr lang="en-GB" sz="2000" b="0" i="0" u="none" strike="noStrike" dirty="0" err="1">
                <a:solidFill>
                  <a:srgbClr val="404040"/>
                </a:solidFill>
                <a:effectLst/>
                <a:latin typeface="Inter" panose="02000503000000020004" pitchFamily="2" charset="0"/>
              </a:rPr>
              <a:t>cloud.google.com</a:t>
            </a:r>
            <a:r>
              <a:rPr lang="en-GB" sz="2000" b="0" i="0" u="none" strike="noStrike" dirty="0">
                <a:solidFill>
                  <a:srgbClr val="404040"/>
                </a:solidFill>
                <a:effectLst/>
                <a:latin typeface="Inter" panose="02000503000000020004" pitchFamily="2" charset="0"/>
              </a:rPr>
              <a:t>/vertex-ai</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AWS </a:t>
            </a:r>
            <a:r>
              <a:rPr lang="en-GB" sz="2000" b="0" i="0" u="none" strike="noStrike" dirty="0" err="1">
                <a:solidFill>
                  <a:srgbClr val="404040"/>
                </a:solidFill>
                <a:effectLst/>
                <a:latin typeface="Inter" panose="02000503000000020004" pitchFamily="2" charset="0"/>
              </a:rPr>
              <a:t>SageMaker</a:t>
            </a:r>
            <a:r>
              <a:rPr lang="en-GB" sz="2000" b="0" i="0" u="none" strike="noStrike" dirty="0">
                <a:solidFill>
                  <a:srgbClr val="404040"/>
                </a:solidFill>
                <a:effectLst/>
                <a:latin typeface="Inter" panose="02000503000000020004" pitchFamily="2" charset="0"/>
              </a:rPr>
              <a:t> Guides: https://</a:t>
            </a:r>
            <a:r>
              <a:rPr lang="en-GB" sz="2000" b="0" i="0" u="none" strike="noStrike" dirty="0" err="1">
                <a:solidFill>
                  <a:srgbClr val="404040"/>
                </a:solidFill>
                <a:effectLst/>
                <a:latin typeface="Inter" panose="02000503000000020004" pitchFamily="2" charset="0"/>
              </a:rPr>
              <a:t>docs.aws.amazon.com</a:t>
            </a:r>
            <a:r>
              <a:rPr lang="en-GB" sz="2000" b="0" i="0" u="none" strike="noStrike" dirty="0">
                <a:solidFill>
                  <a:srgbClr val="404040"/>
                </a:solidFill>
                <a:effectLst/>
                <a:latin typeface="Inter" panose="02000503000000020004" pitchFamily="2" charset="0"/>
              </a:rPr>
              <a:t>/</a:t>
            </a:r>
            <a:r>
              <a:rPr lang="en-GB" sz="2000" b="0" i="0" u="none" strike="noStrike" dirty="0" err="1">
                <a:solidFill>
                  <a:srgbClr val="404040"/>
                </a:solidFill>
                <a:effectLst/>
                <a:latin typeface="Inter" panose="02000503000000020004" pitchFamily="2" charset="0"/>
              </a:rPr>
              <a:t>sagemaker</a:t>
            </a:r>
            <a:endParaRPr lang="en-GB" sz="2000" b="0" i="0" u="none" strike="noStrike" dirty="0">
              <a:solidFill>
                <a:srgbClr val="404040"/>
              </a:solidFill>
              <a:effectLst/>
              <a:latin typeface="Inter" panose="02000503000000020004" pitchFamily="2" charset="0"/>
            </a:endParaRP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TensorFlow Lite for Mobile: https://</a:t>
            </a:r>
            <a:r>
              <a:rPr lang="en-GB" sz="2000" b="0" i="0" u="none" strike="noStrike" dirty="0" err="1">
                <a:solidFill>
                  <a:srgbClr val="404040"/>
                </a:solidFill>
                <a:effectLst/>
                <a:latin typeface="Inter" panose="02000503000000020004" pitchFamily="2" charset="0"/>
              </a:rPr>
              <a:t>www.tensorflow.org</a:t>
            </a:r>
            <a:r>
              <a:rPr lang="en-GB" sz="2000" b="0" i="0" u="none" strike="noStrike" dirty="0">
                <a:solidFill>
                  <a:srgbClr val="404040"/>
                </a:solidFill>
                <a:effectLst/>
                <a:latin typeface="Inter" panose="02000503000000020004" pitchFamily="2" charset="0"/>
              </a:rPr>
              <a:t>/lite</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"Deep Learning with Python" – François Chollet (Manning, 2021)</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"Hands-On Machine Learning with Scikit-Learn, </a:t>
            </a:r>
            <a:r>
              <a:rPr lang="en-GB" sz="2000" b="0" i="0" u="none" strike="noStrike" dirty="0" err="1">
                <a:solidFill>
                  <a:srgbClr val="404040"/>
                </a:solidFill>
                <a:effectLst/>
                <a:latin typeface="Inter" panose="02000503000000020004" pitchFamily="2" charset="0"/>
              </a:rPr>
              <a:t>Keras</a:t>
            </a:r>
            <a:r>
              <a:rPr lang="en-GB" sz="2000" b="0" i="0" u="none" strike="noStrike" dirty="0">
                <a:solidFill>
                  <a:srgbClr val="404040"/>
                </a:solidFill>
                <a:effectLst/>
                <a:latin typeface="Inter" panose="02000503000000020004" pitchFamily="2" charset="0"/>
              </a:rPr>
              <a:t>, and TensorFlow" – Aurélien </a:t>
            </a:r>
            <a:r>
              <a:rPr lang="en-GB" sz="2000" b="0" i="0" u="none" strike="noStrike" dirty="0" err="1">
                <a:solidFill>
                  <a:srgbClr val="404040"/>
                </a:solidFill>
                <a:effectLst/>
                <a:latin typeface="Inter" panose="02000503000000020004" pitchFamily="2" charset="0"/>
              </a:rPr>
              <a:t>Géron</a:t>
            </a:r>
            <a:r>
              <a:rPr lang="en-GB" sz="2000" b="0" i="0" u="none" strike="noStrike" dirty="0">
                <a:solidFill>
                  <a:srgbClr val="404040"/>
                </a:solidFill>
                <a:effectLst/>
                <a:latin typeface="Inter" panose="02000503000000020004" pitchFamily="2" charset="0"/>
              </a:rPr>
              <a:t>(O’Reilly, 2022)</a:t>
            </a:r>
          </a:p>
          <a:p>
            <a:pPr>
              <a:spcBef>
                <a:spcPts val="300"/>
              </a:spcBef>
            </a:pPr>
            <a:br>
              <a:rPr lang="en-GB" sz="2000" b="0" i="0" u="none" strike="noStrike" dirty="0">
                <a:solidFill>
                  <a:srgbClr val="404040"/>
                </a:solidFill>
                <a:effectLst/>
                <a:latin typeface="Inter" panose="02000503000000020004" pitchFamily="2" charset="0"/>
              </a:rPr>
            </a:br>
            <a:endParaRPr lang="en-GB" sz="2000" b="0" i="0" u="none" strike="noStrike" dirty="0">
              <a:solidFill>
                <a:srgbClr val="404040"/>
              </a:solidFill>
              <a:effectLst/>
              <a:latin typeface="Inter" panose="02000503000000020004" pitchFamily="2" charset="0"/>
            </a:endParaRPr>
          </a:p>
        </p:txBody>
      </p:sp>
    </p:spTree>
    <p:extLst>
      <p:ext uri="{BB962C8B-B14F-4D97-AF65-F5344CB8AC3E}">
        <p14:creationId xmlns:p14="http://schemas.microsoft.com/office/powerpoint/2010/main" val="374039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l="8508"/>
          <a:stretch/>
        </p:blipFill>
        <p:spPr>
          <a:xfrm>
            <a:off x="6248550" y="1551586"/>
            <a:ext cx="1357692" cy="509366"/>
          </a:xfrm>
          <a:prstGeom prst="rect">
            <a:avLst/>
          </a:prstGeom>
          <a:noFill/>
          <a:ln>
            <a:noFill/>
          </a:ln>
        </p:spPr>
      </p:pic>
      <p:pic>
        <p:nvPicPr>
          <p:cNvPr id="195" name="Google Shape;195;p20"/>
          <p:cNvPicPr preferRelativeResize="0"/>
          <p:nvPr/>
        </p:nvPicPr>
        <p:blipFill rotWithShape="1">
          <a:blip r:embed="rId4">
            <a:alphaModFix/>
          </a:blip>
          <a:srcRect/>
          <a:stretch/>
        </p:blipFill>
        <p:spPr>
          <a:xfrm>
            <a:off x="1647216" y="2992069"/>
            <a:ext cx="995950" cy="405885"/>
          </a:xfrm>
          <a:prstGeom prst="rect">
            <a:avLst/>
          </a:prstGeom>
          <a:noFill/>
          <a:ln>
            <a:noFill/>
          </a:ln>
        </p:spPr>
      </p:pic>
      <p:pic>
        <p:nvPicPr>
          <p:cNvPr id="196" name="Google Shape;196;p20"/>
          <p:cNvPicPr preferRelativeResize="0"/>
          <p:nvPr/>
        </p:nvPicPr>
        <p:blipFill rotWithShape="1">
          <a:blip r:embed="rId5">
            <a:alphaModFix/>
          </a:blip>
          <a:srcRect/>
          <a:stretch/>
        </p:blipFill>
        <p:spPr>
          <a:xfrm>
            <a:off x="6319974" y="3081645"/>
            <a:ext cx="1214843" cy="226732"/>
          </a:xfrm>
          <a:prstGeom prst="rect">
            <a:avLst/>
          </a:prstGeom>
          <a:noFill/>
          <a:ln>
            <a:noFill/>
          </a:ln>
        </p:spPr>
      </p:pic>
      <p:pic>
        <p:nvPicPr>
          <p:cNvPr id="197" name="Google Shape;197;p20"/>
          <p:cNvPicPr preferRelativeResize="0"/>
          <p:nvPr/>
        </p:nvPicPr>
        <p:blipFill rotWithShape="1">
          <a:blip r:embed="rId6">
            <a:alphaModFix/>
          </a:blip>
          <a:srcRect l="11047" t="22524" r="11047" b="22523"/>
          <a:stretch/>
        </p:blipFill>
        <p:spPr>
          <a:xfrm>
            <a:off x="3316327" y="2249012"/>
            <a:ext cx="688702" cy="395541"/>
          </a:xfrm>
          <a:prstGeom prst="rect">
            <a:avLst/>
          </a:prstGeom>
          <a:noFill/>
          <a:ln>
            <a:noFill/>
          </a:ln>
        </p:spPr>
      </p:pic>
      <p:pic>
        <p:nvPicPr>
          <p:cNvPr id="198" name="Google Shape;198;p20"/>
          <p:cNvPicPr preferRelativeResize="0"/>
          <p:nvPr/>
        </p:nvPicPr>
        <p:blipFill rotWithShape="1">
          <a:blip r:embed="rId7">
            <a:alphaModFix/>
          </a:blip>
          <a:srcRect/>
          <a:stretch/>
        </p:blipFill>
        <p:spPr>
          <a:xfrm>
            <a:off x="6360782" y="2325188"/>
            <a:ext cx="1133228" cy="243189"/>
          </a:xfrm>
          <a:prstGeom prst="rect">
            <a:avLst/>
          </a:prstGeom>
          <a:noFill/>
          <a:ln>
            <a:noFill/>
          </a:ln>
        </p:spPr>
      </p:pic>
      <p:pic>
        <p:nvPicPr>
          <p:cNvPr id="199" name="Google Shape;199;p20"/>
          <p:cNvPicPr preferRelativeResize="0"/>
          <p:nvPr/>
        </p:nvPicPr>
        <p:blipFill rotWithShape="1">
          <a:blip r:embed="rId8">
            <a:alphaModFix/>
          </a:blip>
          <a:srcRect l="2114" t="19776" b="19777"/>
          <a:stretch/>
        </p:blipFill>
        <p:spPr>
          <a:xfrm>
            <a:off x="3094065" y="1608499"/>
            <a:ext cx="1133226" cy="395540"/>
          </a:xfrm>
          <a:prstGeom prst="rect">
            <a:avLst/>
          </a:prstGeom>
          <a:noFill/>
          <a:ln>
            <a:noFill/>
          </a:ln>
        </p:spPr>
      </p:pic>
      <p:pic>
        <p:nvPicPr>
          <p:cNvPr id="200" name="Google Shape;200;p20"/>
          <p:cNvPicPr preferRelativeResize="0"/>
          <p:nvPr/>
        </p:nvPicPr>
        <p:blipFill rotWithShape="1">
          <a:blip r:embed="rId9">
            <a:alphaModFix/>
          </a:blip>
          <a:srcRect/>
          <a:stretch/>
        </p:blipFill>
        <p:spPr>
          <a:xfrm>
            <a:off x="3183573" y="3074674"/>
            <a:ext cx="954210" cy="240673"/>
          </a:xfrm>
          <a:prstGeom prst="rect">
            <a:avLst/>
          </a:prstGeom>
          <a:noFill/>
          <a:ln>
            <a:noFill/>
          </a:ln>
        </p:spPr>
      </p:pic>
      <p:pic>
        <p:nvPicPr>
          <p:cNvPr id="201" name="Google Shape;201;p20" descr="Text&#10;&#10;Description automatically generated with low confidence"/>
          <p:cNvPicPr preferRelativeResize="0"/>
          <p:nvPr/>
        </p:nvPicPr>
        <p:blipFill rotWithShape="1">
          <a:blip r:embed="rId10">
            <a:alphaModFix/>
          </a:blip>
          <a:srcRect/>
          <a:stretch/>
        </p:blipFill>
        <p:spPr>
          <a:xfrm>
            <a:off x="4992620" y="3040838"/>
            <a:ext cx="750589" cy="308346"/>
          </a:xfrm>
          <a:prstGeom prst="rect">
            <a:avLst/>
          </a:prstGeom>
          <a:noFill/>
          <a:ln>
            <a:noFill/>
          </a:ln>
        </p:spPr>
      </p:pic>
      <p:pic>
        <p:nvPicPr>
          <p:cNvPr id="202" name="Google Shape;202;p20" descr="A red and black sign&#10;&#10;Description automatically generated with low confidence"/>
          <p:cNvPicPr preferRelativeResize="0"/>
          <p:nvPr/>
        </p:nvPicPr>
        <p:blipFill rotWithShape="1">
          <a:blip r:embed="rId11">
            <a:alphaModFix/>
          </a:blip>
          <a:srcRect/>
          <a:stretch/>
        </p:blipFill>
        <p:spPr>
          <a:xfrm>
            <a:off x="3183572" y="3696038"/>
            <a:ext cx="954213" cy="202631"/>
          </a:xfrm>
          <a:prstGeom prst="rect">
            <a:avLst/>
          </a:prstGeom>
          <a:noFill/>
          <a:ln>
            <a:noFill/>
          </a:ln>
        </p:spPr>
      </p:pic>
      <p:pic>
        <p:nvPicPr>
          <p:cNvPr id="203" name="Google Shape;203;p20" descr="A picture containing text, clipart, vector graphics&#10;&#10;Description automatically generated"/>
          <p:cNvPicPr preferRelativeResize="0"/>
          <p:nvPr/>
        </p:nvPicPr>
        <p:blipFill rotWithShape="1">
          <a:blip r:embed="rId12">
            <a:alphaModFix/>
          </a:blip>
          <a:srcRect/>
          <a:stretch/>
        </p:blipFill>
        <p:spPr>
          <a:xfrm>
            <a:off x="5018971" y="3677016"/>
            <a:ext cx="697888" cy="240674"/>
          </a:xfrm>
          <a:prstGeom prst="rect">
            <a:avLst/>
          </a:prstGeom>
          <a:noFill/>
          <a:ln>
            <a:noFill/>
          </a:ln>
        </p:spPr>
      </p:pic>
      <p:pic>
        <p:nvPicPr>
          <p:cNvPr id="204" name="Google Shape;204;p20"/>
          <p:cNvPicPr preferRelativeResize="0"/>
          <p:nvPr/>
        </p:nvPicPr>
        <p:blipFill rotWithShape="1">
          <a:blip r:embed="rId13">
            <a:alphaModFix/>
          </a:blip>
          <a:srcRect b="18915"/>
          <a:stretch/>
        </p:blipFill>
        <p:spPr>
          <a:xfrm>
            <a:off x="6450290" y="3643177"/>
            <a:ext cx="954212" cy="308352"/>
          </a:xfrm>
          <a:prstGeom prst="rect">
            <a:avLst/>
          </a:prstGeom>
          <a:noFill/>
          <a:ln>
            <a:noFill/>
          </a:ln>
        </p:spPr>
      </p:pic>
      <p:pic>
        <p:nvPicPr>
          <p:cNvPr id="205" name="Google Shape;205;p20"/>
          <p:cNvPicPr preferRelativeResize="0"/>
          <p:nvPr/>
        </p:nvPicPr>
        <p:blipFill rotWithShape="1">
          <a:blip r:embed="rId14">
            <a:alphaModFix/>
          </a:blip>
          <a:srcRect l="12270" t="12270" r="12262" b="12262"/>
          <a:stretch/>
        </p:blipFill>
        <p:spPr>
          <a:xfrm>
            <a:off x="3885746" y="4245539"/>
            <a:ext cx="1133228" cy="382770"/>
          </a:xfrm>
          <a:prstGeom prst="rect">
            <a:avLst/>
          </a:prstGeom>
          <a:noFill/>
          <a:ln>
            <a:noFill/>
          </a:ln>
        </p:spPr>
      </p:pic>
      <p:pic>
        <p:nvPicPr>
          <p:cNvPr id="206" name="Google Shape;206;p20"/>
          <p:cNvPicPr preferRelativeResize="0"/>
          <p:nvPr/>
        </p:nvPicPr>
        <p:blipFill rotWithShape="1">
          <a:blip r:embed="rId15">
            <a:alphaModFix/>
          </a:blip>
          <a:srcRect/>
          <a:stretch/>
        </p:blipFill>
        <p:spPr>
          <a:xfrm>
            <a:off x="1798086" y="3621493"/>
            <a:ext cx="694210" cy="351721"/>
          </a:xfrm>
          <a:prstGeom prst="rect">
            <a:avLst/>
          </a:prstGeom>
          <a:noFill/>
          <a:ln>
            <a:noFill/>
          </a:ln>
        </p:spPr>
      </p:pic>
      <p:pic>
        <p:nvPicPr>
          <p:cNvPr id="207" name="Google Shape;207;p20"/>
          <p:cNvPicPr preferRelativeResize="0"/>
          <p:nvPr/>
        </p:nvPicPr>
        <p:blipFill rotWithShape="1">
          <a:blip r:embed="rId16">
            <a:alphaModFix/>
          </a:blip>
          <a:srcRect t="18905" b="18904"/>
          <a:stretch/>
        </p:blipFill>
        <p:spPr>
          <a:xfrm>
            <a:off x="1537771" y="1614885"/>
            <a:ext cx="1214840" cy="382767"/>
          </a:xfrm>
          <a:prstGeom prst="rect">
            <a:avLst/>
          </a:prstGeom>
          <a:noFill/>
          <a:ln>
            <a:noFill/>
          </a:ln>
        </p:spPr>
      </p:pic>
      <p:pic>
        <p:nvPicPr>
          <p:cNvPr id="208" name="Google Shape;208;p20"/>
          <p:cNvPicPr preferRelativeResize="0"/>
          <p:nvPr/>
        </p:nvPicPr>
        <p:blipFill rotWithShape="1">
          <a:blip r:embed="rId17">
            <a:alphaModFix/>
          </a:blip>
          <a:srcRect l="2114" t="28897" b="28892"/>
          <a:stretch/>
        </p:blipFill>
        <p:spPr>
          <a:xfrm>
            <a:off x="4740627" y="1652095"/>
            <a:ext cx="1254574" cy="308347"/>
          </a:xfrm>
          <a:prstGeom prst="rect">
            <a:avLst/>
          </a:prstGeom>
          <a:noFill/>
          <a:ln>
            <a:noFill/>
          </a:ln>
        </p:spPr>
      </p:pic>
      <p:pic>
        <p:nvPicPr>
          <p:cNvPr id="209" name="Google Shape;209;p20"/>
          <p:cNvPicPr preferRelativeResize="0"/>
          <p:nvPr/>
        </p:nvPicPr>
        <p:blipFill rotWithShape="1">
          <a:blip r:embed="rId18">
            <a:alphaModFix/>
          </a:blip>
          <a:srcRect/>
          <a:stretch/>
        </p:blipFill>
        <p:spPr>
          <a:xfrm>
            <a:off x="4760495" y="2253777"/>
            <a:ext cx="1214839" cy="386012"/>
          </a:xfrm>
          <a:prstGeom prst="rect">
            <a:avLst/>
          </a:prstGeom>
          <a:noFill/>
          <a:ln>
            <a:noFill/>
          </a:ln>
        </p:spPr>
      </p:pic>
      <p:pic>
        <p:nvPicPr>
          <p:cNvPr id="210" name="Google Shape;210;p20"/>
          <p:cNvPicPr preferRelativeResize="0"/>
          <p:nvPr/>
        </p:nvPicPr>
        <p:blipFill rotWithShape="1">
          <a:blip r:embed="rId19">
            <a:alphaModFix/>
          </a:blip>
          <a:srcRect/>
          <a:stretch/>
        </p:blipFill>
        <p:spPr>
          <a:xfrm>
            <a:off x="1647215" y="2294778"/>
            <a:ext cx="995952" cy="304010"/>
          </a:xfrm>
          <a:prstGeom prst="rect">
            <a:avLst/>
          </a:prstGeom>
          <a:noFill/>
          <a:ln>
            <a:noFill/>
          </a:ln>
        </p:spPr>
      </p:pic>
      <p:sp>
        <p:nvSpPr>
          <p:cNvPr id="211" name="Google Shape;211;p20"/>
          <p:cNvSpPr txBox="1">
            <a:spLocks noGrp="1"/>
          </p:cNvSpPr>
          <p:nvPr>
            <p:ph type="title" idx="4294967295"/>
          </p:nvPr>
        </p:nvSpPr>
        <p:spPr>
          <a:xfrm>
            <a:off x="2079450" y="745725"/>
            <a:ext cx="6373800" cy="511500"/>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5548225" y="2230950"/>
            <a:ext cx="3062100" cy="681600"/>
          </a:xfrm>
          <a:prstGeom prst="rect">
            <a:avLst/>
          </a:prstGeom>
          <a:noFill/>
          <a:ln>
            <a:noFill/>
          </a:ln>
        </p:spPr>
        <p:txBody>
          <a:bodyPr spcFirstLastPara="1" wrap="square" lIns="91425" tIns="91425" rIns="91425" bIns="91425" anchor="b" anchorCtr="0">
            <a:normAutofit fontScale="90000"/>
          </a:bodyPr>
          <a:lstStyle/>
          <a:p>
            <a:pPr marL="0" lvl="0" indent="0" algn="r" rtl="0">
              <a:lnSpc>
                <a:spcPct val="100000"/>
              </a:lnSpc>
              <a:spcBef>
                <a:spcPts val="0"/>
              </a:spcBef>
              <a:spcAft>
                <a:spcPts val="0"/>
              </a:spcAft>
              <a:buSzPct val="333333"/>
              <a:buNone/>
            </a:pPr>
            <a:r>
              <a:rPr lang="en-US"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217" name="Google Shape;217;p21"/>
          <p:cNvSpPr txBox="1">
            <a:spLocks noGrp="1"/>
          </p:cNvSpPr>
          <p:nvPr>
            <p:ph type="ctrTitle" idx="4294967295"/>
          </p:nvPr>
        </p:nvSpPr>
        <p:spPr>
          <a:xfrm>
            <a:off x="4166050" y="2870075"/>
            <a:ext cx="4444200" cy="57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4F29B7"/>
              </a:buClr>
              <a:buSzPts val="990"/>
              <a:buFont typeface="IBM Plex Sans Arabic Medium"/>
              <a:buNone/>
            </a:pPr>
            <a:r>
              <a:rPr lang="en-US" sz="2900" b="1" i="0" u="none" strike="noStrike" cap="none">
                <a:solidFill>
                  <a:schemeClr val="lt1"/>
                </a:solidFill>
                <a:latin typeface="IBM Plex Sans Arabic"/>
                <a:ea typeface="IBM Plex Sans Arabic"/>
                <a:cs typeface="IBM Plex Sans Arabic"/>
                <a:sym typeface="IBM Plex Sans Arabic"/>
              </a:rPr>
              <a:t>THANK YOU</a:t>
            </a:r>
            <a:endParaRPr sz="2900" b="1" i="0" u="none" strike="noStrike" cap="non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35099</TotalTime>
  <Words>3258</Words>
  <Application>Microsoft Macintosh PowerPoint</Application>
  <PresentationFormat>On-screen Show (16:9)</PresentationFormat>
  <Paragraphs>200</Paragraphs>
  <Slides>21</Slides>
  <Notes>21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IBM Plex Sans Arabic SemiBold</vt:lpstr>
      <vt:lpstr>Aptos</vt:lpstr>
      <vt:lpstr>Arial</vt:lpstr>
      <vt:lpstr>IBM Plex Sans Arabic</vt:lpstr>
      <vt:lpstr>DeepSeek-CJK-patch</vt:lpstr>
      <vt:lpstr>IBM Plex Sans Arabic Medium</vt:lpstr>
      <vt:lpstr>Calibri</vt:lpstr>
      <vt:lpstr>Inter</vt:lpstr>
      <vt:lpstr>Tajawal</vt:lpstr>
      <vt:lpstr>Simple Light</vt:lpstr>
      <vt:lpstr>أكـــــاديميــــة طــــويـــق</vt:lpstr>
      <vt:lpstr>Cloud and Edge Deployment of Deep Learning Models  </vt:lpstr>
      <vt:lpstr>PowerPoint Presentation</vt:lpstr>
      <vt:lpstr>Introduction to Cloud and Edge Deployment</vt:lpstr>
      <vt:lpstr>Deploying Models on Google Cloud Platform (GCP)    </vt:lpstr>
      <vt:lpstr>Deploying Models on Google Cloud Platform (GCP)    </vt:lpstr>
      <vt:lpstr>Deploying on Google Cloud (Vertex AI)     </vt:lpstr>
      <vt:lpstr>Deploying Models on Amazon Web Services (AWS)    </vt:lpstr>
      <vt:lpstr>Deploying Models on Amazon Web Services (AWS)    </vt:lpstr>
      <vt:lpstr>Deploying on AWS SageMaker     </vt:lpstr>
      <vt:lpstr>Deploying Models on Microsoft Azure     </vt:lpstr>
      <vt:lpstr>Deploying Models on Microsoft Azure     </vt:lpstr>
      <vt:lpstr>Deploying on Azure ML      </vt:lpstr>
      <vt:lpstr>Running Deep Learning Models on Mobile using TensorFlow Lite      </vt:lpstr>
      <vt:lpstr>Running Deep Learning Models on Mobile using TensorFlow Lite      </vt:lpstr>
      <vt:lpstr>Running Deep Learning Models on Mobile using TensorFlow Lite      </vt:lpstr>
      <vt:lpstr>Edge Deployment (Mobile with TensorFlow Lite)       </vt:lpstr>
      <vt:lpstr>Cloud vs. Edge Trade-Offs        </vt:lpstr>
      <vt:lpstr>Books and References </vt:lpstr>
      <vt:lpstr>الشراكات العالمية</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Afshan Hashmi</cp:lastModifiedBy>
  <cp:revision>81</cp:revision>
  <dcterms:modified xsi:type="dcterms:W3CDTF">2025-06-18T08:55:15Z</dcterms:modified>
</cp:coreProperties>
</file>