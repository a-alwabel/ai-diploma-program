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58" r:id="rId4"/>
    <p:sldId id="298" r:id="rId5"/>
    <p:sldId id="331" r:id="rId6"/>
    <p:sldId id="332" r:id="rId7"/>
    <p:sldId id="323" r:id="rId8"/>
    <p:sldId id="333" r:id="rId9"/>
    <p:sldId id="334" r:id="rId10"/>
    <p:sldId id="335" r:id="rId11"/>
    <p:sldId id="336" r:id="rId12"/>
    <p:sldId id="324" r:id="rId13"/>
    <p:sldId id="337" r:id="rId14"/>
    <p:sldId id="325" r:id="rId15"/>
    <p:sldId id="338" r:id="rId16"/>
    <p:sldId id="339" r:id="rId17"/>
    <p:sldId id="340" r:id="rId18"/>
    <p:sldId id="341" r:id="rId19"/>
    <p:sldId id="342" r:id="rId20"/>
    <p:sldId id="343" r:id="rId21"/>
    <p:sldId id="344" r:id="rId22"/>
    <p:sldId id="346" r:id="rId23"/>
    <p:sldId id="347" r:id="rId24"/>
    <p:sldId id="348" r:id="rId25"/>
    <p:sldId id="262" r:id="rId26"/>
    <p:sldId id="312" r:id="rId27"/>
    <p:sldId id="275" r:id="rId28"/>
    <p:sldId id="276" r:id="rId29"/>
  </p:sldIdLst>
  <p:sldSz cx="9144000" cy="5143500" type="screen16x9"/>
  <p:notesSz cx="6858000" cy="9144000"/>
  <p:embeddedFontLst>
    <p:embeddedFont>
      <p:font typeface="IBM Plex Sans Arabic" panose="020B0603050203000203" pitchFamily="34" charset="-78"/>
      <p:regular r:id="rId31"/>
      <p:bold r:id="rId32"/>
    </p:embeddedFont>
    <p:embeddedFont>
      <p:font typeface="IBM Plex Sans Arabic Medium" panose="020B0603050203000203" pitchFamily="34" charset="-78"/>
      <p:regular r:id="rId33"/>
      <p:bold r:id="rId34"/>
    </p:embeddedFont>
    <p:embeddedFont>
      <p:font typeface="IBM Plex Sans Arabic SemiBold" panose="020B0603050203000203" pitchFamily="34" charset="-78"/>
      <p:regular r:id="rId35"/>
      <p:bold r:id="rId36"/>
    </p:embeddedFont>
    <p:embeddedFont>
      <p:font typeface="Inter" panose="020F0502020204030204" pitchFamily="34" charset="0"/>
      <p:regular r:id="rId37"/>
      <p:bold r:id="rId38"/>
      <p:italic r:id="rId39"/>
      <p:boldItalic r:id="rId40"/>
    </p:embeddedFont>
    <p:embeddedFont>
      <p:font typeface="Tajawal" pitchFamily="2" charset="-78"/>
      <p:regular r:id="rId41"/>
      <p:bold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9"/>
    <p:restoredTop sz="94658"/>
  </p:normalViewPr>
  <p:slideViewPr>
    <p:cSldViewPr snapToGrid="0">
      <p:cViewPr varScale="1">
        <p:scale>
          <a:sx n="148" d="100"/>
          <a:sy n="148" d="100"/>
        </p:scale>
        <p:origin x="184" y="376"/>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B82AF1F-53C6-80C3-EB2D-C7DFF0224BD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EE10DD6-BC45-77CF-511E-C8569CCF3B1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A02C7E3-B66D-4ADE-EB6F-F63C6FF2D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1644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ED34C60-4F98-1AED-815B-3729941DE98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24B67FA-4718-1387-1B00-50490CE0A9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BDDDA47-957E-C1EC-B962-06A9CC9EFC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0827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9E998F9-3FCF-EE98-DDF7-797070704F5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F107BCE-6575-3708-CE01-188A867AA00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D37F8BE-EF52-EF4C-4C62-966744DE27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0549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5785ED4-4D90-79AC-D7E5-4D8512F6C65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4A6F49E-CA4C-8B04-EABB-34908D76B4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13DAF80-BA8D-C3A4-B41E-CEB49EBDF4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6786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63B6AC7-0669-3219-24D8-2596EB1BBE3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4601686-1401-5D6A-00C5-3311430C94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EE15CB7-CC0C-CA82-EEF0-DC81EB3F87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35772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BAA997B-6D43-EB68-2781-904BFBC5EF7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843EEDD-A9B2-A31A-30B1-C0BF103DDB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DC6620B-E26A-F93A-48DA-CD714EF05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5499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F6B93C9-000A-6FF1-40AE-279C886D13C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913D1EE-419D-53BD-C156-E40162650A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C9B9CFD-2B7B-3895-90F7-4FB12AD466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32753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F5A631E-11EF-7117-64C3-BB8CF9B6452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5231105-CF44-72B6-2673-21C8BAD270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9854D05-3A09-56C0-E89B-EBABC62DFD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02633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E4CF712-042D-E0AD-19A9-154CD9C5ED95}"/>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5422473-E72D-751A-8E5C-40EA88E77F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53E90FD-A376-2112-994B-0CAAFA6611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22193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DA447BA-A900-5B72-1413-E9978B2CEF1E}"/>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152C9F9-0491-CF19-EBF6-944E302854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F0CB10A-B856-52D3-116A-910D796067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609353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50F20B6-EF59-2A61-0E1F-9F4B24F339E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38C1484-D9BA-22DF-0D60-C20CCE1911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5795139-8ED4-8BE8-BBC7-D16B253350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4994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3F2D503B-ED1F-A28B-4016-7C02FE662DE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1AD2C761-5F39-37EF-2C56-917354DB05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8DDB40E-9547-FA46-2B35-D1E0C2C029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6101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BB0163A-FBAF-44AB-0D8A-50D8F85B5AF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32236148-2025-CC54-4269-5C80B927B1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C87F7F2-5647-61D7-6C96-E460125EDFD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332595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042EE07-1F24-F803-9B38-9399921A40C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95FF114-3214-7882-4F08-2BC7DE2E7F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CE88366-37EF-E003-5C23-181096D713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76103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1C2F4A4-7EFB-A524-57D8-69FEC44745A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4FECF33-544B-0A7C-7811-3716979458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56AE83A-716D-0027-B588-313EE850A1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78346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F28E72A-FA39-3C79-1486-7FCD6179ECE7}"/>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6D52AAB5-9AB1-3135-6E68-D241BEF753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527F83B-92AB-C1B8-77E5-399FADBC78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60251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A6DACD1-45A0-E5FA-E076-ECF82A0B95A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8F147098-BB2C-D5B4-069A-4BD2CDD5BF1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C490EEC-63DA-8625-5245-C549F4510A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77250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2874946-1796-D6B0-4F78-34E20F92031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A54DD60-C289-EB95-C57C-1D1F1F6E89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117B99C-238E-FDD0-49A7-396ECD3D30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60482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C79B1A2-6A44-6537-DF39-F8E6C104151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F4EDF06F-D394-3F28-A16E-9D761911A1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99E4844-C8E8-B5BE-29EA-2DF760039D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70814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3DC7D93-079A-4F0E-17E7-E4D1C8CCB48E}"/>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F2E689E-3F63-20B7-21D1-7E8F78C3B5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4CC16B1-E30F-D9CB-3838-EDB9164F26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29554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hyperlink" Target="https://course.fast.ai/" TargetMode="External"/><Relationship Id="rId4" Type="http://schemas.openxmlformats.org/officeDocument/2006/relationships/hyperlink" Target="https://www.coursera.org/specializations/deep-learning" TargetMode="External"/></Relationships>
</file>

<file path=ppt/slides/_rels/slide27.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27.xml"/><Relationship Id="rId16" Type="http://schemas.openxmlformats.org/officeDocument/2006/relationships/image" Target="../media/image28.png"/><Relationship Id="rId1" Type="http://schemas.openxmlformats.org/officeDocument/2006/relationships/slideLayout" Target="../slideLayouts/slideLayout4.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19" Type="http://schemas.openxmlformats.org/officeDocument/2006/relationships/image" Target="../media/image31.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311700" y="1984439"/>
            <a:ext cx="8520600" cy="2052600"/>
          </a:xfrm>
          <a:prstGeom prst="rect">
            <a:avLst/>
          </a:prstGeom>
          <a:noFill/>
          <a:ln>
            <a:noFill/>
          </a:ln>
        </p:spPr>
        <p:txBody>
          <a:bodyPr spcFirstLastPara="1" wrap="square" lIns="91425" tIns="91425" rIns="91425" bIns="91425" anchor="b" anchorCtr="0">
            <a:normAutofit fontScale="90000"/>
          </a:bodyPr>
          <a:lstStyle/>
          <a:p>
            <a:r>
              <a:rPr lang="en-GB" sz="3200" b="1" i="0" u="none" strike="noStrike" dirty="0">
                <a:solidFill>
                  <a:srgbClr val="7030A0"/>
                </a:solidFill>
                <a:effectLst/>
                <a:latin typeface="Arial" panose="020B0604020202020204" pitchFamily="34" charset="0"/>
              </a:rPr>
              <a:t>CNN Architecture</a:t>
            </a:r>
            <a:br>
              <a:rPr lang="en-GB" sz="3200" b="1" i="0" u="none" strike="noStrike" dirty="0">
                <a:solidFill>
                  <a:srgbClr val="7030A0"/>
                </a:solidFill>
                <a:effectLst/>
                <a:latin typeface="Arial" panose="020B0604020202020204" pitchFamily="34" charset="0"/>
              </a:rPr>
            </a:br>
            <a:br>
              <a:rPr lang="en-GB" sz="3200" b="1" i="0" u="none" strike="noStrike" dirty="0">
                <a:solidFill>
                  <a:srgbClr val="7030A0"/>
                </a:solidFill>
                <a:effectLst/>
                <a:latin typeface="Arial" panose="020B0604020202020204" pitchFamily="34" charset="0"/>
              </a:rPr>
            </a:b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
        <p:nvSpPr>
          <p:cNvPr id="3" name="Subtitle 2">
            <a:extLst>
              <a:ext uri="{FF2B5EF4-FFF2-40B4-BE49-F238E27FC236}">
                <a16:creationId xmlns:a16="http://schemas.microsoft.com/office/drawing/2014/main" id="{BA5FBE97-4E33-20EA-01D4-C78A6A83FC02}"/>
              </a:ext>
            </a:extLst>
          </p:cNvPr>
          <p:cNvSpPr>
            <a:spLocks noGrp="1"/>
          </p:cNvSpPr>
          <p:nvPr>
            <p:ph type="subTitle" idx="1"/>
          </p:nvPr>
        </p:nvSpPr>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613123" y="727234"/>
            <a:ext cx="7107804" cy="2900754"/>
          </a:xfrm>
          <a:prstGeom prst="rect">
            <a:avLst/>
          </a:prstGeom>
          <a:noFill/>
          <a:ln>
            <a:noFill/>
          </a:ln>
        </p:spPr>
        <p:txBody>
          <a:bodyPr spcFirstLastPara="1" wrap="square" lIns="91425" tIns="45700" rIns="91425" bIns="45700" anchor="t" anchorCtr="0">
            <a:spAutoFit/>
          </a:bodyPr>
          <a:lstStyle/>
          <a:p>
            <a:pPr marR="0" lvl="0" algn="just" rtl="0">
              <a:lnSpc>
                <a:spcPct val="125000"/>
              </a:lnSpc>
              <a:spcBef>
                <a:spcPts val="0"/>
              </a:spcBef>
              <a:spcAft>
                <a:spcPts val="0"/>
              </a:spcAft>
            </a:pPr>
            <a:r>
              <a:rPr lang="en-US" sz="2400" b="1" i="0" u="none" strike="noStrike" cap="none" dirty="0">
                <a:solidFill>
                  <a:srgbClr val="7030A0"/>
                </a:solidFill>
                <a:latin typeface="Arial"/>
                <a:ea typeface="Arial"/>
                <a:cs typeface="Arial"/>
                <a:sym typeface="Arial"/>
              </a:rPr>
              <a:t>Course Objectives:</a:t>
            </a:r>
            <a:endParaRPr dirty="0"/>
          </a:p>
          <a:p>
            <a:pPr algn="l">
              <a:spcAft>
                <a:spcPts val="300"/>
              </a:spcAft>
              <a:buFont typeface="+mj-lt"/>
              <a:buAutoNum type="arabicPeriod"/>
            </a:pPr>
            <a:r>
              <a:rPr lang="en-GB" sz="1800" b="0" i="0" u="none" strike="noStrike" dirty="0">
                <a:solidFill>
                  <a:srgbClr val="404040"/>
                </a:solidFill>
                <a:effectLst/>
                <a:latin typeface="+mj-lt"/>
              </a:rPr>
              <a:t>Learn the purpose and working of convolutional layers, pooling layers, and fully connected layers in feature extraction and classification.</a:t>
            </a:r>
          </a:p>
          <a:p>
            <a:pPr algn="l">
              <a:spcBef>
                <a:spcPts val="300"/>
              </a:spcBef>
              <a:spcAft>
                <a:spcPts val="300"/>
              </a:spcAft>
              <a:buFont typeface="+mj-lt"/>
              <a:buAutoNum type="arabicPeriod"/>
            </a:pPr>
            <a:r>
              <a:rPr lang="en-GB" sz="1800" b="0" i="0" u="none" strike="noStrike" dirty="0">
                <a:solidFill>
                  <a:srgbClr val="404040"/>
                </a:solidFill>
                <a:effectLst/>
                <a:latin typeface="+mj-lt"/>
              </a:rPr>
              <a:t>Comprehend filters, strides, padding, and activation functions (</a:t>
            </a:r>
            <a:r>
              <a:rPr lang="en-GB" sz="1800" b="0" i="0" u="none" strike="noStrike" dirty="0" err="1">
                <a:solidFill>
                  <a:srgbClr val="404040"/>
                </a:solidFill>
                <a:effectLst/>
                <a:latin typeface="+mj-lt"/>
              </a:rPr>
              <a:t>ReLU</a:t>
            </a:r>
            <a:r>
              <a:rPr lang="en-GB" sz="1800" b="0" i="0" u="none" strike="noStrike" dirty="0">
                <a:solidFill>
                  <a:srgbClr val="404040"/>
                </a:solidFill>
                <a:effectLst/>
                <a:latin typeface="+mj-lt"/>
              </a:rPr>
              <a:t>) to generate feature maps from input data.</a:t>
            </a:r>
          </a:p>
          <a:p>
            <a:pPr algn="l">
              <a:spcBef>
                <a:spcPts val="300"/>
              </a:spcBef>
              <a:spcAft>
                <a:spcPts val="300"/>
              </a:spcAft>
              <a:buFont typeface="+mj-lt"/>
              <a:buAutoNum type="arabicPeriod"/>
            </a:pPr>
            <a:r>
              <a:rPr lang="en-GB" sz="1800" b="0" i="0" u="none" strike="noStrike" dirty="0" err="1">
                <a:solidFill>
                  <a:srgbClr val="404040"/>
                </a:solidFill>
                <a:effectLst/>
                <a:latin typeface="+mj-lt"/>
              </a:rPr>
              <a:t>Analyze</a:t>
            </a:r>
            <a:r>
              <a:rPr lang="en-GB" sz="1800" b="0" i="0" u="none" strike="noStrike" dirty="0">
                <a:solidFill>
                  <a:srgbClr val="404040"/>
                </a:solidFill>
                <a:effectLst/>
                <a:latin typeface="+mj-lt"/>
              </a:rPr>
              <a:t> max pooling, average pooling, and their role in dimensionality reduction and translation invariance.</a:t>
            </a:r>
          </a:p>
          <a:p>
            <a:pPr marL="342900" marR="0" lvl="0" indent="-342900" algn="l" rtl="0">
              <a:lnSpc>
                <a:spcPct val="100000"/>
              </a:lnSpc>
              <a:spcBef>
                <a:spcPts val="0"/>
              </a:spcBef>
              <a:spcAft>
                <a:spcPts val="0"/>
              </a:spcAft>
              <a:buFont typeface="+mj-lt"/>
              <a:buAutoNum type="arabicPeriod"/>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Introduction to CNN Architecture</a:t>
            </a: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C1E7B443-016B-2F0F-23AA-504B7B468665}"/>
              </a:ext>
            </a:extLst>
          </p:cNvPr>
          <p:cNvSpPr txBox="1"/>
          <p:nvPr/>
        </p:nvSpPr>
        <p:spPr>
          <a:xfrm>
            <a:off x="174929" y="850790"/>
            <a:ext cx="8841850" cy="4339650"/>
          </a:xfrm>
          <a:prstGeom prst="rect">
            <a:avLst/>
          </a:prstGeom>
          <a:noFill/>
        </p:spPr>
        <p:txBody>
          <a:bodyPr wrap="square">
            <a:spAutoFit/>
          </a:bodyPr>
          <a:lstStyle/>
          <a:p>
            <a:pPr>
              <a:buNone/>
            </a:pPr>
            <a:r>
              <a:rPr lang="en-GB" sz="2000" dirty="0"/>
              <a:t>Convolutional Neural Networks (CNNs) are specialized deep learning models built to process visual data such as images and videos. Their unique architecture allows them to automatically extract features like edges, textures, shapes, and objects from raw pixels—without manual feature engineering.</a:t>
            </a:r>
          </a:p>
          <a:p>
            <a:pPr>
              <a:buNone/>
            </a:pPr>
            <a:r>
              <a:rPr lang="en-GB" sz="2000" b="1" dirty="0"/>
              <a:t>What Makes CNNs Different?</a:t>
            </a:r>
          </a:p>
          <a:p>
            <a:pPr>
              <a:buNone/>
            </a:pPr>
            <a:r>
              <a:rPr lang="en-GB" sz="2000" dirty="0"/>
              <a:t>Unlike regular neural networks (which flatten images into vectors), CNNs preserve the spatial structure of the image. This makes them more efficient and accurate for tasks like:</a:t>
            </a:r>
          </a:p>
          <a:p>
            <a:pPr marL="342900" indent="-342900">
              <a:buFont typeface="Wingdings" pitchFamily="2" charset="2"/>
              <a:buChar char="ü"/>
            </a:pPr>
            <a:r>
              <a:rPr lang="en-GB" sz="2000" dirty="0"/>
              <a:t>Image classification</a:t>
            </a:r>
          </a:p>
          <a:p>
            <a:pPr marL="342900" indent="-342900">
              <a:buFont typeface="Wingdings" pitchFamily="2" charset="2"/>
              <a:buChar char="ü"/>
            </a:pPr>
            <a:r>
              <a:rPr lang="en-GB" sz="2000" dirty="0"/>
              <a:t>Object detection</a:t>
            </a:r>
          </a:p>
          <a:p>
            <a:pPr marL="342900" indent="-342900">
              <a:buFont typeface="Wingdings" pitchFamily="2" charset="2"/>
              <a:buChar char="ü"/>
            </a:pPr>
            <a:r>
              <a:rPr lang="en-GB" sz="2000" dirty="0"/>
              <a:t>Face recognition</a:t>
            </a:r>
          </a:p>
          <a:p>
            <a:pPr marL="342900" indent="-342900">
              <a:buFont typeface="Wingdings" pitchFamily="2" charset="2"/>
              <a:buChar char="ü"/>
            </a:pPr>
            <a:r>
              <a:rPr lang="en-GB" sz="2000" dirty="0"/>
              <a:t>Medical image analysis</a:t>
            </a:r>
          </a:p>
          <a:p>
            <a:pPr algn="l"/>
            <a:endParaRPr lang="en-GB" sz="1600" i="0" u="none" strike="noStrike" dirty="0">
              <a:solidFill>
                <a:srgbClr val="000000"/>
              </a:solidFill>
              <a:effectLst/>
            </a:endParaRPr>
          </a:p>
        </p:txBody>
      </p:sp>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01CA73C-EE2B-0BA8-598B-A169A24FD20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2CDA878-FE8D-0F8A-74C4-18B78248E634}"/>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Introduction to CNN Architecture</a:t>
            </a: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83247180-C6FE-33EE-E12F-E2A6852B112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18A6227B-7134-8D41-CFE9-60481B66BC04}"/>
              </a:ext>
            </a:extLst>
          </p:cNvPr>
          <p:cNvSpPr txBox="1"/>
          <p:nvPr/>
        </p:nvSpPr>
        <p:spPr>
          <a:xfrm>
            <a:off x="151075" y="713964"/>
            <a:ext cx="8841850" cy="4108817"/>
          </a:xfrm>
          <a:prstGeom prst="rect">
            <a:avLst/>
          </a:prstGeom>
          <a:noFill/>
        </p:spPr>
        <p:txBody>
          <a:bodyPr wrap="square">
            <a:spAutoFit/>
          </a:bodyPr>
          <a:lstStyle/>
          <a:p>
            <a:pPr>
              <a:buNone/>
            </a:pPr>
            <a:r>
              <a:rPr lang="en-GB" sz="2000" b="1" dirty="0"/>
              <a:t>Core Idea</a:t>
            </a:r>
          </a:p>
          <a:p>
            <a:pPr>
              <a:buNone/>
            </a:pPr>
            <a:r>
              <a:rPr lang="en-GB" sz="2000" dirty="0"/>
              <a:t>CNNs are designed to learn spatial hierarchies of features:</a:t>
            </a:r>
          </a:p>
          <a:p>
            <a:pPr marL="342900" indent="-342900">
              <a:buFont typeface="Wingdings" pitchFamily="2" charset="2"/>
              <a:buChar char="Ø"/>
            </a:pPr>
            <a:r>
              <a:rPr lang="en-GB" sz="2000" dirty="0"/>
              <a:t>Lower layers learn basic patterns like edges and lines.</a:t>
            </a:r>
          </a:p>
          <a:p>
            <a:pPr marL="342900" indent="-342900">
              <a:buFont typeface="Wingdings" pitchFamily="2" charset="2"/>
              <a:buChar char="Ø"/>
            </a:pPr>
            <a:r>
              <a:rPr lang="en-GB" sz="2000" dirty="0"/>
              <a:t>Deeper layers combine these into complex patterns like shapes and objects.</a:t>
            </a:r>
          </a:p>
          <a:p>
            <a:r>
              <a:rPr lang="en-GB" sz="2000" dirty="0"/>
              <a:t>This learning happens via backpropagation, just like in other neural networks.</a:t>
            </a:r>
          </a:p>
          <a:p>
            <a:r>
              <a:rPr lang="en-GB" sz="2000" b="1" dirty="0"/>
              <a:t>Key Components of CNN Architecture:</a:t>
            </a:r>
          </a:p>
          <a:p>
            <a:pPr marL="342900" indent="-342900">
              <a:buFont typeface="Wingdings" pitchFamily="2" charset="2"/>
              <a:buChar char="Ø"/>
            </a:pPr>
            <a:r>
              <a:rPr lang="en-GB" sz="2000" dirty="0"/>
              <a:t>Convolutional Layers (Feature Extraction)</a:t>
            </a:r>
          </a:p>
          <a:p>
            <a:pPr marL="342900" indent="-342900">
              <a:buFont typeface="Wingdings" pitchFamily="2" charset="2"/>
              <a:buChar char="Ø"/>
            </a:pPr>
            <a:r>
              <a:rPr lang="en-GB" sz="2000" dirty="0"/>
              <a:t>Pooling Layers (Dimensionality Reduction)</a:t>
            </a:r>
          </a:p>
          <a:p>
            <a:pPr marL="342900" indent="-342900">
              <a:buFont typeface="Wingdings" pitchFamily="2" charset="2"/>
              <a:buChar char="Ø"/>
            </a:pPr>
            <a:r>
              <a:rPr lang="en-GB" sz="2000" dirty="0"/>
              <a:t>Fully Connected Layers (Classification)</a:t>
            </a:r>
          </a:p>
          <a:p>
            <a:pPr>
              <a:buNone/>
            </a:pPr>
            <a:br>
              <a:rPr lang="en-GB" sz="2000" dirty="0"/>
            </a:br>
            <a:endParaRPr lang="en-GB" sz="1600" i="0" u="none" strike="noStrike" dirty="0">
              <a:solidFill>
                <a:srgbClr val="000000"/>
              </a:solidFill>
              <a:effectLst/>
            </a:endParaRPr>
          </a:p>
        </p:txBody>
      </p:sp>
    </p:spTree>
    <p:extLst>
      <p:ext uri="{BB962C8B-B14F-4D97-AF65-F5344CB8AC3E}">
        <p14:creationId xmlns:p14="http://schemas.microsoft.com/office/powerpoint/2010/main" val="3669778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3500A32-9721-32EB-45D2-096C9ED038A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7CE8CDF-B667-4FE6-02FC-6C280EDDECC1}"/>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CNN Architecture Overview</a:t>
            </a: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FD71DDB2-2695-5254-6889-DF21581ABC4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49CAE986-943A-D98B-E709-E92C2A630004}"/>
              </a:ext>
            </a:extLst>
          </p:cNvPr>
          <p:cNvSpPr txBox="1"/>
          <p:nvPr/>
        </p:nvSpPr>
        <p:spPr>
          <a:xfrm>
            <a:off x="151075" y="609913"/>
            <a:ext cx="8841850" cy="5016758"/>
          </a:xfrm>
          <a:prstGeom prst="rect">
            <a:avLst/>
          </a:prstGeom>
          <a:noFill/>
        </p:spPr>
        <p:txBody>
          <a:bodyPr wrap="square">
            <a:spAutoFit/>
          </a:bodyPr>
          <a:lstStyle/>
          <a:p>
            <a:pPr>
              <a:buFont typeface="+mj-lt"/>
              <a:buAutoNum type="arabicPeriod"/>
            </a:pPr>
            <a:r>
              <a:rPr lang="en-GB" sz="1600" b="1" dirty="0"/>
              <a:t>Input Layer</a:t>
            </a:r>
            <a:endParaRPr lang="en-GB" sz="1600" dirty="0"/>
          </a:p>
          <a:p>
            <a:pPr marL="457200" lvl="1"/>
            <a:r>
              <a:rPr lang="en-GB" sz="1600" dirty="0"/>
              <a:t>Takes in the image (e.g., 128×128×3 for a </a:t>
            </a:r>
            <a:r>
              <a:rPr lang="en-GB" sz="1600" dirty="0" err="1"/>
              <a:t>color</a:t>
            </a:r>
            <a:r>
              <a:rPr lang="en-GB" sz="1600" dirty="0"/>
              <a:t> image).</a:t>
            </a:r>
          </a:p>
          <a:p>
            <a:pPr>
              <a:buFont typeface="+mj-lt"/>
              <a:buAutoNum type="arabicPeriod"/>
            </a:pPr>
            <a:r>
              <a:rPr lang="en-GB" sz="1600" b="1" dirty="0"/>
              <a:t>Convolutional Layers</a:t>
            </a:r>
            <a:endParaRPr lang="en-GB" sz="1600" dirty="0"/>
          </a:p>
          <a:p>
            <a:pPr marL="742950" lvl="1" indent="-285750">
              <a:buFont typeface="+mj-lt"/>
              <a:buAutoNum type="arabicPeriod"/>
            </a:pPr>
            <a:r>
              <a:rPr lang="en-GB" sz="1600" dirty="0"/>
              <a:t>Apply filters (kernels) that scan the image to detect features.</a:t>
            </a:r>
          </a:p>
          <a:p>
            <a:pPr marL="742950" lvl="1" indent="-285750">
              <a:buFont typeface="+mj-lt"/>
              <a:buAutoNum type="arabicPeriod"/>
            </a:pPr>
            <a:r>
              <a:rPr lang="en-GB" sz="1600" dirty="0"/>
              <a:t>Outputs a </a:t>
            </a:r>
            <a:r>
              <a:rPr lang="en-GB" sz="1600" b="1" dirty="0"/>
              <a:t>feature map</a:t>
            </a:r>
            <a:r>
              <a:rPr lang="en-GB" sz="1600" dirty="0"/>
              <a:t>.</a:t>
            </a:r>
          </a:p>
          <a:p>
            <a:pPr>
              <a:buFont typeface="+mj-lt"/>
              <a:buAutoNum type="arabicPeriod"/>
            </a:pPr>
            <a:r>
              <a:rPr lang="en-GB" sz="1600" b="1" dirty="0"/>
              <a:t>Activation Function (</a:t>
            </a:r>
            <a:r>
              <a:rPr lang="en-GB" sz="1600" b="1" dirty="0" err="1"/>
              <a:t>ReLU</a:t>
            </a:r>
            <a:r>
              <a:rPr lang="en-GB" sz="1600" b="1" dirty="0"/>
              <a:t>)</a:t>
            </a:r>
            <a:endParaRPr lang="en-GB" sz="1600" dirty="0"/>
          </a:p>
          <a:p>
            <a:pPr marL="457200" lvl="1"/>
            <a:r>
              <a:rPr lang="en-GB" sz="1600" dirty="0"/>
              <a:t>Applies non-linearity after convolution to allow learning complex patterns.</a:t>
            </a:r>
          </a:p>
          <a:p>
            <a:pPr>
              <a:buFont typeface="+mj-lt"/>
              <a:buAutoNum type="arabicPeriod"/>
            </a:pPr>
            <a:r>
              <a:rPr lang="en-GB" sz="1600" b="1" dirty="0"/>
              <a:t>Pooling Layer (e.g., </a:t>
            </a:r>
            <a:r>
              <a:rPr lang="en-GB" sz="1600" b="1" dirty="0" err="1"/>
              <a:t>MaxPooling</a:t>
            </a:r>
            <a:r>
              <a:rPr lang="en-GB" sz="1600" b="1" dirty="0"/>
              <a:t>)</a:t>
            </a:r>
            <a:endParaRPr lang="en-GB" sz="1600" dirty="0"/>
          </a:p>
          <a:p>
            <a:pPr marL="742950" lvl="1" indent="-285750">
              <a:buFont typeface="+mj-lt"/>
              <a:buAutoNum type="arabicPeriod"/>
            </a:pPr>
            <a:r>
              <a:rPr lang="en-GB" sz="1600" dirty="0" err="1"/>
              <a:t>Downsamples</a:t>
            </a:r>
            <a:r>
              <a:rPr lang="en-GB" sz="1600" dirty="0"/>
              <a:t> the feature map (reduces size and computation).</a:t>
            </a:r>
          </a:p>
          <a:p>
            <a:pPr marL="742950" lvl="1" indent="-285750">
              <a:buFont typeface="+mj-lt"/>
              <a:buAutoNum type="arabicPeriod"/>
            </a:pPr>
            <a:r>
              <a:rPr lang="en-GB" sz="1600" dirty="0"/>
              <a:t>Keeps only the most important information.</a:t>
            </a:r>
          </a:p>
          <a:p>
            <a:pPr>
              <a:buFont typeface="+mj-lt"/>
              <a:buAutoNum type="arabicPeriod"/>
            </a:pPr>
            <a:r>
              <a:rPr lang="en-GB" sz="1600" b="1" dirty="0"/>
              <a:t>Fully Connected Layer</a:t>
            </a:r>
            <a:endParaRPr lang="en-GB" sz="1600" dirty="0"/>
          </a:p>
          <a:p>
            <a:pPr marL="457200" lvl="1"/>
            <a:r>
              <a:rPr lang="en-GB" sz="1600" dirty="0"/>
              <a:t>Final layers that interpret features and make decisions (like classifying a cat or dog).</a:t>
            </a:r>
          </a:p>
          <a:p>
            <a:pPr>
              <a:buFont typeface="+mj-lt"/>
              <a:buAutoNum type="arabicPeriod"/>
            </a:pPr>
            <a:r>
              <a:rPr lang="en-GB" sz="1600" b="1" dirty="0"/>
              <a:t>Output Layer</a:t>
            </a:r>
            <a:endParaRPr lang="en-GB" sz="1600" dirty="0"/>
          </a:p>
          <a:p>
            <a:pPr marL="457200" lvl="1"/>
            <a:r>
              <a:rPr lang="en-GB" sz="1600" dirty="0"/>
              <a:t>Usually has a </a:t>
            </a:r>
            <a:r>
              <a:rPr lang="en-GB" sz="1600" dirty="0" err="1"/>
              <a:t>softmax</a:t>
            </a:r>
            <a:r>
              <a:rPr lang="en-GB" sz="1600" dirty="0"/>
              <a:t> activation to output class probabilities.</a:t>
            </a:r>
          </a:p>
          <a:p>
            <a:pPr>
              <a:buNone/>
            </a:pPr>
            <a:r>
              <a:rPr lang="en-GB" sz="1600" dirty="0"/>
              <a:t>Think of CNNs like a camera filter:</a:t>
            </a:r>
          </a:p>
          <a:p>
            <a:pPr marL="285750" indent="-285750">
              <a:buFont typeface="Wingdings" pitchFamily="2" charset="2"/>
              <a:buChar char="Ø"/>
            </a:pPr>
            <a:r>
              <a:rPr lang="en-GB" sz="1600" b="1" dirty="0"/>
              <a:t>Convolution layers</a:t>
            </a:r>
            <a:r>
              <a:rPr lang="en-GB" sz="1600" dirty="0"/>
              <a:t> act like filters detecting parts of the image.</a:t>
            </a:r>
          </a:p>
          <a:p>
            <a:pPr marL="285750" indent="-285750">
              <a:buFont typeface="Wingdings" pitchFamily="2" charset="2"/>
              <a:buChar char="Ø"/>
            </a:pPr>
            <a:r>
              <a:rPr lang="en-GB" sz="1600" b="1" dirty="0"/>
              <a:t>Pooling layers</a:t>
            </a:r>
            <a:r>
              <a:rPr lang="en-GB" sz="1600" dirty="0"/>
              <a:t> summarize what’s important.</a:t>
            </a:r>
          </a:p>
          <a:p>
            <a:pPr marL="285750" indent="-285750">
              <a:buFont typeface="Wingdings" pitchFamily="2" charset="2"/>
              <a:buChar char="Ø"/>
            </a:pPr>
            <a:r>
              <a:rPr lang="en-GB" sz="1600" b="1" dirty="0"/>
              <a:t>Fully connected layers</a:t>
            </a:r>
            <a:r>
              <a:rPr lang="en-GB" sz="1600" dirty="0"/>
              <a:t> decide what’s in the image.</a:t>
            </a:r>
          </a:p>
          <a:p>
            <a:pPr marL="457200" lvl="1"/>
            <a:endParaRPr lang="en-GB" sz="1600" dirty="0"/>
          </a:p>
          <a:p>
            <a:pPr algn="l"/>
            <a:endParaRPr lang="en-GB" sz="1600" i="0" u="none" strike="noStrike" dirty="0">
              <a:solidFill>
                <a:srgbClr val="000000"/>
              </a:solidFill>
              <a:effectLst/>
            </a:endParaRPr>
          </a:p>
        </p:txBody>
      </p:sp>
    </p:spTree>
    <p:extLst>
      <p:ext uri="{BB962C8B-B14F-4D97-AF65-F5344CB8AC3E}">
        <p14:creationId xmlns:p14="http://schemas.microsoft.com/office/powerpoint/2010/main" val="2937234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A5C7C7A-7683-005D-18DA-13DEAAAD4CA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5551EF9A-8873-7923-CC0D-4C79B0F8D0EE}"/>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Convolutional Layers and Feature Maps</a:t>
            </a: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3F601CD-7851-073C-86C0-5A9FD0EC570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2545AFAF-5623-EC89-486C-7EDB9CBE4DFE}"/>
              </a:ext>
            </a:extLst>
          </p:cNvPr>
          <p:cNvSpPr txBox="1"/>
          <p:nvPr/>
        </p:nvSpPr>
        <p:spPr>
          <a:xfrm>
            <a:off x="88664" y="713964"/>
            <a:ext cx="9262369" cy="4355038"/>
          </a:xfrm>
          <a:prstGeom prst="rect">
            <a:avLst/>
          </a:prstGeom>
          <a:noFill/>
        </p:spPr>
        <p:txBody>
          <a:bodyPr wrap="square">
            <a:spAutoFit/>
          </a:bodyPr>
          <a:lstStyle/>
          <a:p>
            <a:r>
              <a:rPr lang="en-GB" sz="1600" dirty="0"/>
              <a:t>Convolutional layers are the core components of CNNs used to automatically extract visual features (edges, textures, patterns) from input images.</a:t>
            </a:r>
          </a:p>
          <a:p>
            <a:pPr>
              <a:buNone/>
            </a:pPr>
            <a:r>
              <a:rPr lang="en-GB" sz="1600" b="1" dirty="0"/>
              <a:t>Convolution Operation</a:t>
            </a:r>
          </a:p>
          <a:p>
            <a:pPr marL="514350" indent="-514350">
              <a:buFont typeface="+mj-lt"/>
              <a:buAutoNum type="arabicPeriod"/>
            </a:pPr>
            <a:r>
              <a:rPr lang="en-GB" sz="1600" dirty="0"/>
              <a:t>A filter (kernel) slides over the input image.</a:t>
            </a:r>
          </a:p>
          <a:p>
            <a:pPr marL="514350" indent="-514350">
              <a:buFont typeface="+mj-lt"/>
              <a:buAutoNum type="arabicPeriod"/>
            </a:pPr>
            <a:r>
              <a:rPr lang="en-GB" sz="1600" dirty="0"/>
              <a:t>It performs element-wise multiplication, followed by summation.</a:t>
            </a:r>
          </a:p>
          <a:p>
            <a:pPr marL="514350" indent="-514350">
              <a:buFont typeface="+mj-lt"/>
              <a:buAutoNum type="arabicPeriod"/>
            </a:pPr>
            <a:r>
              <a:rPr lang="en-GB" sz="1600" dirty="0"/>
              <a:t>The result is a feature map.</a:t>
            </a:r>
          </a:p>
          <a:p>
            <a:pPr marL="514350" indent="-514350">
              <a:buFont typeface="+mj-lt"/>
              <a:buAutoNum type="arabicPeriod"/>
            </a:pPr>
            <a:r>
              <a:rPr lang="en-GB" sz="1600" dirty="0"/>
              <a:t>Filters have learnable weights, optimized during training.</a:t>
            </a:r>
          </a:p>
          <a:p>
            <a:r>
              <a:rPr lang="en-GB" sz="1600" b="1" dirty="0"/>
              <a:t>Mathematical Formulation:</a:t>
            </a:r>
          </a:p>
          <a:p>
            <a:r>
              <a:rPr lang="en-GB" sz="1600" dirty="0"/>
              <a:t>Given an input image I of size W×H×D (Width × Height × Depth) and a filter K of size F×F×D, the convolution operation is computed as:</a:t>
            </a:r>
          </a:p>
          <a:p>
            <a:endParaRPr lang="en-GB" sz="1600" dirty="0"/>
          </a:p>
          <a:p>
            <a:endParaRPr lang="en-GB" sz="1600" dirty="0"/>
          </a:p>
          <a:p>
            <a:pPr algn="l">
              <a:buNone/>
            </a:pPr>
            <a:r>
              <a:rPr lang="en-GB" sz="1600" dirty="0"/>
              <a:t>where:</a:t>
            </a:r>
          </a:p>
          <a:p>
            <a:pPr marL="342900" indent="-342900" algn="l">
              <a:buFont typeface="Wingdings" pitchFamily="2" charset="2"/>
              <a:buChar char="Ø"/>
            </a:pPr>
            <a:r>
              <a:rPr lang="en-GB" sz="1600" dirty="0"/>
              <a:t>S(</a:t>
            </a:r>
            <a:r>
              <a:rPr lang="en-GB" sz="1600" dirty="0" err="1"/>
              <a:t>i,j</a:t>
            </a:r>
            <a:r>
              <a:rPr lang="en-GB" sz="1600" dirty="0"/>
              <a:t>) = Output feature map value at position (</a:t>
            </a:r>
            <a:r>
              <a:rPr lang="en-GB" sz="1600" dirty="0" err="1"/>
              <a:t>i,j</a:t>
            </a:r>
            <a:r>
              <a:rPr lang="en-GB" sz="1600" dirty="0"/>
              <a:t>)(</a:t>
            </a:r>
            <a:r>
              <a:rPr lang="en-GB" sz="1600" dirty="0" err="1"/>
              <a:t>i,j</a:t>
            </a:r>
            <a:r>
              <a:rPr lang="en-GB" sz="1600" dirty="0"/>
              <a:t>)</a:t>
            </a:r>
          </a:p>
          <a:p>
            <a:pPr marL="342900" indent="-342900" algn="l">
              <a:spcBef>
                <a:spcPts val="300"/>
              </a:spcBef>
              <a:buFont typeface="Wingdings" pitchFamily="2" charset="2"/>
              <a:buChar char="Ø"/>
            </a:pPr>
            <a:r>
              <a:rPr lang="en-GB" sz="1600" dirty="0"/>
              <a:t>b = Bias term</a:t>
            </a:r>
          </a:p>
          <a:p>
            <a:pPr marL="342900" indent="-342900" algn="l">
              <a:spcBef>
                <a:spcPts val="300"/>
              </a:spcBef>
              <a:buFont typeface="Wingdings" pitchFamily="2" charset="2"/>
              <a:buChar char="Ø"/>
            </a:pPr>
            <a:r>
              <a:rPr lang="en-GB" sz="1600" dirty="0"/>
              <a:t>The filter moves with a stride (S), which determines how many pixels the filter shifts each time.</a:t>
            </a:r>
          </a:p>
          <a:p>
            <a:pPr algn="l"/>
            <a:endParaRPr lang="en-GB" sz="1600" i="0" u="none" strike="noStrike" dirty="0">
              <a:solidFill>
                <a:srgbClr val="000000"/>
              </a:solidFill>
              <a:effectLst/>
            </a:endParaRPr>
          </a:p>
        </p:txBody>
      </p:sp>
      <p:pic>
        <p:nvPicPr>
          <p:cNvPr id="2" name="Picture 1">
            <a:extLst>
              <a:ext uri="{FF2B5EF4-FFF2-40B4-BE49-F238E27FC236}">
                <a16:creationId xmlns:a16="http://schemas.microsoft.com/office/drawing/2014/main" id="{C86550A2-F7BB-CA4F-3935-208091295EA7}"/>
              </a:ext>
            </a:extLst>
          </p:cNvPr>
          <p:cNvPicPr>
            <a:picLocks noChangeAspect="1"/>
          </p:cNvPicPr>
          <p:nvPr/>
        </p:nvPicPr>
        <p:blipFill>
          <a:blip r:embed="rId3">
            <a:alphaModFix amt="95000"/>
          </a:blip>
          <a:stretch>
            <a:fillRect/>
          </a:stretch>
        </p:blipFill>
        <p:spPr>
          <a:xfrm>
            <a:off x="3752490" y="2959607"/>
            <a:ext cx="4854271" cy="824396"/>
          </a:xfrm>
          <a:prstGeom prst="rect">
            <a:avLst/>
          </a:prstGeom>
        </p:spPr>
      </p:pic>
    </p:spTree>
    <p:extLst>
      <p:ext uri="{BB962C8B-B14F-4D97-AF65-F5344CB8AC3E}">
        <p14:creationId xmlns:p14="http://schemas.microsoft.com/office/powerpoint/2010/main" val="219210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AA0F40B-0378-1659-6F45-6FCDD5F42CBE}"/>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8BAD409-3682-0628-BEF5-9171E003C658}"/>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Convolutional Layers and Feature Maps</a:t>
            </a: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9AAE8E91-6BA6-D4F6-B0FC-8E2FE7213F5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D8CFA062-711E-E8E9-4D90-0D2B6754A79C}"/>
              </a:ext>
            </a:extLst>
          </p:cNvPr>
          <p:cNvSpPr txBox="1"/>
          <p:nvPr/>
        </p:nvSpPr>
        <p:spPr>
          <a:xfrm>
            <a:off x="88664" y="713964"/>
            <a:ext cx="9262369" cy="4024179"/>
          </a:xfrm>
          <a:prstGeom prst="rect">
            <a:avLst/>
          </a:prstGeom>
          <a:noFill/>
        </p:spPr>
        <p:txBody>
          <a:bodyPr wrap="square">
            <a:spAutoFit/>
          </a:bodyPr>
          <a:lstStyle/>
          <a:p>
            <a:pPr algn="l">
              <a:buNone/>
            </a:pPr>
            <a:r>
              <a:rPr lang="en-GB" sz="1700" b="1" i="0" u="none" strike="noStrike" dirty="0">
                <a:solidFill>
                  <a:srgbClr val="404040"/>
                </a:solidFill>
                <a:effectLst/>
                <a:latin typeface="+mj-lt"/>
              </a:rPr>
              <a:t>Key Concepts in Convolutional Layers</a:t>
            </a:r>
          </a:p>
          <a:p>
            <a:pPr algn="l">
              <a:buNone/>
            </a:pPr>
            <a:r>
              <a:rPr lang="en-GB" sz="1700" b="1" i="0" u="none" strike="noStrike" dirty="0">
                <a:solidFill>
                  <a:srgbClr val="404040"/>
                </a:solidFill>
                <a:effectLst/>
                <a:latin typeface="+mj-lt"/>
              </a:rPr>
              <a:t>(a) Stride (S)</a:t>
            </a:r>
          </a:p>
          <a:p>
            <a:pPr marL="285750" indent="-285750" algn="l">
              <a:buFont typeface="Wingdings" pitchFamily="2" charset="2"/>
              <a:buChar char="Ø"/>
            </a:pPr>
            <a:r>
              <a:rPr lang="en-GB" sz="1700" b="0" i="0" u="none" strike="noStrike" dirty="0">
                <a:solidFill>
                  <a:srgbClr val="404040"/>
                </a:solidFill>
                <a:effectLst/>
                <a:latin typeface="+mj-lt"/>
              </a:rPr>
              <a:t>Controls the movement of the filter.</a:t>
            </a:r>
          </a:p>
          <a:p>
            <a:pPr marL="285750" indent="-285750" algn="l">
              <a:spcBef>
                <a:spcPts val="300"/>
              </a:spcBef>
              <a:buFont typeface="Wingdings" pitchFamily="2" charset="2"/>
              <a:buChar char="Ø"/>
            </a:pPr>
            <a:r>
              <a:rPr lang="en-GB" sz="1700" b="0" i="0" u="none" strike="noStrike" dirty="0">
                <a:solidFill>
                  <a:srgbClr val="404040"/>
                </a:solidFill>
                <a:effectLst/>
                <a:latin typeface="+mj-lt"/>
              </a:rPr>
              <a:t>A stride of 1 means the filter moves one pixel at a time.</a:t>
            </a:r>
          </a:p>
          <a:p>
            <a:pPr marL="285750" indent="-285750" algn="l">
              <a:spcBef>
                <a:spcPts val="300"/>
              </a:spcBef>
              <a:buFont typeface="Wingdings" pitchFamily="2" charset="2"/>
              <a:buChar char="Ø"/>
            </a:pPr>
            <a:r>
              <a:rPr lang="en-GB" sz="1700" b="0" i="0" u="none" strike="noStrike" dirty="0">
                <a:solidFill>
                  <a:srgbClr val="404040"/>
                </a:solidFill>
                <a:effectLst/>
                <a:latin typeface="+mj-lt"/>
              </a:rPr>
              <a:t>A stride of 2 means it skips one pixel, reducing the output size.</a:t>
            </a:r>
          </a:p>
          <a:p>
            <a:pPr marL="285750" indent="-285750" algn="l">
              <a:spcBef>
                <a:spcPts val="300"/>
              </a:spcBef>
              <a:buFont typeface="Wingdings" pitchFamily="2" charset="2"/>
              <a:buChar char="Ø"/>
            </a:pPr>
            <a:endParaRPr lang="en-GB" sz="1700" b="0" i="0" u="none" strike="noStrike" dirty="0">
              <a:solidFill>
                <a:srgbClr val="404040"/>
              </a:solidFill>
              <a:effectLst/>
              <a:latin typeface="+mj-lt"/>
            </a:endParaRPr>
          </a:p>
          <a:p>
            <a:pPr algn="l">
              <a:buNone/>
            </a:pPr>
            <a:r>
              <a:rPr lang="en-GB" sz="1700" b="1" i="0" u="none" strike="noStrike" dirty="0">
                <a:solidFill>
                  <a:srgbClr val="404040"/>
                </a:solidFill>
                <a:effectLst/>
                <a:latin typeface="+mj-lt"/>
              </a:rPr>
              <a:t>(b) Padding (P)</a:t>
            </a:r>
          </a:p>
          <a:p>
            <a:pPr algn="l"/>
            <a:r>
              <a:rPr lang="en-GB" sz="1700" b="1" i="0" u="none" strike="noStrike" dirty="0">
                <a:solidFill>
                  <a:srgbClr val="404040"/>
                </a:solidFill>
                <a:effectLst/>
                <a:latin typeface="+mj-lt"/>
              </a:rPr>
              <a:t>Zero-padding</a:t>
            </a:r>
            <a:r>
              <a:rPr lang="en-GB" sz="1700" b="0" i="0" u="none" strike="noStrike" dirty="0">
                <a:solidFill>
                  <a:srgbClr val="404040"/>
                </a:solidFill>
                <a:effectLst/>
                <a:latin typeface="+mj-lt"/>
              </a:rPr>
              <a:t> adds extra pixels (usually zeros) around the input to control the output size.</a:t>
            </a:r>
          </a:p>
          <a:p>
            <a:pPr algn="l">
              <a:spcBef>
                <a:spcPts val="300"/>
              </a:spcBef>
              <a:spcAft>
                <a:spcPts val="300"/>
              </a:spcAft>
            </a:pPr>
            <a:r>
              <a:rPr lang="en-GB" sz="1700" b="0" i="0" u="none" strike="noStrike" dirty="0">
                <a:solidFill>
                  <a:srgbClr val="404040"/>
                </a:solidFill>
                <a:effectLst/>
                <a:latin typeface="+mj-lt"/>
              </a:rPr>
              <a:t>Types:</a:t>
            </a:r>
          </a:p>
          <a:p>
            <a:pPr marL="857250" lvl="1" indent="-400050" algn="l">
              <a:spcBef>
                <a:spcPts val="300"/>
              </a:spcBef>
              <a:buFont typeface="+mj-lt"/>
              <a:buAutoNum type="romanLcPeriod"/>
            </a:pPr>
            <a:r>
              <a:rPr lang="en-GB" sz="1700" b="1" i="0" u="none" strike="noStrike" dirty="0">
                <a:solidFill>
                  <a:srgbClr val="404040"/>
                </a:solidFill>
                <a:effectLst/>
                <a:latin typeface="+mj-lt"/>
              </a:rPr>
              <a:t>Valid Padding</a:t>
            </a:r>
            <a:r>
              <a:rPr lang="en-GB" sz="1700" b="0" i="0" u="none" strike="noStrike" dirty="0">
                <a:solidFill>
                  <a:srgbClr val="404040"/>
                </a:solidFill>
                <a:effectLst/>
                <a:latin typeface="+mj-lt"/>
              </a:rPr>
              <a:t>: No padding, output size decreases.</a:t>
            </a:r>
          </a:p>
          <a:p>
            <a:pPr marL="857250" lvl="1" indent="-400050" algn="l">
              <a:spcBef>
                <a:spcPts val="300"/>
              </a:spcBef>
              <a:buFont typeface="+mj-lt"/>
              <a:buAutoNum type="romanLcPeriod"/>
            </a:pPr>
            <a:r>
              <a:rPr lang="en-GB" sz="1700" b="1" i="0" u="none" strike="noStrike" dirty="0">
                <a:solidFill>
                  <a:srgbClr val="404040"/>
                </a:solidFill>
                <a:effectLst/>
                <a:latin typeface="+mj-lt"/>
              </a:rPr>
              <a:t>Same Padding</a:t>
            </a:r>
            <a:r>
              <a:rPr lang="en-GB" sz="1700" b="0" i="0" u="none" strike="noStrike" dirty="0">
                <a:solidFill>
                  <a:srgbClr val="404040"/>
                </a:solidFill>
                <a:effectLst/>
                <a:latin typeface="+mj-lt"/>
              </a:rPr>
              <a:t>: Padding is added so that the output size matches input size (when stride=1).</a:t>
            </a:r>
          </a:p>
          <a:p>
            <a:pPr>
              <a:buNone/>
            </a:pPr>
            <a:br>
              <a:rPr lang="en-GB" sz="1700" dirty="0">
                <a:latin typeface="+mj-lt"/>
              </a:rPr>
            </a:br>
            <a:endParaRPr lang="en-GB" sz="1700" i="0" u="none" strike="noStrike" dirty="0">
              <a:solidFill>
                <a:srgbClr val="000000"/>
              </a:solidFill>
              <a:effectLst/>
              <a:latin typeface="+mj-lt"/>
            </a:endParaRPr>
          </a:p>
        </p:txBody>
      </p:sp>
    </p:spTree>
    <p:extLst>
      <p:ext uri="{BB962C8B-B14F-4D97-AF65-F5344CB8AC3E}">
        <p14:creationId xmlns:p14="http://schemas.microsoft.com/office/powerpoint/2010/main" val="1743605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0114CFE-BB42-F824-E192-AA71065C117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D76DAD3-6375-542D-8C16-4FE79516025B}"/>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Convolutional Layers and Feature Maps</a:t>
            </a: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2DBB7F2A-41DC-E9C5-F92E-B69F33E1465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944B4C2E-E592-6DAE-024B-E66472021647}"/>
              </a:ext>
            </a:extLst>
          </p:cNvPr>
          <p:cNvSpPr txBox="1"/>
          <p:nvPr/>
        </p:nvSpPr>
        <p:spPr>
          <a:xfrm>
            <a:off x="88664" y="713964"/>
            <a:ext cx="9262369" cy="4839786"/>
          </a:xfrm>
          <a:prstGeom prst="rect">
            <a:avLst/>
          </a:prstGeom>
          <a:noFill/>
        </p:spPr>
        <p:txBody>
          <a:bodyPr wrap="square">
            <a:spAutoFit/>
          </a:bodyPr>
          <a:lstStyle/>
          <a:p>
            <a:pPr algn="l">
              <a:buNone/>
            </a:pPr>
            <a:r>
              <a:rPr lang="en-GB" sz="1800" b="1" i="0" u="none" strike="noStrike" dirty="0">
                <a:solidFill>
                  <a:srgbClr val="404040"/>
                </a:solidFill>
                <a:effectLst/>
                <a:latin typeface="+mj-lt"/>
              </a:rPr>
              <a:t>(c) Output Feature Map Size Calculation</a:t>
            </a:r>
          </a:p>
          <a:p>
            <a:pPr algn="l"/>
            <a:r>
              <a:rPr lang="en-GB" sz="1800" b="0" i="0" u="none" strike="noStrike" dirty="0">
                <a:solidFill>
                  <a:srgbClr val="404040"/>
                </a:solidFill>
                <a:effectLst/>
                <a:latin typeface="+mj-lt"/>
              </a:rPr>
              <a:t>The dimensions of the output feature map (W′×H′)can be calculated as:</a:t>
            </a:r>
          </a:p>
          <a:p>
            <a:pPr algn="l"/>
            <a:endParaRPr lang="en-GB" sz="1800" dirty="0">
              <a:solidFill>
                <a:srgbClr val="404040"/>
              </a:solidFill>
              <a:latin typeface="+mj-lt"/>
            </a:endParaRPr>
          </a:p>
          <a:p>
            <a:pPr algn="l"/>
            <a:endParaRPr lang="en-GB" sz="1800" b="0" i="0" u="none" strike="noStrike" dirty="0">
              <a:solidFill>
                <a:srgbClr val="404040"/>
              </a:solidFill>
              <a:effectLst/>
              <a:latin typeface="+mj-lt"/>
            </a:endParaRPr>
          </a:p>
          <a:p>
            <a:pPr algn="l"/>
            <a:endParaRPr lang="en-GB" sz="1800" dirty="0">
              <a:solidFill>
                <a:srgbClr val="404040"/>
              </a:solidFill>
              <a:latin typeface="+mj-lt"/>
            </a:endParaRPr>
          </a:p>
          <a:p>
            <a:pPr algn="l"/>
            <a:endParaRPr lang="en-GB" sz="1800" b="0" i="0" u="none" strike="noStrike" dirty="0">
              <a:solidFill>
                <a:srgbClr val="404040"/>
              </a:solidFill>
              <a:effectLst/>
              <a:latin typeface="+mj-lt"/>
            </a:endParaRPr>
          </a:p>
          <a:p>
            <a:pPr algn="l"/>
            <a:r>
              <a:rPr lang="en-GB" sz="1800" dirty="0">
                <a:solidFill>
                  <a:srgbClr val="404040"/>
                </a:solidFill>
                <a:latin typeface="+mj-lt"/>
              </a:rPr>
              <a:t>Where, </a:t>
            </a:r>
          </a:p>
          <a:p>
            <a:pPr algn="l"/>
            <a:r>
              <a:rPr lang="en-GB" sz="1800" dirty="0">
                <a:solidFill>
                  <a:srgbClr val="404040"/>
                </a:solidFill>
                <a:latin typeface="+mj-lt"/>
              </a:rPr>
              <a:t>W, H = Input width and height</a:t>
            </a:r>
          </a:p>
          <a:p>
            <a:pPr algn="l"/>
            <a:r>
              <a:rPr lang="en-GB" sz="1800" dirty="0">
                <a:solidFill>
                  <a:srgbClr val="404040"/>
                </a:solidFill>
                <a:latin typeface="+mj-lt"/>
              </a:rPr>
              <a:t>F = Filter size</a:t>
            </a:r>
          </a:p>
          <a:p>
            <a:pPr algn="l"/>
            <a:r>
              <a:rPr lang="en-GB" sz="1800" dirty="0">
                <a:solidFill>
                  <a:srgbClr val="404040"/>
                </a:solidFill>
                <a:latin typeface="+mj-lt"/>
              </a:rPr>
              <a:t>P = Padding</a:t>
            </a:r>
          </a:p>
          <a:p>
            <a:pPr algn="l"/>
            <a:r>
              <a:rPr lang="en-GB" sz="1800" dirty="0">
                <a:solidFill>
                  <a:srgbClr val="404040"/>
                </a:solidFill>
                <a:latin typeface="+mj-lt"/>
              </a:rPr>
              <a:t>S = Stride</a:t>
            </a:r>
          </a:p>
          <a:p>
            <a:pPr algn="l"/>
            <a:endParaRPr lang="en-GB" sz="1800" dirty="0">
              <a:solidFill>
                <a:srgbClr val="404040"/>
              </a:solidFill>
              <a:latin typeface="+mj-lt"/>
            </a:endParaRPr>
          </a:p>
          <a:p>
            <a:pPr algn="l">
              <a:buNone/>
            </a:pPr>
            <a:r>
              <a:rPr lang="en-GB" sz="1800" b="1" i="0" u="none" strike="noStrike" dirty="0">
                <a:solidFill>
                  <a:srgbClr val="404040"/>
                </a:solidFill>
                <a:effectLst/>
                <a:latin typeface="+mj-lt"/>
              </a:rPr>
              <a:t>(d) Multiple Filters and Depth</a:t>
            </a:r>
          </a:p>
          <a:p>
            <a:pPr marL="285750" indent="-285750" algn="l">
              <a:buFont typeface="Wingdings" pitchFamily="2" charset="2"/>
              <a:buChar char="ü"/>
            </a:pPr>
            <a:r>
              <a:rPr lang="en-GB" sz="1800" b="0" i="0" u="none" strike="noStrike" dirty="0">
                <a:solidFill>
                  <a:srgbClr val="404040"/>
                </a:solidFill>
                <a:effectLst/>
                <a:latin typeface="+mj-lt"/>
              </a:rPr>
              <a:t>Each filter produces one feature map.</a:t>
            </a:r>
          </a:p>
          <a:p>
            <a:pPr marL="285750" indent="-285750" algn="l">
              <a:spcBef>
                <a:spcPts val="300"/>
              </a:spcBef>
              <a:buFont typeface="Wingdings" pitchFamily="2" charset="2"/>
              <a:buChar char="ü"/>
            </a:pPr>
            <a:r>
              <a:rPr lang="en-GB" sz="1800" b="0" i="0" u="none" strike="noStrike" dirty="0">
                <a:solidFill>
                  <a:srgbClr val="404040"/>
                </a:solidFill>
                <a:effectLst/>
                <a:latin typeface="+mj-lt"/>
              </a:rPr>
              <a:t>If we use K</a:t>
            </a:r>
            <a:r>
              <a:rPr lang="en-GB" sz="1800" b="0" i="1" u="none" strike="noStrike" dirty="0">
                <a:solidFill>
                  <a:srgbClr val="404040"/>
                </a:solidFill>
                <a:effectLst/>
                <a:latin typeface="+mj-lt"/>
              </a:rPr>
              <a:t>K</a:t>
            </a:r>
            <a:r>
              <a:rPr lang="en-GB" sz="1800" b="0" i="0" u="none" strike="noStrike" dirty="0">
                <a:solidFill>
                  <a:srgbClr val="404040"/>
                </a:solidFill>
                <a:effectLst/>
                <a:latin typeface="+mj-lt"/>
              </a:rPr>
              <a:t> filters, the output will have depth K</a:t>
            </a:r>
            <a:r>
              <a:rPr lang="en-GB" sz="1800" b="0" i="1" u="none" strike="noStrike" dirty="0">
                <a:solidFill>
                  <a:srgbClr val="404040"/>
                </a:solidFill>
                <a:effectLst/>
                <a:latin typeface="+mj-lt"/>
              </a:rPr>
              <a:t>K</a:t>
            </a:r>
            <a:r>
              <a:rPr lang="en-GB" sz="1800" b="0" i="0" u="none" strike="noStrike" dirty="0">
                <a:solidFill>
                  <a:srgbClr val="404040"/>
                </a:solidFill>
                <a:effectLst/>
                <a:latin typeface="+mj-lt"/>
              </a:rPr>
              <a:t>.</a:t>
            </a:r>
          </a:p>
          <a:p>
            <a:pPr algn="l"/>
            <a:endParaRPr lang="en-GB" sz="1800" b="0" i="0" u="none" strike="noStrike" dirty="0">
              <a:solidFill>
                <a:srgbClr val="404040"/>
              </a:solidFill>
              <a:effectLst/>
              <a:latin typeface="+mj-lt"/>
            </a:endParaRPr>
          </a:p>
          <a:p>
            <a:pPr algn="l">
              <a:buNone/>
            </a:pPr>
            <a:endParaRPr lang="en-GB" sz="1800" i="0" u="none" strike="noStrike" dirty="0">
              <a:solidFill>
                <a:srgbClr val="000000"/>
              </a:solidFill>
              <a:effectLst/>
              <a:latin typeface="+mj-lt"/>
            </a:endParaRPr>
          </a:p>
        </p:txBody>
      </p:sp>
      <p:pic>
        <p:nvPicPr>
          <p:cNvPr id="2" name="Picture 1">
            <a:extLst>
              <a:ext uri="{FF2B5EF4-FFF2-40B4-BE49-F238E27FC236}">
                <a16:creationId xmlns:a16="http://schemas.microsoft.com/office/drawing/2014/main" id="{B72657DC-3FBA-D99A-FFF5-8FAFBE858804}"/>
              </a:ext>
            </a:extLst>
          </p:cNvPr>
          <p:cNvPicPr>
            <a:picLocks noChangeAspect="1"/>
          </p:cNvPicPr>
          <p:nvPr/>
        </p:nvPicPr>
        <p:blipFill>
          <a:blip r:embed="rId3"/>
          <a:stretch>
            <a:fillRect/>
          </a:stretch>
        </p:blipFill>
        <p:spPr>
          <a:xfrm>
            <a:off x="2725285" y="1471585"/>
            <a:ext cx="2089989" cy="1021599"/>
          </a:xfrm>
          <a:prstGeom prst="rect">
            <a:avLst/>
          </a:prstGeom>
        </p:spPr>
      </p:pic>
    </p:spTree>
    <p:extLst>
      <p:ext uri="{BB962C8B-B14F-4D97-AF65-F5344CB8AC3E}">
        <p14:creationId xmlns:p14="http://schemas.microsoft.com/office/powerpoint/2010/main" val="1668769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32EA2BB-FDDE-4DA9-52F5-B1ADA1B426A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B7BF98E-331E-ABA3-7093-976E528F54D8}"/>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Activation Functions (Non-linearity)</a:t>
            </a: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9BACF897-4E15-7455-B4F6-EA60C5E4664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BD6DE54B-D937-79CE-AED5-2DA0D5C69DAA}"/>
              </a:ext>
            </a:extLst>
          </p:cNvPr>
          <p:cNvSpPr txBox="1"/>
          <p:nvPr/>
        </p:nvSpPr>
        <p:spPr>
          <a:xfrm>
            <a:off x="172528" y="694683"/>
            <a:ext cx="7806905" cy="4955203"/>
          </a:xfrm>
          <a:prstGeom prst="rect">
            <a:avLst/>
          </a:prstGeom>
          <a:noFill/>
        </p:spPr>
        <p:txBody>
          <a:bodyPr wrap="square">
            <a:spAutoFit/>
          </a:bodyPr>
          <a:lstStyle/>
          <a:p>
            <a:pPr>
              <a:buNone/>
            </a:pPr>
            <a:r>
              <a:rPr lang="en-GB" sz="1600" dirty="0"/>
              <a:t>After each convolutional operation in a Convolutional Neural Network (CNN), we apply an activation function to the resulting feature map. This step is crucial because:</a:t>
            </a:r>
          </a:p>
          <a:p>
            <a:pPr>
              <a:buNone/>
            </a:pPr>
            <a:endParaRPr lang="en-GB" sz="1600" dirty="0"/>
          </a:p>
          <a:p>
            <a:pPr>
              <a:buNone/>
            </a:pPr>
            <a:r>
              <a:rPr lang="en-GB" sz="1600" b="1" dirty="0"/>
              <a:t>Why Apply Activation Functions?</a:t>
            </a:r>
          </a:p>
          <a:p>
            <a:pPr>
              <a:buNone/>
            </a:pPr>
            <a:r>
              <a:rPr lang="en-GB" sz="1600" dirty="0"/>
              <a:t>Real-world data (like images) is non-linear in nature. Without adding non-linearity, your neural network—even a deep one—would just be a giant linear function, and no matter how deep it goes, it wouldn’t learn complex patterns.</a:t>
            </a:r>
          </a:p>
          <a:p>
            <a:pPr>
              <a:buNone/>
            </a:pPr>
            <a:r>
              <a:rPr lang="en-GB" sz="1600" dirty="0"/>
              <a:t>Think of it this way:</a:t>
            </a:r>
          </a:p>
          <a:p>
            <a:pPr marL="285750" indent="-285750">
              <a:buFont typeface="Wingdings" pitchFamily="2" charset="2"/>
              <a:buChar char="ü"/>
            </a:pPr>
            <a:r>
              <a:rPr lang="en-GB" sz="1600" dirty="0"/>
              <a:t>Without activation → your CNN is just multiplying and summing → linear</a:t>
            </a:r>
          </a:p>
          <a:p>
            <a:pPr marL="285750" indent="-285750">
              <a:buFont typeface="Wingdings" pitchFamily="2" charset="2"/>
              <a:buChar char="ü"/>
            </a:pPr>
            <a:r>
              <a:rPr lang="en-GB" sz="1600" dirty="0"/>
              <a:t>With activation → your CNN can learn edges, textures, objects → non-linear features</a:t>
            </a:r>
          </a:p>
          <a:p>
            <a:pPr marL="285750" indent="-285750">
              <a:buFont typeface="Wingdings" pitchFamily="2" charset="2"/>
              <a:buChar char="ü"/>
            </a:pPr>
            <a:endParaRPr lang="en-GB" sz="1600" dirty="0"/>
          </a:p>
          <a:p>
            <a:pPr>
              <a:buNone/>
            </a:pPr>
            <a:r>
              <a:rPr lang="en-GB" sz="1600" b="1" dirty="0"/>
              <a:t>Popular Activation Functions</a:t>
            </a:r>
          </a:p>
          <a:p>
            <a:pPr marL="457200" indent="-457200">
              <a:buFont typeface="+mj-lt"/>
              <a:buAutoNum type="arabicPeriod"/>
            </a:pPr>
            <a:r>
              <a:rPr lang="en-GB" sz="1600" b="1" dirty="0" err="1"/>
              <a:t>ReLU</a:t>
            </a:r>
            <a:endParaRPr lang="en-GB" sz="1600" b="1" dirty="0"/>
          </a:p>
          <a:p>
            <a:pPr marL="457200" indent="-457200">
              <a:buFont typeface="+mj-lt"/>
              <a:buAutoNum type="arabicPeriod"/>
            </a:pPr>
            <a:r>
              <a:rPr lang="en-GB" sz="1600" b="1" dirty="0"/>
              <a:t>Leaky </a:t>
            </a:r>
            <a:r>
              <a:rPr lang="en-GB" sz="1600" b="1" dirty="0" err="1"/>
              <a:t>ReLU</a:t>
            </a:r>
            <a:endParaRPr lang="en-GB" sz="1600" b="1" dirty="0"/>
          </a:p>
          <a:p>
            <a:pPr marL="457200" indent="-457200">
              <a:buFont typeface="+mj-lt"/>
              <a:buAutoNum type="arabicPeriod"/>
            </a:pPr>
            <a:r>
              <a:rPr lang="en-GB" sz="1600" b="1" dirty="0"/>
              <a:t>Sigmoid</a:t>
            </a:r>
          </a:p>
          <a:p>
            <a:pPr algn="l"/>
            <a:endParaRPr lang="en-GB" sz="1600" b="0" i="0" u="none" strike="noStrike" dirty="0">
              <a:solidFill>
                <a:srgbClr val="404040"/>
              </a:solidFill>
              <a:effectLst/>
              <a:latin typeface="+mj-lt"/>
            </a:endParaRPr>
          </a:p>
          <a:p>
            <a:pPr algn="l">
              <a:buNone/>
            </a:pPr>
            <a:endParaRPr lang="en-GB" sz="1600" i="0" u="none" strike="noStrike" dirty="0">
              <a:solidFill>
                <a:srgbClr val="000000"/>
              </a:solidFill>
              <a:effectLst/>
              <a:latin typeface="+mj-lt"/>
            </a:endParaRPr>
          </a:p>
        </p:txBody>
      </p:sp>
    </p:spTree>
    <p:extLst>
      <p:ext uri="{BB962C8B-B14F-4D97-AF65-F5344CB8AC3E}">
        <p14:creationId xmlns:p14="http://schemas.microsoft.com/office/powerpoint/2010/main" val="1633389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CD33760-7F78-3530-E164-5AEBF9F0B34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010D676-B3D0-8C62-80D9-5B9E8E49CBBA}"/>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Activation Functions (Non-linearity)</a:t>
            </a: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5905D0D2-3228-CFBD-5157-CEB86A83E90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TextBox 4">
            <a:extLst>
              <a:ext uri="{FF2B5EF4-FFF2-40B4-BE49-F238E27FC236}">
                <a16:creationId xmlns:a16="http://schemas.microsoft.com/office/drawing/2014/main" id="{D410CAC6-CE0C-D734-30B6-A3FFB31FF6BE}"/>
              </a:ext>
            </a:extLst>
          </p:cNvPr>
          <p:cNvSpPr txBox="1"/>
          <p:nvPr/>
        </p:nvSpPr>
        <p:spPr>
          <a:xfrm>
            <a:off x="172528" y="694683"/>
            <a:ext cx="7806905" cy="2123658"/>
          </a:xfrm>
          <a:prstGeom prst="rect">
            <a:avLst/>
          </a:prstGeom>
          <a:noFill/>
        </p:spPr>
        <p:txBody>
          <a:bodyPr wrap="square">
            <a:spAutoFit/>
          </a:bodyPr>
          <a:lstStyle/>
          <a:p>
            <a:pPr>
              <a:buNone/>
            </a:pPr>
            <a:r>
              <a:rPr lang="en-GB" sz="2000" b="1" dirty="0" err="1"/>
              <a:t>ReLU</a:t>
            </a:r>
            <a:r>
              <a:rPr lang="en-GB" sz="2000" b="1" dirty="0"/>
              <a:t> (Rectified Linear Unit)</a:t>
            </a:r>
          </a:p>
          <a:p>
            <a:r>
              <a:rPr lang="en-GB" sz="1600" dirty="0"/>
              <a:t>It keeps only important signals (positive values) and discards noise (negative values), making training faster and reducing complexity. Most widely used in CNNs.</a:t>
            </a:r>
          </a:p>
          <a:p>
            <a:r>
              <a:rPr lang="en-GB" sz="1600" b="1" dirty="0"/>
              <a:t>Formula</a:t>
            </a:r>
            <a:r>
              <a:rPr lang="en-GB" sz="1600" dirty="0"/>
              <a:t>:</a:t>
            </a:r>
          </a:p>
          <a:p>
            <a:pPr>
              <a:buFont typeface="Arial" panose="020B0604020202020204" pitchFamily="34" charset="0"/>
              <a:buChar char="•"/>
            </a:pPr>
            <a:r>
              <a:rPr lang="en-GB" sz="1600" dirty="0" err="1"/>
              <a:t>ReLU</a:t>
            </a:r>
            <a:r>
              <a:rPr lang="en-GB" sz="1600" dirty="0"/>
              <a:t>(x) = max⁡(0,x)</a:t>
            </a:r>
          </a:p>
          <a:p>
            <a:pPr>
              <a:buFont typeface="Arial" panose="020B0604020202020204" pitchFamily="34" charset="0"/>
              <a:buChar char="•"/>
            </a:pPr>
            <a:r>
              <a:rPr lang="en-GB" sz="1600" dirty="0"/>
              <a:t>In simple words: If the input is positive, keep it. If it’s negative, change it to 0.</a:t>
            </a:r>
          </a:p>
          <a:p>
            <a:pPr algn="l"/>
            <a:endParaRPr lang="en-GB" sz="1600" b="0" i="0" u="none" strike="noStrike" dirty="0">
              <a:solidFill>
                <a:srgbClr val="404040"/>
              </a:solidFill>
              <a:effectLst/>
              <a:latin typeface="+mj-lt"/>
            </a:endParaRPr>
          </a:p>
          <a:p>
            <a:pPr algn="l">
              <a:buNone/>
            </a:pPr>
            <a:endParaRPr lang="en-GB" sz="1600" i="0" u="none" strike="noStrike" dirty="0">
              <a:solidFill>
                <a:srgbClr val="000000"/>
              </a:solidFill>
              <a:effectLst/>
              <a:latin typeface="+mj-lt"/>
            </a:endParaRPr>
          </a:p>
        </p:txBody>
      </p:sp>
      <p:graphicFrame>
        <p:nvGraphicFramePr>
          <p:cNvPr id="2" name="Table 1">
            <a:extLst>
              <a:ext uri="{FF2B5EF4-FFF2-40B4-BE49-F238E27FC236}">
                <a16:creationId xmlns:a16="http://schemas.microsoft.com/office/drawing/2014/main" id="{E5731330-4B8E-7D62-AF21-9F0A4BF1E139}"/>
              </a:ext>
            </a:extLst>
          </p:cNvPr>
          <p:cNvGraphicFramePr>
            <a:graphicFrameLocks noGrp="1"/>
          </p:cNvGraphicFramePr>
          <p:nvPr>
            <p:extLst>
              <p:ext uri="{D42A27DB-BD31-4B8C-83A1-F6EECF244321}">
                <p14:modId xmlns:p14="http://schemas.microsoft.com/office/powerpoint/2010/main" val="1439907094"/>
              </p:ext>
            </p:extLst>
          </p:nvPr>
        </p:nvGraphicFramePr>
        <p:xfrm>
          <a:off x="1492370" y="2350112"/>
          <a:ext cx="4295955" cy="1219200"/>
        </p:xfrm>
        <a:graphic>
          <a:graphicData uri="http://schemas.openxmlformats.org/drawingml/2006/table">
            <a:tbl>
              <a:tblPr>
                <a:tableStyleId>{35758FB7-9AC5-4552-8A53-C91805E547FA}</a:tableStyleId>
              </a:tblPr>
              <a:tblGrid>
                <a:gridCol w="1658899">
                  <a:extLst>
                    <a:ext uri="{9D8B030D-6E8A-4147-A177-3AD203B41FA5}">
                      <a16:colId xmlns:a16="http://schemas.microsoft.com/office/drawing/2014/main" val="2350886788"/>
                    </a:ext>
                  </a:extLst>
                </a:gridCol>
                <a:gridCol w="2637056">
                  <a:extLst>
                    <a:ext uri="{9D8B030D-6E8A-4147-A177-3AD203B41FA5}">
                      <a16:colId xmlns:a16="http://schemas.microsoft.com/office/drawing/2014/main" val="4283750157"/>
                    </a:ext>
                  </a:extLst>
                </a:gridCol>
              </a:tblGrid>
              <a:tr h="0">
                <a:tc>
                  <a:txBody>
                    <a:bodyPr/>
                    <a:lstStyle/>
                    <a:p>
                      <a:r>
                        <a:rPr lang="en-GB"/>
                        <a:t>Input x</a:t>
                      </a:r>
                    </a:p>
                  </a:txBody>
                  <a:tcPr anchor="ctr"/>
                </a:tc>
                <a:tc>
                  <a:txBody>
                    <a:bodyPr/>
                    <a:lstStyle/>
                    <a:p>
                      <a:r>
                        <a:rPr lang="en-GB"/>
                        <a:t>ReLU(x)</a:t>
                      </a:r>
                    </a:p>
                  </a:txBody>
                  <a:tcPr anchor="ctr"/>
                </a:tc>
                <a:extLst>
                  <a:ext uri="{0D108BD9-81ED-4DB2-BD59-A6C34878D82A}">
                    <a16:rowId xmlns:a16="http://schemas.microsoft.com/office/drawing/2014/main" val="44724102"/>
                  </a:ext>
                </a:extLst>
              </a:tr>
              <a:tr h="0">
                <a:tc>
                  <a:txBody>
                    <a:bodyPr/>
                    <a:lstStyle/>
                    <a:p>
                      <a:r>
                        <a:rPr lang="en-GB"/>
                        <a:t>-5</a:t>
                      </a:r>
                    </a:p>
                  </a:txBody>
                  <a:tcPr anchor="ctr"/>
                </a:tc>
                <a:tc>
                  <a:txBody>
                    <a:bodyPr/>
                    <a:lstStyle/>
                    <a:p>
                      <a:r>
                        <a:rPr lang="en-GB" dirty="0"/>
                        <a:t>0</a:t>
                      </a:r>
                    </a:p>
                  </a:txBody>
                  <a:tcPr anchor="ctr"/>
                </a:tc>
                <a:extLst>
                  <a:ext uri="{0D108BD9-81ED-4DB2-BD59-A6C34878D82A}">
                    <a16:rowId xmlns:a16="http://schemas.microsoft.com/office/drawing/2014/main" val="1267520898"/>
                  </a:ext>
                </a:extLst>
              </a:tr>
              <a:tr h="0">
                <a:tc>
                  <a:txBody>
                    <a:bodyPr/>
                    <a:lstStyle/>
                    <a:p>
                      <a:r>
                        <a:rPr lang="en-GB"/>
                        <a:t>0</a:t>
                      </a:r>
                    </a:p>
                  </a:txBody>
                  <a:tcPr anchor="ctr"/>
                </a:tc>
                <a:tc>
                  <a:txBody>
                    <a:bodyPr/>
                    <a:lstStyle/>
                    <a:p>
                      <a:r>
                        <a:rPr lang="en-GB" dirty="0"/>
                        <a:t>0</a:t>
                      </a:r>
                    </a:p>
                  </a:txBody>
                  <a:tcPr anchor="ctr"/>
                </a:tc>
                <a:extLst>
                  <a:ext uri="{0D108BD9-81ED-4DB2-BD59-A6C34878D82A}">
                    <a16:rowId xmlns:a16="http://schemas.microsoft.com/office/drawing/2014/main" val="2248723608"/>
                  </a:ext>
                </a:extLst>
              </a:tr>
              <a:tr h="0">
                <a:tc>
                  <a:txBody>
                    <a:bodyPr/>
                    <a:lstStyle/>
                    <a:p>
                      <a:r>
                        <a:rPr lang="en-GB" dirty="0"/>
                        <a:t>2</a:t>
                      </a:r>
                    </a:p>
                  </a:txBody>
                  <a:tcPr anchor="ctr"/>
                </a:tc>
                <a:tc>
                  <a:txBody>
                    <a:bodyPr/>
                    <a:lstStyle/>
                    <a:p>
                      <a:r>
                        <a:rPr lang="en-GB" dirty="0"/>
                        <a:t>2</a:t>
                      </a:r>
                    </a:p>
                  </a:txBody>
                  <a:tcPr anchor="ctr"/>
                </a:tc>
                <a:extLst>
                  <a:ext uri="{0D108BD9-81ED-4DB2-BD59-A6C34878D82A}">
                    <a16:rowId xmlns:a16="http://schemas.microsoft.com/office/drawing/2014/main" val="524160193"/>
                  </a:ext>
                </a:extLst>
              </a:tr>
            </a:tbl>
          </a:graphicData>
        </a:graphic>
      </p:graphicFrame>
      <p:sp>
        <p:nvSpPr>
          <p:cNvPr id="6" name="TextBox 5">
            <a:extLst>
              <a:ext uri="{FF2B5EF4-FFF2-40B4-BE49-F238E27FC236}">
                <a16:creationId xmlns:a16="http://schemas.microsoft.com/office/drawing/2014/main" id="{A31AE580-AD8D-4BF5-8E25-FDD3C6FE25B2}"/>
              </a:ext>
            </a:extLst>
          </p:cNvPr>
          <p:cNvSpPr txBox="1"/>
          <p:nvPr/>
        </p:nvSpPr>
        <p:spPr>
          <a:xfrm>
            <a:off x="888896" y="3778953"/>
            <a:ext cx="6184764" cy="1092607"/>
          </a:xfrm>
          <a:prstGeom prst="rect">
            <a:avLst/>
          </a:prstGeom>
          <a:solidFill>
            <a:schemeClr val="accent1">
              <a:lumMod val="40000"/>
              <a:lumOff val="60000"/>
            </a:schemeClr>
          </a:solidFill>
        </p:spPr>
        <p:txBody>
          <a:bodyPr wrap="square">
            <a:spAutoFit/>
          </a:bodyPr>
          <a:lstStyle/>
          <a:p>
            <a:r>
              <a:rPr lang="en-US" sz="1300" dirty="0"/>
              <a:t>from </a:t>
            </a:r>
            <a:r>
              <a:rPr lang="en-US" sz="1300" dirty="0" err="1"/>
              <a:t>tensorflow.keras.layers</a:t>
            </a:r>
            <a:r>
              <a:rPr lang="en-US" sz="1300" dirty="0"/>
              <a:t> import Conv2D, Activation</a:t>
            </a:r>
          </a:p>
          <a:p>
            <a:endParaRPr lang="en-US" sz="1300" dirty="0"/>
          </a:p>
          <a:p>
            <a:r>
              <a:rPr lang="en-US" sz="1300" dirty="0"/>
              <a:t># Convolution layer followed by </a:t>
            </a:r>
            <a:r>
              <a:rPr lang="en-US" sz="1300" dirty="0" err="1"/>
              <a:t>ReLU</a:t>
            </a:r>
            <a:r>
              <a:rPr lang="en-US" sz="1300" dirty="0"/>
              <a:t> activation</a:t>
            </a:r>
          </a:p>
          <a:p>
            <a:r>
              <a:rPr lang="en-US" sz="1300" dirty="0" err="1"/>
              <a:t>model.add</a:t>
            </a:r>
            <a:r>
              <a:rPr lang="en-US" sz="1300" dirty="0"/>
              <a:t>(Conv2D(filters=32, </a:t>
            </a:r>
            <a:r>
              <a:rPr lang="en-US" sz="1300" dirty="0" err="1"/>
              <a:t>kernel_size</a:t>
            </a:r>
            <a:r>
              <a:rPr lang="en-US" sz="1300" dirty="0"/>
              <a:t>=(3, 3), </a:t>
            </a:r>
            <a:r>
              <a:rPr lang="en-US" sz="1300" dirty="0" err="1"/>
              <a:t>input_shape</a:t>
            </a:r>
            <a:r>
              <a:rPr lang="en-US" sz="1300" dirty="0"/>
              <a:t>=(128, 128, 3)))</a:t>
            </a:r>
          </a:p>
          <a:p>
            <a:r>
              <a:rPr lang="en-US" sz="1300" dirty="0" err="1"/>
              <a:t>model.add</a:t>
            </a:r>
            <a:r>
              <a:rPr lang="en-US" sz="1300" dirty="0"/>
              <a:t>(Activation('</a:t>
            </a:r>
            <a:r>
              <a:rPr lang="en-US" sz="1300" dirty="0" err="1"/>
              <a:t>relu</a:t>
            </a:r>
            <a:r>
              <a:rPr lang="en-US" sz="1300" dirty="0"/>
              <a:t>'))</a:t>
            </a:r>
          </a:p>
        </p:txBody>
      </p:sp>
    </p:spTree>
    <p:extLst>
      <p:ext uri="{BB962C8B-B14F-4D97-AF65-F5344CB8AC3E}">
        <p14:creationId xmlns:p14="http://schemas.microsoft.com/office/powerpoint/2010/main" val="3784350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9EF1289-3371-55F6-8A82-D08450725A36}"/>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682839C-AD5D-47BD-7B4A-29626EAE1E60}"/>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Leaky </a:t>
            </a:r>
            <a:r>
              <a:rPr lang="en-GB" sz="2400" b="1" dirty="0" err="1"/>
              <a:t>ReLu</a:t>
            </a:r>
            <a:r>
              <a:rPr lang="en-GB" sz="2400" b="1" dirty="0"/>
              <a:t> Activation Function</a:t>
            </a: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7561D862-76AF-DE7D-0E08-D7D82CA3643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C9C11E75-F4BA-027A-A1DF-54287A74411B}"/>
              </a:ext>
            </a:extLst>
          </p:cNvPr>
          <p:cNvSpPr txBox="1"/>
          <p:nvPr/>
        </p:nvSpPr>
        <p:spPr>
          <a:xfrm>
            <a:off x="86264" y="822577"/>
            <a:ext cx="8033117" cy="2308324"/>
          </a:xfrm>
          <a:prstGeom prst="rect">
            <a:avLst/>
          </a:prstGeom>
          <a:noFill/>
        </p:spPr>
        <p:txBody>
          <a:bodyPr wrap="square">
            <a:spAutoFit/>
          </a:bodyPr>
          <a:lstStyle/>
          <a:p>
            <a:pPr>
              <a:buNone/>
            </a:pPr>
            <a:r>
              <a:rPr lang="en-GB" sz="1600" b="1" dirty="0"/>
              <a:t>What is Leaky </a:t>
            </a:r>
            <a:r>
              <a:rPr lang="en-GB" sz="1600" b="1" dirty="0" err="1"/>
              <a:t>ReLU</a:t>
            </a:r>
            <a:r>
              <a:rPr lang="en-GB" sz="1600" b="1" dirty="0"/>
              <a:t>?</a:t>
            </a:r>
          </a:p>
          <a:p>
            <a:pPr>
              <a:buNone/>
            </a:pPr>
            <a:r>
              <a:rPr lang="en-GB" sz="1600" dirty="0"/>
              <a:t>Leaky </a:t>
            </a:r>
            <a:r>
              <a:rPr lang="en-GB" sz="1600" dirty="0" err="1"/>
              <a:t>ReLU</a:t>
            </a:r>
            <a:r>
              <a:rPr lang="en-GB" sz="1600" dirty="0"/>
              <a:t> is a variant of the </a:t>
            </a:r>
            <a:r>
              <a:rPr lang="en-GB" sz="1600" dirty="0" err="1"/>
              <a:t>ReLU</a:t>
            </a:r>
            <a:r>
              <a:rPr lang="en-GB" sz="1600" dirty="0"/>
              <a:t> activation function that fixes one of </a:t>
            </a:r>
            <a:r>
              <a:rPr lang="en-GB" sz="1600" dirty="0" err="1"/>
              <a:t>ReLU’s</a:t>
            </a:r>
            <a:r>
              <a:rPr lang="en-GB" sz="1600" dirty="0"/>
              <a:t> main problems "dying neurons" (when neurons always output 0).</a:t>
            </a:r>
          </a:p>
          <a:p>
            <a:pPr>
              <a:buNone/>
            </a:pPr>
            <a:r>
              <a:rPr lang="en-GB" sz="1600" b="1" dirty="0"/>
              <a:t>Why is it needed?</a:t>
            </a:r>
          </a:p>
          <a:p>
            <a:r>
              <a:rPr lang="en-GB" sz="1600" dirty="0"/>
              <a:t>In </a:t>
            </a:r>
            <a:r>
              <a:rPr lang="en-GB" sz="1600" dirty="0" err="1"/>
              <a:t>ReLU</a:t>
            </a:r>
            <a:r>
              <a:rPr lang="en-GB" sz="1600" dirty="0"/>
              <a:t>, the output is 0 for all negative inputs. If a neuron's weights cause it to always produce negative values, it stops learning (gradient becomes zero).</a:t>
            </a:r>
            <a:br>
              <a:rPr lang="en-GB" sz="1600" dirty="0"/>
            </a:br>
            <a:r>
              <a:rPr lang="en-GB" sz="1600" dirty="0"/>
              <a:t>Leaky </a:t>
            </a:r>
            <a:r>
              <a:rPr lang="en-GB" sz="1600" dirty="0" err="1"/>
              <a:t>ReLU</a:t>
            </a:r>
            <a:r>
              <a:rPr lang="en-GB" sz="1600" dirty="0"/>
              <a:t> allows a small, non-zero gradient when the input is negative.</a:t>
            </a:r>
          </a:p>
          <a:p>
            <a:endParaRPr lang="en-GB" sz="1600" b="1" dirty="0"/>
          </a:p>
          <a:p>
            <a:r>
              <a:rPr lang="en-GB" sz="1600" b="1" dirty="0"/>
              <a:t>Leaky </a:t>
            </a:r>
            <a:r>
              <a:rPr lang="en-GB" sz="1600" b="1" dirty="0" err="1"/>
              <a:t>ReLU</a:t>
            </a:r>
            <a:r>
              <a:rPr lang="en-GB" sz="1600" b="1" dirty="0"/>
              <a:t> Formula</a:t>
            </a:r>
          </a:p>
        </p:txBody>
      </p:sp>
      <p:pic>
        <p:nvPicPr>
          <p:cNvPr id="2" name="Picture 1">
            <a:extLst>
              <a:ext uri="{FF2B5EF4-FFF2-40B4-BE49-F238E27FC236}">
                <a16:creationId xmlns:a16="http://schemas.microsoft.com/office/drawing/2014/main" id="{030B1774-6D97-CD2C-2EC1-B7FFF4238C3F}"/>
              </a:ext>
            </a:extLst>
          </p:cNvPr>
          <p:cNvPicPr>
            <a:picLocks noChangeAspect="1"/>
          </p:cNvPicPr>
          <p:nvPr/>
        </p:nvPicPr>
        <p:blipFill>
          <a:blip r:embed="rId3"/>
          <a:stretch>
            <a:fillRect/>
          </a:stretch>
        </p:blipFill>
        <p:spPr>
          <a:xfrm>
            <a:off x="2357017" y="2950817"/>
            <a:ext cx="3250152" cy="841719"/>
          </a:xfrm>
          <a:prstGeom prst="rect">
            <a:avLst/>
          </a:prstGeom>
        </p:spPr>
      </p:pic>
      <p:sp>
        <p:nvSpPr>
          <p:cNvPr id="6" name="TextBox 5">
            <a:extLst>
              <a:ext uri="{FF2B5EF4-FFF2-40B4-BE49-F238E27FC236}">
                <a16:creationId xmlns:a16="http://schemas.microsoft.com/office/drawing/2014/main" id="{9834E2BB-8F3B-C210-5A95-70BF96AAC8CF}"/>
              </a:ext>
            </a:extLst>
          </p:cNvPr>
          <p:cNvSpPr txBox="1"/>
          <p:nvPr/>
        </p:nvSpPr>
        <p:spPr>
          <a:xfrm>
            <a:off x="1950573" y="3768707"/>
            <a:ext cx="4649636" cy="307777"/>
          </a:xfrm>
          <a:prstGeom prst="rect">
            <a:avLst/>
          </a:prstGeom>
          <a:noFill/>
        </p:spPr>
        <p:txBody>
          <a:bodyPr wrap="square">
            <a:spAutoFit/>
          </a:bodyPr>
          <a:lstStyle/>
          <a:p>
            <a:pPr>
              <a:buNone/>
            </a:pPr>
            <a:r>
              <a:rPr lang="en-GB" dirty="0"/>
              <a:t>Where: </a:t>
            </a:r>
            <a:r>
              <a:rPr lang="el-GR" dirty="0"/>
              <a:t>α</a:t>
            </a:r>
            <a:r>
              <a:rPr lang="en-US" dirty="0"/>
              <a:t> </a:t>
            </a:r>
            <a:r>
              <a:rPr lang="en-GB" dirty="0"/>
              <a:t>alpha</a:t>
            </a:r>
            <a:r>
              <a:rPr lang="el-GR" dirty="0"/>
              <a:t> </a:t>
            </a:r>
            <a:r>
              <a:rPr lang="en-GB" dirty="0"/>
              <a:t>is a small constant (e.g., </a:t>
            </a:r>
            <a:r>
              <a:rPr lang="en-GB" b="1" dirty="0"/>
              <a:t>0.01</a:t>
            </a:r>
            <a:r>
              <a:rPr lang="en-GB" dirty="0"/>
              <a:t>)</a:t>
            </a:r>
          </a:p>
        </p:txBody>
      </p:sp>
    </p:spTree>
    <p:extLst>
      <p:ext uri="{BB962C8B-B14F-4D97-AF65-F5344CB8AC3E}">
        <p14:creationId xmlns:p14="http://schemas.microsoft.com/office/powerpoint/2010/main" val="2622350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A6A068EC-AF9A-03D2-0C29-ADCDDAAC499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24DEE78-EBAC-1B32-A0D6-E9723378EFF3}"/>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Leaky </a:t>
            </a:r>
            <a:r>
              <a:rPr lang="en-GB" sz="2400" b="1" dirty="0" err="1"/>
              <a:t>ReLu</a:t>
            </a:r>
            <a:r>
              <a:rPr lang="en-GB" sz="2400" b="1" dirty="0"/>
              <a:t> Activation Function</a:t>
            </a: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1770F1D7-BC3C-7F41-CE0A-190169E2ABB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D7D1EA1-883C-8143-4BD2-6605F9F7AC75}"/>
              </a:ext>
            </a:extLst>
          </p:cNvPr>
          <p:cNvSpPr txBox="1"/>
          <p:nvPr/>
        </p:nvSpPr>
        <p:spPr>
          <a:xfrm>
            <a:off x="86264" y="822577"/>
            <a:ext cx="8033117" cy="338554"/>
          </a:xfrm>
          <a:prstGeom prst="rect">
            <a:avLst/>
          </a:prstGeom>
          <a:noFill/>
        </p:spPr>
        <p:txBody>
          <a:bodyPr wrap="square">
            <a:spAutoFit/>
          </a:bodyPr>
          <a:lstStyle/>
          <a:p>
            <a:pPr>
              <a:buNone/>
            </a:pPr>
            <a:endParaRPr lang="en-GB" sz="1600" b="1" dirty="0"/>
          </a:p>
        </p:txBody>
      </p:sp>
      <p:sp>
        <p:nvSpPr>
          <p:cNvPr id="7" name="TextBox 6">
            <a:extLst>
              <a:ext uri="{FF2B5EF4-FFF2-40B4-BE49-F238E27FC236}">
                <a16:creationId xmlns:a16="http://schemas.microsoft.com/office/drawing/2014/main" id="{ACC9B5A3-B19B-5849-CE47-2A6F1CF99FFE}"/>
              </a:ext>
            </a:extLst>
          </p:cNvPr>
          <p:cNvSpPr txBox="1"/>
          <p:nvPr/>
        </p:nvSpPr>
        <p:spPr>
          <a:xfrm>
            <a:off x="551940" y="630426"/>
            <a:ext cx="6180826" cy="738664"/>
          </a:xfrm>
          <a:prstGeom prst="rect">
            <a:avLst/>
          </a:prstGeom>
          <a:solidFill>
            <a:schemeClr val="accent1">
              <a:lumMod val="40000"/>
              <a:lumOff val="60000"/>
            </a:schemeClr>
          </a:solidFill>
        </p:spPr>
        <p:txBody>
          <a:bodyPr wrap="square">
            <a:spAutoFit/>
          </a:bodyPr>
          <a:lstStyle/>
          <a:p>
            <a:r>
              <a:rPr lang="en-US" dirty="0"/>
              <a:t>from </a:t>
            </a:r>
            <a:r>
              <a:rPr lang="en-US" dirty="0" err="1"/>
              <a:t>tensorflow.keras.layers</a:t>
            </a:r>
            <a:r>
              <a:rPr lang="en-US" dirty="0"/>
              <a:t> import </a:t>
            </a:r>
            <a:r>
              <a:rPr lang="en-US" dirty="0" err="1"/>
              <a:t>LeakyReLU</a:t>
            </a:r>
            <a:endParaRPr lang="en-US" dirty="0"/>
          </a:p>
          <a:p>
            <a:r>
              <a:rPr lang="en-US" dirty="0" err="1"/>
              <a:t>model.add</a:t>
            </a:r>
            <a:r>
              <a:rPr lang="en-US" dirty="0"/>
              <a:t>(Dense(64))</a:t>
            </a:r>
          </a:p>
          <a:p>
            <a:r>
              <a:rPr lang="en-US" dirty="0" err="1"/>
              <a:t>model.add</a:t>
            </a:r>
            <a:r>
              <a:rPr lang="en-US" dirty="0"/>
              <a:t>(</a:t>
            </a:r>
            <a:r>
              <a:rPr lang="en-US" dirty="0" err="1"/>
              <a:t>LeakyReLU</a:t>
            </a:r>
            <a:r>
              <a:rPr lang="en-US" dirty="0"/>
              <a:t>(alpha=0.01))  # Apply Leaky </a:t>
            </a:r>
            <a:r>
              <a:rPr lang="en-US" dirty="0" err="1"/>
              <a:t>ReLU</a:t>
            </a:r>
            <a:r>
              <a:rPr lang="en-US" dirty="0"/>
              <a:t> with slope 0.01</a:t>
            </a:r>
          </a:p>
        </p:txBody>
      </p:sp>
      <p:graphicFrame>
        <p:nvGraphicFramePr>
          <p:cNvPr id="8" name="Table 7">
            <a:extLst>
              <a:ext uri="{FF2B5EF4-FFF2-40B4-BE49-F238E27FC236}">
                <a16:creationId xmlns:a16="http://schemas.microsoft.com/office/drawing/2014/main" id="{86C7F5EA-FEA3-BB77-586F-1170E6A6B1D8}"/>
              </a:ext>
            </a:extLst>
          </p:cNvPr>
          <p:cNvGraphicFramePr>
            <a:graphicFrameLocks noGrp="1"/>
          </p:cNvGraphicFramePr>
          <p:nvPr>
            <p:extLst>
              <p:ext uri="{D42A27DB-BD31-4B8C-83A1-F6EECF244321}">
                <p14:modId xmlns:p14="http://schemas.microsoft.com/office/powerpoint/2010/main" val="4002219356"/>
              </p:ext>
            </p:extLst>
          </p:nvPr>
        </p:nvGraphicFramePr>
        <p:xfrm>
          <a:off x="562572" y="1413945"/>
          <a:ext cx="5467292" cy="1524000"/>
        </p:xfrm>
        <a:graphic>
          <a:graphicData uri="http://schemas.openxmlformats.org/drawingml/2006/table">
            <a:tbl>
              <a:tblPr>
                <a:tableStyleId>{35758FB7-9AC5-4552-8A53-C91805E547FA}</a:tableStyleId>
              </a:tblPr>
              <a:tblGrid>
                <a:gridCol w="2733646">
                  <a:extLst>
                    <a:ext uri="{9D8B030D-6E8A-4147-A177-3AD203B41FA5}">
                      <a16:colId xmlns:a16="http://schemas.microsoft.com/office/drawing/2014/main" val="3745941783"/>
                    </a:ext>
                  </a:extLst>
                </a:gridCol>
                <a:gridCol w="2733646">
                  <a:extLst>
                    <a:ext uri="{9D8B030D-6E8A-4147-A177-3AD203B41FA5}">
                      <a16:colId xmlns:a16="http://schemas.microsoft.com/office/drawing/2014/main" val="9897891"/>
                    </a:ext>
                  </a:extLst>
                </a:gridCol>
              </a:tblGrid>
              <a:tr h="230377">
                <a:tc>
                  <a:txBody>
                    <a:bodyPr/>
                    <a:lstStyle/>
                    <a:p>
                      <a:r>
                        <a:rPr lang="en-GB" b="1" dirty="0"/>
                        <a:t>Input (x)</a:t>
                      </a:r>
                    </a:p>
                  </a:txBody>
                  <a:tcPr anchor="ctr"/>
                </a:tc>
                <a:tc>
                  <a:txBody>
                    <a:bodyPr/>
                    <a:lstStyle/>
                    <a:p>
                      <a:r>
                        <a:rPr lang="en-GB" b="1" dirty="0"/>
                        <a:t>Output (Leaky </a:t>
                      </a:r>
                      <a:r>
                        <a:rPr lang="en-GB" b="1" dirty="0" err="1"/>
                        <a:t>ReLU</a:t>
                      </a:r>
                      <a:r>
                        <a:rPr lang="en-GB" b="1" dirty="0"/>
                        <a:t>(x))</a:t>
                      </a:r>
                    </a:p>
                  </a:txBody>
                  <a:tcPr anchor="ctr"/>
                </a:tc>
                <a:extLst>
                  <a:ext uri="{0D108BD9-81ED-4DB2-BD59-A6C34878D82A}">
                    <a16:rowId xmlns:a16="http://schemas.microsoft.com/office/drawing/2014/main" val="3736437024"/>
                  </a:ext>
                </a:extLst>
              </a:tr>
              <a:tr h="230377">
                <a:tc>
                  <a:txBody>
                    <a:bodyPr/>
                    <a:lstStyle/>
                    <a:p>
                      <a:r>
                        <a:rPr lang="en-GB" dirty="0"/>
                        <a:t>-5</a:t>
                      </a:r>
                    </a:p>
                  </a:txBody>
                  <a:tcPr anchor="ctr"/>
                </a:tc>
                <a:tc>
                  <a:txBody>
                    <a:bodyPr/>
                    <a:lstStyle/>
                    <a:p>
                      <a:r>
                        <a:rPr lang="en-GB"/>
                        <a:t>-0.05</a:t>
                      </a:r>
                    </a:p>
                  </a:txBody>
                  <a:tcPr anchor="ctr"/>
                </a:tc>
                <a:extLst>
                  <a:ext uri="{0D108BD9-81ED-4DB2-BD59-A6C34878D82A}">
                    <a16:rowId xmlns:a16="http://schemas.microsoft.com/office/drawing/2014/main" val="3838422260"/>
                  </a:ext>
                </a:extLst>
              </a:tr>
              <a:tr h="230377">
                <a:tc>
                  <a:txBody>
                    <a:bodyPr/>
                    <a:lstStyle/>
                    <a:p>
                      <a:r>
                        <a:rPr lang="en-GB"/>
                        <a:t>-1</a:t>
                      </a:r>
                    </a:p>
                  </a:txBody>
                  <a:tcPr anchor="ctr"/>
                </a:tc>
                <a:tc>
                  <a:txBody>
                    <a:bodyPr/>
                    <a:lstStyle/>
                    <a:p>
                      <a:r>
                        <a:rPr lang="en-GB"/>
                        <a:t>-0.01</a:t>
                      </a:r>
                    </a:p>
                  </a:txBody>
                  <a:tcPr anchor="ctr"/>
                </a:tc>
                <a:extLst>
                  <a:ext uri="{0D108BD9-81ED-4DB2-BD59-A6C34878D82A}">
                    <a16:rowId xmlns:a16="http://schemas.microsoft.com/office/drawing/2014/main" val="2921429169"/>
                  </a:ext>
                </a:extLst>
              </a:tr>
              <a:tr h="230377">
                <a:tc>
                  <a:txBody>
                    <a:bodyPr/>
                    <a:lstStyle/>
                    <a:p>
                      <a:r>
                        <a:rPr lang="en-GB" dirty="0"/>
                        <a:t>0</a:t>
                      </a:r>
                    </a:p>
                  </a:txBody>
                  <a:tcPr anchor="ctr"/>
                </a:tc>
                <a:tc>
                  <a:txBody>
                    <a:bodyPr/>
                    <a:lstStyle/>
                    <a:p>
                      <a:r>
                        <a:rPr lang="en-GB"/>
                        <a:t>0</a:t>
                      </a:r>
                    </a:p>
                  </a:txBody>
                  <a:tcPr anchor="ctr"/>
                </a:tc>
                <a:extLst>
                  <a:ext uri="{0D108BD9-81ED-4DB2-BD59-A6C34878D82A}">
                    <a16:rowId xmlns:a16="http://schemas.microsoft.com/office/drawing/2014/main" val="638086150"/>
                  </a:ext>
                </a:extLst>
              </a:tr>
              <a:tr h="230377">
                <a:tc>
                  <a:txBody>
                    <a:bodyPr/>
                    <a:lstStyle/>
                    <a:p>
                      <a:r>
                        <a:rPr lang="en-GB"/>
                        <a:t>2</a:t>
                      </a:r>
                    </a:p>
                  </a:txBody>
                  <a:tcPr anchor="ctr"/>
                </a:tc>
                <a:tc>
                  <a:txBody>
                    <a:bodyPr/>
                    <a:lstStyle/>
                    <a:p>
                      <a:r>
                        <a:rPr lang="en-GB" dirty="0"/>
                        <a:t>2</a:t>
                      </a:r>
                    </a:p>
                  </a:txBody>
                  <a:tcPr anchor="ctr"/>
                </a:tc>
                <a:extLst>
                  <a:ext uri="{0D108BD9-81ED-4DB2-BD59-A6C34878D82A}">
                    <a16:rowId xmlns:a16="http://schemas.microsoft.com/office/drawing/2014/main" val="163977447"/>
                  </a:ext>
                </a:extLst>
              </a:tr>
            </a:tbl>
          </a:graphicData>
        </a:graphic>
      </p:graphicFrame>
      <p:sp>
        <p:nvSpPr>
          <p:cNvPr id="9" name="Rectangle 1">
            <a:extLst>
              <a:ext uri="{FF2B5EF4-FFF2-40B4-BE49-F238E27FC236}">
                <a16:creationId xmlns:a16="http://schemas.microsoft.com/office/drawing/2014/main" id="{B44E2940-4A00-8A3B-7A7C-95F4EBB342AA}"/>
              </a:ext>
            </a:extLst>
          </p:cNvPr>
          <p:cNvSpPr>
            <a:spLocks noChangeArrowheads="1"/>
          </p:cNvSpPr>
          <p:nvPr/>
        </p:nvSpPr>
        <p:spPr bwMode="auto">
          <a:xfrm>
            <a:off x="366049" y="3157039"/>
            <a:ext cx="689055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11" name="TextBox 10">
            <a:extLst>
              <a:ext uri="{FF2B5EF4-FFF2-40B4-BE49-F238E27FC236}">
                <a16:creationId xmlns:a16="http://schemas.microsoft.com/office/drawing/2014/main" id="{02673C2C-7434-663D-6F66-B3927A409839}"/>
              </a:ext>
            </a:extLst>
          </p:cNvPr>
          <p:cNvSpPr txBox="1"/>
          <p:nvPr/>
        </p:nvSpPr>
        <p:spPr>
          <a:xfrm>
            <a:off x="6042804" y="1540321"/>
            <a:ext cx="3101196" cy="1169551"/>
          </a:xfrm>
          <a:prstGeom prst="rect">
            <a:avLst/>
          </a:prstGeom>
          <a:noFill/>
        </p:spPr>
        <p:txBody>
          <a:bodyPr wrap="square">
            <a:spAutoFit/>
          </a:bodyPr>
          <a:lstStyle/>
          <a:p>
            <a:pPr>
              <a:buNone/>
            </a:pPr>
            <a:r>
              <a:rPr lang="en-GB" b="1" dirty="0"/>
              <a:t>As you can see:</a:t>
            </a:r>
          </a:p>
          <a:p>
            <a:pPr marL="285750" indent="-285750">
              <a:buFont typeface="Wingdings" pitchFamily="2" charset="2"/>
              <a:buChar char="ü"/>
            </a:pPr>
            <a:r>
              <a:rPr lang="en-GB" b="1" dirty="0"/>
              <a:t>Positive values</a:t>
            </a:r>
            <a:r>
              <a:rPr lang="en-GB" dirty="0"/>
              <a:t> pass through unchanged.</a:t>
            </a:r>
          </a:p>
          <a:p>
            <a:pPr marL="285750" indent="-285750">
              <a:buFont typeface="Wingdings" pitchFamily="2" charset="2"/>
              <a:buChar char="ü"/>
            </a:pPr>
            <a:r>
              <a:rPr lang="en-GB" b="1" dirty="0"/>
              <a:t>Negative values</a:t>
            </a:r>
            <a:r>
              <a:rPr lang="en-GB" dirty="0"/>
              <a:t> are multiplied by 0.01 (a small slope).</a:t>
            </a:r>
          </a:p>
        </p:txBody>
      </p:sp>
      <p:sp>
        <p:nvSpPr>
          <p:cNvPr id="14" name="TextBox 13">
            <a:extLst>
              <a:ext uri="{FF2B5EF4-FFF2-40B4-BE49-F238E27FC236}">
                <a16:creationId xmlns:a16="http://schemas.microsoft.com/office/drawing/2014/main" id="{DC95E23A-ECD0-0EFC-7EB1-416BAEC61B6D}"/>
              </a:ext>
            </a:extLst>
          </p:cNvPr>
          <p:cNvSpPr txBox="1"/>
          <p:nvPr/>
        </p:nvSpPr>
        <p:spPr>
          <a:xfrm>
            <a:off x="476186" y="3151372"/>
            <a:ext cx="5553678" cy="1815882"/>
          </a:xfrm>
          <a:prstGeom prst="rect">
            <a:avLst/>
          </a:prstGeom>
          <a:noFill/>
        </p:spPr>
        <p:txBody>
          <a:bodyPr wrap="square">
            <a:spAutoFit/>
          </a:bodyPr>
          <a:lstStyle/>
          <a:p>
            <a:pPr>
              <a:buNone/>
            </a:pPr>
            <a:r>
              <a:rPr lang="en-GB" b="1" dirty="0"/>
              <a:t>Benefits: </a:t>
            </a:r>
          </a:p>
          <a:p>
            <a:pPr marL="342900" indent="-342900">
              <a:buFont typeface="+mj-lt"/>
              <a:buAutoNum type="arabicPeriod"/>
            </a:pPr>
            <a:r>
              <a:rPr lang="en-GB" dirty="0"/>
              <a:t>Avoids "dead neurons" (neurons stuck with zero gradient).</a:t>
            </a:r>
          </a:p>
          <a:p>
            <a:pPr marL="342900" indent="-342900">
              <a:buFont typeface="+mj-lt"/>
              <a:buAutoNum type="arabicPeriod"/>
            </a:pPr>
            <a:r>
              <a:rPr lang="en-GB" dirty="0"/>
              <a:t>Enables some learning even for negative input values.</a:t>
            </a:r>
          </a:p>
          <a:p>
            <a:pPr marL="342900" indent="-342900">
              <a:buFont typeface="+mj-lt"/>
              <a:buAutoNum type="arabicPeriod"/>
            </a:pPr>
            <a:r>
              <a:rPr lang="en-GB" dirty="0"/>
              <a:t>Often leads to faster convergence compared to </a:t>
            </a:r>
            <a:r>
              <a:rPr lang="en-GB" dirty="0" err="1"/>
              <a:t>ReLU</a:t>
            </a:r>
            <a:r>
              <a:rPr lang="en-GB" dirty="0"/>
              <a:t>.</a:t>
            </a:r>
          </a:p>
          <a:p>
            <a:r>
              <a:rPr lang="en-GB" b="1" dirty="0"/>
              <a:t>Drawbacks:</a:t>
            </a:r>
          </a:p>
          <a:p>
            <a:r>
              <a:rPr lang="en-GB" dirty="0"/>
              <a:t>The small negative slope is manually set (usually 0.01), and it might not always be optimal.</a:t>
            </a:r>
            <a:endParaRPr lang="en-GB" b="1" dirty="0"/>
          </a:p>
          <a:p>
            <a:endParaRPr lang="en-GB" dirty="0"/>
          </a:p>
        </p:txBody>
      </p:sp>
    </p:spTree>
    <p:extLst>
      <p:ext uri="{BB962C8B-B14F-4D97-AF65-F5344CB8AC3E}">
        <p14:creationId xmlns:p14="http://schemas.microsoft.com/office/powerpoint/2010/main" val="1286889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17A76F0-575D-2478-18A8-3285DF65AF2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8BA01BB-6433-CAF1-51E5-90F3270AD494}"/>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Sigmoid Activation Function</a:t>
            </a: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B19906D1-1C64-1EED-4E7E-E5AB13A5A287}"/>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144BD228-66C6-AE50-71DF-AD5D8DDB2A1C}"/>
              </a:ext>
            </a:extLst>
          </p:cNvPr>
          <p:cNvSpPr txBox="1"/>
          <p:nvPr/>
        </p:nvSpPr>
        <p:spPr>
          <a:xfrm>
            <a:off x="280679" y="805822"/>
            <a:ext cx="8033117" cy="1323439"/>
          </a:xfrm>
          <a:prstGeom prst="rect">
            <a:avLst/>
          </a:prstGeom>
          <a:noFill/>
        </p:spPr>
        <p:txBody>
          <a:bodyPr wrap="square">
            <a:spAutoFit/>
          </a:bodyPr>
          <a:lstStyle/>
          <a:p>
            <a:pPr>
              <a:buNone/>
            </a:pPr>
            <a:r>
              <a:rPr lang="en-GB" sz="1600" b="1" dirty="0"/>
              <a:t> What It Does:</a:t>
            </a:r>
          </a:p>
          <a:p>
            <a:pPr>
              <a:buNone/>
            </a:pPr>
            <a:r>
              <a:rPr lang="en-GB" sz="1600" dirty="0"/>
              <a:t>The Sigmoid function takes any real-valued input and squashes it into a range between 0 and 1.</a:t>
            </a:r>
          </a:p>
          <a:p>
            <a:r>
              <a:rPr lang="en-GB" sz="1600" b="1" dirty="0"/>
              <a:t>Formula: </a:t>
            </a:r>
          </a:p>
          <a:p>
            <a:pPr>
              <a:buNone/>
            </a:pPr>
            <a:endParaRPr lang="en-GB" sz="1600" dirty="0"/>
          </a:p>
        </p:txBody>
      </p:sp>
      <p:pic>
        <p:nvPicPr>
          <p:cNvPr id="2" name="Picture 1">
            <a:extLst>
              <a:ext uri="{FF2B5EF4-FFF2-40B4-BE49-F238E27FC236}">
                <a16:creationId xmlns:a16="http://schemas.microsoft.com/office/drawing/2014/main" id="{81DAA582-BFFD-3428-65A8-9944D5FC8624}"/>
              </a:ext>
            </a:extLst>
          </p:cNvPr>
          <p:cNvPicPr>
            <a:picLocks noChangeAspect="1"/>
          </p:cNvPicPr>
          <p:nvPr/>
        </p:nvPicPr>
        <p:blipFill>
          <a:blip r:embed="rId3"/>
          <a:stretch>
            <a:fillRect/>
          </a:stretch>
        </p:blipFill>
        <p:spPr>
          <a:xfrm>
            <a:off x="1440322" y="1467541"/>
            <a:ext cx="2273109" cy="896731"/>
          </a:xfrm>
          <a:prstGeom prst="rect">
            <a:avLst/>
          </a:prstGeom>
        </p:spPr>
      </p:pic>
      <p:sp>
        <p:nvSpPr>
          <p:cNvPr id="6" name="TextBox 5">
            <a:extLst>
              <a:ext uri="{FF2B5EF4-FFF2-40B4-BE49-F238E27FC236}">
                <a16:creationId xmlns:a16="http://schemas.microsoft.com/office/drawing/2014/main" id="{28592960-ED4D-064F-ED01-1353837A9D77}"/>
              </a:ext>
            </a:extLst>
          </p:cNvPr>
          <p:cNvSpPr txBox="1"/>
          <p:nvPr/>
        </p:nvSpPr>
        <p:spPr>
          <a:xfrm>
            <a:off x="4077268" y="1501985"/>
            <a:ext cx="3771900" cy="830997"/>
          </a:xfrm>
          <a:prstGeom prst="rect">
            <a:avLst/>
          </a:prstGeom>
          <a:noFill/>
        </p:spPr>
        <p:txBody>
          <a:bodyPr wrap="square">
            <a:spAutoFit/>
          </a:bodyPr>
          <a:lstStyle/>
          <a:p>
            <a:pPr>
              <a:buNone/>
            </a:pPr>
            <a:r>
              <a:rPr lang="en-GB" sz="1600" dirty="0"/>
              <a:t>Where:</a:t>
            </a:r>
          </a:p>
          <a:p>
            <a:r>
              <a:rPr lang="en-GB" sz="1600" dirty="0"/>
              <a:t>e is Euler’s number (approx. 2.718)</a:t>
            </a:r>
          </a:p>
          <a:p>
            <a:r>
              <a:rPr lang="en-GB" sz="1600" dirty="0"/>
              <a:t>x is the input to the neuron</a:t>
            </a:r>
          </a:p>
        </p:txBody>
      </p:sp>
      <p:sp>
        <p:nvSpPr>
          <p:cNvPr id="8" name="TextBox 7">
            <a:extLst>
              <a:ext uri="{FF2B5EF4-FFF2-40B4-BE49-F238E27FC236}">
                <a16:creationId xmlns:a16="http://schemas.microsoft.com/office/drawing/2014/main" id="{981182AE-6D59-2F1C-6EDC-0777E32A9C19}"/>
              </a:ext>
            </a:extLst>
          </p:cNvPr>
          <p:cNvSpPr txBox="1"/>
          <p:nvPr/>
        </p:nvSpPr>
        <p:spPr>
          <a:xfrm>
            <a:off x="155276" y="2659319"/>
            <a:ext cx="8158520" cy="1323439"/>
          </a:xfrm>
          <a:prstGeom prst="rect">
            <a:avLst/>
          </a:prstGeom>
          <a:noFill/>
        </p:spPr>
        <p:txBody>
          <a:bodyPr wrap="square">
            <a:spAutoFit/>
          </a:bodyPr>
          <a:lstStyle/>
          <a:p>
            <a:pPr>
              <a:buNone/>
            </a:pPr>
            <a:r>
              <a:rPr lang="en-GB" sz="1600" b="1" dirty="0"/>
              <a:t>Why Use Sigmoid?</a:t>
            </a:r>
          </a:p>
          <a:p>
            <a:pPr marL="342900" indent="-342900">
              <a:buFont typeface="Wingdings" pitchFamily="2" charset="2"/>
              <a:buChar char="ü"/>
            </a:pPr>
            <a:r>
              <a:rPr lang="en-GB" sz="1600" dirty="0"/>
              <a:t>It’s good for binary classification tasks, especially in the output layer of a neural network.</a:t>
            </a:r>
          </a:p>
          <a:p>
            <a:pPr marL="342900" indent="-342900">
              <a:buFont typeface="Wingdings" pitchFamily="2" charset="2"/>
              <a:buChar char="ü"/>
            </a:pPr>
            <a:r>
              <a:rPr lang="en-GB" sz="1600" dirty="0"/>
              <a:t>It converts raw scores (called logits) into probabilities.</a:t>
            </a:r>
          </a:p>
          <a:p>
            <a:pPr marL="457200" lvl="1"/>
            <a:r>
              <a:rPr lang="en-GB" sz="1600" b="1" dirty="0"/>
              <a:t>e.g. </a:t>
            </a:r>
            <a:r>
              <a:rPr lang="en-GB" sz="1600" dirty="0"/>
              <a:t>If output = 0.85 → model is 85% confident about the class being 1</a:t>
            </a:r>
          </a:p>
        </p:txBody>
      </p:sp>
    </p:spTree>
    <p:extLst>
      <p:ext uri="{BB962C8B-B14F-4D97-AF65-F5344CB8AC3E}">
        <p14:creationId xmlns:p14="http://schemas.microsoft.com/office/powerpoint/2010/main" val="1815024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78938C61-AE66-0327-8A8C-20C12146A54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57A2DAA-E9BA-13B7-428D-9F4703913A0D}"/>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Sigmoid Activation Function</a:t>
            </a: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276245FB-FB55-FF63-A5AF-8AFF1FAA22B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FFF24108-A91B-452A-D32E-2A2223902FAC}"/>
              </a:ext>
            </a:extLst>
          </p:cNvPr>
          <p:cNvSpPr txBox="1"/>
          <p:nvPr/>
        </p:nvSpPr>
        <p:spPr>
          <a:xfrm>
            <a:off x="280679" y="805822"/>
            <a:ext cx="8033117" cy="1323439"/>
          </a:xfrm>
          <a:prstGeom prst="rect">
            <a:avLst/>
          </a:prstGeom>
          <a:noFill/>
        </p:spPr>
        <p:txBody>
          <a:bodyPr wrap="square">
            <a:spAutoFit/>
          </a:bodyPr>
          <a:lstStyle/>
          <a:p>
            <a:pPr>
              <a:buNone/>
            </a:pPr>
            <a:r>
              <a:rPr lang="en-GB" sz="1600" b="1" dirty="0"/>
              <a:t> What It Does:</a:t>
            </a:r>
          </a:p>
          <a:p>
            <a:pPr>
              <a:buNone/>
            </a:pPr>
            <a:r>
              <a:rPr lang="en-GB" sz="1600" dirty="0"/>
              <a:t>The Sigmoid function takes any real-valued input and squashes it into a range between 0 and 1.</a:t>
            </a:r>
          </a:p>
          <a:p>
            <a:r>
              <a:rPr lang="en-GB" sz="1600" b="1" dirty="0"/>
              <a:t>Formula: </a:t>
            </a:r>
          </a:p>
          <a:p>
            <a:pPr>
              <a:buNone/>
            </a:pPr>
            <a:endParaRPr lang="en-GB" sz="1600" dirty="0"/>
          </a:p>
        </p:txBody>
      </p:sp>
      <p:graphicFrame>
        <p:nvGraphicFramePr>
          <p:cNvPr id="5" name="Table 4">
            <a:extLst>
              <a:ext uri="{FF2B5EF4-FFF2-40B4-BE49-F238E27FC236}">
                <a16:creationId xmlns:a16="http://schemas.microsoft.com/office/drawing/2014/main" id="{25B8A007-C5C5-87E9-E7FC-E3A065185AE5}"/>
              </a:ext>
            </a:extLst>
          </p:cNvPr>
          <p:cNvGraphicFramePr>
            <a:graphicFrameLocks noGrp="1"/>
          </p:cNvGraphicFramePr>
          <p:nvPr>
            <p:extLst>
              <p:ext uri="{D42A27DB-BD31-4B8C-83A1-F6EECF244321}">
                <p14:modId xmlns:p14="http://schemas.microsoft.com/office/powerpoint/2010/main" val="29190228"/>
              </p:ext>
            </p:extLst>
          </p:nvPr>
        </p:nvGraphicFramePr>
        <p:xfrm>
          <a:off x="1423958" y="1467541"/>
          <a:ext cx="5977507" cy="1524000"/>
        </p:xfrm>
        <a:graphic>
          <a:graphicData uri="http://schemas.openxmlformats.org/drawingml/2006/table">
            <a:tbl>
              <a:tblPr>
                <a:tableStyleId>{35758FB7-9AC5-4552-8A53-C91805E547FA}</a:tableStyleId>
              </a:tblPr>
              <a:tblGrid>
                <a:gridCol w="1724103">
                  <a:extLst>
                    <a:ext uri="{9D8B030D-6E8A-4147-A177-3AD203B41FA5}">
                      <a16:colId xmlns:a16="http://schemas.microsoft.com/office/drawing/2014/main" val="3235367808"/>
                    </a:ext>
                  </a:extLst>
                </a:gridCol>
                <a:gridCol w="4253404">
                  <a:extLst>
                    <a:ext uri="{9D8B030D-6E8A-4147-A177-3AD203B41FA5}">
                      <a16:colId xmlns:a16="http://schemas.microsoft.com/office/drawing/2014/main" val="2493853010"/>
                    </a:ext>
                  </a:extLst>
                </a:gridCol>
              </a:tblGrid>
              <a:tr h="0">
                <a:tc>
                  <a:txBody>
                    <a:bodyPr/>
                    <a:lstStyle/>
                    <a:p>
                      <a:r>
                        <a:rPr lang="en-GB" b="1"/>
                        <a:t>Input (x)</a:t>
                      </a:r>
                    </a:p>
                  </a:txBody>
                  <a:tcPr anchor="ctr"/>
                </a:tc>
                <a:tc>
                  <a:txBody>
                    <a:bodyPr/>
                    <a:lstStyle/>
                    <a:p>
                      <a:r>
                        <a:rPr lang="en-GB" b="1" dirty="0"/>
                        <a:t>Sigmoid(x) Output</a:t>
                      </a:r>
                    </a:p>
                  </a:txBody>
                  <a:tcPr anchor="ctr"/>
                </a:tc>
                <a:extLst>
                  <a:ext uri="{0D108BD9-81ED-4DB2-BD59-A6C34878D82A}">
                    <a16:rowId xmlns:a16="http://schemas.microsoft.com/office/drawing/2014/main" val="1888216115"/>
                  </a:ext>
                </a:extLst>
              </a:tr>
              <a:tr h="0">
                <a:tc>
                  <a:txBody>
                    <a:bodyPr/>
                    <a:lstStyle/>
                    <a:p>
                      <a:r>
                        <a:rPr lang="en-GB"/>
                        <a:t>-2</a:t>
                      </a:r>
                    </a:p>
                  </a:txBody>
                  <a:tcPr anchor="ctr"/>
                </a:tc>
                <a:tc>
                  <a:txBody>
                    <a:bodyPr/>
                    <a:lstStyle/>
                    <a:p>
                      <a:r>
                        <a:rPr lang="en-GB"/>
                        <a:t>~0.12</a:t>
                      </a:r>
                    </a:p>
                  </a:txBody>
                  <a:tcPr anchor="ctr"/>
                </a:tc>
                <a:extLst>
                  <a:ext uri="{0D108BD9-81ED-4DB2-BD59-A6C34878D82A}">
                    <a16:rowId xmlns:a16="http://schemas.microsoft.com/office/drawing/2014/main" val="3953676286"/>
                  </a:ext>
                </a:extLst>
              </a:tr>
              <a:tr h="0">
                <a:tc>
                  <a:txBody>
                    <a:bodyPr/>
                    <a:lstStyle/>
                    <a:p>
                      <a:r>
                        <a:rPr lang="en-GB" dirty="0"/>
                        <a:t>0</a:t>
                      </a:r>
                    </a:p>
                  </a:txBody>
                  <a:tcPr anchor="ctr"/>
                </a:tc>
                <a:tc>
                  <a:txBody>
                    <a:bodyPr/>
                    <a:lstStyle/>
                    <a:p>
                      <a:r>
                        <a:rPr lang="en-GB"/>
                        <a:t>0.5</a:t>
                      </a:r>
                    </a:p>
                  </a:txBody>
                  <a:tcPr anchor="ctr"/>
                </a:tc>
                <a:extLst>
                  <a:ext uri="{0D108BD9-81ED-4DB2-BD59-A6C34878D82A}">
                    <a16:rowId xmlns:a16="http://schemas.microsoft.com/office/drawing/2014/main" val="318906942"/>
                  </a:ext>
                </a:extLst>
              </a:tr>
              <a:tr h="0">
                <a:tc>
                  <a:txBody>
                    <a:bodyPr/>
                    <a:lstStyle/>
                    <a:p>
                      <a:r>
                        <a:rPr lang="en-GB" dirty="0"/>
                        <a:t>2</a:t>
                      </a:r>
                    </a:p>
                  </a:txBody>
                  <a:tcPr anchor="ctr"/>
                </a:tc>
                <a:tc>
                  <a:txBody>
                    <a:bodyPr/>
                    <a:lstStyle/>
                    <a:p>
                      <a:r>
                        <a:rPr lang="en-GB"/>
                        <a:t>~0.88</a:t>
                      </a:r>
                    </a:p>
                  </a:txBody>
                  <a:tcPr anchor="ctr"/>
                </a:tc>
                <a:extLst>
                  <a:ext uri="{0D108BD9-81ED-4DB2-BD59-A6C34878D82A}">
                    <a16:rowId xmlns:a16="http://schemas.microsoft.com/office/drawing/2014/main" val="1854507664"/>
                  </a:ext>
                </a:extLst>
              </a:tr>
              <a:tr h="0">
                <a:tc>
                  <a:txBody>
                    <a:bodyPr/>
                    <a:lstStyle/>
                    <a:p>
                      <a:r>
                        <a:rPr lang="en-GB" dirty="0"/>
                        <a:t>10</a:t>
                      </a:r>
                    </a:p>
                  </a:txBody>
                  <a:tcPr anchor="ctr"/>
                </a:tc>
                <a:tc>
                  <a:txBody>
                    <a:bodyPr/>
                    <a:lstStyle/>
                    <a:p>
                      <a:r>
                        <a:rPr lang="en-GB" dirty="0"/>
                        <a:t>~0.99995</a:t>
                      </a:r>
                    </a:p>
                  </a:txBody>
                  <a:tcPr anchor="ctr"/>
                </a:tc>
                <a:extLst>
                  <a:ext uri="{0D108BD9-81ED-4DB2-BD59-A6C34878D82A}">
                    <a16:rowId xmlns:a16="http://schemas.microsoft.com/office/drawing/2014/main" val="239982315"/>
                  </a:ext>
                </a:extLst>
              </a:tr>
            </a:tbl>
          </a:graphicData>
        </a:graphic>
      </p:graphicFrame>
      <p:sp>
        <p:nvSpPr>
          <p:cNvPr id="9" name="TextBox 8">
            <a:extLst>
              <a:ext uri="{FF2B5EF4-FFF2-40B4-BE49-F238E27FC236}">
                <a16:creationId xmlns:a16="http://schemas.microsoft.com/office/drawing/2014/main" id="{EC7D271F-CE4B-24F6-2BC7-E8EFF0E599BE}"/>
              </a:ext>
            </a:extLst>
          </p:cNvPr>
          <p:cNvSpPr txBox="1"/>
          <p:nvPr/>
        </p:nvSpPr>
        <p:spPr>
          <a:xfrm>
            <a:off x="1712344" y="3154354"/>
            <a:ext cx="4649636" cy="830997"/>
          </a:xfrm>
          <a:prstGeom prst="rect">
            <a:avLst/>
          </a:prstGeom>
          <a:noFill/>
        </p:spPr>
        <p:txBody>
          <a:bodyPr wrap="square">
            <a:spAutoFit/>
          </a:bodyPr>
          <a:lstStyle/>
          <a:p>
            <a:pPr marL="342900" indent="-342900">
              <a:buFont typeface="+mj-lt"/>
              <a:buAutoNum type="arabicPeriod"/>
            </a:pPr>
            <a:r>
              <a:rPr lang="en-GB" sz="1600" dirty="0"/>
              <a:t>Negative inputs get mapped close to </a:t>
            </a:r>
            <a:r>
              <a:rPr lang="en-GB" sz="1600" b="1" dirty="0"/>
              <a:t>0</a:t>
            </a:r>
            <a:endParaRPr lang="en-GB" sz="1600" dirty="0"/>
          </a:p>
          <a:p>
            <a:pPr marL="342900" indent="-342900">
              <a:buFont typeface="+mj-lt"/>
              <a:buAutoNum type="arabicPeriod"/>
            </a:pPr>
            <a:r>
              <a:rPr lang="en-GB" sz="1600" dirty="0"/>
              <a:t>Positive inputs get mapped close to </a:t>
            </a:r>
            <a:r>
              <a:rPr lang="en-GB" sz="1600" b="1" dirty="0"/>
              <a:t>1</a:t>
            </a:r>
            <a:endParaRPr lang="en-GB" sz="1600" dirty="0"/>
          </a:p>
          <a:p>
            <a:pPr marL="342900" indent="-342900">
              <a:buFont typeface="+mj-lt"/>
              <a:buAutoNum type="arabicPeriod"/>
            </a:pPr>
            <a:r>
              <a:rPr lang="en-GB" sz="1600" dirty="0"/>
              <a:t>Input </a:t>
            </a:r>
            <a:r>
              <a:rPr lang="en-GB" sz="1600" b="1" dirty="0"/>
              <a:t>0</a:t>
            </a:r>
            <a:r>
              <a:rPr lang="en-GB" sz="1600" dirty="0"/>
              <a:t> becomes exactly </a:t>
            </a:r>
            <a:r>
              <a:rPr lang="en-GB" sz="1600" b="1" dirty="0"/>
              <a:t>0.5</a:t>
            </a:r>
            <a:endParaRPr lang="en-GB" sz="1600" dirty="0"/>
          </a:p>
        </p:txBody>
      </p:sp>
    </p:spTree>
    <p:extLst>
      <p:ext uri="{BB962C8B-B14F-4D97-AF65-F5344CB8AC3E}">
        <p14:creationId xmlns:p14="http://schemas.microsoft.com/office/powerpoint/2010/main" val="1416316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5130687-885D-08E4-B399-84EB0E6876F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DEA937F-7260-B67D-8990-DFD9287AC51E}"/>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Sigmoid Activation Function</a:t>
            </a: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64C6AD2-3F35-4345-014A-70A09969B9DE}"/>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A36EDD51-88FE-8585-234D-5AB7A5E4471A}"/>
              </a:ext>
            </a:extLst>
          </p:cNvPr>
          <p:cNvSpPr txBox="1"/>
          <p:nvPr/>
        </p:nvSpPr>
        <p:spPr>
          <a:xfrm>
            <a:off x="280679" y="805822"/>
            <a:ext cx="8033117" cy="2062103"/>
          </a:xfrm>
          <a:prstGeom prst="rect">
            <a:avLst/>
          </a:prstGeom>
          <a:noFill/>
        </p:spPr>
        <p:txBody>
          <a:bodyPr wrap="square">
            <a:spAutoFit/>
          </a:bodyPr>
          <a:lstStyle/>
          <a:p>
            <a:pPr>
              <a:buNone/>
            </a:pPr>
            <a:r>
              <a:rPr lang="en-GB" sz="1600" b="1" dirty="0"/>
              <a:t>Drawbacks:</a:t>
            </a:r>
          </a:p>
          <a:p>
            <a:pPr marL="457200" indent="-457200">
              <a:buFont typeface="+mj-lt"/>
              <a:buAutoNum type="arabicPeriod"/>
            </a:pPr>
            <a:r>
              <a:rPr lang="en-GB" sz="1600" dirty="0"/>
              <a:t>Vanishing gradient problem: For large positive or negative inputs, the gradient becomes very small, slowing learning.</a:t>
            </a:r>
          </a:p>
          <a:p>
            <a:pPr marL="457200" indent="-457200">
              <a:buFont typeface="+mj-lt"/>
              <a:buAutoNum type="arabicPeriod"/>
            </a:pPr>
            <a:r>
              <a:rPr lang="en-GB" sz="1600" dirty="0"/>
              <a:t>Output not </a:t>
            </a:r>
            <a:r>
              <a:rPr lang="en-GB" sz="1600" dirty="0" err="1"/>
              <a:t>centered</a:t>
            </a:r>
            <a:r>
              <a:rPr lang="en-GB" sz="1600" dirty="0"/>
              <a:t> at zero → may slow convergence in hidden layers.</a:t>
            </a:r>
          </a:p>
          <a:p>
            <a:pPr>
              <a:buNone/>
            </a:pPr>
            <a:r>
              <a:rPr lang="en-GB" sz="1600" b="1" dirty="0"/>
              <a:t>Typical Use:</a:t>
            </a:r>
          </a:p>
          <a:p>
            <a:pPr marL="342900" indent="-342900">
              <a:buFont typeface="Wingdings" pitchFamily="2" charset="2"/>
              <a:buChar char="ü"/>
            </a:pPr>
            <a:r>
              <a:rPr lang="en-GB" sz="1600" dirty="0"/>
              <a:t>Not used in hidden layers of CNNs (</a:t>
            </a:r>
            <a:r>
              <a:rPr lang="en-GB" sz="1600" dirty="0" err="1"/>
              <a:t>ReLU</a:t>
            </a:r>
            <a:r>
              <a:rPr lang="en-GB" sz="1600" dirty="0"/>
              <a:t> is better there).</a:t>
            </a:r>
          </a:p>
          <a:p>
            <a:pPr marL="342900" indent="-342900">
              <a:buFont typeface="Wingdings" pitchFamily="2" charset="2"/>
              <a:buChar char="ü"/>
            </a:pPr>
            <a:r>
              <a:rPr lang="en-GB" sz="1600" dirty="0"/>
              <a:t>Used in the final output layer for binary classification problems.</a:t>
            </a:r>
          </a:p>
          <a:p>
            <a:pPr>
              <a:buNone/>
            </a:pPr>
            <a:r>
              <a:rPr lang="en-GB" sz="1600" dirty="0"/>
              <a:t>Code using </a:t>
            </a:r>
            <a:r>
              <a:rPr lang="en-GB" sz="1600" dirty="0" err="1"/>
              <a:t>kersas</a:t>
            </a:r>
            <a:endParaRPr lang="en-GB" sz="1600" dirty="0"/>
          </a:p>
        </p:txBody>
      </p:sp>
      <p:sp>
        <p:nvSpPr>
          <p:cNvPr id="6" name="TextBox 5">
            <a:extLst>
              <a:ext uri="{FF2B5EF4-FFF2-40B4-BE49-F238E27FC236}">
                <a16:creationId xmlns:a16="http://schemas.microsoft.com/office/drawing/2014/main" id="{E59D4EA4-62E0-D2A2-561B-7B689D8C8935}"/>
              </a:ext>
            </a:extLst>
          </p:cNvPr>
          <p:cNvSpPr txBox="1"/>
          <p:nvPr/>
        </p:nvSpPr>
        <p:spPr>
          <a:xfrm>
            <a:off x="1858993" y="3021175"/>
            <a:ext cx="4649636" cy="1384995"/>
          </a:xfrm>
          <a:prstGeom prst="rect">
            <a:avLst/>
          </a:prstGeom>
          <a:solidFill>
            <a:schemeClr val="accent1">
              <a:lumMod val="40000"/>
              <a:lumOff val="60000"/>
            </a:schemeClr>
          </a:solidFill>
        </p:spPr>
        <p:txBody>
          <a:bodyPr wrap="square">
            <a:spAutoFit/>
          </a:bodyPr>
          <a:lstStyle/>
          <a:p>
            <a:r>
              <a:rPr lang="en-US" dirty="0"/>
              <a:t>from </a:t>
            </a:r>
            <a:r>
              <a:rPr lang="en-US" dirty="0" err="1"/>
              <a:t>tensorflow.keras.models</a:t>
            </a:r>
            <a:r>
              <a:rPr lang="en-US" dirty="0"/>
              <a:t> import Sequential</a:t>
            </a:r>
          </a:p>
          <a:p>
            <a:r>
              <a:rPr lang="en-US" dirty="0"/>
              <a:t>from </a:t>
            </a:r>
            <a:r>
              <a:rPr lang="en-US" dirty="0" err="1"/>
              <a:t>tensorflow.keras.layers</a:t>
            </a:r>
            <a:r>
              <a:rPr lang="en-US" dirty="0"/>
              <a:t> import Dense</a:t>
            </a:r>
          </a:p>
          <a:p>
            <a:endParaRPr lang="en-US" dirty="0"/>
          </a:p>
          <a:p>
            <a:r>
              <a:rPr lang="en-US" dirty="0"/>
              <a:t>model = Sequential()</a:t>
            </a:r>
          </a:p>
          <a:p>
            <a:r>
              <a:rPr lang="en-US" dirty="0" err="1"/>
              <a:t>model.add</a:t>
            </a:r>
            <a:r>
              <a:rPr lang="en-US" dirty="0"/>
              <a:t>(Dense(1, activation='sigmoid'))  # Output layer with sigmoid</a:t>
            </a:r>
          </a:p>
        </p:txBody>
      </p:sp>
    </p:spTree>
    <p:extLst>
      <p:ext uri="{BB962C8B-B14F-4D97-AF65-F5344CB8AC3E}">
        <p14:creationId xmlns:p14="http://schemas.microsoft.com/office/powerpoint/2010/main" val="2966414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565E03BD-4C00-5491-307D-110E65BB8B9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A51D96F-F7C6-0F4E-A80C-C02C8ECC09A3}"/>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What are Pooling Layers?</a:t>
            </a:r>
            <a:br>
              <a:rPr lang="en-GB" sz="2400" b="1" dirty="0"/>
            </a:b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C7A9B781-3C2C-3243-3909-F694F8A2BD3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530827DF-A8D0-EF31-AC52-D1329330BC95}"/>
              </a:ext>
            </a:extLst>
          </p:cNvPr>
          <p:cNvSpPr txBox="1"/>
          <p:nvPr/>
        </p:nvSpPr>
        <p:spPr>
          <a:xfrm>
            <a:off x="280679" y="805822"/>
            <a:ext cx="8456146" cy="3354765"/>
          </a:xfrm>
          <a:prstGeom prst="rect">
            <a:avLst/>
          </a:prstGeom>
          <a:noFill/>
        </p:spPr>
        <p:txBody>
          <a:bodyPr wrap="square">
            <a:spAutoFit/>
          </a:bodyPr>
          <a:lstStyle/>
          <a:p>
            <a:pPr>
              <a:buNone/>
            </a:pPr>
            <a:r>
              <a:rPr lang="en-GB" sz="1600" dirty="0"/>
              <a:t>Pooling layers reduce the spatial dimensions (width and height) of feature maps, helping to:</a:t>
            </a:r>
          </a:p>
          <a:p>
            <a:pPr marL="457200" indent="-457200">
              <a:buFont typeface="+mj-lt"/>
              <a:buAutoNum type="arabicPeriod"/>
            </a:pPr>
            <a:r>
              <a:rPr lang="en-GB" sz="1600" dirty="0"/>
              <a:t>Lower computation</a:t>
            </a:r>
          </a:p>
          <a:p>
            <a:pPr marL="457200" indent="-457200">
              <a:buFont typeface="+mj-lt"/>
              <a:buAutoNum type="arabicPeriod"/>
            </a:pPr>
            <a:r>
              <a:rPr lang="en-GB" sz="1600" dirty="0"/>
              <a:t>Retain essential features</a:t>
            </a:r>
          </a:p>
          <a:p>
            <a:pPr marL="457200" indent="-457200">
              <a:buFont typeface="+mj-lt"/>
              <a:buAutoNum type="arabicPeriod"/>
            </a:pPr>
            <a:r>
              <a:rPr lang="en-GB" sz="1600" dirty="0"/>
              <a:t>Introduce translation invariance (i.e., robustness to small shifts in input)</a:t>
            </a:r>
          </a:p>
          <a:p>
            <a:r>
              <a:rPr lang="en-GB" sz="1600" dirty="0"/>
              <a:t>They operate independently on each depth channel (feature map).</a:t>
            </a:r>
          </a:p>
          <a:p>
            <a:pPr>
              <a:buNone/>
            </a:pPr>
            <a:r>
              <a:rPr lang="en-GB" sz="2000" b="1" dirty="0"/>
              <a:t>Types of Pooling</a:t>
            </a:r>
          </a:p>
          <a:p>
            <a:pPr>
              <a:buNone/>
            </a:pPr>
            <a:r>
              <a:rPr lang="en-GB" sz="1600" dirty="0"/>
              <a:t>(a) </a:t>
            </a:r>
            <a:r>
              <a:rPr lang="en-GB" sz="1600" b="1" dirty="0"/>
              <a:t>Max Pooling</a:t>
            </a:r>
          </a:p>
          <a:p>
            <a:pPr marL="285750" indent="-285750">
              <a:buFont typeface="Wingdings" pitchFamily="2" charset="2"/>
              <a:buChar char="ü"/>
            </a:pPr>
            <a:r>
              <a:rPr lang="en-GB" sz="1600" dirty="0"/>
              <a:t>Takes the maximum value within a defined window.</a:t>
            </a:r>
          </a:p>
          <a:p>
            <a:pPr marL="285750" indent="-285750">
              <a:buFont typeface="Wingdings" pitchFamily="2" charset="2"/>
              <a:buChar char="ü"/>
            </a:pPr>
            <a:r>
              <a:rPr lang="en-GB" sz="1600" dirty="0"/>
              <a:t>Helps retain important features like edges and textures.</a:t>
            </a:r>
          </a:p>
          <a:p>
            <a:pPr>
              <a:buNone/>
            </a:pPr>
            <a:r>
              <a:rPr lang="en-GB" sz="1600" dirty="0"/>
              <a:t>Formula:</a:t>
            </a:r>
          </a:p>
          <a:p>
            <a:pPr>
              <a:buNone/>
            </a:pPr>
            <a:r>
              <a:rPr lang="en-GB" sz="1600" dirty="0"/>
              <a:t>Output=max(window)</a:t>
            </a:r>
          </a:p>
          <a:p>
            <a:pPr>
              <a:buNone/>
            </a:pPr>
            <a:r>
              <a:rPr lang="en-GB" sz="1600" dirty="0"/>
              <a:t>Example:</a:t>
            </a:r>
          </a:p>
          <a:p>
            <a:r>
              <a:rPr lang="en-GB" sz="1600" dirty="0"/>
              <a:t>From a 2×2 window:</a:t>
            </a:r>
          </a:p>
        </p:txBody>
      </p:sp>
      <p:sp>
        <p:nvSpPr>
          <p:cNvPr id="5" name="TextBox 4">
            <a:extLst>
              <a:ext uri="{FF2B5EF4-FFF2-40B4-BE49-F238E27FC236}">
                <a16:creationId xmlns:a16="http://schemas.microsoft.com/office/drawing/2014/main" id="{14CD6DFA-8AE9-4837-54AF-382E984A20A6}"/>
              </a:ext>
            </a:extLst>
          </p:cNvPr>
          <p:cNvSpPr txBox="1"/>
          <p:nvPr/>
        </p:nvSpPr>
        <p:spPr>
          <a:xfrm>
            <a:off x="2436962" y="3898977"/>
            <a:ext cx="1945257" cy="523220"/>
          </a:xfrm>
          <a:prstGeom prst="rect">
            <a:avLst/>
          </a:prstGeom>
          <a:solidFill>
            <a:schemeClr val="accent1">
              <a:lumMod val="40000"/>
              <a:lumOff val="60000"/>
            </a:schemeClr>
          </a:solidFill>
        </p:spPr>
        <p:txBody>
          <a:bodyPr wrap="square">
            <a:spAutoFit/>
          </a:bodyPr>
          <a:lstStyle/>
          <a:p>
            <a:r>
              <a:rPr lang="en-US" dirty="0"/>
              <a:t>[[3, 5],</a:t>
            </a:r>
          </a:p>
          <a:p>
            <a:r>
              <a:rPr lang="en-US" dirty="0"/>
              <a:t> [1, 2]]  → max = 5</a:t>
            </a:r>
          </a:p>
        </p:txBody>
      </p:sp>
    </p:spTree>
    <p:extLst>
      <p:ext uri="{BB962C8B-B14F-4D97-AF65-F5344CB8AC3E}">
        <p14:creationId xmlns:p14="http://schemas.microsoft.com/office/powerpoint/2010/main" val="2267350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729CB87B-31D5-78E1-C63C-7921C213D38A}"/>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AE9A0016-442F-94CC-7E73-5B42C5BF5B73}"/>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What are Average Pooling</a:t>
            </a:r>
            <a:br>
              <a:rPr lang="en-GB" sz="2400" b="1" dirty="0"/>
            </a:br>
            <a:br>
              <a:rPr lang="en-GB" sz="2400" b="1" dirty="0"/>
            </a:b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244ED784-1A3A-A1BE-3EC0-52C1CA4673BD}"/>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0AD4F2E8-2405-10E7-466B-E3678A133FF0}"/>
              </a:ext>
            </a:extLst>
          </p:cNvPr>
          <p:cNvSpPr txBox="1"/>
          <p:nvPr/>
        </p:nvSpPr>
        <p:spPr>
          <a:xfrm>
            <a:off x="407175" y="731592"/>
            <a:ext cx="8456146" cy="830997"/>
          </a:xfrm>
          <a:prstGeom prst="rect">
            <a:avLst/>
          </a:prstGeom>
          <a:noFill/>
        </p:spPr>
        <p:txBody>
          <a:bodyPr wrap="square">
            <a:spAutoFit/>
          </a:bodyPr>
          <a:lstStyle/>
          <a:p>
            <a:pPr marL="342900" indent="-342900">
              <a:buFont typeface="Wingdings" pitchFamily="2" charset="2"/>
              <a:buChar char="ü"/>
            </a:pPr>
            <a:r>
              <a:rPr lang="en-GB" sz="1600" dirty="0"/>
              <a:t>Computes the average of values in the window.</a:t>
            </a:r>
          </a:p>
          <a:p>
            <a:pPr marL="342900" indent="-342900">
              <a:buFont typeface="Wingdings" pitchFamily="2" charset="2"/>
              <a:buChar char="ü"/>
            </a:pPr>
            <a:r>
              <a:rPr lang="en-GB" sz="1600" dirty="0"/>
              <a:t>Produces smoother outputs, but may dilute important features.</a:t>
            </a:r>
          </a:p>
          <a:p>
            <a:pPr>
              <a:buNone/>
            </a:pPr>
            <a:r>
              <a:rPr lang="en-GB" sz="1600" b="1" dirty="0"/>
              <a:t>Formula:</a:t>
            </a:r>
          </a:p>
        </p:txBody>
      </p:sp>
      <p:pic>
        <p:nvPicPr>
          <p:cNvPr id="2" name="Picture 1">
            <a:extLst>
              <a:ext uri="{FF2B5EF4-FFF2-40B4-BE49-F238E27FC236}">
                <a16:creationId xmlns:a16="http://schemas.microsoft.com/office/drawing/2014/main" id="{29299597-5BFB-A37F-5688-DDDD8EDD6710}"/>
              </a:ext>
            </a:extLst>
          </p:cNvPr>
          <p:cNvPicPr>
            <a:picLocks noChangeAspect="1"/>
          </p:cNvPicPr>
          <p:nvPr/>
        </p:nvPicPr>
        <p:blipFill>
          <a:blip r:embed="rId3"/>
          <a:stretch>
            <a:fillRect/>
          </a:stretch>
        </p:blipFill>
        <p:spPr>
          <a:xfrm>
            <a:off x="2035235" y="1363317"/>
            <a:ext cx="2451100" cy="1016000"/>
          </a:xfrm>
          <a:prstGeom prst="rect">
            <a:avLst/>
          </a:prstGeom>
        </p:spPr>
      </p:pic>
      <p:sp>
        <p:nvSpPr>
          <p:cNvPr id="7" name="TextBox 6">
            <a:extLst>
              <a:ext uri="{FF2B5EF4-FFF2-40B4-BE49-F238E27FC236}">
                <a16:creationId xmlns:a16="http://schemas.microsoft.com/office/drawing/2014/main" id="{7D870D0E-6605-A794-80D1-F716B5C411D2}"/>
              </a:ext>
            </a:extLst>
          </p:cNvPr>
          <p:cNvSpPr txBox="1"/>
          <p:nvPr/>
        </p:nvSpPr>
        <p:spPr>
          <a:xfrm>
            <a:off x="1605111" y="2533988"/>
            <a:ext cx="5856737" cy="738664"/>
          </a:xfrm>
          <a:prstGeom prst="rect">
            <a:avLst/>
          </a:prstGeom>
          <a:noFill/>
        </p:spPr>
        <p:txBody>
          <a:bodyPr wrap="square">
            <a:spAutoFit/>
          </a:bodyPr>
          <a:lstStyle/>
          <a:p>
            <a:pPr>
              <a:buNone/>
            </a:pPr>
            <a:r>
              <a:rPr lang="en-GB" dirty="0"/>
              <a:t>Where:</a:t>
            </a:r>
          </a:p>
          <a:p>
            <a:pPr>
              <a:buFont typeface="Arial" panose="020B0604020202020204" pitchFamily="34" charset="0"/>
              <a:buChar char="•"/>
            </a:pPr>
            <a:r>
              <a:rPr lang="en-GB" dirty="0"/>
              <a:t>N is the number of elements in the window (e.g., 4 in a 2×2 window)</a:t>
            </a:r>
          </a:p>
          <a:p>
            <a:pPr>
              <a:buFont typeface="Arial" panose="020B0604020202020204" pitchFamily="34" charset="0"/>
              <a:buChar char="•"/>
            </a:pPr>
            <a:r>
              <a:rPr lang="en-GB" dirty="0"/>
              <a:t>Xi is the pixel value</a:t>
            </a:r>
          </a:p>
        </p:txBody>
      </p:sp>
      <p:sp>
        <p:nvSpPr>
          <p:cNvPr id="9" name="TextBox 8">
            <a:extLst>
              <a:ext uri="{FF2B5EF4-FFF2-40B4-BE49-F238E27FC236}">
                <a16:creationId xmlns:a16="http://schemas.microsoft.com/office/drawing/2014/main" id="{E6EF3FE3-8645-B27E-786A-21D4798BF2E7}"/>
              </a:ext>
            </a:extLst>
          </p:cNvPr>
          <p:cNvSpPr txBox="1"/>
          <p:nvPr/>
        </p:nvSpPr>
        <p:spPr>
          <a:xfrm>
            <a:off x="1686463" y="3561581"/>
            <a:ext cx="4649636" cy="523220"/>
          </a:xfrm>
          <a:prstGeom prst="rect">
            <a:avLst/>
          </a:prstGeom>
          <a:solidFill>
            <a:schemeClr val="accent1">
              <a:lumMod val="40000"/>
              <a:lumOff val="60000"/>
            </a:schemeClr>
          </a:solidFill>
        </p:spPr>
        <p:txBody>
          <a:bodyPr wrap="square">
            <a:spAutoFit/>
          </a:bodyPr>
          <a:lstStyle/>
          <a:p>
            <a:r>
              <a:rPr lang="en-US" dirty="0"/>
              <a:t>[[2, 4],</a:t>
            </a:r>
          </a:p>
          <a:p>
            <a:r>
              <a:rPr lang="en-US" dirty="0"/>
              <a:t> [4, 6]] → avg = (2+4+4+6)/4 = 4</a:t>
            </a:r>
          </a:p>
        </p:txBody>
      </p:sp>
    </p:spTree>
    <p:extLst>
      <p:ext uri="{BB962C8B-B14F-4D97-AF65-F5344CB8AC3E}">
        <p14:creationId xmlns:p14="http://schemas.microsoft.com/office/powerpoint/2010/main" val="12951590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415209F-DE2A-13E3-FD15-C0023313A5F0}"/>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C8CEF6C-EE3A-0F5B-5EB3-05E7446546BA}"/>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Global Pooling (Global Max or Average)</a:t>
            </a:r>
            <a:br>
              <a:rPr lang="en-GB" sz="2400" b="1" dirty="0"/>
            </a:br>
            <a:br>
              <a:rPr lang="en-GB" sz="2400" b="1" dirty="0"/>
            </a:b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644A9177-3187-3FF0-ADEF-B9C550F1625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98568390-6E57-68C3-6E9C-3243F5965363}"/>
              </a:ext>
            </a:extLst>
          </p:cNvPr>
          <p:cNvSpPr txBox="1"/>
          <p:nvPr/>
        </p:nvSpPr>
        <p:spPr>
          <a:xfrm>
            <a:off x="70744" y="593570"/>
            <a:ext cx="8456146" cy="5016758"/>
          </a:xfrm>
          <a:prstGeom prst="rect">
            <a:avLst/>
          </a:prstGeom>
          <a:noFill/>
        </p:spPr>
        <p:txBody>
          <a:bodyPr wrap="square">
            <a:spAutoFit/>
          </a:bodyPr>
          <a:lstStyle/>
          <a:p>
            <a:pPr>
              <a:buNone/>
            </a:pPr>
            <a:r>
              <a:rPr lang="en-GB" sz="1600" dirty="0"/>
              <a:t>Global Pooling (either Global Max Pooling or Global Average Pooling) reduces each entire feature map to a single value per channel.</a:t>
            </a:r>
          </a:p>
          <a:p>
            <a:r>
              <a:rPr lang="en-GB" sz="1600" dirty="0"/>
              <a:t>Instead of applying pooling over small regions (like 2×2 or 3×3 as in max/</a:t>
            </a:r>
            <a:r>
              <a:rPr lang="en-GB" sz="1600" dirty="0" err="1"/>
              <a:t>avg</a:t>
            </a:r>
            <a:r>
              <a:rPr lang="en-GB" sz="1600" dirty="0"/>
              <a:t> pooling), global pooling applies the operation across the entire spatial dimensions of the feature map.</a:t>
            </a:r>
          </a:p>
          <a:p>
            <a:pPr marL="342900" indent="-342900">
              <a:buFont typeface="Wingdings" pitchFamily="2" charset="2"/>
              <a:buChar char="ü"/>
            </a:pPr>
            <a:r>
              <a:rPr lang="en-GB" sz="1600" dirty="0"/>
              <a:t>Reduces entire feature map to a single value per channel.</a:t>
            </a:r>
          </a:p>
          <a:p>
            <a:pPr marL="342900" indent="-342900">
              <a:buFont typeface="Wingdings" pitchFamily="2" charset="2"/>
              <a:buChar char="ü"/>
            </a:pPr>
            <a:r>
              <a:rPr lang="en-GB" sz="1600" dirty="0"/>
              <a:t>Often used just before the output layer instead of fully connected layers (e.g., in </a:t>
            </a:r>
            <a:r>
              <a:rPr lang="en-GB" sz="1600" dirty="0" err="1"/>
              <a:t>ResNet</a:t>
            </a:r>
            <a:r>
              <a:rPr lang="en-GB" sz="1600" dirty="0"/>
              <a:t>, </a:t>
            </a:r>
            <a:r>
              <a:rPr lang="en-GB" sz="1600" dirty="0" err="1"/>
              <a:t>MobileNet</a:t>
            </a:r>
            <a:r>
              <a:rPr lang="en-GB" sz="1600" dirty="0"/>
              <a:t>).</a:t>
            </a:r>
          </a:p>
          <a:p>
            <a:pPr>
              <a:buNone/>
            </a:pPr>
            <a:r>
              <a:rPr lang="en-GB" sz="1600" b="1" dirty="0"/>
              <a:t>Use Cases:</a:t>
            </a:r>
          </a:p>
          <a:p>
            <a:pPr marL="342900" indent="-342900">
              <a:buFont typeface="+mj-lt"/>
              <a:buAutoNum type="arabicPeriod"/>
            </a:pPr>
            <a:r>
              <a:rPr lang="en-GB" sz="1600" dirty="0"/>
              <a:t>Compact models</a:t>
            </a:r>
          </a:p>
          <a:p>
            <a:pPr marL="342900" indent="-342900">
              <a:buFont typeface="+mj-lt"/>
              <a:buAutoNum type="arabicPeriod"/>
            </a:pPr>
            <a:r>
              <a:rPr lang="en-GB" sz="1600" dirty="0"/>
              <a:t>Fewer parameters (reduces overfitting)</a:t>
            </a:r>
          </a:p>
          <a:p>
            <a:pPr marL="342900" indent="-342900">
              <a:buFont typeface="+mj-lt"/>
              <a:buAutoNum type="arabicPeriod"/>
            </a:pPr>
            <a:r>
              <a:rPr lang="en-GB" sz="1600" dirty="0"/>
              <a:t>More interpretable</a:t>
            </a:r>
          </a:p>
          <a:p>
            <a:pPr marL="342900" indent="-342900">
              <a:buFont typeface="+mj-lt"/>
              <a:buAutoNum type="arabicPeriod"/>
            </a:pPr>
            <a:r>
              <a:rPr lang="en-GB" sz="1600" dirty="0"/>
              <a:t>Why Use Global Pooling Instead of Dense Layers?</a:t>
            </a:r>
          </a:p>
          <a:p>
            <a:r>
              <a:rPr lang="en-GB" sz="1600" b="1" dirty="0"/>
              <a:t>Advantages:</a:t>
            </a:r>
          </a:p>
          <a:p>
            <a:pPr marL="342900" indent="-342900">
              <a:buFont typeface="+mj-lt"/>
              <a:buAutoNum type="arabicPeriod"/>
            </a:pPr>
            <a:r>
              <a:rPr lang="en-GB" sz="1600" dirty="0"/>
              <a:t>Reduces number of parameters — No trainable weights, unlike fully connected layers.</a:t>
            </a:r>
          </a:p>
          <a:p>
            <a:pPr marL="342900" indent="-342900">
              <a:buFont typeface="+mj-lt"/>
              <a:buAutoNum type="arabicPeriod"/>
            </a:pPr>
            <a:r>
              <a:rPr lang="en-GB" sz="1600" dirty="0"/>
              <a:t>Prevents overfitting — Particularly useful for small datasets.</a:t>
            </a:r>
          </a:p>
          <a:p>
            <a:pPr marL="342900" indent="-342900">
              <a:buFont typeface="+mj-lt"/>
              <a:buAutoNum type="arabicPeriod"/>
            </a:pPr>
            <a:r>
              <a:rPr lang="en-GB" sz="1600" dirty="0"/>
              <a:t>Improves interpretability — Easier to visualize and understand contributions of each channel.</a:t>
            </a:r>
          </a:p>
          <a:p>
            <a:pPr marL="342900" indent="-342900">
              <a:buFont typeface="+mj-lt"/>
              <a:buAutoNum type="arabicPeriod"/>
            </a:pPr>
            <a:r>
              <a:rPr lang="en-GB" sz="1600" dirty="0"/>
              <a:t>Lightweight — Ideal for mobile/embedded devices (used in </a:t>
            </a:r>
            <a:r>
              <a:rPr lang="en-GB" sz="1600" dirty="0" err="1"/>
              <a:t>MobileNet</a:t>
            </a:r>
            <a:r>
              <a:rPr lang="en-GB" sz="1600" dirty="0"/>
              <a:t>, </a:t>
            </a:r>
            <a:r>
              <a:rPr lang="en-GB" sz="1600" dirty="0" err="1"/>
              <a:t>ResNet</a:t>
            </a:r>
            <a:r>
              <a:rPr lang="en-GB" sz="1600" dirty="0"/>
              <a:t>, etc.).</a:t>
            </a:r>
          </a:p>
          <a:p>
            <a:pPr marL="342900" indent="-342900">
              <a:buFont typeface="+mj-lt"/>
              <a:buAutoNum type="arabicPeriod"/>
            </a:pPr>
            <a:endParaRPr lang="en-GB" sz="1600" dirty="0"/>
          </a:p>
          <a:p>
            <a:pPr marL="342900" indent="-342900">
              <a:buFont typeface="Wingdings" pitchFamily="2" charset="2"/>
              <a:buChar char="ü"/>
            </a:pPr>
            <a:endParaRPr lang="en-GB" sz="1600" b="1" dirty="0"/>
          </a:p>
        </p:txBody>
      </p:sp>
    </p:spTree>
    <p:extLst>
      <p:ext uri="{BB962C8B-B14F-4D97-AF65-F5344CB8AC3E}">
        <p14:creationId xmlns:p14="http://schemas.microsoft.com/office/powerpoint/2010/main" val="2338556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867182B-09B8-0002-6A5C-68B6D971021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63F1ADB-E5A5-373F-2C29-89CD67EFF98B}"/>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Global Pooling (Global Max or Average)</a:t>
            </a:r>
            <a:br>
              <a:rPr lang="en-GB" sz="2400" b="1" dirty="0"/>
            </a:br>
            <a:br>
              <a:rPr lang="en-GB" sz="2400" b="1" dirty="0"/>
            </a:b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4A397165-4ED5-D497-33A5-F635CE139BE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3BD1DB5C-7AC6-0481-4D56-1915EBAAF0D9}"/>
              </a:ext>
            </a:extLst>
          </p:cNvPr>
          <p:cNvSpPr txBox="1"/>
          <p:nvPr/>
        </p:nvSpPr>
        <p:spPr>
          <a:xfrm>
            <a:off x="0" y="496725"/>
            <a:ext cx="8456146" cy="584775"/>
          </a:xfrm>
          <a:prstGeom prst="rect">
            <a:avLst/>
          </a:prstGeom>
          <a:noFill/>
        </p:spPr>
        <p:txBody>
          <a:bodyPr wrap="square">
            <a:spAutoFit/>
          </a:bodyPr>
          <a:lstStyle/>
          <a:p>
            <a:pPr marL="342900" indent="-342900">
              <a:buFont typeface="+mj-lt"/>
              <a:buAutoNum type="arabicPeriod"/>
            </a:pPr>
            <a:endParaRPr lang="en-GB" sz="1600" dirty="0"/>
          </a:p>
          <a:p>
            <a:pPr marL="342900" indent="-342900">
              <a:buFont typeface="Wingdings" pitchFamily="2" charset="2"/>
              <a:buChar char="ü"/>
            </a:pPr>
            <a:endParaRPr lang="en-GB" sz="1600" b="1" dirty="0"/>
          </a:p>
        </p:txBody>
      </p:sp>
      <p:sp>
        <p:nvSpPr>
          <p:cNvPr id="5" name="TextBox 4">
            <a:extLst>
              <a:ext uri="{FF2B5EF4-FFF2-40B4-BE49-F238E27FC236}">
                <a16:creationId xmlns:a16="http://schemas.microsoft.com/office/drawing/2014/main" id="{5D5BFCD5-74D8-0FB8-D3F2-5D21E905F271}"/>
              </a:ext>
            </a:extLst>
          </p:cNvPr>
          <p:cNvSpPr txBox="1"/>
          <p:nvPr/>
        </p:nvSpPr>
        <p:spPr>
          <a:xfrm>
            <a:off x="407175" y="715582"/>
            <a:ext cx="7399731" cy="1815882"/>
          </a:xfrm>
          <a:prstGeom prst="rect">
            <a:avLst/>
          </a:prstGeom>
          <a:solidFill>
            <a:schemeClr val="accent1">
              <a:lumMod val="40000"/>
              <a:lumOff val="60000"/>
            </a:schemeClr>
          </a:solidFill>
        </p:spPr>
        <p:txBody>
          <a:bodyPr wrap="square">
            <a:spAutoFit/>
          </a:bodyPr>
          <a:lstStyle/>
          <a:p>
            <a:r>
              <a:rPr lang="en-US" dirty="0"/>
              <a:t>from </a:t>
            </a:r>
            <a:r>
              <a:rPr lang="en-US" dirty="0" err="1"/>
              <a:t>tensorflow.keras.models</a:t>
            </a:r>
            <a:r>
              <a:rPr lang="en-US" dirty="0"/>
              <a:t> import Sequential</a:t>
            </a:r>
          </a:p>
          <a:p>
            <a:r>
              <a:rPr lang="en-US" dirty="0"/>
              <a:t>from </a:t>
            </a:r>
            <a:r>
              <a:rPr lang="en-US" dirty="0" err="1"/>
              <a:t>tensorflow.keras.layers</a:t>
            </a:r>
            <a:r>
              <a:rPr lang="en-US" dirty="0"/>
              <a:t> import Conv2D, GlobalAveragePooling2D, Dense</a:t>
            </a:r>
          </a:p>
          <a:p>
            <a:r>
              <a:rPr lang="en-US" dirty="0"/>
              <a:t>model = Sequential([</a:t>
            </a:r>
          </a:p>
          <a:p>
            <a:r>
              <a:rPr lang="en-US" dirty="0"/>
              <a:t>    Conv2D(64, (3,3), activation='</a:t>
            </a:r>
            <a:r>
              <a:rPr lang="en-US" dirty="0" err="1"/>
              <a:t>relu</a:t>
            </a:r>
            <a:r>
              <a:rPr lang="en-US" dirty="0"/>
              <a:t>', </a:t>
            </a:r>
            <a:r>
              <a:rPr lang="en-US" dirty="0" err="1"/>
              <a:t>input_shape</a:t>
            </a:r>
            <a:r>
              <a:rPr lang="en-US" dirty="0"/>
              <a:t>=(64, 64, 3)),</a:t>
            </a:r>
          </a:p>
          <a:p>
            <a:r>
              <a:rPr lang="en-US" dirty="0"/>
              <a:t>    Conv2D(128, (3,3), activation='</a:t>
            </a:r>
            <a:r>
              <a:rPr lang="en-US" dirty="0" err="1"/>
              <a:t>relu</a:t>
            </a:r>
            <a:r>
              <a:rPr lang="en-US" dirty="0"/>
              <a:t>'),</a:t>
            </a:r>
          </a:p>
          <a:p>
            <a:r>
              <a:rPr lang="en-US" dirty="0"/>
              <a:t>    GlobalAveragePooling2D(),  # Instead of Flatten() + Dense</a:t>
            </a:r>
          </a:p>
          <a:p>
            <a:r>
              <a:rPr lang="en-US" dirty="0"/>
              <a:t>    Dense(10, activation='</a:t>
            </a:r>
            <a:r>
              <a:rPr lang="en-US" dirty="0" err="1"/>
              <a:t>softmax</a:t>
            </a:r>
            <a:r>
              <a:rPr lang="en-US" dirty="0"/>
              <a:t>')  # Classification layer</a:t>
            </a:r>
          </a:p>
          <a:p>
            <a:r>
              <a:rPr lang="en-US" dirty="0"/>
              <a:t>])</a:t>
            </a:r>
          </a:p>
        </p:txBody>
      </p:sp>
      <p:graphicFrame>
        <p:nvGraphicFramePr>
          <p:cNvPr id="6" name="Table 5">
            <a:extLst>
              <a:ext uri="{FF2B5EF4-FFF2-40B4-BE49-F238E27FC236}">
                <a16:creationId xmlns:a16="http://schemas.microsoft.com/office/drawing/2014/main" id="{D74A26BD-14D7-05ED-878F-AB21D8CCC1C2}"/>
              </a:ext>
            </a:extLst>
          </p:cNvPr>
          <p:cNvGraphicFramePr>
            <a:graphicFrameLocks noGrp="1"/>
          </p:cNvGraphicFramePr>
          <p:nvPr>
            <p:extLst>
              <p:ext uri="{D42A27DB-BD31-4B8C-83A1-F6EECF244321}">
                <p14:modId xmlns:p14="http://schemas.microsoft.com/office/powerpoint/2010/main" val="2238945501"/>
              </p:ext>
            </p:extLst>
          </p:nvPr>
        </p:nvGraphicFramePr>
        <p:xfrm>
          <a:off x="407175" y="3229244"/>
          <a:ext cx="8521700" cy="914400"/>
        </p:xfrm>
        <a:graphic>
          <a:graphicData uri="http://schemas.openxmlformats.org/drawingml/2006/table">
            <a:tbl>
              <a:tblPr>
                <a:tableStyleId>{35758FB7-9AC5-4552-8A53-C91805E547FA}</a:tableStyleId>
              </a:tblPr>
              <a:tblGrid>
                <a:gridCol w="2130425">
                  <a:extLst>
                    <a:ext uri="{9D8B030D-6E8A-4147-A177-3AD203B41FA5}">
                      <a16:colId xmlns:a16="http://schemas.microsoft.com/office/drawing/2014/main" val="4216323918"/>
                    </a:ext>
                  </a:extLst>
                </a:gridCol>
                <a:gridCol w="2130425">
                  <a:extLst>
                    <a:ext uri="{9D8B030D-6E8A-4147-A177-3AD203B41FA5}">
                      <a16:colId xmlns:a16="http://schemas.microsoft.com/office/drawing/2014/main" val="1025158768"/>
                    </a:ext>
                  </a:extLst>
                </a:gridCol>
                <a:gridCol w="2130425">
                  <a:extLst>
                    <a:ext uri="{9D8B030D-6E8A-4147-A177-3AD203B41FA5}">
                      <a16:colId xmlns:a16="http://schemas.microsoft.com/office/drawing/2014/main" val="2216125672"/>
                    </a:ext>
                  </a:extLst>
                </a:gridCol>
                <a:gridCol w="2130425">
                  <a:extLst>
                    <a:ext uri="{9D8B030D-6E8A-4147-A177-3AD203B41FA5}">
                      <a16:colId xmlns:a16="http://schemas.microsoft.com/office/drawing/2014/main" val="3461748303"/>
                    </a:ext>
                  </a:extLst>
                </a:gridCol>
              </a:tblGrid>
              <a:tr h="0">
                <a:tc>
                  <a:txBody>
                    <a:bodyPr/>
                    <a:lstStyle/>
                    <a:p>
                      <a:r>
                        <a:rPr lang="en-GB" b="1"/>
                        <a:t>Technique</a:t>
                      </a:r>
                    </a:p>
                  </a:txBody>
                  <a:tcPr anchor="ctr"/>
                </a:tc>
                <a:tc>
                  <a:txBody>
                    <a:bodyPr/>
                    <a:lstStyle/>
                    <a:p>
                      <a:r>
                        <a:rPr lang="en-GB" b="1" dirty="0"/>
                        <a:t>Parameters</a:t>
                      </a:r>
                    </a:p>
                  </a:txBody>
                  <a:tcPr anchor="ctr"/>
                </a:tc>
                <a:tc>
                  <a:txBody>
                    <a:bodyPr/>
                    <a:lstStyle/>
                    <a:p>
                      <a:r>
                        <a:rPr lang="en-GB" b="1"/>
                        <a:t>Risk of Overfitting</a:t>
                      </a:r>
                    </a:p>
                  </a:txBody>
                  <a:tcPr anchor="ctr"/>
                </a:tc>
                <a:tc>
                  <a:txBody>
                    <a:bodyPr/>
                    <a:lstStyle/>
                    <a:p>
                      <a:r>
                        <a:rPr lang="en-GB" b="1" dirty="0"/>
                        <a:t>Efficiency</a:t>
                      </a:r>
                    </a:p>
                  </a:txBody>
                  <a:tcPr anchor="ctr"/>
                </a:tc>
                <a:extLst>
                  <a:ext uri="{0D108BD9-81ED-4DB2-BD59-A6C34878D82A}">
                    <a16:rowId xmlns:a16="http://schemas.microsoft.com/office/drawing/2014/main" val="3451868023"/>
                  </a:ext>
                </a:extLst>
              </a:tr>
              <a:tr h="0">
                <a:tc>
                  <a:txBody>
                    <a:bodyPr/>
                    <a:lstStyle/>
                    <a:p>
                      <a:r>
                        <a:rPr lang="en-GB"/>
                        <a:t>Flatten() + Dense</a:t>
                      </a:r>
                    </a:p>
                  </a:txBody>
                  <a:tcPr anchor="ctr"/>
                </a:tc>
                <a:tc>
                  <a:txBody>
                    <a:bodyPr/>
                    <a:lstStyle/>
                    <a:p>
                      <a:r>
                        <a:rPr lang="en-GB"/>
                        <a:t>High</a:t>
                      </a:r>
                    </a:p>
                  </a:txBody>
                  <a:tcPr anchor="ctr"/>
                </a:tc>
                <a:tc>
                  <a:txBody>
                    <a:bodyPr/>
                    <a:lstStyle/>
                    <a:p>
                      <a:r>
                        <a:rPr lang="en-GB"/>
                        <a:t>High</a:t>
                      </a:r>
                    </a:p>
                  </a:txBody>
                  <a:tcPr anchor="ctr"/>
                </a:tc>
                <a:tc>
                  <a:txBody>
                    <a:bodyPr/>
                    <a:lstStyle/>
                    <a:p>
                      <a:r>
                        <a:rPr lang="en-GB"/>
                        <a:t>Low</a:t>
                      </a:r>
                    </a:p>
                  </a:txBody>
                  <a:tcPr anchor="ctr"/>
                </a:tc>
                <a:extLst>
                  <a:ext uri="{0D108BD9-81ED-4DB2-BD59-A6C34878D82A}">
                    <a16:rowId xmlns:a16="http://schemas.microsoft.com/office/drawing/2014/main" val="1512517218"/>
                  </a:ext>
                </a:extLst>
              </a:tr>
              <a:tr h="0">
                <a:tc>
                  <a:txBody>
                    <a:bodyPr/>
                    <a:lstStyle/>
                    <a:p>
                      <a:r>
                        <a:rPr lang="en-GB"/>
                        <a:t>GlobalPooling</a:t>
                      </a:r>
                    </a:p>
                  </a:txBody>
                  <a:tcPr anchor="ctr"/>
                </a:tc>
                <a:tc>
                  <a:txBody>
                    <a:bodyPr/>
                    <a:lstStyle/>
                    <a:p>
                      <a:r>
                        <a:rPr lang="en-GB"/>
                        <a:t>Zero</a:t>
                      </a:r>
                    </a:p>
                  </a:txBody>
                  <a:tcPr anchor="ctr"/>
                </a:tc>
                <a:tc>
                  <a:txBody>
                    <a:bodyPr/>
                    <a:lstStyle/>
                    <a:p>
                      <a:r>
                        <a:rPr lang="en-GB"/>
                        <a:t>Low</a:t>
                      </a:r>
                    </a:p>
                  </a:txBody>
                  <a:tcPr anchor="ctr"/>
                </a:tc>
                <a:tc>
                  <a:txBody>
                    <a:bodyPr/>
                    <a:lstStyle/>
                    <a:p>
                      <a:r>
                        <a:rPr lang="en-GB" dirty="0"/>
                        <a:t>High</a:t>
                      </a:r>
                    </a:p>
                  </a:txBody>
                  <a:tcPr anchor="ctr"/>
                </a:tc>
                <a:extLst>
                  <a:ext uri="{0D108BD9-81ED-4DB2-BD59-A6C34878D82A}">
                    <a16:rowId xmlns:a16="http://schemas.microsoft.com/office/drawing/2014/main" val="1830505042"/>
                  </a:ext>
                </a:extLst>
              </a:tr>
            </a:tbl>
          </a:graphicData>
        </a:graphic>
      </p:graphicFrame>
      <p:sp>
        <p:nvSpPr>
          <p:cNvPr id="8" name="TextBox 7">
            <a:extLst>
              <a:ext uri="{FF2B5EF4-FFF2-40B4-BE49-F238E27FC236}">
                <a16:creationId xmlns:a16="http://schemas.microsoft.com/office/drawing/2014/main" id="{8877A2DE-5552-CADD-A446-921115BB347D}"/>
              </a:ext>
            </a:extLst>
          </p:cNvPr>
          <p:cNvSpPr txBox="1"/>
          <p:nvPr/>
        </p:nvSpPr>
        <p:spPr>
          <a:xfrm>
            <a:off x="496019" y="2771187"/>
            <a:ext cx="4649636" cy="338554"/>
          </a:xfrm>
          <a:prstGeom prst="rect">
            <a:avLst/>
          </a:prstGeom>
          <a:noFill/>
        </p:spPr>
        <p:txBody>
          <a:bodyPr wrap="square">
            <a:spAutoFit/>
          </a:bodyPr>
          <a:lstStyle/>
          <a:p>
            <a:r>
              <a:rPr lang="en-GB" sz="1600" b="1" dirty="0"/>
              <a:t>Comparison with Flatten + Dense</a:t>
            </a:r>
            <a:endParaRPr lang="en-US" sz="1600" b="1" dirty="0"/>
          </a:p>
        </p:txBody>
      </p:sp>
    </p:spTree>
    <p:extLst>
      <p:ext uri="{BB962C8B-B14F-4D97-AF65-F5344CB8AC3E}">
        <p14:creationId xmlns:p14="http://schemas.microsoft.com/office/powerpoint/2010/main" val="1398872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2F553DAC-338A-C9EC-EA64-676F33A7DEA8}"/>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425E4D7-F47D-1886-1A81-6D3B92B6B80F}"/>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a:t>
            </a:r>
            <a:r>
              <a:rPr kumimoji="0" lang="en-US" altLang="en-US" sz="2400" b="1" i="0" u="none" strike="noStrike" cap="none" normalizeH="0" baseline="0" dirty="0">
                <a:ln>
                  <a:noFill/>
                </a:ln>
                <a:solidFill>
                  <a:srgbClr val="7030A0"/>
                </a:solidFill>
                <a:effectLst/>
                <a:latin typeface="Arial" panose="020B0604020202020204" pitchFamily="34" charset="0"/>
              </a:rPr>
              <a:t>Why Use Pooling?</a:t>
            </a:r>
            <a:br>
              <a:rPr kumimoji="0" lang="en-US" altLang="en-US" sz="2400" b="1" i="0" u="none" strike="noStrike" cap="none" normalizeH="0" baseline="0" dirty="0">
                <a:ln>
                  <a:noFill/>
                </a:ln>
                <a:solidFill>
                  <a:srgbClr val="7030A0"/>
                </a:solidFill>
                <a:effectLst/>
                <a:latin typeface="Arial" panose="020B0604020202020204" pitchFamily="34" charset="0"/>
              </a:rPr>
            </a:br>
            <a:br>
              <a:rPr lang="en-GB" sz="2400" b="1" dirty="0"/>
            </a:br>
            <a:br>
              <a:rPr lang="en-GB" sz="2400" b="1" dirty="0"/>
            </a:b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121F2544-0F63-B755-BF8C-ED76734EA60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A3029F74-E7EB-AE48-A253-41B99B988B59}"/>
              </a:ext>
            </a:extLst>
          </p:cNvPr>
          <p:cNvSpPr txBox="1"/>
          <p:nvPr/>
        </p:nvSpPr>
        <p:spPr>
          <a:xfrm>
            <a:off x="0" y="496725"/>
            <a:ext cx="8456146" cy="584775"/>
          </a:xfrm>
          <a:prstGeom prst="rect">
            <a:avLst/>
          </a:prstGeom>
          <a:noFill/>
        </p:spPr>
        <p:txBody>
          <a:bodyPr wrap="square">
            <a:spAutoFit/>
          </a:bodyPr>
          <a:lstStyle/>
          <a:p>
            <a:pPr marL="342900" indent="-342900">
              <a:buFont typeface="+mj-lt"/>
              <a:buAutoNum type="arabicPeriod"/>
            </a:pPr>
            <a:endParaRPr lang="en-GB" sz="1600" dirty="0"/>
          </a:p>
          <a:p>
            <a:pPr marL="342900" indent="-342900">
              <a:buFont typeface="Wingdings" pitchFamily="2" charset="2"/>
              <a:buChar char="ü"/>
            </a:pPr>
            <a:endParaRPr lang="en-GB" sz="1600" b="1" dirty="0"/>
          </a:p>
        </p:txBody>
      </p:sp>
      <p:graphicFrame>
        <p:nvGraphicFramePr>
          <p:cNvPr id="2" name="Table 1">
            <a:extLst>
              <a:ext uri="{FF2B5EF4-FFF2-40B4-BE49-F238E27FC236}">
                <a16:creationId xmlns:a16="http://schemas.microsoft.com/office/drawing/2014/main" id="{D6F34B86-1BAD-D8AA-AAD9-A4F30D8F0846}"/>
              </a:ext>
            </a:extLst>
          </p:cNvPr>
          <p:cNvGraphicFramePr>
            <a:graphicFrameLocks noGrp="1"/>
          </p:cNvGraphicFramePr>
          <p:nvPr>
            <p:extLst>
              <p:ext uri="{D42A27DB-BD31-4B8C-83A1-F6EECF244321}">
                <p14:modId xmlns:p14="http://schemas.microsoft.com/office/powerpoint/2010/main" val="613330862"/>
              </p:ext>
            </p:extLst>
          </p:nvPr>
        </p:nvGraphicFramePr>
        <p:xfrm>
          <a:off x="495881" y="1503781"/>
          <a:ext cx="7694163" cy="1584960"/>
        </p:xfrm>
        <a:graphic>
          <a:graphicData uri="http://schemas.openxmlformats.org/drawingml/2006/table">
            <a:tbl>
              <a:tblPr>
                <a:tableStyleId>{35758FB7-9AC5-4552-8A53-C91805E547FA}</a:tableStyleId>
              </a:tblPr>
              <a:tblGrid>
                <a:gridCol w="2670986">
                  <a:extLst>
                    <a:ext uri="{9D8B030D-6E8A-4147-A177-3AD203B41FA5}">
                      <a16:colId xmlns:a16="http://schemas.microsoft.com/office/drawing/2014/main" val="87098688"/>
                    </a:ext>
                  </a:extLst>
                </a:gridCol>
                <a:gridCol w="5023177">
                  <a:extLst>
                    <a:ext uri="{9D8B030D-6E8A-4147-A177-3AD203B41FA5}">
                      <a16:colId xmlns:a16="http://schemas.microsoft.com/office/drawing/2014/main" val="1437898931"/>
                    </a:ext>
                  </a:extLst>
                </a:gridCol>
              </a:tblGrid>
              <a:tr h="0">
                <a:tc>
                  <a:txBody>
                    <a:bodyPr/>
                    <a:lstStyle/>
                    <a:p>
                      <a:r>
                        <a:rPr lang="en-GB" sz="1600" b="1" dirty="0"/>
                        <a:t>Benefit</a:t>
                      </a:r>
                    </a:p>
                  </a:txBody>
                  <a:tcPr anchor="ctr"/>
                </a:tc>
                <a:tc>
                  <a:txBody>
                    <a:bodyPr/>
                    <a:lstStyle/>
                    <a:p>
                      <a:r>
                        <a:rPr lang="en-GB" sz="1600" b="1" dirty="0"/>
                        <a:t>Description</a:t>
                      </a:r>
                    </a:p>
                  </a:txBody>
                  <a:tcPr anchor="ctr"/>
                </a:tc>
                <a:extLst>
                  <a:ext uri="{0D108BD9-81ED-4DB2-BD59-A6C34878D82A}">
                    <a16:rowId xmlns:a16="http://schemas.microsoft.com/office/drawing/2014/main" val="1962275401"/>
                  </a:ext>
                </a:extLst>
              </a:tr>
              <a:tr h="0">
                <a:tc>
                  <a:txBody>
                    <a:bodyPr/>
                    <a:lstStyle/>
                    <a:p>
                      <a:r>
                        <a:rPr lang="en-GB" sz="1600" dirty="0"/>
                        <a:t>Dimensionality Reduction</a:t>
                      </a:r>
                    </a:p>
                  </a:txBody>
                  <a:tcPr anchor="ctr"/>
                </a:tc>
                <a:tc>
                  <a:txBody>
                    <a:bodyPr/>
                    <a:lstStyle/>
                    <a:p>
                      <a:r>
                        <a:rPr lang="en-GB" sz="1600"/>
                        <a:t>Reduces the size of feature maps → faster computation &amp; fewer parameters</a:t>
                      </a:r>
                    </a:p>
                  </a:txBody>
                  <a:tcPr anchor="ctr"/>
                </a:tc>
                <a:extLst>
                  <a:ext uri="{0D108BD9-81ED-4DB2-BD59-A6C34878D82A}">
                    <a16:rowId xmlns:a16="http://schemas.microsoft.com/office/drawing/2014/main" val="1574602744"/>
                  </a:ext>
                </a:extLst>
              </a:tr>
              <a:tr h="0">
                <a:tc>
                  <a:txBody>
                    <a:bodyPr/>
                    <a:lstStyle/>
                    <a:p>
                      <a:r>
                        <a:rPr lang="en-GB" sz="1600" dirty="0"/>
                        <a:t>Translation Invariance</a:t>
                      </a:r>
                    </a:p>
                  </a:txBody>
                  <a:tcPr anchor="ctr"/>
                </a:tc>
                <a:tc>
                  <a:txBody>
                    <a:bodyPr/>
                    <a:lstStyle/>
                    <a:p>
                      <a:r>
                        <a:rPr lang="en-GB" sz="1600"/>
                        <a:t>Helps detect features regardless of small input shifts</a:t>
                      </a:r>
                    </a:p>
                  </a:txBody>
                  <a:tcPr anchor="ctr"/>
                </a:tc>
                <a:extLst>
                  <a:ext uri="{0D108BD9-81ED-4DB2-BD59-A6C34878D82A}">
                    <a16:rowId xmlns:a16="http://schemas.microsoft.com/office/drawing/2014/main" val="2980046634"/>
                  </a:ext>
                </a:extLst>
              </a:tr>
              <a:tr h="0">
                <a:tc>
                  <a:txBody>
                    <a:bodyPr/>
                    <a:lstStyle/>
                    <a:p>
                      <a:r>
                        <a:rPr lang="en-GB" sz="1600" dirty="0"/>
                        <a:t>Reduces Overfitting</a:t>
                      </a:r>
                    </a:p>
                  </a:txBody>
                  <a:tcPr anchor="ctr"/>
                </a:tc>
                <a:tc>
                  <a:txBody>
                    <a:bodyPr/>
                    <a:lstStyle/>
                    <a:p>
                      <a:r>
                        <a:rPr lang="en-GB" sz="1600" dirty="0"/>
                        <a:t>Fewer parameters → less chance of overfitting</a:t>
                      </a:r>
                    </a:p>
                  </a:txBody>
                  <a:tcPr anchor="ctr"/>
                </a:tc>
                <a:extLst>
                  <a:ext uri="{0D108BD9-81ED-4DB2-BD59-A6C34878D82A}">
                    <a16:rowId xmlns:a16="http://schemas.microsoft.com/office/drawing/2014/main" val="259223814"/>
                  </a:ext>
                </a:extLst>
              </a:tr>
            </a:tbl>
          </a:graphicData>
        </a:graphic>
      </p:graphicFrame>
    </p:spTree>
    <p:extLst>
      <p:ext uri="{BB962C8B-B14F-4D97-AF65-F5344CB8AC3E}">
        <p14:creationId xmlns:p14="http://schemas.microsoft.com/office/powerpoint/2010/main" val="141216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4C9299B-083E-CCFA-C58A-31AE7D6A7E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5D15243-15B6-BC46-66E0-99095438DEC0}"/>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 </a:t>
            </a:r>
            <a:r>
              <a:rPr kumimoji="0" lang="en-US" altLang="en-US" sz="2400" b="1" i="0" u="none" strike="noStrike" cap="none" normalizeH="0" baseline="0" dirty="0">
                <a:ln>
                  <a:noFill/>
                </a:ln>
                <a:solidFill>
                  <a:srgbClr val="7030A0"/>
                </a:solidFill>
                <a:effectLst/>
                <a:latin typeface="Arial" panose="020B0604020202020204" pitchFamily="34" charset="0"/>
              </a:rPr>
              <a:t>Fully Connected Layers and Classification</a:t>
            </a:r>
            <a:br>
              <a:rPr kumimoji="0" lang="en-US" altLang="en-US" sz="2400" b="1" i="0" u="none" strike="noStrike" cap="none" normalizeH="0" baseline="0" dirty="0">
                <a:ln>
                  <a:noFill/>
                </a:ln>
                <a:solidFill>
                  <a:srgbClr val="7030A0"/>
                </a:solidFill>
                <a:effectLst/>
                <a:latin typeface="Arial" panose="020B0604020202020204" pitchFamily="34" charset="0"/>
              </a:rPr>
            </a:br>
            <a:br>
              <a:rPr kumimoji="0" lang="en-US" altLang="en-US" sz="2400" b="1" i="0" u="none" strike="noStrike" cap="none" normalizeH="0" baseline="0" dirty="0">
                <a:ln>
                  <a:noFill/>
                </a:ln>
                <a:solidFill>
                  <a:srgbClr val="7030A0"/>
                </a:solidFill>
                <a:effectLst/>
                <a:latin typeface="Arial" panose="020B0604020202020204" pitchFamily="34" charset="0"/>
              </a:rPr>
            </a:br>
            <a:br>
              <a:rPr lang="en-GB" sz="2400" b="1" dirty="0"/>
            </a:br>
            <a:br>
              <a:rPr lang="en-GB" sz="2400" b="1" dirty="0"/>
            </a:b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48975A1-CEB3-1C3C-F735-9002E5160B63}"/>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D36F288-9451-872A-3D1D-08C5E1C898BA}"/>
              </a:ext>
            </a:extLst>
          </p:cNvPr>
          <p:cNvSpPr txBox="1"/>
          <p:nvPr/>
        </p:nvSpPr>
        <p:spPr>
          <a:xfrm>
            <a:off x="0" y="496725"/>
            <a:ext cx="8456146" cy="584775"/>
          </a:xfrm>
          <a:prstGeom prst="rect">
            <a:avLst/>
          </a:prstGeom>
          <a:noFill/>
        </p:spPr>
        <p:txBody>
          <a:bodyPr wrap="square">
            <a:spAutoFit/>
          </a:bodyPr>
          <a:lstStyle/>
          <a:p>
            <a:pPr marL="342900" indent="-342900">
              <a:buFont typeface="+mj-lt"/>
              <a:buAutoNum type="arabicPeriod"/>
            </a:pPr>
            <a:endParaRPr lang="en-GB" sz="1600" dirty="0"/>
          </a:p>
          <a:p>
            <a:pPr marL="342900" indent="-342900">
              <a:buFont typeface="Wingdings" pitchFamily="2" charset="2"/>
              <a:buChar char="ü"/>
            </a:pPr>
            <a:endParaRPr lang="en-GB" sz="1600" b="1" dirty="0"/>
          </a:p>
        </p:txBody>
      </p:sp>
      <p:sp>
        <p:nvSpPr>
          <p:cNvPr id="7" name="Rectangle 1">
            <a:extLst>
              <a:ext uri="{FF2B5EF4-FFF2-40B4-BE49-F238E27FC236}">
                <a16:creationId xmlns:a16="http://schemas.microsoft.com/office/drawing/2014/main" id="{0935B225-F7E6-5D7F-472C-8107C39E6627}"/>
              </a:ext>
            </a:extLst>
          </p:cNvPr>
          <p:cNvSpPr>
            <a:spLocks noChangeArrowheads="1"/>
          </p:cNvSpPr>
          <p:nvPr/>
        </p:nvSpPr>
        <p:spPr bwMode="auto">
          <a:xfrm>
            <a:off x="311150" y="154959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EE2E1043-F5B7-DD4F-A728-F8B6141D6432}"/>
              </a:ext>
            </a:extLst>
          </p:cNvPr>
          <p:cNvSpPr txBox="1"/>
          <p:nvPr/>
        </p:nvSpPr>
        <p:spPr>
          <a:xfrm>
            <a:off x="86265" y="580550"/>
            <a:ext cx="7988060" cy="2308324"/>
          </a:xfrm>
          <a:prstGeom prst="rect">
            <a:avLst/>
          </a:prstGeom>
          <a:noFill/>
        </p:spPr>
        <p:txBody>
          <a:bodyPr wrap="square">
            <a:spAutoFit/>
          </a:bodyPr>
          <a:lstStyle/>
          <a:p>
            <a:pPr>
              <a:buNone/>
            </a:pPr>
            <a:r>
              <a:rPr lang="en-GB" sz="1600" dirty="0"/>
              <a:t>After extracting spatial features through convolution and pooling, CNNs transition to fully connected layers for final decision-making (like classification).</a:t>
            </a:r>
          </a:p>
          <a:p>
            <a:pPr>
              <a:buNone/>
            </a:pPr>
            <a:r>
              <a:rPr lang="en-GB" sz="1600" b="1" dirty="0"/>
              <a:t>Role of Fully Connected Layers</a:t>
            </a:r>
          </a:p>
          <a:p>
            <a:r>
              <a:rPr lang="en-GB" sz="1600" b="1" dirty="0"/>
              <a:t>Flattening</a:t>
            </a:r>
            <a:r>
              <a:rPr lang="en-GB" sz="1600" dirty="0"/>
              <a:t>: Converts the 3D feature maps into a 1D vector.</a:t>
            </a:r>
          </a:p>
          <a:p>
            <a:pPr marL="457200" lvl="1"/>
            <a:r>
              <a:rPr lang="en-GB" sz="1600" dirty="0"/>
              <a:t>Example: From a 5×5×16 tensor → 400-dimensional vector.</a:t>
            </a:r>
          </a:p>
          <a:p>
            <a:pPr marL="342900" indent="-342900">
              <a:buFont typeface="Wingdings" pitchFamily="2" charset="2"/>
              <a:buChar char="ü"/>
            </a:pPr>
            <a:r>
              <a:rPr lang="en-GB" sz="1600" dirty="0"/>
              <a:t>The FC layers combine all features to determine the class.</a:t>
            </a:r>
          </a:p>
          <a:p>
            <a:pPr marL="342900" indent="-342900">
              <a:buFont typeface="Wingdings" pitchFamily="2" charset="2"/>
              <a:buChar char="ü"/>
            </a:pPr>
            <a:r>
              <a:rPr lang="en-GB" sz="1600" dirty="0"/>
              <a:t>Learns complex relationships via weight matrices.</a:t>
            </a:r>
          </a:p>
          <a:p>
            <a:r>
              <a:rPr lang="en-GB" sz="1600" b="1" dirty="0"/>
              <a:t>Structure of FC Layers</a:t>
            </a:r>
          </a:p>
          <a:p>
            <a:endParaRPr lang="en-GB" sz="1600" b="1" dirty="0"/>
          </a:p>
        </p:txBody>
      </p:sp>
      <p:graphicFrame>
        <p:nvGraphicFramePr>
          <p:cNvPr id="18" name="Table 17">
            <a:extLst>
              <a:ext uri="{FF2B5EF4-FFF2-40B4-BE49-F238E27FC236}">
                <a16:creationId xmlns:a16="http://schemas.microsoft.com/office/drawing/2014/main" id="{FE580BB5-D40A-AFF6-3CAD-BFC82369B354}"/>
              </a:ext>
            </a:extLst>
          </p:cNvPr>
          <p:cNvGraphicFramePr>
            <a:graphicFrameLocks noGrp="1"/>
          </p:cNvGraphicFramePr>
          <p:nvPr/>
        </p:nvGraphicFramePr>
        <p:xfrm>
          <a:off x="186490" y="2708745"/>
          <a:ext cx="8521700" cy="1645920"/>
        </p:xfrm>
        <a:graphic>
          <a:graphicData uri="http://schemas.openxmlformats.org/drawingml/2006/table">
            <a:tbl>
              <a:tblPr>
                <a:tableStyleId>{35758FB7-9AC5-4552-8A53-C91805E547FA}</a:tableStyleId>
              </a:tblPr>
              <a:tblGrid>
                <a:gridCol w="4260850">
                  <a:extLst>
                    <a:ext uri="{9D8B030D-6E8A-4147-A177-3AD203B41FA5}">
                      <a16:colId xmlns:a16="http://schemas.microsoft.com/office/drawing/2014/main" val="3484945749"/>
                    </a:ext>
                  </a:extLst>
                </a:gridCol>
                <a:gridCol w="4260850">
                  <a:extLst>
                    <a:ext uri="{9D8B030D-6E8A-4147-A177-3AD203B41FA5}">
                      <a16:colId xmlns:a16="http://schemas.microsoft.com/office/drawing/2014/main" val="228840038"/>
                    </a:ext>
                  </a:extLst>
                </a:gridCol>
              </a:tblGrid>
              <a:tr h="0">
                <a:tc>
                  <a:txBody>
                    <a:bodyPr/>
                    <a:lstStyle/>
                    <a:p>
                      <a:r>
                        <a:rPr lang="en-GB"/>
                        <a:t>Component</a:t>
                      </a:r>
                    </a:p>
                  </a:txBody>
                  <a:tcPr anchor="ctr"/>
                </a:tc>
                <a:tc>
                  <a:txBody>
                    <a:bodyPr/>
                    <a:lstStyle/>
                    <a:p>
                      <a:r>
                        <a:rPr lang="en-GB"/>
                        <a:t>Description</a:t>
                      </a:r>
                    </a:p>
                  </a:txBody>
                  <a:tcPr anchor="ctr"/>
                </a:tc>
                <a:extLst>
                  <a:ext uri="{0D108BD9-81ED-4DB2-BD59-A6C34878D82A}">
                    <a16:rowId xmlns:a16="http://schemas.microsoft.com/office/drawing/2014/main" val="3624790962"/>
                  </a:ext>
                </a:extLst>
              </a:tr>
              <a:tr h="0">
                <a:tc>
                  <a:txBody>
                    <a:bodyPr/>
                    <a:lstStyle/>
                    <a:p>
                      <a:r>
                        <a:rPr lang="en-GB" b="1"/>
                        <a:t>Flattening</a:t>
                      </a:r>
                      <a:endParaRPr lang="en-GB"/>
                    </a:p>
                  </a:txBody>
                  <a:tcPr anchor="ctr"/>
                </a:tc>
                <a:tc>
                  <a:txBody>
                    <a:bodyPr/>
                    <a:lstStyle/>
                    <a:p>
                      <a:r>
                        <a:rPr lang="en-GB"/>
                        <a:t>Converts output from conv layers (e.g., 7×7×64) into a single long vector.</a:t>
                      </a:r>
                    </a:p>
                  </a:txBody>
                  <a:tcPr anchor="ctr"/>
                </a:tc>
                <a:extLst>
                  <a:ext uri="{0D108BD9-81ED-4DB2-BD59-A6C34878D82A}">
                    <a16:rowId xmlns:a16="http://schemas.microsoft.com/office/drawing/2014/main" val="688507819"/>
                  </a:ext>
                </a:extLst>
              </a:tr>
              <a:tr h="0">
                <a:tc>
                  <a:txBody>
                    <a:bodyPr/>
                    <a:lstStyle/>
                    <a:p>
                      <a:r>
                        <a:rPr lang="en-GB" b="1"/>
                        <a:t>Dense Layers</a:t>
                      </a:r>
                      <a:endParaRPr lang="en-GB"/>
                    </a:p>
                  </a:txBody>
                  <a:tcPr anchor="ctr"/>
                </a:tc>
                <a:tc>
                  <a:txBody>
                    <a:bodyPr/>
                    <a:lstStyle/>
                    <a:p>
                      <a:r>
                        <a:rPr lang="en-GB"/>
                        <a:t>Fully connected layers with activation functions like ReLU.</a:t>
                      </a:r>
                    </a:p>
                  </a:txBody>
                  <a:tcPr anchor="ctr"/>
                </a:tc>
                <a:extLst>
                  <a:ext uri="{0D108BD9-81ED-4DB2-BD59-A6C34878D82A}">
                    <a16:rowId xmlns:a16="http://schemas.microsoft.com/office/drawing/2014/main" val="4284899874"/>
                  </a:ext>
                </a:extLst>
              </a:tr>
              <a:tr h="0">
                <a:tc>
                  <a:txBody>
                    <a:bodyPr/>
                    <a:lstStyle/>
                    <a:p>
                      <a:r>
                        <a:rPr lang="en-GB" b="1"/>
                        <a:t>Output Layer</a:t>
                      </a:r>
                      <a:endParaRPr lang="en-GB"/>
                    </a:p>
                  </a:txBody>
                  <a:tcPr anchor="ctr"/>
                </a:tc>
                <a:tc>
                  <a:txBody>
                    <a:bodyPr/>
                    <a:lstStyle/>
                    <a:p>
                      <a:r>
                        <a:rPr lang="en-GB" dirty="0"/>
                        <a:t>Uses:</a:t>
                      </a:r>
                    </a:p>
                  </a:txBody>
                  <a:tcPr anchor="ctr"/>
                </a:tc>
                <a:extLst>
                  <a:ext uri="{0D108BD9-81ED-4DB2-BD59-A6C34878D82A}">
                    <a16:rowId xmlns:a16="http://schemas.microsoft.com/office/drawing/2014/main" val="287095878"/>
                  </a:ext>
                </a:extLst>
              </a:tr>
            </a:tbl>
          </a:graphicData>
        </a:graphic>
      </p:graphicFrame>
      <p:sp>
        <p:nvSpPr>
          <p:cNvPr id="5" name="TextBox 4">
            <a:extLst>
              <a:ext uri="{FF2B5EF4-FFF2-40B4-BE49-F238E27FC236}">
                <a16:creationId xmlns:a16="http://schemas.microsoft.com/office/drawing/2014/main" id="{446CB49E-D59B-07C9-E37F-3B5B6B1639F6}"/>
              </a:ext>
            </a:extLst>
          </p:cNvPr>
          <p:cNvSpPr txBox="1"/>
          <p:nvPr/>
        </p:nvSpPr>
        <p:spPr>
          <a:xfrm>
            <a:off x="636048" y="4606135"/>
            <a:ext cx="4649636" cy="523220"/>
          </a:xfrm>
          <a:prstGeom prst="rect">
            <a:avLst/>
          </a:prstGeom>
          <a:noFill/>
        </p:spPr>
        <p:txBody>
          <a:bodyPr wrap="square">
            <a:spAutoFit/>
          </a:bodyPr>
          <a:lstStyle/>
          <a:p>
            <a:pPr>
              <a:buNone/>
            </a:pPr>
            <a:r>
              <a:rPr lang="en-GB" b="1" dirty="0" err="1"/>
              <a:t>Softmax</a:t>
            </a:r>
            <a:r>
              <a:rPr lang="en-GB" dirty="0"/>
              <a:t> for multi-class classification</a:t>
            </a:r>
          </a:p>
          <a:p>
            <a:r>
              <a:rPr lang="en-GB" b="1" dirty="0"/>
              <a:t>Sigmoid</a:t>
            </a:r>
            <a:r>
              <a:rPr lang="en-GB" dirty="0"/>
              <a:t> for binary classification</a:t>
            </a:r>
          </a:p>
        </p:txBody>
      </p:sp>
    </p:spTree>
    <p:extLst>
      <p:ext uri="{BB962C8B-B14F-4D97-AF65-F5344CB8AC3E}">
        <p14:creationId xmlns:p14="http://schemas.microsoft.com/office/powerpoint/2010/main" val="20545044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9C32D46-0F55-CCD5-CAED-30C76A33F25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DD23380-30A7-E3ED-F424-DC737E2A6FE7}"/>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err="1"/>
              <a:t>Softmax</a:t>
            </a:r>
            <a:r>
              <a:rPr lang="en-GB" sz="2400" b="1" dirty="0"/>
              <a:t> Activation (for Multi-class Classification)</a:t>
            </a:r>
            <a:br>
              <a:rPr lang="en-GB" sz="2400" b="1" dirty="0"/>
            </a:br>
            <a:br>
              <a:rPr kumimoji="0" lang="en-US" altLang="en-US" sz="2400" b="1" i="0" u="none" strike="noStrike" cap="none" normalizeH="0" baseline="0" dirty="0">
                <a:ln>
                  <a:noFill/>
                </a:ln>
                <a:solidFill>
                  <a:srgbClr val="7030A0"/>
                </a:solidFill>
                <a:effectLst/>
                <a:latin typeface="Arial" panose="020B0604020202020204" pitchFamily="34" charset="0"/>
              </a:rPr>
            </a:br>
            <a:br>
              <a:rPr lang="en-GB" sz="2400" b="1" dirty="0"/>
            </a:br>
            <a:br>
              <a:rPr lang="en-GB" sz="2400" b="1" dirty="0"/>
            </a:b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7671A583-8C26-9EE4-A097-9B3BDEEBC46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C0201FB9-90BC-387E-5373-CEC44F7EC78C}"/>
              </a:ext>
            </a:extLst>
          </p:cNvPr>
          <p:cNvSpPr txBox="1"/>
          <p:nvPr/>
        </p:nvSpPr>
        <p:spPr>
          <a:xfrm>
            <a:off x="0" y="496725"/>
            <a:ext cx="8456146" cy="584775"/>
          </a:xfrm>
          <a:prstGeom prst="rect">
            <a:avLst/>
          </a:prstGeom>
          <a:noFill/>
        </p:spPr>
        <p:txBody>
          <a:bodyPr wrap="square">
            <a:spAutoFit/>
          </a:bodyPr>
          <a:lstStyle/>
          <a:p>
            <a:pPr marL="342900" indent="-342900">
              <a:buFont typeface="+mj-lt"/>
              <a:buAutoNum type="arabicPeriod"/>
            </a:pPr>
            <a:endParaRPr lang="en-GB" sz="1600" dirty="0"/>
          </a:p>
          <a:p>
            <a:pPr marL="342900" indent="-342900">
              <a:buFont typeface="Wingdings" pitchFamily="2" charset="2"/>
              <a:buChar char="ü"/>
            </a:pPr>
            <a:endParaRPr lang="en-GB" sz="1600" b="1" dirty="0"/>
          </a:p>
        </p:txBody>
      </p:sp>
      <p:sp>
        <p:nvSpPr>
          <p:cNvPr id="7" name="Rectangle 1">
            <a:extLst>
              <a:ext uri="{FF2B5EF4-FFF2-40B4-BE49-F238E27FC236}">
                <a16:creationId xmlns:a16="http://schemas.microsoft.com/office/drawing/2014/main" id="{092F9323-D78E-2EA8-D906-8A357479455B}"/>
              </a:ext>
            </a:extLst>
          </p:cNvPr>
          <p:cNvSpPr>
            <a:spLocks noChangeArrowheads="1"/>
          </p:cNvSpPr>
          <p:nvPr/>
        </p:nvSpPr>
        <p:spPr bwMode="auto">
          <a:xfrm>
            <a:off x="311150" y="154959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153B4561-4697-1C78-0F22-4F78A9EE3AC6}"/>
              </a:ext>
            </a:extLst>
          </p:cNvPr>
          <p:cNvSpPr txBox="1"/>
          <p:nvPr/>
        </p:nvSpPr>
        <p:spPr>
          <a:xfrm>
            <a:off x="86265" y="580550"/>
            <a:ext cx="7988060" cy="3170099"/>
          </a:xfrm>
          <a:prstGeom prst="rect">
            <a:avLst/>
          </a:prstGeom>
          <a:noFill/>
        </p:spPr>
        <p:txBody>
          <a:bodyPr wrap="square">
            <a:spAutoFit/>
          </a:bodyPr>
          <a:lstStyle/>
          <a:p>
            <a:r>
              <a:rPr lang="en-GB" sz="2000" b="1" dirty="0"/>
              <a:t>Formula:      </a:t>
            </a:r>
          </a:p>
          <a:p>
            <a:endParaRPr lang="en-GB" sz="2000" b="1" dirty="0"/>
          </a:p>
          <a:p>
            <a:endParaRPr lang="en-GB" sz="2000" b="1" dirty="0"/>
          </a:p>
          <a:p>
            <a:pPr>
              <a:buNone/>
            </a:pPr>
            <a:r>
              <a:rPr lang="en-GB" sz="1600" dirty="0"/>
              <a:t>Where:</a:t>
            </a:r>
          </a:p>
          <a:p>
            <a:pPr marL="285750" indent="-285750">
              <a:buFont typeface="Wingdings" pitchFamily="2" charset="2"/>
              <a:buChar char="Ø"/>
            </a:pPr>
            <a:r>
              <a:rPr lang="en-GB" sz="1600" dirty="0"/>
              <a:t>zi​: the score (logit) for class </a:t>
            </a:r>
            <a:r>
              <a:rPr lang="en-GB" sz="1600" dirty="0" err="1"/>
              <a:t>i</a:t>
            </a:r>
            <a:endParaRPr lang="en-GB" sz="1600" dirty="0"/>
          </a:p>
          <a:p>
            <a:pPr marL="285750" indent="-285750">
              <a:buFont typeface="Wingdings" pitchFamily="2" charset="2"/>
              <a:buChar char="Ø"/>
            </a:pPr>
            <a:r>
              <a:rPr lang="en-GB" sz="1600" dirty="0"/>
              <a:t>K: total number of classes</a:t>
            </a:r>
          </a:p>
          <a:p>
            <a:r>
              <a:rPr lang="en-GB" sz="1600" dirty="0"/>
              <a:t>Purpose: Converts raw outputs (logits) into probabilities that sum to 1.</a:t>
            </a:r>
          </a:p>
          <a:p>
            <a:pPr>
              <a:buNone/>
            </a:pPr>
            <a:r>
              <a:rPr lang="en-GB" sz="2800" b="1" dirty="0">
                <a:solidFill>
                  <a:srgbClr val="7030A0"/>
                </a:solidFill>
              </a:rPr>
              <a:t>Dropout (Regularization)</a:t>
            </a:r>
          </a:p>
          <a:p>
            <a:pPr marL="285750" indent="-285750">
              <a:buFont typeface="Wingdings" pitchFamily="2" charset="2"/>
              <a:buChar char="Ø"/>
            </a:pPr>
            <a:r>
              <a:rPr lang="en-GB" sz="1600" dirty="0"/>
              <a:t>During training, randomly drops a percentage of neurons in FC layers.</a:t>
            </a:r>
          </a:p>
          <a:p>
            <a:pPr marL="285750" indent="-285750">
              <a:buFont typeface="Wingdings" pitchFamily="2" charset="2"/>
              <a:buChar char="Ø"/>
            </a:pPr>
            <a:r>
              <a:rPr lang="en-GB" sz="1600" dirty="0"/>
              <a:t>Prevents overfitting by forcing the network to learn redundant representations.</a:t>
            </a:r>
          </a:p>
          <a:p>
            <a:pPr marL="285750" indent="-285750">
              <a:buFont typeface="Wingdings" pitchFamily="2" charset="2"/>
              <a:buChar char="Ø"/>
            </a:pPr>
            <a:r>
              <a:rPr lang="en-GB" sz="1600" dirty="0"/>
              <a:t>Common dropout rates: 0.3 to 0.5</a:t>
            </a:r>
          </a:p>
        </p:txBody>
      </p:sp>
      <p:pic>
        <p:nvPicPr>
          <p:cNvPr id="2" name="Picture 1">
            <a:extLst>
              <a:ext uri="{FF2B5EF4-FFF2-40B4-BE49-F238E27FC236}">
                <a16:creationId xmlns:a16="http://schemas.microsoft.com/office/drawing/2014/main" id="{180531EC-BBE0-507F-C7D8-4E08B17A893D}"/>
              </a:ext>
            </a:extLst>
          </p:cNvPr>
          <p:cNvPicPr>
            <a:picLocks noChangeAspect="1"/>
          </p:cNvPicPr>
          <p:nvPr/>
        </p:nvPicPr>
        <p:blipFill>
          <a:blip r:embed="rId3"/>
          <a:stretch>
            <a:fillRect/>
          </a:stretch>
        </p:blipFill>
        <p:spPr>
          <a:xfrm>
            <a:off x="1773207" y="698000"/>
            <a:ext cx="2117306" cy="860156"/>
          </a:xfrm>
          <a:prstGeom prst="rect">
            <a:avLst/>
          </a:prstGeom>
        </p:spPr>
      </p:pic>
      <p:sp>
        <p:nvSpPr>
          <p:cNvPr id="8" name="TextBox 7">
            <a:extLst>
              <a:ext uri="{FF2B5EF4-FFF2-40B4-BE49-F238E27FC236}">
                <a16:creationId xmlns:a16="http://schemas.microsoft.com/office/drawing/2014/main" id="{F3A3A445-07FE-0849-9F3A-C2EE75C31BB8}"/>
              </a:ext>
            </a:extLst>
          </p:cNvPr>
          <p:cNvSpPr txBox="1"/>
          <p:nvPr/>
        </p:nvSpPr>
        <p:spPr>
          <a:xfrm>
            <a:off x="1453550" y="3801802"/>
            <a:ext cx="4666890" cy="738664"/>
          </a:xfrm>
          <a:prstGeom prst="rect">
            <a:avLst/>
          </a:prstGeom>
          <a:solidFill>
            <a:schemeClr val="accent1">
              <a:lumMod val="40000"/>
              <a:lumOff val="60000"/>
            </a:schemeClr>
          </a:solidFill>
        </p:spPr>
        <p:txBody>
          <a:bodyPr wrap="square">
            <a:spAutoFit/>
          </a:bodyPr>
          <a:lstStyle/>
          <a:p>
            <a:r>
              <a:rPr lang="en-US" dirty="0"/>
              <a:t>from </a:t>
            </a:r>
            <a:r>
              <a:rPr lang="en-US" dirty="0" err="1"/>
              <a:t>tensorflow.keras.layers</a:t>
            </a:r>
            <a:r>
              <a:rPr lang="en-US" dirty="0"/>
              <a:t> import Dropout</a:t>
            </a:r>
          </a:p>
          <a:p>
            <a:endParaRPr lang="en-US" dirty="0"/>
          </a:p>
          <a:p>
            <a:r>
              <a:rPr lang="en-US" dirty="0" err="1"/>
              <a:t>model.add</a:t>
            </a:r>
            <a:r>
              <a:rPr lang="en-US" dirty="0"/>
              <a:t>(Dropout(0.5))</a:t>
            </a:r>
          </a:p>
        </p:txBody>
      </p:sp>
    </p:spTree>
    <p:extLst>
      <p:ext uri="{BB962C8B-B14F-4D97-AF65-F5344CB8AC3E}">
        <p14:creationId xmlns:p14="http://schemas.microsoft.com/office/powerpoint/2010/main" val="39754236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7CF4FB35-0F37-6619-C919-B6E5C19BB73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0308401A-55E8-5951-B1B9-657BCB58C31A}"/>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Autofit/>
          </a:bodyPr>
          <a:lstStyle/>
          <a:p>
            <a:r>
              <a:rPr lang="en-GB" sz="2400" b="1" dirty="0"/>
              <a:t>Loss Function</a:t>
            </a:r>
            <a:br>
              <a:rPr lang="en-GB" sz="2400" b="1" dirty="0"/>
            </a:br>
            <a:br>
              <a:rPr lang="en-GB" sz="2400" b="1" dirty="0"/>
            </a:br>
            <a:br>
              <a:rPr kumimoji="0" lang="en-US" altLang="en-US" sz="2400" b="1" i="0" u="none" strike="noStrike" cap="none" normalizeH="0" baseline="0" dirty="0">
                <a:ln>
                  <a:noFill/>
                </a:ln>
                <a:solidFill>
                  <a:srgbClr val="7030A0"/>
                </a:solidFill>
                <a:effectLst/>
                <a:latin typeface="Arial" panose="020B0604020202020204" pitchFamily="34" charset="0"/>
              </a:rPr>
            </a:br>
            <a:br>
              <a:rPr lang="en-GB" sz="2400" b="1" dirty="0"/>
            </a:br>
            <a:br>
              <a:rPr lang="en-GB" sz="2400" b="1" dirty="0"/>
            </a:br>
            <a:br>
              <a:rPr lang="en-GB" sz="2400" b="1" dirty="0"/>
            </a:br>
            <a:br>
              <a:rPr lang="en-GB" sz="2400" b="1" dirty="0"/>
            </a:br>
            <a:br>
              <a:rPr lang="en-GB" sz="2400" b="1" dirty="0"/>
            </a:br>
            <a:br>
              <a:rPr lang="en-GB" sz="2400" b="1" i="0" u="none" strike="noStrike" dirty="0">
                <a:solidFill>
                  <a:srgbClr val="7030A0"/>
                </a:solidFill>
                <a:effectLst/>
                <a:latin typeface="Inter" panose="02000503000000020004" pitchFamily="2" charset="0"/>
              </a:rPr>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5EA865E-1CF6-C17F-BE61-9E25A7228FE1}"/>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A4A5D16F-DDB2-86A1-D01E-CD0BBA9671AC}"/>
              </a:ext>
            </a:extLst>
          </p:cNvPr>
          <p:cNvSpPr txBox="1"/>
          <p:nvPr/>
        </p:nvSpPr>
        <p:spPr>
          <a:xfrm>
            <a:off x="0" y="496725"/>
            <a:ext cx="8456146" cy="584775"/>
          </a:xfrm>
          <a:prstGeom prst="rect">
            <a:avLst/>
          </a:prstGeom>
          <a:noFill/>
        </p:spPr>
        <p:txBody>
          <a:bodyPr wrap="square">
            <a:spAutoFit/>
          </a:bodyPr>
          <a:lstStyle/>
          <a:p>
            <a:pPr marL="342900" indent="-342900">
              <a:buFont typeface="+mj-lt"/>
              <a:buAutoNum type="arabicPeriod"/>
            </a:pPr>
            <a:endParaRPr lang="en-GB" sz="1600" dirty="0"/>
          </a:p>
          <a:p>
            <a:pPr marL="342900" indent="-342900">
              <a:buFont typeface="Wingdings" pitchFamily="2" charset="2"/>
              <a:buChar char="ü"/>
            </a:pPr>
            <a:endParaRPr lang="en-GB" sz="1600" b="1" dirty="0"/>
          </a:p>
        </p:txBody>
      </p:sp>
      <p:sp>
        <p:nvSpPr>
          <p:cNvPr id="7" name="Rectangle 1">
            <a:extLst>
              <a:ext uri="{FF2B5EF4-FFF2-40B4-BE49-F238E27FC236}">
                <a16:creationId xmlns:a16="http://schemas.microsoft.com/office/drawing/2014/main" id="{518448DA-3440-916A-E862-2C254E16BEC4}"/>
              </a:ext>
            </a:extLst>
          </p:cNvPr>
          <p:cNvSpPr>
            <a:spLocks noChangeArrowheads="1"/>
          </p:cNvSpPr>
          <p:nvPr/>
        </p:nvSpPr>
        <p:spPr bwMode="auto">
          <a:xfrm>
            <a:off x="311150" y="154959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C380A52D-4242-609B-FDBE-2B3AE189DD9B}"/>
              </a:ext>
            </a:extLst>
          </p:cNvPr>
          <p:cNvSpPr txBox="1"/>
          <p:nvPr/>
        </p:nvSpPr>
        <p:spPr>
          <a:xfrm>
            <a:off x="86265" y="580550"/>
            <a:ext cx="7988060" cy="3170099"/>
          </a:xfrm>
          <a:prstGeom prst="rect">
            <a:avLst/>
          </a:prstGeom>
          <a:noFill/>
        </p:spPr>
        <p:txBody>
          <a:bodyPr wrap="square">
            <a:spAutoFit/>
          </a:bodyPr>
          <a:lstStyle/>
          <a:p>
            <a:pPr>
              <a:buNone/>
            </a:pPr>
            <a:r>
              <a:rPr lang="en-GB" sz="2000" b="1" dirty="0"/>
              <a:t> Cross-Entropy Loss (Used for classification):</a:t>
            </a:r>
          </a:p>
          <a:p>
            <a:pPr>
              <a:buNone/>
            </a:pPr>
            <a:endParaRPr lang="en-GB" sz="2000" b="1" dirty="0"/>
          </a:p>
          <a:p>
            <a:pPr>
              <a:buNone/>
            </a:pPr>
            <a:endParaRPr lang="en-GB" sz="2000" b="1" dirty="0"/>
          </a:p>
          <a:p>
            <a:pPr>
              <a:buNone/>
            </a:pPr>
            <a:endParaRPr lang="en-GB" sz="2000" b="1" dirty="0"/>
          </a:p>
          <a:p>
            <a:pPr>
              <a:buNone/>
            </a:pPr>
            <a:endParaRPr lang="en-GB" sz="2000" b="1" dirty="0"/>
          </a:p>
          <a:p>
            <a:pPr>
              <a:buNone/>
            </a:pPr>
            <a:r>
              <a:rPr lang="en-GB" sz="1600" dirty="0"/>
              <a:t>Where:</a:t>
            </a:r>
          </a:p>
          <a:p>
            <a:pPr>
              <a:buFont typeface="Arial" panose="020B0604020202020204" pitchFamily="34" charset="0"/>
              <a:buChar char="•"/>
            </a:pPr>
            <a:r>
              <a:rPr lang="en-GB" sz="1600" dirty="0" err="1"/>
              <a:t>yi</a:t>
            </a:r>
            <a:r>
              <a:rPr lang="en-GB" sz="1600" dirty="0"/>
              <a:t>: actual (true) label (1 for the correct class, 0 for others)</a:t>
            </a:r>
          </a:p>
          <a:p>
            <a:pPr>
              <a:buFont typeface="Arial" panose="020B0604020202020204" pitchFamily="34" charset="0"/>
              <a:buChar char="•"/>
            </a:pPr>
            <a:r>
              <a:rPr lang="en-GB" sz="1600" dirty="0"/>
              <a:t>y^: predicted probability from </a:t>
            </a:r>
            <a:r>
              <a:rPr lang="en-GB" sz="1600" dirty="0" err="1"/>
              <a:t>softmax</a:t>
            </a:r>
            <a:r>
              <a:rPr lang="en-GB" sz="1600" dirty="0"/>
              <a:t> </a:t>
            </a:r>
          </a:p>
          <a:p>
            <a:endParaRPr lang="en-GB" sz="1600" dirty="0"/>
          </a:p>
          <a:p>
            <a:r>
              <a:rPr lang="en-GB" sz="1600" dirty="0"/>
              <a:t>This loss function penalizes incorrect predictions heavily</a:t>
            </a:r>
            <a:r>
              <a:rPr lang="en-GB" sz="2000" dirty="0"/>
              <a:t>.</a:t>
            </a:r>
          </a:p>
          <a:p>
            <a:endParaRPr lang="en-GB" sz="1600" dirty="0"/>
          </a:p>
        </p:txBody>
      </p:sp>
      <p:pic>
        <p:nvPicPr>
          <p:cNvPr id="5" name="Picture 4">
            <a:extLst>
              <a:ext uri="{FF2B5EF4-FFF2-40B4-BE49-F238E27FC236}">
                <a16:creationId xmlns:a16="http://schemas.microsoft.com/office/drawing/2014/main" id="{A8C2C121-585B-E86C-9228-20F66E9B8F7F}"/>
              </a:ext>
            </a:extLst>
          </p:cNvPr>
          <p:cNvPicPr>
            <a:picLocks noChangeAspect="1"/>
          </p:cNvPicPr>
          <p:nvPr/>
        </p:nvPicPr>
        <p:blipFill>
          <a:blip r:embed="rId3"/>
          <a:stretch>
            <a:fillRect/>
          </a:stretch>
        </p:blipFill>
        <p:spPr>
          <a:xfrm>
            <a:off x="3361327" y="930309"/>
            <a:ext cx="2374900" cy="1092200"/>
          </a:xfrm>
          <a:prstGeom prst="rect">
            <a:avLst/>
          </a:prstGeom>
        </p:spPr>
      </p:pic>
      <p:sp>
        <p:nvSpPr>
          <p:cNvPr id="10" name="TextBox 9">
            <a:extLst>
              <a:ext uri="{FF2B5EF4-FFF2-40B4-BE49-F238E27FC236}">
                <a16:creationId xmlns:a16="http://schemas.microsoft.com/office/drawing/2014/main" id="{60508BF3-63E2-746B-307D-31EABC449904}"/>
              </a:ext>
            </a:extLst>
          </p:cNvPr>
          <p:cNvSpPr txBox="1"/>
          <p:nvPr/>
        </p:nvSpPr>
        <p:spPr>
          <a:xfrm>
            <a:off x="1513935" y="3520693"/>
            <a:ext cx="6819181" cy="1384995"/>
          </a:xfrm>
          <a:prstGeom prst="rect">
            <a:avLst/>
          </a:prstGeom>
          <a:solidFill>
            <a:schemeClr val="accent1">
              <a:lumMod val="40000"/>
              <a:lumOff val="60000"/>
            </a:schemeClr>
          </a:solidFill>
        </p:spPr>
        <p:txBody>
          <a:bodyPr wrap="square">
            <a:spAutoFit/>
          </a:bodyPr>
          <a:lstStyle/>
          <a:p>
            <a:r>
              <a:rPr lang="en-US" dirty="0"/>
              <a:t>from </a:t>
            </a:r>
            <a:r>
              <a:rPr lang="en-US" dirty="0" err="1"/>
              <a:t>tensorflow.keras.layers</a:t>
            </a:r>
            <a:r>
              <a:rPr lang="en-US" dirty="0"/>
              <a:t> import Dense, Flatten</a:t>
            </a:r>
          </a:p>
          <a:p>
            <a:endParaRPr lang="en-US" dirty="0"/>
          </a:p>
          <a:p>
            <a:r>
              <a:rPr lang="en-US" dirty="0" err="1"/>
              <a:t>model.add</a:t>
            </a:r>
            <a:r>
              <a:rPr lang="en-US" dirty="0"/>
              <a:t>(Flatten())</a:t>
            </a:r>
          </a:p>
          <a:p>
            <a:r>
              <a:rPr lang="en-US" dirty="0" err="1"/>
              <a:t>model.add</a:t>
            </a:r>
            <a:r>
              <a:rPr lang="en-US" dirty="0"/>
              <a:t>(Dense(128, activation='</a:t>
            </a:r>
            <a:r>
              <a:rPr lang="en-US" dirty="0" err="1"/>
              <a:t>relu</a:t>
            </a:r>
            <a:r>
              <a:rPr lang="en-US" dirty="0"/>
              <a:t>'))</a:t>
            </a:r>
          </a:p>
          <a:p>
            <a:r>
              <a:rPr lang="en-US" dirty="0" err="1"/>
              <a:t>model.add</a:t>
            </a:r>
            <a:r>
              <a:rPr lang="en-US" dirty="0"/>
              <a:t>(Dropout(0.5))</a:t>
            </a:r>
          </a:p>
          <a:p>
            <a:r>
              <a:rPr lang="en-US" dirty="0" err="1"/>
              <a:t>model.add</a:t>
            </a:r>
            <a:r>
              <a:rPr lang="en-US" dirty="0"/>
              <a:t>(Dense(10, activation='</a:t>
            </a:r>
            <a:r>
              <a:rPr lang="en-US" dirty="0" err="1"/>
              <a:t>softmax</a:t>
            </a:r>
            <a:r>
              <a:rPr lang="en-US" dirty="0"/>
              <a:t>'))  # for 10-class classification</a:t>
            </a:r>
          </a:p>
        </p:txBody>
      </p:sp>
    </p:spTree>
    <p:extLst>
      <p:ext uri="{BB962C8B-B14F-4D97-AF65-F5344CB8AC3E}">
        <p14:creationId xmlns:p14="http://schemas.microsoft.com/office/powerpoint/2010/main" val="35510297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Summary</a:t>
            </a:r>
            <a:br>
              <a:rPr lang="en-GB" sz="3200" dirty="0"/>
            </a:br>
            <a:endParaRPr lang="en-GB" sz="3200" dirty="0"/>
          </a:p>
        </p:txBody>
      </p:sp>
      <p:graphicFrame>
        <p:nvGraphicFramePr>
          <p:cNvPr id="3" name="Table 2">
            <a:extLst>
              <a:ext uri="{FF2B5EF4-FFF2-40B4-BE49-F238E27FC236}">
                <a16:creationId xmlns:a16="http://schemas.microsoft.com/office/drawing/2014/main" id="{F991B0EA-D377-0315-0C96-47241AFC2EF4}"/>
              </a:ext>
            </a:extLst>
          </p:cNvPr>
          <p:cNvGraphicFramePr>
            <a:graphicFrameLocks noGrp="1"/>
          </p:cNvGraphicFramePr>
          <p:nvPr>
            <p:extLst>
              <p:ext uri="{D42A27DB-BD31-4B8C-83A1-F6EECF244321}">
                <p14:modId xmlns:p14="http://schemas.microsoft.com/office/powerpoint/2010/main" val="1345224476"/>
              </p:ext>
            </p:extLst>
          </p:nvPr>
        </p:nvGraphicFramePr>
        <p:xfrm>
          <a:off x="311149" y="1382395"/>
          <a:ext cx="8521701" cy="2499360"/>
        </p:xfrm>
        <a:graphic>
          <a:graphicData uri="http://schemas.openxmlformats.org/drawingml/2006/table">
            <a:tbl>
              <a:tblPr>
                <a:tableStyleId>{35758FB7-9AC5-4552-8A53-C91805E547FA}</a:tableStyleId>
              </a:tblPr>
              <a:tblGrid>
                <a:gridCol w="2840567">
                  <a:extLst>
                    <a:ext uri="{9D8B030D-6E8A-4147-A177-3AD203B41FA5}">
                      <a16:colId xmlns:a16="http://schemas.microsoft.com/office/drawing/2014/main" val="4272114005"/>
                    </a:ext>
                  </a:extLst>
                </a:gridCol>
                <a:gridCol w="2840567">
                  <a:extLst>
                    <a:ext uri="{9D8B030D-6E8A-4147-A177-3AD203B41FA5}">
                      <a16:colId xmlns:a16="http://schemas.microsoft.com/office/drawing/2014/main" val="1166389663"/>
                    </a:ext>
                  </a:extLst>
                </a:gridCol>
                <a:gridCol w="2840567">
                  <a:extLst>
                    <a:ext uri="{9D8B030D-6E8A-4147-A177-3AD203B41FA5}">
                      <a16:colId xmlns:a16="http://schemas.microsoft.com/office/drawing/2014/main" val="2971817726"/>
                    </a:ext>
                  </a:extLst>
                </a:gridCol>
              </a:tblGrid>
              <a:tr h="304800">
                <a:tc>
                  <a:txBody>
                    <a:bodyPr/>
                    <a:lstStyle/>
                    <a:p>
                      <a:r>
                        <a:rPr lang="en-GB" sz="1600" b="1"/>
                        <a:t>Layer Type</a:t>
                      </a:r>
                    </a:p>
                  </a:txBody>
                  <a:tcPr anchor="ctr"/>
                </a:tc>
                <a:tc>
                  <a:txBody>
                    <a:bodyPr/>
                    <a:lstStyle/>
                    <a:p>
                      <a:r>
                        <a:rPr lang="en-GB" sz="1600" b="1"/>
                        <a:t>Purpose</a:t>
                      </a:r>
                    </a:p>
                  </a:txBody>
                  <a:tcPr anchor="ctr"/>
                </a:tc>
                <a:tc>
                  <a:txBody>
                    <a:bodyPr/>
                    <a:lstStyle/>
                    <a:p>
                      <a:r>
                        <a:rPr lang="en-GB" sz="1600" b="1" dirty="0"/>
                        <a:t>Output Shape Example</a:t>
                      </a:r>
                    </a:p>
                  </a:txBody>
                  <a:tcPr anchor="ctr"/>
                </a:tc>
                <a:extLst>
                  <a:ext uri="{0D108BD9-81ED-4DB2-BD59-A6C34878D82A}">
                    <a16:rowId xmlns:a16="http://schemas.microsoft.com/office/drawing/2014/main" val="1945209030"/>
                  </a:ext>
                </a:extLst>
              </a:tr>
              <a:tr h="304800">
                <a:tc>
                  <a:txBody>
                    <a:bodyPr/>
                    <a:lstStyle/>
                    <a:p>
                      <a:r>
                        <a:rPr lang="en-GB" sz="1600"/>
                        <a:t>Conv2D</a:t>
                      </a:r>
                    </a:p>
                  </a:txBody>
                  <a:tcPr anchor="ctr"/>
                </a:tc>
                <a:tc>
                  <a:txBody>
                    <a:bodyPr/>
                    <a:lstStyle/>
                    <a:p>
                      <a:r>
                        <a:rPr lang="en-GB" sz="1600"/>
                        <a:t>Extract features via filters</a:t>
                      </a:r>
                    </a:p>
                  </a:txBody>
                  <a:tcPr anchor="ctr"/>
                </a:tc>
                <a:tc>
                  <a:txBody>
                    <a:bodyPr/>
                    <a:lstStyle/>
                    <a:p>
                      <a:r>
                        <a:rPr lang="en-GB" sz="1600"/>
                        <a:t>(None, 126, 126, 32)</a:t>
                      </a:r>
                    </a:p>
                  </a:txBody>
                  <a:tcPr anchor="ctr"/>
                </a:tc>
                <a:extLst>
                  <a:ext uri="{0D108BD9-81ED-4DB2-BD59-A6C34878D82A}">
                    <a16:rowId xmlns:a16="http://schemas.microsoft.com/office/drawing/2014/main" val="3244105573"/>
                  </a:ext>
                </a:extLst>
              </a:tr>
              <a:tr h="304800">
                <a:tc>
                  <a:txBody>
                    <a:bodyPr/>
                    <a:lstStyle/>
                    <a:p>
                      <a:r>
                        <a:rPr lang="en-GB" sz="1600"/>
                        <a:t>MaxPooling2D</a:t>
                      </a:r>
                    </a:p>
                  </a:txBody>
                  <a:tcPr anchor="ctr"/>
                </a:tc>
                <a:tc>
                  <a:txBody>
                    <a:bodyPr/>
                    <a:lstStyle/>
                    <a:p>
                      <a:r>
                        <a:rPr lang="en-GB" sz="1600"/>
                        <a:t>Downsample spatial dimensions</a:t>
                      </a:r>
                    </a:p>
                  </a:txBody>
                  <a:tcPr anchor="ctr"/>
                </a:tc>
                <a:tc>
                  <a:txBody>
                    <a:bodyPr/>
                    <a:lstStyle/>
                    <a:p>
                      <a:r>
                        <a:rPr lang="en-GB" sz="1600"/>
                        <a:t>(None, 63, 63, 32)</a:t>
                      </a:r>
                    </a:p>
                  </a:txBody>
                  <a:tcPr anchor="ctr"/>
                </a:tc>
                <a:extLst>
                  <a:ext uri="{0D108BD9-81ED-4DB2-BD59-A6C34878D82A}">
                    <a16:rowId xmlns:a16="http://schemas.microsoft.com/office/drawing/2014/main" val="2556978110"/>
                  </a:ext>
                </a:extLst>
              </a:tr>
              <a:tr h="304800">
                <a:tc>
                  <a:txBody>
                    <a:bodyPr/>
                    <a:lstStyle/>
                    <a:p>
                      <a:r>
                        <a:rPr lang="en-GB" sz="1600"/>
                        <a:t>Flatten</a:t>
                      </a:r>
                    </a:p>
                  </a:txBody>
                  <a:tcPr anchor="ctr"/>
                </a:tc>
                <a:tc>
                  <a:txBody>
                    <a:bodyPr/>
                    <a:lstStyle/>
                    <a:p>
                      <a:r>
                        <a:rPr lang="en-GB" sz="1600"/>
                        <a:t>Convert 3D to 1D</a:t>
                      </a:r>
                    </a:p>
                  </a:txBody>
                  <a:tcPr anchor="ctr"/>
                </a:tc>
                <a:tc>
                  <a:txBody>
                    <a:bodyPr/>
                    <a:lstStyle/>
                    <a:p>
                      <a:r>
                        <a:rPr lang="en-GB" sz="1600"/>
                        <a:t>(None, 12672)</a:t>
                      </a:r>
                    </a:p>
                  </a:txBody>
                  <a:tcPr anchor="ctr"/>
                </a:tc>
                <a:extLst>
                  <a:ext uri="{0D108BD9-81ED-4DB2-BD59-A6C34878D82A}">
                    <a16:rowId xmlns:a16="http://schemas.microsoft.com/office/drawing/2014/main" val="2646134181"/>
                  </a:ext>
                </a:extLst>
              </a:tr>
              <a:tr h="518160">
                <a:tc>
                  <a:txBody>
                    <a:bodyPr/>
                    <a:lstStyle/>
                    <a:p>
                      <a:r>
                        <a:rPr lang="en-GB" sz="1600"/>
                        <a:t>Dense (ReLU)</a:t>
                      </a:r>
                    </a:p>
                  </a:txBody>
                  <a:tcPr anchor="ctr"/>
                </a:tc>
                <a:tc>
                  <a:txBody>
                    <a:bodyPr/>
                    <a:lstStyle/>
                    <a:p>
                      <a:r>
                        <a:rPr lang="en-GB" sz="1600"/>
                        <a:t>Hidden layer for learning combinations</a:t>
                      </a:r>
                    </a:p>
                  </a:txBody>
                  <a:tcPr anchor="ctr"/>
                </a:tc>
                <a:tc>
                  <a:txBody>
                    <a:bodyPr/>
                    <a:lstStyle/>
                    <a:p>
                      <a:r>
                        <a:rPr lang="en-GB" sz="1600"/>
                        <a:t>(None, 64)</a:t>
                      </a:r>
                    </a:p>
                  </a:txBody>
                  <a:tcPr anchor="ctr"/>
                </a:tc>
                <a:extLst>
                  <a:ext uri="{0D108BD9-81ED-4DB2-BD59-A6C34878D82A}">
                    <a16:rowId xmlns:a16="http://schemas.microsoft.com/office/drawing/2014/main" val="2742995974"/>
                  </a:ext>
                </a:extLst>
              </a:tr>
              <a:tr h="304800">
                <a:tc>
                  <a:txBody>
                    <a:bodyPr/>
                    <a:lstStyle/>
                    <a:p>
                      <a:r>
                        <a:rPr lang="en-GB" sz="1600"/>
                        <a:t>Dense (Softmax)</a:t>
                      </a:r>
                    </a:p>
                  </a:txBody>
                  <a:tcPr anchor="ctr"/>
                </a:tc>
                <a:tc>
                  <a:txBody>
                    <a:bodyPr/>
                    <a:lstStyle/>
                    <a:p>
                      <a:r>
                        <a:rPr lang="en-GB" sz="1600"/>
                        <a:t>Final output layer</a:t>
                      </a:r>
                    </a:p>
                  </a:txBody>
                  <a:tcPr anchor="ctr"/>
                </a:tc>
                <a:tc>
                  <a:txBody>
                    <a:bodyPr/>
                    <a:lstStyle/>
                    <a:p>
                      <a:r>
                        <a:rPr lang="en-GB" sz="1600" dirty="0"/>
                        <a:t>(None, 10)</a:t>
                      </a:r>
                    </a:p>
                  </a:txBody>
                  <a:tcPr anchor="ctr"/>
                </a:tc>
                <a:extLst>
                  <a:ext uri="{0D108BD9-81ED-4DB2-BD59-A6C34878D82A}">
                    <a16:rowId xmlns:a16="http://schemas.microsoft.com/office/drawing/2014/main" val="3106133129"/>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5408997" cy="3631763"/>
          </a:xfrm>
          <a:prstGeom prst="rect">
            <a:avLst/>
          </a:prstGeom>
          <a:noFill/>
        </p:spPr>
        <p:txBody>
          <a:bodyPr wrap="square">
            <a:spAutoFit/>
          </a:bodyPr>
          <a:lstStyle/>
          <a:p>
            <a:pPr marL="457200" indent="-457200" algn="l">
              <a:buFont typeface="+mj-lt"/>
              <a:buAutoNum type="arabicPeriod"/>
            </a:pPr>
            <a:r>
              <a:rPr lang="en-GB" sz="2000" b="0" i="0" u="none" strike="noStrike" dirty="0">
                <a:solidFill>
                  <a:srgbClr val="404040"/>
                </a:solidFill>
                <a:effectLst/>
                <a:latin typeface="Inter" panose="02000503000000020004" pitchFamily="2" charset="0"/>
              </a:rPr>
              <a:t>"Deep Learning" (Ian Goodfellow et al.)</a:t>
            </a: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algn="l"/>
            <a:r>
              <a:rPr lang="en-GB" sz="2000" b="1" i="0" u="none" strike="noStrike" dirty="0">
                <a:solidFill>
                  <a:srgbClr val="404040"/>
                </a:solidFill>
                <a:effectLst/>
                <a:latin typeface="Inter" panose="02000503000000020004" pitchFamily="2" charset="0"/>
              </a:rPr>
              <a:t>Courses</a:t>
            </a:r>
          </a:p>
          <a:p>
            <a:pPr marL="457200" indent="-457200" algn="l">
              <a:buFont typeface="+mj-lt"/>
              <a:buAutoNum type="arabicPeriod"/>
            </a:pPr>
            <a:r>
              <a:rPr lang="en-GB" sz="2000" b="0" i="0" u="none" strike="noStrike" dirty="0">
                <a:solidFill>
                  <a:srgbClr val="404040"/>
                </a:solidFill>
                <a:effectLst/>
                <a:latin typeface="Inter" panose="02000503000000020004" pitchFamily="2" charset="0"/>
                <a:hlinkClick r:id="rId4"/>
              </a:rPr>
              <a:t>Deep Learning Specialization (Andrew Ng, Coursera)</a:t>
            </a:r>
            <a:endParaRPr lang="en-GB" sz="2000" b="0" i="0" u="none" strike="noStrike" dirty="0">
              <a:solidFill>
                <a:srgbClr val="404040"/>
              </a:solidFill>
              <a:effectLst/>
              <a:latin typeface="Inter" panose="02000503000000020004" pitchFamily="2" charset="0"/>
            </a:endParaRP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hlinkClick r:id="rId5"/>
              </a:rPr>
              <a:t>Fast.ai Practical Deep Learning</a:t>
            </a:r>
            <a:endParaRPr lang="en-GB" sz="2000" b="0" i="0" u="none" strike="noStrike" dirty="0">
              <a:solidFill>
                <a:srgbClr val="404040"/>
              </a:solidFill>
              <a:effectLst/>
              <a:latin typeface="Inter" panose="02000503000000020004" pitchFamily="2" charset="0"/>
            </a:endParaRPr>
          </a:p>
          <a:p>
            <a:pPr algn="l"/>
            <a:r>
              <a:rPr lang="en-GB" sz="2000" b="1" i="0" u="none" strike="noStrike" dirty="0">
                <a:solidFill>
                  <a:srgbClr val="404040"/>
                </a:solidFill>
                <a:effectLst/>
                <a:latin typeface="Inter" panose="02000503000000020004" pitchFamily="2" charset="0"/>
              </a:rPr>
              <a:t>Datasets for Practice</a:t>
            </a:r>
          </a:p>
          <a:p>
            <a:pPr marL="457200" indent="-457200" algn="l">
              <a:buFont typeface="+mj-lt"/>
              <a:buAutoNum type="arabicPeriod"/>
            </a:pPr>
            <a:r>
              <a:rPr lang="en-GB" sz="2000" b="0" i="0" u="none" strike="noStrike" dirty="0">
                <a:solidFill>
                  <a:srgbClr val="404040"/>
                </a:solidFill>
                <a:effectLst/>
                <a:latin typeface="Inter" panose="02000503000000020004" pitchFamily="2" charset="0"/>
              </a:rPr>
              <a:t>MNIST (Handwritten digits)</a:t>
            </a: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CIFAR-10 (Image classification)</a:t>
            </a:r>
          </a:p>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IMDB Reviews (Sentiment analysis)</a:t>
            </a:r>
          </a:p>
        </p:txBody>
      </p:sp>
    </p:spTree>
    <p:extLst>
      <p:ext uri="{BB962C8B-B14F-4D97-AF65-F5344CB8AC3E}">
        <p14:creationId xmlns:p14="http://schemas.microsoft.com/office/powerpoint/2010/main" val="374039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4211</TotalTime>
  <Words>2639</Words>
  <Application>Microsoft Macintosh PowerPoint</Application>
  <PresentationFormat>On-screen Show (16:9)</PresentationFormat>
  <Paragraphs>347</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Tajawal</vt:lpstr>
      <vt:lpstr>IBM Plex Sans Arabic Medium</vt:lpstr>
      <vt:lpstr>Calibri</vt:lpstr>
      <vt:lpstr>Inter</vt:lpstr>
      <vt:lpstr>IBM Plex Sans Arabic SemiBold</vt:lpstr>
      <vt:lpstr>IBM Plex Sans Arabic</vt:lpstr>
      <vt:lpstr>Wingdings</vt:lpstr>
      <vt:lpstr>Simple Light</vt:lpstr>
      <vt:lpstr>أكـــــاديميــــة طــــويـــق</vt:lpstr>
      <vt:lpstr>CNN Architecture    </vt:lpstr>
      <vt:lpstr>PowerPoint Presentation</vt:lpstr>
      <vt:lpstr> Introduction to CNN Architecture     </vt:lpstr>
      <vt:lpstr> Introduction to CNN Architecture     </vt:lpstr>
      <vt:lpstr> CNN Architecture Overview     </vt:lpstr>
      <vt:lpstr> Convolutional Layers and Feature Maps      </vt:lpstr>
      <vt:lpstr> Convolutional Layers and Feature Maps      </vt:lpstr>
      <vt:lpstr> Convolutional Layers and Feature Maps      </vt:lpstr>
      <vt:lpstr> Activation Functions (Non-linearity)      </vt:lpstr>
      <vt:lpstr> Activation Functions (Non-linearity)      </vt:lpstr>
      <vt:lpstr> Leaky ReLu Activation Function     </vt:lpstr>
      <vt:lpstr> Leaky ReLu Activation Function     </vt:lpstr>
      <vt:lpstr> Sigmoid Activation Function      </vt:lpstr>
      <vt:lpstr> Sigmoid Activation Function      </vt:lpstr>
      <vt:lpstr> Sigmoid Activation Function      </vt:lpstr>
      <vt:lpstr> What are Pooling Layers?       </vt:lpstr>
      <vt:lpstr> What are Average Pooling        </vt:lpstr>
      <vt:lpstr> Global Pooling (Global Max or Average)        </vt:lpstr>
      <vt:lpstr> Global Pooling (Global Max or Average)        </vt:lpstr>
      <vt:lpstr> Why Use Pooling?         </vt:lpstr>
      <vt:lpstr> Fully Connected Layers and Classification          </vt:lpstr>
      <vt:lpstr>Softmax Activation (for Multi-class Classification)          </vt:lpstr>
      <vt:lpstr>Loss Function           </vt:lpstr>
      <vt:lpstr>Summary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31</cp:revision>
  <dcterms:modified xsi:type="dcterms:W3CDTF">2025-04-30T16:47:42Z</dcterms:modified>
</cp:coreProperties>
</file>