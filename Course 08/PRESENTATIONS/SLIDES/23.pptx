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98" r:id="rId5"/>
    <p:sldId id="539" r:id="rId6"/>
    <p:sldId id="551" r:id="rId7"/>
    <p:sldId id="552" r:id="rId8"/>
    <p:sldId id="540" r:id="rId9"/>
    <p:sldId id="560" r:id="rId10"/>
    <p:sldId id="561" r:id="rId11"/>
    <p:sldId id="562" r:id="rId12"/>
    <p:sldId id="563" r:id="rId13"/>
    <p:sldId id="557" r:id="rId14"/>
    <p:sldId id="558" r:id="rId15"/>
    <p:sldId id="553" r:id="rId16"/>
    <p:sldId id="554" r:id="rId17"/>
    <p:sldId id="564" r:id="rId18"/>
    <p:sldId id="565" r:id="rId19"/>
    <p:sldId id="566" r:id="rId20"/>
    <p:sldId id="370" r:id="rId21"/>
    <p:sldId id="312" r:id="rId22"/>
    <p:sldId id="275" r:id="rId23"/>
    <p:sldId id="276" r:id="rId24"/>
  </p:sldIdLst>
  <p:sldSz cx="9144000" cy="5143500" type="screen16x9"/>
  <p:notesSz cx="6858000" cy="9144000"/>
  <p:embeddedFontLst>
    <p:embeddedFont>
      <p:font typeface="IBM Plex Sans Arabic" panose="020B0603050203000203" pitchFamily="34" charset="-78"/>
      <p:regular r:id="rId26"/>
      <p:bold r:id="rId27"/>
    </p:embeddedFont>
    <p:embeddedFont>
      <p:font typeface="IBM Plex Sans Arabic Medium" panose="020B0603050203000203" pitchFamily="34" charset="-78"/>
      <p:regular r:id="rId28"/>
      <p:bold r:id="rId29"/>
    </p:embeddedFont>
    <p:embeddedFont>
      <p:font typeface="IBM Plex Sans Arabic SemiBold" panose="020B0603050203000203" pitchFamily="34" charset="-78"/>
      <p:regular r:id="rId30"/>
      <p:bold r:id="rId31"/>
    </p:embeddedFont>
    <p:embeddedFont>
      <p:font typeface="Inter" panose="020F0502020204030204" pitchFamily="34" charset="0"/>
      <p:regular r:id="rId32"/>
      <p:bold r:id="rId33"/>
      <p:italic r:id="rId34"/>
      <p:boldItalic r:id="rId35"/>
    </p:embeddedFont>
    <p:embeddedFont>
      <p:font typeface="Nunito" pitchFamily="2" charset="77"/>
      <p:regular r:id="rId36"/>
      <p:bold r:id="rId37"/>
      <p:italic r:id="rId38"/>
      <p:boldItalic r:id="rId39"/>
    </p:embeddedFont>
    <p:embeddedFont>
      <p:font typeface="Tajawal" pitchFamily="2" charset="-78"/>
      <p:regular r:id="rId40"/>
      <p:bold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24"/>
    <p:restoredTop sz="94247"/>
  </p:normalViewPr>
  <p:slideViewPr>
    <p:cSldViewPr snapToGrid="0">
      <p:cViewPr varScale="1">
        <p:scale>
          <a:sx n="149" d="100"/>
          <a:sy n="149" d="100"/>
        </p:scale>
        <p:origin x="104" y="344"/>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CE20816-1F24-46D9-89DD-6FFEE700F24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7CD495B-FC5A-F226-2523-6E0861CBC8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B7203EE-8E11-9321-099D-0620FB1838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9817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6B9BDE8-2C21-E8E2-343E-690C2E12EF0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E229485-EB2F-925E-9172-598BFC53F1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5DB3474E-4E76-9301-6F58-CEFCA74FAB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43396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54858F06-B836-178E-5936-64B49BBCC8C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7526F42-EBEE-3B58-53B6-567DF8C1ED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20519259-09F4-4C67-2107-F0A438C327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1718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0A15C87-9866-EEBF-4609-59F0C77AF2BD}"/>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8EF7C83F-F255-7C1A-4CBC-74D37BE341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B70B8FF3-20FE-16AF-CFA6-FBDB299BBC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32348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A520ABD-1559-E12F-8427-2C2DB73B9D30}"/>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984A938E-2BB5-2630-E22B-23B7B3A110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D92BD475-9C93-A9F5-E647-21681F8AA6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91422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B5CF16ED-B718-87EF-B5A1-775227DEDB0D}"/>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6F6F46CD-0E0C-70D9-90E7-57DC158600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7E2B998E-EB23-CA8F-DD84-17D948FA9A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5683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02B9FADC-4BB9-DE7F-F4A6-413CD70632F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27CA0BC-2D33-0DB4-67CE-2BF423BA94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231272BD-756C-DF58-A321-2FA4D5A393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57884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F701845-C50D-1BE4-9A29-E047BBC06F4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CEDF367-99E9-2F32-A5B3-28AC242C20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B084F1D9-A609-EC19-EB22-0E5358164B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53432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654461C-7C7F-6BD0-6898-35DA0623FE8D}"/>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D2941C47-B82A-5226-7A14-3E4CA4B679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E87AB67-78D6-196D-E6A0-AF405CD620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00627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D17BB67-A4AB-4818-A85F-FF8730CC7D9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F9A0637-A9BA-7BF5-F4AA-6EC95BE568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A8FA3063-330C-9F0B-6F7E-776AEB0CAC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80339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09FCEF1-04C9-BB10-8567-76E930F9BE46}"/>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5ED3B2A8-5511-374F-B10E-2930281EEE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88AD085-9595-3360-7E4B-D4AC33D0B2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59279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5E90B4D-D389-0D90-A824-116CB96368C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D018DF0E-2BE4-F20A-E037-04D1A39BA9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89B6587E-D80A-CB6C-92C6-82138FA328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04866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045BCCF4-2B18-8B26-E7A4-50C7757431D5}"/>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BE427D6-EA70-22B3-1745-7B50EA1D41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251F590-D0C7-AB42-E102-7F49C891EA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53712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FE1D59B1-7F12-722A-08FE-7321A54828EA}"/>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EEB2F31B-97A1-037B-AF3E-B5B3C9A724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406F1EF1-121A-A190-37E8-BC8F8E0C3A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50036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B7044A25-2A9A-FD0B-E69B-1E40DFF0660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64162330-21B0-2145-8897-0575BD0041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DB04ABE1-178F-9431-637E-805C35C9C5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9813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55D95AA4-E7D4-BA19-5924-0BFA52E4AAFA}"/>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B86841D0-62E4-25A5-E107-DBE5317C49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49CD0E9A-94EE-FCAE-66DD-C1D6F8728D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98550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BECD89B-AAA3-F8FE-DFBC-CC79A9A4E0AF}"/>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F508F7A9-5506-B123-0264-14DD3EE902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CCD177CE-FC44-74CB-378D-8296859D59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02857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9">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0">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drive.google.com/file/d/1wox2PYfI3GELWNgK_0FEDESqaTjj1yU9/view?usp=share_link" TargetMode="External"/><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hyperlink" Target="https://drive.google.com/file/d/1NkP4bg_YxinIxxmgwvUBWI-w2iQi-ocZ/view?usp=share_link" TargetMode="External"/></Relationships>
</file>

<file path=ppt/slides/_rels/slide20.xml.rels><?xml version="1.0" encoding="UTF-8" standalone="yes"?>
<Relationships xmlns="http://schemas.openxmlformats.org/package/2006/relationships"><Relationship Id="rId8" Type="http://schemas.openxmlformats.org/officeDocument/2006/relationships/hyperlink" Target="https://www.wallpaperflare.com/wallpaper-programmer-coding-pattern-text-full-frame-backgrounds-wallpaper-pfdto" TargetMode="External"/><Relationship Id="rId3" Type="http://schemas.openxmlformats.org/officeDocument/2006/relationships/image" Target="../media/image9.png"/><Relationship Id="rId7" Type="http://schemas.openxmlformats.org/officeDocument/2006/relationships/image" Target="../media/image10.jp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hyperlink" Target="https://drive.google.com/file/d/1NkP4bg_YxinIxxmgwvUBWI-w2iQi-ocZ/view?usp=share_link" TargetMode="External"/><Relationship Id="rId5" Type="http://schemas.openxmlformats.org/officeDocument/2006/relationships/hyperlink" Target="https://drive.google.com/file/d/1wox2PYfI3GELWNgK_0FEDESqaTjj1yU9/view?usp=share_link" TargetMode="External"/><Relationship Id="rId4" Type="http://schemas.openxmlformats.org/officeDocument/2006/relationships/hyperlink" Target="https://drive.google.com/file/d/1PiOm8C_iKyRlnpc_lxibehgEqTTGMsDX/view?usp=share_link"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hyperlink" Target="https://www.geeksforgeeks.org/variational-autoencoders/"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22.xml"/><Relationship Id="rId16" Type="http://schemas.openxmlformats.org/officeDocument/2006/relationships/image" Target="../media/image24.png"/><Relationship Id="rId1" Type="http://schemas.openxmlformats.org/officeDocument/2006/relationships/slideLayout" Target="../slideLayouts/slideLayout4.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200"/>
              </a:spcAft>
              <a:buSzPts val="1800"/>
              <a:buNone/>
            </a:pPr>
            <a:r>
              <a:rPr lang="en-US" sz="3600" dirty="0">
                <a:solidFill>
                  <a:schemeClr val="lt1"/>
                </a:solidFill>
                <a:latin typeface="IBM Plex Sans Arabic Medium"/>
                <a:ea typeface="IBM Plex Sans Arabic Medium"/>
                <a:cs typeface="IBM Plex Sans Arabic Medium"/>
                <a:sym typeface="IBM Plex Sans Arabic Medium"/>
              </a:rPr>
              <a:t>Deep Learning</a:t>
            </a:r>
            <a:endParaRPr sz="3600" dirty="0">
              <a:solidFill>
                <a:schemeClr val="lt1"/>
              </a:solidFill>
              <a:latin typeface="IBM Plex Sans Arabic Medium"/>
              <a:ea typeface="IBM Plex Sans Arabic Medium"/>
              <a:cs typeface="IBM Plex Sans Arabic Medium"/>
              <a:sym typeface="IBM Plex Sans Arab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0" y="656623"/>
            <a:ext cx="8520600" cy="3112070"/>
          </a:xfrm>
          <a:prstGeom prst="rect">
            <a:avLst/>
          </a:prstGeom>
          <a:noFill/>
          <a:ln>
            <a:noFill/>
          </a:ln>
        </p:spPr>
        <p:txBody>
          <a:bodyPr spcFirstLastPara="1" wrap="square" lIns="91425" tIns="91425" rIns="91425" bIns="91425" anchor="b" anchorCtr="0">
            <a:normAutofit/>
          </a:bodyPr>
          <a:lstStyle/>
          <a:p>
            <a:r>
              <a:rPr lang="en-GB" sz="4000" dirty="0">
                <a:solidFill>
                  <a:srgbClr val="7030A0"/>
                </a:solidFill>
                <a:latin typeface="Times New Roman" panose="02020603050405020304" pitchFamily="18" charset="0"/>
              </a:rPr>
              <a:t>Variational Autoencoders (VAEs)</a:t>
            </a:r>
            <a:br>
              <a:rPr lang="en-GB" sz="3200" b="1" i="0" u="none" strike="noStrike" dirty="0">
                <a:solidFill>
                  <a:srgbClr val="7030A0"/>
                </a:solidFill>
                <a:effectLst/>
                <a:latin typeface="Arial" panose="020B0604020202020204" pitchFamily="34" charset="0"/>
              </a:rPr>
            </a:br>
            <a:br>
              <a:rPr lang="en-US" sz="1800" dirty="0">
                <a:latin typeface="Calibri"/>
                <a:ea typeface="Calibri"/>
                <a:cs typeface="Calibri"/>
                <a:sym typeface="Calibri"/>
              </a:rPr>
            </a:br>
            <a:endParaRPr dirty="0"/>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1402680" y="1326871"/>
            <a:ext cx="6634716" cy="2277506"/>
          </a:xfrm>
          <a:prstGeom prst="rect">
            <a:avLst/>
          </a:prstGeom>
          <a:noFill/>
          <a:ln>
            <a:noFill/>
          </a:ln>
        </p:spPr>
        <p:txBody>
          <a:bodyPr spcFirstLastPara="1" wrap="square" lIns="91425" tIns="45700" rIns="91425" bIns="45700" anchor="t" anchorCtr="0">
            <a:spAutoFit/>
          </a:bodyPr>
          <a:lstStyle/>
          <a:p>
            <a:pPr marL="0" marR="0" lvl="0" indent="0" algn="just" rtl="0">
              <a:lnSpc>
                <a:spcPct val="125000"/>
              </a:lnSpc>
              <a:spcBef>
                <a:spcPts val="0"/>
              </a:spcBef>
              <a:spcAft>
                <a:spcPts val="0"/>
              </a:spcAft>
              <a:buNone/>
            </a:pPr>
            <a:r>
              <a:rPr lang="en-US" sz="2400" b="1" dirty="0">
                <a:solidFill>
                  <a:srgbClr val="7030A0"/>
                </a:solidFill>
              </a:rPr>
              <a:t>Topics Covered</a:t>
            </a:r>
            <a:r>
              <a:rPr lang="en-US" sz="2400" b="1" i="0" u="none" strike="noStrike" cap="none" dirty="0">
                <a:solidFill>
                  <a:srgbClr val="7030A0"/>
                </a:solidFill>
                <a:latin typeface="Arial"/>
                <a:ea typeface="Arial"/>
                <a:cs typeface="Arial"/>
                <a:sym typeface="Arial"/>
              </a:rPr>
              <a:t>:</a:t>
            </a:r>
            <a:endParaRPr lang="en-GB" b="0" i="0" u="none" strike="noStrike" dirty="0">
              <a:solidFill>
                <a:srgbClr val="000000"/>
              </a:solidFill>
              <a:effectLst/>
            </a:endParaRPr>
          </a:p>
          <a:p>
            <a:pPr marL="342900" indent="-342900" algn="l" rtl="0">
              <a:buFont typeface="+mj-lt"/>
              <a:buAutoNum type="arabicPeriod"/>
            </a:pPr>
            <a:r>
              <a:rPr lang="en-GB" b="1" dirty="0"/>
              <a:t>What is an Variational Autoencoder</a:t>
            </a:r>
          </a:p>
          <a:p>
            <a:pPr marL="342900" indent="-342900" algn="l" rtl="0">
              <a:buFont typeface="+mj-lt"/>
              <a:buAutoNum type="arabicPeriod"/>
            </a:pPr>
            <a:r>
              <a:rPr lang="en-GB" b="1" dirty="0"/>
              <a:t>Working of Variational Autoencoders</a:t>
            </a:r>
            <a:r>
              <a:rPr lang="en-GB" dirty="0"/>
              <a:t> </a:t>
            </a:r>
          </a:p>
          <a:p>
            <a:pPr marL="342900" indent="-342900" algn="l" rtl="0">
              <a:buFont typeface="+mj-lt"/>
              <a:buAutoNum type="arabicPeriod"/>
            </a:pPr>
            <a:r>
              <a:rPr lang="en-GB" b="1" dirty="0"/>
              <a:t>Architecture of Variational Autoencoders</a:t>
            </a:r>
            <a:r>
              <a:rPr lang="en-GB" dirty="0"/>
              <a:t> </a:t>
            </a:r>
          </a:p>
          <a:p>
            <a:pPr marL="342900" indent="-342900" algn="l" rtl="0">
              <a:buFont typeface="+mj-lt"/>
              <a:buAutoNum type="arabicPeriod"/>
            </a:pPr>
            <a:r>
              <a:rPr lang="en-GB" b="1" dirty="0"/>
              <a:t>Loss Functions in Variational Autoencoder </a:t>
            </a:r>
          </a:p>
          <a:p>
            <a:pPr marL="342900" indent="-342900" algn="l" rtl="0">
              <a:buFont typeface="+mj-lt"/>
              <a:buAutoNum type="arabicPeriod"/>
            </a:pPr>
            <a:r>
              <a:rPr lang="en-GB" b="1" dirty="0"/>
              <a:t>Types of Autoencoders</a:t>
            </a:r>
            <a:endParaRPr lang="en-GB" dirty="0"/>
          </a:p>
          <a:p>
            <a:pPr marL="342900" indent="-342900" algn="l" rtl="0">
              <a:buFont typeface="+mj-lt"/>
              <a:buAutoNum type="arabicPeriod"/>
            </a:pPr>
            <a:r>
              <a:rPr lang="en-GB" b="1" dirty="0"/>
              <a:t>GAN vs VAE</a:t>
            </a:r>
          </a:p>
          <a:p>
            <a:pPr marL="342900" indent="-342900" algn="l" rtl="0">
              <a:buFont typeface="+mj-lt"/>
              <a:buAutoNum type="arabicPeriod"/>
            </a:pPr>
            <a:r>
              <a:rPr lang="en-GB" b="1" dirty="0"/>
              <a:t>Application of Variational Autoencoders</a:t>
            </a:r>
          </a:p>
          <a:p>
            <a:pPr marL="342900" indent="-342900" algn="l" rtl="0">
              <a:buFont typeface="+mj-lt"/>
              <a:buAutoNum type="arabicPeriod"/>
            </a:pPr>
            <a:r>
              <a:rPr lang="en-GB" b="1" i="0" u="none" strike="noStrike" dirty="0">
                <a:solidFill>
                  <a:srgbClr val="000000"/>
                </a:solidFill>
                <a:effectLst/>
              </a:rPr>
              <a:t>Implementation of VAE (Image </a:t>
            </a:r>
            <a:r>
              <a:rPr lang="en-GB" b="1" dirty="0"/>
              <a:t>Compression+ Anomaly Detection)</a:t>
            </a:r>
            <a:endParaRPr lang="en-GB" b="0" i="0" u="none" strike="noStrike" dirty="0">
              <a:solidFill>
                <a:srgbClr val="000000"/>
              </a:solidFill>
              <a:effectLs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4EF5623-6B09-C586-D026-E1815682342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B8CE39D-1BAA-9EAF-5C66-19BBE6DD2056}"/>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a:bodyPr>
          <a:lstStyle/>
          <a:p>
            <a:pPr algn="l">
              <a:buNone/>
            </a:pPr>
            <a:r>
              <a:rPr lang="en-GB" sz="2800" b="1" i="0" u="none" strike="noStrike" dirty="0">
                <a:solidFill>
                  <a:srgbClr val="7030A0"/>
                </a:solidFill>
                <a:effectLst/>
              </a:rPr>
              <a:t>Variational Autoencoders (VAEs)</a:t>
            </a: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4482F75-B306-CAB6-0919-E013D5E5A03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91F168CB-0CDB-B6DB-AE67-BA9ABA3C3998}"/>
              </a:ext>
            </a:extLst>
          </p:cNvPr>
          <p:cNvSpPr txBox="1"/>
          <p:nvPr/>
        </p:nvSpPr>
        <p:spPr>
          <a:xfrm>
            <a:off x="127221" y="686618"/>
            <a:ext cx="7920240" cy="4278094"/>
          </a:xfrm>
          <a:prstGeom prst="rect">
            <a:avLst/>
          </a:prstGeom>
          <a:noFill/>
        </p:spPr>
        <p:txBody>
          <a:bodyPr wrap="square">
            <a:spAutoFit/>
          </a:bodyPr>
          <a:lstStyle/>
          <a:p>
            <a:pPr algn="l">
              <a:buNone/>
            </a:pPr>
            <a:r>
              <a:rPr lang="en-GB" sz="1600" b="0" i="0" u="none" strike="noStrike" dirty="0">
                <a:solidFill>
                  <a:srgbClr val="000000"/>
                </a:solidFill>
                <a:effectLst/>
              </a:rPr>
              <a:t>Variational Autoencoders (VAEs) are a type of generative model that combine principles from neural networks and Bayesian inference. Unlike traditional autoencoders that learn a fixed, compressed representation of data, VAEs take a probabilistic approach.</a:t>
            </a:r>
          </a:p>
          <a:p>
            <a:pPr algn="l">
              <a:buNone/>
            </a:pPr>
            <a:r>
              <a:rPr lang="en-GB" sz="1600" b="0" i="0" u="none" strike="noStrike" dirty="0">
                <a:solidFill>
                  <a:srgbClr val="000000"/>
                </a:solidFill>
                <a:effectLst/>
              </a:rPr>
              <a:t>Here's what makes VAEs different:</a:t>
            </a:r>
          </a:p>
          <a:p>
            <a:pPr marL="342900" indent="-342900" algn="l">
              <a:buFont typeface="+mj-lt"/>
              <a:buAutoNum type="arabicPeriod"/>
            </a:pPr>
            <a:r>
              <a:rPr lang="en-GB" sz="1600" b="1" i="0" u="none" strike="noStrike" dirty="0">
                <a:solidFill>
                  <a:srgbClr val="000000"/>
                </a:solidFill>
                <a:effectLst/>
              </a:rPr>
              <a:t>Probabilistic Latent Space:</a:t>
            </a:r>
            <a:r>
              <a:rPr lang="en-GB" sz="1600" b="0" i="0" u="none" strike="noStrike" dirty="0">
                <a:solidFill>
                  <a:srgbClr val="000000"/>
                </a:solidFill>
                <a:effectLst/>
              </a:rPr>
              <a:t> Instead of learning a single point in the latent space for each input, VAEs learn a </a:t>
            </a:r>
            <a:r>
              <a:rPr lang="en-GB" sz="1600" b="0" i="1" u="none" strike="noStrike" dirty="0">
                <a:solidFill>
                  <a:srgbClr val="000000"/>
                </a:solidFill>
                <a:effectLst/>
              </a:rPr>
              <a:t>distribution</a:t>
            </a:r>
            <a:r>
              <a:rPr lang="en-GB" sz="1600" b="0" i="0" u="none" strike="noStrike" dirty="0">
                <a:solidFill>
                  <a:srgbClr val="000000"/>
                </a:solidFill>
                <a:effectLst/>
              </a:rPr>
              <a:t> (typically a Gaussian distribution) over the latent space. This means for each input, the encoder outputs parameters (like mean and variance) of a distribution, rather than a single vector.</a:t>
            </a:r>
          </a:p>
          <a:p>
            <a:pPr marL="342900" indent="-342900" algn="l">
              <a:buFont typeface="+mj-lt"/>
              <a:buAutoNum type="arabicPeriod"/>
            </a:pPr>
            <a:r>
              <a:rPr lang="en-GB" sz="1600" b="1" i="0" u="none" strike="noStrike" dirty="0">
                <a:solidFill>
                  <a:srgbClr val="000000"/>
                </a:solidFill>
                <a:effectLst/>
              </a:rPr>
              <a:t>Generative Capability:</a:t>
            </a:r>
            <a:r>
              <a:rPr lang="en-GB" sz="1600" b="0" i="0" u="none" strike="noStrike" dirty="0">
                <a:solidFill>
                  <a:srgbClr val="000000"/>
                </a:solidFill>
                <a:effectLst/>
              </a:rPr>
              <a:t> This probabilistic nature allows VAEs to generate new data samples. By sampling from the learned latent distribution and passing these samples through the decoder, VAEs can create novel outputs that resemble the training data.</a:t>
            </a:r>
          </a:p>
          <a:p>
            <a:pPr marL="342900" indent="-342900" algn="l">
              <a:buFont typeface="+mj-lt"/>
              <a:buAutoNum type="arabicPeriod"/>
            </a:pPr>
            <a:r>
              <a:rPr lang="en-GB" sz="1600" b="1" i="0" u="none" strike="noStrike" dirty="0">
                <a:solidFill>
                  <a:srgbClr val="000000"/>
                </a:solidFill>
                <a:effectLst/>
              </a:rPr>
              <a:t>Applications:</a:t>
            </a:r>
            <a:r>
              <a:rPr lang="en-GB" sz="1600" b="0" i="0" u="none" strike="noStrike" dirty="0">
                <a:solidFill>
                  <a:srgbClr val="000000"/>
                </a:solidFill>
                <a:effectLst/>
              </a:rPr>
              <a:t> They are particularly effective in tasks such as generating realistic images, text synthesis, and other creative applications where generating new, diverse data is desired.</a:t>
            </a:r>
          </a:p>
          <a:p>
            <a:endParaRPr lang="en-GB" sz="1600" b="1" dirty="0">
              <a:latin typeface="+mj-lt"/>
            </a:endParaRPr>
          </a:p>
        </p:txBody>
      </p:sp>
    </p:spTree>
    <p:extLst>
      <p:ext uri="{BB962C8B-B14F-4D97-AF65-F5344CB8AC3E}">
        <p14:creationId xmlns:p14="http://schemas.microsoft.com/office/powerpoint/2010/main" val="2377176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C179245-137F-67F9-2E05-2A73F9E590A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4895422-AF95-F2F7-FACD-DCF1236BFB89}"/>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pPr algn="l">
              <a:buNone/>
            </a:pPr>
            <a:r>
              <a:rPr lang="en-GB" sz="2800" b="1" i="0" u="none" strike="noStrike" dirty="0">
                <a:solidFill>
                  <a:srgbClr val="7030A0"/>
                </a:solidFill>
                <a:effectLst/>
              </a:rPr>
              <a:t>How Do VAEs Work?</a:t>
            </a: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53142855-31B3-B00B-D5F7-C77B4057FEA1}"/>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82CF73AC-550B-53A3-1A6F-6F1C60520B55}"/>
              </a:ext>
            </a:extLst>
          </p:cNvPr>
          <p:cNvSpPr txBox="1"/>
          <p:nvPr/>
        </p:nvSpPr>
        <p:spPr>
          <a:xfrm>
            <a:off x="79513" y="511689"/>
            <a:ext cx="8090266" cy="4524315"/>
          </a:xfrm>
          <a:prstGeom prst="rect">
            <a:avLst/>
          </a:prstGeom>
          <a:noFill/>
        </p:spPr>
        <p:txBody>
          <a:bodyPr wrap="square">
            <a:spAutoFit/>
          </a:bodyPr>
          <a:lstStyle/>
          <a:p>
            <a:pPr algn="l">
              <a:buNone/>
            </a:pPr>
            <a:r>
              <a:rPr lang="en-GB" sz="1600" b="0" i="0" u="none" strike="noStrike" dirty="0">
                <a:solidFill>
                  <a:srgbClr val="000000"/>
                </a:solidFill>
                <a:effectLst/>
              </a:rPr>
              <a:t>VAEs operate with an encoder-decoder architecture, but with a crucial probabilistic twist in the latent space.</a:t>
            </a:r>
          </a:p>
          <a:p>
            <a:pPr algn="l">
              <a:buNone/>
            </a:pPr>
            <a:r>
              <a:rPr lang="en-GB" sz="1600" b="1" i="0" u="none" strike="noStrike" dirty="0">
                <a:solidFill>
                  <a:srgbClr val="000000"/>
                </a:solidFill>
                <a:effectLst/>
              </a:rPr>
              <a:t>The Encoder and Decoder in VAEs</a:t>
            </a:r>
          </a:p>
          <a:p>
            <a:pPr algn="l">
              <a:buNone/>
            </a:pPr>
            <a:r>
              <a:rPr lang="en-GB" sz="1600" b="1" i="0" u="none" strike="noStrike" dirty="0">
                <a:solidFill>
                  <a:srgbClr val="000000"/>
                </a:solidFill>
                <a:effectLst/>
              </a:rPr>
              <a:t>1. Encoder:</a:t>
            </a:r>
            <a:endParaRPr lang="en-GB" sz="1600" b="0" i="0" u="none" strike="noStrike" dirty="0">
              <a:solidFill>
                <a:srgbClr val="000000"/>
              </a:solidFill>
              <a:effectLst/>
            </a:endParaRPr>
          </a:p>
          <a:p>
            <a:pPr algn="l"/>
            <a:r>
              <a:rPr lang="en-GB" sz="1600" b="1" i="0" u="none" strike="noStrike" dirty="0">
                <a:solidFill>
                  <a:srgbClr val="000000"/>
                </a:solidFill>
                <a:effectLst/>
              </a:rPr>
              <a:t>Outputting Distribution Parameters:</a:t>
            </a:r>
            <a:r>
              <a:rPr lang="en-GB" sz="1600" b="0" i="0" u="none" strike="noStrike" dirty="0">
                <a:solidFill>
                  <a:srgbClr val="000000"/>
                </a:solidFill>
                <a:effectLst/>
              </a:rPr>
              <a:t> </a:t>
            </a:r>
            <a:r>
              <a:rPr lang="en-GB" sz="1600" i="0" u="none" strike="noStrike" dirty="0">
                <a:solidFill>
                  <a:srgbClr val="000000"/>
                </a:solidFill>
                <a:effectLst/>
              </a:rPr>
              <a:t>In a VAE, the encoder doesn't directly output a single latent vector for an input. Instead, for each input data point (x), it outputs the parameters of a probability distribution in the latent space, most commonly a Gaussian (normal) distribution.</a:t>
            </a:r>
          </a:p>
          <a:p>
            <a:pPr marL="857250" lvl="1" indent="-400050" algn="l">
              <a:buFont typeface="+mj-lt"/>
              <a:buAutoNum type="romanLcPeriod"/>
            </a:pPr>
            <a:r>
              <a:rPr lang="en-GB" sz="1600" b="1" i="0" u="none" strike="noStrike" dirty="0">
                <a:solidFill>
                  <a:srgbClr val="000000"/>
                </a:solidFill>
                <a:effectLst/>
              </a:rPr>
              <a:t>Mean (</a:t>
            </a:r>
            <a:r>
              <a:rPr lang="el-GR" sz="1600" b="1" i="0" u="none" strike="noStrike" dirty="0">
                <a:solidFill>
                  <a:srgbClr val="000000"/>
                </a:solidFill>
                <a:effectLst/>
              </a:rPr>
              <a:t>μ):</a:t>
            </a:r>
            <a:r>
              <a:rPr lang="el-GR" sz="1600" b="0" i="0" u="none" strike="noStrike" dirty="0">
                <a:solidFill>
                  <a:srgbClr val="000000"/>
                </a:solidFill>
                <a:effectLst/>
              </a:rPr>
              <a:t> </a:t>
            </a:r>
            <a:r>
              <a:rPr lang="en-GB" sz="1600" b="0" i="0" u="none" strike="noStrike" dirty="0">
                <a:solidFill>
                  <a:srgbClr val="000000"/>
                </a:solidFill>
                <a:effectLst/>
              </a:rPr>
              <a:t>Represents the </a:t>
            </a:r>
            <a:r>
              <a:rPr lang="en-GB" sz="1600" b="0" i="0" u="none" strike="noStrike" dirty="0" err="1">
                <a:solidFill>
                  <a:srgbClr val="000000"/>
                </a:solidFill>
                <a:effectLst/>
              </a:rPr>
              <a:t>center</a:t>
            </a:r>
            <a:r>
              <a:rPr lang="en-GB" sz="1600" b="0" i="0" u="none" strike="noStrike" dirty="0">
                <a:solidFill>
                  <a:srgbClr val="000000"/>
                </a:solidFill>
                <a:effectLst/>
              </a:rPr>
              <a:t> or most probable value of this learned distribution.</a:t>
            </a:r>
          </a:p>
          <a:p>
            <a:pPr marL="857250" lvl="1" indent="-400050" algn="l">
              <a:buFont typeface="+mj-lt"/>
              <a:buAutoNum type="romanLcPeriod"/>
            </a:pPr>
            <a:r>
              <a:rPr lang="en-GB" sz="1600" b="1" i="0" u="none" strike="noStrike" dirty="0">
                <a:solidFill>
                  <a:srgbClr val="000000"/>
                </a:solidFill>
                <a:effectLst/>
              </a:rPr>
              <a:t>Variance (</a:t>
            </a:r>
            <a:r>
              <a:rPr lang="el-GR" sz="1600" b="1" i="0" u="none" strike="noStrike" dirty="0">
                <a:solidFill>
                  <a:srgbClr val="000000"/>
                </a:solidFill>
                <a:effectLst/>
              </a:rPr>
              <a:t>σ2) (</a:t>
            </a:r>
            <a:r>
              <a:rPr lang="en-GB" sz="1600" b="1" i="0" u="none" strike="noStrike" dirty="0">
                <a:solidFill>
                  <a:srgbClr val="000000"/>
                </a:solidFill>
                <a:effectLst/>
              </a:rPr>
              <a:t>or log-variance, log</a:t>
            </a:r>
            <a:r>
              <a:rPr lang="el-GR" sz="1600" b="1" i="0" u="none" strike="noStrike" dirty="0">
                <a:solidFill>
                  <a:srgbClr val="000000"/>
                </a:solidFill>
                <a:effectLst/>
              </a:rPr>
              <a:t>σ2):</a:t>
            </a:r>
            <a:r>
              <a:rPr lang="el-GR" sz="1600" b="0" i="0" u="none" strike="noStrike" dirty="0">
                <a:solidFill>
                  <a:srgbClr val="000000"/>
                </a:solidFill>
                <a:effectLst/>
              </a:rPr>
              <a:t> </a:t>
            </a:r>
            <a:r>
              <a:rPr lang="en-GB" sz="1600" b="0" i="0" u="none" strike="noStrike" dirty="0">
                <a:solidFill>
                  <a:srgbClr val="000000"/>
                </a:solidFill>
                <a:effectLst/>
              </a:rPr>
              <a:t>Measures how spread out or uncertain this distribution is.</a:t>
            </a:r>
          </a:p>
          <a:p>
            <a:pPr algn="l"/>
            <a:r>
              <a:rPr lang="en-GB" sz="1600" b="1" i="0" u="none" strike="noStrike" dirty="0">
                <a:solidFill>
                  <a:srgbClr val="000000"/>
                </a:solidFill>
                <a:effectLst/>
              </a:rPr>
              <a:t>Purpose:</a:t>
            </a:r>
            <a:r>
              <a:rPr lang="en-GB" sz="1600" b="0" i="0" u="none" strike="noStrike" dirty="0">
                <a:solidFill>
                  <a:srgbClr val="000000"/>
                </a:solidFill>
                <a:effectLst/>
              </a:rPr>
              <a:t> The encoder learns to map the input data to a distribution in the latent space, rather than a fixed point.</a:t>
            </a:r>
          </a:p>
          <a:p>
            <a:pPr algn="l">
              <a:buNone/>
            </a:pPr>
            <a:r>
              <a:rPr lang="en-GB" sz="1600" b="1" i="0" u="none" strike="noStrike" dirty="0">
                <a:solidFill>
                  <a:srgbClr val="000000"/>
                </a:solidFill>
                <a:effectLst/>
              </a:rPr>
              <a:t>2. Latent Space Sampling (The Reparameterization Trick):</a:t>
            </a:r>
            <a:endParaRPr lang="en-GB" sz="1600" b="0" i="0" u="none" strike="noStrike" dirty="0">
              <a:solidFill>
                <a:srgbClr val="000000"/>
              </a:solidFill>
              <a:effectLst/>
            </a:endParaRPr>
          </a:p>
          <a:p>
            <a:pPr algn="l"/>
            <a:r>
              <a:rPr lang="en-GB" sz="1600" b="1" i="0" u="none" strike="noStrike" dirty="0">
                <a:solidFill>
                  <a:srgbClr val="000000"/>
                </a:solidFill>
                <a:effectLst/>
              </a:rPr>
              <a:t>The Challenge:</a:t>
            </a:r>
            <a:r>
              <a:rPr lang="en-GB" sz="1600" b="0" i="0" u="none" strike="noStrike" dirty="0">
                <a:solidFill>
                  <a:srgbClr val="000000"/>
                </a:solidFill>
                <a:effectLst/>
              </a:rPr>
              <a:t> During training, we need to be able to backpropagate gradients through the sampling process. Directly sampling from a random distribution is not differentiable.</a:t>
            </a:r>
          </a:p>
        </p:txBody>
      </p:sp>
    </p:spTree>
    <p:extLst>
      <p:ext uri="{BB962C8B-B14F-4D97-AF65-F5344CB8AC3E}">
        <p14:creationId xmlns:p14="http://schemas.microsoft.com/office/powerpoint/2010/main" val="2194060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BBC5697-9450-851A-6C55-24059E868FE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F112F28-B05B-7F82-13C3-E2150C083E0D}"/>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pPr algn="l">
              <a:buNone/>
            </a:pPr>
            <a:r>
              <a:rPr lang="en-GB" sz="2800" b="1" i="0" u="none" strike="noStrike" dirty="0">
                <a:solidFill>
                  <a:srgbClr val="7030A0"/>
                </a:solidFill>
                <a:effectLst/>
              </a:rPr>
              <a:t>How Do VAEs Work?</a:t>
            </a: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EBF1C9F8-1BD3-02E6-A395-0D7B606ABDB3}"/>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0B6DE251-96F4-0DEA-B5AC-65411A43D6B8}"/>
              </a:ext>
            </a:extLst>
          </p:cNvPr>
          <p:cNvSpPr txBox="1"/>
          <p:nvPr/>
        </p:nvSpPr>
        <p:spPr>
          <a:xfrm>
            <a:off x="0" y="537053"/>
            <a:ext cx="9007267" cy="4832092"/>
          </a:xfrm>
          <a:prstGeom prst="rect">
            <a:avLst/>
          </a:prstGeom>
          <a:noFill/>
        </p:spPr>
        <p:txBody>
          <a:bodyPr wrap="square">
            <a:spAutoFit/>
          </a:bodyPr>
          <a:lstStyle/>
          <a:p>
            <a:pPr algn="l"/>
            <a:r>
              <a:rPr lang="en-GB" b="1" i="0" u="none" strike="noStrike" dirty="0">
                <a:solidFill>
                  <a:srgbClr val="000000"/>
                </a:solidFill>
                <a:effectLst/>
              </a:rPr>
              <a:t>The Solution (Reparameterization Trick):</a:t>
            </a:r>
            <a:r>
              <a:rPr lang="en-GB" b="0" i="0" u="none" strike="noStrike" dirty="0">
                <a:solidFill>
                  <a:srgbClr val="000000"/>
                </a:solidFill>
                <a:effectLst/>
              </a:rPr>
              <a:t> To overcome this, instead of directly sampling z from the </a:t>
            </a:r>
          </a:p>
          <a:p>
            <a:pPr algn="l"/>
            <a:r>
              <a:rPr lang="en-GB" b="0" i="0" u="none" strike="noStrike" dirty="0">
                <a:solidFill>
                  <a:srgbClr val="000000"/>
                </a:solidFill>
                <a:effectLst/>
              </a:rPr>
              <a:t>Gaussian distribution N(</a:t>
            </a:r>
            <a:r>
              <a:rPr lang="el-GR" b="0" i="0" u="none" strike="noStrike" dirty="0">
                <a:solidFill>
                  <a:srgbClr val="000000"/>
                </a:solidFill>
                <a:effectLst/>
              </a:rPr>
              <a:t>μ,σ2), </a:t>
            </a:r>
            <a:r>
              <a:rPr lang="en-GB" b="0" i="0" u="none" strike="noStrike" dirty="0">
                <a:solidFill>
                  <a:srgbClr val="000000"/>
                </a:solidFill>
                <a:effectLst/>
              </a:rPr>
              <a:t>we sample a random variable </a:t>
            </a:r>
            <a:r>
              <a:rPr lang="el-GR" b="0" i="0" u="none" strike="noStrike" dirty="0">
                <a:solidFill>
                  <a:srgbClr val="000000"/>
                </a:solidFill>
                <a:effectLst/>
              </a:rPr>
              <a:t>ϵ </a:t>
            </a:r>
            <a:r>
              <a:rPr lang="en-GB" b="0" i="0" u="none" strike="noStrike" dirty="0">
                <a:solidFill>
                  <a:srgbClr val="000000"/>
                </a:solidFill>
                <a:effectLst/>
              </a:rPr>
              <a:t>from a </a:t>
            </a:r>
            <a:r>
              <a:rPr lang="en-GB" b="1" i="0" u="none" strike="noStrike" dirty="0">
                <a:solidFill>
                  <a:srgbClr val="000000"/>
                </a:solidFill>
                <a:effectLst/>
              </a:rPr>
              <a:t>standard normal distribution</a:t>
            </a:r>
            <a:r>
              <a:rPr lang="en-GB" b="0" i="0" u="none" strike="noStrike" dirty="0">
                <a:solidFill>
                  <a:srgbClr val="000000"/>
                </a:solidFill>
                <a:effectLst/>
              </a:rPr>
              <a:t> </a:t>
            </a:r>
          </a:p>
          <a:p>
            <a:pPr algn="l"/>
            <a:r>
              <a:rPr lang="en-GB" b="0" i="0" u="none" strike="noStrike" dirty="0">
                <a:solidFill>
                  <a:srgbClr val="000000"/>
                </a:solidFill>
                <a:effectLst/>
              </a:rPr>
              <a:t>(mean 0, variance 1). We then transform this </a:t>
            </a:r>
            <a:r>
              <a:rPr lang="el-GR" b="0" i="0" u="none" strike="noStrike" dirty="0">
                <a:solidFill>
                  <a:srgbClr val="000000"/>
                </a:solidFill>
                <a:effectLst/>
              </a:rPr>
              <a:t>ϵ </a:t>
            </a:r>
            <a:r>
              <a:rPr lang="en-GB" b="0" i="0" u="none" strike="noStrike" dirty="0">
                <a:solidFill>
                  <a:srgbClr val="000000"/>
                </a:solidFill>
                <a:effectLst/>
              </a:rPr>
              <a:t>using the </a:t>
            </a:r>
            <a:r>
              <a:rPr lang="el-GR" b="0" i="0" u="none" strike="noStrike" dirty="0">
                <a:solidFill>
                  <a:srgbClr val="000000"/>
                </a:solidFill>
                <a:effectLst/>
              </a:rPr>
              <a:t>μ </a:t>
            </a:r>
            <a:r>
              <a:rPr lang="en-GB" b="0" i="0" u="none" strike="noStrike" dirty="0">
                <a:solidFill>
                  <a:srgbClr val="000000"/>
                </a:solidFill>
                <a:effectLst/>
              </a:rPr>
              <a:t>and </a:t>
            </a:r>
            <a:r>
              <a:rPr lang="el-GR" b="0" i="0" u="none" strike="noStrike" dirty="0">
                <a:solidFill>
                  <a:srgbClr val="000000"/>
                </a:solidFill>
                <a:effectLst/>
              </a:rPr>
              <a:t>σ </a:t>
            </a:r>
            <a:r>
              <a:rPr lang="en-GB" b="0" i="0" u="none" strike="noStrike" dirty="0">
                <a:solidFill>
                  <a:srgbClr val="000000"/>
                </a:solidFill>
                <a:effectLst/>
              </a:rPr>
              <a:t>parameters output by the encoder to get our latent vector z. This transformation makes the sampling process deterministic with respect to </a:t>
            </a:r>
            <a:r>
              <a:rPr lang="el-GR" b="0" i="0" u="none" strike="noStrike" dirty="0">
                <a:solidFill>
                  <a:srgbClr val="000000"/>
                </a:solidFill>
                <a:effectLst/>
              </a:rPr>
              <a:t>μ </a:t>
            </a:r>
            <a:r>
              <a:rPr lang="en-GB" b="0" i="0" u="none" strike="noStrike" dirty="0">
                <a:solidFill>
                  <a:srgbClr val="000000"/>
                </a:solidFill>
                <a:effectLst/>
              </a:rPr>
              <a:t>and </a:t>
            </a:r>
            <a:r>
              <a:rPr lang="el-GR" b="0" i="0" u="none" strike="noStrike" dirty="0">
                <a:solidFill>
                  <a:srgbClr val="000000"/>
                </a:solidFill>
                <a:effectLst/>
              </a:rPr>
              <a:t>σ, </a:t>
            </a:r>
            <a:r>
              <a:rPr lang="en-GB" b="0" i="0" u="none" strike="noStrike" dirty="0">
                <a:solidFill>
                  <a:srgbClr val="000000"/>
                </a:solidFill>
                <a:effectLst/>
              </a:rPr>
              <a:t>allowing gradients to flow.</a:t>
            </a:r>
          </a:p>
          <a:p>
            <a:pPr algn="l"/>
            <a:r>
              <a:rPr lang="en-GB" b="1" i="0" u="none" strike="noStrike" dirty="0">
                <a:solidFill>
                  <a:srgbClr val="000000"/>
                </a:solidFill>
                <a:effectLst/>
              </a:rPr>
              <a:t>Formula:</a:t>
            </a:r>
            <a:r>
              <a:rPr lang="en-GB" b="0" i="0" u="none" strike="noStrike" dirty="0">
                <a:solidFill>
                  <a:srgbClr val="000000"/>
                </a:solidFill>
                <a:effectLst/>
              </a:rPr>
              <a:t> z=</a:t>
            </a:r>
            <a:r>
              <a:rPr lang="el-GR" b="0" i="0" u="none" strike="noStrike" dirty="0" err="1">
                <a:solidFill>
                  <a:srgbClr val="000000"/>
                </a:solidFill>
                <a:effectLst/>
              </a:rPr>
              <a:t>μ+σ</a:t>
            </a:r>
            <a:r>
              <a:rPr lang="el-GR" b="0" i="0" u="none" strike="noStrike" dirty="0">
                <a:solidFill>
                  <a:srgbClr val="000000"/>
                </a:solidFill>
                <a:effectLst/>
              </a:rPr>
              <a:t>⊙ϵ </a:t>
            </a:r>
            <a:r>
              <a:rPr lang="en-GB" b="0" i="0" u="none" strike="noStrike" dirty="0">
                <a:solidFill>
                  <a:srgbClr val="000000"/>
                </a:solidFill>
                <a:effectLst/>
              </a:rPr>
              <a:t>Where:</a:t>
            </a:r>
          </a:p>
          <a:p>
            <a:pPr marL="742950" lvl="1" indent="-285750" algn="l">
              <a:buFont typeface="Arial" panose="020B0604020202020204" pitchFamily="34" charset="0"/>
              <a:buChar char="•"/>
            </a:pPr>
            <a:r>
              <a:rPr lang="en-GB" b="0" i="0" u="none" strike="noStrike" dirty="0">
                <a:solidFill>
                  <a:srgbClr val="000000"/>
                </a:solidFill>
                <a:effectLst/>
              </a:rPr>
              <a:t>z: The sampled latent vector that will be passed to the decoder.</a:t>
            </a:r>
          </a:p>
          <a:p>
            <a:pPr marL="742950" lvl="1" indent="-285750" algn="l">
              <a:buFont typeface="Arial" panose="020B0604020202020204" pitchFamily="34" charset="0"/>
              <a:buChar char="•"/>
            </a:pPr>
            <a:r>
              <a:rPr lang="el-GR" b="0" i="0" u="none" strike="noStrike" dirty="0">
                <a:solidFill>
                  <a:srgbClr val="000000"/>
                </a:solidFill>
                <a:effectLst/>
              </a:rPr>
              <a:t>μ: </a:t>
            </a:r>
            <a:r>
              <a:rPr lang="en-GB" b="0" i="0" u="none" strike="noStrike" dirty="0">
                <a:solidFill>
                  <a:srgbClr val="000000"/>
                </a:solidFill>
                <a:effectLst/>
              </a:rPr>
              <a:t>The mean vector output by the encoder.</a:t>
            </a:r>
          </a:p>
          <a:p>
            <a:pPr marL="742950" lvl="1" indent="-285750" algn="l">
              <a:buFont typeface="Arial" panose="020B0604020202020204" pitchFamily="34" charset="0"/>
              <a:buChar char="•"/>
            </a:pPr>
            <a:r>
              <a:rPr lang="el-GR" b="0" i="0" u="none" strike="noStrike" dirty="0">
                <a:solidFill>
                  <a:srgbClr val="000000"/>
                </a:solidFill>
                <a:effectLst/>
              </a:rPr>
              <a:t>σ: </a:t>
            </a:r>
            <a:r>
              <a:rPr lang="en-GB" b="0" i="0" u="none" strike="noStrike" dirty="0">
                <a:solidFill>
                  <a:srgbClr val="000000"/>
                </a:solidFill>
                <a:effectLst/>
              </a:rPr>
              <a:t>The standard deviation vector (derived from the variance output) by the encoder.</a:t>
            </a:r>
          </a:p>
          <a:p>
            <a:pPr marL="742950" lvl="1" indent="-285750" algn="l">
              <a:buFont typeface="Arial" panose="020B0604020202020204" pitchFamily="34" charset="0"/>
              <a:buChar char="•"/>
            </a:pPr>
            <a:r>
              <a:rPr lang="el-GR" b="0" i="0" u="none" strike="noStrike" dirty="0">
                <a:solidFill>
                  <a:srgbClr val="000000"/>
                </a:solidFill>
                <a:effectLst/>
              </a:rPr>
              <a:t>ϵ: </a:t>
            </a:r>
            <a:r>
              <a:rPr lang="en-GB" b="0" i="0" u="none" strike="noStrike" dirty="0">
                <a:solidFill>
                  <a:srgbClr val="000000"/>
                </a:solidFill>
                <a:effectLst/>
              </a:rPr>
              <a:t>A random sample drawn from a standard normal distribution N(0,1).</a:t>
            </a:r>
          </a:p>
          <a:p>
            <a:pPr marL="742950" lvl="1" indent="-285750" algn="l">
              <a:buFont typeface="Arial" panose="020B0604020202020204" pitchFamily="34" charset="0"/>
              <a:buChar char="•"/>
            </a:pPr>
            <a:r>
              <a:rPr lang="en-GB" b="0" i="0" u="none" strike="noStrike" dirty="0">
                <a:solidFill>
                  <a:srgbClr val="000000"/>
                </a:solidFill>
                <a:effectLst/>
              </a:rPr>
              <a:t>⊙: Denotes element-wise multiplication.</a:t>
            </a:r>
          </a:p>
          <a:p>
            <a:pPr algn="l">
              <a:buNone/>
            </a:pPr>
            <a:r>
              <a:rPr lang="en-GB" b="1" i="0" u="none" strike="noStrike" dirty="0">
                <a:solidFill>
                  <a:srgbClr val="000000"/>
                </a:solidFill>
                <a:effectLst/>
              </a:rPr>
              <a:t>3. Decoder:</a:t>
            </a:r>
            <a:endParaRPr lang="en-GB" b="0" i="0" u="none" strike="noStrike" dirty="0">
              <a:solidFill>
                <a:srgbClr val="000000"/>
              </a:solidFill>
              <a:effectLst/>
            </a:endParaRPr>
          </a:p>
          <a:p>
            <a:pPr algn="l"/>
            <a:r>
              <a:rPr lang="en-GB" b="1" i="0" u="none" strike="noStrike" dirty="0">
                <a:solidFill>
                  <a:srgbClr val="000000"/>
                </a:solidFill>
                <a:effectLst/>
              </a:rPr>
              <a:t>Input:</a:t>
            </a:r>
            <a:r>
              <a:rPr lang="en-GB" b="0" i="0" u="none" strike="noStrike" dirty="0">
                <a:solidFill>
                  <a:srgbClr val="000000"/>
                </a:solidFill>
                <a:effectLst/>
              </a:rPr>
              <a:t> The decoder takes the </a:t>
            </a:r>
            <a:r>
              <a:rPr lang="en-GB" b="1" i="0" u="none" strike="noStrike" dirty="0">
                <a:solidFill>
                  <a:srgbClr val="000000"/>
                </a:solidFill>
                <a:effectLst/>
              </a:rPr>
              <a:t>sampled latent vector (z)</a:t>
            </a:r>
            <a:r>
              <a:rPr lang="en-GB" b="0" i="0" u="none" strike="noStrike" dirty="0">
                <a:solidFill>
                  <a:srgbClr val="000000"/>
                </a:solidFill>
                <a:effectLst/>
              </a:rPr>
              <a:t> (obtained via the reparameterization trick) as its input.</a:t>
            </a:r>
          </a:p>
          <a:p>
            <a:pPr algn="l"/>
            <a:r>
              <a:rPr lang="en-GB" b="1" i="0" u="none" strike="noStrike" dirty="0">
                <a:solidFill>
                  <a:srgbClr val="000000"/>
                </a:solidFill>
                <a:effectLst/>
              </a:rPr>
              <a:t>Reconstruction:</a:t>
            </a:r>
            <a:r>
              <a:rPr lang="en-GB" b="0" i="0" u="none" strike="noStrike" dirty="0">
                <a:solidFill>
                  <a:srgbClr val="000000"/>
                </a:solidFill>
                <a:effectLst/>
              </a:rPr>
              <a:t> Its objective is to reconstruct the original input data (x) from this latent vector.</a:t>
            </a:r>
          </a:p>
          <a:p>
            <a:pPr algn="l"/>
            <a:r>
              <a:rPr lang="en-GB" b="1" i="0" u="none" strike="noStrike" dirty="0">
                <a:solidFill>
                  <a:srgbClr val="000000"/>
                </a:solidFill>
                <a:effectLst/>
              </a:rPr>
              <a:t>Output Distribution Parameters:</a:t>
            </a:r>
            <a:r>
              <a:rPr lang="en-GB" b="0" i="0" u="none" strike="noStrike" dirty="0">
                <a:solidFill>
                  <a:srgbClr val="000000"/>
                </a:solidFill>
                <a:effectLst/>
              </a:rPr>
              <a:t> Like the encoder, the decoder typically outputs parameters for an output distribution (e.g., mean and variance for a Gaussian output for continuous data, or probabilities for a Bernoulli distribution for binary data), from which the reconstructed data is sampled.</a:t>
            </a:r>
          </a:p>
          <a:p>
            <a:pPr algn="l">
              <a:buNone/>
            </a:pPr>
            <a:r>
              <a:rPr lang="en-GB" b="0" i="0" u="none" strike="noStrike" dirty="0">
                <a:solidFill>
                  <a:srgbClr val="000000"/>
                </a:solidFill>
                <a:effectLst/>
              </a:rPr>
              <a:t>In summary, VAEs encode an input into a </a:t>
            </a:r>
            <a:r>
              <a:rPr lang="en-GB" b="0" i="1" u="none" strike="noStrike" dirty="0">
                <a:solidFill>
                  <a:srgbClr val="000000"/>
                </a:solidFill>
                <a:effectLst/>
              </a:rPr>
              <a:t>distribution</a:t>
            </a:r>
            <a:r>
              <a:rPr lang="en-GB" b="0" i="0" u="none" strike="noStrike" dirty="0">
                <a:solidFill>
                  <a:srgbClr val="000000"/>
                </a:solidFill>
                <a:effectLst/>
              </a:rPr>
              <a:t> over the latent space, sample from that distribution (using the reparameterization trick), and then decode that sample back to reconstruct the original input, all while ensuring differentiability for training.</a:t>
            </a:r>
          </a:p>
          <a:p>
            <a:pPr>
              <a:buNone/>
            </a:pPr>
            <a:br>
              <a:rPr lang="en-GB" dirty="0"/>
            </a:br>
            <a:endParaRPr lang="en-GB" b="1" dirty="0">
              <a:latin typeface="+mj-lt"/>
            </a:endParaRPr>
          </a:p>
        </p:txBody>
      </p:sp>
    </p:spTree>
    <p:extLst>
      <p:ext uri="{BB962C8B-B14F-4D97-AF65-F5344CB8AC3E}">
        <p14:creationId xmlns:p14="http://schemas.microsoft.com/office/powerpoint/2010/main" val="2613966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8BCB346D-7FD7-D3B1-3E2F-39E327D9C305}"/>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2828E396-D098-6A19-4FF3-8DF1D088D82D}"/>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pPr>
              <a:spcAft>
                <a:spcPts val="300"/>
              </a:spcAft>
            </a:pPr>
            <a:r>
              <a:rPr lang="en-GB" sz="2000" b="1" i="0" u="none" strike="noStrike" dirty="0">
                <a:solidFill>
                  <a:srgbClr val="7030A0"/>
                </a:solidFill>
                <a:effectLst/>
                <a:latin typeface="Nunito" pitchFamily="2" charset="77"/>
              </a:rPr>
              <a:t>Architecture of Variational Autoencoder</a:t>
            </a:r>
            <a:br>
              <a:rPr lang="en-GB" sz="2000" b="1" i="0" u="none" strike="noStrike" dirty="0">
                <a:solidFill>
                  <a:srgbClr val="7030A0"/>
                </a:solidFill>
                <a:effectLst/>
                <a:latin typeface="Nunito" pitchFamily="2" charset="77"/>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494AB70A-AAC0-4C78-7804-372C8D9B5C3D}"/>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479DE350-7DA7-A871-6C32-A612B299FD48}"/>
              </a:ext>
            </a:extLst>
          </p:cNvPr>
          <p:cNvSpPr txBox="1"/>
          <p:nvPr/>
        </p:nvSpPr>
        <p:spPr>
          <a:xfrm>
            <a:off x="7868" y="529186"/>
            <a:ext cx="4206324" cy="4298613"/>
          </a:xfrm>
          <a:prstGeom prst="rect">
            <a:avLst/>
          </a:prstGeom>
          <a:noFill/>
        </p:spPr>
        <p:txBody>
          <a:bodyPr wrap="square">
            <a:spAutoFit/>
          </a:bodyPr>
          <a:lstStyle/>
          <a:p>
            <a:pPr algn="l" rtl="0" fontAlgn="base">
              <a:spcAft>
                <a:spcPts val="750"/>
              </a:spcAft>
              <a:buNone/>
            </a:pPr>
            <a:r>
              <a:rPr lang="en-GB" b="0" i="0" u="none" strike="noStrike" dirty="0">
                <a:solidFill>
                  <a:srgbClr val="273239"/>
                </a:solidFill>
                <a:effectLst/>
                <a:latin typeface="+mj-lt"/>
              </a:rPr>
              <a:t>VAE is a special kind of autoencoder that can generate new data instead of just compressing and </a:t>
            </a:r>
          </a:p>
          <a:p>
            <a:pPr algn="l" rtl="0" fontAlgn="base">
              <a:spcAft>
                <a:spcPts val="750"/>
              </a:spcAft>
              <a:buNone/>
            </a:pPr>
            <a:r>
              <a:rPr lang="en-GB" b="0" i="0" u="none" strike="noStrike" dirty="0">
                <a:solidFill>
                  <a:srgbClr val="273239"/>
                </a:solidFill>
                <a:effectLst/>
                <a:latin typeface="+mj-lt"/>
              </a:rPr>
              <a:t>reconstructing it. It has three main parts:</a:t>
            </a:r>
          </a:p>
          <a:p>
            <a:pPr algn="l" rtl="0" fontAlgn="base">
              <a:spcAft>
                <a:spcPts val="750"/>
              </a:spcAft>
              <a:buNone/>
            </a:pPr>
            <a:r>
              <a:rPr lang="en-GB" b="1" i="0" u="none" strike="noStrike" dirty="0">
                <a:solidFill>
                  <a:srgbClr val="273239"/>
                </a:solidFill>
                <a:effectLst/>
                <a:latin typeface="+mj-lt"/>
              </a:rPr>
              <a:t>1. Encoder (Understanding the Input)</a:t>
            </a:r>
          </a:p>
          <a:p>
            <a:pPr algn="l" fontAlgn="base">
              <a:spcAft>
                <a:spcPts val="1800"/>
              </a:spcAft>
              <a:buFont typeface="Arial" panose="020B0604020202020204" pitchFamily="34" charset="0"/>
              <a:buChar char="•"/>
            </a:pPr>
            <a:r>
              <a:rPr lang="en-GB" b="0" i="0" u="none" strike="noStrike" dirty="0">
                <a:solidFill>
                  <a:srgbClr val="273239"/>
                </a:solidFill>
                <a:effectLst/>
                <a:latin typeface="+mj-lt"/>
              </a:rPr>
              <a:t>The encoder takes the input data like an image or text and tries to understand its most important features.</a:t>
            </a:r>
          </a:p>
          <a:p>
            <a:pPr algn="l" fontAlgn="base">
              <a:spcAft>
                <a:spcPts val="1800"/>
              </a:spcAft>
              <a:buFont typeface="Arial" panose="020B0604020202020204" pitchFamily="34" charset="0"/>
              <a:buChar char="•"/>
            </a:pPr>
            <a:r>
              <a:rPr lang="en-GB" b="0" i="0" u="none" strike="noStrike" dirty="0">
                <a:solidFill>
                  <a:srgbClr val="273239"/>
                </a:solidFill>
                <a:effectLst/>
                <a:latin typeface="+mj-lt"/>
              </a:rPr>
              <a:t>Instead of creating a fixed compressed version like a normal autoencoder it creates two things:</a:t>
            </a:r>
          </a:p>
          <a:p>
            <a:pPr marL="742950" lvl="1" indent="-285750" algn="l" fontAlgn="base">
              <a:spcBef>
                <a:spcPts val="375"/>
              </a:spcBef>
              <a:spcAft>
                <a:spcPts val="375"/>
              </a:spcAft>
              <a:buFont typeface="Arial" panose="020B0604020202020204" pitchFamily="34" charset="0"/>
              <a:buChar char="•"/>
            </a:pPr>
            <a:r>
              <a:rPr lang="en-GB" b="1" i="0" u="none" strike="noStrike" dirty="0">
                <a:solidFill>
                  <a:srgbClr val="273239"/>
                </a:solidFill>
                <a:effectLst/>
                <a:latin typeface="+mj-lt"/>
              </a:rPr>
              <a:t>Mean (</a:t>
            </a:r>
            <a:r>
              <a:rPr lang="el-GR" b="1" i="0" u="none" strike="noStrike" dirty="0">
                <a:solidFill>
                  <a:srgbClr val="273239"/>
                </a:solidFill>
                <a:effectLst/>
                <a:latin typeface="+mj-lt"/>
              </a:rPr>
              <a:t>μ):</a:t>
            </a:r>
            <a:r>
              <a:rPr lang="el-GR" b="0" i="0" u="none" strike="noStrike" dirty="0">
                <a:solidFill>
                  <a:srgbClr val="273239"/>
                </a:solidFill>
                <a:effectLst/>
                <a:latin typeface="+mj-lt"/>
              </a:rPr>
              <a:t> </a:t>
            </a:r>
            <a:r>
              <a:rPr lang="en-GB" b="0" i="0" u="none" strike="noStrike" dirty="0">
                <a:solidFill>
                  <a:srgbClr val="273239"/>
                </a:solidFill>
                <a:effectLst/>
                <a:latin typeface="+mj-lt"/>
              </a:rPr>
              <a:t>A central value representing the data.</a:t>
            </a:r>
          </a:p>
          <a:p>
            <a:pPr marL="742950" lvl="1" indent="-285750" algn="l" fontAlgn="base">
              <a:spcBef>
                <a:spcPts val="375"/>
              </a:spcBef>
              <a:spcAft>
                <a:spcPts val="375"/>
              </a:spcAft>
              <a:buFont typeface="Arial" panose="020B0604020202020204" pitchFamily="34" charset="0"/>
              <a:buChar char="•"/>
            </a:pPr>
            <a:r>
              <a:rPr lang="en-GB" b="1" i="0" u="none" strike="noStrike" dirty="0">
                <a:solidFill>
                  <a:srgbClr val="273239"/>
                </a:solidFill>
                <a:effectLst/>
                <a:latin typeface="+mj-lt"/>
              </a:rPr>
              <a:t>Standard Deviation (</a:t>
            </a:r>
            <a:r>
              <a:rPr lang="el-GR" b="1" i="0" u="none" strike="noStrike" dirty="0">
                <a:solidFill>
                  <a:srgbClr val="273239"/>
                </a:solidFill>
                <a:effectLst/>
                <a:latin typeface="+mj-lt"/>
              </a:rPr>
              <a:t>σ):</a:t>
            </a:r>
            <a:r>
              <a:rPr lang="el-GR" b="0" i="0" u="none" strike="noStrike" dirty="0">
                <a:solidFill>
                  <a:srgbClr val="273239"/>
                </a:solidFill>
                <a:effectLst/>
                <a:latin typeface="+mj-lt"/>
              </a:rPr>
              <a:t> </a:t>
            </a:r>
            <a:r>
              <a:rPr lang="en-GB" b="0" i="0" u="none" strike="noStrike" dirty="0">
                <a:solidFill>
                  <a:srgbClr val="273239"/>
                </a:solidFill>
                <a:effectLst/>
                <a:latin typeface="+mj-lt"/>
              </a:rPr>
              <a:t>It is a measure of how much the values can vary.</a:t>
            </a:r>
          </a:p>
          <a:p>
            <a:pPr algn="l" fontAlgn="base">
              <a:spcAft>
                <a:spcPts val="1800"/>
              </a:spcAft>
              <a:buFont typeface="Arial" panose="020B0604020202020204" pitchFamily="34" charset="0"/>
              <a:buChar char="•"/>
            </a:pPr>
            <a:r>
              <a:rPr lang="en-GB" b="0" i="0" u="none" strike="noStrike" dirty="0">
                <a:solidFill>
                  <a:srgbClr val="273239"/>
                </a:solidFill>
                <a:effectLst/>
                <a:latin typeface="+mj-lt"/>
              </a:rPr>
              <a:t>These two values define a range of possibilities instead of a single number.</a:t>
            </a:r>
          </a:p>
        </p:txBody>
      </p:sp>
      <p:pic>
        <p:nvPicPr>
          <p:cNvPr id="8194" name="Picture 2" descr="Uploaded image">
            <a:extLst>
              <a:ext uri="{FF2B5EF4-FFF2-40B4-BE49-F238E27FC236}">
                <a16:creationId xmlns:a16="http://schemas.microsoft.com/office/drawing/2014/main" id="{14A1CD45-5B39-C541-BC73-911720FA3E70}"/>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7565" t="4470" r="7217" b="5325"/>
          <a:stretch/>
        </p:blipFill>
        <p:spPr bwMode="auto">
          <a:xfrm>
            <a:off x="4071068" y="1303012"/>
            <a:ext cx="5065064" cy="29111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3208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752CC4D-BE4E-1791-3A39-8D0E71877C7A}"/>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26045BB-D6FF-569C-35ED-AD4D676B3682}"/>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pPr>
              <a:spcAft>
                <a:spcPts val="300"/>
              </a:spcAft>
            </a:pPr>
            <a:r>
              <a:rPr lang="en-GB" sz="2000" b="1" i="0" u="none" strike="noStrike" dirty="0">
                <a:solidFill>
                  <a:srgbClr val="7030A0"/>
                </a:solidFill>
                <a:effectLst/>
                <a:latin typeface="Nunito" pitchFamily="2" charset="77"/>
              </a:rPr>
              <a:t>Architecture of Variational Autoencoder</a:t>
            </a:r>
            <a:br>
              <a:rPr lang="en-GB" sz="2000" b="1" i="0" u="none" strike="noStrike" dirty="0">
                <a:solidFill>
                  <a:srgbClr val="7030A0"/>
                </a:solidFill>
                <a:effectLst/>
                <a:latin typeface="Nunito" pitchFamily="2" charset="77"/>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75C5EFAD-BACD-0726-F550-70999947888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DE3A2864-E31B-9B05-4C25-02C12CA7F63E}"/>
              </a:ext>
            </a:extLst>
          </p:cNvPr>
          <p:cNvSpPr txBox="1"/>
          <p:nvPr/>
        </p:nvSpPr>
        <p:spPr>
          <a:xfrm>
            <a:off x="7868" y="529186"/>
            <a:ext cx="8102462" cy="5139869"/>
          </a:xfrm>
          <a:prstGeom prst="rect">
            <a:avLst/>
          </a:prstGeom>
          <a:noFill/>
        </p:spPr>
        <p:txBody>
          <a:bodyPr wrap="square">
            <a:spAutoFit/>
          </a:bodyPr>
          <a:lstStyle/>
          <a:p>
            <a:pPr algn="l" fontAlgn="base">
              <a:spcBef>
                <a:spcPts val="1800"/>
              </a:spcBef>
              <a:spcAft>
                <a:spcPts val="1800"/>
              </a:spcAft>
              <a:buNone/>
            </a:pPr>
            <a:r>
              <a:rPr lang="en-GB" sz="1600" b="1" i="0" u="none" strike="noStrike" dirty="0">
                <a:solidFill>
                  <a:srgbClr val="273239"/>
                </a:solidFill>
                <a:effectLst/>
                <a:latin typeface="+mj-lt"/>
              </a:rPr>
              <a:t>2. Latent Space (Adding Some Randomness)</a:t>
            </a:r>
          </a:p>
          <a:p>
            <a:pPr algn="l" fontAlgn="base">
              <a:spcAft>
                <a:spcPts val="1800"/>
              </a:spcAft>
              <a:buFont typeface="Arial" panose="020B0604020202020204" pitchFamily="34" charset="0"/>
              <a:buChar char="•"/>
            </a:pPr>
            <a:r>
              <a:rPr lang="en-GB" sz="1600" b="0" i="0" u="none" strike="noStrike" dirty="0">
                <a:solidFill>
                  <a:srgbClr val="273239"/>
                </a:solidFill>
                <a:effectLst/>
                <a:latin typeface="+mj-lt"/>
              </a:rPr>
              <a:t>Instead of encoding input into a fixed number VAEs introduce randomness to create variations.</a:t>
            </a:r>
          </a:p>
          <a:p>
            <a:pPr algn="l" fontAlgn="base">
              <a:spcAft>
                <a:spcPts val="1800"/>
              </a:spcAft>
              <a:buFont typeface="Arial" panose="020B0604020202020204" pitchFamily="34" charset="0"/>
              <a:buChar char="•"/>
            </a:pPr>
            <a:r>
              <a:rPr lang="en-GB" sz="1600" b="0" i="0" u="none" strike="noStrike" dirty="0">
                <a:solidFill>
                  <a:srgbClr val="273239"/>
                </a:solidFill>
                <a:effectLst/>
                <a:latin typeface="+mj-lt"/>
              </a:rPr>
              <a:t>The model picks a point from the range to create different variations of the data.</a:t>
            </a:r>
          </a:p>
          <a:p>
            <a:pPr algn="l" fontAlgn="base">
              <a:spcAft>
                <a:spcPts val="1800"/>
              </a:spcAft>
              <a:buFont typeface="Arial" panose="020B0604020202020204" pitchFamily="34" charset="0"/>
              <a:buChar char="•"/>
            </a:pPr>
            <a:r>
              <a:rPr lang="en-GB" sz="1600" b="0" i="0" u="none" strike="noStrike" dirty="0">
                <a:solidFill>
                  <a:srgbClr val="273239"/>
                </a:solidFill>
                <a:effectLst/>
                <a:latin typeface="+mj-lt"/>
              </a:rPr>
              <a:t>This is what makes VAEs great for generating new slightly different but realistic data.</a:t>
            </a:r>
          </a:p>
          <a:p>
            <a:pPr algn="l" fontAlgn="base">
              <a:spcBef>
                <a:spcPts val="1800"/>
              </a:spcBef>
              <a:spcAft>
                <a:spcPts val="1800"/>
              </a:spcAft>
              <a:buNone/>
            </a:pPr>
            <a:r>
              <a:rPr lang="en-GB" sz="1600" b="1" i="0" u="none" strike="noStrike" dirty="0">
                <a:solidFill>
                  <a:srgbClr val="273239"/>
                </a:solidFill>
                <a:effectLst/>
                <a:latin typeface="+mj-lt"/>
              </a:rPr>
              <a:t>3. Decoder (Reconstructing or Creating New Data)</a:t>
            </a:r>
          </a:p>
          <a:p>
            <a:pPr algn="l" fontAlgn="base">
              <a:spcAft>
                <a:spcPts val="1800"/>
              </a:spcAft>
              <a:buFont typeface="Arial" panose="020B0604020202020204" pitchFamily="34" charset="0"/>
              <a:buChar char="•"/>
            </a:pPr>
            <a:r>
              <a:rPr lang="en-GB" sz="1600" b="0" i="0" u="none" strike="noStrike" dirty="0">
                <a:solidFill>
                  <a:srgbClr val="273239"/>
                </a:solidFill>
                <a:effectLst/>
                <a:latin typeface="+mj-lt"/>
              </a:rPr>
              <a:t>The </a:t>
            </a:r>
            <a:r>
              <a:rPr lang="en-GB" sz="1600" b="1" i="0" u="none" strike="noStrike" dirty="0">
                <a:solidFill>
                  <a:srgbClr val="273239"/>
                </a:solidFill>
                <a:effectLst/>
                <a:latin typeface="+mj-lt"/>
              </a:rPr>
              <a:t>decoder</a:t>
            </a:r>
            <a:r>
              <a:rPr lang="en-GB" sz="1600" b="0" i="0" u="none" strike="noStrike" dirty="0">
                <a:solidFill>
                  <a:srgbClr val="273239"/>
                </a:solidFill>
                <a:effectLst/>
                <a:latin typeface="+mj-lt"/>
              </a:rPr>
              <a:t> takes this sampled value and tries to reconstruct the original input.</a:t>
            </a:r>
          </a:p>
          <a:p>
            <a:pPr algn="l" fontAlgn="base">
              <a:spcAft>
                <a:spcPts val="1800"/>
              </a:spcAft>
              <a:buFont typeface="Arial" panose="020B0604020202020204" pitchFamily="34" charset="0"/>
              <a:buChar char="•"/>
            </a:pPr>
            <a:r>
              <a:rPr lang="en-GB" sz="1600" b="0" i="0" u="none" strike="noStrike" dirty="0">
                <a:solidFill>
                  <a:srgbClr val="273239"/>
                </a:solidFill>
                <a:effectLst/>
                <a:latin typeface="+mj-lt"/>
              </a:rPr>
              <a:t>Since the encoder creates a range of possibilities instead of a fixed number the decoder can generate new similar data instead of just memorizing the input.</a:t>
            </a:r>
          </a:p>
          <a:p>
            <a:pPr>
              <a:buNone/>
            </a:pPr>
            <a:br>
              <a:rPr lang="en-GB" sz="1600" dirty="0">
                <a:latin typeface="+mj-lt"/>
              </a:rPr>
            </a:br>
            <a:endParaRPr lang="en-GB" sz="1600" b="0" i="0" u="none" strike="noStrike" dirty="0">
              <a:solidFill>
                <a:srgbClr val="000000"/>
              </a:solidFill>
              <a:effectLst/>
              <a:latin typeface="+mj-lt"/>
            </a:endParaRPr>
          </a:p>
          <a:p>
            <a:br>
              <a:rPr lang="en-GB" sz="1600" dirty="0">
                <a:latin typeface="+mj-lt"/>
              </a:rPr>
            </a:br>
            <a:endParaRPr lang="en-GB" sz="1600" b="1" dirty="0">
              <a:latin typeface="+mj-lt"/>
            </a:endParaRPr>
          </a:p>
        </p:txBody>
      </p:sp>
    </p:spTree>
    <p:extLst>
      <p:ext uri="{BB962C8B-B14F-4D97-AF65-F5344CB8AC3E}">
        <p14:creationId xmlns:p14="http://schemas.microsoft.com/office/powerpoint/2010/main" val="57850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E082FCEB-25D3-21E9-8FF0-648BEEF989C2}"/>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FC1D5912-494A-DC2C-1B70-704D25FE0EAF}"/>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pPr>
              <a:spcAft>
                <a:spcPts val="300"/>
              </a:spcAft>
            </a:pPr>
            <a:r>
              <a:rPr lang="en-GB" sz="3100" b="1" i="0" u="none" strike="noStrike" dirty="0">
                <a:solidFill>
                  <a:srgbClr val="7030A0"/>
                </a:solidFill>
                <a:effectLst/>
              </a:rPr>
              <a:t>Loss Functions in VAE Training</a:t>
            </a:r>
            <a:br>
              <a:rPr lang="en-GB" sz="3100" b="1" i="0" u="none" strike="noStrike" dirty="0">
                <a:solidFill>
                  <a:srgbClr val="7030A0"/>
                </a:solidFill>
                <a:effectLst/>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D797E76F-C032-5B92-2526-A6238E7B7337}"/>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A126DD8B-ACDD-71EE-B150-7B2E143AC527}"/>
              </a:ext>
            </a:extLst>
          </p:cNvPr>
          <p:cNvSpPr txBox="1"/>
          <p:nvPr/>
        </p:nvSpPr>
        <p:spPr>
          <a:xfrm>
            <a:off x="170237" y="777014"/>
            <a:ext cx="8443923" cy="4278094"/>
          </a:xfrm>
          <a:prstGeom prst="rect">
            <a:avLst/>
          </a:prstGeom>
          <a:noFill/>
        </p:spPr>
        <p:txBody>
          <a:bodyPr wrap="square">
            <a:spAutoFit/>
          </a:bodyPr>
          <a:lstStyle/>
          <a:p>
            <a:pPr algn="l">
              <a:buNone/>
            </a:pPr>
            <a:r>
              <a:rPr lang="en-GB" sz="1600" b="0" i="0" u="none" strike="noStrike" dirty="0">
                <a:solidFill>
                  <a:srgbClr val="000000"/>
                </a:solidFill>
                <a:effectLst/>
              </a:rPr>
              <a:t>VAEs use a combined loss function to achieve both accurate reconstruction and a well-structured latent space.</a:t>
            </a:r>
          </a:p>
          <a:p>
            <a:pPr algn="l">
              <a:buFont typeface="+mj-lt"/>
              <a:buAutoNum type="arabicPeriod"/>
            </a:pPr>
            <a:r>
              <a:rPr lang="en-GB" sz="1600" b="1" i="0" u="none" strike="noStrike" dirty="0">
                <a:solidFill>
                  <a:srgbClr val="000000"/>
                </a:solidFill>
                <a:effectLst/>
              </a:rPr>
              <a:t>Reconstruction Loss (or Reconstruction Error):</a:t>
            </a:r>
            <a:endParaRPr lang="en-GB" sz="1600" b="0" i="0" u="none" strike="noStrike" dirty="0">
              <a:solidFill>
                <a:srgbClr val="000000"/>
              </a:solidFill>
              <a:effectLst/>
            </a:endParaRPr>
          </a:p>
          <a:p>
            <a:pPr marL="800100" lvl="1" indent="-342900" algn="l">
              <a:buFont typeface="+mj-lt"/>
              <a:buAutoNum type="alphaLcPeriod"/>
            </a:pPr>
            <a:r>
              <a:rPr lang="en-GB" sz="1600" b="1" i="0" u="none" strike="noStrike" dirty="0">
                <a:solidFill>
                  <a:srgbClr val="000000"/>
                </a:solidFill>
                <a:effectLst/>
              </a:rPr>
              <a:t>Purpose:</a:t>
            </a:r>
            <a:r>
              <a:rPr lang="en-GB" sz="1600" b="0" i="0" u="none" strike="noStrike" dirty="0">
                <a:solidFill>
                  <a:srgbClr val="000000"/>
                </a:solidFill>
                <a:effectLst/>
              </a:rPr>
              <a:t> Measures the difference between the original input data (x) and the reconstructed output from the decoder.</a:t>
            </a:r>
          </a:p>
          <a:p>
            <a:pPr marL="800100" lvl="1" indent="-342900" algn="l">
              <a:buFont typeface="+mj-lt"/>
              <a:buAutoNum type="alphaLcPeriod"/>
            </a:pPr>
            <a:r>
              <a:rPr lang="en-GB" sz="1600" b="1" i="0" u="none" strike="noStrike" dirty="0">
                <a:solidFill>
                  <a:srgbClr val="000000"/>
                </a:solidFill>
                <a:effectLst/>
              </a:rPr>
              <a:t>Common Functions:</a:t>
            </a:r>
            <a:endParaRPr lang="en-GB" sz="1600" b="0" i="0" u="none" strike="noStrike" dirty="0">
              <a:solidFill>
                <a:srgbClr val="000000"/>
              </a:solidFill>
              <a:effectLst/>
            </a:endParaRPr>
          </a:p>
          <a:p>
            <a:pPr marL="1257300" lvl="2" indent="-342900" algn="l">
              <a:buFont typeface="+mj-lt"/>
              <a:buAutoNum type="alphaLcPeriod"/>
            </a:pPr>
            <a:r>
              <a:rPr lang="en-GB" sz="1600" b="1" i="0" u="none" strike="noStrike" dirty="0">
                <a:solidFill>
                  <a:srgbClr val="000000"/>
                </a:solidFill>
                <a:effectLst/>
              </a:rPr>
              <a:t>Mean Squared Error (MSE):</a:t>
            </a:r>
            <a:r>
              <a:rPr lang="en-GB" sz="1600" b="0" i="0" u="none" strike="noStrike" dirty="0">
                <a:solidFill>
                  <a:srgbClr val="000000"/>
                </a:solidFill>
                <a:effectLst/>
              </a:rPr>
              <a:t> For continuous data.</a:t>
            </a:r>
          </a:p>
          <a:p>
            <a:pPr marL="1257300" lvl="2" indent="-342900" algn="l">
              <a:buFont typeface="+mj-lt"/>
              <a:buAutoNum type="alphaLcPeriod"/>
            </a:pPr>
            <a:r>
              <a:rPr lang="en-GB" sz="1600" b="1" i="0" u="none" strike="noStrike" dirty="0">
                <a:solidFill>
                  <a:srgbClr val="000000"/>
                </a:solidFill>
                <a:effectLst/>
              </a:rPr>
              <a:t>Cross-Entropy Loss:</a:t>
            </a:r>
            <a:r>
              <a:rPr lang="en-GB" sz="1600" b="0" i="0" u="none" strike="noStrike" dirty="0">
                <a:solidFill>
                  <a:srgbClr val="000000"/>
                </a:solidFill>
                <a:effectLst/>
              </a:rPr>
              <a:t> For binary data (e.g., images with pixel values 0 or 1).</a:t>
            </a:r>
          </a:p>
          <a:p>
            <a:pPr marL="800100" lvl="1" indent="-342900" algn="l">
              <a:buFont typeface="+mj-lt"/>
              <a:buAutoNum type="alphaLcPeriod"/>
            </a:pPr>
            <a:r>
              <a:rPr lang="en-GB" sz="1600" b="1" i="0" u="none" strike="noStrike" dirty="0">
                <a:solidFill>
                  <a:srgbClr val="000000"/>
                </a:solidFill>
                <a:effectLst/>
              </a:rPr>
              <a:t>Goal:</a:t>
            </a:r>
            <a:r>
              <a:rPr lang="en-GB" sz="1600" b="0" i="0" u="none" strike="noStrike" dirty="0">
                <a:solidFill>
                  <a:srgbClr val="000000"/>
                </a:solidFill>
                <a:effectLst/>
              </a:rPr>
              <a:t> To optimize the decoder's parameters (</a:t>
            </a:r>
            <a:r>
              <a:rPr lang="el-GR" sz="1600" b="0" i="0" u="none" strike="noStrike" dirty="0">
                <a:solidFill>
                  <a:srgbClr val="000000"/>
                </a:solidFill>
                <a:effectLst/>
              </a:rPr>
              <a:t>θ) </a:t>
            </a:r>
            <a:r>
              <a:rPr lang="en-GB" sz="1600" b="0" i="0" u="none" strike="noStrike" dirty="0">
                <a:solidFill>
                  <a:srgbClr val="000000"/>
                </a:solidFill>
                <a:effectLst/>
              </a:rPr>
              <a:t>such that p</a:t>
            </a:r>
            <a:r>
              <a:rPr lang="el-GR" sz="1600" b="0" i="0" u="none" strike="noStrike" dirty="0">
                <a:solidFill>
                  <a:srgbClr val="000000"/>
                </a:solidFill>
                <a:effectLst/>
              </a:rPr>
              <a:t>θ​(</a:t>
            </a:r>
            <a:r>
              <a:rPr lang="en-GB" sz="1600" b="0" i="0" u="none" strike="noStrike" dirty="0" err="1">
                <a:solidFill>
                  <a:srgbClr val="000000"/>
                </a:solidFill>
                <a:effectLst/>
              </a:rPr>
              <a:t>x∣z</a:t>
            </a:r>
            <a:r>
              <a:rPr lang="en-GB" sz="1600" b="0" i="0" u="none" strike="noStrike" dirty="0">
                <a:solidFill>
                  <a:srgbClr val="000000"/>
                </a:solidFill>
                <a:effectLst/>
              </a:rPr>
              <a:t>) accurately reconstructs x given latent variable z.</a:t>
            </a:r>
          </a:p>
          <a:p>
            <a:pPr marL="800100" lvl="1" indent="-342900" algn="l">
              <a:buFont typeface="+mj-lt"/>
              <a:buAutoNum type="alphaLcPeriod"/>
            </a:pPr>
            <a:r>
              <a:rPr lang="en-GB" sz="1600" b="1" i="0" u="none" strike="noStrike" dirty="0">
                <a:solidFill>
                  <a:srgbClr val="000000"/>
                </a:solidFill>
                <a:effectLst/>
              </a:rPr>
              <a:t>Limitation (for VAEs):</a:t>
            </a:r>
            <a:r>
              <a:rPr lang="en-GB" sz="1600" b="0" i="0" u="none" strike="noStrike" dirty="0">
                <a:solidFill>
                  <a:srgbClr val="000000"/>
                </a:solidFill>
                <a:effectLst/>
              </a:rPr>
              <a:t> While sufficient for standard autoencoders, reconstruction loss alone can lead to an irregular latent space that overfits and doesn't generalize well for </a:t>
            </a:r>
            <a:r>
              <a:rPr lang="en-GB" sz="1600" b="0" i="1" u="none" strike="noStrike" dirty="0">
                <a:solidFill>
                  <a:srgbClr val="000000"/>
                </a:solidFill>
                <a:effectLst/>
              </a:rPr>
              <a:t>generating new samples</a:t>
            </a:r>
            <a:r>
              <a:rPr lang="en-GB" sz="1600" b="0" i="0" u="none" strike="noStrike" dirty="0">
                <a:solidFill>
                  <a:srgbClr val="000000"/>
                </a:solidFill>
                <a:effectLst/>
              </a:rPr>
              <a:t>.</a:t>
            </a:r>
          </a:p>
          <a:p>
            <a:pPr>
              <a:buNone/>
            </a:pPr>
            <a:br>
              <a:rPr lang="en-GB" sz="1600" dirty="0">
                <a:latin typeface="+mj-lt"/>
              </a:rPr>
            </a:br>
            <a:endParaRPr lang="en-GB" sz="1600" b="0" i="0" u="none" strike="noStrike" dirty="0">
              <a:solidFill>
                <a:srgbClr val="000000"/>
              </a:solidFill>
              <a:effectLst/>
              <a:latin typeface="+mj-lt"/>
            </a:endParaRPr>
          </a:p>
          <a:p>
            <a:br>
              <a:rPr lang="en-GB" sz="1600" dirty="0">
                <a:latin typeface="+mj-lt"/>
              </a:rPr>
            </a:br>
            <a:endParaRPr lang="en-GB" sz="1600" b="1" dirty="0">
              <a:latin typeface="+mj-lt"/>
            </a:endParaRPr>
          </a:p>
        </p:txBody>
      </p:sp>
    </p:spTree>
    <p:extLst>
      <p:ext uri="{BB962C8B-B14F-4D97-AF65-F5344CB8AC3E}">
        <p14:creationId xmlns:p14="http://schemas.microsoft.com/office/powerpoint/2010/main" val="34402017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3E69803-6126-D6E0-6A0A-1B98CAE8A82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59A381B2-D14C-DAB4-1858-E76F9A77C2BC}"/>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pPr>
              <a:spcAft>
                <a:spcPts val="300"/>
              </a:spcAft>
            </a:pPr>
            <a:r>
              <a:rPr lang="en-GB" sz="3100" b="1" i="0" u="none" strike="noStrike" dirty="0">
                <a:solidFill>
                  <a:srgbClr val="7030A0"/>
                </a:solidFill>
                <a:effectLst/>
              </a:rPr>
              <a:t>Loss Functions in VAE Training</a:t>
            </a:r>
            <a:br>
              <a:rPr lang="en-GB" sz="3100" b="1" i="0" u="none" strike="noStrike" dirty="0">
                <a:solidFill>
                  <a:srgbClr val="7030A0"/>
                </a:solidFill>
                <a:effectLst/>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606832F-FF1F-E7C9-D9C1-A0A6EFBE61D4}"/>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7D0AEC41-E347-C29F-98C7-0C52F9535C7E}"/>
              </a:ext>
            </a:extLst>
          </p:cNvPr>
          <p:cNvSpPr txBox="1"/>
          <p:nvPr/>
        </p:nvSpPr>
        <p:spPr>
          <a:xfrm>
            <a:off x="170237" y="777014"/>
            <a:ext cx="8443923" cy="5016758"/>
          </a:xfrm>
          <a:prstGeom prst="rect">
            <a:avLst/>
          </a:prstGeom>
          <a:noFill/>
        </p:spPr>
        <p:txBody>
          <a:bodyPr wrap="square">
            <a:spAutoFit/>
          </a:bodyPr>
          <a:lstStyle/>
          <a:p>
            <a:pPr algn="l"/>
            <a:r>
              <a:rPr lang="en-GB" sz="1600" b="1" i="0" u="none" strike="noStrike" dirty="0" err="1">
                <a:solidFill>
                  <a:srgbClr val="000000"/>
                </a:solidFill>
                <a:effectLst/>
              </a:rPr>
              <a:t>Kullback-Leibler</a:t>
            </a:r>
            <a:r>
              <a:rPr lang="en-GB" sz="1600" b="1" i="0" u="none" strike="noStrike" dirty="0">
                <a:solidFill>
                  <a:srgbClr val="000000"/>
                </a:solidFill>
                <a:effectLst/>
              </a:rPr>
              <a:t> (KL) Divergence:</a:t>
            </a:r>
            <a:endParaRPr lang="en-GB" sz="1600" b="0" i="0" u="none" strike="noStrike" dirty="0">
              <a:solidFill>
                <a:srgbClr val="000000"/>
              </a:solidFill>
              <a:effectLst/>
            </a:endParaRPr>
          </a:p>
          <a:p>
            <a:pPr algn="l"/>
            <a:r>
              <a:rPr lang="en-GB" sz="1600" b="1" i="0" u="none" strike="noStrike" dirty="0">
                <a:solidFill>
                  <a:srgbClr val="000000"/>
                </a:solidFill>
                <a:effectLst/>
              </a:rPr>
              <a:t>Purpose:</a:t>
            </a:r>
            <a:r>
              <a:rPr lang="en-GB" sz="1600" b="0" i="0" u="none" strike="noStrike" dirty="0">
                <a:solidFill>
                  <a:srgbClr val="000000"/>
                </a:solidFill>
                <a:effectLst/>
              </a:rPr>
              <a:t> A regularization term crucial for VAEs to ensure a well-behaved latent space suitable for generation.</a:t>
            </a:r>
          </a:p>
          <a:p>
            <a:pPr algn="l"/>
            <a:r>
              <a:rPr lang="en-GB" sz="1600" b="1" i="0" u="none" strike="noStrike" dirty="0">
                <a:solidFill>
                  <a:srgbClr val="000000"/>
                </a:solidFill>
                <a:effectLst/>
              </a:rPr>
              <a:t>Problem it Solves:</a:t>
            </a:r>
            <a:r>
              <a:rPr lang="en-GB" sz="1600" b="0" i="0" u="none" strike="noStrike" dirty="0">
                <a:solidFill>
                  <a:srgbClr val="000000"/>
                </a:solidFill>
                <a:effectLst/>
              </a:rPr>
              <a:t> Without KL divergence, the latent space might be disjointed (not continuous or complete), making it impossible to sample new, meaningful data "in-between" learned data points.</a:t>
            </a:r>
          </a:p>
          <a:p>
            <a:pPr algn="l"/>
            <a:r>
              <a:rPr lang="en-GB" sz="1600" b="1" i="0" u="none" strike="noStrike" dirty="0">
                <a:solidFill>
                  <a:srgbClr val="000000"/>
                </a:solidFill>
                <a:effectLst/>
              </a:rPr>
              <a:t>Mechanism:</a:t>
            </a:r>
            <a:r>
              <a:rPr lang="en-GB" sz="1600" b="0" i="0" u="none" strike="noStrike" dirty="0">
                <a:solidFill>
                  <a:srgbClr val="000000"/>
                </a:solidFill>
                <a:effectLst/>
              </a:rPr>
              <a:t> KL divergence measures the difference between two probability distributions. In VAEs, it forces the learned latent distribution (q</a:t>
            </a:r>
            <a:r>
              <a:rPr lang="el-GR" sz="1600" b="0" i="0" u="none" strike="noStrike" dirty="0" err="1">
                <a:solidFill>
                  <a:srgbClr val="000000"/>
                </a:solidFill>
                <a:effectLst/>
              </a:rPr>
              <a:t>ϕ</a:t>
            </a:r>
            <a:r>
              <a:rPr lang="el-GR" sz="1600" b="0" i="0" u="none" strike="noStrike" dirty="0">
                <a:solidFill>
                  <a:srgbClr val="000000"/>
                </a:solidFill>
                <a:effectLst/>
              </a:rPr>
              <a:t>​(</a:t>
            </a:r>
            <a:r>
              <a:rPr lang="en-GB" sz="1600" b="0" i="0" u="none" strike="noStrike" dirty="0" err="1">
                <a:solidFill>
                  <a:srgbClr val="000000"/>
                </a:solidFill>
                <a:effectLst/>
              </a:rPr>
              <a:t>z∣x</a:t>
            </a:r>
            <a:r>
              <a:rPr lang="en-GB" sz="1600" b="0" i="0" u="none" strike="noStrike" dirty="0">
                <a:solidFill>
                  <a:srgbClr val="000000"/>
                </a:solidFill>
                <a:effectLst/>
              </a:rPr>
              <a:t>)) (output by the encoder) to be similar to a chosen simple prior distribution, typically a </a:t>
            </a:r>
            <a:r>
              <a:rPr lang="en-GB" sz="1600" b="1" i="0" u="none" strike="noStrike" dirty="0">
                <a:solidFill>
                  <a:srgbClr val="000000"/>
                </a:solidFill>
                <a:effectLst/>
              </a:rPr>
              <a:t>standard normal (Gaussian) distribution</a:t>
            </a:r>
            <a:r>
              <a:rPr lang="en-GB" sz="1600" b="0" i="0" u="none" strike="noStrike" dirty="0">
                <a:solidFill>
                  <a:srgbClr val="000000"/>
                </a:solidFill>
                <a:effectLst/>
              </a:rPr>
              <a:t> (N(0,1)).</a:t>
            </a:r>
          </a:p>
          <a:p>
            <a:pPr algn="l"/>
            <a:r>
              <a:rPr lang="en-GB" sz="1600" b="1" i="0" u="none" strike="noStrike" dirty="0">
                <a:solidFill>
                  <a:srgbClr val="000000"/>
                </a:solidFill>
                <a:effectLst/>
              </a:rPr>
              <a:t>Benefits (of a Normal Latent Space):</a:t>
            </a:r>
            <a:endParaRPr lang="en-GB" sz="1600" b="0" i="0" u="none" strike="noStrike" dirty="0">
              <a:solidFill>
                <a:srgbClr val="000000"/>
              </a:solidFill>
              <a:effectLst/>
            </a:endParaRPr>
          </a:p>
          <a:p>
            <a:pPr marL="457200" lvl="1" algn="l"/>
            <a:r>
              <a:rPr lang="en-GB" sz="1600" b="1" i="0" u="none" strike="noStrike" dirty="0">
                <a:solidFill>
                  <a:srgbClr val="000000"/>
                </a:solidFill>
                <a:effectLst/>
              </a:rPr>
              <a:t>Continuity:</a:t>
            </a:r>
            <a:r>
              <a:rPr lang="en-GB" sz="1600" b="0" i="0" u="none" strike="noStrike" dirty="0">
                <a:solidFill>
                  <a:srgbClr val="000000"/>
                </a:solidFill>
                <a:effectLst/>
              </a:rPr>
              <a:t> Nearby points in latent space decode to similar content.</a:t>
            </a:r>
          </a:p>
          <a:p>
            <a:pPr marL="457200" lvl="1" algn="l"/>
            <a:r>
              <a:rPr lang="en-GB" sz="1600" b="1" i="0" u="none" strike="noStrike" dirty="0">
                <a:solidFill>
                  <a:srgbClr val="000000"/>
                </a:solidFill>
                <a:effectLst/>
              </a:rPr>
              <a:t>Completeness:</a:t>
            </a:r>
            <a:r>
              <a:rPr lang="en-GB" sz="1600" b="0" i="0" u="none" strike="noStrike" dirty="0">
                <a:solidFill>
                  <a:srgbClr val="000000"/>
                </a:solidFill>
                <a:effectLst/>
              </a:rPr>
              <a:t> Any point sampled from the latent space yields meaningful content.</a:t>
            </a:r>
          </a:p>
          <a:p>
            <a:pPr algn="l"/>
            <a:r>
              <a:rPr lang="en-GB" sz="1600" b="1" i="0" u="none" strike="noStrike" dirty="0">
                <a:solidFill>
                  <a:srgbClr val="000000"/>
                </a:solidFill>
                <a:effectLst/>
              </a:rPr>
              <a:t>Goal:</a:t>
            </a:r>
            <a:r>
              <a:rPr lang="en-GB" sz="1600" b="0" i="0" u="none" strike="noStrike" dirty="0">
                <a:solidFill>
                  <a:srgbClr val="000000"/>
                </a:solidFill>
                <a:effectLst/>
              </a:rPr>
              <a:t> Minimizing KL divergence encourages the encoder to organize the latent space in a continuous and complete manner, facilitating smooth interpolation and generation of new samples.</a:t>
            </a:r>
          </a:p>
          <a:p>
            <a:br>
              <a:rPr lang="en-GB" sz="1600" dirty="0">
                <a:latin typeface="+mj-lt"/>
              </a:rPr>
            </a:br>
            <a:endParaRPr lang="en-GB" sz="1600" b="0" i="0" u="none" strike="noStrike" dirty="0">
              <a:solidFill>
                <a:srgbClr val="000000"/>
              </a:solidFill>
              <a:effectLst/>
              <a:latin typeface="+mj-lt"/>
            </a:endParaRPr>
          </a:p>
          <a:p>
            <a:br>
              <a:rPr lang="en-GB" sz="1600" dirty="0">
                <a:latin typeface="+mj-lt"/>
              </a:rPr>
            </a:br>
            <a:endParaRPr lang="en-GB" sz="1600" b="1" dirty="0">
              <a:latin typeface="+mj-lt"/>
            </a:endParaRPr>
          </a:p>
        </p:txBody>
      </p:sp>
    </p:spTree>
    <p:extLst>
      <p:ext uri="{BB962C8B-B14F-4D97-AF65-F5344CB8AC3E}">
        <p14:creationId xmlns:p14="http://schemas.microsoft.com/office/powerpoint/2010/main" val="2777660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4E3BFAA-2AFD-02E4-D84B-DFD97CE0A44E}"/>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E6AA14A1-D12F-3461-AF50-8B14DC780791}"/>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pPr>
              <a:spcAft>
                <a:spcPts val="300"/>
              </a:spcAft>
            </a:pPr>
            <a:r>
              <a:rPr lang="en-GB" sz="3100" b="1" i="0" u="none" strike="noStrike" dirty="0">
                <a:solidFill>
                  <a:srgbClr val="7030A0"/>
                </a:solidFill>
                <a:effectLst/>
              </a:rPr>
              <a:t>Loss Functions in VAE Training</a:t>
            </a:r>
            <a:br>
              <a:rPr lang="en-GB" sz="3100" b="1" i="0" u="none" strike="noStrike" dirty="0">
                <a:solidFill>
                  <a:srgbClr val="7030A0"/>
                </a:solidFill>
                <a:effectLst/>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83123CC-DF4E-0B69-850F-26558E2D3ABC}"/>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731DA7FB-AF16-92F8-79F4-3DB4AE8DBED8}"/>
              </a:ext>
            </a:extLst>
          </p:cNvPr>
          <p:cNvSpPr txBox="1"/>
          <p:nvPr/>
        </p:nvSpPr>
        <p:spPr>
          <a:xfrm>
            <a:off x="170237" y="777014"/>
            <a:ext cx="8443923" cy="4524315"/>
          </a:xfrm>
          <a:prstGeom prst="rect">
            <a:avLst/>
          </a:prstGeom>
          <a:noFill/>
        </p:spPr>
        <p:txBody>
          <a:bodyPr wrap="square">
            <a:spAutoFit/>
          </a:bodyPr>
          <a:lstStyle/>
          <a:p>
            <a:pPr algn="l">
              <a:buNone/>
            </a:pPr>
            <a:r>
              <a:rPr lang="en-GB" sz="1600" b="1" i="0" u="none" strike="noStrike" dirty="0">
                <a:solidFill>
                  <a:srgbClr val="000000"/>
                </a:solidFill>
                <a:effectLst/>
              </a:rPr>
              <a:t>Evidence Lower Bound (ELBO)</a:t>
            </a:r>
          </a:p>
          <a:p>
            <a:pPr algn="l">
              <a:buNone/>
            </a:pPr>
            <a:endParaRPr lang="en-GB" sz="1600" b="1" i="0" u="none" strike="noStrike" dirty="0">
              <a:solidFill>
                <a:srgbClr val="000000"/>
              </a:solidFill>
              <a:effectLst/>
            </a:endParaRPr>
          </a:p>
          <a:p>
            <a:pPr algn="l"/>
            <a:r>
              <a:rPr lang="en-GB" sz="1600" b="1" i="0" u="none" strike="noStrike" dirty="0">
                <a:solidFill>
                  <a:srgbClr val="000000"/>
                </a:solidFill>
                <a:effectLst/>
              </a:rPr>
              <a:t>The Challenge:</a:t>
            </a:r>
            <a:r>
              <a:rPr lang="en-GB" sz="1600" b="0" i="0" u="none" strike="noStrike" dirty="0">
                <a:solidFill>
                  <a:srgbClr val="000000"/>
                </a:solidFill>
                <a:effectLst/>
              </a:rPr>
              <a:t> Directly calculating the true posterior distribution (p(</a:t>
            </a:r>
            <a:r>
              <a:rPr lang="en-GB" sz="1600" b="0" i="0" u="none" strike="noStrike" dirty="0" err="1">
                <a:solidFill>
                  <a:srgbClr val="000000"/>
                </a:solidFill>
                <a:effectLst/>
              </a:rPr>
              <a:t>z∣x</a:t>
            </a:r>
            <a:r>
              <a:rPr lang="en-GB" sz="1600" b="0" i="0" u="none" strike="noStrike" dirty="0">
                <a:solidFill>
                  <a:srgbClr val="000000"/>
                </a:solidFill>
                <a:effectLst/>
              </a:rPr>
              <a:t>)) and the marginal likelihood (p(x)) for VAEs is computationally intractable (the denominator is infinite).</a:t>
            </a:r>
          </a:p>
          <a:p>
            <a:pPr algn="l"/>
            <a:endParaRPr lang="en-GB" sz="1600" b="0" i="0" u="none" strike="noStrike" dirty="0">
              <a:solidFill>
                <a:srgbClr val="000000"/>
              </a:solidFill>
              <a:effectLst/>
            </a:endParaRPr>
          </a:p>
          <a:p>
            <a:pPr algn="l"/>
            <a:r>
              <a:rPr lang="en-GB" sz="1600" b="1" i="0" u="none" strike="noStrike" dirty="0">
                <a:solidFill>
                  <a:srgbClr val="000000"/>
                </a:solidFill>
                <a:effectLst/>
              </a:rPr>
              <a:t>The Solution:</a:t>
            </a:r>
            <a:r>
              <a:rPr lang="en-GB" sz="1600" b="0" i="0" u="none" strike="noStrike" dirty="0">
                <a:solidFill>
                  <a:srgbClr val="000000"/>
                </a:solidFill>
                <a:effectLst/>
              </a:rPr>
              <a:t> VAEs don't directly minimize KL divergence (as it involves an intractable term). Instead, they are trained to </a:t>
            </a:r>
            <a:r>
              <a:rPr lang="en-GB" sz="1600" b="1" i="0" u="none" strike="noStrike" dirty="0">
                <a:solidFill>
                  <a:srgbClr val="000000"/>
                </a:solidFill>
                <a:effectLst/>
              </a:rPr>
              <a:t>maximize the Evidence Lower Bound (ELBO)</a:t>
            </a:r>
            <a:r>
              <a:rPr lang="en-GB" sz="1600" b="0" i="0" u="none" strike="noStrike" dirty="0">
                <a:solidFill>
                  <a:srgbClr val="000000"/>
                </a:solidFill>
                <a:effectLst/>
              </a:rPr>
              <a:t>.</a:t>
            </a:r>
          </a:p>
          <a:p>
            <a:pPr algn="l"/>
            <a:endParaRPr lang="en-GB" sz="1600" b="0" i="0" u="none" strike="noStrike" dirty="0">
              <a:solidFill>
                <a:srgbClr val="000000"/>
              </a:solidFill>
              <a:effectLst/>
            </a:endParaRPr>
          </a:p>
          <a:p>
            <a:pPr algn="l"/>
            <a:r>
              <a:rPr lang="en-GB" sz="1600" b="1" i="0" u="none" strike="noStrike" dirty="0">
                <a:solidFill>
                  <a:srgbClr val="000000"/>
                </a:solidFill>
                <a:effectLst/>
              </a:rPr>
              <a:t>Definition:</a:t>
            </a:r>
            <a:r>
              <a:rPr lang="en-GB" sz="1600" b="0" i="0" u="none" strike="noStrike" dirty="0">
                <a:solidFill>
                  <a:srgbClr val="000000"/>
                </a:solidFill>
                <a:effectLst/>
              </a:rPr>
              <a:t> ELBO is a lower bound (a worst-case estimate) on the logarithm of the marginal likelihood of the data, </a:t>
            </a:r>
            <a:r>
              <a:rPr lang="en-GB" sz="1600" b="0" i="0" u="none" strike="noStrike" dirty="0" err="1">
                <a:solidFill>
                  <a:srgbClr val="000000"/>
                </a:solidFill>
                <a:effectLst/>
              </a:rPr>
              <a:t>logp</a:t>
            </a:r>
            <a:r>
              <a:rPr lang="en-GB" sz="1600" b="0" i="0" u="none" strike="noStrike" dirty="0">
                <a:solidFill>
                  <a:srgbClr val="000000"/>
                </a:solidFill>
                <a:effectLst/>
              </a:rPr>
              <a:t>(x). Maximizing this lower bound effectively pushes up the true log-likelihood, making the model better at explaining the observed data.</a:t>
            </a:r>
          </a:p>
          <a:p>
            <a:pPr algn="l"/>
            <a:endParaRPr lang="en-GB" sz="1600" b="0" i="0" u="none" strike="noStrike" dirty="0">
              <a:solidFill>
                <a:srgbClr val="000000"/>
              </a:solidFill>
              <a:effectLst/>
            </a:endParaRPr>
          </a:p>
          <a:p>
            <a:pPr algn="l"/>
            <a:r>
              <a:rPr lang="en-GB" sz="1600" b="1" i="0" u="none" strike="noStrike" dirty="0">
                <a:solidFill>
                  <a:srgbClr val="000000"/>
                </a:solidFill>
                <a:effectLst/>
              </a:rPr>
              <a:t>Components of ELBO:</a:t>
            </a:r>
            <a:r>
              <a:rPr lang="en-GB" sz="1600" b="0" i="0" u="none" strike="noStrike" dirty="0">
                <a:solidFill>
                  <a:srgbClr val="000000"/>
                </a:solidFill>
                <a:effectLst/>
              </a:rPr>
              <a:t> The ELBO objective combines both the </a:t>
            </a:r>
            <a:r>
              <a:rPr lang="en-GB" sz="1600" b="1" i="0" u="none" strike="noStrike" dirty="0">
                <a:solidFill>
                  <a:srgbClr val="000000"/>
                </a:solidFill>
                <a:effectLst/>
              </a:rPr>
              <a:t>reconstruction loss term</a:t>
            </a:r>
            <a:r>
              <a:rPr lang="en-GB" sz="1600" b="0" i="0" u="none" strike="noStrike" dirty="0">
                <a:solidFill>
                  <a:srgbClr val="000000"/>
                </a:solidFill>
                <a:effectLst/>
              </a:rPr>
              <a:t> and the </a:t>
            </a:r>
            <a:r>
              <a:rPr lang="en-GB" sz="1600" b="1" i="0" u="none" strike="noStrike" dirty="0">
                <a:solidFill>
                  <a:srgbClr val="000000"/>
                </a:solidFill>
                <a:effectLst/>
              </a:rPr>
              <a:t>KL divergence regularization term</a:t>
            </a:r>
            <a:r>
              <a:rPr lang="en-GB" sz="1600" b="0" i="0" u="none" strike="noStrike" dirty="0">
                <a:solidFill>
                  <a:srgbClr val="000000"/>
                </a:solidFill>
                <a:effectLst/>
              </a:rPr>
              <a:t>.</a:t>
            </a:r>
          </a:p>
          <a:p>
            <a:pPr>
              <a:buNone/>
            </a:pPr>
            <a:br>
              <a:rPr lang="en-GB" sz="1600" dirty="0">
                <a:latin typeface="+mj-lt"/>
              </a:rPr>
            </a:br>
            <a:endParaRPr lang="en-GB" sz="1600" b="0" i="0" u="none" strike="noStrike" dirty="0">
              <a:solidFill>
                <a:srgbClr val="000000"/>
              </a:solidFill>
              <a:effectLst/>
              <a:latin typeface="+mj-lt"/>
            </a:endParaRPr>
          </a:p>
          <a:p>
            <a:br>
              <a:rPr lang="en-GB" sz="1600" dirty="0">
                <a:latin typeface="+mj-lt"/>
              </a:rPr>
            </a:br>
            <a:endParaRPr lang="en-GB" sz="1600" b="1" dirty="0">
              <a:latin typeface="+mj-lt"/>
            </a:endParaRPr>
          </a:p>
        </p:txBody>
      </p:sp>
    </p:spTree>
    <p:extLst>
      <p:ext uri="{BB962C8B-B14F-4D97-AF65-F5344CB8AC3E}">
        <p14:creationId xmlns:p14="http://schemas.microsoft.com/office/powerpoint/2010/main" val="2006109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73AECE5-7C12-F91A-749B-D4253ADA770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406167E3-CB95-787A-983B-28D624C086D2}"/>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pPr>
              <a:spcAft>
                <a:spcPts val="300"/>
              </a:spcAft>
            </a:pPr>
            <a:r>
              <a:rPr lang="en-GB" sz="3100" b="1" i="0" u="none" strike="noStrike" dirty="0">
                <a:solidFill>
                  <a:srgbClr val="7030A0"/>
                </a:solidFill>
                <a:effectLst/>
              </a:rPr>
              <a:t>Loss Functions in VAE Training</a:t>
            </a:r>
            <a:br>
              <a:rPr lang="en-GB" sz="3100" b="1" i="0" u="none" strike="noStrike" dirty="0">
                <a:solidFill>
                  <a:srgbClr val="7030A0"/>
                </a:solidFill>
                <a:effectLst/>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5BE43413-27F1-5A8A-CBD3-20A1B1BD3F5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871185B0-F01E-3E54-16B4-F0E84BFE709B}"/>
              </a:ext>
            </a:extLst>
          </p:cNvPr>
          <p:cNvSpPr txBox="1"/>
          <p:nvPr/>
        </p:nvSpPr>
        <p:spPr>
          <a:xfrm>
            <a:off x="170237" y="777014"/>
            <a:ext cx="8443923" cy="5016758"/>
          </a:xfrm>
          <a:prstGeom prst="rect">
            <a:avLst/>
          </a:prstGeom>
          <a:noFill/>
        </p:spPr>
        <p:txBody>
          <a:bodyPr wrap="square">
            <a:spAutoFit/>
          </a:bodyPr>
          <a:lstStyle/>
          <a:p>
            <a:pPr algn="l">
              <a:buNone/>
            </a:pPr>
            <a:r>
              <a:rPr lang="en-GB" sz="1600" b="1" i="0" u="none" strike="noStrike" dirty="0">
                <a:solidFill>
                  <a:srgbClr val="000000"/>
                </a:solidFill>
                <a:effectLst/>
              </a:rPr>
              <a:t>The Reparameterization Trick</a:t>
            </a:r>
          </a:p>
          <a:p>
            <a:pPr algn="l"/>
            <a:r>
              <a:rPr lang="en-GB" sz="1600" b="1" i="0" u="none" strike="noStrike" dirty="0">
                <a:solidFill>
                  <a:srgbClr val="000000"/>
                </a:solidFill>
                <a:effectLst/>
              </a:rPr>
              <a:t>The Problem:</a:t>
            </a:r>
            <a:r>
              <a:rPr lang="en-GB" sz="1600" b="0" i="0" u="none" strike="noStrike" dirty="0">
                <a:solidFill>
                  <a:srgbClr val="000000"/>
                </a:solidFill>
                <a:effectLst/>
              </a:rPr>
              <a:t> The core idea of VAEs is to sample a latent variable z from a distribution output by the encoder. However, directly sampling from a random distribution is a non-differentiable operation, which means backpropagation (used for training neural networks) cannot work through it to update the encoder's parameters.</a:t>
            </a:r>
          </a:p>
          <a:p>
            <a:pPr algn="l"/>
            <a:r>
              <a:rPr lang="en-GB" sz="1600" b="1" i="0" u="none" strike="noStrike" dirty="0">
                <a:solidFill>
                  <a:srgbClr val="000000"/>
                </a:solidFill>
                <a:effectLst/>
              </a:rPr>
              <a:t>The Solution:</a:t>
            </a:r>
            <a:r>
              <a:rPr lang="en-GB" sz="1600" b="0" i="0" u="none" strike="noStrike" dirty="0">
                <a:solidFill>
                  <a:srgbClr val="000000"/>
                </a:solidFill>
                <a:effectLst/>
              </a:rPr>
              <a:t> The reparameterization trick allows the random sampling step to be "moved outside" the part of the network that receives gradients.</a:t>
            </a:r>
          </a:p>
          <a:p>
            <a:pPr algn="l"/>
            <a:r>
              <a:rPr lang="en-GB" sz="1600" b="1" i="0" u="none" strike="noStrike" dirty="0">
                <a:solidFill>
                  <a:srgbClr val="000000"/>
                </a:solidFill>
                <a:effectLst/>
              </a:rPr>
              <a:t>Mechanism:</a:t>
            </a:r>
            <a:r>
              <a:rPr lang="en-GB" sz="1600" b="0" i="0" u="none" strike="noStrike" dirty="0">
                <a:solidFill>
                  <a:srgbClr val="000000"/>
                </a:solidFill>
                <a:effectLst/>
              </a:rPr>
              <a:t> Instead of sampling z directly from N(</a:t>
            </a:r>
            <a:r>
              <a:rPr lang="el-GR" sz="1600" b="0" i="0" u="none" strike="noStrike" dirty="0">
                <a:solidFill>
                  <a:srgbClr val="000000"/>
                </a:solidFill>
                <a:effectLst/>
              </a:rPr>
              <a:t>μ,σ2):</a:t>
            </a:r>
          </a:p>
          <a:p>
            <a:pPr marL="457200" lvl="1" algn="l"/>
            <a:r>
              <a:rPr lang="en-GB" sz="1600" b="0" i="0" u="none" strike="noStrike" dirty="0">
                <a:solidFill>
                  <a:srgbClr val="000000"/>
                </a:solidFill>
                <a:effectLst/>
              </a:rPr>
              <a:t>The encoder outputs the mean (</a:t>
            </a:r>
            <a:r>
              <a:rPr lang="el-GR" sz="1600" b="0" i="0" u="none" strike="noStrike" dirty="0">
                <a:solidFill>
                  <a:srgbClr val="000000"/>
                </a:solidFill>
                <a:effectLst/>
              </a:rPr>
              <a:t>μ) </a:t>
            </a:r>
            <a:r>
              <a:rPr lang="en-GB" sz="1600" b="0" i="0" u="none" strike="noStrike" dirty="0">
                <a:solidFill>
                  <a:srgbClr val="000000"/>
                </a:solidFill>
                <a:effectLst/>
              </a:rPr>
              <a:t>and standard deviation (</a:t>
            </a:r>
            <a:r>
              <a:rPr lang="el-GR" sz="1600" b="0" i="0" u="none" strike="noStrike" dirty="0">
                <a:solidFill>
                  <a:srgbClr val="000000"/>
                </a:solidFill>
                <a:effectLst/>
              </a:rPr>
              <a:t>σ) </a:t>
            </a:r>
            <a:r>
              <a:rPr lang="en-GB" sz="1600" b="0" i="0" u="none" strike="noStrike" dirty="0">
                <a:solidFill>
                  <a:srgbClr val="000000"/>
                </a:solidFill>
                <a:effectLst/>
              </a:rPr>
              <a:t>of the latent distribution.</a:t>
            </a:r>
          </a:p>
          <a:p>
            <a:pPr marL="457200" lvl="1" algn="l"/>
            <a:r>
              <a:rPr lang="en-GB" sz="1600" b="0" i="0" u="none" strike="noStrike" dirty="0">
                <a:solidFill>
                  <a:srgbClr val="000000"/>
                </a:solidFill>
                <a:effectLst/>
              </a:rPr>
              <a:t>A random noise value (</a:t>
            </a:r>
            <a:r>
              <a:rPr lang="el-GR" sz="1600" b="0" i="0" u="none" strike="noStrike" dirty="0">
                <a:solidFill>
                  <a:srgbClr val="000000"/>
                </a:solidFill>
                <a:effectLst/>
              </a:rPr>
              <a:t>ϵ) </a:t>
            </a:r>
            <a:r>
              <a:rPr lang="en-GB" sz="1600" b="0" i="0" u="none" strike="noStrike" dirty="0">
                <a:solidFill>
                  <a:srgbClr val="000000"/>
                </a:solidFill>
                <a:effectLst/>
              </a:rPr>
              <a:t>is sampled from a </a:t>
            </a:r>
            <a:r>
              <a:rPr lang="en-GB" sz="1600" b="1" i="0" u="none" strike="noStrike" dirty="0">
                <a:solidFill>
                  <a:srgbClr val="000000"/>
                </a:solidFill>
                <a:effectLst/>
              </a:rPr>
              <a:t>standard normal distribution</a:t>
            </a:r>
            <a:r>
              <a:rPr lang="en-GB" sz="1600" b="0" i="0" u="none" strike="noStrike" dirty="0">
                <a:solidFill>
                  <a:srgbClr val="000000"/>
                </a:solidFill>
                <a:effectLst/>
              </a:rPr>
              <a:t> N(0,1).</a:t>
            </a:r>
          </a:p>
          <a:p>
            <a:pPr marL="457200" lvl="1" algn="l"/>
            <a:r>
              <a:rPr lang="en-GB" sz="1600" b="0" i="0" u="none" strike="noStrike" dirty="0">
                <a:solidFill>
                  <a:srgbClr val="000000"/>
                </a:solidFill>
                <a:effectLst/>
              </a:rPr>
              <a:t>The latent variable z is then calculated deterministically as: z=</a:t>
            </a:r>
            <a:r>
              <a:rPr lang="el-GR" sz="1600" b="0" i="0" u="none" strike="noStrike" dirty="0" err="1">
                <a:solidFill>
                  <a:srgbClr val="000000"/>
                </a:solidFill>
                <a:effectLst/>
              </a:rPr>
              <a:t>μ+σ</a:t>
            </a:r>
            <a:r>
              <a:rPr lang="el-GR" sz="1600" b="0" i="0" u="none" strike="noStrike" dirty="0">
                <a:solidFill>
                  <a:srgbClr val="000000"/>
                </a:solidFill>
                <a:effectLst/>
              </a:rPr>
              <a:t>⊙ϵ </a:t>
            </a:r>
            <a:endParaRPr lang="en-US" sz="1600" b="0" i="0" u="none" strike="noStrike" dirty="0">
              <a:solidFill>
                <a:srgbClr val="000000"/>
              </a:solidFill>
              <a:effectLst/>
            </a:endParaRPr>
          </a:p>
          <a:p>
            <a:pPr marL="457200" lvl="1" algn="l"/>
            <a:r>
              <a:rPr lang="el-GR" sz="1600" b="0" i="0" u="none" strike="noStrike" dirty="0">
                <a:solidFill>
                  <a:srgbClr val="000000"/>
                </a:solidFill>
                <a:effectLst/>
              </a:rPr>
              <a:t>(⊙ </a:t>
            </a:r>
            <a:r>
              <a:rPr lang="en-GB" sz="1600" b="0" i="0" u="none" strike="noStrike" dirty="0">
                <a:solidFill>
                  <a:srgbClr val="000000"/>
                </a:solidFill>
                <a:effectLst/>
              </a:rPr>
              <a:t>denotes element-wise multiplication)</a:t>
            </a:r>
          </a:p>
          <a:p>
            <a:pPr algn="l"/>
            <a:r>
              <a:rPr lang="en-GB" sz="1600" b="1" i="0" u="none" strike="noStrike" dirty="0">
                <a:solidFill>
                  <a:srgbClr val="000000"/>
                </a:solidFill>
                <a:effectLst/>
              </a:rPr>
              <a:t>Benefit:</a:t>
            </a:r>
            <a:r>
              <a:rPr lang="en-GB" sz="1600" b="0" i="0" u="none" strike="noStrike" dirty="0">
                <a:solidFill>
                  <a:srgbClr val="000000"/>
                </a:solidFill>
                <a:effectLst/>
              </a:rPr>
              <a:t> Since </a:t>
            </a:r>
            <a:r>
              <a:rPr lang="el-GR" sz="1600" b="0" i="0" u="none" strike="noStrike" dirty="0">
                <a:solidFill>
                  <a:srgbClr val="000000"/>
                </a:solidFill>
                <a:effectLst/>
              </a:rPr>
              <a:t>ϵ </a:t>
            </a:r>
            <a:r>
              <a:rPr lang="en-GB" sz="1600" b="0" i="0" u="none" strike="noStrike" dirty="0">
                <a:solidFill>
                  <a:srgbClr val="000000"/>
                </a:solidFill>
                <a:effectLst/>
              </a:rPr>
              <a:t>is a fixed random sample that does not depend on the model's parameters, the gradients can flow back through </a:t>
            </a:r>
            <a:r>
              <a:rPr lang="el-GR" sz="1600" b="0" i="0" u="none" strike="noStrike" dirty="0">
                <a:solidFill>
                  <a:srgbClr val="000000"/>
                </a:solidFill>
                <a:effectLst/>
              </a:rPr>
              <a:t>μ </a:t>
            </a:r>
            <a:r>
              <a:rPr lang="en-GB" sz="1600" b="0" i="0" u="none" strike="noStrike" dirty="0">
                <a:solidFill>
                  <a:srgbClr val="000000"/>
                </a:solidFill>
                <a:effectLst/>
              </a:rPr>
              <a:t>and </a:t>
            </a:r>
            <a:r>
              <a:rPr lang="el-GR" sz="1600" b="0" i="0" u="none" strike="noStrike" dirty="0">
                <a:solidFill>
                  <a:srgbClr val="000000"/>
                </a:solidFill>
                <a:effectLst/>
              </a:rPr>
              <a:t>σ (</a:t>
            </a:r>
            <a:r>
              <a:rPr lang="en-GB" sz="1600" b="0" i="0" u="none" strike="noStrike" dirty="0">
                <a:solidFill>
                  <a:srgbClr val="000000"/>
                </a:solidFill>
                <a:effectLst/>
              </a:rPr>
              <a:t>which </a:t>
            </a:r>
            <a:r>
              <a:rPr lang="en-GB" sz="1600" b="0" i="1" u="none" strike="noStrike" dirty="0">
                <a:solidFill>
                  <a:srgbClr val="000000"/>
                </a:solidFill>
                <a:effectLst/>
              </a:rPr>
              <a:t>are</a:t>
            </a:r>
            <a:r>
              <a:rPr lang="en-GB" sz="1600" b="0" i="0" u="none" strike="noStrike" dirty="0">
                <a:solidFill>
                  <a:srgbClr val="000000"/>
                </a:solidFill>
                <a:effectLst/>
              </a:rPr>
              <a:t> dependent on the encoder's parameters), allowing the encoder to be trained effectively using gradient descent (e.g., Adam optimizer) to maximize the ELBO.</a:t>
            </a:r>
          </a:p>
          <a:p>
            <a:pPr>
              <a:buNone/>
            </a:pPr>
            <a:br>
              <a:rPr lang="en-GB" sz="1600" dirty="0">
                <a:latin typeface="+mj-lt"/>
              </a:rPr>
            </a:br>
            <a:endParaRPr lang="en-GB" sz="1600" b="0" i="0" u="none" strike="noStrike" dirty="0">
              <a:solidFill>
                <a:srgbClr val="000000"/>
              </a:solidFill>
              <a:effectLst/>
              <a:latin typeface="+mj-lt"/>
            </a:endParaRPr>
          </a:p>
          <a:p>
            <a:br>
              <a:rPr lang="en-GB" sz="1600" dirty="0">
                <a:latin typeface="+mj-lt"/>
              </a:rPr>
            </a:br>
            <a:endParaRPr lang="en-GB" sz="1600" b="1" dirty="0">
              <a:latin typeface="+mj-lt"/>
            </a:endParaRPr>
          </a:p>
        </p:txBody>
      </p:sp>
    </p:spTree>
    <p:extLst>
      <p:ext uri="{BB962C8B-B14F-4D97-AF65-F5344CB8AC3E}">
        <p14:creationId xmlns:p14="http://schemas.microsoft.com/office/powerpoint/2010/main" val="2375935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E0F00E4-DFD1-B0ED-AD60-5F5A85FD786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91E5EAFC-493C-92BF-F1AC-F9E473D45462}"/>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pPr>
              <a:spcAft>
                <a:spcPts val="300"/>
              </a:spcAft>
            </a:pPr>
            <a:r>
              <a:rPr lang="en-GB" sz="2400" i="0" u="none" strike="noStrike" dirty="0">
                <a:solidFill>
                  <a:srgbClr val="7030A0"/>
                </a:solidFill>
                <a:effectLst/>
              </a:rPr>
              <a:t>Types of Variational Autoencoders</a:t>
            </a:r>
            <a:br>
              <a:rPr lang="en-GB" sz="2400" b="0" i="0" u="none" strike="noStrike" dirty="0">
                <a:solidFill>
                  <a:srgbClr val="7030A0"/>
                </a:solidFill>
                <a:effectLst/>
              </a:rPr>
            </a:br>
            <a:br>
              <a:rPr lang="en-GB" sz="2400" b="0" i="0" u="none" strike="noStrike" dirty="0">
                <a:solidFill>
                  <a:srgbClr val="7030A0"/>
                </a:solidFill>
                <a:effectLst/>
              </a:rPr>
            </a:br>
            <a:br>
              <a:rPr lang="en-GB" sz="2400" b="1" i="0" u="none" strike="noStrike" dirty="0">
                <a:solidFill>
                  <a:srgbClr val="7030A0"/>
                </a:solidFill>
                <a:effectLst/>
                <a:latin typeface="Nunito" pitchFamily="2" charset="77"/>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FB584EB4-D367-E947-C388-67C46D8C1547}"/>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A6858880-15D4-64D9-B5BB-D60D80BBAF46}"/>
              </a:ext>
            </a:extLst>
          </p:cNvPr>
          <p:cNvSpPr txBox="1"/>
          <p:nvPr/>
        </p:nvSpPr>
        <p:spPr>
          <a:xfrm>
            <a:off x="87382" y="580937"/>
            <a:ext cx="8102462" cy="1723549"/>
          </a:xfrm>
          <a:prstGeom prst="rect">
            <a:avLst/>
          </a:prstGeom>
          <a:noFill/>
        </p:spPr>
        <p:txBody>
          <a:bodyPr wrap="square">
            <a:spAutoFit/>
          </a:bodyPr>
          <a:lstStyle/>
          <a:p>
            <a:pPr algn="l">
              <a:buNone/>
            </a:pPr>
            <a:r>
              <a:rPr lang="en-GB" b="0" i="0" u="none" strike="noStrike" dirty="0">
                <a:solidFill>
                  <a:srgbClr val="000000"/>
                </a:solidFill>
                <a:effectLst/>
              </a:rPr>
              <a:t>VAEs have evolved into various specialized forms to address different challenges and applications in machine learning. In this section, we’ll examine the most prominent types, highlighting use cases, advantages, and limitations.</a:t>
            </a:r>
          </a:p>
          <a:p>
            <a:br>
              <a:rPr lang="en-GB" sz="1600" dirty="0">
                <a:latin typeface="+mj-lt"/>
              </a:rPr>
            </a:br>
            <a:endParaRPr lang="en-GB" sz="1600" b="0" i="0" u="none" strike="noStrike" dirty="0">
              <a:solidFill>
                <a:srgbClr val="000000"/>
              </a:solidFill>
              <a:effectLst/>
              <a:latin typeface="+mj-lt"/>
            </a:endParaRPr>
          </a:p>
          <a:p>
            <a:br>
              <a:rPr lang="en-GB" sz="1600" dirty="0">
                <a:latin typeface="+mj-lt"/>
              </a:rPr>
            </a:br>
            <a:endParaRPr lang="en-GB" sz="1600" b="1" dirty="0">
              <a:latin typeface="+mj-lt"/>
            </a:endParaRPr>
          </a:p>
        </p:txBody>
      </p:sp>
      <p:pic>
        <p:nvPicPr>
          <p:cNvPr id="10242" name="Picture 2" descr="CVAE model structure.">
            <a:extLst>
              <a:ext uri="{FF2B5EF4-FFF2-40B4-BE49-F238E27FC236}">
                <a16:creationId xmlns:a16="http://schemas.microsoft.com/office/drawing/2014/main" id="{D2BA92E2-D399-AB7C-0595-6C162C87EC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5819" y="1477277"/>
            <a:ext cx="6756952" cy="327398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88A194E-E588-4FB5-0E37-55331BA20A89}"/>
              </a:ext>
            </a:extLst>
          </p:cNvPr>
          <p:cNvSpPr txBox="1"/>
          <p:nvPr/>
        </p:nvSpPr>
        <p:spPr>
          <a:xfrm>
            <a:off x="3650344" y="1183187"/>
            <a:ext cx="2127902" cy="307777"/>
          </a:xfrm>
          <a:prstGeom prst="rect">
            <a:avLst/>
          </a:prstGeom>
          <a:noFill/>
        </p:spPr>
        <p:txBody>
          <a:bodyPr wrap="square" rtlCol="0">
            <a:spAutoFit/>
          </a:bodyPr>
          <a:lstStyle/>
          <a:p>
            <a:r>
              <a:rPr lang="en-US" dirty="0"/>
              <a:t>CVAE Model Structure</a:t>
            </a:r>
          </a:p>
        </p:txBody>
      </p:sp>
    </p:spTree>
    <p:extLst>
      <p:ext uri="{BB962C8B-B14F-4D97-AF65-F5344CB8AC3E}">
        <p14:creationId xmlns:p14="http://schemas.microsoft.com/office/powerpoint/2010/main" val="3314919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D67BE66-3FF1-CAAF-5390-D6ABE9D3789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9E45CE75-99C8-863F-E74D-09DF06A25C9A}"/>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pPr>
              <a:spcAft>
                <a:spcPts val="300"/>
              </a:spcAft>
            </a:pPr>
            <a:r>
              <a:rPr lang="en-GB" sz="2400" i="0" u="none" strike="noStrike" dirty="0">
                <a:solidFill>
                  <a:srgbClr val="7030A0"/>
                </a:solidFill>
                <a:effectLst/>
              </a:rPr>
              <a:t>Types of Variational Autoencoders</a:t>
            </a:r>
            <a:br>
              <a:rPr lang="en-GB" sz="2400" b="0" i="0" u="none" strike="noStrike" dirty="0">
                <a:solidFill>
                  <a:srgbClr val="7030A0"/>
                </a:solidFill>
                <a:effectLst/>
              </a:rPr>
            </a:br>
            <a:br>
              <a:rPr lang="en-GB" sz="2400" b="0" i="0" u="none" strike="noStrike" dirty="0">
                <a:solidFill>
                  <a:srgbClr val="7030A0"/>
                </a:solidFill>
                <a:effectLst/>
              </a:rPr>
            </a:br>
            <a:br>
              <a:rPr lang="en-GB" sz="2400" b="1" i="0" u="none" strike="noStrike" dirty="0">
                <a:solidFill>
                  <a:srgbClr val="7030A0"/>
                </a:solidFill>
                <a:effectLst/>
                <a:latin typeface="Nunito" pitchFamily="2" charset="77"/>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4417E98B-4155-6253-F734-DB8FBDCF1C6B}"/>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DD02FB42-9F8B-731F-0CE6-50F2F431FEDA}"/>
              </a:ext>
            </a:extLst>
          </p:cNvPr>
          <p:cNvSpPr txBox="1"/>
          <p:nvPr/>
        </p:nvSpPr>
        <p:spPr>
          <a:xfrm>
            <a:off x="87382" y="580937"/>
            <a:ext cx="8102462" cy="4739759"/>
          </a:xfrm>
          <a:prstGeom prst="rect">
            <a:avLst/>
          </a:prstGeom>
          <a:noFill/>
        </p:spPr>
        <p:txBody>
          <a:bodyPr wrap="square">
            <a:spAutoFit/>
          </a:bodyPr>
          <a:lstStyle/>
          <a:p>
            <a:pPr algn="l"/>
            <a:r>
              <a:rPr lang="en-GB" b="1" i="0" u="none" strike="noStrike" dirty="0">
                <a:solidFill>
                  <a:srgbClr val="000000"/>
                </a:solidFill>
                <a:effectLst/>
              </a:rPr>
              <a:t>Conditional Variational Autoencoder (CVAE)</a:t>
            </a:r>
            <a:endParaRPr lang="en-GB" b="0" i="0" u="none" strike="noStrike" dirty="0">
              <a:solidFill>
                <a:srgbClr val="000000"/>
              </a:solidFill>
              <a:effectLst/>
            </a:endParaRPr>
          </a:p>
          <a:p>
            <a:pPr marL="457200" lvl="1" algn="l"/>
            <a:r>
              <a:rPr lang="en-GB" b="1" i="0" u="none" strike="noStrike" dirty="0">
                <a:solidFill>
                  <a:srgbClr val="000000"/>
                </a:solidFill>
                <a:effectLst/>
              </a:rPr>
              <a:t>Description:</a:t>
            </a:r>
            <a:r>
              <a:rPr lang="en-GB" b="0" i="0" u="none" strike="noStrike" dirty="0">
                <a:solidFill>
                  <a:srgbClr val="000000"/>
                </a:solidFill>
                <a:effectLst/>
              </a:rPr>
              <a:t> CVAEs are an advanced form of VAEs that improve the generative process by incorporating </a:t>
            </a:r>
            <a:r>
              <a:rPr lang="en-GB" b="1" i="0" u="none" strike="noStrike" dirty="0">
                <a:solidFill>
                  <a:srgbClr val="000000"/>
                </a:solidFill>
                <a:effectLst/>
              </a:rPr>
              <a:t>additional conditioning information</a:t>
            </a:r>
            <a:r>
              <a:rPr lang="en-GB" b="0" i="0" u="none" strike="noStrike" dirty="0">
                <a:solidFill>
                  <a:srgbClr val="000000"/>
                </a:solidFill>
                <a:effectLst/>
              </a:rPr>
              <a:t> (c). This c is fed into </a:t>
            </a:r>
            <a:r>
              <a:rPr lang="en-GB" b="1" i="0" u="none" strike="noStrike" dirty="0">
                <a:solidFill>
                  <a:srgbClr val="000000"/>
                </a:solidFill>
                <a:effectLst/>
              </a:rPr>
              <a:t>both the encoder and decoder networks</a:t>
            </a:r>
            <a:r>
              <a:rPr lang="en-GB" b="0" i="0" u="none" strike="noStrike" dirty="0">
                <a:solidFill>
                  <a:srgbClr val="000000"/>
                </a:solidFill>
                <a:effectLst/>
              </a:rPr>
              <a:t> and can be any relevant data like class labels, attributes, or other contextual data.</a:t>
            </a:r>
          </a:p>
          <a:p>
            <a:pPr marL="457200" lvl="1" algn="l"/>
            <a:r>
              <a:rPr lang="en-GB" b="1" i="0" u="none" strike="noStrike" dirty="0">
                <a:solidFill>
                  <a:srgbClr val="000000"/>
                </a:solidFill>
                <a:effectLst/>
              </a:rPr>
              <a:t>Use Cases:</a:t>
            </a:r>
            <a:endParaRPr lang="en-GB" b="0" i="0" u="none" strike="noStrike" dirty="0">
              <a:solidFill>
                <a:srgbClr val="000000"/>
              </a:solidFill>
              <a:effectLst/>
            </a:endParaRPr>
          </a:p>
          <a:p>
            <a:pPr marL="1314450" lvl="2" indent="-400050" algn="l">
              <a:buFont typeface="+mj-lt"/>
              <a:buAutoNum type="romanLcPeriod"/>
            </a:pPr>
            <a:r>
              <a:rPr lang="en-GB" b="1" i="0" u="none" strike="noStrike" dirty="0">
                <a:solidFill>
                  <a:srgbClr val="000000"/>
                </a:solidFill>
                <a:effectLst/>
              </a:rPr>
              <a:t>Controlled Data Generation:</a:t>
            </a:r>
            <a:r>
              <a:rPr lang="en-GB" b="0" i="0" u="none" strike="noStrike" dirty="0">
                <a:solidFill>
                  <a:srgbClr val="000000"/>
                </a:solidFill>
                <a:effectLst/>
              </a:rPr>
              <a:t> Enables creation of data with specific properties (e.g., generating images of particular objects based on labels).</a:t>
            </a:r>
          </a:p>
          <a:p>
            <a:pPr marL="1314450" lvl="2" indent="-400050" algn="l">
              <a:buFont typeface="+mj-lt"/>
              <a:buAutoNum type="romanLcPeriod"/>
            </a:pPr>
            <a:r>
              <a:rPr lang="en-GB" b="1" i="0" u="none" strike="noStrike" dirty="0">
                <a:solidFill>
                  <a:srgbClr val="000000"/>
                </a:solidFill>
                <a:effectLst/>
              </a:rPr>
              <a:t>Image-to-Image Translation:</a:t>
            </a:r>
            <a:r>
              <a:rPr lang="en-GB" b="0" i="0" u="none" strike="noStrike" dirty="0">
                <a:solidFill>
                  <a:srgbClr val="000000"/>
                </a:solidFill>
                <a:effectLst/>
              </a:rPr>
              <a:t> Transforms images between domains while preserving specific attributes (e.g., B&amp;W to </a:t>
            </a:r>
            <a:r>
              <a:rPr lang="en-GB" b="0" i="0" u="none" strike="noStrike" dirty="0" err="1">
                <a:solidFill>
                  <a:srgbClr val="000000"/>
                </a:solidFill>
                <a:effectLst/>
              </a:rPr>
              <a:t>color</a:t>
            </a:r>
            <a:r>
              <a:rPr lang="en-GB" b="0" i="0" u="none" strike="noStrike" dirty="0">
                <a:solidFill>
                  <a:srgbClr val="000000"/>
                </a:solidFill>
                <a:effectLst/>
              </a:rPr>
              <a:t>, sketches to photos).</a:t>
            </a:r>
          </a:p>
          <a:p>
            <a:pPr marL="1314450" lvl="2" indent="-400050" algn="l">
              <a:buFont typeface="+mj-lt"/>
              <a:buAutoNum type="romanLcPeriod"/>
            </a:pPr>
            <a:r>
              <a:rPr lang="en-GB" b="1" i="0" u="none" strike="noStrike" dirty="0">
                <a:solidFill>
                  <a:srgbClr val="000000"/>
                </a:solidFill>
                <a:effectLst/>
              </a:rPr>
              <a:t>Text Generation:</a:t>
            </a:r>
            <a:r>
              <a:rPr lang="en-GB" b="0" i="0" u="none" strike="noStrike" dirty="0">
                <a:solidFill>
                  <a:srgbClr val="000000"/>
                </a:solidFill>
                <a:effectLst/>
              </a:rPr>
              <a:t> Generates text conditioned on specific prompts or topics (e.g., story generation, chatbot responses).</a:t>
            </a:r>
          </a:p>
          <a:p>
            <a:pPr marL="457200" lvl="1" algn="l"/>
            <a:r>
              <a:rPr lang="en-GB" b="1" i="0" u="none" strike="noStrike" dirty="0">
                <a:solidFill>
                  <a:srgbClr val="000000"/>
                </a:solidFill>
                <a:effectLst/>
              </a:rPr>
              <a:t>Pros: </a:t>
            </a:r>
          </a:p>
          <a:p>
            <a:pPr marL="857250" lvl="1" indent="-400050" algn="l">
              <a:buFont typeface="+mj-lt"/>
              <a:buAutoNum type="romanLcPeriod"/>
            </a:pPr>
            <a:r>
              <a:rPr lang="en-GB" b="1" dirty="0"/>
              <a:t>	</a:t>
            </a:r>
            <a:r>
              <a:rPr lang="en-GB" b="0" i="0" u="none" strike="noStrike" dirty="0">
                <a:solidFill>
                  <a:srgbClr val="000000"/>
                </a:solidFill>
                <a:effectLst/>
              </a:rPr>
              <a:t>Finer control over generated data</a:t>
            </a:r>
            <a:r>
              <a:rPr lang="en-GB" dirty="0"/>
              <a:t>. </a:t>
            </a:r>
          </a:p>
          <a:p>
            <a:pPr marL="857250" lvl="1" indent="-400050" algn="l">
              <a:buFont typeface="+mj-lt"/>
              <a:buAutoNum type="romanLcPeriod"/>
            </a:pPr>
            <a:r>
              <a:rPr lang="en-GB" b="0" i="0" u="none" strike="noStrike" dirty="0">
                <a:solidFill>
                  <a:srgbClr val="000000"/>
                </a:solidFill>
                <a:effectLst/>
              </a:rPr>
              <a:t>	 Improved representation learning.</a:t>
            </a:r>
          </a:p>
          <a:p>
            <a:pPr marL="457200" lvl="1" algn="l"/>
            <a:r>
              <a:rPr lang="en-GB" b="1" i="0" u="none" strike="noStrike" dirty="0">
                <a:solidFill>
                  <a:srgbClr val="000000"/>
                </a:solidFill>
                <a:effectLst/>
              </a:rPr>
              <a:t>Cons: </a:t>
            </a:r>
          </a:p>
          <a:p>
            <a:pPr marL="457200" lvl="1" algn="l"/>
            <a:r>
              <a:rPr lang="en-GB" b="0" i="0" u="none" strike="noStrike" dirty="0">
                <a:solidFill>
                  <a:srgbClr val="000000"/>
                </a:solidFill>
                <a:effectLst/>
              </a:rPr>
              <a:t>Increased risk of overfitting (due to the added complexity of learning conditions).</a:t>
            </a:r>
          </a:p>
          <a:p>
            <a:br>
              <a:rPr lang="en-GB" sz="1600" dirty="0">
                <a:latin typeface="+mj-lt"/>
              </a:rPr>
            </a:br>
            <a:endParaRPr lang="en-GB" sz="1600" b="0" i="0" u="none" strike="noStrike" dirty="0">
              <a:solidFill>
                <a:srgbClr val="000000"/>
              </a:solidFill>
              <a:effectLst/>
              <a:latin typeface="+mj-lt"/>
            </a:endParaRPr>
          </a:p>
          <a:p>
            <a:br>
              <a:rPr lang="en-GB" sz="1600" dirty="0">
                <a:latin typeface="+mj-lt"/>
              </a:rPr>
            </a:br>
            <a:endParaRPr lang="en-GB" sz="1600" b="1" dirty="0">
              <a:latin typeface="+mj-lt"/>
            </a:endParaRPr>
          </a:p>
        </p:txBody>
      </p:sp>
    </p:spTree>
    <p:extLst>
      <p:ext uri="{BB962C8B-B14F-4D97-AF65-F5344CB8AC3E}">
        <p14:creationId xmlns:p14="http://schemas.microsoft.com/office/powerpoint/2010/main" val="3440727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5AD1081-5E70-9344-0F68-85A277A2573E}"/>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29BC9C56-166C-3AE1-3532-18AB19FA48AC}"/>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pPr>
              <a:spcAft>
                <a:spcPts val="300"/>
              </a:spcAft>
            </a:pPr>
            <a:r>
              <a:rPr lang="en-GB" sz="2400" b="1" i="0" u="none" strike="noStrike" dirty="0">
                <a:solidFill>
                  <a:srgbClr val="7030A0"/>
                </a:solidFill>
                <a:effectLst/>
              </a:rPr>
              <a:t>Applications of VAEs</a:t>
            </a:r>
            <a:br>
              <a:rPr lang="en-GB" sz="2400" b="0" i="0" u="none" strike="noStrike" dirty="0">
                <a:solidFill>
                  <a:srgbClr val="7030A0"/>
                </a:solidFill>
                <a:effectLst/>
              </a:rPr>
            </a:br>
            <a:br>
              <a:rPr lang="en-GB" sz="2400" b="1" i="0" u="none" strike="noStrike" dirty="0">
                <a:solidFill>
                  <a:srgbClr val="7030A0"/>
                </a:solidFill>
                <a:effectLst/>
                <a:latin typeface="Nunito" pitchFamily="2" charset="77"/>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157C5DE1-6007-67B1-AC61-3A604ABAEB6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72876002-2029-8A9C-32D9-FA12BB94B148}"/>
              </a:ext>
            </a:extLst>
          </p:cNvPr>
          <p:cNvSpPr txBox="1"/>
          <p:nvPr/>
        </p:nvSpPr>
        <p:spPr>
          <a:xfrm>
            <a:off x="238456" y="713964"/>
            <a:ext cx="8102462" cy="5016758"/>
          </a:xfrm>
          <a:prstGeom prst="rect">
            <a:avLst/>
          </a:prstGeom>
          <a:noFill/>
        </p:spPr>
        <p:txBody>
          <a:bodyPr wrap="square">
            <a:spAutoFit/>
          </a:bodyPr>
          <a:lstStyle/>
          <a:p>
            <a:pPr algn="l"/>
            <a:r>
              <a:rPr lang="en-GB" sz="1600" b="1" i="0" u="none" strike="noStrike" dirty="0">
                <a:solidFill>
                  <a:srgbClr val="000000"/>
                </a:solidFill>
                <a:effectLst/>
              </a:rPr>
              <a:t>Generative </a:t>
            </a:r>
            <a:r>
              <a:rPr lang="en-GB" sz="1600" b="1" i="0" u="none" strike="noStrike" dirty="0" err="1">
                <a:solidFill>
                  <a:srgbClr val="000000"/>
                </a:solidFill>
                <a:effectLst/>
              </a:rPr>
              <a:t>Modeling</a:t>
            </a:r>
            <a:r>
              <a:rPr lang="en-GB" sz="1600" b="1" i="0" u="none" strike="noStrike" dirty="0">
                <a:solidFill>
                  <a:srgbClr val="000000"/>
                </a:solidFill>
                <a:effectLst/>
              </a:rPr>
              <a:t>:</a:t>
            </a:r>
            <a:endParaRPr lang="en-GB" sz="1600" b="0" i="0" u="none" strike="noStrike" dirty="0">
              <a:solidFill>
                <a:srgbClr val="000000"/>
              </a:solidFill>
              <a:effectLst/>
            </a:endParaRPr>
          </a:p>
          <a:p>
            <a:pPr marL="800100" lvl="1" indent="-342900" algn="l">
              <a:buFont typeface="+mj-lt"/>
              <a:buAutoNum type="arabicPeriod"/>
            </a:pPr>
            <a:r>
              <a:rPr lang="en-GB" sz="1600" b="0" i="0" u="none" strike="noStrike" dirty="0">
                <a:solidFill>
                  <a:srgbClr val="000000"/>
                </a:solidFill>
                <a:effectLst/>
              </a:rPr>
              <a:t>VAEs excel at generating novel data samples that share characteristics with the training data but are not direct copies.</a:t>
            </a:r>
          </a:p>
          <a:p>
            <a:pPr marL="800100" lvl="1" indent="-342900" algn="l">
              <a:buFont typeface="+mj-lt"/>
              <a:buAutoNum type="arabicPeriod"/>
            </a:pPr>
            <a:r>
              <a:rPr lang="en-GB" sz="1600" b="0" i="0" u="none" strike="noStrike" dirty="0">
                <a:solidFill>
                  <a:srgbClr val="000000"/>
                </a:solidFill>
                <a:effectLst/>
              </a:rPr>
              <a:t>Useful for creating new artwork, realistic faces, or designs in fields like fashion and architecture.</a:t>
            </a:r>
          </a:p>
          <a:p>
            <a:pPr algn="l"/>
            <a:r>
              <a:rPr lang="en-GB" sz="1600" b="1" i="0" u="none" strike="noStrike" dirty="0">
                <a:solidFill>
                  <a:srgbClr val="000000"/>
                </a:solidFill>
                <a:effectLst/>
              </a:rPr>
              <a:t>Anomaly Detection:</a:t>
            </a:r>
            <a:endParaRPr lang="en-GB" sz="1600" b="0" i="0" u="none" strike="noStrike" dirty="0">
              <a:solidFill>
                <a:srgbClr val="000000"/>
              </a:solidFill>
              <a:effectLst/>
            </a:endParaRPr>
          </a:p>
          <a:p>
            <a:pPr marL="800100" lvl="1" indent="-342900" algn="l">
              <a:buFont typeface="+mj-lt"/>
              <a:buAutoNum type="arabicPeriod"/>
            </a:pPr>
            <a:r>
              <a:rPr lang="en-GB" sz="1600" b="0" i="0" u="none" strike="noStrike" dirty="0">
                <a:solidFill>
                  <a:srgbClr val="000000"/>
                </a:solidFill>
                <a:effectLst/>
              </a:rPr>
              <a:t>By learning the statistical distribution of "normal" data, VAEs can effectively identify data points that deviate significantly from this norm as anomalies.</a:t>
            </a:r>
          </a:p>
          <a:p>
            <a:pPr marL="800100" lvl="1" indent="-342900" algn="l">
              <a:buFont typeface="+mj-lt"/>
              <a:buAutoNum type="arabicPeriod"/>
            </a:pPr>
            <a:r>
              <a:rPr lang="en-GB" sz="1600" b="0" i="0" u="none" strike="noStrike" dirty="0">
                <a:solidFill>
                  <a:srgbClr val="000000"/>
                </a:solidFill>
                <a:effectLst/>
              </a:rPr>
              <a:t>Applied in areas such as fraud detection, network security, and predictive maintenance.</a:t>
            </a:r>
          </a:p>
          <a:p>
            <a:pPr algn="l"/>
            <a:r>
              <a:rPr lang="en-GB" sz="1600" b="1" i="0" u="none" strike="noStrike" dirty="0">
                <a:solidFill>
                  <a:srgbClr val="000000"/>
                </a:solidFill>
                <a:effectLst/>
              </a:rPr>
              <a:t>Data Imputation and Denoising:</a:t>
            </a:r>
            <a:endParaRPr lang="en-GB" sz="1600" b="0" i="0" u="none" strike="noStrike" dirty="0">
              <a:solidFill>
                <a:srgbClr val="000000"/>
              </a:solidFill>
              <a:effectLst/>
            </a:endParaRPr>
          </a:p>
          <a:p>
            <a:pPr marL="800100" lvl="1" indent="-342900" algn="l">
              <a:buFont typeface="+mj-lt"/>
              <a:buAutoNum type="arabicPeriod"/>
            </a:pPr>
            <a:r>
              <a:rPr lang="en-GB" sz="1600" b="0" i="0" u="none" strike="noStrike" dirty="0">
                <a:solidFill>
                  <a:srgbClr val="000000"/>
                </a:solidFill>
                <a:effectLst/>
              </a:rPr>
              <a:t>Strong at reconstructing data with missing or corrupted parts.</a:t>
            </a:r>
          </a:p>
          <a:p>
            <a:pPr marL="800100" lvl="1" indent="-342900" algn="l">
              <a:buFont typeface="+mj-lt"/>
              <a:buAutoNum type="arabicPeriod"/>
            </a:pPr>
            <a:r>
              <a:rPr lang="en-GB" sz="1600" b="0" i="0" u="none" strike="noStrike" dirty="0">
                <a:solidFill>
                  <a:srgbClr val="000000"/>
                </a:solidFill>
                <a:effectLst/>
              </a:rPr>
              <a:t>They can predict and fill in missing values or remove noise from corrupted data by sampling from the learned latent distribution.</a:t>
            </a:r>
          </a:p>
          <a:p>
            <a:pPr marL="800100" lvl="1" indent="-342900" algn="l">
              <a:buFont typeface="+mj-lt"/>
              <a:buAutoNum type="arabicPeriod"/>
            </a:pPr>
            <a:r>
              <a:rPr lang="en-GB" sz="1600" b="0" i="0" u="none" strike="noStrike" dirty="0">
                <a:solidFill>
                  <a:srgbClr val="000000"/>
                </a:solidFill>
                <a:effectLst/>
              </a:rPr>
              <a:t>Valuable in medical imaging for accurate reconstruction and restoring corrupted audio/visual data.</a:t>
            </a:r>
          </a:p>
          <a:p>
            <a:br>
              <a:rPr lang="en-GB" sz="1600" dirty="0">
                <a:latin typeface="+mj-lt"/>
              </a:rPr>
            </a:br>
            <a:endParaRPr lang="en-GB" sz="1600" b="0" i="0" u="none" strike="noStrike" dirty="0">
              <a:solidFill>
                <a:srgbClr val="000000"/>
              </a:solidFill>
              <a:effectLst/>
              <a:latin typeface="+mj-lt"/>
            </a:endParaRPr>
          </a:p>
          <a:p>
            <a:br>
              <a:rPr lang="en-GB" sz="1600" dirty="0">
                <a:latin typeface="+mj-lt"/>
              </a:rPr>
            </a:br>
            <a:endParaRPr lang="en-GB" sz="1600" b="1" dirty="0">
              <a:latin typeface="+mj-lt"/>
            </a:endParaRPr>
          </a:p>
        </p:txBody>
      </p:sp>
    </p:spTree>
    <p:extLst>
      <p:ext uri="{BB962C8B-B14F-4D97-AF65-F5344CB8AC3E}">
        <p14:creationId xmlns:p14="http://schemas.microsoft.com/office/powerpoint/2010/main" val="12395539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684A17A-E6A3-5F66-FF34-C6D5B17D826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5CCA9B5-13AB-AB2E-8F0E-E93B01298E3F}"/>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pPr>
              <a:spcAft>
                <a:spcPts val="300"/>
              </a:spcAft>
            </a:pPr>
            <a:r>
              <a:rPr lang="en-GB" sz="2400" b="1" i="0" u="none" strike="noStrike" dirty="0">
                <a:solidFill>
                  <a:srgbClr val="7030A0"/>
                </a:solidFill>
                <a:effectLst/>
              </a:rPr>
              <a:t>Applications of VAEs</a:t>
            </a:r>
            <a:br>
              <a:rPr lang="en-GB" sz="2400" b="0" i="0" u="none" strike="noStrike" dirty="0">
                <a:solidFill>
                  <a:srgbClr val="7030A0"/>
                </a:solidFill>
                <a:effectLst/>
              </a:rPr>
            </a:br>
            <a:br>
              <a:rPr lang="en-GB" sz="2400" b="1" i="0" u="none" strike="noStrike" dirty="0">
                <a:solidFill>
                  <a:srgbClr val="7030A0"/>
                </a:solidFill>
                <a:effectLst/>
                <a:latin typeface="Nunito" pitchFamily="2" charset="77"/>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EFF666A5-4E8D-54B6-0C4B-9A757C805E05}"/>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D1F130F9-BACA-2CF7-FE42-509193D191B3}"/>
              </a:ext>
            </a:extLst>
          </p:cNvPr>
          <p:cNvSpPr txBox="1"/>
          <p:nvPr/>
        </p:nvSpPr>
        <p:spPr>
          <a:xfrm>
            <a:off x="166895" y="713964"/>
            <a:ext cx="8102462" cy="3785652"/>
          </a:xfrm>
          <a:prstGeom prst="rect">
            <a:avLst/>
          </a:prstGeom>
          <a:noFill/>
        </p:spPr>
        <p:txBody>
          <a:bodyPr wrap="square">
            <a:spAutoFit/>
          </a:bodyPr>
          <a:lstStyle/>
          <a:p>
            <a:pPr algn="l"/>
            <a:r>
              <a:rPr lang="en-GB" sz="1600" b="1" i="0" u="none" strike="noStrike" dirty="0">
                <a:solidFill>
                  <a:srgbClr val="000000"/>
                </a:solidFill>
                <a:effectLst/>
              </a:rPr>
              <a:t>Semi-Supervised Learning:</a:t>
            </a:r>
            <a:endParaRPr lang="en-GB" sz="1600" b="0" i="0" u="none" strike="noStrike" dirty="0">
              <a:solidFill>
                <a:srgbClr val="000000"/>
              </a:solidFill>
              <a:effectLst/>
            </a:endParaRPr>
          </a:p>
          <a:p>
            <a:pPr marL="800100" lvl="1" indent="-342900" algn="l">
              <a:buFont typeface="+mj-lt"/>
              <a:buAutoNum type="arabicPeriod"/>
            </a:pPr>
            <a:r>
              <a:rPr lang="en-GB" sz="1600" b="0" i="0" u="none" strike="noStrike" dirty="0">
                <a:solidFill>
                  <a:srgbClr val="000000"/>
                </a:solidFill>
                <a:effectLst/>
              </a:rPr>
              <a:t>VAEs can enhance classifier performance in semi-supervised settings.</a:t>
            </a:r>
          </a:p>
          <a:p>
            <a:pPr marL="800100" lvl="1" indent="-342900" algn="l">
              <a:buFont typeface="+mj-lt"/>
              <a:buAutoNum type="arabicPeriod"/>
            </a:pPr>
            <a:r>
              <a:rPr lang="en-GB" sz="1600" b="0" i="0" u="none" strike="noStrike" dirty="0">
                <a:solidFill>
                  <a:srgbClr val="000000"/>
                </a:solidFill>
                <a:effectLst/>
              </a:rPr>
              <a:t>They use their structured latent space to capture underlying data structures, improving the learning process even with limited </a:t>
            </a:r>
            <a:r>
              <a:rPr lang="en-GB" sz="1600" b="0" i="0" u="none" strike="noStrike" dirty="0" err="1">
                <a:solidFill>
                  <a:srgbClr val="000000"/>
                </a:solidFill>
                <a:effectLst/>
              </a:rPr>
              <a:t>labeled</a:t>
            </a:r>
            <a:r>
              <a:rPr lang="en-GB" sz="1600" b="0" i="0" u="none" strike="noStrike" dirty="0">
                <a:solidFill>
                  <a:srgbClr val="000000"/>
                </a:solidFill>
                <a:effectLst/>
              </a:rPr>
              <a:t> data.</a:t>
            </a:r>
          </a:p>
          <a:p>
            <a:pPr algn="l"/>
            <a:r>
              <a:rPr lang="en-GB" sz="1600" b="1" i="0" u="none" strike="noStrike" dirty="0">
                <a:solidFill>
                  <a:srgbClr val="000000"/>
                </a:solidFill>
                <a:effectLst/>
              </a:rPr>
              <a:t>Latent Space Manipulation:</a:t>
            </a:r>
            <a:endParaRPr lang="en-GB" sz="1600" b="0" i="0" u="none" strike="noStrike" dirty="0">
              <a:solidFill>
                <a:srgbClr val="000000"/>
              </a:solidFill>
              <a:effectLst/>
            </a:endParaRPr>
          </a:p>
          <a:p>
            <a:pPr marL="800100" lvl="1" indent="-342900" algn="l">
              <a:buFont typeface="+mj-lt"/>
              <a:buAutoNum type="arabicPeriod"/>
            </a:pPr>
            <a:r>
              <a:rPr lang="en-GB" sz="1600" b="0" i="0" u="none" strike="noStrike" dirty="0">
                <a:solidFill>
                  <a:srgbClr val="000000"/>
                </a:solidFill>
                <a:effectLst/>
              </a:rPr>
              <a:t>VAEs create a structured and continuous latent space that can be directly manipulated.</a:t>
            </a:r>
          </a:p>
          <a:p>
            <a:pPr marL="800100" lvl="1" indent="-342900" algn="l">
              <a:buFont typeface="+mj-lt"/>
              <a:buAutoNum type="arabicPeriod"/>
            </a:pPr>
            <a:r>
              <a:rPr lang="en-GB" sz="1600" b="0" i="0" u="none" strike="noStrike" dirty="0">
                <a:solidFill>
                  <a:srgbClr val="000000"/>
                </a:solidFill>
                <a:effectLst/>
              </a:rPr>
              <a:t>This allows for controlled modification of data features (e.g., adjusting lighting or facial expressions in images) by navigating this latent space.</a:t>
            </a:r>
          </a:p>
          <a:p>
            <a:pPr marL="800100" lvl="1" indent="-342900" algn="l">
              <a:buFont typeface="+mj-lt"/>
              <a:buAutoNum type="arabicPeriod"/>
            </a:pPr>
            <a:r>
              <a:rPr lang="en-GB" sz="1600" b="0" i="0" u="none" strike="noStrike" dirty="0">
                <a:solidFill>
                  <a:srgbClr val="000000"/>
                </a:solidFill>
                <a:effectLst/>
              </a:rPr>
              <a:t>Highly useful in creative industries for image and video editing and enhancement</a:t>
            </a:r>
          </a:p>
          <a:p>
            <a:br>
              <a:rPr lang="en-GB" sz="1600" dirty="0">
                <a:latin typeface="+mj-lt"/>
              </a:rPr>
            </a:br>
            <a:endParaRPr lang="en-GB" sz="1600" b="0" i="0" u="none" strike="noStrike" dirty="0">
              <a:solidFill>
                <a:srgbClr val="000000"/>
              </a:solidFill>
              <a:effectLst/>
              <a:latin typeface="+mj-lt"/>
            </a:endParaRPr>
          </a:p>
          <a:p>
            <a:br>
              <a:rPr lang="en-GB" sz="1600" dirty="0">
                <a:latin typeface="+mj-lt"/>
              </a:rPr>
            </a:br>
            <a:endParaRPr lang="en-GB" sz="1600" b="1" dirty="0">
              <a:latin typeface="+mj-lt"/>
            </a:endParaRPr>
          </a:p>
        </p:txBody>
      </p:sp>
    </p:spTree>
    <p:extLst>
      <p:ext uri="{BB962C8B-B14F-4D97-AF65-F5344CB8AC3E}">
        <p14:creationId xmlns:p14="http://schemas.microsoft.com/office/powerpoint/2010/main" val="3080459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5C989A2-86D9-CC88-88AB-1AC8ECF0DB1E}"/>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0B0B6BF-FC48-1574-434A-F7B51A442323}"/>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pPr>
              <a:spcAft>
                <a:spcPts val="300"/>
              </a:spcAft>
            </a:pPr>
            <a:r>
              <a:rPr lang="en-GB" sz="2400" b="1" i="0" u="none" strike="noStrike" dirty="0">
                <a:solidFill>
                  <a:srgbClr val="7030A0"/>
                </a:solidFill>
                <a:effectLst/>
              </a:rPr>
              <a:t>VAEs versus GANs</a:t>
            </a:r>
            <a:br>
              <a:rPr lang="en-GB" sz="2400" b="1" i="0" u="none" strike="noStrike" dirty="0">
                <a:solidFill>
                  <a:srgbClr val="7030A0"/>
                </a:solidFill>
                <a:effectLst/>
              </a:rPr>
            </a:br>
            <a:br>
              <a:rPr lang="en-GB" sz="2400" b="0" i="0" u="none" strike="noStrike" dirty="0">
                <a:solidFill>
                  <a:srgbClr val="7030A0"/>
                </a:solidFill>
                <a:effectLst/>
              </a:rPr>
            </a:br>
            <a:br>
              <a:rPr lang="en-GB" sz="2400" b="1" i="0" u="none" strike="noStrike" dirty="0">
                <a:solidFill>
                  <a:srgbClr val="7030A0"/>
                </a:solidFill>
                <a:effectLst/>
                <a:latin typeface="Nunito" pitchFamily="2" charset="77"/>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05D5071C-4912-F48B-059C-777B58181285}"/>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8478EDC5-3795-3E14-7E77-A2B43670AE1F}"/>
              </a:ext>
            </a:extLst>
          </p:cNvPr>
          <p:cNvSpPr txBox="1"/>
          <p:nvPr/>
        </p:nvSpPr>
        <p:spPr>
          <a:xfrm>
            <a:off x="166895" y="713964"/>
            <a:ext cx="8102462" cy="5170646"/>
          </a:xfrm>
          <a:prstGeom prst="rect">
            <a:avLst/>
          </a:prstGeom>
          <a:noFill/>
        </p:spPr>
        <p:txBody>
          <a:bodyPr wrap="square">
            <a:spAutoFit/>
          </a:bodyPr>
          <a:lstStyle/>
          <a:p>
            <a:pPr algn="l">
              <a:buNone/>
            </a:pPr>
            <a:r>
              <a:rPr lang="en-GB" b="0" i="0" u="none" strike="noStrike" dirty="0">
                <a:solidFill>
                  <a:srgbClr val="000000"/>
                </a:solidFill>
                <a:effectLst/>
              </a:rPr>
              <a:t>Both Variational Autoencoders (VAEs) and Generative Adversarial Networks (GANs) are powerful generative models used to create new data samples that resemble a training dataset, particularly in image generation.</a:t>
            </a:r>
          </a:p>
          <a:p>
            <a:pPr algn="l"/>
            <a:r>
              <a:rPr lang="en-GB" b="1" i="0" u="none" strike="noStrike" dirty="0">
                <a:solidFill>
                  <a:srgbClr val="000000"/>
                </a:solidFill>
                <a:effectLst/>
              </a:rPr>
              <a:t>Similarities with GANs:</a:t>
            </a:r>
            <a:endParaRPr lang="en-GB" b="0" i="0" u="none" strike="noStrike" dirty="0">
              <a:solidFill>
                <a:srgbClr val="000000"/>
              </a:solidFill>
              <a:effectLst/>
            </a:endParaRPr>
          </a:p>
          <a:p>
            <a:pPr marL="800100" lvl="1" indent="-342900" algn="l">
              <a:buFont typeface="+mj-lt"/>
              <a:buAutoNum type="arabicPeriod"/>
            </a:pPr>
            <a:r>
              <a:rPr lang="en-GB" b="0" i="0" u="none" strike="noStrike" dirty="0">
                <a:solidFill>
                  <a:srgbClr val="000000"/>
                </a:solidFill>
                <a:effectLst/>
              </a:rPr>
              <a:t>Like VAEs, GANs also have a two-network architecture: a </a:t>
            </a:r>
            <a:r>
              <a:rPr lang="en-GB" b="1" i="0" u="none" strike="noStrike" dirty="0">
                <a:solidFill>
                  <a:srgbClr val="000000"/>
                </a:solidFill>
                <a:effectLst/>
              </a:rPr>
              <a:t>generator</a:t>
            </a:r>
            <a:r>
              <a:rPr lang="en-GB" b="0" i="0" u="none" strike="noStrike" dirty="0">
                <a:solidFill>
                  <a:srgbClr val="000000"/>
                </a:solidFill>
                <a:effectLst/>
              </a:rPr>
              <a:t> (creates samples) and a </a:t>
            </a:r>
            <a:r>
              <a:rPr lang="en-GB" b="1" i="0" u="none" strike="noStrike" dirty="0">
                <a:solidFill>
                  <a:srgbClr val="000000"/>
                </a:solidFill>
                <a:effectLst/>
              </a:rPr>
              <a:t>discriminator</a:t>
            </a:r>
            <a:r>
              <a:rPr lang="en-GB" b="0" i="0" u="none" strike="noStrike" dirty="0">
                <a:solidFill>
                  <a:srgbClr val="000000"/>
                </a:solidFill>
                <a:effectLst/>
              </a:rPr>
              <a:t> (classifies samples as real or fake).</a:t>
            </a:r>
          </a:p>
          <a:p>
            <a:pPr marL="800100" lvl="1" indent="-342900" algn="l">
              <a:buFont typeface="+mj-lt"/>
              <a:buAutoNum type="arabicPeriod"/>
            </a:pPr>
            <a:r>
              <a:rPr lang="en-GB" b="0" i="0" u="none" strike="noStrike" dirty="0">
                <a:solidFill>
                  <a:srgbClr val="000000"/>
                </a:solidFill>
                <a:effectLst/>
              </a:rPr>
              <a:t>GANs are trained </a:t>
            </a:r>
            <a:r>
              <a:rPr lang="en-GB" b="0" i="0" u="none" strike="noStrike" dirty="0" err="1">
                <a:solidFill>
                  <a:srgbClr val="000000"/>
                </a:solidFill>
                <a:effectLst/>
              </a:rPr>
              <a:t>adversarially</a:t>
            </a:r>
            <a:r>
              <a:rPr lang="en-GB" b="0" i="0" u="none" strike="noStrike" dirty="0">
                <a:solidFill>
                  <a:srgbClr val="000000"/>
                </a:solidFill>
                <a:effectLst/>
              </a:rPr>
              <a:t> in a </a:t>
            </a:r>
            <a:r>
              <a:rPr lang="en-GB" b="1" i="0" u="none" strike="noStrike" dirty="0">
                <a:solidFill>
                  <a:srgbClr val="000000"/>
                </a:solidFill>
                <a:effectLst/>
              </a:rPr>
              <a:t>zero-sum game</a:t>
            </a:r>
            <a:r>
              <a:rPr lang="en-GB" b="0" i="0" u="none" strike="noStrike" dirty="0">
                <a:solidFill>
                  <a:srgbClr val="000000"/>
                </a:solidFill>
                <a:effectLst/>
              </a:rPr>
              <a:t>: the discriminator's feedback is used to iteratively improve the generator until it can produce samples indistinguishable from real data.</a:t>
            </a:r>
          </a:p>
          <a:p>
            <a:pPr algn="l"/>
            <a:r>
              <a:rPr lang="en-GB" b="1" i="0" u="none" strike="noStrike" dirty="0">
                <a:solidFill>
                  <a:srgbClr val="000000"/>
                </a:solidFill>
                <a:effectLst/>
              </a:rPr>
              <a:t>Comparison for Image Synthesis:</a:t>
            </a:r>
            <a:endParaRPr lang="en-GB" b="0" i="0" u="none" strike="noStrike" dirty="0">
              <a:solidFill>
                <a:srgbClr val="000000"/>
              </a:solidFill>
              <a:effectLst/>
            </a:endParaRPr>
          </a:p>
          <a:p>
            <a:pPr marL="800100" lvl="1" indent="-342900" algn="l">
              <a:buFont typeface="+mj-lt"/>
              <a:buAutoNum type="arabicPeriod"/>
            </a:pPr>
            <a:r>
              <a:rPr lang="en-GB" b="1" i="0" u="none" strike="noStrike" dirty="0">
                <a:solidFill>
                  <a:srgbClr val="000000"/>
                </a:solidFill>
                <a:effectLst/>
              </a:rPr>
              <a:t>GANs:</a:t>
            </a:r>
            <a:endParaRPr lang="en-GB" b="0" i="0" u="none" strike="noStrike" dirty="0">
              <a:solidFill>
                <a:srgbClr val="000000"/>
              </a:solidFill>
              <a:effectLst/>
            </a:endParaRPr>
          </a:p>
          <a:p>
            <a:pPr marL="1143000" lvl="2" indent="-228600" algn="l">
              <a:buFont typeface="Arial" panose="020B0604020202020204" pitchFamily="34" charset="0"/>
              <a:buChar char="•"/>
            </a:pPr>
            <a:r>
              <a:rPr lang="en-GB" b="1" i="0" u="none" strike="noStrike" dirty="0">
                <a:solidFill>
                  <a:srgbClr val="000000"/>
                </a:solidFill>
                <a:effectLst/>
              </a:rPr>
              <a:t>Pros:</a:t>
            </a:r>
            <a:r>
              <a:rPr lang="en-GB" b="0" i="0" u="none" strike="noStrike" dirty="0">
                <a:solidFill>
                  <a:srgbClr val="000000"/>
                </a:solidFill>
                <a:effectLst/>
              </a:rPr>
              <a:t> Tend to produce </a:t>
            </a:r>
            <a:r>
              <a:rPr lang="en-GB" b="1" i="0" u="none" strike="noStrike" dirty="0">
                <a:solidFill>
                  <a:srgbClr val="000000"/>
                </a:solidFill>
                <a:effectLst/>
              </a:rPr>
              <a:t>clearer and sharper images</a:t>
            </a:r>
            <a:r>
              <a:rPr lang="en-GB" b="0" i="0" u="none" strike="noStrike" dirty="0">
                <a:solidFill>
                  <a:srgbClr val="000000"/>
                </a:solidFill>
                <a:effectLst/>
              </a:rPr>
              <a:t>.</a:t>
            </a:r>
          </a:p>
          <a:p>
            <a:pPr marL="1143000" lvl="2" indent="-228600" algn="l">
              <a:buFont typeface="Arial" panose="020B0604020202020204" pitchFamily="34" charset="0"/>
              <a:buChar char="•"/>
            </a:pPr>
            <a:r>
              <a:rPr lang="en-GB" b="1" i="0" u="none" strike="noStrike" dirty="0">
                <a:solidFill>
                  <a:srgbClr val="000000"/>
                </a:solidFill>
                <a:effectLst/>
              </a:rPr>
              <a:t>Cons:</a:t>
            </a:r>
            <a:r>
              <a:rPr lang="en-GB" b="0" i="0" u="none" strike="noStrike" dirty="0">
                <a:solidFill>
                  <a:srgbClr val="000000"/>
                </a:solidFill>
                <a:effectLst/>
              </a:rPr>
              <a:t> Training can be </a:t>
            </a:r>
            <a:r>
              <a:rPr lang="en-GB" b="1" i="0" u="none" strike="noStrike" dirty="0">
                <a:solidFill>
                  <a:srgbClr val="000000"/>
                </a:solidFill>
                <a:effectLst/>
              </a:rPr>
              <a:t>unstable</a:t>
            </a:r>
            <a:r>
              <a:rPr lang="en-GB" b="0" i="0" u="none" strike="noStrike" dirty="0">
                <a:solidFill>
                  <a:srgbClr val="000000"/>
                </a:solidFill>
                <a:effectLst/>
              </a:rPr>
              <a:t> due to the adversarial nature and the inherent </a:t>
            </a:r>
            <a:r>
              <a:rPr lang="en-GB" b="0" i="0" u="none" strike="noStrike" dirty="0" err="1">
                <a:solidFill>
                  <a:srgbClr val="000000"/>
                </a:solidFill>
                <a:effectLst/>
              </a:rPr>
              <a:t>tradeoffs</a:t>
            </a:r>
            <a:r>
              <a:rPr lang="en-GB" b="0" i="0" u="none" strike="noStrike" dirty="0">
                <a:solidFill>
                  <a:srgbClr val="000000"/>
                </a:solidFill>
                <a:effectLst/>
              </a:rPr>
              <a:t> between the two competing models.</a:t>
            </a:r>
          </a:p>
          <a:p>
            <a:pPr marL="800100" lvl="1" indent="-342900" algn="l">
              <a:buFont typeface="+mj-lt"/>
              <a:buAutoNum type="arabicPeriod"/>
            </a:pPr>
            <a:r>
              <a:rPr lang="en-GB" b="1" i="0" u="none" strike="noStrike" dirty="0">
                <a:solidFill>
                  <a:srgbClr val="000000"/>
                </a:solidFill>
                <a:effectLst/>
              </a:rPr>
              <a:t>VAEs:</a:t>
            </a:r>
            <a:endParaRPr lang="en-GB" b="0" i="0" u="none" strike="noStrike" dirty="0">
              <a:solidFill>
                <a:srgbClr val="000000"/>
              </a:solidFill>
              <a:effectLst/>
            </a:endParaRPr>
          </a:p>
          <a:p>
            <a:pPr marL="1143000" lvl="2" indent="-228600" algn="l">
              <a:buFont typeface="Arial" panose="020B0604020202020204" pitchFamily="34" charset="0"/>
              <a:buChar char="•"/>
            </a:pPr>
            <a:r>
              <a:rPr lang="en-GB" b="1" i="0" u="none" strike="noStrike" dirty="0">
                <a:solidFill>
                  <a:srgbClr val="000000"/>
                </a:solidFill>
                <a:effectLst/>
              </a:rPr>
              <a:t>Pros:</a:t>
            </a:r>
            <a:r>
              <a:rPr lang="en-GB" b="0" i="0" u="none" strike="noStrike" dirty="0">
                <a:solidFill>
                  <a:srgbClr val="000000"/>
                </a:solidFill>
                <a:effectLst/>
              </a:rPr>
              <a:t> Generally </a:t>
            </a:r>
            <a:r>
              <a:rPr lang="en-GB" b="1" i="0" u="none" strike="noStrike" dirty="0">
                <a:solidFill>
                  <a:srgbClr val="000000"/>
                </a:solidFill>
                <a:effectLst/>
              </a:rPr>
              <a:t>easier to train</a:t>
            </a:r>
            <a:r>
              <a:rPr lang="en-GB" b="0" i="0" u="none" strike="noStrike" dirty="0">
                <a:solidFill>
                  <a:srgbClr val="000000"/>
                </a:solidFill>
                <a:effectLst/>
              </a:rPr>
              <a:t> and more stable.</a:t>
            </a:r>
          </a:p>
          <a:p>
            <a:pPr marL="1143000" lvl="2" indent="-228600" algn="l">
              <a:buFont typeface="Arial" panose="020B0604020202020204" pitchFamily="34" charset="0"/>
              <a:buChar char="•"/>
            </a:pPr>
            <a:r>
              <a:rPr lang="en-GB" b="1" i="0" u="none" strike="noStrike" dirty="0">
                <a:solidFill>
                  <a:srgbClr val="000000"/>
                </a:solidFill>
                <a:effectLst/>
              </a:rPr>
              <a:t>Cons:</a:t>
            </a:r>
            <a:r>
              <a:rPr lang="en-GB" b="0" i="0" u="none" strike="noStrike" dirty="0">
                <a:solidFill>
                  <a:srgbClr val="000000"/>
                </a:solidFill>
                <a:effectLst/>
              </a:rPr>
              <a:t> Tend to produce </a:t>
            </a:r>
            <a:r>
              <a:rPr lang="en-GB" b="1" i="0" u="none" strike="noStrike" dirty="0">
                <a:solidFill>
                  <a:srgbClr val="000000"/>
                </a:solidFill>
                <a:effectLst/>
              </a:rPr>
              <a:t>blurrier images</a:t>
            </a:r>
            <a:r>
              <a:rPr lang="en-GB" b="0" i="0" u="none" strike="noStrike" dirty="0">
                <a:solidFill>
                  <a:srgbClr val="000000"/>
                </a:solidFill>
                <a:effectLst/>
              </a:rPr>
              <a:t>. This often stems from the probabilistic nature of averaging features in the latent space during reconstruction.</a:t>
            </a:r>
          </a:p>
          <a:p>
            <a:pPr>
              <a:buNone/>
            </a:pPr>
            <a:br>
              <a:rPr lang="en-GB" dirty="0"/>
            </a:br>
            <a:br>
              <a:rPr lang="en-GB" sz="1600" dirty="0">
                <a:latin typeface="+mj-lt"/>
              </a:rPr>
            </a:br>
            <a:endParaRPr lang="en-GB" sz="1600" b="0" i="0" u="none" strike="noStrike" dirty="0">
              <a:solidFill>
                <a:srgbClr val="000000"/>
              </a:solidFill>
              <a:effectLst/>
              <a:latin typeface="+mj-lt"/>
            </a:endParaRPr>
          </a:p>
          <a:p>
            <a:br>
              <a:rPr lang="en-GB" sz="1600" dirty="0">
                <a:latin typeface="+mj-lt"/>
              </a:rPr>
            </a:br>
            <a:endParaRPr lang="en-GB" sz="1600" b="1" dirty="0">
              <a:latin typeface="+mj-lt"/>
            </a:endParaRPr>
          </a:p>
        </p:txBody>
      </p:sp>
    </p:spTree>
    <p:extLst>
      <p:ext uri="{BB962C8B-B14F-4D97-AF65-F5344CB8AC3E}">
        <p14:creationId xmlns:p14="http://schemas.microsoft.com/office/powerpoint/2010/main" val="27255242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454E94B-35D5-63E3-6C10-AA206AD6BD2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B54832B-1363-C1C5-8B2E-D09D6A5BF0F6}"/>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pPr>
              <a:spcAft>
                <a:spcPts val="300"/>
              </a:spcAft>
            </a:pPr>
            <a:r>
              <a:rPr lang="en-GB" sz="2400" b="1" i="0" u="none" strike="noStrike" dirty="0">
                <a:solidFill>
                  <a:srgbClr val="7030A0"/>
                </a:solidFill>
                <a:effectLst/>
              </a:rPr>
              <a:t>VAEs versus GANs</a:t>
            </a:r>
            <a:br>
              <a:rPr lang="en-GB" sz="2400" b="1" i="0" u="none" strike="noStrike" dirty="0">
                <a:solidFill>
                  <a:srgbClr val="7030A0"/>
                </a:solidFill>
                <a:effectLst/>
              </a:rPr>
            </a:br>
            <a:br>
              <a:rPr lang="en-GB" sz="2400" b="0" i="0" u="none" strike="noStrike" dirty="0">
                <a:solidFill>
                  <a:srgbClr val="7030A0"/>
                </a:solidFill>
                <a:effectLst/>
              </a:rPr>
            </a:br>
            <a:br>
              <a:rPr lang="en-GB" sz="2400" b="1" i="0" u="none" strike="noStrike" dirty="0">
                <a:solidFill>
                  <a:srgbClr val="7030A0"/>
                </a:solidFill>
                <a:effectLst/>
                <a:latin typeface="Nunito" pitchFamily="2" charset="77"/>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9DA82EB3-F59E-D0F9-875D-EB205E5953A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6AC0571D-4642-5354-2CE0-F9F3D4B01636}"/>
              </a:ext>
            </a:extLst>
          </p:cNvPr>
          <p:cNvSpPr txBox="1"/>
          <p:nvPr/>
        </p:nvSpPr>
        <p:spPr>
          <a:xfrm>
            <a:off x="166895" y="713964"/>
            <a:ext cx="8102462" cy="4031873"/>
          </a:xfrm>
          <a:prstGeom prst="rect">
            <a:avLst/>
          </a:prstGeom>
          <a:noFill/>
        </p:spPr>
        <p:txBody>
          <a:bodyPr wrap="square">
            <a:spAutoFit/>
          </a:bodyPr>
          <a:lstStyle/>
          <a:p>
            <a:pPr algn="l"/>
            <a:r>
              <a:rPr lang="en-GB" sz="1600" b="1" i="0" u="none" strike="noStrike" dirty="0">
                <a:solidFill>
                  <a:srgbClr val="000000"/>
                </a:solidFill>
                <a:effectLst/>
              </a:rPr>
              <a:t>VAE-GANs</a:t>
            </a:r>
          </a:p>
          <a:p>
            <a:pPr algn="l"/>
            <a:r>
              <a:rPr lang="en-GB" sz="1600" b="1" i="0" u="none" strike="noStrike" dirty="0">
                <a:solidFill>
                  <a:srgbClr val="000000"/>
                </a:solidFill>
                <a:effectLst/>
              </a:rPr>
              <a:t>Concept:</a:t>
            </a:r>
            <a:r>
              <a:rPr lang="en-GB" sz="1600" b="0" i="0" u="none" strike="noStrike" dirty="0">
                <a:solidFill>
                  <a:srgbClr val="000000"/>
                </a:solidFill>
                <a:effectLst/>
              </a:rPr>
              <a:t> As the name implies, a VAE-GAN is a </a:t>
            </a:r>
            <a:r>
              <a:rPr lang="en-GB" sz="1600" b="1" i="0" u="none" strike="noStrike" dirty="0">
                <a:solidFill>
                  <a:srgbClr val="000000"/>
                </a:solidFill>
                <a:effectLst/>
              </a:rPr>
              <a:t>hybrid model</a:t>
            </a:r>
            <a:r>
              <a:rPr lang="en-GB" sz="1600" b="0" i="0" u="none" strike="noStrike" dirty="0">
                <a:solidFill>
                  <a:srgbClr val="000000"/>
                </a:solidFill>
                <a:effectLst/>
              </a:rPr>
              <a:t> that combines elements of both a Variational Autoencoder and a Generative Adversarial Network.</a:t>
            </a:r>
          </a:p>
          <a:p>
            <a:pPr algn="l"/>
            <a:endParaRPr lang="en-GB" sz="1600" b="0" i="0" u="none" strike="noStrike" dirty="0">
              <a:solidFill>
                <a:srgbClr val="000000"/>
              </a:solidFill>
              <a:effectLst/>
            </a:endParaRPr>
          </a:p>
          <a:p>
            <a:pPr algn="l"/>
            <a:r>
              <a:rPr lang="en-GB" sz="1600" b="1" i="0" u="none" strike="noStrike" dirty="0">
                <a:solidFill>
                  <a:srgbClr val="000000"/>
                </a:solidFill>
                <a:effectLst/>
              </a:rPr>
              <a:t>Purpose:</a:t>
            </a:r>
            <a:r>
              <a:rPr lang="en-GB" sz="1600" b="0" i="0" u="none" strike="noStrike" dirty="0">
                <a:solidFill>
                  <a:srgbClr val="000000"/>
                </a:solidFill>
                <a:effectLst/>
              </a:rPr>
              <a:t> Its primary goal is to </a:t>
            </a:r>
            <a:r>
              <a:rPr lang="en-GB" sz="1600" b="1" i="0" u="none" strike="noStrike" dirty="0">
                <a:solidFill>
                  <a:srgbClr val="000000"/>
                </a:solidFill>
                <a:effectLst/>
              </a:rPr>
              <a:t>reduce the blurriness</a:t>
            </a:r>
            <a:r>
              <a:rPr lang="en-GB" sz="1600" b="0" i="0" u="none" strike="noStrike" dirty="0">
                <a:solidFill>
                  <a:srgbClr val="000000"/>
                </a:solidFill>
                <a:effectLst/>
              </a:rPr>
              <a:t> commonly seen in images generated by standard VAEs.</a:t>
            </a:r>
          </a:p>
          <a:p>
            <a:pPr algn="l"/>
            <a:endParaRPr lang="en-GB" sz="1600" b="0" i="0" u="none" strike="noStrike" dirty="0">
              <a:solidFill>
                <a:srgbClr val="000000"/>
              </a:solidFill>
              <a:effectLst/>
            </a:endParaRPr>
          </a:p>
          <a:p>
            <a:pPr algn="l"/>
            <a:r>
              <a:rPr lang="en-GB" sz="1600" b="1" i="0" u="none" strike="noStrike" dirty="0">
                <a:solidFill>
                  <a:srgbClr val="000000"/>
                </a:solidFill>
                <a:effectLst/>
              </a:rPr>
              <a:t>Mechanism:</a:t>
            </a:r>
            <a:r>
              <a:rPr lang="en-GB" sz="1600" b="0" i="0" u="none" strike="noStrike" dirty="0">
                <a:solidFill>
                  <a:srgbClr val="000000"/>
                </a:solidFill>
                <a:effectLst/>
              </a:rPr>
              <a:t> It achieves this by replacing the VAE's traditional </a:t>
            </a:r>
            <a:r>
              <a:rPr lang="en-GB" sz="1600" b="1" i="0" u="none" strike="noStrike" dirty="0">
                <a:solidFill>
                  <a:srgbClr val="000000"/>
                </a:solidFill>
                <a:effectLst/>
              </a:rPr>
              <a:t>reconstruction loss term</a:t>
            </a:r>
            <a:r>
              <a:rPr lang="en-GB" sz="1600" b="0" i="0" u="none" strike="noStrike" dirty="0">
                <a:solidFill>
                  <a:srgbClr val="000000"/>
                </a:solidFill>
                <a:effectLst/>
              </a:rPr>
              <a:t> (e.g., MSE or BCE) with a </a:t>
            </a:r>
            <a:r>
              <a:rPr lang="en-GB" sz="1600" b="1" i="0" u="none" strike="noStrike" dirty="0">
                <a:solidFill>
                  <a:srgbClr val="000000"/>
                </a:solidFill>
                <a:effectLst/>
              </a:rPr>
              <a:t>discriminator network</a:t>
            </a:r>
            <a:r>
              <a:rPr lang="en-GB" sz="1600" b="0" i="0" u="none" strike="noStrike" dirty="0">
                <a:solidFill>
                  <a:srgbClr val="000000"/>
                </a:solidFill>
                <a:effectLst/>
              </a:rPr>
              <a:t>. This forces the VAE's decoder to produce images that are not just numerically similar to the input, but also realistic enough to fool a discriminator, thereby enhancing clarity and perceptual quality.</a:t>
            </a:r>
          </a:p>
          <a:p>
            <a:br>
              <a:rPr lang="en-GB" sz="1600" dirty="0"/>
            </a:br>
            <a:br>
              <a:rPr lang="en-GB" sz="1600" dirty="0">
                <a:latin typeface="+mj-lt"/>
              </a:rPr>
            </a:br>
            <a:endParaRPr lang="en-GB" sz="1600" b="0" i="0" u="none" strike="noStrike" dirty="0">
              <a:solidFill>
                <a:srgbClr val="000000"/>
              </a:solidFill>
              <a:effectLst/>
              <a:latin typeface="+mj-lt"/>
            </a:endParaRPr>
          </a:p>
          <a:p>
            <a:br>
              <a:rPr lang="en-GB" sz="1600" dirty="0">
                <a:latin typeface="+mj-lt"/>
              </a:rPr>
            </a:br>
            <a:endParaRPr lang="en-GB" sz="1600" b="1" dirty="0">
              <a:latin typeface="+mj-lt"/>
            </a:endParaRPr>
          </a:p>
        </p:txBody>
      </p:sp>
    </p:spTree>
    <p:extLst>
      <p:ext uri="{BB962C8B-B14F-4D97-AF65-F5344CB8AC3E}">
        <p14:creationId xmlns:p14="http://schemas.microsoft.com/office/powerpoint/2010/main" val="2615080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1BD1432-94E1-5FC5-EB26-5349BA365602}"/>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A467C650-EED1-1549-3854-455C8E030359}"/>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pPr>
              <a:spcAft>
                <a:spcPts val="300"/>
              </a:spcAft>
            </a:pPr>
            <a:r>
              <a:rPr lang="en-GB" sz="2400" b="1" i="0" u="none" strike="noStrike" dirty="0">
                <a:solidFill>
                  <a:srgbClr val="7030A0"/>
                </a:solidFill>
                <a:effectLst/>
              </a:rPr>
              <a:t>Implementation of VAE</a:t>
            </a:r>
            <a:br>
              <a:rPr lang="en-GB" sz="2400" b="1" i="0" u="none" strike="noStrike" dirty="0">
                <a:solidFill>
                  <a:srgbClr val="7030A0"/>
                </a:solidFill>
                <a:effectLst/>
              </a:rPr>
            </a:br>
            <a:br>
              <a:rPr lang="en-GB" sz="2400" b="0" i="0" u="none" strike="noStrike" dirty="0">
                <a:solidFill>
                  <a:srgbClr val="7030A0"/>
                </a:solidFill>
                <a:effectLst/>
              </a:rPr>
            </a:br>
            <a:br>
              <a:rPr lang="en-GB" sz="2400" b="1" i="0" u="none" strike="noStrike" dirty="0">
                <a:solidFill>
                  <a:srgbClr val="7030A0"/>
                </a:solidFill>
                <a:effectLst/>
                <a:latin typeface="Nunito" pitchFamily="2" charset="77"/>
              </a:rPr>
            </a:br>
            <a:br>
              <a:rPr lang="en-GB" sz="2400" i="0" u="none" strike="noStrike" dirty="0">
                <a:solidFill>
                  <a:srgbClr val="7030A0"/>
                </a:solidFill>
                <a:effectLst/>
                <a:latin typeface="+mj-lt"/>
              </a:rPr>
            </a:b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C3F45633-10A1-4D4F-F966-E95321E53572}"/>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hlinkClick r:id="rId3" tooltip="Image Compression with VAE"/>
            <a:extLst>
              <a:ext uri="{FF2B5EF4-FFF2-40B4-BE49-F238E27FC236}">
                <a16:creationId xmlns:a16="http://schemas.microsoft.com/office/drawing/2014/main" id="{1BDAE0B3-5AA4-49CF-3E77-4BAB989B359E}"/>
              </a:ext>
            </a:extLst>
          </p:cNvPr>
          <p:cNvSpPr txBox="1"/>
          <p:nvPr/>
        </p:nvSpPr>
        <p:spPr>
          <a:xfrm>
            <a:off x="1313029" y="963376"/>
            <a:ext cx="8102462" cy="1815882"/>
          </a:xfrm>
          <a:prstGeom prst="rect">
            <a:avLst/>
          </a:prstGeom>
          <a:noFill/>
        </p:spPr>
        <p:txBody>
          <a:bodyPr wrap="square">
            <a:spAutoFit/>
          </a:bodyPr>
          <a:lstStyle/>
          <a:p>
            <a:br>
              <a:rPr lang="en-GB" sz="1600" b="1" dirty="0"/>
            </a:br>
            <a:br>
              <a:rPr lang="en-GB" sz="1600" b="1" dirty="0">
                <a:latin typeface="+mj-lt"/>
              </a:rPr>
            </a:br>
            <a:endParaRPr lang="en-GB" sz="1600" b="1" i="0" u="none" strike="noStrike" dirty="0">
              <a:solidFill>
                <a:srgbClr val="000000"/>
              </a:solidFill>
              <a:effectLst/>
              <a:latin typeface="+mj-lt"/>
            </a:endParaRPr>
          </a:p>
          <a:p>
            <a:br>
              <a:rPr lang="en-GB" sz="1600" b="1" dirty="0">
                <a:latin typeface="+mj-lt"/>
              </a:rPr>
            </a:br>
            <a:r>
              <a:rPr lang="en-GB" sz="1600" b="1" dirty="0">
                <a:latin typeface="+mj-lt"/>
              </a:rPr>
              <a:t>1. </a:t>
            </a:r>
            <a:r>
              <a:rPr lang="en-GB" sz="1600" b="1" dirty="0">
                <a:latin typeface="+mj-lt"/>
                <a:hlinkClick r:id="rId4"/>
              </a:rPr>
              <a:t>Anomaly detection</a:t>
            </a:r>
            <a:endParaRPr lang="en-GB" sz="1600" b="1" dirty="0">
              <a:latin typeface="+mj-lt"/>
            </a:endParaRPr>
          </a:p>
          <a:p>
            <a:endParaRPr lang="en-GB" sz="1600" b="1" dirty="0">
              <a:latin typeface="+mj-lt"/>
            </a:endParaRPr>
          </a:p>
          <a:p>
            <a:r>
              <a:rPr lang="en-GB" sz="1600" b="1" dirty="0">
                <a:latin typeface="+mj-lt"/>
              </a:rPr>
              <a:t>2. </a:t>
            </a:r>
            <a:r>
              <a:rPr lang="en-GB" sz="1600" b="1" dirty="0">
                <a:latin typeface="+mj-lt"/>
                <a:hlinkClick r:id="rId3"/>
              </a:rPr>
              <a:t>Image Compression</a:t>
            </a:r>
            <a:endParaRPr lang="en-GB" sz="1600" b="1" dirty="0">
              <a:latin typeface="+mj-lt"/>
            </a:endParaRPr>
          </a:p>
        </p:txBody>
      </p:sp>
    </p:spTree>
    <p:extLst>
      <p:ext uri="{BB962C8B-B14F-4D97-AF65-F5344CB8AC3E}">
        <p14:creationId xmlns:p14="http://schemas.microsoft.com/office/powerpoint/2010/main" val="42005532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7"/>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Hands On Exercise </a:t>
            </a:r>
            <a:br>
              <a:rPr lang="en-GB" sz="3200" dirty="0"/>
            </a:br>
            <a:endParaRPr lang="en-GB" sz="3200" dirty="0"/>
          </a:p>
        </p:txBody>
      </p:sp>
      <p:sp>
        <p:nvSpPr>
          <p:cNvPr id="3" name="TextBox 2">
            <a:extLst>
              <a:ext uri="{FF2B5EF4-FFF2-40B4-BE49-F238E27FC236}">
                <a16:creationId xmlns:a16="http://schemas.microsoft.com/office/drawing/2014/main" id="{FD29B7B1-87C3-1A19-1CD5-4DC342054D89}"/>
              </a:ext>
            </a:extLst>
          </p:cNvPr>
          <p:cNvSpPr txBox="1"/>
          <p:nvPr/>
        </p:nvSpPr>
        <p:spPr>
          <a:xfrm>
            <a:off x="289954" y="900912"/>
            <a:ext cx="8290023" cy="1323439"/>
          </a:xfrm>
          <a:prstGeom prst="rect">
            <a:avLst/>
          </a:prstGeom>
          <a:noFill/>
        </p:spPr>
        <p:txBody>
          <a:bodyPr wrap="square">
            <a:spAutoFit/>
          </a:bodyPr>
          <a:lstStyle/>
          <a:p>
            <a:pPr algn="ctr"/>
            <a:r>
              <a:rPr lang="en-GB" sz="2000" dirty="0">
                <a:hlinkClick r:id="rId4"/>
              </a:rPr>
              <a:t>Click Here For The Implementation of VAE for Image Compression </a:t>
            </a:r>
            <a:r>
              <a:rPr lang="en-GB" sz="2000" dirty="0">
                <a:hlinkClick r:id="rId5"/>
              </a:rPr>
              <a:t>https://drive.google.com/file/d/1wox2PYfI3GELWNgK_0FEDESqaTjj1yU9/view?usp=share_link</a:t>
            </a:r>
            <a:endParaRPr lang="en-GB" sz="2000" dirty="0"/>
          </a:p>
          <a:p>
            <a:pPr algn="ctr"/>
            <a:r>
              <a:rPr lang="en-GB" sz="2000" dirty="0">
                <a:hlinkClick r:id="rId6"/>
              </a:rPr>
              <a:t>Anomaly detection with VAE</a:t>
            </a:r>
            <a:endParaRPr lang="en-GB" sz="2000" dirty="0"/>
          </a:p>
        </p:txBody>
      </p:sp>
      <p:pic>
        <p:nvPicPr>
          <p:cNvPr id="4" name="Picture 3" descr="A computer with a screen on it&#10;&#10;AI-generated content may be incorrect.">
            <a:extLst>
              <a:ext uri="{FF2B5EF4-FFF2-40B4-BE49-F238E27FC236}">
                <a16:creationId xmlns:a16="http://schemas.microsoft.com/office/drawing/2014/main" id="{DFCACE6B-93A9-2C0B-6504-0868FF90065B}"/>
              </a:ext>
            </a:extLst>
          </p:cNvPr>
          <p:cNvPicPr>
            <a:picLocks noChangeAspect="1"/>
          </p:cNvPicPr>
          <p:nvPr/>
        </p:nvPicPr>
        <p:blipFill>
          <a:blip r:embed="rId7">
            <a:extLst>
              <a:ext uri="{837473B0-CC2E-450A-ABE3-18F120FF3D39}">
                <a1611:picAttrSrcUrl xmlns:a1611="http://schemas.microsoft.com/office/drawing/2016/11/main" r:id="rId8"/>
              </a:ext>
            </a:extLst>
          </a:blip>
          <a:stretch>
            <a:fillRect/>
          </a:stretch>
        </p:blipFill>
        <p:spPr>
          <a:xfrm>
            <a:off x="6289705" y="3191682"/>
            <a:ext cx="2773274" cy="184681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C7073A23-177A-F380-4E2C-BCE5184CC92A}"/>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E3B61B0B-C8A6-4063-AA38-0D213B633718}"/>
              </a:ext>
            </a:extLst>
          </p:cNvPr>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a:extLst>
              <a:ext uri="{FF2B5EF4-FFF2-40B4-BE49-F238E27FC236}">
                <a16:creationId xmlns:a16="http://schemas.microsoft.com/office/drawing/2014/main" id="{CC369EC6-6544-C062-953A-68234137BAFF}"/>
              </a:ext>
            </a:extLst>
          </p:cNvPr>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Books and References</a:t>
            </a:r>
            <a:br>
              <a:rPr lang="en-GB" sz="3200" dirty="0"/>
            </a:br>
            <a:endParaRPr lang="en-GB" sz="3200" dirty="0"/>
          </a:p>
        </p:txBody>
      </p:sp>
      <p:sp>
        <p:nvSpPr>
          <p:cNvPr id="3" name="TextBox 2">
            <a:extLst>
              <a:ext uri="{FF2B5EF4-FFF2-40B4-BE49-F238E27FC236}">
                <a16:creationId xmlns:a16="http://schemas.microsoft.com/office/drawing/2014/main" id="{BD36E5C5-A4EC-A514-661D-B1E7567D531F}"/>
              </a:ext>
            </a:extLst>
          </p:cNvPr>
          <p:cNvSpPr txBox="1"/>
          <p:nvPr/>
        </p:nvSpPr>
        <p:spPr>
          <a:xfrm>
            <a:off x="755575" y="1098322"/>
            <a:ext cx="6931332" cy="3708708"/>
          </a:xfrm>
          <a:prstGeom prst="rect">
            <a:avLst/>
          </a:prstGeom>
          <a:noFill/>
        </p:spPr>
        <p:txBody>
          <a:bodyPr wrap="square">
            <a:spAutoFit/>
          </a:bodyPr>
          <a:lstStyle/>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rPr>
              <a:t>"Neural Networks and Deep Learning" (Michael Nielsen)</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Deep Learning for Computer Vision (</a:t>
            </a:r>
            <a:r>
              <a:rPr lang="en-GB" sz="2000" b="0" i="0" u="none" strike="noStrike" dirty="0" err="1">
                <a:solidFill>
                  <a:srgbClr val="404040"/>
                </a:solidFill>
                <a:effectLst/>
                <a:latin typeface="Inter" panose="02000503000000020004" pitchFamily="2" charset="0"/>
              </a:rPr>
              <a:t>Rajalingappaa</a:t>
            </a:r>
            <a:r>
              <a:rPr lang="en-GB" sz="2000" b="0" i="0" u="none" strike="noStrike" dirty="0">
                <a:solidFill>
                  <a:srgbClr val="404040"/>
                </a:solidFill>
                <a:effectLst/>
                <a:latin typeface="Inter" panose="02000503000000020004" pitchFamily="2" charset="0"/>
              </a:rPr>
              <a:t> Shanmugamani)</a:t>
            </a:r>
          </a:p>
          <a:p>
            <a:pPr marL="457200" indent="-457200">
              <a:spcBef>
                <a:spcPts val="300"/>
              </a:spcBef>
              <a:buFont typeface="+mj-lt"/>
              <a:buAutoNum type="arabicPeriod"/>
            </a:pPr>
            <a:r>
              <a:rPr lang="en-GB" sz="2000" b="0" i="0" strike="noStrike" dirty="0">
                <a:solidFill>
                  <a:schemeClr val="tx1"/>
                </a:solidFill>
                <a:effectLst/>
                <a:latin typeface="Inter" panose="02000503000000020004" pitchFamily="2" charset="0"/>
                <a:hlinkClick r:id="rId4"/>
              </a:rPr>
              <a:t>https://www.geeksforgeeks.org/variational-autoencoders/</a:t>
            </a:r>
            <a:endParaRPr lang="en-GB" sz="2000" b="0" i="0" strike="noStrike" dirty="0">
              <a:solidFill>
                <a:schemeClr val="tx1"/>
              </a:solidFill>
              <a:effectLst/>
              <a:latin typeface="Inter" panose="02000503000000020004" pitchFamily="2" charset="0"/>
            </a:endParaRPr>
          </a:p>
          <a:p>
            <a:pPr marL="457200" indent="-457200">
              <a:spcBef>
                <a:spcPts val="300"/>
              </a:spcBef>
              <a:buFont typeface="+mj-lt"/>
              <a:buAutoNum type="arabicPeriod"/>
            </a:pPr>
            <a:r>
              <a:rPr lang="en-GB" sz="2000" b="0" i="0" strike="noStrike" dirty="0">
                <a:solidFill>
                  <a:schemeClr val="tx1"/>
                </a:solidFill>
                <a:effectLst/>
                <a:latin typeface="Inter" panose="02000503000000020004" pitchFamily="2" charset="0"/>
              </a:rPr>
              <a:t>https://</a:t>
            </a:r>
            <a:r>
              <a:rPr lang="en-GB" sz="2000" b="0" i="0" strike="noStrike" dirty="0" err="1">
                <a:solidFill>
                  <a:schemeClr val="tx1"/>
                </a:solidFill>
                <a:effectLst/>
                <a:latin typeface="Inter" panose="02000503000000020004" pitchFamily="2" charset="0"/>
              </a:rPr>
              <a:t>www.ibm.com</a:t>
            </a:r>
            <a:r>
              <a:rPr lang="en-GB" sz="2000" b="0" i="0" strike="noStrike" dirty="0">
                <a:solidFill>
                  <a:schemeClr val="tx1"/>
                </a:solidFill>
                <a:effectLst/>
                <a:latin typeface="Inter" panose="02000503000000020004" pitchFamily="2" charset="0"/>
              </a:rPr>
              <a:t>/think/topics/variational-autoencoder </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Goodfellow, I., Bengio, Y., &amp; Courville, A. (2016). Deep Learning. MIT Press.</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Chollet, F. (2017). Deep Learning with Python. Manning Publications.</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Hochreiter, S., &amp; </a:t>
            </a:r>
            <a:r>
              <a:rPr lang="en-GB" sz="2000" b="0" i="0" u="none" strike="noStrike" dirty="0" err="1">
                <a:solidFill>
                  <a:srgbClr val="404040"/>
                </a:solidFill>
                <a:effectLst/>
                <a:latin typeface="Inter" panose="02000503000000020004" pitchFamily="2" charset="0"/>
              </a:rPr>
              <a:t>Schmidhuber</a:t>
            </a:r>
            <a:r>
              <a:rPr lang="en-GB" sz="2000" b="0" i="0" u="none" strike="noStrike" dirty="0">
                <a:solidFill>
                  <a:srgbClr val="404040"/>
                </a:solidFill>
                <a:effectLst/>
                <a:latin typeface="Inter" panose="02000503000000020004" pitchFamily="2" charset="0"/>
              </a:rPr>
              <a:t>, J. (1997). Long Short-Term Memory. Neural Computation.</a:t>
            </a:r>
          </a:p>
        </p:txBody>
      </p:sp>
    </p:spTree>
    <p:extLst>
      <p:ext uri="{BB962C8B-B14F-4D97-AF65-F5344CB8AC3E}">
        <p14:creationId xmlns:p14="http://schemas.microsoft.com/office/powerpoint/2010/main" val="3740398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30724</TotalTime>
  <Words>2618</Words>
  <Application>Microsoft Macintosh PowerPoint</Application>
  <PresentationFormat>On-screen Show (16:9)</PresentationFormat>
  <Paragraphs>194</Paragraphs>
  <Slides>23</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IBM Plex Sans Arabic SemiBold</vt:lpstr>
      <vt:lpstr>Arial</vt:lpstr>
      <vt:lpstr>IBM Plex Sans Arabic</vt:lpstr>
      <vt:lpstr>Times New Roman</vt:lpstr>
      <vt:lpstr>IBM Plex Sans Arabic Medium</vt:lpstr>
      <vt:lpstr>Calibri</vt:lpstr>
      <vt:lpstr>Inter</vt:lpstr>
      <vt:lpstr>Nunito</vt:lpstr>
      <vt:lpstr>Tajawal</vt:lpstr>
      <vt:lpstr>Simple Light</vt:lpstr>
      <vt:lpstr>أكـــــاديميــــة طــــويـــق</vt:lpstr>
      <vt:lpstr>Variational Autoencoders (VAEs)  </vt:lpstr>
      <vt:lpstr>PowerPoint Presentation</vt:lpstr>
      <vt:lpstr>Variational Autoencoders (VAEs)</vt:lpstr>
      <vt:lpstr>How Do VAEs Work? </vt:lpstr>
      <vt:lpstr>How Do VAEs Work? </vt:lpstr>
      <vt:lpstr>Architecture of Variational Autoencoder   </vt:lpstr>
      <vt:lpstr>Architecture of Variational Autoencoder   </vt:lpstr>
      <vt:lpstr>Loss Functions in VAE Training   </vt:lpstr>
      <vt:lpstr>Loss Functions in VAE Training   </vt:lpstr>
      <vt:lpstr>Loss Functions in VAE Training   </vt:lpstr>
      <vt:lpstr>Loss Functions in VAE Training   </vt:lpstr>
      <vt:lpstr>Types of Variational Autoencoders     </vt:lpstr>
      <vt:lpstr>Types of Variational Autoencoders     </vt:lpstr>
      <vt:lpstr>Applications of VAEs    </vt:lpstr>
      <vt:lpstr>Applications of VAEs    </vt:lpstr>
      <vt:lpstr>VAEs versus GANs     </vt:lpstr>
      <vt:lpstr>VAEs versus GANs     </vt:lpstr>
      <vt:lpstr>Implementation of VAE     </vt:lpstr>
      <vt:lpstr>Hands On Exercise  </vt:lpstr>
      <vt:lpstr>Books and References </vt:lpstr>
      <vt:lpstr>الشراكات العالمية</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Afshan Hashmi</cp:lastModifiedBy>
  <cp:revision>73</cp:revision>
  <dcterms:modified xsi:type="dcterms:W3CDTF">2025-05-25T15:35:08Z</dcterms:modified>
</cp:coreProperties>
</file>