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98" r:id="rId5"/>
    <p:sldId id="438" r:id="rId6"/>
    <p:sldId id="439" r:id="rId7"/>
    <p:sldId id="440" r:id="rId8"/>
    <p:sldId id="441" r:id="rId9"/>
    <p:sldId id="442" r:id="rId10"/>
    <p:sldId id="447" r:id="rId11"/>
    <p:sldId id="448" r:id="rId12"/>
    <p:sldId id="449" r:id="rId13"/>
    <p:sldId id="443" r:id="rId14"/>
    <p:sldId id="444" r:id="rId15"/>
    <p:sldId id="445" r:id="rId16"/>
    <p:sldId id="446" r:id="rId17"/>
    <p:sldId id="454" r:id="rId18"/>
    <p:sldId id="452" r:id="rId19"/>
    <p:sldId id="451" r:id="rId20"/>
    <p:sldId id="453" r:id="rId21"/>
    <p:sldId id="370" r:id="rId22"/>
    <p:sldId id="312" r:id="rId23"/>
    <p:sldId id="275" r:id="rId24"/>
    <p:sldId id="276" r:id="rId25"/>
  </p:sldIdLst>
  <p:sldSz cx="9144000" cy="5143500" type="screen16x9"/>
  <p:notesSz cx="6858000" cy="9144000"/>
  <p:embeddedFontLst>
    <p:embeddedFont>
      <p:font typeface="IBM Plex Sans Arabic" panose="020B0603050203000203" pitchFamily="34" charset="-78"/>
      <p:regular r:id="rId27"/>
      <p:bold r:id="rId28"/>
    </p:embeddedFont>
    <p:embeddedFont>
      <p:font typeface="IBM Plex Sans Arabic Medium" panose="020B0603050203000203" pitchFamily="34" charset="-78"/>
      <p:regular r:id="rId29"/>
      <p:bold r:id="rId30"/>
    </p:embeddedFont>
    <p:embeddedFont>
      <p:font typeface="IBM Plex Sans Arabic SemiBold" panose="020B0603050203000203" pitchFamily="34" charset="-78"/>
      <p:regular r:id="rId31"/>
      <p:bold r:id="rId32"/>
    </p:embeddedFont>
    <p:embeddedFont>
      <p:font typeface="Inter" panose="020F0502020204030204" pitchFamily="34" charset="0"/>
      <p:regular r:id="rId33"/>
      <p:bold r:id="rId34"/>
      <p:italic r:id="rId35"/>
      <p:boldItalic r:id="rId36"/>
    </p:embeddedFont>
    <p:embeddedFont>
      <p:font typeface="Tajawal" pitchFamily="2" charset="-78"/>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20"/>
    <p:restoredTop sz="94227"/>
  </p:normalViewPr>
  <p:slideViewPr>
    <p:cSldViewPr snapToGrid="0">
      <p:cViewPr varScale="1">
        <p:scale>
          <a:sx n="209" d="100"/>
          <a:sy n="209" d="100"/>
        </p:scale>
        <p:origin x="392"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7F5B022-814B-7020-BA05-D7A5959854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6F10DD8-C253-86B1-10C8-EE32C0258A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3AE8169-D477-E0F9-2E41-41C1E55F2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521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0A4FAE6-2373-C4D8-AE10-93128DF05F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70CF024-EC64-36F7-A945-15F463855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0B16683-C35D-45A3-E3A1-5867D8D2A7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0197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FDAEA6-7A33-DB4E-7CD9-13A577F259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C557713-61D5-E7AD-15A9-9F8189782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C3C6B60-60BB-1176-A299-A05D86F07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6309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3CD5F7A-54DF-A46B-9D6F-9F44F5BD14C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FE49E8D-B5DD-84F6-F9B9-85E56B7FA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94F4FBE-DD0E-53A7-5467-511699D6A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3235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E34EC4F-47DE-862C-95D3-423F3BE08BE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D13C8C4-275F-D15E-749F-C418A0F193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608E8B2-4728-3357-2C6D-29B5E5A8B9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878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38BCDC1-83D1-8827-917C-92AFE4A5BC4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C52B4D-F26D-2536-BEFA-EE6993FDB4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ADA3B23-0394-90A4-FBC7-E95209E0B5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073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0343261-2BA8-33A1-FB97-F76482DDB3E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5B8E946-E7F8-BA4E-7BD8-B024E558C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FEE9D7A-219B-6726-4ED5-1AF1821F8C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520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8038155-6810-190A-31AC-4FC5B196DB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69F3ADB-586E-C1C5-13BB-65A1D2DFE6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10DDECC-32EA-BFC3-01E2-D512C6BDA3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271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B045051-58CA-60B1-D557-D8E8979A628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EB84EB-9BF4-BA9E-5D55-B4727869A0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2765F98-1FD4-86DB-247D-EFE5D61C13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948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EE37FC1-7098-7A0F-EAB4-E0322AAA00A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4D47561-3F3A-49FB-5968-D50900717D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ED41168-A32F-3A91-A452-00445FD43C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638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AEA9E9-0798-BE5E-AF6D-01E512F4755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DBC01B7-87BB-2440-973A-50FD128C4F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9CCC57B-4265-4DC6-CBC5-FBC5969AC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535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F127C1B-0D08-3662-E8AA-5EAD294950E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4ECE79E-110D-4451-CF2B-394FF427A8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84ABA7C-B490-9F66-8454-3D1AEC9F94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941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A1FB337-4FCF-B9AF-BC65-0FCDA296BC8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86A6E7-81AA-3538-5BB5-56E597EB38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1680C41-2E58-78D3-83EA-9295CBA723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9790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4B3E308-EB7B-3B77-1635-4BA954CD616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059A8EA-7195-D69C-4BAF-1A0DFE63E0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4BCD027-B632-3054-E245-60A1AF970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0228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DC94F79-7674-38E5-0EB9-D7BAE6BE73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C713AA6-74C7-A957-60AC-5EB1B9481B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9B05291-BDF9-ED24-80E3-5D9ABA2E26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809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0731DEE-65E8-B1B7-633E-4617246351F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1886E6F-04FF-50D6-5C2F-BCF531CED2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DE9F904-FE97-2E0E-60A6-26276EC7D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7166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1.jpg"/><Relationship Id="rId4" Type="http://schemas.openxmlformats.org/officeDocument/2006/relationships/hyperlink" Target="https://drive.google.com/file/d/18eIHAM_F9bx6VhXNZynK_RY_OeygZmm-/view?usp=sharin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www.geeksforgeeks.org/difference-between-feed-forward-neural-networks-and-recurrent-neural-networks/"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23.xml"/><Relationship Id="rId16"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498670"/>
            <a:ext cx="8520600" cy="2052600"/>
          </a:xfrm>
          <a:prstGeom prst="rect">
            <a:avLst/>
          </a:prstGeom>
          <a:noFill/>
          <a:ln>
            <a:noFill/>
          </a:ln>
        </p:spPr>
        <p:txBody>
          <a:bodyPr spcFirstLastPara="1" wrap="square" lIns="91425" tIns="91425" rIns="91425" bIns="91425" anchor="b" anchorCtr="0">
            <a:normAutofit fontScale="90000"/>
          </a:bodyPr>
          <a:lstStyle/>
          <a:p>
            <a:r>
              <a:rPr lang="en-GB" sz="4000" dirty="0">
                <a:solidFill>
                  <a:srgbClr val="7030A0"/>
                </a:solidFill>
                <a:latin typeface="Times New Roman" panose="02020603050405020304" pitchFamily="18" charset="0"/>
              </a:rPr>
              <a:t>Understanding Sequential Data </a:t>
            </a:r>
            <a:r>
              <a:rPr lang="en-GB" sz="4000" i="0" u="none" strike="noStrike" dirty="0">
                <a:solidFill>
                  <a:srgbClr val="7030A0"/>
                </a:solidFill>
                <a:effectLst/>
                <a:latin typeface="Times New Roman" panose="02020603050405020304" pitchFamily="18" charset="0"/>
              </a:rPr>
              <a:t> </a:t>
            </a:r>
            <a:br>
              <a:rPr lang="en-GB" sz="4000" b="1" i="0" u="none" strike="noStrike" dirty="0">
                <a:solidFill>
                  <a:srgbClr val="7030A0"/>
                </a:solidFill>
                <a:effectLst/>
                <a:latin typeface="Times New Roman" panose="02020603050405020304" pitchFamily="18" charset="0"/>
              </a:rPr>
            </a:b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5691535" cy="792600"/>
          </a:xfrm>
          <a:prstGeom prst="rect">
            <a:avLst/>
          </a:prstGeom>
          <a:noFill/>
          <a:ln>
            <a:noFill/>
          </a:ln>
        </p:spPr>
        <p:txBody>
          <a:bodyPr spcFirstLastPara="1" wrap="square" lIns="91425" tIns="91425" rIns="91425" bIns="91425" anchor="t" anchorCtr="0">
            <a:normAutofit/>
          </a:bodyPr>
          <a:lstStyle/>
          <a:p>
            <a:pPr marL="114300" indent="0"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endParaRPr lang="en-GB" sz="1800" dirty="0">
              <a:solidFill>
                <a:srgbClr val="000000"/>
              </a:solidFill>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552146" y="691691"/>
            <a:ext cx="6634716" cy="2923837"/>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indent="-342900">
              <a:buFont typeface="+mj-lt"/>
              <a:buAutoNum type="arabicPeriod"/>
            </a:pPr>
            <a:r>
              <a:rPr lang="en-GB" b="1" dirty="0" err="1"/>
              <a:t>Analyze</a:t>
            </a:r>
            <a:r>
              <a:rPr lang="en-GB" b="1" dirty="0"/>
              <a:t> the nature and structure of sequential data</a:t>
            </a:r>
            <a:r>
              <a:rPr lang="en-GB" dirty="0"/>
              <a:t> such as time series, speech, and textual data, and understand their unique processing requirements.</a:t>
            </a:r>
          </a:p>
          <a:p>
            <a:pPr marL="342900" indent="-342900">
              <a:buFont typeface="+mj-lt"/>
              <a:buAutoNum type="arabicPeriod"/>
            </a:pPr>
            <a:r>
              <a:rPr lang="en-GB" b="1" dirty="0"/>
              <a:t>Differentiate between feedforward and recurrent neural networks</a:t>
            </a:r>
            <a:r>
              <a:rPr lang="en-GB" dirty="0"/>
              <a:t> in terms of architecture, data handling capabilities, and use cases.</a:t>
            </a:r>
          </a:p>
          <a:p>
            <a:pPr marL="342900" indent="-342900">
              <a:buFont typeface="+mj-lt"/>
              <a:buAutoNum type="arabicPeriod"/>
            </a:pPr>
            <a:r>
              <a:rPr lang="en-GB" b="1" dirty="0"/>
              <a:t>Apply foundational concepts of sequence </a:t>
            </a:r>
            <a:r>
              <a:rPr lang="en-GB" b="1" dirty="0" err="1"/>
              <a:t>modeling</a:t>
            </a:r>
            <a:r>
              <a:rPr lang="en-GB" dirty="0"/>
              <a:t> to real-world problems involving temporal, auditory, or language data.</a:t>
            </a:r>
          </a:p>
          <a:p>
            <a:pPr marL="342900" indent="-342900">
              <a:buFont typeface="+mj-lt"/>
              <a:buAutoNum type="arabicPeriod"/>
            </a:pPr>
            <a:r>
              <a:rPr lang="en-GB" b="1" dirty="0"/>
              <a:t>Explore limitations of traditional neural networks</a:t>
            </a:r>
            <a:r>
              <a:rPr lang="en-GB" dirty="0"/>
              <a:t> in handling sequential dependencies and motivate the need for recurrent architectures.</a:t>
            </a:r>
          </a:p>
          <a:p>
            <a:pPr marL="342900" indent="-342900">
              <a:buFont typeface="+mj-lt"/>
              <a:buAutoNum type="arabicPeriod"/>
            </a:pPr>
            <a:endParaRPr lang="en-GB" sz="1400" dirty="0">
              <a:effectLst/>
            </a:endParaRPr>
          </a:p>
          <a:p>
            <a:pPr marL="342900" indent="-342900">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Sequential Data </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0" y="610597"/>
            <a:ext cx="8329649" cy="5016758"/>
          </a:xfrm>
          <a:prstGeom prst="rect">
            <a:avLst/>
          </a:prstGeom>
          <a:noFill/>
        </p:spPr>
        <p:txBody>
          <a:bodyPr wrap="square">
            <a:spAutoFit/>
          </a:bodyPr>
          <a:lstStyle/>
          <a:p>
            <a:pPr algn="l">
              <a:buNone/>
            </a:pPr>
            <a:r>
              <a:rPr lang="en-GB" sz="1600" b="1" dirty="0"/>
              <a:t>S</a:t>
            </a:r>
            <a:r>
              <a:rPr lang="en-GB" sz="1600" b="1" i="0" u="none" strike="noStrike" dirty="0">
                <a:solidFill>
                  <a:srgbClr val="000000"/>
                </a:solidFill>
                <a:effectLst/>
              </a:rPr>
              <a:t>equential data</a:t>
            </a:r>
            <a:r>
              <a:rPr lang="en-GB" sz="1600" b="0" i="0" u="none" strike="noStrike" dirty="0">
                <a:solidFill>
                  <a:srgbClr val="000000"/>
                </a:solidFill>
                <a:effectLst/>
              </a:rPr>
              <a:t> is a type of data where the order of the data points matters. The value of one data point is often related to the values of the data points that came before it (and sometimes after).</a:t>
            </a:r>
          </a:p>
          <a:p>
            <a:pPr algn="l">
              <a:buNone/>
            </a:pPr>
            <a:r>
              <a:rPr lang="en-GB" sz="1600" b="1" i="0" u="none" strike="noStrike" dirty="0">
                <a:solidFill>
                  <a:srgbClr val="000000"/>
                </a:solidFill>
                <a:effectLst/>
              </a:rPr>
              <a:t>Sequential data</a:t>
            </a:r>
            <a:r>
              <a:rPr lang="en-GB" sz="1600" b="0" i="0" u="none" strike="noStrike" dirty="0">
                <a:solidFill>
                  <a:srgbClr val="000000"/>
                </a:solidFill>
                <a:effectLst/>
              </a:rPr>
              <a:t> is data where the order of the elements is important because each element is dependent on the ones that precede it (and sometimes follow).</a:t>
            </a:r>
          </a:p>
          <a:p>
            <a:pPr algn="l">
              <a:buNone/>
            </a:pPr>
            <a:r>
              <a:rPr lang="en-GB" sz="1600" b="1" i="0" u="none" strike="noStrike" dirty="0">
                <a:solidFill>
                  <a:srgbClr val="000000"/>
                </a:solidFill>
                <a:effectLst/>
              </a:rPr>
              <a:t>Key characteristics:</a:t>
            </a:r>
            <a:endParaRPr lang="en-GB" sz="1600" b="0" i="0" u="none" strike="noStrike" dirty="0">
              <a:solidFill>
                <a:srgbClr val="000000"/>
              </a:solidFill>
              <a:effectLst/>
            </a:endParaRPr>
          </a:p>
          <a:p>
            <a:pPr algn="l"/>
            <a:r>
              <a:rPr lang="en-GB" sz="1600" b="1" i="0" u="none" strike="noStrike" dirty="0">
                <a:solidFill>
                  <a:srgbClr val="000000"/>
                </a:solidFill>
                <a:effectLst/>
              </a:rPr>
              <a:t>Order matters:</a:t>
            </a:r>
            <a:r>
              <a:rPr lang="en-GB" sz="1600" b="0" i="0" u="none" strike="noStrike" dirty="0">
                <a:solidFill>
                  <a:srgbClr val="000000"/>
                </a:solidFill>
                <a:effectLst/>
              </a:rPr>
              <a:t> The sequence of the data points carries information.</a:t>
            </a:r>
          </a:p>
          <a:p>
            <a:pPr algn="l"/>
            <a:r>
              <a:rPr lang="en-GB" sz="1600" b="1" i="0" u="none" strike="noStrike" dirty="0">
                <a:solidFill>
                  <a:srgbClr val="000000"/>
                </a:solidFill>
                <a:effectLst/>
              </a:rPr>
              <a:t>Dependencies:</a:t>
            </a:r>
            <a:r>
              <a:rPr lang="en-GB" sz="1600" b="0" i="0" u="none" strike="noStrike" dirty="0">
                <a:solidFill>
                  <a:srgbClr val="000000"/>
                </a:solidFill>
                <a:effectLst/>
              </a:rPr>
              <a:t> Data points are often related to each other within the sequence.</a:t>
            </a:r>
          </a:p>
          <a:p>
            <a:pPr algn="l"/>
            <a:r>
              <a:rPr lang="en-GB" sz="1600" b="1" i="0" u="none" strike="noStrike" dirty="0">
                <a:solidFill>
                  <a:srgbClr val="000000"/>
                </a:solidFill>
                <a:effectLst/>
              </a:rPr>
              <a:t>Examples:</a:t>
            </a:r>
            <a:r>
              <a:rPr lang="en-GB" sz="1600" b="0" i="0" u="none" strike="noStrike" dirty="0">
                <a:solidFill>
                  <a:srgbClr val="000000"/>
                </a:solidFill>
                <a:effectLst/>
              </a:rPr>
              <a:t> common examples include:</a:t>
            </a:r>
          </a:p>
          <a:p>
            <a:pPr marL="800100" lvl="1" indent="-342900" algn="l">
              <a:buFont typeface="+mj-lt"/>
              <a:buAutoNum type="arabicPeriod"/>
            </a:pPr>
            <a:r>
              <a:rPr lang="en-GB" sz="1600" b="1" i="0" u="none" strike="noStrike" dirty="0">
                <a:solidFill>
                  <a:srgbClr val="000000"/>
                </a:solidFill>
                <a:effectLst/>
              </a:rPr>
              <a:t>Time Series:</a:t>
            </a:r>
            <a:r>
              <a:rPr lang="en-GB" sz="1600" b="0" i="0" u="none" strike="noStrike" dirty="0">
                <a:solidFill>
                  <a:srgbClr val="000000"/>
                </a:solidFill>
                <a:effectLst/>
              </a:rPr>
              <a:t> Stock prices, sensor readings, weather data (ordered by time).</a:t>
            </a:r>
          </a:p>
          <a:p>
            <a:pPr marL="800100" lvl="1" indent="-342900" algn="l">
              <a:buFont typeface="+mj-lt"/>
              <a:buAutoNum type="arabicPeriod"/>
            </a:pPr>
            <a:r>
              <a:rPr lang="en-GB" sz="1600" b="1" i="0" u="none" strike="noStrike" dirty="0">
                <a:solidFill>
                  <a:srgbClr val="000000"/>
                </a:solidFill>
                <a:effectLst/>
              </a:rPr>
              <a:t>Text:</a:t>
            </a:r>
            <a:r>
              <a:rPr lang="en-GB" sz="1600" b="0" i="0" u="none" strike="noStrike" dirty="0">
                <a:solidFill>
                  <a:srgbClr val="000000"/>
                </a:solidFill>
                <a:effectLst/>
              </a:rPr>
              <a:t> Sentences, paragraphs, documents (ordered by words).</a:t>
            </a:r>
          </a:p>
          <a:p>
            <a:pPr marL="800100" lvl="1" indent="-342900" algn="l">
              <a:buFont typeface="+mj-lt"/>
              <a:buAutoNum type="arabicPeriod"/>
            </a:pPr>
            <a:r>
              <a:rPr lang="en-GB" sz="1600" b="1" i="0" u="none" strike="noStrike" dirty="0">
                <a:solidFill>
                  <a:srgbClr val="000000"/>
                </a:solidFill>
                <a:effectLst/>
              </a:rPr>
              <a:t>Audio:</a:t>
            </a:r>
            <a:r>
              <a:rPr lang="en-GB" sz="1600" b="0" i="0" u="none" strike="noStrike" dirty="0">
                <a:solidFill>
                  <a:srgbClr val="000000"/>
                </a:solidFill>
                <a:effectLst/>
              </a:rPr>
              <a:t> Speech, music (ordered by time).</a:t>
            </a:r>
          </a:p>
          <a:p>
            <a:pPr marL="800100" lvl="1" indent="-342900" algn="l">
              <a:buFont typeface="+mj-lt"/>
              <a:buAutoNum type="arabicPeriod"/>
            </a:pPr>
            <a:r>
              <a:rPr lang="en-GB" sz="1600" b="1" i="0" u="none" strike="noStrike" dirty="0">
                <a:solidFill>
                  <a:srgbClr val="000000"/>
                </a:solidFill>
                <a:effectLst/>
              </a:rPr>
              <a:t>Video:</a:t>
            </a:r>
            <a:r>
              <a:rPr lang="en-GB" sz="1600" b="0" i="0" u="none" strike="noStrike" dirty="0">
                <a:solidFill>
                  <a:srgbClr val="000000"/>
                </a:solidFill>
                <a:effectLst/>
              </a:rPr>
              <a:t> Frames (ordered by time).</a:t>
            </a:r>
          </a:p>
          <a:p>
            <a:pPr marL="800100" lvl="1" indent="-342900" algn="l">
              <a:buFont typeface="+mj-lt"/>
              <a:buAutoNum type="arabicPeriod"/>
            </a:pPr>
            <a:r>
              <a:rPr lang="en-GB" sz="1600" b="1" i="0" u="none" strike="noStrike" dirty="0">
                <a:solidFill>
                  <a:srgbClr val="000000"/>
                </a:solidFill>
                <a:effectLst/>
              </a:rPr>
              <a:t>Genomic Sequences:</a:t>
            </a:r>
            <a:r>
              <a:rPr lang="en-GB" sz="1600" b="0" i="0" u="none" strike="noStrike" dirty="0">
                <a:solidFill>
                  <a:srgbClr val="000000"/>
                </a:solidFill>
                <a:effectLst/>
              </a:rPr>
              <a:t> DNA, RNA (ordered by the sequence of bases).</a:t>
            </a:r>
          </a:p>
          <a:p>
            <a:pPr marL="800100" lvl="1" indent="-342900" algn="l">
              <a:buFont typeface="+mj-lt"/>
              <a:buAutoNum type="arabicPeriod"/>
            </a:pPr>
            <a:r>
              <a:rPr lang="en-GB" sz="1600" b="1" i="0" u="none" strike="noStrike" dirty="0">
                <a:solidFill>
                  <a:srgbClr val="000000"/>
                </a:solidFill>
                <a:effectLst/>
              </a:rPr>
              <a:t>User Activity:</a:t>
            </a:r>
            <a:r>
              <a:rPr lang="en-GB" sz="1600" b="0" i="0" u="none" strike="noStrike" dirty="0">
                <a:solidFill>
                  <a:srgbClr val="000000"/>
                </a:solidFill>
                <a:effectLst/>
              </a:rPr>
              <a:t> Website clicks, purchase history (ordered by time).</a:t>
            </a:r>
          </a:p>
          <a:p>
            <a:pPr algn="l"/>
            <a:r>
              <a:rPr lang="en-GB" sz="1600" b="0" i="0" u="none" strike="noStrike" dirty="0">
                <a:solidFill>
                  <a:srgbClr val="000000"/>
                </a:solidFill>
                <a:effectLst/>
              </a:rPr>
              <a:t>Because of these dependencies, </a:t>
            </a:r>
            <a:r>
              <a:rPr lang="en-GB" sz="1600" b="0" i="0" u="none" strike="noStrike" dirty="0" err="1">
                <a:solidFill>
                  <a:srgbClr val="000000"/>
                </a:solidFill>
                <a:effectLst/>
              </a:rPr>
              <a:t>analyzing</a:t>
            </a:r>
            <a:r>
              <a:rPr lang="en-GB" sz="1600" b="0" i="0" u="none" strike="noStrike" dirty="0">
                <a:solidFill>
                  <a:srgbClr val="000000"/>
                </a:solidFill>
                <a:effectLst/>
              </a:rPr>
              <a:t> sequential data often requires specialized techniques that can understand and model these relationships, such as Recurrent Neural Networks (RNNs) and Transformer networks.</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80B975B-2CFF-AB94-4AF4-53D8351275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EC983B9-D48C-6ABC-3918-CD2216DBAA7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Struggle with sequential data</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2CD001-13B9-1AF1-E318-3480DEB0FC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D182DD0-1509-D6B5-DCDA-A62CBC37FF6B}"/>
              </a:ext>
            </a:extLst>
          </p:cNvPr>
          <p:cNvSpPr txBox="1"/>
          <p:nvPr/>
        </p:nvSpPr>
        <p:spPr>
          <a:xfrm>
            <a:off x="1" y="610597"/>
            <a:ext cx="4571999" cy="4031873"/>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Statelessness:</a:t>
            </a:r>
            <a:r>
              <a:rPr lang="en-GB" sz="1600" b="0" i="0" u="none" strike="noStrike" dirty="0">
                <a:solidFill>
                  <a:srgbClr val="000000"/>
                </a:solidFill>
                <a:effectLst/>
              </a:rPr>
              <a:t> Traditional neural networks process each input independently. They don't have any memory of past inputs or the relationships between them. In your weather example, the network </a:t>
            </a:r>
            <a:r>
              <a:rPr lang="en-GB" sz="1600" b="0" i="0" u="none" strike="noStrike" dirty="0" err="1">
                <a:solidFill>
                  <a:srgbClr val="000000"/>
                </a:solidFill>
                <a:effectLst/>
              </a:rPr>
              <a:t>analyzes</a:t>
            </a:r>
            <a:r>
              <a:rPr lang="en-GB" sz="1600" b="0" i="0" u="none" strike="noStrike" dirty="0">
                <a:solidFill>
                  <a:srgbClr val="000000"/>
                </a:solidFill>
                <a:effectLst/>
              </a:rPr>
              <a:t> each day's temperature and humidity in isolation, without considering the weather from previous days.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Assumption of Independence:</a:t>
            </a:r>
            <a:r>
              <a:rPr lang="en-GB" sz="1600" b="0" i="0" u="none" strike="noStrike" dirty="0">
                <a:solidFill>
                  <a:srgbClr val="000000"/>
                </a:solidFill>
                <a:effectLst/>
              </a:rPr>
              <a:t> Feedforward networks are designed with the assumption that data points are independent of each other. This is fundamentally incorrect for sequential data where the order and dependencies between elements are crucial.</a:t>
            </a:r>
            <a:endParaRPr lang="en-GB" sz="1600" i="0" u="none" strike="noStrike" dirty="0">
              <a:solidFill>
                <a:srgbClr val="000000"/>
              </a:solidFill>
              <a:effectLst/>
              <a:latin typeface="+mj-lt"/>
            </a:endParaRPr>
          </a:p>
        </p:txBody>
      </p:sp>
      <p:pic>
        <p:nvPicPr>
          <p:cNvPr id="1026" name="Picture 2">
            <a:extLst>
              <a:ext uri="{FF2B5EF4-FFF2-40B4-BE49-F238E27FC236}">
                <a16:creationId xmlns:a16="http://schemas.microsoft.com/office/drawing/2014/main" id="{B778F5A4-9CC2-159B-1C2B-58AB966B3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1981" y="1749176"/>
            <a:ext cx="4429382" cy="1797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289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8919983-E05E-20D0-C4E2-6A8D718335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4138709-D96E-55B9-4533-70C30DB2813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Struggle with sequential data</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0D1A6CF-2D5F-5D7D-9866-D819F940507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DC669A1-A7C3-DB1B-88C8-73B11D415E31}"/>
              </a:ext>
            </a:extLst>
          </p:cNvPr>
          <p:cNvSpPr txBox="1"/>
          <p:nvPr/>
        </p:nvSpPr>
        <p:spPr>
          <a:xfrm>
            <a:off x="326005" y="634451"/>
            <a:ext cx="7378810" cy="1815882"/>
          </a:xfrm>
          <a:prstGeom prst="rect">
            <a:avLst/>
          </a:prstGeom>
          <a:noFill/>
        </p:spPr>
        <p:txBody>
          <a:bodyPr wrap="square">
            <a:spAutoFit/>
          </a:bodyPr>
          <a:lstStyle/>
          <a:p>
            <a:pPr algn="l"/>
            <a:r>
              <a:rPr lang="en-GB" sz="1600" b="1" i="0" u="none" strike="noStrike" dirty="0">
                <a:solidFill>
                  <a:srgbClr val="000000"/>
                </a:solidFill>
                <a:effectLst/>
              </a:rPr>
              <a:t>3. Ignoring Temporal Dependencies:</a:t>
            </a:r>
            <a:r>
              <a:rPr lang="en-GB" sz="1600" b="0" i="0" u="none" strike="noStrike" dirty="0">
                <a:solidFill>
                  <a:srgbClr val="000000"/>
                </a:solidFill>
                <a:effectLst/>
              </a:rPr>
              <a:t> Sequential data often has strong temporal dependencies. The weather on one day significantly influences the weather on subsequent days, stock prices are affected by previous trends, and the meaning of a word in a sentence depends on the words around it. Traditional neural networks cannot inherently capture these dependencies.</a:t>
            </a:r>
          </a:p>
          <a:p>
            <a:br>
              <a:rPr lang="en-GB" sz="1600" dirty="0">
                <a:latin typeface="+mj-lt"/>
              </a:rPr>
            </a:br>
            <a:endParaRPr lang="en-GB" sz="1600" i="0" u="none" strike="noStrike" dirty="0">
              <a:solidFill>
                <a:srgbClr val="000000"/>
              </a:solidFill>
              <a:effectLst/>
              <a:latin typeface="+mj-lt"/>
            </a:endParaRPr>
          </a:p>
        </p:txBody>
      </p:sp>
      <p:pic>
        <p:nvPicPr>
          <p:cNvPr id="2050" name="Picture 2">
            <a:extLst>
              <a:ext uri="{FF2B5EF4-FFF2-40B4-BE49-F238E27FC236}">
                <a16:creationId xmlns:a16="http://schemas.microsoft.com/office/drawing/2014/main" id="{6548F7C0-E44C-498C-E254-008D6AECCF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924" y="2202106"/>
            <a:ext cx="5287784" cy="2465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3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66E7CD1-825B-1616-8969-78578885886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C05D0FB-CA12-71C3-97F2-E1EEFF722C0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t>Struggle with sequential data</a:t>
            </a: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676778A-A4D9-A418-B2B3-AC00CCB4004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02223A8-60D5-BB4F-38EC-79EAB8F1B03E}"/>
              </a:ext>
            </a:extLst>
          </p:cNvPr>
          <p:cNvSpPr txBox="1"/>
          <p:nvPr/>
        </p:nvSpPr>
        <p:spPr>
          <a:xfrm>
            <a:off x="222637" y="825283"/>
            <a:ext cx="8022866" cy="3785652"/>
          </a:xfrm>
          <a:prstGeom prst="rect">
            <a:avLst/>
          </a:prstGeom>
          <a:noFill/>
        </p:spPr>
        <p:txBody>
          <a:bodyPr wrap="square">
            <a:spAutoFit/>
          </a:bodyPr>
          <a:lstStyle/>
          <a:p>
            <a:pPr algn="l"/>
            <a:r>
              <a:rPr lang="en-GB" sz="1600" dirty="0"/>
              <a:t>4. </a:t>
            </a:r>
            <a:r>
              <a:rPr lang="en-GB" sz="1600" b="1" i="0" u="none" strike="noStrike" dirty="0">
                <a:solidFill>
                  <a:srgbClr val="000000"/>
                </a:solidFill>
                <a:effectLst/>
              </a:rPr>
              <a:t>Fixed Input Size:</a:t>
            </a:r>
            <a:r>
              <a:rPr lang="en-GB" sz="1600" b="0" i="0" u="none" strike="noStrike" dirty="0">
                <a:solidFill>
                  <a:srgbClr val="000000"/>
                </a:solidFill>
                <a:effectLst/>
              </a:rPr>
              <a:t> Traditional neural networks typically require a fixed-size input vector. Sequential data, however, can have varying lengths (e.g., sentences of different lengths, time series with different durations). Handling variable-length sequences is challenging for these networks without significant preprocessing (like padding or truncating), which can lose information.</a:t>
            </a:r>
          </a:p>
          <a:p>
            <a:pPr algn="l"/>
            <a:endParaRPr lang="en-GB" sz="1600" b="0" i="0" u="none" strike="noStrike" dirty="0">
              <a:solidFill>
                <a:srgbClr val="000000"/>
              </a:solidFill>
              <a:effectLst/>
            </a:endParaRPr>
          </a:p>
          <a:p>
            <a:pPr algn="l"/>
            <a:r>
              <a:rPr lang="en-GB" sz="1600" b="0" i="0" u="none" strike="noStrike" dirty="0">
                <a:solidFill>
                  <a:srgbClr val="000000"/>
                </a:solidFill>
                <a:effectLst/>
              </a:rPr>
              <a:t>In essence, traditional neural networks lack a mechanism to maintain and utilize information about the order and dependencies within sequential data. They treat each data point as a separate, unrelated instance, which limits their ability to understand the underlying patterns and make accurate predictions in sequential tasks. This is precisely the problem that Recurrent Neural Networks (RNNs) and other sequence models are designed to address by incorporating memory and the ability to process sequences step by step</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1486300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9CC48B0-B5C5-FBB2-2368-7A54D47A276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54D09EE-0BD1-F500-359C-F3663A0AC81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dirty="0"/>
              <a:t>What is a Time Series?</a:t>
            </a: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94EC55D-3C09-A4EA-7E3D-72EB10213D0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4A7CEBA-1DAF-195E-77E8-AF01DA9C63D1}"/>
              </a:ext>
            </a:extLst>
          </p:cNvPr>
          <p:cNvSpPr txBox="1"/>
          <p:nvPr/>
        </p:nvSpPr>
        <p:spPr>
          <a:xfrm>
            <a:off x="222637" y="825283"/>
            <a:ext cx="8022866" cy="3046988"/>
          </a:xfrm>
          <a:prstGeom prst="rect">
            <a:avLst/>
          </a:prstGeom>
          <a:noFill/>
        </p:spPr>
        <p:txBody>
          <a:bodyPr wrap="square">
            <a:spAutoFit/>
          </a:bodyPr>
          <a:lstStyle/>
          <a:p>
            <a:pPr>
              <a:buNone/>
            </a:pPr>
            <a:r>
              <a:rPr lang="en-GB" sz="1600" dirty="0"/>
              <a:t>A time series is a sequence of data points collected or recorded at successive points in time usually at uniform intervals.</a:t>
            </a:r>
          </a:p>
          <a:p>
            <a:pPr>
              <a:buNone/>
            </a:pPr>
            <a:r>
              <a:rPr lang="en-GB" sz="1600" b="1" dirty="0"/>
              <a:t>Key Characteristics:</a:t>
            </a:r>
          </a:p>
          <a:p>
            <a:pPr marL="285750" indent="-285750">
              <a:buFont typeface="Wingdings" pitchFamily="2" charset="2"/>
              <a:buChar char="ü"/>
            </a:pPr>
            <a:r>
              <a:rPr lang="en-GB" sz="1600" b="1" dirty="0"/>
              <a:t>Ordered</a:t>
            </a:r>
            <a:r>
              <a:rPr lang="en-GB" sz="1600" dirty="0"/>
              <a:t>: Data is indexed in time order.</a:t>
            </a:r>
          </a:p>
          <a:p>
            <a:pPr marL="285750" indent="-285750">
              <a:buFont typeface="Wingdings" pitchFamily="2" charset="2"/>
              <a:buChar char="ü"/>
            </a:pPr>
            <a:r>
              <a:rPr lang="en-GB" sz="1600" b="1" dirty="0"/>
              <a:t>Temporal dependency</a:t>
            </a:r>
            <a:r>
              <a:rPr lang="en-GB" sz="1600" dirty="0"/>
              <a:t>: Past values influence future values.</a:t>
            </a:r>
          </a:p>
          <a:p>
            <a:pPr marL="285750" indent="-285750">
              <a:buFont typeface="Wingdings" pitchFamily="2" charset="2"/>
              <a:buChar char="ü"/>
            </a:pPr>
            <a:r>
              <a:rPr lang="en-GB" sz="1600" b="1" dirty="0"/>
              <a:t>Regular intervals</a:t>
            </a:r>
            <a:r>
              <a:rPr lang="en-GB" sz="1600" dirty="0"/>
              <a:t>: Often recorded daily, hourly, per second, etc.</a:t>
            </a:r>
          </a:p>
          <a:p>
            <a:pPr>
              <a:buNone/>
            </a:pPr>
            <a:r>
              <a:rPr lang="en-GB" sz="1600" b="1" dirty="0"/>
              <a:t> Examples:</a:t>
            </a:r>
          </a:p>
          <a:p>
            <a:pPr>
              <a:buFont typeface="+mj-lt"/>
              <a:buAutoNum type="arabicPeriod"/>
            </a:pPr>
            <a:r>
              <a:rPr lang="en-GB" sz="1600" b="1" dirty="0"/>
              <a:t>Sensor Data</a:t>
            </a:r>
            <a:endParaRPr lang="en-GB" sz="1600" dirty="0"/>
          </a:p>
          <a:p>
            <a:pPr marL="742950" lvl="1" indent="-285750">
              <a:buFont typeface="+mj-lt"/>
              <a:buAutoNum type="arabicPeriod"/>
            </a:pPr>
            <a:r>
              <a:rPr lang="en-GB" sz="1600" dirty="0"/>
              <a:t>Data collected from sensors in real time.</a:t>
            </a:r>
          </a:p>
          <a:p>
            <a:pPr marL="742950" lvl="1" indent="-285750">
              <a:buFont typeface="+mj-lt"/>
              <a:buAutoNum type="arabicPeriod"/>
            </a:pPr>
            <a:r>
              <a:rPr lang="en-GB" sz="1600" dirty="0"/>
              <a:t>E.g., temperature readings from a weather station every hour.</a:t>
            </a:r>
          </a:p>
          <a:p>
            <a:r>
              <a:rPr lang="en-GB" sz="1600" dirty="0">
                <a:latin typeface="+mj-lt"/>
              </a:rPr>
              <a:t>Format:</a:t>
            </a:r>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AC60A4AE-32E7-C444-0090-312F416DF459}"/>
              </a:ext>
            </a:extLst>
          </p:cNvPr>
          <p:cNvSpPr txBox="1"/>
          <p:nvPr/>
        </p:nvSpPr>
        <p:spPr>
          <a:xfrm>
            <a:off x="1202635" y="3445541"/>
            <a:ext cx="4647536" cy="1169551"/>
          </a:xfrm>
          <a:prstGeom prst="rect">
            <a:avLst/>
          </a:prstGeom>
          <a:solidFill>
            <a:schemeClr val="accent5">
              <a:lumMod val="40000"/>
              <a:lumOff val="60000"/>
            </a:schemeClr>
          </a:solidFill>
        </p:spPr>
        <p:txBody>
          <a:bodyPr wrap="square">
            <a:spAutoFit/>
          </a:bodyPr>
          <a:lstStyle/>
          <a:p>
            <a:r>
              <a:rPr lang="en-US" dirty="0"/>
              <a:t>Time       | Temperature</a:t>
            </a:r>
          </a:p>
          <a:p>
            <a:r>
              <a:rPr lang="en-US" dirty="0"/>
              <a:t>-----------|------------</a:t>
            </a:r>
          </a:p>
          <a:p>
            <a:r>
              <a:rPr lang="en-US" dirty="0"/>
              <a:t>10:00 AM   | 22.5°C</a:t>
            </a:r>
          </a:p>
          <a:p>
            <a:r>
              <a:rPr lang="en-US" dirty="0"/>
              <a:t>11:00 AM   | 23.1°C</a:t>
            </a:r>
          </a:p>
          <a:p>
            <a:r>
              <a:rPr lang="en-US" dirty="0"/>
              <a:t>12:00 PM   | 24.0°C</a:t>
            </a:r>
          </a:p>
        </p:txBody>
      </p:sp>
    </p:spTree>
    <p:extLst>
      <p:ext uri="{BB962C8B-B14F-4D97-AF65-F5344CB8AC3E}">
        <p14:creationId xmlns:p14="http://schemas.microsoft.com/office/powerpoint/2010/main" val="2630238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7C527C-3453-AC93-BF7C-B0C10836FF9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0B7DC03-C8C3-AD71-67E0-EF539BFD16D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100" b="1" dirty="0"/>
              <a:t>What is a Time Series?</a:t>
            </a: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02CD5EE-95BE-EF9E-323B-AAF3118C68B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C677427-DF71-2A99-2C43-011A7D9D3406}"/>
              </a:ext>
            </a:extLst>
          </p:cNvPr>
          <p:cNvSpPr txBox="1"/>
          <p:nvPr/>
        </p:nvSpPr>
        <p:spPr>
          <a:xfrm>
            <a:off x="222637" y="825283"/>
            <a:ext cx="8022866" cy="1508105"/>
          </a:xfrm>
          <a:prstGeom prst="rect">
            <a:avLst/>
          </a:prstGeom>
          <a:noFill/>
        </p:spPr>
        <p:txBody>
          <a:bodyPr wrap="square">
            <a:spAutoFit/>
          </a:bodyPr>
          <a:lstStyle/>
          <a:p>
            <a:pPr>
              <a:buNone/>
            </a:pPr>
            <a:r>
              <a:rPr lang="en-GB" sz="2000" b="1" dirty="0"/>
              <a:t>Stock Prices</a:t>
            </a:r>
            <a:endParaRPr lang="en-GB" sz="2000" dirty="0"/>
          </a:p>
          <a:p>
            <a:r>
              <a:rPr lang="en-GB" sz="2000" dirty="0"/>
              <a:t>Financial data points like opening price, closing price, volume, etc., recorded every minute/hour/day.</a:t>
            </a:r>
          </a:p>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168640DB-0337-ED91-2EF2-3FE6299C1DFE}"/>
              </a:ext>
            </a:extLst>
          </p:cNvPr>
          <p:cNvSpPr txBox="1"/>
          <p:nvPr/>
        </p:nvSpPr>
        <p:spPr>
          <a:xfrm>
            <a:off x="1202635" y="1986974"/>
            <a:ext cx="4647536" cy="1169551"/>
          </a:xfrm>
          <a:prstGeom prst="rect">
            <a:avLst/>
          </a:prstGeom>
          <a:solidFill>
            <a:schemeClr val="accent5">
              <a:lumMod val="40000"/>
              <a:lumOff val="60000"/>
            </a:schemeClr>
          </a:solidFill>
        </p:spPr>
        <p:txBody>
          <a:bodyPr wrap="square">
            <a:spAutoFit/>
          </a:bodyPr>
          <a:lstStyle/>
          <a:p>
            <a:r>
              <a:rPr lang="en-US" dirty="0"/>
              <a:t>Date       | Close Price</a:t>
            </a:r>
          </a:p>
          <a:p>
            <a:r>
              <a:rPr lang="en-US" dirty="0"/>
              <a:t>-----------|-------------</a:t>
            </a:r>
          </a:p>
          <a:p>
            <a:r>
              <a:rPr lang="en-US" dirty="0"/>
              <a:t>2024-01-01 | $150.30</a:t>
            </a:r>
          </a:p>
          <a:p>
            <a:r>
              <a:rPr lang="en-US" dirty="0"/>
              <a:t>2024-01-02 | $151.20</a:t>
            </a:r>
          </a:p>
          <a:p>
            <a:r>
              <a:rPr lang="en-US" dirty="0"/>
              <a:t>2024-01-03 | $148.70</a:t>
            </a:r>
          </a:p>
        </p:txBody>
      </p:sp>
      <p:sp>
        <p:nvSpPr>
          <p:cNvPr id="9" name="TextBox 8">
            <a:extLst>
              <a:ext uri="{FF2B5EF4-FFF2-40B4-BE49-F238E27FC236}">
                <a16:creationId xmlns:a16="http://schemas.microsoft.com/office/drawing/2014/main" id="{2EC370DF-8E2C-918F-9D11-2267E9613E94}"/>
              </a:ext>
            </a:extLst>
          </p:cNvPr>
          <p:cNvSpPr txBox="1"/>
          <p:nvPr/>
        </p:nvSpPr>
        <p:spPr>
          <a:xfrm>
            <a:off x="1202635" y="3439532"/>
            <a:ext cx="4498347" cy="338554"/>
          </a:xfrm>
          <a:prstGeom prst="rect">
            <a:avLst/>
          </a:prstGeom>
          <a:noFill/>
        </p:spPr>
        <p:txBody>
          <a:bodyPr wrap="none" rtlCol="0">
            <a:spAutoFit/>
          </a:bodyPr>
          <a:lstStyle/>
          <a:p>
            <a:r>
              <a:rPr lang="en-US" sz="1600" dirty="0"/>
              <a:t>Used for </a:t>
            </a:r>
            <a:r>
              <a:rPr lang="en-GB" sz="1600" b="1" dirty="0"/>
              <a:t>Prediction</a:t>
            </a:r>
            <a:r>
              <a:rPr lang="en-GB" sz="1600" dirty="0"/>
              <a:t>: Forecasting future values </a:t>
            </a:r>
            <a:endParaRPr lang="en-US" sz="1600" dirty="0"/>
          </a:p>
        </p:txBody>
      </p:sp>
    </p:spTree>
    <p:extLst>
      <p:ext uri="{BB962C8B-B14F-4D97-AF65-F5344CB8AC3E}">
        <p14:creationId xmlns:p14="http://schemas.microsoft.com/office/powerpoint/2010/main" val="3060486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6AABA32-1B09-EA12-EE75-4BE26FA61EC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DFEC7BC-919C-5827-B5EE-52D230174A7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Speech Data: Waveforms and Spectrograms</a:t>
            </a:r>
            <a:br>
              <a:rPr lang="en-GB" sz="3200" b="1" dirty="0"/>
            </a:b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17A9FA0-86DC-3728-FCAB-C17D604F9BC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3C98014-BCCB-87B2-8463-F0011AF6AD8A}"/>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FDC0BB00-E8C3-42C2-C2EB-1CA14A421944}"/>
              </a:ext>
            </a:extLst>
          </p:cNvPr>
          <p:cNvSpPr txBox="1"/>
          <p:nvPr/>
        </p:nvSpPr>
        <p:spPr>
          <a:xfrm>
            <a:off x="341906" y="546070"/>
            <a:ext cx="7800229" cy="4278094"/>
          </a:xfrm>
          <a:prstGeom prst="rect">
            <a:avLst/>
          </a:prstGeom>
          <a:noFill/>
        </p:spPr>
        <p:txBody>
          <a:bodyPr wrap="square">
            <a:spAutoFit/>
          </a:bodyPr>
          <a:lstStyle/>
          <a:p>
            <a:pPr>
              <a:buNone/>
            </a:pPr>
            <a:r>
              <a:rPr lang="en-GB" sz="1600" b="1" dirty="0"/>
              <a:t>What Is Speech Data?</a:t>
            </a:r>
          </a:p>
          <a:p>
            <a:pPr>
              <a:buNone/>
            </a:pPr>
            <a:r>
              <a:rPr lang="en-GB" sz="1600" dirty="0"/>
              <a:t>Speech is an audio signal a time series representing the air pressure variations over time. When captured digitally, it's stored as a waveform, typically in formats like .wav, .mp3, etc.</a:t>
            </a:r>
          </a:p>
          <a:p>
            <a:pPr>
              <a:buNone/>
            </a:pPr>
            <a:r>
              <a:rPr lang="en-GB" sz="1600" b="1" dirty="0"/>
              <a:t>Waveform-</a:t>
            </a:r>
            <a:r>
              <a:rPr lang="en-GB" sz="1600" dirty="0"/>
              <a:t>A </a:t>
            </a:r>
            <a:r>
              <a:rPr lang="en-GB" sz="1600" b="1" dirty="0"/>
              <a:t>waveform</a:t>
            </a:r>
            <a:r>
              <a:rPr lang="en-GB" sz="1600" dirty="0"/>
              <a:t> is a raw audio signal: a one-dimensional sequence of amplitude values sampled over time.</a:t>
            </a:r>
          </a:p>
          <a:p>
            <a:r>
              <a:rPr lang="en-GB" sz="1600" dirty="0"/>
              <a:t>Example: x(t) = [0.0, 0.2, -0.1, ...] (values sampled at 16,000 Hz or 44,100 Hz).</a:t>
            </a:r>
          </a:p>
          <a:p>
            <a:pPr>
              <a:buNone/>
            </a:pPr>
            <a:r>
              <a:rPr lang="en-GB" sz="1600" dirty="0"/>
              <a:t> </a:t>
            </a:r>
            <a:r>
              <a:rPr lang="en-GB" sz="1600" b="1" dirty="0"/>
              <a:t>Use case</a:t>
            </a:r>
            <a:r>
              <a:rPr lang="en-GB" sz="1600" dirty="0"/>
              <a:t>: Used in raw audio processing like speech enhancement or recognition.</a:t>
            </a:r>
          </a:p>
          <a:p>
            <a:pPr>
              <a:buNone/>
            </a:pPr>
            <a:r>
              <a:rPr lang="en-GB" sz="1600" b="1" dirty="0"/>
              <a:t>Spectrogram-</a:t>
            </a:r>
            <a:r>
              <a:rPr lang="en-GB" sz="1600" dirty="0"/>
              <a:t>A </a:t>
            </a:r>
            <a:r>
              <a:rPr lang="en-GB" sz="1600" b="1" dirty="0"/>
              <a:t>spectrogram</a:t>
            </a:r>
            <a:r>
              <a:rPr lang="en-GB" sz="1600" dirty="0"/>
              <a:t> is a </a:t>
            </a:r>
            <a:r>
              <a:rPr lang="en-GB" sz="1600" b="1" dirty="0"/>
              <a:t>visual representation</a:t>
            </a:r>
            <a:r>
              <a:rPr lang="en-GB" sz="1600" dirty="0"/>
              <a:t> of the spectrum of frequencies over time.</a:t>
            </a:r>
          </a:p>
          <a:p>
            <a:pPr marL="285750" indent="-285750">
              <a:buFont typeface="Wingdings" pitchFamily="2" charset="2"/>
              <a:buChar char="Ø"/>
            </a:pPr>
            <a:r>
              <a:rPr lang="en-GB" sz="1600" dirty="0"/>
              <a:t>It’s derived from a waveform using a </a:t>
            </a:r>
            <a:r>
              <a:rPr lang="en-GB" sz="1600" b="1" dirty="0"/>
              <a:t>Short-Time Fourier Transform (STFT)</a:t>
            </a:r>
            <a:r>
              <a:rPr lang="en-GB" sz="1600" dirty="0"/>
              <a:t>.</a:t>
            </a:r>
          </a:p>
          <a:p>
            <a:pPr marL="285750" indent="-285750">
              <a:buFont typeface="Wingdings" pitchFamily="2" charset="2"/>
              <a:buChar char="Ø"/>
            </a:pPr>
            <a:r>
              <a:rPr lang="en-GB" sz="1600" dirty="0"/>
              <a:t>It captures:</a:t>
            </a:r>
          </a:p>
          <a:p>
            <a:pPr marL="800100" lvl="1" indent="-342900">
              <a:buFont typeface="+mj-lt"/>
              <a:buAutoNum type="arabicPeriod"/>
            </a:pPr>
            <a:r>
              <a:rPr lang="en-GB" sz="1600" b="1" dirty="0"/>
              <a:t>Time</a:t>
            </a:r>
            <a:r>
              <a:rPr lang="en-GB" sz="1600" dirty="0"/>
              <a:t> (x-axis)</a:t>
            </a:r>
          </a:p>
          <a:p>
            <a:pPr marL="800100" lvl="1" indent="-342900">
              <a:buFont typeface="+mj-lt"/>
              <a:buAutoNum type="arabicPeriod"/>
            </a:pPr>
            <a:r>
              <a:rPr lang="en-GB" sz="1600" b="1" dirty="0"/>
              <a:t>Frequency</a:t>
            </a:r>
            <a:r>
              <a:rPr lang="en-GB" sz="1600" dirty="0"/>
              <a:t> (y-axis)</a:t>
            </a:r>
          </a:p>
          <a:p>
            <a:pPr marL="800100" lvl="1" indent="-342900">
              <a:buFont typeface="+mj-lt"/>
              <a:buAutoNum type="arabicPeriod"/>
            </a:pPr>
            <a:r>
              <a:rPr lang="en-GB" sz="1600" b="1" dirty="0"/>
              <a:t>Amplitude (energy)</a:t>
            </a:r>
            <a:r>
              <a:rPr lang="en-GB" sz="1600" dirty="0"/>
              <a:t> (</a:t>
            </a:r>
            <a:r>
              <a:rPr lang="en-GB" sz="1600" dirty="0" err="1"/>
              <a:t>color</a:t>
            </a:r>
            <a:r>
              <a:rPr lang="en-GB" sz="1600" dirty="0"/>
              <a:t> intensity)</a:t>
            </a:r>
          </a:p>
          <a:p>
            <a:r>
              <a:rPr lang="en-GB" sz="1600" b="1" dirty="0"/>
              <a:t>Use case</a:t>
            </a:r>
            <a:r>
              <a:rPr lang="en-GB" sz="1600" dirty="0"/>
              <a:t>: Deep learning models (like CNNs) often use spectrograms to classify audio signals, detect emotions, or recognize spoken words.</a:t>
            </a:r>
          </a:p>
        </p:txBody>
      </p:sp>
    </p:spTree>
    <p:extLst>
      <p:ext uri="{BB962C8B-B14F-4D97-AF65-F5344CB8AC3E}">
        <p14:creationId xmlns:p14="http://schemas.microsoft.com/office/powerpoint/2010/main" val="2504053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8825A1C-E5BB-B5BC-22E9-80593C39E9F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6C1496D-36B8-0776-600F-72B1A84850D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Text Data: Character/Word Sequences</a:t>
            </a:r>
            <a:br>
              <a:rPr lang="en-GB" sz="3200" b="1" dirty="0"/>
            </a:br>
            <a:br>
              <a:rPr lang="en-GB" sz="3200" b="1" dirty="0"/>
            </a:b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A5DBE03-400B-B975-7F09-61B755550FA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9BB1A7C-CAFC-AD46-64FB-7B1A952F224B}"/>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DB3031BC-A4B2-137E-C54C-EFDEA6167BB0}"/>
              </a:ext>
            </a:extLst>
          </p:cNvPr>
          <p:cNvSpPr txBox="1"/>
          <p:nvPr/>
        </p:nvSpPr>
        <p:spPr>
          <a:xfrm>
            <a:off x="341906" y="713964"/>
            <a:ext cx="7800229" cy="4524315"/>
          </a:xfrm>
          <a:prstGeom prst="rect">
            <a:avLst/>
          </a:prstGeom>
          <a:noFill/>
        </p:spPr>
        <p:txBody>
          <a:bodyPr wrap="square">
            <a:spAutoFit/>
          </a:bodyPr>
          <a:lstStyle/>
          <a:p>
            <a:pPr>
              <a:buNone/>
            </a:pPr>
            <a:r>
              <a:rPr lang="en-GB" sz="1600" b="1" dirty="0"/>
              <a:t>What Is Text Data?</a:t>
            </a:r>
          </a:p>
          <a:p>
            <a:pPr>
              <a:buNone/>
            </a:pPr>
            <a:r>
              <a:rPr lang="en-GB" sz="1600" dirty="0"/>
              <a:t>Text is a sequence of tokens — these tokens can be characters, words, or </a:t>
            </a:r>
            <a:r>
              <a:rPr lang="en-GB" sz="1600" dirty="0" err="1"/>
              <a:t>subword</a:t>
            </a:r>
            <a:r>
              <a:rPr lang="en-GB" sz="1600" dirty="0"/>
              <a:t> units (like in BERT or GPT models).</a:t>
            </a:r>
          </a:p>
          <a:p>
            <a:pPr>
              <a:buNone/>
            </a:pPr>
            <a:r>
              <a:rPr lang="en-GB" sz="1600" b="1" dirty="0"/>
              <a:t>Character Sequences</a:t>
            </a:r>
          </a:p>
          <a:p>
            <a:pPr marL="285750" indent="-285750">
              <a:buFont typeface="Wingdings" pitchFamily="2" charset="2"/>
              <a:buChar char="Ø"/>
            </a:pPr>
            <a:r>
              <a:rPr lang="en-GB" sz="1600" dirty="0"/>
              <a:t>Each </a:t>
            </a:r>
            <a:r>
              <a:rPr lang="en-GB" sz="1600" b="1" dirty="0"/>
              <a:t>character</a:t>
            </a:r>
            <a:r>
              <a:rPr lang="en-GB" sz="1600" dirty="0"/>
              <a:t> is treated as a token.</a:t>
            </a:r>
          </a:p>
          <a:p>
            <a:pPr marL="285750" indent="-285750">
              <a:buFont typeface="Wingdings" pitchFamily="2" charset="2"/>
              <a:buChar char="Ø"/>
            </a:pPr>
            <a:r>
              <a:rPr lang="en-GB" sz="1600" dirty="0"/>
              <a:t>Example: "hello" → ['h', 'e', 'l', 'l', 'o']</a:t>
            </a:r>
          </a:p>
          <a:p>
            <a:pPr marL="285750" indent="-285750">
              <a:buFont typeface="Wingdings" pitchFamily="2" charset="2"/>
              <a:buChar char="Ø"/>
            </a:pPr>
            <a:r>
              <a:rPr lang="en-GB" sz="1600" dirty="0"/>
              <a:t>Useful for:</a:t>
            </a:r>
          </a:p>
          <a:p>
            <a:pPr marL="800100" lvl="1" indent="-342900">
              <a:buFont typeface="+mj-lt"/>
              <a:buAutoNum type="arabicPeriod"/>
            </a:pPr>
            <a:r>
              <a:rPr lang="en-GB" sz="1600" dirty="0"/>
              <a:t>Language </a:t>
            </a:r>
            <a:r>
              <a:rPr lang="en-GB" sz="1600" dirty="0" err="1"/>
              <a:t>modeling</a:t>
            </a:r>
            <a:r>
              <a:rPr lang="en-GB" sz="1600" dirty="0"/>
              <a:t> (predict the next character)</a:t>
            </a:r>
          </a:p>
          <a:p>
            <a:pPr marL="800100" lvl="1" indent="-342900">
              <a:buFont typeface="+mj-lt"/>
              <a:buAutoNum type="arabicPeriod"/>
            </a:pPr>
            <a:r>
              <a:rPr lang="en-GB" sz="1600" dirty="0"/>
              <a:t>Spell correction</a:t>
            </a:r>
          </a:p>
          <a:p>
            <a:pPr marL="800100" lvl="1" indent="-342900">
              <a:buFont typeface="+mj-lt"/>
              <a:buAutoNum type="arabicPeriod"/>
            </a:pPr>
            <a:r>
              <a:rPr lang="en-GB" sz="1600" dirty="0"/>
              <a:t>Text generation</a:t>
            </a:r>
          </a:p>
          <a:p>
            <a:pPr>
              <a:buNone/>
            </a:pPr>
            <a:r>
              <a:rPr lang="en-GB" sz="1600" b="1" dirty="0"/>
              <a:t>Word Sequences</a:t>
            </a:r>
          </a:p>
          <a:p>
            <a:pPr marL="285750" indent="-285750">
              <a:buFont typeface="Wingdings" pitchFamily="2" charset="2"/>
              <a:buChar char="Ø"/>
            </a:pPr>
            <a:r>
              <a:rPr lang="en-GB" sz="1600" dirty="0"/>
              <a:t>Each </a:t>
            </a:r>
            <a:r>
              <a:rPr lang="en-GB" sz="1600" b="1" dirty="0"/>
              <a:t>word</a:t>
            </a:r>
            <a:r>
              <a:rPr lang="en-GB" sz="1600" dirty="0"/>
              <a:t> is a token.</a:t>
            </a:r>
          </a:p>
          <a:p>
            <a:pPr marL="285750" indent="-285750">
              <a:buFont typeface="Wingdings" pitchFamily="2" charset="2"/>
              <a:buChar char="Ø"/>
            </a:pPr>
            <a:r>
              <a:rPr lang="en-GB" sz="1600" dirty="0"/>
              <a:t>Example: "I love AI" → ['I', 'love', 'AI']</a:t>
            </a:r>
          </a:p>
          <a:p>
            <a:pPr marL="285750" indent="-285750">
              <a:buFont typeface="Wingdings" pitchFamily="2" charset="2"/>
              <a:buChar char="Ø"/>
            </a:pPr>
            <a:r>
              <a:rPr lang="en-GB" sz="1600" dirty="0"/>
              <a:t>Used in:</a:t>
            </a:r>
          </a:p>
          <a:p>
            <a:pPr marL="800100" lvl="1" indent="-342900">
              <a:buFont typeface="+mj-lt"/>
              <a:buAutoNum type="arabicPeriod"/>
            </a:pPr>
            <a:r>
              <a:rPr lang="en-GB" sz="1600" dirty="0"/>
              <a:t>Sentiment analysis</a:t>
            </a:r>
          </a:p>
          <a:p>
            <a:pPr marL="800100" lvl="1" indent="-342900">
              <a:buFont typeface="+mj-lt"/>
              <a:buAutoNum type="arabicPeriod"/>
            </a:pPr>
            <a:r>
              <a:rPr lang="en-GB" sz="1600" dirty="0"/>
              <a:t>Machine translation</a:t>
            </a:r>
          </a:p>
          <a:p>
            <a:pPr marL="800100" lvl="1" indent="-342900">
              <a:buFont typeface="+mj-lt"/>
              <a:buAutoNum type="arabicPeriod"/>
            </a:pPr>
            <a:r>
              <a:rPr lang="en-GB" sz="1600" dirty="0"/>
              <a:t>Text classification</a:t>
            </a:r>
          </a:p>
          <a:p>
            <a:pPr>
              <a:buNone/>
            </a:pPr>
            <a:endParaRPr lang="en-GB" sz="1600" dirty="0"/>
          </a:p>
        </p:txBody>
      </p:sp>
    </p:spTree>
    <p:extLst>
      <p:ext uri="{BB962C8B-B14F-4D97-AF65-F5344CB8AC3E}">
        <p14:creationId xmlns:p14="http://schemas.microsoft.com/office/powerpoint/2010/main" val="429362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7032E26-31A0-AE6A-4638-345BAF3190B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EC7A4FF-FBBB-FDF6-CB6F-79DF23BF43A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Text Data: Character/Word Sequences</a:t>
            </a:r>
            <a:br>
              <a:rPr lang="en-GB" sz="3200" b="1" dirty="0"/>
            </a:br>
            <a:br>
              <a:rPr lang="en-GB" sz="3200" b="1" dirty="0"/>
            </a:b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4E489A8-27C4-DB18-15BD-1E42B5C3645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F2ED181-D21C-9E64-82F6-E383E75FD31E}"/>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D5A5D1E8-69E5-FF62-8E28-C42A90066389}"/>
              </a:ext>
            </a:extLst>
          </p:cNvPr>
          <p:cNvSpPr txBox="1"/>
          <p:nvPr/>
        </p:nvSpPr>
        <p:spPr>
          <a:xfrm>
            <a:off x="341907" y="713964"/>
            <a:ext cx="6869662" cy="2800767"/>
          </a:xfrm>
          <a:prstGeom prst="rect">
            <a:avLst/>
          </a:prstGeom>
          <a:noFill/>
        </p:spPr>
        <p:txBody>
          <a:bodyPr wrap="square">
            <a:spAutoFit/>
          </a:bodyPr>
          <a:lstStyle/>
          <a:p>
            <a:pPr>
              <a:buNone/>
            </a:pPr>
            <a:r>
              <a:rPr lang="en-GB" sz="1600" b="1" dirty="0"/>
              <a:t>Encoding Text</a:t>
            </a:r>
          </a:p>
          <a:p>
            <a:pPr>
              <a:buNone/>
            </a:pPr>
            <a:r>
              <a:rPr lang="en-GB" sz="1600" dirty="0"/>
              <a:t>Before feeding text to a model, we must convert tokens into numbers:</a:t>
            </a:r>
          </a:p>
          <a:p>
            <a:pPr marL="342900" indent="-342900">
              <a:buFont typeface="+mj-lt"/>
              <a:buAutoNum type="arabicPeriod"/>
            </a:pPr>
            <a:r>
              <a:rPr lang="en-GB" sz="1600" b="1" dirty="0"/>
              <a:t>One-hot encoding</a:t>
            </a:r>
            <a:endParaRPr lang="en-GB" sz="1600" dirty="0"/>
          </a:p>
          <a:p>
            <a:pPr marL="342900" indent="-342900">
              <a:buFont typeface="+mj-lt"/>
              <a:buAutoNum type="arabicPeriod"/>
            </a:pPr>
            <a:r>
              <a:rPr lang="en-GB" sz="1600" b="1" dirty="0"/>
              <a:t>Integer encoding</a:t>
            </a:r>
            <a:endParaRPr lang="en-GB" sz="1600" dirty="0"/>
          </a:p>
          <a:p>
            <a:pPr marL="342900" indent="-342900">
              <a:buFont typeface="+mj-lt"/>
              <a:buAutoNum type="arabicPeriod"/>
            </a:pPr>
            <a:r>
              <a:rPr lang="en-GB" sz="1600" b="1" dirty="0"/>
              <a:t>Embeddings</a:t>
            </a:r>
            <a:r>
              <a:rPr lang="en-GB" sz="1600" dirty="0"/>
              <a:t> (e.g., Word2Vec, </a:t>
            </a:r>
            <a:r>
              <a:rPr lang="en-GB" sz="1600" dirty="0" err="1"/>
              <a:t>GloVe</a:t>
            </a:r>
            <a:r>
              <a:rPr lang="en-GB" sz="1600" dirty="0"/>
              <a:t>, BERT embeddings)</a:t>
            </a:r>
          </a:p>
          <a:p>
            <a:pPr>
              <a:buNone/>
            </a:pPr>
            <a:r>
              <a:rPr lang="en-GB" sz="1600" b="1" dirty="0"/>
              <a:t>RNN or Transformer for Text</a:t>
            </a:r>
          </a:p>
          <a:p>
            <a:pPr marL="342900" indent="-342900">
              <a:buFont typeface="+mj-lt"/>
              <a:buAutoNum type="arabicPeriod"/>
            </a:pPr>
            <a:r>
              <a:rPr lang="en-GB" sz="1600" dirty="0"/>
              <a:t>Text sequences are input to RNNs, LSTMs, or Transformers to capture dependencies.</a:t>
            </a:r>
          </a:p>
          <a:p>
            <a:pPr marL="342900" indent="-342900">
              <a:buFont typeface="+mj-lt"/>
              <a:buAutoNum type="arabicPeriod"/>
            </a:pPr>
            <a:r>
              <a:rPr lang="en-GB" sz="1600" dirty="0"/>
              <a:t>These models learn how previous words (or characters) influence future ones.</a:t>
            </a:r>
          </a:p>
          <a:p>
            <a:pPr>
              <a:buNone/>
            </a:pPr>
            <a:endParaRPr lang="en-GB" sz="1600" dirty="0"/>
          </a:p>
        </p:txBody>
      </p:sp>
      <p:graphicFrame>
        <p:nvGraphicFramePr>
          <p:cNvPr id="2" name="Table 1">
            <a:extLst>
              <a:ext uri="{FF2B5EF4-FFF2-40B4-BE49-F238E27FC236}">
                <a16:creationId xmlns:a16="http://schemas.microsoft.com/office/drawing/2014/main" id="{CF18FDC2-07D1-9A8F-925F-4F9C1D5A5EC0}"/>
              </a:ext>
            </a:extLst>
          </p:cNvPr>
          <p:cNvGraphicFramePr>
            <a:graphicFrameLocks noGrp="1"/>
          </p:cNvGraphicFramePr>
          <p:nvPr>
            <p:extLst>
              <p:ext uri="{D42A27DB-BD31-4B8C-83A1-F6EECF244321}">
                <p14:modId xmlns:p14="http://schemas.microsoft.com/office/powerpoint/2010/main" val="1119579916"/>
              </p:ext>
            </p:extLst>
          </p:nvPr>
        </p:nvGraphicFramePr>
        <p:xfrm>
          <a:off x="407175" y="3289604"/>
          <a:ext cx="7779555" cy="1432560"/>
        </p:xfrm>
        <a:graphic>
          <a:graphicData uri="http://schemas.openxmlformats.org/drawingml/2006/table">
            <a:tbl>
              <a:tblPr>
                <a:tableStyleId>{35758FB7-9AC5-4552-8A53-C91805E547FA}</a:tableStyleId>
              </a:tblPr>
              <a:tblGrid>
                <a:gridCol w="1520242">
                  <a:extLst>
                    <a:ext uri="{9D8B030D-6E8A-4147-A177-3AD203B41FA5}">
                      <a16:colId xmlns:a16="http://schemas.microsoft.com/office/drawing/2014/main" val="663853913"/>
                    </a:ext>
                  </a:extLst>
                </a:gridCol>
                <a:gridCol w="1725183">
                  <a:extLst>
                    <a:ext uri="{9D8B030D-6E8A-4147-A177-3AD203B41FA5}">
                      <a16:colId xmlns:a16="http://schemas.microsoft.com/office/drawing/2014/main" val="304572829"/>
                    </a:ext>
                  </a:extLst>
                </a:gridCol>
                <a:gridCol w="1374581">
                  <a:extLst>
                    <a:ext uri="{9D8B030D-6E8A-4147-A177-3AD203B41FA5}">
                      <a16:colId xmlns:a16="http://schemas.microsoft.com/office/drawing/2014/main" val="1542168480"/>
                    </a:ext>
                  </a:extLst>
                </a:gridCol>
                <a:gridCol w="3159549">
                  <a:extLst>
                    <a:ext uri="{9D8B030D-6E8A-4147-A177-3AD203B41FA5}">
                      <a16:colId xmlns:a16="http://schemas.microsoft.com/office/drawing/2014/main" val="2801448863"/>
                    </a:ext>
                  </a:extLst>
                </a:gridCol>
              </a:tblGrid>
              <a:tr h="0">
                <a:tc>
                  <a:txBody>
                    <a:bodyPr/>
                    <a:lstStyle/>
                    <a:p>
                      <a:r>
                        <a:rPr lang="en-GB" b="1"/>
                        <a:t>Data Type</a:t>
                      </a:r>
                    </a:p>
                  </a:txBody>
                  <a:tcPr anchor="ctr"/>
                </a:tc>
                <a:tc>
                  <a:txBody>
                    <a:bodyPr/>
                    <a:lstStyle/>
                    <a:p>
                      <a:r>
                        <a:rPr lang="en-GB" b="1"/>
                        <a:t>Representation</a:t>
                      </a:r>
                    </a:p>
                  </a:txBody>
                  <a:tcPr anchor="ctr"/>
                </a:tc>
                <a:tc>
                  <a:txBody>
                    <a:bodyPr/>
                    <a:lstStyle/>
                    <a:p>
                      <a:r>
                        <a:rPr lang="en-GB" b="1"/>
                        <a:t>Visualization</a:t>
                      </a:r>
                    </a:p>
                  </a:txBody>
                  <a:tcPr anchor="ctr"/>
                </a:tc>
                <a:tc>
                  <a:txBody>
                    <a:bodyPr/>
                    <a:lstStyle/>
                    <a:p>
                      <a:r>
                        <a:rPr lang="en-GB" b="1" dirty="0"/>
                        <a:t>Use Cases</a:t>
                      </a:r>
                    </a:p>
                  </a:txBody>
                  <a:tcPr anchor="ctr"/>
                </a:tc>
                <a:extLst>
                  <a:ext uri="{0D108BD9-81ED-4DB2-BD59-A6C34878D82A}">
                    <a16:rowId xmlns:a16="http://schemas.microsoft.com/office/drawing/2014/main" val="3747711449"/>
                  </a:ext>
                </a:extLst>
              </a:tr>
              <a:tr h="0">
                <a:tc>
                  <a:txBody>
                    <a:bodyPr/>
                    <a:lstStyle/>
                    <a:p>
                      <a:r>
                        <a:rPr lang="en-GB"/>
                        <a:t>Speech (raw)</a:t>
                      </a:r>
                    </a:p>
                  </a:txBody>
                  <a:tcPr anchor="ctr"/>
                </a:tc>
                <a:tc>
                  <a:txBody>
                    <a:bodyPr/>
                    <a:lstStyle/>
                    <a:p>
                      <a:r>
                        <a:rPr lang="en-GB"/>
                        <a:t>Waveform</a:t>
                      </a:r>
                    </a:p>
                  </a:txBody>
                  <a:tcPr anchor="ctr"/>
                </a:tc>
                <a:tc>
                  <a:txBody>
                    <a:bodyPr/>
                    <a:lstStyle/>
                    <a:p>
                      <a:r>
                        <a:rPr lang="en-GB"/>
                        <a:t>Line plot</a:t>
                      </a:r>
                    </a:p>
                  </a:txBody>
                  <a:tcPr anchor="ctr"/>
                </a:tc>
                <a:tc>
                  <a:txBody>
                    <a:bodyPr/>
                    <a:lstStyle/>
                    <a:p>
                      <a:r>
                        <a:rPr lang="en-GB"/>
                        <a:t>Speech-to-text, speaker ID</a:t>
                      </a:r>
                    </a:p>
                  </a:txBody>
                  <a:tcPr anchor="ctr"/>
                </a:tc>
                <a:extLst>
                  <a:ext uri="{0D108BD9-81ED-4DB2-BD59-A6C34878D82A}">
                    <a16:rowId xmlns:a16="http://schemas.microsoft.com/office/drawing/2014/main" val="2679031936"/>
                  </a:ext>
                </a:extLst>
              </a:tr>
              <a:tr h="0">
                <a:tc>
                  <a:txBody>
                    <a:bodyPr/>
                    <a:lstStyle/>
                    <a:p>
                      <a:r>
                        <a:rPr lang="en-GB"/>
                        <a:t>Speech (proc)</a:t>
                      </a:r>
                    </a:p>
                  </a:txBody>
                  <a:tcPr anchor="ctr"/>
                </a:tc>
                <a:tc>
                  <a:txBody>
                    <a:bodyPr/>
                    <a:lstStyle/>
                    <a:p>
                      <a:r>
                        <a:rPr lang="en-GB"/>
                        <a:t>Spectrogram</a:t>
                      </a:r>
                    </a:p>
                  </a:txBody>
                  <a:tcPr anchor="ctr"/>
                </a:tc>
                <a:tc>
                  <a:txBody>
                    <a:bodyPr/>
                    <a:lstStyle/>
                    <a:p>
                      <a:r>
                        <a:rPr lang="en-GB"/>
                        <a:t>Heatmap</a:t>
                      </a:r>
                    </a:p>
                  </a:txBody>
                  <a:tcPr anchor="ctr"/>
                </a:tc>
                <a:tc>
                  <a:txBody>
                    <a:bodyPr/>
                    <a:lstStyle/>
                    <a:p>
                      <a:r>
                        <a:rPr lang="en-GB"/>
                        <a:t>Emotion detection, music genre</a:t>
                      </a:r>
                    </a:p>
                  </a:txBody>
                  <a:tcPr anchor="ctr"/>
                </a:tc>
                <a:extLst>
                  <a:ext uri="{0D108BD9-81ED-4DB2-BD59-A6C34878D82A}">
                    <a16:rowId xmlns:a16="http://schemas.microsoft.com/office/drawing/2014/main" val="2182246893"/>
                  </a:ext>
                </a:extLst>
              </a:tr>
              <a:tr h="0">
                <a:tc>
                  <a:txBody>
                    <a:bodyPr/>
                    <a:lstStyle/>
                    <a:p>
                      <a:r>
                        <a:rPr lang="en-GB"/>
                        <a:t>Text</a:t>
                      </a:r>
                    </a:p>
                  </a:txBody>
                  <a:tcPr anchor="ctr"/>
                </a:tc>
                <a:tc>
                  <a:txBody>
                    <a:bodyPr/>
                    <a:lstStyle/>
                    <a:p>
                      <a:r>
                        <a:rPr lang="en-GB"/>
                        <a:t>Word/char sequence</a:t>
                      </a:r>
                    </a:p>
                  </a:txBody>
                  <a:tcPr anchor="ctr"/>
                </a:tc>
                <a:tc>
                  <a:txBody>
                    <a:bodyPr/>
                    <a:lstStyle/>
                    <a:p>
                      <a:r>
                        <a:rPr lang="en-GB"/>
                        <a:t>Token indices</a:t>
                      </a:r>
                    </a:p>
                  </a:txBody>
                  <a:tcPr anchor="ctr"/>
                </a:tc>
                <a:tc>
                  <a:txBody>
                    <a:bodyPr/>
                    <a:lstStyle/>
                    <a:p>
                      <a:r>
                        <a:rPr lang="en-GB" dirty="0"/>
                        <a:t>Translation, sentiment analysis</a:t>
                      </a:r>
                    </a:p>
                  </a:txBody>
                  <a:tcPr anchor="ctr"/>
                </a:tc>
                <a:extLst>
                  <a:ext uri="{0D108BD9-81ED-4DB2-BD59-A6C34878D82A}">
                    <a16:rowId xmlns:a16="http://schemas.microsoft.com/office/drawing/2014/main" val="961294696"/>
                  </a:ext>
                </a:extLst>
              </a:tr>
            </a:tbl>
          </a:graphicData>
        </a:graphic>
      </p:graphicFrame>
    </p:spTree>
    <p:extLst>
      <p:ext uri="{BB962C8B-B14F-4D97-AF65-F5344CB8AC3E}">
        <p14:creationId xmlns:p14="http://schemas.microsoft.com/office/powerpoint/2010/main" val="2779450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0448C31-900C-1CB4-481A-0C805C2AAD5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3A5D775-47FD-F6DD-81DC-16696A084BFC}"/>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1. Prediction (Forecasting Future Values)</a:t>
            </a: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B997F0B-969F-F6D4-B66C-611BA245434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FA6EAA1-E44E-6FBA-A184-D9404D333A14}"/>
              </a:ext>
            </a:extLst>
          </p:cNvPr>
          <p:cNvSpPr txBox="1"/>
          <p:nvPr/>
        </p:nvSpPr>
        <p:spPr>
          <a:xfrm>
            <a:off x="230588" y="594695"/>
            <a:ext cx="8022866" cy="4524315"/>
          </a:xfrm>
          <a:prstGeom prst="rect">
            <a:avLst/>
          </a:prstGeom>
          <a:noFill/>
        </p:spPr>
        <p:txBody>
          <a:bodyPr wrap="square">
            <a:spAutoFit/>
          </a:bodyPr>
          <a:lstStyle/>
          <a:p>
            <a:r>
              <a:rPr lang="en-GB" sz="1600" b="1" dirty="0"/>
              <a:t>Goal:</a:t>
            </a:r>
            <a:r>
              <a:rPr lang="en-GB" sz="1600" dirty="0"/>
              <a:t> Use past time-ordered data to predict what happens next.</a:t>
            </a:r>
          </a:p>
          <a:p>
            <a:r>
              <a:rPr lang="en-GB" sz="1600" b="1" dirty="0"/>
              <a:t>Examples:</a:t>
            </a:r>
          </a:p>
          <a:p>
            <a:r>
              <a:rPr lang="en-GB" sz="1600" b="1" dirty="0"/>
              <a:t>Weather Forecasting</a:t>
            </a:r>
            <a:br>
              <a:rPr lang="en-GB" sz="1600" dirty="0"/>
            </a:br>
            <a:r>
              <a:rPr lang="en-GB" sz="1600" dirty="0"/>
              <a:t>Using temperature, humidity, and pressure over time to predict tomorrow’s weather.</a:t>
            </a:r>
          </a:p>
          <a:p>
            <a:r>
              <a:rPr lang="en-GB" sz="1600" b="1" dirty="0"/>
              <a:t>Stock Price Forecasting</a:t>
            </a:r>
            <a:br>
              <a:rPr lang="en-GB" sz="1600" dirty="0"/>
            </a:br>
            <a:r>
              <a:rPr lang="en-GB" sz="1600" dirty="0"/>
              <a:t>Estimating future prices based on past stock values.</a:t>
            </a:r>
          </a:p>
          <a:p>
            <a:r>
              <a:rPr lang="en-GB" sz="1600" b="1" dirty="0"/>
              <a:t>Energy Demand Forecasting</a:t>
            </a:r>
            <a:br>
              <a:rPr lang="en-GB" sz="1600" dirty="0"/>
            </a:br>
            <a:r>
              <a:rPr lang="en-GB" sz="1600" dirty="0"/>
              <a:t>Predicting electricity demand to balance supply in power grids.</a:t>
            </a:r>
          </a:p>
          <a:p>
            <a:r>
              <a:rPr lang="en-GB" sz="1600" b="1" dirty="0"/>
              <a:t>Why it's important:</a:t>
            </a:r>
          </a:p>
          <a:p>
            <a:r>
              <a:rPr lang="en-GB" sz="1600" dirty="0"/>
              <a:t>Helps in </a:t>
            </a:r>
            <a:r>
              <a:rPr lang="en-GB" sz="1600" b="1" dirty="0"/>
              <a:t>decision-making</a:t>
            </a:r>
            <a:r>
              <a:rPr lang="en-GB" sz="1600" dirty="0"/>
              <a:t> (e.g., when to buy/sell stocks).</a:t>
            </a:r>
          </a:p>
          <a:p>
            <a:r>
              <a:rPr lang="en-GB" sz="1600" dirty="0"/>
              <a:t>Optimizes </a:t>
            </a:r>
            <a:r>
              <a:rPr lang="en-GB" sz="1600" b="1" dirty="0"/>
              <a:t>resource allocation</a:t>
            </a:r>
            <a:r>
              <a:rPr lang="en-GB" sz="1600" dirty="0"/>
              <a:t> (e.g., how much energy to produce).</a:t>
            </a:r>
          </a:p>
          <a:p>
            <a:r>
              <a:rPr lang="en-GB" sz="1600" dirty="0"/>
              <a:t>Prevents </a:t>
            </a:r>
            <a:r>
              <a:rPr lang="en-GB" sz="1600" b="1" dirty="0"/>
              <a:t>waste and loss</a:t>
            </a:r>
            <a:r>
              <a:rPr lang="en-GB" sz="1600" dirty="0"/>
              <a:t> (e.g., managing perishable inventory based on demand).</a:t>
            </a:r>
          </a:p>
          <a:p>
            <a:r>
              <a:rPr lang="en-GB" sz="1600" b="1" dirty="0"/>
              <a:t>Tools/Models:</a:t>
            </a:r>
          </a:p>
          <a:p>
            <a:r>
              <a:rPr lang="en-GB" sz="1600" dirty="0"/>
              <a:t>ARIMA, SARIMA</a:t>
            </a:r>
          </a:p>
          <a:p>
            <a:r>
              <a:rPr lang="en-GB" sz="1600" dirty="0"/>
              <a:t>LSTM (Long Short-Term Memory)</a:t>
            </a:r>
          </a:p>
          <a:p>
            <a:r>
              <a:rPr lang="en-GB" sz="1600" dirty="0"/>
              <a:t>Prophet (by Facebook)</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864890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1E6385A-0B16-FBFB-89C6-52B143B5AC7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DF78725-08B9-2F7E-B89A-838DB337C71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2. Anomaly Detection</a:t>
            </a: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2E976E2-74D6-7FE9-05D1-C9990BA2173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0D0E914-2D0A-5D8E-77B0-AA874C8126A3}"/>
              </a:ext>
            </a:extLst>
          </p:cNvPr>
          <p:cNvSpPr txBox="1"/>
          <p:nvPr/>
        </p:nvSpPr>
        <p:spPr>
          <a:xfrm>
            <a:off x="230588" y="594695"/>
            <a:ext cx="8022866" cy="4524315"/>
          </a:xfrm>
          <a:prstGeom prst="rect">
            <a:avLst/>
          </a:prstGeom>
          <a:noFill/>
        </p:spPr>
        <p:txBody>
          <a:bodyPr wrap="square">
            <a:spAutoFit/>
          </a:bodyPr>
          <a:lstStyle/>
          <a:p>
            <a:r>
              <a:rPr lang="en-GB" sz="1600" b="1" dirty="0"/>
              <a:t>Goal:</a:t>
            </a:r>
            <a:r>
              <a:rPr lang="en-GB" sz="1600" dirty="0"/>
              <a:t> Identify data points that deviate significantly from the norm.</a:t>
            </a:r>
          </a:p>
          <a:p>
            <a:r>
              <a:rPr lang="en-GB" sz="1600" b="1" dirty="0"/>
              <a:t>Examples:</a:t>
            </a:r>
          </a:p>
          <a:p>
            <a:r>
              <a:rPr lang="en-GB" sz="1600" b="1" dirty="0"/>
              <a:t>Faulty Sensor Detection</a:t>
            </a:r>
            <a:br>
              <a:rPr lang="en-GB" sz="1600" dirty="0"/>
            </a:br>
            <a:r>
              <a:rPr lang="en-GB" sz="1600" dirty="0"/>
              <a:t>A temperature sensor that suddenly reports 1000°C—clearly faulty.</a:t>
            </a:r>
          </a:p>
          <a:p>
            <a:r>
              <a:rPr lang="en-GB" sz="1600" b="1" dirty="0"/>
              <a:t>Network Intrusion Detection</a:t>
            </a:r>
            <a:br>
              <a:rPr lang="en-GB" sz="1600" dirty="0"/>
            </a:br>
            <a:r>
              <a:rPr lang="en-GB" sz="1600" dirty="0"/>
              <a:t>Unusual spikes in internet traffic could indicate cyberattacks.</a:t>
            </a:r>
          </a:p>
          <a:p>
            <a:r>
              <a:rPr lang="en-GB" sz="1600" b="1" dirty="0"/>
              <a:t>Healthcare Monitoring</a:t>
            </a:r>
            <a:br>
              <a:rPr lang="en-GB" sz="1600" dirty="0"/>
            </a:br>
            <a:r>
              <a:rPr lang="en-GB" sz="1600" dirty="0"/>
              <a:t>Detecting abnormal heart rates or ECG patterns in real-time.</a:t>
            </a:r>
          </a:p>
          <a:p>
            <a:r>
              <a:rPr lang="en-GB" sz="1600" b="1" dirty="0"/>
              <a:t>Why it's important:</a:t>
            </a:r>
          </a:p>
          <a:p>
            <a:r>
              <a:rPr lang="en-GB" sz="1600" dirty="0"/>
              <a:t>Prevents </a:t>
            </a:r>
            <a:r>
              <a:rPr lang="en-GB" sz="1600" b="1" dirty="0"/>
              <a:t>system failures</a:t>
            </a:r>
            <a:r>
              <a:rPr lang="en-GB" sz="1600" dirty="0"/>
              <a:t> and </a:t>
            </a:r>
            <a:r>
              <a:rPr lang="en-GB" sz="1600" b="1" dirty="0"/>
              <a:t>safety issues</a:t>
            </a:r>
            <a:r>
              <a:rPr lang="en-GB" sz="1600" dirty="0"/>
              <a:t>.</a:t>
            </a:r>
          </a:p>
          <a:p>
            <a:r>
              <a:rPr lang="en-GB" sz="1600" dirty="0"/>
              <a:t>Enables </a:t>
            </a:r>
            <a:r>
              <a:rPr lang="en-GB" sz="1600" b="1" dirty="0"/>
              <a:t>real-time alerts</a:t>
            </a:r>
            <a:r>
              <a:rPr lang="en-GB" sz="1600" dirty="0"/>
              <a:t> and </a:t>
            </a:r>
            <a:r>
              <a:rPr lang="en-GB" sz="1600" b="1" dirty="0"/>
              <a:t>preventive maintenance</a:t>
            </a:r>
            <a:r>
              <a:rPr lang="en-GB" sz="1600" dirty="0"/>
              <a:t>.</a:t>
            </a:r>
          </a:p>
          <a:p>
            <a:r>
              <a:rPr lang="en-GB" sz="1600" dirty="0"/>
              <a:t>Crucial in </a:t>
            </a:r>
            <a:r>
              <a:rPr lang="en-GB" sz="1600" b="1" dirty="0"/>
              <a:t>fraud detection</a:t>
            </a:r>
            <a:r>
              <a:rPr lang="en-GB" sz="1600" dirty="0"/>
              <a:t> in banking and finance.</a:t>
            </a:r>
          </a:p>
          <a:p>
            <a:r>
              <a:rPr lang="en-GB" sz="1600" b="1" dirty="0"/>
              <a:t>Tools/Models:</a:t>
            </a:r>
          </a:p>
          <a:p>
            <a:r>
              <a:rPr lang="en-GB" sz="1600" dirty="0"/>
              <a:t>Statistical methods (Z-score, moving average)</a:t>
            </a:r>
          </a:p>
          <a:p>
            <a:r>
              <a:rPr lang="en-GB" sz="1600" dirty="0"/>
              <a:t>Autoencoders</a:t>
            </a:r>
          </a:p>
          <a:p>
            <a:r>
              <a:rPr lang="en-GB" sz="1600" dirty="0"/>
              <a:t>Isolation Forest, One-Class SVM</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3296079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63C623-ABE7-85C8-AC39-4427F92FD96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2EDBE8F-44E1-53E6-3917-1BB54631BCE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3. Pattern Recognition</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A762344-612A-4EA6-57FC-AA690E9CDEF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B80AB3E-1FDD-5FBB-D102-AE8532119A4E}"/>
              </a:ext>
            </a:extLst>
          </p:cNvPr>
          <p:cNvSpPr txBox="1"/>
          <p:nvPr/>
        </p:nvSpPr>
        <p:spPr>
          <a:xfrm>
            <a:off x="230588" y="594695"/>
            <a:ext cx="8022866" cy="4524315"/>
          </a:xfrm>
          <a:prstGeom prst="rect">
            <a:avLst/>
          </a:prstGeom>
          <a:noFill/>
        </p:spPr>
        <p:txBody>
          <a:bodyPr wrap="square">
            <a:spAutoFit/>
          </a:bodyPr>
          <a:lstStyle/>
          <a:p>
            <a:r>
              <a:rPr lang="en-GB" sz="1600" b="1" dirty="0"/>
              <a:t>Goal:</a:t>
            </a:r>
            <a:r>
              <a:rPr lang="en-GB" sz="1600" dirty="0"/>
              <a:t> Identify </a:t>
            </a:r>
            <a:r>
              <a:rPr lang="en-GB" sz="1600" b="1" dirty="0"/>
              <a:t>regularities</a:t>
            </a:r>
            <a:r>
              <a:rPr lang="en-GB" sz="1600" dirty="0"/>
              <a:t>, such as trends or cycles, in the data.</a:t>
            </a:r>
          </a:p>
          <a:p>
            <a:r>
              <a:rPr lang="en-GB" sz="1600" b="1" dirty="0"/>
              <a:t>Types of patterns:</a:t>
            </a:r>
          </a:p>
          <a:p>
            <a:r>
              <a:rPr lang="en-GB" sz="1600" b="1" dirty="0"/>
              <a:t>Trend</a:t>
            </a:r>
            <a:r>
              <a:rPr lang="en-GB" sz="1600" dirty="0"/>
              <a:t>: Long-term increase or decrease</a:t>
            </a:r>
            <a:br>
              <a:rPr lang="en-GB" sz="1600" dirty="0"/>
            </a:br>
            <a:r>
              <a:rPr lang="en-GB" sz="1600" dirty="0"/>
              <a:t>(e.g., gradual rise in global temperatures)</a:t>
            </a:r>
          </a:p>
          <a:p>
            <a:r>
              <a:rPr lang="en-GB" sz="1600" b="1" dirty="0"/>
              <a:t>Seasonality</a:t>
            </a:r>
            <a:r>
              <a:rPr lang="en-GB" sz="1600" dirty="0"/>
              <a:t>: Repeating patterns over fixed time intervals</a:t>
            </a:r>
            <a:br>
              <a:rPr lang="en-GB" sz="1600" dirty="0"/>
            </a:br>
            <a:r>
              <a:rPr lang="en-GB" sz="1600" dirty="0"/>
              <a:t>(e.g., ice cream sales peak in summer)</a:t>
            </a:r>
          </a:p>
          <a:p>
            <a:r>
              <a:rPr lang="en-GB" sz="1600" b="1" dirty="0"/>
              <a:t>Cyclic </a:t>
            </a:r>
            <a:r>
              <a:rPr lang="en-GB" sz="1600" b="1" dirty="0" err="1"/>
              <a:t>behavior</a:t>
            </a:r>
            <a:r>
              <a:rPr lang="en-GB" sz="1600" dirty="0"/>
              <a:t>: Irregular up and down movements</a:t>
            </a:r>
            <a:br>
              <a:rPr lang="en-GB" sz="1600" dirty="0"/>
            </a:br>
            <a:r>
              <a:rPr lang="en-GB" sz="1600" dirty="0"/>
              <a:t>(e.g., economic cycles, business revenue)</a:t>
            </a:r>
          </a:p>
          <a:p>
            <a:r>
              <a:rPr lang="en-GB" sz="1600" b="1" dirty="0"/>
              <a:t>Why it's important:</a:t>
            </a:r>
          </a:p>
          <a:p>
            <a:r>
              <a:rPr lang="en-GB" sz="1600" dirty="0"/>
              <a:t>Improves </a:t>
            </a:r>
            <a:r>
              <a:rPr lang="en-GB" sz="1600" b="1" dirty="0"/>
              <a:t>strategic planning</a:t>
            </a:r>
            <a:r>
              <a:rPr lang="en-GB" sz="1600" dirty="0"/>
              <a:t> (e.g., when to launch marketing campaigns).</a:t>
            </a:r>
          </a:p>
          <a:p>
            <a:r>
              <a:rPr lang="en-GB" sz="1600" dirty="0"/>
              <a:t>Enables </a:t>
            </a:r>
            <a:r>
              <a:rPr lang="en-GB" sz="1600" b="1" dirty="0"/>
              <a:t>capacity planning</a:t>
            </a:r>
            <a:r>
              <a:rPr lang="en-GB" sz="1600" dirty="0"/>
              <a:t> (e.g., scaling up infrastructure during peak usage).</a:t>
            </a:r>
          </a:p>
          <a:p>
            <a:r>
              <a:rPr lang="en-GB" sz="1600" dirty="0"/>
              <a:t>Reveals </a:t>
            </a:r>
            <a:r>
              <a:rPr lang="en-GB" sz="1600" b="1" dirty="0"/>
              <a:t>underlying causes</a:t>
            </a:r>
            <a:r>
              <a:rPr lang="en-GB" sz="1600" dirty="0"/>
              <a:t> driving business metrics.</a:t>
            </a:r>
          </a:p>
          <a:p>
            <a:r>
              <a:rPr lang="en-GB" sz="1600" b="1" dirty="0"/>
              <a:t>Tools/Models:</a:t>
            </a:r>
          </a:p>
          <a:p>
            <a:r>
              <a:rPr lang="en-GB" sz="1600" dirty="0"/>
              <a:t>Decomposition techniques</a:t>
            </a:r>
          </a:p>
          <a:p>
            <a:r>
              <a:rPr lang="en-GB" sz="1600" dirty="0"/>
              <a:t>Fourier Transform</a:t>
            </a:r>
          </a:p>
          <a:p>
            <a:r>
              <a:rPr lang="en-GB" sz="1600" dirty="0"/>
              <a:t>Seasonal ARIMA (SARIMA)</a:t>
            </a:r>
          </a:p>
          <a:p>
            <a:br>
              <a:rPr lang="en-GB" sz="1600" dirty="0">
                <a:latin typeface="+mj-lt"/>
              </a:rPr>
            </a:b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2208450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97C4CD4-F2C2-5E98-4836-60208DD94C3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B0DFEB-C02C-4976-E0EE-C2D9808AE97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Summary</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340CD65-937A-7104-4FAE-8F4138F81CB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B8442A2-631F-92CE-810B-C96966AB0A53}"/>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graphicFrame>
        <p:nvGraphicFramePr>
          <p:cNvPr id="2" name="Table 1">
            <a:extLst>
              <a:ext uri="{FF2B5EF4-FFF2-40B4-BE49-F238E27FC236}">
                <a16:creationId xmlns:a16="http://schemas.microsoft.com/office/drawing/2014/main" id="{9A61911B-4629-0FDF-F0CD-9AF1E2F315EE}"/>
              </a:ext>
            </a:extLst>
          </p:cNvPr>
          <p:cNvGraphicFramePr>
            <a:graphicFrameLocks noGrp="1"/>
          </p:cNvGraphicFramePr>
          <p:nvPr>
            <p:extLst>
              <p:ext uri="{D42A27DB-BD31-4B8C-83A1-F6EECF244321}">
                <p14:modId xmlns:p14="http://schemas.microsoft.com/office/powerpoint/2010/main" val="3787515436"/>
              </p:ext>
            </p:extLst>
          </p:nvPr>
        </p:nvGraphicFramePr>
        <p:xfrm>
          <a:off x="597177" y="1528832"/>
          <a:ext cx="7949646" cy="1645920"/>
        </p:xfrm>
        <a:graphic>
          <a:graphicData uri="http://schemas.openxmlformats.org/drawingml/2006/table">
            <a:tbl>
              <a:tblPr>
                <a:tableStyleId>{35758FB7-9AC5-4552-8A53-C91805E547FA}</a:tableStyleId>
              </a:tblPr>
              <a:tblGrid>
                <a:gridCol w="2194613">
                  <a:extLst>
                    <a:ext uri="{9D8B030D-6E8A-4147-A177-3AD203B41FA5}">
                      <a16:colId xmlns:a16="http://schemas.microsoft.com/office/drawing/2014/main" val="3989751097"/>
                    </a:ext>
                  </a:extLst>
                </a:gridCol>
                <a:gridCol w="3105151">
                  <a:extLst>
                    <a:ext uri="{9D8B030D-6E8A-4147-A177-3AD203B41FA5}">
                      <a16:colId xmlns:a16="http://schemas.microsoft.com/office/drawing/2014/main" val="2516739990"/>
                    </a:ext>
                  </a:extLst>
                </a:gridCol>
                <a:gridCol w="2649882">
                  <a:extLst>
                    <a:ext uri="{9D8B030D-6E8A-4147-A177-3AD203B41FA5}">
                      <a16:colId xmlns:a16="http://schemas.microsoft.com/office/drawing/2014/main" val="220488723"/>
                    </a:ext>
                  </a:extLst>
                </a:gridCol>
              </a:tblGrid>
              <a:tr h="304800">
                <a:tc>
                  <a:txBody>
                    <a:bodyPr/>
                    <a:lstStyle/>
                    <a:p>
                      <a:r>
                        <a:rPr lang="en-GB" sz="1400" b="1"/>
                        <a:t>Application</a:t>
                      </a:r>
                    </a:p>
                  </a:txBody>
                  <a:tcPr anchor="ctr"/>
                </a:tc>
                <a:tc>
                  <a:txBody>
                    <a:bodyPr/>
                    <a:lstStyle/>
                    <a:p>
                      <a:r>
                        <a:rPr lang="en-GB" sz="1400" b="1"/>
                        <a:t>Description</a:t>
                      </a:r>
                    </a:p>
                  </a:txBody>
                  <a:tcPr anchor="ctr"/>
                </a:tc>
                <a:tc>
                  <a:txBody>
                    <a:bodyPr/>
                    <a:lstStyle/>
                    <a:p>
                      <a:r>
                        <a:rPr lang="en-GB" sz="1400" b="1" dirty="0"/>
                        <a:t>Example Use Case</a:t>
                      </a:r>
                    </a:p>
                  </a:txBody>
                  <a:tcPr anchor="ctr"/>
                </a:tc>
                <a:extLst>
                  <a:ext uri="{0D108BD9-81ED-4DB2-BD59-A6C34878D82A}">
                    <a16:rowId xmlns:a16="http://schemas.microsoft.com/office/drawing/2014/main" val="2344111565"/>
                  </a:ext>
                </a:extLst>
              </a:tr>
              <a:tr h="304800">
                <a:tc>
                  <a:txBody>
                    <a:bodyPr/>
                    <a:lstStyle/>
                    <a:p>
                      <a:r>
                        <a:rPr lang="en-GB" sz="1400"/>
                        <a:t>Prediction</a:t>
                      </a:r>
                    </a:p>
                  </a:txBody>
                  <a:tcPr anchor="ctr"/>
                </a:tc>
                <a:tc>
                  <a:txBody>
                    <a:bodyPr/>
                    <a:lstStyle/>
                    <a:p>
                      <a:r>
                        <a:rPr lang="en-GB" sz="1400"/>
                        <a:t>Forecasting future values</a:t>
                      </a:r>
                    </a:p>
                  </a:txBody>
                  <a:tcPr anchor="ctr"/>
                </a:tc>
                <a:tc>
                  <a:txBody>
                    <a:bodyPr/>
                    <a:lstStyle/>
                    <a:p>
                      <a:r>
                        <a:rPr lang="en-GB" sz="1400"/>
                        <a:t>Sales forecast for next quarter</a:t>
                      </a:r>
                    </a:p>
                  </a:txBody>
                  <a:tcPr anchor="ctr"/>
                </a:tc>
                <a:extLst>
                  <a:ext uri="{0D108BD9-81ED-4DB2-BD59-A6C34878D82A}">
                    <a16:rowId xmlns:a16="http://schemas.microsoft.com/office/drawing/2014/main" val="1693001493"/>
                  </a:ext>
                </a:extLst>
              </a:tr>
              <a:tr h="518160">
                <a:tc>
                  <a:txBody>
                    <a:bodyPr/>
                    <a:lstStyle/>
                    <a:p>
                      <a:r>
                        <a:rPr lang="en-GB" sz="1400" dirty="0"/>
                        <a:t>Anomaly Detection</a:t>
                      </a:r>
                    </a:p>
                  </a:txBody>
                  <a:tcPr anchor="ctr"/>
                </a:tc>
                <a:tc>
                  <a:txBody>
                    <a:bodyPr/>
                    <a:lstStyle/>
                    <a:p>
                      <a:r>
                        <a:rPr lang="en-GB" sz="1400"/>
                        <a:t>Spotting abnormal/unexpected behavior</a:t>
                      </a:r>
                    </a:p>
                  </a:txBody>
                  <a:tcPr anchor="ctr"/>
                </a:tc>
                <a:tc>
                  <a:txBody>
                    <a:bodyPr/>
                    <a:lstStyle/>
                    <a:p>
                      <a:r>
                        <a:rPr lang="en-GB" sz="1400"/>
                        <a:t>Identifying equipment failures</a:t>
                      </a:r>
                    </a:p>
                  </a:txBody>
                  <a:tcPr anchor="ctr"/>
                </a:tc>
                <a:extLst>
                  <a:ext uri="{0D108BD9-81ED-4DB2-BD59-A6C34878D82A}">
                    <a16:rowId xmlns:a16="http://schemas.microsoft.com/office/drawing/2014/main" val="2316393495"/>
                  </a:ext>
                </a:extLst>
              </a:tr>
              <a:tr h="518160">
                <a:tc>
                  <a:txBody>
                    <a:bodyPr/>
                    <a:lstStyle/>
                    <a:p>
                      <a:r>
                        <a:rPr lang="en-GB" sz="1400"/>
                        <a:t>Pattern Recognition</a:t>
                      </a:r>
                    </a:p>
                  </a:txBody>
                  <a:tcPr anchor="ctr"/>
                </a:tc>
                <a:tc>
                  <a:txBody>
                    <a:bodyPr/>
                    <a:lstStyle/>
                    <a:p>
                      <a:r>
                        <a:rPr lang="en-GB" sz="1400"/>
                        <a:t>Recognizing trends and seasonality</a:t>
                      </a:r>
                    </a:p>
                  </a:txBody>
                  <a:tcPr anchor="ctr"/>
                </a:tc>
                <a:tc>
                  <a:txBody>
                    <a:bodyPr/>
                    <a:lstStyle/>
                    <a:p>
                      <a:r>
                        <a:rPr lang="en-GB" sz="1400" dirty="0"/>
                        <a:t>Tracking COVID-19 spread over time</a:t>
                      </a:r>
                    </a:p>
                  </a:txBody>
                  <a:tcPr anchor="ctr"/>
                </a:tc>
                <a:extLst>
                  <a:ext uri="{0D108BD9-81ED-4DB2-BD59-A6C34878D82A}">
                    <a16:rowId xmlns:a16="http://schemas.microsoft.com/office/drawing/2014/main" val="554103388"/>
                  </a:ext>
                </a:extLst>
              </a:tr>
            </a:tbl>
          </a:graphicData>
        </a:graphic>
      </p:graphicFrame>
    </p:spTree>
    <p:extLst>
      <p:ext uri="{BB962C8B-B14F-4D97-AF65-F5344CB8AC3E}">
        <p14:creationId xmlns:p14="http://schemas.microsoft.com/office/powerpoint/2010/main" val="1221724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6486320-E37B-183C-6394-E8CE1350B96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2726DB-2E18-0D1F-A873-B73D491E751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Feedforward vs. Recurrent Networks</a:t>
            </a:r>
            <a:br>
              <a:rPr lang="en-GB" sz="3200" b="1" dirty="0"/>
            </a:b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6744A5F-0E5F-1134-3843-0D78D098A67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87BB636-4CEC-2985-58E4-65F87966C7EA}"/>
              </a:ext>
            </a:extLst>
          </p:cNvPr>
          <p:cNvSpPr txBox="1"/>
          <p:nvPr/>
        </p:nvSpPr>
        <p:spPr>
          <a:xfrm>
            <a:off x="169628" y="713964"/>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6" name="TextBox 5">
            <a:extLst>
              <a:ext uri="{FF2B5EF4-FFF2-40B4-BE49-F238E27FC236}">
                <a16:creationId xmlns:a16="http://schemas.microsoft.com/office/drawing/2014/main" id="{8AAA4F57-5F76-CA6B-1DEF-541B0AC7DDDF}"/>
              </a:ext>
            </a:extLst>
          </p:cNvPr>
          <p:cNvSpPr txBox="1"/>
          <p:nvPr/>
        </p:nvSpPr>
        <p:spPr>
          <a:xfrm>
            <a:off x="289293" y="802035"/>
            <a:ext cx="8447532" cy="3539430"/>
          </a:xfrm>
          <a:prstGeom prst="rect">
            <a:avLst/>
          </a:prstGeom>
          <a:noFill/>
        </p:spPr>
        <p:txBody>
          <a:bodyPr wrap="square">
            <a:spAutoFit/>
          </a:bodyPr>
          <a:lstStyle/>
          <a:p>
            <a:pPr>
              <a:buNone/>
            </a:pPr>
            <a:r>
              <a:rPr lang="en-GB" b="1" dirty="0"/>
              <a:t>1.1 Feedforward Neural Networks (FFNs)</a:t>
            </a:r>
          </a:p>
          <a:p>
            <a:pPr marL="285750" indent="-285750">
              <a:buFont typeface="Wingdings" pitchFamily="2" charset="2"/>
              <a:buChar char="ü"/>
            </a:pPr>
            <a:r>
              <a:rPr lang="en-GB" dirty="0"/>
              <a:t>In an FFN, data flows only in one direction: from input to output.</a:t>
            </a:r>
          </a:p>
          <a:p>
            <a:pPr marL="285750" indent="-285750">
              <a:buFont typeface="Wingdings" pitchFamily="2" charset="2"/>
              <a:buChar char="ü"/>
            </a:pPr>
            <a:r>
              <a:rPr lang="en-GB" dirty="0"/>
              <a:t>Each input is processed independently — no memory of past inputs.</a:t>
            </a:r>
          </a:p>
          <a:p>
            <a:pPr marL="285750" indent="-285750">
              <a:buFont typeface="Wingdings" pitchFamily="2" charset="2"/>
              <a:buChar char="ü"/>
            </a:pPr>
            <a:r>
              <a:rPr lang="en-GB" dirty="0"/>
              <a:t>Typically used for classification, regression, etc.</a:t>
            </a:r>
          </a:p>
          <a:p>
            <a:pPr>
              <a:buNone/>
            </a:pPr>
            <a:r>
              <a:rPr lang="en-GB" b="1" dirty="0"/>
              <a:t>Limitation:</a:t>
            </a:r>
          </a:p>
          <a:p>
            <a:pPr marL="342900" indent="-342900">
              <a:buFont typeface="+mj-lt"/>
              <a:buAutoNum type="arabicPeriod"/>
            </a:pPr>
            <a:r>
              <a:rPr lang="en-GB" dirty="0"/>
              <a:t>FFNs expect fixed-size inputs, e.g., an image of 28×28 pixels or a vector of 100 features.</a:t>
            </a:r>
          </a:p>
          <a:p>
            <a:pPr marL="342900" indent="-342900">
              <a:buFont typeface="+mj-lt"/>
              <a:buAutoNum type="arabicPeriod"/>
            </a:pPr>
            <a:r>
              <a:rPr lang="en-GB" dirty="0"/>
              <a:t>Cannot naturally model sequences like text or time series.</a:t>
            </a:r>
          </a:p>
          <a:p>
            <a:pPr>
              <a:buNone/>
            </a:pPr>
            <a:r>
              <a:rPr lang="en-GB" b="1" dirty="0"/>
              <a:t>1.2 Recurrent Neural Networks (RNNs)</a:t>
            </a:r>
          </a:p>
          <a:p>
            <a:pPr marL="285750" indent="-285750">
              <a:buFont typeface="Wingdings" pitchFamily="2" charset="2"/>
              <a:buChar char="ü"/>
            </a:pPr>
            <a:r>
              <a:rPr lang="en-GB" dirty="0"/>
              <a:t>RNNs are designed to handle sequential data.</a:t>
            </a:r>
          </a:p>
          <a:p>
            <a:pPr marL="285750" indent="-285750">
              <a:buFont typeface="Wingdings" pitchFamily="2" charset="2"/>
              <a:buChar char="ü"/>
            </a:pPr>
            <a:r>
              <a:rPr lang="en-GB" dirty="0"/>
              <a:t>They maintain a hidden state that evolves over time, capturing past context.</a:t>
            </a:r>
          </a:p>
          <a:p>
            <a:pPr>
              <a:buNone/>
            </a:pPr>
            <a:r>
              <a:rPr lang="en-GB" b="1" dirty="0"/>
              <a:t>Key Features:</a:t>
            </a:r>
          </a:p>
          <a:p>
            <a:pPr>
              <a:buFont typeface="+mj-lt"/>
              <a:buAutoNum type="arabicPeriod"/>
            </a:pPr>
            <a:r>
              <a:rPr lang="en-GB" b="1" dirty="0"/>
              <a:t>Parameter Sharing</a:t>
            </a:r>
            <a:r>
              <a:rPr lang="en-GB" dirty="0"/>
              <a:t>:</a:t>
            </a:r>
          </a:p>
          <a:p>
            <a:pPr marL="742950" lvl="1" indent="-285750">
              <a:buFont typeface="+mj-lt"/>
              <a:buAutoNum type="arabicPeriod"/>
            </a:pPr>
            <a:r>
              <a:rPr lang="en-GB" dirty="0"/>
              <a:t>The same weights are used at every time step — unlike FFNs.</a:t>
            </a:r>
          </a:p>
          <a:p>
            <a:pPr marL="742950" lvl="1" indent="-285750">
              <a:buFont typeface="+mj-lt"/>
              <a:buAutoNum type="arabicPeriod"/>
            </a:pPr>
            <a:r>
              <a:rPr lang="en-GB" dirty="0"/>
              <a:t>Fewer parameters, generalizes better.</a:t>
            </a:r>
          </a:p>
          <a:p>
            <a:pPr>
              <a:buFont typeface="+mj-lt"/>
              <a:buAutoNum type="arabicPeriod"/>
            </a:pPr>
            <a:r>
              <a:rPr lang="en-GB" b="1" dirty="0"/>
              <a:t>Hidden State as Memory</a:t>
            </a:r>
            <a:r>
              <a:rPr lang="en-GB" dirty="0"/>
              <a:t>:</a:t>
            </a:r>
          </a:p>
          <a:p>
            <a:pPr marL="742950" lvl="1" indent="-285750">
              <a:buFont typeface="+mj-lt"/>
              <a:buAutoNum type="arabicPeriod"/>
            </a:pPr>
            <a:r>
              <a:rPr lang="en-GB" dirty="0"/>
              <a:t>Maintains a memory of previous inputs via the hidden state vector hₜ.</a:t>
            </a:r>
          </a:p>
        </p:txBody>
      </p:sp>
    </p:spTree>
    <p:extLst>
      <p:ext uri="{BB962C8B-B14F-4D97-AF65-F5344CB8AC3E}">
        <p14:creationId xmlns:p14="http://schemas.microsoft.com/office/powerpoint/2010/main" val="3084800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9760337-B6BD-0602-6D9D-627FD124584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048418E-1B05-59E8-CE3F-F70A69C6446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RNN Vs FFN</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0F9A69C-8A17-E621-59CA-021BD5073E4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A4D798A-A2F7-4E83-A83E-20453796ED37}"/>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sp>
        <p:nvSpPr>
          <p:cNvPr id="3" name="TextBox 2">
            <a:extLst>
              <a:ext uri="{FF2B5EF4-FFF2-40B4-BE49-F238E27FC236}">
                <a16:creationId xmlns:a16="http://schemas.microsoft.com/office/drawing/2014/main" id="{806CA520-37FD-0E8B-363E-9D8A27097BC0}"/>
              </a:ext>
            </a:extLst>
          </p:cNvPr>
          <p:cNvSpPr txBox="1"/>
          <p:nvPr/>
        </p:nvSpPr>
        <p:spPr>
          <a:xfrm>
            <a:off x="407174" y="594695"/>
            <a:ext cx="7639546" cy="4031873"/>
          </a:xfrm>
          <a:prstGeom prst="rect">
            <a:avLst/>
          </a:prstGeom>
          <a:noFill/>
        </p:spPr>
        <p:txBody>
          <a:bodyPr wrap="square">
            <a:spAutoFit/>
          </a:bodyPr>
          <a:lstStyle/>
          <a:p>
            <a:pPr algn="l">
              <a:buNone/>
            </a:pPr>
            <a:r>
              <a:rPr lang="en-GB" sz="1600" b="1" i="0" u="none" strike="noStrike" dirty="0">
                <a:solidFill>
                  <a:srgbClr val="000000"/>
                </a:solidFill>
                <a:effectLst/>
              </a:rPr>
              <a:t>Feedforward Neural Networks:</a:t>
            </a: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Structure:</a:t>
            </a:r>
            <a:r>
              <a:rPr lang="en-GB" sz="1600" b="0" i="0" u="none" strike="noStrike" dirty="0">
                <a:solidFill>
                  <a:srgbClr val="000000"/>
                </a:solidFill>
                <a:effectLst/>
              </a:rPr>
              <a:t> Consist of layers where data flows in one direction (input to output).</a:t>
            </a:r>
          </a:p>
          <a:p>
            <a:pPr marL="342900" indent="-342900" algn="l">
              <a:buFont typeface="+mj-lt"/>
              <a:buAutoNum type="arabicPeriod"/>
            </a:pPr>
            <a:r>
              <a:rPr lang="en-GB" sz="1600" b="1" i="0" u="none" strike="noStrike" dirty="0">
                <a:solidFill>
                  <a:srgbClr val="000000"/>
                </a:solidFill>
                <a:effectLst/>
              </a:rPr>
              <a:t>No Memory:</a:t>
            </a:r>
            <a:r>
              <a:rPr lang="en-GB" sz="1600" b="0" i="0" u="none" strike="noStrike" dirty="0">
                <a:solidFill>
                  <a:srgbClr val="000000"/>
                </a:solidFill>
                <a:effectLst/>
              </a:rPr>
              <a:t> Lack feedback loops or internal memory to retain past information.</a:t>
            </a:r>
          </a:p>
          <a:p>
            <a:pPr marL="342900" indent="-342900" algn="l">
              <a:buFont typeface="+mj-lt"/>
              <a:buAutoNum type="arabicPeriod"/>
            </a:pPr>
            <a:r>
              <a:rPr lang="en-GB" sz="1600" b="1" i="0" u="none" strike="noStrike" dirty="0">
                <a:solidFill>
                  <a:srgbClr val="000000"/>
                </a:solidFill>
                <a:effectLst/>
              </a:rPr>
              <a:t>Learning:</a:t>
            </a:r>
            <a:r>
              <a:rPr lang="en-GB" sz="1600" b="0" i="0" u="none" strike="noStrike" dirty="0">
                <a:solidFill>
                  <a:srgbClr val="000000"/>
                </a:solidFill>
                <a:effectLst/>
              </a:rPr>
              <a:t> Effective at learning static patterns and mapping fixed inputs to outputs.</a:t>
            </a:r>
          </a:p>
          <a:p>
            <a:pPr marL="342900" indent="-342900" algn="l">
              <a:buFont typeface="+mj-lt"/>
              <a:buAutoNum type="arabicPeriod"/>
            </a:pPr>
            <a:r>
              <a:rPr lang="en-GB" sz="1600" b="1" i="0" u="none" strike="noStrike" dirty="0">
                <a:solidFill>
                  <a:srgbClr val="000000"/>
                </a:solidFill>
                <a:effectLst/>
              </a:rPr>
              <a:t>Limitations with Sequential Data:</a:t>
            </a:r>
            <a:r>
              <a:rPr lang="en-GB" sz="1600" b="0" i="0" u="none" strike="noStrike" dirty="0">
                <a:solidFill>
                  <a:srgbClr val="000000"/>
                </a:solidFill>
                <a:effectLst/>
              </a:rPr>
              <a:t> Cannot inherently handle data where the order and temporal dependencies are important (e.g., text, speech, video).</a:t>
            </a:r>
          </a:p>
          <a:p>
            <a:pPr algn="l">
              <a:buNone/>
            </a:pPr>
            <a:r>
              <a:rPr lang="en-GB" sz="1600" b="1" i="0" u="none" strike="noStrike" dirty="0">
                <a:solidFill>
                  <a:srgbClr val="000000"/>
                </a:solidFill>
                <a:effectLst/>
              </a:rPr>
              <a:t>Recurrent Neural Networks (RNNs):</a:t>
            </a: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Structure:</a:t>
            </a:r>
            <a:r>
              <a:rPr lang="en-GB" sz="1600" b="0" i="0" u="none" strike="noStrike" dirty="0">
                <a:solidFill>
                  <a:srgbClr val="000000"/>
                </a:solidFill>
                <a:effectLst/>
              </a:rPr>
              <a:t> Designed to handle sequential or temporal data.</a:t>
            </a:r>
          </a:p>
          <a:p>
            <a:pPr marL="342900" indent="-342900" algn="l">
              <a:buFont typeface="+mj-lt"/>
              <a:buAutoNum type="arabicPeriod"/>
            </a:pPr>
            <a:r>
              <a:rPr lang="en-GB" sz="1600" b="1" i="0" u="none" strike="noStrike" dirty="0">
                <a:solidFill>
                  <a:srgbClr val="000000"/>
                </a:solidFill>
                <a:effectLst/>
              </a:rPr>
              <a:t>Memory Mechanism:</a:t>
            </a:r>
            <a:r>
              <a:rPr lang="en-GB" sz="1600" b="0" i="0" u="none" strike="noStrike" dirty="0">
                <a:solidFill>
                  <a:srgbClr val="000000"/>
                </a:solidFill>
                <a:effectLst/>
              </a:rPr>
              <a:t> Possess recurrent connections (loops) that allow them to store information from previous inputs and outputs.</a:t>
            </a:r>
          </a:p>
          <a:p>
            <a:pPr marL="342900" indent="-342900" algn="l">
              <a:buFont typeface="+mj-lt"/>
              <a:buAutoNum type="arabicPeriod"/>
            </a:pPr>
            <a:r>
              <a:rPr lang="en-GB" sz="1600" b="1" i="0" u="none" strike="noStrike" dirty="0">
                <a:solidFill>
                  <a:srgbClr val="000000"/>
                </a:solidFill>
                <a:effectLst/>
              </a:rPr>
              <a:t>Learning:</a:t>
            </a:r>
            <a:r>
              <a:rPr lang="en-GB" sz="1600" b="0" i="0" u="none" strike="noStrike" dirty="0">
                <a:solidFill>
                  <a:srgbClr val="000000"/>
                </a:solidFill>
                <a:effectLst/>
              </a:rPr>
              <a:t> Capable of learning dynamic patterns and capturing long-term dependencies and context within sequences.</a:t>
            </a:r>
          </a:p>
          <a:p>
            <a:pPr marL="342900" indent="-342900" algn="l">
              <a:buFont typeface="+mj-lt"/>
              <a:buAutoNum type="arabicPeriod"/>
            </a:pPr>
            <a:r>
              <a:rPr lang="en-GB" sz="1600" b="1" i="0" u="none" strike="noStrike" dirty="0">
                <a:solidFill>
                  <a:srgbClr val="000000"/>
                </a:solidFill>
                <a:effectLst/>
              </a:rPr>
              <a:t>Suitability for Sequential Data:</a:t>
            </a:r>
            <a:r>
              <a:rPr lang="en-GB" sz="1600" b="0" i="0" u="none" strike="noStrike" dirty="0">
                <a:solidFill>
                  <a:srgbClr val="000000"/>
                </a:solidFill>
                <a:effectLst/>
              </a:rPr>
              <a:t> Well-suited for tasks involving data where the order and relationships between elements are crucial.</a:t>
            </a:r>
          </a:p>
        </p:txBody>
      </p:sp>
    </p:spTree>
    <p:extLst>
      <p:ext uri="{BB962C8B-B14F-4D97-AF65-F5344CB8AC3E}">
        <p14:creationId xmlns:p14="http://schemas.microsoft.com/office/powerpoint/2010/main" val="2312948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B9979B4-3CF2-195C-EFD8-1A4CE02FD6A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556AE3E-D202-FEB2-020C-67FC3E3DEAF0}"/>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RNN Vs FFN</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9C09F1D-0309-0CD3-5686-CF0FFC9618A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F0B7777-F436-FF04-4EBE-724B133C2BAB}"/>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pic>
        <p:nvPicPr>
          <p:cNvPr id="7170" name="Picture 2" descr="The comparison between Recurrent Neural Network (RNN) and Feed-Forward Neural Network (FFNN). It demonstrates in FFNN there is only one direction for the data to move, whereas in RNN there is a loop.">
            <a:extLst>
              <a:ext uri="{FF2B5EF4-FFF2-40B4-BE49-F238E27FC236}">
                <a16:creationId xmlns:a16="http://schemas.microsoft.com/office/drawing/2014/main" id="{D80076C8-9B26-942F-8575-928E155A0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34" y="891804"/>
            <a:ext cx="7094154" cy="3564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367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E78B800-A10D-3948-656F-E769628630D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B9E54CE-B0A6-863D-EFE6-B5F903956A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RNN Vs FFN</a:t>
            </a:r>
            <a:br>
              <a:rPr lang="en-GB" sz="3200" b="1" dirty="0"/>
            </a:br>
            <a:br>
              <a:rPr lang="en-GB" sz="3200" b="1" dirty="0"/>
            </a:br>
            <a:br>
              <a:rPr lang="en-GB" sz="3200" b="1" dirty="0"/>
            </a:br>
            <a:br>
              <a:rPr lang="en-GB" sz="3100" b="1" dirty="0"/>
            </a:br>
            <a:br>
              <a:rPr lang="en-GB" sz="3200" b="1" i="0" u="none" strike="noStrike" dirty="0">
                <a:solidFill>
                  <a:srgbClr val="7030A0"/>
                </a:solidFill>
                <a:effectLst/>
                <a:latin typeface="+mj-lt"/>
              </a:rPr>
            </a:br>
            <a:br>
              <a:rPr lang="en-GB" sz="3100" b="1" i="0" u="none" strike="noStrike" dirty="0">
                <a:solidFill>
                  <a:srgbClr val="7030A0"/>
                </a:solidFill>
                <a:effectLst/>
                <a:latin typeface="+mj-lt"/>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5B9258B-B0BF-8F6E-FB7E-2E1171FA34C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0FE29D0-23DE-1C4F-91B4-B43B086AB060}"/>
              </a:ext>
            </a:extLst>
          </p:cNvPr>
          <p:cNvSpPr txBox="1"/>
          <p:nvPr/>
        </p:nvSpPr>
        <p:spPr>
          <a:xfrm>
            <a:off x="230588" y="594695"/>
            <a:ext cx="8022866" cy="584775"/>
          </a:xfrm>
          <a:prstGeom prst="rect">
            <a:avLst/>
          </a:prstGeom>
          <a:noFill/>
        </p:spPr>
        <p:txBody>
          <a:bodyPr wrap="square">
            <a:spAutoFit/>
          </a:bodyPr>
          <a:lstStyle/>
          <a:p>
            <a:br>
              <a:rPr lang="en-GB" sz="1600" dirty="0">
                <a:latin typeface="+mj-lt"/>
              </a:rPr>
            </a:br>
            <a:endParaRPr lang="en-GB" sz="1600" i="0" u="none" strike="noStrike" dirty="0">
              <a:solidFill>
                <a:srgbClr val="000000"/>
              </a:solidFill>
              <a:effectLst/>
              <a:latin typeface="+mj-lt"/>
            </a:endParaRPr>
          </a:p>
        </p:txBody>
      </p:sp>
      <p:graphicFrame>
        <p:nvGraphicFramePr>
          <p:cNvPr id="2" name="Table 1">
            <a:extLst>
              <a:ext uri="{FF2B5EF4-FFF2-40B4-BE49-F238E27FC236}">
                <a16:creationId xmlns:a16="http://schemas.microsoft.com/office/drawing/2014/main" id="{5986FE77-7E4C-35FC-31DF-AF81D2DD3419}"/>
              </a:ext>
            </a:extLst>
          </p:cNvPr>
          <p:cNvGraphicFramePr>
            <a:graphicFrameLocks noGrp="1"/>
          </p:cNvGraphicFramePr>
          <p:nvPr>
            <p:extLst>
              <p:ext uri="{D42A27DB-BD31-4B8C-83A1-F6EECF244321}">
                <p14:modId xmlns:p14="http://schemas.microsoft.com/office/powerpoint/2010/main" val="222686458"/>
              </p:ext>
            </p:extLst>
          </p:nvPr>
        </p:nvGraphicFramePr>
        <p:xfrm>
          <a:off x="407175" y="1113183"/>
          <a:ext cx="7829022" cy="3418404"/>
        </p:xfrm>
        <a:graphic>
          <a:graphicData uri="http://schemas.openxmlformats.org/drawingml/2006/table">
            <a:tbl>
              <a:tblPr>
                <a:tableStyleId>{35758FB7-9AC5-4552-8A53-C91805E547FA}</a:tableStyleId>
              </a:tblPr>
              <a:tblGrid>
                <a:gridCol w="2609674">
                  <a:extLst>
                    <a:ext uri="{9D8B030D-6E8A-4147-A177-3AD203B41FA5}">
                      <a16:colId xmlns:a16="http://schemas.microsoft.com/office/drawing/2014/main" val="2081805091"/>
                    </a:ext>
                  </a:extLst>
                </a:gridCol>
                <a:gridCol w="2609674">
                  <a:extLst>
                    <a:ext uri="{9D8B030D-6E8A-4147-A177-3AD203B41FA5}">
                      <a16:colId xmlns:a16="http://schemas.microsoft.com/office/drawing/2014/main" val="1534790286"/>
                    </a:ext>
                  </a:extLst>
                </a:gridCol>
                <a:gridCol w="2609674">
                  <a:extLst>
                    <a:ext uri="{9D8B030D-6E8A-4147-A177-3AD203B41FA5}">
                      <a16:colId xmlns:a16="http://schemas.microsoft.com/office/drawing/2014/main" val="2875158654"/>
                    </a:ext>
                  </a:extLst>
                </a:gridCol>
              </a:tblGrid>
              <a:tr h="371033">
                <a:tc>
                  <a:txBody>
                    <a:bodyPr/>
                    <a:lstStyle/>
                    <a:p>
                      <a:pPr algn="ctr" fontAlgn="base"/>
                      <a:r>
                        <a:rPr lang="en-GB" sz="1300" b="1">
                          <a:effectLst/>
                        </a:rPr>
                        <a:t>Comparison Attribute</a:t>
                      </a:r>
                    </a:p>
                  </a:txBody>
                  <a:tcPr marL="35003" marR="35003" marT="87508" marB="87508" anchor="ctr"/>
                </a:tc>
                <a:tc>
                  <a:txBody>
                    <a:bodyPr/>
                    <a:lstStyle/>
                    <a:p>
                      <a:pPr algn="ctr" fontAlgn="base"/>
                      <a:r>
                        <a:rPr lang="en-GB" sz="1300" b="1" dirty="0">
                          <a:effectLst/>
                        </a:rPr>
                        <a:t>Feed-forward Neural Networks</a:t>
                      </a:r>
                    </a:p>
                  </a:txBody>
                  <a:tcPr marL="87508" marR="87508" marT="87508" marB="87508" anchor="ctr"/>
                </a:tc>
                <a:tc>
                  <a:txBody>
                    <a:bodyPr/>
                    <a:lstStyle/>
                    <a:p>
                      <a:pPr algn="ctr" fontAlgn="base"/>
                      <a:r>
                        <a:rPr lang="en-GB" sz="1300" b="1">
                          <a:effectLst/>
                        </a:rPr>
                        <a:t>Recurrent Neural Networks</a:t>
                      </a:r>
                    </a:p>
                  </a:txBody>
                  <a:tcPr marL="87508" marR="87508" marT="87508" marB="87508" anchor="ctr"/>
                </a:tc>
                <a:extLst>
                  <a:ext uri="{0D108BD9-81ED-4DB2-BD59-A6C34878D82A}">
                    <a16:rowId xmlns:a16="http://schemas.microsoft.com/office/drawing/2014/main" val="403510479"/>
                  </a:ext>
                </a:extLst>
              </a:tr>
              <a:tr h="420037">
                <a:tc>
                  <a:txBody>
                    <a:bodyPr/>
                    <a:lstStyle/>
                    <a:p>
                      <a:pPr algn="ctr" fontAlgn="ctr"/>
                      <a:r>
                        <a:rPr lang="en-GB" sz="1100" b="0">
                          <a:effectLst/>
                        </a:rPr>
                        <a:t>Signal flow direction</a:t>
                      </a:r>
                    </a:p>
                  </a:txBody>
                  <a:tcPr marL="87508" marR="87508" marT="122511" marB="122511" anchor="ctr"/>
                </a:tc>
                <a:tc>
                  <a:txBody>
                    <a:bodyPr/>
                    <a:lstStyle/>
                    <a:p>
                      <a:pPr algn="ctr" fontAlgn="ctr"/>
                      <a:r>
                        <a:rPr lang="en-GB" sz="1100" b="0">
                          <a:effectLst/>
                        </a:rPr>
                        <a:t>Forward only</a:t>
                      </a:r>
                    </a:p>
                  </a:txBody>
                  <a:tcPr marL="87508" marR="87508" marT="122511" marB="122511" anchor="ctr"/>
                </a:tc>
                <a:tc>
                  <a:txBody>
                    <a:bodyPr/>
                    <a:lstStyle/>
                    <a:p>
                      <a:pPr algn="ctr" fontAlgn="ctr"/>
                      <a:r>
                        <a:rPr lang="en-GB" sz="1100" b="0">
                          <a:effectLst/>
                        </a:rPr>
                        <a:t>Bidirectional </a:t>
                      </a:r>
                    </a:p>
                  </a:txBody>
                  <a:tcPr marL="87508" marR="87508" marT="122511" marB="122511" anchor="ctr"/>
                </a:tc>
                <a:extLst>
                  <a:ext uri="{0D108BD9-81ED-4DB2-BD59-A6C34878D82A}">
                    <a16:rowId xmlns:a16="http://schemas.microsoft.com/office/drawing/2014/main" val="3373403076"/>
                  </a:ext>
                </a:extLst>
              </a:tr>
              <a:tr h="420037">
                <a:tc>
                  <a:txBody>
                    <a:bodyPr/>
                    <a:lstStyle/>
                    <a:p>
                      <a:pPr algn="ctr" fontAlgn="ctr"/>
                      <a:r>
                        <a:rPr lang="en-GB" sz="1100" b="0">
                          <a:effectLst/>
                        </a:rPr>
                        <a:t>Delay introduced </a:t>
                      </a:r>
                    </a:p>
                  </a:txBody>
                  <a:tcPr marL="87508" marR="87508" marT="122511" marB="122511" anchor="ctr"/>
                </a:tc>
                <a:tc>
                  <a:txBody>
                    <a:bodyPr/>
                    <a:lstStyle/>
                    <a:p>
                      <a:pPr algn="ctr" fontAlgn="ctr"/>
                      <a:r>
                        <a:rPr lang="en-GB" sz="1100" b="0">
                          <a:effectLst/>
                        </a:rPr>
                        <a:t>No</a:t>
                      </a:r>
                    </a:p>
                  </a:txBody>
                  <a:tcPr marL="87508" marR="87508" marT="122511" marB="122511" anchor="ctr"/>
                </a:tc>
                <a:tc>
                  <a:txBody>
                    <a:bodyPr/>
                    <a:lstStyle/>
                    <a:p>
                      <a:pPr algn="ctr" fontAlgn="ctr"/>
                      <a:r>
                        <a:rPr lang="en-GB" sz="1100" b="0">
                          <a:effectLst/>
                        </a:rPr>
                        <a:t>Yes </a:t>
                      </a:r>
                    </a:p>
                  </a:txBody>
                  <a:tcPr marL="87508" marR="87508" marT="122511" marB="122511" anchor="ctr"/>
                </a:tc>
                <a:extLst>
                  <a:ext uri="{0D108BD9-81ED-4DB2-BD59-A6C34878D82A}">
                    <a16:rowId xmlns:a16="http://schemas.microsoft.com/office/drawing/2014/main" val="3570627874"/>
                  </a:ext>
                </a:extLst>
              </a:tr>
              <a:tr h="420037">
                <a:tc>
                  <a:txBody>
                    <a:bodyPr/>
                    <a:lstStyle/>
                    <a:p>
                      <a:pPr algn="ctr" fontAlgn="ctr"/>
                      <a:r>
                        <a:rPr lang="en-GB" sz="1100" b="0">
                          <a:effectLst/>
                        </a:rPr>
                        <a:t>Complexity</a:t>
                      </a:r>
                    </a:p>
                  </a:txBody>
                  <a:tcPr marL="87508" marR="87508" marT="122511" marB="122511" anchor="ctr"/>
                </a:tc>
                <a:tc>
                  <a:txBody>
                    <a:bodyPr/>
                    <a:lstStyle/>
                    <a:p>
                      <a:pPr algn="ctr" fontAlgn="ctr"/>
                      <a:r>
                        <a:rPr lang="en-GB" sz="1100" b="0">
                          <a:effectLst/>
                        </a:rPr>
                        <a:t>Low</a:t>
                      </a:r>
                    </a:p>
                  </a:txBody>
                  <a:tcPr marL="87508" marR="87508" marT="122511" marB="122511" anchor="ctr"/>
                </a:tc>
                <a:tc>
                  <a:txBody>
                    <a:bodyPr/>
                    <a:lstStyle/>
                    <a:p>
                      <a:pPr algn="ctr" fontAlgn="ctr"/>
                      <a:r>
                        <a:rPr lang="en-GB" sz="1100" b="0">
                          <a:effectLst/>
                        </a:rPr>
                        <a:t>High</a:t>
                      </a:r>
                    </a:p>
                  </a:txBody>
                  <a:tcPr marL="87508" marR="87508" marT="122511" marB="122511" anchor="ctr"/>
                </a:tc>
                <a:extLst>
                  <a:ext uri="{0D108BD9-81ED-4DB2-BD59-A6C34878D82A}">
                    <a16:rowId xmlns:a16="http://schemas.microsoft.com/office/drawing/2014/main" val="559234411"/>
                  </a:ext>
                </a:extLst>
              </a:tr>
              <a:tr h="595052">
                <a:tc>
                  <a:txBody>
                    <a:bodyPr/>
                    <a:lstStyle/>
                    <a:p>
                      <a:pPr algn="ctr" fontAlgn="ctr"/>
                      <a:r>
                        <a:rPr lang="en-GB" sz="1100" b="0">
                          <a:effectLst/>
                        </a:rPr>
                        <a:t>Neuron independence in the same layer</a:t>
                      </a:r>
                    </a:p>
                  </a:txBody>
                  <a:tcPr marL="87508" marR="87508" marT="122511" marB="122511" anchor="ctr"/>
                </a:tc>
                <a:tc>
                  <a:txBody>
                    <a:bodyPr/>
                    <a:lstStyle/>
                    <a:p>
                      <a:pPr algn="ctr" fontAlgn="ctr"/>
                      <a:r>
                        <a:rPr lang="en-GB" sz="1100" b="0">
                          <a:effectLst/>
                        </a:rPr>
                        <a:t>Yes</a:t>
                      </a:r>
                    </a:p>
                  </a:txBody>
                  <a:tcPr marL="87508" marR="87508" marT="122511" marB="122511" anchor="ctr"/>
                </a:tc>
                <a:tc>
                  <a:txBody>
                    <a:bodyPr/>
                    <a:lstStyle/>
                    <a:p>
                      <a:pPr algn="ctr" fontAlgn="ctr"/>
                      <a:r>
                        <a:rPr lang="en-GB" sz="1100" b="0">
                          <a:effectLst/>
                        </a:rPr>
                        <a:t>No</a:t>
                      </a:r>
                    </a:p>
                  </a:txBody>
                  <a:tcPr marL="87508" marR="87508" marT="122511" marB="122511" anchor="ctr"/>
                </a:tc>
                <a:extLst>
                  <a:ext uri="{0D108BD9-81ED-4DB2-BD59-A6C34878D82A}">
                    <a16:rowId xmlns:a16="http://schemas.microsoft.com/office/drawing/2014/main" val="3777190994"/>
                  </a:ext>
                </a:extLst>
              </a:tr>
              <a:tr h="420037">
                <a:tc>
                  <a:txBody>
                    <a:bodyPr/>
                    <a:lstStyle/>
                    <a:p>
                      <a:pPr algn="ctr" fontAlgn="ctr"/>
                      <a:r>
                        <a:rPr lang="en-GB" sz="1100" b="0">
                          <a:effectLst/>
                        </a:rPr>
                        <a:t>Speed</a:t>
                      </a:r>
                    </a:p>
                  </a:txBody>
                  <a:tcPr marL="87508" marR="87508" marT="122511" marB="122511" anchor="ctr"/>
                </a:tc>
                <a:tc>
                  <a:txBody>
                    <a:bodyPr/>
                    <a:lstStyle/>
                    <a:p>
                      <a:pPr algn="ctr" fontAlgn="ctr"/>
                      <a:r>
                        <a:rPr lang="en-GB" sz="1100" b="0">
                          <a:effectLst/>
                        </a:rPr>
                        <a:t>High</a:t>
                      </a:r>
                    </a:p>
                  </a:txBody>
                  <a:tcPr marL="87508" marR="87508" marT="122511" marB="122511" anchor="ctr"/>
                </a:tc>
                <a:tc>
                  <a:txBody>
                    <a:bodyPr/>
                    <a:lstStyle/>
                    <a:p>
                      <a:pPr algn="ctr" fontAlgn="ctr"/>
                      <a:r>
                        <a:rPr lang="en-GB" sz="1100" b="0">
                          <a:effectLst/>
                        </a:rPr>
                        <a:t>slow</a:t>
                      </a:r>
                    </a:p>
                  </a:txBody>
                  <a:tcPr marL="87508" marR="87508" marT="122511" marB="122511" anchor="ctr"/>
                </a:tc>
                <a:extLst>
                  <a:ext uri="{0D108BD9-81ED-4DB2-BD59-A6C34878D82A}">
                    <a16:rowId xmlns:a16="http://schemas.microsoft.com/office/drawing/2014/main" val="3987405250"/>
                  </a:ext>
                </a:extLst>
              </a:tr>
              <a:tr h="770068">
                <a:tc>
                  <a:txBody>
                    <a:bodyPr/>
                    <a:lstStyle/>
                    <a:p>
                      <a:pPr algn="ctr" fontAlgn="ctr"/>
                      <a:r>
                        <a:rPr lang="en-GB" sz="1100" b="0">
                          <a:effectLst/>
                        </a:rPr>
                        <a:t>Commonly used for</a:t>
                      </a:r>
                    </a:p>
                  </a:txBody>
                  <a:tcPr marL="87508" marR="87508" marT="122511" marB="122511" anchor="ctr"/>
                </a:tc>
                <a:tc>
                  <a:txBody>
                    <a:bodyPr/>
                    <a:lstStyle/>
                    <a:p>
                      <a:pPr algn="ctr" fontAlgn="ctr"/>
                      <a:r>
                        <a:rPr lang="en-GB" sz="1100" b="0">
                          <a:effectLst/>
                        </a:rPr>
                        <a:t>Pattern recognition, speech recognition, and character recognition</a:t>
                      </a:r>
                    </a:p>
                  </a:txBody>
                  <a:tcPr marL="87508" marR="87508" marT="122511" marB="122511" anchor="ctr"/>
                </a:tc>
                <a:tc>
                  <a:txBody>
                    <a:bodyPr/>
                    <a:lstStyle/>
                    <a:p>
                      <a:pPr algn="ctr" fontAlgn="ctr"/>
                      <a:r>
                        <a:rPr lang="en-GB" sz="1100" b="0" dirty="0">
                          <a:effectLst/>
                        </a:rPr>
                        <a:t>Language translation, speech-to-text conversion, and robotic control</a:t>
                      </a:r>
                    </a:p>
                  </a:txBody>
                  <a:tcPr marL="87508" marR="87508" marT="122511" marB="122511" anchor="ctr"/>
                </a:tc>
                <a:extLst>
                  <a:ext uri="{0D108BD9-81ED-4DB2-BD59-A6C34878D82A}">
                    <a16:rowId xmlns:a16="http://schemas.microsoft.com/office/drawing/2014/main" val="236211138"/>
                  </a:ext>
                </a:extLst>
              </a:tr>
            </a:tbl>
          </a:graphicData>
        </a:graphic>
      </p:graphicFrame>
    </p:spTree>
    <p:extLst>
      <p:ext uri="{BB962C8B-B14F-4D97-AF65-F5344CB8AC3E}">
        <p14:creationId xmlns:p14="http://schemas.microsoft.com/office/powerpoint/2010/main" val="1952744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/file/d/18eIHAM_F9bx6VhXNZynK_RY_OeygZmm-/</a:t>
            </a:r>
            <a:r>
              <a:rPr lang="en-GB" sz="2000" dirty="0" err="1"/>
              <a:t>view?usp</a:t>
            </a:r>
            <a:r>
              <a:rPr lang="en-GB" sz="2000" dirty="0"/>
              <a:t>=sharing</a:t>
            </a:r>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572000" y="1890944"/>
            <a:ext cx="4311517" cy="287118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2400657"/>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4"/>
              </a:rPr>
              <a:t>https://www.geeksforgeeks.org/difference-between-feed-forward-neural-networks-and-recurrent-neural-networks/</a:t>
            </a:r>
            <a:endParaRPr lang="en-GB" sz="2000" b="0" i="0" u="none" strike="noStrike" dirty="0">
              <a:solidFill>
                <a:srgbClr val="404040"/>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Datasets: COCO, Pascal VOC, Cityscapes</a:t>
            </a:r>
          </a:p>
        </p:txBody>
      </p:sp>
    </p:spTree>
    <p:extLst>
      <p:ext uri="{BB962C8B-B14F-4D97-AF65-F5344CB8AC3E}">
        <p14:creationId xmlns:p14="http://schemas.microsoft.com/office/powerpoint/2010/main" val="374039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14541</TotalTime>
  <Words>2195</Words>
  <Application>Microsoft Macintosh PowerPoint</Application>
  <PresentationFormat>On-screen Show (16:9)</PresentationFormat>
  <Paragraphs>247</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IBM Plex Sans Arabic SemiBold</vt:lpstr>
      <vt:lpstr>Arial</vt:lpstr>
      <vt:lpstr>IBM Plex Sans Arabic</vt:lpstr>
      <vt:lpstr>Times New Roman</vt:lpstr>
      <vt:lpstr>IBM Plex Sans Arabic Medium</vt:lpstr>
      <vt:lpstr>Calibri</vt:lpstr>
      <vt:lpstr>Inter</vt:lpstr>
      <vt:lpstr>Wingdings</vt:lpstr>
      <vt:lpstr>Tajawal</vt:lpstr>
      <vt:lpstr>Simple Light</vt:lpstr>
      <vt:lpstr>أكـــــاديميــــة طــــويـــق</vt:lpstr>
      <vt:lpstr>Understanding Sequential Data      </vt:lpstr>
      <vt:lpstr>PowerPoint Presentation</vt:lpstr>
      <vt:lpstr>Sequential Data     </vt:lpstr>
      <vt:lpstr>Struggle with sequential data    </vt:lpstr>
      <vt:lpstr>Struggle with sequential data    </vt:lpstr>
      <vt:lpstr>Struggle with sequential data    </vt:lpstr>
      <vt:lpstr>What is a Time Series?     </vt:lpstr>
      <vt:lpstr>What is a Time Series?     </vt:lpstr>
      <vt:lpstr>Speech Data: Waveforms and Spectrograms         </vt:lpstr>
      <vt:lpstr>Text Data: Character/Word Sequences          </vt:lpstr>
      <vt:lpstr>Text Data: Character/Word Sequences          </vt:lpstr>
      <vt:lpstr>1. Prediction (Forecasting Future Values)      </vt:lpstr>
      <vt:lpstr>2. Anomaly Detection       </vt:lpstr>
      <vt:lpstr>3. Pattern Recognition        </vt:lpstr>
      <vt:lpstr>Summary        </vt:lpstr>
      <vt:lpstr>Feedforward vs. Recurrent Networks         </vt:lpstr>
      <vt:lpstr>RNN Vs FFN        </vt:lpstr>
      <vt:lpstr>RNN Vs FFN        </vt:lpstr>
      <vt:lpstr>RNN Vs FFN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40</cp:revision>
  <dcterms:modified xsi:type="dcterms:W3CDTF">2025-05-12T15:36:03Z</dcterms:modified>
</cp:coreProperties>
</file>