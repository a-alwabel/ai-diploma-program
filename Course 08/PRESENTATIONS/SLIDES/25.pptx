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257" r:id="rId3"/>
    <p:sldId id="258" r:id="rId4"/>
    <p:sldId id="298" r:id="rId5"/>
    <p:sldId id="539" r:id="rId6"/>
    <p:sldId id="567" r:id="rId7"/>
    <p:sldId id="583" r:id="rId8"/>
    <p:sldId id="584" r:id="rId9"/>
    <p:sldId id="585" r:id="rId10"/>
    <p:sldId id="586" r:id="rId11"/>
    <p:sldId id="587" r:id="rId12"/>
    <p:sldId id="588" r:id="rId13"/>
    <p:sldId id="590" r:id="rId14"/>
    <p:sldId id="589" r:id="rId15"/>
    <p:sldId id="312" r:id="rId16"/>
    <p:sldId id="275" r:id="rId17"/>
    <p:sldId id="276" r:id="rId18"/>
  </p:sldIdLst>
  <p:sldSz cx="9144000" cy="5143500" type="screen16x9"/>
  <p:notesSz cx="6858000" cy="9144000"/>
  <p:embeddedFontLst>
    <p:embeddedFont>
      <p:font typeface="IBM Plex Sans Arabic" panose="020B0603050203000203" pitchFamily="34" charset="-78"/>
      <p:regular r:id="rId20"/>
      <p:bold r:id="rId21"/>
    </p:embeddedFont>
    <p:embeddedFont>
      <p:font typeface="IBM Plex Sans Arabic Medium" panose="020B0603050203000203" pitchFamily="34" charset="-78"/>
      <p:regular r:id="rId22"/>
      <p:bold r:id="rId23"/>
    </p:embeddedFont>
    <p:embeddedFont>
      <p:font typeface="IBM Plex Sans Arabic SemiBold" panose="020B0603050203000203" pitchFamily="34" charset="-78"/>
      <p:regular r:id="rId24"/>
      <p:bold r:id="rId25"/>
    </p:embeddedFont>
    <p:embeddedFont>
      <p:font typeface="Inter" panose="020F0502020204030204" pitchFamily="34" charset="0"/>
      <p:regular r:id="rId26"/>
      <p:bold r:id="rId27"/>
      <p:italic r:id="rId28"/>
      <p:boldItalic r:id="rId29"/>
    </p:embeddedFont>
    <p:embeddedFont>
      <p:font typeface="Tajawal" pitchFamily="2" charset="-78"/>
      <p:regular r:id="rId30"/>
      <p:bold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gKcFO/Xev719AjEfE5iQO6xfjKK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41E1F5B-7058-4A9B-AF8C-0847D0C7EE07}">
  <a:tblStyle styleId="{541E1F5B-7058-4A9B-AF8C-0847D0C7EE07}"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32"/>
    <p:restoredTop sz="94247"/>
  </p:normalViewPr>
  <p:slideViewPr>
    <p:cSldViewPr snapToGrid="0">
      <p:cViewPr varScale="1">
        <p:scale>
          <a:sx n="160" d="100"/>
          <a:sy n="160" d="100"/>
        </p:scale>
        <p:origin x="1000" y="168"/>
      </p:cViewPr>
      <p:guideLst>
        <p:guide orient="horz" pos="524"/>
        <p:guide orient="horz" pos="2560"/>
        <p:guide pos="2880"/>
        <p:guide orient="horz" pos="759"/>
        <p:guide orient="horz" pos="2428"/>
        <p:guide pos="5325"/>
        <p:guide orient="horz" pos="9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 name="Google Shape;4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CE20816-1F24-46D9-89DD-6FFEE700F24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07CD495B-FC5A-F226-2523-6E0861CBC8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6B7203EE-8E11-9321-099D-0620FB1838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98175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D6B9BDE8-2C21-E8E2-343E-690C2E12EF02}"/>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2E229485-EB2F-925E-9172-598BFC53F1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5DB3474E-4E76-9301-6F58-CEFCA74FAB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43396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33409D09-AE72-A11D-60FE-D7260A70AEBB}"/>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C9E99DA8-A180-9C9D-B77E-FCDA4C517B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1AC3140F-2990-F249-4B9A-9AA5B039C9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19461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8161918D-7328-B52A-BF8B-BBF24A44FEB4}"/>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844E1C08-7AA7-CBC4-C547-218DEAF0D5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F374A1B6-FE66-07E5-9E94-6A0FD2F052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32700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FFC70027-5210-AACA-357F-26DC325DA68B}"/>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2FEE846A-FA2C-55E0-4E10-DD05096412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04BBA6DD-BB97-FE5F-B816-1448F3C200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59986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86EF52F6-6E61-F6A8-3B09-FD4F8A195142}"/>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CBC7E705-77FF-8BBF-317C-0CB52A7E1D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306EB7DA-098C-10D3-3288-66B189B7CE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42685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B4D8BCBF-16DB-D6E4-805A-533186CB2A66}"/>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9BE521B2-422E-32F7-0DC3-059C23896B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200CD2B3-4B81-0E7F-2A9B-47EB362BCD0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11315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B4EAC522-E1C0-C47A-DD58-05256D8B8D2A}"/>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364E0667-028F-9CF7-218E-7A60167294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59732D8D-BC66-DA8F-8533-CFE965C582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5076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A1D779C7-119D-7C68-2118-B4BF720A07EC}"/>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2FD1C132-A642-ABFA-D016-551A4BA1D0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608411E3-8CBB-B351-1A52-AC48699279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80605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67E9D7E6-D61E-E109-41AF-90309F6BAABE}"/>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A7999A23-B4F2-EAEB-A837-30D26105901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92DECC8B-67C9-BD57-E9D0-702BC29434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294331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3BECD89B-AAA3-F8FE-DFBC-CC79A9A4E0AF}"/>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F508F7A9-5506-B123-0264-14DD3EE902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CCD177CE-FC44-74CB-378D-8296859D59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02857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10"/>
        <p:cNvGrpSpPr/>
        <p:nvPr/>
      </p:nvGrpSpPr>
      <p:grpSpPr>
        <a:xfrm>
          <a:off x="0" y="0"/>
          <a:ext cx="0" cy="0"/>
          <a:chOff x="0" y="0"/>
          <a:chExt cx="0" cy="0"/>
        </a:xfrm>
      </p:grpSpPr>
      <p:sp>
        <p:nvSpPr>
          <p:cNvPr id="11" name="Google Shape;11;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12000"/>
              <a:buNone/>
              <a:defRPr sz="12000"/>
            </a:lvl1pPr>
            <a:lvl2pPr lvl="1" algn="ctr" rtl="1">
              <a:lnSpc>
                <a:spcPct val="100000"/>
              </a:lnSpc>
              <a:spcBef>
                <a:spcPts val="0"/>
              </a:spcBef>
              <a:spcAft>
                <a:spcPts val="0"/>
              </a:spcAft>
              <a:buSzPts val="12000"/>
              <a:buNone/>
              <a:defRPr sz="12000"/>
            </a:lvl2pPr>
            <a:lvl3pPr lvl="2" algn="ctr" rtl="1">
              <a:lnSpc>
                <a:spcPct val="100000"/>
              </a:lnSpc>
              <a:spcBef>
                <a:spcPts val="0"/>
              </a:spcBef>
              <a:spcAft>
                <a:spcPts val="0"/>
              </a:spcAft>
              <a:buSzPts val="12000"/>
              <a:buNone/>
              <a:defRPr sz="12000"/>
            </a:lvl3pPr>
            <a:lvl4pPr lvl="3" algn="ctr" rtl="1">
              <a:lnSpc>
                <a:spcPct val="100000"/>
              </a:lnSpc>
              <a:spcBef>
                <a:spcPts val="0"/>
              </a:spcBef>
              <a:spcAft>
                <a:spcPts val="0"/>
              </a:spcAft>
              <a:buSzPts val="12000"/>
              <a:buNone/>
              <a:defRPr sz="12000"/>
            </a:lvl4pPr>
            <a:lvl5pPr lvl="4" algn="ctr" rtl="1">
              <a:lnSpc>
                <a:spcPct val="100000"/>
              </a:lnSpc>
              <a:spcBef>
                <a:spcPts val="0"/>
              </a:spcBef>
              <a:spcAft>
                <a:spcPts val="0"/>
              </a:spcAft>
              <a:buSzPts val="12000"/>
              <a:buNone/>
              <a:defRPr sz="12000"/>
            </a:lvl5pPr>
            <a:lvl6pPr lvl="5" algn="ctr" rtl="1">
              <a:lnSpc>
                <a:spcPct val="100000"/>
              </a:lnSpc>
              <a:spcBef>
                <a:spcPts val="0"/>
              </a:spcBef>
              <a:spcAft>
                <a:spcPts val="0"/>
              </a:spcAft>
              <a:buSzPts val="12000"/>
              <a:buNone/>
              <a:defRPr sz="12000"/>
            </a:lvl6pPr>
            <a:lvl7pPr lvl="6" algn="ctr" rtl="1">
              <a:lnSpc>
                <a:spcPct val="100000"/>
              </a:lnSpc>
              <a:spcBef>
                <a:spcPts val="0"/>
              </a:spcBef>
              <a:spcAft>
                <a:spcPts val="0"/>
              </a:spcAft>
              <a:buSzPts val="12000"/>
              <a:buNone/>
              <a:defRPr sz="12000"/>
            </a:lvl7pPr>
            <a:lvl8pPr lvl="7" algn="ctr" rtl="1">
              <a:lnSpc>
                <a:spcPct val="100000"/>
              </a:lnSpc>
              <a:spcBef>
                <a:spcPts val="0"/>
              </a:spcBef>
              <a:spcAft>
                <a:spcPts val="0"/>
              </a:spcAft>
              <a:buSzPts val="12000"/>
              <a:buNone/>
              <a:defRPr sz="12000"/>
            </a:lvl8pPr>
            <a:lvl9pPr lvl="8" algn="ctr" rtl="1">
              <a:lnSpc>
                <a:spcPct val="100000"/>
              </a:lnSpc>
              <a:spcBef>
                <a:spcPts val="0"/>
              </a:spcBef>
              <a:spcAft>
                <a:spcPts val="0"/>
              </a:spcAft>
              <a:buSzPts val="12000"/>
              <a:buNone/>
              <a:defRPr sz="12000"/>
            </a:lvl9pPr>
          </a:lstStyle>
          <a:p>
            <a:r>
              <a:t>xx%</a:t>
            </a:r>
          </a:p>
        </p:txBody>
      </p:sp>
      <p:pic>
        <p:nvPicPr>
          <p:cNvPr id="12" name="Google Shape;12;p23"/>
          <p:cNvPicPr preferRelativeResize="0"/>
          <p:nvPr/>
        </p:nvPicPr>
        <p:blipFill rotWithShape="1">
          <a:blip r:embed="rId3">
            <a:alphaModFix/>
          </a:blip>
          <a:srcRect/>
          <a:stretch/>
        </p:blipFill>
        <p:spPr>
          <a:xfrm>
            <a:off x="7527371" y="317427"/>
            <a:ext cx="1356656" cy="2658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300"/>
              <a:buFont typeface="Tajawal"/>
              <a:buNone/>
              <a:defRPr sz="4300" b="1">
                <a:latin typeface="Tajawal"/>
                <a:ea typeface="Tajawal"/>
                <a:cs typeface="Tajawal"/>
                <a:sym typeface="Tajawal"/>
              </a:defRPr>
            </a:lvl1pPr>
            <a:lvl2pPr lvl="1" algn="ctr" rtl="1">
              <a:lnSpc>
                <a:spcPct val="100000"/>
              </a:lnSpc>
              <a:spcBef>
                <a:spcPts val="0"/>
              </a:spcBef>
              <a:spcAft>
                <a:spcPts val="0"/>
              </a:spcAft>
              <a:buSzPts val="4900"/>
              <a:buFont typeface="Tajawal"/>
              <a:buNone/>
              <a:defRPr sz="4900">
                <a:latin typeface="Tajawal"/>
                <a:ea typeface="Tajawal"/>
                <a:cs typeface="Tajawal"/>
                <a:sym typeface="Tajawal"/>
              </a:defRPr>
            </a:lvl2pPr>
            <a:lvl3pPr lvl="2" algn="ctr" rtl="1">
              <a:lnSpc>
                <a:spcPct val="100000"/>
              </a:lnSpc>
              <a:spcBef>
                <a:spcPts val="0"/>
              </a:spcBef>
              <a:spcAft>
                <a:spcPts val="0"/>
              </a:spcAft>
              <a:buSzPts val="4900"/>
              <a:buFont typeface="Tajawal"/>
              <a:buNone/>
              <a:defRPr sz="4900">
                <a:latin typeface="Tajawal"/>
                <a:ea typeface="Tajawal"/>
                <a:cs typeface="Tajawal"/>
                <a:sym typeface="Tajawal"/>
              </a:defRPr>
            </a:lvl3pPr>
            <a:lvl4pPr lvl="3" algn="ctr" rtl="1">
              <a:lnSpc>
                <a:spcPct val="100000"/>
              </a:lnSpc>
              <a:spcBef>
                <a:spcPts val="0"/>
              </a:spcBef>
              <a:spcAft>
                <a:spcPts val="0"/>
              </a:spcAft>
              <a:buSzPts val="4900"/>
              <a:buFont typeface="Tajawal"/>
              <a:buNone/>
              <a:defRPr sz="4900">
                <a:latin typeface="Tajawal"/>
                <a:ea typeface="Tajawal"/>
                <a:cs typeface="Tajawal"/>
                <a:sym typeface="Tajawal"/>
              </a:defRPr>
            </a:lvl4pPr>
            <a:lvl5pPr lvl="4" algn="ctr" rtl="1">
              <a:lnSpc>
                <a:spcPct val="100000"/>
              </a:lnSpc>
              <a:spcBef>
                <a:spcPts val="0"/>
              </a:spcBef>
              <a:spcAft>
                <a:spcPts val="0"/>
              </a:spcAft>
              <a:buSzPts val="4900"/>
              <a:buFont typeface="Tajawal"/>
              <a:buNone/>
              <a:defRPr sz="4900">
                <a:latin typeface="Tajawal"/>
                <a:ea typeface="Tajawal"/>
                <a:cs typeface="Tajawal"/>
                <a:sym typeface="Tajawal"/>
              </a:defRPr>
            </a:lvl5pPr>
            <a:lvl6pPr lvl="5" algn="ctr" rtl="1">
              <a:lnSpc>
                <a:spcPct val="100000"/>
              </a:lnSpc>
              <a:spcBef>
                <a:spcPts val="0"/>
              </a:spcBef>
              <a:spcAft>
                <a:spcPts val="0"/>
              </a:spcAft>
              <a:buSzPts val="4900"/>
              <a:buFont typeface="Tajawal"/>
              <a:buNone/>
              <a:defRPr sz="4900">
                <a:latin typeface="Tajawal"/>
                <a:ea typeface="Tajawal"/>
                <a:cs typeface="Tajawal"/>
                <a:sym typeface="Tajawal"/>
              </a:defRPr>
            </a:lvl6pPr>
            <a:lvl7pPr lvl="6" algn="ctr" rtl="1">
              <a:lnSpc>
                <a:spcPct val="100000"/>
              </a:lnSpc>
              <a:spcBef>
                <a:spcPts val="0"/>
              </a:spcBef>
              <a:spcAft>
                <a:spcPts val="0"/>
              </a:spcAft>
              <a:buSzPts val="4900"/>
              <a:buFont typeface="Tajawal"/>
              <a:buNone/>
              <a:defRPr sz="4900">
                <a:latin typeface="Tajawal"/>
                <a:ea typeface="Tajawal"/>
                <a:cs typeface="Tajawal"/>
                <a:sym typeface="Tajawal"/>
              </a:defRPr>
            </a:lvl7pPr>
            <a:lvl8pPr lvl="7" algn="ctr" rtl="1">
              <a:lnSpc>
                <a:spcPct val="100000"/>
              </a:lnSpc>
              <a:spcBef>
                <a:spcPts val="0"/>
              </a:spcBef>
              <a:spcAft>
                <a:spcPts val="0"/>
              </a:spcAft>
              <a:buSzPts val="4900"/>
              <a:buFont typeface="Tajawal"/>
              <a:buNone/>
              <a:defRPr sz="4900">
                <a:latin typeface="Tajawal"/>
                <a:ea typeface="Tajawal"/>
                <a:cs typeface="Tajawal"/>
                <a:sym typeface="Tajawal"/>
              </a:defRPr>
            </a:lvl8pPr>
            <a:lvl9pPr lvl="8" algn="ctr" rtl="1">
              <a:lnSpc>
                <a:spcPct val="100000"/>
              </a:lnSpc>
              <a:spcBef>
                <a:spcPts val="0"/>
              </a:spcBef>
              <a:spcAft>
                <a:spcPts val="0"/>
              </a:spcAft>
              <a:buSzPts val="4900"/>
              <a:buFont typeface="Tajawal"/>
              <a:buNone/>
              <a:defRPr sz="4900">
                <a:latin typeface="Tajawal"/>
                <a:ea typeface="Tajawal"/>
                <a:cs typeface="Tajawal"/>
                <a:sym typeface="Tajawal"/>
              </a:defRPr>
            </a:lvl9pPr>
          </a:lstStyle>
          <a:p>
            <a:endParaRPr/>
          </a:p>
        </p:txBody>
      </p:sp>
      <p:sp>
        <p:nvSpPr>
          <p:cNvPr id="15" name="Google Shape;15;p2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500"/>
              <a:buFont typeface="Tajawal"/>
              <a:buNone/>
              <a:defRPr sz="2500">
                <a:latin typeface="Tajawal"/>
                <a:ea typeface="Tajawal"/>
                <a:cs typeface="Tajawal"/>
                <a:sym typeface="Tajawal"/>
              </a:defRPr>
            </a:lvl1pPr>
            <a:lvl2pPr lvl="1" algn="ctr" rtl="1">
              <a:lnSpc>
                <a:spcPct val="100000"/>
              </a:lnSpc>
              <a:spcBef>
                <a:spcPts val="0"/>
              </a:spcBef>
              <a:spcAft>
                <a:spcPts val="0"/>
              </a:spcAft>
              <a:buSzPts val="2500"/>
              <a:buFont typeface="Tajawal"/>
              <a:buNone/>
              <a:defRPr sz="2500">
                <a:latin typeface="Tajawal"/>
                <a:ea typeface="Tajawal"/>
                <a:cs typeface="Tajawal"/>
                <a:sym typeface="Tajawal"/>
              </a:defRPr>
            </a:lvl2pPr>
            <a:lvl3pPr lvl="2" algn="ctr" rtl="1">
              <a:lnSpc>
                <a:spcPct val="100000"/>
              </a:lnSpc>
              <a:spcBef>
                <a:spcPts val="0"/>
              </a:spcBef>
              <a:spcAft>
                <a:spcPts val="0"/>
              </a:spcAft>
              <a:buSzPts val="2500"/>
              <a:buFont typeface="Tajawal"/>
              <a:buNone/>
              <a:defRPr sz="2500">
                <a:latin typeface="Tajawal"/>
                <a:ea typeface="Tajawal"/>
                <a:cs typeface="Tajawal"/>
                <a:sym typeface="Tajawal"/>
              </a:defRPr>
            </a:lvl3pPr>
            <a:lvl4pPr lvl="3" algn="ctr" rtl="1">
              <a:lnSpc>
                <a:spcPct val="100000"/>
              </a:lnSpc>
              <a:spcBef>
                <a:spcPts val="0"/>
              </a:spcBef>
              <a:spcAft>
                <a:spcPts val="0"/>
              </a:spcAft>
              <a:buSzPts val="2500"/>
              <a:buFont typeface="Tajawal"/>
              <a:buNone/>
              <a:defRPr sz="2500">
                <a:latin typeface="Tajawal"/>
                <a:ea typeface="Tajawal"/>
                <a:cs typeface="Tajawal"/>
                <a:sym typeface="Tajawal"/>
              </a:defRPr>
            </a:lvl4pPr>
            <a:lvl5pPr lvl="4" algn="ctr" rtl="1">
              <a:lnSpc>
                <a:spcPct val="100000"/>
              </a:lnSpc>
              <a:spcBef>
                <a:spcPts val="0"/>
              </a:spcBef>
              <a:spcAft>
                <a:spcPts val="0"/>
              </a:spcAft>
              <a:buSzPts val="2500"/>
              <a:buFont typeface="Tajawal"/>
              <a:buNone/>
              <a:defRPr sz="2500">
                <a:latin typeface="Tajawal"/>
                <a:ea typeface="Tajawal"/>
                <a:cs typeface="Tajawal"/>
                <a:sym typeface="Tajawal"/>
              </a:defRPr>
            </a:lvl5pPr>
            <a:lvl6pPr lvl="5" algn="ctr" rtl="1">
              <a:lnSpc>
                <a:spcPct val="100000"/>
              </a:lnSpc>
              <a:spcBef>
                <a:spcPts val="0"/>
              </a:spcBef>
              <a:spcAft>
                <a:spcPts val="0"/>
              </a:spcAft>
              <a:buSzPts val="2500"/>
              <a:buFont typeface="Tajawal"/>
              <a:buNone/>
              <a:defRPr sz="2500">
                <a:latin typeface="Tajawal"/>
                <a:ea typeface="Tajawal"/>
                <a:cs typeface="Tajawal"/>
                <a:sym typeface="Tajawal"/>
              </a:defRPr>
            </a:lvl6pPr>
            <a:lvl7pPr lvl="6" algn="ctr" rtl="1">
              <a:lnSpc>
                <a:spcPct val="100000"/>
              </a:lnSpc>
              <a:spcBef>
                <a:spcPts val="0"/>
              </a:spcBef>
              <a:spcAft>
                <a:spcPts val="0"/>
              </a:spcAft>
              <a:buSzPts val="2500"/>
              <a:buFont typeface="Tajawal"/>
              <a:buNone/>
              <a:defRPr sz="2500">
                <a:latin typeface="Tajawal"/>
                <a:ea typeface="Tajawal"/>
                <a:cs typeface="Tajawal"/>
                <a:sym typeface="Tajawal"/>
              </a:defRPr>
            </a:lvl7pPr>
            <a:lvl8pPr lvl="7" algn="ctr" rtl="1">
              <a:lnSpc>
                <a:spcPct val="100000"/>
              </a:lnSpc>
              <a:spcBef>
                <a:spcPts val="0"/>
              </a:spcBef>
              <a:spcAft>
                <a:spcPts val="0"/>
              </a:spcAft>
              <a:buSzPts val="2500"/>
              <a:buFont typeface="Tajawal"/>
              <a:buNone/>
              <a:defRPr sz="2500">
                <a:latin typeface="Tajawal"/>
                <a:ea typeface="Tajawal"/>
                <a:cs typeface="Tajawal"/>
                <a:sym typeface="Tajawal"/>
              </a:defRPr>
            </a:lvl8pPr>
            <a:lvl9pPr lvl="8" algn="ctr" rtl="1">
              <a:lnSpc>
                <a:spcPct val="100000"/>
              </a:lnSpc>
              <a:spcBef>
                <a:spcPts val="0"/>
              </a:spcBef>
              <a:spcAft>
                <a:spcPts val="0"/>
              </a:spcAft>
              <a:buSzPts val="2500"/>
              <a:buFont typeface="Tajawal"/>
              <a:buNone/>
              <a:defRPr sz="2500">
                <a:latin typeface="Tajawal"/>
                <a:ea typeface="Tajawal"/>
                <a:cs typeface="Tajawal"/>
                <a:sym typeface="Tajawal"/>
              </a:defRPr>
            </a:lvl9pPr>
          </a:lstStyle>
          <a:p>
            <a:endParaRPr/>
          </a:p>
        </p:txBody>
      </p:sp>
      <p:sp>
        <p:nvSpPr>
          <p:cNvPr id="16" name="Google Shape;16;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25"/>
          <p:cNvSpPr txBox="1">
            <a:spLocks noGrp="1"/>
          </p:cNvSpPr>
          <p:nvPr>
            <p:ph type="title"/>
          </p:nvPr>
        </p:nvSpPr>
        <p:spPr>
          <a:xfrm>
            <a:off x="2079450" y="445025"/>
            <a:ext cx="6707400" cy="6279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rtl="1">
              <a:lnSpc>
                <a:spcPct val="100000"/>
              </a:lnSpc>
              <a:spcBef>
                <a:spcPts val="0"/>
              </a:spcBef>
              <a:spcAft>
                <a:spcPts val="0"/>
              </a:spcAft>
              <a:buClr>
                <a:srgbClr val="543198"/>
              </a:buClr>
              <a:buSzPts val="2800"/>
              <a:buNone/>
              <a:defRPr b="1">
                <a:solidFill>
                  <a:srgbClr val="543198"/>
                </a:solidFill>
              </a:defRPr>
            </a:lvl2pPr>
            <a:lvl3pPr lvl="2" algn="l" rtl="1">
              <a:lnSpc>
                <a:spcPct val="100000"/>
              </a:lnSpc>
              <a:spcBef>
                <a:spcPts val="0"/>
              </a:spcBef>
              <a:spcAft>
                <a:spcPts val="0"/>
              </a:spcAft>
              <a:buClr>
                <a:srgbClr val="543198"/>
              </a:buClr>
              <a:buSzPts val="2800"/>
              <a:buNone/>
              <a:defRPr b="1">
                <a:solidFill>
                  <a:srgbClr val="543198"/>
                </a:solidFill>
              </a:defRPr>
            </a:lvl3pPr>
            <a:lvl4pPr lvl="3" algn="l" rtl="1">
              <a:lnSpc>
                <a:spcPct val="100000"/>
              </a:lnSpc>
              <a:spcBef>
                <a:spcPts val="0"/>
              </a:spcBef>
              <a:spcAft>
                <a:spcPts val="0"/>
              </a:spcAft>
              <a:buClr>
                <a:srgbClr val="543198"/>
              </a:buClr>
              <a:buSzPts val="2800"/>
              <a:buNone/>
              <a:defRPr b="1">
                <a:solidFill>
                  <a:srgbClr val="543198"/>
                </a:solidFill>
              </a:defRPr>
            </a:lvl4pPr>
            <a:lvl5pPr lvl="4" algn="l" rtl="1">
              <a:lnSpc>
                <a:spcPct val="100000"/>
              </a:lnSpc>
              <a:spcBef>
                <a:spcPts val="0"/>
              </a:spcBef>
              <a:spcAft>
                <a:spcPts val="0"/>
              </a:spcAft>
              <a:buClr>
                <a:srgbClr val="543198"/>
              </a:buClr>
              <a:buSzPts val="2800"/>
              <a:buNone/>
              <a:defRPr b="1">
                <a:solidFill>
                  <a:srgbClr val="543198"/>
                </a:solidFill>
              </a:defRPr>
            </a:lvl5pPr>
            <a:lvl6pPr lvl="5" algn="l" rtl="1">
              <a:lnSpc>
                <a:spcPct val="100000"/>
              </a:lnSpc>
              <a:spcBef>
                <a:spcPts val="0"/>
              </a:spcBef>
              <a:spcAft>
                <a:spcPts val="0"/>
              </a:spcAft>
              <a:buClr>
                <a:srgbClr val="543198"/>
              </a:buClr>
              <a:buSzPts val="2800"/>
              <a:buNone/>
              <a:defRPr b="1">
                <a:solidFill>
                  <a:srgbClr val="543198"/>
                </a:solidFill>
              </a:defRPr>
            </a:lvl6pPr>
            <a:lvl7pPr lvl="6" algn="l" rtl="1">
              <a:lnSpc>
                <a:spcPct val="100000"/>
              </a:lnSpc>
              <a:spcBef>
                <a:spcPts val="0"/>
              </a:spcBef>
              <a:spcAft>
                <a:spcPts val="0"/>
              </a:spcAft>
              <a:buClr>
                <a:srgbClr val="543198"/>
              </a:buClr>
              <a:buSzPts val="2800"/>
              <a:buNone/>
              <a:defRPr b="1">
                <a:solidFill>
                  <a:srgbClr val="543198"/>
                </a:solidFill>
              </a:defRPr>
            </a:lvl7pPr>
            <a:lvl8pPr lvl="7" algn="l" rtl="1">
              <a:lnSpc>
                <a:spcPct val="100000"/>
              </a:lnSpc>
              <a:spcBef>
                <a:spcPts val="0"/>
              </a:spcBef>
              <a:spcAft>
                <a:spcPts val="0"/>
              </a:spcAft>
              <a:buClr>
                <a:srgbClr val="543198"/>
              </a:buClr>
              <a:buSzPts val="2800"/>
              <a:buNone/>
              <a:defRPr b="1">
                <a:solidFill>
                  <a:srgbClr val="543198"/>
                </a:solidFill>
              </a:defRPr>
            </a:lvl8pPr>
            <a:lvl9pPr lvl="8" algn="l" rtl="1">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0" name="Google Shape;20;p25"/>
          <p:cNvSpPr txBox="1">
            <a:spLocks noGrp="1"/>
          </p:cNvSpPr>
          <p:nvPr>
            <p:ph type="body" idx="1"/>
          </p:nvPr>
        </p:nvSpPr>
        <p:spPr>
          <a:xfrm>
            <a:off x="2758650" y="1334150"/>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rtl="1">
              <a:lnSpc>
                <a:spcPct val="100000"/>
              </a:lnSpc>
              <a:spcBef>
                <a:spcPts val="0"/>
              </a:spcBef>
              <a:spcAft>
                <a:spcPts val="0"/>
              </a:spcAft>
              <a:buSzPts val="3600"/>
              <a:buFont typeface="Tajawal"/>
              <a:buNone/>
              <a:defRPr sz="3600">
                <a:latin typeface="Tajawal"/>
                <a:ea typeface="Tajawal"/>
                <a:cs typeface="Tajawal"/>
                <a:sym typeface="Tajawal"/>
              </a:defRPr>
            </a:lvl1pPr>
            <a:lvl2pPr lvl="1" algn="ctr" rtl="1">
              <a:lnSpc>
                <a:spcPct val="100000"/>
              </a:lnSpc>
              <a:spcBef>
                <a:spcPts val="0"/>
              </a:spcBef>
              <a:spcAft>
                <a:spcPts val="0"/>
              </a:spcAft>
              <a:buSzPts val="3600"/>
              <a:buFont typeface="Tajawal"/>
              <a:buNone/>
              <a:defRPr sz="3600">
                <a:latin typeface="Tajawal"/>
                <a:ea typeface="Tajawal"/>
                <a:cs typeface="Tajawal"/>
                <a:sym typeface="Tajawal"/>
              </a:defRPr>
            </a:lvl2pPr>
            <a:lvl3pPr lvl="2" algn="ctr" rtl="1">
              <a:lnSpc>
                <a:spcPct val="100000"/>
              </a:lnSpc>
              <a:spcBef>
                <a:spcPts val="0"/>
              </a:spcBef>
              <a:spcAft>
                <a:spcPts val="0"/>
              </a:spcAft>
              <a:buSzPts val="3600"/>
              <a:buFont typeface="Tajawal"/>
              <a:buNone/>
              <a:defRPr sz="3600">
                <a:latin typeface="Tajawal"/>
                <a:ea typeface="Tajawal"/>
                <a:cs typeface="Tajawal"/>
                <a:sym typeface="Tajawal"/>
              </a:defRPr>
            </a:lvl3pPr>
            <a:lvl4pPr lvl="3" algn="ctr" rtl="1">
              <a:lnSpc>
                <a:spcPct val="100000"/>
              </a:lnSpc>
              <a:spcBef>
                <a:spcPts val="0"/>
              </a:spcBef>
              <a:spcAft>
                <a:spcPts val="0"/>
              </a:spcAft>
              <a:buSzPts val="3600"/>
              <a:buFont typeface="Tajawal"/>
              <a:buNone/>
              <a:defRPr sz="3600">
                <a:latin typeface="Tajawal"/>
                <a:ea typeface="Tajawal"/>
                <a:cs typeface="Tajawal"/>
                <a:sym typeface="Tajawal"/>
              </a:defRPr>
            </a:lvl4pPr>
            <a:lvl5pPr lvl="4" algn="ctr" rtl="1">
              <a:lnSpc>
                <a:spcPct val="100000"/>
              </a:lnSpc>
              <a:spcBef>
                <a:spcPts val="0"/>
              </a:spcBef>
              <a:spcAft>
                <a:spcPts val="0"/>
              </a:spcAft>
              <a:buSzPts val="3600"/>
              <a:buFont typeface="Tajawal"/>
              <a:buNone/>
              <a:defRPr sz="3600">
                <a:latin typeface="Tajawal"/>
                <a:ea typeface="Tajawal"/>
                <a:cs typeface="Tajawal"/>
                <a:sym typeface="Tajawal"/>
              </a:defRPr>
            </a:lvl5pPr>
            <a:lvl6pPr lvl="5" algn="ctr" rtl="1">
              <a:lnSpc>
                <a:spcPct val="100000"/>
              </a:lnSpc>
              <a:spcBef>
                <a:spcPts val="0"/>
              </a:spcBef>
              <a:spcAft>
                <a:spcPts val="0"/>
              </a:spcAft>
              <a:buSzPts val="3600"/>
              <a:buFont typeface="Tajawal"/>
              <a:buNone/>
              <a:defRPr sz="3600">
                <a:latin typeface="Tajawal"/>
                <a:ea typeface="Tajawal"/>
                <a:cs typeface="Tajawal"/>
                <a:sym typeface="Tajawal"/>
              </a:defRPr>
            </a:lvl6pPr>
            <a:lvl7pPr lvl="6" algn="ctr" rtl="1">
              <a:lnSpc>
                <a:spcPct val="100000"/>
              </a:lnSpc>
              <a:spcBef>
                <a:spcPts val="0"/>
              </a:spcBef>
              <a:spcAft>
                <a:spcPts val="0"/>
              </a:spcAft>
              <a:buSzPts val="3600"/>
              <a:buFont typeface="Tajawal"/>
              <a:buNone/>
              <a:defRPr sz="3600">
                <a:latin typeface="Tajawal"/>
                <a:ea typeface="Tajawal"/>
                <a:cs typeface="Tajawal"/>
                <a:sym typeface="Tajawal"/>
              </a:defRPr>
            </a:lvl7pPr>
            <a:lvl8pPr lvl="7" algn="ctr" rtl="1">
              <a:lnSpc>
                <a:spcPct val="100000"/>
              </a:lnSpc>
              <a:spcBef>
                <a:spcPts val="0"/>
              </a:spcBef>
              <a:spcAft>
                <a:spcPts val="0"/>
              </a:spcAft>
              <a:buSzPts val="3600"/>
              <a:buFont typeface="Tajawal"/>
              <a:buNone/>
              <a:defRPr sz="3600">
                <a:latin typeface="Tajawal"/>
                <a:ea typeface="Tajawal"/>
                <a:cs typeface="Tajawal"/>
                <a:sym typeface="Tajawal"/>
              </a:defRPr>
            </a:lvl8pPr>
            <a:lvl9pPr lvl="8" algn="ctr" rtl="1">
              <a:lnSpc>
                <a:spcPct val="100000"/>
              </a:lnSpc>
              <a:spcBef>
                <a:spcPts val="0"/>
              </a:spcBef>
              <a:spcAft>
                <a:spcPts val="0"/>
              </a:spcAft>
              <a:buSzPts val="3600"/>
              <a:buFont typeface="Tajawal"/>
              <a:buNone/>
              <a:defRPr sz="3600">
                <a:latin typeface="Tajawal"/>
                <a:ea typeface="Tajawal"/>
                <a:cs typeface="Tajawal"/>
                <a:sym typeface="Tajawal"/>
              </a:defRPr>
            </a:lvl9pPr>
          </a:lstStyle>
          <a:p>
            <a:endParaRPr/>
          </a:p>
        </p:txBody>
      </p:sp>
      <p:sp>
        <p:nvSpPr>
          <p:cNvPr id="25" name="Google Shape;25;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8" name="Google Shape;28;p28"/>
          <p:cNvSpPr txBox="1">
            <a:spLocks noGrp="1"/>
          </p:cNvSpPr>
          <p:nvPr>
            <p:ph type="title"/>
          </p:nvPr>
        </p:nvSpPr>
        <p:spPr>
          <a:xfrm>
            <a:off x="2079450" y="714175"/>
            <a:ext cx="6707400" cy="7773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a:lnSpc>
                <a:spcPct val="100000"/>
              </a:lnSpc>
              <a:spcBef>
                <a:spcPts val="0"/>
              </a:spcBef>
              <a:spcAft>
                <a:spcPts val="0"/>
              </a:spcAft>
              <a:buClr>
                <a:srgbClr val="543198"/>
              </a:buClr>
              <a:buSzPts val="2800"/>
              <a:buNone/>
              <a:defRPr b="1">
                <a:solidFill>
                  <a:srgbClr val="543198"/>
                </a:solidFill>
              </a:defRPr>
            </a:lvl2pPr>
            <a:lvl3pPr lvl="2" algn="l">
              <a:lnSpc>
                <a:spcPct val="100000"/>
              </a:lnSpc>
              <a:spcBef>
                <a:spcPts val="0"/>
              </a:spcBef>
              <a:spcAft>
                <a:spcPts val="0"/>
              </a:spcAft>
              <a:buClr>
                <a:srgbClr val="543198"/>
              </a:buClr>
              <a:buSzPts val="2800"/>
              <a:buNone/>
              <a:defRPr b="1">
                <a:solidFill>
                  <a:srgbClr val="543198"/>
                </a:solidFill>
              </a:defRPr>
            </a:lvl3pPr>
            <a:lvl4pPr lvl="3" algn="l">
              <a:lnSpc>
                <a:spcPct val="100000"/>
              </a:lnSpc>
              <a:spcBef>
                <a:spcPts val="0"/>
              </a:spcBef>
              <a:spcAft>
                <a:spcPts val="0"/>
              </a:spcAft>
              <a:buClr>
                <a:srgbClr val="543198"/>
              </a:buClr>
              <a:buSzPts val="2800"/>
              <a:buNone/>
              <a:defRPr b="1">
                <a:solidFill>
                  <a:srgbClr val="543198"/>
                </a:solidFill>
              </a:defRPr>
            </a:lvl4pPr>
            <a:lvl5pPr lvl="4" algn="l">
              <a:lnSpc>
                <a:spcPct val="100000"/>
              </a:lnSpc>
              <a:spcBef>
                <a:spcPts val="0"/>
              </a:spcBef>
              <a:spcAft>
                <a:spcPts val="0"/>
              </a:spcAft>
              <a:buClr>
                <a:srgbClr val="543198"/>
              </a:buClr>
              <a:buSzPts val="2800"/>
              <a:buNone/>
              <a:defRPr b="1">
                <a:solidFill>
                  <a:srgbClr val="543198"/>
                </a:solidFill>
              </a:defRPr>
            </a:lvl5pPr>
            <a:lvl6pPr lvl="5" algn="l">
              <a:lnSpc>
                <a:spcPct val="100000"/>
              </a:lnSpc>
              <a:spcBef>
                <a:spcPts val="0"/>
              </a:spcBef>
              <a:spcAft>
                <a:spcPts val="0"/>
              </a:spcAft>
              <a:buClr>
                <a:srgbClr val="543198"/>
              </a:buClr>
              <a:buSzPts val="2800"/>
              <a:buNone/>
              <a:defRPr b="1">
                <a:solidFill>
                  <a:srgbClr val="543198"/>
                </a:solidFill>
              </a:defRPr>
            </a:lvl6pPr>
            <a:lvl7pPr lvl="6" algn="l">
              <a:lnSpc>
                <a:spcPct val="100000"/>
              </a:lnSpc>
              <a:spcBef>
                <a:spcPts val="0"/>
              </a:spcBef>
              <a:spcAft>
                <a:spcPts val="0"/>
              </a:spcAft>
              <a:buClr>
                <a:srgbClr val="543198"/>
              </a:buClr>
              <a:buSzPts val="2800"/>
              <a:buNone/>
              <a:defRPr b="1">
                <a:solidFill>
                  <a:srgbClr val="543198"/>
                </a:solidFill>
              </a:defRPr>
            </a:lvl7pPr>
            <a:lvl8pPr lvl="7" algn="l">
              <a:lnSpc>
                <a:spcPct val="100000"/>
              </a:lnSpc>
              <a:spcBef>
                <a:spcPts val="0"/>
              </a:spcBef>
              <a:spcAft>
                <a:spcPts val="0"/>
              </a:spcAft>
              <a:buClr>
                <a:srgbClr val="543198"/>
              </a:buClr>
              <a:buSzPts val="2800"/>
              <a:buNone/>
              <a:defRPr b="1">
                <a:solidFill>
                  <a:srgbClr val="543198"/>
                </a:solidFill>
              </a:defRPr>
            </a:lvl8pPr>
            <a:lvl9pPr lvl="8" algn="l">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9" name="Google Shape;29;p28"/>
          <p:cNvSpPr txBox="1">
            <a:spLocks noGrp="1"/>
          </p:cNvSpPr>
          <p:nvPr>
            <p:ph type="body" idx="1"/>
          </p:nvPr>
        </p:nvSpPr>
        <p:spPr>
          <a:xfrm>
            <a:off x="2758650" y="1526325"/>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3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200"/>
              <a:buNone/>
              <a:defRPr sz="4200"/>
            </a:lvl1pPr>
            <a:lvl2pPr lvl="1" algn="ctr" rtl="1">
              <a:lnSpc>
                <a:spcPct val="100000"/>
              </a:lnSpc>
              <a:spcBef>
                <a:spcPts val="0"/>
              </a:spcBef>
              <a:spcAft>
                <a:spcPts val="0"/>
              </a:spcAft>
              <a:buSzPts val="4200"/>
              <a:buNone/>
              <a:defRPr sz="4200"/>
            </a:lvl2pPr>
            <a:lvl3pPr lvl="2" algn="ctr" rtl="1">
              <a:lnSpc>
                <a:spcPct val="100000"/>
              </a:lnSpc>
              <a:spcBef>
                <a:spcPts val="0"/>
              </a:spcBef>
              <a:spcAft>
                <a:spcPts val="0"/>
              </a:spcAft>
              <a:buSzPts val="4200"/>
              <a:buNone/>
              <a:defRPr sz="4200"/>
            </a:lvl3pPr>
            <a:lvl4pPr lvl="3" algn="ctr" rtl="1">
              <a:lnSpc>
                <a:spcPct val="100000"/>
              </a:lnSpc>
              <a:spcBef>
                <a:spcPts val="0"/>
              </a:spcBef>
              <a:spcAft>
                <a:spcPts val="0"/>
              </a:spcAft>
              <a:buSzPts val="4200"/>
              <a:buNone/>
              <a:defRPr sz="4200"/>
            </a:lvl4pPr>
            <a:lvl5pPr lvl="4" algn="ctr" rtl="1">
              <a:lnSpc>
                <a:spcPct val="100000"/>
              </a:lnSpc>
              <a:spcBef>
                <a:spcPts val="0"/>
              </a:spcBef>
              <a:spcAft>
                <a:spcPts val="0"/>
              </a:spcAft>
              <a:buSzPts val="4200"/>
              <a:buNone/>
              <a:defRPr sz="4200"/>
            </a:lvl5pPr>
            <a:lvl6pPr lvl="5" algn="ctr" rtl="1">
              <a:lnSpc>
                <a:spcPct val="100000"/>
              </a:lnSpc>
              <a:spcBef>
                <a:spcPts val="0"/>
              </a:spcBef>
              <a:spcAft>
                <a:spcPts val="0"/>
              </a:spcAft>
              <a:buSzPts val="4200"/>
              <a:buNone/>
              <a:defRPr sz="4200"/>
            </a:lvl6pPr>
            <a:lvl7pPr lvl="6" algn="ctr" rtl="1">
              <a:lnSpc>
                <a:spcPct val="100000"/>
              </a:lnSpc>
              <a:spcBef>
                <a:spcPts val="0"/>
              </a:spcBef>
              <a:spcAft>
                <a:spcPts val="0"/>
              </a:spcAft>
              <a:buSzPts val="4200"/>
              <a:buNone/>
              <a:defRPr sz="4200"/>
            </a:lvl7pPr>
            <a:lvl8pPr lvl="7" algn="ctr" rtl="1">
              <a:lnSpc>
                <a:spcPct val="100000"/>
              </a:lnSpc>
              <a:spcBef>
                <a:spcPts val="0"/>
              </a:spcBef>
              <a:spcAft>
                <a:spcPts val="0"/>
              </a:spcAft>
              <a:buSzPts val="4200"/>
              <a:buNone/>
              <a:defRPr sz="4200"/>
            </a:lvl8pPr>
            <a:lvl9pPr lvl="8" algn="ctr" rtl="1">
              <a:lnSpc>
                <a:spcPct val="100000"/>
              </a:lnSpc>
              <a:spcBef>
                <a:spcPts val="0"/>
              </a:spcBef>
              <a:spcAft>
                <a:spcPts val="0"/>
              </a:spcAft>
              <a:buSzPts val="4200"/>
              <a:buNone/>
              <a:defRPr sz="4200"/>
            </a:lvl9pPr>
          </a:lstStyle>
          <a:p>
            <a:endParaRPr/>
          </a:p>
        </p:txBody>
      </p:sp>
      <p:sp>
        <p:nvSpPr>
          <p:cNvPr id="36" name="Google Shape;36;p3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100"/>
              <a:buNone/>
              <a:defRPr sz="2100"/>
            </a:lvl1pPr>
            <a:lvl2pPr lvl="1" algn="ctr" rtl="1">
              <a:lnSpc>
                <a:spcPct val="100000"/>
              </a:lnSpc>
              <a:spcBef>
                <a:spcPts val="0"/>
              </a:spcBef>
              <a:spcAft>
                <a:spcPts val="0"/>
              </a:spcAft>
              <a:buSzPts val="2100"/>
              <a:buNone/>
              <a:defRPr sz="2100"/>
            </a:lvl2pPr>
            <a:lvl3pPr lvl="2" algn="ctr" rtl="1">
              <a:lnSpc>
                <a:spcPct val="100000"/>
              </a:lnSpc>
              <a:spcBef>
                <a:spcPts val="0"/>
              </a:spcBef>
              <a:spcAft>
                <a:spcPts val="0"/>
              </a:spcAft>
              <a:buSzPts val="2100"/>
              <a:buNone/>
              <a:defRPr sz="2100"/>
            </a:lvl3pPr>
            <a:lvl4pPr lvl="3" algn="ctr" rtl="1">
              <a:lnSpc>
                <a:spcPct val="100000"/>
              </a:lnSpc>
              <a:spcBef>
                <a:spcPts val="0"/>
              </a:spcBef>
              <a:spcAft>
                <a:spcPts val="0"/>
              </a:spcAft>
              <a:buSzPts val="2100"/>
              <a:buNone/>
              <a:defRPr sz="2100"/>
            </a:lvl4pPr>
            <a:lvl5pPr lvl="4" algn="ctr" rtl="1">
              <a:lnSpc>
                <a:spcPct val="100000"/>
              </a:lnSpc>
              <a:spcBef>
                <a:spcPts val="0"/>
              </a:spcBef>
              <a:spcAft>
                <a:spcPts val="0"/>
              </a:spcAft>
              <a:buSzPts val="2100"/>
              <a:buNone/>
              <a:defRPr sz="2100"/>
            </a:lvl5pPr>
            <a:lvl6pPr lvl="5" algn="ctr" rtl="1">
              <a:lnSpc>
                <a:spcPct val="100000"/>
              </a:lnSpc>
              <a:spcBef>
                <a:spcPts val="0"/>
              </a:spcBef>
              <a:spcAft>
                <a:spcPts val="0"/>
              </a:spcAft>
              <a:buSzPts val="2100"/>
              <a:buNone/>
              <a:defRPr sz="2100"/>
            </a:lvl6pPr>
            <a:lvl7pPr lvl="6" algn="ctr" rtl="1">
              <a:lnSpc>
                <a:spcPct val="100000"/>
              </a:lnSpc>
              <a:spcBef>
                <a:spcPts val="0"/>
              </a:spcBef>
              <a:spcAft>
                <a:spcPts val="0"/>
              </a:spcAft>
              <a:buSzPts val="2100"/>
              <a:buNone/>
              <a:defRPr sz="2100"/>
            </a:lvl7pPr>
            <a:lvl8pPr lvl="7" algn="ctr" rtl="1">
              <a:lnSpc>
                <a:spcPct val="100000"/>
              </a:lnSpc>
              <a:spcBef>
                <a:spcPts val="0"/>
              </a:spcBef>
              <a:spcAft>
                <a:spcPts val="0"/>
              </a:spcAft>
              <a:buSzPts val="2100"/>
              <a:buNone/>
              <a:defRPr sz="2100"/>
            </a:lvl8pPr>
            <a:lvl9pPr lvl="8" algn="ctr" rtl="1">
              <a:lnSpc>
                <a:spcPct val="100000"/>
              </a:lnSpc>
              <a:spcBef>
                <a:spcPts val="0"/>
              </a:spcBef>
              <a:spcAft>
                <a:spcPts val="0"/>
              </a:spcAft>
              <a:buSzPts val="2100"/>
              <a:buNone/>
              <a:defRPr sz="2100"/>
            </a:lvl9pPr>
          </a:lstStyle>
          <a:p>
            <a:endParaRPr/>
          </a:p>
        </p:txBody>
      </p:sp>
      <p:sp>
        <p:nvSpPr>
          <p:cNvPr id="37" name="Google Shape;37;p3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rtl="1">
              <a:lnSpc>
                <a:spcPct val="115000"/>
              </a:lnSpc>
              <a:spcBef>
                <a:spcPts val="0"/>
              </a:spcBef>
              <a:spcAft>
                <a:spcPts val="0"/>
              </a:spcAft>
              <a:buSzPts val="1800"/>
              <a:buChar char="●"/>
              <a:defRPr/>
            </a:lvl1pPr>
            <a:lvl2pPr marL="914400" lvl="1" indent="-317500" algn="l" rtl="1">
              <a:lnSpc>
                <a:spcPct val="115000"/>
              </a:lnSpc>
              <a:spcBef>
                <a:spcPts val="0"/>
              </a:spcBef>
              <a:spcAft>
                <a:spcPts val="0"/>
              </a:spcAft>
              <a:buSzPts val="1400"/>
              <a:buChar char="○"/>
              <a:defRPr/>
            </a:lvl2pPr>
            <a:lvl3pPr marL="1371600" lvl="2" indent="-317500" algn="l" rtl="1">
              <a:lnSpc>
                <a:spcPct val="115000"/>
              </a:lnSpc>
              <a:spcBef>
                <a:spcPts val="0"/>
              </a:spcBef>
              <a:spcAft>
                <a:spcPts val="0"/>
              </a:spcAft>
              <a:buSzPts val="1400"/>
              <a:buChar char="■"/>
              <a:defRPr/>
            </a:lvl3pPr>
            <a:lvl4pPr marL="1828800" lvl="3" indent="-317500" algn="l" rtl="1">
              <a:lnSpc>
                <a:spcPct val="115000"/>
              </a:lnSpc>
              <a:spcBef>
                <a:spcPts val="0"/>
              </a:spcBef>
              <a:spcAft>
                <a:spcPts val="0"/>
              </a:spcAft>
              <a:buSzPts val="1400"/>
              <a:buChar char="●"/>
              <a:defRPr/>
            </a:lvl4pPr>
            <a:lvl5pPr marL="2286000" lvl="4" indent="-317500" algn="l" rtl="1">
              <a:lnSpc>
                <a:spcPct val="115000"/>
              </a:lnSpc>
              <a:spcBef>
                <a:spcPts val="0"/>
              </a:spcBef>
              <a:spcAft>
                <a:spcPts val="0"/>
              </a:spcAft>
              <a:buSzPts val="1400"/>
              <a:buChar char="○"/>
              <a:defRPr/>
            </a:lvl5pPr>
            <a:lvl6pPr marL="2743200" lvl="5" indent="-317500" algn="l" rtl="1">
              <a:lnSpc>
                <a:spcPct val="115000"/>
              </a:lnSpc>
              <a:spcBef>
                <a:spcPts val="0"/>
              </a:spcBef>
              <a:spcAft>
                <a:spcPts val="0"/>
              </a:spcAft>
              <a:buSzPts val="1400"/>
              <a:buChar char="■"/>
              <a:defRPr/>
            </a:lvl6pPr>
            <a:lvl7pPr marL="3200400" lvl="6" indent="-317500" algn="l" rtl="1">
              <a:lnSpc>
                <a:spcPct val="115000"/>
              </a:lnSpc>
              <a:spcBef>
                <a:spcPts val="0"/>
              </a:spcBef>
              <a:spcAft>
                <a:spcPts val="0"/>
              </a:spcAft>
              <a:buSzPts val="1400"/>
              <a:buChar char="●"/>
              <a:defRPr/>
            </a:lvl7pPr>
            <a:lvl8pPr marL="3657600" lvl="7" indent="-317500" algn="l" rtl="1">
              <a:lnSpc>
                <a:spcPct val="115000"/>
              </a:lnSpc>
              <a:spcBef>
                <a:spcPts val="0"/>
              </a:spcBef>
              <a:spcAft>
                <a:spcPts val="0"/>
              </a:spcAft>
              <a:buSzPts val="1400"/>
              <a:buChar char="○"/>
              <a:defRPr/>
            </a:lvl8pPr>
            <a:lvl9pPr marL="4114800" lvl="8" indent="-317500" algn="l" rtl="1">
              <a:lnSpc>
                <a:spcPct val="115000"/>
              </a:lnSpc>
              <a:spcBef>
                <a:spcPts val="0"/>
              </a:spcBef>
              <a:spcAft>
                <a:spcPts val="0"/>
              </a:spcAft>
              <a:buSzPts val="1400"/>
              <a:buChar char="■"/>
              <a:defRPr/>
            </a:lvl9pPr>
          </a:lstStyle>
          <a:p>
            <a:endParaRPr/>
          </a:p>
        </p:txBody>
      </p:sp>
      <p:sp>
        <p:nvSpPr>
          <p:cNvPr id="38" name="Google Shape;38;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9">
            <a:alphaModFix/>
          </a:blip>
          <a:stretch>
            <a:fillRect/>
          </a:stretch>
        </a:blip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marR="0" lvl="0" algn="l" rtl="1">
              <a:lnSpc>
                <a:spcPct val="100000"/>
              </a:lnSpc>
              <a:spcBef>
                <a:spcPts val="0"/>
              </a:spcBef>
              <a:spcAft>
                <a:spcPts val="0"/>
              </a:spcAft>
              <a:buClr>
                <a:srgbClr val="4F29B7"/>
              </a:buClr>
              <a:buSzPts val="2500"/>
              <a:buFont typeface="IBM Plex Sans Arabic Medium"/>
              <a:buNone/>
              <a:defRPr sz="2500" b="0" i="0" u="none" strike="noStrike" cap="none">
                <a:solidFill>
                  <a:srgbClr val="4F29B7"/>
                </a:solidFill>
                <a:latin typeface="IBM Plex Sans Arabic Medium"/>
                <a:ea typeface="IBM Plex Sans Arabic Medium"/>
                <a:cs typeface="IBM Plex Sans Arabic Medium"/>
                <a:sym typeface="IBM Plex Sans Arabic Medium"/>
              </a:defRPr>
            </a:lvl1pPr>
            <a:lvl2pPr marR="0" lvl="1"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2pPr>
            <a:lvl3pPr marR="0" lvl="2"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3pPr>
            <a:lvl4pPr marR="0" lvl="3"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4pPr>
            <a:lvl5pPr marR="0" lvl="4"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5pPr>
            <a:lvl6pPr marR="0" lvl="5"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6pPr>
            <a:lvl7pPr marR="0" lvl="6"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7pPr>
            <a:lvl8pPr marR="0" lvl="7"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8pPr>
            <a:lvl9pPr marR="0" lvl="8"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9pPr>
          </a:lstStyle>
          <a:p>
            <a:endParaRPr/>
          </a:p>
        </p:txBody>
      </p:sp>
      <p:sp>
        <p:nvSpPr>
          <p:cNvPr id="7" name="Google Shape;7;p2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1">
              <a:lnSpc>
                <a:spcPct val="115000"/>
              </a:lnSpc>
              <a:spcBef>
                <a:spcPts val="0"/>
              </a:spcBef>
              <a:spcAft>
                <a:spcPts val="0"/>
              </a:spcAft>
              <a:buClr>
                <a:srgbClr val="252526"/>
              </a:buClr>
              <a:buSzPts val="1800"/>
              <a:buFont typeface="IBM Plex Sans Arabic"/>
              <a:buChar char="●"/>
              <a:defRPr sz="1800" b="0" i="0" u="none" strike="noStrike" cap="none">
                <a:solidFill>
                  <a:srgbClr val="252526"/>
                </a:solidFill>
                <a:latin typeface="IBM Plex Sans Arabic"/>
                <a:ea typeface="IBM Plex Sans Arabic"/>
                <a:cs typeface="IBM Plex Sans Arabic"/>
                <a:sym typeface="IBM Plex Sans Arabic"/>
              </a:defRPr>
            </a:lvl1pPr>
            <a:lvl2pPr marL="914400" marR="0" lvl="1"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2pPr>
            <a:lvl3pPr marL="1371600" marR="0" lvl="2"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3pPr>
            <a:lvl4pPr marL="1828800" marR="0" lvl="3"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4pPr>
            <a:lvl5pPr marL="2286000" marR="0" lvl="4"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5pPr>
            <a:lvl6pPr marL="2743200" marR="0" lvl="5"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6pPr>
            <a:lvl7pPr marL="3200400" marR="0" lvl="6"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7pPr>
            <a:lvl8pPr marL="3657600" marR="0" lvl="7"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8pPr>
            <a:lvl9pPr marL="4114800" marR="0" lvl="8"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9pPr>
          </a:lstStyle>
          <a:p>
            <a:endParaRPr/>
          </a:p>
        </p:txBody>
      </p:sp>
      <p:sp>
        <p:nvSpPr>
          <p:cNvPr id="8" name="Google Shape;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9" name="Google Shape;9;p22"/>
          <p:cNvPicPr preferRelativeResize="0"/>
          <p:nvPr/>
        </p:nvPicPr>
        <p:blipFill rotWithShape="1">
          <a:blip r:embed="rId10">
            <a:alphaModFix/>
          </a:blip>
          <a:srcRect/>
          <a:stretch/>
        </p:blipFill>
        <p:spPr>
          <a:xfrm>
            <a:off x="8030954" y="17475"/>
            <a:ext cx="1266092" cy="100790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 Type="http://schemas.openxmlformats.org/officeDocument/2006/relationships/notesSlide" Target="../notesSlides/notesSlide15.xml"/><Relationship Id="rId16" Type="http://schemas.openxmlformats.org/officeDocument/2006/relationships/image" Target="../media/image21.png"/><Relationship Id="rId1" Type="http://schemas.openxmlformats.org/officeDocument/2006/relationships/slideLayout" Target="../slideLayouts/slideLayout4.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title"/>
          </p:nvPr>
        </p:nvSpPr>
        <p:spPr>
          <a:xfrm>
            <a:off x="5435226" y="867625"/>
            <a:ext cx="2974200" cy="2262000"/>
          </a:xfrm>
          <a:prstGeom prst="rect">
            <a:avLst/>
          </a:prstGeom>
          <a:noFill/>
          <a:ln>
            <a:noFill/>
          </a:ln>
        </p:spPr>
        <p:txBody>
          <a:bodyPr spcFirstLastPara="1" wrap="square" lIns="91425" tIns="91425" rIns="91425" bIns="91425" anchor="b" anchorCtr="0">
            <a:normAutofit/>
          </a:bodyPr>
          <a:lstStyle/>
          <a:p>
            <a:pPr marL="0" lvl="0" indent="0" algn="r" rtl="0">
              <a:lnSpc>
                <a:spcPct val="100000"/>
              </a:lnSpc>
              <a:spcBef>
                <a:spcPts val="0"/>
              </a:spcBef>
              <a:spcAft>
                <a:spcPts val="0"/>
              </a:spcAft>
              <a:buSzPts val="12000"/>
              <a:buNone/>
            </a:pPr>
            <a:r>
              <a:rPr lang="en-US" sz="480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a:solidFill>
                <a:srgbClr val="58E3D8"/>
              </a:solidFill>
              <a:latin typeface="IBM Plex Sans Arabic SemiBold"/>
              <a:ea typeface="IBM Plex Sans Arabic SemiBold"/>
              <a:cs typeface="IBM Plex Sans Arabic SemiBold"/>
              <a:sym typeface="IBM Plex Sans Arabic SemiBold"/>
            </a:endParaRPr>
          </a:p>
        </p:txBody>
      </p:sp>
      <p:sp>
        <p:nvSpPr>
          <p:cNvPr id="44" name="Google Shape;44;p1"/>
          <p:cNvSpPr txBox="1">
            <a:spLocks noGrp="1"/>
          </p:cNvSpPr>
          <p:nvPr>
            <p:ph type="body" idx="4294967295"/>
          </p:nvPr>
        </p:nvSpPr>
        <p:spPr>
          <a:xfrm>
            <a:off x="3902100" y="3253272"/>
            <a:ext cx="4447500" cy="1973484"/>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1200"/>
              </a:spcAft>
              <a:buSzPts val="1800"/>
              <a:buNone/>
            </a:pPr>
            <a:r>
              <a:rPr lang="en-US" sz="3600" dirty="0">
                <a:solidFill>
                  <a:schemeClr val="lt1"/>
                </a:solidFill>
                <a:latin typeface="IBM Plex Sans Arabic Medium"/>
                <a:ea typeface="IBM Plex Sans Arabic Medium"/>
                <a:cs typeface="IBM Plex Sans Arabic Medium"/>
                <a:sym typeface="IBM Plex Sans Arabic Medium"/>
              </a:rPr>
              <a:t>Deep Learning</a:t>
            </a:r>
            <a:endParaRPr sz="3600" dirty="0">
              <a:solidFill>
                <a:schemeClr val="lt1"/>
              </a:solidFill>
              <a:latin typeface="IBM Plex Sans Arabic Medium"/>
              <a:ea typeface="IBM Plex Sans Arabic Medium"/>
              <a:cs typeface="IBM Plex Sans Arabic Medium"/>
              <a:sym typeface="IBM Plex Sans Arabic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2"/>
          <p:cNvSpPr txBox="1">
            <a:spLocks noGrp="1"/>
          </p:cNvSpPr>
          <p:nvPr>
            <p:ph type="ctrTitle"/>
          </p:nvPr>
        </p:nvSpPr>
        <p:spPr>
          <a:xfrm>
            <a:off x="492981" y="1807024"/>
            <a:ext cx="7975158" cy="2591900"/>
          </a:xfrm>
          <a:prstGeom prst="rect">
            <a:avLst/>
          </a:prstGeom>
          <a:noFill/>
          <a:ln>
            <a:noFill/>
          </a:ln>
        </p:spPr>
        <p:txBody>
          <a:bodyPr spcFirstLastPara="1" wrap="square" lIns="91425" tIns="91425" rIns="91425" bIns="91425" anchor="b" anchorCtr="0">
            <a:normAutofit fontScale="90000"/>
          </a:bodyPr>
          <a:lstStyle/>
          <a:p>
            <a:r>
              <a:rPr lang="en-GB" sz="4000" b="1" dirty="0"/>
              <a:t>Deployment of Deep Learning Models</a:t>
            </a:r>
            <a:br>
              <a:rPr lang="en-GB" sz="4000" b="1" dirty="0"/>
            </a:br>
            <a:br>
              <a:rPr lang="en-GB" sz="4000" b="1" dirty="0"/>
            </a:br>
            <a:br>
              <a:rPr lang="en-GB" sz="3200" b="1" i="0" u="none" strike="noStrike" dirty="0">
                <a:solidFill>
                  <a:srgbClr val="7030A0"/>
                </a:solidFill>
                <a:effectLst/>
                <a:latin typeface="Arial" panose="020B0604020202020204" pitchFamily="34" charset="0"/>
              </a:rPr>
            </a:br>
            <a:br>
              <a:rPr lang="en-US" sz="1800" dirty="0">
                <a:latin typeface="Calibri"/>
                <a:ea typeface="Calibri"/>
                <a:cs typeface="Calibri"/>
                <a:sym typeface="Calibri"/>
              </a:rPr>
            </a:br>
            <a:endParaRPr dirty="0"/>
          </a:p>
        </p:txBody>
      </p:sp>
      <p:sp>
        <p:nvSpPr>
          <p:cNvPr id="51" name="Google Shape;51;p2"/>
          <p:cNvSpPr txBox="1"/>
          <p:nvPr/>
        </p:nvSpPr>
        <p:spPr>
          <a:xfrm>
            <a:off x="3527778" y="4245036"/>
            <a:ext cx="4572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Calibri"/>
                <a:ea typeface="Calibri"/>
                <a:cs typeface="Calibri"/>
                <a:sym typeface="Calibri"/>
              </a:rPr>
              <a:t>By: Dr. Afshan Hashmi</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p:nvPr/>
        </p:nvSpPr>
        <p:spPr>
          <a:xfrm>
            <a:off x="1402680" y="1326871"/>
            <a:ext cx="6634716" cy="2277506"/>
          </a:xfrm>
          <a:prstGeom prst="rect">
            <a:avLst/>
          </a:prstGeom>
          <a:noFill/>
          <a:ln>
            <a:noFill/>
          </a:ln>
        </p:spPr>
        <p:txBody>
          <a:bodyPr spcFirstLastPara="1" wrap="square" lIns="91425" tIns="45700" rIns="91425" bIns="45700" anchor="t" anchorCtr="0">
            <a:spAutoFit/>
          </a:bodyPr>
          <a:lstStyle/>
          <a:p>
            <a:pPr marL="0" marR="0" lvl="0" indent="0" algn="just" rtl="0">
              <a:lnSpc>
                <a:spcPct val="125000"/>
              </a:lnSpc>
              <a:spcBef>
                <a:spcPts val="0"/>
              </a:spcBef>
              <a:spcAft>
                <a:spcPts val="0"/>
              </a:spcAft>
              <a:buNone/>
            </a:pPr>
            <a:r>
              <a:rPr lang="en-US" sz="2400" b="1" dirty="0">
                <a:solidFill>
                  <a:srgbClr val="7030A0"/>
                </a:solidFill>
              </a:rPr>
              <a:t>Topics Covered</a:t>
            </a:r>
            <a:r>
              <a:rPr lang="en-US" sz="2400" b="1" i="0" u="none" strike="noStrike" cap="none" dirty="0">
                <a:solidFill>
                  <a:srgbClr val="7030A0"/>
                </a:solidFill>
                <a:latin typeface="Arial"/>
                <a:ea typeface="Arial"/>
                <a:cs typeface="Arial"/>
                <a:sym typeface="Arial"/>
              </a:rPr>
              <a:t>:</a:t>
            </a:r>
            <a:endParaRPr lang="en-GB" b="0" i="0" u="none" strike="noStrike" dirty="0">
              <a:solidFill>
                <a:srgbClr val="000000"/>
              </a:solidFill>
              <a:effectLst/>
            </a:endParaRPr>
          </a:p>
          <a:p>
            <a:pPr marL="342900" indent="-342900" algn="l" rtl="0">
              <a:buFont typeface="+mj-lt"/>
              <a:buAutoNum type="arabicPeriod"/>
            </a:pPr>
            <a:r>
              <a:rPr lang="en-GB" b="1" dirty="0"/>
              <a:t>Deployment of deep learning model</a:t>
            </a:r>
          </a:p>
          <a:p>
            <a:pPr marL="342900" indent="-342900" algn="l" rtl="0">
              <a:buFont typeface="+mj-lt"/>
              <a:buAutoNum type="arabicPeriod"/>
            </a:pPr>
            <a:r>
              <a:rPr lang="en-GB" b="1" dirty="0"/>
              <a:t>Deployment Platforms</a:t>
            </a:r>
          </a:p>
          <a:p>
            <a:pPr marL="342900" indent="-342900" algn="l" rtl="0">
              <a:buFont typeface="+mj-lt"/>
              <a:buAutoNum type="arabicPeriod"/>
            </a:pPr>
            <a:r>
              <a:rPr lang="en-GB" sz="1400" b="1" i="0" u="none" strike="noStrike" dirty="0">
                <a:solidFill>
                  <a:schemeClr val="tx1"/>
                </a:solidFill>
                <a:effectLst/>
              </a:rPr>
              <a:t>Key Steps in deployment</a:t>
            </a:r>
          </a:p>
          <a:p>
            <a:pPr marL="342900" indent="-342900" algn="l" rtl="0">
              <a:buFont typeface="+mj-lt"/>
              <a:buAutoNum type="arabicPeriod"/>
            </a:pPr>
            <a:r>
              <a:rPr lang="en-GB" b="1" i="0" u="none" strike="noStrike" dirty="0">
                <a:solidFill>
                  <a:srgbClr val="000000"/>
                </a:solidFill>
                <a:effectLst/>
              </a:rPr>
              <a:t>Exporting models for deployment</a:t>
            </a:r>
          </a:p>
          <a:p>
            <a:pPr marL="342900" indent="-342900" algn="l" rtl="0">
              <a:buFont typeface="+mj-lt"/>
              <a:buAutoNum type="arabicPeriod"/>
            </a:pPr>
            <a:r>
              <a:rPr lang="en-GB" b="1" dirty="0"/>
              <a:t>Serving models with web framework</a:t>
            </a:r>
          </a:p>
          <a:p>
            <a:pPr marL="342900" indent="-342900" algn="l" rtl="0">
              <a:buFont typeface="+mj-lt"/>
              <a:buAutoNum type="arabicPeriod"/>
            </a:pPr>
            <a:r>
              <a:rPr lang="en-GB" b="1" dirty="0" err="1"/>
              <a:t>Tensorflow</a:t>
            </a:r>
            <a:r>
              <a:rPr lang="en-GB" b="1" dirty="0"/>
              <a:t> serving for production</a:t>
            </a:r>
          </a:p>
          <a:p>
            <a:pPr marL="342900" indent="-342900" algn="l" rtl="0">
              <a:buFont typeface="+mj-lt"/>
              <a:buAutoNum type="arabicPeriod"/>
            </a:pPr>
            <a:endParaRPr lang="en-GB" b="0" i="0" u="none" strike="noStrike" dirty="0">
              <a:solidFill>
                <a:srgbClr val="000000"/>
              </a:solidFill>
              <a:effectLst/>
            </a:endParaRPr>
          </a:p>
          <a:p>
            <a:pPr marL="342900" indent="-342900" algn="l" rtl="0">
              <a:buFont typeface="+mj-lt"/>
              <a:buAutoNum type="arabicPeriod"/>
            </a:pPr>
            <a:endParaRPr lang="en-GB" b="0" i="0" u="none" strike="noStrike" dirty="0">
              <a:solidFill>
                <a:srgbClr val="000000"/>
              </a:solidFill>
              <a:effectLs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4EF5623-6B09-C586-D026-E1815682342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1B8CE39D-1BAA-9EAF-5C66-19BBE6DD2056}"/>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a:bodyPr>
          <a:lstStyle/>
          <a:p>
            <a:pPr>
              <a:buNone/>
            </a:pPr>
            <a:r>
              <a:rPr lang="en-GB" sz="2800" b="1" dirty="0"/>
              <a:t>Deployment of Deep Learning Models</a:t>
            </a:r>
          </a:p>
        </p:txBody>
      </p:sp>
      <p:sp>
        <p:nvSpPr>
          <p:cNvPr id="4" name="AutoShape 2" descr="Optimized Python with Numba library">
            <a:extLst>
              <a:ext uri="{FF2B5EF4-FFF2-40B4-BE49-F238E27FC236}">
                <a16:creationId xmlns:a16="http://schemas.microsoft.com/office/drawing/2014/main" id="{A4482F75-B306-CAB6-0919-E013D5E5A03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91F168CB-0CDB-B6DB-AE67-BA9ABA3C3998}"/>
              </a:ext>
            </a:extLst>
          </p:cNvPr>
          <p:cNvSpPr txBox="1"/>
          <p:nvPr/>
        </p:nvSpPr>
        <p:spPr>
          <a:xfrm>
            <a:off x="127220" y="686618"/>
            <a:ext cx="8102379" cy="5177315"/>
          </a:xfrm>
          <a:prstGeom prst="rect">
            <a:avLst/>
          </a:prstGeom>
          <a:noFill/>
        </p:spPr>
        <p:txBody>
          <a:bodyPr wrap="square">
            <a:spAutoFit/>
          </a:bodyPr>
          <a:lstStyle/>
          <a:p>
            <a:pPr>
              <a:lnSpc>
                <a:spcPct val="115000"/>
              </a:lnSpc>
              <a:spcAft>
                <a:spcPts val="800"/>
              </a:spcAft>
            </a:pPr>
            <a:r>
              <a:rPr lang="en-GB" sz="1800" kern="0" dirty="0">
                <a:effectLst/>
                <a:latin typeface="Arial" panose="020B0604020202020204" pitchFamily="34" charset="0"/>
                <a:ea typeface="Times New Roman" panose="02020603050405020304" pitchFamily="18" charset="0"/>
                <a:cs typeface="Arial" panose="020B0604020202020204" pitchFamily="34" charset="0"/>
              </a:rPr>
              <a:t>Deploying deep learning models involves making a trained model available for use in a real-world application or system, enabling it to generate predictions or make decisions. This process transforms the model from an offline, experimental state into a functional tool within a larger system. Effective deployment is crucial for realizing the benefits of deep learning models in practical scenarios. </a:t>
            </a:r>
            <a:endParaRPr lang="en-GB" sz="1800" kern="100" dirty="0">
              <a:latin typeface="Arial" panose="020B0604020202020204" pitchFamily="34" charset="0"/>
              <a:ea typeface="Times New Roman" panose="02020603050405020304" pitchFamily="18" charset="0"/>
              <a:cs typeface="Arial" panose="020B0604020202020204" pitchFamily="34" charset="0"/>
            </a:endParaRPr>
          </a:p>
          <a:p>
            <a:pPr>
              <a:lnSpc>
                <a:spcPct val="115000"/>
              </a:lnSpc>
              <a:spcAft>
                <a:spcPts val="800"/>
              </a:spcAft>
            </a:pPr>
            <a:r>
              <a:rPr lang="en-GB" sz="1600" b="0" dirty="0">
                <a:effectLst/>
              </a:rPr>
              <a:t>Examples of Deployment:</a:t>
            </a:r>
          </a:p>
          <a:p>
            <a:pPr marL="342900" indent="-342900" fontAlgn="ctr">
              <a:spcBef>
                <a:spcPts val="750"/>
              </a:spcBef>
              <a:spcAft>
                <a:spcPts val="600"/>
              </a:spcAft>
              <a:buFont typeface="+mj-lt"/>
              <a:buAutoNum type="arabicPeriod"/>
            </a:pPr>
            <a:r>
              <a:rPr lang="en-GB" sz="1600" b="1" dirty="0">
                <a:effectLst/>
              </a:rPr>
              <a:t>Web Applications:</a:t>
            </a:r>
            <a:r>
              <a:rPr lang="en-GB" sz="1600" dirty="0">
                <a:effectLst/>
              </a:rPr>
              <a:t> Deploying a model to a web server to provide real-time predictions via an API. </a:t>
            </a:r>
          </a:p>
          <a:p>
            <a:pPr marL="342900" indent="-342900" fontAlgn="ctr">
              <a:spcBef>
                <a:spcPts val="750"/>
              </a:spcBef>
              <a:spcAft>
                <a:spcPts val="600"/>
              </a:spcAft>
              <a:buFont typeface="+mj-lt"/>
              <a:buAutoNum type="arabicPeriod"/>
            </a:pPr>
            <a:r>
              <a:rPr lang="en-GB" sz="1600" b="1" dirty="0">
                <a:effectLst/>
              </a:rPr>
              <a:t>Mobile Applications:</a:t>
            </a:r>
            <a:r>
              <a:rPr lang="en-GB" sz="1600" dirty="0">
                <a:effectLst/>
              </a:rPr>
              <a:t> Integrating a model into a mobile app for on-device processing. </a:t>
            </a:r>
          </a:p>
          <a:p>
            <a:pPr marL="342900" indent="-342900" fontAlgn="ctr">
              <a:spcBef>
                <a:spcPts val="750"/>
              </a:spcBef>
              <a:spcAft>
                <a:spcPts val="1500"/>
              </a:spcAft>
              <a:buFont typeface="+mj-lt"/>
              <a:buAutoNum type="arabicPeriod"/>
            </a:pPr>
            <a:r>
              <a:rPr lang="en-GB" sz="1600" b="1" dirty="0">
                <a:effectLst/>
              </a:rPr>
              <a:t>Cloud Services:</a:t>
            </a:r>
            <a:r>
              <a:rPr lang="en-GB" sz="1600" dirty="0">
                <a:effectLst/>
              </a:rPr>
              <a:t> Utilizing cloud platforms to host and manage models for various applications. </a:t>
            </a:r>
          </a:p>
          <a:p>
            <a:pPr>
              <a:buNone/>
            </a:pPr>
            <a:br>
              <a:rPr lang="en-GB" sz="2000" dirty="0"/>
            </a:br>
            <a:endParaRPr lang="en-GB" sz="1600" b="1" dirty="0">
              <a:latin typeface="+mj-lt"/>
            </a:endParaRPr>
          </a:p>
        </p:txBody>
      </p:sp>
    </p:spTree>
    <p:extLst>
      <p:ext uri="{BB962C8B-B14F-4D97-AF65-F5344CB8AC3E}">
        <p14:creationId xmlns:p14="http://schemas.microsoft.com/office/powerpoint/2010/main" val="2377176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2C179245-137F-67F9-2E05-2A73F9E590A4}"/>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B4895422-AF95-F2F7-FACD-DCF1236BFB89}"/>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dirty="0">
                <a:solidFill>
                  <a:srgbClr val="7030A0"/>
                </a:solidFill>
              </a:rPr>
              <a:t>Deployment Platforms</a:t>
            </a: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53142855-31B3-B00B-D5F7-C77B4057FEA1}"/>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82CF73AC-550B-53A3-1A6F-6F1C60520B55}"/>
              </a:ext>
            </a:extLst>
          </p:cNvPr>
          <p:cNvSpPr txBox="1"/>
          <p:nvPr/>
        </p:nvSpPr>
        <p:spPr>
          <a:xfrm>
            <a:off x="79513" y="511689"/>
            <a:ext cx="8090266" cy="4431983"/>
          </a:xfrm>
          <a:prstGeom prst="rect">
            <a:avLst/>
          </a:prstGeom>
          <a:noFill/>
        </p:spPr>
        <p:txBody>
          <a:bodyPr wrap="square">
            <a:spAutoFit/>
          </a:bodyPr>
          <a:lstStyle/>
          <a:p>
            <a:pPr algn="l">
              <a:buNone/>
            </a:pPr>
            <a:endParaRPr lang="en-GB" b="0" i="0" u="none" strike="noStrike" dirty="0">
              <a:solidFill>
                <a:srgbClr val="000000"/>
              </a:solidFill>
              <a:effectLst/>
            </a:endParaRPr>
          </a:p>
          <a:p>
            <a:pPr algn="l">
              <a:buFont typeface="+mj-lt"/>
              <a:buAutoNum type="arabicPeriod"/>
            </a:pPr>
            <a:r>
              <a:rPr lang="en-GB" b="1" i="0" u="none" strike="noStrike" dirty="0">
                <a:solidFill>
                  <a:srgbClr val="000000"/>
                </a:solidFill>
                <a:effectLst/>
              </a:rPr>
              <a:t>On Your Own Computers (On-premises):</a:t>
            </a:r>
            <a:r>
              <a:rPr lang="en-GB" dirty="0"/>
              <a:t> </a:t>
            </a:r>
            <a:r>
              <a:rPr lang="en-GB" b="0" i="0" u="none" strike="noStrike" dirty="0">
                <a:solidFill>
                  <a:srgbClr val="000000"/>
                </a:solidFill>
                <a:effectLst/>
              </a:rPr>
              <a:t>You install and run the model directly on your company's own servers and computer systems. You're responsible for all the hardware, software, and maintenance.</a:t>
            </a:r>
          </a:p>
          <a:p>
            <a:pPr algn="l"/>
            <a:r>
              <a:rPr lang="en-GB" b="1" i="0" u="none" strike="noStrike" dirty="0">
                <a:solidFill>
                  <a:srgbClr val="000000"/>
                </a:solidFill>
                <a:effectLst/>
              </a:rPr>
              <a:t>Why choose it:</a:t>
            </a:r>
            <a:r>
              <a:rPr lang="en-GB" b="0" i="0" u="none" strike="noStrike" dirty="0">
                <a:solidFill>
                  <a:srgbClr val="000000"/>
                </a:solidFill>
                <a:effectLst/>
              </a:rPr>
              <a:t> You have complete control over everything, which can be important for security or specific customization needs.</a:t>
            </a:r>
          </a:p>
          <a:p>
            <a:pPr algn="l"/>
            <a:r>
              <a:rPr lang="en-GB" dirty="0"/>
              <a:t>2. </a:t>
            </a:r>
            <a:r>
              <a:rPr lang="en-GB" b="1" i="0" u="none" strike="noStrike" dirty="0">
                <a:solidFill>
                  <a:srgbClr val="000000"/>
                </a:solidFill>
                <a:effectLst/>
              </a:rPr>
              <a:t>Using Cloud Services (Cloud-based):</a:t>
            </a:r>
            <a:r>
              <a:rPr lang="en-GB" dirty="0"/>
              <a:t> </a:t>
            </a:r>
            <a:r>
              <a:rPr lang="en-GB" b="0" i="0" u="none" strike="noStrike" dirty="0">
                <a:solidFill>
                  <a:srgbClr val="000000"/>
                </a:solidFill>
                <a:effectLst/>
              </a:rPr>
              <a:t>Instead of buying and managing your own computers, you rent computing power and services from big tech companies like Amazon (AWS), Microsoft (Azure), or Google (Google Cloud). They handle the infrastructure, and you just use their services to run your model.</a:t>
            </a:r>
          </a:p>
          <a:p>
            <a:pPr algn="l"/>
            <a:r>
              <a:rPr lang="en-GB" b="1" i="0" u="none" strike="noStrike" dirty="0">
                <a:solidFill>
                  <a:srgbClr val="000000"/>
                </a:solidFill>
                <a:effectLst/>
              </a:rPr>
              <a:t>Why choose it:</a:t>
            </a:r>
            <a:r>
              <a:rPr lang="en-GB" b="0" i="0" u="none" strike="noStrike" dirty="0">
                <a:solidFill>
                  <a:srgbClr val="000000"/>
                </a:solidFill>
                <a:effectLst/>
              </a:rPr>
              <a:t> Very flexible and scalable (you can easily handle more users or data), often more cost-effective for varying workloads, and you don't have to worry about maintaining the physical hardware.</a:t>
            </a:r>
          </a:p>
          <a:p>
            <a:pPr algn="l"/>
            <a:r>
              <a:rPr lang="en-GB" b="1" i="0" u="none" strike="noStrike" dirty="0">
                <a:solidFill>
                  <a:srgbClr val="000000"/>
                </a:solidFill>
                <a:effectLst/>
              </a:rPr>
              <a:t>3. On Small Devices (Edge Deployment):</a:t>
            </a:r>
            <a:r>
              <a:rPr lang="en-GB" b="0" i="0" u="none" strike="noStrike" dirty="0">
                <a:solidFill>
                  <a:srgbClr val="000000"/>
                </a:solidFill>
                <a:effectLst/>
              </a:rPr>
              <a:t>You run the model directly on devices that have limited computing power, like smartphones, smart speakers, security cameras, or other internet-connected gadgets (IoT devices). Because these devices aren't very powerful, the models often need to be made smaller and more efficient (optimized). </a:t>
            </a:r>
          </a:p>
          <a:p>
            <a:pPr algn="l"/>
            <a:r>
              <a:rPr lang="en-GB" b="1" i="0" u="none" strike="noStrike" dirty="0">
                <a:solidFill>
                  <a:srgbClr val="000000"/>
                </a:solidFill>
                <a:effectLst/>
              </a:rPr>
              <a:t>Why choose it:</a:t>
            </a:r>
            <a:r>
              <a:rPr lang="en-GB" b="0" i="0" u="none" strike="noStrike" dirty="0">
                <a:solidFill>
                  <a:srgbClr val="000000"/>
                </a:solidFill>
                <a:effectLst/>
              </a:rPr>
              <a:t> Faster response times (no need to send data to the cloud and back), works offline, and can improve data privacy by processing information locally.</a:t>
            </a:r>
          </a:p>
          <a:p>
            <a:pPr algn="l">
              <a:buNone/>
            </a:pPr>
            <a:endParaRPr lang="en-GB" sz="1600" b="0" i="0" u="none" strike="noStrike" dirty="0">
              <a:solidFill>
                <a:srgbClr val="000000"/>
              </a:solidFill>
              <a:effectLst/>
            </a:endParaRPr>
          </a:p>
        </p:txBody>
      </p:sp>
    </p:spTree>
    <p:extLst>
      <p:ext uri="{BB962C8B-B14F-4D97-AF65-F5344CB8AC3E}">
        <p14:creationId xmlns:p14="http://schemas.microsoft.com/office/powerpoint/2010/main" val="2194060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32E869E3-5FE7-A655-147B-4587AE981B75}"/>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9186ECF3-5789-6B9B-E7D7-37890C921ACA}"/>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kern="0" dirty="0">
                <a:solidFill>
                  <a:srgbClr val="7030A0"/>
                </a:solidFill>
                <a:effectLst/>
                <a:latin typeface="Helvetica Neue" panose="02000503000000020004" pitchFamily="2" charset="0"/>
                <a:ea typeface="Times New Roman" panose="02020603050405020304" pitchFamily="18" charset="0"/>
                <a:cs typeface="Times New Roman" panose="02020603050405020304" pitchFamily="18" charset="0"/>
              </a:rPr>
              <a:t>Key Steps in Deployment:</a:t>
            </a:r>
            <a:br>
              <a:rPr lang="en-GB" sz="2400" kern="100" dirty="0">
                <a:solidFill>
                  <a:srgbClr val="7030A0"/>
                </a:solidFill>
                <a:effectLst/>
                <a:latin typeface="Aptos" panose="020B0004020202020204" pitchFamily="34" charset="0"/>
                <a:ea typeface="Aptos" panose="020B0004020202020204" pitchFamily="34" charset="0"/>
                <a:cs typeface="Arial" panose="020B0604020202020204" pitchFamily="34" charset="0"/>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7E6A667A-2DB8-9E5C-F623-5CA5D79482E7}"/>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2C531382-20D4-23FE-AEF6-E6B8C9C25C1E}"/>
              </a:ext>
            </a:extLst>
          </p:cNvPr>
          <p:cNvSpPr txBox="1"/>
          <p:nvPr/>
        </p:nvSpPr>
        <p:spPr>
          <a:xfrm>
            <a:off x="79513" y="511689"/>
            <a:ext cx="6742706" cy="3863622"/>
          </a:xfrm>
          <a:prstGeom prst="rect">
            <a:avLst/>
          </a:prstGeom>
          <a:noFill/>
        </p:spPr>
        <p:txBody>
          <a:bodyPr wrap="square">
            <a:spAutoFit/>
          </a:bodyPr>
          <a:lstStyle/>
          <a:p>
            <a:pPr marL="342900" lvl="0" indent="-342900">
              <a:lnSpc>
                <a:spcPct val="115000"/>
              </a:lnSpc>
              <a:spcAft>
                <a:spcPts val="600"/>
              </a:spcAft>
              <a:buSzPts val="1000"/>
              <a:buFont typeface="+mj-lt"/>
              <a:buAutoNum type="arabicPeriod"/>
              <a:tabLst>
                <a:tab pos="457200" algn="l"/>
              </a:tabLst>
            </a:pPr>
            <a:r>
              <a:rPr lang="en-GB" sz="1600" b="1" kern="0" dirty="0">
                <a:solidFill>
                  <a:srgbClr val="001D35"/>
                </a:solidFill>
                <a:effectLst/>
                <a:latin typeface="Arial" panose="020B0604020202020204" pitchFamily="34" charset="0"/>
                <a:ea typeface="Times New Roman" panose="02020603050405020304" pitchFamily="18" charset="0"/>
                <a:cs typeface="Arial" panose="020B0604020202020204" pitchFamily="34" charset="0"/>
              </a:rPr>
              <a:t>Model Preparation:</a:t>
            </a:r>
            <a:endParaRPr lang="en-GB" sz="1600" kern="100" dirty="0">
              <a:effectLst/>
              <a:latin typeface="Arial" panose="020B0604020202020204" pitchFamily="34" charset="0"/>
              <a:ea typeface="Aptos" panose="020B0004020202020204" pitchFamily="34" charset="0"/>
              <a:cs typeface="Arial" panose="020B0604020202020204" pitchFamily="34" charset="0"/>
            </a:endParaRPr>
          </a:p>
          <a:p>
            <a:pPr marL="800100" lvl="1" indent="-342900">
              <a:lnSpc>
                <a:spcPct val="115000"/>
              </a:lnSpc>
              <a:spcAft>
                <a:spcPts val="600"/>
              </a:spcAft>
              <a:buSzPts val="1000"/>
              <a:buFont typeface="+mj-lt"/>
              <a:buAutoNum type="alphaLcPeriod"/>
              <a:tabLst>
                <a:tab pos="914400" algn="l"/>
              </a:tabLst>
            </a:pPr>
            <a:r>
              <a:rPr lang="en-GB" sz="1600" b="1" kern="0" spc="10" dirty="0">
                <a:solidFill>
                  <a:srgbClr val="001D35"/>
                </a:solidFill>
                <a:effectLst/>
                <a:latin typeface="Arial" panose="020B0604020202020204" pitchFamily="34" charset="0"/>
                <a:ea typeface="Times New Roman" panose="02020603050405020304" pitchFamily="18" charset="0"/>
                <a:cs typeface="Arial" panose="020B0604020202020204" pitchFamily="34" charset="0"/>
              </a:rPr>
              <a:t>Optimization:</a:t>
            </a:r>
            <a:r>
              <a:rPr lang="en-GB" sz="1600" kern="0" spc="10" dirty="0">
                <a:solidFill>
                  <a:srgbClr val="001D35"/>
                </a:solidFill>
                <a:effectLst/>
                <a:latin typeface="Arial" panose="020B0604020202020204" pitchFamily="34" charset="0"/>
                <a:ea typeface="Times New Roman" panose="02020603050405020304" pitchFamily="18" charset="0"/>
                <a:cs typeface="Arial" panose="020B0604020202020204" pitchFamily="34" charset="0"/>
              </a:rPr>
              <a:t> Techniques like quantization, pruning, or knowledge distillation are used to reduce model size and improve performance for specific hardware. </a:t>
            </a:r>
            <a:endParaRPr lang="en-GB" sz="1600" kern="100" dirty="0">
              <a:effectLst/>
              <a:latin typeface="Arial" panose="020B0604020202020204" pitchFamily="34" charset="0"/>
              <a:ea typeface="Aptos" panose="020B0004020202020204" pitchFamily="34" charset="0"/>
              <a:cs typeface="Arial" panose="020B0604020202020204" pitchFamily="34" charset="0"/>
            </a:endParaRPr>
          </a:p>
          <a:p>
            <a:pPr marL="800100" lvl="1" indent="-342900">
              <a:lnSpc>
                <a:spcPct val="115000"/>
              </a:lnSpc>
              <a:spcAft>
                <a:spcPts val="800"/>
              </a:spcAft>
              <a:buSzPts val="1000"/>
              <a:buFont typeface="+mj-lt"/>
              <a:buAutoNum type="alphaLcPeriod"/>
              <a:tabLst>
                <a:tab pos="914400" algn="l"/>
              </a:tabLst>
            </a:pPr>
            <a:r>
              <a:rPr lang="en-GB" sz="1600" b="1" kern="0" spc="10" dirty="0">
                <a:solidFill>
                  <a:srgbClr val="001D35"/>
                </a:solidFill>
                <a:effectLst/>
                <a:latin typeface="Arial" panose="020B0604020202020204" pitchFamily="34" charset="0"/>
                <a:ea typeface="Times New Roman" panose="02020603050405020304" pitchFamily="18" charset="0"/>
                <a:cs typeface="Arial" panose="020B0604020202020204" pitchFamily="34" charset="0"/>
              </a:rPr>
              <a:t>Conversion:</a:t>
            </a:r>
            <a:r>
              <a:rPr lang="en-GB" sz="1600" kern="0" spc="10" dirty="0">
                <a:solidFill>
                  <a:srgbClr val="001D35"/>
                </a:solidFill>
                <a:effectLst/>
                <a:latin typeface="Arial" panose="020B0604020202020204" pitchFamily="34" charset="0"/>
                <a:ea typeface="Times New Roman" panose="02020603050405020304" pitchFamily="18" charset="0"/>
                <a:cs typeface="Arial" panose="020B0604020202020204" pitchFamily="34" charset="0"/>
              </a:rPr>
              <a:t> Models may need to be converted to formats compatible with the chosen deployment environment (e.g., TensorFlow Lite for Android, ONNX for cross-platform compatibility). </a:t>
            </a:r>
            <a:endParaRPr lang="en-GB" sz="1600" kern="100" dirty="0">
              <a:effectLst/>
              <a:latin typeface="Arial" panose="020B0604020202020204" pitchFamily="34" charset="0"/>
              <a:ea typeface="Aptos" panose="020B0004020202020204" pitchFamily="34" charset="0"/>
              <a:cs typeface="Arial" panose="020B0604020202020204" pitchFamily="34" charset="0"/>
            </a:endParaRPr>
          </a:p>
          <a:p>
            <a:pPr marL="342900" lvl="0" indent="-342900">
              <a:lnSpc>
                <a:spcPct val="115000"/>
              </a:lnSpc>
              <a:spcAft>
                <a:spcPts val="600"/>
              </a:spcAft>
              <a:buSzPts val="1000"/>
              <a:buFont typeface="+mj-lt"/>
              <a:buAutoNum type="arabicPeriod"/>
              <a:tabLst>
                <a:tab pos="457200" algn="l"/>
              </a:tabLst>
            </a:pPr>
            <a:r>
              <a:rPr lang="en-GB" sz="1600" b="1" kern="0" dirty="0">
                <a:solidFill>
                  <a:srgbClr val="001D35"/>
                </a:solidFill>
                <a:effectLst/>
                <a:latin typeface="Arial" panose="020B0604020202020204" pitchFamily="34" charset="0"/>
                <a:ea typeface="Times New Roman" panose="02020603050405020304" pitchFamily="18" charset="0"/>
                <a:cs typeface="Arial" panose="020B0604020202020204" pitchFamily="34" charset="0"/>
              </a:rPr>
              <a:t>Integration:</a:t>
            </a:r>
            <a:endParaRPr lang="en-GB" sz="1600" kern="100" dirty="0">
              <a:effectLst/>
              <a:latin typeface="Arial" panose="020B0604020202020204" pitchFamily="34" charset="0"/>
              <a:ea typeface="Aptos" panose="020B0004020202020204" pitchFamily="34" charset="0"/>
              <a:cs typeface="Arial" panose="020B0604020202020204" pitchFamily="34" charset="0"/>
            </a:endParaRPr>
          </a:p>
          <a:p>
            <a:pPr marL="190500">
              <a:lnSpc>
                <a:spcPct val="115000"/>
              </a:lnSpc>
              <a:spcAft>
                <a:spcPts val="600"/>
              </a:spcAft>
              <a:buNone/>
            </a:pPr>
            <a:r>
              <a:rPr lang="en-GB" sz="1600" kern="0" spc="10" dirty="0">
                <a:solidFill>
                  <a:srgbClr val="001D35"/>
                </a:solidFill>
                <a:effectLst/>
                <a:latin typeface="Arial" panose="020B0604020202020204" pitchFamily="34" charset="0"/>
                <a:ea typeface="Times New Roman" panose="02020603050405020304" pitchFamily="18" charset="0"/>
                <a:cs typeface="Arial" panose="020B0604020202020204" pitchFamily="34" charset="0"/>
              </a:rPr>
              <a:t>The model is integrated into an existing system, such as a web application, mobile app, or backend service. </a:t>
            </a:r>
            <a:endParaRPr lang="en-GB" sz="1600" kern="100" dirty="0">
              <a:effectLst/>
              <a:latin typeface="Arial" panose="020B0604020202020204" pitchFamily="34" charset="0"/>
              <a:ea typeface="Aptos" panose="020B0004020202020204" pitchFamily="34" charset="0"/>
              <a:cs typeface="Arial" panose="020B0604020202020204" pitchFamily="34" charset="0"/>
            </a:endParaRPr>
          </a:p>
          <a:p>
            <a:pPr algn="l">
              <a:buNone/>
            </a:pPr>
            <a:endParaRPr lang="en-GB" sz="1600" b="0" i="0" u="none" strike="noStrike" dirty="0">
              <a:solidFill>
                <a:srgbClr val="000000"/>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31061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23F0573F-D915-AC88-1D42-1477793174C1}"/>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A2FE1E5B-9657-43D2-78AF-F1287283FA96}"/>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kern="0" dirty="0">
                <a:solidFill>
                  <a:srgbClr val="7030A0"/>
                </a:solidFill>
                <a:effectLst/>
                <a:latin typeface="Helvetica Neue" panose="02000503000000020004" pitchFamily="2" charset="0"/>
                <a:ea typeface="Times New Roman" panose="02020603050405020304" pitchFamily="18" charset="0"/>
                <a:cs typeface="Times New Roman" panose="02020603050405020304" pitchFamily="18" charset="0"/>
              </a:rPr>
              <a:t>Key Steps in Deployment:</a:t>
            </a:r>
            <a:br>
              <a:rPr lang="en-GB" sz="2400" kern="100" dirty="0">
                <a:solidFill>
                  <a:srgbClr val="7030A0"/>
                </a:solidFill>
                <a:effectLst/>
                <a:latin typeface="Aptos" panose="020B0004020202020204" pitchFamily="34" charset="0"/>
                <a:ea typeface="Aptos" panose="020B0004020202020204" pitchFamily="34" charset="0"/>
                <a:cs typeface="Arial" panose="020B0604020202020204" pitchFamily="34" charset="0"/>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043DD9C9-6165-1C92-36B1-31D66D7D4E15}"/>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1E68EF37-1F42-80B6-A20A-50A10D1BF942}"/>
              </a:ext>
            </a:extLst>
          </p:cNvPr>
          <p:cNvSpPr txBox="1"/>
          <p:nvPr/>
        </p:nvSpPr>
        <p:spPr>
          <a:xfrm>
            <a:off x="79513" y="511689"/>
            <a:ext cx="8090266" cy="4995214"/>
          </a:xfrm>
          <a:prstGeom prst="rect">
            <a:avLst/>
          </a:prstGeom>
          <a:noFill/>
        </p:spPr>
        <p:txBody>
          <a:bodyPr wrap="square">
            <a:spAutoFit/>
          </a:bodyPr>
          <a:lstStyle/>
          <a:p>
            <a:pPr lvl="0">
              <a:lnSpc>
                <a:spcPct val="115000"/>
              </a:lnSpc>
              <a:spcAft>
                <a:spcPts val="600"/>
              </a:spcAft>
              <a:buSzPts val="1000"/>
              <a:tabLst>
                <a:tab pos="457200" algn="l"/>
              </a:tabLst>
            </a:pPr>
            <a:r>
              <a:rPr lang="en-GB" sz="1600" b="1" kern="0" dirty="0">
                <a:solidFill>
                  <a:srgbClr val="001D35"/>
                </a:solidFill>
                <a:effectLst/>
                <a:latin typeface="Arial" panose="020B0604020202020204" pitchFamily="34" charset="0"/>
                <a:ea typeface="Times New Roman" panose="02020603050405020304" pitchFamily="18" charset="0"/>
                <a:cs typeface="Arial" panose="020B0604020202020204" pitchFamily="34" charset="0"/>
              </a:rPr>
              <a:t>3. Testing: </a:t>
            </a:r>
            <a:r>
              <a:rPr lang="en-GB" sz="1600" kern="0" spc="10" dirty="0">
                <a:solidFill>
                  <a:srgbClr val="001D35"/>
                </a:solidFill>
                <a:effectLst/>
                <a:latin typeface="Arial" panose="020B0604020202020204" pitchFamily="34" charset="0"/>
                <a:ea typeface="Times New Roman" panose="02020603050405020304" pitchFamily="18" charset="0"/>
                <a:cs typeface="Arial" panose="020B0604020202020204" pitchFamily="34" charset="0"/>
              </a:rPr>
              <a:t>Rigorous testing is essential to ensure the model performs as expected in the target environment. This includes: </a:t>
            </a:r>
            <a:endParaRPr lang="en-GB" sz="1600" kern="100" dirty="0">
              <a:effectLst/>
              <a:latin typeface="Arial" panose="020B0604020202020204" pitchFamily="34" charset="0"/>
              <a:ea typeface="Aptos" panose="020B0004020202020204" pitchFamily="34" charset="0"/>
              <a:cs typeface="Arial" panose="020B0604020202020204" pitchFamily="34" charset="0"/>
            </a:endParaRPr>
          </a:p>
          <a:p>
            <a:pPr marL="800100" lvl="1" indent="-342900">
              <a:lnSpc>
                <a:spcPct val="115000"/>
              </a:lnSpc>
              <a:spcAft>
                <a:spcPts val="600"/>
              </a:spcAft>
              <a:buSzPts val="1000"/>
              <a:buFont typeface="+mj-lt"/>
              <a:buAutoNum type="alphaLcPeriod"/>
              <a:tabLst>
                <a:tab pos="914400" algn="l"/>
              </a:tabLst>
            </a:pPr>
            <a:r>
              <a:rPr lang="en-GB" sz="1600" b="1" kern="0" spc="10" dirty="0">
                <a:solidFill>
                  <a:srgbClr val="001D35"/>
                </a:solidFill>
                <a:effectLst/>
                <a:latin typeface="Arial" panose="020B0604020202020204" pitchFamily="34" charset="0"/>
                <a:ea typeface="Times New Roman" panose="02020603050405020304" pitchFamily="18" charset="0"/>
                <a:cs typeface="Arial" panose="020B0604020202020204" pitchFamily="34" charset="0"/>
              </a:rPr>
              <a:t>Unit tests:</a:t>
            </a:r>
            <a:r>
              <a:rPr lang="en-GB" sz="1600" kern="0" spc="10" dirty="0">
                <a:solidFill>
                  <a:srgbClr val="001D35"/>
                </a:solidFill>
                <a:effectLst/>
                <a:latin typeface="Arial" panose="020B0604020202020204" pitchFamily="34" charset="0"/>
                <a:ea typeface="Times New Roman" panose="02020603050405020304" pitchFamily="18" charset="0"/>
                <a:cs typeface="Arial" panose="020B0604020202020204" pitchFamily="34" charset="0"/>
              </a:rPr>
              <a:t> Testing individual components or functions of the deployment pipeline. </a:t>
            </a:r>
            <a:endParaRPr lang="en-GB" sz="1600" kern="100" dirty="0">
              <a:effectLst/>
              <a:latin typeface="Arial" panose="020B0604020202020204" pitchFamily="34" charset="0"/>
              <a:ea typeface="Aptos" panose="020B0004020202020204" pitchFamily="34" charset="0"/>
              <a:cs typeface="Arial" panose="020B0604020202020204" pitchFamily="34" charset="0"/>
            </a:endParaRPr>
          </a:p>
          <a:p>
            <a:pPr marL="800100" lvl="1" indent="-342900">
              <a:lnSpc>
                <a:spcPct val="115000"/>
              </a:lnSpc>
              <a:spcAft>
                <a:spcPts val="600"/>
              </a:spcAft>
              <a:buSzPts val="1000"/>
              <a:buFont typeface="+mj-lt"/>
              <a:buAutoNum type="alphaLcPeriod"/>
              <a:tabLst>
                <a:tab pos="914400" algn="l"/>
              </a:tabLst>
            </a:pPr>
            <a:r>
              <a:rPr lang="en-GB" sz="1600" b="1" kern="0" spc="10" dirty="0">
                <a:solidFill>
                  <a:srgbClr val="001D35"/>
                </a:solidFill>
                <a:effectLst/>
                <a:latin typeface="Arial" panose="020B0604020202020204" pitchFamily="34" charset="0"/>
                <a:ea typeface="Times New Roman" panose="02020603050405020304" pitchFamily="18" charset="0"/>
                <a:cs typeface="Arial" panose="020B0604020202020204" pitchFamily="34" charset="0"/>
              </a:rPr>
              <a:t>Integration tests:</a:t>
            </a:r>
            <a:r>
              <a:rPr lang="en-GB" sz="1600" kern="0" spc="10" dirty="0">
                <a:solidFill>
                  <a:srgbClr val="001D35"/>
                </a:solidFill>
                <a:effectLst/>
                <a:latin typeface="Arial" panose="020B0604020202020204" pitchFamily="34" charset="0"/>
                <a:ea typeface="Times New Roman" panose="02020603050405020304" pitchFamily="18" charset="0"/>
                <a:cs typeface="Arial" panose="020B0604020202020204" pitchFamily="34" charset="0"/>
              </a:rPr>
              <a:t> Testing how the model interacts with other parts of the system. </a:t>
            </a:r>
            <a:endParaRPr lang="en-GB" sz="1600" kern="100" dirty="0">
              <a:effectLst/>
              <a:latin typeface="Arial" panose="020B0604020202020204" pitchFamily="34" charset="0"/>
              <a:ea typeface="Aptos" panose="020B0004020202020204" pitchFamily="34" charset="0"/>
              <a:cs typeface="Arial" panose="020B0604020202020204" pitchFamily="34" charset="0"/>
            </a:endParaRPr>
          </a:p>
          <a:p>
            <a:pPr marL="800100" lvl="1" indent="-342900">
              <a:lnSpc>
                <a:spcPct val="115000"/>
              </a:lnSpc>
              <a:spcAft>
                <a:spcPts val="800"/>
              </a:spcAft>
              <a:buSzPts val="1000"/>
              <a:buFont typeface="+mj-lt"/>
              <a:buAutoNum type="alphaLcPeriod"/>
              <a:tabLst>
                <a:tab pos="914400" algn="l"/>
              </a:tabLst>
            </a:pPr>
            <a:r>
              <a:rPr lang="en-GB" sz="1600" b="1" kern="0" spc="10" dirty="0">
                <a:solidFill>
                  <a:srgbClr val="001D35"/>
                </a:solidFill>
                <a:effectLst/>
                <a:latin typeface="Arial" panose="020B0604020202020204" pitchFamily="34" charset="0"/>
                <a:ea typeface="Times New Roman" panose="02020603050405020304" pitchFamily="18" charset="0"/>
                <a:cs typeface="Arial" panose="020B0604020202020204" pitchFamily="34" charset="0"/>
              </a:rPr>
              <a:t>Performance tests:</a:t>
            </a:r>
            <a:r>
              <a:rPr lang="en-GB" sz="1600" kern="0" spc="10" dirty="0">
                <a:solidFill>
                  <a:srgbClr val="001D35"/>
                </a:solidFill>
                <a:effectLst/>
                <a:latin typeface="Arial" panose="020B0604020202020204" pitchFamily="34" charset="0"/>
                <a:ea typeface="Times New Roman" panose="02020603050405020304" pitchFamily="18" charset="0"/>
                <a:cs typeface="Arial" panose="020B0604020202020204" pitchFamily="34" charset="0"/>
              </a:rPr>
              <a:t> Evaluating response times and resource consumption. </a:t>
            </a:r>
            <a:endParaRPr lang="en-GB" sz="1600" kern="100" dirty="0">
              <a:effectLst/>
              <a:latin typeface="Arial" panose="020B0604020202020204" pitchFamily="34" charset="0"/>
              <a:ea typeface="Aptos" panose="020B0004020202020204" pitchFamily="34" charset="0"/>
              <a:cs typeface="Arial" panose="020B0604020202020204" pitchFamily="34" charset="0"/>
            </a:endParaRPr>
          </a:p>
          <a:p>
            <a:pPr lvl="0">
              <a:lnSpc>
                <a:spcPct val="115000"/>
              </a:lnSpc>
              <a:spcAft>
                <a:spcPts val="600"/>
              </a:spcAft>
              <a:buSzPts val="1000"/>
              <a:tabLst>
                <a:tab pos="457200" algn="l"/>
              </a:tabLst>
            </a:pPr>
            <a:r>
              <a:rPr lang="en-GB" sz="1600" b="1" kern="0" dirty="0">
                <a:solidFill>
                  <a:srgbClr val="001D35"/>
                </a:solidFill>
                <a:effectLst/>
                <a:latin typeface="Arial" panose="020B0604020202020204" pitchFamily="34" charset="0"/>
                <a:ea typeface="Times New Roman" panose="02020603050405020304" pitchFamily="18" charset="0"/>
                <a:cs typeface="Arial" panose="020B0604020202020204" pitchFamily="34" charset="0"/>
              </a:rPr>
              <a:t>4. Monitoring:</a:t>
            </a:r>
            <a:r>
              <a:rPr lang="en-GB" sz="1600" b="1" kern="100" dirty="0">
                <a:latin typeface="Arial" panose="020B0604020202020204" pitchFamily="34" charset="0"/>
                <a:ea typeface="Times New Roman" panose="02020603050405020304" pitchFamily="18" charset="0"/>
                <a:cs typeface="Arial" panose="020B0604020202020204" pitchFamily="34" charset="0"/>
              </a:rPr>
              <a:t> </a:t>
            </a:r>
            <a:r>
              <a:rPr lang="en-GB" sz="1600" kern="0" spc="10" dirty="0">
                <a:solidFill>
                  <a:srgbClr val="001D35"/>
                </a:solidFill>
                <a:effectLst/>
                <a:latin typeface="Arial" panose="020B0604020202020204" pitchFamily="34" charset="0"/>
                <a:ea typeface="Times New Roman" panose="02020603050405020304" pitchFamily="18" charset="0"/>
                <a:cs typeface="Arial" panose="020B0604020202020204" pitchFamily="34" charset="0"/>
              </a:rPr>
              <a:t>Continuous monitoring is vital to track model performance, identify potential issues, and ensure ongoing accuracy. This can involve: </a:t>
            </a:r>
            <a:endParaRPr lang="en-GB" sz="1600" kern="100" dirty="0">
              <a:effectLst/>
              <a:latin typeface="Arial" panose="020B0604020202020204" pitchFamily="34" charset="0"/>
              <a:ea typeface="Aptos" panose="020B0004020202020204" pitchFamily="34" charset="0"/>
              <a:cs typeface="Arial" panose="020B0604020202020204" pitchFamily="34" charset="0"/>
            </a:endParaRPr>
          </a:p>
          <a:p>
            <a:pPr marL="800100" lvl="1" indent="-342900">
              <a:lnSpc>
                <a:spcPct val="115000"/>
              </a:lnSpc>
              <a:spcAft>
                <a:spcPts val="600"/>
              </a:spcAft>
              <a:buSzPts val="1000"/>
              <a:buFont typeface="+mj-lt"/>
              <a:buAutoNum type="alphaLcPeriod"/>
              <a:tabLst>
                <a:tab pos="914400" algn="l"/>
              </a:tabLst>
            </a:pPr>
            <a:r>
              <a:rPr lang="en-GB" sz="1600" b="1" kern="0" spc="10" dirty="0">
                <a:solidFill>
                  <a:srgbClr val="001D35"/>
                </a:solidFill>
                <a:effectLst/>
                <a:latin typeface="Arial" panose="020B0604020202020204" pitchFamily="34" charset="0"/>
                <a:ea typeface="Times New Roman" panose="02020603050405020304" pitchFamily="18" charset="0"/>
                <a:cs typeface="Arial" panose="020B0604020202020204" pitchFamily="34" charset="0"/>
              </a:rPr>
              <a:t>Logging:</a:t>
            </a:r>
            <a:r>
              <a:rPr lang="en-GB" sz="1600" kern="0" spc="10" dirty="0">
                <a:solidFill>
                  <a:srgbClr val="001D35"/>
                </a:solidFill>
                <a:effectLst/>
                <a:latin typeface="Arial" panose="020B0604020202020204" pitchFamily="34" charset="0"/>
                <a:ea typeface="Times New Roman" panose="02020603050405020304" pitchFamily="18" charset="0"/>
                <a:cs typeface="Arial" panose="020B0604020202020204" pitchFamily="34" charset="0"/>
              </a:rPr>
              <a:t> Recording predictions, inputs, and errors for analysis. </a:t>
            </a:r>
            <a:endParaRPr lang="en-GB" sz="1600" kern="100" dirty="0">
              <a:effectLst/>
              <a:latin typeface="Arial" panose="020B0604020202020204" pitchFamily="34" charset="0"/>
              <a:ea typeface="Aptos" panose="020B0004020202020204" pitchFamily="34" charset="0"/>
              <a:cs typeface="Arial" panose="020B0604020202020204" pitchFamily="34" charset="0"/>
            </a:endParaRPr>
          </a:p>
          <a:p>
            <a:pPr marL="800100" lvl="1" indent="-342900">
              <a:lnSpc>
                <a:spcPct val="115000"/>
              </a:lnSpc>
              <a:spcAft>
                <a:spcPts val="800"/>
              </a:spcAft>
              <a:buSzPts val="1000"/>
              <a:buFont typeface="+mj-lt"/>
              <a:buAutoNum type="alphaLcPeriod"/>
              <a:tabLst>
                <a:tab pos="914400" algn="l"/>
              </a:tabLst>
            </a:pPr>
            <a:r>
              <a:rPr lang="en-GB" sz="1600" b="1" kern="0" spc="10" dirty="0">
                <a:solidFill>
                  <a:srgbClr val="001D35"/>
                </a:solidFill>
                <a:effectLst/>
                <a:latin typeface="Arial" panose="020B0604020202020204" pitchFamily="34" charset="0"/>
                <a:ea typeface="Times New Roman" panose="02020603050405020304" pitchFamily="18" charset="0"/>
                <a:cs typeface="Arial" panose="020B0604020202020204" pitchFamily="34" charset="0"/>
              </a:rPr>
              <a:t>Alerting:</a:t>
            </a:r>
            <a:r>
              <a:rPr lang="en-GB" sz="1600" kern="0" spc="10" dirty="0">
                <a:solidFill>
                  <a:srgbClr val="001D35"/>
                </a:solidFill>
                <a:effectLst/>
                <a:latin typeface="Arial" panose="020B0604020202020204" pitchFamily="34" charset="0"/>
                <a:ea typeface="Times New Roman" panose="02020603050405020304" pitchFamily="18" charset="0"/>
                <a:cs typeface="Arial" panose="020B0604020202020204" pitchFamily="34" charset="0"/>
              </a:rPr>
              <a:t> Setting up alerts for abnormal </a:t>
            </a:r>
            <a:r>
              <a:rPr lang="en-GB" sz="1600" kern="0" spc="10" dirty="0" err="1">
                <a:solidFill>
                  <a:srgbClr val="001D35"/>
                </a:solidFill>
                <a:effectLst/>
                <a:latin typeface="Arial" panose="020B0604020202020204" pitchFamily="34" charset="0"/>
                <a:ea typeface="Times New Roman" panose="02020603050405020304" pitchFamily="18" charset="0"/>
                <a:cs typeface="Arial" panose="020B0604020202020204" pitchFamily="34" charset="0"/>
              </a:rPr>
              <a:t>behavior</a:t>
            </a:r>
            <a:r>
              <a:rPr lang="en-GB" sz="1600" kern="0" spc="10" dirty="0">
                <a:solidFill>
                  <a:srgbClr val="001D35"/>
                </a:solidFill>
                <a:effectLst/>
                <a:latin typeface="Arial" panose="020B0604020202020204" pitchFamily="34" charset="0"/>
                <a:ea typeface="Times New Roman" panose="02020603050405020304" pitchFamily="18" charset="0"/>
                <a:cs typeface="Arial" panose="020B0604020202020204" pitchFamily="34" charset="0"/>
              </a:rPr>
              <a:t> or performance degradation. </a:t>
            </a:r>
            <a:endParaRPr lang="en-GB" sz="1600" kern="100" dirty="0">
              <a:effectLst/>
              <a:latin typeface="Arial" panose="020B0604020202020204" pitchFamily="34" charset="0"/>
              <a:ea typeface="Aptos" panose="020B0004020202020204" pitchFamily="34" charset="0"/>
              <a:cs typeface="Arial" panose="020B0604020202020204" pitchFamily="34" charset="0"/>
            </a:endParaRPr>
          </a:p>
          <a:p>
            <a:pPr lvl="0">
              <a:lnSpc>
                <a:spcPct val="115000"/>
              </a:lnSpc>
              <a:spcAft>
                <a:spcPts val="800"/>
              </a:spcAft>
              <a:buSzPts val="1000"/>
              <a:tabLst>
                <a:tab pos="457200" algn="l"/>
              </a:tabLst>
            </a:pPr>
            <a:r>
              <a:rPr lang="en-GB" sz="1600" b="1" kern="0" dirty="0">
                <a:solidFill>
                  <a:srgbClr val="001D35"/>
                </a:solidFill>
                <a:effectLst/>
                <a:latin typeface="Arial" panose="020B0604020202020204" pitchFamily="34" charset="0"/>
                <a:ea typeface="Times New Roman" panose="02020603050405020304" pitchFamily="18" charset="0"/>
                <a:cs typeface="Arial" panose="020B0604020202020204" pitchFamily="34" charset="0"/>
              </a:rPr>
              <a:t>5. Maintenance:</a:t>
            </a:r>
            <a:r>
              <a:rPr lang="en-GB" sz="1600" b="1" kern="100" dirty="0">
                <a:latin typeface="Arial" panose="020B0604020202020204" pitchFamily="34" charset="0"/>
                <a:ea typeface="Times New Roman" panose="02020603050405020304" pitchFamily="18" charset="0"/>
                <a:cs typeface="Arial" panose="020B0604020202020204" pitchFamily="34" charset="0"/>
              </a:rPr>
              <a:t> </a:t>
            </a:r>
            <a:r>
              <a:rPr lang="en-GB" sz="1600" kern="0" spc="10" dirty="0">
                <a:solidFill>
                  <a:srgbClr val="001D35"/>
                </a:solidFill>
                <a:effectLst/>
                <a:latin typeface="Arial" panose="020B0604020202020204" pitchFamily="34" charset="0"/>
                <a:ea typeface="Times New Roman" panose="02020603050405020304" pitchFamily="18" charset="0"/>
                <a:cs typeface="Arial" panose="020B0604020202020204" pitchFamily="34" charset="0"/>
              </a:rPr>
              <a:t>Regularly updating the model with new data and retraining it to maintain accuracy and adapt to changing conditions. </a:t>
            </a:r>
            <a:endParaRPr lang="en-GB" sz="1600" kern="100" dirty="0">
              <a:effectLst/>
              <a:latin typeface="Arial" panose="020B0604020202020204" pitchFamily="34" charset="0"/>
              <a:ea typeface="Aptos" panose="020B0004020202020204" pitchFamily="34" charset="0"/>
              <a:cs typeface="Arial" panose="020B0604020202020204" pitchFamily="34" charset="0"/>
            </a:endParaRPr>
          </a:p>
          <a:p>
            <a:pPr algn="l">
              <a:buNone/>
            </a:pPr>
            <a:endParaRPr lang="en-GB" sz="1600" b="0" i="0" u="none" strike="noStrike" dirty="0">
              <a:solidFill>
                <a:srgbClr val="000000"/>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519427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7DBB9531-A9B5-2C52-B1BC-41287C02ACE1}"/>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BECDF6AD-2F4D-7DAC-03BE-AD2D3A784225}"/>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kern="0" dirty="0">
                <a:solidFill>
                  <a:srgbClr val="7030A0"/>
                </a:solidFill>
                <a:effectLst/>
                <a:latin typeface="Helvetica Neue" panose="02000503000000020004" pitchFamily="2" charset="0"/>
                <a:ea typeface="Times New Roman" panose="02020603050405020304" pitchFamily="18" charset="0"/>
                <a:cs typeface="Times New Roman" panose="02020603050405020304" pitchFamily="18" charset="0"/>
              </a:rPr>
              <a:t>Exporting Models for Deployment</a:t>
            </a:r>
            <a:br>
              <a:rPr lang="en-GB" sz="2800" kern="0" dirty="0">
                <a:solidFill>
                  <a:srgbClr val="7030A0"/>
                </a:solidFill>
                <a:effectLst/>
                <a:latin typeface="Helvetica Neue" panose="02000503000000020004" pitchFamily="2" charset="0"/>
                <a:ea typeface="Times New Roman" panose="02020603050405020304" pitchFamily="18" charset="0"/>
                <a:cs typeface="Times New Roman" panose="02020603050405020304" pitchFamily="18" charset="0"/>
              </a:rPr>
            </a:br>
            <a:br>
              <a:rPr lang="en-GB" sz="2400" kern="100" dirty="0">
                <a:solidFill>
                  <a:srgbClr val="7030A0"/>
                </a:solidFill>
                <a:effectLst/>
                <a:latin typeface="Aptos" panose="020B0004020202020204" pitchFamily="34" charset="0"/>
                <a:ea typeface="Aptos" panose="020B0004020202020204" pitchFamily="34" charset="0"/>
                <a:cs typeface="Arial" panose="020B0604020202020204" pitchFamily="34" charset="0"/>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AD419A4C-0A3B-A7CE-AE70-FDC21D58E3E3}"/>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A773B3A5-DE38-2640-4FBC-5087BEAE9192}"/>
              </a:ext>
            </a:extLst>
          </p:cNvPr>
          <p:cNvSpPr txBox="1"/>
          <p:nvPr/>
        </p:nvSpPr>
        <p:spPr>
          <a:xfrm>
            <a:off x="79513" y="511689"/>
            <a:ext cx="8090266" cy="1931298"/>
          </a:xfrm>
          <a:prstGeom prst="rect">
            <a:avLst/>
          </a:prstGeom>
          <a:noFill/>
        </p:spPr>
        <p:txBody>
          <a:bodyPr wrap="square">
            <a:spAutoFit/>
          </a:bodyPr>
          <a:lstStyle/>
          <a:p>
            <a:pPr algn="l">
              <a:buNone/>
            </a:pPr>
            <a:r>
              <a:rPr lang="en-GB" b="1" i="0" u="none" strike="noStrike" dirty="0">
                <a:solidFill>
                  <a:srgbClr val="404040"/>
                </a:solidFill>
                <a:effectLst/>
                <a:latin typeface="+mj-lt"/>
              </a:rPr>
              <a:t>1.  TensorFlow </a:t>
            </a:r>
            <a:r>
              <a:rPr lang="en-GB" b="1" i="0" u="none" strike="noStrike" dirty="0" err="1">
                <a:solidFill>
                  <a:srgbClr val="404040"/>
                </a:solidFill>
                <a:effectLst/>
                <a:latin typeface="+mj-lt"/>
              </a:rPr>
              <a:t>SavedModel</a:t>
            </a:r>
            <a:r>
              <a:rPr lang="en-GB" b="1" i="0" u="none" strike="noStrike" dirty="0">
                <a:solidFill>
                  <a:srgbClr val="404040"/>
                </a:solidFill>
                <a:effectLst/>
                <a:latin typeface="+mj-lt"/>
              </a:rPr>
              <a:t> Format</a:t>
            </a:r>
          </a:p>
          <a:p>
            <a:pPr algn="l">
              <a:buNone/>
            </a:pPr>
            <a:r>
              <a:rPr lang="en-GB" b="0" i="0" u="none" strike="noStrike" dirty="0">
                <a:solidFill>
                  <a:srgbClr val="404040"/>
                </a:solidFill>
                <a:effectLst/>
                <a:latin typeface="+mj-lt"/>
              </a:rPr>
              <a:t>The </a:t>
            </a:r>
            <a:r>
              <a:rPr lang="en-GB" b="1" i="0" u="none" strike="noStrike" dirty="0" err="1">
                <a:solidFill>
                  <a:srgbClr val="404040"/>
                </a:solidFill>
                <a:effectLst/>
                <a:latin typeface="+mj-lt"/>
              </a:rPr>
              <a:t>SavedModel</a:t>
            </a:r>
            <a:r>
              <a:rPr lang="en-GB" b="0" i="0" u="none" strike="noStrike" dirty="0">
                <a:solidFill>
                  <a:srgbClr val="404040"/>
                </a:solidFill>
                <a:effectLst/>
                <a:latin typeface="+mj-lt"/>
              </a:rPr>
              <a:t> format is TensorFlow’s standard for saving and loading models. It includes:</a:t>
            </a:r>
          </a:p>
          <a:p>
            <a:pPr marL="457200" indent="-457200" algn="l">
              <a:buFont typeface="+mj-lt"/>
              <a:buAutoNum type="alphaLcPeriod"/>
            </a:pPr>
            <a:r>
              <a:rPr lang="en-GB" b="0" i="0" u="none" strike="noStrike" dirty="0">
                <a:solidFill>
                  <a:srgbClr val="404040"/>
                </a:solidFill>
                <a:effectLst/>
                <a:latin typeface="+mj-lt"/>
              </a:rPr>
              <a:t>Model architecture</a:t>
            </a:r>
          </a:p>
          <a:p>
            <a:pPr marL="457200" indent="-457200" algn="l">
              <a:spcBef>
                <a:spcPts val="300"/>
              </a:spcBef>
              <a:buFont typeface="+mj-lt"/>
              <a:buAutoNum type="alphaLcPeriod"/>
            </a:pPr>
            <a:r>
              <a:rPr lang="en-GB" b="0" i="0" u="none" strike="noStrike" dirty="0">
                <a:solidFill>
                  <a:srgbClr val="404040"/>
                </a:solidFill>
                <a:effectLst/>
                <a:latin typeface="+mj-lt"/>
              </a:rPr>
              <a:t>Trained weights</a:t>
            </a:r>
          </a:p>
          <a:p>
            <a:pPr marL="457200" indent="-457200" algn="l">
              <a:spcBef>
                <a:spcPts val="300"/>
              </a:spcBef>
              <a:buFont typeface="+mj-lt"/>
              <a:buAutoNum type="alphaLcPeriod"/>
            </a:pPr>
            <a:r>
              <a:rPr lang="en-GB" b="0" i="0" u="none" strike="noStrike" dirty="0">
                <a:solidFill>
                  <a:srgbClr val="404040"/>
                </a:solidFill>
                <a:effectLst/>
                <a:latin typeface="+mj-lt"/>
              </a:rPr>
              <a:t>Optimizer state</a:t>
            </a:r>
          </a:p>
          <a:p>
            <a:pPr marL="457200" indent="-457200" algn="l">
              <a:spcBef>
                <a:spcPts val="300"/>
              </a:spcBef>
              <a:buFont typeface="+mj-lt"/>
              <a:buAutoNum type="alphaLcPeriod"/>
            </a:pPr>
            <a:r>
              <a:rPr lang="en-GB" b="0" i="0" u="none" strike="noStrike" dirty="0">
                <a:solidFill>
                  <a:srgbClr val="404040"/>
                </a:solidFill>
                <a:effectLst/>
                <a:latin typeface="+mj-lt"/>
              </a:rPr>
              <a:t>Custom layers and functions</a:t>
            </a:r>
          </a:p>
          <a:p>
            <a:pPr algn="l"/>
            <a:r>
              <a:rPr lang="en-GB" b="1" i="0" u="none" strike="noStrike" dirty="0">
                <a:solidFill>
                  <a:srgbClr val="404040"/>
                </a:solidFill>
                <a:effectLst/>
                <a:latin typeface="+mj-lt"/>
              </a:rPr>
              <a:t>Steps to Export a TensorFlow Model</a:t>
            </a:r>
          </a:p>
          <a:p>
            <a:pPr algn="l">
              <a:buNone/>
            </a:pPr>
            <a:endParaRPr lang="en-GB" b="0" i="0" u="none" strike="noStrike" dirty="0">
              <a:solidFill>
                <a:srgbClr val="000000"/>
              </a:solidFill>
              <a:effectLst/>
              <a:latin typeface="+mj-lt"/>
              <a:cs typeface="Arial" panose="020B0604020202020204" pitchFamily="34" charset="0"/>
            </a:endParaRPr>
          </a:p>
        </p:txBody>
      </p:sp>
      <p:sp>
        <p:nvSpPr>
          <p:cNvPr id="5" name="TextBox 4">
            <a:extLst>
              <a:ext uri="{FF2B5EF4-FFF2-40B4-BE49-F238E27FC236}">
                <a16:creationId xmlns:a16="http://schemas.microsoft.com/office/drawing/2014/main" id="{B463F3E0-5F06-EF20-15CB-D208B3F36AA4}"/>
              </a:ext>
            </a:extLst>
          </p:cNvPr>
          <p:cNvSpPr txBox="1"/>
          <p:nvPr/>
        </p:nvSpPr>
        <p:spPr>
          <a:xfrm>
            <a:off x="189359" y="2174823"/>
            <a:ext cx="5964951" cy="2123658"/>
          </a:xfrm>
          <a:prstGeom prst="rect">
            <a:avLst/>
          </a:prstGeom>
          <a:solidFill>
            <a:schemeClr val="accent1">
              <a:lumMod val="40000"/>
              <a:lumOff val="60000"/>
            </a:schemeClr>
          </a:solidFill>
        </p:spPr>
        <p:txBody>
          <a:bodyPr wrap="square">
            <a:spAutoFit/>
          </a:bodyPr>
          <a:lstStyle/>
          <a:p>
            <a:r>
              <a:rPr lang="en-US" sz="1200" dirty="0"/>
              <a:t>import </a:t>
            </a:r>
            <a:r>
              <a:rPr lang="en-US" sz="1200" dirty="0" err="1"/>
              <a:t>tensorflow</a:t>
            </a:r>
            <a:r>
              <a:rPr lang="en-US" sz="1200" dirty="0"/>
              <a:t> as </a:t>
            </a:r>
            <a:r>
              <a:rPr lang="en-US" sz="1200" dirty="0" err="1"/>
              <a:t>tf</a:t>
            </a:r>
            <a:endParaRPr lang="en-US" sz="1200" dirty="0"/>
          </a:p>
          <a:p>
            <a:r>
              <a:rPr lang="en-US" sz="1200" dirty="0"/>
              <a:t># Define and train a model</a:t>
            </a:r>
          </a:p>
          <a:p>
            <a:r>
              <a:rPr lang="en-US" sz="1200" dirty="0"/>
              <a:t>model = </a:t>
            </a:r>
            <a:r>
              <a:rPr lang="en-US" sz="1200" dirty="0" err="1"/>
              <a:t>tf.keras.Sequential</a:t>
            </a:r>
            <a:r>
              <a:rPr lang="en-US" sz="1200" dirty="0"/>
              <a:t>([</a:t>
            </a:r>
          </a:p>
          <a:p>
            <a:r>
              <a:rPr lang="en-US" sz="1200" dirty="0"/>
              <a:t>    </a:t>
            </a:r>
            <a:r>
              <a:rPr lang="en-US" sz="1200" dirty="0" err="1"/>
              <a:t>tf.keras.layers.Dense</a:t>
            </a:r>
            <a:r>
              <a:rPr lang="en-US" sz="1200" dirty="0"/>
              <a:t>(64, activation='</a:t>
            </a:r>
            <a:r>
              <a:rPr lang="en-US" sz="1200" dirty="0" err="1"/>
              <a:t>relu</a:t>
            </a:r>
            <a:r>
              <a:rPr lang="en-US" sz="1200" dirty="0"/>
              <a:t>'),</a:t>
            </a:r>
          </a:p>
          <a:p>
            <a:r>
              <a:rPr lang="en-US" sz="1200" dirty="0"/>
              <a:t>    </a:t>
            </a:r>
            <a:r>
              <a:rPr lang="en-US" sz="1200" dirty="0" err="1"/>
              <a:t>tf.keras.layers.Dense</a:t>
            </a:r>
            <a:r>
              <a:rPr lang="en-US" sz="1200" dirty="0"/>
              <a:t>(10, activation='</a:t>
            </a:r>
            <a:r>
              <a:rPr lang="en-US" sz="1200" dirty="0" err="1"/>
              <a:t>softmax</a:t>
            </a:r>
            <a:r>
              <a:rPr lang="en-US" sz="1200" dirty="0"/>
              <a:t>')</a:t>
            </a:r>
          </a:p>
          <a:p>
            <a:r>
              <a:rPr lang="en-US" sz="1200" dirty="0"/>
              <a:t>])</a:t>
            </a:r>
          </a:p>
          <a:p>
            <a:r>
              <a:rPr lang="en-US" sz="1200" dirty="0" err="1"/>
              <a:t>model.compile</a:t>
            </a:r>
            <a:r>
              <a:rPr lang="en-US" sz="1200" dirty="0"/>
              <a:t>(optimizer='</a:t>
            </a:r>
            <a:r>
              <a:rPr lang="en-US" sz="1200" dirty="0" err="1"/>
              <a:t>adam</a:t>
            </a:r>
            <a:r>
              <a:rPr lang="en-US" sz="1200" dirty="0"/>
              <a:t>', loss='</a:t>
            </a:r>
            <a:r>
              <a:rPr lang="en-US" sz="1200" dirty="0" err="1"/>
              <a:t>categorical_crossentropy</a:t>
            </a:r>
            <a:r>
              <a:rPr lang="en-US" sz="1200" dirty="0"/>
              <a:t>')</a:t>
            </a:r>
          </a:p>
          <a:p>
            <a:r>
              <a:rPr lang="en-US" sz="1200" dirty="0" err="1"/>
              <a:t>model.fit</a:t>
            </a:r>
            <a:r>
              <a:rPr lang="en-US" sz="1200" dirty="0"/>
              <a:t>(</a:t>
            </a:r>
            <a:r>
              <a:rPr lang="en-US" sz="1200" dirty="0" err="1"/>
              <a:t>x_train</a:t>
            </a:r>
            <a:r>
              <a:rPr lang="en-US" sz="1200" dirty="0"/>
              <a:t>, </a:t>
            </a:r>
            <a:r>
              <a:rPr lang="en-US" sz="1200" dirty="0" err="1"/>
              <a:t>y_train</a:t>
            </a:r>
            <a:r>
              <a:rPr lang="en-US" sz="1200" dirty="0"/>
              <a:t>, epochs=5)</a:t>
            </a:r>
          </a:p>
          <a:p>
            <a:endParaRPr lang="en-US" sz="1200" dirty="0"/>
          </a:p>
          <a:p>
            <a:r>
              <a:rPr lang="en-US" sz="1200" dirty="0"/>
              <a:t># Save the model in </a:t>
            </a:r>
            <a:r>
              <a:rPr lang="en-US" sz="1200" dirty="0" err="1"/>
              <a:t>SavedModel</a:t>
            </a:r>
            <a:r>
              <a:rPr lang="en-US" sz="1200" dirty="0"/>
              <a:t> format</a:t>
            </a:r>
          </a:p>
          <a:p>
            <a:r>
              <a:rPr lang="en-US" sz="1200" dirty="0" err="1"/>
              <a:t>model.save</a:t>
            </a:r>
            <a:r>
              <a:rPr lang="en-US" sz="1200" dirty="0"/>
              <a:t>("</a:t>
            </a:r>
            <a:r>
              <a:rPr lang="en-US" sz="1200" dirty="0" err="1"/>
              <a:t>saved_model</a:t>
            </a:r>
            <a:r>
              <a:rPr lang="en-US" sz="1200" dirty="0"/>
              <a:t>/</a:t>
            </a:r>
            <a:r>
              <a:rPr lang="en-US" sz="1200" dirty="0" err="1"/>
              <a:t>my_model</a:t>
            </a:r>
            <a:r>
              <a:rPr lang="en-US" sz="1200" dirty="0"/>
              <a:t>")  # Creates a folder with .pb file and variables</a:t>
            </a:r>
          </a:p>
        </p:txBody>
      </p:sp>
      <p:sp>
        <p:nvSpPr>
          <p:cNvPr id="7" name="TextBox 6">
            <a:extLst>
              <a:ext uri="{FF2B5EF4-FFF2-40B4-BE49-F238E27FC236}">
                <a16:creationId xmlns:a16="http://schemas.microsoft.com/office/drawing/2014/main" id="{29659D70-B826-7515-4D29-C1E03F668F7B}"/>
              </a:ext>
            </a:extLst>
          </p:cNvPr>
          <p:cNvSpPr txBox="1"/>
          <p:nvPr/>
        </p:nvSpPr>
        <p:spPr>
          <a:xfrm>
            <a:off x="189359" y="4601987"/>
            <a:ext cx="5964952" cy="461665"/>
          </a:xfrm>
          <a:prstGeom prst="rect">
            <a:avLst/>
          </a:prstGeom>
          <a:solidFill>
            <a:schemeClr val="accent1">
              <a:lumMod val="40000"/>
              <a:lumOff val="60000"/>
            </a:schemeClr>
          </a:solidFill>
        </p:spPr>
        <p:txBody>
          <a:bodyPr wrap="square">
            <a:spAutoFit/>
          </a:bodyPr>
          <a:lstStyle/>
          <a:p>
            <a:r>
              <a:rPr lang="en-US" sz="1200" dirty="0" err="1"/>
              <a:t>loaded_model</a:t>
            </a:r>
            <a:r>
              <a:rPr lang="en-US" sz="1200" dirty="0"/>
              <a:t> = </a:t>
            </a:r>
            <a:r>
              <a:rPr lang="en-US" sz="1200" dirty="0" err="1"/>
              <a:t>tf.keras.models.load_model</a:t>
            </a:r>
            <a:r>
              <a:rPr lang="en-US" sz="1200" dirty="0"/>
              <a:t>("</a:t>
            </a:r>
            <a:r>
              <a:rPr lang="en-US" sz="1200" dirty="0" err="1"/>
              <a:t>saved_model</a:t>
            </a:r>
            <a:r>
              <a:rPr lang="en-US" sz="1200" dirty="0"/>
              <a:t>/</a:t>
            </a:r>
            <a:r>
              <a:rPr lang="en-US" sz="1200" dirty="0" err="1"/>
              <a:t>my_model</a:t>
            </a:r>
            <a:r>
              <a:rPr lang="en-US" sz="1200" dirty="0"/>
              <a:t>")</a:t>
            </a:r>
          </a:p>
          <a:p>
            <a:r>
              <a:rPr lang="en-US" sz="1200" dirty="0"/>
              <a:t>predictions = </a:t>
            </a:r>
            <a:r>
              <a:rPr lang="en-US" sz="1200" dirty="0" err="1"/>
              <a:t>loaded_model.predict</a:t>
            </a:r>
            <a:r>
              <a:rPr lang="en-US" sz="1200" dirty="0"/>
              <a:t>(</a:t>
            </a:r>
            <a:r>
              <a:rPr lang="en-US" sz="1200" dirty="0" err="1"/>
              <a:t>x_test</a:t>
            </a:r>
            <a:r>
              <a:rPr lang="en-US" sz="1200" dirty="0"/>
              <a:t>)</a:t>
            </a:r>
          </a:p>
        </p:txBody>
      </p:sp>
      <p:sp>
        <p:nvSpPr>
          <p:cNvPr id="9" name="TextBox 8">
            <a:extLst>
              <a:ext uri="{FF2B5EF4-FFF2-40B4-BE49-F238E27FC236}">
                <a16:creationId xmlns:a16="http://schemas.microsoft.com/office/drawing/2014/main" id="{7A89D19B-4B2C-0F6A-69E5-3240593E6A98}"/>
              </a:ext>
            </a:extLst>
          </p:cNvPr>
          <p:cNvSpPr txBox="1"/>
          <p:nvPr/>
        </p:nvSpPr>
        <p:spPr>
          <a:xfrm>
            <a:off x="189359" y="4310773"/>
            <a:ext cx="4647536" cy="307777"/>
          </a:xfrm>
          <a:prstGeom prst="rect">
            <a:avLst/>
          </a:prstGeom>
          <a:noFill/>
        </p:spPr>
        <p:txBody>
          <a:bodyPr wrap="square">
            <a:spAutoFit/>
          </a:bodyPr>
          <a:lstStyle/>
          <a:p>
            <a:pPr algn="l" rtl="0"/>
            <a:r>
              <a:rPr lang="en-GB" b="1" dirty="0">
                <a:solidFill>
                  <a:srgbClr val="404040"/>
                </a:solidFill>
                <a:latin typeface="+mj-lt"/>
              </a:rPr>
              <a:t>Loading a </a:t>
            </a:r>
            <a:r>
              <a:rPr lang="en-GB" b="1" dirty="0" err="1">
                <a:solidFill>
                  <a:srgbClr val="404040"/>
                </a:solidFill>
                <a:latin typeface="+mj-lt"/>
              </a:rPr>
              <a:t>SavedModel</a:t>
            </a:r>
            <a:endParaRPr lang="en-GB" b="1" dirty="0">
              <a:solidFill>
                <a:srgbClr val="404040"/>
              </a:solidFill>
              <a:latin typeface="+mj-lt"/>
            </a:endParaRPr>
          </a:p>
        </p:txBody>
      </p:sp>
    </p:spTree>
    <p:extLst>
      <p:ext uri="{BB962C8B-B14F-4D97-AF65-F5344CB8AC3E}">
        <p14:creationId xmlns:p14="http://schemas.microsoft.com/office/powerpoint/2010/main" val="1794305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6D85B636-87F1-2FCE-CC6F-88F1A21E90B5}"/>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59D237F7-53E9-9E99-3E60-2A9B11AE4076}"/>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kern="0" dirty="0">
                <a:solidFill>
                  <a:srgbClr val="7030A0"/>
                </a:solidFill>
                <a:effectLst/>
                <a:latin typeface="Helvetica Neue" panose="02000503000000020004" pitchFamily="2" charset="0"/>
                <a:ea typeface="Times New Roman" panose="02020603050405020304" pitchFamily="18" charset="0"/>
                <a:cs typeface="Times New Roman" panose="02020603050405020304" pitchFamily="18" charset="0"/>
              </a:rPr>
              <a:t>Exporting Models for Deployment</a:t>
            </a:r>
            <a:br>
              <a:rPr lang="en-GB" sz="2800" kern="0" dirty="0">
                <a:solidFill>
                  <a:srgbClr val="7030A0"/>
                </a:solidFill>
                <a:effectLst/>
                <a:latin typeface="Helvetica Neue" panose="02000503000000020004" pitchFamily="2" charset="0"/>
                <a:ea typeface="Times New Roman" panose="02020603050405020304" pitchFamily="18" charset="0"/>
                <a:cs typeface="Times New Roman" panose="02020603050405020304" pitchFamily="18" charset="0"/>
              </a:rPr>
            </a:br>
            <a:br>
              <a:rPr lang="en-GB" sz="2400" kern="100" dirty="0">
                <a:solidFill>
                  <a:srgbClr val="7030A0"/>
                </a:solidFill>
                <a:effectLst/>
                <a:latin typeface="Aptos" panose="020B0004020202020204" pitchFamily="34" charset="0"/>
                <a:ea typeface="Aptos" panose="020B0004020202020204" pitchFamily="34" charset="0"/>
                <a:cs typeface="Arial" panose="020B0604020202020204" pitchFamily="34" charset="0"/>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0A40B899-4B2F-8D09-E789-CC63087E8AC8}"/>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0496187D-A773-6278-3410-546477A8C3B7}"/>
              </a:ext>
            </a:extLst>
          </p:cNvPr>
          <p:cNvSpPr txBox="1"/>
          <p:nvPr/>
        </p:nvSpPr>
        <p:spPr>
          <a:xfrm>
            <a:off x="79513" y="511689"/>
            <a:ext cx="8090266" cy="1423467"/>
          </a:xfrm>
          <a:prstGeom prst="rect">
            <a:avLst/>
          </a:prstGeom>
          <a:noFill/>
        </p:spPr>
        <p:txBody>
          <a:bodyPr wrap="square">
            <a:spAutoFit/>
          </a:bodyPr>
          <a:lstStyle/>
          <a:p>
            <a:pPr algn="l">
              <a:buNone/>
            </a:pPr>
            <a:r>
              <a:rPr lang="en-GB" b="1" i="0" u="none" strike="noStrike" dirty="0">
                <a:solidFill>
                  <a:srgbClr val="404040"/>
                </a:solidFill>
                <a:effectLst/>
                <a:latin typeface="+mj-lt"/>
              </a:rPr>
              <a:t>2 ONNX (Open Neural Network Exchange) Format</a:t>
            </a:r>
          </a:p>
          <a:p>
            <a:pPr algn="l">
              <a:buNone/>
            </a:pPr>
            <a:r>
              <a:rPr lang="en-GB" b="0" i="0" u="none" strike="noStrike" dirty="0">
                <a:solidFill>
                  <a:srgbClr val="404040"/>
                </a:solidFill>
                <a:effectLst/>
                <a:latin typeface="+mj-lt"/>
              </a:rPr>
              <a:t>ONNX is an open format for AI models, enabling interoperability between frameworks (</a:t>
            </a:r>
            <a:r>
              <a:rPr lang="en-GB" b="0" i="0" u="none" strike="noStrike" dirty="0" err="1">
                <a:solidFill>
                  <a:srgbClr val="404040"/>
                </a:solidFill>
                <a:effectLst/>
                <a:latin typeface="+mj-lt"/>
              </a:rPr>
              <a:t>PyTorch</a:t>
            </a:r>
            <a:r>
              <a:rPr lang="en-GB" b="0" i="0" u="none" strike="noStrike" dirty="0">
                <a:solidFill>
                  <a:srgbClr val="404040"/>
                </a:solidFill>
                <a:effectLst/>
                <a:latin typeface="+mj-lt"/>
              </a:rPr>
              <a:t>, TensorFlow, etc.).</a:t>
            </a:r>
          </a:p>
          <a:p>
            <a:pPr algn="l">
              <a:buNone/>
            </a:pPr>
            <a:r>
              <a:rPr lang="en-GB" b="1" i="0" u="none" strike="noStrike" dirty="0">
                <a:solidFill>
                  <a:srgbClr val="404040"/>
                </a:solidFill>
                <a:effectLst/>
                <a:latin typeface="+mj-lt"/>
              </a:rPr>
              <a:t>Exporting a TensorFlow Model to ONNX</a:t>
            </a:r>
          </a:p>
          <a:p>
            <a:pPr algn="l">
              <a:spcAft>
                <a:spcPts val="300"/>
              </a:spcAft>
              <a:buFont typeface="+mj-lt"/>
              <a:buAutoNum type="arabicPeriod"/>
            </a:pPr>
            <a:r>
              <a:rPr lang="en-GB" b="0" i="0" u="none" strike="noStrike" dirty="0">
                <a:solidFill>
                  <a:srgbClr val="404040"/>
                </a:solidFill>
                <a:effectLst/>
                <a:latin typeface="+mj-lt"/>
              </a:rPr>
              <a:t>Install required packages:</a:t>
            </a:r>
          </a:p>
          <a:p>
            <a:pPr algn="l">
              <a:buNone/>
            </a:pPr>
            <a:endParaRPr lang="en-GB" b="0" i="0" u="none" strike="noStrike" dirty="0">
              <a:solidFill>
                <a:srgbClr val="000000"/>
              </a:solidFill>
              <a:effectLst/>
              <a:latin typeface="+mj-lt"/>
              <a:cs typeface="Arial" panose="020B0604020202020204" pitchFamily="34" charset="0"/>
            </a:endParaRPr>
          </a:p>
        </p:txBody>
      </p:sp>
      <p:sp>
        <p:nvSpPr>
          <p:cNvPr id="5" name="TextBox 4">
            <a:extLst>
              <a:ext uri="{FF2B5EF4-FFF2-40B4-BE49-F238E27FC236}">
                <a16:creationId xmlns:a16="http://schemas.microsoft.com/office/drawing/2014/main" id="{4A4707FC-7B22-116B-03F7-1B1A553305E8}"/>
              </a:ext>
            </a:extLst>
          </p:cNvPr>
          <p:cNvSpPr txBox="1"/>
          <p:nvPr/>
        </p:nvSpPr>
        <p:spPr>
          <a:xfrm>
            <a:off x="284775" y="1684316"/>
            <a:ext cx="5964951" cy="276999"/>
          </a:xfrm>
          <a:prstGeom prst="rect">
            <a:avLst/>
          </a:prstGeom>
          <a:solidFill>
            <a:schemeClr val="accent1">
              <a:lumMod val="40000"/>
              <a:lumOff val="60000"/>
            </a:schemeClr>
          </a:solidFill>
        </p:spPr>
        <p:txBody>
          <a:bodyPr wrap="square">
            <a:spAutoFit/>
          </a:bodyPr>
          <a:lstStyle/>
          <a:p>
            <a:r>
              <a:rPr lang="en-US" sz="1200" dirty="0"/>
              <a:t>pip install tf2onnx </a:t>
            </a:r>
            <a:r>
              <a:rPr lang="en-US" sz="1200" dirty="0" err="1"/>
              <a:t>onnxruntime</a:t>
            </a:r>
            <a:endParaRPr lang="en-US" sz="1200" dirty="0"/>
          </a:p>
        </p:txBody>
      </p:sp>
      <p:sp>
        <p:nvSpPr>
          <p:cNvPr id="7" name="TextBox 6">
            <a:extLst>
              <a:ext uri="{FF2B5EF4-FFF2-40B4-BE49-F238E27FC236}">
                <a16:creationId xmlns:a16="http://schemas.microsoft.com/office/drawing/2014/main" id="{AFF3A8AB-BA6F-4963-DDDF-8C6F82EFC55F}"/>
              </a:ext>
            </a:extLst>
          </p:cNvPr>
          <p:cNvSpPr txBox="1"/>
          <p:nvPr/>
        </p:nvSpPr>
        <p:spPr>
          <a:xfrm>
            <a:off x="284774" y="3498392"/>
            <a:ext cx="5964952" cy="1569660"/>
          </a:xfrm>
          <a:prstGeom prst="rect">
            <a:avLst/>
          </a:prstGeom>
          <a:solidFill>
            <a:schemeClr val="accent1">
              <a:lumMod val="40000"/>
              <a:lumOff val="60000"/>
            </a:schemeClr>
          </a:solidFill>
        </p:spPr>
        <p:txBody>
          <a:bodyPr wrap="square">
            <a:spAutoFit/>
          </a:bodyPr>
          <a:lstStyle/>
          <a:p>
            <a:r>
              <a:rPr lang="en-US" sz="1200" dirty="0"/>
              <a:t>import </a:t>
            </a:r>
            <a:r>
              <a:rPr lang="en-US" sz="1200" dirty="0" err="1"/>
              <a:t>onnxruntime</a:t>
            </a:r>
            <a:r>
              <a:rPr lang="en-US" sz="1200" dirty="0"/>
              <a:t> as ort</a:t>
            </a:r>
          </a:p>
          <a:p>
            <a:endParaRPr lang="en-US" sz="1200" dirty="0"/>
          </a:p>
          <a:p>
            <a:r>
              <a:rPr lang="en-US" sz="1200" dirty="0"/>
              <a:t>session = </a:t>
            </a:r>
            <a:r>
              <a:rPr lang="en-US" sz="1200" dirty="0" err="1"/>
              <a:t>ort.InferenceSession</a:t>
            </a:r>
            <a:r>
              <a:rPr lang="en-US" sz="1200" dirty="0"/>
              <a:t>("</a:t>
            </a:r>
            <a:r>
              <a:rPr lang="en-US" sz="1200" dirty="0" err="1"/>
              <a:t>model.onnx</a:t>
            </a:r>
            <a:r>
              <a:rPr lang="en-US" sz="1200" dirty="0"/>
              <a:t>")</a:t>
            </a:r>
          </a:p>
          <a:p>
            <a:r>
              <a:rPr lang="en-US" sz="1200" dirty="0" err="1"/>
              <a:t>input_name</a:t>
            </a:r>
            <a:r>
              <a:rPr lang="en-US" sz="1200" dirty="0"/>
              <a:t> = </a:t>
            </a:r>
            <a:r>
              <a:rPr lang="en-US" sz="1200" dirty="0" err="1"/>
              <a:t>session.get_inputs</a:t>
            </a:r>
            <a:r>
              <a:rPr lang="en-US" sz="1200" dirty="0"/>
              <a:t>()[0].name</a:t>
            </a:r>
          </a:p>
          <a:p>
            <a:r>
              <a:rPr lang="en-US" sz="1200" dirty="0" err="1"/>
              <a:t>output_name</a:t>
            </a:r>
            <a:r>
              <a:rPr lang="en-US" sz="1200" dirty="0"/>
              <a:t> = </a:t>
            </a:r>
            <a:r>
              <a:rPr lang="en-US" sz="1200" dirty="0" err="1"/>
              <a:t>session.get_outputs</a:t>
            </a:r>
            <a:r>
              <a:rPr lang="en-US" sz="1200" dirty="0"/>
              <a:t>()[0].name</a:t>
            </a:r>
          </a:p>
          <a:p>
            <a:endParaRPr lang="en-US" sz="1200" dirty="0"/>
          </a:p>
          <a:p>
            <a:r>
              <a:rPr lang="en-US" sz="1200" dirty="0"/>
              <a:t># Run inference</a:t>
            </a:r>
          </a:p>
          <a:p>
            <a:r>
              <a:rPr lang="en-US" sz="1200" dirty="0"/>
              <a:t>results = </a:t>
            </a:r>
            <a:r>
              <a:rPr lang="en-US" sz="1200" dirty="0" err="1"/>
              <a:t>session.run</a:t>
            </a:r>
            <a:r>
              <a:rPr lang="en-US" sz="1200" dirty="0"/>
              <a:t>([</a:t>
            </a:r>
            <a:r>
              <a:rPr lang="en-US" sz="1200" dirty="0" err="1"/>
              <a:t>output_name</a:t>
            </a:r>
            <a:r>
              <a:rPr lang="en-US" sz="1200" dirty="0"/>
              <a:t>], {</a:t>
            </a:r>
            <a:r>
              <a:rPr lang="en-US" sz="1200" dirty="0" err="1"/>
              <a:t>input_name</a:t>
            </a:r>
            <a:r>
              <a:rPr lang="en-US" sz="1200" dirty="0"/>
              <a:t>: </a:t>
            </a:r>
            <a:r>
              <a:rPr lang="en-US" sz="1200" dirty="0" err="1"/>
              <a:t>x_test.numpy</a:t>
            </a:r>
            <a:r>
              <a:rPr lang="en-US" sz="1200" dirty="0"/>
              <a:t>()})</a:t>
            </a:r>
          </a:p>
        </p:txBody>
      </p:sp>
      <p:sp>
        <p:nvSpPr>
          <p:cNvPr id="6" name="TextBox 5">
            <a:extLst>
              <a:ext uri="{FF2B5EF4-FFF2-40B4-BE49-F238E27FC236}">
                <a16:creationId xmlns:a16="http://schemas.microsoft.com/office/drawing/2014/main" id="{FD850776-C3B5-3088-DD15-2379CC3FE687}"/>
              </a:ext>
            </a:extLst>
          </p:cNvPr>
          <p:cNvSpPr txBox="1"/>
          <p:nvPr/>
        </p:nvSpPr>
        <p:spPr>
          <a:xfrm>
            <a:off x="79513" y="2003818"/>
            <a:ext cx="4647536" cy="307777"/>
          </a:xfrm>
          <a:prstGeom prst="rect">
            <a:avLst/>
          </a:prstGeom>
          <a:noFill/>
        </p:spPr>
        <p:txBody>
          <a:bodyPr wrap="square">
            <a:spAutoFit/>
          </a:bodyPr>
          <a:lstStyle>
            <a:defPPr marR="0" lvl="0" algn="l" rtl="0">
              <a:lnSpc>
                <a:spcPct val="100000"/>
              </a:lnSpc>
              <a:spcBef>
                <a:spcPts val="0"/>
              </a:spcBef>
              <a:spcAft>
                <a:spcPts val="0"/>
              </a:spcAft>
            </a:defPPr>
            <a:lvl1pPr>
              <a:buNone/>
              <a:defRPr b="1">
                <a:solidFill>
                  <a:srgbClr val="404040"/>
                </a:solidFill>
                <a:effectLst/>
                <a:latin typeface="+mj-lt"/>
              </a:defRPr>
            </a:lvl1pPr>
          </a:lstStyle>
          <a:p>
            <a:r>
              <a:rPr lang="en-GB" dirty="0"/>
              <a:t>2. Convert the model:</a:t>
            </a:r>
            <a:endParaRPr lang="en-US" dirty="0"/>
          </a:p>
        </p:txBody>
      </p:sp>
      <p:sp>
        <p:nvSpPr>
          <p:cNvPr id="10" name="TextBox 9">
            <a:extLst>
              <a:ext uri="{FF2B5EF4-FFF2-40B4-BE49-F238E27FC236}">
                <a16:creationId xmlns:a16="http://schemas.microsoft.com/office/drawing/2014/main" id="{62D76401-3A35-326C-3043-116F22B097BE}"/>
              </a:ext>
            </a:extLst>
          </p:cNvPr>
          <p:cNvSpPr txBox="1"/>
          <p:nvPr/>
        </p:nvSpPr>
        <p:spPr>
          <a:xfrm>
            <a:off x="284775" y="2314355"/>
            <a:ext cx="5245873" cy="830997"/>
          </a:xfrm>
          <a:prstGeom prst="rect">
            <a:avLst/>
          </a:prstGeom>
          <a:solidFill>
            <a:schemeClr val="accent1">
              <a:lumMod val="40000"/>
              <a:lumOff val="60000"/>
            </a:schemeClr>
          </a:solidFill>
        </p:spPr>
        <p:txBody>
          <a:bodyPr wrap="square">
            <a:spAutoFit/>
          </a:bodyPr>
          <a:lstStyle/>
          <a:p>
            <a:r>
              <a:rPr lang="en-US" sz="1200" dirty="0"/>
              <a:t>import tf2onnx</a:t>
            </a:r>
          </a:p>
          <a:p>
            <a:r>
              <a:rPr lang="en-US" sz="1200" dirty="0"/>
              <a:t># Convert </a:t>
            </a:r>
            <a:r>
              <a:rPr lang="en-US" sz="1200" dirty="0" err="1"/>
              <a:t>SavedModel</a:t>
            </a:r>
            <a:r>
              <a:rPr lang="en-US" sz="1200" dirty="0"/>
              <a:t> to ONNX</a:t>
            </a:r>
          </a:p>
          <a:p>
            <a:r>
              <a:rPr lang="en-US" sz="1200" dirty="0" err="1"/>
              <a:t>model_proto</a:t>
            </a:r>
            <a:r>
              <a:rPr lang="en-US" sz="1200" dirty="0"/>
              <a:t>, _ = tf2onnx.convert.from_keras_model(model, </a:t>
            </a:r>
            <a:r>
              <a:rPr lang="en-US" sz="1200" dirty="0" err="1"/>
              <a:t>output_path</a:t>
            </a:r>
            <a:r>
              <a:rPr lang="en-US" sz="1200" dirty="0"/>
              <a:t>="</a:t>
            </a:r>
            <a:r>
              <a:rPr lang="en-US" sz="1200" dirty="0" err="1"/>
              <a:t>model.onnx</a:t>
            </a:r>
            <a:r>
              <a:rPr lang="en-US" sz="1200" dirty="0"/>
              <a:t>")</a:t>
            </a:r>
          </a:p>
        </p:txBody>
      </p:sp>
      <p:sp>
        <p:nvSpPr>
          <p:cNvPr id="12" name="TextBox 11">
            <a:extLst>
              <a:ext uri="{FF2B5EF4-FFF2-40B4-BE49-F238E27FC236}">
                <a16:creationId xmlns:a16="http://schemas.microsoft.com/office/drawing/2014/main" id="{464F2515-134A-ACDE-6C0E-22C54371FC3F}"/>
              </a:ext>
            </a:extLst>
          </p:cNvPr>
          <p:cNvSpPr txBox="1"/>
          <p:nvPr/>
        </p:nvSpPr>
        <p:spPr>
          <a:xfrm>
            <a:off x="189359" y="3126736"/>
            <a:ext cx="4647536" cy="307777"/>
          </a:xfrm>
          <a:prstGeom prst="rect">
            <a:avLst/>
          </a:prstGeom>
          <a:noFill/>
        </p:spPr>
        <p:txBody>
          <a:bodyPr wrap="square">
            <a:spAutoFit/>
          </a:bodyPr>
          <a:lstStyle>
            <a:defPPr marR="0" lvl="0" algn="l" rtl="0">
              <a:lnSpc>
                <a:spcPct val="100000"/>
              </a:lnSpc>
              <a:spcBef>
                <a:spcPts val="0"/>
              </a:spcBef>
              <a:spcAft>
                <a:spcPts val="0"/>
              </a:spcAft>
              <a:defRPr/>
            </a:defPPr>
            <a:lvl1pPr>
              <a:buNone/>
              <a:defRPr b="1">
                <a:solidFill>
                  <a:srgbClr val="404040"/>
                </a:solidFill>
                <a:effectLst/>
                <a:latin typeface="+mj-lt"/>
              </a:defRPr>
            </a:lvl1pPr>
          </a:lstStyle>
          <a:p>
            <a:r>
              <a:rPr lang="en-GB" dirty="0"/>
              <a:t>Using ONNX Runtime for Inference</a:t>
            </a:r>
          </a:p>
        </p:txBody>
      </p:sp>
    </p:spTree>
    <p:extLst>
      <p:ext uri="{BB962C8B-B14F-4D97-AF65-F5344CB8AC3E}">
        <p14:creationId xmlns:p14="http://schemas.microsoft.com/office/powerpoint/2010/main" val="23122962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AF70F568-6075-0008-BEEF-BBD3F5B924CC}"/>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77999CEF-34CD-927A-D866-D05FE8241D83}"/>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kern="0" dirty="0">
                <a:solidFill>
                  <a:srgbClr val="7030A0"/>
                </a:solidFill>
                <a:effectLst/>
                <a:latin typeface="Helvetica Neue" panose="02000503000000020004" pitchFamily="2" charset="0"/>
                <a:ea typeface="Times New Roman" panose="02020603050405020304" pitchFamily="18" charset="0"/>
                <a:cs typeface="Times New Roman" panose="02020603050405020304" pitchFamily="18" charset="0"/>
              </a:rPr>
              <a:t>Serving Models with Web Frameworks</a:t>
            </a:r>
            <a:br>
              <a:rPr lang="en-GB" sz="2800" kern="0" dirty="0">
                <a:solidFill>
                  <a:srgbClr val="7030A0"/>
                </a:solidFill>
                <a:effectLst/>
                <a:latin typeface="Helvetica Neue" panose="02000503000000020004" pitchFamily="2" charset="0"/>
                <a:ea typeface="Times New Roman" panose="02020603050405020304" pitchFamily="18" charset="0"/>
                <a:cs typeface="Times New Roman" panose="02020603050405020304" pitchFamily="18" charset="0"/>
              </a:rPr>
            </a:br>
            <a:br>
              <a:rPr lang="en-GB" sz="2800" kern="0" dirty="0">
                <a:solidFill>
                  <a:srgbClr val="7030A0"/>
                </a:solidFill>
                <a:effectLst/>
                <a:latin typeface="Helvetica Neue" panose="02000503000000020004" pitchFamily="2" charset="0"/>
                <a:ea typeface="Times New Roman" panose="02020603050405020304" pitchFamily="18" charset="0"/>
                <a:cs typeface="Times New Roman" panose="02020603050405020304" pitchFamily="18" charset="0"/>
              </a:rPr>
            </a:br>
            <a:br>
              <a:rPr lang="en-GB" sz="2400" kern="100" dirty="0">
                <a:solidFill>
                  <a:srgbClr val="7030A0"/>
                </a:solidFill>
                <a:effectLst/>
                <a:latin typeface="Aptos" panose="020B0004020202020204" pitchFamily="34" charset="0"/>
                <a:ea typeface="Aptos" panose="020B0004020202020204" pitchFamily="34" charset="0"/>
                <a:cs typeface="Arial" panose="020B0604020202020204" pitchFamily="34" charset="0"/>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A2BD2504-3D47-4A3E-F96C-6F0C353F1554}"/>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6B549607-7261-D160-D433-B01FC6C01A3A}"/>
              </a:ext>
            </a:extLst>
          </p:cNvPr>
          <p:cNvSpPr txBox="1"/>
          <p:nvPr/>
        </p:nvSpPr>
        <p:spPr>
          <a:xfrm>
            <a:off x="79513" y="511689"/>
            <a:ext cx="8090266" cy="954107"/>
          </a:xfrm>
          <a:prstGeom prst="rect">
            <a:avLst/>
          </a:prstGeom>
          <a:noFill/>
        </p:spPr>
        <p:txBody>
          <a:bodyPr wrap="square">
            <a:spAutoFit/>
          </a:bodyPr>
          <a:lstStyle/>
          <a:p>
            <a:pPr algn="l">
              <a:buNone/>
            </a:pPr>
            <a:r>
              <a:rPr lang="en-GB" b="1" i="0" u="none" strike="noStrike" dirty="0">
                <a:solidFill>
                  <a:srgbClr val="404040"/>
                </a:solidFill>
                <a:effectLst/>
                <a:latin typeface="Arial" panose="020B0604020202020204" pitchFamily="34" charset="0"/>
                <a:cs typeface="Arial" panose="020B0604020202020204" pitchFamily="34" charset="0"/>
              </a:rPr>
              <a:t>1 Flask for Model Serving</a:t>
            </a:r>
          </a:p>
          <a:p>
            <a:pPr algn="l">
              <a:buNone/>
            </a:pPr>
            <a:r>
              <a:rPr lang="en-GB" b="0" i="0" u="none" strike="noStrike" dirty="0">
                <a:solidFill>
                  <a:srgbClr val="404040"/>
                </a:solidFill>
                <a:effectLst/>
                <a:latin typeface="Arial" panose="020B0604020202020204" pitchFamily="34" charset="0"/>
                <a:cs typeface="Arial" panose="020B0604020202020204" pitchFamily="34" charset="0"/>
              </a:rPr>
              <a:t>Flask is a lightweight WSGI web framework for Python.</a:t>
            </a:r>
          </a:p>
          <a:p>
            <a:pPr algn="l"/>
            <a:r>
              <a:rPr lang="en-GB" b="1" i="0" u="none" strike="noStrike" dirty="0">
                <a:solidFill>
                  <a:srgbClr val="404040"/>
                </a:solidFill>
                <a:effectLst/>
                <a:latin typeface="Arial" panose="020B0604020202020204" pitchFamily="34" charset="0"/>
                <a:cs typeface="Arial" panose="020B0604020202020204" pitchFamily="34" charset="0"/>
              </a:rPr>
              <a:t>Creating a Flask API for Model Inference</a:t>
            </a:r>
          </a:p>
          <a:p>
            <a:pPr algn="l">
              <a:buNone/>
            </a:pPr>
            <a:endParaRPr lang="en-GB" b="0" i="0" u="none" strike="noStrike" dirty="0">
              <a:solidFill>
                <a:srgbClr val="000000"/>
              </a:solidFill>
              <a:effectLst/>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B694287B-A7F6-9076-2DD4-FA3C634C9C30}"/>
              </a:ext>
            </a:extLst>
          </p:cNvPr>
          <p:cNvSpPr txBox="1"/>
          <p:nvPr/>
        </p:nvSpPr>
        <p:spPr>
          <a:xfrm>
            <a:off x="219286" y="1247425"/>
            <a:ext cx="4593867" cy="2492990"/>
          </a:xfrm>
          <a:prstGeom prst="rect">
            <a:avLst/>
          </a:prstGeom>
          <a:solidFill>
            <a:schemeClr val="accent1">
              <a:lumMod val="40000"/>
              <a:lumOff val="60000"/>
            </a:schemeClr>
          </a:solidFill>
        </p:spPr>
        <p:txBody>
          <a:bodyPr wrap="square">
            <a:spAutoFit/>
          </a:bodyPr>
          <a:lstStyle/>
          <a:p>
            <a:r>
              <a:rPr lang="en-US" sz="1200" dirty="0"/>
              <a:t>from flask import Flask, request, </a:t>
            </a:r>
            <a:r>
              <a:rPr lang="en-US" sz="1200" dirty="0" err="1"/>
              <a:t>jsonify</a:t>
            </a:r>
            <a:endParaRPr lang="en-US" sz="1200" dirty="0"/>
          </a:p>
          <a:p>
            <a:r>
              <a:rPr lang="en-US" sz="1200" dirty="0"/>
              <a:t>import </a:t>
            </a:r>
            <a:r>
              <a:rPr lang="en-US" sz="1200" dirty="0" err="1"/>
              <a:t>numpy</a:t>
            </a:r>
            <a:r>
              <a:rPr lang="en-US" sz="1200" dirty="0"/>
              <a:t> as np</a:t>
            </a:r>
          </a:p>
          <a:p>
            <a:r>
              <a:rPr lang="en-US" sz="1200" dirty="0"/>
              <a:t>import </a:t>
            </a:r>
            <a:r>
              <a:rPr lang="en-US" sz="1200" dirty="0" err="1"/>
              <a:t>tensorflow</a:t>
            </a:r>
            <a:r>
              <a:rPr lang="en-US" sz="1200" dirty="0"/>
              <a:t> as </a:t>
            </a:r>
            <a:r>
              <a:rPr lang="en-US" sz="1200" dirty="0" err="1"/>
              <a:t>tf</a:t>
            </a:r>
            <a:endParaRPr lang="en-US" sz="1200" dirty="0"/>
          </a:p>
          <a:p>
            <a:r>
              <a:rPr lang="en-US" sz="1200" dirty="0"/>
              <a:t>app = Flask(__name__)</a:t>
            </a:r>
          </a:p>
          <a:p>
            <a:r>
              <a:rPr lang="en-US" sz="1200" dirty="0"/>
              <a:t>model = </a:t>
            </a:r>
            <a:r>
              <a:rPr lang="en-US" sz="1200" dirty="0" err="1"/>
              <a:t>tf.keras.models.load_model</a:t>
            </a:r>
            <a:r>
              <a:rPr lang="en-US" sz="1200" dirty="0"/>
              <a:t>("</a:t>
            </a:r>
            <a:r>
              <a:rPr lang="en-US" sz="1200" dirty="0" err="1"/>
              <a:t>saved_model</a:t>
            </a:r>
            <a:r>
              <a:rPr lang="en-US" sz="1200" dirty="0"/>
              <a:t>/</a:t>
            </a:r>
            <a:r>
              <a:rPr lang="en-US" sz="1200" dirty="0" err="1"/>
              <a:t>my_model</a:t>
            </a:r>
            <a:r>
              <a:rPr lang="en-US" sz="1200" dirty="0"/>
              <a:t>")</a:t>
            </a:r>
          </a:p>
          <a:p>
            <a:r>
              <a:rPr lang="en-US" sz="1200" dirty="0"/>
              <a:t>@</a:t>
            </a:r>
            <a:r>
              <a:rPr lang="en-US" sz="1200" dirty="0" err="1"/>
              <a:t>app.route</a:t>
            </a:r>
            <a:r>
              <a:rPr lang="en-US" sz="1200" dirty="0"/>
              <a:t>('/predict', methods=['POST'])</a:t>
            </a:r>
          </a:p>
          <a:p>
            <a:r>
              <a:rPr lang="en-US" sz="1200" dirty="0"/>
              <a:t>def predict():</a:t>
            </a:r>
          </a:p>
          <a:p>
            <a:r>
              <a:rPr lang="en-US" sz="1200" dirty="0"/>
              <a:t>    data = </a:t>
            </a:r>
            <a:r>
              <a:rPr lang="en-US" sz="1200" dirty="0" err="1"/>
              <a:t>request.json</a:t>
            </a:r>
            <a:endParaRPr lang="en-US" sz="1200" dirty="0"/>
          </a:p>
          <a:p>
            <a:r>
              <a:rPr lang="en-US" sz="1200" dirty="0"/>
              <a:t>    </a:t>
            </a:r>
            <a:r>
              <a:rPr lang="en-US" sz="1200" dirty="0" err="1"/>
              <a:t>input_data</a:t>
            </a:r>
            <a:r>
              <a:rPr lang="en-US" sz="1200" dirty="0"/>
              <a:t> = </a:t>
            </a:r>
            <a:r>
              <a:rPr lang="en-US" sz="1200" dirty="0" err="1"/>
              <a:t>np.array</a:t>
            </a:r>
            <a:r>
              <a:rPr lang="en-US" sz="1200" dirty="0"/>
              <a:t>(data['input'])</a:t>
            </a:r>
          </a:p>
          <a:p>
            <a:r>
              <a:rPr lang="en-US" sz="1200" dirty="0"/>
              <a:t>    prediction = </a:t>
            </a:r>
            <a:r>
              <a:rPr lang="en-US" sz="1200" dirty="0" err="1"/>
              <a:t>model.predict</a:t>
            </a:r>
            <a:r>
              <a:rPr lang="en-US" sz="1200" dirty="0"/>
              <a:t>(</a:t>
            </a:r>
            <a:r>
              <a:rPr lang="en-US" sz="1200" dirty="0" err="1"/>
              <a:t>input_data</a:t>
            </a:r>
            <a:r>
              <a:rPr lang="en-US" sz="1200" dirty="0"/>
              <a:t>)</a:t>
            </a:r>
          </a:p>
          <a:p>
            <a:r>
              <a:rPr lang="en-US" sz="1200" dirty="0"/>
              <a:t>    return </a:t>
            </a:r>
            <a:r>
              <a:rPr lang="en-US" sz="1200" dirty="0" err="1"/>
              <a:t>jsonify</a:t>
            </a:r>
            <a:r>
              <a:rPr lang="en-US" sz="1200" dirty="0"/>
              <a:t>({"prediction": </a:t>
            </a:r>
            <a:r>
              <a:rPr lang="en-US" sz="1200" dirty="0" err="1"/>
              <a:t>prediction.tolist</a:t>
            </a:r>
            <a:r>
              <a:rPr lang="en-US" sz="1200" dirty="0"/>
              <a:t>()})</a:t>
            </a:r>
          </a:p>
          <a:p>
            <a:r>
              <a:rPr lang="en-US" sz="1200" dirty="0"/>
              <a:t>if __name__ == '__main__':</a:t>
            </a:r>
          </a:p>
          <a:p>
            <a:r>
              <a:rPr lang="en-US" sz="1200" dirty="0"/>
              <a:t>    </a:t>
            </a:r>
            <a:r>
              <a:rPr lang="en-US" sz="1200" dirty="0" err="1"/>
              <a:t>app.run</a:t>
            </a:r>
            <a:r>
              <a:rPr lang="en-US" sz="1200" dirty="0"/>
              <a:t>(host='0.0.0.0', port=5000)</a:t>
            </a:r>
          </a:p>
        </p:txBody>
      </p:sp>
      <p:sp>
        <p:nvSpPr>
          <p:cNvPr id="14" name="TextBox 13">
            <a:extLst>
              <a:ext uri="{FF2B5EF4-FFF2-40B4-BE49-F238E27FC236}">
                <a16:creationId xmlns:a16="http://schemas.microsoft.com/office/drawing/2014/main" id="{75C6343F-D3D8-CFF6-D49F-35F7D4A7156B}"/>
              </a:ext>
            </a:extLst>
          </p:cNvPr>
          <p:cNvSpPr txBox="1"/>
          <p:nvPr/>
        </p:nvSpPr>
        <p:spPr>
          <a:xfrm>
            <a:off x="219286" y="3778135"/>
            <a:ext cx="4647536" cy="307777"/>
          </a:xfrm>
          <a:prstGeom prst="rect">
            <a:avLst/>
          </a:prstGeom>
          <a:noFill/>
        </p:spPr>
        <p:txBody>
          <a:bodyPr wrap="square">
            <a:spAutoFit/>
          </a:bodyPr>
          <a:lstStyle/>
          <a:p>
            <a:r>
              <a:rPr lang="en-GB" b="1" dirty="0">
                <a:solidFill>
                  <a:srgbClr val="404040"/>
                </a:solidFill>
                <a:latin typeface="Arial" panose="020B0604020202020204" pitchFamily="34" charset="0"/>
                <a:cs typeface="Arial" panose="020B0604020202020204" pitchFamily="34" charset="0"/>
              </a:rPr>
              <a:t>Testing the API</a:t>
            </a:r>
          </a:p>
        </p:txBody>
      </p:sp>
      <p:sp>
        <p:nvSpPr>
          <p:cNvPr id="16" name="TextBox 15">
            <a:extLst>
              <a:ext uri="{FF2B5EF4-FFF2-40B4-BE49-F238E27FC236}">
                <a16:creationId xmlns:a16="http://schemas.microsoft.com/office/drawing/2014/main" id="{59B0BB8F-C038-FD11-47FA-26196908F978}"/>
              </a:ext>
            </a:extLst>
          </p:cNvPr>
          <p:cNvSpPr txBox="1"/>
          <p:nvPr/>
        </p:nvSpPr>
        <p:spPr>
          <a:xfrm>
            <a:off x="219285" y="4129480"/>
            <a:ext cx="8395139" cy="307777"/>
          </a:xfrm>
          <a:prstGeom prst="rect">
            <a:avLst/>
          </a:prstGeom>
          <a:solidFill>
            <a:schemeClr val="accent1">
              <a:lumMod val="40000"/>
              <a:lumOff val="60000"/>
            </a:schemeClr>
          </a:solidFill>
        </p:spPr>
        <p:txBody>
          <a:bodyPr wrap="square">
            <a:spAutoFit/>
          </a:bodyPr>
          <a:lstStyle/>
          <a:p>
            <a:r>
              <a:rPr lang="en-US" dirty="0"/>
              <a:t>curl -X POST http://localhost:5000/predict -H "Content-Type: application/</a:t>
            </a:r>
            <a:r>
              <a:rPr lang="en-US" dirty="0" err="1"/>
              <a:t>json</a:t>
            </a:r>
            <a:r>
              <a:rPr lang="en-US" dirty="0"/>
              <a:t>" -d '{"input": [[0.1, 0.2, ...]]}'</a:t>
            </a:r>
          </a:p>
        </p:txBody>
      </p:sp>
    </p:spTree>
    <p:extLst>
      <p:ext uri="{BB962C8B-B14F-4D97-AF65-F5344CB8AC3E}">
        <p14:creationId xmlns:p14="http://schemas.microsoft.com/office/powerpoint/2010/main" val="9514084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A37617DC-8D76-5A7C-4A61-FB4F049DC8F9}"/>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DCB85D23-1444-E682-41A0-FC0853C20AED}"/>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kern="0" dirty="0">
                <a:solidFill>
                  <a:srgbClr val="7030A0"/>
                </a:solidFill>
                <a:effectLst/>
                <a:latin typeface="Helvetica Neue" panose="02000503000000020004" pitchFamily="2" charset="0"/>
                <a:ea typeface="Times New Roman" panose="02020603050405020304" pitchFamily="18" charset="0"/>
                <a:cs typeface="Times New Roman" panose="02020603050405020304" pitchFamily="18" charset="0"/>
              </a:rPr>
              <a:t>Serving Models with Web Frameworks</a:t>
            </a:r>
            <a:br>
              <a:rPr lang="en-GB" sz="2800" kern="0" dirty="0">
                <a:solidFill>
                  <a:srgbClr val="7030A0"/>
                </a:solidFill>
                <a:effectLst/>
                <a:latin typeface="Helvetica Neue" panose="02000503000000020004" pitchFamily="2" charset="0"/>
                <a:ea typeface="Times New Roman" panose="02020603050405020304" pitchFamily="18" charset="0"/>
                <a:cs typeface="Times New Roman" panose="02020603050405020304" pitchFamily="18" charset="0"/>
              </a:rPr>
            </a:br>
            <a:br>
              <a:rPr lang="en-GB" sz="2800" kern="0" dirty="0">
                <a:solidFill>
                  <a:srgbClr val="7030A0"/>
                </a:solidFill>
                <a:effectLst/>
                <a:latin typeface="Helvetica Neue" panose="02000503000000020004" pitchFamily="2" charset="0"/>
                <a:ea typeface="Times New Roman" panose="02020603050405020304" pitchFamily="18" charset="0"/>
                <a:cs typeface="Times New Roman" panose="02020603050405020304" pitchFamily="18" charset="0"/>
              </a:rPr>
            </a:br>
            <a:br>
              <a:rPr lang="en-GB" sz="2400" kern="100" dirty="0">
                <a:solidFill>
                  <a:srgbClr val="7030A0"/>
                </a:solidFill>
                <a:effectLst/>
                <a:latin typeface="Aptos" panose="020B0004020202020204" pitchFamily="34" charset="0"/>
                <a:ea typeface="Aptos" panose="020B0004020202020204" pitchFamily="34" charset="0"/>
                <a:cs typeface="Arial" panose="020B0604020202020204" pitchFamily="34" charset="0"/>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0D89D8D6-70A8-391A-7D5B-991FEB20B077}"/>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2A0994CF-DA03-C407-3655-CDD47538CB1D}"/>
              </a:ext>
            </a:extLst>
          </p:cNvPr>
          <p:cNvSpPr txBox="1"/>
          <p:nvPr/>
        </p:nvSpPr>
        <p:spPr>
          <a:xfrm>
            <a:off x="79513" y="511689"/>
            <a:ext cx="8090266" cy="954107"/>
          </a:xfrm>
          <a:prstGeom prst="rect">
            <a:avLst/>
          </a:prstGeom>
          <a:noFill/>
        </p:spPr>
        <p:txBody>
          <a:bodyPr wrap="square">
            <a:spAutoFit/>
          </a:bodyPr>
          <a:lstStyle/>
          <a:p>
            <a:pPr algn="l">
              <a:buNone/>
            </a:pPr>
            <a:r>
              <a:rPr lang="en-GB" b="1" i="0" u="none" strike="noStrike" dirty="0">
                <a:solidFill>
                  <a:srgbClr val="404040"/>
                </a:solidFill>
                <a:effectLst/>
                <a:latin typeface="Arial" panose="020B0604020202020204" pitchFamily="34" charset="0"/>
                <a:cs typeface="Arial" panose="020B0604020202020204" pitchFamily="34" charset="0"/>
              </a:rPr>
              <a:t>2 </a:t>
            </a:r>
            <a:r>
              <a:rPr lang="en-GB" b="1" i="0" u="none" strike="noStrike" dirty="0" err="1">
                <a:solidFill>
                  <a:srgbClr val="404040"/>
                </a:solidFill>
                <a:effectLst/>
                <a:latin typeface="Arial" panose="020B0604020202020204" pitchFamily="34" charset="0"/>
                <a:cs typeface="Arial" panose="020B0604020202020204" pitchFamily="34" charset="0"/>
              </a:rPr>
              <a:t>FastAPI</a:t>
            </a:r>
            <a:r>
              <a:rPr lang="en-GB" b="1" i="0" u="none" strike="noStrike" dirty="0">
                <a:solidFill>
                  <a:srgbClr val="404040"/>
                </a:solidFill>
                <a:effectLst/>
                <a:latin typeface="Arial" panose="020B0604020202020204" pitchFamily="34" charset="0"/>
                <a:cs typeface="Arial" panose="020B0604020202020204" pitchFamily="34" charset="0"/>
              </a:rPr>
              <a:t> for Model Serving</a:t>
            </a:r>
          </a:p>
          <a:p>
            <a:pPr algn="l">
              <a:buNone/>
            </a:pPr>
            <a:r>
              <a:rPr lang="en-GB" b="0" i="0" u="none" strike="noStrike" dirty="0" err="1">
                <a:solidFill>
                  <a:srgbClr val="404040"/>
                </a:solidFill>
                <a:effectLst/>
                <a:latin typeface="Arial" panose="020B0604020202020204" pitchFamily="34" charset="0"/>
                <a:cs typeface="Arial" panose="020B0604020202020204" pitchFamily="34" charset="0"/>
              </a:rPr>
              <a:t>FastAPI</a:t>
            </a:r>
            <a:r>
              <a:rPr lang="en-GB" b="0" i="0" u="none" strike="noStrike" dirty="0">
                <a:solidFill>
                  <a:srgbClr val="404040"/>
                </a:solidFill>
                <a:effectLst/>
                <a:latin typeface="Arial" panose="020B0604020202020204" pitchFamily="34" charset="0"/>
                <a:cs typeface="Arial" panose="020B0604020202020204" pitchFamily="34" charset="0"/>
              </a:rPr>
              <a:t> is a modern, high-performance ASGI framework with built-in Swagger docs.</a:t>
            </a:r>
          </a:p>
          <a:p>
            <a:pPr algn="l"/>
            <a:r>
              <a:rPr lang="en-GB" b="1" i="0" u="none" strike="noStrike" dirty="0">
                <a:solidFill>
                  <a:srgbClr val="404040"/>
                </a:solidFill>
                <a:effectLst/>
                <a:latin typeface="Arial" panose="020B0604020202020204" pitchFamily="34" charset="0"/>
                <a:cs typeface="Arial" panose="020B0604020202020204" pitchFamily="34" charset="0"/>
              </a:rPr>
              <a:t>Creating a </a:t>
            </a:r>
            <a:r>
              <a:rPr lang="en-GB" b="1" i="0" u="none" strike="noStrike" dirty="0" err="1">
                <a:solidFill>
                  <a:srgbClr val="404040"/>
                </a:solidFill>
                <a:effectLst/>
                <a:latin typeface="Arial" panose="020B0604020202020204" pitchFamily="34" charset="0"/>
                <a:cs typeface="Arial" panose="020B0604020202020204" pitchFamily="34" charset="0"/>
              </a:rPr>
              <a:t>FastAPI</a:t>
            </a:r>
            <a:r>
              <a:rPr lang="en-GB" b="1" i="0" u="none" strike="noStrike" dirty="0">
                <a:solidFill>
                  <a:srgbClr val="404040"/>
                </a:solidFill>
                <a:effectLst/>
                <a:latin typeface="Arial" panose="020B0604020202020204" pitchFamily="34" charset="0"/>
                <a:cs typeface="Arial" panose="020B0604020202020204" pitchFamily="34" charset="0"/>
              </a:rPr>
              <a:t> Endpoint</a:t>
            </a:r>
          </a:p>
          <a:p>
            <a:pPr algn="l">
              <a:buNone/>
            </a:pPr>
            <a:endParaRPr lang="en-GB" b="0" i="0" u="none" strike="noStrike" dirty="0">
              <a:solidFill>
                <a:srgbClr val="000000"/>
              </a:solidFill>
              <a:effectLst/>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9E34E619-FF1B-5C4B-CBE8-FB4E733EA146}"/>
              </a:ext>
            </a:extLst>
          </p:cNvPr>
          <p:cNvSpPr txBox="1"/>
          <p:nvPr/>
        </p:nvSpPr>
        <p:spPr>
          <a:xfrm>
            <a:off x="219287" y="1247425"/>
            <a:ext cx="4647536" cy="2492990"/>
          </a:xfrm>
          <a:prstGeom prst="rect">
            <a:avLst/>
          </a:prstGeom>
          <a:solidFill>
            <a:schemeClr val="accent1">
              <a:lumMod val="40000"/>
              <a:lumOff val="60000"/>
            </a:schemeClr>
          </a:solidFill>
        </p:spPr>
        <p:txBody>
          <a:bodyPr wrap="square">
            <a:spAutoFit/>
          </a:bodyPr>
          <a:lstStyle/>
          <a:p>
            <a:r>
              <a:rPr lang="en-US" sz="1200" dirty="0"/>
              <a:t>from </a:t>
            </a:r>
            <a:r>
              <a:rPr lang="en-US" sz="1200" dirty="0" err="1"/>
              <a:t>fastapi</a:t>
            </a:r>
            <a:r>
              <a:rPr lang="en-US" sz="1200" dirty="0"/>
              <a:t> import </a:t>
            </a:r>
            <a:r>
              <a:rPr lang="en-US" sz="1200" dirty="0" err="1"/>
              <a:t>FastAPI</a:t>
            </a:r>
            <a:endParaRPr lang="en-US" sz="1200" dirty="0"/>
          </a:p>
          <a:p>
            <a:r>
              <a:rPr lang="en-US" sz="1200" dirty="0"/>
              <a:t>import </a:t>
            </a:r>
            <a:r>
              <a:rPr lang="en-US" sz="1200" dirty="0" err="1"/>
              <a:t>numpy</a:t>
            </a:r>
            <a:r>
              <a:rPr lang="en-US" sz="1200" dirty="0"/>
              <a:t> as np</a:t>
            </a:r>
          </a:p>
          <a:p>
            <a:r>
              <a:rPr lang="en-US" sz="1200" dirty="0"/>
              <a:t>import </a:t>
            </a:r>
            <a:r>
              <a:rPr lang="en-US" sz="1200" dirty="0" err="1"/>
              <a:t>tensorflow</a:t>
            </a:r>
            <a:r>
              <a:rPr lang="en-US" sz="1200" dirty="0"/>
              <a:t> as </a:t>
            </a:r>
            <a:r>
              <a:rPr lang="en-US" sz="1200" dirty="0" err="1"/>
              <a:t>tf</a:t>
            </a:r>
            <a:endParaRPr lang="en-US" sz="1200" dirty="0"/>
          </a:p>
          <a:p>
            <a:r>
              <a:rPr lang="en-US" sz="1200" dirty="0"/>
              <a:t>from </a:t>
            </a:r>
            <a:r>
              <a:rPr lang="en-US" sz="1200" dirty="0" err="1"/>
              <a:t>pydantic</a:t>
            </a:r>
            <a:r>
              <a:rPr lang="en-US" sz="1200" dirty="0"/>
              <a:t> import </a:t>
            </a:r>
            <a:r>
              <a:rPr lang="en-US" sz="1200" dirty="0" err="1"/>
              <a:t>BaseModel</a:t>
            </a:r>
            <a:endParaRPr lang="en-US" sz="1200" dirty="0"/>
          </a:p>
          <a:p>
            <a:r>
              <a:rPr lang="en-US" sz="1200" dirty="0"/>
              <a:t>app = </a:t>
            </a:r>
            <a:r>
              <a:rPr lang="en-US" sz="1200" dirty="0" err="1"/>
              <a:t>FastAPI</a:t>
            </a:r>
            <a:r>
              <a:rPr lang="en-US" sz="1200" dirty="0"/>
              <a:t>()</a:t>
            </a:r>
          </a:p>
          <a:p>
            <a:r>
              <a:rPr lang="en-US" sz="1200" dirty="0"/>
              <a:t>model = </a:t>
            </a:r>
            <a:r>
              <a:rPr lang="en-US" sz="1200" dirty="0" err="1"/>
              <a:t>tf.keras.models.load_model</a:t>
            </a:r>
            <a:r>
              <a:rPr lang="en-US" sz="1200" dirty="0"/>
              <a:t>("</a:t>
            </a:r>
            <a:r>
              <a:rPr lang="en-US" sz="1200" dirty="0" err="1"/>
              <a:t>saved_model</a:t>
            </a:r>
            <a:r>
              <a:rPr lang="en-US" sz="1200" dirty="0"/>
              <a:t>/</a:t>
            </a:r>
            <a:r>
              <a:rPr lang="en-US" sz="1200" dirty="0" err="1"/>
              <a:t>my_model</a:t>
            </a:r>
            <a:r>
              <a:rPr lang="en-US" sz="1200" dirty="0"/>
              <a:t>")</a:t>
            </a:r>
          </a:p>
          <a:p>
            <a:r>
              <a:rPr lang="en-US" sz="1200" dirty="0"/>
              <a:t>class </a:t>
            </a:r>
            <a:r>
              <a:rPr lang="en-US" sz="1200" dirty="0" err="1"/>
              <a:t>InputData</a:t>
            </a:r>
            <a:r>
              <a:rPr lang="en-US" sz="1200" dirty="0"/>
              <a:t>(</a:t>
            </a:r>
            <a:r>
              <a:rPr lang="en-US" sz="1200" dirty="0" err="1"/>
              <a:t>BaseModel</a:t>
            </a:r>
            <a:r>
              <a:rPr lang="en-US" sz="1200" dirty="0"/>
              <a:t>):</a:t>
            </a:r>
          </a:p>
          <a:p>
            <a:r>
              <a:rPr lang="en-US" sz="1200" dirty="0"/>
              <a:t>    input: list[list[float]]</a:t>
            </a:r>
          </a:p>
          <a:p>
            <a:r>
              <a:rPr lang="en-US" sz="1200" dirty="0"/>
              <a:t>@</a:t>
            </a:r>
            <a:r>
              <a:rPr lang="en-US" sz="1200" dirty="0" err="1"/>
              <a:t>app.post</a:t>
            </a:r>
            <a:r>
              <a:rPr lang="en-US" sz="1200" dirty="0"/>
              <a:t>("/predict")</a:t>
            </a:r>
          </a:p>
          <a:p>
            <a:r>
              <a:rPr lang="en-US" sz="1200" dirty="0"/>
              <a:t>def predict(data: </a:t>
            </a:r>
            <a:r>
              <a:rPr lang="en-US" sz="1200" dirty="0" err="1"/>
              <a:t>InputData</a:t>
            </a:r>
            <a:r>
              <a:rPr lang="en-US" sz="1200" dirty="0"/>
              <a:t>):</a:t>
            </a:r>
          </a:p>
          <a:p>
            <a:r>
              <a:rPr lang="en-US" sz="1200" dirty="0"/>
              <a:t>    </a:t>
            </a:r>
            <a:r>
              <a:rPr lang="en-US" sz="1200" dirty="0" err="1"/>
              <a:t>input_array</a:t>
            </a:r>
            <a:r>
              <a:rPr lang="en-US" sz="1200" dirty="0"/>
              <a:t> = </a:t>
            </a:r>
            <a:r>
              <a:rPr lang="en-US" sz="1200" dirty="0" err="1"/>
              <a:t>np.array</a:t>
            </a:r>
            <a:r>
              <a:rPr lang="en-US" sz="1200" dirty="0"/>
              <a:t>(</a:t>
            </a:r>
            <a:r>
              <a:rPr lang="en-US" sz="1200" dirty="0" err="1"/>
              <a:t>data.input</a:t>
            </a:r>
            <a:r>
              <a:rPr lang="en-US" sz="1200" dirty="0"/>
              <a:t>)</a:t>
            </a:r>
          </a:p>
          <a:p>
            <a:r>
              <a:rPr lang="en-US" sz="1200" dirty="0"/>
              <a:t>    prediction = </a:t>
            </a:r>
            <a:r>
              <a:rPr lang="en-US" sz="1200" dirty="0" err="1"/>
              <a:t>model.predict</a:t>
            </a:r>
            <a:r>
              <a:rPr lang="en-US" sz="1200" dirty="0"/>
              <a:t>(</a:t>
            </a:r>
            <a:r>
              <a:rPr lang="en-US" sz="1200" dirty="0" err="1"/>
              <a:t>input_array</a:t>
            </a:r>
            <a:r>
              <a:rPr lang="en-US" sz="1200" dirty="0"/>
              <a:t>)</a:t>
            </a:r>
          </a:p>
          <a:p>
            <a:r>
              <a:rPr lang="en-US" sz="1200" dirty="0"/>
              <a:t>    return {"prediction": </a:t>
            </a:r>
            <a:r>
              <a:rPr lang="en-US" sz="1200" dirty="0" err="1"/>
              <a:t>prediction.tolist</a:t>
            </a:r>
            <a:r>
              <a:rPr lang="en-US" sz="1200" dirty="0"/>
              <a:t>()}</a:t>
            </a:r>
          </a:p>
        </p:txBody>
      </p:sp>
      <p:sp>
        <p:nvSpPr>
          <p:cNvPr id="14" name="TextBox 13">
            <a:extLst>
              <a:ext uri="{FF2B5EF4-FFF2-40B4-BE49-F238E27FC236}">
                <a16:creationId xmlns:a16="http://schemas.microsoft.com/office/drawing/2014/main" id="{F57330C7-8532-A18A-4619-F5D70DD06F95}"/>
              </a:ext>
            </a:extLst>
          </p:cNvPr>
          <p:cNvSpPr txBox="1"/>
          <p:nvPr/>
        </p:nvSpPr>
        <p:spPr>
          <a:xfrm>
            <a:off x="219286" y="3778135"/>
            <a:ext cx="4647536" cy="307777"/>
          </a:xfrm>
          <a:prstGeom prst="rect">
            <a:avLst/>
          </a:prstGeom>
          <a:noFill/>
        </p:spPr>
        <p:txBody>
          <a:bodyPr wrap="square">
            <a:spAutoFit/>
          </a:bodyPr>
          <a:lstStyle/>
          <a:p>
            <a:r>
              <a:rPr lang="en-GB" b="1" dirty="0">
                <a:solidFill>
                  <a:srgbClr val="404040"/>
                </a:solidFill>
                <a:latin typeface="Arial" panose="020B0604020202020204" pitchFamily="34" charset="0"/>
                <a:cs typeface="Arial" panose="020B0604020202020204" pitchFamily="34" charset="0"/>
              </a:rPr>
              <a:t>Running Fast API</a:t>
            </a:r>
          </a:p>
        </p:txBody>
      </p:sp>
      <p:sp>
        <p:nvSpPr>
          <p:cNvPr id="16" name="TextBox 15">
            <a:extLst>
              <a:ext uri="{FF2B5EF4-FFF2-40B4-BE49-F238E27FC236}">
                <a16:creationId xmlns:a16="http://schemas.microsoft.com/office/drawing/2014/main" id="{96FF165E-EF99-AFCE-44CE-0524AEF8DEF1}"/>
              </a:ext>
            </a:extLst>
          </p:cNvPr>
          <p:cNvSpPr txBox="1"/>
          <p:nvPr/>
        </p:nvSpPr>
        <p:spPr>
          <a:xfrm>
            <a:off x="219285" y="4129480"/>
            <a:ext cx="8395139" cy="307777"/>
          </a:xfrm>
          <a:prstGeom prst="rect">
            <a:avLst/>
          </a:prstGeom>
          <a:solidFill>
            <a:schemeClr val="accent1">
              <a:lumMod val="40000"/>
              <a:lumOff val="60000"/>
            </a:schemeClr>
          </a:solidFill>
        </p:spPr>
        <p:txBody>
          <a:bodyPr wrap="square">
            <a:spAutoFit/>
          </a:bodyPr>
          <a:lstStyle/>
          <a:p>
            <a:r>
              <a:rPr lang="en-US" dirty="0" err="1"/>
              <a:t>uvicorn</a:t>
            </a:r>
            <a:r>
              <a:rPr lang="en-US" dirty="0"/>
              <a:t> </a:t>
            </a:r>
            <a:r>
              <a:rPr lang="en-US" dirty="0" err="1"/>
              <a:t>app:app</a:t>
            </a:r>
            <a:r>
              <a:rPr lang="en-US" dirty="0"/>
              <a:t> --reload --host 0.0.0.0 --port 8000</a:t>
            </a:r>
          </a:p>
        </p:txBody>
      </p:sp>
    </p:spTree>
    <p:extLst>
      <p:ext uri="{BB962C8B-B14F-4D97-AF65-F5344CB8AC3E}">
        <p14:creationId xmlns:p14="http://schemas.microsoft.com/office/powerpoint/2010/main" val="120600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F9A43AC9-68AE-3C72-ECC2-CEBFD5A172FD}"/>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F5F81482-8F48-6988-A85E-4A111FE09FB1}"/>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kern="0" dirty="0">
                <a:solidFill>
                  <a:srgbClr val="7030A0"/>
                </a:solidFill>
                <a:effectLst/>
                <a:latin typeface="Helvetica Neue" panose="02000503000000020004" pitchFamily="2" charset="0"/>
                <a:ea typeface="Times New Roman" panose="02020603050405020304" pitchFamily="18" charset="0"/>
                <a:cs typeface="Times New Roman" panose="02020603050405020304" pitchFamily="18" charset="0"/>
              </a:rPr>
              <a:t>TensorFlow Serving for Production</a:t>
            </a:r>
            <a:br>
              <a:rPr lang="en-GB" sz="2800" kern="0" dirty="0">
                <a:solidFill>
                  <a:srgbClr val="7030A0"/>
                </a:solidFill>
                <a:effectLst/>
                <a:latin typeface="Helvetica Neue" panose="02000503000000020004" pitchFamily="2" charset="0"/>
                <a:ea typeface="Times New Roman" panose="02020603050405020304" pitchFamily="18" charset="0"/>
                <a:cs typeface="Times New Roman" panose="02020603050405020304" pitchFamily="18" charset="0"/>
              </a:rPr>
            </a:br>
            <a:br>
              <a:rPr lang="en-GB" sz="2800" kern="0" dirty="0">
                <a:solidFill>
                  <a:srgbClr val="7030A0"/>
                </a:solidFill>
                <a:effectLst/>
                <a:latin typeface="Helvetica Neue" panose="02000503000000020004" pitchFamily="2" charset="0"/>
                <a:ea typeface="Times New Roman" panose="02020603050405020304" pitchFamily="18" charset="0"/>
                <a:cs typeface="Times New Roman" panose="02020603050405020304" pitchFamily="18" charset="0"/>
              </a:rPr>
            </a:br>
            <a:br>
              <a:rPr lang="en-GB" sz="2800" kern="0" dirty="0">
                <a:solidFill>
                  <a:srgbClr val="7030A0"/>
                </a:solidFill>
                <a:effectLst/>
                <a:latin typeface="Helvetica Neue" panose="02000503000000020004" pitchFamily="2" charset="0"/>
                <a:ea typeface="Times New Roman" panose="02020603050405020304" pitchFamily="18" charset="0"/>
                <a:cs typeface="Times New Roman" panose="02020603050405020304" pitchFamily="18" charset="0"/>
              </a:rPr>
            </a:br>
            <a:br>
              <a:rPr lang="en-GB" sz="2400" kern="100" dirty="0">
                <a:solidFill>
                  <a:srgbClr val="7030A0"/>
                </a:solidFill>
                <a:effectLst/>
                <a:latin typeface="Aptos" panose="020B0004020202020204" pitchFamily="34" charset="0"/>
                <a:ea typeface="Aptos" panose="020B0004020202020204" pitchFamily="34" charset="0"/>
                <a:cs typeface="Arial" panose="020B0604020202020204" pitchFamily="34" charset="0"/>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12F8AC9E-CEB6-BC3B-296E-B02BFDD07926}"/>
              </a:ext>
            </a:extLst>
          </p:cNvPr>
          <p:cNvSpPr>
            <a:spLocks noChangeAspect="1" noChangeArrowheads="1"/>
          </p:cNvSpPr>
          <p:nvPr/>
        </p:nvSpPr>
        <p:spPr bwMode="auto">
          <a:xfrm>
            <a:off x="2980872" y="1926912"/>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9FA2F0F7-A1BE-93EB-3AF8-E822BBB1FB27}"/>
              </a:ext>
            </a:extLst>
          </p:cNvPr>
          <p:cNvSpPr txBox="1"/>
          <p:nvPr/>
        </p:nvSpPr>
        <p:spPr>
          <a:xfrm>
            <a:off x="79513" y="511689"/>
            <a:ext cx="8090266" cy="992579"/>
          </a:xfrm>
          <a:prstGeom prst="rect">
            <a:avLst/>
          </a:prstGeom>
          <a:noFill/>
        </p:spPr>
        <p:txBody>
          <a:bodyPr wrap="square">
            <a:spAutoFit/>
          </a:bodyPr>
          <a:lstStyle/>
          <a:p>
            <a:pPr algn="l">
              <a:buNone/>
            </a:pPr>
            <a:r>
              <a:rPr lang="en-GB" b="0" i="0" u="none" strike="noStrike" dirty="0">
                <a:solidFill>
                  <a:srgbClr val="404040"/>
                </a:solidFill>
                <a:effectLst/>
                <a:latin typeface="DeepSeek-CJK-patch"/>
              </a:rPr>
              <a:t>TensorFlow Serving is a dedicated serving system for ML models.</a:t>
            </a:r>
          </a:p>
          <a:p>
            <a:pPr algn="l">
              <a:buNone/>
            </a:pPr>
            <a:r>
              <a:rPr lang="en-GB" b="1" i="0" u="none" strike="noStrike" dirty="0">
                <a:solidFill>
                  <a:srgbClr val="404040"/>
                </a:solidFill>
                <a:effectLst/>
                <a:latin typeface="DeepSeek-CJK-patch"/>
              </a:rPr>
              <a:t>1 Setting Up TensorFlow </a:t>
            </a:r>
            <a:r>
              <a:rPr lang="en-GB" b="1" i="0" u="none" strike="noStrike" dirty="0">
                <a:solidFill>
                  <a:srgbClr val="404040"/>
                </a:solidFill>
                <a:effectLst/>
                <a:latin typeface="Arial" panose="020B0604020202020204" pitchFamily="34" charset="0"/>
                <a:cs typeface="Arial" panose="020B0604020202020204" pitchFamily="34" charset="0"/>
              </a:rPr>
              <a:t>Serving</a:t>
            </a:r>
          </a:p>
          <a:p>
            <a:pPr algn="l">
              <a:spcAft>
                <a:spcPts val="300"/>
              </a:spcAft>
              <a:buFont typeface="+mj-lt"/>
              <a:buAutoNum type="arabicPeriod"/>
            </a:pPr>
            <a:r>
              <a:rPr lang="en-GB" b="0" i="0" u="none" strike="noStrike" dirty="0">
                <a:solidFill>
                  <a:srgbClr val="404040"/>
                </a:solidFill>
                <a:effectLst/>
                <a:latin typeface="DeepSeek-CJK-patch"/>
              </a:rPr>
              <a:t>Install TensorFlow Serving:</a:t>
            </a:r>
          </a:p>
          <a:p>
            <a:pPr algn="l">
              <a:buNone/>
            </a:pPr>
            <a:endParaRPr lang="en-GB" b="0" i="0" u="none" strike="noStrike" dirty="0">
              <a:solidFill>
                <a:srgbClr val="000000"/>
              </a:solidFill>
              <a:effectLst/>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BBB6F4AC-73FD-3D54-BCB1-35ADED0EE6EF}"/>
              </a:ext>
            </a:extLst>
          </p:cNvPr>
          <p:cNvSpPr txBox="1"/>
          <p:nvPr/>
        </p:nvSpPr>
        <p:spPr>
          <a:xfrm>
            <a:off x="219286" y="1303168"/>
            <a:ext cx="4647536" cy="307777"/>
          </a:xfrm>
          <a:prstGeom prst="rect">
            <a:avLst/>
          </a:prstGeom>
          <a:solidFill>
            <a:schemeClr val="accent1">
              <a:lumMod val="40000"/>
              <a:lumOff val="60000"/>
            </a:schemeClr>
          </a:solidFill>
        </p:spPr>
        <p:txBody>
          <a:bodyPr wrap="square">
            <a:spAutoFit/>
          </a:bodyPr>
          <a:lstStyle/>
          <a:p>
            <a:r>
              <a:rPr lang="en-US" dirty="0"/>
              <a:t>docker pull </a:t>
            </a:r>
            <a:r>
              <a:rPr lang="en-US" dirty="0" err="1"/>
              <a:t>tensorflow</a:t>
            </a:r>
            <a:r>
              <a:rPr lang="en-US" dirty="0"/>
              <a:t>/serving</a:t>
            </a:r>
          </a:p>
        </p:txBody>
      </p:sp>
      <p:sp>
        <p:nvSpPr>
          <p:cNvPr id="7" name="TextBox 6">
            <a:extLst>
              <a:ext uri="{FF2B5EF4-FFF2-40B4-BE49-F238E27FC236}">
                <a16:creationId xmlns:a16="http://schemas.microsoft.com/office/drawing/2014/main" id="{3BBBE82F-158E-1D4C-8636-9AA91D85D42C}"/>
              </a:ext>
            </a:extLst>
          </p:cNvPr>
          <p:cNvSpPr txBox="1"/>
          <p:nvPr/>
        </p:nvSpPr>
        <p:spPr>
          <a:xfrm>
            <a:off x="137160" y="1726687"/>
            <a:ext cx="4647536" cy="307777"/>
          </a:xfrm>
          <a:prstGeom prst="rect">
            <a:avLst/>
          </a:prstGeom>
          <a:noFill/>
        </p:spPr>
        <p:txBody>
          <a:bodyPr wrap="square">
            <a:spAutoFit/>
          </a:bodyPr>
          <a:lstStyle/>
          <a:p>
            <a:r>
              <a:rPr lang="en-GB" b="0" i="0" u="none" strike="noStrike" dirty="0">
                <a:solidFill>
                  <a:srgbClr val="404040"/>
                </a:solidFill>
                <a:effectLst/>
                <a:latin typeface="Arial" panose="020B0604020202020204" pitchFamily="34" charset="0"/>
                <a:cs typeface="Arial" panose="020B0604020202020204" pitchFamily="34" charset="0"/>
              </a:rPr>
              <a:t>2. Run the Docker container with the saved model:</a:t>
            </a:r>
            <a:endParaRPr lang="en-US"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24CA3772-392A-2CBE-7A2B-9FCFBE91A51E}"/>
              </a:ext>
            </a:extLst>
          </p:cNvPr>
          <p:cNvSpPr txBox="1"/>
          <p:nvPr/>
        </p:nvSpPr>
        <p:spPr>
          <a:xfrm>
            <a:off x="219286" y="2160660"/>
            <a:ext cx="7132320" cy="738664"/>
          </a:xfrm>
          <a:prstGeom prst="rect">
            <a:avLst/>
          </a:prstGeom>
          <a:solidFill>
            <a:schemeClr val="accent1">
              <a:lumMod val="40000"/>
              <a:lumOff val="60000"/>
            </a:schemeClr>
          </a:solidFill>
        </p:spPr>
        <p:txBody>
          <a:bodyPr wrap="square">
            <a:spAutoFit/>
          </a:bodyPr>
          <a:lstStyle/>
          <a:p>
            <a:r>
              <a:rPr lang="en-US" dirty="0"/>
              <a:t>docker run -p 8501:8501 \</a:t>
            </a:r>
          </a:p>
          <a:p>
            <a:r>
              <a:rPr lang="en-US" dirty="0"/>
              <a:t>--mount type=</a:t>
            </a:r>
            <a:r>
              <a:rPr lang="en-US" dirty="0" err="1"/>
              <a:t>bind,source</a:t>
            </a:r>
            <a:r>
              <a:rPr lang="en-US" dirty="0"/>
              <a:t>=$(</a:t>
            </a:r>
            <a:r>
              <a:rPr lang="en-US" dirty="0" err="1"/>
              <a:t>pwd</a:t>
            </a:r>
            <a:r>
              <a:rPr lang="en-US" dirty="0"/>
              <a:t>)/</a:t>
            </a:r>
            <a:r>
              <a:rPr lang="en-US" dirty="0" err="1"/>
              <a:t>saved_model</a:t>
            </a:r>
            <a:r>
              <a:rPr lang="en-US" dirty="0"/>
              <a:t>/</a:t>
            </a:r>
            <a:r>
              <a:rPr lang="en-US" dirty="0" err="1"/>
              <a:t>my_model,target</a:t>
            </a:r>
            <a:r>
              <a:rPr lang="en-US" dirty="0"/>
              <a:t>=/models/</a:t>
            </a:r>
            <a:r>
              <a:rPr lang="en-US" dirty="0" err="1"/>
              <a:t>my_model</a:t>
            </a:r>
            <a:r>
              <a:rPr lang="en-US" dirty="0"/>
              <a:t> \</a:t>
            </a:r>
          </a:p>
          <a:p>
            <a:r>
              <a:rPr lang="en-US" dirty="0"/>
              <a:t>-e MODEL_NAME=</a:t>
            </a:r>
            <a:r>
              <a:rPr lang="en-US" dirty="0" err="1"/>
              <a:t>my_model</a:t>
            </a:r>
            <a:r>
              <a:rPr lang="en-US" dirty="0"/>
              <a:t> -t </a:t>
            </a:r>
            <a:r>
              <a:rPr lang="en-US" dirty="0" err="1"/>
              <a:t>tensorflow</a:t>
            </a:r>
            <a:r>
              <a:rPr lang="en-US" dirty="0"/>
              <a:t>/serving</a:t>
            </a:r>
          </a:p>
        </p:txBody>
      </p:sp>
      <p:sp>
        <p:nvSpPr>
          <p:cNvPr id="12" name="TextBox 11">
            <a:extLst>
              <a:ext uri="{FF2B5EF4-FFF2-40B4-BE49-F238E27FC236}">
                <a16:creationId xmlns:a16="http://schemas.microsoft.com/office/drawing/2014/main" id="{59EE8838-B57C-4614-892A-A73BDBE8C2FB}"/>
              </a:ext>
            </a:extLst>
          </p:cNvPr>
          <p:cNvSpPr txBox="1"/>
          <p:nvPr/>
        </p:nvSpPr>
        <p:spPr>
          <a:xfrm>
            <a:off x="219286" y="3076825"/>
            <a:ext cx="4647536" cy="307777"/>
          </a:xfrm>
          <a:prstGeom prst="rect">
            <a:avLst/>
          </a:prstGeom>
          <a:noFill/>
        </p:spPr>
        <p:txBody>
          <a:bodyPr wrap="square">
            <a:spAutoFit/>
          </a:bodyPr>
          <a:lstStyle/>
          <a:p>
            <a:pPr algn="l" rtl="0"/>
            <a:r>
              <a:rPr lang="en-GB" b="1" i="0" u="none" strike="noStrike" dirty="0">
                <a:solidFill>
                  <a:srgbClr val="404040"/>
                </a:solidFill>
                <a:effectLst/>
                <a:latin typeface="Arial" panose="020B0604020202020204" pitchFamily="34" charset="0"/>
                <a:cs typeface="Arial" panose="020B0604020202020204" pitchFamily="34" charset="0"/>
              </a:rPr>
              <a:t>3 Making Requests to TF Serving</a:t>
            </a:r>
          </a:p>
        </p:txBody>
      </p:sp>
      <p:sp>
        <p:nvSpPr>
          <p:cNvPr id="15" name="TextBox 14">
            <a:extLst>
              <a:ext uri="{FF2B5EF4-FFF2-40B4-BE49-F238E27FC236}">
                <a16:creationId xmlns:a16="http://schemas.microsoft.com/office/drawing/2014/main" id="{BC7821C0-1A9B-B901-9D6F-6239743B3297}"/>
              </a:ext>
            </a:extLst>
          </p:cNvPr>
          <p:cNvSpPr txBox="1"/>
          <p:nvPr/>
        </p:nvSpPr>
        <p:spPr>
          <a:xfrm>
            <a:off x="219286" y="3462260"/>
            <a:ext cx="7360920" cy="1169551"/>
          </a:xfrm>
          <a:prstGeom prst="rect">
            <a:avLst/>
          </a:prstGeom>
          <a:solidFill>
            <a:schemeClr val="accent1">
              <a:lumMod val="40000"/>
              <a:lumOff val="60000"/>
            </a:schemeClr>
          </a:solidFill>
        </p:spPr>
        <p:txBody>
          <a:bodyPr wrap="square">
            <a:spAutoFit/>
          </a:bodyPr>
          <a:lstStyle/>
          <a:p>
            <a:r>
              <a:rPr lang="en-US" dirty="0"/>
              <a:t>import requests</a:t>
            </a:r>
          </a:p>
          <a:p>
            <a:r>
              <a:rPr lang="en-US" dirty="0"/>
              <a:t>import </a:t>
            </a:r>
            <a:r>
              <a:rPr lang="en-US" dirty="0" err="1"/>
              <a:t>json</a:t>
            </a:r>
            <a:endParaRPr lang="en-US" dirty="0"/>
          </a:p>
          <a:p>
            <a:r>
              <a:rPr lang="en-US" dirty="0"/>
              <a:t>data = {"instances": </a:t>
            </a:r>
            <a:r>
              <a:rPr lang="en-US" dirty="0" err="1"/>
              <a:t>x_test.tolist</a:t>
            </a:r>
            <a:r>
              <a:rPr lang="en-US" dirty="0"/>
              <a:t>()}</a:t>
            </a:r>
          </a:p>
          <a:p>
            <a:r>
              <a:rPr lang="en-US" dirty="0"/>
              <a:t>response = </a:t>
            </a:r>
            <a:r>
              <a:rPr lang="en-US" dirty="0" err="1"/>
              <a:t>requests.post</a:t>
            </a:r>
            <a:r>
              <a:rPr lang="en-US" dirty="0"/>
              <a:t>('http://localhost:8501/v1/models/</a:t>
            </a:r>
            <a:r>
              <a:rPr lang="en-US" dirty="0" err="1"/>
              <a:t>my_model:predict</a:t>
            </a:r>
            <a:r>
              <a:rPr lang="en-US" dirty="0"/>
              <a:t>', </a:t>
            </a:r>
            <a:r>
              <a:rPr lang="en-US" dirty="0" err="1"/>
              <a:t>json</a:t>
            </a:r>
            <a:r>
              <a:rPr lang="en-US" dirty="0"/>
              <a:t>=data)</a:t>
            </a:r>
          </a:p>
          <a:p>
            <a:r>
              <a:rPr lang="en-US" dirty="0"/>
              <a:t>print(</a:t>
            </a:r>
            <a:r>
              <a:rPr lang="en-US" dirty="0" err="1"/>
              <a:t>response.json</a:t>
            </a:r>
            <a:r>
              <a:rPr lang="en-US" dirty="0"/>
              <a:t>())</a:t>
            </a:r>
          </a:p>
        </p:txBody>
      </p:sp>
    </p:spTree>
    <p:extLst>
      <p:ext uri="{BB962C8B-B14F-4D97-AF65-F5344CB8AC3E}">
        <p14:creationId xmlns:p14="http://schemas.microsoft.com/office/powerpoint/2010/main" val="4169139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25493ED9-78D3-5B0F-4B14-A4AF6620BE3E}"/>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A2406649-D389-C40C-2243-A2C9D9A6103B}"/>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kern="0" dirty="0">
                <a:solidFill>
                  <a:srgbClr val="7030A0"/>
                </a:solidFill>
                <a:effectLst/>
                <a:latin typeface="Helvetica Neue" panose="02000503000000020004" pitchFamily="2" charset="0"/>
                <a:ea typeface="Times New Roman" panose="02020603050405020304" pitchFamily="18" charset="0"/>
                <a:cs typeface="Times New Roman" panose="02020603050405020304" pitchFamily="18" charset="0"/>
              </a:rPr>
              <a:t>Considerations for Deep Learning Deployment:</a:t>
            </a:r>
            <a:br>
              <a:rPr lang="en-GB" sz="2800" kern="0" dirty="0">
                <a:solidFill>
                  <a:srgbClr val="7030A0"/>
                </a:solidFill>
                <a:effectLst/>
                <a:latin typeface="Helvetica Neue" panose="02000503000000020004" pitchFamily="2" charset="0"/>
                <a:ea typeface="Times New Roman" panose="02020603050405020304" pitchFamily="18" charset="0"/>
                <a:cs typeface="Times New Roman" panose="02020603050405020304" pitchFamily="18" charset="0"/>
              </a:rPr>
            </a:br>
            <a:br>
              <a:rPr lang="en-GB" sz="2800" kern="0" dirty="0">
                <a:solidFill>
                  <a:srgbClr val="7030A0"/>
                </a:solidFill>
                <a:effectLst/>
                <a:latin typeface="Helvetica Neue" panose="02000503000000020004" pitchFamily="2" charset="0"/>
                <a:ea typeface="Times New Roman" panose="02020603050405020304" pitchFamily="18" charset="0"/>
                <a:cs typeface="Times New Roman" panose="02020603050405020304" pitchFamily="18" charset="0"/>
              </a:rPr>
            </a:br>
            <a:br>
              <a:rPr lang="en-GB" sz="2800" kern="0" dirty="0">
                <a:solidFill>
                  <a:srgbClr val="7030A0"/>
                </a:solidFill>
                <a:effectLst/>
                <a:latin typeface="Helvetica Neue" panose="02000503000000020004" pitchFamily="2" charset="0"/>
                <a:ea typeface="Times New Roman" panose="02020603050405020304" pitchFamily="18" charset="0"/>
                <a:cs typeface="Times New Roman" panose="02020603050405020304" pitchFamily="18" charset="0"/>
              </a:rPr>
            </a:br>
            <a:br>
              <a:rPr lang="en-GB" sz="2800" kern="0" dirty="0">
                <a:solidFill>
                  <a:srgbClr val="7030A0"/>
                </a:solidFill>
                <a:effectLst/>
                <a:latin typeface="Helvetica Neue" panose="02000503000000020004" pitchFamily="2" charset="0"/>
                <a:ea typeface="Times New Roman" panose="02020603050405020304" pitchFamily="18" charset="0"/>
                <a:cs typeface="Times New Roman" panose="02020603050405020304" pitchFamily="18" charset="0"/>
              </a:rPr>
            </a:br>
            <a:br>
              <a:rPr lang="en-GB" sz="2400" kern="100" dirty="0">
                <a:solidFill>
                  <a:srgbClr val="7030A0"/>
                </a:solidFill>
                <a:effectLst/>
                <a:latin typeface="Aptos" panose="020B0004020202020204" pitchFamily="34" charset="0"/>
                <a:ea typeface="Aptos" panose="020B0004020202020204" pitchFamily="34" charset="0"/>
                <a:cs typeface="Arial" panose="020B0604020202020204" pitchFamily="34" charset="0"/>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AA2A3753-9EDF-8F6B-E63F-40F01F9201AD}"/>
              </a:ext>
            </a:extLst>
          </p:cNvPr>
          <p:cNvSpPr>
            <a:spLocks noChangeAspect="1" noChangeArrowheads="1"/>
          </p:cNvSpPr>
          <p:nvPr/>
        </p:nvSpPr>
        <p:spPr bwMode="auto">
          <a:xfrm>
            <a:off x="2980872" y="1926912"/>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8903DEB1-7D26-13F9-08DF-7379A1D9CDCE}"/>
              </a:ext>
            </a:extLst>
          </p:cNvPr>
          <p:cNvSpPr txBox="1"/>
          <p:nvPr/>
        </p:nvSpPr>
        <p:spPr>
          <a:xfrm>
            <a:off x="437321" y="826400"/>
            <a:ext cx="6502179" cy="3490699"/>
          </a:xfrm>
          <a:prstGeom prst="rect">
            <a:avLst/>
          </a:prstGeom>
          <a:noFill/>
        </p:spPr>
        <p:txBody>
          <a:bodyPr wrap="square">
            <a:spAutoFit/>
          </a:bodyPr>
          <a:lstStyle/>
          <a:p>
            <a:pPr marL="342900" lvl="0" indent="-342900">
              <a:lnSpc>
                <a:spcPct val="115000"/>
              </a:lnSpc>
              <a:spcAft>
                <a:spcPts val="600"/>
              </a:spcAft>
              <a:buSzPts val="1000"/>
              <a:buFont typeface="+mj-lt"/>
              <a:buAutoNum type="arabicPeriod"/>
              <a:tabLst>
                <a:tab pos="457200" algn="l"/>
              </a:tabLst>
            </a:pPr>
            <a:r>
              <a:rPr lang="en-GB" sz="1600" b="1" kern="0" dirty="0">
                <a:solidFill>
                  <a:srgbClr val="001D35"/>
                </a:solidFill>
                <a:effectLst/>
                <a:latin typeface="Arial" panose="020B0604020202020204" pitchFamily="34" charset="0"/>
                <a:ea typeface="Times New Roman" panose="02020603050405020304" pitchFamily="18" charset="0"/>
                <a:cs typeface="Arial" panose="020B0604020202020204" pitchFamily="34" charset="0"/>
              </a:rPr>
              <a:t>Hardware Requirements:</a:t>
            </a:r>
            <a:r>
              <a:rPr lang="en-GB" sz="1600" b="1" kern="100" dirty="0">
                <a:latin typeface="Arial" panose="020B0604020202020204" pitchFamily="34" charset="0"/>
                <a:ea typeface="Times New Roman" panose="02020603050405020304" pitchFamily="18" charset="0"/>
                <a:cs typeface="Arial" panose="020B0604020202020204" pitchFamily="34" charset="0"/>
              </a:rPr>
              <a:t> </a:t>
            </a:r>
            <a:r>
              <a:rPr lang="en-GB" sz="1600" kern="0" spc="10" dirty="0">
                <a:solidFill>
                  <a:srgbClr val="001D35"/>
                </a:solidFill>
                <a:effectLst/>
                <a:latin typeface="Arial" panose="020B0604020202020204" pitchFamily="34" charset="0"/>
                <a:ea typeface="Times New Roman" panose="02020603050405020304" pitchFamily="18" charset="0"/>
                <a:cs typeface="Arial" panose="020B0604020202020204" pitchFamily="34" charset="0"/>
              </a:rPr>
              <a:t>Deep learning models often require significant computational resources (GPUs, specialized hardware). </a:t>
            </a:r>
            <a:endParaRPr lang="en-GB" sz="1600" kern="100" dirty="0">
              <a:effectLst/>
              <a:latin typeface="Arial" panose="020B0604020202020204" pitchFamily="34" charset="0"/>
              <a:ea typeface="Aptos" panose="020B0004020202020204" pitchFamily="34" charset="0"/>
              <a:cs typeface="Arial" panose="020B0604020202020204" pitchFamily="34" charset="0"/>
            </a:endParaRPr>
          </a:p>
          <a:p>
            <a:pPr marL="342900" lvl="0" indent="-342900">
              <a:lnSpc>
                <a:spcPct val="115000"/>
              </a:lnSpc>
              <a:spcAft>
                <a:spcPts val="600"/>
              </a:spcAft>
              <a:buSzPts val="1000"/>
              <a:buFont typeface="+mj-lt"/>
              <a:buAutoNum type="arabicPeriod"/>
              <a:tabLst>
                <a:tab pos="457200" algn="l"/>
              </a:tabLst>
            </a:pPr>
            <a:r>
              <a:rPr lang="en-GB" sz="1600" b="1" kern="0" dirty="0">
                <a:solidFill>
                  <a:srgbClr val="001D35"/>
                </a:solidFill>
                <a:effectLst/>
                <a:latin typeface="Arial" panose="020B0604020202020204" pitchFamily="34" charset="0"/>
                <a:ea typeface="Times New Roman" panose="02020603050405020304" pitchFamily="18" charset="0"/>
                <a:cs typeface="Arial" panose="020B0604020202020204" pitchFamily="34" charset="0"/>
              </a:rPr>
              <a:t>Data Availability and Quality:</a:t>
            </a:r>
            <a:r>
              <a:rPr lang="en-GB" sz="1600" b="1" kern="100" dirty="0">
                <a:latin typeface="Arial" panose="020B0604020202020204" pitchFamily="34" charset="0"/>
                <a:ea typeface="Times New Roman" panose="02020603050405020304" pitchFamily="18" charset="0"/>
                <a:cs typeface="Arial" panose="020B0604020202020204" pitchFamily="34" charset="0"/>
              </a:rPr>
              <a:t> </a:t>
            </a:r>
            <a:r>
              <a:rPr lang="en-GB" sz="1600" kern="0" spc="10" dirty="0">
                <a:solidFill>
                  <a:srgbClr val="001D35"/>
                </a:solidFill>
                <a:effectLst/>
                <a:latin typeface="Arial" panose="020B0604020202020204" pitchFamily="34" charset="0"/>
                <a:ea typeface="Times New Roman" panose="02020603050405020304" pitchFamily="18" charset="0"/>
                <a:cs typeface="Arial" panose="020B0604020202020204" pitchFamily="34" charset="0"/>
              </a:rPr>
              <a:t>Ensuring access to high-quality, relevant data for training and prediction is crucial. </a:t>
            </a:r>
            <a:endParaRPr lang="en-GB" sz="1600" kern="100" dirty="0">
              <a:effectLst/>
              <a:latin typeface="Arial" panose="020B0604020202020204" pitchFamily="34" charset="0"/>
              <a:ea typeface="Aptos" panose="020B0004020202020204" pitchFamily="34" charset="0"/>
              <a:cs typeface="Arial" panose="020B0604020202020204" pitchFamily="34" charset="0"/>
            </a:endParaRPr>
          </a:p>
          <a:p>
            <a:pPr marL="342900" lvl="0" indent="-342900">
              <a:lnSpc>
                <a:spcPct val="115000"/>
              </a:lnSpc>
              <a:spcAft>
                <a:spcPts val="600"/>
              </a:spcAft>
              <a:buSzPts val="1000"/>
              <a:buFont typeface="+mj-lt"/>
              <a:buAutoNum type="arabicPeriod"/>
              <a:tabLst>
                <a:tab pos="457200" algn="l"/>
              </a:tabLst>
            </a:pPr>
            <a:r>
              <a:rPr lang="en-GB" sz="1600" b="1" kern="0" dirty="0">
                <a:solidFill>
                  <a:srgbClr val="001D35"/>
                </a:solidFill>
                <a:effectLst/>
                <a:latin typeface="Arial" panose="020B0604020202020204" pitchFamily="34" charset="0"/>
                <a:ea typeface="Times New Roman" panose="02020603050405020304" pitchFamily="18" charset="0"/>
                <a:cs typeface="Arial" panose="020B0604020202020204" pitchFamily="34" charset="0"/>
              </a:rPr>
              <a:t>Model Uncertainty:</a:t>
            </a:r>
            <a:r>
              <a:rPr lang="en-GB" sz="1600" b="1" kern="100" dirty="0">
                <a:latin typeface="Arial" panose="020B0604020202020204" pitchFamily="34" charset="0"/>
                <a:ea typeface="Times New Roman" panose="02020603050405020304" pitchFamily="18" charset="0"/>
                <a:cs typeface="Arial" panose="020B0604020202020204" pitchFamily="34" charset="0"/>
              </a:rPr>
              <a:t> </a:t>
            </a:r>
            <a:r>
              <a:rPr lang="en-GB" sz="1600" kern="0" spc="10" dirty="0">
                <a:solidFill>
                  <a:srgbClr val="001D35"/>
                </a:solidFill>
                <a:effectLst/>
                <a:latin typeface="Arial" panose="020B0604020202020204" pitchFamily="34" charset="0"/>
                <a:ea typeface="Times New Roman" panose="02020603050405020304" pitchFamily="18" charset="0"/>
                <a:cs typeface="Arial" panose="020B0604020202020204" pitchFamily="34" charset="0"/>
              </a:rPr>
              <a:t>Addressing situations where the model is uncertain or produces unexpected outputs is important. </a:t>
            </a:r>
            <a:endParaRPr lang="en-GB" sz="1600" kern="100" dirty="0">
              <a:effectLst/>
              <a:latin typeface="Arial" panose="020B0604020202020204" pitchFamily="34" charset="0"/>
              <a:ea typeface="Aptos" panose="020B0004020202020204" pitchFamily="34" charset="0"/>
              <a:cs typeface="Arial" panose="020B0604020202020204" pitchFamily="34" charset="0"/>
            </a:endParaRPr>
          </a:p>
          <a:p>
            <a:pPr marL="342900" lvl="0" indent="-342900">
              <a:lnSpc>
                <a:spcPct val="115000"/>
              </a:lnSpc>
              <a:spcAft>
                <a:spcPts val="600"/>
              </a:spcAft>
              <a:buSzPts val="1000"/>
              <a:buFont typeface="+mj-lt"/>
              <a:buAutoNum type="arabicPeriod"/>
              <a:tabLst>
                <a:tab pos="457200" algn="l"/>
              </a:tabLst>
            </a:pPr>
            <a:r>
              <a:rPr lang="en-GB" sz="1600" b="1" kern="0" dirty="0">
                <a:solidFill>
                  <a:srgbClr val="001D35"/>
                </a:solidFill>
                <a:effectLst/>
                <a:latin typeface="Arial" panose="020B0604020202020204" pitchFamily="34" charset="0"/>
                <a:ea typeface="Times New Roman" panose="02020603050405020304" pitchFamily="18" charset="0"/>
                <a:cs typeface="Arial" panose="020B0604020202020204" pitchFamily="34" charset="0"/>
              </a:rPr>
              <a:t>Scalability:</a:t>
            </a:r>
            <a:r>
              <a:rPr lang="en-GB" sz="1600" b="1" kern="100" dirty="0">
                <a:latin typeface="Arial" panose="020B0604020202020204" pitchFamily="34" charset="0"/>
                <a:ea typeface="Times New Roman" panose="02020603050405020304" pitchFamily="18" charset="0"/>
                <a:cs typeface="Arial" panose="020B0604020202020204" pitchFamily="34" charset="0"/>
              </a:rPr>
              <a:t> </a:t>
            </a:r>
            <a:r>
              <a:rPr lang="en-GB" sz="1600" kern="0" spc="10" dirty="0">
                <a:solidFill>
                  <a:srgbClr val="001D35"/>
                </a:solidFill>
                <a:effectLst/>
                <a:latin typeface="Arial" panose="020B0604020202020204" pitchFamily="34" charset="0"/>
                <a:ea typeface="Times New Roman" panose="02020603050405020304" pitchFamily="18" charset="0"/>
                <a:cs typeface="Arial" panose="020B0604020202020204" pitchFamily="34" charset="0"/>
              </a:rPr>
              <a:t>The deployment platform should be scalable to handle varying workloads and user demands. </a:t>
            </a:r>
            <a:endParaRPr lang="en-GB" sz="1600" kern="100" dirty="0">
              <a:effectLst/>
              <a:latin typeface="Arial" panose="020B0604020202020204" pitchFamily="34" charset="0"/>
              <a:ea typeface="Aptos" panose="020B0004020202020204" pitchFamily="34" charset="0"/>
              <a:cs typeface="Arial" panose="020B0604020202020204" pitchFamily="34" charset="0"/>
            </a:endParaRPr>
          </a:p>
          <a:p>
            <a:pPr marL="342900" lvl="0" indent="-342900">
              <a:lnSpc>
                <a:spcPct val="115000"/>
              </a:lnSpc>
              <a:spcAft>
                <a:spcPts val="800"/>
              </a:spcAft>
              <a:buSzPts val="1000"/>
              <a:buFont typeface="+mj-lt"/>
              <a:buAutoNum type="arabicPeriod"/>
              <a:tabLst>
                <a:tab pos="457200" algn="l"/>
              </a:tabLst>
            </a:pPr>
            <a:r>
              <a:rPr lang="en-GB" sz="1600" b="1" kern="0" dirty="0">
                <a:solidFill>
                  <a:srgbClr val="001D35"/>
                </a:solidFill>
                <a:effectLst/>
                <a:latin typeface="Arial" panose="020B0604020202020204" pitchFamily="34" charset="0"/>
                <a:ea typeface="Times New Roman" panose="02020603050405020304" pitchFamily="18" charset="0"/>
                <a:cs typeface="Arial" panose="020B0604020202020204" pitchFamily="34" charset="0"/>
              </a:rPr>
              <a:t>Security:</a:t>
            </a:r>
            <a:r>
              <a:rPr lang="en-GB" sz="1600" b="1" kern="100" dirty="0">
                <a:latin typeface="Arial" panose="020B0604020202020204" pitchFamily="34" charset="0"/>
                <a:ea typeface="Times New Roman" panose="02020603050405020304" pitchFamily="18" charset="0"/>
                <a:cs typeface="Arial" panose="020B0604020202020204" pitchFamily="34" charset="0"/>
              </a:rPr>
              <a:t> </a:t>
            </a:r>
            <a:r>
              <a:rPr lang="en-GB" sz="1600" kern="0" spc="10" dirty="0">
                <a:solidFill>
                  <a:srgbClr val="001D35"/>
                </a:solidFill>
                <a:effectLst/>
                <a:latin typeface="Arial" panose="020B0604020202020204" pitchFamily="34" charset="0"/>
                <a:ea typeface="Times New Roman" panose="02020603050405020304" pitchFamily="18" charset="0"/>
                <a:cs typeface="Arial" panose="020B0604020202020204" pitchFamily="34" charset="0"/>
              </a:rPr>
              <a:t>Protecting the model and data from unauthorized access or attacks is paramount. </a:t>
            </a:r>
            <a:endParaRPr lang="en-GB" sz="1600" kern="100" dirty="0">
              <a:effectLst/>
              <a:latin typeface="Arial" panose="020B06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42588981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596E7-3140-E035-B62B-73F024AA70A8}"/>
              </a:ext>
            </a:extLst>
          </p:cNvPr>
          <p:cNvSpPr>
            <a:spLocks noGrp="1"/>
          </p:cNvSpPr>
          <p:nvPr>
            <p:ph type="title"/>
          </p:nvPr>
        </p:nvSpPr>
        <p:spPr/>
        <p:txBody>
          <a:bodyPr/>
          <a:lstStyle/>
          <a:p>
            <a:pPr marR="0" algn="l" rtl="0">
              <a:lnSpc>
                <a:spcPct val="100000"/>
              </a:lnSpc>
              <a:spcBef>
                <a:spcPts val="0"/>
              </a:spcBef>
              <a:spcAft>
                <a:spcPts val="0"/>
              </a:spcAft>
              <a:buClr>
                <a:srgbClr val="543198"/>
              </a:buClr>
              <a:buSzPts val="2500"/>
              <a:buFont typeface="IBM Plex Sans Arabic Medium"/>
              <a:buNone/>
            </a:pPr>
            <a:r>
              <a:rPr lang="en-US" dirty="0"/>
              <a:t>Comparison Table </a:t>
            </a:r>
          </a:p>
        </p:txBody>
      </p:sp>
      <p:graphicFrame>
        <p:nvGraphicFramePr>
          <p:cNvPr id="6" name="Table 5">
            <a:extLst>
              <a:ext uri="{FF2B5EF4-FFF2-40B4-BE49-F238E27FC236}">
                <a16:creationId xmlns:a16="http://schemas.microsoft.com/office/drawing/2014/main" id="{56226CEE-BA03-18B4-A917-228D00B193E1}"/>
              </a:ext>
            </a:extLst>
          </p:cNvPr>
          <p:cNvGraphicFramePr>
            <a:graphicFrameLocks noGrp="1"/>
          </p:cNvGraphicFramePr>
          <p:nvPr>
            <p:extLst>
              <p:ext uri="{D42A27DB-BD31-4B8C-83A1-F6EECF244321}">
                <p14:modId xmlns:p14="http://schemas.microsoft.com/office/powerpoint/2010/main" val="2892795939"/>
              </p:ext>
            </p:extLst>
          </p:nvPr>
        </p:nvGraphicFramePr>
        <p:xfrm>
          <a:off x="311150" y="1637665"/>
          <a:ext cx="8521701" cy="2446020"/>
        </p:xfrm>
        <a:graphic>
          <a:graphicData uri="http://schemas.openxmlformats.org/drawingml/2006/table">
            <a:tbl>
              <a:tblPr>
                <a:tableStyleId>{35758FB7-9AC5-4552-8A53-C91805E547FA}</a:tableStyleId>
              </a:tblPr>
              <a:tblGrid>
                <a:gridCol w="2102103">
                  <a:extLst>
                    <a:ext uri="{9D8B030D-6E8A-4147-A177-3AD203B41FA5}">
                      <a16:colId xmlns:a16="http://schemas.microsoft.com/office/drawing/2014/main" val="79176138"/>
                    </a:ext>
                  </a:extLst>
                </a:gridCol>
                <a:gridCol w="2139866">
                  <a:extLst>
                    <a:ext uri="{9D8B030D-6E8A-4147-A177-3AD203B41FA5}">
                      <a16:colId xmlns:a16="http://schemas.microsoft.com/office/drawing/2014/main" val="765694832"/>
                    </a:ext>
                  </a:extLst>
                </a:gridCol>
                <a:gridCol w="2139866">
                  <a:extLst>
                    <a:ext uri="{9D8B030D-6E8A-4147-A177-3AD203B41FA5}">
                      <a16:colId xmlns:a16="http://schemas.microsoft.com/office/drawing/2014/main" val="2665306409"/>
                    </a:ext>
                  </a:extLst>
                </a:gridCol>
                <a:gridCol w="2139866">
                  <a:extLst>
                    <a:ext uri="{9D8B030D-6E8A-4147-A177-3AD203B41FA5}">
                      <a16:colId xmlns:a16="http://schemas.microsoft.com/office/drawing/2014/main" val="3976141646"/>
                    </a:ext>
                  </a:extLst>
                </a:gridCol>
              </a:tblGrid>
              <a:tr h="403860">
                <a:tc>
                  <a:txBody>
                    <a:bodyPr/>
                    <a:lstStyle/>
                    <a:p>
                      <a:pPr algn="l"/>
                      <a:r>
                        <a:rPr lang="en-GB" sz="1400" b="1">
                          <a:effectLst/>
                        </a:rPr>
                        <a:t>Method</a:t>
                      </a:r>
                    </a:p>
                  </a:txBody>
                  <a:tcPr marR="95250" marT="95250" marB="95250" anchor="ctr"/>
                </a:tc>
                <a:tc>
                  <a:txBody>
                    <a:bodyPr/>
                    <a:lstStyle/>
                    <a:p>
                      <a:pPr algn="l"/>
                      <a:r>
                        <a:rPr lang="en-GB" sz="1400" b="1">
                          <a:effectLst/>
                        </a:rPr>
                        <a:t>Pros</a:t>
                      </a:r>
                    </a:p>
                  </a:txBody>
                  <a:tcPr marL="95250" marR="95250" marT="95250" marB="95250" anchor="ctr"/>
                </a:tc>
                <a:tc>
                  <a:txBody>
                    <a:bodyPr/>
                    <a:lstStyle/>
                    <a:p>
                      <a:pPr algn="l"/>
                      <a:r>
                        <a:rPr lang="en-GB" sz="1400" b="1">
                          <a:effectLst/>
                        </a:rPr>
                        <a:t>Cons</a:t>
                      </a:r>
                    </a:p>
                  </a:txBody>
                  <a:tcPr marL="95250" marR="95250" marT="95250" marB="95250" anchor="ctr"/>
                </a:tc>
                <a:tc>
                  <a:txBody>
                    <a:bodyPr/>
                    <a:lstStyle/>
                    <a:p>
                      <a:pPr algn="l"/>
                      <a:r>
                        <a:rPr lang="en-GB" sz="1400" b="1">
                          <a:effectLst/>
                        </a:rPr>
                        <a:t>Best For</a:t>
                      </a:r>
                    </a:p>
                  </a:txBody>
                  <a:tcPr marL="95250" marR="95250" marT="95250" marB="95250" anchor="ctr"/>
                </a:tc>
                <a:extLst>
                  <a:ext uri="{0D108BD9-81ED-4DB2-BD59-A6C34878D82A}">
                    <a16:rowId xmlns:a16="http://schemas.microsoft.com/office/drawing/2014/main" val="1492929832"/>
                  </a:ext>
                </a:extLst>
              </a:tr>
              <a:tr h="403860">
                <a:tc>
                  <a:txBody>
                    <a:bodyPr/>
                    <a:lstStyle/>
                    <a:p>
                      <a:r>
                        <a:rPr lang="en-GB" sz="1400" b="1">
                          <a:effectLst/>
                        </a:rPr>
                        <a:t>Flask</a:t>
                      </a:r>
                      <a:endParaRPr lang="en-GB" sz="1400">
                        <a:effectLst/>
                      </a:endParaRPr>
                    </a:p>
                  </a:txBody>
                  <a:tcPr marR="95250" marT="95250" marB="95250" anchor="ctr"/>
                </a:tc>
                <a:tc>
                  <a:txBody>
                    <a:bodyPr/>
                    <a:lstStyle/>
                    <a:p>
                      <a:r>
                        <a:rPr lang="en-GB" sz="1400" dirty="0">
                          <a:effectLst/>
                        </a:rPr>
                        <a:t>Simple, lightweight</a:t>
                      </a:r>
                    </a:p>
                  </a:txBody>
                  <a:tcPr marL="95250" marR="95250" marT="95250" marB="95250" anchor="ctr"/>
                </a:tc>
                <a:tc>
                  <a:txBody>
                    <a:bodyPr/>
                    <a:lstStyle/>
                    <a:p>
                      <a:r>
                        <a:rPr lang="en-GB" sz="1400">
                          <a:effectLst/>
                        </a:rPr>
                        <a:t>Slower for high traffic</a:t>
                      </a:r>
                    </a:p>
                  </a:txBody>
                  <a:tcPr marL="95250" marR="95250" marT="95250" marB="95250" anchor="ctr"/>
                </a:tc>
                <a:tc>
                  <a:txBody>
                    <a:bodyPr/>
                    <a:lstStyle/>
                    <a:p>
                      <a:r>
                        <a:rPr lang="en-GB" sz="1400">
                          <a:effectLst/>
                        </a:rPr>
                        <a:t>Small-scale APIs</a:t>
                      </a:r>
                    </a:p>
                  </a:txBody>
                  <a:tcPr marL="95250" marR="95250" marT="95250" marB="95250" anchor="ctr"/>
                </a:tc>
                <a:extLst>
                  <a:ext uri="{0D108BD9-81ED-4DB2-BD59-A6C34878D82A}">
                    <a16:rowId xmlns:a16="http://schemas.microsoft.com/office/drawing/2014/main" val="3151835360"/>
                  </a:ext>
                </a:extLst>
              </a:tr>
              <a:tr h="403860">
                <a:tc>
                  <a:txBody>
                    <a:bodyPr/>
                    <a:lstStyle/>
                    <a:p>
                      <a:r>
                        <a:rPr lang="en-GB" sz="1400" b="1">
                          <a:effectLst/>
                        </a:rPr>
                        <a:t>FastAPI</a:t>
                      </a:r>
                      <a:endParaRPr lang="en-GB" sz="1400">
                        <a:effectLst/>
                      </a:endParaRPr>
                    </a:p>
                  </a:txBody>
                  <a:tcPr marR="95250" marT="95250" marB="95250" anchor="ctr"/>
                </a:tc>
                <a:tc>
                  <a:txBody>
                    <a:bodyPr/>
                    <a:lstStyle/>
                    <a:p>
                      <a:r>
                        <a:rPr lang="en-GB" sz="1400">
                          <a:effectLst/>
                        </a:rPr>
                        <a:t>Fast, async, auto-docs</a:t>
                      </a:r>
                    </a:p>
                  </a:txBody>
                  <a:tcPr marL="95250" marR="95250" marT="95250" marB="95250" anchor="ctr"/>
                </a:tc>
                <a:tc>
                  <a:txBody>
                    <a:bodyPr/>
                    <a:lstStyle/>
                    <a:p>
                      <a:r>
                        <a:rPr lang="en-GB" sz="1400">
                          <a:effectLst/>
                        </a:rPr>
                        <a:t>Requires ASGI server</a:t>
                      </a:r>
                    </a:p>
                  </a:txBody>
                  <a:tcPr marL="95250" marR="95250" marT="95250" marB="95250" anchor="ctr"/>
                </a:tc>
                <a:tc>
                  <a:txBody>
                    <a:bodyPr/>
                    <a:lstStyle/>
                    <a:p>
                      <a:r>
                        <a:rPr lang="en-GB" sz="1400">
                          <a:effectLst/>
                        </a:rPr>
                        <a:t>Production APIs</a:t>
                      </a:r>
                    </a:p>
                  </a:txBody>
                  <a:tcPr marL="95250" marR="95250" marT="95250" marB="95250" anchor="ctr"/>
                </a:tc>
                <a:extLst>
                  <a:ext uri="{0D108BD9-81ED-4DB2-BD59-A6C34878D82A}">
                    <a16:rowId xmlns:a16="http://schemas.microsoft.com/office/drawing/2014/main" val="2778259022"/>
                  </a:ext>
                </a:extLst>
              </a:tr>
              <a:tr h="617220">
                <a:tc>
                  <a:txBody>
                    <a:bodyPr/>
                    <a:lstStyle/>
                    <a:p>
                      <a:r>
                        <a:rPr lang="en-GB" sz="1400" b="1">
                          <a:effectLst/>
                        </a:rPr>
                        <a:t>TF Serving</a:t>
                      </a:r>
                      <a:endParaRPr lang="en-GB" sz="1400">
                        <a:effectLst/>
                      </a:endParaRPr>
                    </a:p>
                  </a:txBody>
                  <a:tcPr marR="95250" marT="95250" marB="95250" anchor="ctr"/>
                </a:tc>
                <a:tc>
                  <a:txBody>
                    <a:bodyPr/>
                    <a:lstStyle/>
                    <a:p>
                      <a:r>
                        <a:rPr lang="en-GB" sz="1400">
                          <a:effectLst/>
                        </a:rPr>
                        <a:t>High performance, scalable</a:t>
                      </a:r>
                    </a:p>
                  </a:txBody>
                  <a:tcPr marL="95250" marR="95250" marT="95250" marB="95250" anchor="ctr"/>
                </a:tc>
                <a:tc>
                  <a:txBody>
                    <a:bodyPr/>
                    <a:lstStyle/>
                    <a:p>
                      <a:r>
                        <a:rPr lang="en-GB" sz="1400">
                          <a:effectLst/>
                        </a:rPr>
                        <a:t>Complex setup (Docker needed)</a:t>
                      </a:r>
                    </a:p>
                  </a:txBody>
                  <a:tcPr marL="95250" marR="95250" marT="95250" marB="95250" anchor="ctr"/>
                </a:tc>
                <a:tc>
                  <a:txBody>
                    <a:bodyPr/>
                    <a:lstStyle/>
                    <a:p>
                      <a:r>
                        <a:rPr lang="en-GB" sz="1400">
                          <a:effectLst/>
                        </a:rPr>
                        <a:t>Large-scale deployments</a:t>
                      </a:r>
                    </a:p>
                  </a:txBody>
                  <a:tcPr marL="95250" marR="95250" marT="95250" marB="95250" anchor="ctr"/>
                </a:tc>
                <a:extLst>
                  <a:ext uri="{0D108BD9-81ED-4DB2-BD59-A6C34878D82A}">
                    <a16:rowId xmlns:a16="http://schemas.microsoft.com/office/drawing/2014/main" val="3616134250"/>
                  </a:ext>
                </a:extLst>
              </a:tr>
              <a:tr h="617220">
                <a:tc>
                  <a:txBody>
                    <a:bodyPr/>
                    <a:lstStyle/>
                    <a:p>
                      <a:r>
                        <a:rPr lang="en-GB" sz="1400" b="1">
                          <a:effectLst/>
                        </a:rPr>
                        <a:t>ONNX</a:t>
                      </a:r>
                      <a:endParaRPr lang="en-GB" sz="1400">
                        <a:effectLst/>
                      </a:endParaRPr>
                    </a:p>
                  </a:txBody>
                  <a:tcPr marR="95250" marT="95250" marB="95250" anchor="ctr"/>
                </a:tc>
                <a:tc>
                  <a:txBody>
                    <a:bodyPr/>
                    <a:lstStyle/>
                    <a:p>
                      <a:r>
                        <a:rPr lang="en-GB" sz="1400">
                          <a:effectLst/>
                        </a:rPr>
                        <a:t>Cross-framework compatibility</a:t>
                      </a:r>
                    </a:p>
                  </a:txBody>
                  <a:tcPr marL="95250" marR="95250" marT="95250" marB="95250" anchor="ctr"/>
                </a:tc>
                <a:tc>
                  <a:txBody>
                    <a:bodyPr/>
                    <a:lstStyle/>
                    <a:p>
                      <a:r>
                        <a:rPr lang="en-GB" sz="1400">
                          <a:effectLst/>
                        </a:rPr>
                        <a:t>Limited operator support</a:t>
                      </a:r>
                    </a:p>
                  </a:txBody>
                  <a:tcPr marL="95250" marR="95250" marT="95250" marB="95250" anchor="ctr"/>
                </a:tc>
                <a:tc>
                  <a:txBody>
                    <a:bodyPr/>
                    <a:lstStyle/>
                    <a:p>
                      <a:r>
                        <a:rPr lang="en-GB" sz="1400" dirty="0">
                          <a:effectLst/>
                        </a:rPr>
                        <a:t>Multi-framework use cases</a:t>
                      </a:r>
                    </a:p>
                  </a:txBody>
                  <a:tcPr marL="95250" marR="95250" marT="95250" marB="95250" anchor="ctr"/>
                </a:tc>
                <a:extLst>
                  <a:ext uri="{0D108BD9-81ED-4DB2-BD59-A6C34878D82A}">
                    <a16:rowId xmlns:a16="http://schemas.microsoft.com/office/drawing/2014/main" val="3763352026"/>
                  </a:ext>
                </a:extLst>
              </a:tr>
            </a:tbl>
          </a:graphicData>
        </a:graphic>
      </p:graphicFrame>
    </p:spTree>
    <p:extLst>
      <p:ext uri="{BB962C8B-B14F-4D97-AF65-F5344CB8AC3E}">
        <p14:creationId xmlns:p14="http://schemas.microsoft.com/office/powerpoint/2010/main" val="367118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a:extLst>
            <a:ext uri="{FF2B5EF4-FFF2-40B4-BE49-F238E27FC236}">
              <a16:creationId xmlns:a16="http://schemas.microsoft.com/office/drawing/2014/main" id="{C7073A23-177A-F380-4E2C-BCE5184CC92A}"/>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E3B61B0B-C8A6-4063-AA38-0D213B633718}"/>
              </a:ext>
            </a:extLst>
          </p:cNvPr>
          <p:cNvPicPr preferRelativeResize="0"/>
          <p:nvPr/>
        </p:nvPicPr>
        <p:blipFill rotWithShape="1">
          <a:blip r:embed="rId3">
            <a:alphaModFix amt="60000"/>
          </a:blip>
          <a:srcRect/>
          <a:stretch/>
        </p:blipFill>
        <p:spPr>
          <a:xfrm>
            <a:off x="3080321" y="122160"/>
            <a:ext cx="5408998" cy="2939569"/>
          </a:xfrm>
          <a:prstGeom prst="rect">
            <a:avLst/>
          </a:prstGeom>
          <a:noFill/>
          <a:ln>
            <a:noFill/>
          </a:ln>
        </p:spPr>
      </p:pic>
      <p:sp>
        <p:nvSpPr>
          <p:cNvPr id="85" name="Google Shape;85;p7">
            <a:extLst>
              <a:ext uri="{FF2B5EF4-FFF2-40B4-BE49-F238E27FC236}">
                <a16:creationId xmlns:a16="http://schemas.microsoft.com/office/drawing/2014/main" id="{CC369EC6-6544-C062-953A-68234137BAFF}"/>
              </a:ext>
            </a:extLst>
          </p:cNvPr>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pPr rtl="0"/>
            <a:r>
              <a:rPr lang="en-GB" sz="3200" dirty="0"/>
              <a:t>Books and References</a:t>
            </a:r>
            <a:br>
              <a:rPr lang="en-GB" sz="3200" dirty="0"/>
            </a:br>
            <a:endParaRPr lang="en-GB" sz="3200" dirty="0"/>
          </a:p>
        </p:txBody>
      </p:sp>
      <p:sp>
        <p:nvSpPr>
          <p:cNvPr id="3" name="TextBox 2">
            <a:extLst>
              <a:ext uri="{FF2B5EF4-FFF2-40B4-BE49-F238E27FC236}">
                <a16:creationId xmlns:a16="http://schemas.microsoft.com/office/drawing/2014/main" id="{BD36E5C5-A4EC-A514-661D-B1E7567D531F}"/>
              </a:ext>
            </a:extLst>
          </p:cNvPr>
          <p:cNvSpPr txBox="1"/>
          <p:nvPr/>
        </p:nvSpPr>
        <p:spPr>
          <a:xfrm>
            <a:off x="755575" y="1098322"/>
            <a:ext cx="6931332" cy="3670236"/>
          </a:xfrm>
          <a:prstGeom prst="rect">
            <a:avLst/>
          </a:prstGeom>
          <a:noFill/>
        </p:spPr>
        <p:txBody>
          <a:bodyPr wrap="square">
            <a:spAutoFit/>
          </a:bodyPr>
          <a:lstStyle/>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"Machine Learning System Design" – Chip Huyen</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"Designing Machine Learning Systems" – Chip Huyen (O’Reilly, 2022).</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"Building Machine Learning Powered Applications" – Emmanuel </a:t>
            </a:r>
            <a:r>
              <a:rPr lang="en-GB" sz="2000" b="0" i="0" u="none" strike="noStrike" dirty="0" err="1">
                <a:solidFill>
                  <a:srgbClr val="404040"/>
                </a:solidFill>
                <a:effectLst/>
                <a:latin typeface="Inter" panose="02000503000000020004" pitchFamily="2" charset="0"/>
              </a:rPr>
              <a:t>Ameisen</a:t>
            </a:r>
            <a:r>
              <a:rPr lang="en-GB" sz="2000" b="0" i="0" u="none" strike="noStrike" dirty="0">
                <a:solidFill>
                  <a:srgbClr val="404040"/>
                </a:solidFill>
                <a:effectLst/>
                <a:latin typeface="Inter" panose="02000503000000020004" pitchFamily="2" charset="0"/>
              </a:rPr>
              <a:t> (O’Reilly, 2020)</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"Deep Learning with Python" – François Chollet (Manning, 2021)</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"Hands-On Machine Learning with Scikit-Learn, </a:t>
            </a:r>
            <a:r>
              <a:rPr lang="en-GB" sz="2000" b="0" i="0" u="none" strike="noStrike" dirty="0" err="1">
                <a:solidFill>
                  <a:srgbClr val="404040"/>
                </a:solidFill>
                <a:effectLst/>
                <a:latin typeface="Inter" panose="02000503000000020004" pitchFamily="2" charset="0"/>
              </a:rPr>
              <a:t>Keras</a:t>
            </a:r>
            <a:r>
              <a:rPr lang="en-GB" sz="2000" b="0" i="0" u="none" strike="noStrike" dirty="0">
                <a:solidFill>
                  <a:srgbClr val="404040"/>
                </a:solidFill>
                <a:effectLst/>
                <a:latin typeface="Inter" panose="02000503000000020004" pitchFamily="2" charset="0"/>
              </a:rPr>
              <a:t>, and TensorFlow" – Aurélien </a:t>
            </a:r>
            <a:r>
              <a:rPr lang="en-GB" sz="2000" b="0" i="0" u="none" strike="noStrike" dirty="0" err="1">
                <a:solidFill>
                  <a:srgbClr val="404040"/>
                </a:solidFill>
                <a:effectLst/>
                <a:latin typeface="Inter" panose="02000503000000020004" pitchFamily="2" charset="0"/>
              </a:rPr>
              <a:t>Géron</a:t>
            </a:r>
            <a:r>
              <a:rPr lang="en-GB" sz="2000" b="0" i="0" u="none" strike="noStrike" dirty="0">
                <a:solidFill>
                  <a:srgbClr val="404040"/>
                </a:solidFill>
                <a:effectLst/>
                <a:latin typeface="Inter" panose="02000503000000020004" pitchFamily="2" charset="0"/>
              </a:rPr>
              <a:t>(O’Reilly, 2022)</a:t>
            </a:r>
          </a:p>
          <a:p>
            <a:pPr>
              <a:spcBef>
                <a:spcPts val="300"/>
              </a:spcBef>
            </a:pPr>
            <a:br>
              <a:rPr lang="en-GB" sz="2000" b="0" i="0" u="none" strike="noStrike" dirty="0">
                <a:solidFill>
                  <a:srgbClr val="404040"/>
                </a:solidFill>
                <a:effectLst/>
                <a:latin typeface="Inter" panose="02000503000000020004" pitchFamily="2" charset="0"/>
              </a:rPr>
            </a:br>
            <a:endParaRPr lang="en-GB" sz="2000" b="0" i="0" u="none" strike="noStrike" dirty="0">
              <a:solidFill>
                <a:srgbClr val="404040"/>
              </a:solidFill>
              <a:effectLst/>
              <a:latin typeface="Inter" panose="02000503000000020004" pitchFamily="2" charset="0"/>
            </a:endParaRPr>
          </a:p>
        </p:txBody>
      </p:sp>
    </p:spTree>
    <p:extLst>
      <p:ext uri="{BB962C8B-B14F-4D97-AF65-F5344CB8AC3E}">
        <p14:creationId xmlns:p14="http://schemas.microsoft.com/office/powerpoint/2010/main" val="374039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93"/>
        <p:cNvGrpSpPr/>
        <p:nvPr/>
      </p:nvGrpSpPr>
      <p:grpSpPr>
        <a:xfrm>
          <a:off x="0" y="0"/>
          <a:ext cx="0" cy="0"/>
          <a:chOff x="0" y="0"/>
          <a:chExt cx="0" cy="0"/>
        </a:xfrm>
      </p:grpSpPr>
      <p:pic>
        <p:nvPicPr>
          <p:cNvPr id="194" name="Google Shape;194;p20"/>
          <p:cNvPicPr preferRelativeResize="0"/>
          <p:nvPr/>
        </p:nvPicPr>
        <p:blipFill rotWithShape="1">
          <a:blip r:embed="rId3">
            <a:alphaModFix/>
          </a:blip>
          <a:srcRect l="8508"/>
          <a:stretch/>
        </p:blipFill>
        <p:spPr>
          <a:xfrm>
            <a:off x="6248550" y="1551586"/>
            <a:ext cx="1357692" cy="509366"/>
          </a:xfrm>
          <a:prstGeom prst="rect">
            <a:avLst/>
          </a:prstGeom>
          <a:noFill/>
          <a:ln>
            <a:noFill/>
          </a:ln>
        </p:spPr>
      </p:pic>
      <p:pic>
        <p:nvPicPr>
          <p:cNvPr id="195" name="Google Shape;195;p20"/>
          <p:cNvPicPr preferRelativeResize="0"/>
          <p:nvPr/>
        </p:nvPicPr>
        <p:blipFill rotWithShape="1">
          <a:blip r:embed="rId4">
            <a:alphaModFix/>
          </a:blip>
          <a:srcRect/>
          <a:stretch/>
        </p:blipFill>
        <p:spPr>
          <a:xfrm>
            <a:off x="1647216" y="2992069"/>
            <a:ext cx="995950" cy="405885"/>
          </a:xfrm>
          <a:prstGeom prst="rect">
            <a:avLst/>
          </a:prstGeom>
          <a:noFill/>
          <a:ln>
            <a:noFill/>
          </a:ln>
        </p:spPr>
      </p:pic>
      <p:pic>
        <p:nvPicPr>
          <p:cNvPr id="196" name="Google Shape;196;p20"/>
          <p:cNvPicPr preferRelativeResize="0"/>
          <p:nvPr/>
        </p:nvPicPr>
        <p:blipFill rotWithShape="1">
          <a:blip r:embed="rId5">
            <a:alphaModFix/>
          </a:blip>
          <a:srcRect/>
          <a:stretch/>
        </p:blipFill>
        <p:spPr>
          <a:xfrm>
            <a:off x="6319974" y="3081645"/>
            <a:ext cx="1214843" cy="226732"/>
          </a:xfrm>
          <a:prstGeom prst="rect">
            <a:avLst/>
          </a:prstGeom>
          <a:noFill/>
          <a:ln>
            <a:noFill/>
          </a:ln>
        </p:spPr>
      </p:pic>
      <p:pic>
        <p:nvPicPr>
          <p:cNvPr id="197" name="Google Shape;197;p20"/>
          <p:cNvPicPr preferRelativeResize="0"/>
          <p:nvPr/>
        </p:nvPicPr>
        <p:blipFill rotWithShape="1">
          <a:blip r:embed="rId6">
            <a:alphaModFix/>
          </a:blip>
          <a:srcRect l="11047" t="22524" r="11047" b="22523"/>
          <a:stretch/>
        </p:blipFill>
        <p:spPr>
          <a:xfrm>
            <a:off x="3316327" y="2249012"/>
            <a:ext cx="688702" cy="395541"/>
          </a:xfrm>
          <a:prstGeom prst="rect">
            <a:avLst/>
          </a:prstGeom>
          <a:noFill/>
          <a:ln>
            <a:noFill/>
          </a:ln>
        </p:spPr>
      </p:pic>
      <p:pic>
        <p:nvPicPr>
          <p:cNvPr id="198" name="Google Shape;198;p20"/>
          <p:cNvPicPr preferRelativeResize="0"/>
          <p:nvPr/>
        </p:nvPicPr>
        <p:blipFill rotWithShape="1">
          <a:blip r:embed="rId7">
            <a:alphaModFix/>
          </a:blip>
          <a:srcRect/>
          <a:stretch/>
        </p:blipFill>
        <p:spPr>
          <a:xfrm>
            <a:off x="6360782" y="2325188"/>
            <a:ext cx="1133228" cy="243189"/>
          </a:xfrm>
          <a:prstGeom prst="rect">
            <a:avLst/>
          </a:prstGeom>
          <a:noFill/>
          <a:ln>
            <a:noFill/>
          </a:ln>
        </p:spPr>
      </p:pic>
      <p:pic>
        <p:nvPicPr>
          <p:cNvPr id="199" name="Google Shape;199;p20"/>
          <p:cNvPicPr preferRelativeResize="0"/>
          <p:nvPr/>
        </p:nvPicPr>
        <p:blipFill rotWithShape="1">
          <a:blip r:embed="rId8">
            <a:alphaModFix/>
          </a:blip>
          <a:srcRect l="2114" t="19776" b="19777"/>
          <a:stretch/>
        </p:blipFill>
        <p:spPr>
          <a:xfrm>
            <a:off x="3094065" y="1608499"/>
            <a:ext cx="1133226" cy="395540"/>
          </a:xfrm>
          <a:prstGeom prst="rect">
            <a:avLst/>
          </a:prstGeom>
          <a:noFill/>
          <a:ln>
            <a:noFill/>
          </a:ln>
        </p:spPr>
      </p:pic>
      <p:pic>
        <p:nvPicPr>
          <p:cNvPr id="200" name="Google Shape;200;p20"/>
          <p:cNvPicPr preferRelativeResize="0"/>
          <p:nvPr/>
        </p:nvPicPr>
        <p:blipFill rotWithShape="1">
          <a:blip r:embed="rId9">
            <a:alphaModFix/>
          </a:blip>
          <a:srcRect/>
          <a:stretch/>
        </p:blipFill>
        <p:spPr>
          <a:xfrm>
            <a:off x="3183573" y="3074674"/>
            <a:ext cx="954210" cy="240673"/>
          </a:xfrm>
          <a:prstGeom prst="rect">
            <a:avLst/>
          </a:prstGeom>
          <a:noFill/>
          <a:ln>
            <a:noFill/>
          </a:ln>
        </p:spPr>
      </p:pic>
      <p:pic>
        <p:nvPicPr>
          <p:cNvPr id="201" name="Google Shape;201;p20" descr="Text&#10;&#10;Description automatically generated with low confidence"/>
          <p:cNvPicPr preferRelativeResize="0"/>
          <p:nvPr/>
        </p:nvPicPr>
        <p:blipFill rotWithShape="1">
          <a:blip r:embed="rId10">
            <a:alphaModFix/>
          </a:blip>
          <a:srcRect/>
          <a:stretch/>
        </p:blipFill>
        <p:spPr>
          <a:xfrm>
            <a:off x="4992620" y="3040838"/>
            <a:ext cx="750589" cy="308346"/>
          </a:xfrm>
          <a:prstGeom prst="rect">
            <a:avLst/>
          </a:prstGeom>
          <a:noFill/>
          <a:ln>
            <a:noFill/>
          </a:ln>
        </p:spPr>
      </p:pic>
      <p:pic>
        <p:nvPicPr>
          <p:cNvPr id="202" name="Google Shape;202;p20" descr="A red and black sign&#10;&#10;Description automatically generated with low confidence"/>
          <p:cNvPicPr preferRelativeResize="0"/>
          <p:nvPr/>
        </p:nvPicPr>
        <p:blipFill rotWithShape="1">
          <a:blip r:embed="rId11">
            <a:alphaModFix/>
          </a:blip>
          <a:srcRect/>
          <a:stretch/>
        </p:blipFill>
        <p:spPr>
          <a:xfrm>
            <a:off x="3183572" y="3696038"/>
            <a:ext cx="954213" cy="202631"/>
          </a:xfrm>
          <a:prstGeom prst="rect">
            <a:avLst/>
          </a:prstGeom>
          <a:noFill/>
          <a:ln>
            <a:noFill/>
          </a:ln>
        </p:spPr>
      </p:pic>
      <p:pic>
        <p:nvPicPr>
          <p:cNvPr id="203" name="Google Shape;203;p20" descr="A picture containing text, clipart, vector graphics&#10;&#10;Description automatically generated"/>
          <p:cNvPicPr preferRelativeResize="0"/>
          <p:nvPr/>
        </p:nvPicPr>
        <p:blipFill rotWithShape="1">
          <a:blip r:embed="rId12">
            <a:alphaModFix/>
          </a:blip>
          <a:srcRect/>
          <a:stretch/>
        </p:blipFill>
        <p:spPr>
          <a:xfrm>
            <a:off x="5018971" y="3677016"/>
            <a:ext cx="697888" cy="240674"/>
          </a:xfrm>
          <a:prstGeom prst="rect">
            <a:avLst/>
          </a:prstGeom>
          <a:noFill/>
          <a:ln>
            <a:noFill/>
          </a:ln>
        </p:spPr>
      </p:pic>
      <p:pic>
        <p:nvPicPr>
          <p:cNvPr id="204" name="Google Shape;204;p20"/>
          <p:cNvPicPr preferRelativeResize="0"/>
          <p:nvPr/>
        </p:nvPicPr>
        <p:blipFill rotWithShape="1">
          <a:blip r:embed="rId13">
            <a:alphaModFix/>
          </a:blip>
          <a:srcRect b="18915"/>
          <a:stretch/>
        </p:blipFill>
        <p:spPr>
          <a:xfrm>
            <a:off x="6450290" y="3643177"/>
            <a:ext cx="954212" cy="308352"/>
          </a:xfrm>
          <a:prstGeom prst="rect">
            <a:avLst/>
          </a:prstGeom>
          <a:noFill/>
          <a:ln>
            <a:noFill/>
          </a:ln>
        </p:spPr>
      </p:pic>
      <p:pic>
        <p:nvPicPr>
          <p:cNvPr id="205" name="Google Shape;205;p20"/>
          <p:cNvPicPr preferRelativeResize="0"/>
          <p:nvPr/>
        </p:nvPicPr>
        <p:blipFill rotWithShape="1">
          <a:blip r:embed="rId14">
            <a:alphaModFix/>
          </a:blip>
          <a:srcRect l="12270" t="12270" r="12262" b="12262"/>
          <a:stretch/>
        </p:blipFill>
        <p:spPr>
          <a:xfrm>
            <a:off x="3885746" y="4245539"/>
            <a:ext cx="1133228" cy="382770"/>
          </a:xfrm>
          <a:prstGeom prst="rect">
            <a:avLst/>
          </a:prstGeom>
          <a:noFill/>
          <a:ln>
            <a:noFill/>
          </a:ln>
        </p:spPr>
      </p:pic>
      <p:pic>
        <p:nvPicPr>
          <p:cNvPr id="206" name="Google Shape;206;p20"/>
          <p:cNvPicPr preferRelativeResize="0"/>
          <p:nvPr/>
        </p:nvPicPr>
        <p:blipFill rotWithShape="1">
          <a:blip r:embed="rId15">
            <a:alphaModFix/>
          </a:blip>
          <a:srcRect/>
          <a:stretch/>
        </p:blipFill>
        <p:spPr>
          <a:xfrm>
            <a:off x="1798086" y="3621493"/>
            <a:ext cx="694210" cy="351721"/>
          </a:xfrm>
          <a:prstGeom prst="rect">
            <a:avLst/>
          </a:prstGeom>
          <a:noFill/>
          <a:ln>
            <a:noFill/>
          </a:ln>
        </p:spPr>
      </p:pic>
      <p:pic>
        <p:nvPicPr>
          <p:cNvPr id="207" name="Google Shape;207;p20"/>
          <p:cNvPicPr preferRelativeResize="0"/>
          <p:nvPr/>
        </p:nvPicPr>
        <p:blipFill rotWithShape="1">
          <a:blip r:embed="rId16">
            <a:alphaModFix/>
          </a:blip>
          <a:srcRect t="18905" b="18904"/>
          <a:stretch/>
        </p:blipFill>
        <p:spPr>
          <a:xfrm>
            <a:off x="1537771" y="1614885"/>
            <a:ext cx="1214840" cy="382767"/>
          </a:xfrm>
          <a:prstGeom prst="rect">
            <a:avLst/>
          </a:prstGeom>
          <a:noFill/>
          <a:ln>
            <a:noFill/>
          </a:ln>
        </p:spPr>
      </p:pic>
      <p:pic>
        <p:nvPicPr>
          <p:cNvPr id="208" name="Google Shape;208;p20"/>
          <p:cNvPicPr preferRelativeResize="0"/>
          <p:nvPr/>
        </p:nvPicPr>
        <p:blipFill rotWithShape="1">
          <a:blip r:embed="rId17">
            <a:alphaModFix/>
          </a:blip>
          <a:srcRect l="2114" t="28897" b="28892"/>
          <a:stretch/>
        </p:blipFill>
        <p:spPr>
          <a:xfrm>
            <a:off x="4740627" y="1652095"/>
            <a:ext cx="1254574" cy="308347"/>
          </a:xfrm>
          <a:prstGeom prst="rect">
            <a:avLst/>
          </a:prstGeom>
          <a:noFill/>
          <a:ln>
            <a:noFill/>
          </a:ln>
        </p:spPr>
      </p:pic>
      <p:pic>
        <p:nvPicPr>
          <p:cNvPr id="209" name="Google Shape;209;p20"/>
          <p:cNvPicPr preferRelativeResize="0"/>
          <p:nvPr/>
        </p:nvPicPr>
        <p:blipFill rotWithShape="1">
          <a:blip r:embed="rId18">
            <a:alphaModFix/>
          </a:blip>
          <a:srcRect/>
          <a:stretch/>
        </p:blipFill>
        <p:spPr>
          <a:xfrm>
            <a:off x="4760495" y="2253777"/>
            <a:ext cx="1214839" cy="386012"/>
          </a:xfrm>
          <a:prstGeom prst="rect">
            <a:avLst/>
          </a:prstGeom>
          <a:noFill/>
          <a:ln>
            <a:noFill/>
          </a:ln>
        </p:spPr>
      </p:pic>
      <p:pic>
        <p:nvPicPr>
          <p:cNvPr id="210" name="Google Shape;210;p20"/>
          <p:cNvPicPr preferRelativeResize="0"/>
          <p:nvPr/>
        </p:nvPicPr>
        <p:blipFill rotWithShape="1">
          <a:blip r:embed="rId19">
            <a:alphaModFix/>
          </a:blip>
          <a:srcRect/>
          <a:stretch/>
        </p:blipFill>
        <p:spPr>
          <a:xfrm>
            <a:off x="1647215" y="2294778"/>
            <a:ext cx="995952" cy="304010"/>
          </a:xfrm>
          <a:prstGeom prst="rect">
            <a:avLst/>
          </a:prstGeom>
          <a:noFill/>
          <a:ln>
            <a:noFill/>
          </a:ln>
        </p:spPr>
      </p:pic>
      <p:sp>
        <p:nvSpPr>
          <p:cNvPr id="211" name="Google Shape;211;p20"/>
          <p:cNvSpPr txBox="1">
            <a:spLocks noGrp="1"/>
          </p:cNvSpPr>
          <p:nvPr>
            <p:ph type="title" idx="4294967295"/>
          </p:nvPr>
        </p:nvSpPr>
        <p:spPr>
          <a:xfrm>
            <a:off x="2079450" y="745725"/>
            <a:ext cx="6373800" cy="511500"/>
          </a:xfrm>
          <a:prstGeom prst="rect">
            <a:avLst/>
          </a:prstGeom>
          <a:noFill/>
          <a:ln>
            <a:noFill/>
          </a:ln>
        </p:spPr>
        <p:txBody>
          <a:bodyPr spcFirstLastPara="1" wrap="square" lIns="91425" tIns="91425" rIns="91425" bIns="91425" anchor="t" anchorCtr="0">
            <a:noAutofit/>
          </a:bodyPr>
          <a:lstStyle/>
          <a:p>
            <a:pPr marL="0" lvl="0" indent="0" algn="r" rtl="1">
              <a:lnSpc>
                <a:spcPct val="100000"/>
              </a:lnSpc>
              <a:spcBef>
                <a:spcPts val="0"/>
              </a:spcBef>
              <a:spcAft>
                <a:spcPts val="0"/>
              </a:spcAft>
              <a:buSzPts val="990"/>
              <a:buNone/>
            </a:pPr>
            <a:r>
              <a:rPr lang="en-US">
                <a:solidFill>
                  <a:srgbClr val="4F29B6"/>
                </a:solidFill>
                <a:latin typeface="IBM Plex Sans Arabic SemiBold"/>
                <a:ea typeface="IBM Plex Sans Arabic SemiBold"/>
                <a:cs typeface="IBM Plex Sans Arabic SemiBold"/>
                <a:sym typeface="IBM Plex Sans Arabic SemiBold"/>
              </a:rPr>
              <a:t>الشراكات العالمية</a:t>
            </a:r>
            <a:endParaRPr>
              <a:solidFill>
                <a:srgbClr val="4F29B6"/>
              </a:solidFill>
              <a:latin typeface="IBM Plex Sans Arabic SemiBold"/>
              <a:ea typeface="IBM Plex Sans Arabic SemiBold"/>
              <a:cs typeface="IBM Plex Sans Arabic SemiBold"/>
              <a:sym typeface="IBM Plex Sans Arabic SemiBo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1"/>
          <p:cNvSpPr txBox="1">
            <a:spLocks noGrp="1"/>
          </p:cNvSpPr>
          <p:nvPr>
            <p:ph type="title"/>
          </p:nvPr>
        </p:nvSpPr>
        <p:spPr>
          <a:xfrm>
            <a:off x="5548225" y="2230950"/>
            <a:ext cx="3062100" cy="681600"/>
          </a:xfrm>
          <a:prstGeom prst="rect">
            <a:avLst/>
          </a:prstGeom>
          <a:noFill/>
          <a:ln>
            <a:noFill/>
          </a:ln>
        </p:spPr>
        <p:txBody>
          <a:bodyPr spcFirstLastPara="1" wrap="square" lIns="91425" tIns="91425" rIns="91425" bIns="91425" anchor="b" anchorCtr="0">
            <a:normAutofit fontScale="90000"/>
          </a:bodyPr>
          <a:lstStyle/>
          <a:p>
            <a:pPr marL="0" lvl="0" indent="0" algn="r" rtl="0">
              <a:lnSpc>
                <a:spcPct val="100000"/>
              </a:lnSpc>
              <a:spcBef>
                <a:spcPts val="0"/>
              </a:spcBef>
              <a:spcAft>
                <a:spcPts val="0"/>
              </a:spcAft>
              <a:buSzPct val="333333"/>
              <a:buNone/>
            </a:pPr>
            <a:r>
              <a:rPr lang="en-US" sz="4000" b="1">
                <a:solidFill>
                  <a:schemeClr val="lt1"/>
                </a:solidFill>
                <a:latin typeface="IBM Plex Sans Arabic"/>
                <a:ea typeface="IBM Plex Sans Arabic"/>
                <a:cs typeface="IBM Plex Sans Arabic"/>
                <a:sym typeface="IBM Plex Sans Arabic"/>
              </a:rPr>
              <a:t>شــــــكــــرًا لكــــــم</a:t>
            </a:r>
            <a:endParaRPr sz="4000" b="1">
              <a:solidFill>
                <a:schemeClr val="lt1"/>
              </a:solidFill>
              <a:latin typeface="IBM Plex Sans Arabic"/>
              <a:ea typeface="IBM Plex Sans Arabic"/>
              <a:cs typeface="IBM Plex Sans Arabic"/>
              <a:sym typeface="IBM Plex Sans Arabic"/>
            </a:endParaRPr>
          </a:p>
        </p:txBody>
      </p:sp>
      <p:sp>
        <p:nvSpPr>
          <p:cNvPr id="217" name="Google Shape;217;p21"/>
          <p:cNvSpPr txBox="1">
            <a:spLocks noGrp="1"/>
          </p:cNvSpPr>
          <p:nvPr>
            <p:ph type="ctrTitle" idx="4294967295"/>
          </p:nvPr>
        </p:nvSpPr>
        <p:spPr>
          <a:xfrm>
            <a:off x="4166050" y="2870075"/>
            <a:ext cx="4444200" cy="576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4F29B7"/>
              </a:buClr>
              <a:buSzPts val="990"/>
              <a:buFont typeface="IBM Plex Sans Arabic Medium"/>
              <a:buNone/>
            </a:pPr>
            <a:r>
              <a:rPr lang="en-US" sz="2900" b="1" i="0" u="none" strike="noStrike" cap="none">
                <a:solidFill>
                  <a:schemeClr val="lt1"/>
                </a:solidFill>
                <a:latin typeface="IBM Plex Sans Arabic"/>
                <a:ea typeface="IBM Plex Sans Arabic"/>
                <a:cs typeface="IBM Plex Sans Arabic"/>
                <a:sym typeface="IBM Plex Sans Arabic"/>
              </a:rPr>
              <a:t>THANK YOU</a:t>
            </a:r>
            <a:endParaRPr sz="2900" b="1" i="0" u="none" strike="noStrike" cap="none">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32553</TotalTime>
  <Words>1700</Words>
  <Application>Microsoft Macintosh PowerPoint</Application>
  <PresentationFormat>On-screen Show (16:9)</PresentationFormat>
  <Paragraphs>172</Paragraphs>
  <Slides>17</Slides>
  <Notes>16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17</vt:i4>
      </vt:variant>
    </vt:vector>
  </HeadingPairs>
  <TitlesOfParts>
    <vt:vector size="28" baseType="lpstr">
      <vt:lpstr>IBM Plex Sans Arabic SemiBold</vt:lpstr>
      <vt:lpstr>Aptos</vt:lpstr>
      <vt:lpstr>Arial</vt:lpstr>
      <vt:lpstr>IBM Plex Sans Arabic</vt:lpstr>
      <vt:lpstr>DeepSeek-CJK-patch</vt:lpstr>
      <vt:lpstr>IBM Plex Sans Arabic Medium</vt:lpstr>
      <vt:lpstr>Helvetica Neue</vt:lpstr>
      <vt:lpstr>Calibri</vt:lpstr>
      <vt:lpstr>Inter</vt:lpstr>
      <vt:lpstr>Tajawal</vt:lpstr>
      <vt:lpstr>Simple Light</vt:lpstr>
      <vt:lpstr>أكـــــاديميــــة طــــويـــق</vt:lpstr>
      <vt:lpstr>Deployment of Deep Learning Models    </vt:lpstr>
      <vt:lpstr>PowerPoint Presentation</vt:lpstr>
      <vt:lpstr>Deployment of Deep Learning Models</vt:lpstr>
      <vt:lpstr>Deployment Platforms  </vt:lpstr>
      <vt:lpstr>Key Steps in Deployment:   </vt:lpstr>
      <vt:lpstr>Key Steps in Deployment:   </vt:lpstr>
      <vt:lpstr>Exporting Models for Deployment    </vt:lpstr>
      <vt:lpstr>Exporting Models for Deployment    </vt:lpstr>
      <vt:lpstr>Serving Models with Web Frameworks     </vt:lpstr>
      <vt:lpstr>Serving Models with Web Frameworks     </vt:lpstr>
      <vt:lpstr>TensorFlow Serving for Production     </vt:lpstr>
      <vt:lpstr>Considerations for Deep Learning Deployment:      </vt:lpstr>
      <vt:lpstr>Comparison Table </vt:lpstr>
      <vt:lpstr>Books and References </vt:lpstr>
      <vt:lpstr>الشراكات العالمية</vt:lpstr>
      <vt:lpstr>شــــــكــــرًا لكــــــم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lastModifiedBy>Afshan Hashmi</cp:lastModifiedBy>
  <cp:revision>78</cp:revision>
  <dcterms:modified xsi:type="dcterms:W3CDTF">2025-06-16T14:28:58Z</dcterms:modified>
</cp:coreProperties>
</file>