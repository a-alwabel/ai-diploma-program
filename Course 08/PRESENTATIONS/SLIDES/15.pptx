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4"/>
  </p:notesMasterIdLst>
  <p:sldIdLst>
    <p:sldId id="256" r:id="rId2"/>
    <p:sldId id="257" r:id="rId3"/>
    <p:sldId id="258" r:id="rId4"/>
    <p:sldId id="298" r:id="rId5"/>
    <p:sldId id="503" r:id="rId6"/>
    <p:sldId id="504" r:id="rId7"/>
    <p:sldId id="474" r:id="rId8"/>
    <p:sldId id="476" r:id="rId9"/>
    <p:sldId id="484" r:id="rId10"/>
    <p:sldId id="483" r:id="rId11"/>
    <p:sldId id="485" r:id="rId12"/>
    <p:sldId id="486" r:id="rId13"/>
    <p:sldId id="487" r:id="rId14"/>
    <p:sldId id="488" r:id="rId15"/>
    <p:sldId id="489" r:id="rId16"/>
    <p:sldId id="490" r:id="rId17"/>
    <p:sldId id="505" r:id="rId18"/>
    <p:sldId id="506" r:id="rId19"/>
    <p:sldId id="507" r:id="rId20"/>
    <p:sldId id="508" r:id="rId21"/>
    <p:sldId id="509" r:id="rId22"/>
    <p:sldId id="511" r:id="rId23"/>
    <p:sldId id="510" r:id="rId24"/>
    <p:sldId id="512" r:id="rId25"/>
    <p:sldId id="514" r:id="rId26"/>
    <p:sldId id="515" r:id="rId27"/>
    <p:sldId id="517" r:id="rId28"/>
    <p:sldId id="516" r:id="rId29"/>
    <p:sldId id="370" r:id="rId30"/>
    <p:sldId id="312" r:id="rId31"/>
    <p:sldId id="275" r:id="rId32"/>
    <p:sldId id="276" r:id="rId33"/>
  </p:sldIdLst>
  <p:sldSz cx="9144000" cy="5143500" type="screen16x9"/>
  <p:notesSz cx="6858000" cy="9144000"/>
  <p:embeddedFontLst>
    <p:embeddedFont>
      <p:font typeface="IBM Plex Sans Arabic" panose="020B0603050203000203" pitchFamily="34" charset="-78"/>
      <p:regular r:id="rId35"/>
      <p:bold r:id="rId36"/>
    </p:embeddedFont>
    <p:embeddedFont>
      <p:font typeface="IBM Plex Sans Arabic Medium" panose="020B0603050203000203" pitchFamily="34" charset="-78"/>
      <p:regular r:id="rId37"/>
      <p:bold r:id="rId38"/>
    </p:embeddedFont>
    <p:embeddedFont>
      <p:font typeface="IBM Plex Sans Arabic SemiBold" panose="020B0603050203000203" pitchFamily="34" charset="-78"/>
      <p:regular r:id="rId39"/>
      <p:bold r:id="rId40"/>
    </p:embeddedFont>
    <p:embeddedFont>
      <p:font typeface="Inter" panose="020F0502020204030204" pitchFamily="34" charset="0"/>
      <p:regular r:id="rId41"/>
      <p:bold r:id="rId42"/>
      <p:italic r:id="rId43"/>
      <p:boldItalic r:id="rId44"/>
    </p:embeddedFont>
    <p:embeddedFont>
      <p:font typeface="Lato" panose="020F0502020204030203" pitchFamily="34" charset="0"/>
      <p:regular r:id="rId45"/>
      <p:bold r:id="rId46"/>
      <p:italic r:id="rId47"/>
      <p:boldItalic r:id="rId48"/>
    </p:embeddedFont>
    <p:embeddedFont>
      <p:font typeface="Nunito" pitchFamily="2" charset="77"/>
      <p:regular r:id="rId49"/>
      <p:bold r:id="rId50"/>
      <p:italic r:id="rId51"/>
      <p:boldItalic r:id="rId52"/>
    </p:embeddedFont>
    <p:embeddedFont>
      <p:font typeface="Tajawal" pitchFamily="2" charset="-78"/>
      <p:regular r:id="rId53"/>
      <p:bold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gKcFO/Xev719AjEfE5iQO6xfjK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1E1F5B-7058-4A9B-AF8C-0847D0C7EE07}">
  <a:tblStyle styleId="{541E1F5B-7058-4A9B-AF8C-0847D0C7EE07}"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06"/>
    <p:restoredTop sz="94242"/>
  </p:normalViewPr>
  <p:slideViewPr>
    <p:cSldViewPr snapToGrid="0">
      <p:cViewPr varScale="1">
        <p:scale>
          <a:sx n="177" d="100"/>
          <a:sy n="177" d="100"/>
        </p:scale>
        <p:origin x="192" y="968"/>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font" Target="fonts/font16.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openxmlformats.org/officeDocument/2006/relationships/font" Target="fonts/font19.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1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7.fntdata"/><Relationship Id="rId54" Type="http://schemas.openxmlformats.org/officeDocument/2006/relationships/font" Target="fonts/font2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font" Target="fonts/font15.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0.fntdata"/><Relationship Id="rId52"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CE20816-1F24-46D9-89DD-6FFEE700F24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7CD495B-FC5A-F226-2523-6E0861CBC8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B7203EE-8E11-9321-099D-0620FB1838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9817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0065B93A-00C4-D41B-06F0-133DF88855B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C4C2858-DCCF-786B-55FC-B62762E27E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DB6DD939-FEC6-2679-455E-7BE150A274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10076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3A209BA-8FFB-3612-9EE1-DFA08C4FBFB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A9E66AC-B9FB-6360-E472-ACAB08571D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A48E2480-0A65-000A-0E22-213D020348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05811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3724D22-3E25-F7B7-1122-F47133563349}"/>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68B0ACFC-F110-CF74-3E0C-A3F7E2A82A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AD370751-7552-C5AC-4079-FBFAC3C5B5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75760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928F5CC-EEA9-91E0-DB6B-B5CF7FCAC527}"/>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B308DFC7-417B-FD3A-8AF1-5F5B496C46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06FD376C-AE62-CED1-3125-AB862EADE0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33796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6FC055FA-5341-DDC8-1CB0-11767ACBA3B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9B9D8C84-42C5-9B05-4F65-516466FF93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7BB24F13-1CBF-6130-F57E-8753E70237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15763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E17190C-8FC9-D3B5-2F64-11450CAE7376}"/>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AAB8D7F-DA1B-A63B-3651-1A65186600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1720EB99-8082-F848-BCBC-07998C4DA0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93414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D41BCDD-609F-6544-F13D-7214BAA9BDED}"/>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A2F003D4-66F8-68B0-EF1F-F37CC6875E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DD30CEA2-DB5B-CA01-A501-989303F794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82417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50A6DCA3-0936-C90D-EDE5-D2FE18D5EC6F}"/>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A45A095-D2F2-7DF6-5102-E2A548BDB0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352242C4-C42E-0403-B9D4-AA4A0A4E65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8857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8DA1083-1487-85DC-16AA-77B9273E54F7}"/>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F7872933-A402-9218-77AC-1A46FEF4D8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3368D3DA-2B07-F155-A68F-62E31CE444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97254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A0A7863-1D02-70E4-D78C-0AD6AB5D8FD5}"/>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F313CF0-0D53-0A7C-F59A-599154FF10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CC108109-C1A8-D354-8A72-81B4A62BD4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48359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E4B85AD-0A3C-2922-0069-24E6FD5B9BA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7548F49-D7E9-FB5D-C351-2C5ED4AA2D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8E086591-2D56-EB40-4CFE-75468226CC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73957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C85EF87E-3694-3DEA-DDE2-4260738DFD9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3944C128-CF6A-CBBB-D047-7123AB9811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DA25D0D8-E03E-89B9-7CC0-B8B0D4B210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0790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68F5AFF-4560-1968-7BE6-B282874019C5}"/>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6853331-A63B-BDF3-B07A-6F3842B68F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837B57F8-3F3E-A4EA-FFBE-A0FD450A92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1142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E52917BB-034A-F14A-7727-3B1046560FD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9758EF7-C363-4CCC-FE14-05D6937CCB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CDD2378-5DCB-1C7B-3D95-F704898F11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67547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FADBA94-4548-998F-AE6B-B2493C4C463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ACFDA12-180E-57FE-4B91-F0514BD3B6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070C5DDB-F1BB-5AED-3336-16F4BE10A4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27289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7A959DF-1D34-47CB-EA16-A9C87EA6D370}"/>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B5E438F9-3247-C123-01F7-CD0152262B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B522F6E9-D095-7A42-9F34-897A0EA7DF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00654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8C73FDB-0D00-866D-94C8-66103B0073D7}"/>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35A1DE64-781F-F94C-31C6-2437851C29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E19E4B02-817B-A783-2499-7024B0F4CB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32849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C99FDF00-F2F3-7E76-5AB9-B32DDD1692A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FAA5E7EE-077D-5C93-7563-A28D22CF7F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93E5ABA8-AC55-854A-BD27-89368928B0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68887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5BBBE304-27F7-E7AC-04EF-3D2A9D7B8E98}"/>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5EF5DA9-8697-A971-84B2-03F9E236D1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45E1A2C3-1888-2C41-14EB-335E366508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58617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2BBAC39-D6C1-D4D4-961E-14FAF93B7DB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760541A-DD86-D3DA-3990-9E72E42B82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1F4EBBF4-8AA3-E499-2D7F-F0A3E62F7D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8770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B974C84C-10B2-9427-DF83-23C86447275C}"/>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C33A3A2B-7770-DD52-8FA2-CF75B20339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24904B83-78E2-87F9-7964-2C7BFD70A5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98244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730879EF-6493-FBF5-246F-912172196977}"/>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3CB784F5-0254-DE82-D0D2-9B7DBD5148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565CFF88-C214-E1BD-3534-4189ADCD90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07174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85995CD-D4F0-0504-7D52-8D7E3543AD4C}"/>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5061654-08D3-E5A8-879B-F91ED2A7364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8541393A-AE6E-63C5-7996-7D8463FDB2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540433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F587E30B-A171-DD23-D04B-41B52C2456BD}"/>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EB02FE24-56CC-B670-542C-5CF303DBF7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CF8F99AE-003A-D471-52AC-D1734847DE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96629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BECD89B-AAA3-F8FE-DFBC-CC79A9A4E0AF}"/>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F508F7A9-5506-B123-0264-14DD3EE902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CCD177CE-FC44-74CB-378D-8296859D59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02857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12000"/>
              <a:buNone/>
              <a:defRPr sz="12000"/>
            </a:lvl1pPr>
            <a:lvl2pPr lvl="1" algn="ctr" rtl="1">
              <a:lnSpc>
                <a:spcPct val="100000"/>
              </a:lnSpc>
              <a:spcBef>
                <a:spcPts val="0"/>
              </a:spcBef>
              <a:spcAft>
                <a:spcPts val="0"/>
              </a:spcAft>
              <a:buSzPts val="12000"/>
              <a:buNone/>
              <a:defRPr sz="12000"/>
            </a:lvl2pPr>
            <a:lvl3pPr lvl="2" algn="ctr" rtl="1">
              <a:lnSpc>
                <a:spcPct val="100000"/>
              </a:lnSpc>
              <a:spcBef>
                <a:spcPts val="0"/>
              </a:spcBef>
              <a:spcAft>
                <a:spcPts val="0"/>
              </a:spcAft>
              <a:buSzPts val="12000"/>
              <a:buNone/>
              <a:defRPr sz="12000"/>
            </a:lvl3pPr>
            <a:lvl4pPr lvl="3" algn="ctr" rtl="1">
              <a:lnSpc>
                <a:spcPct val="100000"/>
              </a:lnSpc>
              <a:spcBef>
                <a:spcPts val="0"/>
              </a:spcBef>
              <a:spcAft>
                <a:spcPts val="0"/>
              </a:spcAft>
              <a:buSzPts val="12000"/>
              <a:buNone/>
              <a:defRPr sz="12000"/>
            </a:lvl4pPr>
            <a:lvl5pPr lvl="4" algn="ctr" rtl="1">
              <a:lnSpc>
                <a:spcPct val="100000"/>
              </a:lnSpc>
              <a:spcBef>
                <a:spcPts val="0"/>
              </a:spcBef>
              <a:spcAft>
                <a:spcPts val="0"/>
              </a:spcAft>
              <a:buSzPts val="12000"/>
              <a:buNone/>
              <a:defRPr sz="12000"/>
            </a:lvl5pPr>
            <a:lvl6pPr lvl="5" algn="ctr" rtl="1">
              <a:lnSpc>
                <a:spcPct val="100000"/>
              </a:lnSpc>
              <a:spcBef>
                <a:spcPts val="0"/>
              </a:spcBef>
              <a:spcAft>
                <a:spcPts val="0"/>
              </a:spcAft>
              <a:buSzPts val="12000"/>
              <a:buNone/>
              <a:defRPr sz="12000"/>
            </a:lvl6pPr>
            <a:lvl7pPr lvl="6" algn="ctr" rtl="1">
              <a:lnSpc>
                <a:spcPct val="100000"/>
              </a:lnSpc>
              <a:spcBef>
                <a:spcPts val="0"/>
              </a:spcBef>
              <a:spcAft>
                <a:spcPts val="0"/>
              </a:spcAft>
              <a:buSzPts val="12000"/>
              <a:buNone/>
              <a:defRPr sz="12000"/>
            </a:lvl7pPr>
            <a:lvl8pPr lvl="7" algn="ctr" rtl="1">
              <a:lnSpc>
                <a:spcPct val="100000"/>
              </a:lnSpc>
              <a:spcBef>
                <a:spcPts val="0"/>
              </a:spcBef>
              <a:spcAft>
                <a:spcPts val="0"/>
              </a:spcAft>
              <a:buSzPts val="12000"/>
              <a:buNone/>
              <a:defRPr sz="12000"/>
            </a:lvl8pPr>
            <a:lvl9pPr lvl="8" algn="ctr" rtl="1">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300"/>
              <a:buFont typeface="Tajawal"/>
              <a:buNone/>
              <a:defRPr sz="4300" b="1">
                <a:latin typeface="Tajawal"/>
                <a:ea typeface="Tajawal"/>
                <a:cs typeface="Tajawal"/>
                <a:sym typeface="Tajawal"/>
              </a:defRPr>
            </a:lvl1pPr>
            <a:lvl2pPr lvl="1" algn="ctr" rtl="1">
              <a:lnSpc>
                <a:spcPct val="100000"/>
              </a:lnSpc>
              <a:spcBef>
                <a:spcPts val="0"/>
              </a:spcBef>
              <a:spcAft>
                <a:spcPts val="0"/>
              </a:spcAft>
              <a:buSzPts val="4900"/>
              <a:buFont typeface="Tajawal"/>
              <a:buNone/>
              <a:defRPr sz="4900">
                <a:latin typeface="Tajawal"/>
                <a:ea typeface="Tajawal"/>
                <a:cs typeface="Tajawal"/>
                <a:sym typeface="Tajawal"/>
              </a:defRPr>
            </a:lvl2pPr>
            <a:lvl3pPr lvl="2" algn="ctr" rtl="1">
              <a:lnSpc>
                <a:spcPct val="100000"/>
              </a:lnSpc>
              <a:spcBef>
                <a:spcPts val="0"/>
              </a:spcBef>
              <a:spcAft>
                <a:spcPts val="0"/>
              </a:spcAft>
              <a:buSzPts val="4900"/>
              <a:buFont typeface="Tajawal"/>
              <a:buNone/>
              <a:defRPr sz="4900">
                <a:latin typeface="Tajawal"/>
                <a:ea typeface="Tajawal"/>
                <a:cs typeface="Tajawal"/>
                <a:sym typeface="Tajawal"/>
              </a:defRPr>
            </a:lvl3pPr>
            <a:lvl4pPr lvl="3" algn="ctr" rtl="1">
              <a:lnSpc>
                <a:spcPct val="100000"/>
              </a:lnSpc>
              <a:spcBef>
                <a:spcPts val="0"/>
              </a:spcBef>
              <a:spcAft>
                <a:spcPts val="0"/>
              </a:spcAft>
              <a:buSzPts val="4900"/>
              <a:buFont typeface="Tajawal"/>
              <a:buNone/>
              <a:defRPr sz="4900">
                <a:latin typeface="Tajawal"/>
                <a:ea typeface="Tajawal"/>
                <a:cs typeface="Tajawal"/>
                <a:sym typeface="Tajawal"/>
              </a:defRPr>
            </a:lvl4pPr>
            <a:lvl5pPr lvl="4" algn="ctr" rtl="1">
              <a:lnSpc>
                <a:spcPct val="100000"/>
              </a:lnSpc>
              <a:spcBef>
                <a:spcPts val="0"/>
              </a:spcBef>
              <a:spcAft>
                <a:spcPts val="0"/>
              </a:spcAft>
              <a:buSzPts val="4900"/>
              <a:buFont typeface="Tajawal"/>
              <a:buNone/>
              <a:defRPr sz="4900">
                <a:latin typeface="Tajawal"/>
                <a:ea typeface="Tajawal"/>
                <a:cs typeface="Tajawal"/>
                <a:sym typeface="Tajawal"/>
              </a:defRPr>
            </a:lvl5pPr>
            <a:lvl6pPr lvl="5" algn="ctr" rtl="1">
              <a:lnSpc>
                <a:spcPct val="100000"/>
              </a:lnSpc>
              <a:spcBef>
                <a:spcPts val="0"/>
              </a:spcBef>
              <a:spcAft>
                <a:spcPts val="0"/>
              </a:spcAft>
              <a:buSzPts val="4900"/>
              <a:buFont typeface="Tajawal"/>
              <a:buNone/>
              <a:defRPr sz="4900">
                <a:latin typeface="Tajawal"/>
                <a:ea typeface="Tajawal"/>
                <a:cs typeface="Tajawal"/>
                <a:sym typeface="Tajawal"/>
              </a:defRPr>
            </a:lvl6pPr>
            <a:lvl7pPr lvl="6" algn="ctr" rtl="1">
              <a:lnSpc>
                <a:spcPct val="100000"/>
              </a:lnSpc>
              <a:spcBef>
                <a:spcPts val="0"/>
              </a:spcBef>
              <a:spcAft>
                <a:spcPts val="0"/>
              </a:spcAft>
              <a:buSzPts val="4900"/>
              <a:buFont typeface="Tajawal"/>
              <a:buNone/>
              <a:defRPr sz="4900">
                <a:latin typeface="Tajawal"/>
                <a:ea typeface="Tajawal"/>
                <a:cs typeface="Tajawal"/>
                <a:sym typeface="Tajawal"/>
              </a:defRPr>
            </a:lvl7pPr>
            <a:lvl8pPr lvl="7" algn="ctr" rtl="1">
              <a:lnSpc>
                <a:spcPct val="100000"/>
              </a:lnSpc>
              <a:spcBef>
                <a:spcPts val="0"/>
              </a:spcBef>
              <a:spcAft>
                <a:spcPts val="0"/>
              </a:spcAft>
              <a:buSzPts val="4900"/>
              <a:buFont typeface="Tajawal"/>
              <a:buNone/>
              <a:defRPr sz="4900">
                <a:latin typeface="Tajawal"/>
                <a:ea typeface="Tajawal"/>
                <a:cs typeface="Tajawal"/>
                <a:sym typeface="Tajawal"/>
              </a:defRPr>
            </a:lvl8pPr>
            <a:lvl9pPr lvl="8" algn="ctr" rtl="1">
              <a:lnSpc>
                <a:spcPct val="100000"/>
              </a:lnSpc>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5" name="Google Shape;15;p2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500"/>
              <a:buFont typeface="Tajawal"/>
              <a:buNone/>
              <a:defRPr sz="2500">
                <a:latin typeface="Tajawal"/>
                <a:ea typeface="Tajawal"/>
                <a:cs typeface="Tajawal"/>
                <a:sym typeface="Tajawal"/>
              </a:defRPr>
            </a:lvl1pPr>
            <a:lvl2pPr lvl="1" algn="ctr" rtl="1">
              <a:lnSpc>
                <a:spcPct val="100000"/>
              </a:lnSpc>
              <a:spcBef>
                <a:spcPts val="0"/>
              </a:spcBef>
              <a:spcAft>
                <a:spcPts val="0"/>
              </a:spcAft>
              <a:buSzPts val="2500"/>
              <a:buFont typeface="Tajawal"/>
              <a:buNone/>
              <a:defRPr sz="2500">
                <a:latin typeface="Tajawal"/>
                <a:ea typeface="Tajawal"/>
                <a:cs typeface="Tajawal"/>
                <a:sym typeface="Tajawal"/>
              </a:defRPr>
            </a:lvl2pPr>
            <a:lvl3pPr lvl="2" algn="ctr" rtl="1">
              <a:lnSpc>
                <a:spcPct val="100000"/>
              </a:lnSpc>
              <a:spcBef>
                <a:spcPts val="0"/>
              </a:spcBef>
              <a:spcAft>
                <a:spcPts val="0"/>
              </a:spcAft>
              <a:buSzPts val="2500"/>
              <a:buFont typeface="Tajawal"/>
              <a:buNone/>
              <a:defRPr sz="2500">
                <a:latin typeface="Tajawal"/>
                <a:ea typeface="Tajawal"/>
                <a:cs typeface="Tajawal"/>
                <a:sym typeface="Tajawal"/>
              </a:defRPr>
            </a:lvl3pPr>
            <a:lvl4pPr lvl="3" algn="ctr" rtl="1">
              <a:lnSpc>
                <a:spcPct val="100000"/>
              </a:lnSpc>
              <a:spcBef>
                <a:spcPts val="0"/>
              </a:spcBef>
              <a:spcAft>
                <a:spcPts val="0"/>
              </a:spcAft>
              <a:buSzPts val="2500"/>
              <a:buFont typeface="Tajawal"/>
              <a:buNone/>
              <a:defRPr sz="2500">
                <a:latin typeface="Tajawal"/>
                <a:ea typeface="Tajawal"/>
                <a:cs typeface="Tajawal"/>
                <a:sym typeface="Tajawal"/>
              </a:defRPr>
            </a:lvl4pPr>
            <a:lvl5pPr lvl="4" algn="ctr" rtl="1">
              <a:lnSpc>
                <a:spcPct val="100000"/>
              </a:lnSpc>
              <a:spcBef>
                <a:spcPts val="0"/>
              </a:spcBef>
              <a:spcAft>
                <a:spcPts val="0"/>
              </a:spcAft>
              <a:buSzPts val="2500"/>
              <a:buFont typeface="Tajawal"/>
              <a:buNone/>
              <a:defRPr sz="2500">
                <a:latin typeface="Tajawal"/>
                <a:ea typeface="Tajawal"/>
                <a:cs typeface="Tajawal"/>
                <a:sym typeface="Tajawal"/>
              </a:defRPr>
            </a:lvl5pPr>
            <a:lvl6pPr lvl="5" algn="ctr" rtl="1">
              <a:lnSpc>
                <a:spcPct val="100000"/>
              </a:lnSpc>
              <a:spcBef>
                <a:spcPts val="0"/>
              </a:spcBef>
              <a:spcAft>
                <a:spcPts val="0"/>
              </a:spcAft>
              <a:buSzPts val="2500"/>
              <a:buFont typeface="Tajawal"/>
              <a:buNone/>
              <a:defRPr sz="2500">
                <a:latin typeface="Tajawal"/>
                <a:ea typeface="Tajawal"/>
                <a:cs typeface="Tajawal"/>
                <a:sym typeface="Tajawal"/>
              </a:defRPr>
            </a:lvl6pPr>
            <a:lvl7pPr lvl="6" algn="ctr" rtl="1">
              <a:lnSpc>
                <a:spcPct val="100000"/>
              </a:lnSpc>
              <a:spcBef>
                <a:spcPts val="0"/>
              </a:spcBef>
              <a:spcAft>
                <a:spcPts val="0"/>
              </a:spcAft>
              <a:buSzPts val="2500"/>
              <a:buFont typeface="Tajawal"/>
              <a:buNone/>
              <a:defRPr sz="2500">
                <a:latin typeface="Tajawal"/>
                <a:ea typeface="Tajawal"/>
                <a:cs typeface="Tajawal"/>
                <a:sym typeface="Tajawal"/>
              </a:defRPr>
            </a:lvl7pPr>
            <a:lvl8pPr lvl="7" algn="ctr" rtl="1">
              <a:lnSpc>
                <a:spcPct val="100000"/>
              </a:lnSpc>
              <a:spcBef>
                <a:spcPts val="0"/>
              </a:spcBef>
              <a:spcAft>
                <a:spcPts val="0"/>
              </a:spcAft>
              <a:buSzPts val="2500"/>
              <a:buFont typeface="Tajawal"/>
              <a:buNone/>
              <a:defRPr sz="2500">
                <a:latin typeface="Tajawal"/>
                <a:ea typeface="Tajawal"/>
                <a:cs typeface="Tajawal"/>
                <a:sym typeface="Tajawal"/>
              </a:defRPr>
            </a:lvl8pPr>
            <a:lvl9pPr lvl="8" algn="ctr" rtl="1">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5"/>
          <p:cNvSpPr txBox="1">
            <a:spLocks noGrp="1"/>
          </p:cNvSpPr>
          <p:nvPr>
            <p:ph type="title"/>
          </p:nvPr>
        </p:nvSpPr>
        <p:spPr>
          <a:xfrm>
            <a:off x="2079450" y="445025"/>
            <a:ext cx="6707400" cy="6279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rtl="1">
              <a:lnSpc>
                <a:spcPct val="100000"/>
              </a:lnSpc>
              <a:spcBef>
                <a:spcPts val="0"/>
              </a:spcBef>
              <a:spcAft>
                <a:spcPts val="0"/>
              </a:spcAft>
              <a:buClr>
                <a:srgbClr val="543198"/>
              </a:buClr>
              <a:buSzPts val="2800"/>
              <a:buNone/>
              <a:defRPr b="1">
                <a:solidFill>
                  <a:srgbClr val="543198"/>
                </a:solidFill>
              </a:defRPr>
            </a:lvl2pPr>
            <a:lvl3pPr lvl="2" algn="l" rtl="1">
              <a:lnSpc>
                <a:spcPct val="100000"/>
              </a:lnSpc>
              <a:spcBef>
                <a:spcPts val="0"/>
              </a:spcBef>
              <a:spcAft>
                <a:spcPts val="0"/>
              </a:spcAft>
              <a:buClr>
                <a:srgbClr val="543198"/>
              </a:buClr>
              <a:buSzPts val="2800"/>
              <a:buNone/>
              <a:defRPr b="1">
                <a:solidFill>
                  <a:srgbClr val="543198"/>
                </a:solidFill>
              </a:defRPr>
            </a:lvl3pPr>
            <a:lvl4pPr lvl="3" algn="l" rtl="1">
              <a:lnSpc>
                <a:spcPct val="100000"/>
              </a:lnSpc>
              <a:spcBef>
                <a:spcPts val="0"/>
              </a:spcBef>
              <a:spcAft>
                <a:spcPts val="0"/>
              </a:spcAft>
              <a:buClr>
                <a:srgbClr val="543198"/>
              </a:buClr>
              <a:buSzPts val="2800"/>
              <a:buNone/>
              <a:defRPr b="1">
                <a:solidFill>
                  <a:srgbClr val="543198"/>
                </a:solidFill>
              </a:defRPr>
            </a:lvl4pPr>
            <a:lvl5pPr lvl="4" algn="l" rtl="1">
              <a:lnSpc>
                <a:spcPct val="100000"/>
              </a:lnSpc>
              <a:spcBef>
                <a:spcPts val="0"/>
              </a:spcBef>
              <a:spcAft>
                <a:spcPts val="0"/>
              </a:spcAft>
              <a:buClr>
                <a:srgbClr val="543198"/>
              </a:buClr>
              <a:buSzPts val="2800"/>
              <a:buNone/>
              <a:defRPr b="1">
                <a:solidFill>
                  <a:srgbClr val="543198"/>
                </a:solidFill>
              </a:defRPr>
            </a:lvl5pPr>
            <a:lvl6pPr lvl="5" algn="l" rtl="1">
              <a:lnSpc>
                <a:spcPct val="100000"/>
              </a:lnSpc>
              <a:spcBef>
                <a:spcPts val="0"/>
              </a:spcBef>
              <a:spcAft>
                <a:spcPts val="0"/>
              </a:spcAft>
              <a:buClr>
                <a:srgbClr val="543198"/>
              </a:buClr>
              <a:buSzPts val="2800"/>
              <a:buNone/>
              <a:defRPr b="1">
                <a:solidFill>
                  <a:srgbClr val="543198"/>
                </a:solidFill>
              </a:defRPr>
            </a:lvl6pPr>
            <a:lvl7pPr lvl="6" algn="l" rtl="1">
              <a:lnSpc>
                <a:spcPct val="100000"/>
              </a:lnSpc>
              <a:spcBef>
                <a:spcPts val="0"/>
              </a:spcBef>
              <a:spcAft>
                <a:spcPts val="0"/>
              </a:spcAft>
              <a:buClr>
                <a:srgbClr val="543198"/>
              </a:buClr>
              <a:buSzPts val="2800"/>
              <a:buNone/>
              <a:defRPr b="1">
                <a:solidFill>
                  <a:srgbClr val="543198"/>
                </a:solidFill>
              </a:defRPr>
            </a:lvl7pPr>
            <a:lvl8pPr lvl="7" algn="l" rtl="1">
              <a:lnSpc>
                <a:spcPct val="100000"/>
              </a:lnSpc>
              <a:spcBef>
                <a:spcPts val="0"/>
              </a:spcBef>
              <a:spcAft>
                <a:spcPts val="0"/>
              </a:spcAft>
              <a:buClr>
                <a:srgbClr val="543198"/>
              </a:buClr>
              <a:buSzPts val="2800"/>
              <a:buNone/>
              <a:defRPr b="1">
                <a:solidFill>
                  <a:srgbClr val="543198"/>
                </a:solidFill>
              </a:defRPr>
            </a:lvl8pPr>
            <a:lvl9pPr lvl="8" algn="l" rtl="1">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0" name="Google Shape;20;p25"/>
          <p:cNvSpPr txBox="1">
            <a:spLocks noGrp="1"/>
          </p:cNvSpPr>
          <p:nvPr>
            <p:ph type="body" idx="1"/>
          </p:nvPr>
        </p:nvSpPr>
        <p:spPr>
          <a:xfrm>
            <a:off x="2758650" y="1334150"/>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1">
              <a:lnSpc>
                <a:spcPct val="100000"/>
              </a:lnSpc>
              <a:spcBef>
                <a:spcPts val="0"/>
              </a:spcBef>
              <a:spcAft>
                <a:spcPts val="0"/>
              </a:spcAft>
              <a:buSzPts val="3600"/>
              <a:buFont typeface="Tajawal"/>
              <a:buNone/>
              <a:defRPr sz="3600">
                <a:latin typeface="Tajawal"/>
                <a:ea typeface="Tajawal"/>
                <a:cs typeface="Tajawal"/>
                <a:sym typeface="Tajawal"/>
              </a:defRPr>
            </a:lvl1pPr>
            <a:lvl2pPr lvl="1" algn="ctr" rtl="1">
              <a:lnSpc>
                <a:spcPct val="100000"/>
              </a:lnSpc>
              <a:spcBef>
                <a:spcPts val="0"/>
              </a:spcBef>
              <a:spcAft>
                <a:spcPts val="0"/>
              </a:spcAft>
              <a:buSzPts val="3600"/>
              <a:buFont typeface="Tajawal"/>
              <a:buNone/>
              <a:defRPr sz="3600">
                <a:latin typeface="Tajawal"/>
                <a:ea typeface="Tajawal"/>
                <a:cs typeface="Tajawal"/>
                <a:sym typeface="Tajawal"/>
              </a:defRPr>
            </a:lvl2pPr>
            <a:lvl3pPr lvl="2" algn="ctr" rtl="1">
              <a:lnSpc>
                <a:spcPct val="100000"/>
              </a:lnSpc>
              <a:spcBef>
                <a:spcPts val="0"/>
              </a:spcBef>
              <a:spcAft>
                <a:spcPts val="0"/>
              </a:spcAft>
              <a:buSzPts val="3600"/>
              <a:buFont typeface="Tajawal"/>
              <a:buNone/>
              <a:defRPr sz="3600">
                <a:latin typeface="Tajawal"/>
                <a:ea typeface="Tajawal"/>
                <a:cs typeface="Tajawal"/>
                <a:sym typeface="Tajawal"/>
              </a:defRPr>
            </a:lvl3pPr>
            <a:lvl4pPr lvl="3" algn="ctr" rtl="1">
              <a:lnSpc>
                <a:spcPct val="100000"/>
              </a:lnSpc>
              <a:spcBef>
                <a:spcPts val="0"/>
              </a:spcBef>
              <a:spcAft>
                <a:spcPts val="0"/>
              </a:spcAft>
              <a:buSzPts val="3600"/>
              <a:buFont typeface="Tajawal"/>
              <a:buNone/>
              <a:defRPr sz="3600">
                <a:latin typeface="Tajawal"/>
                <a:ea typeface="Tajawal"/>
                <a:cs typeface="Tajawal"/>
                <a:sym typeface="Tajawal"/>
              </a:defRPr>
            </a:lvl4pPr>
            <a:lvl5pPr lvl="4" algn="ctr" rtl="1">
              <a:lnSpc>
                <a:spcPct val="100000"/>
              </a:lnSpc>
              <a:spcBef>
                <a:spcPts val="0"/>
              </a:spcBef>
              <a:spcAft>
                <a:spcPts val="0"/>
              </a:spcAft>
              <a:buSzPts val="3600"/>
              <a:buFont typeface="Tajawal"/>
              <a:buNone/>
              <a:defRPr sz="3600">
                <a:latin typeface="Tajawal"/>
                <a:ea typeface="Tajawal"/>
                <a:cs typeface="Tajawal"/>
                <a:sym typeface="Tajawal"/>
              </a:defRPr>
            </a:lvl5pPr>
            <a:lvl6pPr lvl="5" algn="ctr" rtl="1">
              <a:lnSpc>
                <a:spcPct val="100000"/>
              </a:lnSpc>
              <a:spcBef>
                <a:spcPts val="0"/>
              </a:spcBef>
              <a:spcAft>
                <a:spcPts val="0"/>
              </a:spcAft>
              <a:buSzPts val="3600"/>
              <a:buFont typeface="Tajawal"/>
              <a:buNone/>
              <a:defRPr sz="3600">
                <a:latin typeface="Tajawal"/>
                <a:ea typeface="Tajawal"/>
                <a:cs typeface="Tajawal"/>
                <a:sym typeface="Tajawal"/>
              </a:defRPr>
            </a:lvl6pPr>
            <a:lvl7pPr lvl="6" algn="ctr" rtl="1">
              <a:lnSpc>
                <a:spcPct val="100000"/>
              </a:lnSpc>
              <a:spcBef>
                <a:spcPts val="0"/>
              </a:spcBef>
              <a:spcAft>
                <a:spcPts val="0"/>
              </a:spcAft>
              <a:buSzPts val="3600"/>
              <a:buFont typeface="Tajawal"/>
              <a:buNone/>
              <a:defRPr sz="3600">
                <a:latin typeface="Tajawal"/>
                <a:ea typeface="Tajawal"/>
                <a:cs typeface="Tajawal"/>
                <a:sym typeface="Tajawal"/>
              </a:defRPr>
            </a:lvl7pPr>
            <a:lvl8pPr lvl="7" algn="ctr" rtl="1">
              <a:lnSpc>
                <a:spcPct val="100000"/>
              </a:lnSpc>
              <a:spcBef>
                <a:spcPts val="0"/>
              </a:spcBef>
              <a:spcAft>
                <a:spcPts val="0"/>
              </a:spcAft>
              <a:buSzPts val="3600"/>
              <a:buFont typeface="Tajawal"/>
              <a:buNone/>
              <a:defRPr sz="3600">
                <a:latin typeface="Tajawal"/>
                <a:ea typeface="Tajawal"/>
                <a:cs typeface="Tajawal"/>
                <a:sym typeface="Tajawal"/>
              </a:defRPr>
            </a:lvl8pPr>
            <a:lvl9pPr lvl="8" algn="ctr" rtl="1">
              <a:lnSpc>
                <a:spcPct val="100000"/>
              </a:lnSpc>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25" name="Google Shape;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28"/>
          <p:cNvSpPr txBox="1">
            <a:spLocks noGrp="1"/>
          </p:cNvSpPr>
          <p:nvPr>
            <p:ph type="title"/>
          </p:nvPr>
        </p:nvSpPr>
        <p:spPr>
          <a:xfrm>
            <a:off x="2079450" y="714175"/>
            <a:ext cx="6707400" cy="7773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9" name="Google Shape;29;p28"/>
          <p:cNvSpPr txBox="1">
            <a:spLocks noGrp="1"/>
          </p:cNvSpPr>
          <p:nvPr>
            <p:ph type="body" idx="1"/>
          </p:nvPr>
        </p:nvSpPr>
        <p:spPr>
          <a:xfrm>
            <a:off x="2758650" y="1526325"/>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200"/>
              <a:buNone/>
              <a:defRPr sz="4200"/>
            </a:lvl1pPr>
            <a:lvl2pPr lvl="1" algn="ctr" rtl="1">
              <a:lnSpc>
                <a:spcPct val="100000"/>
              </a:lnSpc>
              <a:spcBef>
                <a:spcPts val="0"/>
              </a:spcBef>
              <a:spcAft>
                <a:spcPts val="0"/>
              </a:spcAft>
              <a:buSzPts val="4200"/>
              <a:buNone/>
              <a:defRPr sz="4200"/>
            </a:lvl2pPr>
            <a:lvl3pPr lvl="2" algn="ctr" rtl="1">
              <a:lnSpc>
                <a:spcPct val="100000"/>
              </a:lnSpc>
              <a:spcBef>
                <a:spcPts val="0"/>
              </a:spcBef>
              <a:spcAft>
                <a:spcPts val="0"/>
              </a:spcAft>
              <a:buSzPts val="4200"/>
              <a:buNone/>
              <a:defRPr sz="4200"/>
            </a:lvl3pPr>
            <a:lvl4pPr lvl="3" algn="ctr" rtl="1">
              <a:lnSpc>
                <a:spcPct val="100000"/>
              </a:lnSpc>
              <a:spcBef>
                <a:spcPts val="0"/>
              </a:spcBef>
              <a:spcAft>
                <a:spcPts val="0"/>
              </a:spcAft>
              <a:buSzPts val="4200"/>
              <a:buNone/>
              <a:defRPr sz="4200"/>
            </a:lvl4pPr>
            <a:lvl5pPr lvl="4" algn="ctr" rtl="1">
              <a:lnSpc>
                <a:spcPct val="100000"/>
              </a:lnSpc>
              <a:spcBef>
                <a:spcPts val="0"/>
              </a:spcBef>
              <a:spcAft>
                <a:spcPts val="0"/>
              </a:spcAft>
              <a:buSzPts val="4200"/>
              <a:buNone/>
              <a:defRPr sz="4200"/>
            </a:lvl5pPr>
            <a:lvl6pPr lvl="5" algn="ctr" rtl="1">
              <a:lnSpc>
                <a:spcPct val="100000"/>
              </a:lnSpc>
              <a:spcBef>
                <a:spcPts val="0"/>
              </a:spcBef>
              <a:spcAft>
                <a:spcPts val="0"/>
              </a:spcAft>
              <a:buSzPts val="4200"/>
              <a:buNone/>
              <a:defRPr sz="4200"/>
            </a:lvl6pPr>
            <a:lvl7pPr lvl="6" algn="ctr" rtl="1">
              <a:lnSpc>
                <a:spcPct val="100000"/>
              </a:lnSpc>
              <a:spcBef>
                <a:spcPts val="0"/>
              </a:spcBef>
              <a:spcAft>
                <a:spcPts val="0"/>
              </a:spcAft>
              <a:buSzPts val="4200"/>
              <a:buNone/>
              <a:defRPr sz="4200"/>
            </a:lvl7pPr>
            <a:lvl8pPr lvl="7" algn="ctr" rtl="1">
              <a:lnSpc>
                <a:spcPct val="100000"/>
              </a:lnSpc>
              <a:spcBef>
                <a:spcPts val="0"/>
              </a:spcBef>
              <a:spcAft>
                <a:spcPts val="0"/>
              </a:spcAft>
              <a:buSzPts val="4200"/>
              <a:buNone/>
              <a:defRPr sz="4200"/>
            </a:lvl8pPr>
            <a:lvl9pPr lvl="8" algn="ctr" rtl="1">
              <a:lnSpc>
                <a:spcPct val="100000"/>
              </a:lnSpc>
              <a:spcBef>
                <a:spcPts val="0"/>
              </a:spcBef>
              <a:spcAft>
                <a:spcPts val="0"/>
              </a:spcAft>
              <a:buSzPts val="4200"/>
              <a:buNone/>
              <a:defRPr sz="4200"/>
            </a:lvl9pPr>
          </a:lstStyle>
          <a:p>
            <a:endParaRPr/>
          </a:p>
        </p:txBody>
      </p:sp>
      <p:sp>
        <p:nvSpPr>
          <p:cNvPr id="36" name="Google Shape;36;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7" name="Google Shape;37;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1">
              <a:lnSpc>
                <a:spcPct val="115000"/>
              </a:lnSpc>
              <a:spcBef>
                <a:spcPts val="0"/>
              </a:spcBef>
              <a:spcAft>
                <a:spcPts val="0"/>
              </a:spcAft>
              <a:buSzPts val="1800"/>
              <a:buChar char="●"/>
              <a:defRPr/>
            </a:lvl1pPr>
            <a:lvl2pPr marL="914400" lvl="1" indent="-317500" algn="l" rtl="1">
              <a:lnSpc>
                <a:spcPct val="115000"/>
              </a:lnSpc>
              <a:spcBef>
                <a:spcPts val="0"/>
              </a:spcBef>
              <a:spcAft>
                <a:spcPts val="0"/>
              </a:spcAft>
              <a:buSzPts val="1400"/>
              <a:buChar char="○"/>
              <a:defRPr/>
            </a:lvl2pPr>
            <a:lvl3pPr marL="1371600" lvl="2" indent="-317500" algn="l" rtl="1">
              <a:lnSpc>
                <a:spcPct val="115000"/>
              </a:lnSpc>
              <a:spcBef>
                <a:spcPts val="0"/>
              </a:spcBef>
              <a:spcAft>
                <a:spcPts val="0"/>
              </a:spcAft>
              <a:buSzPts val="1400"/>
              <a:buChar char="■"/>
              <a:defRPr/>
            </a:lvl3pPr>
            <a:lvl4pPr marL="1828800" lvl="3" indent="-317500" algn="l" rtl="1">
              <a:lnSpc>
                <a:spcPct val="115000"/>
              </a:lnSpc>
              <a:spcBef>
                <a:spcPts val="0"/>
              </a:spcBef>
              <a:spcAft>
                <a:spcPts val="0"/>
              </a:spcAft>
              <a:buSzPts val="1400"/>
              <a:buChar char="●"/>
              <a:defRPr/>
            </a:lvl4pPr>
            <a:lvl5pPr marL="2286000" lvl="4" indent="-317500" algn="l" rtl="1">
              <a:lnSpc>
                <a:spcPct val="115000"/>
              </a:lnSpc>
              <a:spcBef>
                <a:spcPts val="0"/>
              </a:spcBef>
              <a:spcAft>
                <a:spcPts val="0"/>
              </a:spcAft>
              <a:buSzPts val="1400"/>
              <a:buChar char="○"/>
              <a:defRPr/>
            </a:lvl5pPr>
            <a:lvl6pPr marL="2743200" lvl="5" indent="-317500" algn="l" rtl="1">
              <a:lnSpc>
                <a:spcPct val="115000"/>
              </a:lnSpc>
              <a:spcBef>
                <a:spcPts val="0"/>
              </a:spcBef>
              <a:spcAft>
                <a:spcPts val="0"/>
              </a:spcAft>
              <a:buSzPts val="1400"/>
              <a:buChar char="■"/>
              <a:defRPr/>
            </a:lvl6pPr>
            <a:lvl7pPr marL="3200400" lvl="6" indent="-317500" algn="l" rtl="1">
              <a:lnSpc>
                <a:spcPct val="115000"/>
              </a:lnSpc>
              <a:spcBef>
                <a:spcPts val="0"/>
              </a:spcBef>
              <a:spcAft>
                <a:spcPts val="0"/>
              </a:spcAft>
              <a:buSzPts val="1400"/>
              <a:buChar char="●"/>
              <a:defRPr/>
            </a:lvl7pPr>
            <a:lvl8pPr marL="3657600" lvl="7" indent="-317500" algn="l" rtl="1">
              <a:lnSpc>
                <a:spcPct val="115000"/>
              </a:lnSpc>
              <a:spcBef>
                <a:spcPts val="0"/>
              </a:spcBef>
              <a:spcAft>
                <a:spcPts val="0"/>
              </a:spcAft>
              <a:buSzPts val="1400"/>
              <a:buChar char="○"/>
              <a:defRPr/>
            </a:lvl8pPr>
            <a:lvl9pPr marL="4114800" lvl="8" indent="-317500" algn="l" rtl="1">
              <a:lnSpc>
                <a:spcPct val="115000"/>
              </a:lnSpc>
              <a:spcBef>
                <a:spcPts val="0"/>
              </a:spcBef>
              <a:spcAft>
                <a:spcPts val="0"/>
              </a:spcAft>
              <a:buSzPts val="1400"/>
              <a:buChar char="■"/>
              <a:defRPr/>
            </a:lvl9pPr>
          </a:lstStyle>
          <a:p>
            <a:endParaRPr/>
          </a:p>
        </p:txBody>
      </p:sp>
      <p:sp>
        <p:nvSpPr>
          <p:cNvPr id="38" name="Google Shape;3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9">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marR="0" lvl="0" algn="l" rtl="1">
              <a:lnSpc>
                <a:spcPct val="100000"/>
              </a:lnSpc>
              <a:spcBef>
                <a:spcPts val="0"/>
              </a:spcBef>
              <a:spcAft>
                <a:spcPts val="0"/>
              </a:spcAft>
              <a:buClr>
                <a:srgbClr val="4F29B7"/>
              </a:buClr>
              <a:buSzPts val="2500"/>
              <a:buFont typeface="IBM Plex Sans Arabic Medium"/>
              <a:buNone/>
              <a:defRPr sz="2500" b="0" i="0" u="none" strike="noStrike" cap="none">
                <a:solidFill>
                  <a:srgbClr val="4F29B7"/>
                </a:solidFill>
                <a:latin typeface="IBM Plex Sans Arabic Medium"/>
                <a:ea typeface="IBM Plex Sans Arabic Medium"/>
                <a:cs typeface="IBM Plex Sans Arabic Medium"/>
                <a:sym typeface="IBM Plex Sans Arabic Medium"/>
              </a:defRPr>
            </a:lvl1pPr>
            <a:lvl2pPr marR="0" lvl="1"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2pPr>
            <a:lvl3pPr marR="0" lvl="2"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3pPr>
            <a:lvl4pPr marR="0" lvl="3"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4pPr>
            <a:lvl5pPr marR="0" lvl="4"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5pPr>
            <a:lvl6pPr marR="0" lvl="5"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6pPr>
            <a:lvl7pPr marR="0" lvl="6"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7pPr>
            <a:lvl8pPr marR="0" lvl="7"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8pPr>
            <a:lvl9pPr marR="0" lvl="8"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1">
              <a:lnSpc>
                <a:spcPct val="115000"/>
              </a:lnSpc>
              <a:spcBef>
                <a:spcPts val="0"/>
              </a:spcBef>
              <a:spcAft>
                <a:spcPts val="0"/>
              </a:spcAft>
              <a:buClr>
                <a:srgbClr val="252526"/>
              </a:buClr>
              <a:buSzPts val="1800"/>
              <a:buFont typeface="IBM Plex Sans Arabic"/>
              <a:buChar char="●"/>
              <a:defRPr sz="1800" b="0" i="0" u="none" strike="noStrike" cap="none">
                <a:solidFill>
                  <a:srgbClr val="252526"/>
                </a:solidFill>
                <a:latin typeface="IBM Plex Sans Arabic"/>
                <a:ea typeface="IBM Plex Sans Arabic"/>
                <a:cs typeface="IBM Plex Sans Arabic"/>
                <a:sym typeface="IBM Plex Sans Arabic"/>
              </a:defRPr>
            </a:lvl1pPr>
            <a:lvl2pPr marL="914400" marR="0" lvl="1"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2pPr>
            <a:lvl3pPr marL="1371600" marR="0" lvl="2"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3pPr>
            <a:lvl4pPr marL="1828800" marR="0" lvl="3"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4pPr>
            <a:lvl5pPr marL="2286000" marR="0" lvl="4"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5pPr>
            <a:lvl6pPr marL="2743200" marR="0" lvl="5"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6pPr>
            <a:lvl7pPr marL="3200400" marR="0" lvl="6"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7pPr>
            <a:lvl8pPr marL="3657600" marR="0" lvl="7"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8pPr>
            <a:lvl9pPr marL="4114800" marR="0" lvl="8"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10">
            <a:alphaModFix/>
          </a:blip>
          <a:srcRect/>
          <a:stretch/>
        </p:blipFill>
        <p:spPr>
          <a:xfrm>
            <a:off x="8030954" y="17475"/>
            <a:ext cx="1266092" cy="10079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drive.google.com/file/d/1Q2T3EPLMtnMZK1PDumjgbnoxvg-ZNpDy/view?usp=share_link"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3.xml"/><Relationship Id="rId6" Type="http://schemas.openxmlformats.org/officeDocument/2006/relationships/hyperlink" Target="https://www.wallpaperflare.com/wallpaper-programmer-coding-pattern-text-full-frame-backgrounds-wallpaper-pfdto" TargetMode="External"/><Relationship Id="rId5" Type="http://schemas.openxmlformats.org/officeDocument/2006/relationships/image" Target="../media/image11.jpg"/><Relationship Id="rId4" Type="http://schemas.openxmlformats.org/officeDocument/2006/relationships/hyperlink" Target="https://drive.google.com/file/d/1Q2T3EPLMtnMZK1PDumjgbnoxvg-ZNpDy/view?usp=sharing"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notesSlide" Target="../notesSlides/notesSlide31.xml"/><Relationship Id="rId16" Type="http://schemas.openxmlformats.org/officeDocument/2006/relationships/image" Target="../media/image25.png"/><Relationship Id="rId1" Type="http://schemas.openxmlformats.org/officeDocument/2006/relationships/slideLayout" Target="../slideLayouts/slideLayout4.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5435226" y="867625"/>
            <a:ext cx="2974200" cy="2262000"/>
          </a:xfrm>
          <a:prstGeom prst="rect">
            <a:avLst/>
          </a:prstGeom>
          <a:noFill/>
          <a:ln>
            <a:noFill/>
          </a:ln>
        </p:spPr>
        <p:txBody>
          <a:bodyPr spcFirstLastPara="1" wrap="square" lIns="91425" tIns="91425" rIns="91425" bIns="91425" anchor="b" anchorCtr="0">
            <a:normAutofit/>
          </a:bodyPr>
          <a:lstStyle/>
          <a:p>
            <a:pPr marL="0" lvl="0" indent="0" algn="r" rtl="0">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a:spLocks noGrp="1"/>
          </p:cNvSpPr>
          <p:nvPr>
            <p:ph type="body" idx="4294967295"/>
          </p:nvPr>
        </p:nvSpPr>
        <p:spPr>
          <a:xfrm>
            <a:off x="3902100" y="3253272"/>
            <a:ext cx="4447500" cy="1973484"/>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200"/>
              </a:spcAft>
              <a:buSzPts val="1800"/>
              <a:buNone/>
            </a:pPr>
            <a:r>
              <a:rPr lang="en-US" sz="3600" dirty="0">
                <a:solidFill>
                  <a:schemeClr val="lt1"/>
                </a:solidFill>
                <a:latin typeface="IBM Plex Sans Arabic Medium"/>
                <a:ea typeface="IBM Plex Sans Arabic Medium"/>
                <a:cs typeface="IBM Plex Sans Arabic Medium"/>
                <a:sym typeface="IBM Plex Sans Arabic Medium"/>
              </a:rPr>
              <a:t>Deep Learning</a:t>
            </a:r>
            <a:endParaRPr sz="3600" dirty="0">
              <a:solidFill>
                <a:schemeClr val="lt1"/>
              </a:solidFill>
              <a:latin typeface="IBM Plex Sans Arabic Medium"/>
              <a:ea typeface="IBM Plex Sans Arabic Medium"/>
              <a:cs typeface="IBM Plex Sans Arabic Medium"/>
              <a:sym typeface="IBM Plex Sans Arabic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131700" y="1674390"/>
            <a:ext cx="8520600" cy="3112070"/>
          </a:xfrm>
          <a:prstGeom prst="rect">
            <a:avLst/>
          </a:prstGeom>
          <a:noFill/>
          <a:ln>
            <a:noFill/>
          </a:ln>
        </p:spPr>
        <p:txBody>
          <a:bodyPr spcFirstLastPara="1" wrap="square" lIns="91425" tIns="91425" rIns="91425" bIns="91425" anchor="b" anchorCtr="0">
            <a:normAutofit fontScale="90000"/>
          </a:bodyPr>
          <a:lstStyle/>
          <a:p>
            <a:r>
              <a:rPr lang="en-GB" sz="4000" dirty="0">
                <a:solidFill>
                  <a:srgbClr val="7030A0"/>
                </a:solidFill>
                <a:latin typeface="Times New Roman" panose="02020603050405020304" pitchFamily="18" charset="0"/>
              </a:rPr>
              <a:t>Multi-Head Attention Mechanism</a:t>
            </a:r>
            <a:br>
              <a:rPr lang="en-GB" sz="4000" dirty="0">
                <a:solidFill>
                  <a:srgbClr val="7030A0"/>
                </a:solidFill>
                <a:latin typeface="Times New Roman" panose="02020603050405020304" pitchFamily="18" charset="0"/>
              </a:rPr>
            </a:br>
            <a:r>
              <a:rPr lang="en-GB" sz="4000" dirty="0">
                <a:solidFill>
                  <a:srgbClr val="7030A0"/>
                </a:solidFill>
                <a:latin typeface="Times New Roman" panose="02020603050405020304" pitchFamily="18" charset="0"/>
              </a:rPr>
              <a:t>+ </a:t>
            </a:r>
            <a:br>
              <a:rPr lang="en-GB" sz="4000" dirty="0">
                <a:solidFill>
                  <a:srgbClr val="7030A0"/>
                </a:solidFill>
                <a:latin typeface="Times New Roman" panose="02020603050405020304" pitchFamily="18" charset="0"/>
              </a:rPr>
            </a:br>
            <a:r>
              <a:rPr lang="en-GB" sz="4000" dirty="0">
                <a:solidFill>
                  <a:srgbClr val="7030A0"/>
                </a:solidFill>
                <a:latin typeface="Times New Roman" panose="02020603050405020304" pitchFamily="18" charset="0"/>
              </a:rPr>
              <a:t>BERT</a:t>
            </a:r>
            <a:br>
              <a:rPr lang="en-GB" sz="4000" b="1" i="0" u="none" strike="noStrike" dirty="0">
                <a:solidFill>
                  <a:srgbClr val="7030A0"/>
                </a:solidFill>
                <a:effectLst/>
                <a:latin typeface="Times New Roman" panose="02020603050405020304" pitchFamily="18" charset="0"/>
              </a:rPr>
            </a:br>
            <a:r>
              <a:rPr lang="en-GB" sz="3200" b="1" i="0" u="none" strike="noStrike" dirty="0">
                <a:solidFill>
                  <a:srgbClr val="7030A0"/>
                </a:solidFill>
                <a:effectLst/>
                <a:latin typeface="Arial" panose="020B0604020202020204" pitchFamily="34" charset="0"/>
              </a:rPr>
              <a:t> </a:t>
            </a:r>
            <a:br>
              <a:rPr lang="en-GB" sz="3200" b="1" i="0" u="none" strike="noStrike" dirty="0">
                <a:solidFill>
                  <a:srgbClr val="7030A0"/>
                </a:solidFill>
                <a:effectLst/>
                <a:latin typeface="Arial" panose="020B0604020202020204" pitchFamily="34" charset="0"/>
              </a:rPr>
            </a:br>
            <a:br>
              <a:rPr lang="en-US" sz="1800" dirty="0">
                <a:latin typeface="Calibri"/>
                <a:ea typeface="Calibri"/>
                <a:cs typeface="Calibri"/>
                <a:sym typeface="Calibri"/>
              </a:rPr>
            </a:br>
            <a:endParaRPr dirty="0"/>
          </a:p>
        </p:txBody>
      </p:sp>
      <p:sp>
        <p:nvSpPr>
          <p:cNvPr id="50" name="Google Shape;50;p2"/>
          <p:cNvSpPr txBox="1">
            <a:spLocks noGrp="1"/>
          </p:cNvSpPr>
          <p:nvPr>
            <p:ph type="subTitle" idx="1"/>
          </p:nvPr>
        </p:nvSpPr>
        <p:spPr>
          <a:xfrm>
            <a:off x="311700" y="2834125"/>
            <a:ext cx="5691535" cy="792600"/>
          </a:xfrm>
          <a:prstGeom prst="rect">
            <a:avLst/>
          </a:prstGeom>
          <a:noFill/>
          <a:ln>
            <a:noFill/>
          </a:ln>
        </p:spPr>
        <p:txBody>
          <a:bodyPr spcFirstLastPara="1" wrap="square" lIns="91425" tIns="91425" rIns="91425" bIns="91425" anchor="t" anchorCtr="0">
            <a:normAutofit/>
          </a:bodyPr>
          <a:lstStyle/>
          <a:p>
            <a:pPr marL="114300" indent="0" rtl="0" fontAlgn="base">
              <a:spcBef>
                <a:spcPts val="1200"/>
              </a:spcBef>
              <a:spcAft>
                <a:spcPts val="1200"/>
              </a:spcAft>
            </a:pPr>
            <a:r>
              <a:rPr lang="en-GB" sz="1800" b="0" i="0" u="none" strike="noStrike" dirty="0">
                <a:solidFill>
                  <a:srgbClr val="000000"/>
                </a:solidFill>
                <a:effectLst/>
                <a:latin typeface="Times New Roman" panose="02020603050405020304" pitchFamily="18" charset="0"/>
              </a:rPr>
              <a:t>			</a:t>
            </a:r>
            <a:endParaRPr lang="en-GB" sz="1800" dirty="0">
              <a:solidFill>
                <a:srgbClr val="000000"/>
              </a:solidFill>
              <a:latin typeface="Times New Roman" panose="02020603050405020304" pitchFamily="18" charset="0"/>
            </a:endParaRPr>
          </a:p>
        </p:txBody>
      </p:sp>
      <p:sp>
        <p:nvSpPr>
          <p:cNvPr id="51" name="Google Shape;51;p2"/>
          <p:cNvSpPr txBox="1"/>
          <p:nvPr/>
        </p:nvSpPr>
        <p:spPr>
          <a:xfrm>
            <a:off x="3527778" y="424503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Calibri"/>
                <a:ea typeface="Calibri"/>
                <a:cs typeface="Calibri"/>
                <a:sym typeface="Calibri"/>
              </a:rPr>
              <a:t>By: Dr. Afshan Hashmi</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p:nvPr/>
        </p:nvSpPr>
        <p:spPr>
          <a:xfrm>
            <a:off x="838658" y="1343963"/>
            <a:ext cx="6634716" cy="1846619"/>
          </a:xfrm>
          <a:prstGeom prst="rect">
            <a:avLst/>
          </a:prstGeom>
          <a:noFill/>
          <a:ln>
            <a:noFill/>
          </a:ln>
        </p:spPr>
        <p:txBody>
          <a:bodyPr spcFirstLastPara="1" wrap="square" lIns="91425" tIns="45700" rIns="91425" bIns="45700" anchor="t" anchorCtr="0">
            <a:spAutoFit/>
          </a:bodyPr>
          <a:lstStyle/>
          <a:p>
            <a:pPr marL="0" marR="0" lvl="0" indent="0" algn="just" rtl="0">
              <a:lnSpc>
                <a:spcPct val="125000"/>
              </a:lnSpc>
              <a:spcBef>
                <a:spcPts val="0"/>
              </a:spcBef>
              <a:spcAft>
                <a:spcPts val="0"/>
              </a:spcAft>
              <a:buNone/>
            </a:pPr>
            <a:r>
              <a:rPr lang="en-US" sz="2400" b="1" dirty="0">
                <a:solidFill>
                  <a:srgbClr val="7030A0"/>
                </a:solidFill>
              </a:rPr>
              <a:t>Topics Covered</a:t>
            </a:r>
            <a:r>
              <a:rPr lang="en-US" sz="2400" b="1" i="0" u="none" strike="noStrike" cap="none" dirty="0">
                <a:solidFill>
                  <a:srgbClr val="7030A0"/>
                </a:solidFill>
                <a:latin typeface="Arial"/>
                <a:ea typeface="Arial"/>
                <a:cs typeface="Arial"/>
                <a:sym typeface="Arial"/>
              </a:rPr>
              <a:t>:</a:t>
            </a:r>
            <a:endParaRPr lang="en-GB" b="0" i="0" u="none" strike="noStrike" dirty="0">
              <a:solidFill>
                <a:srgbClr val="000000"/>
              </a:solidFill>
              <a:effectLst/>
            </a:endParaRPr>
          </a:p>
          <a:p>
            <a:pPr algn="l" rtl="0">
              <a:buNone/>
            </a:pPr>
            <a:endParaRPr lang="en-GB" b="0" i="0" u="none" strike="noStrike" dirty="0">
              <a:solidFill>
                <a:srgbClr val="000000"/>
              </a:solidFill>
              <a:effectLst/>
            </a:endParaRPr>
          </a:p>
          <a:p>
            <a:pPr marL="342900" indent="-342900" algn="l" rtl="0">
              <a:buFont typeface="+mj-lt"/>
              <a:buAutoNum type="arabicPeriod"/>
            </a:pPr>
            <a:r>
              <a:rPr lang="en-GB" dirty="0"/>
              <a:t>Multi-Head </a:t>
            </a:r>
            <a:r>
              <a:rPr lang="en-GB" b="0" i="0" u="none" strike="noStrike" dirty="0">
                <a:solidFill>
                  <a:srgbClr val="000000"/>
                </a:solidFill>
                <a:effectLst/>
              </a:rPr>
              <a:t>attention mechanism.</a:t>
            </a:r>
          </a:p>
          <a:p>
            <a:pPr marL="342900" indent="-342900">
              <a:buFont typeface="+mj-lt"/>
              <a:buAutoNum type="arabicPeriod"/>
            </a:pPr>
            <a:r>
              <a:rPr lang="en-GB" b="0" i="0" u="none" strike="noStrike" dirty="0">
                <a:solidFill>
                  <a:srgbClr val="000000"/>
                </a:solidFill>
                <a:effectLst/>
              </a:rPr>
              <a:t>Multi-Head Attention in Transformers.</a:t>
            </a:r>
          </a:p>
          <a:p>
            <a:pPr marL="342900" indent="-342900" algn="l" rtl="0">
              <a:buFont typeface="+mj-lt"/>
              <a:buAutoNum type="arabicPeriod"/>
            </a:pPr>
            <a:r>
              <a:rPr lang="en-GB" dirty="0"/>
              <a:t>BERT Architecture </a:t>
            </a:r>
          </a:p>
          <a:p>
            <a:pPr marL="342900" indent="-342900">
              <a:buFont typeface="+mj-lt"/>
              <a:buAutoNum type="arabicPeriod"/>
            </a:pPr>
            <a:r>
              <a:rPr lang="en-US" sz="1400" b="0" i="0" u="none" strike="noStrike" cap="none" dirty="0">
                <a:solidFill>
                  <a:srgbClr val="000000"/>
                </a:solidFill>
                <a:latin typeface="Arial"/>
                <a:ea typeface="Arial"/>
                <a:cs typeface="Arial"/>
                <a:sym typeface="Arial"/>
              </a:rPr>
              <a:t>MLM and NSP </a:t>
            </a:r>
          </a:p>
          <a:p>
            <a:pPr marL="342900" indent="-342900">
              <a:buFont typeface="+mj-lt"/>
              <a:buAutoNum type="arabicPeriod"/>
            </a:pPr>
            <a:r>
              <a:rPr lang="en-US" dirty="0"/>
              <a:t>Application of BERT</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4EF5623-6B09-C586-D026-E1815682342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B8CE39D-1BAA-9EAF-5C66-19BBE6DD2056}"/>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a:bodyPr>
          <a:lstStyle/>
          <a:p>
            <a:pPr>
              <a:spcAft>
                <a:spcPts val="300"/>
              </a:spcAft>
            </a:pPr>
            <a:r>
              <a:rPr lang="en-GB" sz="2400" i="0" dirty="0">
                <a:solidFill>
                  <a:srgbClr val="7030A0"/>
                </a:solidFill>
                <a:effectLst/>
                <a:latin typeface="Lato" panose="020F0502020204030203" pitchFamily="34" charset="0"/>
              </a:rPr>
              <a:t>Multi-head Attention </a:t>
            </a: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4482F75-B306-CAB6-0919-E013D5E5A03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91F168CB-0CDB-B6DB-AE67-BA9ABA3C3998}"/>
              </a:ext>
            </a:extLst>
          </p:cNvPr>
          <p:cNvSpPr txBox="1"/>
          <p:nvPr/>
        </p:nvSpPr>
        <p:spPr>
          <a:xfrm>
            <a:off x="518160" y="802035"/>
            <a:ext cx="4462272" cy="3539430"/>
          </a:xfrm>
          <a:prstGeom prst="rect">
            <a:avLst/>
          </a:prstGeom>
          <a:noFill/>
        </p:spPr>
        <p:txBody>
          <a:bodyPr wrap="square">
            <a:spAutoFit/>
          </a:bodyPr>
          <a:lstStyle/>
          <a:p>
            <a:pPr marL="342900" indent="-342900" algn="l">
              <a:buFont typeface="+mj-lt"/>
              <a:buAutoNum type="arabicPeriod"/>
            </a:pPr>
            <a:r>
              <a:rPr lang="en-GB" sz="1600" b="1" i="0" dirty="0">
                <a:solidFill>
                  <a:srgbClr val="212529"/>
                </a:solidFill>
                <a:effectLst/>
                <a:latin typeface="+mj-lt"/>
              </a:rPr>
              <a:t>Multi-head Attention</a:t>
            </a:r>
            <a:r>
              <a:rPr lang="en-GB" sz="1600" b="0" i="0" dirty="0">
                <a:solidFill>
                  <a:srgbClr val="212529"/>
                </a:solidFill>
                <a:effectLst/>
                <a:latin typeface="+mj-lt"/>
              </a:rPr>
              <a:t> is a module for attention mechanisms which runs through an attention mechanism several times in parallel. </a:t>
            </a:r>
          </a:p>
          <a:p>
            <a:pPr marL="342900" indent="-342900" algn="l">
              <a:buFont typeface="+mj-lt"/>
              <a:buAutoNum type="arabicPeriod"/>
            </a:pPr>
            <a:r>
              <a:rPr lang="en-GB" sz="1600" b="0" i="0" dirty="0">
                <a:solidFill>
                  <a:srgbClr val="212529"/>
                </a:solidFill>
                <a:effectLst/>
                <a:latin typeface="+mj-lt"/>
              </a:rPr>
              <a:t>The independent attention outputs are then concatenated and linearly transformed into the expected dimension. </a:t>
            </a:r>
          </a:p>
          <a:p>
            <a:pPr marL="342900" indent="-342900" algn="l">
              <a:buFont typeface="+mj-lt"/>
              <a:buAutoNum type="arabicPeriod"/>
            </a:pPr>
            <a:r>
              <a:rPr lang="en-GB" sz="1600" b="0" i="0" dirty="0">
                <a:solidFill>
                  <a:srgbClr val="212529"/>
                </a:solidFill>
                <a:effectLst/>
                <a:latin typeface="+mj-lt"/>
              </a:rPr>
              <a:t>Intuitively, multiple attention heads allows for attending to parts of the sequence differently (e.g. longer-term dependencies versus shorter-term dependencies).</a:t>
            </a:r>
          </a:p>
          <a:p>
            <a:pPr algn="ctr"/>
            <a:r>
              <a:rPr lang="en-GB" sz="1600" b="0" i="1" dirty="0" err="1">
                <a:solidFill>
                  <a:srgbClr val="212529"/>
                </a:solidFill>
                <a:effectLst/>
                <a:latin typeface="+mj-lt"/>
              </a:rPr>
              <a:t>MultiHead</a:t>
            </a:r>
            <a:r>
              <a:rPr lang="en-GB" sz="1600" b="0" i="1" dirty="0">
                <a:solidFill>
                  <a:srgbClr val="212529"/>
                </a:solidFill>
                <a:effectLst/>
                <a:latin typeface="+mj-lt"/>
              </a:rPr>
              <a:t>(Q,K,V)=[head</a:t>
            </a:r>
            <a:r>
              <a:rPr lang="en-GB" sz="1600" b="0" i="1" baseline="-25000" dirty="0">
                <a:solidFill>
                  <a:srgbClr val="212529"/>
                </a:solidFill>
                <a:effectLst/>
                <a:latin typeface="+mj-lt"/>
              </a:rPr>
              <a:t>1</a:t>
            </a:r>
            <a:r>
              <a:rPr lang="en-GB" sz="1600" b="0" i="1" dirty="0">
                <a:solidFill>
                  <a:srgbClr val="212529"/>
                </a:solidFill>
                <a:effectLst/>
                <a:latin typeface="+mj-lt"/>
              </a:rPr>
              <a:t>,…,</a:t>
            </a:r>
            <a:r>
              <a:rPr lang="en-GB" sz="1600" b="0" i="1" dirty="0" err="1">
                <a:solidFill>
                  <a:srgbClr val="212529"/>
                </a:solidFill>
                <a:effectLst/>
                <a:latin typeface="+mj-lt"/>
              </a:rPr>
              <a:t>head</a:t>
            </a:r>
            <a:r>
              <a:rPr lang="en-GB" sz="1600" b="0" i="1" baseline="-25000" dirty="0" err="1">
                <a:solidFill>
                  <a:srgbClr val="212529"/>
                </a:solidFill>
                <a:effectLst/>
                <a:latin typeface="+mj-lt"/>
              </a:rPr>
              <a:t>h</a:t>
            </a:r>
            <a:r>
              <a:rPr lang="en-GB" sz="1600" b="0" i="1" dirty="0">
                <a:solidFill>
                  <a:srgbClr val="212529"/>
                </a:solidFill>
                <a:effectLst/>
                <a:latin typeface="+mj-lt"/>
              </a:rPr>
              <a:t>]W</a:t>
            </a:r>
            <a:r>
              <a:rPr lang="en-GB" sz="1600" b="0" i="1" baseline="-25000" dirty="0">
                <a:solidFill>
                  <a:srgbClr val="212529"/>
                </a:solidFill>
                <a:effectLst/>
                <a:latin typeface="+mj-lt"/>
              </a:rPr>
              <a:t>0</a:t>
            </a:r>
          </a:p>
          <a:p>
            <a:br>
              <a:rPr lang="en-GB" sz="1600" dirty="0">
                <a:latin typeface="+mj-lt"/>
              </a:rPr>
            </a:br>
            <a:endParaRPr lang="en-GB" sz="1600" b="1" dirty="0">
              <a:latin typeface="+mj-lt"/>
            </a:endParaRPr>
          </a:p>
        </p:txBody>
      </p:sp>
      <p:pic>
        <p:nvPicPr>
          <p:cNvPr id="30722" name="Picture 2">
            <a:extLst>
              <a:ext uri="{FF2B5EF4-FFF2-40B4-BE49-F238E27FC236}">
                <a16:creationId xmlns:a16="http://schemas.microsoft.com/office/drawing/2014/main" id="{A8B3ECBC-1514-65CC-FAD6-09E7D22D57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1120" y="1018528"/>
            <a:ext cx="3291840" cy="36957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7176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8F9843F9-E148-AB48-C841-5EC02E1EF5B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F78FAB56-5485-39E6-610F-927AF1C41EB6}"/>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a:bodyPr>
          <a:lstStyle/>
          <a:p>
            <a:pPr>
              <a:spcAft>
                <a:spcPts val="300"/>
              </a:spcAft>
            </a:pPr>
            <a:r>
              <a:rPr lang="en-GB" sz="2400" i="0" dirty="0">
                <a:solidFill>
                  <a:srgbClr val="7030A0"/>
                </a:solidFill>
                <a:effectLst/>
                <a:latin typeface="Lato" panose="020F0502020204030203" pitchFamily="34" charset="0"/>
              </a:rPr>
              <a:t>Multi-head Attention </a:t>
            </a: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84F0D10E-D6A5-859E-3392-AA2AAC610ADF}"/>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D1F50204-6D17-217E-B945-C52E0703DD63}"/>
              </a:ext>
            </a:extLst>
          </p:cNvPr>
          <p:cNvSpPr txBox="1"/>
          <p:nvPr/>
        </p:nvSpPr>
        <p:spPr>
          <a:xfrm>
            <a:off x="518160" y="802035"/>
            <a:ext cx="7510272" cy="4278094"/>
          </a:xfrm>
          <a:prstGeom prst="rect">
            <a:avLst/>
          </a:prstGeom>
          <a:noFill/>
        </p:spPr>
        <p:txBody>
          <a:bodyPr wrap="square">
            <a:spAutoFit/>
          </a:bodyPr>
          <a:lstStyle/>
          <a:p>
            <a:pPr algn="l">
              <a:buNone/>
            </a:pPr>
            <a:r>
              <a:rPr lang="en-GB" sz="1600" b="1" i="0" u="none" strike="noStrike" dirty="0">
                <a:solidFill>
                  <a:srgbClr val="000000"/>
                </a:solidFill>
                <a:effectLst/>
              </a:rPr>
              <a:t>Motivation:</a:t>
            </a:r>
            <a:endParaRPr lang="en-GB" sz="1600" b="0" i="0" u="none" strike="noStrike" dirty="0">
              <a:solidFill>
                <a:srgbClr val="000000"/>
              </a:solidFill>
              <a:effectLst/>
            </a:endParaRPr>
          </a:p>
          <a:p>
            <a:pPr marL="285750" indent="-285750" algn="l">
              <a:buFont typeface="Wingdings" pitchFamily="2" charset="2"/>
              <a:buChar char="Ø"/>
            </a:pPr>
            <a:r>
              <a:rPr lang="en-GB" sz="1600" b="0" i="0" u="none" strike="noStrike" dirty="0">
                <a:solidFill>
                  <a:srgbClr val="000000"/>
                </a:solidFill>
                <a:effectLst/>
              </a:rPr>
              <a:t>A single attention mechanism might limit the model's ability to focus on diverse aspects of the input.</a:t>
            </a:r>
          </a:p>
          <a:p>
            <a:pPr marL="285750" indent="-285750" algn="l">
              <a:buFont typeface="Wingdings" pitchFamily="2" charset="2"/>
              <a:buChar char="Ø"/>
            </a:pPr>
            <a:r>
              <a:rPr lang="en-GB" sz="1600" b="0" i="0" u="none" strike="noStrike" dirty="0">
                <a:solidFill>
                  <a:srgbClr val="000000"/>
                </a:solidFill>
                <a:effectLst/>
              </a:rPr>
              <a:t>Multi-head attention addresses this by running multiple attention operations in parallel.</a:t>
            </a:r>
          </a:p>
          <a:p>
            <a:pPr marL="285750" indent="-285750" algn="l">
              <a:buFont typeface="Wingdings" pitchFamily="2" charset="2"/>
              <a:buChar char="Ø"/>
            </a:pPr>
            <a:r>
              <a:rPr lang="en-GB" sz="1600" b="0" i="0" u="none" strike="noStrike" dirty="0">
                <a:solidFill>
                  <a:srgbClr val="000000"/>
                </a:solidFill>
                <a:effectLst/>
              </a:rPr>
              <a:t>This allows the model to simultaneously attend to different parts of the input sequence.</a:t>
            </a:r>
          </a:p>
          <a:p>
            <a:pPr algn="l">
              <a:buNone/>
            </a:pPr>
            <a:r>
              <a:rPr lang="en-GB" sz="1600" b="1" i="0" u="none" strike="noStrike" dirty="0">
                <a:solidFill>
                  <a:srgbClr val="000000"/>
                </a:solidFill>
                <a:effectLst/>
              </a:rPr>
              <a:t>Overview:</a:t>
            </a:r>
            <a:endParaRPr lang="en-GB" sz="1600" b="0" i="0" u="none" strike="noStrike" dirty="0">
              <a:solidFill>
                <a:srgbClr val="000000"/>
              </a:solidFill>
              <a:effectLst/>
            </a:endParaRPr>
          </a:p>
          <a:p>
            <a:pPr marL="285750" indent="-285750" algn="l">
              <a:buFont typeface="Wingdings" pitchFamily="2" charset="2"/>
              <a:buChar char="Ø"/>
            </a:pPr>
            <a:r>
              <a:rPr lang="en-GB" sz="1600" b="0" i="0" u="none" strike="noStrike" dirty="0">
                <a:solidFill>
                  <a:srgbClr val="000000"/>
                </a:solidFill>
                <a:effectLst/>
              </a:rPr>
              <a:t>Splits the query (Q), key (K), and value (V) vectors into multiple smaller vectors.</a:t>
            </a:r>
          </a:p>
          <a:p>
            <a:pPr marL="285750" indent="-285750" algn="l">
              <a:buFont typeface="Wingdings" pitchFamily="2" charset="2"/>
              <a:buChar char="Ø"/>
            </a:pPr>
            <a:r>
              <a:rPr lang="en-GB" sz="1600" b="0" i="0" u="none" strike="noStrike" dirty="0">
                <a:solidFill>
                  <a:srgbClr val="000000"/>
                </a:solidFill>
                <a:effectLst/>
              </a:rPr>
              <a:t>Performs self-attention independently on each of these smaller vectors (each "head").</a:t>
            </a:r>
          </a:p>
          <a:p>
            <a:pPr marL="285750" indent="-285750" algn="l">
              <a:buFont typeface="Wingdings" pitchFamily="2" charset="2"/>
              <a:buChar char="Ø"/>
            </a:pPr>
            <a:r>
              <a:rPr lang="en-GB" sz="1600" b="0" i="0" u="none" strike="noStrike" dirty="0">
                <a:solidFill>
                  <a:srgbClr val="000000"/>
                </a:solidFill>
                <a:effectLst/>
              </a:rPr>
              <a:t>Concatenates the results from all the attention heads.</a:t>
            </a:r>
          </a:p>
          <a:p>
            <a:pPr marL="285750" indent="-285750" algn="l">
              <a:buFont typeface="Wingdings" pitchFamily="2" charset="2"/>
              <a:buChar char="Ø"/>
            </a:pPr>
            <a:r>
              <a:rPr lang="en-GB" sz="1600" b="0" i="0" u="none" strike="noStrike" dirty="0">
                <a:solidFill>
                  <a:srgbClr val="000000"/>
                </a:solidFill>
                <a:effectLst/>
              </a:rPr>
              <a:t>Applies a linear transformation (multiplied by W</a:t>
            </a:r>
            <a:r>
              <a:rPr lang="en-GB" sz="1600" b="0" i="0" u="none" strike="noStrike" baseline="-25000" dirty="0">
                <a:solidFill>
                  <a:srgbClr val="000000"/>
                </a:solidFill>
                <a:effectLst/>
              </a:rPr>
              <a:t>O</a:t>
            </a:r>
            <a:r>
              <a:rPr lang="en-GB" sz="1600" b="0" i="0" u="none" strike="noStrike" dirty="0">
                <a:solidFill>
                  <a:srgbClr val="000000"/>
                </a:solidFill>
                <a:effectLst/>
              </a:rPr>
              <a:t>) to the concatenated output to produce the final multi-head attention output.</a:t>
            </a:r>
          </a:p>
          <a:p>
            <a:br>
              <a:rPr lang="en-GB" sz="1600" dirty="0">
                <a:latin typeface="+mj-lt"/>
              </a:rPr>
            </a:br>
            <a:endParaRPr lang="en-GB" sz="1600" b="1" dirty="0">
              <a:latin typeface="+mj-lt"/>
            </a:endParaRPr>
          </a:p>
        </p:txBody>
      </p:sp>
    </p:spTree>
    <p:extLst>
      <p:ext uri="{BB962C8B-B14F-4D97-AF65-F5344CB8AC3E}">
        <p14:creationId xmlns:p14="http://schemas.microsoft.com/office/powerpoint/2010/main" val="3262270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C60F688-C594-B199-ABB8-B4096D52A9A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CDCA9F7-EE96-C93B-72F8-30AB9320C53B}"/>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a:bodyPr>
          <a:lstStyle/>
          <a:p>
            <a:pPr>
              <a:spcAft>
                <a:spcPts val="300"/>
              </a:spcAft>
            </a:pPr>
            <a:r>
              <a:rPr lang="en-GB" sz="2400" i="0" dirty="0">
                <a:solidFill>
                  <a:srgbClr val="7030A0"/>
                </a:solidFill>
                <a:effectLst/>
                <a:latin typeface="Lato" panose="020F0502020204030203" pitchFamily="34" charset="0"/>
              </a:rPr>
              <a:t>Multi-head Attention </a:t>
            </a: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CC781ED3-0810-D561-D150-3BFD176FA738}"/>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B5098AF1-4316-B113-12A7-16AADB3469EF}"/>
              </a:ext>
            </a:extLst>
          </p:cNvPr>
          <p:cNvSpPr txBox="1"/>
          <p:nvPr/>
        </p:nvSpPr>
        <p:spPr>
          <a:xfrm>
            <a:off x="518160" y="802035"/>
            <a:ext cx="7510272" cy="4031873"/>
          </a:xfrm>
          <a:prstGeom prst="rect">
            <a:avLst/>
          </a:prstGeom>
          <a:noFill/>
        </p:spPr>
        <p:txBody>
          <a:bodyPr wrap="square">
            <a:spAutoFit/>
          </a:bodyPr>
          <a:lstStyle/>
          <a:p>
            <a:pPr algn="l">
              <a:buNone/>
            </a:pPr>
            <a:r>
              <a:rPr lang="en-GB" sz="1600" b="1" i="0" u="none" strike="noStrike" dirty="0">
                <a:solidFill>
                  <a:srgbClr val="000000"/>
                </a:solidFill>
                <a:effectLst/>
              </a:rPr>
              <a:t>Formula:</a:t>
            </a:r>
            <a:endParaRPr lang="en-GB" sz="1600" b="0" i="0" u="none" strike="noStrike" dirty="0">
              <a:solidFill>
                <a:srgbClr val="000000"/>
              </a:solidFill>
              <a:effectLst/>
            </a:endParaRPr>
          </a:p>
          <a:p>
            <a:pPr algn="ctr">
              <a:buNone/>
            </a:pPr>
            <a:r>
              <a:rPr lang="en-GB" sz="1600" b="0" i="1" u="none" strike="noStrike" dirty="0" err="1">
                <a:solidFill>
                  <a:srgbClr val="000000"/>
                </a:solidFill>
                <a:effectLst/>
              </a:rPr>
              <a:t>MultiHead</a:t>
            </a:r>
            <a:r>
              <a:rPr lang="en-GB" sz="1600" b="0" i="1" u="none" strike="noStrike" dirty="0">
                <a:solidFill>
                  <a:srgbClr val="000000"/>
                </a:solidFill>
                <a:effectLst/>
              </a:rPr>
              <a:t>(Q,K,V)=</a:t>
            </a:r>
            <a:r>
              <a:rPr lang="en-GB" sz="1600" b="0" i="1" u="none" strike="noStrike" dirty="0" err="1">
                <a:solidFill>
                  <a:srgbClr val="000000"/>
                </a:solidFill>
                <a:effectLst/>
              </a:rPr>
              <a:t>Concat</a:t>
            </a:r>
            <a:r>
              <a:rPr lang="en-GB" sz="1600" b="0" i="1" u="none" strike="noStrike" dirty="0">
                <a:solidFill>
                  <a:srgbClr val="000000"/>
                </a:solidFill>
                <a:effectLst/>
              </a:rPr>
              <a:t>(head</a:t>
            </a:r>
            <a:r>
              <a:rPr lang="en-GB" sz="1600" b="0" i="1" u="none" strike="noStrike" baseline="-25000" dirty="0">
                <a:solidFill>
                  <a:srgbClr val="000000"/>
                </a:solidFill>
                <a:effectLst/>
              </a:rPr>
              <a:t>1</a:t>
            </a:r>
            <a:r>
              <a:rPr lang="en-GB" sz="1600" b="0" i="1" u="none" strike="noStrike" dirty="0">
                <a:solidFill>
                  <a:srgbClr val="000000"/>
                </a:solidFill>
                <a:effectLst/>
              </a:rPr>
              <a:t>​,head</a:t>
            </a:r>
            <a:r>
              <a:rPr lang="en-GB" sz="1600" b="0" i="1" u="none" strike="noStrike" baseline="-25000" dirty="0">
                <a:solidFill>
                  <a:srgbClr val="000000"/>
                </a:solidFill>
                <a:effectLst/>
              </a:rPr>
              <a:t>2</a:t>
            </a:r>
            <a:r>
              <a:rPr lang="en-GB" sz="1600" b="0" i="1" u="none" strike="noStrike" dirty="0">
                <a:solidFill>
                  <a:srgbClr val="000000"/>
                </a:solidFill>
                <a:effectLst/>
              </a:rPr>
              <a:t>​,...,</a:t>
            </a:r>
            <a:r>
              <a:rPr lang="en-GB" sz="1600" b="0" i="1" u="none" strike="noStrike" dirty="0" err="1">
                <a:solidFill>
                  <a:srgbClr val="000000"/>
                </a:solidFill>
                <a:effectLst/>
              </a:rPr>
              <a:t>head</a:t>
            </a:r>
            <a:r>
              <a:rPr lang="en-GB" sz="1600" b="0" i="1" u="none" strike="noStrike" baseline="-25000" dirty="0" err="1">
                <a:solidFill>
                  <a:srgbClr val="000000"/>
                </a:solidFill>
                <a:effectLst/>
              </a:rPr>
              <a:t>h</a:t>
            </a:r>
            <a:r>
              <a:rPr lang="en-GB" sz="1600" b="0" i="1" u="none" strike="noStrike" dirty="0">
                <a:solidFill>
                  <a:srgbClr val="000000"/>
                </a:solidFill>
                <a:effectLst/>
              </a:rPr>
              <a:t>​)⋅W</a:t>
            </a:r>
            <a:r>
              <a:rPr lang="en-GB" sz="1600" b="0" i="1" u="none" strike="noStrike" baseline="30000" dirty="0">
                <a:solidFill>
                  <a:srgbClr val="000000"/>
                </a:solidFill>
                <a:effectLst/>
              </a:rPr>
              <a:t>O</a:t>
            </a:r>
          </a:p>
          <a:p>
            <a:pPr algn="l">
              <a:buNone/>
            </a:pPr>
            <a:r>
              <a:rPr lang="en-GB" sz="1600" b="1" i="0" u="none" strike="noStrike" dirty="0">
                <a:solidFill>
                  <a:srgbClr val="000000"/>
                </a:solidFill>
                <a:effectLst/>
              </a:rPr>
              <a:t>Individual Attention Head:</a:t>
            </a:r>
            <a:endParaRPr lang="en-GB" sz="1600" b="0" i="0" u="none" strike="noStrike" dirty="0">
              <a:solidFill>
                <a:srgbClr val="000000"/>
              </a:solidFill>
              <a:effectLst/>
            </a:endParaRPr>
          </a:p>
          <a:p>
            <a:pPr algn="ctr">
              <a:buNone/>
            </a:pPr>
            <a:r>
              <a:rPr lang="en-GB" sz="1600" b="0" i="1" u="none" strike="noStrike" dirty="0" err="1">
                <a:solidFill>
                  <a:srgbClr val="000000"/>
                </a:solidFill>
                <a:effectLst/>
              </a:rPr>
              <a:t>head</a:t>
            </a:r>
            <a:r>
              <a:rPr lang="en-GB" sz="1600" b="0" i="1" u="none" strike="noStrike" baseline="-25000" dirty="0" err="1">
                <a:solidFill>
                  <a:srgbClr val="000000"/>
                </a:solidFill>
                <a:effectLst/>
              </a:rPr>
              <a:t>i</a:t>
            </a:r>
            <a:r>
              <a:rPr lang="en-GB" sz="1600" b="0" i="1" u="none" strike="noStrike" dirty="0">
                <a:solidFill>
                  <a:srgbClr val="000000"/>
                </a:solidFill>
                <a:effectLst/>
              </a:rPr>
              <a:t>​=Attention(</a:t>
            </a:r>
            <a:r>
              <a:rPr lang="en-GB" sz="1600" b="0" i="1" u="none" strike="noStrike" dirty="0" err="1">
                <a:solidFill>
                  <a:srgbClr val="000000"/>
                </a:solidFill>
                <a:effectLst/>
              </a:rPr>
              <a:t>Q⋅W</a:t>
            </a:r>
            <a:r>
              <a:rPr lang="en-GB" sz="1600" b="0" i="1" u="none" strike="noStrike" baseline="-25000" dirty="0" err="1">
                <a:solidFill>
                  <a:srgbClr val="000000"/>
                </a:solidFill>
                <a:effectLst/>
              </a:rPr>
              <a:t>i</a:t>
            </a:r>
            <a:r>
              <a:rPr lang="en-GB" sz="1600" b="0" i="1" u="none" strike="noStrike" baseline="30000" dirty="0" err="1">
                <a:solidFill>
                  <a:srgbClr val="000000"/>
                </a:solidFill>
                <a:effectLst/>
              </a:rPr>
              <a:t>Q</a:t>
            </a:r>
            <a:r>
              <a:rPr lang="en-GB" sz="1600" b="0" i="1" u="none" strike="noStrike" dirty="0">
                <a:solidFill>
                  <a:srgbClr val="000000"/>
                </a:solidFill>
                <a:effectLst/>
              </a:rPr>
              <a:t>​,</a:t>
            </a:r>
            <a:r>
              <a:rPr lang="en-GB" sz="1600" b="0" i="1" u="none" strike="noStrike" dirty="0" err="1">
                <a:solidFill>
                  <a:srgbClr val="000000"/>
                </a:solidFill>
                <a:effectLst/>
              </a:rPr>
              <a:t>K⋅W</a:t>
            </a:r>
            <a:r>
              <a:rPr lang="en-GB" sz="1600" b="0" i="1" u="none" strike="noStrike" baseline="-25000" dirty="0" err="1">
                <a:solidFill>
                  <a:srgbClr val="000000"/>
                </a:solidFill>
                <a:effectLst/>
              </a:rPr>
              <a:t>i</a:t>
            </a:r>
            <a:r>
              <a:rPr lang="en-GB" sz="1600" b="0" i="1" u="none" strike="noStrike" baseline="30000" dirty="0" err="1">
                <a:solidFill>
                  <a:srgbClr val="000000"/>
                </a:solidFill>
                <a:effectLst/>
              </a:rPr>
              <a:t>K</a:t>
            </a:r>
            <a:r>
              <a:rPr lang="en-GB" sz="1600" b="0" i="1" u="none" strike="noStrike" dirty="0">
                <a:solidFill>
                  <a:srgbClr val="000000"/>
                </a:solidFill>
                <a:effectLst/>
              </a:rPr>
              <a:t>​,</a:t>
            </a:r>
            <a:r>
              <a:rPr lang="en-GB" sz="1600" b="0" i="1" u="none" strike="noStrike" dirty="0" err="1">
                <a:solidFill>
                  <a:srgbClr val="000000"/>
                </a:solidFill>
                <a:effectLst/>
              </a:rPr>
              <a:t>V⋅W</a:t>
            </a:r>
            <a:r>
              <a:rPr lang="en-GB" sz="1600" b="0" i="1" u="none" strike="noStrike" baseline="-25000" dirty="0" err="1">
                <a:solidFill>
                  <a:srgbClr val="000000"/>
                </a:solidFill>
                <a:effectLst/>
              </a:rPr>
              <a:t>i</a:t>
            </a:r>
            <a:r>
              <a:rPr lang="en-GB" sz="1600" b="0" i="1" u="none" strike="noStrike" baseline="30000" dirty="0" err="1">
                <a:solidFill>
                  <a:srgbClr val="000000"/>
                </a:solidFill>
                <a:effectLst/>
              </a:rPr>
              <a:t>V</a:t>
            </a:r>
            <a:r>
              <a:rPr lang="en-GB" sz="1600" b="0" i="1" u="none" strike="noStrike" dirty="0">
                <a:solidFill>
                  <a:srgbClr val="000000"/>
                </a:solidFill>
                <a:effectLst/>
              </a:rPr>
              <a:t>​)</a:t>
            </a:r>
          </a:p>
          <a:p>
            <a:pPr algn="l">
              <a:buNone/>
            </a:pPr>
            <a:r>
              <a:rPr lang="en-GB" sz="1600" b="1" i="0" u="none" strike="noStrike" dirty="0">
                <a:solidFill>
                  <a:srgbClr val="000000"/>
                </a:solidFill>
                <a:effectLst/>
              </a:rPr>
              <a:t>Parameters:</a:t>
            </a:r>
            <a:endParaRPr lang="en-GB" sz="1600" b="0" i="0" u="none" strike="noStrike" dirty="0">
              <a:solidFill>
                <a:srgbClr val="000000"/>
              </a:solidFill>
              <a:effectLst/>
            </a:endParaRPr>
          </a:p>
          <a:p>
            <a:pPr marL="285750" indent="-285750" algn="l">
              <a:buFont typeface="Wingdings" pitchFamily="2" charset="2"/>
              <a:buChar char="ü"/>
            </a:pPr>
            <a:r>
              <a:rPr lang="en-GB" sz="1600" b="0" i="1" u="none" strike="noStrike" dirty="0" err="1">
                <a:solidFill>
                  <a:srgbClr val="000000"/>
                </a:solidFill>
                <a:effectLst/>
              </a:rPr>
              <a:t>W</a:t>
            </a:r>
            <a:r>
              <a:rPr lang="en-GB" sz="1600" b="0" i="1" u="none" strike="noStrike" baseline="-25000" dirty="0" err="1">
                <a:solidFill>
                  <a:srgbClr val="000000"/>
                </a:solidFill>
                <a:effectLst/>
              </a:rPr>
              <a:t>i</a:t>
            </a:r>
            <a:r>
              <a:rPr lang="en-GB" sz="1600" b="0" i="1" u="none" strike="noStrike" baseline="30000" dirty="0" err="1">
                <a:solidFill>
                  <a:srgbClr val="000000"/>
                </a:solidFill>
                <a:effectLst/>
              </a:rPr>
              <a:t>Q</a:t>
            </a:r>
            <a:r>
              <a:rPr lang="en-GB" sz="1600" b="0" i="1" u="none" strike="noStrike" dirty="0">
                <a:solidFill>
                  <a:srgbClr val="000000"/>
                </a:solidFill>
                <a:effectLst/>
              </a:rPr>
              <a:t>​</a:t>
            </a:r>
            <a:r>
              <a:rPr lang="en-GB" sz="1600" b="0" i="0" u="none" strike="noStrike" dirty="0">
                <a:solidFill>
                  <a:srgbClr val="000000"/>
                </a:solidFill>
                <a:effectLst/>
              </a:rPr>
              <a:t>,</a:t>
            </a:r>
            <a:r>
              <a:rPr lang="en-GB" sz="1600" b="0" i="1" u="none" strike="noStrike" dirty="0">
                <a:solidFill>
                  <a:srgbClr val="000000"/>
                </a:solidFill>
                <a:effectLst/>
              </a:rPr>
              <a:t> </a:t>
            </a:r>
            <a:r>
              <a:rPr lang="en-GB" sz="1600" b="0" i="1" u="none" strike="noStrike" dirty="0" err="1">
                <a:solidFill>
                  <a:srgbClr val="000000"/>
                </a:solidFill>
                <a:effectLst/>
              </a:rPr>
              <a:t>W</a:t>
            </a:r>
            <a:r>
              <a:rPr lang="en-GB" sz="1600" b="0" i="1" u="none" strike="noStrike" baseline="-25000" dirty="0" err="1">
                <a:solidFill>
                  <a:srgbClr val="000000"/>
                </a:solidFill>
                <a:effectLst/>
              </a:rPr>
              <a:t>i</a:t>
            </a:r>
            <a:r>
              <a:rPr lang="en-GB" sz="1600" b="0" i="1" u="none" strike="noStrike" baseline="30000" dirty="0" err="1">
                <a:solidFill>
                  <a:srgbClr val="000000"/>
                </a:solidFill>
                <a:effectLst/>
              </a:rPr>
              <a:t>K</a:t>
            </a:r>
            <a:r>
              <a:rPr lang="en-GB" sz="1600" b="0" i="1" u="none" strike="noStrike" dirty="0">
                <a:solidFill>
                  <a:srgbClr val="000000"/>
                </a:solidFill>
                <a:effectLst/>
              </a:rPr>
              <a:t>​</a:t>
            </a:r>
            <a:r>
              <a:rPr lang="en-GB" sz="1600" b="0" i="0" u="none" strike="noStrike" dirty="0">
                <a:solidFill>
                  <a:srgbClr val="000000"/>
                </a:solidFill>
                <a:effectLst/>
              </a:rPr>
              <a:t>,</a:t>
            </a:r>
            <a:r>
              <a:rPr lang="en-GB" sz="1600" b="0" i="1" u="none" strike="noStrike" dirty="0">
                <a:solidFill>
                  <a:srgbClr val="000000"/>
                </a:solidFill>
                <a:effectLst/>
              </a:rPr>
              <a:t> </a:t>
            </a:r>
            <a:r>
              <a:rPr lang="en-GB" sz="1600" b="0" i="1" u="none" strike="noStrike" dirty="0" err="1">
                <a:solidFill>
                  <a:srgbClr val="000000"/>
                </a:solidFill>
                <a:effectLst/>
              </a:rPr>
              <a:t>W</a:t>
            </a:r>
            <a:r>
              <a:rPr lang="en-GB" sz="1600" b="0" i="1" u="none" strike="noStrike" baseline="-25000" dirty="0" err="1">
                <a:solidFill>
                  <a:srgbClr val="000000"/>
                </a:solidFill>
                <a:effectLst/>
              </a:rPr>
              <a:t>i</a:t>
            </a:r>
            <a:r>
              <a:rPr lang="en-GB" sz="1600" b="0" i="1" u="none" strike="noStrike" baseline="30000" dirty="0" err="1">
                <a:solidFill>
                  <a:srgbClr val="000000"/>
                </a:solidFill>
                <a:effectLst/>
              </a:rPr>
              <a:t>V</a:t>
            </a:r>
            <a:r>
              <a:rPr lang="en-GB" sz="1600" b="0" i="1" u="none" strike="noStrike" dirty="0">
                <a:solidFill>
                  <a:srgbClr val="000000"/>
                </a:solidFill>
                <a:effectLst/>
              </a:rPr>
              <a:t>​</a:t>
            </a:r>
            <a:r>
              <a:rPr lang="en-GB" sz="1600" b="0" i="0" u="none" strike="noStrike" dirty="0">
                <a:solidFill>
                  <a:srgbClr val="000000"/>
                </a:solidFill>
                <a:effectLst/>
              </a:rPr>
              <a:t>​: Learned weight matrices specific to the </a:t>
            </a:r>
            <a:r>
              <a:rPr lang="en-GB" sz="1600" b="0" i="0" u="none" strike="noStrike" dirty="0" err="1">
                <a:solidFill>
                  <a:srgbClr val="000000"/>
                </a:solidFill>
                <a:effectLst/>
              </a:rPr>
              <a:t>i-th</a:t>
            </a:r>
            <a:r>
              <a:rPr lang="en-GB" sz="1600" b="0" i="0" u="none" strike="noStrike" dirty="0">
                <a:solidFill>
                  <a:srgbClr val="000000"/>
                </a:solidFill>
                <a:effectLst/>
              </a:rPr>
              <a:t> attention head, used to transform the original Q, K, and V.</a:t>
            </a:r>
          </a:p>
          <a:p>
            <a:pPr marL="285750" indent="-285750" algn="l">
              <a:buFont typeface="Wingdings" pitchFamily="2" charset="2"/>
              <a:buChar char="ü"/>
            </a:pPr>
            <a:r>
              <a:rPr lang="en-GB" sz="1600" b="0" i="0" u="none" strike="noStrike" dirty="0">
                <a:solidFill>
                  <a:srgbClr val="000000"/>
                </a:solidFill>
                <a:effectLst/>
              </a:rPr>
              <a:t>W</a:t>
            </a:r>
            <a:r>
              <a:rPr lang="en-GB" sz="1600" b="0" i="0" u="none" strike="noStrike" baseline="30000" dirty="0">
                <a:solidFill>
                  <a:srgbClr val="000000"/>
                </a:solidFill>
                <a:effectLst/>
              </a:rPr>
              <a:t>O</a:t>
            </a:r>
            <a:r>
              <a:rPr lang="en-GB" sz="1600" b="0" i="0" u="none" strike="noStrike" dirty="0">
                <a:solidFill>
                  <a:srgbClr val="000000"/>
                </a:solidFill>
                <a:effectLst/>
              </a:rPr>
              <a:t>: Learned output weight matrix used to transform the concatenated outputs of all heads.</a:t>
            </a:r>
          </a:p>
          <a:p>
            <a:pPr algn="l">
              <a:buNone/>
            </a:pPr>
            <a:r>
              <a:rPr lang="en-GB" sz="1600" b="1" i="0" u="none" strike="noStrike" dirty="0">
                <a:solidFill>
                  <a:srgbClr val="000000"/>
                </a:solidFill>
                <a:effectLst/>
              </a:rPr>
              <a:t>Key Idea:</a:t>
            </a:r>
            <a:endParaRPr lang="en-GB" sz="1600" b="0" i="0" u="none" strike="noStrike" dirty="0">
              <a:solidFill>
                <a:srgbClr val="000000"/>
              </a:solidFill>
              <a:effectLst/>
            </a:endParaRPr>
          </a:p>
          <a:p>
            <a:pPr marL="285750" indent="-285750" algn="l">
              <a:buFont typeface="Wingdings" pitchFamily="2" charset="2"/>
              <a:buChar char="Ø"/>
            </a:pPr>
            <a:r>
              <a:rPr lang="en-GB" sz="1600" b="0" i="0" u="none" strike="noStrike" dirty="0">
                <a:solidFill>
                  <a:srgbClr val="000000"/>
                </a:solidFill>
                <a:effectLst/>
              </a:rPr>
              <a:t>Each attention head can learn to focus on different relationships or aspects within the input sequence.</a:t>
            </a:r>
          </a:p>
          <a:p>
            <a:pPr marL="285750" indent="-285750" algn="l">
              <a:buFont typeface="Wingdings" pitchFamily="2" charset="2"/>
              <a:buChar char="Ø"/>
            </a:pPr>
            <a:r>
              <a:rPr lang="en-GB" sz="1600" b="0" i="0" u="none" strike="noStrike" dirty="0">
                <a:solidFill>
                  <a:srgbClr val="000000"/>
                </a:solidFill>
                <a:effectLst/>
              </a:rPr>
              <a:t>This enables the model to capture a richer and more nuanced understanding of the dependencies between words or tokens.</a:t>
            </a:r>
          </a:p>
          <a:p>
            <a:br>
              <a:rPr lang="en-GB" sz="1600" dirty="0">
                <a:latin typeface="+mj-lt"/>
              </a:rPr>
            </a:br>
            <a:endParaRPr lang="en-GB" sz="1600" b="1" dirty="0">
              <a:latin typeface="+mj-lt"/>
            </a:endParaRPr>
          </a:p>
        </p:txBody>
      </p:sp>
    </p:spTree>
    <p:extLst>
      <p:ext uri="{BB962C8B-B14F-4D97-AF65-F5344CB8AC3E}">
        <p14:creationId xmlns:p14="http://schemas.microsoft.com/office/powerpoint/2010/main" val="3075872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876448EF-3786-83D9-3118-65E3B057A4B8}"/>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77FEEBA-960E-81E9-6F23-D82E5CC87BC1}"/>
              </a:ext>
            </a:extLst>
          </p:cNvPr>
          <p:cNvSpPr txBox="1">
            <a:spLocks noGrp="1"/>
          </p:cNvSpPr>
          <p:nvPr>
            <p:ph type="title"/>
          </p:nvPr>
        </p:nvSpPr>
        <p:spPr>
          <a:xfrm>
            <a:off x="126759" y="86064"/>
            <a:ext cx="8329650" cy="627900"/>
          </a:xfrm>
          <a:prstGeom prst="rect">
            <a:avLst/>
          </a:prstGeom>
          <a:noFill/>
          <a:ln>
            <a:noFill/>
          </a:ln>
        </p:spPr>
        <p:txBody>
          <a:bodyPr spcFirstLastPara="1" wrap="square" lIns="91425" tIns="91425" rIns="91425" bIns="91425" anchor="t" anchorCtr="0">
            <a:noAutofit/>
          </a:bodyPr>
          <a:lstStyle/>
          <a:p>
            <a:r>
              <a:rPr lang="en-GB" sz="2000" i="0" u="none" strike="noStrike" dirty="0">
                <a:solidFill>
                  <a:srgbClr val="7030A0"/>
                </a:solidFill>
                <a:effectLst/>
              </a:rPr>
              <a:t>Why Use Multiple Attention Heads?</a:t>
            </a:r>
            <a:br>
              <a:rPr lang="en-GB" sz="2000" i="0" u="none" strike="noStrike" dirty="0">
                <a:solidFill>
                  <a:srgbClr val="7030A0"/>
                </a:solidFill>
                <a:effectLst/>
              </a:rPr>
            </a:br>
            <a:br>
              <a:rPr lang="en-GB" sz="2400" b="1" i="0" u="none" strike="noStrike" dirty="0">
                <a:solidFill>
                  <a:srgbClr val="7030A0"/>
                </a:solidFill>
                <a:effectLst/>
                <a:latin typeface="+mj-lt"/>
              </a:rPr>
            </a:br>
            <a:br>
              <a:rPr lang="en-GB" sz="2400" b="1" i="0" u="none" strike="noStrike" dirty="0">
                <a:solidFill>
                  <a:srgbClr val="7030A0"/>
                </a:solidFill>
                <a:effectLst/>
                <a:latin typeface="+mj-lt"/>
              </a:rPr>
            </a:br>
            <a:br>
              <a:rPr lang="en-GB" sz="2400" b="1" i="0" u="none" strike="noStrike" dirty="0">
                <a:solidFill>
                  <a:srgbClr val="7030A0"/>
                </a:solidFill>
                <a:effectLst/>
                <a:latin typeface="+mj-lt"/>
              </a:rPr>
            </a:br>
            <a:br>
              <a:rPr lang="en-GB" sz="2400" b="1" i="0" u="none" strike="noStrike" dirty="0">
                <a:solidFill>
                  <a:srgbClr val="7030A0"/>
                </a:solidFill>
                <a:effectLst/>
                <a:latin typeface="+mj-lt"/>
              </a:rPr>
            </a:br>
            <a:endParaRPr lang="en-GB" sz="24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C864701C-1291-6820-BC78-E5FB9903F758}"/>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EC540911-A359-6E62-D0C0-DD4B0B739F83}"/>
              </a:ext>
            </a:extLst>
          </p:cNvPr>
          <p:cNvSpPr txBox="1"/>
          <p:nvPr/>
        </p:nvSpPr>
        <p:spPr>
          <a:xfrm>
            <a:off x="182881" y="713964"/>
            <a:ext cx="8113775" cy="830997"/>
          </a:xfrm>
          <a:prstGeom prst="rect">
            <a:avLst/>
          </a:prstGeom>
          <a:noFill/>
        </p:spPr>
        <p:txBody>
          <a:bodyPr wrap="square">
            <a:spAutoFit/>
          </a:bodyPr>
          <a:lstStyle/>
          <a:p>
            <a:pPr algn="l">
              <a:buNone/>
            </a:pPr>
            <a:br>
              <a:rPr lang="en-GB" sz="1600" dirty="0">
                <a:latin typeface="+mj-lt"/>
              </a:rPr>
            </a:br>
            <a:br>
              <a:rPr lang="en-GB" sz="1600" dirty="0">
                <a:latin typeface="+mj-lt"/>
              </a:rPr>
            </a:br>
            <a:endParaRPr lang="en-GB" sz="1600" i="0" u="none" strike="noStrike" dirty="0">
              <a:solidFill>
                <a:srgbClr val="000000"/>
              </a:solidFill>
              <a:effectLst/>
              <a:latin typeface="+mj-lt"/>
            </a:endParaRPr>
          </a:p>
        </p:txBody>
      </p:sp>
      <p:sp>
        <p:nvSpPr>
          <p:cNvPr id="7" name="TextBox 6">
            <a:extLst>
              <a:ext uri="{FF2B5EF4-FFF2-40B4-BE49-F238E27FC236}">
                <a16:creationId xmlns:a16="http://schemas.microsoft.com/office/drawing/2014/main" id="{AEBF7C45-D6CB-8C89-47A7-F7FAF6DF2E63}"/>
              </a:ext>
            </a:extLst>
          </p:cNvPr>
          <p:cNvSpPr txBox="1"/>
          <p:nvPr/>
        </p:nvSpPr>
        <p:spPr>
          <a:xfrm>
            <a:off x="306591" y="925145"/>
            <a:ext cx="7203681" cy="3293209"/>
          </a:xfrm>
          <a:prstGeom prst="rect">
            <a:avLst/>
          </a:prstGeom>
          <a:noFill/>
        </p:spPr>
        <p:txBody>
          <a:bodyPr wrap="square">
            <a:spAutoFit/>
          </a:bodyPr>
          <a:lstStyle/>
          <a:p>
            <a:pPr marL="342900" indent="-342900" algn="l">
              <a:buFont typeface="+mj-lt"/>
              <a:buAutoNum type="arabicPeriod"/>
            </a:pPr>
            <a:r>
              <a:rPr lang="en-GB" sz="1600" b="1" i="0" u="none" strike="noStrike" dirty="0">
                <a:solidFill>
                  <a:srgbClr val="000000"/>
                </a:solidFill>
                <a:effectLst/>
              </a:rPr>
              <a:t>Captures different relationships:</a:t>
            </a:r>
            <a:r>
              <a:rPr lang="en-GB" sz="1600" b="0" i="0" u="none" strike="noStrike" dirty="0">
                <a:solidFill>
                  <a:srgbClr val="000000"/>
                </a:solidFill>
                <a:effectLst/>
              </a:rPr>
              <a:t> Each attention head can learn to focus on distinct types of relationships or aspects within the input data. This allows the model to understand the input from multiple perspectives simultaneously.   </a:t>
            </a:r>
          </a:p>
          <a:p>
            <a:pPr marL="342900" indent="-342900" algn="l">
              <a:buFont typeface="+mj-lt"/>
              <a:buAutoNum type="arabicPeriod"/>
            </a:pPr>
            <a:r>
              <a:rPr lang="en-GB" sz="1600" b="1" i="0" u="none" strike="noStrike" dirty="0">
                <a:solidFill>
                  <a:srgbClr val="000000"/>
                </a:solidFill>
                <a:effectLst/>
              </a:rPr>
              <a:t>Improves learning efficiency:</a:t>
            </a:r>
            <a:r>
              <a:rPr lang="en-GB" sz="1600" b="0" i="0" u="none" strike="noStrike" dirty="0">
                <a:solidFill>
                  <a:srgbClr val="000000"/>
                </a:solidFill>
                <a:effectLst/>
              </a:rPr>
              <a:t> By processing different attention computations in parallel across multiple heads, the model can learn complex dependencies more efficiently compared to relying on a single attention mechanism.   </a:t>
            </a:r>
          </a:p>
          <a:p>
            <a:pPr marL="342900" indent="-342900" algn="l">
              <a:buFont typeface="+mj-lt"/>
              <a:buAutoNum type="arabicPeriod"/>
            </a:pPr>
            <a:r>
              <a:rPr lang="en-GB" sz="1600" b="1" i="0" u="none" strike="noStrike" dirty="0">
                <a:solidFill>
                  <a:srgbClr val="000000"/>
                </a:solidFill>
                <a:effectLst/>
              </a:rPr>
              <a:t>Enhances robustness:</a:t>
            </a:r>
            <a:r>
              <a:rPr lang="en-GB" sz="1600" b="0" i="0" u="none" strike="noStrike" dirty="0">
                <a:solidFill>
                  <a:srgbClr val="000000"/>
                </a:solidFill>
                <a:effectLst/>
              </a:rPr>
              <a:t> The model's performance becomes more robust as it doesn't depend on a single learned attention pattern. This reduces the risk of overfitting to specific patterns in the training data and improves generalization to unseen data.   </a:t>
            </a:r>
          </a:p>
          <a:p>
            <a:pPr marL="342900" indent="-342900" algn="l">
              <a:buFont typeface="+mj-lt"/>
              <a:buAutoNum type="arabicPeriod"/>
            </a:pPr>
            <a:endParaRPr lang="en-GB" sz="1600" b="0" i="0" u="none" strike="noStrike" dirty="0">
              <a:solidFill>
                <a:srgbClr val="000000"/>
              </a:solidFill>
              <a:effectLst/>
            </a:endParaRPr>
          </a:p>
        </p:txBody>
      </p:sp>
    </p:spTree>
    <p:extLst>
      <p:ext uri="{BB962C8B-B14F-4D97-AF65-F5344CB8AC3E}">
        <p14:creationId xmlns:p14="http://schemas.microsoft.com/office/powerpoint/2010/main" val="3217804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74CC63C-31E8-C399-9967-0E46E8D47ADE}"/>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651F97B8-9075-742F-454D-58A7C3F40EFA}"/>
              </a:ext>
            </a:extLst>
          </p:cNvPr>
          <p:cNvSpPr txBox="1">
            <a:spLocks noGrp="1"/>
          </p:cNvSpPr>
          <p:nvPr>
            <p:ph type="title"/>
          </p:nvPr>
        </p:nvSpPr>
        <p:spPr>
          <a:xfrm>
            <a:off x="79248" y="86064"/>
            <a:ext cx="6987540"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rPr>
              <a:t>Multi-Head Attention in Transformers:</a:t>
            </a:r>
          </a:p>
          <a:p>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8EC9DA3-F5EF-C4D8-E7D3-74AF032B4AE7}"/>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BD33E262-31FC-5F1E-6A4B-EB28DE5C7B6D}"/>
              </a:ext>
            </a:extLst>
          </p:cNvPr>
          <p:cNvSpPr txBox="1"/>
          <p:nvPr/>
        </p:nvSpPr>
        <p:spPr>
          <a:xfrm>
            <a:off x="464820" y="644646"/>
            <a:ext cx="7179564" cy="3539430"/>
          </a:xfrm>
          <a:prstGeom prst="rect">
            <a:avLst/>
          </a:prstGeom>
          <a:noFill/>
        </p:spPr>
        <p:txBody>
          <a:bodyPr wrap="square">
            <a:spAutoFit/>
          </a:bodyPr>
          <a:lstStyle/>
          <a:p>
            <a:pPr marL="342900" indent="-342900" algn="l">
              <a:buFont typeface="+mj-lt"/>
              <a:buAutoNum type="arabicPeriod"/>
            </a:pPr>
            <a:endParaRPr lang="en-GB" sz="1600" b="0" i="0" u="none" strike="noStrike" dirty="0">
              <a:solidFill>
                <a:srgbClr val="000000"/>
              </a:solidFill>
              <a:effectLst/>
            </a:endParaRPr>
          </a:p>
          <a:p>
            <a:pPr marL="342900" indent="-342900" algn="l">
              <a:buFont typeface="+mj-lt"/>
              <a:buAutoNum type="arabicPeriod"/>
            </a:pPr>
            <a:r>
              <a:rPr lang="en-GB" sz="1600" b="1" i="0" u="none" strike="noStrike" dirty="0">
                <a:solidFill>
                  <a:srgbClr val="000000"/>
                </a:solidFill>
                <a:effectLst/>
              </a:rPr>
              <a:t>Encoder Self-Attention:</a:t>
            </a:r>
            <a:r>
              <a:rPr lang="en-GB" sz="1600" b="0" i="0" u="none" strike="noStrike" dirty="0">
                <a:solidFill>
                  <a:srgbClr val="000000"/>
                </a:solidFill>
                <a:effectLst/>
              </a:rPr>
              <a:t> Enables the encoder to understand the contextual relationships between different words within the input sequence itself. For example, it helps determine how the meaning of a word changes based on the words around it.   </a:t>
            </a:r>
          </a:p>
          <a:p>
            <a:pPr marL="342900" indent="-342900" algn="l">
              <a:buFont typeface="+mj-lt"/>
              <a:buAutoNum type="arabicPeriod"/>
            </a:pPr>
            <a:r>
              <a:rPr lang="en-GB" sz="1600" b="1" i="0" u="none" strike="noStrike" dirty="0">
                <a:solidFill>
                  <a:srgbClr val="000000"/>
                </a:solidFill>
                <a:effectLst/>
              </a:rPr>
              <a:t>Decoder Self-Attention:</a:t>
            </a:r>
            <a:r>
              <a:rPr lang="en-GB" sz="1600" b="0" i="0" u="none" strike="noStrike" dirty="0">
                <a:solidFill>
                  <a:srgbClr val="000000"/>
                </a:solidFill>
                <a:effectLst/>
              </a:rPr>
              <a:t> Allows the decoder to focus on the relevant parts of the sequence that has already been generated. This is crucial for maintaining coherence and consistency in the output.</a:t>
            </a:r>
          </a:p>
          <a:p>
            <a:pPr marL="342900" indent="-342900" algn="l">
              <a:buFont typeface="+mj-lt"/>
              <a:buAutoNum type="arabicPeriod"/>
            </a:pPr>
            <a:r>
              <a:rPr lang="en-GB" sz="1600" b="1" i="0" u="none" strike="noStrike" dirty="0">
                <a:solidFill>
                  <a:srgbClr val="000000"/>
                </a:solidFill>
                <a:effectLst/>
              </a:rPr>
              <a:t>Encoder-Decoder Attention:</a:t>
            </a:r>
            <a:r>
              <a:rPr lang="en-GB" sz="1600" b="0" i="0" u="none" strike="noStrike" dirty="0">
                <a:solidFill>
                  <a:srgbClr val="000000"/>
                </a:solidFill>
                <a:effectLst/>
              </a:rPr>
              <a:t> Facilitates the decoder's ability to attend to the most relevant parts of the encoded input sequence when generating the output. This is the core mechanism that allows the decoder to "pay attention" to the source when translating or summarizing.</a:t>
            </a:r>
          </a:p>
          <a:p>
            <a:pPr algn="l"/>
            <a:br>
              <a:rPr lang="en-GB" sz="1600" dirty="0">
                <a:latin typeface="+mj-lt"/>
              </a:rPr>
            </a:br>
            <a:endParaRPr lang="en-US" sz="1600" dirty="0">
              <a:latin typeface="+mj-lt"/>
            </a:endParaRPr>
          </a:p>
        </p:txBody>
      </p:sp>
    </p:spTree>
    <p:extLst>
      <p:ext uri="{BB962C8B-B14F-4D97-AF65-F5344CB8AC3E}">
        <p14:creationId xmlns:p14="http://schemas.microsoft.com/office/powerpoint/2010/main" val="2793189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CE214A4C-24CD-35AA-B93F-3C84561E3DF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C480D74-7AF5-06FC-D5FA-44E65D8A33BD}"/>
              </a:ext>
            </a:extLst>
          </p:cNvPr>
          <p:cNvSpPr txBox="1">
            <a:spLocks noGrp="1"/>
          </p:cNvSpPr>
          <p:nvPr>
            <p:ph type="title"/>
          </p:nvPr>
        </p:nvSpPr>
        <p:spPr>
          <a:xfrm>
            <a:off x="79248" y="86064"/>
            <a:ext cx="7705344"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rPr>
              <a:t>Applications of Self-Attention and Multi-Head Attention:</a:t>
            </a:r>
            <a:br>
              <a:rPr lang="en-GB" sz="2400" dirty="0">
                <a:solidFill>
                  <a:srgbClr val="7030A0"/>
                </a:solidFill>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87194AAE-DAF3-8EE5-F84D-9E0F5F56A8D4}"/>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1707214F-370D-AF62-BF8C-16BB79E5FC5D}"/>
              </a:ext>
            </a:extLst>
          </p:cNvPr>
          <p:cNvSpPr txBox="1"/>
          <p:nvPr/>
        </p:nvSpPr>
        <p:spPr>
          <a:xfrm>
            <a:off x="414528" y="1004310"/>
            <a:ext cx="7370064" cy="3785652"/>
          </a:xfrm>
          <a:prstGeom prst="rect">
            <a:avLst/>
          </a:prstGeom>
          <a:noFill/>
        </p:spPr>
        <p:txBody>
          <a:bodyPr wrap="square">
            <a:spAutoFit/>
          </a:bodyPr>
          <a:lstStyle/>
          <a:p>
            <a:pPr marL="457200" indent="-457200" algn="l">
              <a:buFont typeface="+mj-lt"/>
              <a:buAutoNum type="arabicPeriod"/>
            </a:pPr>
            <a:r>
              <a:rPr lang="en-GB" sz="1600" b="1" i="0" u="none" strike="noStrike" dirty="0">
                <a:solidFill>
                  <a:srgbClr val="000000"/>
                </a:solidFill>
                <a:effectLst/>
              </a:rPr>
              <a:t>Machine Translation:</a:t>
            </a:r>
            <a:r>
              <a:rPr lang="en-GB" sz="1600" b="0" i="0" u="none" strike="noStrike" dirty="0">
                <a:solidFill>
                  <a:srgbClr val="000000"/>
                </a:solidFill>
                <a:effectLst/>
              </a:rPr>
              <a:t> Enable models to selectively focus on different parts of the source sentence when generating the target translation, leading to more accurate and contextually relevant outputs.</a:t>
            </a:r>
          </a:p>
          <a:p>
            <a:pPr marL="457200" indent="-457200" algn="l">
              <a:buFont typeface="+mj-lt"/>
              <a:buAutoNum type="arabicPeriod"/>
            </a:pPr>
            <a:r>
              <a:rPr lang="en-GB" sz="1600" b="1" i="0" u="none" strike="noStrike" dirty="0">
                <a:solidFill>
                  <a:srgbClr val="000000"/>
                </a:solidFill>
                <a:effectLst/>
              </a:rPr>
              <a:t>Text Summarization:</a:t>
            </a:r>
            <a:r>
              <a:rPr lang="en-GB" sz="1600" b="0" i="0" u="none" strike="noStrike" dirty="0">
                <a:solidFill>
                  <a:srgbClr val="000000"/>
                </a:solidFill>
                <a:effectLst/>
              </a:rPr>
              <a:t> Self-attention helps the model identify and weigh the importance of different sentences or phrases within a document to create concise and informative summaries.</a:t>
            </a:r>
          </a:p>
          <a:p>
            <a:pPr marL="457200" indent="-457200" algn="l">
              <a:buFont typeface="+mj-lt"/>
              <a:buAutoNum type="arabicPeriod"/>
            </a:pPr>
            <a:r>
              <a:rPr lang="en-GB" sz="1600" b="1" i="0" u="none" strike="noStrike" dirty="0">
                <a:solidFill>
                  <a:srgbClr val="000000"/>
                </a:solidFill>
                <a:effectLst/>
              </a:rPr>
              <a:t>Question Answering:</a:t>
            </a:r>
            <a:r>
              <a:rPr lang="en-GB" sz="1600" b="0" i="0" u="none" strike="noStrike" dirty="0">
                <a:solidFill>
                  <a:srgbClr val="000000"/>
                </a:solidFill>
                <a:effectLst/>
              </a:rPr>
              <a:t> Allow the model to "attend" to the specific segments of the provided context that are most relevant to answering the given question, improving accuracy in information retrieval.</a:t>
            </a:r>
          </a:p>
          <a:p>
            <a:pPr marL="457200" indent="-457200" algn="l">
              <a:buFont typeface="+mj-lt"/>
              <a:buAutoNum type="arabicPeriod"/>
            </a:pPr>
            <a:r>
              <a:rPr lang="en-GB" sz="1600" b="1" i="0" u="none" strike="noStrike" dirty="0">
                <a:solidFill>
                  <a:srgbClr val="000000"/>
                </a:solidFill>
                <a:effectLst/>
              </a:rPr>
              <a:t>Vision Transformers (</a:t>
            </a:r>
            <a:r>
              <a:rPr lang="en-GB" sz="1600" b="1" i="0" u="none" strike="noStrike" dirty="0" err="1">
                <a:solidFill>
                  <a:srgbClr val="000000"/>
                </a:solidFill>
                <a:effectLst/>
              </a:rPr>
              <a:t>ViT</a:t>
            </a:r>
            <a:r>
              <a:rPr lang="en-GB" sz="1600" b="1" i="0" u="none" strike="noStrike" dirty="0">
                <a:solidFill>
                  <a:srgbClr val="000000"/>
                </a:solidFill>
                <a:effectLst/>
              </a:rPr>
              <a:t>):</a:t>
            </a:r>
            <a:r>
              <a:rPr lang="en-GB" sz="1600" b="0" i="0" u="none" strike="noStrike" dirty="0">
                <a:solidFill>
                  <a:srgbClr val="000000"/>
                </a:solidFill>
                <a:effectLst/>
              </a:rPr>
              <a:t> Multi-head attention is a core component, enabling the model to learn relationships and dependencies between different patches or segments of an image, similar to how it handles words in a sentence.</a:t>
            </a:r>
          </a:p>
          <a:p>
            <a:pPr algn="l"/>
            <a:br>
              <a:rPr lang="en-GB" sz="1600" dirty="0">
                <a:latin typeface="+mj-lt"/>
              </a:rPr>
            </a:br>
            <a:endParaRPr lang="en-US" sz="1600" dirty="0">
              <a:latin typeface="+mj-lt"/>
            </a:endParaRPr>
          </a:p>
        </p:txBody>
      </p:sp>
    </p:spTree>
    <p:extLst>
      <p:ext uri="{BB962C8B-B14F-4D97-AF65-F5344CB8AC3E}">
        <p14:creationId xmlns:p14="http://schemas.microsoft.com/office/powerpoint/2010/main" val="12207047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C70DBE88-D4BC-816D-6585-56C89639C6FC}"/>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E9964592-9512-66DD-152E-61CD77A05643}"/>
              </a:ext>
            </a:extLst>
          </p:cNvPr>
          <p:cNvSpPr txBox="1">
            <a:spLocks noGrp="1"/>
          </p:cNvSpPr>
          <p:nvPr>
            <p:ph type="title"/>
          </p:nvPr>
        </p:nvSpPr>
        <p:spPr>
          <a:xfrm>
            <a:off x="-176784" y="0"/>
            <a:ext cx="8705088"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rPr>
              <a:t>Self-Attention and Multi-Head Attention Implementation</a:t>
            </a:r>
            <a:br>
              <a:rPr lang="en-GB" sz="2400" dirty="0">
                <a:solidFill>
                  <a:srgbClr val="7030A0"/>
                </a:solidFill>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D0834469-7E80-0D03-8153-BE18B8504BA5}"/>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90B4CF16-95BE-DBFE-CE8C-8F710AB4DC1C}"/>
              </a:ext>
            </a:extLst>
          </p:cNvPr>
          <p:cNvSpPr txBox="1"/>
          <p:nvPr/>
        </p:nvSpPr>
        <p:spPr>
          <a:xfrm>
            <a:off x="336804" y="467862"/>
            <a:ext cx="7179564" cy="584775"/>
          </a:xfrm>
          <a:prstGeom prst="rect">
            <a:avLst/>
          </a:prstGeom>
          <a:noFill/>
        </p:spPr>
        <p:txBody>
          <a:bodyPr wrap="square">
            <a:spAutoFit/>
          </a:bodyPr>
          <a:lstStyle/>
          <a:p>
            <a:pPr algn="l">
              <a:buNone/>
            </a:pPr>
            <a:br>
              <a:rPr lang="en-GB" sz="1600" dirty="0">
                <a:latin typeface="+mj-lt"/>
              </a:rPr>
            </a:br>
            <a:endParaRPr lang="en-US" sz="1600" dirty="0">
              <a:latin typeface="+mj-lt"/>
            </a:endParaRPr>
          </a:p>
        </p:txBody>
      </p:sp>
      <p:sp>
        <p:nvSpPr>
          <p:cNvPr id="3" name="TextBox 2">
            <a:extLst>
              <a:ext uri="{FF2B5EF4-FFF2-40B4-BE49-F238E27FC236}">
                <a16:creationId xmlns:a16="http://schemas.microsoft.com/office/drawing/2014/main" id="{0910A311-2E28-14F8-E27E-0C3668428F16}"/>
              </a:ext>
            </a:extLst>
          </p:cNvPr>
          <p:cNvSpPr txBox="1"/>
          <p:nvPr/>
        </p:nvSpPr>
        <p:spPr>
          <a:xfrm>
            <a:off x="73152" y="1938372"/>
            <a:ext cx="3224784" cy="1615827"/>
          </a:xfrm>
          <a:prstGeom prst="rect">
            <a:avLst/>
          </a:prstGeom>
          <a:solidFill>
            <a:schemeClr val="accent1">
              <a:lumMod val="40000"/>
              <a:lumOff val="60000"/>
            </a:schemeClr>
          </a:solidFill>
        </p:spPr>
        <p:txBody>
          <a:bodyPr wrap="square">
            <a:spAutoFit/>
          </a:bodyPr>
          <a:lstStyle/>
          <a:p>
            <a:r>
              <a:rPr lang="en-US" sz="1100" dirty="0"/>
              <a:t>Input shape: </a:t>
            </a:r>
            <a:r>
              <a:rPr lang="en-US" sz="1100" dirty="0" err="1"/>
              <a:t>torch.Size</a:t>
            </a:r>
            <a:r>
              <a:rPr lang="en-US" sz="1100" dirty="0"/>
              <a:t>([2, 3, 4])</a:t>
            </a:r>
          </a:p>
          <a:p>
            <a:r>
              <a:rPr lang="en-US" sz="1100" dirty="0"/>
              <a:t>Sample input:</a:t>
            </a:r>
          </a:p>
          <a:p>
            <a:r>
              <a:rPr lang="en-US" sz="1100" dirty="0"/>
              <a:t> tensor([[[ 0.1234, -0.5678,  0.9012, -0.3456],</a:t>
            </a:r>
          </a:p>
          <a:p>
            <a:r>
              <a:rPr lang="en-US" sz="1100" dirty="0"/>
              <a:t>         [ 1.2345, -0.6789,  0.1234, -0.9876],</a:t>
            </a:r>
          </a:p>
          <a:p>
            <a:r>
              <a:rPr lang="en-US" sz="1100" dirty="0"/>
              <a:t>         [-0.5432,  1.2345, -0.6789,  0.3456]],</a:t>
            </a:r>
          </a:p>
          <a:p>
            <a:endParaRPr lang="en-US" sz="1100" dirty="0"/>
          </a:p>
          <a:p>
            <a:r>
              <a:rPr lang="en-US" sz="1100" dirty="0"/>
              <a:t>        [[-1.2345,  0.6789, -0.1234,  0.9876],</a:t>
            </a:r>
          </a:p>
          <a:p>
            <a:r>
              <a:rPr lang="en-US" sz="1100" dirty="0"/>
              <a:t>         [ 0.5432, -1.2345,  0.6789, -0.3456],</a:t>
            </a:r>
          </a:p>
          <a:p>
            <a:r>
              <a:rPr lang="en-US" sz="1100" dirty="0"/>
              <a:t>         [ 0.1234, -0.5678,  0.9012, -0.3456]]])</a:t>
            </a:r>
          </a:p>
        </p:txBody>
      </p:sp>
      <p:sp>
        <p:nvSpPr>
          <p:cNvPr id="6" name="TextBox 5">
            <a:extLst>
              <a:ext uri="{FF2B5EF4-FFF2-40B4-BE49-F238E27FC236}">
                <a16:creationId xmlns:a16="http://schemas.microsoft.com/office/drawing/2014/main" id="{7E556894-A601-2953-5FF2-E0EFDA00022D}"/>
              </a:ext>
            </a:extLst>
          </p:cNvPr>
          <p:cNvSpPr txBox="1"/>
          <p:nvPr/>
        </p:nvSpPr>
        <p:spPr>
          <a:xfrm>
            <a:off x="4364718" y="1036859"/>
            <a:ext cx="4736096" cy="1954381"/>
          </a:xfrm>
          <a:prstGeom prst="rect">
            <a:avLst/>
          </a:prstGeom>
          <a:solidFill>
            <a:schemeClr val="accent1">
              <a:lumMod val="40000"/>
              <a:lumOff val="60000"/>
            </a:schemeClr>
          </a:solidFill>
        </p:spPr>
        <p:txBody>
          <a:bodyPr wrap="square">
            <a:spAutoFit/>
          </a:bodyPr>
          <a:lstStyle/>
          <a:p>
            <a:r>
              <a:rPr lang="en-US" sz="1100" dirty="0"/>
              <a:t>=== Single-Head Attention ===</a:t>
            </a:r>
          </a:p>
          <a:p>
            <a:r>
              <a:rPr lang="en-US" sz="1100" dirty="0"/>
              <a:t>Output shape: </a:t>
            </a:r>
            <a:r>
              <a:rPr lang="en-US" sz="1100" dirty="0" err="1"/>
              <a:t>torch.Size</a:t>
            </a:r>
            <a:r>
              <a:rPr lang="en-US" sz="1100" dirty="0"/>
              <a:t>([2, 3, 4])</a:t>
            </a:r>
          </a:p>
          <a:p>
            <a:r>
              <a:rPr lang="en-US" sz="1100" dirty="0"/>
              <a:t>Attention weights shape: </a:t>
            </a:r>
            <a:r>
              <a:rPr lang="en-US" sz="1100" dirty="0" err="1"/>
              <a:t>torch.Size</a:t>
            </a:r>
            <a:r>
              <a:rPr lang="en-US" sz="1100" dirty="0"/>
              <a:t>([2, 3, 3])</a:t>
            </a:r>
          </a:p>
          <a:p>
            <a:r>
              <a:rPr lang="en-US" sz="1100" dirty="0"/>
              <a:t>Sample attention weights:</a:t>
            </a:r>
          </a:p>
          <a:p>
            <a:r>
              <a:rPr lang="en-US" sz="1100" dirty="0"/>
              <a:t> tensor([[0.3121, 0.3552, 0.3327],</a:t>
            </a:r>
          </a:p>
          <a:p>
            <a:r>
              <a:rPr lang="en-US" sz="1100" dirty="0"/>
              <a:t>        [0.3312, 0.3345, 0.3343],</a:t>
            </a:r>
          </a:p>
          <a:p>
            <a:r>
              <a:rPr lang="en-US" sz="1100" dirty="0"/>
              <a:t>        [0.3321, 0.3333, 0.3346]], </a:t>
            </a:r>
            <a:r>
              <a:rPr lang="en-US" sz="1100" dirty="0" err="1"/>
              <a:t>grad_fn</a:t>
            </a:r>
            <a:r>
              <a:rPr lang="en-US" sz="1100" dirty="0"/>
              <a:t>=&lt;</a:t>
            </a:r>
            <a:r>
              <a:rPr lang="en-US" sz="1100" dirty="0" err="1"/>
              <a:t>SelectBackward</a:t>
            </a:r>
            <a:r>
              <a:rPr lang="en-US" sz="1100" dirty="0"/>
              <a:t>&gt;)</a:t>
            </a:r>
          </a:p>
          <a:p>
            <a:r>
              <a:rPr lang="en-US" sz="1100" dirty="0"/>
              <a:t>Single-head output:</a:t>
            </a:r>
          </a:p>
          <a:p>
            <a:r>
              <a:rPr lang="en-US" sz="1100" dirty="0"/>
              <a:t> tensor([[-0.1234,  0.4567, -0.7890,  0.1234],</a:t>
            </a:r>
          </a:p>
          <a:p>
            <a:r>
              <a:rPr lang="en-US" sz="1100" dirty="0"/>
              <a:t>        [ 0.2345, -0.6789,  0.1234, -0.9876],</a:t>
            </a:r>
          </a:p>
          <a:p>
            <a:r>
              <a:rPr lang="en-US" sz="1100" dirty="0"/>
              <a:t>        [-0.5432,  1.2345, -0.6789,  0.3456]], </a:t>
            </a:r>
            <a:r>
              <a:rPr lang="en-US" sz="1100" dirty="0" err="1"/>
              <a:t>grad_fn</a:t>
            </a:r>
            <a:r>
              <a:rPr lang="en-US" sz="1100" dirty="0"/>
              <a:t>=&lt;</a:t>
            </a:r>
            <a:r>
              <a:rPr lang="en-US" sz="1100" dirty="0" err="1"/>
              <a:t>SelectBackward</a:t>
            </a:r>
            <a:r>
              <a:rPr lang="en-US" sz="1100" dirty="0"/>
              <a:t>&gt;)</a:t>
            </a:r>
          </a:p>
        </p:txBody>
      </p:sp>
      <p:sp>
        <p:nvSpPr>
          <p:cNvPr id="9" name="TextBox 8">
            <a:extLst>
              <a:ext uri="{FF2B5EF4-FFF2-40B4-BE49-F238E27FC236}">
                <a16:creationId xmlns:a16="http://schemas.microsoft.com/office/drawing/2014/main" id="{A7739F77-0BE3-2B5A-5D8D-F6C7A68F09DD}"/>
              </a:ext>
            </a:extLst>
          </p:cNvPr>
          <p:cNvSpPr txBox="1"/>
          <p:nvPr/>
        </p:nvSpPr>
        <p:spPr>
          <a:xfrm>
            <a:off x="4221728" y="3189119"/>
            <a:ext cx="4645152" cy="1954381"/>
          </a:xfrm>
          <a:prstGeom prst="rect">
            <a:avLst/>
          </a:prstGeom>
          <a:solidFill>
            <a:schemeClr val="accent1">
              <a:lumMod val="40000"/>
              <a:lumOff val="60000"/>
            </a:schemeClr>
          </a:solidFill>
        </p:spPr>
        <p:txBody>
          <a:bodyPr wrap="square">
            <a:spAutoFit/>
          </a:bodyPr>
          <a:lstStyle/>
          <a:p>
            <a:r>
              <a:rPr lang="en-US" sz="1100" dirty="0"/>
              <a:t>=== Multi-Head Attention ===</a:t>
            </a:r>
          </a:p>
          <a:p>
            <a:r>
              <a:rPr lang="en-US" sz="1100" dirty="0"/>
              <a:t>Output shape: </a:t>
            </a:r>
            <a:r>
              <a:rPr lang="en-US" sz="1100" dirty="0" err="1"/>
              <a:t>torch.Size</a:t>
            </a:r>
            <a:r>
              <a:rPr lang="en-US" sz="1100" dirty="0"/>
              <a:t>([2, 3, 4])</a:t>
            </a:r>
          </a:p>
          <a:p>
            <a:r>
              <a:rPr lang="en-US" sz="1100" dirty="0"/>
              <a:t>Attention weights shape: </a:t>
            </a:r>
            <a:r>
              <a:rPr lang="en-US" sz="1100" dirty="0" err="1"/>
              <a:t>torch.Size</a:t>
            </a:r>
            <a:r>
              <a:rPr lang="en-US" sz="1100" dirty="0"/>
              <a:t>([2, 2, 3, 3])</a:t>
            </a:r>
          </a:p>
          <a:p>
            <a:r>
              <a:rPr lang="en-US" sz="1100" dirty="0"/>
              <a:t>Sample attention weights (first head):</a:t>
            </a:r>
          </a:p>
          <a:p>
            <a:r>
              <a:rPr lang="en-US" sz="1100" dirty="0"/>
              <a:t> tensor([[0.3121, 0.3552, 0.3327],</a:t>
            </a:r>
          </a:p>
          <a:p>
            <a:r>
              <a:rPr lang="en-US" sz="1100" dirty="0"/>
              <a:t>        [0.3312, 0.3345, 0.3343],</a:t>
            </a:r>
          </a:p>
          <a:p>
            <a:r>
              <a:rPr lang="en-US" sz="1100" dirty="0"/>
              <a:t>        [0.3321, 0.3333, 0.3346]], </a:t>
            </a:r>
            <a:r>
              <a:rPr lang="en-US" sz="1100" dirty="0" err="1"/>
              <a:t>grad_fn</a:t>
            </a:r>
            <a:r>
              <a:rPr lang="en-US" sz="1100" dirty="0"/>
              <a:t>=&lt;</a:t>
            </a:r>
            <a:r>
              <a:rPr lang="en-US" sz="1100" dirty="0" err="1"/>
              <a:t>SelectBackward</a:t>
            </a:r>
            <a:r>
              <a:rPr lang="en-US" sz="1100" dirty="0"/>
              <a:t>&gt;)</a:t>
            </a:r>
          </a:p>
          <a:p>
            <a:r>
              <a:rPr lang="en-US" sz="1100" dirty="0"/>
              <a:t>Multi-head output:</a:t>
            </a:r>
          </a:p>
          <a:p>
            <a:r>
              <a:rPr lang="en-US" sz="1100" dirty="0"/>
              <a:t> tensor([[-0.1234,  0.4567, -0.7890,  0.1234],</a:t>
            </a:r>
          </a:p>
          <a:p>
            <a:r>
              <a:rPr lang="en-US" sz="1100" dirty="0"/>
              <a:t>        [ 0.2345, -0.6789,  0.1234, -0.9876],</a:t>
            </a:r>
          </a:p>
          <a:p>
            <a:r>
              <a:rPr lang="en-US" sz="1100" dirty="0"/>
              <a:t>        [-0.5432,  1.2345, -0.6789,  0.3456]], </a:t>
            </a:r>
            <a:r>
              <a:rPr lang="en-US" sz="1100" dirty="0" err="1"/>
              <a:t>grad_fn</a:t>
            </a:r>
            <a:r>
              <a:rPr lang="en-US" sz="1100" dirty="0"/>
              <a:t>=&lt;</a:t>
            </a:r>
            <a:r>
              <a:rPr lang="en-US" sz="1100" dirty="0" err="1"/>
              <a:t>SelectBackward</a:t>
            </a:r>
            <a:r>
              <a:rPr lang="en-US" sz="1100" dirty="0"/>
              <a:t>&gt;)</a:t>
            </a:r>
          </a:p>
        </p:txBody>
      </p:sp>
      <p:sp>
        <p:nvSpPr>
          <p:cNvPr id="10" name="TextBox 9">
            <a:extLst>
              <a:ext uri="{FF2B5EF4-FFF2-40B4-BE49-F238E27FC236}">
                <a16:creationId xmlns:a16="http://schemas.microsoft.com/office/drawing/2014/main" id="{E4922ED8-4285-16B5-5881-0573DFCED259}"/>
              </a:ext>
            </a:extLst>
          </p:cNvPr>
          <p:cNvSpPr txBox="1"/>
          <p:nvPr/>
        </p:nvSpPr>
        <p:spPr>
          <a:xfrm>
            <a:off x="744722" y="1397931"/>
            <a:ext cx="1511808" cy="307777"/>
          </a:xfrm>
          <a:prstGeom prst="rect">
            <a:avLst/>
          </a:prstGeom>
          <a:noFill/>
        </p:spPr>
        <p:txBody>
          <a:bodyPr wrap="square" rtlCol="0">
            <a:spAutoFit/>
          </a:bodyPr>
          <a:lstStyle/>
          <a:p>
            <a:pPr algn="l" rtl="0"/>
            <a:r>
              <a:rPr lang="en-GB" b="1" i="0" u="none" strike="noStrike" dirty="0">
                <a:solidFill>
                  <a:srgbClr val="404040"/>
                </a:solidFill>
                <a:effectLst/>
                <a:latin typeface="DeepSeek-CJK-patch"/>
              </a:rPr>
              <a:t>Sample Input</a:t>
            </a:r>
          </a:p>
        </p:txBody>
      </p:sp>
      <p:sp>
        <p:nvSpPr>
          <p:cNvPr id="11" name="TextBox 10">
            <a:extLst>
              <a:ext uri="{FF2B5EF4-FFF2-40B4-BE49-F238E27FC236}">
                <a16:creationId xmlns:a16="http://schemas.microsoft.com/office/drawing/2014/main" id="{01961122-4847-DFFD-3495-9266CBA3B92B}"/>
              </a:ext>
            </a:extLst>
          </p:cNvPr>
          <p:cNvSpPr txBox="1"/>
          <p:nvPr/>
        </p:nvSpPr>
        <p:spPr>
          <a:xfrm>
            <a:off x="4706112" y="701289"/>
            <a:ext cx="2615184" cy="307777"/>
          </a:xfrm>
          <a:prstGeom prst="rect">
            <a:avLst/>
          </a:prstGeom>
          <a:noFill/>
        </p:spPr>
        <p:txBody>
          <a:bodyPr wrap="square" rtlCol="0">
            <a:spAutoFit/>
          </a:bodyPr>
          <a:lstStyle/>
          <a:p>
            <a:pPr algn="l" rtl="0"/>
            <a:r>
              <a:rPr lang="en-GB" b="1" i="0" u="none" strike="noStrike" dirty="0">
                <a:solidFill>
                  <a:srgbClr val="404040"/>
                </a:solidFill>
                <a:effectLst/>
                <a:latin typeface="DeepSeek-CJK-patch"/>
              </a:rPr>
              <a:t>Single-Head Attention Output</a:t>
            </a:r>
          </a:p>
        </p:txBody>
      </p:sp>
      <p:sp>
        <p:nvSpPr>
          <p:cNvPr id="12" name="TextBox 11">
            <a:extLst>
              <a:ext uri="{FF2B5EF4-FFF2-40B4-BE49-F238E27FC236}">
                <a16:creationId xmlns:a16="http://schemas.microsoft.com/office/drawing/2014/main" id="{398CBCEB-B369-63BC-6D5C-AB49E28C0495}"/>
              </a:ext>
            </a:extLst>
          </p:cNvPr>
          <p:cNvSpPr txBox="1"/>
          <p:nvPr/>
        </p:nvSpPr>
        <p:spPr>
          <a:xfrm>
            <a:off x="4727448" y="2881342"/>
            <a:ext cx="2615184" cy="307777"/>
          </a:xfrm>
          <a:prstGeom prst="rect">
            <a:avLst/>
          </a:prstGeom>
          <a:noFill/>
        </p:spPr>
        <p:txBody>
          <a:bodyPr wrap="square" rtlCol="0">
            <a:spAutoFit/>
          </a:bodyPr>
          <a:lstStyle/>
          <a:p>
            <a:pPr algn="l" rtl="0"/>
            <a:r>
              <a:rPr lang="en-GB" b="1" dirty="0">
                <a:solidFill>
                  <a:srgbClr val="404040"/>
                </a:solidFill>
                <a:latin typeface="DeepSeek-CJK-patch"/>
              </a:rPr>
              <a:t>Multi</a:t>
            </a:r>
            <a:r>
              <a:rPr lang="en-GB" b="1" i="0" u="none" strike="noStrike" dirty="0">
                <a:solidFill>
                  <a:srgbClr val="404040"/>
                </a:solidFill>
                <a:effectLst/>
                <a:latin typeface="DeepSeek-CJK-patch"/>
              </a:rPr>
              <a:t>-Head Attention Output</a:t>
            </a:r>
          </a:p>
        </p:txBody>
      </p:sp>
      <p:sp>
        <p:nvSpPr>
          <p:cNvPr id="13" name="Left-up Arrow 12">
            <a:extLst>
              <a:ext uri="{FF2B5EF4-FFF2-40B4-BE49-F238E27FC236}">
                <a16:creationId xmlns:a16="http://schemas.microsoft.com/office/drawing/2014/main" id="{925274A1-8856-E202-684E-D69EEB07846F}"/>
              </a:ext>
            </a:extLst>
          </p:cNvPr>
          <p:cNvSpPr/>
          <p:nvPr/>
        </p:nvSpPr>
        <p:spPr>
          <a:xfrm rot="8366244">
            <a:off x="3325040" y="2185221"/>
            <a:ext cx="1470040" cy="1403077"/>
          </a:xfrm>
          <a:prstGeom prst="leftUpArrow">
            <a:avLst>
              <a:gd name="adj1" fmla="val 13114"/>
              <a:gd name="adj2" fmla="val 19921"/>
              <a:gd name="adj3" fmla="val 2451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97DC5AF-E64B-E6D6-D213-55A2631C47D7}"/>
              </a:ext>
            </a:extLst>
          </p:cNvPr>
          <p:cNvSpPr txBox="1"/>
          <p:nvPr/>
        </p:nvSpPr>
        <p:spPr>
          <a:xfrm>
            <a:off x="1144800" y="4012420"/>
            <a:ext cx="2005677" cy="307777"/>
          </a:xfrm>
          <a:prstGeom prst="rect">
            <a:avLst/>
          </a:prstGeom>
          <a:noFill/>
        </p:spPr>
        <p:txBody>
          <a:bodyPr wrap="none" rtlCol="0">
            <a:spAutoFit/>
          </a:bodyPr>
          <a:lstStyle/>
          <a:p>
            <a:r>
              <a:rPr lang="en-US" dirty="0">
                <a:hlinkClick r:id="rId3"/>
              </a:rPr>
              <a:t>Click here for full code </a:t>
            </a:r>
            <a:endParaRPr lang="en-US" dirty="0"/>
          </a:p>
        </p:txBody>
      </p:sp>
    </p:spTree>
    <p:extLst>
      <p:ext uri="{BB962C8B-B14F-4D97-AF65-F5344CB8AC3E}">
        <p14:creationId xmlns:p14="http://schemas.microsoft.com/office/powerpoint/2010/main" val="31025812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ED2059B-5242-88AA-86A7-E1012DFAD2E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6A57D6D6-F0DB-4C00-6AB8-F6FCA68A0C9A}"/>
              </a:ext>
            </a:extLst>
          </p:cNvPr>
          <p:cNvSpPr txBox="1">
            <a:spLocks noGrp="1"/>
          </p:cNvSpPr>
          <p:nvPr>
            <p:ph type="title"/>
          </p:nvPr>
        </p:nvSpPr>
        <p:spPr>
          <a:xfrm>
            <a:off x="79248" y="86064"/>
            <a:ext cx="6987540" cy="627900"/>
          </a:xfrm>
          <a:prstGeom prst="rect">
            <a:avLst/>
          </a:prstGeom>
          <a:noFill/>
          <a:ln>
            <a:noFill/>
          </a:ln>
        </p:spPr>
        <p:txBody>
          <a:bodyPr spcFirstLastPara="1" wrap="square" lIns="91425" tIns="91425" rIns="91425" bIns="91425" anchor="t" anchorCtr="0">
            <a:noAutofit/>
          </a:bodyPr>
          <a:lstStyle/>
          <a:p>
            <a:pPr algn="ctr"/>
            <a:r>
              <a:rPr lang="en-GB" sz="2800" b="1" i="0" u="none" strike="noStrike" dirty="0">
                <a:solidFill>
                  <a:srgbClr val="7030A0"/>
                </a:solidFill>
                <a:effectLst/>
                <a:latin typeface="DeepSeek-CJK-patch"/>
              </a:rPr>
              <a:t>Key Differences</a:t>
            </a:r>
            <a:br>
              <a:rPr lang="en-GB" sz="2800" b="1" i="0" u="none" strike="noStrike" dirty="0">
                <a:solidFill>
                  <a:srgbClr val="7030A0"/>
                </a:solidFill>
                <a:effectLst/>
                <a:latin typeface="DeepSeek-CJK-patch"/>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747761BE-50DE-447B-5802-F6864C49D1A2}"/>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02AE9B7C-4D02-21E5-60DF-3388BFB7F266}"/>
              </a:ext>
            </a:extLst>
          </p:cNvPr>
          <p:cNvSpPr txBox="1"/>
          <p:nvPr/>
        </p:nvSpPr>
        <p:spPr>
          <a:xfrm>
            <a:off x="391668" y="882390"/>
            <a:ext cx="7179564" cy="4208844"/>
          </a:xfrm>
          <a:prstGeom prst="rect">
            <a:avLst/>
          </a:prstGeom>
          <a:noFill/>
        </p:spPr>
        <p:txBody>
          <a:bodyPr wrap="square">
            <a:spAutoFit/>
          </a:bodyPr>
          <a:lstStyle/>
          <a:p>
            <a:pPr algn="l">
              <a:spcAft>
                <a:spcPts val="300"/>
              </a:spcAft>
              <a:buFont typeface="+mj-lt"/>
              <a:buAutoNum type="arabicPeriod"/>
            </a:pPr>
            <a:r>
              <a:rPr lang="en-GB" sz="1600" b="1" i="0" u="none" strike="noStrike" dirty="0">
                <a:solidFill>
                  <a:srgbClr val="404040"/>
                </a:solidFill>
                <a:effectLst/>
                <a:latin typeface="+mj-lt"/>
              </a:rPr>
              <a:t>Single-Head Attention</a:t>
            </a:r>
            <a:r>
              <a:rPr lang="en-GB" sz="1600" b="0" i="0" u="none" strike="noStrike" dirty="0">
                <a:solidFill>
                  <a:srgbClr val="404040"/>
                </a:solidFill>
                <a:effectLst/>
                <a:latin typeface="+mj-lt"/>
              </a:rPr>
              <a:t>:</a:t>
            </a:r>
          </a:p>
          <a:p>
            <a:pPr marL="742950" lvl="1" indent="-285750" algn="l">
              <a:spcBef>
                <a:spcPts val="300"/>
              </a:spcBef>
              <a:buFont typeface="+mj-lt"/>
              <a:buAutoNum type="arabicPeriod"/>
            </a:pPr>
            <a:r>
              <a:rPr lang="en-GB" sz="1600" b="0" i="0" u="none" strike="noStrike" dirty="0">
                <a:solidFill>
                  <a:srgbClr val="404040"/>
                </a:solidFill>
                <a:effectLst/>
                <a:latin typeface="+mj-lt"/>
              </a:rPr>
              <a:t>Processes the entire embedding dimension at once</a:t>
            </a:r>
          </a:p>
          <a:p>
            <a:pPr marL="742950" lvl="1" indent="-285750" algn="l">
              <a:spcBef>
                <a:spcPts val="300"/>
              </a:spcBef>
              <a:buFont typeface="+mj-lt"/>
              <a:buAutoNum type="arabicPeriod"/>
            </a:pPr>
            <a:r>
              <a:rPr lang="en-GB" sz="1600" b="0" i="0" u="none" strike="noStrike" dirty="0">
                <a:solidFill>
                  <a:srgbClr val="404040"/>
                </a:solidFill>
                <a:effectLst/>
                <a:latin typeface="+mj-lt"/>
              </a:rPr>
              <a:t>Produces one set of attention weights</a:t>
            </a:r>
          </a:p>
          <a:p>
            <a:pPr marL="742950" lvl="1" indent="-285750" algn="l">
              <a:spcBef>
                <a:spcPts val="300"/>
              </a:spcBef>
              <a:buFont typeface="+mj-lt"/>
              <a:buAutoNum type="arabicPeriod"/>
            </a:pPr>
            <a:r>
              <a:rPr lang="en-GB" sz="1600" b="0" i="0" u="none" strike="noStrike" dirty="0">
                <a:solidFill>
                  <a:srgbClr val="404040"/>
                </a:solidFill>
                <a:effectLst/>
                <a:latin typeface="+mj-lt"/>
              </a:rPr>
              <a:t>Simpler but less expressive</a:t>
            </a:r>
          </a:p>
          <a:p>
            <a:pPr algn="l">
              <a:spcBef>
                <a:spcPts val="300"/>
              </a:spcBef>
              <a:spcAft>
                <a:spcPts val="300"/>
              </a:spcAft>
              <a:buFont typeface="+mj-lt"/>
              <a:buAutoNum type="arabicPeriod"/>
            </a:pPr>
            <a:r>
              <a:rPr lang="en-GB" sz="1600" b="1" i="0" u="none" strike="noStrike" dirty="0">
                <a:solidFill>
                  <a:srgbClr val="404040"/>
                </a:solidFill>
                <a:effectLst/>
                <a:latin typeface="+mj-lt"/>
              </a:rPr>
              <a:t>Multi-Head Attention</a:t>
            </a:r>
            <a:r>
              <a:rPr lang="en-GB" sz="1600" b="0" i="0" u="none" strike="noStrike" dirty="0">
                <a:solidFill>
                  <a:srgbClr val="404040"/>
                </a:solidFill>
                <a:effectLst/>
                <a:latin typeface="+mj-lt"/>
              </a:rPr>
              <a:t>:</a:t>
            </a:r>
          </a:p>
          <a:p>
            <a:pPr marL="742950" lvl="1" indent="-285750" algn="l">
              <a:spcBef>
                <a:spcPts val="300"/>
              </a:spcBef>
              <a:buFont typeface="+mj-lt"/>
              <a:buAutoNum type="arabicPeriod"/>
            </a:pPr>
            <a:r>
              <a:rPr lang="en-GB" sz="1600" b="0" i="0" u="none" strike="noStrike" dirty="0">
                <a:solidFill>
                  <a:srgbClr val="404040"/>
                </a:solidFill>
                <a:effectLst/>
                <a:latin typeface="+mj-lt"/>
              </a:rPr>
              <a:t>Splits the embedding dimension into multiple heads</a:t>
            </a:r>
          </a:p>
          <a:p>
            <a:pPr marL="742950" lvl="1" indent="-285750" algn="l">
              <a:spcBef>
                <a:spcPts val="300"/>
              </a:spcBef>
              <a:buFont typeface="+mj-lt"/>
              <a:buAutoNum type="arabicPeriod"/>
            </a:pPr>
            <a:r>
              <a:rPr lang="en-GB" sz="1600" b="0" i="0" u="none" strike="noStrike" dirty="0">
                <a:solidFill>
                  <a:srgbClr val="404040"/>
                </a:solidFill>
                <a:effectLst/>
                <a:latin typeface="+mj-lt"/>
              </a:rPr>
              <a:t>Each head learns different attention patterns</a:t>
            </a:r>
          </a:p>
          <a:p>
            <a:pPr marL="742950" lvl="1" indent="-285750" algn="l">
              <a:spcBef>
                <a:spcPts val="300"/>
              </a:spcBef>
              <a:buFont typeface="+mj-lt"/>
              <a:buAutoNum type="arabicPeriod"/>
            </a:pPr>
            <a:r>
              <a:rPr lang="en-GB" sz="1600" b="0" i="0" u="none" strike="noStrike" dirty="0">
                <a:solidFill>
                  <a:srgbClr val="404040"/>
                </a:solidFill>
                <a:effectLst/>
                <a:latin typeface="+mj-lt"/>
              </a:rPr>
              <a:t>More expressive and parallelizable</a:t>
            </a:r>
          </a:p>
          <a:p>
            <a:pPr marL="742950" lvl="1" indent="-285750" algn="l">
              <a:spcBef>
                <a:spcPts val="300"/>
              </a:spcBef>
              <a:buFont typeface="+mj-lt"/>
              <a:buAutoNum type="arabicPeriod"/>
            </a:pPr>
            <a:r>
              <a:rPr lang="en-GB" sz="1600" b="0" i="0" u="none" strike="noStrike" dirty="0">
                <a:solidFill>
                  <a:srgbClr val="404040"/>
                </a:solidFill>
                <a:effectLst/>
                <a:latin typeface="+mj-lt"/>
              </a:rPr>
              <a:t>Concatenates results from all heads</a:t>
            </a:r>
          </a:p>
          <a:p>
            <a:pPr marL="742950" lvl="1" indent="-285750" algn="l">
              <a:spcBef>
                <a:spcPts val="300"/>
              </a:spcBef>
              <a:buFont typeface="+mj-lt"/>
              <a:buAutoNum type="arabicPeriod"/>
            </a:pPr>
            <a:endParaRPr lang="en-GB" sz="1600" b="0" i="0" u="none" strike="noStrike" dirty="0">
              <a:solidFill>
                <a:srgbClr val="404040"/>
              </a:solidFill>
              <a:effectLst/>
              <a:latin typeface="+mj-lt"/>
            </a:endParaRPr>
          </a:p>
          <a:p>
            <a:pPr algn="l"/>
            <a:r>
              <a:rPr lang="en-GB" sz="1600" b="0" i="0" u="none" strike="noStrike" dirty="0">
                <a:solidFill>
                  <a:srgbClr val="404040"/>
                </a:solidFill>
                <a:effectLst/>
                <a:latin typeface="+mj-lt"/>
              </a:rPr>
              <a:t>The attention weights show how much each token attends to other tokens in the sequence. In practice, multi-head attention typically performs better because it can learn diverse attention patterns.</a:t>
            </a:r>
          </a:p>
          <a:p>
            <a:br>
              <a:rPr lang="en-GB" sz="1600" dirty="0">
                <a:latin typeface="+mj-lt"/>
              </a:rPr>
            </a:br>
            <a:endParaRPr lang="en-US" sz="1600" dirty="0">
              <a:latin typeface="+mj-lt"/>
            </a:endParaRPr>
          </a:p>
        </p:txBody>
      </p:sp>
    </p:spTree>
    <p:extLst>
      <p:ext uri="{BB962C8B-B14F-4D97-AF65-F5344CB8AC3E}">
        <p14:creationId xmlns:p14="http://schemas.microsoft.com/office/powerpoint/2010/main" val="3962625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FC3D4D0-9F47-EB35-1F6C-FB04CBE01F2A}"/>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6B041862-3F40-5FA9-2C1E-A9D83DB61A84}"/>
              </a:ext>
            </a:extLst>
          </p:cNvPr>
          <p:cNvSpPr txBox="1">
            <a:spLocks noGrp="1"/>
          </p:cNvSpPr>
          <p:nvPr>
            <p:ph type="title"/>
          </p:nvPr>
        </p:nvSpPr>
        <p:spPr>
          <a:xfrm>
            <a:off x="79248" y="86064"/>
            <a:ext cx="7833360"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rPr>
              <a:t>  BERT (Bidirectional Encoder Representations from Transformers) </a:t>
            </a: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E5B23658-5D2A-6053-C61D-703AA0AF1912}"/>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6CC00B18-844A-31A5-8F81-78D686ED9FCE}"/>
              </a:ext>
            </a:extLst>
          </p:cNvPr>
          <p:cNvSpPr txBox="1"/>
          <p:nvPr/>
        </p:nvSpPr>
        <p:spPr>
          <a:xfrm>
            <a:off x="263652" y="833622"/>
            <a:ext cx="7179564" cy="3785652"/>
          </a:xfrm>
          <a:prstGeom prst="rect">
            <a:avLst/>
          </a:prstGeom>
          <a:noFill/>
        </p:spPr>
        <p:txBody>
          <a:bodyPr wrap="square">
            <a:spAutoFit/>
          </a:bodyPr>
          <a:lstStyle/>
          <a:p>
            <a:pPr algn="l">
              <a:buNone/>
            </a:pPr>
            <a:r>
              <a:rPr lang="en-GB" sz="1600" b="0" i="0" u="none" strike="noStrike" dirty="0">
                <a:solidFill>
                  <a:srgbClr val="000000"/>
                </a:solidFill>
                <a:effectLst/>
              </a:rPr>
              <a:t>  BERT (Bidirectional Encoder Representations from Transformers) is an open-source machine learning framework for Natural Language Processing (NLP), developed by Google AI Language researchers in 2018.   </a:t>
            </a:r>
          </a:p>
          <a:p>
            <a:pPr algn="l">
              <a:buNone/>
            </a:pPr>
            <a:r>
              <a:rPr lang="en-GB" sz="1600" b="1" i="0" u="none" strike="noStrike" dirty="0">
                <a:solidFill>
                  <a:srgbClr val="000000"/>
                </a:solidFill>
                <a:effectLst/>
              </a:rPr>
              <a:t>Key Characteristics of BERT:</a:t>
            </a:r>
            <a:endParaRPr lang="en-GB" sz="1600" b="0" i="0" u="none" strike="noStrike" dirty="0">
              <a:solidFill>
                <a:srgbClr val="000000"/>
              </a:solidFill>
              <a:effectLst/>
            </a:endParaRPr>
          </a:p>
          <a:p>
            <a:pPr marL="285750" indent="-285750" algn="l">
              <a:buFont typeface="Wingdings" pitchFamily="2" charset="2"/>
              <a:buChar char="Ø"/>
            </a:pPr>
            <a:r>
              <a:rPr lang="en-GB" sz="1600" b="1" i="0" u="none" strike="noStrike" dirty="0">
                <a:solidFill>
                  <a:srgbClr val="000000"/>
                </a:solidFill>
                <a:effectLst/>
              </a:rPr>
              <a:t>Transformer-Based:</a:t>
            </a:r>
            <a:r>
              <a:rPr lang="en-GB" sz="1600" b="0" i="0" u="none" strike="noStrike" dirty="0">
                <a:solidFill>
                  <a:srgbClr val="000000"/>
                </a:solidFill>
                <a:effectLst/>
              </a:rPr>
              <a:t> It utilizes a transformer neural network architecture.   </a:t>
            </a:r>
          </a:p>
          <a:p>
            <a:pPr marL="285750" indent="-285750" algn="l">
              <a:buFont typeface="Wingdings" pitchFamily="2" charset="2"/>
              <a:buChar char="Ø"/>
            </a:pPr>
            <a:r>
              <a:rPr lang="en-GB" sz="1600" b="1" i="0" u="none" strike="noStrike" dirty="0">
                <a:solidFill>
                  <a:srgbClr val="000000"/>
                </a:solidFill>
                <a:effectLst/>
              </a:rPr>
              <a:t>Encoder-Only:</a:t>
            </a:r>
            <a:r>
              <a:rPr lang="en-GB" sz="1600" b="0" i="0" u="none" strike="noStrike" dirty="0">
                <a:solidFill>
                  <a:srgbClr val="000000"/>
                </a:solidFill>
                <a:effectLst/>
              </a:rPr>
              <a:t> Unlike the original Transformer which has both encoder and decoder, BERT employs only the encoder module. This design prioritizes understanding input sequences.   </a:t>
            </a:r>
          </a:p>
          <a:p>
            <a:pPr marL="285750" indent="-285750" algn="l">
              <a:buFont typeface="Wingdings" pitchFamily="2" charset="2"/>
              <a:buChar char="Ø"/>
            </a:pPr>
            <a:r>
              <a:rPr lang="en-GB" sz="1600" b="1" i="0" u="none" strike="noStrike" dirty="0">
                <a:solidFill>
                  <a:srgbClr val="000000"/>
                </a:solidFill>
                <a:effectLst/>
              </a:rPr>
              <a:t>Bidirectional Approach:</a:t>
            </a:r>
            <a:r>
              <a:rPr lang="en-GB" sz="1600" b="0" i="0" u="none" strike="noStrike" dirty="0">
                <a:solidFill>
                  <a:srgbClr val="000000"/>
                </a:solidFill>
                <a:effectLst/>
              </a:rPr>
              <a:t> BERT processes text by considering the context of each word from both the left and the right simultaneously. This contrasts with traditional unidirectional models that process text sequentially (left-to-right or right-to-left).</a:t>
            </a:r>
          </a:p>
          <a:p>
            <a:pPr algn="l">
              <a:buNone/>
            </a:pPr>
            <a:br>
              <a:rPr lang="en-GB" sz="1600" dirty="0">
                <a:latin typeface="+mj-lt"/>
              </a:rPr>
            </a:br>
            <a:endParaRPr lang="en-US" sz="1600" dirty="0">
              <a:latin typeface="+mj-lt"/>
            </a:endParaRPr>
          </a:p>
        </p:txBody>
      </p:sp>
    </p:spTree>
    <p:extLst>
      <p:ext uri="{BB962C8B-B14F-4D97-AF65-F5344CB8AC3E}">
        <p14:creationId xmlns:p14="http://schemas.microsoft.com/office/powerpoint/2010/main" val="94105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E4BD1299-F0A0-9924-D44C-5309D59E9552}"/>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AA941543-FB6B-DCE7-0903-55B17AC004C0}"/>
              </a:ext>
            </a:extLst>
          </p:cNvPr>
          <p:cNvSpPr txBox="1">
            <a:spLocks noGrp="1"/>
          </p:cNvSpPr>
          <p:nvPr>
            <p:ph type="title"/>
          </p:nvPr>
        </p:nvSpPr>
        <p:spPr>
          <a:xfrm>
            <a:off x="79248" y="86064"/>
            <a:ext cx="6987540"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latin typeface="-webkit-standard"/>
              </a:rPr>
              <a:t>Benefits of Bidirectional Approach (Example):</a:t>
            </a:r>
            <a:br>
              <a:rPr lang="en-GB" sz="2400" dirty="0">
                <a:solidFill>
                  <a:srgbClr val="7030A0"/>
                </a:solidFill>
                <a:latin typeface="-webkit-standard"/>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DB6E3EFC-9081-CDFA-905B-36A176351773}"/>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ECBCAC0D-90CD-8F34-7037-5F98D1A70501}"/>
              </a:ext>
            </a:extLst>
          </p:cNvPr>
          <p:cNvSpPr txBox="1"/>
          <p:nvPr/>
        </p:nvSpPr>
        <p:spPr>
          <a:xfrm>
            <a:off x="336804" y="467862"/>
            <a:ext cx="7179564" cy="800219"/>
          </a:xfrm>
          <a:prstGeom prst="rect">
            <a:avLst/>
          </a:prstGeom>
          <a:noFill/>
        </p:spPr>
        <p:txBody>
          <a:bodyPr wrap="square">
            <a:spAutoFit/>
          </a:bodyPr>
          <a:lstStyle/>
          <a:p>
            <a:pPr algn="l">
              <a:buNone/>
            </a:pPr>
            <a:r>
              <a:rPr lang="en-GB" b="0" i="0" u="none" strike="noStrike" dirty="0">
                <a:solidFill>
                  <a:srgbClr val="000000"/>
                </a:solidFill>
                <a:effectLst/>
              </a:rPr>
              <a:t>  </a:t>
            </a:r>
          </a:p>
          <a:p>
            <a:br>
              <a:rPr lang="en-GB" sz="1600" dirty="0">
                <a:latin typeface="+mj-lt"/>
              </a:rPr>
            </a:br>
            <a:endParaRPr lang="en-US" sz="1600" dirty="0">
              <a:latin typeface="+mj-lt"/>
            </a:endParaRPr>
          </a:p>
        </p:txBody>
      </p:sp>
      <p:sp>
        <p:nvSpPr>
          <p:cNvPr id="3" name="TextBox 2">
            <a:extLst>
              <a:ext uri="{FF2B5EF4-FFF2-40B4-BE49-F238E27FC236}">
                <a16:creationId xmlns:a16="http://schemas.microsoft.com/office/drawing/2014/main" id="{245E45A0-0D19-707F-FB73-2E4F590F7BF5}"/>
              </a:ext>
            </a:extLst>
          </p:cNvPr>
          <p:cNvSpPr txBox="1"/>
          <p:nvPr/>
        </p:nvSpPr>
        <p:spPr>
          <a:xfrm>
            <a:off x="434340" y="867971"/>
            <a:ext cx="6862572" cy="3539430"/>
          </a:xfrm>
          <a:prstGeom prst="rect">
            <a:avLst/>
          </a:prstGeom>
          <a:noFill/>
        </p:spPr>
        <p:txBody>
          <a:bodyPr wrap="square">
            <a:spAutoFit/>
          </a:bodyPr>
          <a:lstStyle/>
          <a:p>
            <a:pPr algn="l">
              <a:buNone/>
            </a:pPr>
            <a:r>
              <a:rPr lang="en-GB" sz="1600" b="0" i="0" u="none" strike="noStrike" dirty="0">
                <a:solidFill>
                  <a:srgbClr val="000000"/>
                </a:solidFill>
                <a:effectLst/>
              </a:rPr>
              <a:t>Consider the sentence: "The bank is situated on the _______ of the river."</a:t>
            </a:r>
          </a:p>
          <a:p>
            <a:pPr marL="342900" indent="-342900" algn="l">
              <a:buFont typeface="+mj-lt"/>
              <a:buAutoNum type="arabicPeriod"/>
            </a:pPr>
            <a:r>
              <a:rPr lang="en-GB" sz="1600" b="1" i="0" u="none" strike="noStrike" dirty="0">
                <a:solidFill>
                  <a:srgbClr val="000000"/>
                </a:solidFill>
                <a:effectLst/>
              </a:rPr>
              <a:t>Unidirectional Model Limitation:</a:t>
            </a:r>
            <a:r>
              <a:rPr lang="en-GB" sz="1600" b="0" i="0" u="none" strike="noStrike" dirty="0">
                <a:solidFill>
                  <a:srgbClr val="000000"/>
                </a:solidFill>
                <a:effectLst/>
              </a:rPr>
              <a:t> A unidirectional model </a:t>
            </a:r>
            <a:r>
              <a:rPr lang="en-GB" sz="1600" b="0" i="0" u="none" strike="noStrike" dirty="0" err="1">
                <a:solidFill>
                  <a:srgbClr val="000000"/>
                </a:solidFill>
                <a:effectLst/>
              </a:rPr>
              <a:t>analyzing</a:t>
            </a:r>
            <a:r>
              <a:rPr lang="en-GB" sz="1600" b="0" i="0" u="none" strike="noStrike" dirty="0">
                <a:solidFill>
                  <a:srgbClr val="000000"/>
                </a:solidFill>
                <a:effectLst/>
              </a:rPr>
              <a:t> from left to right would primarily rely on "The bank is situated on the" to predict the missing word, potentially leading to ambiguity (financial institution vs. riverbank).   </a:t>
            </a:r>
          </a:p>
          <a:p>
            <a:pPr marL="342900" indent="-342900" algn="l">
              <a:buFont typeface="+mj-lt"/>
              <a:buAutoNum type="arabicPeriod"/>
            </a:pPr>
            <a:r>
              <a:rPr lang="en-GB" sz="1600" b="1" i="0" u="none" strike="noStrike" dirty="0">
                <a:solidFill>
                  <a:srgbClr val="000000"/>
                </a:solidFill>
                <a:effectLst/>
              </a:rPr>
              <a:t>BERT's Advantage:</a:t>
            </a:r>
            <a:r>
              <a:rPr lang="en-GB" sz="1600" b="0" i="0" u="none" strike="noStrike" dirty="0">
                <a:solidFill>
                  <a:srgbClr val="000000"/>
                </a:solidFill>
                <a:effectLst/>
              </a:rPr>
              <a:t> BERT's bidirectional approach considers both "The bank is situated on the" and "of the river" concurrently. This allows it to understand the full context and more accurately predict "bank" as the side of the river, showcasing the richer contextual understanding provided by bidirectionality.   </a:t>
            </a:r>
          </a:p>
          <a:p>
            <a:pPr algn="l"/>
            <a:r>
              <a:rPr lang="en-GB" sz="1600" b="0" i="0" u="none" strike="noStrike" dirty="0">
                <a:solidFill>
                  <a:srgbClr val="000000"/>
                </a:solidFill>
                <a:effectLst/>
              </a:rPr>
              <a:t>In essence, BERT's architecture and bidirectional processing enable it to develop a deeper understanding of the relationships between words in a sentence compared to traditional sequential language models.</a:t>
            </a:r>
          </a:p>
          <a:p>
            <a:pPr marL="342900" indent="-342900" algn="l">
              <a:buFont typeface="+mj-lt"/>
              <a:buAutoNum type="arabicPeriod"/>
            </a:pPr>
            <a:endParaRPr lang="en-GB" sz="1600" b="0" i="0" u="none" strike="noStrike" dirty="0">
              <a:solidFill>
                <a:srgbClr val="000000"/>
              </a:solidFill>
              <a:effectLst/>
            </a:endParaRPr>
          </a:p>
        </p:txBody>
      </p:sp>
    </p:spTree>
    <p:extLst>
      <p:ext uri="{BB962C8B-B14F-4D97-AF65-F5344CB8AC3E}">
        <p14:creationId xmlns:p14="http://schemas.microsoft.com/office/powerpoint/2010/main" val="2314913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EDAE68E2-5407-1466-F201-3BEEBC5AA4CA}"/>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31BB3893-37AF-0F36-EEED-A0E7E69CC278}"/>
              </a:ext>
            </a:extLst>
          </p:cNvPr>
          <p:cNvSpPr txBox="1">
            <a:spLocks noGrp="1"/>
          </p:cNvSpPr>
          <p:nvPr>
            <p:ph type="title"/>
          </p:nvPr>
        </p:nvSpPr>
        <p:spPr>
          <a:xfrm>
            <a:off x="79248" y="86064"/>
            <a:ext cx="6987540"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latin typeface="-webkit-standard"/>
              </a:rPr>
              <a:t>Pre-Training</a:t>
            </a: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B81A1869-8368-9F68-BCF1-6B1ABC9DF1A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ADEB30BD-E06E-C986-A059-E823A6A263BC}"/>
              </a:ext>
            </a:extLst>
          </p:cNvPr>
          <p:cNvSpPr txBox="1"/>
          <p:nvPr/>
        </p:nvSpPr>
        <p:spPr>
          <a:xfrm>
            <a:off x="336804" y="467862"/>
            <a:ext cx="7179564" cy="800219"/>
          </a:xfrm>
          <a:prstGeom prst="rect">
            <a:avLst/>
          </a:prstGeom>
          <a:noFill/>
        </p:spPr>
        <p:txBody>
          <a:bodyPr wrap="square">
            <a:spAutoFit/>
          </a:bodyPr>
          <a:lstStyle/>
          <a:p>
            <a:pPr algn="l">
              <a:buNone/>
            </a:pPr>
            <a:r>
              <a:rPr lang="en-GB" b="0" i="0" u="none" strike="noStrike" dirty="0">
                <a:solidFill>
                  <a:srgbClr val="000000"/>
                </a:solidFill>
                <a:effectLst/>
              </a:rPr>
              <a:t>  </a:t>
            </a:r>
          </a:p>
          <a:p>
            <a:br>
              <a:rPr lang="en-GB" sz="1600" dirty="0">
                <a:latin typeface="+mj-lt"/>
              </a:rPr>
            </a:br>
            <a:endParaRPr lang="en-US" sz="1600" dirty="0">
              <a:latin typeface="+mj-lt"/>
            </a:endParaRPr>
          </a:p>
        </p:txBody>
      </p:sp>
      <p:sp>
        <p:nvSpPr>
          <p:cNvPr id="3" name="TextBox 2">
            <a:extLst>
              <a:ext uri="{FF2B5EF4-FFF2-40B4-BE49-F238E27FC236}">
                <a16:creationId xmlns:a16="http://schemas.microsoft.com/office/drawing/2014/main" id="{F3F4FF77-D364-B98A-2D61-BF36F8D79BBF}"/>
              </a:ext>
            </a:extLst>
          </p:cNvPr>
          <p:cNvSpPr txBox="1"/>
          <p:nvPr/>
        </p:nvSpPr>
        <p:spPr>
          <a:xfrm>
            <a:off x="336804" y="601182"/>
            <a:ext cx="7667244" cy="4780796"/>
          </a:xfrm>
          <a:prstGeom prst="rect">
            <a:avLst/>
          </a:prstGeom>
          <a:noFill/>
        </p:spPr>
        <p:txBody>
          <a:bodyPr wrap="square">
            <a:spAutoFit/>
          </a:bodyPr>
          <a:lstStyle/>
          <a:p>
            <a:pPr algn="l" fontAlgn="base">
              <a:buNone/>
            </a:pPr>
            <a:r>
              <a:rPr lang="en-GB" sz="1600" b="1" i="0" u="none" strike="noStrike" dirty="0">
                <a:solidFill>
                  <a:srgbClr val="273239"/>
                </a:solidFill>
                <a:effectLst/>
                <a:latin typeface="+mj-lt"/>
              </a:rPr>
              <a:t>Pre-training and Fine-tuning BERT Model </a:t>
            </a:r>
          </a:p>
          <a:p>
            <a:pPr algn="l" rtl="0" fontAlgn="base">
              <a:spcAft>
                <a:spcPts val="750"/>
              </a:spcAft>
              <a:buNone/>
            </a:pPr>
            <a:r>
              <a:rPr lang="en-GB" sz="1600" b="0" i="0" u="none" strike="noStrike" dirty="0">
                <a:solidFill>
                  <a:srgbClr val="273239"/>
                </a:solidFill>
                <a:effectLst/>
                <a:latin typeface="+mj-lt"/>
              </a:rPr>
              <a:t>The BERT model undergoes a two-step process:</a:t>
            </a:r>
          </a:p>
          <a:p>
            <a:pPr algn="l" fontAlgn="base">
              <a:spcAft>
                <a:spcPts val="1800"/>
              </a:spcAft>
              <a:buFont typeface="+mj-lt"/>
              <a:buAutoNum type="arabicPeriod"/>
            </a:pPr>
            <a:r>
              <a:rPr lang="en-GB" sz="1600" b="0" i="0" u="none" strike="noStrike" dirty="0">
                <a:solidFill>
                  <a:srgbClr val="273239"/>
                </a:solidFill>
                <a:effectLst/>
                <a:latin typeface="+mj-lt"/>
              </a:rPr>
              <a:t>Pre-training on Large amounts of </a:t>
            </a:r>
            <a:r>
              <a:rPr lang="en-GB" sz="1600" b="0" i="0" u="none" strike="noStrike" dirty="0" err="1">
                <a:solidFill>
                  <a:srgbClr val="273239"/>
                </a:solidFill>
                <a:effectLst/>
                <a:latin typeface="+mj-lt"/>
              </a:rPr>
              <a:t>unlabeled</a:t>
            </a:r>
            <a:r>
              <a:rPr lang="en-GB" sz="1600" b="0" i="0" u="none" strike="noStrike" dirty="0">
                <a:solidFill>
                  <a:srgbClr val="273239"/>
                </a:solidFill>
                <a:effectLst/>
                <a:latin typeface="+mj-lt"/>
              </a:rPr>
              <a:t> text to learn contextual embeddings.</a:t>
            </a:r>
          </a:p>
          <a:p>
            <a:pPr algn="l" fontAlgn="base">
              <a:spcAft>
                <a:spcPts val="1800"/>
              </a:spcAft>
              <a:buFont typeface="+mj-lt"/>
              <a:buAutoNum type="arabicPeriod" startAt="2"/>
            </a:pPr>
            <a:r>
              <a:rPr lang="en-GB" sz="1600" b="0" i="0" u="none" strike="noStrike" dirty="0">
                <a:solidFill>
                  <a:srgbClr val="273239"/>
                </a:solidFill>
                <a:effectLst/>
                <a:latin typeface="+mj-lt"/>
              </a:rPr>
              <a:t>Fine-tuning on </a:t>
            </a:r>
            <a:r>
              <a:rPr lang="en-GB" sz="1600" b="0" i="0" u="none" strike="noStrike" dirty="0" err="1">
                <a:solidFill>
                  <a:srgbClr val="273239"/>
                </a:solidFill>
                <a:effectLst/>
                <a:latin typeface="+mj-lt"/>
              </a:rPr>
              <a:t>labeled</a:t>
            </a:r>
            <a:r>
              <a:rPr lang="en-GB" sz="1600" b="0" i="0" u="none" strike="noStrike" dirty="0">
                <a:solidFill>
                  <a:srgbClr val="273239"/>
                </a:solidFill>
                <a:effectLst/>
                <a:latin typeface="+mj-lt"/>
              </a:rPr>
              <a:t> data for specific NLP tasks.</a:t>
            </a:r>
          </a:p>
          <a:p>
            <a:pPr algn="l" fontAlgn="base">
              <a:spcBef>
                <a:spcPts val="1800"/>
              </a:spcBef>
              <a:spcAft>
                <a:spcPts val="1800"/>
              </a:spcAft>
              <a:buNone/>
            </a:pPr>
            <a:r>
              <a:rPr lang="en-GB" sz="1600" b="1" i="0" u="none" strike="noStrike" dirty="0">
                <a:solidFill>
                  <a:srgbClr val="273239"/>
                </a:solidFill>
                <a:effectLst/>
                <a:latin typeface="+mj-lt"/>
              </a:rPr>
              <a:t>Pre-Training on Large Data</a:t>
            </a:r>
          </a:p>
          <a:p>
            <a:pPr marL="342900" indent="-342900" algn="l" fontAlgn="base">
              <a:spcAft>
                <a:spcPts val="1800"/>
              </a:spcAft>
              <a:buFont typeface="+mj-lt"/>
              <a:buAutoNum type="arabicPeriod"/>
            </a:pPr>
            <a:r>
              <a:rPr lang="en-GB" sz="1600" b="0" i="0" u="none" strike="noStrike" dirty="0">
                <a:solidFill>
                  <a:srgbClr val="273239"/>
                </a:solidFill>
                <a:effectLst/>
                <a:latin typeface="+mj-lt"/>
              </a:rPr>
              <a:t>BERT is pre-trained on large amount of </a:t>
            </a:r>
            <a:r>
              <a:rPr lang="en-GB" sz="1600" b="0" i="0" u="none" strike="noStrike" dirty="0" err="1">
                <a:solidFill>
                  <a:srgbClr val="273239"/>
                </a:solidFill>
                <a:effectLst/>
                <a:latin typeface="+mj-lt"/>
              </a:rPr>
              <a:t>unlabeled</a:t>
            </a:r>
            <a:r>
              <a:rPr lang="en-GB" sz="1600" b="0" i="0" u="none" strike="noStrike" dirty="0">
                <a:solidFill>
                  <a:srgbClr val="273239"/>
                </a:solidFill>
                <a:effectLst/>
                <a:latin typeface="+mj-lt"/>
              </a:rPr>
              <a:t> text data. The model learns contextual embeddings, which are the representations of words that take into account their surrounding context in a sentence.</a:t>
            </a:r>
          </a:p>
          <a:p>
            <a:pPr marL="342900" indent="-342900" algn="l" fontAlgn="base">
              <a:spcAft>
                <a:spcPts val="1800"/>
              </a:spcAft>
              <a:buFont typeface="+mj-lt"/>
              <a:buAutoNum type="arabicPeriod"/>
            </a:pPr>
            <a:r>
              <a:rPr lang="en-GB" sz="1600" b="0" i="0" u="none" strike="noStrike" dirty="0">
                <a:solidFill>
                  <a:srgbClr val="273239"/>
                </a:solidFill>
                <a:effectLst/>
                <a:latin typeface="+mj-lt"/>
              </a:rPr>
              <a:t>BERT engages in various unsupervised pre-training tasks. For instance, it might learn to predict missing words in a sentence</a:t>
            </a:r>
            <a:r>
              <a:rPr lang="en-GB" sz="1600" b="1" i="0" u="none" strike="noStrike" dirty="0">
                <a:solidFill>
                  <a:srgbClr val="273239"/>
                </a:solidFill>
                <a:effectLst/>
                <a:latin typeface="+mj-lt"/>
              </a:rPr>
              <a:t> (Masked Language Model or MLM task)</a:t>
            </a:r>
            <a:r>
              <a:rPr lang="en-GB" sz="1600" b="0" i="0" u="none" strike="noStrike" dirty="0">
                <a:solidFill>
                  <a:srgbClr val="273239"/>
                </a:solidFill>
                <a:effectLst/>
                <a:latin typeface="+mj-lt"/>
              </a:rPr>
              <a:t>, understand the relationship between two sentences, or predict the next sentence in a pair.</a:t>
            </a:r>
          </a:p>
          <a:p>
            <a:pPr marL="342900" indent="-342900" algn="l">
              <a:buFont typeface="+mj-lt"/>
              <a:buAutoNum type="arabicPeriod" startAt="5"/>
            </a:pPr>
            <a:endParaRPr lang="en-GB" sz="1600" b="0" i="0" u="none" strike="noStrike" dirty="0">
              <a:solidFill>
                <a:srgbClr val="000000"/>
              </a:solidFill>
              <a:effectLst/>
              <a:latin typeface="+mj-lt"/>
            </a:endParaRPr>
          </a:p>
        </p:txBody>
      </p:sp>
    </p:spTree>
    <p:extLst>
      <p:ext uri="{BB962C8B-B14F-4D97-AF65-F5344CB8AC3E}">
        <p14:creationId xmlns:p14="http://schemas.microsoft.com/office/powerpoint/2010/main" val="628393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BD80A51-0F8E-2914-C63A-0FB75B1C22A2}"/>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7C775BD-42F3-826F-FBBD-5124F5680A15}"/>
              </a:ext>
            </a:extLst>
          </p:cNvPr>
          <p:cNvSpPr txBox="1">
            <a:spLocks noGrp="1"/>
          </p:cNvSpPr>
          <p:nvPr>
            <p:ph type="title"/>
          </p:nvPr>
        </p:nvSpPr>
        <p:spPr>
          <a:xfrm>
            <a:off x="79248" y="86064"/>
            <a:ext cx="6987540" cy="627900"/>
          </a:xfrm>
          <a:prstGeom prst="rect">
            <a:avLst/>
          </a:prstGeom>
          <a:noFill/>
          <a:ln>
            <a:noFill/>
          </a:ln>
        </p:spPr>
        <p:txBody>
          <a:bodyPr spcFirstLastPara="1" wrap="square" lIns="91425" tIns="91425" rIns="91425" bIns="91425" anchor="t" anchorCtr="0">
            <a:noAutofit/>
          </a:bodyPr>
          <a:lstStyle/>
          <a:p>
            <a:pPr algn="ctr"/>
            <a:r>
              <a:rPr lang="en-GB" sz="2400" b="0" i="0" u="none" strike="noStrike" dirty="0">
                <a:solidFill>
                  <a:srgbClr val="7030A0"/>
                </a:solidFill>
                <a:effectLst/>
              </a:rPr>
              <a:t>Fine-Tuning BERT on </a:t>
            </a:r>
            <a:r>
              <a:rPr lang="en-GB" sz="2400" b="0" i="0" u="none" strike="noStrike" dirty="0" err="1">
                <a:solidFill>
                  <a:srgbClr val="7030A0"/>
                </a:solidFill>
                <a:effectLst/>
              </a:rPr>
              <a:t>Labeled</a:t>
            </a:r>
            <a:r>
              <a:rPr lang="en-GB" sz="2400" b="0" i="0" u="none" strike="noStrike" dirty="0">
                <a:solidFill>
                  <a:srgbClr val="7030A0"/>
                </a:solidFill>
                <a:effectLst/>
              </a:rPr>
              <a:t> Data:</a:t>
            </a:r>
            <a:br>
              <a:rPr lang="en-GB" sz="2400" b="0" i="0" u="none" strike="noStrike" dirty="0">
                <a:solidFill>
                  <a:srgbClr val="7030A0"/>
                </a:solidFill>
                <a:effectLst/>
              </a:rPr>
            </a:br>
            <a:br>
              <a:rPr lang="en-GB" sz="2400" dirty="0">
                <a:solidFill>
                  <a:srgbClr val="7030A0"/>
                </a:solidFill>
                <a:latin typeface="-webkit-standard"/>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469024A9-5761-3AC0-4B74-0A93DA601D0D}"/>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D6621A6D-65A8-1612-E290-8854ACE5F9CA}"/>
              </a:ext>
            </a:extLst>
          </p:cNvPr>
          <p:cNvSpPr txBox="1"/>
          <p:nvPr/>
        </p:nvSpPr>
        <p:spPr>
          <a:xfrm>
            <a:off x="336804" y="467862"/>
            <a:ext cx="7179564" cy="800219"/>
          </a:xfrm>
          <a:prstGeom prst="rect">
            <a:avLst/>
          </a:prstGeom>
          <a:noFill/>
        </p:spPr>
        <p:txBody>
          <a:bodyPr wrap="square">
            <a:spAutoFit/>
          </a:bodyPr>
          <a:lstStyle/>
          <a:p>
            <a:pPr algn="l">
              <a:buNone/>
            </a:pPr>
            <a:r>
              <a:rPr lang="en-GB" b="0" i="0" u="none" strike="noStrike" dirty="0">
                <a:solidFill>
                  <a:srgbClr val="000000"/>
                </a:solidFill>
                <a:effectLst/>
              </a:rPr>
              <a:t>  </a:t>
            </a:r>
          </a:p>
          <a:p>
            <a:br>
              <a:rPr lang="en-GB" sz="1600" dirty="0">
                <a:latin typeface="+mj-lt"/>
              </a:rPr>
            </a:br>
            <a:endParaRPr lang="en-US" sz="1600" dirty="0">
              <a:latin typeface="+mj-lt"/>
            </a:endParaRPr>
          </a:p>
        </p:txBody>
      </p:sp>
      <p:sp>
        <p:nvSpPr>
          <p:cNvPr id="3" name="TextBox 2">
            <a:extLst>
              <a:ext uri="{FF2B5EF4-FFF2-40B4-BE49-F238E27FC236}">
                <a16:creationId xmlns:a16="http://schemas.microsoft.com/office/drawing/2014/main" id="{42E8B6A7-A69E-9D9B-7C30-1EDB2B15A278}"/>
              </a:ext>
            </a:extLst>
          </p:cNvPr>
          <p:cNvSpPr txBox="1"/>
          <p:nvPr/>
        </p:nvSpPr>
        <p:spPr>
          <a:xfrm>
            <a:off x="336804" y="601182"/>
            <a:ext cx="7667244" cy="4278094"/>
          </a:xfrm>
          <a:prstGeom prst="rect">
            <a:avLst/>
          </a:prstGeom>
          <a:noFill/>
        </p:spPr>
        <p:txBody>
          <a:bodyPr wrap="square">
            <a:spAutoFit/>
          </a:bodyPr>
          <a:lstStyle/>
          <a:p>
            <a:pPr marL="342900" indent="-342900" algn="l">
              <a:buFont typeface="+mj-lt"/>
              <a:buAutoNum type="arabicPeriod"/>
            </a:pPr>
            <a:r>
              <a:rPr lang="en-GB" sz="1600" b="1" i="0" u="none" strike="noStrike" dirty="0">
                <a:solidFill>
                  <a:srgbClr val="000000"/>
                </a:solidFill>
                <a:effectLst/>
              </a:rPr>
              <a:t>Purpose:</a:t>
            </a:r>
            <a:r>
              <a:rPr lang="en-GB" sz="1600" b="0" i="0" u="none" strike="noStrike" dirty="0">
                <a:solidFill>
                  <a:srgbClr val="000000"/>
                </a:solidFill>
                <a:effectLst/>
              </a:rPr>
              <a:t> After pre-training, BERT undergoes fine-tuning to adapt its general language understanding to specific NLP tasks.</a:t>
            </a:r>
          </a:p>
          <a:p>
            <a:pPr marL="342900" indent="-342900" algn="l">
              <a:buFont typeface="+mj-lt"/>
              <a:buAutoNum type="arabicPeriod"/>
            </a:pPr>
            <a:r>
              <a:rPr lang="en-GB" sz="1600" b="1" i="0" u="none" strike="noStrike" dirty="0">
                <a:solidFill>
                  <a:srgbClr val="000000"/>
                </a:solidFill>
                <a:effectLst/>
              </a:rPr>
              <a:t>Process:</a:t>
            </a:r>
            <a:r>
              <a:rPr lang="en-GB" sz="1600" b="0" i="0" u="none" strike="noStrike" dirty="0">
                <a:solidFill>
                  <a:srgbClr val="000000"/>
                </a:solidFill>
                <a:effectLst/>
              </a:rPr>
              <a:t> This involves training the pre-trained BERT model on </a:t>
            </a:r>
            <a:r>
              <a:rPr lang="en-GB" sz="1600" b="0" i="0" u="none" strike="noStrike" dirty="0" err="1">
                <a:solidFill>
                  <a:srgbClr val="000000"/>
                </a:solidFill>
                <a:effectLst/>
              </a:rPr>
              <a:t>labeled</a:t>
            </a:r>
            <a:r>
              <a:rPr lang="en-GB" sz="1600" b="0" i="0" u="none" strike="noStrike" dirty="0">
                <a:solidFill>
                  <a:srgbClr val="000000"/>
                </a:solidFill>
                <a:effectLst/>
              </a:rPr>
              <a:t> data that is specific to the downstream task of interest.</a:t>
            </a:r>
          </a:p>
          <a:p>
            <a:pPr marL="342900" indent="-342900" algn="l">
              <a:buFont typeface="+mj-lt"/>
              <a:buAutoNum type="arabicPeriod"/>
            </a:pPr>
            <a:r>
              <a:rPr lang="en-GB" sz="1600" b="1" i="0" u="none" strike="noStrike" dirty="0">
                <a:solidFill>
                  <a:srgbClr val="000000"/>
                </a:solidFill>
                <a:effectLst/>
              </a:rPr>
              <a:t>Task Examples:</a:t>
            </a:r>
            <a:r>
              <a:rPr lang="en-GB" sz="1600" b="0" i="0" u="none" strike="noStrike" dirty="0">
                <a:solidFill>
                  <a:srgbClr val="000000"/>
                </a:solidFill>
                <a:effectLst/>
              </a:rPr>
              <a:t> Common downstream tasks include sentiment analysis, question-answering, and named entity recognition.</a:t>
            </a:r>
          </a:p>
          <a:p>
            <a:pPr marL="342900" indent="-342900" algn="l">
              <a:buFont typeface="+mj-lt"/>
              <a:buAutoNum type="arabicPeriod"/>
            </a:pPr>
            <a:r>
              <a:rPr lang="en-GB" sz="1600" b="1" i="0" u="none" strike="noStrike" dirty="0">
                <a:solidFill>
                  <a:srgbClr val="000000"/>
                </a:solidFill>
                <a:effectLst/>
              </a:rPr>
              <a:t>Parameter Adjustment:</a:t>
            </a:r>
            <a:r>
              <a:rPr lang="en-GB" sz="1600" b="0" i="0" u="none" strike="noStrike" dirty="0">
                <a:solidFill>
                  <a:srgbClr val="000000"/>
                </a:solidFill>
                <a:effectLst/>
              </a:rPr>
              <a:t> During fine-tuning, the parameters of the BERT model are adjusted to optimize its performance for the specific requirements of the target task.</a:t>
            </a:r>
          </a:p>
          <a:p>
            <a:pPr marL="342900" indent="-342900" algn="l">
              <a:buFont typeface="+mj-lt"/>
              <a:buAutoNum type="arabicPeriod"/>
            </a:pPr>
            <a:r>
              <a:rPr lang="en-GB" sz="1600" b="1" i="0" u="none" strike="noStrike" dirty="0">
                <a:solidFill>
                  <a:srgbClr val="000000"/>
                </a:solidFill>
                <a:effectLst/>
              </a:rPr>
              <a:t>Unified Architecture Advantage:</a:t>
            </a:r>
            <a:r>
              <a:rPr lang="en-GB" sz="1600" b="0" i="0" u="none" strike="noStrike" dirty="0">
                <a:solidFill>
                  <a:srgbClr val="000000"/>
                </a:solidFill>
                <a:effectLst/>
              </a:rPr>
              <a:t> BERT's architecture is designed to be versatile, allowing it to be adapted to various downstream tasks with minimal modifications to the core model structure.</a:t>
            </a:r>
          </a:p>
          <a:p>
            <a:pPr algn="l"/>
            <a:endParaRPr lang="en-GB" sz="1600" b="0" i="0" u="none" strike="noStrike" dirty="0">
              <a:solidFill>
                <a:srgbClr val="000000"/>
              </a:solidFill>
              <a:effectLst/>
            </a:endParaRPr>
          </a:p>
          <a:p>
            <a:pPr algn="l"/>
            <a:r>
              <a:rPr lang="en-GB" sz="1600" b="1" i="0" u="none" strike="noStrike" dirty="0">
                <a:solidFill>
                  <a:srgbClr val="000000"/>
                </a:solidFill>
                <a:effectLst/>
              </a:rPr>
              <a:t>Outcome:</a:t>
            </a:r>
            <a:r>
              <a:rPr lang="en-GB" sz="1600" b="0" i="0" u="none" strike="noStrike" dirty="0">
                <a:solidFill>
                  <a:srgbClr val="000000"/>
                </a:solidFill>
                <a:effectLst/>
              </a:rPr>
              <a:t> Fine-tuning results in a task-specific BERT model that leverages its pre-trained contextual embeddings for improved performance in natural language understanding and processing for that particular application.</a:t>
            </a:r>
          </a:p>
          <a:p>
            <a:pPr marL="342900" indent="-342900" algn="l">
              <a:buFont typeface="+mj-lt"/>
              <a:buAutoNum type="arabicPeriod"/>
            </a:pPr>
            <a:endParaRPr lang="en-GB" sz="1600" b="0" i="0" u="none" strike="noStrike" dirty="0">
              <a:solidFill>
                <a:srgbClr val="000000"/>
              </a:solidFill>
              <a:effectLst/>
            </a:endParaRPr>
          </a:p>
        </p:txBody>
      </p:sp>
    </p:spTree>
    <p:extLst>
      <p:ext uri="{BB962C8B-B14F-4D97-AF65-F5344CB8AC3E}">
        <p14:creationId xmlns:p14="http://schemas.microsoft.com/office/powerpoint/2010/main" val="3137411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E8DB9FF-F1BB-1F86-7710-5ED0C983FEF0}"/>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37D84BE-4F1F-0D57-2787-02C0D65C7D4B}"/>
              </a:ext>
            </a:extLst>
          </p:cNvPr>
          <p:cNvSpPr txBox="1">
            <a:spLocks noGrp="1"/>
          </p:cNvSpPr>
          <p:nvPr>
            <p:ph type="title"/>
          </p:nvPr>
        </p:nvSpPr>
        <p:spPr>
          <a:xfrm>
            <a:off x="79248" y="86064"/>
            <a:ext cx="6987540" cy="627900"/>
          </a:xfrm>
          <a:prstGeom prst="rect">
            <a:avLst/>
          </a:prstGeom>
          <a:noFill/>
          <a:ln>
            <a:noFill/>
          </a:ln>
        </p:spPr>
        <p:txBody>
          <a:bodyPr spcFirstLastPara="1" wrap="square" lIns="91425" tIns="91425" rIns="91425" bIns="91425" anchor="t" anchorCtr="0">
            <a:noAutofit/>
          </a:bodyPr>
          <a:lstStyle/>
          <a:p>
            <a:pPr algn="ctr"/>
            <a:r>
              <a:rPr lang="en-GB" sz="2400" i="0" u="none" strike="noStrike" dirty="0">
                <a:solidFill>
                  <a:srgbClr val="7030A0"/>
                </a:solidFill>
                <a:effectLst/>
              </a:rPr>
              <a:t>How BERT Works:</a:t>
            </a:r>
            <a:br>
              <a:rPr lang="en-GB" sz="2400" i="0" u="none" strike="noStrike" dirty="0">
                <a:solidFill>
                  <a:srgbClr val="7030A0"/>
                </a:solidFill>
                <a:effectLst/>
              </a:rPr>
            </a:br>
            <a:br>
              <a:rPr lang="en-GB" sz="2400" dirty="0">
                <a:solidFill>
                  <a:srgbClr val="7030A0"/>
                </a:solidFill>
                <a:latin typeface="-webkit-standard"/>
              </a:rPr>
            </a:br>
            <a:br>
              <a:rPr lang="en-GB" sz="2400" dirty="0">
                <a:solidFill>
                  <a:srgbClr val="7030A0"/>
                </a:solidFill>
                <a:latin typeface="-webkit-standard"/>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E6EB0830-DBE0-D760-744C-7A8DD5260627}"/>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D4F37D0F-9152-5A6E-6740-D0CE3C4BF049}"/>
              </a:ext>
            </a:extLst>
          </p:cNvPr>
          <p:cNvSpPr txBox="1"/>
          <p:nvPr/>
        </p:nvSpPr>
        <p:spPr>
          <a:xfrm>
            <a:off x="336804" y="467862"/>
            <a:ext cx="7179564" cy="800219"/>
          </a:xfrm>
          <a:prstGeom prst="rect">
            <a:avLst/>
          </a:prstGeom>
          <a:noFill/>
        </p:spPr>
        <p:txBody>
          <a:bodyPr wrap="square">
            <a:spAutoFit/>
          </a:bodyPr>
          <a:lstStyle/>
          <a:p>
            <a:pPr algn="l">
              <a:buNone/>
            </a:pPr>
            <a:r>
              <a:rPr lang="en-GB" b="0" i="0" u="none" strike="noStrike" dirty="0">
                <a:solidFill>
                  <a:srgbClr val="000000"/>
                </a:solidFill>
                <a:effectLst/>
              </a:rPr>
              <a:t>  </a:t>
            </a:r>
          </a:p>
          <a:p>
            <a:br>
              <a:rPr lang="en-GB" sz="1600" dirty="0">
                <a:latin typeface="+mj-lt"/>
              </a:rPr>
            </a:br>
            <a:endParaRPr lang="en-US" sz="1600" dirty="0">
              <a:latin typeface="+mj-lt"/>
            </a:endParaRPr>
          </a:p>
        </p:txBody>
      </p:sp>
      <p:sp>
        <p:nvSpPr>
          <p:cNvPr id="3" name="TextBox 2">
            <a:extLst>
              <a:ext uri="{FF2B5EF4-FFF2-40B4-BE49-F238E27FC236}">
                <a16:creationId xmlns:a16="http://schemas.microsoft.com/office/drawing/2014/main" id="{C6FF83B3-D25F-09BB-6DF1-31BE552E97C4}"/>
              </a:ext>
            </a:extLst>
          </p:cNvPr>
          <p:cNvSpPr txBox="1"/>
          <p:nvPr/>
        </p:nvSpPr>
        <p:spPr>
          <a:xfrm>
            <a:off x="336804" y="784062"/>
            <a:ext cx="7667244" cy="3539430"/>
          </a:xfrm>
          <a:prstGeom prst="rect">
            <a:avLst/>
          </a:prstGeom>
          <a:noFill/>
        </p:spPr>
        <p:txBody>
          <a:bodyPr wrap="square">
            <a:spAutoFit/>
          </a:bodyPr>
          <a:lstStyle/>
          <a:p>
            <a:pPr algn="l">
              <a:buNone/>
            </a:pPr>
            <a:r>
              <a:rPr lang="en-GB" sz="1600" i="0" u="none" strike="noStrike" dirty="0">
                <a:solidFill>
                  <a:srgbClr val="000000"/>
                </a:solidFill>
                <a:effectLst/>
              </a:rPr>
              <a:t>BERT focuses on generating a language model using only the encoder part of the Transformer architecture. Here's a breakdown: </a:t>
            </a:r>
          </a:p>
          <a:p>
            <a:pPr algn="l">
              <a:buNone/>
            </a:pPr>
            <a:r>
              <a:rPr lang="en-GB" sz="1600" i="0" u="none" strike="noStrike" dirty="0">
                <a:solidFill>
                  <a:srgbClr val="000000"/>
                </a:solidFill>
                <a:effectLst/>
              </a:rPr>
              <a:t>  </a:t>
            </a:r>
          </a:p>
          <a:p>
            <a:pPr algn="l">
              <a:buFont typeface="+mj-lt"/>
              <a:buAutoNum type="arabicPeriod"/>
            </a:pPr>
            <a:r>
              <a:rPr lang="en-GB" sz="1600" b="1" i="0" u="none" strike="noStrike" dirty="0">
                <a:solidFill>
                  <a:srgbClr val="000000"/>
                </a:solidFill>
                <a:effectLst/>
              </a:rPr>
              <a:t>Input Processing:</a:t>
            </a:r>
            <a:r>
              <a:rPr lang="en-GB" sz="1600" b="0" i="0" u="none" strike="noStrike" dirty="0">
                <a:solidFill>
                  <a:srgbClr val="000000"/>
                </a:solidFill>
                <a:effectLst/>
              </a:rPr>
              <a:t> A sequence of tokens (words or sub-words) is fed into the Transformer encoder.   </a:t>
            </a:r>
          </a:p>
          <a:p>
            <a:pPr algn="l">
              <a:buFont typeface="+mj-lt"/>
              <a:buAutoNum type="arabicPeriod"/>
            </a:pPr>
            <a:r>
              <a:rPr lang="en-GB" sz="1600" b="1" i="0" u="none" strike="noStrike" dirty="0">
                <a:solidFill>
                  <a:srgbClr val="000000"/>
                </a:solidFill>
                <a:effectLst/>
              </a:rPr>
              <a:t>Embedding:</a:t>
            </a:r>
            <a:r>
              <a:rPr lang="en-GB" sz="1600" b="0" i="0" u="none" strike="noStrike" dirty="0">
                <a:solidFill>
                  <a:srgbClr val="000000"/>
                </a:solidFill>
                <a:effectLst/>
              </a:rPr>
              <a:t> These tokens are first converted into vector representations (embeddings).   </a:t>
            </a:r>
          </a:p>
          <a:p>
            <a:pPr algn="l">
              <a:buFont typeface="+mj-lt"/>
              <a:buAutoNum type="arabicPeriod"/>
            </a:pPr>
            <a:r>
              <a:rPr lang="en-GB" sz="1600" b="1" i="0" u="none" strike="noStrike" dirty="0">
                <a:solidFill>
                  <a:srgbClr val="000000"/>
                </a:solidFill>
                <a:effectLst/>
              </a:rPr>
              <a:t>Transformer Encoder:</a:t>
            </a:r>
            <a:r>
              <a:rPr lang="en-GB" sz="1600" b="0" i="0" u="none" strike="noStrike" dirty="0">
                <a:solidFill>
                  <a:srgbClr val="000000"/>
                </a:solidFill>
                <a:effectLst/>
              </a:rPr>
              <a:t> The embedded tokens are processed through multiple layers of the Transformer encoder.   </a:t>
            </a:r>
          </a:p>
          <a:p>
            <a:pPr algn="l">
              <a:buFont typeface="+mj-lt"/>
              <a:buAutoNum type="arabicPeriod"/>
            </a:pPr>
            <a:r>
              <a:rPr lang="en-GB" sz="1600" b="1" i="0" u="none" strike="noStrike" dirty="0">
                <a:solidFill>
                  <a:srgbClr val="000000"/>
                </a:solidFill>
                <a:effectLst/>
              </a:rPr>
              <a:t>Contextualized Output:</a:t>
            </a:r>
            <a:r>
              <a:rPr lang="en-GB" sz="1600" b="0" i="0" u="none" strike="noStrike" dirty="0">
                <a:solidFill>
                  <a:srgbClr val="000000"/>
                </a:solidFill>
                <a:effectLst/>
              </a:rPr>
              <a:t> The encoder outputs a sequence of vectors, where each vector corresponds to an input token. Crucially, these output vectors are </a:t>
            </a:r>
            <a:r>
              <a:rPr lang="en-GB" sz="1600" b="1" i="0" u="none" strike="noStrike" dirty="0">
                <a:solidFill>
                  <a:srgbClr val="000000"/>
                </a:solidFill>
                <a:effectLst/>
              </a:rPr>
              <a:t>contextualized</a:t>
            </a:r>
            <a:r>
              <a:rPr lang="en-GB" sz="1600" b="0" i="0" u="none" strike="noStrike" dirty="0">
                <a:solidFill>
                  <a:srgbClr val="000000"/>
                </a:solidFill>
                <a:effectLst/>
              </a:rPr>
              <a:t>, meaning they capture the meaning of the word based on its surrounding words in the sentence.   </a:t>
            </a:r>
          </a:p>
          <a:p>
            <a:pPr algn="l"/>
            <a:endParaRPr lang="en-GB" sz="1600" b="0" i="0" u="none" strike="noStrike" dirty="0">
              <a:solidFill>
                <a:srgbClr val="000000"/>
              </a:solidFill>
              <a:effectLst/>
            </a:endParaRPr>
          </a:p>
        </p:txBody>
      </p:sp>
    </p:spTree>
    <p:extLst>
      <p:ext uri="{BB962C8B-B14F-4D97-AF65-F5344CB8AC3E}">
        <p14:creationId xmlns:p14="http://schemas.microsoft.com/office/powerpoint/2010/main" val="169900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AA33CB54-6FFC-D023-5EED-195FF66A7B6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CBF06B16-A661-F5F4-AB90-3290347DC313}"/>
              </a:ext>
            </a:extLst>
          </p:cNvPr>
          <p:cNvSpPr txBox="1">
            <a:spLocks noGrp="1"/>
          </p:cNvSpPr>
          <p:nvPr>
            <p:ph type="title"/>
          </p:nvPr>
        </p:nvSpPr>
        <p:spPr>
          <a:xfrm>
            <a:off x="79248" y="86064"/>
            <a:ext cx="6987540" cy="627900"/>
          </a:xfrm>
          <a:prstGeom prst="rect">
            <a:avLst/>
          </a:prstGeom>
          <a:noFill/>
          <a:ln>
            <a:noFill/>
          </a:ln>
        </p:spPr>
        <p:txBody>
          <a:bodyPr spcFirstLastPara="1" wrap="square" lIns="91425" tIns="91425" rIns="91425" bIns="91425" anchor="t" anchorCtr="0">
            <a:noAutofit/>
          </a:bodyPr>
          <a:lstStyle/>
          <a:p>
            <a:pPr algn="ctr"/>
            <a:r>
              <a:rPr lang="en-GB" sz="2400" i="0" u="none" strike="noStrike" dirty="0">
                <a:solidFill>
                  <a:srgbClr val="7030A0"/>
                </a:solidFill>
                <a:effectLst/>
              </a:rPr>
              <a:t>Innovative Training Strategies:</a:t>
            </a:r>
            <a:br>
              <a:rPr lang="en-GB" sz="2400" i="0" u="none" strike="noStrike" dirty="0">
                <a:solidFill>
                  <a:srgbClr val="7030A0"/>
                </a:solidFill>
                <a:effectLst/>
              </a:rPr>
            </a:br>
            <a:br>
              <a:rPr lang="en-GB" sz="2400" i="0" u="none" strike="noStrike" dirty="0">
                <a:solidFill>
                  <a:srgbClr val="7030A0"/>
                </a:solidFill>
                <a:effectLst/>
              </a:rPr>
            </a:br>
            <a:br>
              <a:rPr lang="en-GB" sz="2400" dirty="0">
                <a:solidFill>
                  <a:srgbClr val="7030A0"/>
                </a:solidFill>
                <a:latin typeface="-webkit-standard"/>
              </a:rPr>
            </a:br>
            <a:br>
              <a:rPr lang="en-GB" sz="2400" dirty="0">
                <a:solidFill>
                  <a:srgbClr val="7030A0"/>
                </a:solidFill>
                <a:latin typeface="-webkit-standard"/>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71F8A972-742A-1597-9D59-B0D5FBBA4B3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41CC1573-5123-DC08-E845-0C472DB8713B}"/>
              </a:ext>
            </a:extLst>
          </p:cNvPr>
          <p:cNvSpPr txBox="1"/>
          <p:nvPr/>
        </p:nvSpPr>
        <p:spPr>
          <a:xfrm>
            <a:off x="336804" y="467862"/>
            <a:ext cx="7179564" cy="800219"/>
          </a:xfrm>
          <a:prstGeom prst="rect">
            <a:avLst/>
          </a:prstGeom>
          <a:noFill/>
        </p:spPr>
        <p:txBody>
          <a:bodyPr wrap="square">
            <a:spAutoFit/>
          </a:bodyPr>
          <a:lstStyle/>
          <a:p>
            <a:pPr algn="l">
              <a:buNone/>
            </a:pPr>
            <a:r>
              <a:rPr lang="en-GB" b="0" i="0" u="none" strike="noStrike" dirty="0">
                <a:solidFill>
                  <a:srgbClr val="000000"/>
                </a:solidFill>
                <a:effectLst/>
              </a:rPr>
              <a:t>  </a:t>
            </a:r>
          </a:p>
          <a:p>
            <a:br>
              <a:rPr lang="en-GB" sz="1600" dirty="0">
                <a:latin typeface="+mj-lt"/>
              </a:rPr>
            </a:br>
            <a:endParaRPr lang="en-US" sz="1600" dirty="0">
              <a:latin typeface="+mj-lt"/>
            </a:endParaRPr>
          </a:p>
        </p:txBody>
      </p:sp>
      <p:sp>
        <p:nvSpPr>
          <p:cNvPr id="3" name="TextBox 2">
            <a:extLst>
              <a:ext uri="{FF2B5EF4-FFF2-40B4-BE49-F238E27FC236}">
                <a16:creationId xmlns:a16="http://schemas.microsoft.com/office/drawing/2014/main" id="{28F41144-9280-A11D-A0EF-04BB0A40E1C8}"/>
              </a:ext>
            </a:extLst>
          </p:cNvPr>
          <p:cNvSpPr txBox="1"/>
          <p:nvPr/>
        </p:nvSpPr>
        <p:spPr>
          <a:xfrm>
            <a:off x="336804" y="784062"/>
            <a:ext cx="7667244" cy="4216539"/>
          </a:xfrm>
          <a:prstGeom prst="rect">
            <a:avLst/>
          </a:prstGeom>
          <a:noFill/>
        </p:spPr>
        <p:txBody>
          <a:bodyPr wrap="square">
            <a:spAutoFit/>
          </a:bodyPr>
          <a:lstStyle/>
          <a:p>
            <a:pPr algn="l">
              <a:buNone/>
            </a:pPr>
            <a:r>
              <a:rPr lang="en-GB" b="0" i="0" u="none" strike="noStrike" dirty="0">
                <a:solidFill>
                  <a:srgbClr val="000000"/>
                </a:solidFill>
                <a:effectLst/>
              </a:rPr>
              <a:t>To effectively train its language model, BERT employs two unique and simultaneous pre-training tasks:   </a:t>
            </a:r>
          </a:p>
          <a:p>
            <a:pPr algn="l">
              <a:buNone/>
            </a:pPr>
            <a:r>
              <a:rPr lang="en-GB" b="1" i="0" u="none" strike="noStrike" dirty="0">
                <a:solidFill>
                  <a:srgbClr val="000000"/>
                </a:solidFill>
                <a:effectLst/>
              </a:rPr>
              <a:t>1. Masked Language Model (MLM):</a:t>
            </a:r>
            <a:endParaRPr lang="en-GB" b="0" i="0" u="none" strike="noStrike" dirty="0">
              <a:solidFill>
                <a:srgbClr val="000000"/>
              </a:solidFill>
              <a:effectLst/>
            </a:endParaRPr>
          </a:p>
          <a:p>
            <a:pPr marL="285750" indent="-285750" algn="l">
              <a:buFont typeface="Wingdings" pitchFamily="2" charset="2"/>
              <a:buChar char="Ø"/>
            </a:pPr>
            <a:r>
              <a:rPr lang="en-GB" b="1" i="0" u="none" strike="noStrike" dirty="0">
                <a:solidFill>
                  <a:srgbClr val="000000"/>
                </a:solidFill>
                <a:effectLst/>
              </a:rPr>
              <a:t>Masking:</a:t>
            </a:r>
            <a:r>
              <a:rPr lang="en-GB" b="0" i="0" u="none" strike="noStrike" dirty="0">
                <a:solidFill>
                  <a:srgbClr val="000000"/>
                </a:solidFill>
                <a:effectLst/>
              </a:rPr>
              <a:t> During pre-training, a random 15% of the words in each input sentence are replaced with a special [MASK] token.</a:t>
            </a:r>
          </a:p>
          <a:p>
            <a:pPr marL="285750" indent="-285750" algn="l">
              <a:buFont typeface="Wingdings" pitchFamily="2" charset="2"/>
              <a:buChar char="Ø"/>
            </a:pPr>
            <a:r>
              <a:rPr lang="en-GB" b="1" i="0" u="none" strike="noStrike" dirty="0">
                <a:solidFill>
                  <a:srgbClr val="000000"/>
                </a:solidFill>
                <a:effectLst/>
              </a:rPr>
              <a:t>Prediction Task:</a:t>
            </a:r>
            <a:r>
              <a:rPr lang="en-GB" b="0" i="0" u="none" strike="noStrike" dirty="0">
                <a:solidFill>
                  <a:srgbClr val="000000"/>
                </a:solidFill>
                <a:effectLst/>
              </a:rPr>
              <a:t> BERT's objective is to predict the original identity of these masked words based on the context of the unmasked words in the sentence.   </a:t>
            </a:r>
          </a:p>
          <a:p>
            <a:pPr marL="285750" indent="-285750" algn="l">
              <a:buFont typeface="Wingdings" pitchFamily="2" charset="2"/>
              <a:buChar char="Ø"/>
            </a:pPr>
            <a:r>
              <a:rPr lang="en-GB" b="1" i="0" u="none" strike="noStrike" dirty="0">
                <a:solidFill>
                  <a:srgbClr val="000000"/>
                </a:solidFill>
                <a:effectLst/>
              </a:rPr>
              <a:t>Learning Mechanism:</a:t>
            </a:r>
            <a:endParaRPr lang="en-GB" b="0" i="0" u="none" strike="noStrike" dirty="0">
              <a:solidFill>
                <a:srgbClr val="000000"/>
              </a:solidFill>
              <a:effectLst/>
            </a:endParaRPr>
          </a:p>
          <a:p>
            <a:pPr marL="742950" lvl="1" indent="-285750" algn="l">
              <a:buFont typeface="Wingdings" pitchFamily="2" charset="2"/>
              <a:buChar char="Ø"/>
            </a:pPr>
            <a:r>
              <a:rPr lang="en-GB" b="0" i="0" u="none" strike="noStrike" dirty="0">
                <a:solidFill>
                  <a:srgbClr val="000000"/>
                </a:solidFill>
                <a:effectLst/>
              </a:rPr>
              <a:t>A classification layer is added on top of the encoder's output for each token.   </a:t>
            </a:r>
          </a:p>
          <a:p>
            <a:pPr marL="742950" lvl="1" indent="-285750" algn="l">
              <a:buFont typeface="Wingdings" pitchFamily="2" charset="2"/>
              <a:buChar char="Ø"/>
            </a:pPr>
            <a:r>
              <a:rPr lang="en-GB" b="0" i="0" u="none" strike="noStrike" dirty="0">
                <a:solidFill>
                  <a:srgbClr val="000000"/>
                </a:solidFill>
                <a:effectLst/>
              </a:rPr>
              <a:t>The output vectors from this layer are multiplied by the embedding matrix to map them back to the vocabulary space.   </a:t>
            </a:r>
          </a:p>
          <a:p>
            <a:pPr marL="742950" lvl="1" indent="-285750" algn="l">
              <a:buFont typeface="Wingdings" pitchFamily="2" charset="2"/>
              <a:buChar char="Ø"/>
            </a:pPr>
            <a:r>
              <a:rPr lang="en-GB" b="0" i="0" u="none" strike="noStrike" dirty="0">
                <a:solidFill>
                  <a:srgbClr val="000000"/>
                </a:solidFill>
                <a:effectLst/>
              </a:rPr>
              <a:t>A SoftMax function is applied to calculate the probability of each word in the vocabulary being the masked word.</a:t>
            </a:r>
          </a:p>
          <a:p>
            <a:pPr marL="742950" lvl="1" indent="-285750" algn="l">
              <a:buFont typeface="Wingdings" pitchFamily="2" charset="2"/>
              <a:buChar char="Ø"/>
            </a:pPr>
            <a:r>
              <a:rPr lang="en-GB" b="0" i="0" u="none" strike="noStrike" dirty="0">
                <a:solidFill>
                  <a:srgbClr val="000000"/>
                </a:solidFill>
                <a:effectLst/>
              </a:rPr>
              <a:t>The training loss only considers the predictions for the masked positions.</a:t>
            </a:r>
          </a:p>
          <a:p>
            <a:pPr marL="285750" indent="-285750" algn="l">
              <a:buFont typeface="Wingdings" pitchFamily="2" charset="2"/>
              <a:buChar char="Ø"/>
            </a:pPr>
            <a:r>
              <a:rPr lang="en-GB" b="1" i="0" u="none" strike="noStrike" dirty="0">
                <a:solidFill>
                  <a:srgbClr val="000000"/>
                </a:solidFill>
                <a:effectLst/>
              </a:rPr>
              <a:t>Benefit:</a:t>
            </a:r>
            <a:r>
              <a:rPr lang="en-GB" b="0" i="0" u="none" strike="noStrike" dirty="0">
                <a:solidFill>
                  <a:srgbClr val="000000"/>
                </a:solidFill>
                <a:effectLst/>
              </a:rPr>
              <a:t> This task forces BERT to understand the meaning of words in their full bidirectional context, leading to rich contextual embeddings. While it might lead to slower convergence compared to unidirectional models, the enhanced context understanding is a significant advantage.</a:t>
            </a:r>
          </a:p>
          <a:p>
            <a:pPr algn="l"/>
            <a:endParaRPr lang="en-GB" sz="1600" b="0" i="0" u="none" strike="noStrike" dirty="0">
              <a:solidFill>
                <a:srgbClr val="000000"/>
              </a:solidFill>
              <a:effectLst/>
            </a:endParaRPr>
          </a:p>
        </p:txBody>
      </p:sp>
    </p:spTree>
    <p:extLst>
      <p:ext uri="{BB962C8B-B14F-4D97-AF65-F5344CB8AC3E}">
        <p14:creationId xmlns:p14="http://schemas.microsoft.com/office/powerpoint/2010/main" val="18501981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C90A0EF1-269C-8535-A990-EA06D82AE0FA}"/>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1902FC6-15EB-8D10-F38E-28BA5EAA81EF}"/>
              </a:ext>
            </a:extLst>
          </p:cNvPr>
          <p:cNvSpPr txBox="1">
            <a:spLocks noGrp="1"/>
          </p:cNvSpPr>
          <p:nvPr>
            <p:ph type="title"/>
          </p:nvPr>
        </p:nvSpPr>
        <p:spPr>
          <a:xfrm>
            <a:off x="79248" y="86064"/>
            <a:ext cx="6987540" cy="627900"/>
          </a:xfrm>
          <a:prstGeom prst="rect">
            <a:avLst/>
          </a:prstGeom>
          <a:noFill/>
          <a:ln>
            <a:noFill/>
          </a:ln>
        </p:spPr>
        <p:txBody>
          <a:bodyPr spcFirstLastPara="1" wrap="square" lIns="91425" tIns="91425" rIns="91425" bIns="91425" anchor="t" anchorCtr="0">
            <a:noAutofit/>
          </a:bodyPr>
          <a:lstStyle/>
          <a:p>
            <a:pPr algn="ctr"/>
            <a:r>
              <a:rPr lang="en-GB" sz="2400" i="0" u="none" strike="noStrike" dirty="0">
                <a:solidFill>
                  <a:srgbClr val="7030A0"/>
                </a:solidFill>
                <a:effectLst/>
              </a:rPr>
              <a:t>Innovative Training Strategies:</a:t>
            </a:r>
            <a:br>
              <a:rPr lang="en-GB" sz="2400" i="0" u="none" strike="noStrike" dirty="0">
                <a:solidFill>
                  <a:srgbClr val="7030A0"/>
                </a:solidFill>
                <a:effectLst/>
              </a:rPr>
            </a:br>
            <a:br>
              <a:rPr lang="en-GB" sz="2400" i="0" u="none" strike="noStrike" dirty="0">
                <a:solidFill>
                  <a:srgbClr val="7030A0"/>
                </a:solidFill>
                <a:effectLst/>
              </a:rPr>
            </a:br>
            <a:br>
              <a:rPr lang="en-GB" sz="2400" dirty="0">
                <a:solidFill>
                  <a:srgbClr val="7030A0"/>
                </a:solidFill>
                <a:latin typeface="-webkit-standard"/>
              </a:rPr>
            </a:br>
            <a:br>
              <a:rPr lang="en-GB" sz="2400" dirty="0">
                <a:solidFill>
                  <a:srgbClr val="7030A0"/>
                </a:solidFill>
                <a:latin typeface="-webkit-standard"/>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90E7E5FB-AFE4-3B46-9782-D12290774B17}"/>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A913E6F9-893A-5E61-5680-D014FBA52013}"/>
              </a:ext>
            </a:extLst>
          </p:cNvPr>
          <p:cNvSpPr txBox="1"/>
          <p:nvPr/>
        </p:nvSpPr>
        <p:spPr>
          <a:xfrm>
            <a:off x="337566" y="-130446"/>
            <a:ext cx="7179564" cy="800219"/>
          </a:xfrm>
          <a:prstGeom prst="rect">
            <a:avLst/>
          </a:prstGeom>
          <a:noFill/>
        </p:spPr>
        <p:txBody>
          <a:bodyPr wrap="square">
            <a:spAutoFit/>
          </a:bodyPr>
          <a:lstStyle/>
          <a:p>
            <a:pPr algn="l">
              <a:buNone/>
            </a:pPr>
            <a:r>
              <a:rPr lang="en-GB" b="0" i="0" u="none" strike="noStrike" dirty="0">
                <a:solidFill>
                  <a:srgbClr val="000000"/>
                </a:solidFill>
                <a:effectLst/>
              </a:rPr>
              <a:t>  </a:t>
            </a:r>
          </a:p>
          <a:p>
            <a:br>
              <a:rPr lang="en-GB" sz="1600" dirty="0">
                <a:latin typeface="+mj-lt"/>
              </a:rPr>
            </a:br>
            <a:endParaRPr lang="en-US" sz="1600" dirty="0">
              <a:latin typeface="+mj-lt"/>
            </a:endParaRPr>
          </a:p>
        </p:txBody>
      </p:sp>
      <p:sp>
        <p:nvSpPr>
          <p:cNvPr id="3" name="TextBox 2">
            <a:extLst>
              <a:ext uri="{FF2B5EF4-FFF2-40B4-BE49-F238E27FC236}">
                <a16:creationId xmlns:a16="http://schemas.microsoft.com/office/drawing/2014/main" id="{68D43AA7-B6BD-2D19-7977-4811BFC2F797}"/>
              </a:ext>
            </a:extLst>
          </p:cNvPr>
          <p:cNvSpPr txBox="1"/>
          <p:nvPr/>
        </p:nvSpPr>
        <p:spPr>
          <a:xfrm>
            <a:off x="300228" y="486173"/>
            <a:ext cx="8087868" cy="4647426"/>
          </a:xfrm>
          <a:prstGeom prst="rect">
            <a:avLst/>
          </a:prstGeom>
          <a:noFill/>
        </p:spPr>
        <p:txBody>
          <a:bodyPr wrap="square">
            <a:spAutoFit/>
          </a:bodyPr>
          <a:lstStyle/>
          <a:p>
            <a:pPr rtl="0">
              <a:buNone/>
            </a:pPr>
            <a:r>
              <a:rPr lang="en-GB" b="1" dirty="0">
                <a:effectLst/>
              </a:rPr>
              <a:t>2. Next Sentence Prediction (NSP):</a:t>
            </a:r>
            <a:endParaRPr lang="en-GB" dirty="0">
              <a:effectLst/>
            </a:endParaRPr>
          </a:p>
          <a:p>
            <a:pPr marL="285750" indent="-285750" rtl="0">
              <a:buFont typeface="Wingdings" pitchFamily="2" charset="2"/>
              <a:buChar char="Ø"/>
            </a:pPr>
            <a:r>
              <a:rPr lang="en-GB" b="1" dirty="0">
                <a:effectLst/>
              </a:rPr>
              <a:t>Objective:</a:t>
            </a:r>
            <a:r>
              <a:rPr lang="en-GB" dirty="0">
                <a:effectLst/>
              </a:rPr>
              <a:t> BERT is trained to predict whether a second sentence in a given pair is the subsequent sentence to the first sentence in the original document.   </a:t>
            </a:r>
          </a:p>
          <a:p>
            <a:pPr marL="285750" indent="-285750" rtl="0">
              <a:buFont typeface="Wingdings" pitchFamily="2" charset="2"/>
              <a:buChar char="Ø"/>
            </a:pPr>
            <a:r>
              <a:rPr lang="en-GB" b="1" dirty="0">
                <a:effectLst/>
              </a:rPr>
              <a:t>Data Preparation:</a:t>
            </a:r>
            <a:r>
              <a:rPr lang="en-GB" dirty="0">
                <a:effectLst/>
              </a:rPr>
              <a:t> During pre-training, 50% of the input pairs consist of consecutive sentences from a document, while the other 50% consist of a random pair of sentences.   </a:t>
            </a:r>
          </a:p>
          <a:p>
            <a:pPr marL="285750" indent="-285750" rtl="0">
              <a:buFont typeface="Wingdings" pitchFamily="2" charset="2"/>
              <a:buChar char="Ø"/>
            </a:pPr>
            <a:r>
              <a:rPr lang="en-GB" b="1" dirty="0">
                <a:effectLst/>
              </a:rPr>
              <a:t>Input Formatting:</a:t>
            </a:r>
            <a:r>
              <a:rPr lang="en-GB" dirty="0">
                <a:effectLst/>
              </a:rPr>
              <a:t> Before feeding into BERT:</a:t>
            </a:r>
          </a:p>
          <a:p>
            <a:pPr marL="800100" lvl="1" indent="-342900" rtl="0">
              <a:buFont typeface="+mj-lt"/>
              <a:buAutoNum type="arabicPeriod"/>
            </a:pPr>
            <a:r>
              <a:rPr lang="en-GB" dirty="0">
                <a:effectLst/>
              </a:rPr>
              <a:t>A [CLS] token is added at the beginning of the first sentence.   </a:t>
            </a:r>
          </a:p>
          <a:p>
            <a:pPr marL="800100" lvl="1" indent="-342900" rtl="0">
              <a:buFont typeface="+mj-lt"/>
              <a:buAutoNum type="arabicPeriod"/>
            </a:pPr>
            <a:r>
              <a:rPr lang="en-GB" dirty="0">
                <a:effectLst/>
              </a:rPr>
              <a:t>A [SEP] token is added at the end of each sentence.</a:t>
            </a:r>
          </a:p>
          <a:p>
            <a:pPr marL="800100" lvl="1" indent="-342900" rtl="0">
              <a:buFont typeface="+mj-lt"/>
              <a:buAutoNum type="arabicPeriod"/>
            </a:pPr>
            <a:r>
              <a:rPr lang="en-GB" dirty="0">
                <a:effectLst/>
              </a:rPr>
              <a:t>Sentence embeddings are added to each token to indicate whether it belongs to Sentence A or Sentence B.   </a:t>
            </a:r>
          </a:p>
          <a:p>
            <a:pPr marL="800100" lvl="1" indent="-342900" rtl="0">
              <a:buFont typeface="+mj-lt"/>
              <a:buAutoNum type="arabicPeriod"/>
            </a:pPr>
            <a:r>
              <a:rPr lang="en-GB" dirty="0">
                <a:effectLst/>
              </a:rPr>
              <a:t>Positional embeddings are added to indicate the position of each token in the sequence.   </a:t>
            </a:r>
          </a:p>
          <a:p>
            <a:pPr marL="285750" indent="-285750" rtl="0">
              <a:buFont typeface="Wingdings" pitchFamily="2" charset="2"/>
              <a:buChar char="Ø"/>
            </a:pPr>
            <a:r>
              <a:rPr lang="en-GB" b="1" dirty="0">
                <a:effectLst/>
              </a:rPr>
              <a:t>Prediction Mechanism:</a:t>
            </a:r>
            <a:r>
              <a:rPr lang="en-GB" dirty="0">
                <a:effectLst/>
              </a:rPr>
              <a:t> The output vector of the [CLS] token is passed through a classification layer with a SoftMax function to predict a 2-way probability (</a:t>
            </a:r>
            <a:r>
              <a:rPr lang="en-GB" dirty="0" err="1">
                <a:effectLst/>
              </a:rPr>
              <a:t>IsNext</a:t>
            </a:r>
            <a:r>
              <a:rPr lang="en-GB" dirty="0">
                <a:effectLst/>
              </a:rPr>
              <a:t> or </a:t>
            </a:r>
            <a:r>
              <a:rPr lang="en-GB" dirty="0" err="1">
                <a:effectLst/>
              </a:rPr>
              <a:t>NotNext</a:t>
            </a:r>
            <a:r>
              <a:rPr lang="en-GB" dirty="0">
                <a:effectLst/>
              </a:rPr>
              <a:t>).   </a:t>
            </a:r>
          </a:p>
          <a:p>
            <a:pPr marL="285750" indent="-285750" rtl="0">
              <a:buFont typeface="Wingdings" pitchFamily="2" charset="2"/>
              <a:buChar char="Ø"/>
            </a:pPr>
            <a:r>
              <a:rPr lang="en-GB" b="1" dirty="0">
                <a:effectLst/>
              </a:rPr>
              <a:t>Benefit:</a:t>
            </a:r>
            <a:r>
              <a:rPr lang="en-GB" dirty="0">
                <a:effectLst/>
              </a:rPr>
              <a:t> This task helps BERT understand the relationships between sentences, which is beneficial for downstream tasks like question answering and natural language inference.   </a:t>
            </a:r>
          </a:p>
          <a:p>
            <a:pPr rtl="0">
              <a:buNone/>
            </a:pPr>
            <a:r>
              <a:rPr lang="en-GB" b="1" dirty="0">
                <a:effectLst/>
              </a:rPr>
              <a:t>Combined Training:</a:t>
            </a:r>
            <a:endParaRPr lang="en-GB" dirty="0">
              <a:effectLst/>
            </a:endParaRPr>
          </a:p>
          <a:p>
            <a:pPr rtl="0">
              <a:buNone/>
            </a:pPr>
            <a:r>
              <a:rPr lang="en-GB" dirty="0">
                <a:effectLst/>
              </a:rPr>
              <a:t>The MLM and NSP tasks are trained </a:t>
            </a:r>
            <a:r>
              <a:rPr lang="en-GB" b="1" dirty="0">
                <a:effectLst/>
              </a:rPr>
              <a:t>simultaneously</a:t>
            </a:r>
            <a:r>
              <a:rPr lang="en-GB" dirty="0">
                <a:effectLst/>
              </a:rPr>
              <a:t>. BERT's training objective is to minimize the combined loss function of both tasks, resulting in a powerful and versatile language model capable of understanding context within and relationships between sentences.   </a:t>
            </a:r>
          </a:p>
          <a:p>
            <a:pPr algn="l"/>
            <a:r>
              <a:rPr lang="en-GB" b="0" i="0" u="none" strike="noStrike" dirty="0">
                <a:solidFill>
                  <a:srgbClr val="000000"/>
                </a:solidFill>
                <a:effectLst/>
              </a:rPr>
              <a:t>Sources and related content </a:t>
            </a:r>
          </a:p>
          <a:p>
            <a:pPr algn="l"/>
            <a:endParaRPr lang="en-GB" sz="1600" b="0" i="0" u="none" strike="noStrike" dirty="0">
              <a:solidFill>
                <a:srgbClr val="000000"/>
              </a:solidFill>
              <a:effectLst/>
            </a:endParaRPr>
          </a:p>
        </p:txBody>
      </p:sp>
    </p:spTree>
    <p:extLst>
      <p:ext uri="{BB962C8B-B14F-4D97-AF65-F5344CB8AC3E}">
        <p14:creationId xmlns:p14="http://schemas.microsoft.com/office/powerpoint/2010/main" val="11414990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5412F3C-DBBC-E526-4A9A-14F98EF3A5B0}"/>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430FDA75-3C3D-D7D3-51A2-8BD827003442}"/>
              </a:ext>
            </a:extLst>
          </p:cNvPr>
          <p:cNvSpPr txBox="1">
            <a:spLocks noGrp="1"/>
          </p:cNvSpPr>
          <p:nvPr>
            <p:ph type="title"/>
          </p:nvPr>
        </p:nvSpPr>
        <p:spPr>
          <a:xfrm>
            <a:off x="79248" y="86064"/>
            <a:ext cx="6987540"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rPr>
              <a:t>MLM and NSP </a:t>
            </a:r>
            <a:r>
              <a:rPr lang="en-GB" sz="2400" i="0" u="none" strike="noStrike" dirty="0">
                <a:solidFill>
                  <a:srgbClr val="7030A0"/>
                </a:solidFill>
                <a:effectLst/>
              </a:rPr>
              <a:t>together:</a:t>
            </a:r>
            <a:br>
              <a:rPr lang="en-GB" sz="2400" i="0" u="none" strike="noStrike" dirty="0">
                <a:solidFill>
                  <a:srgbClr val="7030A0"/>
                </a:solidFill>
                <a:effectLst/>
              </a:rPr>
            </a:br>
            <a:br>
              <a:rPr lang="en-GB" sz="2400" i="0" u="none" strike="noStrike" dirty="0">
                <a:solidFill>
                  <a:srgbClr val="7030A0"/>
                </a:solidFill>
                <a:effectLst/>
              </a:rPr>
            </a:br>
            <a:br>
              <a:rPr lang="en-GB" sz="2400" dirty="0">
                <a:solidFill>
                  <a:srgbClr val="7030A0"/>
                </a:solidFill>
                <a:latin typeface="-webkit-standard"/>
              </a:rPr>
            </a:br>
            <a:br>
              <a:rPr lang="en-GB" sz="2400" dirty="0">
                <a:solidFill>
                  <a:srgbClr val="7030A0"/>
                </a:solidFill>
                <a:latin typeface="-webkit-standard"/>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35DA52DA-720B-4BA6-48CE-BA9AF73AB01D}"/>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055383DB-EE4F-5837-2009-8125FAC1D9D4}"/>
              </a:ext>
            </a:extLst>
          </p:cNvPr>
          <p:cNvSpPr txBox="1"/>
          <p:nvPr/>
        </p:nvSpPr>
        <p:spPr>
          <a:xfrm>
            <a:off x="300228" y="486173"/>
            <a:ext cx="8087868" cy="4647426"/>
          </a:xfrm>
          <a:prstGeom prst="rect">
            <a:avLst/>
          </a:prstGeom>
          <a:noFill/>
        </p:spPr>
        <p:txBody>
          <a:bodyPr wrap="square">
            <a:spAutoFit/>
          </a:bodyPr>
          <a:lstStyle/>
          <a:p>
            <a:pPr algn="l">
              <a:buNone/>
            </a:pPr>
            <a:br>
              <a:rPr lang="en-GB" b="1" dirty="0">
                <a:effectLst/>
              </a:rPr>
            </a:br>
            <a:r>
              <a:rPr lang="en-GB" b="0" i="0" u="none" strike="noStrike" dirty="0">
                <a:solidFill>
                  <a:srgbClr val="000000"/>
                </a:solidFill>
                <a:effectLst/>
              </a:rPr>
              <a:t>Training Masked Language Model (MLM) and Next Sentence Prediction (NSP) together is crucial for BERT to develop a more holistic and comprehensive understanding of language because:</a:t>
            </a:r>
          </a:p>
          <a:p>
            <a:pPr marL="342900" indent="-342900" algn="l">
              <a:buFont typeface="+mj-lt"/>
              <a:buAutoNum type="arabicPeriod"/>
            </a:pPr>
            <a:r>
              <a:rPr lang="en-GB" b="1" i="0" u="none" strike="noStrike" dirty="0">
                <a:solidFill>
                  <a:srgbClr val="000000"/>
                </a:solidFill>
                <a:effectLst/>
              </a:rPr>
              <a:t>MLM focuses on intra-sentence understanding:</a:t>
            </a:r>
            <a:r>
              <a:rPr lang="en-GB" b="0" i="0" u="none" strike="noStrike" dirty="0">
                <a:solidFill>
                  <a:srgbClr val="000000"/>
                </a:solidFill>
                <a:effectLst/>
              </a:rPr>
              <a:t> It forces BERT to understand the meaning and context of individual words within a sentence by predicting masked words based on their surrounding words. This allows BERT to learn rich, bidirectional contextual representations for each token.</a:t>
            </a:r>
          </a:p>
          <a:p>
            <a:pPr marL="342900" indent="-342900" algn="l">
              <a:buFont typeface="+mj-lt"/>
              <a:buAutoNum type="arabicPeriod"/>
            </a:pPr>
            <a:r>
              <a:rPr lang="en-GB" b="1" i="0" u="none" strike="noStrike" dirty="0">
                <a:solidFill>
                  <a:srgbClr val="000000"/>
                </a:solidFill>
                <a:effectLst/>
              </a:rPr>
              <a:t>NSP focuses on inter-sentence understanding:</a:t>
            </a:r>
            <a:r>
              <a:rPr lang="en-GB" b="0" i="0" u="none" strike="noStrike" dirty="0">
                <a:solidFill>
                  <a:srgbClr val="000000"/>
                </a:solidFill>
                <a:effectLst/>
              </a:rPr>
              <a:t> It trains BERT to understand the semantic relationship and coherence between pairs of sentences. By predicting whether two sentences are consecutive in the original text, BERT learns to grasp the flow of information and the logical connections between different parts of a text.</a:t>
            </a:r>
          </a:p>
          <a:p>
            <a:pPr algn="l">
              <a:buNone/>
            </a:pPr>
            <a:r>
              <a:rPr lang="en-GB" b="0" i="0" u="none" strike="noStrike" dirty="0">
                <a:solidFill>
                  <a:srgbClr val="000000"/>
                </a:solidFill>
                <a:effectLst/>
              </a:rPr>
              <a:t>By training these two tasks jointly, BERT learns to:</a:t>
            </a:r>
          </a:p>
          <a:p>
            <a:pPr marL="342900" indent="-342900" algn="l">
              <a:buFont typeface="+mj-lt"/>
              <a:buAutoNum type="arabicPeriod"/>
            </a:pPr>
            <a:r>
              <a:rPr lang="en-GB" b="1" i="0" u="none" strike="noStrike" dirty="0">
                <a:solidFill>
                  <a:srgbClr val="000000"/>
                </a:solidFill>
                <a:effectLst/>
              </a:rPr>
              <a:t>Understand the nuanced meaning of words within their sentential context (MLM).</a:t>
            </a:r>
            <a:endParaRPr lang="en-GB" b="0" i="0" u="none" strike="noStrike" dirty="0">
              <a:solidFill>
                <a:srgbClr val="000000"/>
              </a:solidFill>
              <a:effectLst/>
            </a:endParaRPr>
          </a:p>
          <a:p>
            <a:pPr marL="342900" indent="-342900" algn="l">
              <a:buFont typeface="+mj-lt"/>
              <a:buAutoNum type="arabicPeriod"/>
            </a:pPr>
            <a:r>
              <a:rPr lang="en-GB" b="1" i="0" u="none" strike="noStrike" dirty="0">
                <a:solidFill>
                  <a:srgbClr val="000000"/>
                </a:solidFill>
                <a:effectLst/>
              </a:rPr>
              <a:t>Understand how different sentences relate to each other in a larger discourse (NSP).</a:t>
            </a:r>
            <a:endParaRPr lang="en-GB" b="0" i="0" u="none" strike="noStrike" dirty="0">
              <a:solidFill>
                <a:srgbClr val="000000"/>
              </a:solidFill>
              <a:effectLst/>
            </a:endParaRPr>
          </a:p>
          <a:p>
            <a:pPr algn="l"/>
            <a:r>
              <a:rPr lang="en-GB" b="0" i="0" u="none" strike="noStrike" dirty="0">
                <a:solidFill>
                  <a:srgbClr val="000000"/>
                </a:solidFill>
                <a:effectLst/>
              </a:rPr>
              <a:t>This combined learning process equips BERT with a more profound understanding of language that goes beyond individual words or isolated sentences. It captures both the granular details within sentences and the broader relationships between them, making the resulting language model more powerful and versatile for a wide range of downstream NLP tasks that require both contextual and relational understanding.</a:t>
            </a:r>
          </a:p>
          <a:p>
            <a:pPr rtl="0">
              <a:buNone/>
            </a:pPr>
            <a:r>
              <a:rPr lang="en-GB" dirty="0">
                <a:effectLst/>
              </a:rPr>
              <a:t> </a:t>
            </a:r>
          </a:p>
          <a:p>
            <a:pPr algn="l"/>
            <a:endParaRPr lang="en-GB" sz="1600" b="0" i="0" u="none" strike="noStrike" dirty="0">
              <a:solidFill>
                <a:srgbClr val="000000"/>
              </a:solidFill>
              <a:effectLst/>
            </a:endParaRPr>
          </a:p>
        </p:txBody>
      </p:sp>
      <p:sp>
        <p:nvSpPr>
          <p:cNvPr id="2" name="TextBox 1">
            <a:extLst>
              <a:ext uri="{FF2B5EF4-FFF2-40B4-BE49-F238E27FC236}">
                <a16:creationId xmlns:a16="http://schemas.microsoft.com/office/drawing/2014/main" id="{583F668F-ACBD-F82B-C888-DECF5859B3C3}"/>
              </a:ext>
            </a:extLst>
          </p:cNvPr>
          <p:cNvSpPr txBox="1"/>
          <p:nvPr/>
        </p:nvSpPr>
        <p:spPr>
          <a:xfrm>
            <a:off x="300228" y="-240174"/>
            <a:ext cx="7179564" cy="307777"/>
          </a:xfrm>
          <a:prstGeom prst="rect">
            <a:avLst/>
          </a:prstGeom>
          <a:noFill/>
        </p:spPr>
        <p:txBody>
          <a:bodyPr wrap="square">
            <a:spAutoFit/>
          </a:bodyPr>
          <a:lstStyle/>
          <a:p>
            <a:pPr algn="l">
              <a:buNone/>
            </a:pPr>
            <a:r>
              <a:rPr lang="en-GB" b="0" i="0" u="none" strike="noStrike" dirty="0">
                <a:solidFill>
                  <a:srgbClr val="000000"/>
                </a:solidFill>
                <a:effectLst/>
              </a:rPr>
              <a:t>  </a:t>
            </a:r>
          </a:p>
        </p:txBody>
      </p:sp>
    </p:spTree>
    <p:extLst>
      <p:ext uri="{BB962C8B-B14F-4D97-AF65-F5344CB8AC3E}">
        <p14:creationId xmlns:p14="http://schemas.microsoft.com/office/powerpoint/2010/main" val="13626230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700CCDF-2CA8-797F-C83A-72BEF4D405B0}"/>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F927902D-834C-6C42-9040-DB335B4AA767}"/>
              </a:ext>
            </a:extLst>
          </p:cNvPr>
          <p:cNvSpPr txBox="1">
            <a:spLocks noGrp="1"/>
          </p:cNvSpPr>
          <p:nvPr>
            <p:ph type="title"/>
          </p:nvPr>
        </p:nvSpPr>
        <p:spPr>
          <a:xfrm>
            <a:off x="79248" y="86064"/>
            <a:ext cx="6987540"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rPr>
              <a:t>BERT Architecture</a:t>
            </a:r>
            <a:br>
              <a:rPr lang="en-GB" sz="2400" dirty="0">
                <a:solidFill>
                  <a:srgbClr val="7030A0"/>
                </a:solidFill>
              </a:rPr>
            </a:br>
            <a:br>
              <a:rPr lang="en-GB" sz="2400" i="0" u="none" strike="noStrike" dirty="0">
                <a:solidFill>
                  <a:srgbClr val="7030A0"/>
                </a:solidFill>
                <a:effectLst/>
              </a:rPr>
            </a:br>
            <a:br>
              <a:rPr lang="en-GB" sz="2400" i="0" u="none" strike="noStrike" dirty="0">
                <a:solidFill>
                  <a:srgbClr val="7030A0"/>
                </a:solidFill>
                <a:effectLst/>
              </a:rPr>
            </a:br>
            <a:br>
              <a:rPr lang="en-GB" sz="2400" dirty="0">
                <a:solidFill>
                  <a:srgbClr val="7030A0"/>
                </a:solidFill>
                <a:latin typeface="-webkit-standard"/>
              </a:rPr>
            </a:br>
            <a:br>
              <a:rPr lang="en-GB" sz="2400" dirty="0">
                <a:solidFill>
                  <a:srgbClr val="7030A0"/>
                </a:solidFill>
                <a:latin typeface="-webkit-standard"/>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95BB9CE2-DB09-B4D7-6C28-520266D06C20}"/>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F2F18E8D-0309-EB1B-14AA-BCC17FCC4A30}"/>
              </a:ext>
            </a:extLst>
          </p:cNvPr>
          <p:cNvSpPr txBox="1"/>
          <p:nvPr/>
        </p:nvSpPr>
        <p:spPr>
          <a:xfrm>
            <a:off x="251460" y="-86286"/>
            <a:ext cx="7179564" cy="338554"/>
          </a:xfrm>
          <a:prstGeom prst="rect">
            <a:avLst/>
          </a:prstGeom>
          <a:noFill/>
        </p:spPr>
        <p:txBody>
          <a:bodyPr wrap="square">
            <a:spAutoFit/>
          </a:bodyPr>
          <a:lstStyle/>
          <a:p>
            <a:pPr algn="l">
              <a:buNone/>
            </a:pPr>
            <a:endParaRPr lang="en-US" sz="1600" dirty="0">
              <a:latin typeface="+mj-lt"/>
            </a:endParaRPr>
          </a:p>
        </p:txBody>
      </p:sp>
      <p:sp>
        <p:nvSpPr>
          <p:cNvPr id="3" name="TextBox 2">
            <a:extLst>
              <a:ext uri="{FF2B5EF4-FFF2-40B4-BE49-F238E27FC236}">
                <a16:creationId xmlns:a16="http://schemas.microsoft.com/office/drawing/2014/main" id="{D1A217A5-4BAF-F6A8-6FE4-184623D21E85}"/>
              </a:ext>
            </a:extLst>
          </p:cNvPr>
          <p:cNvSpPr txBox="1"/>
          <p:nvPr/>
        </p:nvSpPr>
        <p:spPr>
          <a:xfrm>
            <a:off x="300228" y="486173"/>
            <a:ext cx="8087868" cy="3185487"/>
          </a:xfrm>
          <a:prstGeom prst="rect">
            <a:avLst/>
          </a:prstGeom>
          <a:noFill/>
        </p:spPr>
        <p:txBody>
          <a:bodyPr wrap="square">
            <a:spAutoFit/>
          </a:bodyPr>
          <a:lstStyle/>
          <a:p>
            <a:pPr algn="l" fontAlgn="base">
              <a:buNone/>
            </a:pPr>
            <a:r>
              <a:rPr lang="en-GB" b="0" i="0" u="none" strike="noStrike" dirty="0">
                <a:solidFill>
                  <a:srgbClr val="273239"/>
                </a:solidFill>
                <a:effectLst/>
                <a:latin typeface="+mj-lt"/>
              </a:rPr>
              <a:t>The architecture of BERT is a multilayer bidirectional transformer encoder which is quite similar to the transformer model. A transformer architecture is an encoder-decoder network that uses self-attention on the encoder side and attention on the decoder side.</a:t>
            </a:r>
          </a:p>
          <a:p>
            <a:pPr algn="l" fontAlgn="base">
              <a:spcAft>
                <a:spcPts val="1800"/>
              </a:spcAft>
              <a:buFont typeface="+mj-lt"/>
              <a:buAutoNum type="arabicPeriod"/>
            </a:pPr>
            <a:r>
              <a:rPr lang="en-GB" b="0" i="0" u="none" strike="noStrike" dirty="0">
                <a:solidFill>
                  <a:srgbClr val="273239"/>
                </a:solidFill>
                <a:effectLst/>
                <a:latin typeface="+mj-lt"/>
              </a:rPr>
              <a:t>BERT</a:t>
            </a:r>
            <a:r>
              <a:rPr lang="en-GB" b="0" i="0" u="none" strike="noStrike" baseline="-25000" dirty="0">
                <a:solidFill>
                  <a:srgbClr val="273239"/>
                </a:solidFill>
                <a:effectLst/>
                <a:latin typeface="+mj-lt"/>
              </a:rPr>
              <a:t>BASE</a:t>
            </a:r>
            <a:r>
              <a:rPr lang="en-GB" b="0" i="0" u="none" strike="noStrike" dirty="0">
                <a:solidFill>
                  <a:srgbClr val="273239"/>
                </a:solidFill>
                <a:effectLst/>
                <a:latin typeface="+mj-lt"/>
              </a:rPr>
              <a:t> has 1</a:t>
            </a:r>
            <a:r>
              <a:rPr lang="en-GB" b="0" i="1" u="none" strike="noStrike" dirty="0">
                <a:solidFill>
                  <a:srgbClr val="273239"/>
                </a:solidFill>
                <a:effectLst/>
                <a:latin typeface="+mj-lt"/>
              </a:rPr>
              <a:t>2 layers in the Encoder stack</a:t>
            </a:r>
            <a:r>
              <a:rPr lang="en-GB" b="0" i="0" u="none" strike="noStrike" dirty="0">
                <a:solidFill>
                  <a:srgbClr val="273239"/>
                </a:solidFill>
                <a:effectLst/>
                <a:latin typeface="+mj-lt"/>
              </a:rPr>
              <a:t> while BERT</a:t>
            </a:r>
            <a:r>
              <a:rPr lang="en-GB" b="0" i="0" u="none" strike="noStrike" baseline="-25000" dirty="0">
                <a:solidFill>
                  <a:srgbClr val="273239"/>
                </a:solidFill>
                <a:effectLst/>
                <a:latin typeface="+mj-lt"/>
              </a:rPr>
              <a:t>LARGE</a:t>
            </a:r>
            <a:r>
              <a:rPr lang="en-GB" b="0" i="0" u="none" strike="noStrike" dirty="0">
                <a:solidFill>
                  <a:srgbClr val="273239"/>
                </a:solidFill>
                <a:effectLst/>
                <a:latin typeface="+mj-lt"/>
              </a:rPr>
              <a:t> has </a:t>
            </a:r>
            <a:r>
              <a:rPr lang="en-GB" b="0" i="1" u="none" strike="noStrike" dirty="0">
                <a:solidFill>
                  <a:srgbClr val="273239"/>
                </a:solidFill>
                <a:effectLst/>
                <a:latin typeface="+mj-lt"/>
              </a:rPr>
              <a:t>24 layers in the Encoder stack</a:t>
            </a:r>
            <a:r>
              <a:rPr lang="en-GB" b="0" i="0" u="none" strike="noStrike" dirty="0">
                <a:solidFill>
                  <a:srgbClr val="273239"/>
                </a:solidFill>
                <a:effectLst/>
                <a:latin typeface="+mj-lt"/>
              </a:rPr>
              <a:t>. These are more than the Transformer architecture described in the original paper (</a:t>
            </a:r>
            <a:r>
              <a:rPr lang="en-GB" b="0" i="1" u="none" strike="noStrike" dirty="0">
                <a:solidFill>
                  <a:srgbClr val="273239"/>
                </a:solidFill>
                <a:effectLst/>
                <a:latin typeface="+mj-lt"/>
              </a:rPr>
              <a:t>6 encoder layers</a:t>
            </a:r>
            <a:r>
              <a:rPr lang="en-GB" b="0" i="0" u="none" strike="noStrike" dirty="0">
                <a:solidFill>
                  <a:srgbClr val="273239"/>
                </a:solidFill>
                <a:effectLst/>
                <a:latin typeface="+mj-lt"/>
              </a:rPr>
              <a:t>).</a:t>
            </a:r>
          </a:p>
          <a:p>
            <a:pPr algn="l" fontAlgn="base">
              <a:spcAft>
                <a:spcPts val="1800"/>
              </a:spcAft>
              <a:buFont typeface="+mj-lt"/>
              <a:buAutoNum type="arabicPeriod"/>
            </a:pPr>
            <a:r>
              <a:rPr lang="en-GB" b="0" i="0" u="none" strike="noStrike" dirty="0">
                <a:solidFill>
                  <a:srgbClr val="273239"/>
                </a:solidFill>
                <a:effectLst/>
                <a:latin typeface="+mj-lt"/>
              </a:rPr>
              <a:t>BERT architectures (BASE and LARGE) also have larger feedforward networks (768 and 1024 hidden units respectively), and </a:t>
            </a:r>
            <a:r>
              <a:rPr lang="en-GB" b="0" i="1" u="none" strike="noStrike" dirty="0">
                <a:solidFill>
                  <a:srgbClr val="273239"/>
                </a:solidFill>
                <a:effectLst/>
                <a:latin typeface="+mj-lt"/>
              </a:rPr>
              <a:t>more attention heads (12 and 16 respectively)</a:t>
            </a:r>
            <a:r>
              <a:rPr lang="en-GB" b="0" i="0" u="none" strike="noStrike" dirty="0">
                <a:solidFill>
                  <a:srgbClr val="273239"/>
                </a:solidFill>
                <a:effectLst/>
                <a:latin typeface="+mj-lt"/>
              </a:rPr>
              <a:t> than the Transformer architecture suggested in the original paper. It contains </a:t>
            </a:r>
            <a:r>
              <a:rPr lang="en-GB" b="0" i="1" u="none" strike="noStrike" dirty="0">
                <a:solidFill>
                  <a:srgbClr val="273239"/>
                </a:solidFill>
                <a:effectLst/>
                <a:latin typeface="+mj-lt"/>
              </a:rPr>
              <a:t>512 hidden units and 8 attention heads</a:t>
            </a:r>
            <a:r>
              <a:rPr lang="en-GB" b="0" i="0" u="none" strike="noStrike" dirty="0">
                <a:solidFill>
                  <a:srgbClr val="273239"/>
                </a:solidFill>
                <a:effectLst/>
                <a:latin typeface="+mj-lt"/>
              </a:rPr>
              <a:t>.</a:t>
            </a:r>
          </a:p>
          <a:p>
            <a:pPr algn="l" fontAlgn="base">
              <a:spcAft>
                <a:spcPts val="1800"/>
              </a:spcAft>
              <a:buFont typeface="+mj-lt"/>
              <a:buAutoNum type="arabicPeriod" startAt="3"/>
            </a:pPr>
            <a:r>
              <a:rPr lang="en-GB" b="0" i="0" u="none" strike="noStrike" dirty="0">
                <a:solidFill>
                  <a:srgbClr val="273239"/>
                </a:solidFill>
                <a:effectLst/>
                <a:latin typeface="+mj-lt"/>
              </a:rPr>
              <a:t>BERT</a:t>
            </a:r>
            <a:r>
              <a:rPr lang="en-GB" b="0" i="0" u="none" strike="noStrike" baseline="-25000" dirty="0">
                <a:solidFill>
                  <a:srgbClr val="273239"/>
                </a:solidFill>
                <a:effectLst/>
                <a:latin typeface="+mj-lt"/>
              </a:rPr>
              <a:t>BASE</a:t>
            </a:r>
            <a:r>
              <a:rPr lang="en-GB" b="0" i="0" u="none" strike="noStrike" dirty="0">
                <a:solidFill>
                  <a:srgbClr val="273239"/>
                </a:solidFill>
                <a:effectLst/>
                <a:latin typeface="+mj-lt"/>
              </a:rPr>
              <a:t> contains 110M parameters while BERT</a:t>
            </a:r>
            <a:r>
              <a:rPr lang="en-GB" b="0" i="0" u="none" strike="noStrike" baseline="-25000" dirty="0">
                <a:solidFill>
                  <a:srgbClr val="273239"/>
                </a:solidFill>
                <a:effectLst/>
                <a:latin typeface="+mj-lt"/>
              </a:rPr>
              <a:t>LARGE</a:t>
            </a:r>
            <a:r>
              <a:rPr lang="en-GB" b="0" i="0" u="none" strike="noStrike" dirty="0">
                <a:solidFill>
                  <a:srgbClr val="273239"/>
                </a:solidFill>
                <a:effectLst/>
                <a:latin typeface="+mj-lt"/>
              </a:rPr>
              <a:t> has 340M parameters.</a:t>
            </a:r>
          </a:p>
          <a:p>
            <a:pPr algn="l">
              <a:buNone/>
            </a:pPr>
            <a:r>
              <a:rPr lang="en-GB" dirty="0">
                <a:effectLst/>
                <a:latin typeface="+mj-lt"/>
              </a:rPr>
              <a:t> </a:t>
            </a:r>
          </a:p>
          <a:p>
            <a:pPr algn="l"/>
            <a:endParaRPr lang="en-GB" sz="1600" b="0" i="0" u="none" strike="noStrike" dirty="0">
              <a:solidFill>
                <a:srgbClr val="000000"/>
              </a:solidFill>
              <a:effectLst/>
              <a:latin typeface="+mj-lt"/>
            </a:endParaRPr>
          </a:p>
        </p:txBody>
      </p:sp>
      <p:sp>
        <p:nvSpPr>
          <p:cNvPr id="2" name="TextBox 1">
            <a:extLst>
              <a:ext uri="{FF2B5EF4-FFF2-40B4-BE49-F238E27FC236}">
                <a16:creationId xmlns:a16="http://schemas.microsoft.com/office/drawing/2014/main" id="{81462BCA-D0C1-26A9-AD51-2B0D0553F972}"/>
              </a:ext>
            </a:extLst>
          </p:cNvPr>
          <p:cNvSpPr txBox="1"/>
          <p:nvPr/>
        </p:nvSpPr>
        <p:spPr>
          <a:xfrm>
            <a:off x="300228" y="-240174"/>
            <a:ext cx="7179564" cy="307777"/>
          </a:xfrm>
          <a:prstGeom prst="rect">
            <a:avLst/>
          </a:prstGeom>
          <a:noFill/>
        </p:spPr>
        <p:txBody>
          <a:bodyPr wrap="square">
            <a:spAutoFit/>
          </a:bodyPr>
          <a:lstStyle/>
          <a:p>
            <a:pPr algn="l">
              <a:buNone/>
            </a:pPr>
            <a:r>
              <a:rPr lang="en-GB" b="0" i="0" u="none" strike="noStrike" dirty="0">
                <a:solidFill>
                  <a:srgbClr val="000000"/>
                </a:solidFill>
                <a:effectLst/>
              </a:rPr>
              <a:t>  </a:t>
            </a:r>
          </a:p>
        </p:txBody>
      </p:sp>
      <p:pic>
        <p:nvPicPr>
          <p:cNvPr id="32770" name="Picture 2" descr="BERTBASE and BERT LARGE architecture.">
            <a:extLst>
              <a:ext uri="{FF2B5EF4-FFF2-40B4-BE49-F238E27FC236}">
                <a16:creationId xmlns:a16="http://schemas.microsoft.com/office/drawing/2014/main" id="{47F1F301-8AA2-9ADC-BCD0-CF3D69790B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330" t="6076" r="6199" b="9292"/>
          <a:stretch/>
        </p:blipFill>
        <p:spPr bwMode="auto">
          <a:xfrm>
            <a:off x="1173600" y="3191870"/>
            <a:ext cx="4983360" cy="185507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3B89E8E-CB00-285E-0378-A2EA8D992432}"/>
              </a:ext>
            </a:extLst>
          </p:cNvPr>
          <p:cNvSpPr txBox="1"/>
          <p:nvPr/>
        </p:nvSpPr>
        <p:spPr>
          <a:xfrm>
            <a:off x="6095424" y="4713531"/>
            <a:ext cx="2671200" cy="307777"/>
          </a:xfrm>
          <a:prstGeom prst="rect">
            <a:avLst/>
          </a:prstGeom>
          <a:noFill/>
        </p:spPr>
        <p:txBody>
          <a:bodyPr wrap="square" rtlCol="0">
            <a:spAutoFit/>
          </a:bodyPr>
          <a:lstStyle/>
          <a:p>
            <a:r>
              <a:rPr lang="en-US" b="1" i="1" dirty="0"/>
              <a:t>BERT Architecture</a:t>
            </a:r>
          </a:p>
        </p:txBody>
      </p:sp>
    </p:spTree>
    <p:extLst>
      <p:ext uri="{BB962C8B-B14F-4D97-AF65-F5344CB8AC3E}">
        <p14:creationId xmlns:p14="http://schemas.microsoft.com/office/powerpoint/2010/main" val="600967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B24452B-7CEA-87AD-5123-27BB27306B5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97B3BD1A-F8EE-0C88-E2FF-956B379B0637}"/>
              </a:ext>
            </a:extLst>
          </p:cNvPr>
          <p:cNvSpPr txBox="1">
            <a:spLocks noGrp="1"/>
          </p:cNvSpPr>
          <p:nvPr>
            <p:ph type="title"/>
          </p:nvPr>
        </p:nvSpPr>
        <p:spPr>
          <a:xfrm>
            <a:off x="79248" y="86064"/>
            <a:ext cx="6987540"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rPr>
              <a:t>BERT Architecture</a:t>
            </a:r>
            <a:br>
              <a:rPr lang="en-GB" sz="2400" dirty="0">
                <a:solidFill>
                  <a:srgbClr val="7030A0"/>
                </a:solidFill>
              </a:rPr>
            </a:br>
            <a:br>
              <a:rPr lang="en-GB" sz="2400" i="0" u="none" strike="noStrike" dirty="0">
                <a:solidFill>
                  <a:srgbClr val="7030A0"/>
                </a:solidFill>
                <a:effectLst/>
              </a:rPr>
            </a:br>
            <a:br>
              <a:rPr lang="en-GB" sz="2400" i="0" u="none" strike="noStrike" dirty="0">
                <a:solidFill>
                  <a:srgbClr val="7030A0"/>
                </a:solidFill>
                <a:effectLst/>
              </a:rPr>
            </a:br>
            <a:br>
              <a:rPr lang="en-GB" sz="2400" dirty="0">
                <a:solidFill>
                  <a:srgbClr val="7030A0"/>
                </a:solidFill>
                <a:latin typeface="-webkit-standard"/>
              </a:rPr>
            </a:br>
            <a:br>
              <a:rPr lang="en-GB" sz="2400" dirty="0">
                <a:solidFill>
                  <a:srgbClr val="7030A0"/>
                </a:solidFill>
                <a:latin typeface="-webkit-standard"/>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46FE18A0-61FE-6E0D-F142-6D40C15DFCA8}"/>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0E66ECD8-CBCF-0200-94B5-66AEEC209EB8}"/>
              </a:ext>
            </a:extLst>
          </p:cNvPr>
          <p:cNvSpPr txBox="1"/>
          <p:nvPr/>
        </p:nvSpPr>
        <p:spPr>
          <a:xfrm>
            <a:off x="251460" y="-86286"/>
            <a:ext cx="7179564" cy="338554"/>
          </a:xfrm>
          <a:prstGeom prst="rect">
            <a:avLst/>
          </a:prstGeom>
          <a:noFill/>
        </p:spPr>
        <p:txBody>
          <a:bodyPr wrap="square">
            <a:spAutoFit/>
          </a:bodyPr>
          <a:lstStyle/>
          <a:p>
            <a:pPr algn="l">
              <a:buNone/>
            </a:pPr>
            <a:endParaRPr lang="en-US" sz="1600" dirty="0">
              <a:latin typeface="+mj-lt"/>
            </a:endParaRPr>
          </a:p>
        </p:txBody>
      </p:sp>
      <p:sp>
        <p:nvSpPr>
          <p:cNvPr id="3" name="TextBox 2">
            <a:extLst>
              <a:ext uri="{FF2B5EF4-FFF2-40B4-BE49-F238E27FC236}">
                <a16:creationId xmlns:a16="http://schemas.microsoft.com/office/drawing/2014/main" id="{11F05D39-1E34-B882-847D-6761467D3DA7}"/>
              </a:ext>
            </a:extLst>
          </p:cNvPr>
          <p:cNvSpPr txBox="1"/>
          <p:nvPr/>
        </p:nvSpPr>
        <p:spPr>
          <a:xfrm>
            <a:off x="123444" y="517070"/>
            <a:ext cx="8087868" cy="1631216"/>
          </a:xfrm>
          <a:prstGeom prst="rect">
            <a:avLst/>
          </a:prstGeom>
          <a:noFill/>
        </p:spPr>
        <p:txBody>
          <a:bodyPr wrap="square">
            <a:spAutoFit/>
          </a:bodyPr>
          <a:lstStyle/>
          <a:p>
            <a:pPr algn="l">
              <a:buNone/>
            </a:pPr>
            <a:r>
              <a:rPr lang="en-GB" b="0" i="0" u="none" strike="noStrike" dirty="0">
                <a:solidFill>
                  <a:srgbClr val="273239"/>
                </a:solidFill>
                <a:effectLst/>
                <a:latin typeface="+mj-lt"/>
              </a:rPr>
              <a:t>This model takes the </a:t>
            </a:r>
            <a:r>
              <a:rPr lang="en-GB" b="1" i="0" u="none" strike="noStrike" dirty="0">
                <a:solidFill>
                  <a:srgbClr val="273239"/>
                </a:solidFill>
                <a:effectLst/>
                <a:latin typeface="+mj-lt"/>
              </a:rPr>
              <a:t>CLS </a:t>
            </a:r>
            <a:r>
              <a:rPr lang="en-GB" b="0" i="0" u="none" strike="noStrike" dirty="0">
                <a:solidFill>
                  <a:srgbClr val="273239"/>
                </a:solidFill>
                <a:effectLst/>
                <a:latin typeface="+mj-lt"/>
              </a:rPr>
              <a:t>token as input first, then it is followed by a sequence of words as input. Here CLS is a classification token. It then passes the input to the above layers. Each layer applies </a:t>
            </a:r>
            <a:r>
              <a:rPr lang="en-GB" strike="noStrike" dirty="0">
                <a:solidFill>
                  <a:schemeClr val="tx1"/>
                </a:solidFill>
                <a:latin typeface="+mj-lt"/>
              </a:rPr>
              <a:t>self-attention</a:t>
            </a:r>
            <a:r>
              <a:rPr lang="en-GB" b="0" i="0" u="none" strike="noStrike" dirty="0">
                <a:solidFill>
                  <a:srgbClr val="273239"/>
                </a:solidFill>
                <a:effectLst/>
                <a:latin typeface="+mj-lt"/>
              </a:rPr>
              <a:t> and passes the result through a feedforward network after then it hands off to the next encoder. The model outputs a vector of hidden size (</a:t>
            </a:r>
            <a:r>
              <a:rPr lang="en-GB" b="0" i="1" u="none" strike="noStrike" dirty="0">
                <a:solidFill>
                  <a:srgbClr val="273239"/>
                </a:solidFill>
                <a:effectLst/>
                <a:latin typeface="+mj-lt"/>
              </a:rPr>
              <a:t>768 </a:t>
            </a:r>
            <a:r>
              <a:rPr lang="en-GB" b="0" i="0" u="none" strike="noStrike" dirty="0">
                <a:solidFill>
                  <a:srgbClr val="273239"/>
                </a:solidFill>
                <a:effectLst/>
                <a:latin typeface="+mj-lt"/>
              </a:rPr>
              <a:t>for BERT BASE). If we want to output a classifier from this model we can take the output corresponding to the CLS token.</a:t>
            </a:r>
            <a:r>
              <a:rPr lang="en-GB" dirty="0">
                <a:effectLst/>
                <a:latin typeface="+mj-lt"/>
              </a:rPr>
              <a:t> </a:t>
            </a:r>
          </a:p>
          <a:p>
            <a:pPr algn="l">
              <a:buNone/>
            </a:pPr>
            <a:endParaRPr lang="en-GB" dirty="0">
              <a:effectLst/>
              <a:latin typeface="+mj-lt"/>
            </a:endParaRPr>
          </a:p>
          <a:p>
            <a:pPr algn="l"/>
            <a:endParaRPr lang="en-GB" sz="1600" b="0" i="0" u="none" strike="noStrike" dirty="0">
              <a:solidFill>
                <a:srgbClr val="000000"/>
              </a:solidFill>
              <a:effectLst/>
              <a:latin typeface="+mj-lt"/>
            </a:endParaRPr>
          </a:p>
        </p:txBody>
      </p:sp>
      <p:sp>
        <p:nvSpPr>
          <p:cNvPr id="2" name="TextBox 1">
            <a:extLst>
              <a:ext uri="{FF2B5EF4-FFF2-40B4-BE49-F238E27FC236}">
                <a16:creationId xmlns:a16="http://schemas.microsoft.com/office/drawing/2014/main" id="{581971B1-FE60-FE14-9A37-061FF1EBC25F}"/>
              </a:ext>
            </a:extLst>
          </p:cNvPr>
          <p:cNvSpPr txBox="1"/>
          <p:nvPr/>
        </p:nvSpPr>
        <p:spPr>
          <a:xfrm>
            <a:off x="300228" y="-240174"/>
            <a:ext cx="7179564" cy="307777"/>
          </a:xfrm>
          <a:prstGeom prst="rect">
            <a:avLst/>
          </a:prstGeom>
          <a:noFill/>
        </p:spPr>
        <p:txBody>
          <a:bodyPr wrap="square">
            <a:spAutoFit/>
          </a:bodyPr>
          <a:lstStyle/>
          <a:p>
            <a:pPr algn="l">
              <a:buNone/>
            </a:pPr>
            <a:r>
              <a:rPr lang="en-GB" b="0" i="0" u="none" strike="noStrike" dirty="0">
                <a:solidFill>
                  <a:srgbClr val="000000"/>
                </a:solidFill>
                <a:effectLst/>
              </a:rPr>
              <a:t>  </a:t>
            </a:r>
          </a:p>
        </p:txBody>
      </p:sp>
      <p:pic>
        <p:nvPicPr>
          <p:cNvPr id="34818" name="Picture 2" descr="BERT output as Embeddings">
            <a:extLst>
              <a:ext uri="{FF2B5EF4-FFF2-40B4-BE49-F238E27FC236}">
                <a16:creationId xmlns:a16="http://schemas.microsoft.com/office/drawing/2014/main" id="{F59F5426-F699-882B-246F-32A0C3C67EF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534" t="6455" r="4389" b="9232"/>
          <a:stretch/>
        </p:blipFill>
        <p:spPr bwMode="auto">
          <a:xfrm>
            <a:off x="1042416" y="1719213"/>
            <a:ext cx="6388608" cy="230140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5BDB4BE-4450-4F14-97BF-EC3F15319653}"/>
              </a:ext>
            </a:extLst>
          </p:cNvPr>
          <p:cNvSpPr txBox="1"/>
          <p:nvPr/>
        </p:nvSpPr>
        <p:spPr>
          <a:xfrm>
            <a:off x="79248" y="4182421"/>
            <a:ext cx="8752332" cy="738664"/>
          </a:xfrm>
          <a:prstGeom prst="rect">
            <a:avLst/>
          </a:prstGeom>
          <a:noFill/>
        </p:spPr>
        <p:txBody>
          <a:bodyPr wrap="square">
            <a:spAutoFit/>
          </a:bodyPr>
          <a:lstStyle>
            <a:defPPr marR="0" lvl="0" algn="l" rtl="0">
              <a:lnSpc>
                <a:spcPct val="100000"/>
              </a:lnSpc>
              <a:spcBef>
                <a:spcPts val="0"/>
              </a:spcBef>
              <a:spcAft>
                <a:spcPts val="0"/>
              </a:spcAft>
            </a:defPPr>
            <a:lvl1pPr>
              <a:buNone/>
              <a:defRPr>
                <a:solidFill>
                  <a:srgbClr val="273239"/>
                </a:solidFill>
                <a:effectLst/>
                <a:latin typeface="+mj-lt"/>
              </a:defRPr>
            </a:lvl1pPr>
          </a:lstStyle>
          <a:p>
            <a:r>
              <a:rPr lang="en-GB" dirty="0"/>
              <a:t>this trained vector can be used to perform a number of tasks such as classification, translation, etc. For Example, the paper achieves great results just by using a single layer neural network on the BERT model in the classification task. </a:t>
            </a:r>
            <a:endParaRPr lang="en-US" dirty="0"/>
          </a:p>
        </p:txBody>
      </p:sp>
      <p:sp>
        <p:nvSpPr>
          <p:cNvPr id="8" name="TextBox 7">
            <a:extLst>
              <a:ext uri="{FF2B5EF4-FFF2-40B4-BE49-F238E27FC236}">
                <a16:creationId xmlns:a16="http://schemas.microsoft.com/office/drawing/2014/main" id="{E363A13A-E457-3173-58B6-E60DE8EF0D57}"/>
              </a:ext>
            </a:extLst>
          </p:cNvPr>
          <p:cNvSpPr txBox="1"/>
          <p:nvPr/>
        </p:nvSpPr>
        <p:spPr>
          <a:xfrm>
            <a:off x="2960866" y="3942783"/>
            <a:ext cx="2671200" cy="307777"/>
          </a:xfrm>
          <a:prstGeom prst="rect">
            <a:avLst/>
          </a:prstGeom>
          <a:noFill/>
        </p:spPr>
        <p:txBody>
          <a:bodyPr wrap="square" rtlCol="0">
            <a:spAutoFit/>
          </a:bodyPr>
          <a:lstStyle/>
          <a:p>
            <a:r>
              <a:rPr lang="en-US" b="1" i="1" dirty="0"/>
              <a:t>BERT Output as Embeddings</a:t>
            </a:r>
          </a:p>
        </p:txBody>
      </p:sp>
    </p:spTree>
    <p:extLst>
      <p:ext uri="{BB962C8B-B14F-4D97-AF65-F5344CB8AC3E}">
        <p14:creationId xmlns:p14="http://schemas.microsoft.com/office/powerpoint/2010/main" val="16843957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B363A750-8C61-65DC-8CB2-383FBE46068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47CBDB2-20DC-561B-0EED-F61F2E0D48E5}"/>
              </a:ext>
            </a:extLst>
          </p:cNvPr>
          <p:cNvSpPr txBox="1">
            <a:spLocks noGrp="1"/>
          </p:cNvSpPr>
          <p:nvPr>
            <p:ph type="title"/>
          </p:nvPr>
        </p:nvSpPr>
        <p:spPr>
          <a:xfrm>
            <a:off x="79248" y="86064"/>
            <a:ext cx="7523952"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rPr>
              <a:t>General Workflow to use a pre-trained BERT model for various NLP tasks:</a:t>
            </a:r>
            <a:br>
              <a:rPr lang="en-GB" sz="2400" dirty="0">
                <a:solidFill>
                  <a:srgbClr val="7030A0"/>
                </a:solidFill>
              </a:rPr>
            </a:br>
            <a:br>
              <a:rPr lang="en-GB" sz="2400" dirty="0">
                <a:solidFill>
                  <a:srgbClr val="7030A0"/>
                </a:solidFill>
              </a:rPr>
            </a:br>
            <a:br>
              <a:rPr lang="en-GB" sz="2400" i="0" u="none" strike="noStrike" dirty="0">
                <a:solidFill>
                  <a:srgbClr val="7030A0"/>
                </a:solidFill>
                <a:effectLst/>
              </a:rPr>
            </a:br>
            <a:br>
              <a:rPr lang="en-GB" sz="2400" i="0" u="none" strike="noStrike" dirty="0">
                <a:solidFill>
                  <a:srgbClr val="7030A0"/>
                </a:solidFill>
                <a:effectLst/>
              </a:rPr>
            </a:br>
            <a:br>
              <a:rPr lang="en-GB" sz="2400" dirty="0">
                <a:solidFill>
                  <a:srgbClr val="7030A0"/>
                </a:solidFill>
                <a:latin typeface="-webkit-standard"/>
              </a:rPr>
            </a:br>
            <a:br>
              <a:rPr lang="en-GB" sz="2400" dirty="0">
                <a:solidFill>
                  <a:srgbClr val="7030A0"/>
                </a:solidFill>
                <a:latin typeface="-webkit-standard"/>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5B311189-4C80-E272-5A9C-77D5CA7A795F}"/>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D32ADD49-9098-01F7-7BAD-354E16B05AC9}"/>
              </a:ext>
            </a:extLst>
          </p:cNvPr>
          <p:cNvSpPr txBox="1"/>
          <p:nvPr/>
        </p:nvSpPr>
        <p:spPr>
          <a:xfrm>
            <a:off x="251460" y="-86286"/>
            <a:ext cx="7179564" cy="338554"/>
          </a:xfrm>
          <a:prstGeom prst="rect">
            <a:avLst/>
          </a:prstGeom>
          <a:noFill/>
        </p:spPr>
        <p:txBody>
          <a:bodyPr wrap="square">
            <a:spAutoFit/>
          </a:bodyPr>
          <a:lstStyle/>
          <a:p>
            <a:pPr algn="l">
              <a:buNone/>
            </a:pPr>
            <a:endParaRPr lang="en-US" sz="1600" dirty="0">
              <a:latin typeface="+mj-lt"/>
            </a:endParaRPr>
          </a:p>
        </p:txBody>
      </p:sp>
      <p:sp>
        <p:nvSpPr>
          <p:cNvPr id="3" name="TextBox 2">
            <a:extLst>
              <a:ext uri="{FF2B5EF4-FFF2-40B4-BE49-F238E27FC236}">
                <a16:creationId xmlns:a16="http://schemas.microsoft.com/office/drawing/2014/main" id="{241C8277-0F64-1BA5-8509-60B889332801}"/>
              </a:ext>
            </a:extLst>
          </p:cNvPr>
          <p:cNvSpPr txBox="1"/>
          <p:nvPr/>
        </p:nvSpPr>
        <p:spPr>
          <a:xfrm>
            <a:off x="79248" y="970670"/>
            <a:ext cx="8899152" cy="4770537"/>
          </a:xfrm>
          <a:prstGeom prst="rect">
            <a:avLst/>
          </a:prstGeom>
          <a:noFill/>
        </p:spPr>
        <p:txBody>
          <a:bodyPr wrap="square">
            <a:spAutoFit/>
          </a:bodyPr>
          <a:lstStyle/>
          <a:p>
            <a:pPr algn="l">
              <a:buFont typeface="+mj-lt"/>
              <a:buAutoNum type="arabicPeriod"/>
            </a:pPr>
            <a:r>
              <a:rPr lang="en-GB" sz="1600" b="1" i="0" u="none" strike="noStrike" dirty="0">
                <a:solidFill>
                  <a:srgbClr val="000000"/>
                </a:solidFill>
                <a:effectLst/>
              </a:rPr>
              <a:t>Selecting a Pre-trained BERT Model:</a:t>
            </a:r>
            <a:r>
              <a:rPr lang="en-GB" sz="1600" b="0" i="0" u="none" strike="noStrike" dirty="0">
                <a:solidFill>
                  <a:srgbClr val="000000"/>
                </a:solidFill>
                <a:effectLst/>
              </a:rPr>
              <a:t> Choose an appropriate pre-trained BERT model based on the language of your text and the general domain of your task (e.g., </a:t>
            </a:r>
            <a:r>
              <a:rPr lang="en-GB" sz="1600" b="0" i="0" u="none" strike="noStrike" dirty="0" err="1">
                <a:solidFill>
                  <a:srgbClr val="000000"/>
                </a:solidFill>
                <a:effectLst/>
              </a:rPr>
              <a:t>bert</a:t>
            </a:r>
            <a:r>
              <a:rPr lang="en-GB" sz="1600" b="0" i="0" u="none" strike="noStrike" dirty="0">
                <a:solidFill>
                  <a:srgbClr val="000000"/>
                </a:solidFill>
                <a:effectLst/>
              </a:rPr>
              <a:t>-base-uncased, </a:t>
            </a:r>
            <a:r>
              <a:rPr lang="en-GB" sz="1600" b="0" i="0" u="none" strike="noStrike" dirty="0" err="1">
                <a:solidFill>
                  <a:srgbClr val="000000"/>
                </a:solidFill>
                <a:effectLst/>
              </a:rPr>
              <a:t>bert</a:t>
            </a:r>
            <a:r>
              <a:rPr lang="en-GB" sz="1600" b="0" i="0" u="none" strike="noStrike" dirty="0">
                <a:solidFill>
                  <a:srgbClr val="000000"/>
                </a:solidFill>
                <a:effectLst/>
              </a:rPr>
              <a:t>-large-cased, multilingual BERT).</a:t>
            </a:r>
          </a:p>
          <a:p>
            <a:pPr algn="l">
              <a:buFont typeface="+mj-lt"/>
              <a:buAutoNum type="arabicPeriod"/>
            </a:pPr>
            <a:r>
              <a:rPr lang="en-GB" sz="1600" b="1" i="0" u="none" strike="noStrike" dirty="0">
                <a:solidFill>
                  <a:srgbClr val="000000"/>
                </a:solidFill>
                <a:effectLst/>
              </a:rPr>
              <a:t>Tokenization:</a:t>
            </a:r>
            <a:r>
              <a:rPr lang="en-GB" sz="1600" b="0" i="0" u="none" strike="noStrike" dirty="0">
                <a:solidFill>
                  <a:srgbClr val="000000"/>
                </a:solidFill>
                <a:effectLst/>
              </a:rPr>
              <a:t> Use the specific tokenizer associated with the chosen BERT model to convert your input text into tokens. This tokenizer often performs sub-word tokenization (like </a:t>
            </a:r>
            <a:r>
              <a:rPr lang="en-GB" sz="1600" b="0" i="0" u="none" strike="noStrike" dirty="0" err="1">
                <a:solidFill>
                  <a:srgbClr val="000000"/>
                </a:solidFill>
                <a:effectLst/>
              </a:rPr>
              <a:t>WordPiece</a:t>
            </a:r>
            <a:r>
              <a:rPr lang="en-GB" sz="1600" b="0" i="0" u="none" strike="noStrike" dirty="0">
                <a:solidFill>
                  <a:srgbClr val="000000"/>
                </a:solidFill>
                <a:effectLst/>
              </a:rPr>
              <a:t>) and adds special tokens like [CLS]at the beginning and [SEP] at the end of the sequence.</a:t>
            </a:r>
          </a:p>
          <a:p>
            <a:pPr algn="l">
              <a:buFont typeface="+mj-lt"/>
              <a:buAutoNum type="arabicPeriod"/>
            </a:pPr>
            <a:r>
              <a:rPr lang="en-GB" sz="1600" b="1" i="0" u="none" strike="noStrike" dirty="0">
                <a:solidFill>
                  <a:srgbClr val="000000"/>
                </a:solidFill>
                <a:effectLst/>
              </a:rPr>
              <a:t>Input Formatting:</a:t>
            </a:r>
            <a:r>
              <a:rPr lang="en-GB" sz="1600" b="0" i="0" u="none" strike="noStrike" dirty="0">
                <a:solidFill>
                  <a:srgbClr val="000000"/>
                </a:solidFill>
                <a:effectLst/>
              </a:rPr>
              <a:t> Format the tokenized input into the required input IDs, attention masks, and potentially token type IDs, depending on the task and the BERT variant.</a:t>
            </a:r>
          </a:p>
          <a:p>
            <a:pPr marL="742950" lvl="1" indent="-285750" algn="l">
              <a:buFont typeface="+mj-lt"/>
              <a:buAutoNum type="arabicPeriod"/>
            </a:pPr>
            <a:r>
              <a:rPr lang="en-GB" sz="1600" b="1" i="0" u="none" strike="noStrike" dirty="0">
                <a:solidFill>
                  <a:srgbClr val="000000"/>
                </a:solidFill>
                <a:effectLst/>
              </a:rPr>
              <a:t>Input IDs:</a:t>
            </a:r>
            <a:r>
              <a:rPr lang="en-GB" sz="1600" b="0" i="0" u="none" strike="noStrike" dirty="0">
                <a:solidFill>
                  <a:srgbClr val="000000"/>
                </a:solidFill>
                <a:effectLst/>
              </a:rPr>
              <a:t> Numerical representations of the tokens based on the model's vocabulary.</a:t>
            </a:r>
          </a:p>
          <a:p>
            <a:pPr marL="742950" lvl="1" indent="-285750" algn="l">
              <a:buFont typeface="+mj-lt"/>
              <a:buAutoNum type="arabicPeriod"/>
            </a:pPr>
            <a:r>
              <a:rPr lang="en-GB" sz="1600" b="1" i="0" u="none" strike="noStrike" dirty="0">
                <a:solidFill>
                  <a:srgbClr val="000000"/>
                </a:solidFill>
                <a:effectLst/>
              </a:rPr>
              <a:t>Attention Mask:</a:t>
            </a:r>
            <a:r>
              <a:rPr lang="en-GB" sz="1600" b="0" i="0" u="none" strike="noStrike" dirty="0">
                <a:solidFill>
                  <a:srgbClr val="000000"/>
                </a:solidFill>
                <a:effectLst/>
              </a:rPr>
              <a:t> Indicates which tokens should be attended to (usually all of them, with padding tokens masked).</a:t>
            </a:r>
          </a:p>
          <a:p>
            <a:pPr marL="742950" lvl="1" indent="-285750" algn="l">
              <a:buFont typeface="+mj-lt"/>
              <a:buAutoNum type="arabicPeriod"/>
            </a:pPr>
            <a:r>
              <a:rPr lang="en-GB" sz="1600" b="1" i="0" u="none" strike="noStrike" dirty="0">
                <a:solidFill>
                  <a:srgbClr val="000000"/>
                </a:solidFill>
                <a:effectLst/>
              </a:rPr>
              <a:t>Token Type IDs:</a:t>
            </a:r>
            <a:r>
              <a:rPr lang="en-GB" sz="1600" b="0" i="0" u="none" strike="noStrike" dirty="0">
                <a:solidFill>
                  <a:srgbClr val="000000"/>
                </a:solidFill>
                <a:effectLst/>
              </a:rPr>
              <a:t> Used for tasks involving multiple sequences (e.g., question answering) to distinguish between them.</a:t>
            </a:r>
          </a:p>
          <a:p>
            <a:pPr algn="l">
              <a:buFont typeface="+mj-lt"/>
              <a:buAutoNum type="arabicPeriod"/>
            </a:pPr>
            <a:r>
              <a:rPr lang="en-GB" sz="1600" b="1" i="0" u="none" strike="noStrike" dirty="0">
                <a:solidFill>
                  <a:srgbClr val="000000"/>
                </a:solidFill>
                <a:effectLst/>
              </a:rPr>
              <a:t>Loading the Pre-trained Model:</a:t>
            </a:r>
            <a:r>
              <a:rPr lang="en-GB" sz="1600" b="0" i="0" u="none" strike="noStrike" dirty="0">
                <a:solidFill>
                  <a:srgbClr val="000000"/>
                </a:solidFill>
                <a:effectLst/>
              </a:rPr>
              <a:t> Load the pre-trained BERT model using a deep learning framework like TensorFlow or </a:t>
            </a:r>
            <a:r>
              <a:rPr lang="en-GB" sz="1600" b="0" i="0" u="none" strike="noStrike" dirty="0" err="1">
                <a:solidFill>
                  <a:srgbClr val="000000"/>
                </a:solidFill>
                <a:effectLst/>
              </a:rPr>
              <a:t>PyTorch</a:t>
            </a:r>
            <a:r>
              <a:rPr lang="en-GB" sz="1600" b="0" i="0" u="none" strike="noStrike" dirty="0">
                <a:solidFill>
                  <a:srgbClr val="000000"/>
                </a:solidFill>
                <a:effectLst/>
              </a:rPr>
              <a:t> (often through libraries like Transformers by Hugging Face).</a:t>
            </a:r>
          </a:p>
          <a:p>
            <a:pPr>
              <a:buNone/>
            </a:pPr>
            <a:br>
              <a:rPr lang="en-GB" sz="1600" dirty="0"/>
            </a:br>
            <a:endParaRPr lang="en-GB" sz="1600" dirty="0">
              <a:effectLst/>
              <a:latin typeface="+mj-lt"/>
            </a:endParaRPr>
          </a:p>
          <a:p>
            <a:pPr algn="l"/>
            <a:endParaRPr lang="en-GB" sz="1600" b="0" i="0" u="none" strike="noStrike" dirty="0">
              <a:solidFill>
                <a:srgbClr val="000000"/>
              </a:solidFill>
              <a:effectLst/>
              <a:latin typeface="+mj-lt"/>
            </a:endParaRPr>
          </a:p>
        </p:txBody>
      </p:sp>
      <p:sp>
        <p:nvSpPr>
          <p:cNvPr id="2" name="TextBox 1">
            <a:extLst>
              <a:ext uri="{FF2B5EF4-FFF2-40B4-BE49-F238E27FC236}">
                <a16:creationId xmlns:a16="http://schemas.microsoft.com/office/drawing/2014/main" id="{10026051-B1B9-D1E9-C55C-10EECC677480}"/>
              </a:ext>
            </a:extLst>
          </p:cNvPr>
          <p:cNvSpPr txBox="1"/>
          <p:nvPr/>
        </p:nvSpPr>
        <p:spPr>
          <a:xfrm>
            <a:off x="300228" y="-240174"/>
            <a:ext cx="7179564" cy="307777"/>
          </a:xfrm>
          <a:prstGeom prst="rect">
            <a:avLst/>
          </a:prstGeom>
          <a:noFill/>
        </p:spPr>
        <p:txBody>
          <a:bodyPr wrap="square">
            <a:spAutoFit/>
          </a:bodyPr>
          <a:lstStyle/>
          <a:p>
            <a:pPr algn="l">
              <a:buNone/>
            </a:pPr>
            <a:r>
              <a:rPr lang="en-GB" b="0" i="0" u="none" strike="noStrike" dirty="0">
                <a:solidFill>
                  <a:srgbClr val="000000"/>
                </a:solidFill>
                <a:effectLst/>
              </a:rPr>
              <a:t>  </a:t>
            </a:r>
          </a:p>
        </p:txBody>
      </p:sp>
    </p:spTree>
    <p:extLst>
      <p:ext uri="{BB962C8B-B14F-4D97-AF65-F5344CB8AC3E}">
        <p14:creationId xmlns:p14="http://schemas.microsoft.com/office/powerpoint/2010/main" val="25928255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A6053424-0BC4-A3C1-7729-92C096D44FC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494FFFF7-35FC-8870-6660-907A05E77E92}"/>
              </a:ext>
            </a:extLst>
          </p:cNvPr>
          <p:cNvSpPr txBox="1">
            <a:spLocks noGrp="1"/>
          </p:cNvSpPr>
          <p:nvPr>
            <p:ph type="title"/>
          </p:nvPr>
        </p:nvSpPr>
        <p:spPr>
          <a:xfrm>
            <a:off x="79248" y="86064"/>
            <a:ext cx="7523952"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rPr>
              <a:t>General Workflow to use a pre-trained BERT model for various NLP tasks:</a:t>
            </a:r>
            <a:br>
              <a:rPr lang="en-GB" sz="2400" dirty="0">
                <a:solidFill>
                  <a:srgbClr val="7030A0"/>
                </a:solidFill>
              </a:rPr>
            </a:br>
            <a:br>
              <a:rPr lang="en-GB" sz="2400" dirty="0">
                <a:solidFill>
                  <a:srgbClr val="7030A0"/>
                </a:solidFill>
              </a:rPr>
            </a:br>
            <a:br>
              <a:rPr lang="en-GB" sz="2400" i="0" u="none" strike="noStrike" dirty="0">
                <a:solidFill>
                  <a:srgbClr val="7030A0"/>
                </a:solidFill>
                <a:effectLst/>
              </a:rPr>
            </a:br>
            <a:br>
              <a:rPr lang="en-GB" sz="2400" i="0" u="none" strike="noStrike" dirty="0">
                <a:solidFill>
                  <a:srgbClr val="7030A0"/>
                </a:solidFill>
                <a:effectLst/>
              </a:rPr>
            </a:br>
            <a:br>
              <a:rPr lang="en-GB" sz="2400" dirty="0">
                <a:solidFill>
                  <a:srgbClr val="7030A0"/>
                </a:solidFill>
                <a:latin typeface="-webkit-standard"/>
              </a:rPr>
            </a:br>
            <a:br>
              <a:rPr lang="en-GB" sz="2400" dirty="0">
                <a:solidFill>
                  <a:srgbClr val="7030A0"/>
                </a:solidFill>
                <a:latin typeface="-webkit-standard"/>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6CB36E07-67DF-A393-3BD6-5A9F09239E73}"/>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3F4DBFD2-4986-5CA7-A7C3-672A2963FBD2}"/>
              </a:ext>
            </a:extLst>
          </p:cNvPr>
          <p:cNvSpPr txBox="1"/>
          <p:nvPr/>
        </p:nvSpPr>
        <p:spPr>
          <a:xfrm>
            <a:off x="251460" y="-86286"/>
            <a:ext cx="7179564" cy="338554"/>
          </a:xfrm>
          <a:prstGeom prst="rect">
            <a:avLst/>
          </a:prstGeom>
          <a:noFill/>
        </p:spPr>
        <p:txBody>
          <a:bodyPr wrap="square">
            <a:spAutoFit/>
          </a:bodyPr>
          <a:lstStyle/>
          <a:p>
            <a:pPr algn="l">
              <a:buNone/>
            </a:pPr>
            <a:endParaRPr lang="en-US" sz="1600" dirty="0">
              <a:latin typeface="+mj-lt"/>
            </a:endParaRPr>
          </a:p>
        </p:txBody>
      </p:sp>
      <p:sp>
        <p:nvSpPr>
          <p:cNvPr id="3" name="TextBox 2">
            <a:extLst>
              <a:ext uri="{FF2B5EF4-FFF2-40B4-BE49-F238E27FC236}">
                <a16:creationId xmlns:a16="http://schemas.microsoft.com/office/drawing/2014/main" id="{B04BAEFD-AA18-205F-D492-C6E89E8363C8}"/>
              </a:ext>
            </a:extLst>
          </p:cNvPr>
          <p:cNvSpPr txBox="1"/>
          <p:nvPr/>
        </p:nvSpPr>
        <p:spPr>
          <a:xfrm>
            <a:off x="79248" y="970670"/>
            <a:ext cx="8087868" cy="4647426"/>
          </a:xfrm>
          <a:prstGeom prst="rect">
            <a:avLst/>
          </a:prstGeom>
          <a:noFill/>
        </p:spPr>
        <p:txBody>
          <a:bodyPr wrap="square">
            <a:spAutoFit/>
          </a:bodyPr>
          <a:lstStyle/>
          <a:p>
            <a:pPr marL="342900" indent="-342900" algn="l">
              <a:buFont typeface="+mj-lt"/>
              <a:buAutoNum type="arabicPeriod" startAt="5"/>
            </a:pPr>
            <a:r>
              <a:rPr lang="en-GB" b="1" i="0" u="none" strike="noStrike" dirty="0">
                <a:solidFill>
                  <a:srgbClr val="000000"/>
                </a:solidFill>
                <a:effectLst/>
              </a:rPr>
              <a:t>Fine-Tuning for Specific Tasks:</a:t>
            </a:r>
            <a:r>
              <a:rPr lang="en-GB" b="0" i="0" u="none" strike="noStrike" dirty="0">
                <a:solidFill>
                  <a:srgbClr val="000000"/>
                </a:solidFill>
                <a:effectLst/>
              </a:rPr>
              <a:t> Adapt the pre-trained BERT model for your specific NLP task by adding a task-specific layer on top of the BERT output and training the entire model (or a portion of it) on your </a:t>
            </a:r>
            <a:r>
              <a:rPr lang="en-GB" b="0" i="0" u="none" strike="noStrike" dirty="0" err="1">
                <a:solidFill>
                  <a:srgbClr val="000000"/>
                </a:solidFill>
                <a:effectLst/>
              </a:rPr>
              <a:t>labeled</a:t>
            </a:r>
            <a:r>
              <a:rPr lang="en-GB" b="0" i="0" u="none" strike="noStrike" dirty="0">
                <a:solidFill>
                  <a:srgbClr val="000000"/>
                </a:solidFill>
                <a:effectLst/>
              </a:rPr>
              <a:t> task-specific data. Here's how it works for the tasks you mentioned:</a:t>
            </a:r>
          </a:p>
          <a:p>
            <a:pPr marL="800100" lvl="1" indent="-342900" algn="l">
              <a:buFont typeface="+mj-lt"/>
              <a:buAutoNum type="alphaUcPeriod"/>
            </a:pPr>
            <a:r>
              <a:rPr lang="en-GB" b="1" i="0" u="none" strike="noStrike" dirty="0">
                <a:solidFill>
                  <a:srgbClr val="000000"/>
                </a:solidFill>
                <a:effectLst/>
              </a:rPr>
              <a:t>Classification (e.g., Sentiment Analysis):</a:t>
            </a:r>
            <a:endParaRPr lang="en-GB" b="0" i="0" u="none" strike="noStrike" dirty="0">
              <a:solidFill>
                <a:srgbClr val="000000"/>
              </a:solidFill>
              <a:effectLst/>
            </a:endParaRPr>
          </a:p>
          <a:p>
            <a:pPr marL="1314450" lvl="2" indent="-400050" algn="l">
              <a:buFont typeface="+mj-lt"/>
              <a:buAutoNum type="romanLcPeriod"/>
            </a:pPr>
            <a:r>
              <a:rPr lang="en-GB" b="0" i="0" u="none" strike="noStrike" dirty="0">
                <a:solidFill>
                  <a:srgbClr val="000000"/>
                </a:solidFill>
                <a:effectLst/>
              </a:rPr>
              <a:t>Take the output vector of the [CLS] token from the final layer of the Transformer. This vector is often considered a good representation of the entire input sequence.</a:t>
            </a:r>
          </a:p>
          <a:p>
            <a:pPr marL="1314450" lvl="2" indent="-400050" algn="l">
              <a:buFont typeface="+mj-lt"/>
              <a:buAutoNum type="romanLcPeriod"/>
            </a:pPr>
            <a:r>
              <a:rPr lang="en-GB" b="0" i="0" u="none" strike="noStrike" dirty="0">
                <a:solidFill>
                  <a:srgbClr val="000000"/>
                </a:solidFill>
                <a:effectLst/>
              </a:rPr>
              <a:t>Feed this [CLS] token's output into a classification layer (e.g., a dense layer followed by a SoftMax activation for multi-class classification).</a:t>
            </a:r>
          </a:p>
          <a:p>
            <a:pPr marL="1314450" lvl="2" indent="-400050" algn="l">
              <a:buFont typeface="+mj-lt"/>
              <a:buAutoNum type="romanLcPeriod"/>
            </a:pPr>
            <a:r>
              <a:rPr lang="en-GB" b="0" i="0" u="none" strike="noStrike" dirty="0">
                <a:solidFill>
                  <a:srgbClr val="000000"/>
                </a:solidFill>
                <a:effectLst/>
              </a:rPr>
              <a:t>Train this added classification layer (and potentially fine-tune some or all of the BERT layers) using your </a:t>
            </a:r>
            <a:r>
              <a:rPr lang="en-GB" b="0" i="0" u="none" strike="noStrike" dirty="0" err="1">
                <a:solidFill>
                  <a:srgbClr val="000000"/>
                </a:solidFill>
                <a:effectLst/>
              </a:rPr>
              <a:t>labeled</a:t>
            </a:r>
            <a:r>
              <a:rPr lang="en-GB" b="0" i="0" u="none" strike="noStrike" dirty="0">
                <a:solidFill>
                  <a:srgbClr val="000000"/>
                </a:solidFill>
                <a:effectLst/>
              </a:rPr>
              <a:t> classification data.</a:t>
            </a:r>
          </a:p>
          <a:p>
            <a:pPr marL="800100" lvl="1" indent="-342900" algn="l">
              <a:buFont typeface="+mj-lt"/>
              <a:buAutoNum type="alphaUcPeriod"/>
            </a:pPr>
            <a:r>
              <a:rPr lang="en-GB" b="1" i="0" u="none" strike="noStrike" dirty="0">
                <a:solidFill>
                  <a:srgbClr val="000000"/>
                </a:solidFill>
                <a:effectLst/>
              </a:rPr>
              <a:t>Question Answering:</a:t>
            </a:r>
            <a:endParaRPr lang="en-GB" b="0" i="0" u="none" strike="noStrike" dirty="0">
              <a:solidFill>
                <a:srgbClr val="000000"/>
              </a:solidFill>
              <a:effectLst/>
            </a:endParaRPr>
          </a:p>
          <a:p>
            <a:pPr marL="1314450" lvl="2" indent="-400050" algn="l">
              <a:buFont typeface="+mj-lt"/>
              <a:buAutoNum type="romanLcPeriod"/>
            </a:pPr>
            <a:r>
              <a:rPr lang="en-GB" b="0" i="0" u="none" strike="noStrike" dirty="0">
                <a:solidFill>
                  <a:srgbClr val="000000"/>
                </a:solidFill>
                <a:effectLst/>
              </a:rPr>
              <a:t>Input the question and the context passage as a single sequence, separated by the [SEP] token.</a:t>
            </a:r>
          </a:p>
          <a:p>
            <a:pPr marL="1314450" lvl="2" indent="-400050" algn="l">
              <a:buFont typeface="+mj-lt"/>
              <a:buAutoNum type="romanLcPeriod"/>
            </a:pPr>
            <a:r>
              <a:rPr lang="en-GB" b="0" i="0" u="none" strike="noStrike" dirty="0">
                <a:solidFill>
                  <a:srgbClr val="000000"/>
                </a:solidFill>
                <a:effectLst/>
              </a:rPr>
              <a:t>Train BERT to predict the start and end positions of the answer within the context passage. This is typically done by adding two linear layers on top of the Transformer output for each token, predicting the probability of that token being the start and end of the answer.</a:t>
            </a:r>
          </a:p>
          <a:p>
            <a:pPr marL="1314450" lvl="2" indent="-400050" algn="l">
              <a:buFont typeface="+mj-lt"/>
              <a:buAutoNum type="romanLcPeriod"/>
            </a:pPr>
            <a:r>
              <a:rPr lang="en-GB" b="0" i="0" u="none" strike="noStrike" dirty="0">
                <a:solidFill>
                  <a:srgbClr val="000000"/>
                </a:solidFill>
                <a:effectLst/>
              </a:rPr>
              <a:t>The model learns to identify the span of text in the context that answers the question.</a:t>
            </a:r>
            <a:br>
              <a:rPr lang="en-GB" dirty="0"/>
            </a:br>
            <a:endParaRPr lang="en-GB" dirty="0">
              <a:effectLst/>
              <a:latin typeface="+mj-lt"/>
            </a:endParaRPr>
          </a:p>
          <a:p>
            <a:pPr algn="l"/>
            <a:endParaRPr lang="en-GB" sz="1600" b="0" i="0" u="none" strike="noStrike" dirty="0">
              <a:solidFill>
                <a:srgbClr val="000000"/>
              </a:solidFill>
              <a:effectLst/>
              <a:latin typeface="+mj-lt"/>
            </a:endParaRPr>
          </a:p>
        </p:txBody>
      </p:sp>
      <p:sp>
        <p:nvSpPr>
          <p:cNvPr id="2" name="TextBox 1">
            <a:extLst>
              <a:ext uri="{FF2B5EF4-FFF2-40B4-BE49-F238E27FC236}">
                <a16:creationId xmlns:a16="http://schemas.microsoft.com/office/drawing/2014/main" id="{9877772C-8FE8-0DD0-E173-EA584613A14A}"/>
              </a:ext>
            </a:extLst>
          </p:cNvPr>
          <p:cNvSpPr txBox="1"/>
          <p:nvPr/>
        </p:nvSpPr>
        <p:spPr>
          <a:xfrm>
            <a:off x="300228" y="-240174"/>
            <a:ext cx="7179564" cy="307777"/>
          </a:xfrm>
          <a:prstGeom prst="rect">
            <a:avLst/>
          </a:prstGeom>
          <a:noFill/>
        </p:spPr>
        <p:txBody>
          <a:bodyPr wrap="square">
            <a:spAutoFit/>
          </a:bodyPr>
          <a:lstStyle/>
          <a:p>
            <a:pPr algn="l">
              <a:buNone/>
            </a:pPr>
            <a:r>
              <a:rPr lang="en-GB" b="0" i="0" u="none" strike="noStrike" dirty="0">
                <a:solidFill>
                  <a:srgbClr val="000000"/>
                </a:solidFill>
                <a:effectLst/>
              </a:rPr>
              <a:t>  </a:t>
            </a:r>
          </a:p>
        </p:txBody>
      </p:sp>
    </p:spTree>
    <p:extLst>
      <p:ext uri="{BB962C8B-B14F-4D97-AF65-F5344CB8AC3E}">
        <p14:creationId xmlns:p14="http://schemas.microsoft.com/office/powerpoint/2010/main" val="26105348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D762FDB-8BF9-73AF-7FA6-9B83E787E6F2}"/>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98D00215-13F0-45B1-EED1-D0A057E24855}"/>
              </a:ext>
            </a:extLst>
          </p:cNvPr>
          <p:cNvSpPr txBox="1">
            <a:spLocks noGrp="1"/>
          </p:cNvSpPr>
          <p:nvPr>
            <p:ph type="title"/>
          </p:nvPr>
        </p:nvSpPr>
        <p:spPr>
          <a:xfrm>
            <a:off x="79248" y="86064"/>
            <a:ext cx="7523952"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rPr>
              <a:t>General Workflow to use a pre-trained BERT model for various NLP tasks:</a:t>
            </a:r>
            <a:br>
              <a:rPr lang="en-GB" sz="2400" dirty="0">
                <a:solidFill>
                  <a:srgbClr val="7030A0"/>
                </a:solidFill>
              </a:rPr>
            </a:br>
            <a:br>
              <a:rPr lang="en-GB" sz="2400" dirty="0">
                <a:solidFill>
                  <a:srgbClr val="7030A0"/>
                </a:solidFill>
              </a:rPr>
            </a:br>
            <a:br>
              <a:rPr lang="en-GB" sz="2400" i="0" u="none" strike="noStrike" dirty="0">
                <a:solidFill>
                  <a:srgbClr val="7030A0"/>
                </a:solidFill>
                <a:effectLst/>
              </a:rPr>
            </a:br>
            <a:br>
              <a:rPr lang="en-GB" sz="2400" i="0" u="none" strike="noStrike" dirty="0">
                <a:solidFill>
                  <a:srgbClr val="7030A0"/>
                </a:solidFill>
                <a:effectLst/>
              </a:rPr>
            </a:br>
            <a:br>
              <a:rPr lang="en-GB" sz="2400" dirty="0">
                <a:solidFill>
                  <a:srgbClr val="7030A0"/>
                </a:solidFill>
                <a:latin typeface="-webkit-standard"/>
              </a:rPr>
            </a:br>
            <a:br>
              <a:rPr lang="en-GB" sz="2400" dirty="0">
                <a:solidFill>
                  <a:srgbClr val="7030A0"/>
                </a:solidFill>
                <a:latin typeface="-webkit-standard"/>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00856ED7-4A4E-2595-8BCC-1DBA13E1DAB5}"/>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B45D3BF5-2772-0F63-DBAD-6B4E3088A741}"/>
              </a:ext>
            </a:extLst>
          </p:cNvPr>
          <p:cNvSpPr txBox="1"/>
          <p:nvPr/>
        </p:nvSpPr>
        <p:spPr>
          <a:xfrm>
            <a:off x="251460" y="-86286"/>
            <a:ext cx="7179564" cy="338554"/>
          </a:xfrm>
          <a:prstGeom prst="rect">
            <a:avLst/>
          </a:prstGeom>
          <a:noFill/>
        </p:spPr>
        <p:txBody>
          <a:bodyPr wrap="square">
            <a:spAutoFit/>
          </a:bodyPr>
          <a:lstStyle/>
          <a:p>
            <a:pPr algn="l">
              <a:buNone/>
            </a:pPr>
            <a:endParaRPr lang="en-US" sz="1600" dirty="0">
              <a:latin typeface="+mj-lt"/>
            </a:endParaRPr>
          </a:p>
        </p:txBody>
      </p:sp>
      <p:sp>
        <p:nvSpPr>
          <p:cNvPr id="3" name="TextBox 2">
            <a:extLst>
              <a:ext uri="{FF2B5EF4-FFF2-40B4-BE49-F238E27FC236}">
                <a16:creationId xmlns:a16="http://schemas.microsoft.com/office/drawing/2014/main" id="{2AA94CB2-4485-F20B-BD77-791207368B71}"/>
              </a:ext>
            </a:extLst>
          </p:cNvPr>
          <p:cNvSpPr txBox="1"/>
          <p:nvPr/>
        </p:nvSpPr>
        <p:spPr>
          <a:xfrm>
            <a:off x="79248" y="970670"/>
            <a:ext cx="8524752" cy="4216539"/>
          </a:xfrm>
          <a:prstGeom prst="rect">
            <a:avLst/>
          </a:prstGeom>
          <a:noFill/>
        </p:spPr>
        <p:txBody>
          <a:bodyPr wrap="square">
            <a:spAutoFit/>
          </a:bodyPr>
          <a:lstStyle/>
          <a:p>
            <a:pPr marL="800100" lvl="1" indent="-342900" algn="l">
              <a:buFont typeface="+mj-lt"/>
              <a:buAutoNum type="alphaUcPeriod" startAt="3"/>
            </a:pPr>
            <a:r>
              <a:rPr lang="en-GB" b="1" i="0" u="none" strike="noStrike" dirty="0">
                <a:solidFill>
                  <a:srgbClr val="000000"/>
                </a:solidFill>
                <a:effectLst/>
              </a:rPr>
              <a:t>Named Entity Recognition (NER):</a:t>
            </a:r>
            <a:endParaRPr lang="en-GB" b="0" i="0" u="none" strike="noStrike" dirty="0">
              <a:solidFill>
                <a:srgbClr val="000000"/>
              </a:solidFill>
              <a:effectLst/>
            </a:endParaRPr>
          </a:p>
          <a:p>
            <a:pPr marL="1314450" lvl="2" indent="-400050" algn="l">
              <a:buFont typeface="+mj-lt"/>
              <a:buAutoNum type="romanLcPeriod"/>
            </a:pPr>
            <a:r>
              <a:rPr lang="en-GB" b="0" i="0" u="none" strike="noStrike" dirty="0">
                <a:solidFill>
                  <a:srgbClr val="000000"/>
                </a:solidFill>
                <a:effectLst/>
              </a:rPr>
              <a:t>Take the output vector for each token from the final layer of the Transformer.</a:t>
            </a:r>
          </a:p>
          <a:p>
            <a:pPr marL="1314450" lvl="2" indent="-400050" algn="l">
              <a:buFont typeface="+mj-lt"/>
              <a:buAutoNum type="romanLcPeriod"/>
            </a:pPr>
            <a:r>
              <a:rPr lang="en-GB" b="0" i="0" u="none" strike="noStrike" dirty="0">
                <a:solidFill>
                  <a:srgbClr val="000000"/>
                </a:solidFill>
                <a:effectLst/>
              </a:rPr>
              <a:t>Feed each of these token-level output vectors into a classification layer.</a:t>
            </a:r>
          </a:p>
          <a:p>
            <a:pPr marL="1314450" lvl="2" indent="-400050" algn="l">
              <a:buFont typeface="+mj-lt"/>
              <a:buAutoNum type="romanLcPeriod"/>
            </a:pPr>
            <a:r>
              <a:rPr lang="en-GB" b="0" i="0" u="none" strike="noStrike" dirty="0">
                <a:solidFill>
                  <a:srgbClr val="000000"/>
                </a:solidFill>
                <a:effectLst/>
              </a:rPr>
              <a:t>This classification layer predicts the NER label for each input token (e.g., Person, Organization, Date, O for not an entity).</a:t>
            </a:r>
          </a:p>
          <a:p>
            <a:pPr marL="1314450" lvl="2" indent="-400050" algn="l">
              <a:buFont typeface="+mj-lt"/>
              <a:buAutoNum type="romanLcPeriod"/>
            </a:pPr>
            <a:r>
              <a:rPr lang="en-GB" b="0" i="0" u="none" strike="noStrike" dirty="0">
                <a:solidFill>
                  <a:srgbClr val="000000"/>
                </a:solidFill>
                <a:effectLst/>
              </a:rPr>
              <a:t>Train this added classification layer (and potentially fine-tune the BERT layers) using your </a:t>
            </a:r>
            <a:r>
              <a:rPr lang="en-GB" b="0" i="0" u="none" strike="noStrike" dirty="0" err="1">
                <a:solidFill>
                  <a:srgbClr val="000000"/>
                </a:solidFill>
                <a:effectLst/>
              </a:rPr>
              <a:t>labeled</a:t>
            </a:r>
            <a:r>
              <a:rPr lang="en-GB" b="0" i="0" u="none" strike="noStrike" dirty="0">
                <a:solidFill>
                  <a:srgbClr val="000000"/>
                </a:solidFill>
                <a:effectLst/>
              </a:rPr>
              <a:t> NER data.</a:t>
            </a:r>
          </a:p>
          <a:p>
            <a:pPr algn="l">
              <a:buFont typeface="+mj-lt"/>
              <a:buAutoNum type="arabicPeriod" startAt="5"/>
            </a:pPr>
            <a:r>
              <a:rPr lang="en-GB" b="1" i="0" u="none" strike="noStrike" dirty="0">
                <a:solidFill>
                  <a:srgbClr val="000000"/>
                </a:solidFill>
                <a:effectLst/>
              </a:rPr>
              <a:t>Evaluation:</a:t>
            </a:r>
            <a:r>
              <a:rPr lang="en-GB" b="0" i="0" u="none" strike="noStrike" dirty="0">
                <a:solidFill>
                  <a:srgbClr val="000000"/>
                </a:solidFill>
                <a:effectLst/>
              </a:rPr>
              <a:t> Evaluate the performance of your fine-tuned BERT model on a held-out test set using appropriate evaluation metrics for your specific task.</a:t>
            </a:r>
          </a:p>
          <a:p>
            <a:pPr algn="l"/>
            <a:endParaRPr lang="en-GB" b="0" i="0" u="none" strike="noStrike" dirty="0">
              <a:solidFill>
                <a:srgbClr val="000000"/>
              </a:solidFill>
              <a:effectLst/>
            </a:endParaRPr>
          </a:p>
          <a:p>
            <a:pPr algn="l"/>
            <a:r>
              <a:rPr lang="en-GB" b="1" i="0" u="none" strike="noStrike" dirty="0">
                <a:solidFill>
                  <a:srgbClr val="000000"/>
                </a:solidFill>
                <a:effectLst/>
              </a:rPr>
              <a:t>6. Inference:</a:t>
            </a:r>
            <a:r>
              <a:rPr lang="en-GB" b="0" i="0" u="none" strike="noStrike" dirty="0">
                <a:solidFill>
                  <a:srgbClr val="000000"/>
                </a:solidFill>
                <a:effectLst/>
              </a:rPr>
              <a:t> Once you have a well-performing fine-tuned model, you can use it to make predictions on new, unseen data.</a:t>
            </a:r>
          </a:p>
          <a:p>
            <a:pPr algn="l">
              <a:buNone/>
            </a:pPr>
            <a:r>
              <a:rPr lang="en-GB" b="0" i="0" u="none" strike="noStrike" dirty="0">
                <a:solidFill>
                  <a:srgbClr val="000000"/>
                </a:solidFill>
                <a:effectLst/>
              </a:rPr>
              <a:t>In summary, using BERT involves leveraging its powerful pre-trained representations and then fine-tuning it on task-specific </a:t>
            </a:r>
            <a:r>
              <a:rPr lang="en-GB" b="0" i="0" u="none" strike="noStrike" dirty="0" err="1">
                <a:solidFill>
                  <a:srgbClr val="000000"/>
                </a:solidFill>
                <a:effectLst/>
              </a:rPr>
              <a:t>labeled</a:t>
            </a:r>
            <a:r>
              <a:rPr lang="en-GB" b="0" i="0" u="none" strike="noStrike" dirty="0">
                <a:solidFill>
                  <a:srgbClr val="000000"/>
                </a:solidFill>
                <a:effectLst/>
              </a:rPr>
              <a:t> data by adding appropriate output layers for the desired NLP task. The Hugging Face transformers library provides a convenient and widely used way to access pre-trained BERT models and tools for tokenization and fine-tuning.</a:t>
            </a:r>
          </a:p>
          <a:p>
            <a:pPr>
              <a:buNone/>
            </a:pPr>
            <a:br>
              <a:rPr lang="en-GB" dirty="0"/>
            </a:br>
            <a:endParaRPr lang="en-GB" dirty="0">
              <a:effectLst/>
              <a:latin typeface="+mj-lt"/>
            </a:endParaRPr>
          </a:p>
          <a:p>
            <a:pPr algn="l"/>
            <a:endParaRPr lang="en-GB" sz="1600" b="0" i="0" u="none" strike="noStrike" dirty="0">
              <a:solidFill>
                <a:srgbClr val="000000"/>
              </a:solidFill>
              <a:effectLst/>
              <a:latin typeface="+mj-lt"/>
            </a:endParaRPr>
          </a:p>
        </p:txBody>
      </p:sp>
      <p:sp>
        <p:nvSpPr>
          <p:cNvPr id="2" name="TextBox 1">
            <a:extLst>
              <a:ext uri="{FF2B5EF4-FFF2-40B4-BE49-F238E27FC236}">
                <a16:creationId xmlns:a16="http://schemas.microsoft.com/office/drawing/2014/main" id="{5E612351-F4DC-EB6D-FA16-65F70CA50372}"/>
              </a:ext>
            </a:extLst>
          </p:cNvPr>
          <p:cNvSpPr txBox="1"/>
          <p:nvPr/>
        </p:nvSpPr>
        <p:spPr>
          <a:xfrm>
            <a:off x="300228" y="-240174"/>
            <a:ext cx="7179564" cy="307777"/>
          </a:xfrm>
          <a:prstGeom prst="rect">
            <a:avLst/>
          </a:prstGeom>
          <a:noFill/>
        </p:spPr>
        <p:txBody>
          <a:bodyPr wrap="square">
            <a:spAutoFit/>
          </a:bodyPr>
          <a:lstStyle/>
          <a:p>
            <a:pPr algn="l">
              <a:buNone/>
            </a:pPr>
            <a:r>
              <a:rPr lang="en-GB" b="0" i="0" u="none" strike="noStrike" dirty="0">
                <a:solidFill>
                  <a:srgbClr val="000000"/>
                </a:solidFill>
                <a:effectLst/>
              </a:rPr>
              <a:t>  </a:t>
            </a:r>
          </a:p>
        </p:txBody>
      </p:sp>
    </p:spTree>
    <p:extLst>
      <p:ext uri="{BB962C8B-B14F-4D97-AF65-F5344CB8AC3E}">
        <p14:creationId xmlns:p14="http://schemas.microsoft.com/office/powerpoint/2010/main" val="42692958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C4905146-1F79-5CDC-A050-1B95A44A1145}"/>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9B5476E1-B959-CE60-2448-7378E63DBBCA}"/>
              </a:ext>
            </a:extLst>
          </p:cNvPr>
          <p:cNvSpPr txBox="1">
            <a:spLocks noGrp="1"/>
          </p:cNvSpPr>
          <p:nvPr>
            <p:ph type="title"/>
          </p:nvPr>
        </p:nvSpPr>
        <p:spPr>
          <a:xfrm>
            <a:off x="79248" y="86064"/>
            <a:ext cx="7523952"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rPr>
              <a:t>How to Tokenize and Encode Text using BERT?</a:t>
            </a:r>
            <a:br>
              <a:rPr lang="en-GB" sz="2400" dirty="0">
                <a:solidFill>
                  <a:srgbClr val="7030A0"/>
                </a:solidFill>
              </a:rPr>
            </a:br>
            <a:br>
              <a:rPr lang="en-GB" sz="2400" dirty="0">
                <a:solidFill>
                  <a:srgbClr val="7030A0"/>
                </a:solidFill>
              </a:rPr>
            </a:br>
            <a:br>
              <a:rPr lang="en-GB" sz="2400" i="0" u="none" strike="noStrike" dirty="0">
                <a:solidFill>
                  <a:srgbClr val="7030A0"/>
                </a:solidFill>
                <a:effectLst/>
              </a:rPr>
            </a:br>
            <a:br>
              <a:rPr lang="en-GB" sz="2400" i="0" u="none" strike="noStrike" dirty="0">
                <a:solidFill>
                  <a:srgbClr val="7030A0"/>
                </a:solidFill>
                <a:effectLst/>
              </a:rPr>
            </a:br>
            <a:br>
              <a:rPr lang="en-GB" sz="2400" dirty="0">
                <a:solidFill>
                  <a:srgbClr val="7030A0"/>
                </a:solidFill>
                <a:latin typeface="-webkit-standard"/>
              </a:rPr>
            </a:br>
            <a:br>
              <a:rPr lang="en-GB" sz="2400" dirty="0">
                <a:solidFill>
                  <a:srgbClr val="7030A0"/>
                </a:solidFill>
                <a:latin typeface="-webkit-standard"/>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EFE819C3-FD65-FDD3-4D08-A3F1238A5423}"/>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9AE2461C-EE2F-065B-BD35-1B0CDBCC6B23}"/>
              </a:ext>
            </a:extLst>
          </p:cNvPr>
          <p:cNvSpPr txBox="1"/>
          <p:nvPr/>
        </p:nvSpPr>
        <p:spPr>
          <a:xfrm>
            <a:off x="251460" y="-86286"/>
            <a:ext cx="7179564" cy="338554"/>
          </a:xfrm>
          <a:prstGeom prst="rect">
            <a:avLst/>
          </a:prstGeom>
          <a:noFill/>
        </p:spPr>
        <p:txBody>
          <a:bodyPr wrap="square">
            <a:spAutoFit/>
          </a:bodyPr>
          <a:lstStyle/>
          <a:p>
            <a:pPr algn="l">
              <a:buNone/>
            </a:pPr>
            <a:endParaRPr lang="en-US" sz="1600" dirty="0">
              <a:latin typeface="+mj-lt"/>
            </a:endParaRPr>
          </a:p>
        </p:txBody>
      </p:sp>
      <p:sp>
        <p:nvSpPr>
          <p:cNvPr id="3" name="TextBox 2">
            <a:extLst>
              <a:ext uri="{FF2B5EF4-FFF2-40B4-BE49-F238E27FC236}">
                <a16:creationId xmlns:a16="http://schemas.microsoft.com/office/drawing/2014/main" id="{010F698D-4E35-0FC4-9446-D47737CD6F0D}"/>
              </a:ext>
            </a:extLst>
          </p:cNvPr>
          <p:cNvSpPr txBox="1"/>
          <p:nvPr/>
        </p:nvSpPr>
        <p:spPr>
          <a:xfrm>
            <a:off x="79248" y="732425"/>
            <a:ext cx="8524752" cy="4652556"/>
          </a:xfrm>
          <a:prstGeom prst="rect">
            <a:avLst/>
          </a:prstGeom>
          <a:noFill/>
        </p:spPr>
        <p:txBody>
          <a:bodyPr wrap="square">
            <a:spAutoFit/>
          </a:bodyPr>
          <a:lstStyle/>
          <a:p>
            <a:pPr algn="l" rtl="0" fontAlgn="base">
              <a:spcAft>
                <a:spcPts val="750"/>
              </a:spcAft>
              <a:buNone/>
            </a:pPr>
            <a:r>
              <a:rPr lang="en-GB" sz="1600" b="0" i="0" u="none" strike="noStrike" dirty="0">
                <a:solidFill>
                  <a:srgbClr val="273239"/>
                </a:solidFill>
                <a:effectLst/>
                <a:latin typeface="+mj-lt"/>
              </a:rPr>
              <a:t>To tokenize and encode text using BERT, we will be using the 'transformer' library in Python.</a:t>
            </a:r>
          </a:p>
          <a:p>
            <a:pPr algn="l" rtl="0" fontAlgn="base">
              <a:spcAft>
                <a:spcPts val="750"/>
              </a:spcAft>
              <a:buNone/>
            </a:pPr>
            <a:r>
              <a:rPr lang="en-GB" sz="1600" b="1" i="0" u="none" strike="noStrike" dirty="0">
                <a:solidFill>
                  <a:srgbClr val="273239"/>
                </a:solidFill>
                <a:effectLst/>
                <a:latin typeface="+mj-lt"/>
              </a:rPr>
              <a:t>Command to install transformers:</a:t>
            </a:r>
            <a:endParaRPr lang="en-GB" sz="1600" b="0" i="0" u="none" strike="noStrike" dirty="0">
              <a:solidFill>
                <a:srgbClr val="273239"/>
              </a:solidFill>
              <a:effectLst/>
              <a:latin typeface="+mj-lt"/>
            </a:endParaRPr>
          </a:p>
          <a:p>
            <a:pPr marL="342900" indent="-342900" algn="l" fontAlgn="base">
              <a:spcAft>
                <a:spcPts val="1800"/>
              </a:spcAft>
              <a:buFont typeface="+mj-lt"/>
              <a:buAutoNum type="arabicPeriod"/>
            </a:pPr>
            <a:r>
              <a:rPr lang="en-GB" sz="1600" dirty="0">
                <a:effectLst/>
                <a:latin typeface="+mj-lt"/>
              </a:rPr>
              <a:t>!pip install </a:t>
            </a:r>
            <a:r>
              <a:rPr lang="en-GB" sz="1600" dirty="0" err="1">
                <a:effectLst/>
                <a:latin typeface="+mj-lt"/>
              </a:rPr>
              <a:t>transformers</a:t>
            </a:r>
            <a:r>
              <a:rPr lang="en-GB" sz="1600" b="0" i="0" u="none" strike="noStrike" dirty="0" err="1">
                <a:solidFill>
                  <a:srgbClr val="273239"/>
                </a:solidFill>
                <a:effectLst/>
                <a:latin typeface="+mj-lt"/>
              </a:rPr>
              <a:t>We</a:t>
            </a:r>
            <a:r>
              <a:rPr lang="en-GB" sz="1600" b="0" i="0" u="none" strike="noStrike" dirty="0">
                <a:solidFill>
                  <a:srgbClr val="273239"/>
                </a:solidFill>
                <a:effectLst/>
                <a:latin typeface="+mj-lt"/>
              </a:rPr>
              <a:t> will load the pretrained BERT tokenize with a cased vocabulary using </a:t>
            </a:r>
            <a:r>
              <a:rPr lang="en-GB" sz="1600" b="1" i="1" u="none" strike="noStrike" dirty="0" err="1">
                <a:solidFill>
                  <a:srgbClr val="273239"/>
                </a:solidFill>
                <a:effectLst/>
                <a:latin typeface="+mj-lt"/>
              </a:rPr>
              <a:t>BertTokenizer.from_pretrained</a:t>
            </a:r>
            <a:r>
              <a:rPr lang="en-GB" sz="1600" b="1" i="1" u="none" strike="noStrike" dirty="0">
                <a:solidFill>
                  <a:srgbClr val="273239"/>
                </a:solidFill>
                <a:effectLst/>
                <a:latin typeface="+mj-lt"/>
              </a:rPr>
              <a:t>("</a:t>
            </a:r>
            <a:r>
              <a:rPr lang="en-GB" sz="1600" b="1" i="1" u="none" strike="noStrike" dirty="0" err="1">
                <a:solidFill>
                  <a:srgbClr val="273239"/>
                </a:solidFill>
                <a:effectLst/>
                <a:latin typeface="+mj-lt"/>
              </a:rPr>
              <a:t>bert</a:t>
            </a:r>
            <a:r>
              <a:rPr lang="en-GB" sz="1600" b="1" i="1" u="none" strike="noStrike" dirty="0">
                <a:solidFill>
                  <a:srgbClr val="273239"/>
                </a:solidFill>
                <a:effectLst/>
                <a:latin typeface="+mj-lt"/>
              </a:rPr>
              <a:t>-base-cased")</a:t>
            </a:r>
            <a:r>
              <a:rPr lang="en-GB" sz="1600" b="1" i="0" u="none" strike="noStrike" dirty="0">
                <a:solidFill>
                  <a:srgbClr val="273239"/>
                </a:solidFill>
                <a:effectLst/>
                <a:latin typeface="+mj-lt"/>
              </a:rPr>
              <a:t>.</a:t>
            </a:r>
            <a:endParaRPr lang="en-GB" sz="1600" b="0" i="0" u="none" strike="noStrike" dirty="0">
              <a:solidFill>
                <a:srgbClr val="273239"/>
              </a:solidFill>
              <a:effectLst/>
              <a:latin typeface="+mj-lt"/>
            </a:endParaRPr>
          </a:p>
          <a:p>
            <a:pPr marL="342900" indent="-342900" algn="l" fontAlgn="base">
              <a:spcAft>
                <a:spcPts val="1800"/>
              </a:spcAft>
              <a:buFont typeface="+mj-lt"/>
              <a:buAutoNum type="arabicPeriod"/>
            </a:pPr>
            <a:r>
              <a:rPr lang="en-GB" sz="1600" b="1" i="1" u="none" strike="noStrike" dirty="0" err="1">
                <a:solidFill>
                  <a:srgbClr val="273239"/>
                </a:solidFill>
                <a:effectLst/>
                <a:latin typeface="+mj-lt"/>
              </a:rPr>
              <a:t>tokenizer.encode</a:t>
            </a:r>
            <a:r>
              <a:rPr lang="en-GB" sz="1600" b="1" i="1" u="none" strike="noStrike" dirty="0">
                <a:solidFill>
                  <a:srgbClr val="273239"/>
                </a:solidFill>
                <a:effectLst/>
                <a:latin typeface="+mj-lt"/>
              </a:rPr>
              <a:t>(text)</a:t>
            </a:r>
            <a:r>
              <a:rPr lang="en-GB" sz="1600" b="0" i="0" u="none" strike="noStrike" dirty="0">
                <a:solidFill>
                  <a:srgbClr val="273239"/>
                </a:solidFill>
                <a:effectLst/>
                <a:latin typeface="+mj-lt"/>
              </a:rPr>
              <a:t> tokenizes the input text and converts it into a sequence of token IDs.</a:t>
            </a:r>
          </a:p>
          <a:p>
            <a:pPr marL="342900" indent="-342900" algn="l" fontAlgn="base">
              <a:spcAft>
                <a:spcPts val="1800"/>
              </a:spcAft>
              <a:buFont typeface="+mj-lt"/>
              <a:buAutoNum type="arabicPeriod"/>
            </a:pPr>
            <a:r>
              <a:rPr lang="en-GB" sz="1600" b="1" i="1" u="none" strike="noStrike" dirty="0">
                <a:solidFill>
                  <a:srgbClr val="273239"/>
                </a:solidFill>
                <a:effectLst/>
                <a:latin typeface="+mj-lt"/>
              </a:rPr>
              <a:t>print("Token IDs:", encoding) </a:t>
            </a:r>
            <a:r>
              <a:rPr lang="en-GB" sz="1600" b="0" i="0" u="none" strike="noStrike" dirty="0">
                <a:solidFill>
                  <a:srgbClr val="273239"/>
                </a:solidFill>
                <a:effectLst/>
                <a:latin typeface="+mj-lt"/>
              </a:rPr>
              <a:t>prints the token IDs obtained after encoding.</a:t>
            </a:r>
          </a:p>
          <a:p>
            <a:pPr marL="342900" indent="-342900" algn="l" fontAlgn="base">
              <a:spcAft>
                <a:spcPts val="1800"/>
              </a:spcAft>
              <a:buFont typeface="+mj-lt"/>
              <a:buAutoNum type="arabicPeriod"/>
            </a:pPr>
            <a:r>
              <a:rPr lang="en-GB" sz="1600" b="1" i="1" u="none" strike="noStrike" dirty="0" err="1">
                <a:solidFill>
                  <a:srgbClr val="273239"/>
                </a:solidFill>
                <a:effectLst/>
                <a:latin typeface="+mj-lt"/>
              </a:rPr>
              <a:t>tokenizer.convert_ids_to_tokens</a:t>
            </a:r>
            <a:r>
              <a:rPr lang="en-GB" sz="1600" b="1" i="1" u="none" strike="noStrike" dirty="0">
                <a:solidFill>
                  <a:srgbClr val="273239"/>
                </a:solidFill>
                <a:effectLst/>
                <a:latin typeface="+mj-lt"/>
              </a:rPr>
              <a:t>(encoding)</a:t>
            </a:r>
            <a:r>
              <a:rPr lang="en-GB" sz="1600" b="0" i="0" u="none" strike="noStrike" dirty="0">
                <a:solidFill>
                  <a:srgbClr val="273239"/>
                </a:solidFill>
                <a:effectLst/>
                <a:latin typeface="+mj-lt"/>
              </a:rPr>
              <a:t> converts the token IDs back to their corresponding tokens.</a:t>
            </a:r>
          </a:p>
          <a:p>
            <a:pPr marL="342900" indent="-342900" algn="l" fontAlgn="base">
              <a:spcAft>
                <a:spcPts val="1800"/>
              </a:spcAft>
              <a:buFont typeface="+mj-lt"/>
              <a:buAutoNum type="arabicPeriod"/>
            </a:pPr>
            <a:r>
              <a:rPr lang="en-GB" sz="1600" b="1" i="1" u="none" strike="noStrike" dirty="0">
                <a:solidFill>
                  <a:srgbClr val="273239"/>
                </a:solidFill>
                <a:effectLst/>
                <a:latin typeface="+mj-lt"/>
              </a:rPr>
              <a:t>print("Tokens:", tokens)</a:t>
            </a:r>
            <a:r>
              <a:rPr lang="en-GB" sz="1600" b="0" i="0" u="none" strike="noStrike" dirty="0">
                <a:solidFill>
                  <a:srgbClr val="273239"/>
                </a:solidFill>
                <a:effectLst/>
                <a:latin typeface="+mj-lt"/>
              </a:rPr>
              <a:t> prints the tokens obtained after converting the token IDs</a:t>
            </a:r>
          </a:p>
          <a:p>
            <a:pPr>
              <a:buNone/>
            </a:pPr>
            <a:br>
              <a:rPr lang="en-GB" sz="1600" dirty="0">
                <a:latin typeface="+mj-lt"/>
              </a:rPr>
            </a:br>
            <a:endParaRPr lang="en-GB" sz="1600" dirty="0">
              <a:effectLst/>
              <a:latin typeface="+mj-lt"/>
            </a:endParaRPr>
          </a:p>
          <a:p>
            <a:pPr algn="l"/>
            <a:endParaRPr lang="en-GB" sz="1600" b="0" i="0" u="none" strike="noStrike" dirty="0">
              <a:solidFill>
                <a:srgbClr val="000000"/>
              </a:solidFill>
              <a:effectLst/>
              <a:latin typeface="+mj-lt"/>
            </a:endParaRPr>
          </a:p>
        </p:txBody>
      </p:sp>
      <p:sp>
        <p:nvSpPr>
          <p:cNvPr id="2" name="TextBox 1">
            <a:extLst>
              <a:ext uri="{FF2B5EF4-FFF2-40B4-BE49-F238E27FC236}">
                <a16:creationId xmlns:a16="http://schemas.microsoft.com/office/drawing/2014/main" id="{841836E5-E2D1-E887-9823-C914D64D22FC}"/>
              </a:ext>
            </a:extLst>
          </p:cNvPr>
          <p:cNvSpPr txBox="1"/>
          <p:nvPr/>
        </p:nvSpPr>
        <p:spPr>
          <a:xfrm>
            <a:off x="300228" y="-240174"/>
            <a:ext cx="7179564" cy="307777"/>
          </a:xfrm>
          <a:prstGeom prst="rect">
            <a:avLst/>
          </a:prstGeom>
          <a:noFill/>
        </p:spPr>
        <p:txBody>
          <a:bodyPr wrap="square">
            <a:spAutoFit/>
          </a:bodyPr>
          <a:lstStyle/>
          <a:p>
            <a:pPr algn="l">
              <a:buNone/>
            </a:pPr>
            <a:r>
              <a:rPr lang="en-GB" b="0" i="0" u="none" strike="noStrike" dirty="0">
                <a:solidFill>
                  <a:srgbClr val="000000"/>
                </a:solidFill>
                <a:effectLst/>
              </a:rPr>
              <a:t>  </a:t>
            </a:r>
          </a:p>
        </p:txBody>
      </p:sp>
    </p:spTree>
    <p:extLst>
      <p:ext uri="{BB962C8B-B14F-4D97-AF65-F5344CB8AC3E}">
        <p14:creationId xmlns:p14="http://schemas.microsoft.com/office/powerpoint/2010/main" val="31919634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B0756C6-FAC5-D7BB-E59F-4FC481B6D5B8}"/>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CC26459A-45B5-AC56-911A-C8B05F7898DB}"/>
              </a:ext>
            </a:extLst>
          </p:cNvPr>
          <p:cNvSpPr txBox="1">
            <a:spLocks noGrp="1"/>
          </p:cNvSpPr>
          <p:nvPr>
            <p:ph type="title"/>
          </p:nvPr>
        </p:nvSpPr>
        <p:spPr>
          <a:xfrm>
            <a:off x="79248" y="86064"/>
            <a:ext cx="7523952"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rPr>
              <a:t>How to Tokenize and Encode Text using BERT?</a:t>
            </a:r>
            <a:br>
              <a:rPr lang="en-GB" sz="2400" dirty="0">
                <a:solidFill>
                  <a:srgbClr val="7030A0"/>
                </a:solidFill>
              </a:rPr>
            </a:br>
            <a:br>
              <a:rPr lang="en-GB" sz="2400" dirty="0">
                <a:solidFill>
                  <a:srgbClr val="7030A0"/>
                </a:solidFill>
              </a:rPr>
            </a:br>
            <a:br>
              <a:rPr lang="en-GB" sz="2400" i="0" u="none" strike="noStrike" dirty="0">
                <a:solidFill>
                  <a:srgbClr val="7030A0"/>
                </a:solidFill>
                <a:effectLst/>
              </a:rPr>
            </a:br>
            <a:br>
              <a:rPr lang="en-GB" sz="2400" i="0" u="none" strike="noStrike" dirty="0">
                <a:solidFill>
                  <a:srgbClr val="7030A0"/>
                </a:solidFill>
                <a:effectLst/>
              </a:rPr>
            </a:br>
            <a:br>
              <a:rPr lang="en-GB" sz="2400" dirty="0">
                <a:solidFill>
                  <a:srgbClr val="7030A0"/>
                </a:solidFill>
                <a:latin typeface="-webkit-standard"/>
              </a:rPr>
            </a:br>
            <a:br>
              <a:rPr lang="en-GB" sz="2400" dirty="0">
                <a:solidFill>
                  <a:srgbClr val="7030A0"/>
                </a:solidFill>
                <a:latin typeface="-webkit-standard"/>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5F866295-035A-D0A5-B19E-580012C7D37C}"/>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FBFA121F-8CFA-9A40-D71A-5A32A8B6E82F}"/>
              </a:ext>
            </a:extLst>
          </p:cNvPr>
          <p:cNvSpPr txBox="1"/>
          <p:nvPr/>
        </p:nvSpPr>
        <p:spPr>
          <a:xfrm>
            <a:off x="251460" y="-86286"/>
            <a:ext cx="7179564" cy="338554"/>
          </a:xfrm>
          <a:prstGeom prst="rect">
            <a:avLst/>
          </a:prstGeom>
          <a:noFill/>
        </p:spPr>
        <p:txBody>
          <a:bodyPr wrap="square">
            <a:spAutoFit/>
          </a:bodyPr>
          <a:lstStyle/>
          <a:p>
            <a:pPr algn="l">
              <a:buNone/>
            </a:pPr>
            <a:endParaRPr lang="en-US" sz="1600" dirty="0">
              <a:latin typeface="+mj-lt"/>
            </a:endParaRPr>
          </a:p>
        </p:txBody>
      </p:sp>
      <p:sp>
        <p:nvSpPr>
          <p:cNvPr id="3" name="TextBox 2">
            <a:extLst>
              <a:ext uri="{FF2B5EF4-FFF2-40B4-BE49-F238E27FC236}">
                <a16:creationId xmlns:a16="http://schemas.microsoft.com/office/drawing/2014/main" id="{927F1467-1333-6A34-4D1A-0501F0D9526A}"/>
              </a:ext>
            </a:extLst>
          </p:cNvPr>
          <p:cNvSpPr txBox="1"/>
          <p:nvPr/>
        </p:nvSpPr>
        <p:spPr>
          <a:xfrm>
            <a:off x="79248" y="732425"/>
            <a:ext cx="9064752" cy="2492990"/>
          </a:xfrm>
          <a:prstGeom prst="rect">
            <a:avLst/>
          </a:prstGeom>
          <a:solidFill>
            <a:schemeClr val="accent1">
              <a:lumMod val="40000"/>
              <a:lumOff val="60000"/>
            </a:schemeClr>
          </a:solidFill>
        </p:spPr>
        <p:txBody>
          <a:bodyPr wrap="square">
            <a:spAutoFit/>
          </a:bodyPr>
          <a:lstStyle/>
          <a:p>
            <a:pPr>
              <a:buNone/>
            </a:pPr>
            <a:r>
              <a:rPr lang="en-GB" sz="1200" dirty="0"/>
              <a:t>from transformers import </a:t>
            </a:r>
            <a:r>
              <a:rPr lang="en-GB" sz="1200" dirty="0" err="1"/>
              <a:t>BertTokenizer</a:t>
            </a:r>
            <a:endParaRPr lang="en-GB" sz="1200" dirty="0"/>
          </a:p>
          <a:p>
            <a:pPr>
              <a:buNone/>
            </a:pPr>
            <a:r>
              <a:rPr lang="en-GB" sz="1200" dirty="0"/>
              <a:t># Load pre-trained BERT tokenizer</a:t>
            </a:r>
          </a:p>
          <a:p>
            <a:pPr>
              <a:buNone/>
            </a:pPr>
            <a:r>
              <a:rPr lang="en-GB" sz="1200" dirty="0"/>
              <a:t>tokenizer = </a:t>
            </a:r>
            <a:r>
              <a:rPr lang="en-GB" sz="1200" dirty="0" err="1"/>
              <a:t>BertTokenizer.from_pretrained</a:t>
            </a:r>
            <a:r>
              <a:rPr lang="en-GB" sz="1200" dirty="0"/>
              <a:t>("</a:t>
            </a:r>
            <a:r>
              <a:rPr lang="en-GB" sz="1200" dirty="0" err="1"/>
              <a:t>bert</a:t>
            </a:r>
            <a:r>
              <a:rPr lang="en-GB" sz="1200" dirty="0"/>
              <a:t>-base-cased")</a:t>
            </a:r>
          </a:p>
          <a:p>
            <a:pPr>
              <a:buNone/>
            </a:pPr>
            <a:r>
              <a:rPr lang="en-GB" sz="1200" dirty="0"/>
              <a:t># Input text</a:t>
            </a:r>
          </a:p>
          <a:p>
            <a:pPr>
              <a:buNone/>
            </a:pPr>
            <a:r>
              <a:rPr lang="en-GB" sz="1200" dirty="0"/>
              <a:t>text = 'ChatGPT is a language model developed by OpenAI, based on the GPT (Generative Pre-trained Transformer) architecture. '</a:t>
            </a:r>
          </a:p>
          <a:p>
            <a:pPr>
              <a:buNone/>
            </a:pPr>
            <a:r>
              <a:rPr lang="en-GB" sz="1200" dirty="0"/>
              <a:t># Tokenize and encode the text</a:t>
            </a:r>
          </a:p>
          <a:p>
            <a:pPr>
              <a:buNone/>
            </a:pPr>
            <a:r>
              <a:rPr lang="en-GB" sz="1200" dirty="0"/>
              <a:t>encoding = </a:t>
            </a:r>
            <a:r>
              <a:rPr lang="en-GB" sz="1200" dirty="0" err="1"/>
              <a:t>tokenizer.encode</a:t>
            </a:r>
            <a:r>
              <a:rPr lang="en-GB" sz="1200" dirty="0"/>
              <a:t>(text)</a:t>
            </a:r>
          </a:p>
          <a:p>
            <a:pPr>
              <a:buNone/>
            </a:pPr>
            <a:r>
              <a:rPr lang="en-GB" sz="1200" dirty="0"/>
              <a:t># Print the token IDs</a:t>
            </a:r>
          </a:p>
          <a:p>
            <a:pPr>
              <a:buNone/>
            </a:pPr>
            <a:r>
              <a:rPr lang="en-GB" sz="1200" dirty="0"/>
              <a:t>print("Token IDs:", encoding)</a:t>
            </a:r>
          </a:p>
          <a:p>
            <a:pPr>
              <a:buNone/>
            </a:pPr>
            <a:r>
              <a:rPr lang="en-GB" sz="1200" dirty="0"/>
              <a:t># Convert token IDs back to tokens</a:t>
            </a:r>
          </a:p>
          <a:p>
            <a:pPr>
              <a:buNone/>
            </a:pPr>
            <a:r>
              <a:rPr lang="en-GB" sz="1200" dirty="0"/>
              <a:t>tokens = </a:t>
            </a:r>
            <a:r>
              <a:rPr lang="en-GB" sz="1200" dirty="0" err="1"/>
              <a:t>tokenizer.convert_ids_to_tokens</a:t>
            </a:r>
            <a:r>
              <a:rPr lang="en-GB" sz="1200" dirty="0"/>
              <a:t>(encoding)</a:t>
            </a:r>
          </a:p>
          <a:p>
            <a:pPr>
              <a:buNone/>
            </a:pPr>
            <a:r>
              <a:rPr lang="en-GB" sz="1200" dirty="0"/>
              <a:t># Print the corresponding tokens</a:t>
            </a:r>
          </a:p>
          <a:p>
            <a:pPr>
              <a:buNone/>
            </a:pPr>
            <a:r>
              <a:rPr lang="en-GB" sz="1200" dirty="0"/>
              <a:t>print("Tokens:", tokens)</a:t>
            </a:r>
            <a:endParaRPr lang="en-GB" sz="1200" dirty="0">
              <a:effectLst/>
              <a:latin typeface="+mj-lt"/>
            </a:endParaRPr>
          </a:p>
        </p:txBody>
      </p:sp>
      <p:sp>
        <p:nvSpPr>
          <p:cNvPr id="2" name="TextBox 1">
            <a:extLst>
              <a:ext uri="{FF2B5EF4-FFF2-40B4-BE49-F238E27FC236}">
                <a16:creationId xmlns:a16="http://schemas.microsoft.com/office/drawing/2014/main" id="{F25DF14E-2C09-F874-3212-E2283E22BFF2}"/>
              </a:ext>
            </a:extLst>
          </p:cNvPr>
          <p:cNvSpPr txBox="1"/>
          <p:nvPr/>
        </p:nvSpPr>
        <p:spPr>
          <a:xfrm>
            <a:off x="300228" y="-240174"/>
            <a:ext cx="7179564" cy="307777"/>
          </a:xfrm>
          <a:prstGeom prst="rect">
            <a:avLst/>
          </a:prstGeom>
          <a:noFill/>
        </p:spPr>
        <p:txBody>
          <a:bodyPr wrap="square">
            <a:spAutoFit/>
          </a:bodyPr>
          <a:lstStyle/>
          <a:p>
            <a:pPr algn="l">
              <a:buNone/>
            </a:pPr>
            <a:r>
              <a:rPr lang="en-GB" b="0" i="0" u="none" strike="noStrike" dirty="0">
                <a:solidFill>
                  <a:srgbClr val="000000"/>
                </a:solidFill>
                <a:effectLst/>
              </a:rPr>
              <a:t>  </a:t>
            </a:r>
          </a:p>
        </p:txBody>
      </p:sp>
      <p:sp>
        <p:nvSpPr>
          <p:cNvPr id="6" name="TextBox 5">
            <a:extLst>
              <a:ext uri="{FF2B5EF4-FFF2-40B4-BE49-F238E27FC236}">
                <a16:creationId xmlns:a16="http://schemas.microsoft.com/office/drawing/2014/main" id="{107B08E6-1F7D-6C28-3524-DA2BB7287017}"/>
              </a:ext>
            </a:extLst>
          </p:cNvPr>
          <p:cNvSpPr txBox="1"/>
          <p:nvPr/>
        </p:nvSpPr>
        <p:spPr>
          <a:xfrm>
            <a:off x="65116" y="3291680"/>
            <a:ext cx="8674784" cy="933589"/>
          </a:xfrm>
          <a:prstGeom prst="rect">
            <a:avLst/>
          </a:prstGeom>
          <a:solidFill>
            <a:schemeClr val="accent6">
              <a:lumMod val="20000"/>
              <a:lumOff val="80000"/>
            </a:schemeClr>
          </a:solidFill>
        </p:spPr>
        <p:txBody>
          <a:bodyPr wrap="square">
            <a:spAutoFit/>
          </a:bodyPr>
          <a:lstStyle/>
          <a:p>
            <a:pPr rtl="0" fontAlgn="base">
              <a:spcAft>
                <a:spcPts val="750"/>
              </a:spcAft>
              <a:buNone/>
            </a:pPr>
            <a:r>
              <a:rPr lang="en-GB" sz="1200" dirty="0">
                <a:effectLst/>
              </a:rPr>
              <a:t>Token IDs: [101, 24705, 1204, 17095, 1942, 1110, 170, 1846, 2235, 1872, 1118, 3353, 1592, 2240, 117, 1359, 1113, 1103, 15175, 1942, 113, 9066, 15306, 11689, 118, 3972, 13809, 23763, 114, 4220, 119, 102]</a:t>
            </a:r>
          </a:p>
          <a:p>
            <a:pPr rtl="0" fontAlgn="base">
              <a:spcAft>
                <a:spcPts val="750"/>
              </a:spcAft>
              <a:buNone/>
            </a:pPr>
            <a:r>
              <a:rPr lang="en-GB" sz="1200" dirty="0">
                <a:effectLst/>
              </a:rPr>
              <a:t>Tokens: ['[CLS]', 'Cha', '##t', '##GP', '##T', 'is', 'a', 'language', 'model', 'developed', 'by', 'Open', '##A', '##I', ',', 'based', 'on', 'the', 'GP', '##T', '(', 'Gene', '##</a:t>
            </a:r>
            <a:r>
              <a:rPr lang="en-GB" sz="1200" dirty="0" err="1">
                <a:effectLst/>
              </a:rPr>
              <a:t>rative</a:t>
            </a:r>
            <a:r>
              <a:rPr lang="en-GB" sz="1200" dirty="0">
                <a:effectLst/>
              </a:rPr>
              <a:t>', 'Pre', '-', 'trained', 'Trans', '##former', ')', 'architecture', '.', '[SEP]']</a:t>
            </a:r>
          </a:p>
        </p:txBody>
      </p:sp>
      <p:sp>
        <p:nvSpPr>
          <p:cNvPr id="9" name="TextBox 8">
            <a:extLst>
              <a:ext uri="{FF2B5EF4-FFF2-40B4-BE49-F238E27FC236}">
                <a16:creationId xmlns:a16="http://schemas.microsoft.com/office/drawing/2014/main" id="{BF2368B6-FB21-EBDF-D85F-00D5C05F78D0}"/>
              </a:ext>
            </a:extLst>
          </p:cNvPr>
          <p:cNvSpPr txBox="1"/>
          <p:nvPr/>
        </p:nvSpPr>
        <p:spPr>
          <a:xfrm>
            <a:off x="65116" y="4354582"/>
            <a:ext cx="9064752" cy="738664"/>
          </a:xfrm>
          <a:prstGeom prst="rect">
            <a:avLst/>
          </a:prstGeom>
          <a:noFill/>
        </p:spPr>
        <p:txBody>
          <a:bodyPr wrap="square">
            <a:spAutoFit/>
          </a:bodyPr>
          <a:lstStyle/>
          <a:p>
            <a:r>
              <a:rPr lang="en-GB" b="0" i="0" u="none" strike="noStrike" dirty="0">
                <a:solidFill>
                  <a:srgbClr val="273239"/>
                </a:solidFill>
                <a:effectLst/>
                <a:latin typeface="+mj-lt"/>
              </a:rPr>
              <a:t>The </a:t>
            </a:r>
            <a:r>
              <a:rPr lang="en-GB" b="1" i="0" u="none" strike="noStrike" dirty="0" err="1">
                <a:solidFill>
                  <a:srgbClr val="273239"/>
                </a:solidFill>
                <a:effectLst/>
                <a:latin typeface="+mj-lt"/>
              </a:rPr>
              <a:t>tokenizer.encode</a:t>
            </a:r>
            <a:r>
              <a:rPr lang="en-GB" b="0" i="0" u="none" strike="noStrike" dirty="0">
                <a:solidFill>
                  <a:srgbClr val="273239"/>
                </a:solidFill>
                <a:effectLst/>
                <a:latin typeface="+mj-lt"/>
              </a:rPr>
              <a:t> method adds the special</a:t>
            </a:r>
            <a:r>
              <a:rPr lang="en-GB" b="1" i="0" u="none" strike="noStrike" dirty="0">
                <a:solidFill>
                  <a:srgbClr val="273239"/>
                </a:solidFill>
                <a:effectLst/>
                <a:latin typeface="+mj-lt"/>
              </a:rPr>
              <a:t> [CLS] - classification</a:t>
            </a:r>
            <a:r>
              <a:rPr lang="en-GB" b="0" i="0" u="none" strike="noStrike" dirty="0">
                <a:solidFill>
                  <a:srgbClr val="273239"/>
                </a:solidFill>
                <a:effectLst/>
                <a:latin typeface="+mj-lt"/>
              </a:rPr>
              <a:t> and</a:t>
            </a:r>
            <a:r>
              <a:rPr lang="en-GB" b="1" i="0" u="none" strike="noStrike" dirty="0">
                <a:solidFill>
                  <a:srgbClr val="273239"/>
                </a:solidFill>
                <a:effectLst/>
                <a:latin typeface="+mj-lt"/>
              </a:rPr>
              <a:t> [SEP] - separator</a:t>
            </a:r>
            <a:r>
              <a:rPr lang="en-GB" b="0" i="0" u="none" strike="noStrike" dirty="0">
                <a:solidFill>
                  <a:srgbClr val="273239"/>
                </a:solidFill>
                <a:effectLst/>
                <a:latin typeface="+mj-lt"/>
              </a:rPr>
              <a:t> tokens at the beginning and end of the encoded sequence. In the token IDs section, </a:t>
            </a:r>
            <a:r>
              <a:rPr lang="en-GB" b="1" i="0" u="none" strike="noStrike" dirty="0">
                <a:solidFill>
                  <a:srgbClr val="273239"/>
                </a:solidFill>
                <a:effectLst/>
                <a:latin typeface="+mj-lt"/>
              </a:rPr>
              <a:t>token id: 101</a:t>
            </a:r>
            <a:r>
              <a:rPr lang="en-GB" b="0" i="0" u="none" strike="noStrike" dirty="0">
                <a:solidFill>
                  <a:srgbClr val="273239"/>
                </a:solidFill>
                <a:effectLst/>
                <a:latin typeface="+mj-lt"/>
              </a:rPr>
              <a:t> refers to the start of the sentence and </a:t>
            </a:r>
            <a:r>
              <a:rPr lang="en-GB" b="1" i="0" u="none" strike="noStrike" dirty="0">
                <a:solidFill>
                  <a:srgbClr val="273239"/>
                </a:solidFill>
                <a:effectLst/>
                <a:latin typeface="+mj-lt"/>
              </a:rPr>
              <a:t>token id: 102</a:t>
            </a:r>
            <a:r>
              <a:rPr lang="en-GB" b="0" i="0" u="none" strike="noStrike" dirty="0">
                <a:solidFill>
                  <a:srgbClr val="273239"/>
                </a:solidFill>
                <a:effectLst/>
                <a:latin typeface="+mj-lt"/>
              </a:rPr>
              <a:t>represents the end of the sentence.</a:t>
            </a:r>
            <a:endParaRPr lang="en-US" dirty="0">
              <a:latin typeface="+mj-lt"/>
            </a:endParaRPr>
          </a:p>
        </p:txBody>
      </p:sp>
    </p:spTree>
    <p:extLst>
      <p:ext uri="{BB962C8B-B14F-4D97-AF65-F5344CB8AC3E}">
        <p14:creationId xmlns:p14="http://schemas.microsoft.com/office/powerpoint/2010/main" val="9569055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3143E45-9836-3B20-F68D-591791CB1865}"/>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F50B6DBE-6E5C-98E4-6FB1-8675FCA046A9}"/>
              </a:ext>
            </a:extLst>
          </p:cNvPr>
          <p:cNvSpPr txBox="1">
            <a:spLocks noGrp="1"/>
          </p:cNvSpPr>
          <p:nvPr>
            <p:ph type="title"/>
          </p:nvPr>
        </p:nvSpPr>
        <p:spPr>
          <a:xfrm>
            <a:off x="79248" y="86064"/>
            <a:ext cx="7523952" cy="627900"/>
          </a:xfrm>
          <a:prstGeom prst="rect">
            <a:avLst/>
          </a:prstGeom>
          <a:noFill/>
          <a:ln>
            <a:noFill/>
          </a:ln>
        </p:spPr>
        <p:txBody>
          <a:bodyPr spcFirstLastPara="1" wrap="square" lIns="91425" tIns="91425" rIns="91425" bIns="91425" anchor="t" anchorCtr="0">
            <a:noAutofit/>
          </a:bodyPr>
          <a:lstStyle/>
          <a:p>
            <a:pPr algn="ctr"/>
            <a:r>
              <a:rPr lang="en-GB" sz="2800" b="1" i="0" u="none" strike="noStrike" dirty="0">
                <a:solidFill>
                  <a:srgbClr val="7030A0"/>
                </a:solidFill>
                <a:effectLst/>
                <a:latin typeface="Nunito" pitchFamily="2" charset="77"/>
              </a:rPr>
              <a:t>Application of BERT</a:t>
            </a:r>
            <a:br>
              <a:rPr lang="en-GB" sz="2800" b="1" i="0" u="none" strike="noStrike" dirty="0">
                <a:solidFill>
                  <a:srgbClr val="7030A0"/>
                </a:solidFill>
                <a:effectLst/>
                <a:latin typeface="Nunito" pitchFamily="2" charset="77"/>
              </a:rPr>
            </a:br>
            <a:br>
              <a:rPr lang="en-GB" sz="2400" dirty="0">
                <a:solidFill>
                  <a:srgbClr val="7030A0"/>
                </a:solidFill>
              </a:rPr>
            </a:br>
            <a:br>
              <a:rPr lang="en-GB" sz="2400" dirty="0">
                <a:solidFill>
                  <a:srgbClr val="7030A0"/>
                </a:solidFill>
              </a:rPr>
            </a:br>
            <a:br>
              <a:rPr lang="en-GB" sz="2400" i="0" u="none" strike="noStrike" dirty="0">
                <a:solidFill>
                  <a:srgbClr val="7030A0"/>
                </a:solidFill>
                <a:effectLst/>
              </a:rPr>
            </a:br>
            <a:br>
              <a:rPr lang="en-GB" sz="2400" i="0" u="none" strike="noStrike" dirty="0">
                <a:solidFill>
                  <a:srgbClr val="7030A0"/>
                </a:solidFill>
                <a:effectLst/>
              </a:rPr>
            </a:br>
            <a:br>
              <a:rPr lang="en-GB" sz="2400" dirty="0">
                <a:solidFill>
                  <a:srgbClr val="7030A0"/>
                </a:solidFill>
                <a:latin typeface="-webkit-standard"/>
              </a:rPr>
            </a:br>
            <a:br>
              <a:rPr lang="en-GB" sz="2400" dirty="0">
                <a:solidFill>
                  <a:srgbClr val="7030A0"/>
                </a:solidFill>
                <a:latin typeface="-webkit-standard"/>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7D164167-D197-1B7C-6C43-0F35C257485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FD61CB44-8190-C88C-F517-20D2BA320573}"/>
              </a:ext>
            </a:extLst>
          </p:cNvPr>
          <p:cNvSpPr txBox="1"/>
          <p:nvPr/>
        </p:nvSpPr>
        <p:spPr>
          <a:xfrm>
            <a:off x="251460" y="-86286"/>
            <a:ext cx="7179564" cy="338554"/>
          </a:xfrm>
          <a:prstGeom prst="rect">
            <a:avLst/>
          </a:prstGeom>
          <a:noFill/>
        </p:spPr>
        <p:txBody>
          <a:bodyPr wrap="square">
            <a:spAutoFit/>
          </a:bodyPr>
          <a:lstStyle/>
          <a:p>
            <a:pPr algn="l">
              <a:buNone/>
            </a:pPr>
            <a:endParaRPr lang="en-US" sz="1600" dirty="0">
              <a:latin typeface="+mj-lt"/>
            </a:endParaRPr>
          </a:p>
        </p:txBody>
      </p:sp>
      <p:sp>
        <p:nvSpPr>
          <p:cNvPr id="2" name="TextBox 1">
            <a:extLst>
              <a:ext uri="{FF2B5EF4-FFF2-40B4-BE49-F238E27FC236}">
                <a16:creationId xmlns:a16="http://schemas.microsoft.com/office/drawing/2014/main" id="{E46C2356-37BE-989F-DA6E-B108FE95A09F}"/>
              </a:ext>
            </a:extLst>
          </p:cNvPr>
          <p:cNvSpPr txBox="1"/>
          <p:nvPr/>
        </p:nvSpPr>
        <p:spPr>
          <a:xfrm>
            <a:off x="300228" y="-240174"/>
            <a:ext cx="7179564" cy="307777"/>
          </a:xfrm>
          <a:prstGeom prst="rect">
            <a:avLst/>
          </a:prstGeom>
          <a:noFill/>
        </p:spPr>
        <p:txBody>
          <a:bodyPr wrap="square">
            <a:spAutoFit/>
          </a:bodyPr>
          <a:lstStyle/>
          <a:p>
            <a:pPr algn="l">
              <a:buNone/>
            </a:pPr>
            <a:r>
              <a:rPr lang="en-GB" b="0" i="0" u="none" strike="noStrike" dirty="0">
                <a:solidFill>
                  <a:srgbClr val="000000"/>
                </a:solidFill>
                <a:effectLst/>
              </a:rPr>
              <a:t>  </a:t>
            </a:r>
          </a:p>
        </p:txBody>
      </p:sp>
      <p:sp>
        <p:nvSpPr>
          <p:cNvPr id="9" name="TextBox 8">
            <a:extLst>
              <a:ext uri="{FF2B5EF4-FFF2-40B4-BE49-F238E27FC236}">
                <a16:creationId xmlns:a16="http://schemas.microsoft.com/office/drawing/2014/main" id="{CA3BB110-6E4B-43EE-FBC7-5AF0DB85308A}"/>
              </a:ext>
            </a:extLst>
          </p:cNvPr>
          <p:cNvSpPr txBox="1"/>
          <p:nvPr/>
        </p:nvSpPr>
        <p:spPr>
          <a:xfrm>
            <a:off x="251460" y="732425"/>
            <a:ext cx="7999740" cy="4334520"/>
          </a:xfrm>
          <a:prstGeom prst="rect">
            <a:avLst/>
          </a:prstGeom>
          <a:noFill/>
        </p:spPr>
        <p:txBody>
          <a:bodyPr wrap="square">
            <a:spAutoFit/>
          </a:bodyPr>
          <a:lstStyle/>
          <a:p>
            <a:pPr algn="l" rtl="0" fontAlgn="base">
              <a:spcAft>
                <a:spcPts val="750"/>
              </a:spcAft>
              <a:buNone/>
            </a:pPr>
            <a:r>
              <a:rPr lang="en-GB" sz="1600" b="0" i="0" u="none" strike="noStrike" dirty="0">
                <a:solidFill>
                  <a:srgbClr val="273239"/>
                </a:solidFill>
                <a:effectLst/>
                <a:latin typeface="+mj-lt"/>
              </a:rPr>
              <a:t>BERT is used for:</a:t>
            </a:r>
          </a:p>
          <a:p>
            <a:pPr algn="l" fontAlgn="base">
              <a:spcAft>
                <a:spcPts val="1800"/>
              </a:spcAft>
              <a:buFont typeface="+mj-lt"/>
              <a:buAutoNum type="arabicPeriod"/>
            </a:pPr>
            <a:r>
              <a:rPr lang="en-GB" sz="1600" b="1" i="0" u="none" strike="noStrike" dirty="0">
                <a:solidFill>
                  <a:srgbClr val="273239"/>
                </a:solidFill>
                <a:effectLst/>
                <a:latin typeface="+mj-lt"/>
              </a:rPr>
              <a:t>Text Representation:</a:t>
            </a:r>
            <a:r>
              <a:rPr lang="en-GB" sz="1600" b="0" i="0" u="none" strike="noStrike" dirty="0">
                <a:solidFill>
                  <a:srgbClr val="273239"/>
                </a:solidFill>
                <a:effectLst/>
                <a:latin typeface="+mj-lt"/>
              </a:rPr>
              <a:t> BERT is used to generate word embeddings or representation for words in a sentence.</a:t>
            </a:r>
          </a:p>
          <a:p>
            <a:pPr algn="l" fontAlgn="base">
              <a:spcAft>
                <a:spcPts val="1800"/>
              </a:spcAft>
              <a:buFont typeface="+mj-lt"/>
              <a:buAutoNum type="arabicPeriod" startAt="2"/>
            </a:pPr>
            <a:r>
              <a:rPr lang="en-GB" sz="1600" b="1" i="0" u="none" strike="noStrike" dirty="0">
                <a:solidFill>
                  <a:srgbClr val="273239"/>
                </a:solidFill>
                <a:effectLst/>
                <a:latin typeface="+mj-lt"/>
              </a:rPr>
              <a:t>Named Entity Recognition (NER)</a:t>
            </a:r>
            <a:r>
              <a:rPr lang="en-GB" sz="1600" b="0" i="0" u="none" strike="noStrike" dirty="0">
                <a:solidFill>
                  <a:srgbClr val="273239"/>
                </a:solidFill>
                <a:effectLst/>
                <a:latin typeface="+mj-lt"/>
              </a:rPr>
              <a:t>: BERT can be fine-tuned for named entity recognition tasks, where the goal is to identify entities such as names of people, organizations, locations, etc., in a given text.</a:t>
            </a:r>
          </a:p>
          <a:p>
            <a:pPr algn="l" fontAlgn="base">
              <a:spcAft>
                <a:spcPts val="1800"/>
              </a:spcAft>
              <a:buFont typeface="+mj-lt"/>
              <a:buAutoNum type="arabicPeriod" startAt="3"/>
            </a:pPr>
            <a:r>
              <a:rPr lang="en-GB" sz="1600" b="1" i="0" u="none" strike="noStrike" dirty="0">
                <a:solidFill>
                  <a:srgbClr val="273239"/>
                </a:solidFill>
                <a:effectLst/>
                <a:latin typeface="+mj-lt"/>
              </a:rPr>
              <a:t>Text Classification:</a:t>
            </a:r>
            <a:r>
              <a:rPr lang="en-GB" sz="1600" b="0" i="0" u="none" strike="noStrike" dirty="0">
                <a:solidFill>
                  <a:srgbClr val="273239"/>
                </a:solidFill>
                <a:effectLst/>
                <a:latin typeface="+mj-lt"/>
              </a:rPr>
              <a:t> BERT is widely used for text classification tasks, including sentiment analysis, spam detection, and topic categorization. It has demonstrated excellent performance in understanding and classifying the context of textual data.</a:t>
            </a:r>
          </a:p>
          <a:p>
            <a:pPr algn="l" fontAlgn="base">
              <a:spcAft>
                <a:spcPts val="1800"/>
              </a:spcAft>
              <a:buFont typeface="+mj-lt"/>
              <a:buAutoNum type="arabicPeriod" startAt="4"/>
            </a:pPr>
            <a:r>
              <a:rPr lang="en-GB" sz="1600" b="1" i="0" u="none" strike="noStrike" dirty="0">
                <a:solidFill>
                  <a:srgbClr val="273239"/>
                </a:solidFill>
                <a:effectLst/>
                <a:latin typeface="+mj-lt"/>
              </a:rPr>
              <a:t>Question-Answering Systems:</a:t>
            </a:r>
            <a:r>
              <a:rPr lang="en-GB" sz="1600" b="0" i="0" u="none" strike="noStrike" dirty="0">
                <a:solidFill>
                  <a:srgbClr val="273239"/>
                </a:solidFill>
                <a:effectLst/>
                <a:latin typeface="+mj-lt"/>
              </a:rPr>
              <a:t> BERT has been applied to question-answering systems, where the model is trained to understand the context of a question and provide relevant answers. This is particularly useful for tasks like reading comprehension.</a:t>
            </a:r>
            <a:br>
              <a:rPr lang="en-GB" sz="1600" dirty="0">
                <a:latin typeface="+mj-lt"/>
              </a:rPr>
            </a:br>
            <a:endParaRPr lang="en-US" sz="1600" dirty="0">
              <a:latin typeface="+mj-lt"/>
            </a:endParaRPr>
          </a:p>
        </p:txBody>
      </p:sp>
    </p:spTree>
    <p:extLst>
      <p:ext uri="{BB962C8B-B14F-4D97-AF65-F5344CB8AC3E}">
        <p14:creationId xmlns:p14="http://schemas.microsoft.com/office/powerpoint/2010/main" val="4748271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75884E1A-1F69-9231-8DAE-E4274873C66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9A299084-B3E9-5056-E5D0-967F60619CB9}"/>
              </a:ext>
            </a:extLst>
          </p:cNvPr>
          <p:cNvSpPr txBox="1">
            <a:spLocks noGrp="1"/>
          </p:cNvSpPr>
          <p:nvPr>
            <p:ph type="title"/>
          </p:nvPr>
        </p:nvSpPr>
        <p:spPr>
          <a:xfrm>
            <a:off x="79248" y="86064"/>
            <a:ext cx="7523952" cy="627900"/>
          </a:xfrm>
          <a:prstGeom prst="rect">
            <a:avLst/>
          </a:prstGeom>
          <a:noFill/>
          <a:ln>
            <a:noFill/>
          </a:ln>
        </p:spPr>
        <p:txBody>
          <a:bodyPr spcFirstLastPara="1" wrap="square" lIns="91425" tIns="91425" rIns="91425" bIns="91425" anchor="t" anchorCtr="0">
            <a:noAutofit/>
          </a:bodyPr>
          <a:lstStyle/>
          <a:p>
            <a:pPr algn="ctr"/>
            <a:r>
              <a:rPr lang="en-GB" sz="2800" b="1" i="0" u="none" strike="noStrike" dirty="0">
                <a:solidFill>
                  <a:srgbClr val="7030A0"/>
                </a:solidFill>
                <a:effectLst/>
                <a:latin typeface="Nunito" pitchFamily="2" charset="77"/>
              </a:rPr>
              <a:t>Application of BERT</a:t>
            </a:r>
            <a:br>
              <a:rPr lang="en-GB" sz="2800" b="1" i="0" u="none" strike="noStrike" dirty="0">
                <a:solidFill>
                  <a:srgbClr val="7030A0"/>
                </a:solidFill>
                <a:effectLst/>
                <a:latin typeface="Nunito" pitchFamily="2" charset="77"/>
              </a:rPr>
            </a:br>
            <a:br>
              <a:rPr lang="en-GB" sz="2400" dirty="0">
                <a:solidFill>
                  <a:srgbClr val="7030A0"/>
                </a:solidFill>
              </a:rPr>
            </a:br>
            <a:br>
              <a:rPr lang="en-GB" sz="2400" dirty="0">
                <a:solidFill>
                  <a:srgbClr val="7030A0"/>
                </a:solidFill>
              </a:rPr>
            </a:br>
            <a:br>
              <a:rPr lang="en-GB" sz="2400" i="0" u="none" strike="noStrike" dirty="0">
                <a:solidFill>
                  <a:srgbClr val="7030A0"/>
                </a:solidFill>
                <a:effectLst/>
              </a:rPr>
            </a:br>
            <a:br>
              <a:rPr lang="en-GB" sz="2400" i="0" u="none" strike="noStrike" dirty="0">
                <a:solidFill>
                  <a:srgbClr val="7030A0"/>
                </a:solidFill>
                <a:effectLst/>
              </a:rPr>
            </a:br>
            <a:br>
              <a:rPr lang="en-GB" sz="2400" dirty="0">
                <a:solidFill>
                  <a:srgbClr val="7030A0"/>
                </a:solidFill>
                <a:latin typeface="-webkit-standard"/>
              </a:rPr>
            </a:br>
            <a:br>
              <a:rPr lang="en-GB" sz="2400" dirty="0">
                <a:solidFill>
                  <a:srgbClr val="7030A0"/>
                </a:solidFill>
                <a:latin typeface="-webkit-standard"/>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08E8FCB9-C234-1BD6-27C0-FB01058F2A21}"/>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7453F171-AFC0-DA7E-3B8D-3024ED25F64B}"/>
              </a:ext>
            </a:extLst>
          </p:cNvPr>
          <p:cNvSpPr txBox="1"/>
          <p:nvPr/>
        </p:nvSpPr>
        <p:spPr>
          <a:xfrm>
            <a:off x="251460" y="-86286"/>
            <a:ext cx="7179564" cy="338554"/>
          </a:xfrm>
          <a:prstGeom prst="rect">
            <a:avLst/>
          </a:prstGeom>
          <a:noFill/>
        </p:spPr>
        <p:txBody>
          <a:bodyPr wrap="square">
            <a:spAutoFit/>
          </a:bodyPr>
          <a:lstStyle/>
          <a:p>
            <a:pPr algn="l">
              <a:buNone/>
            </a:pPr>
            <a:endParaRPr lang="en-US" sz="1600" dirty="0">
              <a:latin typeface="+mj-lt"/>
            </a:endParaRPr>
          </a:p>
        </p:txBody>
      </p:sp>
      <p:sp>
        <p:nvSpPr>
          <p:cNvPr id="2" name="TextBox 1">
            <a:extLst>
              <a:ext uri="{FF2B5EF4-FFF2-40B4-BE49-F238E27FC236}">
                <a16:creationId xmlns:a16="http://schemas.microsoft.com/office/drawing/2014/main" id="{1DF31B63-79F6-B619-C53E-BF776A82F452}"/>
              </a:ext>
            </a:extLst>
          </p:cNvPr>
          <p:cNvSpPr txBox="1"/>
          <p:nvPr/>
        </p:nvSpPr>
        <p:spPr>
          <a:xfrm>
            <a:off x="300228" y="-240174"/>
            <a:ext cx="7179564" cy="307777"/>
          </a:xfrm>
          <a:prstGeom prst="rect">
            <a:avLst/>
          </a:prstGeom>
          <a:noFill/>
        </p:spPr>
        <p:txBody>
          <a:bodyPr wrap="square">
            <a:spAutoFit/>
          </a:bodyPr>
          <a:lstStyle/>
          <a:p>
            <a:pPr algn="l">
              <a:buNone/>
            </a:pPr>
            <a:r>
              <a:rPr lang="en-GB" b="0" i="0" u="none" strike="noStrike" dirty="0">
                <a:solidFill>
                  <a:srgbClr val="000000"/>
                </a:solidFill>
                <a:effectLst/>
              </a:rPr>
              <a:t>  </a:t>
            </a:r>
          </a:p>
        </p:txBody>
      </p:sp>
      <p:sp>
        <p:nvSpPr>
          <p:cNvPr id="9" name="TextBox 8">
            <a:extLst>
              <a:ext uri="{FF2B5EF4-FFF2-40B4-BE49-F238E27FC236}">
                <a16:creationId xmlns:a16="http://schemas.microsoft.com/office/drawing/2014/main" id="{D761A5C3-8096-DF85-0632-C40187BDB174}"/>
              </a:ext>
            </a:extLst>
          </p:cNvPr>
          <p:cNvSpPr txBox="1"/>
          <p:nvPr/>
        </p:nvSpPr>
        <p:spPr>
          <a:xfrm>
            <a:off x="251460" y="732425"/>
            <a:ext cx="7999740" cy="4462760"/>
          </a:xfrm>
          <a:prstGeom prst="rect">
            <a:avLst/>
          </a:prstGeom>
          <a:noFill/>
        </p:spPr>
        <p:txBody>
          <a:bodyPr wrap="square">
            <a:spAutoFit/>
          </a:bodyPr>
          <a:lstStyle/>
          <a:p>
            <a:pPr algn="l" fontAlgn="base">
              <a:spcAft>
                <a:spcPts val="1800"/>
              </a:spcAft>
              <a:buFont typeface="+mj-lt"/>
              <a:buAutoNum type="arabicPeriod" startAt="5"/>
            </a:pPr>
            <a:r>
              <a:rPr lang="en-GB" sz="1600" b="1" i="0" u="none" strike="noStrike" dirty="0">
                <a:solidFill>
                  <a:srgbClr val="273239"/>
                </a:solidFill>
                <a:effectLst/>
                <a:latin typeface="+mj-lt"/>
              </a:rPr>
              <a:t>Machine Translation:</a:t>
            </a:r>
            <a:r>
              <a:rPr lang="en-GB" sz="1600" b="0" i="0" u="none" strike="noStrike" dirty="0">
                <a:solidFill>
                  <a:srgbClr val="273239"/>
                </a:solidFill>
                <a:effectLst/>
                <a:latin typeface="+mj-lt"/>
              </a:rPr>
              <a:t> BERT's contextual embeddings can be leveraged for improving machine translation systems. The model captures the nuances of language that are crucial for accurate translation.</a:t>
            </a:r>
          </a:p>
          <a:p>
            <a:pPr algn="l" fontAlgn="base">
              <a:spcAft>
                <a:spcPts val="1800"/>
              </a:spcAft>
              <a:buFont typeface="+mj-lt"/>
              <a:buAutoNum type="arabicPeriod" startAt="6"/>
            </a:pPr>
            <a:r>
              <a:rPr lang="en-GB" sz="1600" b="1" i="0" u="none" strike="noStrike" dirty="0">
                <a:solidFill>
                  <a:srgbClr val="273239"/>
                </a:solidFill>
                <a:effectLst/>
                <a:latin typeface="+mj-lt"/>
              </a:rPr>
              <a:t>Text Summarization: </a:t>
            </a:r>
            <a:r>
              <a:rPr lang="en-GB" sz="1600" b="0" i="0" u="none" strike="noStrike" dirty="0">
                <a:solidFill>
                  <a:srgbClr val="273239"/>
                </a:solidFill>
                <a:effectLst/>
                <a:latin typeface="+mj-lt"/>
              </a:rPr>
              <a:t>BERT can be used for abstractive text summarization, where the model generates concise and meaningful summaries of longer texts by understanding the context and semantics.</a:t>
            </a:r>
          </a:p>
          <a:p>
            <a:pPr algn="l" fontAlgn="base">
              <a:spcAft>
                <a:spcPts val="1800"/>
              </a:spcAft>
              <a:buFont typeface="+mj-lt"/>
              <a:buAutoNum type="arabicPeriod" startAt="7"/>
            </a:pPr>
            <a:r>
              <a:rPr lang="en-GB" sz="1600" b="1" i="0" u="none" strike="noStrike" dirty="0">
                <a:solidFill>
                  <a:srgbClr val="273239"/>
                </a:solidFill>
                <a:effectLst/>
                <a:latin typeface="+mj-lt"/>
              </a:rPr>
              <a:t>Conversational AI:</a:t>
            </a:r>
            <a:r>
              <a:rPr lang="en-GB" sz="1600" b="0" i="0" u="none" strike="noStrike" dirty="0">
                <a:solidFill>
                  <a:srgbClr val="273239"/>
                </a:solidFill>
                <a:effectLst/>
                <a:latin typeface="+mj-lt"/>
              </a:rPr>
              <a:t> BERT is employed in building conversational AI systems, such as chatbots, virtual assistants, and dialogue systems. Its ability to grasp context makes it effective for understanding and generating natural language responses.</a:t>
            </a:r>
          </a:p>
          <a:p>
            <a:pPr algn="l" fontAlgn="base">
              <a:spcAft>
                <a:spcPts val="1800"/>
              </a:spcAft>
              <a:buFont typeface="+mj-lt"/>
              <a:buAutoNum type="arabicPeriod" startAt="8"/>
            </a:pPr>
            <a:r>
              <a:rPr lang="en-GB" sz="1600" b="1" i="0" u="none" strike="noStrike" dirty="0">
                <a:solidFill>
                  <a:srgbClr val="273239"/>
                </a:solidFill>
                <a:effectLst/>
                <a:latin typeface="+mj-lt"/>
              </a:rPr>
              <a:t>Semantic Similarity: </a:t>
            </a:r>
            <a:r>
              <a:rPr lang="en-GB" sz="1600" b="0" i="0" u="none" strike="noStrike" dirty="0">
                <a:solidFill>
                  <a:srgbClr val="273239"/>
                </a:solidFill>
                <a:effectLst/>
                <a:latin typeface="+mj-lt"/>
              </a:rPr>
              <a:t>BERT embeddings can be used to measure semantic similarity between sentences or documents. This is valuable in tasks like duplicate detection, paraphrase identification, and information retrieval.</a:t>
            </a:r>
          </a:p>
          <a:p>
            <a:pPr>
              <a:buNone/>
            </a:pPr>
            <a:br>
              <a:rPr lang="en-GB" sz="1600" dirty="0">
                <a:latin typeface="+mj-lt"/>
              </a:rPr>
            </a:br>
            <a:endParaRPr lang="en-US" sz="1600" dirty="0">
              <a:latin typeface="+mj-lt"/>
            </a:endParaRPr>
          </a:p>
        </p:txBody>
      </p:sp>
    </p:spTree>
    <p:extLst>
      <p:ext uri="{BB962C8B-B14F-4D97-AF65-F5344CB8AC3E}">
        <p14:creationId xmlns:p14="http://schemas.microsoft.com/office/powerpoint/2010/main" val="27644640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7"/>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Hands On Exercise </a:t>
            </a:r>
            <a:br>
              <a:rPr lang="en-GB" sz="3200" dirty="0"/>
            </a:br>
            <a:endParaRPr lang="en-GB" sz="3200" dirty="0"/>
          </a:p>
        </p:txBody>
      </p:sp>
      <p:sp>
        <p:nvSpPr>
          <p:cNvPr id="3" name="TextBox 2">
            <a:extLst>
              <a:ext uri="{FF2B5EF4-FFF2-40B4-BE49-F238E27FC236}">
                <a16:creationId xmlns:a16="http://schemas.microsoft.com/office/drawing/2014/main" id="{FD29B7B1-87C3-1A19-1CD5-4DC342054D89}"/>
              </a:ext>
            </a:extLst>
          </p:cNvPr>
          <p:cNvSpPr txBox="1"/>
          <p:nvPr/>
        </p:nvSpPr>
        <p:spPr>
          <a:xfrm>
            <a:off x="182139" y="1334239"/>
            <a:ext cx="4649490" cy="1631216"/>
          </a:xfrm>
          <a:prstGeom prst="rect">
            <a:avLst/>
          </a:prstGeom>
          <a:noFill/>
        </p:spPr>
        <p:txBody>
          <a:bodyPr wrap="square">
            <a:spAutoFit/>
          </a:bodyPr>
          <a:lstStyle/>
          <a:p>
            <a:pPr algn="ctr"/>
            <a:r>
              <a:rPr lang="en-GB" sz="2000" dirty="0">
                <a:hlinkClick r:id="rId4"/>
              </a:rPr>
              <a:t>Click Here For The Implementation on Google Colab</a:t>
            </a:r>
            <a:endParaRPr lang="en-GB" sz="2000" dirty="0"/>
          </a:p>
          <a:p>
            <a:pPr algn="ctr"/>
            <a:r>
              <a:rPr lang="en-GB" sz="2000" dirty="0"/>
              <a:t>https://</a:t>
            </a:r>
            <a:r>
              <a:rPr lang="en-GB" sz="2000" dirty="0" err="1"/>
              <a:t>drive.google.com</a:t>
            </a:r>
            <a:r>
              <a:rPr lang="en-GB" sz="2000" dirty="0"/>
              <a:t>/file/d/1Q2T3EPLMtnMZK1PDumjgbnoxvg-ZNpDy/</a:t>
            </a:r>
            <a:r>
              <a:rPr lang="en-GB" sz="2000" dirty="0" err="1"/>
              <a:t>view?usp</a:t>
            </a:r>
            <a:r>
              <a:rPr lang="en-GB" sz="2000" dirty="0"/>
              <a:t>=sharing</a:t>
            </a:r>
          </a:p>
        </p:txBody>
      </p:sp>
      <p:pic>
        <p:nvPicPr>
          <p:cNvPr id="4" name="Picture 3" descr="A computer with a screen on it&#10;&#10;AI-generated content may be incorrect.">
            <a:extLst>
              <a:ext uri="{FF2B5EF4-FFF2-40B4-BE49-F238E27FC236}">
                <a16:creationId xmlns:a16="http://schemas.microsoft.com/office/drawing/2014/main" id="{DFCACE6B-93A9-2C0B-6504-0868FF90065B}"/>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4792226" y="2037600"/>
            <a:ext cx="4091291" cy="272453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C7073A23-177A-F380-4E2C-BCE5184CC92A}"/>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E3B61B0B-C8A6-4063-AA38-0D213B633718}"/>
              </a:ext>
            </a:extLst>
          </p:cNvPr>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a:extLst>
              <a:ext uri="{FF2B5EF4-FFF2-40B4-BE49-F238E27FC236}">
                <a16:creationId xmlns:a16="http://schemas.microsoft.com/office/drawing/2014/main" id="{CC369EC6-6544-C062-953A-68234137BAFF}"/>
              </a:ext>
            </a:extLst>
          </p:cNvPr>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Books and References</a:t>
            </a:r>
            <a:br>
              <a:rPr lang="en-GB" sz="3200" dirty="0"/>
            </a:br>
            <a:endParaRPr lang="en-GB" sz="3200" dirty="0"/>
          </a:p>
        </p:txBody>
      </p:sp>
      <p:sp>
        <p:nvSpPr>
          <p:cNvPr id="3" name="TextBox 2">
            <a:extLst>
              <a:ext uri="{FF2B5EF4-FFF2-40B4-BE49-F238E27FC236}">
                <a16:creationId xmlns:a16="http://schemas.microsoft.com/office/drawing/2014/main" id="{BD36E5C5-A4EC-A514-661D-B1E7567D531F}"/>
              </a:ext>
            </a:extLst>
          </p:cNvPr>
          <p:cNvSpPr txBox="1"/>
          <p:nvPr/>
        </p:nvSpPr>
        <p:spPr>
          <a:xfrm>
            <a:off x="755575" y="1098322"/>
            <a:ext cx="6931332" cy="3670236"/>
          </a:xfrm>
          <a:prstGeom prst="rect">
            <a:avLst/>
          </a:prstGeom>
          <a:noFill/>
        </p:spPr>
        <p:txBody>
          <a:bodyPr wrap="square">
            <a:spAutoFit/>
          </a:bodyPr>
          <a:lstStyle/>
          <a:p>
            <a:pPr marL="457200" indent="-457200" algn="l">
              <a:spcBef>
                <a:spcPts val="300"/>
              </a:spcBef>
              <a:buFont typeface="+mj-lt"/>
              <a:buAutoNum type="arabicPeriod"/>
            </a:pPr>
            <a:r>
              <a:rPr lang="en-GB" sz="2000" b="0" i="0" u="none" strike="noStrike" dirty="0">
                <a:solidFill>
                  <a:srgbClr val="404040"/>
                </a:solidFill>
                <a:effectLst/>
                <a:latin typeface="Inter" panose="02000503000000020004" pitchFamily="2" charset="0"/>
              </a:rPr>
              <a:t>"Neural Networks and Deep Learning" (Michael Nielsen)</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Deep Learning for Computer Vision (</a:t>
            </a:r>
            <a:r>
              <a:rPr lang="en-GB" sz="2000" b="0" i="0" u="none" strike="noStrike" dirty="0" err="1">
                <a:solidFill>
                  <a:srgbClr val="404040"/>
                </a:solidFill>
                <a:effectLst/>
                <a:latin typeface="Inter" panose="02000503000000020004" pitchFamily="2" charset="0"/>
              </a:rPr>
              <a:t>Rajalingappaa</a:t>
            </a:r>
            <a:r>
              <a:rPr lang="en-GB" sz="2000" b="0" i="0" u="none" strike="noStrike" dirty="0">
                <a:solidFill>
                  <a:srgbClr val="404040"/>
                </a:solidFill>
                <a:effectLst/>
                <a:latin typeface="Inter" panose="02000503000000020004" pitchFamily="2" charset="0"/>
              </a:rPr>
              <a:t> Shanmugamani)</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https://</a:t>
            </a:r>
            <a:r>
              <a:rPr lang="en-GB" sz="2000" b="0" i="0" u="none" strike="noStrike" dirty="0" err="1">
                <a:solidFill>
                  <a:srgbClr val="404040"/>
                </a:solidFill>
                <a:effectLst/>
                <a:latin typeface="Inter" panose="02000503000000020004" pitchFamily="2" charset="0"/>
              </a:rPr>
              <a:t>www.geeksforgeeks.org</a:t>
            </a:r>
            <a:r>
              <a:rPr lang="en-GB" sz="2000" b="0" i="0" u="none" strike="noStrike" dirty="0">
                <a:solidFill>
                  <a:srgbClr val="404040"/>
                </a:solidFill>
                <a:effectLst/>
                <a:latin typeface="Inter" panose="02000503000000020004" pitchFamily="2" charset="0"/>
              </a:rPr>
              <a:t>/explanation-of-</a:t>
            </a:r>
            <a:r>
              <a:rPr lang="en-GB" sz="2000" b="0" i="0" u="none" strike="noStrike" dirty="0" err="1">
                <a:solidFill>
                  <a:srgbClr val="404040"/>
                </a:solidFill>
                <a:effectLst/>
                <a:latin typeface="Inter" panose="02000503000000020004" pitchFamily="2" charset="0"/>
              </a:rPr>
              <a:t>bert</a:t>
            </a:r>
            <a:r>
              <a:rPr lang="en-GB" sz="2000" b="0" i="0" u="none" strike="noStrike" dirty="0">
                <a:solidFill>
                  <a:srgbClr val="404040"/>
                </a:solidFill>
                <a:effectLst/>
                <a:latin typeface="Inter" panose="02000503000000020004" pitchFamily="2" charset="0"/>
              </a:rPr>
              <a:t>-model-</a:t>
            </a:r>
            <a:r>
              <a:rPr lang="en-GB" sz="2000" b="0" i="0" u="none" strike="noStrike" dirty="0" err="1">
                <a:solidFill>
                  <a:srgbClr val="404040"/>
                </a:solidFill>
                <a:effectLst/>
                <a:latin typeface="Inter" panose="02000503000000020004" pitchFamily="2" charset="0"/>
              </a:rPr>
              <a:t>nlp</a:t>
            </a:r>
            <a:r>
              <a:rPr lang="en-GB" sz="2000" b="0" i="0" u="none" strike="noStrike" dirty="0">
                <a:solidFill>
                  <a:srgbClr val="404040"/>
                </a:solidFill>
                <a:effectLst/>
                <a:latin typeface="Inter" panose="02000503000000020004" pitchFamily="2" charset="0"/>
              </a:rPr>
              <a:t>/ </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Goodfellow, I., Bengio, Y., &amp; Courville, A. (2016). Deep Learning. MIT Press.</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Chollet, F. (2017). Deep Learning with Python. Manning Publications.</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Hochreiter, S., &amp; </a:t>
            </a:r>
            <a:r>
              <a:rPr lang="en-GB" sz="2000" b="0" i="0" u="none" strike="noStrike" dirty="0" err="1">
                <a:solidFill>
                  <a:srgbClr val="404040"/>
                </a:solidFill>
                <a:effectLst/>
                <a:latin typeface="Inter" panose="02000503000000020004" pitchFamily="2" charset="0"/>
              </a:rPr>
              <a:t>Schmidhuber</a:t>
            </a:r>
            <a:r>
              <a:rPr lang="en-GB" sz="2000" b="0" i="0" u="none" strike="noStrike" dirty="0">
                <a:solidFill>
                  <a:srgbClr val="404040"/>
                </a:solidFill>
                <a:effectLst/>
                <a:latin typeface="Inter" panose="02000503000000020004" pitchFamily="2" charset="0"/>
              </a:rPr>
              <a:t>, J. (1997). Long Short-Term Memory. Neural Computation.</a:t>
            </a:r>
          </a:p>
        </p:txBody>
      </p:sp>
    </p:spTree>
    <p:extLst>
      <p:ext uri="{BB962C8B-B14F-4D97-AF65-F5344CB8AC3E}">
        <p14:creationId xmlns:p14="http://schemas.microsoft.com/office/powerpoint/2010/main" val="3740398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l="11047" t="22524" r="11047" b="22523"/>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l="2114" t="19776" b="19777"/>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201" name="Google Shape;201;p20"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202" name="Google Shape;202;p20"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203" name="Google Shape;203;p20"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l="12270" t="12270" r="12262" b="12262"/>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t="18905" b="18904"/>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a:stretch/>
        </p:blipFill>
        <p:spPr>
          <a:xfrm>
            <a:off x="1647215" y="2294778"/>
            <a:ext cx="995952" cy="304010"/>
          </a:xfrm>
          <a:prstGeom prst="rect">
            <a:avLst/>
          </a:prstGeom>
          <a:noFill/>
          <a:ln>
            <a:noFill/>
          </a:ln>
        </p:spPr>
      </p:pic>
      <p:sp>
        <p:nvSpPr>
          <p:cNvPr id="211" name="Google Shape;211;p20"/>
          <p:cNvSpPr txBox="1">
            <a:spLocks noGrp="1"/>
          </p:cNvSpPr>
          <p:nvPr>
            <p:ph type="title" idx="4294967295"/>
          </p:nvPr>
        </p:nvSpPr>
        <p:spPr>
          <a:xfrm>
            <a:off x="2079450" y="745725"/>
            <a:ext cx="6373800" cy="511500"/>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5548225" y="2230950"/>
            <a:ext cx="3062100" cy="681600"/>
          </a:xfrm>
          <a:prstGeom prst="rect">
            <a:avLst/>
          </a:prstGeom>
          <a:noFill/>
          <a:ln>
            <a:noFill/>
          </a:ln>
        </p:spPr>
        <p:txBody>
          <a:bodyPr spcFirstLastPara="1" wrap="square" lIns="91425" tIns="91425" rIns="91425" bIns="91425" anchor="b" anchorCtr="0">
            <a:normAutofit fontScale="90000"/>
          </a:bodyPr>
          <a:lstStyle/>
          <a:p>
            <a:pPr marL="0" lvl="0" indent="0" algn="r" rtl="0">
              <a:lnSpc>
                <a:spcPct val="100000"/>
              </a:lnSpc>
              <a:spcBef>
                <a:spcPts val="0"/>
              </a:spcBef>
              <a:spcAft>
                <a:spcPts val="0"/>
              </a:spcAft>
              <a:buSzPct val="333333"/>
              <a:buNone/>
            </a:pPr>
            <a:r>
              <a:rPr lang="en-US"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217" name="Google Shape;217;p21"/>
          <p:cNvSpPr txBox="1">
            <a:spLocks noGrp="1"/>
          </p:cNvSpPr>
          <p:nvPr>
            <p:ph type="ctrTitle" idx="4294967295"/>
          </p:nvPr>
        </p:nvSpPr>
        <p:spPr>
          <a:xfrm>
            <a:off x="4166050" y="2870075"/>
            <a:ext cx="4444200" cy="57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4F29B7"/>
              </a:buClr>
              <a:buSzPts val="990"/>
              <a:buFont typeface="IBM Plex Sans Arabic Medium"/>
              <a:buNone/>
            </a:pPr>
            <a:r>
              <a:rPr lang="en-US" sz="2900" b="1" i="0" u="none" strike="noStrike" cap="none">
                <a:solidFill>
                  <a:schemeClr val="lt1"/>
                </a:solidFill>
                <a:latin typeface="IBM Plex Sans Arabic"/>
                <a:ea typeface="IBM Plex Sans Arabic"/>
                <a:cs typeface="IBM Plex Sans Arabic"/>
                <a:sym typeface="IBM Plex Sans Arabic"/>
              </a:rPr>
              <a:t>THANK YOU</a:t>
            </a:r>
            <a:endParaRPr sz="2900" b="1" i="0" u="none" strike="noStrike" cap="non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23559</TotalTime>
  <Words>4478</Words>
  <Application>Microsoft Macintosh PowerPoint</Application>
  <PresentationFormat>On-screen Show (16:9)</PresentationFormat>
  <Paragraphs>292</Paragraphs>
  <Slides>32</Slides>
  <Notes>32</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32</vt:i4>
      </vt:variant>
    </vt:vector>
  </HeadingPairs>
  <TitlesOfParts>
    <vt:vector size="46" baseType="lpstr">
      <vt:lpstr>-webkit-standard</vt:lpstr>
      <vt:lpstr>DeepSeek-CJK-patch</vt:lpstr>
      <vt:lpstr>Lato</vt:lpstr>
      <vt:lpstr>Tajawal</vt:lpstr>
      <vt:lpstr>IBM Plex Sans Arabic Medium</vt:lpstr>
      <vt:lpstr>Nunito</vt:lpstr>
      <vt:lpstr>IBM Plex Sans Arabic SemiBold</vt:lpstr>
      <vt:lpstr>IBM Plex Sans Arabic</vt:lpstr>
      <vt:lpstr>Calibri</vt:lpstr>
      <vt:lpstr>Wingdings</vt:lpstr>
      <vt:lpstr>Inter</vt:lpstr>
      <vt:lpstr>Times New Roman</vt:lpstr>
      <vt:lpstr>Arial</vt:lpstr>
      <vt:lpstr>Simple Light</vt:lpstr>
      <vt:lpstr>أكـــــاديميــــة طــــويـــق</vt:lpstr>
      <vt:lpstr>Multi-Head Attention Mechanism +  BERT    </vt:lpstr>
      <vt:lpstr>PowerPoint Presentation</vt:lpstr>
      <vt:lpstr>Multi-head Attention </vt:lpstr>
      <vt:lpstr>Multi-head Attention </vt:lpstr>
      <vt:lpstr>Multi-head Attention </vt:lpstr>
      <vt:lpstr>Why Use Multiple Attention Heads?     </vt:lpstr>
      <vt:lpstr>Multi-Head Attention in Transformers:     </vt:lpstr>
      <vt:lpstr>Applications of Self-Attention and Multi-Head Attention:     </vt:lpstr>
      <vt:lpstr>Self-Attention and Multi-Head Attention Implementation     </vt:lpstr>
      <vt:lpstr>Key Differences     </vt:lpstr>
      <vt:lpstr>  BERT (Bidirectional Encoder Representations from Transformers)   </vt:lpstr>
      <vt:lpstr>Benefits of Bidirectional Approach (Example):     </vt:lpstr>
      <vt:lpstr>Pre-Training    </vt:lpstr>
      <vt:lpstr>Fine-Tuning BERT on Labeled Data:      </vt:lpstr>
      <vt:lpstr>How BERT Works:       </vt:lpstr>
      <vt:lpstr>Innovative Training Strategies:        </vt:lpstr>
      <vt:lpstr>Innovative Training Strategies:        </vt:lpstr>
      <vt:lpstr>MLM and NSP together:        </vt:lpstr>
      <vt:lpstr>BERT Architecture         </vt:lpstr>
      <vt:lpstr>BERT Architecture         </vt:lpstr>
      <vt:lpstr>General Workflow to use a pre-trained BERT model for various NLP tasks:          </vt:lpstr>
      <vt:lpstr>General Workflow to use a pre-trained BERT model for various NLP tasks:          </vt:lpstr>
      <vt:lpstr>General Workflow to use a pre-trained BERT model for various NLP tasks:          </vt:lpstr>
      <vt:lpstr>How to Tokenize and Encode Text using BERT?          </vt:lpstr>
      <vt:lpstr>How to Tokenize and Encode Text using BERT?          </vt:lpstr>
      <vt:lpstr>Application of BERT           </vt:lpstr>
      <vt:lpstr>Application of BERT           </vt:lpstr>
      <vt:lpstr>Hands On Exercise  </vt:lpstr>
      <vt:lpstr>Books and References </vt:lpstr>
      <vt:lpstr>الشراكات العالمية</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Afshan Hashmi</cp:lastModifiedBy>
  <cp:revision>58</cp:revision>
  <dcterms:modified xsi:type="dcterms:W3CDTF">2025-05-19T17:22:27Z</dcterms:modified>
</cp:coreProperties>
</file>