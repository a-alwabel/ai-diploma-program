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98" r:id="rId5"/>
    <p:sldId id="259" r:id="rId6"/>
    <p:sldId id="299" r:id="rId7"/>
    <p:sldId id="277" r:id="rId8"/>
    <p:sldId id="289" r:id="rId9"/>
    <p:sldId id="300" r:id="rId10"/>
    <p:sldId id="301" r:id="rId11"/>
    <p:sldId id="306" r:id="rId12"/>
    <p:sldId id="290" r:id="rId13"/>
    <p:sldId id="302" r:id="rId14"/>
    <p:sldId id="303" r:id="rId15"/>
    <p:sldId id="304" r:id="rId16"/>
    <p:sldId id="305" r:id="rId17"/>
    <p:sldId id="307" r:id="rId18"/>
    <p:sldId id="292" r:id="rId19"/>
    <p:sldId id="308" r:id="rId20"/>
    <p:sldId id="309" r:id="rId21"/>
    <p:sldId id="310" r:id="rId22"/>
    <p:sldId id="311" r:id="rId23"/>
    <p:sldId id="262" r:id="rId24"/>
    <p:sldId id="312" r:id="rId25"/>
    <p:sldId id="275" r:id="rId26"/>
    <p:sldId id="276" r:id="rId27"/>
  </p:sldIdLst>
  <p:sldSz cx="9144000" cy="5143500" type="screen16x9"/>
  <p:notesSz cx="6858000" cy="9144000"/>
  <p:embeddedFontLst>
    <p:embeddedFont>
      <p:font typeface="IBM Plex Sans Arabic" panose="020B0603050203000203" pitchFamily="34" charset="-78"/>
      <p:regular r:id="rId29"/>
      <p:bold r:id="rId30"/>
    </p:embeddedFont>
    <p:embeddedFont>
      <p:font typeface="IBM Plex Sans Arabic Medium" panose="020B0603050203000203" pitchFamily="34" charset="-78"/>
      <p:regular r:id="rId31"/>
      <p:bold r:id="rId32"/>
    </p:embeddedFont>
    <p:embeddedFont>
      <p:font typeface="IBM Plex Sans Arabic SemiBold" panose="020B0603050203000203" pitchFamily="34" charset="-78"/>
      <p:regular r:id="rId33"/>
      <p:bold r:id="rId34"/>
    </p:embeddedFont>
    <p:embeddedFont>
      <p:font typeface="Inter" panose="02000503000000020004" pitchFamily="2" charset="0"/>
      <p:regular r:id="rId35"/>
      <p:bold r:id="rId36"/>
      <p:italic r:id="rId37"/>
      <p:boldItalic r:id="rId38"/>
    </p:embeddedFont>
    <p:embeddedFont>
      <p:font typeface="Roboto" panose="02000000000000000000" pitchFamily="2" charset="0"/>
      <p:regular r:id="rId39"/>
      <p:bold r:id="rId40"/>
      <p:italic r:id="rId41"/>
      <p:boldItalic r:id="rId42"/>
    </p:embeddedFont>
    <p:embeddedFont>
      <p:font typeface="Tajawal" pitchFamily="2" charset="-78"/>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2"/>
    <p:restoredTop sz="94650"/>
  </p:normalViewPr>
  <p:slideViewPr>
    <p:cSldViewPr snapToGrid="0">
      <p:cViewPr varScale="1">
        <p:scale>
          <a:sx n="164" d="100"/>
          <a:sy n="164" d="100"/>
        </p:scale>
        <p:origin x="32" y="912"/>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EB7C7DF-1FA1-0CD7-00D5-09F03552994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3CE6E6F-336F-328B-7A4F-C35099326B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C83DF9AF-EFFA-AC8F-2C8C-78AF4579BB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7817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1AD9250-5886-DD78-0A4D-058B017C90D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7D27D27-4545-5FFB-CF85-99C5F401BD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D0680113-8711-039C-65A5-F03BF541D2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858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1DBEC0B-5F2A-7641-990B-7CC5539F5FF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402806A-E72C-CA47-7DBC-D48ED6665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4ECD1969-C2F0-1AA4-C75D-4C753BCC2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235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A9246AC-6D42-6E93-B8B1-68924593F72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ECAF8A0-7E1A-E42D-366D-0BD07F08C4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F544375B-A526-8454-A195-078483B22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594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D05136C-3AC2-5038-E4DB-2BCEA0895D9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05823AB-A032-8800-FEEC-5FDD5C273A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ECDFF1C-717D-99EE-2E5E-4AA2AB98C7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5438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EAABA4D-A0DF-E7B5-C202-D4D09DBFB5C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C20916B-CD80-AE06-4FF6-23F2405982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06F0F870-F884-1190-3D5C-AC6153C896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142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91726B7-23FF-F33D-FA07-A2EF62B3E50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87963C2-AE5E-755C-1B3A-F2CD431C13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5CC53A0-350B-25BD-06F8-F1087A62E5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20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650DECE-95B2-D4CA-9974-D9E50627CC2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C02A707-F5D8-02CA-EA66-E35329AEB9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44AF85E3-B5BE-69CA-4022-CF6A59870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0977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996B8F5-081B-9BAD-9B48-8B08AAACCC3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5928DC9-C7F0-2F44-CE89-D335976A02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E2226AFD-6AE2-22DB-3BC9-F5DF6EF33F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7364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45E7A5B-C27C-6A18-58BB-4C4624D3677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D3AC528-122E-DF1B-3E04-198953CDA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25BADB3-B408-B461-DA27-0A801F28C5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10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42BD458-BD6A-F706-4F49-99BEDE1993D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97B9BB7-88FE-972C-B4B6-199CBA3133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220ED605-FFDC-0208-7833-62AD48EB45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2650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23F416E-8323-1354-AD70-B5AA30E0CEA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B975E7F-12CB-6FAD-DADE-C42B17A54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F2F5781-FB22-44D4-F39F-A38A434F96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1150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FE6666D-8EE1-6110-AFB1-0516F06051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C30710A-BFF4-B125-4A8D-5E01E454A6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42232D4-513F-6D5A-CB09-BC012AF85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136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CDB7BC5-E438-73A7-EC05-E40F100207A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18FA00B-8711-7629-6884-3554C19484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A162084-6667-62CF-BE20-040AC9EE41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6544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8EB4BAD-2CFC-1740-D659-91D539FD32F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7F9925B-BF94-02FE-90FC-C112298D92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FDDE6E7-6006-060A-10FE-75E7139434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667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5A117D7-2D1A-5131-C86F-777D83D1373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22A8844-CE18-4FED-2054-27F16BD325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9D7443C-4791-2716-B0C0-E392FD5CD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688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FD187CF-6C5E-8557-503B-2B29F800001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F53545B-E2F6-B6AE-B62A-1A2AD91937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894B943-39BF-7FBB-E5AA-4A1C2C29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2196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hyperlink" Target="https://pixabay.com/en/clipboard-chart-document-paper-312468/" TargetMode="Externa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hyperlink" Target="https://course.fast.ai/" TargetMode="External"/><Relationship Id="rId4" Type="http://schemas.openxmlformats.org/officeDocument/2006/relationships/hyperlink" Target="https://www.coursera.org/specializations/deep-learning"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5.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pPr marL="0" lvl="0" indent="0" algn="ctr" rtl="1">
              <a:lnSpc>
                <a:spcPct val="100000"/>
              </a:lnSpc>
              <a:spcBef>
                <a:spcPts val="0"/>
              </a:spcBef>
              <a:spcAft>
                <a:spcPts val="0"/>
              </a:spcAft>
              <a:buSzPts val="4300"/>
              <a:buFont typeface="Tajawal"/>
              <a:buNone/>
            </a:pPr>
            <a:r>
              <a:rPr lang="en-GB" sz="3200" b="1" i="0" u="none" strike="noStrike" dirty="0">
                <a:solidFill>
                  <a:srgbClr val="7030A0"/>
                </a:solidFill>
                <a:effectLst/>
                <a:latin typeface="Arial" panose="020B0604020202020204" pitchFamily="34" charset="0"/>
              </a:rPr>
              <a:t>Fundamentals of Deep Learning</a:t>
            </a:r>
            <a:br>
              <a:rPr lang="en-US" sz="4000" dirty="0">
                <a:latin typeface="Calibri"/>
                <a:ea typeface="Calibri"/>
                <a:cs typeface="Calibri"/>
                <a:sym typeface="Calibri"/>
              </a:rPr>
            </a:br>
            <a:br>
              <a:rPr lang="en-US" sz="4000" dirty="0">
                <a:latin typeface="Calibri"/>
                <a:ea typeface="Calibri"/>
                <a:cs typeface="Calibri"/>
                <a:sym typeface="Calibri"/>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marR="0" lvl="0" indent="-342900" algn="ctr" rtl="0">
              <a:lnSpc>
                <a:spcPct val="100000"/>
              </a:lnSpc>
              <a:spcBef>
                <a:spcPts val="0"/>
              </a:spcBef>
              <a:spcAft>
                <a:spcPts val="0"/>
              </a:spcAft>
              <a:buClr>
                <a:srgbClr val="252526"/>
              </a:buClr>
              <a:buSzPts val="2500"/>
              <a:buFont typeface="Tajawal"/>
              <a:buNone/>
            </a:pPr>
            <a:r>
              <a:rPr lang="en-US" dirty="0"/>
              <a:t>Basic concepts</a:t>
            </a: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2923837"/>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indent="-342900">
              <a:buFont typeface="+mj-lt"/>
              <a:buAutoNum type="arabicPeriod"/>
            </a:pPr>
            <a:r>
              <a:rPr lang="en-GB" b="1" dirty="0"/>
              <a:t>Understand the foundational concepts of Deep Learning and how it differs from traditional Machine Learning techniques.</a:t>
            </a:r>
          </a:p>
          <a:p>
            <a:pPr marL="342900" indent="-342900">
              <a:buFont typeface="+mj-lt"/>
              <a:buAutoNum type="arabicPeriod"/>
            </a:pPr>
            <a:r>
              <a:rPr lang="en-GB" b="1" dirty="0"/>
              <a:t>Identify and explain key components of neural networks, including activation functions, loss functions, and optimizers.</a:t>
            </a:r>
          </a:p>
          <a:p>
            <a:pPr marL="342900" indent="-342900">
              <a:buFont typeface="+mj-lt"/>
              <a:buAutoNum type="arabicPeriod"/>
            </a:pPr>
            <a:r>
              <a:rPr lang="en-GB" b="1" dirty="0"/>
              <a:t>Compare various real-world applications of Deep Learning across domains such as healthcare, finance, and NLP.</a:t>
            </a:r>
          </a:p>
          <a:p>
            <a:pPr marL="342900" indent="-342900">
              <a:buFont typeface="+mj-lt"/>
              <a:buAutoNum type="arabicPeriod"/>
            </a:pPr>
            <a:r>
              <a:rPr lang="en-GB" b="1" dirty="0" err="1"/>
              <a:t>Analyze</a:t>
            </a:r>
            <a:r>
              <a:rPr lang="en-GB" b="1" dirty="0"/>
              <a:t> the advantages and limitations of Deep Learning models in terms of data, computation, and interpretability.</a:t>
            </a:r>
          </a:p>
          <a:p>
            <a:pPr marL="342900" indent="-342900">
              <a:buFont typeface="+mj-lt"/>
              <a:buAutoNum type="arabicPeriod"/>
            </a:pPr>
            <a:r>
              <a:rPr lang="en-GB" b="1" dirty="0"/>
              <a:t>Explore ongoing research and emerging areas in Deep Learning, such as federated learning and neuromorphic computing.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latin typeface="Inter" panose="02000503000000020004" pitchFamily="2" charset="0"/>
              </a:rPr>
              <a:t>Introduction to Deep Learning</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9" y="802035"/>
            <a:ext cx="4353528" cy="3785652"/>
          </a:xfrm>
          <a:prstGeom prst="rect">
            <a:avLst/>
          </a:prstGeom>
          <a:noFill/>
        </p:spPr>
        <p:txBody>
          <a:bodyPr wrap="square">
            <a:spAutoFit/>
          </a:bodyPr>
          <a:lstStyle/>
          <a:p>
            <a:pPr>
              <a:buNone/>
            </a:pPr>
            <a:r>
              <a:rPr lang="en-GB" sz="1600" dirty="0"/>
              <a:t>Deep Learning (DL) is a specialized branch within Machine Learning (ML).</a:t>
            </a:r>
          </a:p>
          <a:p>
            <a:pPr>
              <a:buNone/>
            </a:pPr>
            <a:r>
              <a:rPr lang="en-GB" sz="1600" dirty="0"/>
              <a:t>It focuses on using Artificial Neural Networks (ANNs) mathematical models designed to simulate how the human brain processes information.</a:t>
            </a:r>
          </a:p>
          <a:p>
            <a:pPr>
              <a:buNone/>
            </a:pPr>
            <a:endParaRPr lang="en-GB" sz="1600" dirty="0"/>
          </a:p>
          <a:p>
            <a:pPr>
              <a:buNone/>
            </a:pPr>
            <a:r>
              <a:rPr lang="en-GB" sz="1600" dirty="0"/>
              <a:t>Just like the brain has neurons connected to each other, ANNs have nodes (artificial neurons) and layers through which data passes and gets transformed.</a:t>
            </a:r>
          </a:p>
          <a:p>
            <a:r>
              <a:rPr lang="en-GB" sz="1600" dirty="0"/>
              <a:t>Deep Learning models are called "deep" because they contain many layers hence the term "deep" neural networks.</a:t>
            </a:r>
          </a:p>
          <a:p>
            <a:pPr algn="l"/>
            <a:endParaRPr lang="en-GB" sz="1600" i="0" u="none" strike="noStrike" dirty="0">
              <a:solidFill>
                <a:srgbClr val="000000"/>
              </a:solidFill>
              <a:effectLst/>
            </a:endParaRPr>
          </a:p>
        </p:txBody>
      </p:sp>
      <p:pic>
        <p:nvPicPr>
          <p:cNvPr id="3074" name="Picture 2" descr="Introduction to deep learning - IBM ...">
            <a:extLst>
              <a:ext uri="{FF2B5EF4-FFF2-40B4-BE49-F238E27FC236}">
                <a16:creationId xmlns:a16="http://schemas.microsoft.com/office/drawing/2014/main" id="{14226BA2-1AF5-7F30-88E6-F7CB49B9B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893121"/>
            <a:ext cx="4048060" cy="3888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latin typeface="Inter" panose="02000503000000020004" pitchFamily="2" charset="0"/>
              </a:rPr>
              <a:t>Introduction to Deep Learning</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6A7B2FB-F1D0-B703-37E3-F7BCF16345E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C8339E2-582F-95EA-2F60-4D6D9E923ECD}"/>
              </a:ext>
            </a:extLst>
          </p:cNvPr>
          <p:cNvSpPr txBox="1"/>
          <p:nvPr/>
        </p:nvSpPr>
        <p:spPr>
          <a:xfrm>
            <a:off x="174929" y="802035"/>
            <a:ext cx="7762312" cy="2200602"/>
          </a:xfrm>
          <a:prstGeom prst="rect">
            <a:avLst/>
          </a:prstGeom>
          <a:noFill/>
        </p:spPr>
        <p:txBody>
          <a:bodyPr wrap="square">
            <a:spAutoFit/>
          </a:bodyPr>
          <a:lstStyle/>
          <a:p>
            <a:pPr algn="l">
              <a:buNone/>
            </a:pPr>
            <a:r>
              <a:rPr lang="en-GB" sz="1600" dirty="0"/>
              <a:t>Deep Learning is a subfield of Machine Learning (ML) that uses algorithms known as Artificial Neural Networks (ANNs), which are inspired by the structure and function of the human brain </a:t>
            </a:r>
          </a:p>
          <a:p>
            <a:pPr algn="l">
              <a:buNone/>
            </a:pPr>
            <a:r>
              <a:rPr lang="en-GB" sz="1600" b="1" dirty="0"/>
              <a:t>What is Deep Learning?</a:t>
            </a:r>
          </a:p>
          <a:p>
            <a:pPr marL="342900" indent="-342900" algn="l">
              <a:buFont typeface="Wingdings" pitchFamily="2" charset="2"/>
              <a:buChar char="Ø"/>
            </a:pPr>
            <a:r>
              <a:rPr lang="en-GB" sz="1600" dirty="0"/>
              <a:t>A subset of machine learning inspired by the structure of the human brain</a:t>
            </a:r>
          </a:p>
          <a:p>
            <a:pPr marL="342900" indent="-342900" algn="l">
              <a:spcBef>
                <a:spcPts val="300"/>
              </a:spcBef>
              <a:buFont typeface="Wingdings" pitchFamily="2" charset="2"/>
              <a:buChar char="Ø"/>
            </a:pPr>
            <a:r>
              <a:rPr lang="en-GB" sz="1600" dirty="0"/>
              <a:t>Uses artificial neural networks with multiple layers ("deep" architectures)</a:t>
            </a:r>
          </a:p>
          <a:p>
            <a:pPr marL="342900" indent="-342900" algn="l">
              <a:spcBef>
                <a:spcPts val="300"/>
              </a:spcBef>
              <a:buFont typeface="Wingdings" pitchFamily="2" charset="2"/>
              <a:buChar char="Ø"/>
            </a:pPr>
            <a:r>
              <a:rPr lang="en-GB" sz="1600" dirty="0"/>
              <a:t>Capable of automatic feature extraction from raw data</a:t>
            </a:r>
          </a:p>
          <a:p>
            <a:pPr algn="l"/>
            <a:endParaRPr lang="en-GB" sz="1600" b="0" i="0" u="none" strike="noStrike" dirty="0">
              <a:solidFill>
                <a:srgbClr val="000000"/>
              </a:solidFill>
              <a:effectLst/>
            </a:endParaRPr>
          </a:p>
        </p:txBody>
      </p:sp>
      <p:graphicFrame>
        <p:nvGraphicFramePr>
          <p:cNvPr id="2" name="Table 1">
            <a:extLst>
              <a:ext uri="{FF2B5EF4-FFF2-40B4-BE49-F238E27FC236}">
                <a16:creationId xmlns:a16="http://schemas.microsoft.com/office/drawing/2014/main" id="{C337C137-0E78-4670-D02A-B32133B94B61}"/>
              </a:ext>
            </a:extLst>
          </p:cNvPr>
          <p:cNvGraphicFramePr>
            <a:graphicFrameLocks noGrp="1"/>
          </p:cNvGraphicFramePr>
          <p:nvPr>
            <p:extLst>
              <p:ext uri="{D42A27DB-BD31-4B8C-83A1-F6EECF244321}">
                <p14:modId xmlns:p14="http://schemas.microsoft.com/office/powerpoint/2010/main" val="3367849885"/>
              </p:ext>
            </p:extLst>
          </p:nvPr>
        </p:nvGraphicFramePr>
        <p:xfrm>
          <a:off x="407175" y="3283441"/>
          <a:ext cx="7268809" cy="1576956"/>
        </p:xfrm>
        <a:graphic>
          <a:graphicData uri="http://schemas.openxmlformats.org/drawingml/2006/table">
            <a:tbl>
              <a:tblPr>
                <a:tableStyleId>{3C2FFA5D-87B4-456A-9821-1D502468CF0F}</a:tableStyleId>
              </a:tblPr>
              <a:tblGrid>
                <a:gridCol w="3359874">
                  <a:extLst>
                    <a:ext uri="{9D8B030D-6E8A-4147-A177-3AD203B41FA5}">
                      <a16:colId xmlns:a16="http://schemas.microsoft.com/office/drawing/2014/main" val="2113655071"/>
                    </a:ext>
                  </a:extLst>
                </a:gridCol>
                <a:gridCol w="3908935">
                  <a:extLst>
                    <a:ext uri="{9D8B030D-6E8A-4147-A177-3AD203B41FA5}">
                      <a16:colId xmlns:a16="http://schemas.microsoft.com/office/drawing/2014/main" val="3390245197"/>
                    </a:ext>
                  </a:extLst>
                </a:gridCol>
              </a:tblGrid>
              <a:tr h="473817">
                <a:tc>
                  <a:txBody>
                    <a:bodyPr/>
                    <a:lstStyle/>
                    <a:p>
                      <a:pPr algn="l"/>
                      <a:r>
                        <a:rPr lang="en-GB" b="1">
                          <a:effectLst/>
                        </a:rPr>
                        <a:t>Traditional ML</a:t>
                      </a:r>
                    </a:p>
                  </a:txBody>
                  <a:tcPr anchor="ctr"/>
                </a:tc>
                <a:tc>
                  <a:txBody>
                    <a:bodyPr/>
                    <a:lstStyle/>
                    <a:p>
                      <a:pPr algn="l"/>
                      <a:r>
                        <a:rPr lang="en-GB" b="1">
                          <a:effectLst/>
                        </a:rPr>
                        <a:t>Deep Learning</a:t>
                      </a:r>
                    </a:p>
                  </a:txBody>
                  <a:tcPr anchor="ctr"/>
                </a:tc>
                <a:extLst>
                  <a:ext uri="{0D108BD9-81ED-4DB2-BD59-A6C34878D82A}">
                    <a16:rowId xmlns:a16="http://schemas.microsoft.com/office/drawing/2014/main" val="1915828744"/>
                  </a:ext>
                </a:extLst>
              </a:tr>
              <a:tr h="367713">
                <a:tc>
                  <a:txBody>
                    <a:bodyPr/>
                    <a:lstStyle/>
                    <a:p>
                      <a:r>
                        <a:rPr lang="en-GB">
                          <a:effectLst/>
                        </a:rPr>
                        <a:t>Requires manual feature engineering</a:t>
                      </a:r>
                    </a:p>
                  </a:txBody>
                  <a:tcPr anchor="ctr"/>
                </a:tc>
                <a:tc>
                  <a:txBody>
                    <a:bodyPr/>
                    <a:lstStyle/>
                    <a:p>
                      <a:r>
                        <a:rPr lang="en-GB">
                          <a:effectLst/>
                        </a:rPr>
                        <a:t>Learns features automatically</a:t>
                      </a:r>
                    </a:p>
                  </a:txBody>
                  <a:tcPr anchor="ctr"/>
                </a:tc>
                <a:extLst>
                  <a:ext uri="{0D108BD9-81ED-4DB2-BD59-A6C34878D82A}">
                    <a16:rowId xmlns:a16="http://schemas.microsoft.com/office/drawing/2014/main" val="1447901598"/>
                  </a:ext>
                </a:extLst>
              </a:tr>
              <a:tr h="367713">
                <a:tc>
                  <a:txBody>
                    <a:bodyPr/>
                    <a:lstStyle/>
                    <a:p>
                      <a:r>
                        <a:rPr lang="en-GB" dirty="0">
                          <a:effectLst/>
                        </a:rPr>
                        <a:t>Performance plateaus with more data</a:t>
                      </a:r>
                    </a:p>
                  </a:txBody>
                  <a:tcPr anchor="ctr"/>
                </a:tc>
                <a:tc>
                  <a:txBody>
                    <a:bodyPr/>
                    <a:lstStyle/>
                    <a:p>
                      <a:r>
                        <a:rPr lang="en-GB">
                          <a:effectLst/>
                        </a:rPr>
                        <a:t>Improves with more data &amp; compute</a:t>
                      </a:r>
                    </a:p>
                  </a:txBody>
                  <a:tcPr anchor="ctr"/>
                </a:tc>
                <a:extLst>
                  <a:ext uri="{0D108BD9-81ED-4DB2-BD59-A6C34878D82A}">
                    <a16:rowId xmlns:a16="http://schemas.microsoft.com/office/drawing/2014/main" val="398724665"/>
                  </a:ext>
                </a:extLst>
              </a:tr>
              <a:tr h="367713">
                <a:tc>
                  <a:txBody>
                    <a:bodyPr/>
                    <a:lstStyle/>
                    <a:p>
                      <a:r>
                        <a:rPr lang="en-GB">
                          <a:effectLst/>
                        </a:rPr>
                        <a:t>Limited to structured data</a:t>
                      </a:r>
                    </a:p>
                  </a:txBody>
                  <a:tcPr anchor="ctr"/>
                </a:tc>
                <a:tc>
                  <a:txBody>
                    <a:bodyPr/>
                    <a:lstStyle/>
                    <a:p>
                      <a:r>
                        <a:rPr lang="en-GB" dirty="0">
                          <a:effectLst/>
                        </a:rPr>
                        <a:t>Works with images, text, audio, etc.</a:t>
                      </a:r>
                    </a:p>
                  </a:txBody>
                  <a:tcPr anchor="ctr"/>
                </a:tc>
                <a:extLst>
                  <a:ext uri="{0D108BD9-81ED-4DB2-BD59-A6C34878D82A}">
                    <a16:rowId xmlns:a16="http://schemas.microsoft.com/office/drawing/2014/main" val="139921978"/>
                  </a:ext>
                </a:extLst>
              </a:tr>
            </a:tbl>
          </a:graphicData>
        </a:graphic>
      </p:graphicFrame>
      <p:sp>
        <p:nvSpPr>
          <p:cNvPr id="7" name="TextBox 6">
            <a:extLst>
              <a:ext uri="{FF2B5EF4-FFF2-40B4-BE49-F238E27FC236}">
                <a16:creationId xmlns:a16="http://schemas.microsoft.com/office/drawing/2014/main" id="{F37FC06B-55F1-44B4-E170-CA7160C69D5A}"/>
              </a:ext>
            </a:extLst>
          </p:cNvPr>
          <p:cNvSpPr txBox="1"/>
          <p:nvPr/>
        </p:nvSpPr>
        <p:spPr>
          <a:xfrm>
            <a:off x="407175" y="2823614"/>
            <a:ext cx="2281394" cy="338554"/>
          </a:xfrm>
          <a:prstGeom prst="rect">
            <a:avLst/>
          </a:prstGeom>
          <a:noFill/>
        </p:spPr>
        <p:txBody>
          <a:bodyPr wrap="none" rtlCol="0">
            <a:spAutoFit/>
          </a:bodyPr>
          <a:lstStyle/>
          <a:p>
            <a:r>
              <a:rPr lang="en-US" sz="1600" b="1" dirty="0"/>
              <a:t>Why Deep Learning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222165A-E76C-EDE9-5F74-27ED5E7661D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53E71E6-1293-06AC-FD8C-356E9DF7316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latin typeface="Inter" panose="02000503000000020004" pitchFamily="2" charset="0"/>
              </a:rPr>
              <a:t>Introduction to Deep Learning</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130394C-66E2-A849-FC9E-3E27C9749E6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B5F98001-B672-0035-47D7-A391717E3EAC}"/>
              </a:ext>
            </a:extLst>
          </p:cNvPr>
          <p:cNvSpPr txBox="1"/>
          <p:nvPr/>
        </p:nvSpPr>
        <p:spPr>
          <a:xfrm>
            <a:off x="174929" y="802035"/>
            <a:ext cx="7762312" cy="3046988"/>
          </a:xfrm>
          <a:prstGeom prst="rect">
            <a:avLst/>
          </a:prstGeom>
          <a:noFill/>
        </p:spPr>
        <p:txBody>
          <a:bodyPr wrap="square">
            <a:spAutoFit/>
          </a:bodyPr>
          <a:lstStyle/>
          <a:p>
            <a:pPr>
              <a:buNone/>
            </a:pPr>
            <a:r>
              <a:rPr lang="en-GB" sz="1600" b="1" dirty="0"/>
              <a:t>Why it's important:</a:t>
            </a:r>
          </a:p>
          <a:p>
            <a:pPr marL="285750" indent="-285750">
              <a:buFont typeface="Wingdings" pitchFamily="2" charset="2"/>
              <a:buChar char="Ø"/>
            </a:pPr>
            <a:r>
              <a:rPr lang="en-GB" sz="1600" dirty="0"/>
              <a:t>These deep architectures allow DL models to learn very complex patterns in data.</a:t>
            </a:r>
          </a:p>
          <a:p>
            <a:pPr marL="285750" indent="-285750">
              <a:buFont typeface="Wingdings" pitchFamily="2" charset="2"/>
              <a:buChar char="Ø"/>
            </a:pPr>
            <a:r>
              <a:rPr lang="en-GB" sz="1600" dirty="0"/>
              <a:t>That's why Deep Learning powers applications like image recognition, voice assistants, self-driving cars, and language translation.</a:t>
            </a:r>
          </a:p>
          <a:p>
            <a:pPr marL="285750" indent="-285750">
              <a:buFont typeface="Wingdings" pitchFamily="2" charset="2"/>
              <a:buChar char="Ø"/>
            </a:pPr>
            <a:endParaRPr lang="en-GB" sz="1600" dirty="0"/>
          </a:p>
          <a:p>
            <a:pPr>
              <a:buNone/>
            </a:pPr>
            <a:r>
              <a:rPr lang="en-GB" sz="1600" b="1" dirty="0"/>
              <a:t>Advantages over traditional ML:</a:t>
            </a:r>
            <a:endParaRPr lang="en-GB" sz="1600" dirty="0"/>
          </a:p>
          <a:p>
            <a:pPr marL="285750" indent="-285750">
              <a:buFont typeface="Wingdings" pitchFamily="2" charset="2"/>
              <a:buChar char="Ø"/>
            </a:pPr>
            <a:r>
              <a:rPr lang="en-GB" sz="1600" dirty="0"/>
              <a:t>No need for manual feature engineering.</a:t>
            </a:r>
          </a:p>
          <a:p>
            <a:pPr marL="285750" indent="-285750">
              <a:buFont typeface="Wingdings" pitchFamily="2" charset="2"/>
              <a:buChar char="Ø"/>
            </a:pPr>
            <a:r>
              <a:rPr lang="en-GB" sz="1600" dirty="0"/>
              <a:t>Performance improves with more data and compute.</a:t>
            </a:r>
          </a:p>
          <a:p>
            <a:pPr marL="285750" indent="-285750">
              <a:buFont typeface="Wingdings" pitchFamily="2" charset="2"/>
              <a:buChar char="Ø"/>
            </a:pPr>
            <a:r>
              <a:rPr lang="en-GB" sz="1600" dirty="0"/>
              <a:t>Effective on unstructured data like images, text, and audio.</a:t>
            </a:r>
          </a:p>
          <a:p>
            <a:pPr marL="285750" indent="-285750">
              <a:buFont typeface="Wingdings" pitchFamily="2" charset="2"/>
              <a:buChar char="Ø"/>
            </a:pPr>
            <a:endParaRPr lang="en-GB" sz="1600" dirty="0"/>
          </a:p>
          <a:p>
            <a:pPr algn="l"/>
            <a:endParaRPr lang="en-GB" sz="1600" i="0" u="none" strike="noStrike" dirty="0">
              <a:solidFill>
                <a:srgbClr val="000000"/>
              </a:solidFill>
              <a:effectLst/>
            </a:endParaRPr>
          </a:p>
        </p:txBody>
      </p:sp>
      <p:sp>
        <p:nvSpPr>
          <p:cNvPr id="3" name="TextBox 2">
            <a:extLst>
              <a:ext uri="{FF2B5EF4-FFF2-40B4-BE49-F238E27FC236}">
                <a16:creationId xmlns:a16="http://schemas.microsoft.com/office/drawing/2014/main" id="{0EAB30C4-73BB-7342-72C8-2FA071C7858E}"/>
              </a:ext>
            </a:extLst>
          </p:cNvPr>
          <p:cNvSpPr txBox="1"/>
          <p:nvPr/>
        </p:nvSpPr>
        <p:spPr>
          <a:xfrm>
            <a:off x="254211" y="3376050"/>
            <a:ext cx="5433667" cy="1723549"/>
          </a:xfrm>
          <a:prstGeom prst="rect">
            <a:avLst/>
          </a:prstGeom>
          <a:noFill/>
        </p:spPr>
        <p:txBody>
          <a:bodyPr wrap="square">
            <a:spAutoFit/>
          </a:bodyPr>
          <a:lstStyle/>
          <a:p>
            <a:pPr algn="l">
              <a:buNone/>
            </a:pPr>
            <a:r>
              <a:rPr lang="en-GB" sz="1600" b="1" i="0" u="none" strike="noStrike" dirty="0">
                <a:solidFill>
                  <a:srgbClr val="404040"/>
                </a:solidFill>
                <a:effectLst/>
                <a:latin typeface="+mn-lt"/>
              </a:rPr>
              <a:t>Historical Milestones</a:t>
            </a:r>
          </a:p>
          <a:p>
            <a:pPr algn="l">
              <a:buFont typeface="Arial" panose="020B0604020202020204" pitchFamily="34" charset="0"/>
              <a:buChar char="•"/>
            </a:pPr>
            <a:r>
              <a:rPr lang="en-GB" sz="1600" b="1" i="0" u="none" strike="noStrike" dirty="0">
                <a:solidFill>
                  <a:srgbClr val="404040"/>
                </a:solidFill>
                <a:effectLst/>
                <a:latin typeface="+mn-lt"/>
              </a:rPr>
              <a:t>1958</a:t>
            </a:r>
            <a:r>
              <a:rPr lang="en-GB" sz="1600" b="0" i="0" u="none" strike="noStrike" dirty="0">
                <a:solidFill>
                  <a:srgbClr val="404040"/>
                </a:solidFill>
                <a:effectLst/>
                <a:latin typeface="+mn-lt"/>
              </a:rPr>
              <a:t>: Perceptron (Frank Rosenblatt)</a:t>
            </a:r>
          </a:p>
          <a:p>
            <a:pPr algn="l">
              <a:spcBef>
                <a:spcPts val="300"/>
              </a:spcBef>
              <a:buFont typeface="Arial" panose="020B0604020202020204" pitchFamily="34" charset="0"/>
              <a:buChar char="•"/>
            </a:pPr>
            <a:r>
              <a:rPr lang="en-GB" sz="1600" b="1" i="0" u="none" strike="noStrike" dirty="0">
                <a:solidFill>
                  <a:srgbClr val="404040"/>
                </a:solidFill>
                <a:effectLst/>
                <a:latin typeface="+mn-lt"/>
              </a:rPr>
              <a:t>1986</a:t>
            </a:r>
            <a:r>
              <a:rPr lang="en-GB" sz="1600" b="0" i="0" u="none" strike="noStrike" dirty="0">
                <a:solidFill>
                  <a:srgbClr val="404040"/>
                </a:solidFill>
                <a:effectLst/>
                <a:latin typeface="+mn-lt"/>
              </a:rPr>
              <a:t>: Backpropagation (Rumelhart &amp; Hinton)</a:t>
            </a:r>
          </a:p>
          <a:p>
            <a:pPr algn="l">
              <a:spcBef>
                <a:spcPts val="300"/>
              </a:spcBef>
              <a:buFont typeface="Arial" panose="020B0604020202020204" pitchFamily="34" charset="0"/>
              <a:buChar char="•"/>
            </a:pPr>
            <a:r>
              <a:rPr lang="en-GB" sz="1600" b="1" i="0" u="none" strike="noStrike" dirty="0">
                <a:solidFill>
                  <a:srgbClr val="404040"/>
                </a:solidFill>
                <a:effectLst/>
                <a:latin typeface="+mn-lt"/>
              </a:rPr>
              <a:t>2012</a:t>
            </a:r>
            <a:r>
              <a:rPr lang="en-GB" sz="1600" b="0" i="0" u="none" strike="noStrike" dirty="0">
                <a:solidFill>
                  <a:srgbClr val="404040"/>
                </a:solidFill>
                <a:effectLst/>
                <a:latin typeface="+mn-lt"/>
              </a:rPr>
              <a:t>: </a:t>
            </a:r>
            <a:r>
              <a:rPr lang="en-GB" sz="1600" b="0" i="0" u="none" strike="noStrike" dirty="0" err="1">
                <a:solidFill>
                  <a:srgbClr val="404040"/>
                </a:solidFill>
                <a:effectLst/>
                <a:latin typeface="+mn-lt"/>
              </a:rPr>
              <a:t>AlexNet</a:t>
            </a:r>
            <a:r>
              <a:rPr lang="en-GB" sz="1600" b="0" i="0" u="none" strike="noStrike" dirty="0">
                <a:solidFill>
                  <a:srgbClr val="404040"/>
                </a:solidFill>
                <a:effectLst/>
                <a:latin typeface="+mn-lt"/>
              </a:rPr>
              <a:t> revolutionizes computer vision</a:t>
            </a:r>
          </a:p>
          <a:p>
            <a:pPr algn="l">
              <a:spcBef>
                <a:spcPts val="300"/>
              </a:spcBef>
              <a:buFont typeface="Arial" panose="020B0604020202020204" pitchFamily="34" charset="0"/>
              <a:buChar char="•"/>
            </a:pPr>
            <a:r>
              <a:rPr lang="en-GB" sz="1600" b="1" i="0" u="none" strike="noStrike" dirty="0">
                <a:solidFill>
                  <a:srgbClr val="404040"/>
                </a:solidFill>
                <a:effectLst/>
                <a:latin typeface="+mn-lt"/>
              </a:rPr>
              <a:t>2020s</a:t>
            </a:r>
            <a:r>
              <a:rPr lang="en-GB" sz="1600" b="0" i="0" u="none" strike="noStrike" dirty="0">
                <a:solidFill>
                  <a:srgbClr val="404040"/>
                </a:solidFill>
                <a:effectLst/>
                <a:latin typeface="+mn-lt"/>
              </a:rPr>
              <a:t>: Transformer models (GPT, BERT) dominate NLP</a:t>
            </a:r>
          </a:p>
          <a:p>
            <a:pPr algn="l">
              <a:spcBef>
                <a:spcPts val="300"/>
              </a:spcBef>
              <a:buFont typeface="Arial" panose="020B0604020202020204" pitchFamily="34" charset="0"/>
              <a:buChar char="•"/>
            </a:pPr>
            <a:endParaRPr lang="en-GB" sz="1600" b="0" i="0" u="none" strike="noStrike" dirty="0">
              <a:solidFill>
                <a:srgbClr val="404040"/>
              </a:solidFill>
              <a:effectLst/>
              <a:latin typeface="+mn-lt"/>
            </a:endParaRPr>
          </a:p>
        </p:txBody>
      </p:sp>
    </p:spTree>
    <p:extLst>
      <p:ext uri="{BB962C8B-B14F-4D97-AF65-F5344CB8AC3E}">
        <p14:creationId xmlns:p14="http://schemas.microsoft.com/office/powerpoint/2010/main" val="301788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321C5F-5887-88FC-5A55-2EB85D26CD1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39B0603-80F6-6813-A911-33AD170E76AB}"/>
              </a:ext>
            </a:extLst>
          </p:cNvPr>
          <p:cNvSpPr txBox="1">
            <a:spLocks noGrp="1"/>
          </p:cNvSpPr>
          <p:nvPr>
            <p:ph type="title"/>
          </p:nvPr>
        </p:nvSpPr>
        <p:spPr>
          <a:xfrm>
            <a:off x="201901" y="54920"/>
            <a:ext cx="8329650" cy="627900"/>
          </a:xfrm>
          <a:prstGeom prst="rect">
            <a:avLst/>
          </a:prstGeom>
          <a:noFill/>
          <a:ln>
            <a:noFill/>
          </a:ln>
        </p:spPr>
        <p:txBody>
          <a:bodyPr spcFirstLastPara="1" wrap="square" lIns="91425" tIns="91425" rIns="91425" bIns="91425" anchor="t" anchorCtr="0">
            <a:normAutofit fontScale="90000"/>
          </a:bodyPr>
          <a:lstStyle/>
          <a:p>
            <a:pPr algn="l"/>
            <a:r>
              <a:rPr lang="en-GB" b="1" i="0" u="none" strike="noStrike" dirty="0">
                <a:solidFill>
                  <a:srgbClr val="7030A0"/>
                </a:solidFill>
                <a:effectLst/>
              </a:rPr>
              <a:t>Difference Between Machine Learning and Deep Learning</a:t>
            </a:r>
            <a:br>
              <a:rPr lang="en-GB" b="1" i="0" u="none" strike="noStrike" dirty="0">
                <a:solidFill>
                  <a:srgbClr val="7030A0"/>
                </a:solidFill>
                <a:effectLst/>
              </a:rPr>
            </a:br>
            <a:endParaRPr lang="en-GB" b="1" i="0" u="none" strike="noStrike" dirty="0">
              <a:solidFill>
                <a:srgbClr val="7030A0"/>
              </a:solidFill>
              <a:effectLst/>
            </a:endParaRPr>
          </a:p>
        </p:txBody>
      </p:sp>
      <p:sp>
        <p:nvSpPr>
          <p:cNvPr id="3" name="TextBox 2">
            <a:extLst>
              <a:ext uri="{FF2B5EF4-FFF2-40B4-BE49-F238E27FC236}">
                <a16:creationId xmlns:a16="http://schemas.microsoft.com/office/drawing/2014/main" id="{812F1C77-9C5B-EF4B-F2AB-E3C6B67E23BB}"/>
              </a:ext>
            </a:extLst>
          </p:cNvPr>
          <p:cNvSpPr txBox="1"/>
          <p:nvPr/>
        </p:nvSpPr>
        <p:spPr>
          <a:xfrm>
            <a:off x="332487" y="974803"/>
            <a:ext cx="8242893" cy="369332"/>
          </a:xfrm>
          <a:prstGeom prst="rect">
            <a:avLst/>
          </a:prstGeom>
          <a:noFill/>
        </p:spPr>
        <p:txBody>
          <a:bodyPr wrap="square">
            <a:spAutoFit/>
          </a:bodyPr>
          <a:lstStyle/>
          <a:p>
            <a:pPr algn="l"/>
            <a:endParaRPr lang="en-GB" sz="1800" b="0" i="0" u="none" strike="noStrike" dirty="0">
              <a:solidFill>
                <a:srgbClr val="000000"/>
              </a:solidFill>
              <a:effectLst/>
            </a:endParaRPr>
          </a:p>
        </p:txBody>
      </p:sp>
      <p:graphicFrame>
        <p:nvGraphicFramePr>
          <p:cNvPr id="2" name="Table 1">
            <a:extLst>
              <a:ext uri="{FF2B5EF4-FFF2-40B4-BE49-F238E27FC236}">
                <a16:creationId xmlns:a16="http://schemas.microsoft.com/office/drawing/2014/main" id="{77CF2366-0101-8E2A-7A35-76EBD1013761}"/>
              </a:ext>
            </a:extLst>
          </p:cNvPr>
          <p:cNvGraphicFramePr>
            <a:graphicFrameLocks noGrp="1"/>
          </p:cNvGraphicFramePr>
          <p:nvPr>
            <p:extLst>
              <p:ext uri="{D42A27DB-BD31-4B8C-83A1-F6EECF244321}">
                <p14:modId xmlns:p14="http://schemas.microsoft.com/office/powerpoint/2010/main" val="2412046176"/>
              </p:ext>
            </p:extLst>
          </p:nvPr>
        </p:nvGraphicFramePr>
        <p:xfrm>
          <a:off x="332487" y="1203403"/>
          <a:ext cx="8521701" cy="3322320"/>
        </p:xfrm>
        <a:graphic>
          <a:graphicData uri="http://schemas.openxmlformats.org/drawingml/2006/table">
            <a:tbl>
              <a:tblPr>
                <a:tableStyleId>{35758FB7-9AC5-4552-8A53-C91805E547FA}</a:tableStyleId>
              </a:tblPr>
              <a:tblGrid>
                <a:gridCol w="2491578">
                  <a:extLst>
                    <a:ext uri="{9D8B030D-6E8A-4147-A177-3AD203B41FA5}">
                      <a16:colId xmlns:a16="http://schemas.microsoft.com/office/drawing/2014/main" val="2600965938"/>
                    </a:ext>
                  </a:extLst>
                </a:gridCol>
                <a:gridCol w="3066662">
                  <a:extLst>
                    <a:ext uri="{9D8B030D-6E8A-4147-A177-3AD203B41FA5}">
                      <a16:colId xmlns:a16="http://schemas.microsoft.com/office/drawing/2014/main" val="620761221"/>
                    </a:ext>
                  </a:extLst>
                </a:gridCol>
                <a:gridCol w="2963461">
                  <a:extLst>
                    <a:ext uri="{9D8B030D-6E8A-4147-A177-3AD203B41FA5}">
                      <a16:colId xmlns:a16="http://schemas.microsoft.com/office/drawing/2014/main" val="730303035"/>
                    </a:ext>
                  </a:extLst>
                </a:gridCol>
              </a:tblGrid>
              <a:tr h="304800">
                <a:tc>
                  <a:txBody>
                    <a:bodyPr/>
                    <a:lstStyle/>
                    <a:p>
                      <a:r>
                        <a:rPr lang="en-GB" sz="1600" b="1"/>
                        <a:t>Feature</a:t>
                      </a:r>
                    </a:p>
                  </a:txBody>
                  <a:tcPr anchor="ctr"/>
                </a:tc>
                <a:tc>
                  <a:txBody>
                    <a:bodyPr/>
                    <a:lstStyle/>
                    <a:p>
                      <a:r>
                        <a:rPr lang="en-GB" sz="1600" b="1"/>
                        <a:t>Machine Learning</a:t>
                      </a:r>
                    </a:p>
                  </a:txBody>
                  <a:tcPr anchor="ctr"/>
                </a:tc>
                <a:tc>
                  <a:txBody>
                    <a:bodyPr/>
                    <a:lstStyle/>
                    <a:p>
                      <a:r>
                        <a:rPr lang="en-GB" sz="1600" b="1" dirty="0"/>
                        <a:t>Deep Learning</a:t>
                      </a:r>
                    </a:p>
                  </a:txBody>
                  <a:tcPr anchor="ctr"/>
                </a:tc>
                <a:extLst>
                  <a:ext uri="{0D108BD9-81ED-4DB2-BD59-A6C34878D82A}">
                    <a16:rowId xmlns:a16="http://schemas.microsoft.com/office/drawing/2014/main" val="1636660071"/>
                  </a:ext>
                </a:extLst>
              </a:tr>
              <a:tr h="304800">
                <a:tc>
                  <a:txBody>
                    <a:bodyPr/>
                    <a:lstStyle/>
                    <a:p>
                      <a:r>
                        <a:rPr lang="en-GB" sz="1600" b="1"/>
                        <a:t>Data Dependency</a:t>
                      </a:r>
                      <a:endParaRPr lang="en-GB" sz="1600"/>
                    </a:p>
                  </a:txBody>
                  <a:tcPr anchor="ctr"/>
                </a:tc>
                <a:tc>
                  <a:txBody>
                    <a:bodyPr/>
                    <a:lstStyle/>
                    <a:p>
                      <a:r>
                        <a:rPr lang="en-GB" sz="1600" dirty="0"/>
                        <a:t>Works well on small datasets</a:t>
                      </a:r>
                    </a:p>
                  </a:txBody>
                  <a:tcPr anchor="ctr"/>
                </a:tc>
                <a:tc>
                  <a:txBody>
                    <a:bodyPr/>
                    <a:lstStyle/>
                    <a:p>
                      <a:r>
                        <a:rPr lang="en-GB" sz="1600"/>
                        <a:t>Requires large amounts of data</a:t>
                      </a:r>
                    </a:p>
                  </a:txBody>
                  <a:tcPr anchor="ctr"/>
                </a:tc>
                <a:extLst>
                  <a:ext uri="{0D108BD9-81ED-4DB2-BD59-A6C34878D82A}">
                    <a16:rowId xmlns:a16="http://schemas.microsoft.com/office/drawing/2014/main" val="3599064023"/>
                  </a:ext>
                </a:extLst>
              </a:tr>
              <a:tr h="304800">
                <a:tc>
                  <a:txBody>
                    <a:bodyPr/>
                    <a:lstStyle/>
                    <a:p>
                      <a:r>
                        <a:rPr lang="en-GB" sz="1600" b="1" dirty="0"/>
                        <a:t>Feature Engineering</a:t>
                      </a:r>
                      <a:endParaRPr lang="en-GB" sz="1600" dirty="0"/>
                    </a:p>
                  </a:txBody>
                  <a:tcPr anchor="ctr"/>
                </a:tc>
                <a:tc>
                  <a:txBody>
                    <a:bodyPr/>
                    <a:lstStyle/>
                    <a:p>
                      <a:r>
                        <a:rPr lang="en-GB" sz="1600"/>
                        <a:t>Manual feature extraction</a:t>
                      </a:r>
                    </a:p>
                  </a:txBody>
                  <a:tcPr anchor="ctr"/>
                </a:tc>
                <a:tc>
                  <a:txBody>
                    <a:bodyPr/>
                    <a:lstStyle/>
                    <a:p>
                      <a:r>
                        <a:rPr lang="en-GB" sz="1600"/>
                        <a:t>Learns features automatically</a:t>
                      </a:r>
                    </a:p>
                  </a:txBody>
                  <a:tcPr anchor="ctr"/>
                </a:tc>
                <a:extLst>
                  <a:ext uri="{0D108BD9-81ED-4DB2-BD59-A6C34878D82A}">
                    <a16:rowId xmlns:a16="http://schemas.microsoft.com/office/drawing/2014/main" val="2194927000"/>
                  </a:ext>
                </a:extLst>
              </a:tr>
              <a:tr h="518160">
                <a:tc>
                  <a:txBody>
                    <a:bodyPr/>
                    <a:lstStyle/>
                    <a:p>
                      <a:r>
                        <a:rPr lang="en-GB" sz="1600" b="1"/>
                        <a:t>Algorithms</a:t>
                      </a:r>
                      <a:endParaRPr lang="en-GB" sz="1600"/>
                    </a:p>
                  </a:txBody>
                  <a:tcPr anchor="ctr"/>
                </a:tc>
                <a:tc>
                  <a:txBody>
                    <a:bodyPr/>
                    <a:lstStyle/>
                    <a:p>
                      <a:r>
                        <a:rPr lang="en-GB" sz="1600"/>
                        <a:t>SVM, Decision Trees, Random Forest</a:t>
                      </a:r>
                    </a:p>
                  </a:txBody>
                  <a:tcPr anchor="ctr"/>
                </a:tc>
                <a:tc>
                  <a:txBody>
                    <a:bodyPr/>
                    <a:lstStyle/>
                    <a:p>
                      <a:r>
                        <a:rPr lang="en-GB" sz="1600"/>
                        <a:t>CNN, RNN, LSTM, Transformers</a:t>
                      </a:r>
                    </a:p>
                  </a:txBody>
                  <a:tcPr anchor="ctr"/>
                </a:tc>
                <a:extLst>
                  <a:ext uri="{0D108BD9-81ED-4DB2-BD59-A6C34878D82A}">
                    <a16:rowId xmlns:a16="http://schemas.microsoft.com/office/drawing/2014/main" val="170671205"/>
                  </a:ext>
                </a:extLst>
              </a:tr>
              <a:tr h="304800">
                <a:tc>
                  <a:txBody>
                    <a:bodyPr/>
                    <a:lstStyle/>
                    <a:p>
                      <a:r>
                        <a:rPr lang="en-GB" sz="1600" b="1"/>
                        <a:t>Interpretability</a:t>
                      </a:r>
                      <a:endParaRPr lang="en-GB" sz="1600"/>
                    </a:p>
                  </a:txBody>
                  <a:tcPr anchor="ctr"/>
                </a:tc>
                <a:tc>
                  <a:txBody>
                    <a:bodyPr/>
                    <a:lstStyle/>
                    <a:p>
                      <a:r>
                        <a:rPr lang="en-GB" sz="1600"/>
                        <a:t>Easier to interpret</a:t>
                      </a:r>
                    </a:p>
                  </a:txBody>
                  <a:tcPr anchor="ctr"/>
                </a:tc>
                <a:tc>
                  <a:txBody>
                    <a:bodyPr/>
                    <a:lstStyle/>
                    <a:p>
                      <a:r>
                        <a:rPr lang="en-GB" sz="1600"/>
                        <a:t>Often considered a "black box"</a:t>
                      </a:r>
                    </a:p>
                  </a:txBody>
                  <a:tcPr anchor="ctr"/>
                </a:tc>
                <a:extLst>
                  <a:ext uri="{0D108BD9-81ED-4DB2-BD59-A6C34878D82A}">
                    <a16:rowId xmlns:a16="http://schemas.microsoft.com/office/drawing/2014/main" val="2830066434"/>
                  </a:ext>
                </a:extLst>
              </a:tr>
              <a:tr h="518160">
                <a:tc>
                  <a:txBody>
                    <a:bodyPr/>
                    <a:lstStyle/>
                    <a:p>
                      <a:r>
                        <a:rPr lang="en-GB" sz="1600" b="1"/>
                        <a:t>Training Time</a:t>
                      </a:r>
                      <a:endParaRPr lang="en-GB" sz="1600"/>
                    </a:p>
                  </a:txBody>
                  <a:tcPr anchor="ctr"/>
                </a:tc>
                <a:tc>
                  <a:txBody>
                    <a:bodyPr/>
                    <a:lstStyle/>
                    <a:p>
                      <a:r>
                        <a:rPr lang="en-GB" sz="1600"/>
                        <a:t>Shorter</a:t>
                      </a:r>
                    </a:p>
                  </a:txBody>
                  <a:tcPr anchor="ctr"/>
                </a:tc>
                <a:tc>
                  <a:txBody>
                    <a:bodyPr/>
                    <a:lstStyle/>
                    <a:p>
                      <a:r>
                        <a:rPr lang="en-GB" sz="1600"/>
                        <a:t>Longer, computationally expensive</a:t>
                      </a:r>
                    </a:p>
                  </a:txBody>
                  <a:tcPr anchor="ctr"/>
                </a:tc>
                <a:extLst>
                  <a:ext uri="{0D108BD9-81ED-4DB2-BD59-A6C34878D82A}">
                    <a16:rowId xmlns:a16="http://schemas.microsoft.com/office/drawing/2014/main" val="1958076746"/>
                  </a:ext>
                </a:extLst>
              </a:tr>
              <a:tr h="304800">
                <a:tc>
                  <a:txBody>
                    <a:bodyPr/>
                    <a:lstStyle/>
                    <a:p>
                      <a:r>
                        <a:rPr lang="en-GB" sz="1600" b="1" dirty="0"/>
                        <a:t>Hardware Dependency</a:t>
                      </a:r>
                      <a:endParaRPr lang="en-GB" sz="1600" dirty="0"/>
                    </a:p>
                  </a:txBody>
                  <a:tcPr anchor="ctr"/>
                </a:tc>
                <a:tc>
                  <a:txBody>
                    <a:bodyPr/>
                    <a:lstStyle/>
                    <a:p>
                      <a:r>
                        <a:rPr lang="en-GB" sz="1600" dirty="0"/>
                        <a:t>Can run on CPU</a:t>
                      </a:r>
                    </a:p>
                  </a:txBody>
                  <a:tcPr anchor="ctr"/>
                </a:tc>
                <a:tc>
                  <a:txBody>
                    <a:bodyPr/>
                    <a:lstStyle/>
                    <a:p>
                      <a:r>
                        <a:rPr lang="en-GB" sz="1600" dirty="0"/>
                        <a:t>Requires GPUs/TPUs for training</a:t>
                      </a:r>
                    </a:p>
                  </a:txBody>
                  <a:tcPr anchor="ctr"/>
                </a:tc>
                <a:extLst>
                  <a:ext uri="{0D108BD9-81ED-4DB2-BD59-A6C34878D82A}">
                    <a16:rowId xmlns:a16="http://schemas.microsoft.com/office/drawing/2014/main" val="2362381304"/>
                  </a:ext>
                </a:extLst>
              </a:tr>
            </a:tbl>
          </a:graphicData>
        </a:graphic>
      </p:graphicFrame>
    </p:spTree>
    <p:extLst>
      <p:ext uri="{BB962C8B-B14F-4D97-AF65-F5344CB8AC3E}">
        <p14:creationId xmlns:p14="http://schemas.microsoft.com/office/powerpoint/2010/main" val="2148591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9B3FE5F-B39D-9AA9-B708-409963FC6E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B024A57-E0FF-FEC8-BFB5-7A6B8D049715}"/>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pPr algn="l"/>
            <a:r>
              <a:rPr lang="en-GB" dirty="0"/>
              <a:t>Core Concepts in Deep Learning</a:t>
            </a: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533C7E5D-21A2-CB49-8E6C-276C2D0EBF76}"/>
              </a:ext>
            </a:extLst>
          </p:cNvPr>
          <p:cNvSpPr txBox="1"/>
          <p:nvPr/>
        </p:nvSpPr>
        <p:spPr>
          <a:xfrm>
            <a:off x="186924" y="865406"/>
            <a:ext cx="6837426" cy="4278094"/>
          </a:xfrm>
          <a:prstGeom prst="rect">
            <a:avLst/>
          </a:prstGeom>
          <a:noFill/>
        </p:spPr>
        <p:txBody>
          <a:bodyPr wrap="square">
            <a:spAutoFit/>
          </a:bodyPr>
          <a:lstStyle/>
          <a:p>
            <a:pPr>
              <a:buNone/>
            </a:pPr>
            <a:r>
              <a:rPr lang="en-GB" sz="1600" b="1" dirty="0"/>
              <a:t>1. Neural Networks</a:t>
            </a:r>
          </a:p>
          <a:p>
            <a:r>
              <a:rPr lang="en-GB" sz="1600" dirty="0"/>
              <a:t>A </a:t>
            </a:r>
            <a:r>
              <a:rPr lang="en-GB" sz="1600" b="1" dirty="0"/>
              <a:t>neural network</a:t>
            </a:r>
            <a:r>
              <a:rPr lang="en-GB" sz="1600" dirty="0"/>
              <a:t> is made up of layers of </a:t>
            </a:r>
            <a:r>
              <a:rPr lang="en-GB" sz="1600" i="1" dirty="0"/>
              <a:t>neurons</a:t>
            </a:r>
            <a:r>
              <a:rPr lang="en-GB" sz="1600" dirty="0"/>
              <a:t> (nodes).</a:t>
            </a:r>
          </a:p>
          <a:p>
            <a:pPr marL="285750" indent="-285750">
              <a:buFont typeface="Wingdings" pitchFamily="2" charset="2"/>
              <a:buChar char="ü"/>
            </a:pPr>
            <a:r>
              <a:rPr lang="en-GB" sz="1600" dirty="0"/>
              <a:t>Each </a:t>
            </a:r>
            <a:r>
              <a:rPr lang="en-GB" sz="1600" b="1" dirty="0"/>
              <a:t>layer</a:t>
            </a:r>
            <a:r>
              <a:rPr lang="en-GB" sz="1600" dirty="0"/>
              <a:t> transforms the input data and passes it to the next layer.</a:t>
            </a:r>
          </a:p>
          <a:p>
            <a:pPr marL="742950" lvl="1" indent="-285750">
              <a:buFont typeface="Wingdings" pitchFamily="2" charset="2"/>
              <a:buChar char="ü"/>
            </a:pPr>
            <a:r>
              <a:rPr lang="en-GB" sz="1600" b="1" dirty="0"/>
              <a:t>Input Layer</a:t>
            </a:r>
            <a:r>
              <a:rPr lang="en-GB" sz="1600" dirty="0"/>
              <a:t>: Accepts raw data.</a:t>
            </a:r>
          </a:p>
          <a:p>
            <a:pPr marL="742950" lvl="1" indent="-285750">
              <a:buFont typeface="Wingdings" pitchFamily="2" charset="2"/>
              <a:buChar char="ü"/>
            </a:pPr>
            <a:r>
              <a:rPr lang="en-GB" sz="1600" b="1" dirty="0"/>
              <a:t>Hidden Layers</a:t>
            </a:r>
            <a:r>
              <a:rPr lang="en-GB" sz="1600" dirty="0"/>
              <a:t>: Perform computations and transformations.</a:t>
            </a:r>
          </a:p>
          <a:p>
            <a:pPr marL="742950" lvl="1" indent="-285750">
              <a:buFont typeface="Wingdings" pitchFamily="2" charset="2"/>
              <a:buChar char="ü"/>
            </a:pPr>
            <a:r>
              <a:rPr lang="en-GB" sz="1600" b="1" dirty="0"/>
              <a:t>Output Layer</a:t>
            </a:r>
            <a:r>
              <a:rPr lang="en-GB" sz="1600" dirty="0"/>
              <a:t>: Gives the final prediction or classification.</a:t>
            </a:r>
          </a:p>
          <a:p>
            <a:pPr>
              <a:buNone/>
            </a:pPr>
            <a:r>
              <a:rPr lang="en-GB" sz="1600" b="1" dirty="0"/>
              <a:t>2. Activation Functions</a:t>
            </a:r>
          </a:p>
          <a:p>
            <a:r>
              <a:rPr lang="en-GB" sz="1600" dirty="0"/>
              <a:t>These introduce </a:t>
            </a:r>
            <a:r>
              <a:rPr lang="en-GB" sz="1600" b="1" dirty="0"/>
              <a:t>non-linearity</a:t>
            </a:r>
            <a:r>
              <a:rPr lang="en-GB" sz="1600" dirty="0"/>
              <a:t>, allowing the model to learn complex patterns:</a:t>
            </a:r>
          </a:p>
          <a:p>
            <a:pPr marL="742950" lvl="1" indent="-285750">
              <a:buFont typeface="Wingdings" pitchFamily="2" charset="2"/>
              <a:buChar char="ü"/>
            </a:pPr>
            <a:r>
              <a:rPr lang="en-GB" sz="1600" b="1" dirty="0" err="1"/>
              <a:t>ReLU</a:t>
            </a:r>
            <a:r>
              <a:rPr lang="en-GB" sz="1600" b="1" dirty="0"/>
              <a:t> (Rectified Linear Unit)</a:t>
            </a:r>
            <a:r>
              <a:rPr lang="en-GB" sz="1600" dirty="0"/>
              <a:t>: Most common; turns negative values to 0.</a:t>
            </a:r>
          </a:p>
          <a:p>
            <a:pPr marL="742950" lvl="1" indent="-285750">
              <a:buFont typeface="Wingdings" pitchFamily="2" charset="2"/>
              <a:buChar char="ü"/>
            </a:pPr>
            <a:r>
              <a:rPr lang="en-GB" sz="1600" b="1" dirty="0"/>
              <a:t>Sigmoid</a:t>
            </a:r>
            <a:r>
              <a:rPr lang="en-GB" sz="1600" dirty="0"/>
              <a:t>: Outputs values between 0 and 1; useful for binary classification.</a:t>
            </a:r>
          </a:p>
          <a:p>
            <a:pPr marL="742950" lvl="1" indent="-285750">
              <a:buFont typeface="Wingdings" pitchFamily="2" charset="2"/>
              <a:buChar char="ü"/>
            </a:pPr>
            <a:r>
              <a:rPr lang="en-GB" sz="1600" b="1" dirty="0"/>
              <a:t>Tanh</a:t>
            </a:r>
            <a:r>
              <a:rPr lang="en-GB" sz="1600" dirty="0"/>
              <a:t>: Similar to sigmoid but outputs between -1 and 1.</a:t>
            </a:r>
          </a:p>
          <a:p>
            <a:pPr marL="742950" lvl="1" indent="-285750">
              <a:buFont typeface="Wingdings" pitchFamily="2" charset="2"/>
              <a:buChar char="ü"/>
            </a:pPr>
            <a:r>
              <a:rPr lang="en-GB" sz="1600" b="1" dirty="0" err="1"/>
              <a:t>Softmax</a:t>
            </a:r>
            <a:r>
              <a:rPr lang="en-GB" sz="1600" dirty="0"/>
              <a:t>: Converts outputs into probabilities (used for multi-class classification).</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58100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E9B24E9-9FC9-0025-09F8-BD3CCFAC233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2D5EC0A-D432-D455-08C4-05683B25227E}"/>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pPr algn="l"/>
            <a:r>
              <a:rPr lang="en-GB" dirty="0"/>
              <a:t>Core Concepts in Deep Learning</a:t>
            </a: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EF019705-DE85-3A3C-8DA2-33851E195E57}"/>
              </a:ext>
            </a:extLst>
          </p:cNvPr>
          <p:cNvSpPr txBox="1"/>
          <p:nvPr/>
        </p:nvSpPr>
        <p:spPr>
          <a:xfrm>
            <a:off x="186924" y="865406"/>
            <a:ext cx="6837426" cy="3046988"/>
          </a:xfrm>
          <a:prstGeom prst="rect">
            <a:avLst/>
          </a:prstGeom>
          <a:noFill/>
        </p:spPr>
        <p:txBody>
          <a:bodyPr wrap="square">
            <a:spAutoFit/>
          </a:bodyPr>
          <a:lstStyle/>
          <a:p>
            <a:pPr>
              <a:buNone/>
            </a:pPr>
            <a:r>
              <a:rPr lang="en-GB" sz="1600" b="1" dirty="0"/>
              <a:t>3. Forward Propagation &amp; Backpropagation</a:t>
            </a:r>
          </a:p>
          <a:p>
            <a:pPr marL="342900" indent="-342900">
              <a:buFont typeface="+mj-lt"/>
              <a:buAutoNum type="alphaLcPeriod"/>
            </a:pPr>
            <a:r>
              <a:rPr lang="en-GB" sz="1600" b="1" dirty="0"/>
              <a:t>Forward Propagation</a:t>
            </a:r>
            <a:r>
              <a:rPr lang="en-GB" sz="1600" dirty="0"/>
              <a:t>: Data passes through the network from input to output.</a:t>
            </a:r>
          </a:p>
          <a:p>
            <a:pPr marL="342900" indent="-342900">
              <a:buFont typeface="+mj-lt"/>
              <a:buAutoNum type="alphaLcPeriod"/>
            </a:pPr>
            <a:r>
              <a:rPr lang="en-GB" sz="1600" b="1" dirty="0"/>
              <a:t>Backpropagation</a:t>
            </a:r>
            <a:r>
              <a:rPr lang="en-GB" sz="1600" dirty="0"/>
              <a:t>: The model adjusts weights by calculating the gradient of the loss function with respect to each weight (via chain rule).</a:t>
            </a:r>
          </a:p>
          <a:p>
            <a:pPr marL="742950" lvl="1" indent="-285750">
              <a:buFont typeface="Wingdings" pitchFamily="2" charset="2"/>
              <a:buChar char="ü"/>
            </a:pPr>
            <a:r>
              <a:rPr lang="en-GB" sz="1600" dirty="0"/>
              <a:t>This helps the model learn from its mistakes.</a:t>
            </a:r>
          </a:p>
          <a:p>
            <a:pPr>
              <a:buNone/>
            </a:pPr>
            <a:r>
              <a:rPr lang="en-GB" sz="1600" b="1" dirty="0"/>
              <a:t>4. Loss Functions</a:t>
            </a:r>
          </a:p>
          <a:p>
            <a:r>
              <a:rPr lang="en-GB" sz="1600" dirty="0"/>
              <a:t>Measures the difference between predicted and actual output:</a:t>
            </a:r>
          </a:p>
          <a:p>
            <a:pPr marL="800100" lvl="1" indent="-342900">
              <a:buFont typeface="+mj-lt"/>
              <a:buAutoNum type="alphaLcPeriod"/>
            </a:pPr>
            <a:r>
              <a:rPr lang="en-GB" sz="1600" b="1" dirty="0"/>
              <a:t>MSE (Mean Squared Error)</a:t>
            </a:r>
            <a:r>
              <a:rPr lang="en-GB" sz="1600" dirty="0"/>
              <a:t>: Used in regression tasks.</a:t>
            </a:r>
          </a:p>
          <a:p>
            <a:pPr marL="800100" lvl="1" indent="-342900">
              <a:buFont typeface="+mj-lt"/>
              <a:buAutoNum type="alphaLcPeriod"/>
            </a:pPr>
            <a:r>
              <a:rPr lang="en-GB" sz="1600" b="1" dirty="0"/>
              <a:t>Cross-Entropy Loss</a:t>
            </a:r>
            <a:r>
              <a:rPr lang="en-GB" sz="1600" dirty="0"/>
              <a:t>: Common in classification tasks.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2619629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68411D2-01BF-DAA5-E2EE-E2B4B9AE58F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4C86892-C0C8-D4D7-718B-8EAB0B48B096}"/>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pPr algn="l"/>
            <a:r>
              <a:rPr lang="en-GB" dirty="0"/>
              <a:t>Core Concepts in Deep Learning</a:t>
            </a: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80DFC334-17E0-0868-2612-65B0DE91F40A}"/>
              </a:ext>
            </a:extLst>
          </p:cNvPr>
          <p:cNvSpPr txBox="1"/>
          <p:nvPr/>
        </p:nvSpPr>
        <p:spPr>
          <a:xfrm>
            <a:off x="155926" y="663928"/>
            <a:ext cx="8670358" cy="4031873"/>
          </a:xfrm>
          <a:prstGeom prst="rect">
            <a:avLst/>
          </a:prstGeom>
          <a:noFill/>
        </p:spPr>
        <p:txBody>
          <a:bodyPr wrap="square">
            <a:spAutoFit/>
          </a:bodyPr>
          <a:lstStyle/>
          <a:p>
            <a:pPr>
              <a:buNone/>
            </a:pPr>
            <a:r>
              <a:rPr lang="en-GB" sz="1600" b="1" dirty="0"/>
              <a:t>5. Optimizers: </a:t>
            </a:r>
            <a:r>
              <a:rPr lang="en-GB" sz="1600" dirty="0"/>
              <a:t>Algorithms that adjust the weights to minimize the loss:</a:t>
            </a:r>
          </a:p>
          <a:p>
            <a:pPr marL="742950" lvl="1" indent="-285750">
              <a:buFont typeface="Wingdings" pitchFamily="2" charset="2"/>
              <a:buChar char="Ø"/>
            </a:pPr>
            <a:r>
              <a:rPr lang="en-GB" sz="1600" b="1" dirty="0"/>
              <a:t>SGD (Stochastic Gradient Descent)</a:t>
            </a:r>
            <a:r>
              <a:rPr lang="en-GB" sz="1600" dirty="0"/>
              <a:t>: Basic optimizer, updates weights with small batches.</a:t>
            </a:r>
          </a:p>
          <a:p>
            <a:pPr marL="742950" lvl="1" indent="-285750">
              <a:buFont typeface="Wingdings" pitchFamily="2" charset="2"/>
              <a:buChar char="Ø"/>
            </a:pPr>
            <a:r>
              <a:rPr lang="en-GB" sz="1600" b="1" dirty="0"/>
              <a:t>Adam (Adaptive Moment Estimation)</a:t>
            </a:r>
            <a:r>
              <a:rPr lang="en-GB" sz="1600" dirty="0"/>
              <a:t>: More advanced; adjusts learning rate dynamically for better convergence.</a:t>
            </a:r>
          </a:p>
          <a:p>
            <a:pPr marL="742950" lvl="1" indent="-285750">
              <a:buFont typeface="Wingdings" pitchFamily="2" charset="2"/>
              <a:buChar char="Ø"/>
            </a:pPr>
            <a:endParaRPr lang="en-GB" sz="1600" dirty="0"/>
          </a:p>
          <a:p>
            <a:r>
              <a:rPr lang="en-GB" sz="1600" b="1" dirty="0"/>
              <a:t>6. Epochs and Batches: </a:t>
            </a:r>
            <a:r>
              <a:rPr lang="en-GB" sz="1600" dirty="0"/>
              <a:t>Training in batches improves efficiency and generalization.</a:t>
            </a:r>
            <a:endParaRPr lang="en-GB" sz="1600" b="1" dirty="0"/>
          </a:p>
          <a:p>
            <a:pPr marL="742950" lvl="1" indent="-285750">
              <a:buFont typeface="Wingdings" pitchFamily="2" charset="2"/>
              <a:buChar char="Ø"/>
            </a:pPr>
            <a:r>
              <a:rPr lang="en-GB" sz="1600" b="1" dirty="0"/>
              <a:t>Epoch: </a:t>
            </a:r>
            <a:r>
              <a:rPr lang="en-GB" sz="1600" dirty="0"/>
              <a:t>One full pass through the training dataset.</a:t>
            </a:r>
          </a:p>
          <a:p>
            <a:pPr marL="742950" lvl="1" indent="-285750">
              <a:buFont typeface="Wingdings" pitchFamily="2" charset="2"/>
              <a:buChar char="Ø"/>
            </a:pPr>
            <a:r>
              <a:rPr lang="en-GB" sz="1600" b="1" dirty="0"/>
              <a:t>Batch: </a:t>
            </a:r>
            <a:r>
              <a:rPr lang="en-GB" sz="1600" dirty="0"/>
              <a:t>A subset of data used to train the model in one forward/backward pass.</a:t>
            </a:r>
          </a:p>
          <a:p>
            <a:pPr marL="457200" lvl="1"/>
            <a:endParaRPr lang="en-GB" sz="1600" dirty="0"/>
          </a:p>
          <a:p>
            <a:pPr>
              <a:buNone/>
            </a:pPr>
            <a:r>
              <a:rPr lang="en-GB" sz="1600" b="1" dirty="0"/>
              <a:t>7. Regularization Techniques: </a:t>
            </a:r>
            <a:r>
              <a:rPr lang="en-GB" sz="1600" dirty="0"/>
              <a:t>Help </a:t>
            </a:r>
            <a:r>
              <a:rPr lang="en-GB" sz="1600" b="1" dirty="0"/>
              <a:t>prevent overfitting</a:t>
            </a:r>
            <a:r>
              <a:rPr lang="en-GB" sz="1600" dirty="0"/>
              <a:t> (where the model memorizes rather than learns):</a:t>
            </a:r>
          </a:p>
          <a:p>
            <a:pPr marL="742950" lvl="1" indent="-285750">
              <a:buFont typeface="Wingdings" pitchFamily="2" charset="2"/>
              <a:buChar char="Ø"/>
            </a:pPr>
            <a:r>
              <a:rPr lang="en-GB" sz="1600" b="1" dirty="0"/>
              <a:t>Dropout</a:t>
            </a:r>
            <a:r>
              <a:rPr lang="en-GB" sz="1600" dirty="0"/>
              <a:t>: Randomly turns off neurons during training.</a:t>
            </a:r>
          </a:p>
          <a:p>
            <a:pPr marL="742950" lvl="1" indent="-285750">
              <a:buFont typeface="Wingdings" pitchFamily="2" charset="2"/>
              <a:buChar char="Ø"/>
            </a:pPr>
            <a:r>
              <a:rPr lang="en-GB" sz="1600" b="1" dirty="0"/>
              <a:t>L2 Regularization</a:t>
            </a:r>
            <a:r>
              <a:rPr lang="en-GB" sz="1600" dirty="0"/>
              <a:t>: Penalizes large weights by adding their squared values to the loss.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1175628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1FFE9A1-E715-8924-47F0-16E81E016F4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3FC1D38-C0FD-486A-4F41-EEDA8F410464}"/>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Inter" panose="02000503000000020004" pitchFamily="2" charset="0"/>
              </a:rPr>
              <a:t>Common Architectures</a:t>
            </a:r>
            <a:br>
              <a:rPr kumimoji="0" lang="en-US" altLang="en-US" sz="2800" b="1" i="0" u="none" strike="noStrike" cap="none" normalizeH="0" baseline="0" dirty="0">
                <a:ln>
                  <a:noFill/>
                </a:ln>
                <a:solidFill>
                  <a:srgbClr val="7030A0"/>
                </a:solidFill>
                <a:effectLst/>
                <a:latin typeface="Inter" panose="02000503000000020004" pitchFamily="2" charset="0"/>
              </a:rPr>
            </a:br>
            <a:br>
              <a:rPr lang="en-GB" b="1" i="0" u="none" strike="noStrike" dirty="0">
                <a:solidFill>
                  <a:srgbClr val="7030A0"/>
                </a:solidFill>
                <a:effectLst/>
              </a:rPr>
            </a:br>
            <a:endParaRPr lang="en-GB" b="1" i="0" u="none" strike="noStrike" dirty="0">
              <a:solidFill>
                <a:srgbClr val="7030A0"/>
              </a:solidFill>
              <a:effectLst/>
            </a:endParaRPr>
          </a:p>
        </p:txBody>
      </p:sp>
      <p:graphicFrame>
        <p:nvGraphicFramePr>
          <p:cNvPr id="2" name="Table 1">
            <a:extLst>
              <a:ext uri="{FF2B5EF4-FFF2-40B4-BE49-F238E27FC236}">
                <a16:creationId xmlns:a16="http://schemas.microsoft.com/office/drawing/2014/main" id="{E6AFD13E-2382-3B03-CE93-2596868C47E4}"/>
              </a:ext>
            </a:extLst>
          </p:cNvPr>
          <p:cNvGraphicFramePr>
            <a:graphicFrameLocks noGrp="1"/>
          </p:cNvGraphicFramePr>
          <p:nvPr>
            <p:extLst>
              <p:ext uri="{D42A27DB-BD31-4B8C-83A1-F6EECF244321}">
                <p14:modId xmlns:p14="http://schemas.microsoft.com/office/powerpoint/2010/main" val="4046032475"/>
              </p:ext>
            </p:extLst>
          </p:nvPr>
        </p:nvGraphicFramePr>
        <p:xfrm>
          <a:off x="318899" y="1726716"/>
          <a:ext cx="8521701" cy="216408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940640168"/>
                    </a:ext>
                  </a:extLst>
                </a:gridCol>
                <a:gridCol w="2840567">
                  <a:extLst>
                    <a:ext uri="{9D8B030D-6E8A-4147-A177-3AD203B41FA5}">
                      <a16:colId xmlns:a16="http://schemas.microsoft.com/office/drawing/2014/main" val="149386308"/>
                    </a:ext>
                  </a:extLst>
                </a:gridCol>
                <a:gridCol w="2840567">
                  <a:extLst>
                    <a:ext uri="{9D8B030D-6E8A-4147-A177-3AD203B41FA5}">
                      <a16:colId xmlns:a16="http://schemas.microsoft.com/office/drawing/2014/main" val="2085183072"/>
                    </a:ext>
                  </a:extLst>
                </a:gridCol>
              </a:tblGrid>
              <a:tr h="304800">
                <a:tc>
                  <a:txBody>
                    <a:bodyPr/>
                    <a:lstStyle/>
                    <a:p>
                      <a:pPr algn="l"/>
                      <a:r>
                        <a:rPr lang="en-GB" sz="1600" b="1">
                          <a:effectLst/>
                        </a:rPr>
                        <a:t>Architecture</a:t>
                      </a:r>
                    </a:p>
                  </a:txBody>
                  <a:tcPr anchor="ctr"/>
                </a:tc>
                <a:tc>
                  <a:txBody>
                    <a:bodyPr/>
                    <a:lstStyle/>
                    <a:p>
                      <a:pPr algn="l"/>
                      <a:r>
                        <a:rPr lang="en-GB" sz="1600" b="1">
                          <a:effectLst/>
                        </a:rPr>
                        <a:t>Purpose</a:t>
                      </a:r>
                    </a:p>
                  </a:txBody>
                  <a:tcPr anchor="ctr"/>
                </a:tc>
                <a:tc>
                  <a:txBody>
                    <a:bodyPr/>
                    <a:lstStyle/>
                    <a:p>
                      <a:pPr algn="l"/>
                      <a:r>
                        <a:rPr lang="en-GB" sz="1600" b="1">
                          <a:effectLst/>
                        </a:rPr>
                        <a:t>Example</a:t>
                      </a:r>
                    </a:p>
                  </a:txBody>
                  <a:tcPr anchor="ctr"/>
                </a:tc>
                <a:extLst>
                  <a:ext uri="{0D108BD9-81ED-4DB2-BD59-A6C34878D82A}">
                    <a16:rowId xmlns:a16="http://schemas.microsoft.com/office/drawing/2014/main" val="2977945344"/>
                  </a:ext>
                </a:extLst>
              </a:tr>
              <a:tr h="304800">
                <a:tc>
                  <a:txBody>
                    <a:bodyPr/>
                    <a:lstStyle/>
                    <a:p>
                      <a:r>
                        <a:rPr lang="en-GB" sz="1600" b="1">
                          <a:effectLst/>
                        </a:rPr>
                        <a:t>Feedforward NN</a:t>
                      </a:r>
                      <a:endParaRPr lang="en-GB" sz="1600">
                        <a:effectLst/>
                      </a:endParaRPr>
                    </a:p>
                  </a:txBody>
                  <a:tcPr anchor="ctr"/>
                </a:tc>
                <a:tc>
                  <a:txBody>
                    <a:bodyPr/>
                    <a:lstStyle/>
                    <a:p>
                      <a:r>
                        <a:rPr lang="en-GB" sz="1600">
                          <a:effectLst/>
                        </a:rPr>
                        <a:t>Basic classification/regression</a:t>
                      </a:r>
                    </a:p>
                  </a:txBody>
                  <a:tcPr anchor="ctr"/>
                </a:tc>
                <a:tc>
                  <a:txBody>
                    <a:bodyPr/>
                    <a:lstStyle/>
                    <a:p>
                      <a:r>
                        <a:rPr lang="en-GB" sz="1600">
                          <a:effectLst/>
                        </a:rPr>
                        <a:t>MNIST digit recognition</a:t>
                      </a:r>
                    </a:p>
                  </a:txBody>
                  <a:tcPr anchor="ctr"/>
                </a:tc>
                <a:extLst>
                  <a:ext uri="{0D108BD9-81ED-4DB2-BD59-A6C34878D82A}">
                    <a16:rowId xmlns:a16="http://schemas.microsoft.com/office/drawing/2014/main" val="87613895"/>
                  </a:ext>
                </a:extLst>
              </a:tr>
              <a:tr h="304800">
                <a:tc>
                  <a:txBody>
                    <a:bodyPr/>
                    <a:lstStyle/>
                    <a:p>
                      <a:r>
                        <a:rPr lang="en-GB" sz="1600" b="1">
                          <a:effectLst/>
                        </a:rPr>
                        <a:t>CNN (Convolutional NN)</a:t>
                      </a:r>
                      <a:endParaRPr lang="en-GB" sz="1600">
                        <a:effectLst/>
                      </a:endParaRPr>
                    </a:p>
                  </a:txBody>
                  <a:tcPr anchor="ctr"/>
                </a:tc>
                <a:tc>
                  <a:txBody>
                    <a:bodyPr/>
                    <a:lstStyle/>
                    <a:p>
                      <a:r>
                        <a:rPr lang="en-GB" sz="1600">
                          <a:effectLst/>
                        </a:rPr>
                        <a:t>Image/video processing</a:t>
                      </a:r>
                    </a:p>
                  </a:txBody>
                  <a:tcPr anchor="ctr"/>
                </a:tc>
                <a:tc>
                  <a:txBody>
                    <a:bodyPr/>
                    <a:lstStyle/>
                    <a:p>
                      <a:r>
                        <a:rPr lang="en-GB" sz="1600">
                          <a:effectLst/>
                        </a:rPr>
                        <a:t>ResNet, VGG</a:t>
                      </a:r>
                    </a:p>
                  </a:txBody>
                  <a:tcPr anchor="ctr"/>
                </a:tc>
                <a:extLst>
                  <a:ext uri="{0D108BD9-81ED-4DB2-BD59-A6C34878D82A}">
                    <a16:rowId xmlns:a16="http://schemas.microsoft.com/office/drawing/2014/main" val="2190719153"/>
                  </a:ext>
                </a:extLst>
              </a:tr>
              <a:tr h="304800">
                <a:tc>
                  <a:txBody>
                    <a:bodyPr/>
                    <a:lstStyle/>
                    <a:p>
                      <a:r>
                        <a:rPr lang="en-GB" sz="1600" b="1">
                          <a:effectLst/>
                        </a:rPr>
                        <a:t>RNN/LSTM</a:t>
                      </a:r>
                      <a:endParaRPr lang="en-GB" sz="1600">
                        <a:effectLst/>
                      </a:endParaRPr>
                    </a:p>
                  </a:txBody>
                  <a:tcPr anchor="ctr"/>
                </a:tc>
                <a:tc>
                  <a:txBody>
                    <a:bodyPr/>
                    <a:lstStyle/>
                    <a:p>
                      <a:r>
                        <a:rPr lang="en-GB" sz="1600">
                          <a:effectLst/>
                        </a:rPr>
                        <a:t>Sequential data (text, time series)</a:t>
                      </a:r>
                    </a:p>
                  </a:txBody>
                  <a:tcPr anchor="ctr"/>
                </a:tc>
                <a:tc>
                  <a:txBody>
                    <a:bodyPr/>
                    <a:lstStyle/>
                    <a:p>
                      <a:r>
                        <a:rPr lang="en-GB" sz="1600">
                          <a:effectLst/>
                        </a:rPr>
                        <a:t>Language translation</a:t>
                      </a:r>
                    </a:p>
                  </a:txBody>
                  <a:tcPr anchor="ctr"/>
                </a:tc>
                <a:extLst>
                  <a:ext uri="{0D108BD9-81ED-4DB2-BD59-A6C34878D82A}">
                    <a16:rowId xmlns:a16="http://schemas.microsoft.com/office/drawing/2014/main" val="3503243247"/>
                  </a:ext>
                </a:extLst>
              </a:tr>
              <a:tr h="304800">
                <a:tc>
                  <a:txBody>
                    <a:bodyPr/>
                    <a:lstStyle/>
                    <a:p>
                      <a:r>
                        <a:rPr lang="en-GB" sz="1600" b="1" dirty="0">
                          <a:effectLst/>
                        </a:rPr>
                        <a:t>Transformer</a:t>
                      </a:r>
                      <a:endParaRPr lang="en-GB" sz="1600" dirty="0">
                        <a:effectLst/>
                      </a:endParaRPr>
                    </a:p>
                  </a:txBody>
                  <a:tcPr anchor="ctr"/>
                </a:tc>
                <a:tc>
                  <a:txBody>
                    <a:bodyPr/>
                    <a:lstStyle/>
                    <a:p>
                      <a:r>
                        <a:rPr lang="en-GB" sz="1600">
                          <a:effectLst/>
                        </a:rPr>
                        <a:t>NLP tasks</a:t>
                      </a:r>
                    </a:p>
                  </a:txBody>
                  <a:tcPr anchor="ctr"/>
                </a:tc>
                <a:tc>
                  <a:txBody>
                    <a:bodyPr/>
                    <a:lstStyle/>
                    <a:p>
                      <a:r>
                        <a:rPr lang="en-GB" sz="1600" dirty="0">
                          <a:effectLst/>
                        </a:rPr>
                        <a:t>GPT, BERT</a:t>
                      </a:r>
                    </a:p>
                  </a:txBody>
                  <a:tcPr anchor="ctr"/>
                </a:tc>
                <a:extLst>
                  <a:ext uri="{0D108BD9-81ED-4DB2-BD59-A6C34878D82A}">
                    <a16:rowId xmlns:a16="http://schemas.microsoft.com/office/drawing/2014/main" val="1493419845"/>
                  </a:ext>
                </a:extLst>
              </a:tr>
            </a:tbl>
          </a:graphicData>
        </a:graphic>
      </p:graphicFrame>
      <p:sp>
        <p:nvSpPr>
          <p:cNvPr id="3" name="Rectangle 1">
            <a:extLst>
              <a:ext uri="{FF2B5EF4-FFF2-40B4-BE49-F238E27FC236}">
                <a16:creationId xmlns:a16="http://schemas.microsoft.com/office/drawing/2014/main" id="{1D8E6644-555B-674A-90F9-BC279A1A1F52}"/>
              </a:ext>
            </a:extLst>
          </p:cNvPr>
          <p:cNvSpPr>
            <a:spLocks noChangeArrowheads="1"/>
          </p:cNvSpPr>
          <p:nvPr/>
        </p:nvSpPr>
        <p:spPr bwMode="auto">
          <a:xfrm>
            <a:off x="318899" y="912554"/>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1" i="0" u="none" strike="noStrike" cap="none" normalizeH="0" baseline="0" dirty="0">
                <a:ln>
                  <a:noFill/>
                </a:ln>
                <a:solidFill>
                  <a:schemeClr val="tx1"/>
                </a:solidFill>
                <a:effectLst/>
              </a:rPr>
            </a:b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7068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3550D99-4626-981D-4F3C-9F53C5F6110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D883667-EDD7-9945-1BCB-8AC983CF4D08}"/>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dirty="0">
                <a:solidFill>
                  <a:srgbClr val="7030A0"/>
                </a:solidFill>
              </a:rPr>
              <a:t>Application of Deep Learning</a:t>
            </a: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398D5455-4E7E-68EB-7653-39ED42C2B1EF}"/>
              </a:ext>
            </a:extLst>
          </p:cNvPr>
          <p:cNvSpPr txBox="1"/>
          <p:nvPr/>
        </p:nvSpPr>
        <p:spPr>
          <a:xfrm>
            <a:off x="88365" y="775700"/>
            <a:ext cx="5568957" cy="4031873"/>
          </a:xfrm>
          <a:prstGeom prst="rect">
            <a:avLst/>
          </a:prstGeom>
          <a:noFill/>
        </p:spPr>
        <p:txBody>
          <a:bodyPr wrap="square">
            <a:spAutoFit/>
          </a:bodyPr>
          <a:lstStyle/>
          <a:p>
            <a:pPr>
              <a:buNone/>
            </a:pPr>
            <a:r>
              <a:rPr lang="en-GB" sz="1600" b="1" dirty="0"/>
              <a:t>Problem:</a:t>
            </a:r>
            <a:br>
              <a:rPr lang="en-GB" sz="1600" dirty="0"/>
            </a:br>
            <a:r>
              <a:rPr lang="en-GB" sz="1600" dirty="0"/>
              <a:t>Identify early signs of disease from medical imaging to improve diagnostic accuracy and treatment outcomes.</a:t>
            </a:r>
          </a:p>
          <a:p>
            <a:pPr>
              <a:buNone/>
            </a:pPr>
            <a:r>
              <a:rPr lang="en-GB" sz="1600" b="1" dirty="0"/>
              <a:t>Solution:</a:t>
            </a:r>
            <a:br>
              <a:rPr lang="en-GB" sz="1600" dirty="0"/>
            </a:br>
            <a:r>
              <a:rPr lang="en-GB" sz="1600" dirty="0"/>
              <a:t>Leverage deep learning models, such as Convolutional Neural Networks (CNNs), trained on large datasets of </a:t>
            </a:r>
            <a:r>
              <a:rPr lang="en-GB" sz="1600" dirty="0" err="1"/>
              <a:t>labeled</a:t>
            </a:r>
            <a:r>
              <a:rPr lang="en-GB" sz="1600" dirty="0"/>
              <a:t> medical images (e.g., X-rays, MRIs, CT scans).</a:t>
            </a:r>
            <a:br>
              <a:rPr lang="en-GB" sz="1600" dirty="0"/>
            </a:br>
            <a:r>
              <a:rPr lang="en-GB" sz="1600" dirty="0"/>
              <a:t>The model classifies the presence and severity of conditions (e.g., normal, mild, moderate, severe).</a:t>
            </a:r>
          </a:p>
          <a:p>
            <a:pPr>
              <a:buNone/>
            </a:pPr>
            <a:r>
              <a:rPr lang="en-GB" sz="1600" b="1" dirty="0"/>
              <a:t>Impact:</a:t>
            </a:r>
            <a:endParaRPr lang="en-GB" sz="1600" dirty="0"/>
          </a:p>
          <a:p>
            <a:pPr marL="285750" indent="-285750">
              <a:buFont typeface="Wingdings" pitchFamily="2" charset="2"/>
              <a:buChar char="Ø"/>
            </a:pPr>
            <a:r>
              <a:rPr lang="en-GB" sz="1600" dirty="0"/>
              <a:t>Automates diagnostic workflows, improving efficiency for healthcare professionals.</a:t>
            </a:r>
          </a:p>
          <a:p>
            <a:pPr marL="285750" indent="-285750">
              <a:buFont typeface="Wingdings" pitchFamily="2" charset="2"/>
              <a:buChar char="Ø"/>
            </a:pPr>
            <a:r>
              <a:rPr lang="en-GB" sz="1600" dirty="0"/>
              <a:t>Enhances accessibility to diagnostic services in underserved or remote areas.</a:t>
            </a:r>
          </a:p>
          <a:p>
            <a:pPr marL="285750" indent="-285750">
              <a:buFont typeface="Wingdings" pitchFamily="2" charset="2"/>
              <a:buChar char="Ø"/>
            </a:pPr>
            <a:r>
              <a:rPr lang="en-GB" sz="1600" dirty="0"/>
              <a:t>Enables early intervention, reducing disease progression and improving patient outcomes.</a:t>
            </a:r>
          </a:p>
        </p:txBody>
      </p:sp>
      <p:pic>
        <p:nvPicPr>
          <p:cNvPr id="3" name="Picture 2">
            <a:extLst>
              <a:ext uri="{FF2B5EF4-FFF2-40B4-BE49-F238E27FC236}">
                <a16:creationId xmlns:a16="http://schemas.microsoft.com/office/drawing/2014/main" id="{A47B1283-4A86-F02A-645B-F76B000BF6C5}"/>
              </a:ext>
            </a:extLst>
          </p:cNvPr>
          <p:cNvPicPr>
            <a:picLocks noChangeAspect="1"/>
          </p:cNvPicPr>
          <p:nvPr/>
        </p:nvPicPr>
        <p:blipFill>
          <a:blip r:embed="rId3"/>
          <a:srcRect l="1588" t="12052" r="67175" b="40943"/>
          <a:stretch/>
        </p:blipFill>
        <p:spPr>
          <a:xfrm>
            <a:off x="5657323" y="1562117"/>
            <a:ext cx="3486677" cy="3581383"/>
          </a:xfrm>
          <a:prstGeom prst="rect">
            <a:avLst/>
          </a:prstGeom>
        </p:spPr>
      </p:pic>
    </p:spTree>
    <p:extLst>
      <p:ext uri="{BB962C8B-B14F-4D97-AF65-F5344CB8AC3E}">
        <p14:creationId xmlns:p14="http://schemas.microsoft.com/office/powerpoint/2010/main" val="4233634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A79595D-74C4-5962-E899-1F14D0B53E2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6ADEAED-61EC-CF8F-C063-07D5AACE4B8C}"/>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dirty="0">
                <a:solidFill>
                  <a:srgbClr val="7030A0"/>
                </a:solidFill>
              </a:rPr>
              <a:t>Application of Deep Learning</a:t>
            </a: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DA7FC24A-3472-B8CB-8737-981194A8B17C}"/>
              </a:ext>
            </a:extLst>
          </p:cNvPr>
          <p:cNvSpPr txBox="1"/>
          <p:nvPr/>
        </p:nvSpPr>
        <p:spPr>
          <a:xfrm>
            <a:off x="88366" y="743741"/>
            <a:ext cx="5118116" cy="3293209"/>
          </a:xfrm>
          <a:prstGeom prst="rect">
            <a:avLst/>
          </a:prstGeom>
          <a:noFill/>
        </p:spPr>
        <p:txBody>
          <a:bodyPr wrap="square">
            <a:spAutoFit/>
          </a:bodyPr>
          <a:lstStyle/>
          <a:p>
            <a:pPr>
              <a:buNone/>
            </a:pPr>
            <a:r>
              <a:rPr lang="en-GB" sz="1600" b="1" dirty="0"/>
              <a:t>Finance Case Study: Fraud Detection in Credit Card Transactions</a:t>
            </a:r>
          </a:p>
          <a:p>
            <a:pPr>
              <a:buNone/>
            </a:pPr>
            <a:r>
              <a:rPr lang="en-GB" sz="1600" b="1" dirty="0"/>
              <a:t>Problem:</a:t>
            </a:r>
            <a:r>
              <a:rPr lang="en-GB" sz="1600" dirty="0"/>
              <a:t> Real-time detection of fraudulent credit card usage.</a:t>
            </a:r>
          </a:p>
          <a:p>
            <a:pPr>
              <a:buNone/>
            </a:pPr>
            <a:r>
              <a:rPr lang="en-GB" sz="1600" b="1" dirty="0"/>
              <a:t>Solution:</a:t>
            </a:r>
            <a:endParaRPr lang="en-GB" sz="1600" dirty="0"/>
          </a:p>
          <a:p>
            <a:pPr marL="342900" indent="-342900">
              <a:buFont typeface="Wingdings" pitchFamily="2" charset="2"/>
              <a:buChar char="Ø"/>
            </a:pPr>
            <a:r>
              <a:rPr lang="en-GB" sz="1600" dirty="0"/>
              <a:t>Use Autoencoders or LSTM models to detect anomalies in time-series transaction data.</a:t>
            </a:r>
          </a:p>
          <a:p>
            <a:pPr marL="342900" indent="-342900">
              <a:buFont typeface="Wingdings" pitchFamily="2" charset="2"/>
              <a:buChar char="Ø"/>
            </a:pPr>
            <a:r>
              <a:rPr lang="en-GB" sz="1600" dirty="0"/>
              <a:t>Trained on "normal" </a:t>
            </a:r>
            <a:r>
              <a:rPr lang="en-GB" sz="1600" dirty="0" err="1"/>
              <a:t>behavior</a:t>
            </a:r>
            <a:r>
              <a:rPr lang="en-GB" sz="1600" dirty="0"/>
              <a:t>, model flags unusual patterns.</a:t>
            </a:r>
          </a:p>
          <a:p>
            <a:pPr>
              <a:buNone/>
            </a:pPr>
            <a:r>
              <a:rPr lang="en-GB" sz="1600" b="1" dirty="0"/>
              <a:t>Impact:</a:t>
            </a:r>
            <a:endParaRPr lang="en-GB" sz="1600" dirty="0"/>
          </a:p>
          <a:p>
            <a:pPr marL="342900" indent="-342900">
              <a:buFont typeface="Wingdings" pitchFamily="2" charset="2"/>
              <a:buChar char="Ø"/>
            </a:pPr>
            <a:r>
              <a:rPr lang="en-GB" sz="1600" dirty="0"/>
              <a:t>Saves millions in losses for financial institutions.</a:t>
            </a:r>
          </a:p>
          <a:p>
            <a:pPr marL="342900" indent="-342900">
              <a:buFont typeface="Wingdings" pitchFamily="2" charset="2"/>
              <a:buChar char="Ø"/>
            </a:pPr>
            <a:r>
              <a:rPr lang="en-GB" sz="1600" dirty="0"/>
              <a:t>Improves customer trust.</a:t>
            </a:r>
          </a:p>
          <a:p>
            <a:pPr>
              <a:buNone/>
            </a:pPr>
            <a:endParaRPr lang="en-GB" sz="1600" dirty="0"/>
          </a:p>
        </p:txBody>
      </p:sp>
      <p:pic>
        <p:nvPicPr>
          <p:cNvPr id="4" name="Picture 3">
            <a:extLst>
              <a:ext uri="{FF2B5EF4-FFF2-40B4-BE49-F238E27FC236}">
                <a16:creationId xmlns:a16="http://schemas.microsoft.com/office/drawing/2014/main" id="{9A97D365-8324-0FB0-6067-91091DF99C04}"/>
              </a:ext>
            </a:extLst>
          </p:cNvPr>
          <p:cNvPicPr>
            <a:picLocks noChangeAspect="1"/>
          </p:cNvPicPr>
          <p:nvPr/>
        </p:nvPicPr>
        <p:blipFill>
          <a:blip r:embed="rId3"/>
          <a:srcRect l="34633" t="11450" r="38349" b="42297"/>
          <a:stretch/>
        </p:blipFill>
        <p:spPr>
          <a:xfrm>
            <a:off x="5525146" y="1015139"/>
            <a:ext cx="3530488" cy="3896560"/>
          </a:xfrm>
          <a:prstGeom prst="rect">
            <a:avLst/>
          </a:prstGeom>
        </p:spPr>
      </p:pic>
    </p:spTree>
    <p:extLst>
      <p:ext uri="{BB962C8B-B14F-4D97-AF65-F5344CB8AC3E}">
        <p14:creationId xmlns:p14="http://schemas.microsoft.com/office/powerpoint/2010/main" val="649261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E734B02-8B69-CBCF-8567-7AC91C3E806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69E7761-1FEF-89C5-3E82-C287CEB2C3FA}"/>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dirty="0">
                <a:solidFill>
                  <a:srgbClr val="7030A0"/>
                </a:solidFill>
              </a:rPr>
              <a:t>Application of Deep Learning</a:t>
            </a: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2732DC64-4620-0935-B304-6DEA3CC7140E}"/>
              </a:ext>
            </a:extLst>
          </p:cNvPr>
          <p:cNvSpPr txBox="1"/>
          <p:nvPr/>
        </p:nvSpPr>
        <p:spPr>
          <a:xfrm>
            <a:off x="88366" y="743741"/>
            <a:ext cx="5118116" cy="3785652"/>
          </a:xfrm>
          <a:prstGeom prst="rect">
            <a:avLst/>
          </a:prstGeom>
          <a:noFill/>
        </p:spPr>
        <p:txBody>
          <a:bodyPr wrap="square">
            <a:spAutoFit/>
          </a:bodyPr>
          <a:lstStyle/>
          <a:p>
            <a:pPr>
              <a:buNone/>
            </a:pPr>
            <a:r>
              <a:rPr lang="en-GB" sz="1600" b="1" dirty="0"/>
              <a:t>NLP Case Study: Chatbots for Customer Support</a:t>
            </a:r>
          </a:p>
          <a:p>
            <a:pPr>
              <a:buNone/>
            </a:pPr>
            <a:r>
              <a:rPr lang="en-GB" sz="1600" b="1" dirty="0"/>
              <a:t>Problem:</a:t>
            </a:r>
            <a:r>
              <a:rPr lang="en-GB" sz="1600" dirty="0"/>
              <a:t> Automate responses to FAQs and service issues.</a:t>
            </a:r>
          </a:p>
          <a:p>
            <a:pPr>
              <a:buNone/>
            </a:pPr>
            <a:endParaRPr lang="en-GB" sz="1600" dirty="0"/>
          </a:p>
          <a:p>
            <a:pPr>
              <a:buNone/>
            </a:pPr>
            <a:r>
              <a:rPr lang="en-GB" sz="1600" b="1" dirty="0"/>
              <a:t>Solution:</a:t>
            </a:r>
            <a:endParaRPr lang="en-GB" sz="1600" dirty="0"/>
          </a:p>
          <a:p>
            <a:pPr marL="285750" indent="-285750">
              <a:buFont typeface="Wingdings" pitchFamily="2" charset="2"/>
              <a:buChar char="Ø"/>
            </a:pPr>
            <a:r>
              <a:rPr lang="en-GB" sz="1600" dirty="0"/>
              <a:t>Use Transformer-based models (e.g., BERT, GPT) fine-tuned on domain-specific data.</a:t>
            </a:r>
          </a:p>
          <a:p>
            <a:pPr marL="285750" indent="-285750">
              <a:buFont typeface="Wingdings" pitchFamily="2" charset="2"/>
              <a:buChar char="Ø"/>
            </a:pPr>
            <a:r>
              <a:rPr lang="en-GB" sz="1600" dirty="0"/>
              <a:t>Chatbot understands queries and responds in natural language.</a:t>
            </a:r>
          </a:p>
          <a:p>
            <a:pPr marL="285750" indent="-285750">
              <a:buFont typeface="Wingdings" pitchFamily="2" charset="2"/>
              <a:buChar char="Ø"/>
            </a:pPr>
            <a:endParaRPr lang="en-GB" sz="1600" dirty="0"/>
          </a:p>
          <a:p>
            <a:pPr>
              <a:buNone/>
            </a:pPr>
            <a:r>
              <a:rPr lang="en-GB" sz="1600" b="1" dirty="0"/>
              <a:t>Impact:</a:t>
            </a:r>
            <a:endParaRPr lang="en-GB" sz="1600" dirty="0"/>
          </a:p>
          <a:p>
            <a:pPr marL="285750" indent="-285750">
              <a:buFont typeface="Wingdings" pitchFamily="2" charset="2"/>
              <a:buChar char="Ø"/>
            </a:pPr>
            <a:r>
              <a:rPr lang="en-GB" sz="1600" dirty="0"/>
              <a:t>Reduces customer wait times.</a:t>
            </a:r>
          </a:p>
          <a:p>
            <a:pPr marL="285750" indent="-285750">
              <a:buFont typeface="Wingdings" pitchFamily="2" charset="2"/>
              <a:buChar char="Ø"/>
            </a:pPr>
            <a:r>
              <a:rPr lang="en-GB" sz="1600" dirty="0"/>
              <a:t>Works 24/7 and can escalate complex cases to humans.</a:t>
            </a:r>
          </a:p>
          <a:p>
            <a:pPr>
              <a:buNone/>
            </a:pPr>
            <a:endParaRPr lang="en-GB" sz="1600" dirty="0"/>
          </a:p>
        </p:txBody>
      </p:sp>
      <p:pic>
        <p:nvPicPr>
          <p:cNvPr id="3" name="Picture 2">
            <a:extLst>
              <a:ext uri="{FF2B5EF4-FFF2-40B4-BE49-F238E27FC236}">
                <a16:creationId xmlns:a16="http://schemas.microsoft.com/office/drawing/2014/main" id="{8EC7A8F6-125D-C3E1-9764-06821F356338}"/>
              </a:ext>
            </a:extLst>
          </p:cNvPr>
          <p:cNvPicPr>
            <a:picLocks noChangeAspect="1"/>
          </p:cNvPicPr>
          <p:nvPr/>
        </p:nvPicPr>
        <p:blipFill>
          <a:blip r:embed="rId3"/>
          <a:srcRect l="60846" t="12806" r="2693" b="35217"/>
          <a:stretch/>
        </p:blipFill>
        <p:spPr>
          <a:xfrm>
            <a:off x="5269087" y="925145"/>
            <a:ext cx="3402215" cy="3764837"/>
          </a:xfrm>
          <a:prstGeom prst="rect">
            <a:avLst/>
          </a:prstGeom>
        </p:spPr>
      </p:pic>
    </p:spTree>
    <p:extLst>
      <p:ext uri="{BB962C8B-B14F-4D97-AF65-F5344CB8AC3E}">
        <p14:creationId xmlns:p14="http://schemas.microsoft.com/office/powerpoint/2010/main" val="3651570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C0E9B68-CD68-243A-9CC7-AD10803C284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809944D-15EA-2A8C-1E09-68A5BB5E6F26}"/>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dirty="0">
                <a:solidFill>
                  <a:srgbClr val="7030A0"/>
                </a:solidFill>
              </a:rPr>
              <a:t>Application of Deep Learning</a:t>
            </a: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F2E264B3-C675-D191-2C6D-34FE88338076}"/>
              </a:ext>
            </a:extLst>
          </p:cNvPr>
          <p:cNvSpPr txBox="1"/>
          <p:nvPr/>
        </p:nvSpPr>
        <p:spPr>
          <a:xfrm>
            <a:off x="88366" y="743741"/>
            <a:ext cx="5118116" cy="3785652"/>
          </a:xfrm>
          <a:prstGeom prst="rect">
            <a:avLst/>
          </a:prstGeom>
          <a:noFill/>
        </p:spPr>
        <p:txBody>
          <a:bodyPr wrap="square">
            <a:spAutoFit/>
          </a:bodyPr>
          <a:lstStyle/>
          <a:p>
            <a:pPr>
              <a:buNone/>
            </a:pPr>
            <a:r>
              <a:rPr lang="en-GB" sz="1600" b="1" dirty="0"/>
              <a:t>Autonomous Systems Case Study: Self-Driving Car</a:t>
            </a:r>
          </a:p>
          <a:p>
            <a:pPr>
              <a:buNone/>
            </a:pPr>
            <a:endParaRPr lang="en-GB" sz="1600" b="1" dirty="0"/>
          </a:p>
          <a:p>
            <a:pPr>
              <a:buNone/>
            </a:pPr>
            <a:r>
              <a:rPr lang="en-GB" sz="1600" b="1" dirty="0"/>
              <a:t>Problem:</a:t>
            </a:r>
            <a:r>
              <a:rPr lang="en-GB" sz="1600" dirty="0"/>
              <a:t> Safely navigate roads without human input.</a:t>
            </a:r>
          </a:p>
          <a:p>
            <a:pPr>
              <a:buNone/>
            </a:pPr>
            <a:endParaRPr lang="en-GB" sz="1600" dirty="0"/>
          </a:p>
          <a:p>
            <a:pPr>
              <a:buNone/>
            </a:pPr>
            <a:r>
              <a:rPr lang="en-GB" sz="1600" b="1" dirty="0"/>
              <a:t>Solution:</a:t>
            </a:r>
            <a:endParaRPr lang="en-GB" sz="1600" dirty="0"/>
          </a:p>
          <a:p>
            <a:pPr marL="342900" indent="-342900">
              <a:buFont typeface="Wingdings" pitchFamily="2" charset="2"/>
              <a:buChar char="Ø"/>
            </a:pPr>
            <a:r>
              <a:rPr lang="en-GB" sz="1600" dirty="0"/>
              <a:t>Cameras + sensors feed real-time data to CNNs for object detection.</a:t>
            </a:r>
          </a:p>
          <a:p>
            <a:pPr marL="342900" indent="-342900">
              <a:buFont typeface="Wingdings" pitchFamily="2" charset="2"/>
              <a:buChar char="Ø"/>
            </a:pPr>
            <a:r>
              <a:rPr lang="en-GB" sz="1600" dirty="0"/>
              <a:t>Reinforcement Learning used for decision-making and route planning.</a:t>
            </a:r>
          </a:p>
          <a:p>
            <a:pPr marL="342900" indent="-342900">
              <a:buFont typeface="Wingdings" pitchFamily="2" charset="2"/>
              <a:buChar char="Ø"/>
            </a:pPr>
            <a:endParaRPr lang="en-GB" sz="1600" dirty="0"/>
          </a:p>
          <a:p>
            <a:pPr>
              <a:buNone/>
            </a:pPr>
            <a:r>
              <a:rPr lang="en-GB" sz="1600" b="1" dirty="0"/>
              <a:t>Impact:</a:t>
            </a:r>
            <a:endParaRPr lang="en-GB" sz="1600" dirty="0"/>
          </a:p>
          <a:p>
            <a:pPr marL="342900" indent="-342900">
              <a:buFont typeface="Wingdings" pitchFamily="2" charset="2"/>
              <a:buChar char="Ø"/>
            </a:pPr>
            <a:r>
              <a:rPr lang="en-GB" sz="1600" dirty="0"/>
              <a:t>Reduces human error.</a:t>
            </a:r>
          </a:p>
          <a:p>
            <a:pPr marL="342900" indent="-342900">
              <a:buFont typeface="Wingdings" pitchFamily="2" charset="2"/>
              <a:buChar char="Ø"/>
            </a:pPr>
            <a:r>
              <a:rPr lang="en-GB" sz="1600" dirty="0"/>
              <a:t>Potential to reshape transportation industry.</a:t>
            </a:r>
          </a:p>
          <a:p>
            <a:pPr>
              <a:buNone/>
            </a:pPr>
            <a:endParaRPr lang="en-GB" sz="1600" dirty="0"/>
          </a:p>
        </p:txBody>
      </p:sp>
      <p:pic>
        <p:nvPicPr>
          <p:cNvPr id="4" name="Picture 3">
            <a:extLst>
              <a:ext uri="{FF2B5EF4-FFF2-40B4-BE49-F238E27FC236}">
                <a16:creationId xmlns:a16="http://schemas.microsoft.com/office/drawing/2014/main" id="{164FA83F-C326-4698-EA56-D3D81F0DFE05}"/>
              </a:ext>
            </a:extLst>
          </p:cNvPr>
          <p:cNvPicPr>
            <a:picLocks noChangeAspect="1"/>
          </p:cNvPicPr>
          <p:nvPr/>
        </p:nvPicPr>
        <p:blipFill>
          <a:blip r:embed="rId3"/>
          <a:srcRect t="53333" r="53616"/>
          <a:stretch/>
        </p:blipFill>
        <p:spPr>
          <a:xfrm>
            <a:off x="5100396" y="1077131"/>
            <a:ext cx="3578656" cy="3084163"/>
          </a:xfrm>
          <a:prstGeom prst="rect">
            <a:avLst/>
          </a:prstGeom>
        </p:spPr>
      </p:pic>
    </p:spTree>
    <p:extLst>
      <p:ext uri="{BB962C8B-B14F-4D97-AF65-F5344CB8AC3E}">
        <p14:creationId xmlns:p14="http://schemas.microsoft.com/office/powerpoint/2010/main" val="4116082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2875590-41EB-F19D-1740-7BFDFF70F64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3BEC597-2D0A-B06C-125C-F80CA86C7C01}"/>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dirty="0">
                <a:solidFill>
                  <a:srgbClr val="7030A0"/>
                </a:solidFill>
              </a:rPr>
              <a:t>Application of Deep Learning</a:t>
            </a: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2C930261-F2EC-9A81-FF04-FB81C301BCCC}"/>
              </a:ext>
            </a:extLst>
          </p:cNvPr>
          <p:cNvSpPr txBox="1"/>
          <p:nvPr/>
        </p:nvSpPr>
        <p:spPr>
          <a:xfrm>
            <a:off x="88366" y="875476"/>
            <a:ext cx="4739356" cy="3046988"/>
          </a:xfrm>
          <a:prstGeom prst="rect">
            <a:avLst/>
          </a:prstGeom>
          <a:noFill/>
        </p:spPr>
        <p:txBody>
          <a:bodyPr wrap="square">
            <a:spAutoFit/>
          </a:bodyPr>
          <a:lstStyle/>
          <a:p>
            <a:pPr>
              <a:buNone/>
            </a:pPr>
            <a:r>
              <a:rPr lang="en-GB" sz="1600" b="1" dirty="0"/>
              <a:t>Industrial Case Study: Predictive Maintenance</a:t>
            </a:r>
          </a:p>
          <a:p>
            <a:pPr>
              <a:buNone/>
            </a:pPr>
            <a:r>
              <a:rPr lang="en-GB" sz="1600" b="1" dirty="0"/>
              <a:t>Problem:</a:t>
            </a:r>
            <a:r>
              <a:rPr lang="en-GB" sz="1600" dirty="0"/>
              <a:t> Unexpected breakdowns in machinery.</a:t>
            </a:r>
          </a:p>
          <a:p>
            <a:pPr>
              <a:buNone/>
            </a:pPr>
            <a:endParaRPr lang="en-GB" sz="1600" dirty="0"/>
          </a:p>
          <a:p>
            <a:pPr>
              <a:buNone/>
            </a:pPr>
            <a:r>
              <a:rPr lang="en-GB" sz="1600" b="1" dirty="0"/>
              <a:t>Solution:</a:t>
            </a:r>
            <a:endParaRPr lang="en-GB" sz="1600" dirty="0"/>
          </a:p>
          <a:p>
            <a:pPr marL="285750" indent="-285750">
              <a:buFont typeface="Wingdings" pitchFamily="2" charset="2"/>
              <a:buChar char="Ø"/>
            </a:pPr>
            <a:r>
              <a:rPr lang="en-GB" sz="1600" dirty="0"/>
              <a:t>Use Time-series Deep Learning (LSTM) on sensor data to predict failures.</a:t>
            </a:r>
          </a:p>
          <a:p>
            <a:pPr marL="285750" indent="-285750">
              <a:buFont typeface="Wingdings" pitchFamily="2" charset="2"/>
              <a:buChar char="Ø"/>
            </a:pPr>
            <a:r>
              <a:rPr lang="en-GB" sz="1600" dirty="0"/>
              <a:t>Alerts maintenance team before a breakdown.</a:t>
            </a:r>
          </a:p>
          <a:p>
            <a:pPr marL="285750" indent="-285750">
              <a:buFont typeface="Wingdings" pitchFamily="2" charset="2"/>
              <a:buChar char="Ø"/>
            </a:pPr>
            <a:endParaRPr lang="en-GB" sz="1600" dirty="0"/>
          </a:p>
          <a:p>
            <a:pPr>
              <a:buNone/>
            </a:pPr>
            <a:r>
              <a:rPr lang="en-GB" sz="1600" b="1" dirty="0"/>
              <a:t>Impact:</a:t>
            </a:r>
            <a:endParaRPr lang="en-GB" sz="1600" dirty="0"/>
          </a:p>
          <a:p>
            <a:pPr marL="285750" indent="-285750">
              <a:buFont typeface="Wingdings" pitchFamily="2" charset="2"/>
              <a:buChar char="Ø"/>
            </a:pPr>
            <a:r>
              <a:rPr lang="en-GB" sz="1600" dirty="0"/>
              <a:t>Reduces downtime.</a:t>
            </a:r>
          </a:p>
          <a:p>
            <a:pPr marL="285750" indent="-285750">
              <a:buFont typeface="Wingdings" pitchFamily="2" charset="2"/>
              <a:buChar char="Ø"/>
            </a:pPr>
            <a:r>
              <a:rPr lang="en-GB" sz="1600" dirty="0"/>
              <a:t>Saves operational costs.</a:t>
            </a:r>
          </a:p>
          <a:p>
            <a:pPr>
              <a:buNone/>
            </a:pPr>
            <a:endParaRPr lang="en-GB" sz="1600" dirty="0"/>
          </a:p>
        </p:txBody>
      </p:sp>
      <p:pic>
        <p:nvPicPr>
          <p:cNvPr id="3" name="Picture 2">
            <a:extLst>
              <a:ext uri="{FF2B5EF4-FFF2-40B4-BE49-F238E27FC236}">
                <a16:creationId xmlns:a16="http://schemas.microsoft.com/office/drawing/2014/main" id="{ED1648BF-DF0B-DFD6-E7E6-0603A4698E63}"/>
              </a:ext>
            </a:extLst>
          </p:cNvPr>
          <p:cNvPicPr>
            <a:picLocks noChangeAspect="1"/>
          </p:cNvPicPr>
          <p:nvPr/>
        </p:nvPicPr>
        <p:blipFill>
          <a:blip r:embed="rId3"/>
          <a:srcRect l="46083" t="64125"/>
          <a:stretch/>
        </p:blipFill>
        <p:spPr>
          <a:xfrm>
            <a:off x="4827722" y="957020"/>
            <a:ext cx="4159842" cy="3229459"/>
          </a:xfrm>
          <a:prstGeom prst="rect">
            <a:avLst/>
          </a:prstGeom>
        </p:spPr>
      </p:pic>
    </p:spTree>
    <p:extLst>
      <p:ext uri="{BB962C8B-B14F-4D97-AF65-F5344CB8AC3E}">
        <p14:creationId xmlns:p14="http://schemas.microsoft.com/office/powerpoint/2010/main" val="3261571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9F6C503-E9A6-22C4-5F56-BAE259D0AF7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7D18B2-9477-1B97-5043-81617482A788}"/>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b="1" dirty="0"/>
              <a:t>Technical Challenges</a:t>
            </a:r>
            <a:br>
              <a:rPr lang="en-GB" b="1" dirty="0"/>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7" name="TextBox 6">
            <a:extLst>
              <a:ext uri="{FF2B5EF4-FFF2-40B4-BE49-F238E27FC236}">
                <a16:creationId xmlns:a16="http://schemas.microsoft.com/office/drawing/2014/main" id="{66D630EB-BE39-69C0-578B-6D28BA7908DF}"/>
              </a:ext>
            </a:extLst>
          </p:cNvPr>
          <p:cNvSpPr txBox="1"/>
          <p:nvPr/>
        </p:nvSpPr>
        <p:spPr>
          <a:xfrm>
            <a:off x="638554" y="650751"/>
            <a:ext cx="7095099" cy="4031873"/>
          </a:xfrm>
          <a:prstGeom prst="rect">
            <a:avLst/>
          </a:prstGeom>
          <a:noFill/>
        </p:spPr>
        <p:txBody>
          <a:bodyPr wrap="square">
            <a:spAutoFit/>
          </a:bodyPr>
          <a:lstStyle/>
          <a:p>
            <a:pPr>
              <a:buFont typeface="+mj-lt"/>
              <a:buAutoNum type="arabicPeriod"/>
            </a:pPr>
            <a:r>
              <a:rPr lang="en-GB" sz="1600" b="1" dirty="0"/>
              <a:t>Data Hunger: Requires massive </a:t>
            </a:r>
            <a:r>
              <a:rPr lang="en-GB" sz="1600" b="1" dirty="0" err="1"/>
              <a:t>labeled</a:t>
            </a:r>
            <a:r>
              <a:rPr lang="en-GB" sz="1600" b="1" dirty="0"/>
              <a:t> datasets</a:t>
            </a:r>
            <a:endParaRPr lang="en-GB" sz="1600" dirty="0"/>
          </a:p>
          <a:p>
            <a:pPr marL="457200" lvl="1"/>
            <a:r>
              <a:rPr lang="en-GB" sz="1600" dirty="0"/>
              <a:t>Deep learning models, especially large ones like GPT or image classifiers, need huge amounts of </a:t>
            </a:r>
            <a:r>
              <a:rPr lang="en-GB" sz="1600" dirty="0" err="1"/>
              <a:t>labeled</a:t>
            </a:r>
            <a:r>
              <a:rPr lang="en-GB" sz="1600" dirty="0"/>
              <a:t> data to perform well. Getting this data can be time-consuming, costly, and sometimes not even possible for niche problems.</a:t>
            </a:r>
          </a:p>
          <a:p>
            <a:pPr>
              <a:buFont typeface="+mj-lt"/>
              <a:buAutoNum type="arabicPeriod"/>
            </a:pPr>
            <a:r>
              <a:rPr lang="en-GB" sz="1600" b="1" dirty="0"/>
              <a:t>Compute Costs: GPU/TPU resources expensive</a:t>
            </a:r>
            <a:endParaRPr lang="en-GB" sz="1600" dirty="0"/>
          </a:p>
          <a:p>
            <a:pPr marL="457200" lvl="1"/>
            <a:r>
              <a:rPr lang="en-GB" sz="1600" dirty="0"/>
              <a:t>Training these models often needs powerful hardware like GPUs (Graphics Processing Units) or TPUs (Tensor Processing Units). These resources are expensive, making AI development costly, especially for small organizations or researchers.</a:t>
            </a:r>
          </a:p>
          <a:p>
            <a:pPr>
              <a:buFont typeface="+mj-lt"/>
              <a:buAutoNum type="arabicPeriod"/>
            </a:pPr>
            <a:r>
              <a:rPr lang="en-GB" sz="1600" b="1" dirty="0"/>
              <a:t>Black Box Problem: Hard to interpret decisions</a:t>
            </a:r>
            <a:endParaRPr lang="en-GB" sz="1600" dirty="0"/>
          </a:p>
          <a:p>
            <a:pPr marL="457200" lvl="1"/>
            <a:r>
              <a:rPr lang="en-GB" sz="1600" dirty="0"/>
              <a:t>Many AI models (especially deep neural networks) are often considered “black boxes”, meaning it's difficult to understand how they make decisions. This lack of transparency can be problematic in sensitive fields like healthcare or law.</a:t>
            </a:r>
          </a:p>
          <a:p>
            <a:pPr>
              <a:buNone/>
            </a:pPr>
            <a:endParaRPr lang="en-GB" sz="1600" dirty="0"/>
          </a:p>
        </p:txBody>
      </p:sp>
    </p:spTree>
    <p:extLst>
      <p:ext uri="{BB962C8B-B14F-4D97-AF65-F5344CB8AC3E}">
        <p14:creationId xmlns:p14="http://schemas.microsoft.com/office/powerpoint/2010/main" val="590927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A5663D4-950F-9DF3-2F11-460FFCAA75F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F18489D-BBEE-0A3E-1714-05C3FC4439E0}"/>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400" dirty="0">
                <a:solidFill>
                  <a:srgbClr val="7030A0"/>
                </a:solidFill>
                <a:latin typeface="Inter" panose="02000503000000020004" pitchFamily="2" charset="0"/>
              </a:rPr>
              <a:t>Future Trends-Emerging Areas in Deep Learning</a:t>
            </a:r>
            <a:br>
              <a:rPr lang="en-GB" b="1" i="0" u="none" strike="noStrike" dirty="0">
                <a:solidFill>
                  <a:srgbClr val="404040"/>
                </a:solidFill>
                <a:effectLst/>
                <a:latin typeface="Inter" panose="02000503000000020004" pitchFamily="2" charset="0"/>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F8AB633E-5D1E-CDE3-8DD8-DBAB1D43B6A2}"/>
              </a:ext>
            </a:extLst>
          </p:cNvPr>
          <p:cNvSpPr txBox="1"/>
          <p:nvPr/>
        </p:nvSpPr>
        <p:spPr>
          <a:xfrm>
            <a:off x="407175" y="657850"/>
            <a:ext cx="7411720" cy="4247317"/>
          </a:xfrm>
          <a:prstGeom prst="rect">
            <a:avLst/>
          </a:prstGeom>
          <a:noFill/>
        </p:spPr>
        <p:txBody>
          <a:bodyPr wrap="square">
            <a:spAutoFit/>
          </a:bodyPr>
          <a:lstStyle/>
          <a:p>
            <a:pPr>
              <a:buNone/>
            </a:pPr>
            <a:r>
              <a:rPr lang="en-GB" sz="1800" b="1" dirty="0"/>
              <a:t>Emerging Areas in Deep Learning</a:t>
            </a:r>
          </a:p>
          <a:p>
            <a:pPr>
              <a:buNone/>
            </a:pPr>
            <a:endParaRPr lang="en-GB" sz="1800" b="1" dirty="0"/>
          </a:p>
          <a:p>
            <a:pPr marL="342900" indent="-342900">
              <a:buAutoNum type="arabicPeriod"/>
            </a:pPr>
            <a:r>
              <a:rPr lang="en-GB" sz="1800" b="1" dirty="0"/>
              <a:t>Neuromorphic Computing: Brain-Inspired Chips</a:t>
            </a:r>
          </a:p>
          <a:p>
            <a:endParaRPr lang="en-GB" sz="1800" b="1" dirty="0"/>
          </a:p>
          <a:p>
            <a:pPr marL="285750" indent="-285750">
              <a:buFont typeface="Wingdings" pitchFamily="2" charset="2"/>
              <a:buChar char="Ø"/>
            </a:pPr>
            <a:r>
              <a:rPr lang="en-GB" sz="1800" b="1" dirty="0"/>
              <a:t>What it is:</a:t>
            </a:r>
            <a:r>
              <a:rPr lang="en-GB" sz="1800" dirty="0"/>
              <a:t> A type of hardware designed to mimic the way the human brain processes information using neurons and synapses.</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Why it matters:</a:t>
            </a:r>
            <a:r>
              <a:rPr lang="en-GB" sz="1800" dirty="0"/>
              <a:t> Traditional CPUs and GPUs are power-hungry for deep learning tasks. </a:t>
            </a:r>
            <a:r>
              <a:rPr lang="en-GB" sz="1800" b="1" dirty="0"/>
              <a:t>Neuromorphic chips (like Intel’s </a:t>
            </a:r>
            <a:r>
              <a:rPr lang="en-GB" sz="1800" b="1" dirty="0" err="1"/>
              <a:t>Loihi</a:t>
            </a:r>
            <a:r>
              <a:rPr lang="en-GB" sz="1800" b="1" dirty="0"/>
              <a:t> or IBM’s </a:t>
            </a:r>
            <a:r>
              <a:rPr lang="en-GB" sz="1800" b="1" dirty="0" err="1"/>
              <a:t>TrueNorth</a:t>
            </a:r>
            <a:r>
              <a:rPr lang="en-GB" sz="1800" b="1" dirty="0"/>
              <a:t>) aim to provide faster and energy-efficient computation.</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Applications:</a:t>
            </a:r>
            <a:r>
              <a:rPr lang="en-GB" sz="1800" dirty="0"/>
              <a:t> Real-time robotics, edge AI, and low-power smart sensors.</a:t>
            </a:r>
          </a:p>
          <a:p>
            <a:pPr algn="l"/>
            <a:endParaRPr lang="en-GB" sz="1800" b="0" i="0" u="none" strike="noStrike" dirty="0">
              <a:solidFill>
                <a:srgbClr val="000000"/>
              </a:solidFill>
              <a:effectLst/>
            </a:endParaRPr>
          </a:p>
        </p:txBody>
      </p:sp>
    </p:spTree>
    <p:extLst>
      <p:ext uri="{BB962C8B-B14F-4D97-AF65-F5344CB8AC3E}">
        <p14:creationId xmlns:p14="http://schemas.microsoft.com/office/powerpoint/2010/main" val="255756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A30C0C6-67C1-E530-5183-9E1A2C49740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D7BD41E-7872-98A4-AA2C-5773B3A4E923}"/>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600" dirty="0">
                <a:solidFill>
                  <a:srgbClr val="7030A0"/>
                </a:solidFill>
                <a:latin typeface="Inter" panose="02000503000000020004" pitchFamily="2" charset="0"/>
              </a:rPr>
              <a:t>Future Trends-Emerging Areas in Deep Learning</a:t>
            </a:r>
            <a:br>
              <a:rPr lang="en-GB" sz="2600" dirty="0">
                <a:solidFill>
                  <a:srgbClr val="7030A0"/>
                </a:solidFill>
                <a:latin typeface="Inter" panose="02000503000000020004" pitchFamily="2" charset="0"/>
              </a:rPr>
            </a:br>
            <a:br>
              <a:rPr lang="en-GB" b="1" i="0" u="none" strike="noStrike" dirty="0">
                <a:solidFill>
                  <a:srgbClr val="404040"/>
                </a:solidFill>
                <a:effectLst/>
                <a:latin typeface="Inter" panose="02000503000000020004" pitchFamily="2" charset="0"/>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566ED0BC-9B9C-8E3A-9102-309EE8D1E5A7}"/>
              </a:ext>
            </a:extLst>
          </p:cNvPr>
          <p:cNvSpPr txBox="1"/>
          <p:nvPr/>
        </p:nvSpPr>
        <p:spPr>
          <a:xfrm>
            <a:off x="407175" y="657850"/>
            <a:ext cx="7411720" cy="3693319"/>
          </a:xfrm>
          <a:prstGeom prst="rect">
            <a:avLst/>
          </a:prstGeom>
          <a:noFill/>
        </p:spPr>
        <p:txBody>
          <a:bodyPr wrap="square">
            <a:spAutoFit/>
          </a:bodyPr>
          <a:lstStyle/>
          <a:p>
            <a:pPr>
              <a:buNone/>
            </a:pPr>
            <a:endParaRPr lang="en-GB" sz="1800" b="1" dirty="0"/>
          </a:p>
          <a:p>
            <a:pPr>
              <a:buNone/>
            </a:pPr>
            <a:r>
              <a:rPr lang="en-GB" sz="1800" b="1" dirty="0"/>
              <a:t>2. Federated Learning: Privacy-Preserving Training</a:t>
            </a:r>
          </a:p>
          <a:p>
            <a:pPr>
              <a:buNone/>
            </a:pPr>
            <a:endParaRPr lang="en-GB" sz="1800" b="1" dirty="0"/>
          </a:p>
          <a:p>
            <a:pPr marL="285750" indent="-285750">
              <a:buFont typeface="Wingdings" pitchFamily="2" charset="2"/>
              <a:buChar char="Ø"/>
            </a:pPr>
            <a:r>
              <a:rPr lang="en-GB" sz="1800" b="1" dirty="0"/>
              <a:t>What it is:</a:t>
            </a:r>
            <a:r>
              <a:rPr lang="en-GB" sz="1800" dirty="0"/>
              <a:t> A decentralized machine learning method where the model is trained </a:t>
            </a:r>
            <a:r>
              <a:rPr lang="en-GB" sz="1800" b="1" dirty="0"/>
              <a:t>across multiple devices or servers</a:t>
            </a:r>
            <a:r>
              <a:rPr lang="en-GB" sz="1800" dirty="0"/>
              <a:t> without transferring raw data.</a:t>
            </a:r>
          </a:p>
          <a:p>
            <a:pPr marL="285750" indent="-285750">
              <a:buFont typeface="Wingdings" pitchFamily="2" charset="2"/>
              <a:buChar char="Ø"/>
            </a:pPr>
            <a:r>
              <a:rPr lang="en-GB" sz="1800" b="1" dirty="0"/>
              <a:t>Why it matters:</a:t>
            </a:r>
            <a:r>
              <a:rPr lang="en-GB" sz="1800" dirty="0"/>
              <a:t> Protects user privacy by keeping data </a:t>
            </a:r>
            <a:r>
              <a:rPr lang="en-GB" sz="1800" b="1" dirty="0"/>
              <a:t>on-device</a:t>
            </a:r>
            <a:r>
              <a:rPr lang="en-GB" sz="1800" dirty="0"/>
              <a:t> (e.g., smartphones).</a:t>
            </a:r>
          </a:p>
          <a:p>
            <a:pPr marL="285750" indent="-285750">
              <a:buFont typeface="Wingdings" pitchFamily="2" charset="2"/>
              <a:buChar char="Ø"/>
            </a:pPr>
            <a:r>
              <a:rPr lang="en-GB" sz="1800" b="1" dirty="0"/>
              <a:t>Example:</a:t>
            </a:r>
            <a:r>
              <a:rPr lang="en-GB" sz="1800" dirty="0"/>
              <a:t> Google's </a:t>
            </a:r>
            <a:r>
              <a:rPr lang="en-GB" sz="1800" dirty="0" err="1"/>
              <a:t>Gboard</a:t>
            </a:r>
            <a:r>
              <a:rPr lang="en-GB" sz="1800" dirty="0"/>
              <a:t> uses federated learning to improve typing suggestions without accessing your personal messages.</a:t>
            </a:r>
          </a:p>
          <a:p>
            <a:pPr marL="285750" indent="-285750">
              <a:buFont typeface="Wingdings" pitchFamily="2" charset="2"/>
              <a:buChar char="Ø"/>
            </a:pPr>
            <a:r>
              <a:rPr lang="en-GB" sz="1800" b="1" dirty="0"/>
              <a:t>Benefit:</a:t>
            </a:r>
            <a:r>
              <a:rPr lang="en-GB" sz="1800" dirty="0"/>
              <a:t> Complies with data privacy laws (e.g., GDPR) and ensures </a:t>
            </a:r>
            <a:r>
              <a:rPr lang="en-GB" sz="1800" b="1" dirty="0"/>
              <a:t>data security</a:t>
            </a:r>
            <a:r>
              <a:rPr lang="en-GB" sz="1800" dirty="0"/>
              <a:t>.</a:t>
            </a:r>
          </a:p>
          <a:p>
            <a:pPr algn="l"/>
            <a:endParaRPr lang="en-GB" sz="1800" b="0" i="0" u="none" strike="noStrike" dirty="0">
              <a:solidFill>
                <a:srgbClr val="000000"/>
              </a:solidFill>
              <a:effectLst/>
            </a:endParaRPr>
          </a:p>
        </p:txBody>
      </p:sp>
    </p:spTree>
    <p:extLst>
      <p:ext uri="{BB962C8B-B14F-4D97-AF65-F5344CB8AC3E}">
        <p14:creationId xmlns:p14="http://schemas.microsoft.com/office/powerpoint/2010/main" val="4057821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76C89E1-6563-AF6F-1B71-9437FDB62F7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DC48BFA-5D00-9A04-D18F-D7EE2A1806A2}"/>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600" dirty="0">
                <a:solidFill>
                  <a:srgbClr val="7030A0"/>
                </a:solidFill>
                <a:latin typeface="Inter" panose="02000503000000020004" pitchFamily="2" charset="0"/>
              </a:rPr>
              <a:t>Future Trends-Emerging Areas in Deep Learning</a:t>
            </a:r>
            <a:br>
              <a:rPr lang="en-GB" sz="2600" dirty="0">
                <a:solidFill>
                  <a:srgbClr val="7030A0"/>
                </a:solidFill>
                <a:latin typeface="Inter" panose="02000503000000020004" pitchFamily="2" charset="0"/>
              </a:rPr>
            </a:br>
            <a:br>
              <a:rPr lang="en-GB" b="1" i="0" u="none" strike="noStrike" dirty="0">
                <a:solidFill>
                  <a:srgbClr val="404040"/>
                </a:solidFill>
                <a:effectLst/>
                <a:latin typeface="Inter" panose="02000503000000020004" pitchFamily="2" charset="0"/>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00351CB7-CDD1-4B68-FD29-B7317D41076D}"/>
              </a:ext>
            </a:extLst>
          </p:cNvPr>
          <p:cNvSpPr txBox="1"/>
          <p:nvPr/>
        </p:nvSpPr>
        <p:spPr>
          <a:xfrm>
            <a:off x="407175" y="657850"/>
            <a:ext cx="7411720" cy="4247317"/>
          </a:xfrm>
          <a:prstGeom prst="rect">
            <a:avLst/>
          </a:prstGeom>
          <a:noFill/>
        </p:spPr>
        <p:txBody>
          <a:bodyPr wrap="square">
            <a:spAutoFit/>
          </a:bodyPr>
          <a:lstStyle/>
          <a:p>
            <a:pPr>
              <a:buNone/>
            </a:pPr>
            <a:endParaRPr lang="en-GB" sz="1800" b="1" dirty="0"/>
          </a:p>
          <a:p>
            <a:pPr>
              <a:buNone/>
            </a:pPr>
            <a:r>
              <a:rPr lang="en-GB" sz="1800" b="1" dirty="0"/>
              <a:t>3. Quantum Machine Learning (QML): Hybrid Quantum-Classical Models</a:t>
            </a:r>
          </a:p>
          <a:p>
            <a:pPr>
              <a:buNone/>
            </a:pPr>
            <a:endParaRPr lang="en-GB" sz="1800" b="1" dirty="0"/>
          </a:p>
          <a:p>
            <a:pPr marL="285750" indent="-285750">
              <a:buFont typeface="Wingdings" pitchFamily="2" charset="2"/>
              <a:buChar char="Ø"/>
            </a:pPr>
            <a:r>
              <a:rPr lang="en-GB" sz="1800" b="1" dirty="0"/>
              <a:t>What it is:</a:t>
            </a:r>
            <a:r>
              <a:rPr lang="en-GB" sz="1800" dirty="0"/>
              <a:t> Combines </a:t>
            </a:r>
            <a:r>
              <a:rPr lang="en-GB" sz="1800" b="1" dirty="0"/>
              <a:t>quantum computing</a:t>
            </a:r>
            <a:r>
              <a:rPr lang="en-GB" sz="1800" dirty="0"/>
              <a:t> with machine learning to process and learn from data using the principles of quantum mechanics.</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Why it matters:</a:t>
            </a:r>
            <a:r>
              <a:rPr lang="en-GB" sz="1800" dirty="0"/>
              <a:t> Quantum computers can solve certain problems much faster than classical computers, especially for optimization or high-dimensional data.</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Still experimental:</a:t>
            </a:r>
            <a:r>
              <a:rPr lang="en-GB" sz="1800" dirty="0"/>
              <a:t> But promising for future breakthroughs in areas like drug discovery and cryptography.</a:t>
            </a:r>
          </a:p>
          <a:p>
            <a:pPr algn="l"/>
            <a:endParaRPr lang="en-GB" sz="1800" b="0" i="0" u="none" strike="noStrike" dirty="0">
              <a:solidFill>
                <a:srgbClr val="000000"/>
              </a:solidFill>
              <a:effectLst/>
            </a:endParaRPr>
          </a:p>
        </p:txBody>
      </p:sp>
    </p:spTree>
    <p:extLst>
      <p:ext uri="{BB962C8B-B14F-4D97-AF65-F5344CB8AC3E}">
        <p14:creationId xmlns:p14="http://schemas.microsoft.com/office/powerpoint/2010/main" val="1255891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B2C0FEC-7E35-B386-E56A-D1F1DA7A911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9A26DB3-7F16-B909-5955-DF36A008B627}"/>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Research Frontiers in Deep Learning</a:t>
            </a:r>
            <a:br>
              <a:rPr lang="en-GB" sz="2800" b="1" dirty="0"/>
            </a:br>
            <a:br>
              <a:rPr lang="en-GB" sz="2600" dirty="0">
                <a:solidFill>
                  <a:srgbClr val="7030A0"/>
                </a:solidFill>
                <a:latin typeface="Inter" panose="02000503000000020004" pitchFamily="2" charset="0"/>
              </a:rPr>
            </a:br>
            <a:br>
              <a:rPr lang="en-GB" b="1" i="0" u="none" strike="noStrike" dirty="0">
                <a:solidFill>
                  <a:srgbClr val="404040"/>
                </a:solidFill>
                <a:effectLst/>
                <a:latin typeface="Inter" panose="02000503000000020004" pitchFamily="2" charset="0"/>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047F8C3D-032D-DA5B-D5AB-0EC217F47315}"/>
              </a:ext>
            </a:extLst>
          </p:cNvPr>
          <p:cNvSpPr txBox="1"/>
          <p:nvPr/>
        </p:nvSpPr>
        <p:spPr>
          <a:xfrm>
            <a:off x="407175" y="657850"/>
            <a:ext cx="7411720" cy="4031873"/>
          </a:xfrm>
          <a:prstGeom prst="rect">
            <a:avLst/>
          </a:prstGeom>
          <a:noFill/>
        </p:spPr>
        <p:txBody>
          <a:bodyPr wrap="square">
            <a:spAutoFit/>
          </a:bodyPr>
          <a:lstStyle/>
          <a:p>
            <a:pPr>
              <a:buNone/>
            </a:pPr>
            <a:r>
              <a:rPr lang="en-GB" sz="1600" b="1" dirty="0"/>
              <a:t>1. Self-Supervised Learning</a:t>
            </a:r>
          </a:p>
          <a:p>
            <a:pPr marL="285750" indent="-285750">
              <a:buFont typeface="Wingdings" pitchFamily="2" charset="2"/>
              <a:buChar char="Ø"/>
            </a:pPr>
            <a:r>
              <a:rPr lang="en-GB" sz="1600" b="1" dirty="0"/>
              <a:t>What it is:</a:t>
            </a:r>
            <a:r>
              <a:rPr lang="en-GB" sz="1600" dirty="0"/>
              <a:t> A training approach where models learn from </a:t>
            </a:r>
            <a:r>
              <a:rPr lang="en-GB" sz="1600" b="1" dirty="0" err="1"/>
              <a:t>unlabeled</a:t>
            </a:r>
            <a:r>
              <a:rPr lang="en-GB" sz="1600" b="1" dirty="0"/>
              <a:t> data</a:t>
            </a:r>
            <a:r>
              <a:rPr lang="en-GB" sz="1600" dirty="0"/>
              <a:t> by generating pseudo-labels.</a:t>
            </a:r>
          </a:p>
          <a:p>
            <a:pPr marL="285750" indent="-285750">
              <a:buFont typeface="Wingdings" pitchFamily="2" charset="2"/>
              <a:buChar char="Ø"/>
            </a:pPr>
            <a:r>
              <a:rPr lang="en-GB" sz="1600" b="1" dirty="0"/>
              <a:t>Why it matters:</a:t>
            </a:r>
            <a:r>
              <a:rPr lang="en-GB" sz="1600" dirty="0"/>
              <a:t> Reduces the need for costly manual data </a:t>
            </a:r>
            <a:r>
              <a:rPr lang="en-GB" sz="1600" dirty="0" err="1"/>
              <a:t>labeling</a:t>
            </a:r>
            <a:r>
              <a:rPr lang="en-GB" sz="1600" dirty="0"/>
              <a:t> and is ideal for large-scale learning.</a:t>
            </a:r>
          </a:p>
          <a:p>
            <a:pPr marL="285750" indent="-285750">
              <a:buFont typeface="Wingdings" pitchFamily="2" charset="2"/>
              <a:buChar char="Ø"/>
            </a:pPr>
            <a:r>
              <a:rPr lang="en-GB" sz="1600" b="1" dirty="0"/>
              <a:t>Example:</a:t>
            </a:r>
            <a:r>
              <a:rPr lang="en-GB" sz="1600" dirty="0"/>
              <a:t> Contrastive learning in vision (e.g., </a:t>
            </a:r>
            <a:r>
              <a:rPr lang="en-GB" sz="1600" dirty="0" err="1"/>
              <a:t>SimCLR</a:t>
            </a:r>
            <a:r>
              <a:rPr lang="en-GB" sz="1600" dirty="0"/>
              <a:t>, BYOL) or language models like BERT.</a:t>
            </a:r>
          </a:p>
          <a:p>
            <a:pPr>
              <a:buFont typeface="Arial" panose="020B0604020202020204" pitchFamily="34" charset="0"/>
              <a:buChar char="•"/>
            </a:pPr>
            <a:endParaRPr lang="en-GB" sz="1600" dirty="0"/>
          </a:p>
          <a:p>
            <a:pPr>
              <a:buFont typeface="Arial" panose="020B0604020202020204" pitchFamily="34" charset="0"/>
              <a:buChar char="•"/>
            </a:pPr>
            <a:endParaRPr lang="en-GB" sz="1600" dirty="0"/>
          </a:p>
          <a:p>
            <a:pPr>
              <a:buNone/>
            </a:pPr>
            <a:r>
              <a:rPr lang="en-GB" sz="1600" b="1" dirty="0"/>
              <a:t>2. Energy-Efficient Models</a:t>
            </a:r>
          </a:p>
          <a:p>
            <a:pPr marL="285750" indent="-285750">
              <a:buFont typeface="Wingdings" pitchFamily="2" charset="2"/>
              <a:buChar char="Ø"/>
            </a:pPr>
            <a:r>
              <a:rPr lang="en-GB" sz="1600" b="1" dirty="0"/>
              <a:t>What it is:</a:t>
            </a:r>
            <a:r>
              <a:rPr lang="en-GB" sz="1600" dirty="0"/>
              <a:t> Focus on reducing </a:t>
            </a:r>
            <a:r>
              <a:rPr lang="en-GB" sz="1600" b="1" dirty="0"/>
              <a:t>computation and power consumption</a:t>
            </a:r>
            <a:r>
              <a:rPr lang="en-GB" sz="1600" dirty="0"/>
              <a:t> of deep learning models without sacrificing accuracy.</a:t>
            </a:r>
          </a:p>
          <a:p>
            <a:pPr marL="285750" indent="-285750">
              <a:buFont typeface="Wingdings" pitchFamily="2" charset="2"/>
              <a:buChar char="Ø"/>
            </a:pPr>
            <a:r>
              <a:rPr lang="en-GB" sz="1600" b="1" dirty="0"/>
              <a:t>Techniques:</a:t>
            </a:r>
            <a:r>
              <a:rPr lang="en-GB" sz="1600" dirty="0"/>
              <a:t> Model pruning, quantization, knowledge distillation.</a:t>
            </a:r>
          </a:p>
          <a:p>
            <a:pPr marL="285750" indent="-285750">
              <a:buFont typeface="Wingdings" pitchFamily="2" charset="2"/>
              <a:buChar char="Ø"/>
            </a:pPr>
            <a:r>
              <a:rPr lang="en-GB" sz="1600" b="1" dirty="0"/>
              <a:t>Why it's critical:</a:t>
            </a:r>
            <a:r>
              <a:rPr lang="en-GB" sz="1600" dirty="0"/>
              <a:t> Supports sustainable AI and enables deployment on edge devices (e.g., mobile phones, IoT sensors).</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3966709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6D995DF-78CA-6312-4035-94221AC4146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CCC9AF3-106D-C265-8D27-638426FBA34B}"/>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Research Frontiers in Deep Learning</a:t>
            </a:r>
            <a:br>
              <a:rPr lang="en-GB" sz="2800" b="1" dirty="0"/>
            </a:br>
            <a:br>
              <a:rPr lang="en-GB" sz="2600" dirty="0">
                <a:solidFill>
                  <a:srgbClr val="7030A0"/>
                </a:solidFill>
                <a:latin typeface="Inter" panose="02000503000000020004" pitchFamily="2" charset="0"/>
              </a:rPr>
            </a:br>
            <a:br>
              <a:rPr lang="en-GB" b="1" i="0" u="none" strike="noStrike" dirty="0">
                <a:solidFill>
                  <a:srgbClr val="404040"/>
                </a:solidFill>
                <a:effectLst/>
                <a:latin typeface="Inter" panose="02000503000000020004" pitchFamily="2" charset="0"/>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CA9E5944-C703-26DA-BBBA-C8EB80B51AC5}"/>
              </a:ext>
            </a:extLst>
          </p:cNvPr>
          <p:cNvSpPr txBox="1"/>
          <p:nvPr/>
        </p:nvSpPr>
        <p:spPr>
          <a:xfrm>
            <a:off x="407175" y="657850"/>
            <a:ext cx="7411720" cy="3139321"/>
          </a:xfrm>
          <a:prstGeom prst="rect">
            <a:avLst/>
          </a:prstGeom>
          <a:noFill/>
        </p:spPr>
        <p:txBody>
          <a:bodyPr wrap="square">
            <a:spAutoFit/>
          </a:bodyPr>
          <a:lstStyle/>
          <a:p>
            <a:pPr>
              <a:buNone/>
            </a:pPr>
            <a:r>
              <a:rPr lang="en-GB" sz="1800" b="1" dirty="0"/>
              <a:t>3. Multimodal AI (Text + Image + Audio)</a:t>
            </a:r>
          </a:p>
          <a:p>
            <a:pPr>
              <a:buNone/>
            </a:pPr>
            <a:endParaRPr lang="en-GB" sz="1800" b="1" dirty="0"/>
          </a:p>
          <a:p>
            <a:pPr marL="285750" indent="-285750">
              <a:buFont typeface="Wingdings" pitchFamily="2" charset="2"/>
              <a:buChar char="Ø"/>
            </a:pPr>
            <a:r>
              <a:rPr lang="en-GB" sz="1800" b="1" dirty="0"/>
              <a:t>What it is:</a:t>
            </a:r>
            <a:r>
              <a:rPr lang="en-GB" sz="1800" dirty="0"/>
              <a:t> AI systems that can understand and generate content from </a:t>
            </a:r>
            <a:r>
              <a:rPr lang="en-GB" sz="1800" b="1" dirty="0"/>
              <a:t>multiple data types</a:t>
            </a:r>
            <a:r>
              <a:rPr lang="en-GB" sz="1800" dirty="0"/>
              <a:t> simultaneously.</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Example:</a:t>
            </a:r>
            <a:r>
              <a:rPr lang="en-GB" sz="1800" dirty="0"/>
              <a:t> OpenAI’s GPT-4 (can process both text and images), DALL·E, CLIP, and Google DeepMind’s Flamingo.</a:t>
            </a:r>
          </a:p>
          <a:p>
            <a:pPr marL="285750" indent="-285750">
              <a:buFont typeface="Wingdings" pitchFamily="2" charset="2"/>
              <a:buChar char="Ø"/>
            </a:pPr>
            <a:endParaRPr lang="en-GB" sz="1800" dirty="0"/>
          </a:p>
          <a:p>
            <a:pPr marL="285750" indent="-285750">
              <a:buFont typeface="Wingdings" pitchFamily="2" charset="2"/>
              <a:buChar char="Ø"/>
            </a:pPr>
            <a:r>
              <a:rPr lang="en-GB" sz="1800" b="1" dirty="0"/>
              <a:t>Real-World Use:</a:t>
            </a:r>
            <a:r>
              <a:rPr lang="en-GB" sz="1800" dirty="0"/>
              <a:t> Medical diagnostics (X-rays + doctor notes), social media analysis, interactive assistants.</a:t>
            </a:r>
          </a:p>
          <a:p>
            <a:pPr algn="l"/>
            <a:endParaRPr lang="en-GB" sz="1800" b="0" i="0" u="none" strike="noStrike" dirty="0">
              <a:solidFill>
                <a:srgbClr val="000000"/>
              </a:solidFill>
              <a:effectLst/>
            </a:endParaRPr>
          </a:p>
        </p:txBody>
      </p:sp>
    </p:spTree>
    <p:extLst>
      <p:ext uri="{BB962C8B-B14F-4D97-AF65-F5344CB8AC3E}">
        <p14:creationId xmlns:p14="http://schemas.microsoft.com/office/powerpoint/2010/main" val="2703758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Summary</a:t>
            </a:r>
            <a:br>
              <a:rPr lang="en-GB" sz="3200" dirty="0"/>
            </a:br>
            <a:endParaRPr lang="en-GB" sz="3200" dirty="0"/>
          </a:p>
        </p:txBody>
      </p:sp>
      <p:pic>
        <p:nvPicPr>
          <p:cNvPr id="5" name="Picture 4" descr="A clipboard with a white paper on it&#10;&#10;AI-generated content may be incorrect.">
            <a:extLst>
              <a:ext uri="{FF2B5EF4-FFF2-40B4-BE49-F238E27FC236}">
                <a16:creationId xmlns:a16="http://schemas.microsoft.com/office/drawing/2014/main" id="{0E18C5E0-932B-64BB-27C8-0FA8681076C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586984" y="907707"/>
            <a:ext cx="2589784" cy="2330806"/>
          </a:xfrm>
          <a:prstGeom prst="rect">
            <a:avLst/>
          </a:prstGeom>
        </p:spPr>
      </p:pic>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2632003"/>
          </a:xfrm>
          <a:prstGeom prst="rect">
            <a:avLst/>
          </a:prstGeom>
          <a:noFill/>
        </p:spPr>
        <p:txBody>
          <a:bodyPr wrap="square">
            <a:spAutoFit/>
          </a:bodyPr>
          <a:lstStyle/>
          <a:p>
            <a:pPr marL="285750" indent="-285750">
              <a:lnSpc>
                <a:spcPct val="150000"/>
              </a:lnSpc>
              <a:buFont typeface="Wingdings" pitchFamily="2" charset="2"/>
              <a:buChar char="Ø"/>
            </a:pPr>
            <a:r>
              <a:rPr lang="en-GB" sz="1600" dirty="0"/>
              <a:t>Deep Learning is data-hungry but powerful.</a:t>
            </a:r>
          </a:p>
          <a:p>
            <a:pPr marL="285750" indent="-285750">
              <a:lnSpc>
                <a:spcPct val="150000"/>
              </a:lnSpc>
              <a:buFont typeface="Wingdings" pitchFamily="2" charset="2"/>
              <a:buChar char="Ø"/>
            </a:pPr>
            <a:r>
              <a:rPr lang="en-GB" sz="1600" dirty="0"/>
              <a:t>It automates feature extraction.</a:t>
            </a:r>
          </a:p>
          <a:p>
            <a:pPr marL="285750" indent="-285750">
              <a:lnSpc>
                <a:spcPct val="150000"/>
              </a:lnSpc>
              <a:buFont typeface="Wingdings" pitchFamily="2" charset="2"/>
              <a:buChar char="Ø"/>
            </a:pPr>
            <a:r>
              <a:rPr lang="en-GB" sz="1600" dirty="0"/>
              <a:t>Requires high-performance computing resources.</a:t>
            </a:r>
          </a:p>
          <a:p>
            <a:pPr marL="285750" indent="-285750">
              <a:lnSpc>
                <a:spcPct val="150000"/>
              </a:lnSpc>
              <a:buFont typeface="Wingdings" pitchFamily="2" charset="2"/>
              <a:buChar char="Ø"/>
            </a:pPr>
            <a:r>
              <a:rPr lang="en-GB" sz="1600" dirty="0"/>
              <a:t>It's already transforming various industries.</a:t>
            </a:r>
          </a:p>
          <a:p>
            <a:pPr marL="285750" indent="-285750">
              <a:lnSpc>
                <a:spcPct val="150000"/>
              </a:lnSpc>
              <a:buFont typeface="Wingdings" pitchFamily="2" charset="2"/>
              <a:buChar char="Ø"/>
            </a:pPr>
            <a:r>
              <a:rPr lang="en-GB" sz="1600" dirty="0"/>
              <a:t>Learning DL involves both theory (math, optimization) and practice (coding models).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5408997" cy="3631763"/>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algn="l"/>
            <a:r>
              <a:rPr lang="en-GB" sz="2000" b="1" i="0" u="none" strike="noStrike" dirty="0">
                <a:solidFill>
                  <a:srgbClr val="404040"/>
                </a:solidFill>
                <a:effectLst/>
                <a:latin typeface="Inter" panose="02000503000000020004" pitchFamily="2" charset="0"/>
              </a:rPr>
              <a:t>Courses</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hlinkClick r:id="rId4"/>
              </a:rPr>
              <a:t>Deep Learning Specialization (Andrew Ng, Coursera)</a:t>
            </a:r>
            <a:endParaRPr lang="en-GB" sz="2000" b="0" i="0" u="none" strike="noStrike" dirty="0">
              <a:solidFill>
                <a:srgbClr val="404040"/>
              </a:solidFill>
              <a:effectLst/>
              <a:latin typeface="Inter" panose="02000503000000020004" pitchFamily="2" charset="0"/>
            </a:endParaRP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5"/>
              </a:rPr>
              <a:t>Fast.ai Practical Deep Learning</a:t>
            </a:r>
            <a:endParaRPr lang="en-GB" sz="2000" b="0" i="0" u="none" strike="noStrike" dirty="0">
              <a:solidFill>
                <a:srgbClr val="404040"/>
              </a:solidFill>
              <a:effectLst/>
              <a:latin typeface="Inter" panose="02000503000000020004" pitchFamily="2" charset="0"/>
            </a:endParaRPr>
          </a:p>
          <a:p>
            <a:pPr algn="l"/>
            <a:r>
              <a:rPr lang="en-GB" sz="2000" b="1" i="0" u="none" strike="noStrike" dirty="0">
                <a:solidFill>
                  <a:srgbClr val="404040"/>
                </a:solidFill>
                <a:effectLst/>
                <a:latin typeface="Inter" panose="02000503000000020004" pitchFamily="2" charset="0"/>
              </a:rPr>
              <a:t>Datasets for Practice</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MNIST (Handwritten digits)</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CIFAR-10 (Image classification)</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IMDB Reviews (Sentiment analysis)</a:t>
            </a:r>
          </a:p>
        </p:txBody>
      </p:sp>
    </p:spTree>
    <p:extLst>
      <p:ext uri="{BB962C8B-B14F-4D97-AF65-F5344CB8AC3E}">
        <p14:creationId xmlns:p14="http://schemas.microsoft.com/office/powerpoint/2010/main" val="374039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3431</TotalTime>
  <Words>2028</Words>
  <Application>Microsoft Macintosh PowerPoint</Application>
  <PresentationFormat>On-screen Show (16:9)</PresentationFormat>
  <Paragraphs>241</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IBM Plex Sans Arabic Medium</vt:lpstr>
      <vt:lpstr>Tajawal</vt:lpstr>
      <vt:lpstr>Inter</vt:lpstr>
      <vt:lpstr>Calibri</vt:lpstr>
      <vt:lpstr>IBM Plex Sans Arabic</vt:lpstr>
      <vt:lpstr>Roboto</vt:lpstr>
      <vt:lpstr>IBM Plex Sans Arabic SemiBold</vt:lpstr>
      <vt:lpstr>Wingdings</vt:lpstr>
      <vt:lpstr>Arial</vt:lpstr>
      <vt:lpstr>Simple Light</vt:lpstr>
      <vt:lpstr>أكـــــاديميــــة طــــويـــق</vt:lpstr>
      <vt:lpstr>Fundamentals of Deep Learning   </vt:lpstr>
      <vt:lpstr>PowerPoint Presentation</vt:lpstr>
      <vt:lpstr>Introduction to Deep Learning   </vt:lpstr>
      <vt:lpstr>Introduction to Deep Learning   </vt:lpstr>
      <vt:lpstr>Introduction to Deep Learning   </vt:lpstr>
      <vt:lpstr>Difference Between Machine Learning and Deep Learning </vt:lpstr>
      <vt:lpstr>Core Concepts in Deep Learning </vt:lpstr>
      <vt:lpstr>Core Concepts in Deep Learning </vt:lpstr>
      <vt:lpstr>Core Concepts in Deep Learning </vt:lpstr>
      <vt:lpstr>Common Architectures  </vt:lpstr>
      <vt:lpstr>Application of Deep Learning   </vt:lpstr>
      <vt:lpstr>Application of Deep Learning   </vt:lpstr>
      <vt:lpstr>Application of Deep Learning   </vt:lpstr>
      <vt:lpstr>Application of Deep Learning   </vt:lpstr>
      <vt:lpstr>Application of Deep Learning   </vt:lpstr>
      <vt:lpstr>Technical Challenges    </vt:lpstr>
      <vt:lpstr>Future Trends-Emerging Areas in Deep Learning     </vt:lpstr>
      <vt:lpstr>Future Trends-Emerging Areas in Deep Learning      </vt:lpstr>
      <vt:lpstr>Future Trends-Emerging Areas in Deep Learning      </vt:lpstr>
      <vt:lpstr>Research Frontiers in Deep Learning       </vt:lpstr>
      <vt:lpstr>Research Frontiers in Deep Learning       </vt:lpstr>
      <vt:lpstr>Summary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24</cp:revision>
  <dcterms:modified xsi:type="dcterms:W3CDTF">2025-04-05T14:12:55Z</dcterms:modified>
</cp:coreProperties>
</file>