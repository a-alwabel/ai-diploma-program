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1"/>
  </p:notesMasterIdLst>
  <p:sldIdLst>
    <p:sldId id="256" r:id="rId2"/>
    <p:sldId id="257" r:id="rId3"/>
    <p:sldId id="258" r:id="rId4"/>
    <p:sldId id="298" r:id="rId5"/>
    <p:sldId id="313" r:id="rId6"/>
    <p:sldId id="314" r:id="rId7"/>
    <p:sldId id="315" r:id="rId8"/>
    <p:sldId id="316" r:id="rId9"/>
    <p:sldId id="317" r:id="rId10"/>
    <p:sldId id="323" r:id="rId11"/>
    <p:sldId id="324" r:id="rId12"/>
    <p:sldId id="325" r:id="rId13"/>
    <p:sldId id="326" r:id="rId14"/>
    <p:sldId id="327" r:id="rId15"/>
    <p:sldId id="328" r:id="rId16"/>
    <p:sldId id="329" r:id="rId17"/>
    <p:sldId id="330" r:id="rId18"/>
    <p:sldId id="331" r:id="rId19"/>
    <p:sldId id="332" r:id="rId20"/>
    <p:sldId id="333" r:id="rId21"/>
    <p:sldId id="335" r:id="rId22"/>
    <p:sldId id="334" r:id="rId23"/>
    <p:sldId id="336" r:id="rId24"/>
    <p:sldId id="338" r:id="rId25"/>
    <p:sldId id="339" r:id="rId26"/>
    <p:sldId id="262" r:id="rId27"/>
    <p:sldId id="312" r:id="rId28"/>
    <p:sldId id="275" r:id="rId29"/>
    <p:sldId id="276" r:id="rId30"/>
  </p:sldIdLst>
  <p:sldSz cx="9144000" cy="5143500" type="screen16x9"/>
  <p:notesSz cx="6858000" cy="9144000"/>
  <p:embeddedFontLst>
    <p:embeddedFont>
      <p:font typeface="IBM Plex Sans Arabic" panose="020B0603050203000203" pitchFamily="34" charset="-78"/>
      <p:regular r:id="rId32"/>
      <p:bold r:id="rId33"/>
    </p:embeddedFont>
    <p:embeddedFont>
      <p:font typeface="IBM Plex Sans Arabic Medium" panose="020B0603050203000203" pitchFamily="34" charset="-78"/>
      <p:regular r:id="rId34"/>
      <p:bold r:id="rId35"/>
    </p:embeddedFont>
    <p:embeddedFont>
      <p:font typeface="IBM Plex Sans Arabic SemiBold" panose="020B0603050203000203" pitchFamily="34" charset="-78"/>
      <p:regular r:id="rId36"/>
      <p:bold r:id="rId37"/>
    </p:embeddedFont>
    <p:embeddedFont>
      <p:font typeface="Inter" panose="020F0502020204030204" pitchFamily="34" charset="0"/>
      <p:regular r:id="rId38"/>
      <p:bold r:id="rId39"/>
      <p:italic r:id="rId40"/>
      <p:boldItalic r:id="rId41"/>
    </p:embeddedFont>
    <p:embeddedFont>
      <p:font typeface="Nunito" pitchFamily="2" charset="77"/>
      <p:regular r:id="rId42"/>
      <p:bold r:id="rId43"/>
      <p:italic r:id="rId44"/>
      <p:boldItalic r:id="rId45"/>
    </p:embeddedFont>
    <p:embeddedFont>
      <p:font typeface="Tajawal" pitchFamily="2" charset="-78"/>
      <p:regular r:id="rId46"/>
      <p:bold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24">
          <p15:clr>
            <a:srgbClr val="747775"/>
          </p15:clr>
        </p15:guide>
        <p15:guide id="2" orient="horz" pos="2560">
          <p15:clr>
            <a:srgbClr val="747775"/>
          </p15:clr>
        </p15:guide>
        <p15:guide id="3" pos="2880">
          <p15:clr>
            <a:srgbClr val="747775"/>
          </p15:clr>
        </p15:guide>
        <p15:guide id="4" orient="horz" pos="759">
          <p15:clr>
            <a:srgbClr val="747775"/>
          </p15:clr>
        </p15:guide>
        <p15:guide id="5" orient="horz" pos="2428">
          <p15:clr>
            <a:srgbClr val="747775"/>
          </p15:clr>
        </p15:guide>
        <p15:guide id="6" pos="5325">
          <p15:clr>
            <a:srgbClr val="747775"/>
          </p15:clr>
        </p15:guide>
        <p15:guide id="7" orient="horz" pos="96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gKcFO/Xev719AjEfE5iQO6xfjKK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41E1F5B-7058-4A9B-AF8C-0847D0C7EE07}">
  <a:tblStyle styleId="{541E1F5B-7058-4A9B-AF8C-0847D0C7EE07}" styleName="Table_0">
    <a:wholeTbl>
      <a:tcTxStyle b="off"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206"/>
    <p:restoredTop sz="94668"/>
  </p:normalViewPr>
  <p:slideViewPr>
    <p:cSldViewPr snapToGrid="0">
      <p:cViewPr varScale="1">
        <p:scale>
          <a:sx n="144" d="100"/>
          <a:sy n="144" d="100"/>
        </p:scale>
        <p:origin x="144" y="600"/>
      </p:cViewPr>
      <p:guideLst>
        <p:guide orient="horz" pos="524"/>
        <p:guide orient="horz" pos="2560"/>
        <p:guide pos="2880"/>
        <p:guide orient="horz" pos="759"/>
        <p:guide orient="horz" pos="2428"/>
        <p:guide pos="5325"/>
        <p:guide orient="horz" pos="9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font" Target="fonts/font11.fntdata"/><Relationship Id="rId47" Type="http://schemas.openxmlformats.org/officeDocument/2006/relationships/font" Target="fonts/font16.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font" Target="fonts/font14.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font" Target="fonts/font12.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font" Target="fonts/font15.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 name="Google Shape;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 name="Google Shape;4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1CE20816-1F24-46D9-89DD-6FFEE700F241}"/>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07CD495B-FC5A-F226-2523-6E0861CBC80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6B7203EE-8E11-9321-099D-0620FB1838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98175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F952F22A-B522-3F7F-EB7F-9FA66A6CBF33}"/>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3AB2B379-32B8-A8BF-C5B5-FEED64C71A0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0968CF6E-7557-32C7-5F5B-890A408C4D3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886247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9F7F05E1-AD3D-8D31-9318-164D5046E943}"/>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9BAC08A2-768E-5EC5-6BAA-B89FE6E0951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A094B54C-B45B-DB09-7C17-4475342A313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765899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56D49381-67C0-C07B-203A-A470AC9AA1B4}"/>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5169901A-C176-27A7-35F4-E0C74757DC5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F8414AF8-D49A-730B-2ADA-FBFE3855782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992202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7E11E588-D7E6-6879-798A-FAE82EA02696}"/>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1C2DE4EE-38AF-4322-8E6C-85ADFF36F5A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DB54A639-48E7-D468-01CB-6732170C813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872707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466B9E4F-F76F-46E5-2B8C-D043181D21BA}"/>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1F19155B-45C2-E976-8CE6-32500FD6BD2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CACB811A-ABE7-4FF0-A4D2-A651F7E79C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775557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AA47F6CF-06E6-554C-E866-EA827CBDAA31}"/>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D64647A5-0AEB-ED22-AB1B-5A88913F55F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6976F3E0-3DC8-8AD6-E58F-7ACACDA5CCD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728466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BBEC95FD-C51A-CDEA-B1BE-7978E03E779C}"/>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1DE31468-2579-B807-188D-D86DD5E7B1B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F8E1A3A5-7CF5-3DD2-19C3-5A7251F2A7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023871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93B39F4C-09D5-1248-8C89-891BAFA9099A}"/>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4ED7E302-8C00-9DA6-6B4C-FFB357F11AA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452BF047-9BB3-724D-3150-35F11923A7E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236598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1CBAA6CC-5F4D-4CF3-22A6-F6D318245F34}"/>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FFD9E567-4A1B-BC86-53F9-3824F166B5B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D5E74C4C-7C04-FE8D-2839-BAE93321DD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893054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F053DAA9-CAB5-16E8-6217-DDE082C4002C}"/>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6AE242D7-C28D-92CA-2D1F-6AAED4A9A2B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DA362CC8-929A-29EC-3068-063D6D7FCA0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532894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377DED71-6F30-3AE3-0A55-D4656446EBB9}"/>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EFBBE1C5-9E75-649A-54C3-28AC07CCF69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3C4B77F3-541E-7DA3-9173-36EA0F3BA2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36392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8DF8E6C4-1CE9-54D1-1F62-FC0EB11B3693}"/>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4FFBBC20-C230-E98E-001E-1BD2E88A05A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0115A792-2382-051D-2868-BBA90450A1A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855724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2E4CD818-CAEB-8121-82C3-2F57852B2345}"/>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7E3DB67A-5037-209F-CFE3-CE7AD99BA2B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B489EED2-6850-2DD1-EF92-E2CA8ADAC0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987021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CA8023E4-7B41-8855-4AFF-A95212104309}"/>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F9F2607E-66EC-C167-9AE4-3D7FEC29BEE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F8A5B7CD-AA9B-389F-2C0C-3A10A2F0451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823790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F3870F00-C1A3-2DEA-94BE-1E06F76B4492}"/>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1801ECBF-A5B8-18C2-61A8-E6D02FDA43D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85E071E4-4D4E-195F-B3E5-9D843CB0901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494171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5B8021A9-DCB7-C0A2-E545-32581703323A}"/>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F92B0507-F7A3-8A3E-289A-23F5227F9A5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71FB5E4F-F1E3-23B4-BB28-B2A3C86C60F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809559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A074492C-C657-5636-6E7B-338318C01850}"/>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1F6C7C98-E518-1CA1-8A6F-738835759B5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C8AC2157-516A-9630-9E23-6005E7692FB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084586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94165089-E50E-AD30-7956-92620D81305A}"/>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7F724651-FFD5-039E-C0A0-C25E13BEADD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613E29CB-E2A7-1CFE-36CC-83AC5C698B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579056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31A95890-B561-DB6E-5EC1-1808E49BEFA6}"/>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F4141F53-DAE4-FCE1-A769-3037A76E46A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2A1A7412-39CB-372C-A377-CB752D816C3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612663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9B8A4B9F-6CE8-B3F0-F96D-5DC60F01A6C7}"/>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A205B1F7-924D-361D-C5FF-47341909255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3623135C-D175-F6EC-6922-32CB0726DE7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929356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25458169-CE68-FBA6-0ABF-96B0B7127FBB}"/>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DF910942-DABE-24B9-7756-E6E14183BE4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45C11A6B-F4E1-6B1C-9D77-71E804D5CAE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052979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3BECD89B-AAA3-F8FE-DFBC-CC79A9A4E0AF}"/>
            </a:ext>
          </a:extLst>
        </p:cNvPr>
        <p:cNvGrpSpPr/>
        <p:nvPr/>
      </p:nvGrpSpPr>
      <p:grpSpPr>
        <a:xfrm>
          <a:off x="0" y="0"/>
          <a:ext cx="0" cy="0"/>
          <a:chOff x="0" y="0"/>
          <a:chExt cx="0" cy="0"/>
        </a:xfrm>
      </p:grpSpPr>
      <p:sp>
        <p:nvSpPr>
          <p:cNvPr id="81" name="Google Shape;81;p7:notes">
            <a:extLst>
              <a:ext uri="{FF2B5EF4-FFF2-40B4-BE49-F238E27FC236}">
                <a16:creationId xmlns:a16="http://schemas.microsoft.com/office/drawing/2014/main" id="{F508F7A9-5506-B123-0264-14DD3EE902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a:extLst>
              <a:ext uri="{FF2B5EF4-FFF2-40B4-BE49-F238E27FC236}">
                <a16:creationId xmlns:a16="http://schemas.microsoft.com/office/drawing/2014/main" id="{CCD177CE-FC44-74CB-378D-8296859D59C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028575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4" name="Google Shape;214;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ig number">
  <p:cSld name="BIG_NUMBER">
    <p:bg>
      <p:bgPr>
        <a:blipFill>
          <a:blip r:embed="rId2">
            <a:alphaModFix/>
          </a:blip>
          <a:stretch>
            <a:fillRect/>
          </a:stretch>
        </a:blipFill>
        <a:effectLst/>
      </p:bgPr>
    </p:bg>
    <p:spTree>
      <p:nvGrpSpPr>
        <p:cNvPr id="1" name="Shape 10"/>
        <p:cNvGrpSpPr/>
        <p:nvPr/>
      </p:nvGrpSpPr>
      <p:grpSpPr>
        <a:xfrm>
          <a:off x="0" y="0"/>
          <a:ext cx="0" cy="0"/>
          <a:chOff x="0" y="0"/>
          <a:chExt cx="0" cy="0"/>
        </a:xfrm>
      </p:grpSpPr>
      <p:sp>
        <p:nvSpPr>
          <p:cNvPr id="11" name="Google Shape;11;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12000"/>
              <a:buNone/>
              <a:defRPr sz="12000"/>
            </a:lvl1pPr>
            <a:lvl2pPr lvl="1" algn="ctr" rtl="1">
              <a:lnSpc>
                <a:spcPct val="100000"/>
              </a:lnSpc>
              <a:spcBef>
                <a:spcPts val="0"/>
              </a:spcBef>
              <a:spcAft>
                <a:spcPts val="0"/>
              </a:spcAft>
              <a:buSzPts val="12000"/>
              <a:buNone/>
              <a:defRPr sz="12000"/>
            </a:lvl2pPr>
            <a:lvl3pPr lvl="2" algn="ctr" rtl="1">
              <a:lnSpc>
                <a:spcPct val="100000"/>
              </a:lnSpc>
              <a:spcBef>
                <a:spcPts val="0"/>
              </a:spcBef>
              <a:spcAft>
                <a:spcPts val="0"/>
              </a:spcAft>
              <a:buSzPts val="12000"/>
              <a:buNone/>
              <a:defRPr sz="12000"/>
            </a:lvl3pPr>
            <a:lvl4pPr lvl="3" algn="ctr" rtl="1">
              <a:lnSpc>
                <a:spcPct val="100000"/>
              </a:lnSpc>
              <a:spcBef>
                <a:spcPts val="0"/>
              </a:spcBef>
              <a:spcAft>
                <a:spcPts val="0"/>
              </a:spcAft>
              <a:buSzPts val="12000"/>
              <a:buNone/>
              <a:defRPr sz="12000"/>
            </a:lvl4pPr>
            <a:lvl5pPr lvl="4" algn="ctr" rtl="1">
              <a:lnSpc>
                <a:spcPct val="100000"/>
              </a:lnSpc>
              <a:spcBef>
                <a:spcPts val="0"/>
              </a:spcBef>
              <a:spcAft>
                <a:spcPts val="0"/>
              </a:spcAft>
              <a:buSzPts val="12000"/>
              <a:buNone/>
              <a:defRPr sz="12000"/>
            </a:lvl5pPr>
            <a:lvl6pPr lvl="5" algn="ctr" rtl="1">
              <a:lnSpc>
                <a:spcPct val="100000"/>
              </a:lnSpc>
              <a:spcBef>
                <a:spcPts val="0"/>
              </a:spcBef>
              <a:spcAft>
                <a:spcPts val="0"/>
              </a:spcAft>
              <a:buSzPts val="12000"/>
              <a:buNone/>
              <a:defRPr sz="12000"/>
            </a:lvl6pPr>
            <a:lvl7pPr lvl="6" algn="ctr" rtl="1">
              <a:lnSpc>
                <a:spcPct val="100000"/>
              </a:lnSpc>
              <a:spcBef>
                <a:spcPts val="0"/>
              </a:spcBef>
              <a:spcAft>
                <a:spcPts val="0"/>
              </a:spcAft>
              <a:buSzPts val="12000"/>
              <a:buNone/>
              <a:defRPr sz="12000"/>
            </a:lvl7pPr>
            <a:lvl8pPr lvl="7" algn="ctr" rtl="1">
              <a:lnSpc>
                <a:spcPct val="100000"/>
              </a:lnSpc>
              <a:spcBef>
                <a:spcPts val="0"/>
              </a:spcBef>
              <a:spcAft>
                <a:spcPts val="0"/>
              </a:spcAft>
              <a:buSzPts val="12000"/>
              <a:buNone/>
              <a:defRPr sz="12000"/>
            </a:lvl8pPr>
            <a:lvl9pPr lvl="8" algn="ctr" rtl="1">
              <a:lnSpc>
                <a:spcPct val="100000"/>
              </a:lnSpc>
              <a:spcBef>
                <a:spcPts val="0"/>
              </a:spcBef>
              <a:spcAft>
                <a:spcPts val="0"/>
              </a:spcAft>
              <a:buSzPts val="12000"/>
              <a:buNone/>
              <a:defRPr sz="12000"/>
            </a:lvl9pPr>
          </a:lstStyle>
          <a:p>
            <a:r>
              <a:t>xx%</a:t>
            </a:r>
          </a:p>
        </p:txBody>
      </p:sp>
      <p:pic>
        <p:nvPicPr>
          <p:cNvPr id="12" name="Google Shape;12;p23"/>
          <p:cNvPicPr preferRelativeResize="0"/>
          <p:nvPr/>
        </p:nvPicPr>
        <p:blipFill rotWithShape="1">
          <a:blip r:embed="rId3">
            <a:alphaModFix/>
          </a:blip>
          <a:srcRect/>
          <a:stretch/>
        </p:blipFill>
        <p:spPr>
          <a:xfrm>
            <a:off x="7527371" y="317427"/>
            <a:ext cx="1356656" cy="2658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4300"/>
              <a:buFont typeface="Tajawal"/>
              <a:buNone/>
              <a:defRPr sz="4300" b="1">
                <a:latin typeface="Tajawal"/>
                <a:ea typeface="Tajawal"/>
                <a:cs typeface="Tajawal"/>
                <a:sym typeface="Tajawal"/>
              </a:defRPr>
            </a:lvl1pPr>
            <a:lvl2pPr lvl="1" algn="ctr" rtl="1">
              <a:lnSpc>
                <a:spcPct val="100000"/>
              </a:lnSpc>
              <a:spcBef>
                <a:spcPts val="0"/>
              </a:spcBef>
              <a:spcAft>
                <a:spcPts val="0"/>
              </a:spcAft>
              <a:buSzPts val="4900"/>
              <a:buFont typeface="Tajawal"/>
              <a:buNone/>
              <a:defRPr sz="4900">
                <a:latin typeface="Tajawal"/>
                <a:ea typeface="Tajawal"/>
                <a:cs typeface="Tajawal"/>
                <a:sym typeface="Tajawal"/>
              </a:defRPr>
            </a:lvl2pPr>
            <a:lvl3pPr lvl="2" algn="ctr" rtl="1">
              <a:lnSpc>
                <a:spcPct val="100000"/>
              </a:lnSpc>
              <a:spcBef>
                <a:spcPts val="0"/>
              </a:spcBef>
              <a:spcAft>
                <a:spcPts val="0"/>
              </a:spcAft>
              <a:buSzPts val="4900"/>
              <a:buFont typeface="Tajawal"/>
              <a:buNone/>
              <a:defRPr sz="4900">
                <a:latin typeface="Tajawal"/>
                <a:ea typeface="Tajawal"/>
                <a:cs typeface="Tajawal"/>
                <a:sym typeface="Tajawal"/>
              </a:defRPr>
            </a:lvl3pPr>
            <a:lvl4pPr lvl="3" algn="ctr" rtl="1">
              <a:lnSpc>
                <a:spcPct val="100000"/>
              </a:lnSpc>
              <a:spcBef>
                <a:spcPts val="0"/>
              </a:spcBef>
              <a:spcAft>
                <a:spcPts val="0"/>
              </a:spcAft>
              <a:buSzPts val="4900"/>
              <a:buFont typeface="Tajawal"/>
              <a:buNone/>
              <a:defRPr sz="4900">
                <a:latin typeface="Tajawal"/>
                <a:ea typeface="Tajawal"/>
                <a:cs typeface="Tajawal"/>
                <a:sym typeface="Tajawal"/>
              </a:defRPr>
            </a:lvl4pPr>
            <a:lvl5pPr lvl="4" algn="ctr" rtl="1">
              <a:lnSpc>
                <a:spcPct val="100000"/>
              </a:lnSpc>
              <a:spcBef>
                <a:spcPts val="0"/>
              </a:spcBef>
              <a:spcAft>
                <a:spcPts val="0"/>
              </a:spcAft>
              <a:buSzPts val="4900"/>
              <a:buFont typeface="Tajawal"/>
              <a:buNone/>
              <a:defRPr sz="4900">
                <a:latin typeface="Tajawal"/>
                <a:ea typeface="Tajawal"/>
                <a:cs typeface="Tajawal"/>
                <a:sym typeface="Tajawal"/>
              </a:defRPr>
            </a:lvl5pPr>
            <a:lvl6pPr lvl="5" algn="ctr" rtl="1">
              <a:lnSpc>
                <a:spcPct val="100000"/>
              </a:lnSpc>
              <a:spcBef>
                <a:spcPts val="0"/>
              </a:spcBef>
              <a:spcAft>
                <a:spcPts val="0"/>
              </a:spcAft>
              <a:buSzPts val="4900"/>
              <a:buFont typeface="Tajawal"/>
              <a:buNone/>
              <a:defRPr sz="4900">
                <a:latin typeface="Tajawal"/>
                <a:ea typeface="Tajawal"/>
                <a:cs typeface="Tajawal"/>
                <a:sym typeface="Tajawal"/>
              </a:defRPr>
            </a:lvl6pPr>
            <a:lvl7pPr lvl="6" algn="ctr" rtl="1">
              <a:lnSpc>
                <a:spcPct val="100000"/>
              </a:lnSpc>
              <a:spcBef>
                <a:spcPts val="0"/>
              </a:spcBef>
              <a:spcAft>
                <a:spcPts val="0"/>
              </a:spcAft>
              <a:buSzPts val="4900"/>
              <a:buFont typeface="Tajawal"/>
              <a:buNone/>
              <a:defRPr sz="4900">
                <a:latin typeface="Tajawal"/>
                <a:ea typeface="Tajawal"/>
                <a:cs typeface="Tajawal"/>
                <a:sym typeface="Tajawal"/>
              </a:defRPr>
            </a:lvl7pPr>
            <a:lvl8pPr lvl="7" algn="ctr" rtl="1">
              <a:lnSpc>
                <a:spcPct val="100000"/>
              </a:lnSpc>
              <a:spcBef>
                <a:spcPts val="0"/>
              </a:spcBef>
              <a:spcAft>
                <a:spcPts val="0"/>
              </a:spcAft>
              <a:buSzPts val="4900"/>
              <a:buFont typeface="Tajawal"/>
              <a:buNone/>
              <a:defRPr sz="4900">
                <a:latin typeface="Tajawal"/>
                <a:ea typeface="Tajawal"/>
                <a:cs typeface="Tajawal"/>
                <a:sym typeface="Tajawal"/>
              </a:defRPr>
            </a:lvl8pPr>
            <a:lvl9pPr lvl="8" algn="ctr" rtl="1">
              <a:lnSpc>
                <a:spcPct val="100000"/>
              </a:lnSpc>
              <a:spcBef>
                <a:spcPts val="0"/>
              </a:spcBef>
              <a:spcAft>
                <a:spcPts val="0"/>
              </a:spcAft>
              <a:buSzPts val="4900"/>
              <a:buFont typeface="Tajawal"/>
              <a:buNone/>
              <a:defRPr sz="4900">
                <a:latin typeface="Tajawal"/>
                <a:ea typeface="Tajawal"/>
                <a:cs typeface="Tajawal"/>
                <a:sym typeface="Tajawal"/>
              </a:defRPr>
            </a:lvl9pPr>
          </a:lstStyle>
          <a:p>
            <a:endParaRPr/>
          </a:p>
        </p:txBody>
      </p:sp>
      <p:sp>
        <p:nvSpPr>
          <p:cNvPr id="15" name="Google Shape;15;p2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rtl="1">
              <a:lnSpc>
                <a:spcPct val="100000"/>
              </a:lnSpc>
              <a:spcBef>
                <a:spcPts val="0"/>
              </a:spcBef>
              <a:spcAft>
                <a:spcPts val="0"/>
              </a:spcAft>
              <a:buSzPts val="2500"/>
              <a:buFont typeface="Tajawal"/>
              <a:buNone/>
              <a:defRPr sz="2500">
                <a:latin typeface="Tajawal"/>
                <a:ea typeface="Tajawal"/>
                <a:cs typeface="Tajawal"/>
                <a:sym typeface="Tajawal"/>
              </a:defRPr>
            </a:lvl1pPr>
            <a:lvl2pPr lvl="1" algn="ctr" rtl="1">
              <a:lnSpc>
                <a:spcPct val="100000"/>
              </a:lnSpc>
              <a:spcBef>
                <a:spcPts val="0"/>
              </a:spcBef>
              <a:spcAft>
                <a:spcPts val="0"/>
              </a:spcAft>
              <a:buSzPts val="2500"/>
              <a:buFont typeface="Tajawal"/>
              <a:buNone/>
              <a:defRPr sz="2500">
                <a:latin typeface="Tajawal"/>
                <a:ea typeface="Tajawal"/>
                <a:cs typeface="Tajawal"/>
                <a:sym typeface="Tajawal"/>
              </a:defRPr>
            </a:lvl2pPr>
            <a:lvl3pPr lvl="2" algn="ctr" rtl="1">
              <a:lnSpc>
                <a:spcPct val="100000"/>
              </a:lnSpc>
              <a:spcBef>
                <a:spcPts val="0"/>
              </a:spcBef>
              <a:spcAft>
                <a:spcPts val="0"/>
              </a:spcAft>
              <a:buSzPts val="2500"/>
              <a:buFont typeface="Tajawal"/>
              <a:buNone/>
              <a:defRPr sz="2500">
                <a:latin typeface="Tajawal"/>
                <a:ea typeface="Tajawal"/>
                <a:cs typeface="Tajawal"/>
                <a:sym typeface="Tajawal"/>
              </a:defRPr>
            </a:lvl3pPr>
            <a:lvl4pPr lvl="3" algn="ctr" rtl="1">
              <a:lnSpc>
                <a:spcPct val="100000"/>
              </a:lnSpc>
              <a:spcBef>
                <a:spcPts val="0"/>
              </a:spcBef>
              <a:spcAft>
                <a:spcPts val="0"/>
              </a:spcAft>
              <a:buSzPts val="2500"/>
              <a:buFont typeface="Tajawal"/>
              <a:buNone/>
              <a:defRPr sz="2500">
                <a:latin typeface="Tajawal"/>
                <a:ea typeface="Tajawal"/>
                <a:cs typeface="Tajawal"/>
                <a:sym typeface="Tajawal"/>
              </a:defRPr>
            </a:lvl4pPr>
            <a:lvl5pPr lvl="4" algn="ctr" rtl="1">
              <a:lnSpc>
                <a:spcPct val="100000"/>
              </a:lnSpc>
              <a:spcBef>
                <a:spcPts val="0"/>
              </a:spcBef>
              <a:spcAft>
                <a:spcPts val="0"/>
              </a:spcAft>
              <a:buSzPts val="2500"/>
              <a:buFont typeface="Tajawal"/>
              <a:buNone/>
              <a:defRPr sz="2500">
                <a:latin typeface="Tajawal"/>
                <a:ea typeface="Tajawal"/>
                <a:cs typeface="Tajawal"/>
                <a:sym typeface="Tajawal"/>
              </a:defRPr>
            </a:lvl5pPr>
            <a:lvl6pPr lvl="5" algn="ctr" rtl="1">
              <a:lnSpc>
                <a:spcPct val="100000"/>
              </a:lnSpc>
              <a:spcBef>
                <a:spcPts val="0"/>
              </a:spcBef>
              <a:spcAft>
                <a:spcPts val="0"/>
              </a:spcAft>
              <a:buSzPts val="2500"/>
              <a:buFont typeface="Tajawal"/>
              <a:buNone/>
              <a:defRPr sz="2500">
                <a:latin typeface="Tajawal"/>
                <a:ea typeface="Tajawal"/>
                <a:cs typeface="Tajawal"/>
                <a:sym typeface="Tajawal"/>
              </a:defRPr>
            </a:lvl6pPr>
            <a:lvl7pPr lvl="6" algn="ctr" rtl="1">
              <a:lnSpc>
                <a:spcPct val="100000"/>
              </a:lnSpc>
              <a:spcBef>
                <a:spcPts val="0"/>
              </a:spcBef>
              <a:spcAft>
                <a:spcPts val="0"/>
              </a:spcAft>
              <a:buSzPts val="2500"/>
              <a:buFont typeface="Tajawal"/>
              <a:buNone/>
              <a:defRPr sz="2500">
                <a:latin typeface="Tajawal"/>
                <a:ea typeface="Tajawal"/>
                <a:cs typeface="Tajawal"/>
                <a:sym typeface="Tajawal"/>
              </a:defRPr>
            </a:lvl7pPr>
            <a:lvl8pPr lvl="7" algn="ctr" rtl="1">
              <a:lnSpc>
                <a:spcPct val="100000"/>
              </a:lnSpc>
              <a:spcBef>
                <a:spcPts val="0"/>
              </a:spcBef>
              <a:spcAft>
                <a:spcPts val="0"/>
              </a:spcAft>
              <a:buSzPts val="2500"/>
              <a:buFont typeface="Tajawal"/>
              <a:buNone/>
              <a:defRPr sz="2500">
                <a:latin typeface="Tajawal"/>
                <a:ea typeface="Tajawal"/>
                <a:cs typeface="Tajawal"/>
                <a:sym typeface="Tajawal"/>
              </a:defRPr>
            </a:lvl8pPr>
            <a:lvl9pPr lvl="8" algn="ctr" rtl="1">
              <a:lnSpc>
                <a:spcPct val="100000"/>
              </a:lnSpc>
              <a:spcBef>
                <a:spcPts val="0"/>
              </a:spcBef>
              <a:spcAft>
                <a:spcPts val="0"/>
              </a:spcAft>
              <a:buSzPts val="2500"/>
              <a:buFont typeface="Tajawal"/>
              <a:buNone/>
              <a:defRPr sz="2500">
                <a:latin typeface="Tajawal"/>
                <a:ea typeface="Tajawal"/>
                <a:cs typeface="Tajawal"/>
                <a:sym typeface="Tajawal"/>
              </a:defRPr>
            </a:lvl9pPr>
          </a:lstStyle>
          <a:p>
            <a:endParaRPr/>
          </a:p>
        </p:txBody>
      </p:sp>
      <p:sp>
        <p:nvSpPr>
          <p:cNvPr id="16" name="Google Shape;16;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7"/>
        <p:cNvGrpSpPr/>
        <p:nvPr/>
      </p:nvGrpSpPr>
      <p:grpSpPr>
        <a:xfrm>
          <a:off x="0" y="0"/>
          <a:ext cx="0" cy="0"/>
          <a:chOff x="0" y="0"/>
          <a:chExt cx="0" cy="0"/>
        </a:xfrm>
      </p:grpSpPr>
      <p:sp>
        <p:nvSpPr>
          <p:cNvPr id="18" name="Google Shape;18;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9" name="Google Shape;19;p25"/>
          <p:cNvSpPr txBox="1">
            <a:spLocks noGrp="1"/>
          </p:cNvSpPr>
          <p:nvPr>
            <p:ph type="title"/>
          </p:nvPr>
        </p:nvSpPr>
        <p:spPr>
          <a:xfrm>
            <a:off x="2079450" y="445025"/>
            <a:ext cx="6707400" cy="6279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Clr>
                <a:srgbClr val="543198"/>
              </a:buClr>
              <a:buSzPts val="2500"/>
              <a:buNone/>
              <a:defRPr b="1">
                <a:solidFill>
                  <a:srgbClr val="543198"/>
                </a:solidFill>
              </a:defRPr>
            </a:lvl1pPr>
            <a:lvl2pPr lvl="1" algn="l" rtl="1">
              <a:lnSpc>
                <a:spcPct val="100000"/>
              </a:lnSpc>
              <a:spcBef>
                <a:spcPts val="0"/>
              </a:spcBef>
              <a:spcAft>
                <a:spcPts val="0"/>
              </a:spcAft>
              <a:buClr>
                <a:srgbClr val="543198"/>
              </a:buClr>
              <a:buSzPts val="2800"/>
              <a:buNone/>
              <a:defRPr b="1">
                <a:solidFill>
                  <a:srgbClr val="543198"/>
                </a:solidFill>
              </a:defRPr>
            </a:lvl2pPr>
            <a:lvl3pPr lvl="2" algn="l" rtl="1">
              <a:lnSpc>
                <a:spcPct val="100000"/>
              </a:lnSpc>
              <a:spcBef>
                <a:spcPts val="0"/>
              </a:spcBef>
              <a:spcAft>
                <a:spcPts val="0"/>
              </a:spcAft>
              <a:buClr>
                <a:srgbClr val="543198"/>
              </a:buClr>
              <a:buSzPts val="2800"/>
              <a:buNone/>
              <a:defRPr b="1">
                <a:solidFill>
                  <a:srgbClr val="543198"/>
                </a:solidFill>
              </a:defRPr>
            </a:lvl3pPr>
            <a:lvl4pPr lvl="3" algn="l" rtl="1">
              <a:lnSpc>
                <a:spcPct val="100000"/>
              </a:lnSpc>
              <a:spcBef>
                <a:spcPts val="0"/>
              </a:spcBef>
              <a:spcAft>
                <a:spcPts val="0"/>
              </a:spcAft>
              <a:buClr>
                <a:srgbClr val="543198"/>
              </a:buClr>
              <a:buSzPts val="2800"/>
              <a:buNone/>
              <a:defRPr b="1">
                <a:solidFill>
                  <a:srgbClr val="543198"/>
                </a:solidFill>
              </a:defRPr>
            </a:lvl4pPr>
            <a:lvl5pPr lvl="4" algn="l" rtl="1">
              <a:lnSpc>
                <a:spcPct val="100000"/>
              </a:lnSpc>
              <a:spcBef>
                <a:spcPts val="0"/>
              </a:spcBef>
              <a:spcAft>
                <a:spcPts val="0"/>
              </a:spcAft>
              <a:buClr>
                <a:srgbClr val="543198"/>
              </a:buClr>
              <a:buSzPts val="2800"/>
              <a:buNone/>
              <a:defRPr b="1">
                <a:solidFill>
                  <a:srgbClr val="543198"/>
                </a:solidFill>
              </a:defRPr>
            </a:lvl5pPr>
            <a:lvl6pPr lvl="5" algn="l" rtl="1">
              <a:lnSpc>
                <a:spcPct val="100000"/>
              </a:lnSpc>
              <a:spcBef>
                <a:spcPts val="0"/>
              </a:spcBef>
              <a:spcAft>
                <a:spcPts val="0"/>
              </a:spcAft>
              <a:buClr>
                <a:srgbClr val="543198"/>
              </a:buClr>
              <a:buSzPts val="2800"/>
              <a:buNone/>
              <a:defRPr b="1">
                <a:solidFill>
                  <a:srgbClr val="543198"/>
                </a:solidFill>
              </a:defRPr>
            </a:lvl6pPr>
            <a:lvl7pPr lvl="6" algn="l" rtl="1">
              <a:lnSpc>
                <a:spcPct val="100000"/>
              </a:lnSpc>
              <a:spcBef>
                <a:spcPts val="0"/>
              </a:spcBef>
              <a:spcAft>
                <a:spcPts val="0"/>
              </a:spcAft>
              <a:buClr>
                <a:srgbClr val="543198"/>
              </a:buClr>
              <a:buSzPts val="2800"/>
              <a:buNone/>
              <a:defRPr b="1">
                <a:solidFill>
                  <a:srgbClr val="543198"/>
                </a:solidFill>
              </a:defRPr>
            </a:lvl7pPr>
            <a:lvl8pPr lvl="7" algn="l" rtl="1">
              <a:lnSpc>
                <a:spcPct val="100000"/>
              </a:lnSpc>
              <a:spcBef>
                <a:spcPts val="0"/>
              </a:spcBef>
              <a:spcAft>
                <a:spcPts val="0"/>
              </a:spcAft>
              <a:buClr>
                <a:srgbClr val="543198"/>
              </a:buClr>
              <a:buSzPts val="2800"/>
              <a:buNone/>
              <a:defRPr b="1">
                <a:solidFill>
                  <a:srgbClr val="543198"/>
                </a:solidFill>
              </a:defRPr>
            </a:lvl8pPr>
            <a:lvl9pPr lvl="8" algn="l" rtl="1">
              <a:lnSpc>
                <a:spcPct val="100000"/>
              </a:lnSpc>
              <a:spcBef>
                <a:spcPts val="0"/>
              </a:spcBef>
              <a:spcAft>
                <a:spcPts val="0"/>
              </a:spcAft>
              <a:buClr>
                <a:srgbClr val="543198"/>
              </a:buClr>
              <a:buSzPts val="2800"/>
              <a:buNone/>
              <a:defRPr b="1">
                <a:solidFill>
                  <a:srgbClr val="543198"/>
                </a:solidFill>
              </a:defRPr>
            </a:lvl9pPr>
          </a:lstStyle>
          <a:p>
            <a:endParaRPr/>
          </a:p>
        </p:txBody>
      </p:sp>
      <p:sp>
        <p:nvSpPr>
          <p:cNvPr id="20" name="Google Shape;20;p25"/>
          <p:cNvSpPr txBox="1">
            <a:spLocks noGrp="1"/>
          </p:cNvSpPr>
          <p:nvPr>
            <p:ph type="body" idx="1"/>
          </p:nvPr>
        </p:nvSpPr>
        <p:spPr>
          <a:xfrm>
            <a:off x="2758650" y="1334150"/>
            <a:ext cx="6028200" cy="1757400"/>
          </a:xfrm>
          <a:prstGeom prst="rect">
            <a:avLst/>
          </a:prstGeom>
          <a:noFill/>
          <a:ln>
            <a:noFill/>
          </a:ln>
        </p:spPr>
        <p:txBody>
          <a:bodyPr spcFirstLastPara="1" wrap="square" lIns="91425" tIns="91425" rIns="91425" bIns="91425" anchor="t" anchorCtr="0">
            <a:normAutofit/>
          </a:bodyPr>
          <a:lstStyle>
            <a:lvl1pPr marL="457200" lvl="0" indent="-342900" algn="l" rtl="1">
              <a:lnSpc>
                <a:spcPct val="115000"/>
              </a:lnSpc>
              <a:spcBef>
                <a:spcPts val="0"/>
              </a:spcBef>
              <a:spcAft>
                <a:spcPts val="0"/>
              </a:spcAft>
              <a:buClr>
                <a:srgbClr val="424242"/>
              </a:buClr>
              <a:buSzPts val="1800"/>
              <a:buChar char="●"/>
              <a:defRPr>
                <a:solidFill>
                  <a:srgbClr val="424242"/>
                </a:solidFill>
              </a:defRPr>
            </a:lvl1pPr>
            <a:lvl2pPr marL="914400" lvl="1" indent="-317500" algn="l" rtl="1">
              <a:lnSpc>
                <a:spcPct val="115000"/>
              </a:lnSpc>
              <a:spcBef>
                <a:spcPts val="0"/>
              </a:spcBef>
              <a:spcAft>
                <a:spcPts val="0"/>
              </a:spcAft>
              <a:buClr>
                <a:srgbClr val="424242"/>
              </a:buClr>
              <a:buSzPts val="1400"/>
              <a:buChar char="○"/>
              <a:defRPr>
                <a:solidFill>
                  <a:srgbClr val="424242"/>
                </a:solidFill>
              </a:defRPr>
            </a:lvl2pPr>
            <a:lvl3pPr marL="1371600" lvl="2" indent="-317500" algn="l" rtl="1">
              <a:lnSpc>
                <a:spcPct val="115000"/>
              </a:lnSpc>
              <a:spcBef>
                <a:spcPts val="0"/>
              </a:spcBef>
              <a:spcAft>
                <a:spcPts val="0"/>
              </a:spcAft>
              <a:buClr>
                <a:srgbClr val="424242"/>
              </a:buClr>
              <a:buSzPts val="1400"/>
              <a:buChar char="■"/>
              <a:defRPr>
                <a:solidFill>
                  <a:srgbClr val="424242"/>
                </a:solidFill>
              </a:defRPr>
            </a:lvl3pPr>
            <a:lvl4pPr marL="1828800" lvl="3" indent="-317500" algn="l" rtl="1">
              <a:lnSpc>
                <a:spcPct val="115000"/>
              </a:lnSpc>
              <a:spcBef>
                <a:spcPts val="0"/>
              </a:spcBef>
              <a:spcAft>
                <a:spcPts val="0"/>
              </a:spcAft>
              <a:buClr>
                <a:srgbClr val="424242"/>
              </a:buClr>
              <a:buSzPts val="1400"/>
              <a:buChar char="●"/>
              <a:defRPr>
                <a:solidFill>
                  <a:srgbClr val="424242"/>
                </a:solidFill>
              </a:defRPr>
            </a:lvl4pPr>
            <a:lvl5pPr marL="2286000" lvl="4" indent="-317500" algn="l" rtl="1">
              <a:lnSpc>
                <a:spcPct val="115000"/>
              </a:lnSpc>
              <a:spcBef>
                <a:spcPts val="0"/>
              </a:spcBef>
              <a:spcAft>
                <a:spcPts val="0"/>
              </a:spcAft>
              <a:buClr>
                <a:srgbClr val="424242"/>
              </a:buClr>
              <a:buSzPts val="1400"/>
              <a:buChar char="○"/>
              <a:defRPr>
                <a:solidFill>
                  <a:srgbClr val="424242"/>
                </a:solidFill>
              </a:defRPr>
            </a:lvl5pPr>
            <a:lvl6pPr marL="2743200" lvl="5" indent="-317500" algn="l" rtl="1">
              <a:lnSpc>
                <a:spcPct val="115000"/>
              </a:lnSpc>
              <a:spcBef>
                <a:spcPts val="0"/>
              </a:spcBef>
              <a:spcAft>
                <a:spcPts val="0"/>
              </a:spcAft>
              <a:buClr>
                <a:srgbClr val="424242"/>
              </a:buClr>
              <a:buSzPts val="1400"/>
              <a:buChar char="■"/>
              <a:defRPr>
                <a:solidFill>
                  <a:srgbClr val="424242"/>
                </a:solidFill>
              </a:defRPr>
            </a:lvl6pPr>
            <a:lvl7pPr marL="3200400" lvl="6" indent="-317500" algn="l" rtl="1">
              <a:lnSpc>
                <a:spcPct val="115000"/>
              </a:lnSpc>
              <a:spcBef>
                <a:spcPts val="0"/>
              </a:spcBef>
              <a:spcAft>
                <a:spcPts val="0"/>
              </a:spcAft>
              <a:buClr>
                <a:srgbClr val="424242"/>
              </a:buClr>
              <a:buSzPts val="1400"/>
              <a:buChar char="●"/>
              <a:defRPr>
                <a:solidFill>
                  <a:srgbClr val="424242"/>
                </a:solidFill>
              </a:defRPr>
            </a:lvl7pPr>
            <a:lvl8pPr marL="3657600" lvl="7" indent="-317500" algn="l" rtl="1">
              <a:lnSpc>
                <a:spcPct val="115000"/>
              </a:lnSpc>
              <a:spcBef>
                <a:spcPts val="0"/>
              </a:spcBef>
              <a:spcAft>
                <a:spcPts val="0"/>
              </a:spcAft>
              <a:buClr>
                <a:srgbClr val="424242"/>
              </a:buClr>
              <a:buSzPts val="1400"/>
              <a:buChar char="○"/>
              <a:defRPr>
                <a:solidFill>
                  <a:srgbClr val="424242"/>
                </a:solidFill>
              </a:defRPr>
            </a:lvl8pPr>
            <a:lvl9pPr marL="4114800" lvl="8" indent="-317500" algn="l" rtl="1">
              <a:lnSpc>
                <a:spcPct val="115000"/>
              </a:lnSpc>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21"/>
        <p:cNvGrpSpPr/>
        <p:nvPr/>
      </p:nvGrpSpPr>
      <p:grpSpPr>
        <a:xfrm>
          <a:off x="0" y="0"/>
          <a:ext cx="0" cy="0"/>
          <a:chOff x="0" y="0"/>
          <a:chExt cx="0" cy="0"/>
        </a:xfrm>
      </p:grpSpPr>
      <p:sp>
        <p:nvSpPr>
          <p:cNvPr id="22" name="Google Shape;22;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rtl="1">
              <a:lnSpc>
                <a:spcPct val="100000"/>
              </a:lnSpc>
              <a:spcBef>
                <a:spcPts val="0"/>
              </a:spcBef>
              <a:spcAft>
                <a:spcPts val="0"/>
              </a:spcAft>
              <a:buSzPts val="3600"/>
              <a:buFont typeface="Tajawal"/>
              <a:buNone/>
              <a:defRPr sz="3600">
                <a:latin typeface="Tajawal"/>
                <a:ea typeface="Tajawal"/>
                <a:cs typeface="Tajawal"/>
                <a:sym typeface="Tajawal"/>
              </a:defRPr>
            </a:lvl1pPr>
            <a:lvl2pPr lvl="1" algn="ctr" rtl="1">
              <a:lnSpc>
                <a:spcPct val="100000"/>
              </a:lnSpc>
              <a:spcBef>
                <a:spcPts val="0"/>
              </a:spcBef>
              <a:spcAft>
                <a:spcPts val="0"/>
              </a:spcAft>
              <a:buSzPts val="3600"/>
              <a:buFont typeface="Tajawal"/>
              <a:buNone/>
              <a:defRPr sz="3600">
                <a:latin typeface="Tajawal"/>
                <a:ea typeface="Tajawal"/>
                <a:cs typeface="Tajawal"/>
                <a:sym typeface="Tajawal"/>
              </a:defRPr>
            </a:lvl2pPr>
            <a:lvl3pPr lvl="2" algn="ctr" rtl="1">
              <a:lnSpc>
                <a:spcPct val="100000"/>
              </a:lnSpc>
              <a:spcBef>
                <a:spcPts val="0"/>
              </a:spcBef>
              <a:spcAft>
                <a:spcPts val="0"/>
              </a:spcAft>
              <a:buSzPts val="3600"/>
              <a:buFont typeface="Tajawal"/>
              <a:buNone/>
              <a:defRPr sz="3600">
                <a:latin typeface="Tajawal"/>
                <a:ea typeface="Tajawal"/>
                <a:cs typeface="Tajawal"/>
                <a:sym typeface="Tajawal"/>
              </a:defRPr>
            </a:lvl3pPr>
            <a:lvl4pPr lvl="3" algn="ctr" rtl="1">
              <a:lnSpc>
                <a:spcPct val="100000"/>
              </a:lnSpc>
              <a:spcBef>
                <a:spcPts val="0"/>
              </a:spcBef>
              <a:spcAft>
                <a:spcPts val="0"/>
              </a:spcAft>
              <a:buSzPts val="3600"/>
              <a:buFont typeface="Tajawal"/>
              <a:buNone/>
              <a:defRPr sz="3600">
                <a:latin typeface="Tajawal"/>
                <a:ea typeface="Tajawal"/>
                <a:cs typeface="Tajawal"/>
                <a:sym typeface="Tajawal"/>
              </a:defRPr>
            </a:lvl4pPr>
            <a:lvl5pPr lvl="4" algn="ctr" rtl="1">
              <a:lnSpc>
                <a:spcPct val="100000"/>
              </a:lnSpc>
              <a:spcBef>
                <a:spcPts val="0"/>
              </a:spcBef>
              <a:spcAft>
                <a:spcPts val="0"/>
              </a:spcAft>
              <a:buSzPts val="3600"/>
              <a:buFont typeface="Tajawal"/>
              <a:buNone/>
              <a:defRPr sz="3600">
                <a:latin typeface="Tajawal"/>
                <a:ea typeface="Tajawal"/>
                <a:cs typeface="Tajawal"/>
                <a:sym typeface="Tajawal"/>
              </a:defRPr>
            </a:lvl5pPr>
            <a:lvl6pPr lvl="5" algn="ctr" rtl="1">
              <a:lnSpc>
                <a:spcPct val="100000"/>
              </a:lnSpc>
              <a:spcBef>
                <a:spcPts val="0"/>
              </a:spcBef>
              <a:spcAft>
                <a:spcPts val="0"/>
              </a:spcAft>
              <a:buSzPts val="3600"/>
              <a:buFont typeface="Tajawal"/>
              <a:buNone/>
              <a:defRPr sz="3600">
                <a:latin typeface="Tajawal"/>
                <a:ea typeface="Tajawal"/>
                <a:cs typeface="Tajawal"/>
                <a:sym typeface="Tajawal"/>
              </a:defRPr>
            </a:lvl6pPr>
            <a:lvl7pPr lvl="6" algn="ctr" rtl="1">
              <a:lnSpc>
                <a:spcPct val="100000"/>
              </a:lnSpc>
              <a:spcBef>
                <a:spcPts val="0"/>
              </a:spcBef>
              <a:spcAft>
                <a:spcPts val="0"/>
              </a:spcAft>
              <a:buSzPts val="3600"/>
              <a:buFont typeface="Tajawal"/>
              <a:buNone/>
              <a:defRPr sz="3600">
                <a:latin typeface="Tajawal"/>
                <a:ea typeface="Tajawal"/>
                <a:cs typeface="Tajawal"/>
                <a:sym typeface="Tajawal"/>
              </a:defRPr>
            </a:lvl7pPr>
            <a:lvl8pPr lvl="7" algn="ctr" rtl="1">
              <a:lnSpc>
                <a:spcPct val="100000"/>
              </a:lnSpc>
              <a:spcBef>
                <a:spcPts val="0"/>
              </a:spcBef>
              <a:spcAft>
                <a:spcPts val="0"/>
              </a:spcAft>
              <a:buSzPts val="3600"/>
              <a:buFont typeface="Tajawal"/>
              <a:buNone/>
              <a:defRPr sz="3600">
                <a:latin typeface="Tajawal"/>
                <a:ea typeface="Tajawal"/>
                <a:cs typeface="Tajawal"/>
                <a:sym typeface="Tajawal"/>
              </a:defRPr>
            </a:lvl8pPr>
            <a:lvl9pPr lvl="8" algn="ctr" rtl="1">
              <a:lnSpc>
                <a:spcPct val="100000"/>
              </a:lnSpc>
              <a:spcBef>
                <a:spcPts val="0"/>
              </a:spcBef>
              <a:spcAft>
                <a:spcPts val="0"/>
              </a:spcAft>
              <a:buSzPts val="3600"/>
              <a:buFont typeface="Tajawal"/>
              <a:buNone/>
              <a:defRPr sz="3600">
                <a:latin typeface="Tajawal"/>
                <a:ea typeface="Tajawal"/>
                <a:cs typeface="Tajawal"/>
                <a:sym typeface="Tajawal"/>
              </a:defRPr>
            </a:lvl9pPr>
          </a:lstStyle>
          <a:p>
            <a:endParaRPr/>
          </a:p>
        </p:txBody>
      </p:sp>
      <p:sp>
        <p:nvSpPr>
          <p:cNvPr id="25" name="Google Shape;25;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8" name="Google Shape;28;p28"/>
          <p:cNvSpPr txBox="1">
            <a:spLocks noGrp="1"/>
          </p:cNvSpPr>
          <p:nvPr>
            <p:ph type="title"/>
          </p:nvPr>
        </p:nvSpPr>
        <p:spPr>
          <a:xfrm>
            <a:off x="2079450" y="714175"/>
            <a:ext cx="6707400" cy="7773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Clr>
                <a:srgbClr val="543198"/>
              </a:buClr>
              <a:buSzPts val="2500"/>
              <a:buNone/>
              <a:defRPr b="1">
                <a:solidFill>
                  <a:srgbClr val="543198"/>
                </a:solidFill>
              </a:defRPr>
            </a:lvl1pPr>
            <a:lvl2pPr lvl="1" algn="l">
              <a:lnSpc>
                <a:spcPct val="100000"/>
              </a:lnSpc>
              <a:spcBef>
                <a:spcPts val="0"/>
              </a:spcBef>
              <a:spcAft>
                <a:spcPts val="0"/>
              </a:spcAft>
              <a:buClr>
                <a:srgbClr val="543198"/>
              </a:buClr>
              <a:buSzPts val="2800"/>
              <a:buNone/>
              <a:defRPr b="1">
                <a:solidFill>
                  <a:srgbClr val="543198"/>
                </a:solidFill>
              </a:defRPr>
            </a:lvl2pPr>
            <a:lvl3pPr lvl="2" algn="l">
              <a:lnSpc>
                <a:spcPct val="100000"/>
              </a:lnSpc>
              <a:spcBef>
                <a:spcPts val="0"/>
              </a:spcBef>
              <a:spcAft>
                <a:spcPts val="0"/>
              </a:spcAft>
              <a:buClr>
                <a:srgbClr val="543198"/>
              </a:buClr>
              <a:buSzPts val="2800"/>
              <a:buNone/>
              <a:defRPr b="1">
                <a:solidFill>
                  <a:srgbClr val="543198"/>
                </a:solidFill>
              </a:defRPr>
            </a:lvl3pPr>
            <a:lvl4pPr lvl="3" algn="l">
              <a:lnSpc>
                <a:spcPct val="100000"/>
              </a:lnSpc>
              <a:spcBef>
                <a:spcPts val="0"/>
              </a:spcBef>
              <a:spcAft>
                <a:spcPts val="0"/>
              </a:spcAft>
              <a:buClr>
                <a:srgbClr val="543198"/>
              </a:buClr>
              <a:buSzPts val="2800"/>
              <a:buNone/>
              <a:defRPr b="1">
                <a:solidFill>
                  <a:srgbClr val="543198"/>
                </a:solidFill>
              </a:defRPr>
            </a:lvl4pPr>
            <a:lvl5pPr lvl="4" algn="l">
              <a:lnSpc>
                <a:spcPct val="100000"/>
              </a:lnSpc>
              <a:spcBef>
                <a:spcPts val="0"/>
              </a:spcBef>
              <a:spcAft>
                <a:spcPts val="0"/>
              </a:spcAft>
              <a:buClr>
                <a:srgbClr val="543198"/>
              </a:buClr>
              <a:buSzPts val="2800"/>
              <a:buNone/>
              <a:defRPr b="1">
                <a:solidFill>
                  <a:srgbClr val="543198"/>
                </a:solidFill>
              </a:defRPr>
            </a:lvl5pPr>
            <a:lvl6pPr lvl="5" algn="l">
              <a:lnSpc>
                <a:spcPct val="100000"/>
              </a:lnSpc>
              <a:spcBef>
                <a:spcPts val="0"/>
              </a:spcBef>
              <a:spcAft>
                <a:spcPts val="0"/>
              </a:spcAft>
              <a:buClr>
                <a:srgbClr val="543198"/>
              </a:buClr>
              <a:buSzPts val="2800"/>
              <a:buNone/>
              <a:defRPr b="1">
                <a:solidFill>
                  <a:srgbClr val="543198"/>
                </a:solidFill>
              </a:defRPr>
            </a:lvl6pPr>
            <a:lvl7pPr lvl="6" algn="l">
              <a:lnSpc>
                <a:spcPct val="100000"/>
              </a:lnSpc>
              <a:spcBef>
                <a:spcPts val="0"/>
              </a:spcBef>
              <a:spcAft>
                <a:spcPts val="0"/>
              </a:spcAft>
              <a:buClr>
                <a:srgbClr val="543198"/>
              </a:buClr>
              <a:buSzPts val="2800"/>
              <a:buNone/>
              <a:defRPr b="1">
                <a:solidFill>
                  <a:srgbClr val="543198"/>
                </a:solidFill>
              </a:defRPr>
            </a:lvl7pPr>
            <a:lvl8pPr lvl="7" algn="l">
              <a:lnSpc>
                <a:spcPct val="100000"/>
              </a:lnSpc>
              <a:spcBef>
                <a:spcPts val="0"/>
              </a:spcBef>
              <a:spcAft>
                <a:spcPts val="0"/>
              </a:spcAft>
              <a:buClr>
                <a:srgbClr val="543198"/>
              </a:buClr>
              <a:buSzPts val="2800"/>
              <a:buNone/>
              <a:defRPr b="1">
                <a:solidFill>
                  <a:srgbClr val="543198"/>
                </a:solidFill>
              </a:defRPr>
            </a:lvl8pPr>
            <a:lvl9pPr lvl="8" algn="l">
              <a:lnSpc>
                <a:spcPct val="100000"/>
              </a:lnSpc>
              <a:spcBef>
                <a:spcPts val="0"/>
              </a:spcBef>
              <a:spcAft>
                <a:spcPts val="0"/>
              </a:spcAft>
              <a:buClr>
                <a:srgbClr val="543198"/>
              </a:buClr>
              <a:buSzPts val="2800"/>
              <a:buNone/>
              <a:defRPr b="1">
                <a:solidFill>
                  <a:srgbClr val="543198"/>
                </a:solidFill>
              </a:defRPr>
            </a:lvl9pPr>
          </a:lstStyle>
          <a:p>
            <a:endParaRPr/>
          </a:p>
        </p:txBody>
      </p:sp>
      <p:sp>
        <p:nvSpPr>
          <p:cNvPr id="29" name="Google Shape;29;p28"/>
          <p:cNvSpPr txBox="1">
            <a:spLocks noGrp="1"/>
          </p:cNvSpPr>
          <p:nvPr>
            <p:ph type="body" idx="1"/>
          </p:nvPr>
        </p:nvSpPr>
        <p:spPr>
          <a:xfrm>
            <a:off x="2758650" y="1526325"/>
            <a:ext cx="6028200" cy="1757400"/>
          </a:xfrm>
          <a:prstGeom prst="rect">
            <a:avLst/>
          </a:prstGeom>
          <a:noFill/>
          <a:ln>
            <a:noFill/>
          </a:ln>
        </p:spPr>
        <p:txBody>
          <a:bodyPr spcFirstLastPara="1" wrap="square" lIns="91425" tIns="91425" rIns="91425" bIns="91425" anchor="t" anchorCtr="0">
            <a:normAutofit/>
          </a:bodyPr>
          <a:lstStyle>
            <a:lvl1pPr marL="457200" lvl="0" indent="-342900" algn="l" rtl="1">
              <a:lnSpc>
                <a:spcPct val="115000"/>
              </a:lnSpc>
              <a:spcBef>
                <a:spcPts val="0"/>
              </a:spcBef>
              <a:spcAft>
                <a:spcPts val="0"/>
              </a:spcAft>
              <a:buClr>
                <a:srgbClr val="424242"/>
              </a:buClr>
              <a:buSzPts val="1800"/>
              <a:buChar char="●"/>
              <a:defRPr>
                <a:solidFill>
                  <a:srgbClr val="424242"/>
                </a:solidFill>
              </a:defRPr>
            </a:lvl1pPr>
            <a:lvl2pPr marL="914400" lvl="1" indent="-317500" algn="l" rtl="1">
              <a:lnSpc>
                <a:spcPct val="115000"/>
              </a:lnSpc>
              <a:spcBef>
                <a:spcPts val="0"/>
              </a:spcBef>
              <a:spcAft>
                <a:spcPts val="0"/>
              </a:spcAft>
              <a:buClr>
                <a:srgbClr val="424242"/>
              </a:buClr>
              <a:buSzPts val="1400"/>
              <a:buChar char="○"/>
              <a:defRPr>
                <a:solidFill>
                  <a:srgbClr val="424242"/>
                </a:solidFill>
              </a:defRPr>
            </a:lvl2pPr>
            <a:lvl3pPr marL="1371600" lvl="2" indent="-317500" algn="l" rtl="1">
              <a:lnSpc>
                <a:spcPct val="115000"/>
              </a:lnSpc>
              <a:spcBef>
                <a:spcPts val="0"/>
              </a:spcBef>
              <a:spcAft>
                <a:spcPts val="0"/>
              </a:spcAft>
              <a:buClr>
                <a:srgbClr val="424242"/>
              </a:buClr>
              <a:buSzPts val="1400"/>
              <a:buChar char="■"/>
              <a:defRPr>
                <a:solidFill>
                  <a:srgbClr val="424242"/>
                </a:solidFill>
              </a:defRPr>
            </a:lvl3pPr>
            <a:lvl4pPr marL="1828800" lvl="3" indent="-317500" algn="l" rtl="1">
              <a:lnSpc>
                <a:spcPct val="115000"/>
              </a:lnSpc>
              <a:spcBef>
                <a:spcPts val="0"/>
              </a:spcBef>
              <a:spcAft>
                <a:spcPts val="0"/>
              </a:spcAft>
              <a:buClr>
                <a:srgbClr val="424242"/>
              </a:buClr>
              <a:buSzPts val="1400"/>
              <a:buChar char="●"/>
              <a:defRPr>
                <a:solidFill>
                  <a:srgbClr val="424242"/>
                </a:solidFill>
              </a:defRPr>
            </a:lvl4pPr>
            <a:lvl5pPr marL="2286000" lvl="4" indent="-317500" algn="l" rtl="1">
              <a:lnSpc>
                <a:spcPct val="115000"/>
              </a:lnSpc>
              <a:spcBef>
                <a:spcPts val="0"/>
              </a:spcBef>
              <a:spcAft>
                <a:spcPts val="0"/>
              </a:spcAft>
              <a:buClr>
                <a:srgbClr val="424242"/>
              </a:buClr>
              <a:buSzPts val="1400"/>
              <a:buChar char="○"/>
              <a:defRPr>
                <a:solidFill>
                  <a:srgbClr val="424242"/>
                </a:solidFill>
              </a:defRPr>
            </a:lvl5pPr>
            <a:lvl6pPr marL="2743200" lvl="5" indent="-317500" algn="l" rtl="1">
              <a:lnSpc>
                <a:spcPct val="115000"/>
              </a:lnSpc>
              <a:spcBef>
                <a:spcPts val="0"/>
              </a:spcBef>
              <a:spcAft>
                <a:spcPts val="0"/>
              </a:spcAft>
              <a:buClr>
                <a:srgbClr val="424242"/>
              </a:buClr>
              <a:buSzPts val="1400"/>
              <a:buChar char="■"/>
              <a:defRPr>
                <a:solidFill>
                  <a:srgbClr val="424242"/>
                </a:solidFill>
              </a:defRPr>
            </a:lvl6pPr>
            <a:lvl7pPr marL="3200400" lvl="6" indent="-317500" algn="l" rtl="1">
              <a:lnSpc>
                <a:spcPct val="115000"/>
              </a:lnSpc>
              <a:spcBef>
                <a:spcPts val="0"/>
              </a:spcBef>
              <a:spcAft>
                <a:spcPts val="0"/>
              </a:spcAft>
              <a:buClr>
                <a:srgbClr val="424242"/>
              </a:buClr>
              <a:buSzPts val="1400"/>
              <a:buChar char="●"/>
              <a:defRPr>
                <a:solidFill>
                  <a:srgbClr val="424242"/>
                </a:solidFill>
              </a:defRPr>
            </a:lvl7pPr>
            <a:lvl8pPr marL="3657600" lvl="7" indent="-317500" algn="l" rtl="1">
              <a:lnSpc>
                <a:spcPct val="115000"/>
              </a:lnSpc>
              <a:spcBef>
                <a:spcPts val="0"/>
              </a:spcBef>
              <a:spcAft>
                <a:spcPts val="0"/>
              </a:spcAft>
              <a:buClr>
                <a:srgbClr val="424242"/>
              </a:buClr>
              <a:buSzPts val="1400"/>
              <a:buChar char="○"/>
              <a:defRPr>
                <a:solidFill>
                  <a:srgbClr val="424242"/>
                </a:solidFill>
              </a:defRPr>
            </a:lvl8pPr>
            <a:lvl9pPr marL="4114800" lvl="8" indent="-317500" algn="l" rtl="1">
              <a:lnSpc>
                <a:spcPct val="115000"/>
              </a:lnSpc>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4"/>
        <p:cNvGrpSpPr/>
        <p:nvPr/>
      </p:nvGrpSpPr>
      <p:grpSpPr>
        <a:xfrm>
          <a:off x="0" y="0"/>
          <a:ext cx="0" cy="0"/>
          <a:chOff x="0" y="0"/>
          <a:chExt cx="0" cy="0"/>
        </a:xfrm>
      </p:grpSpPr>
      <p:sp>
        <p:nvSpPr>
          <p:cNvPr id="35" name="Google Shape;35;p3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4200"/>
              <a:buNone/>
              <a:defRPr sz="4200"/>
            </a:lvl1pPr>
            <a:lvl2pPr lvl="1" algn="ctr" rtl="1">
              <a:lnSpc>
                <a:spcPct val="100000"/>
              </a:lnSpc>
              <a:spcBef>
                <a:spcPts val="0"/>
              </a:spcBef>
              <a:spcAft>
                <a:spcPts val="0"/>
              </a:spcAft>
              <a:buSzPts val="4200"/>
              <a:buNone/>
              <a:defRPr sz="4200"/>
            </a:lvl2pPr>
            <a:lvl3pPr lvl="2" algn="ctr" rtl="1">
              <a:lnSpc>
                <a:spcPct val="100000"/>
              </a:lnSpc>
              <a:spcBef>
                <a:spcPts val="0"/>
              </a:spcBef>
              <a:spcAft>
                <a:spcPts val="0"/>
              </a:spcAft>
              <a:buSzPts val="4200"/>
              <a:buNone/>
              <a:defRPr sz="4200"/>
            </a:lvl3pPr>
            <a:lvl4pPr lvl="3" algn="ctr" rtl="1">
              <a:lnSpc>
                <a:spcPct val="100000"/>
              </a:lnSpc>
              <a:spcBef>
                <a:spcPts val="0"/>
              </a:spcBef>
              <a:spcAft>
                <a:spcPts val="0"/>
              </a:spcAft>
              <a:buSzPts val="4200"/>
              <a:buNone/>
              <a:defRPr sz="4200"/>
            </a:lvl4pPr>
            <a:lvl5pPr lvl="4" algn="ctr" rtl="1">
              <a:lnSpc>
                <a:spcPct val="100000"/>
              </a:lnSpc>
              <a:spcBef>
                <a:spcPts val="0"/>
              </a:spcBef>
              <a:spcAft>
                <a:spcPts val="0"/>
              </a:spcAft>
              <a:buSzPts val="4200"/>
              <a:buNone/>
              <a:defRPr sz="4200"/>
            </a:lvl5pPr>
            <a:lvl6pPr lvl="5" algn="ctr" rtl="1">
              <a:lnSpc>
                <a:spcPct val="100000"/>
              </a:lnSpc>
              <a:spcBef>
                <a:spcPts val="0"/>
              </a:spcBef>
              <a:spcAft>
                <a:spcPts val="0"/>
              </a:spcAft>
              <a:buSzPts val="4200"/>
              <a:buNone/>
              <a:defRPr sz="4200"/>
            </a:lvl6pPr>
            <a:lvl7pPr lvl="6" algn="ctr" rtl="1">
              <a:lnSpc>
                <a:spcPct val="100000"/>
              </a:lnSpc>
              <a:spcBef>
                <a:spcPts val="0"/>
              </a:spcBef>
              <a:spcAft>
                <a:spcPts val="0"/>
              </a:spcAft>
              <a:buSzPts val="4200"/>
              <a:buNone/>
              <a:defRPr sz="4200"/>
            </a:lvl7pPr>
            <a:lvl8pPr lvl="7" algn="ctr" rtl="1">
              <a:lnSpc>
                <a:spcPct val="100000"/>
              </a:lnSpc>
              <a:spcBef>
                <a:spcPts val="0"/>
              </a:spcBef>
              <a:spcAft>
                <a:spcPts val="0"/>
              </a:spcAft>
              <a:buSzPts val="4200"/>
              <a:buNone/>
              <a:defRPr sz="4200"/>
            </a:lvl8pPr>
            <a:lvl9pPr lvl="8" algn="ctr" rtl="1">
              <a:lnSpc>
                <a:spcPct val="100000"/>
              </a:lnSpc>
              <a:spcBef>
                <a:spcPts val="0"/>
              </a:spcBef>
              <a:spcAft>
                <a:spcPts val="0"/>
              </a:spcAft>
              <a:buSzPts val="4200"/>
              <a:buNone/>
              <a:defRPr sz="4200"/>
            </a:lvl9pPr>
          </a:lstStyle>
          <a:p>
            <a:endParaRPr/>
          </a:p>
        </p:txBody>
      </p:sp>
      <p:sp>
        <p:nvSpPr>
          <p:cNvPr id="36" name="Google Shape;36;p3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rtl="1">
              <a:lnSpc>
                <a:spcPct val="100000"/>
              </a:lnSpc>
              <a:spcBef>
                <a:spcPts val="0"/>
              </a:spcBef>
              <a:spcAft>
                <a:spcPts val="0"/>
              </a:spcAft>
              <a:buSzPts val="2100"/>
              <a:buNone/>
              <a:defRPr sz="2100"/>
            </a:lvl1pPr>
            <a:lvl2pPr lvl="1" algn="ctr" rtl="1">
              <a:lnSpc>
                <a:spcPct val="100000"/>
              </a:lnSpc>
              <a:spcBef>
                <a:spcPts val="0"/>
              </a:spcBef>
              <a:spcAft>
                <a:spcPts val="0"/>
              </a:spcAft>
              <a:buSzPts val="2100"/>
              <a:buNone/>
              <a:defRPr sz="2100"/>
            </a:lvl2pPr>
            <a:lvl3pPr lvl="2" algn="ctr" rtl="1">
              <a:lnSpc>
                <a:spcPct val="100000"/>
              </a:lnSpc>
              <a:spcBef>
                <a:spcPts val="0"/>
              </a:spcBef>
              <a:spcAft>
                <a:spcPts val="0"/>
              </a:spcAft>
              <a:buSzPts val="2100"/>
              <a:buNone/>
              <a:defRPr sz="2100"/>
            </a:lvl3pPr>
            <a:lvl4pPr lvl="3" algn="ctr" rtl="1">
              <a:lnSpc>
                <a:spcPct val="100000"/>
              </a:lnSpc>
              <a:spcBef>
                <a:spcPts val="0"/>
              </a:spcBef>
              <a:spcAft>
                <a:spcPts val="0"/>
              </a:spcAft>
              <a:buSzPts val="2100"/>
              <a:buNone/>
              <a:defRPr sz="2100"/>
            </a:lvl4pPr>
            <a:lvl5pPr lvl="4" algn="ctr" rtl="1">
              <a:lnSpc>
                <a:spcPct val="100000"/>
              </a:lnSpc>
              <a:spcBef>
                <a:spcPts val="0"/>
              </a:spcBef>
              <a:spcAft>
                <a:spcPts val="0"/>
              </a:spcAft>
              <a:buSzPts val="2100"/>
              <a:buNone/>
              <a:defRPr sz="2100"/>
            </a:lvl5pPr>
            <a:lvl6pPr lvl="5" algn="ctr" rtl="1">
              <a:lnSpc>
                <a:spcPct val="100000"/>
              </a:lnSpc>
              <a:spcBef>
                <a:spcPts val="0"/>
              </a:spcBef>
              <a:spcAft>
                <a:spcPts val="0"/>
              </a:spcAft>
              <a:buSzPts val="2100"/>
              <a:buNone/>
              <a:defRPr sz="2100"/>
            </a:lvl6pPr>
            <a:lvl7pPr lvl="6" algn="ctr" rtl="1">
              <a:lnSpc>
                <a:spcPct val="100000"/>
              </a:lnSpc>
              <a:spcBef>
                <a:spcPts val="0"/>
              </a:spcBef>
              <a:spcAft>
                <a:spcPts val="0"/>
              </a:spcAft>
              <a:buSzPts val="2100"/>
              <a:buNone/>
              <a:defRPr sz="2100"/>
            </a:lvl7pPr>
            <a:lvl8pPr lvl="7" algn="ctr" rtl="1">
              <a:lnSpc>
                <a:spcPct val="100000"/>
              </a:lnSpc>
              <a:spcBef>
                <a:spcPts val="0"/>
              </a:spcBef>
              <a:spcAft>
                <a:spcPts val="0"/>
              </a:spcAft>
              <a:buSzPts val="2100"/>
              <a:buNone/>
              <a:defRPr sz="2100"/>
            </a:lvl8pPr>
            <a:lvl9pPr lvl="8" algn="ctr" rtl="1">
              <a:lnSpc>
                <a:spcPct val="100000"/>
              </a:lnSpc>
              <a:spcBef>
                <a:spcPts val="0"/>
              </a:spcBef>
              <a:spcAft>
                <a:spcPts val="0"/>
              </a:spcAft>
              <a:buSzPts val="2100"/>
              <a:buNone/>
              <a:defRPr sz="2100"/>
            </a:lvl9pPr>
          </a:lstStyle>
          <a:p>
            <a:endParaRPr/>
          </a:p>
        </p:txBody>
      </p:sp>
      <p:sp>
        <p:nvSpPr>
          <p:cNvPr id="37" name="Google Shape;37;p3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rtl="1">
              <a:lnSpc>
                <a:spcPct val="115000"/>
              </a:lnSpc>
              <a:spcBef>
                <a:spcPts val="0"/>
              </a:spcBef>
              <a:spcAft>
                <a:spcPts val="0"/>
              </a:spcAft>
              <a:buSzPts val="1800"/>
              <a:buChar char="●"/>
              <a:defRPr/>
            </a:lvl1pPr>
            <a:lvl2pPr marL="914400" lvl="1" indent="-317500" algn="l" rtl="1">
              <a:lnSpc>
                <a:spcPct val="115000"/>
              </a:lnSpc>
              <a:spcBef>
                <a:spcPts val="0"/>
              </a:spcBef>
              <a:spcAft>
                <a:spcPts val="0"/>
              </a:spcAft>
              <a:buSzPts val="1400"/>
              <a:buChar char="○"/>
              <a:defRPr/>
            </a:lvl2pPr>
            <a:lvl3pPr marL="1371600" lvl="2" indent="-317500" algn="l" rtl="1">
              <a:lnSpc>
                <a:spcPct val="115000"/>
              </a:lnSpc>
              <a:spcBef>
                <a:spcPts val="0"/>
              </a:spcBef>
              <a:spcAft>
                <a:spcPts val="0"/>
              </a:spcAft>
              <a:buSzPts val="1400"/>
              <a:buChar char="■"/>
              <a:defRPr/>
            </a:lvl3pPr>
            <a:lvl4pPr marL="1828800" lvl="3" indent="-317500" algn="l" rtl="1">
              <a:lnSpc>
                <a:spcPct val="115000"/>
              </a:lnSpc>
              <a:spcBef>
                <a:spcPts val="0"/>
              </a:spcBef>
              <a:spcAft>
                <a:spcPts val="0"/>
              </a:spcAft>
              <a:buSzPts val="1400"/>
              <a:buChar char="●"/>
              <a:defRPr/>
            </a:lvl4pPr>
            <a:lvl5pPr marL="2286000" lvl="4" indent="-317500" algn="l" rtl="1">
              <a:lnSpc>
                <a:spcPct val="115000"/>
              </a:lnSpc>
              <a:spcBef>
                <a:spcPts val="0"/>
              </a:spcBef>
              <a:spcAft>
                <a:spcPts val="0"/>
              </a:spcAft>
              <a:buSzPts val="1400"/>
              <a:buChar char="○"/>
              <a:defRPr/>
            </a:lvl5pPr>
            <a:lvl6pPr marL="2743200" lvl="5" indent="-317500" algn="l" rtl="1">
              <a:lnSpc>
                <a:spcPct val="115000"/>
              </a:lnSpc>
              <a:spcBef>
                <a:spcPts val="0"/>
              </a:spcBef>
              <a:spcAft>
                <a:spcPts val="0"/>
              </a:spcAft>
              <a:buSzPts val="1400"/>
              <a:buChar char="■"/>
              <a:defRPr/>
            </a:lvl6pPr>
            <a:lvl7pPr marL="3200400" lvl="6" indent="-317500" algn="l" rtl="1">
              <a:lnSpc>
                <a:spcPct val="115000"/>
              </a:lnSpc>
              <a:spcBef>
                <a:spcPts val="0"/>
              </a:spcBef>
              <a:spcAft>
                <a:spcPts val="0"/>
              </a:spcAft>
              <a:buSzPts val="1400"/>
              <a:buChar char="●"/>
              <a:defRPr/>
            </a:lvl7pPr>
            <a:lvl8pPr marL="3657600" lvl="7" indent="-317500" algn="l" rtl="1">
              <a:lnSpc>
                <a:spcPct val="115000"/>
              </a:lnSpc>
              <a:spcBef>
                <a:spcPts val="0"/>
              </a:spcBef>
              <a:spcAft>
                <a:spcPts val="0"/>
              </a:spcAft>
              <a:buSzPts val="1400"/>
              <a:buChar char="○"/>
              <a:defRPr/>
            </a:lvl8pPr>
            <a:lvl9pPr marL="4114800" lvl="8" indent="-317500" algn="l" rtl="1">
              <a:lnSpc>
                <a:spcPct val="115000"/>
              </a:lnSpc>
              <a:spcBef>
                <a:spcPts val="0"/>
              </a:spcBef>
              <a:spcAft>
                <a:spcPts val="0"/>
              </a:spcAft>
              <a:buSzPts val="1400"/>
              <a:buChar char="■"/>
              <a:defRPr/>
            </a:lvl9pPr>
          </a:lstStyle>
          <a:p>
            <a:endParaRPr/>
          </a:p>
        </p:txBody>
      </p:sp>
      <p:sp>
        <p:nvSpPr>
          <p:cNvPr id="38" name="Google Shape;38;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9">
            <a:alphaModFix/>
          </a:blip>
          <a:stretch>
            <a:fillRect/>
          </a:stretch>
        </a:blipFill>
        <a:effectLst/>
      </p:bgPr>
    </p:bg>
    <p:spTree>
      <p:nvGrpSpPr>
        <p:cNvPr id="1" name="Shape 5"/>
        <p:cNvGrpSpPr/>
        <p:nvPr/>
      </p:nvGrpSpPr>
      <p:grpSpPr>
        <a:xfrm>
          <a:off x="0" y="0"/>
          <a:ext cx="0" cy="0"/>
          <a:chOff x="0" y="0"/>
          <a:chExt cx="0" cy="0"/>
        </a:xfrm>
      </p:grpSpPr>
      <p:sp>
        <p:nvSpPr>
          <p:cNvPr id="6" name="Google Shape;6;p22"/>
          <p:cNvSpPr txBox="1">
            <a:spLocks noGrp="1"/>
          </p:cNvSpPr>
          <p:nvPr>
            <p:ph type="title"/>
          </p:nvPr>
        </p:nvSpPr>
        <p:spPr>
          <a:xfrm>
            <a:off x="311700" y="282450"/>
            <a:ext cx="8520600" cy="572700"/>
          </a:xfrm>
          <a:prstGeom prst="rect">
            <a:avLst/>
          </a:prstGeom>
          <a:noFill/>
          <a:ln>
            <a:noFill/>
          </a:ln>
        </p:spPr>
        <p:txBody>
          <a:bodyPr spcFirstLastPara="1" wrap="square" lIns="91425" tIns="91425" rIns="91425" bIns="91425" anchor="t" anchorCtr="0">
            <a:normAutofit/>
          </a:bodyPr>
          <a:lstStyle>
            <a:lvl1pPr marR="0" lvl="0" algn="l" rtl="1">
              <a:lnSpc>
                <a:spcPct val="100000"/>
              </a:lnSpc>
              <a:spcBef>
                <a:spcPts val="0"/>
              </a:spcBef>
              <a:spcAft>
                <a:spcPts val="0"/>
              </a:spcAft>
              <a:buClr>
                <a:srgbClr val="4F29B7"/>
              </a:buClr>
              <a:buSzPts val="2500"/>
              <a:buFont typeface="IBM Plex Sans Arabic Medium"/>
              <a:buNone/>
              <a:defRPr sz="2500" b="0" i="0" u="none" strike="noStrike" cap="none">
                <a:solidFill>
                  <a:srgbClr val="4F29B7"/>
                </a:solidFill>
                <a:latin typeface="IBM Plex Sans Arabic Medium"/>
                <a:ea typeface="IBM Plex Sans Arabic Medium"/>
                <a:cs typeface="IBM Plex Sans Arabic Medium"/>
                <a:sym typeface="IBM Plex Sans Arabic Medium"/>
              </a:defRPr>
            </a:lvl1pPr>
            <a:lvl2pPr marR="0" lvl="1"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2pPr>
            <a:lvl3pPr marR="0" lvl="2"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3pPr>
            <a:lvl4pPr marR="0" lvl="3"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4pPr>
            <a:lvl5pPr marR="0" lvl="4"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5pPr>
            <a:lvl6pPr marR="0" lvl="5"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6pPr>
            <a:lvl7pPr marR="0" lvl="6"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7pPr>
            <a:lvl8pPr marR="0" lvl="7"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8pPr>
            <a:lvl9pPr marR="0" lvl="8"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9pPr>
          </a:lstStyle>
          <a:p>
            <a:endParaRPr/>
          </a:p>
        </p:txBody>
      </p:sp>
      <p:sp>
        <p:nvSpPr>
          <p:cNvPr id="7" name="Google Shape;7;p2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1">
              <a:lnSpc>
                <a:spcPct val="115000"/>
              </a:lnSpc>
              <a:spcBef>
                <a:spcPts val="0"/>
              </a:spcBef>
              <a:spcAft>
                <a:spcPts val="0"/>
              </a:spcAft>
              <a:buClr>
                <a:srgbClr val="252526"/>
              </a:buClr>
              <a:buSzPts val="1800"/>
              <a:buFont typeface="IBM Plex Sans Arabic"/>
              <a:buChar char="●"/>
              <a:defRPr sz="1800" b="0" i="0" u="none" strike="noStrike" cap="none">
                <a:solidFill>
                  <a:srgbClr val="252526"/>
                </a:solidFill>
                <a:latin typeface="IBM Plex Sans Arabic"/>
                <a:ea typeface="IBM Plex Sans Arabic"/>
                <a:cs typeface="IBM Plex Sans Arabic"/>
                <a:sym typeface="IBM Plex Sans Arabic"/>
              </a:defRPr>
            </a:lvl1pPr>
            <a:lvl2pPr marL="914400" marR="0" lvl="1"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2pPr>
            <a:lvl3pPr marL="1371600" marR="0" lvl="2"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3pPr>
            <a:lvl4pPr marL="1828800" marR="0" lvl="3"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4pPr>
            <a:lvl5pPr marL="2286000" marR="0" lvl="4"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5pPr>
            <a:lvl6pPr marL="2743200" marR="0" lvl="5"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6pPr>
            <a:lvl7pPr marL="3200400" marR="0" lvl="6"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7pPr>
            <a:lvl8pPr marL="3657600" marR="0" lvl="7"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8pPr>
            <a:lvl9pPr marL="4114800" marR="0" lvl="8"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9pPr>
          </a:lstStyle>
          <a:p>
            <a:endParaRPr/>
          </a:p>
        </p:txBody>
      </p:sp>
      <p:sp>
        <p:nvSpPr>
          <p:cNvPr id="8" name="Google Shape;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9" name="Google Shape;9;p22"/>
          <p:cNvPicPr preferRelativeResize="0"/>
          <p:nvPr/>
        </p:nvPicPr>
        <p:blipFill rotWithShape="1">
          <a:blip r:embed="rId10">
            <a:alphaModFix/>
          </a:blip>
          <a:srcRect/>
          <a:stretch/>
        </p:blipFill>
        <p:spPr>
          <a:xfrm>
            <a:off x="8030954" y="17475"/>
            <a:ext cx="1266092" cy="1007909"/>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3.xml"/><Relationship Id="rId6" Type="http://schemas.openxmlformats.org/officeDocument/2006/relationships/hyperlink" Target="https://www.wallpaperflare.com/wallpaper-programmer-coding-pattern-text-full-frame-backgrounds-wallpaper-pfdto" TargetMode="External"/><Relationship Id="rId5" Type="http://schemas.openxmlformats.org/officeDocument/2006/relationships/image" Target="../media/image17.jpg"/><Relationship Id="rId4" Type="http://schemas.openxmlformats.org/officeDocument/2006/relationships/hyperlink" Target="https://drive.google.com/file/d/1IRkEZrnhjmfUp40341wWFPXmyV2u1irY/view?usp=share_link"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3.xml"/><Relationship Id="rId5" Type="http://schemas.openxmlformats.org/officeDocument/2006/relationships/hyperlink" Target="https://course.fast.ai/" TargetMode="External"/><Relationship Id="rId4" Type="http://schemas.openxmlformats.org/officeDocument/2006/relationships/hyperlink" Target="https://www.coursera.org/specializations/deep-learning" TargetMode="External"/></Relationships>
</file>

<file path=ppt/slides/_rels/slide28.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18" Type="http://schemas.openxmlformats.org/officeDocument/2006/relationships/image" Target="../media/image33.pn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png"/><Relationship Id="rId17" Type="http://schemas.openxmlformats.org/officeDocument/2006/relationships/image" Target="../media/image32.png"/><Relationship Id="rId2" Type="http://schemas.openxmlformats.org/officeDocument/2006/relationships/notesSlide" Target="../notesSlides/notesSlide28.xml"/><Relationship Id="rId16" Type="http://schemas.openxmlformats.org/officeDocument/2006/relationships/image" Target="../media/image31.png"/><Relationship Id="rId1" Type="http://schemas.openxmlformats.org/officeDocument/2006/relationships/slideLayout" Target="../slideLayouts/slideLayout4.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5" Type="http://schemas.openxmlformats.org/officeDocument/2006/relationships/image" Target="../media/image30.png"/><Relationship Id="rId10" Type="http://schemas.openxmlformats.org/officeDocument/2006/relationships/image" Target="../media/image25.png"/><Relationship Id="rId19" Type="http://schemas.openxmlformats.org/officeDocument/2006/relationships/image" Target="../media/image34.png"/><Relationship Id="rId4" Type="http://schemas.openxmlformats.org/officeDocument/2006/relationships/image" Target="../media/image19.png"/><Relationship Id="rId9" Type="http://schemas.openxmlformats.org/officeDocument/2006/relationships/image" Target="../media/image24.png"/><Relationship Id="rId14" Type="http://schemas.openxmlformats.org/officeDocument/2006/relationships/image" Target="../media/image29.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1"/>
          <p:cNvSpPr txBox="1">
            <a:spLocks noGrp="1"/>
          </p:cNvSpPr>
          <p:nvPr>
            <p:ph type="title"/>
          </p:nvPr>
        </p:nvSpPr>
        <p:spPr>
          <a:xfrm>
            <a:off x="5435226" y="867625"/>
            <a:ext cx="2974200" cy="2262000"/>
          </a:xfrm>
          <a:prstGeom prst="rect">
            <a:avLst/>
          </a:prstGeom>
          <a:noFill/>
          <a:ln>
            <a:noFill/>
          </a:ln>
        </p:spPr>
        <p:txBody>
          <a:bodyPr spcFirstLastPara="1" wrap="square" lIns="91425" tIns="91425" rIns="91425" bIns="91425" anchor="b" anchorCtr="0">
            <a:normAutofit/>
          </a:bodyPr>
          <a:lstStyle/>
          <a:p>
            <a:pPr marL="0" lvl="0" indent="0" algn="r" rtl="0">
              <a:lnSpc>
                <a:spcPct val="100000"/>
              </a:lnSpc>
              <a:spcBef>
                <a:spcPts val="0"/>
              </a:spcBef>
              <a:spcAft>
                <a:spcPts val="0"/>
              </a:spcAft>
              <a:buSzPts val="12000"/>
              <a:buNone/>
            </a:pPr>
            <a:r>
              <a:rPr lang="en-US" sz="4800">
                <a:solidFill>
                  <a:srgbClr val="58E3D8"/>
                </a:solidFill>
                <a:latin typeface="IBM Plex Sans Arabic SemiBold"/>
                <a:ea typeface="IBM Plex Sans Arabic SemiBold"/>
                <a:cs typeface="IBM Plex Sans Arabic SemiBold"/>
                <a:sym typeface="IBM Plex Sans Arabic SemiBold"/>
              </a:rPr>
              <a:t>أكـــــاديميــــة طــــويـــق</a:t>
            </a:r>
            <a:endParaRPr sz="4800">
              <a:solidFill>
                <a:srgbClr val="58E3D8"/>
              </a:solidFill>
              <a:latin typeface="IBM Plex Sans Arabic SemiBold"/>
              <a:ea typeface="IBM Plex Sans Arabic SemiBold"/>
              <a:cs typeface="IBM Plex Sans Arabic SemiBold"/>
              <a:sym typeface="IBM Plex Sans Arabic SemiBold"/>
            </a:endParaRPr>
          </a:p>
        </p:txBody>
      </p:sp>
      <p:sp>
        <p:nvSpPr>
          <p:cNvPr id="44" name="Google Shape;44;p1"/>
          <p:cNvSpPr txBox="1">
            <a:spLocks noGrp="1"/>
          </p:cNvSpPr>
          <p:nvPr>
            <p:ph type="body" idx="4294967295"/>
          </p:nvPr>
        </p:nvSpPr>
        <p:spPr>
          <a:xfrm>
            <a:off x="3902100" y="3253272"/>
            <a:ext cx="4447500" cy="1973484"/>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1200"/>
              </a:spcAft>
              <a:buSzPts val="1800"/>
              <a:buNone/>
            </a:pPr>
            <a:r>
              <a:rPr lang="en-US" sz="3600" dirty="0">
                <a:solidFill>
                  <a:schemeClr val="lt1"/>
                </a:solidFill>
                <a:latin typeface="IBM Plex Sans Arabic Medium"/>
                <a:ea typeface="IBM Plex Sans Arabic Medium"/>
                <a:cs typeface="IBM Plex Sans Arabic Medium"/>
                <a:sym typeface="IBM Plex Sans Arabic Medium"/>
              </a:rPr>
              <a:t>Deep Learning</a:t>
            </a:r>
            <a:endParaRPr sz="3600" dirty="0">
              <a:solidFill>
                <a:schemeClr val="lt1"/>
              </a:solidFill>
              <a:latin typeface="IBM Plex Sans Arabic Medium"/>
              <a:ea typeface="IBM Plex Sans Arabic Medium"/>
              <a:cs typeface="IBM Plex Sans Arabic Medium"/>
              <a:sym typeface="IBM Plex Sans Arabic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9" name="Google Shape;49;p2"/>
          <p:cNvSpPr txBox="1">
            <a:spLocks noGrp="1"/>
          </p:cNvSpPr>
          <p:nvPr>
            <p:ph type="ctrTitle"/>
          </p:nvPr>
        </p:nvSpPr>
        <p:spPr>
          <a:xfrm>
            <a:off x="311700" y="1984439"/>
            <a:ext cx="8520600" cy="2052600"/>
          </a:xfrm>
          <a:prstGeom prst="rect">
            <a:avLst/>
          </a:prstGeom>
          <a:noFill/>
          <a:ln>
            <a:noFill/>
          </a:ln>
        </p:spPr>
        <p:txBody>
          <a:bodyPr spcFirstLastPara="1" wrap="square" lIns="91425" tIns="91425" rIns="91425" bIns="91425" anchor="b" anchorCtr="0">
            <a:normAutofit fontScale="90000"/>
          </a:bodyPr>
          <a:lstStyle/>
          <a:p>
            <a:r>
              <a:rPr lang="en-GB" sz="4000" b="0" i="0" u="none" strike="noStrike" dirty="0">
                <a:solidFill>
                  <a:srgbClr val="7030A0"/>
                </a:solidFill>
                <a:effectLst/>
                <a:latin typeface="Times New Roman" panose="02020603050405020304" pitchFamily="18" charset="0"/>
              </a:rPr>
              <a:t>Popular CNN Architectures</a:t>
            </a:r>
            <a:br>
              <a:rPr lang="en-GB" sz="4000" b="1" i="0" u="none" strike="noStrike" dirty="0">
                <a:solidFill>
                  <a:srgbClr val="7030A0"/>
                </a:solidFill>
                <a:effectLst/>
                <a:latin typeface="Times New Roman" panose="02020603050405020304" pitchFamily="18" charset="0"/>
              </a:rPr>
            </a:br>
            <a:br>
              <a:rPr lang="en-GB" sz="3200" b="1" i="0" u="none" strike="noStrike" dirty="0">
                <a:solidFill>
                  <a:srgbClr val="7030A0"/>
                </a:solidFill>
                <a:effectLst/>
                <a:latin typeface="Arial" panose="020B0604020202020204" pitchFamily="34" charset="0"/>
              </a:rPr>
            </a:br>
            <a:br>
              <a:rPr lang="en-GB" sz="3200" b="1" i="0" u="none" strike="noStrike" dirty="0">
                <a:solidFill>
                  <a:srgbClr val="7030A0"/>
                </a:solidFill>
                <a:effectLst/>
                <a:latin typeface="Arial" panose="020B0604020202020204" pitchFamily="34" charset="0"/>
              </a:rPr>
            </a:br>
            <a:br>
              <a:rPr lang="en-US" sz="1800" dirty="0">
                <a:latin typeface="Calibri"/>
                <a:ea typeface="Calibri"/>
                <a:cs typeface="Calibri"/>
                <a:sym typeface="Calibri"/>
              </a:rPr>
            </a:br>
            <a:endParaRPr dirty="0"/>
          </a:p>
        </p:txBody>
      </p:sp>
      <p:sp>
        <p:nvSpPr>
          <p:cNvPr id="50" name="Google Shape;50;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114300" indent="0" algn="l" rtl="0" fontAlgn="base">
              <a:spcBef>
                <a:spcPts val="1200"/>
              </a:spcBef>
              <a:spcAft>
                <a:spcPts val="1200"/>
              </a:spcAft>
            </a:pPr>
            <a:r>
              <a:rPr lang="en-GB" sz="1800" b="0" i="0" u="none" strike="noStrike" dirty="0">
                <a:solidFill>
                  <a:srgbClr val="000000"/>
                </a:solidFill>
                <a:effectLst/>
                <a:latin typeface="Times New Roman" panose="02020603050405020304" pitchFamily="18" charset="0"/>
              </a:rPr>
              <a:t>			LeNet, </a:t>
            </a:r>
            <a:r>
              <a:rPr lang="en-GB" sz="1800" b="0" i="0" u="none" strike="noStrike" dirty="0" err="1">
                <a:solidFill>
                  <a:srgbClr val="000000"/>
                </a:solidFill>
                <a:effectLst/>
                <a:latin typeface="Times New Roman" panose="02020603050405020304" pitchFamily="18" charset="0"/>
              </a:rPr>
              <a:t>AlexNet</a:t>
            </a:r>
            <a:endParaRPr lang="en-GB" sz="1800" b="1" i="0" u="none" strike="noStrike" dirty="0">
              <a:solidFill>
                <a:srgbClr val="000000"/>
              </a:solidFill>
              <a:effectLst/>
              <a:latin typeface="Times New Roman" panose="02020603050405020304" pitchFamily="18" charset="0"/>
            </a:endParaRPr>
          </a:p>
        </p:txBody>
      </p:sp>
      <p:sp>
        <p:nvSpPr>
          <p:cNvPr id="51" name="Google Shape;51;p2"/>
          <p:cNvSpPr txBox="1"/>
          <p:nvPr/>
        </p:nvSpPr>
        <p:spPr>
          <a:xfrm>
            <a:off x="3527778" y="4245036"/>
            <a:ext cx="45720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Calibri"/>
                <a:ea typeface="Calibri"/>
                <a:cs typeface="Calibri"/>
                <a:sym typeface="Calibri"/>
              </a:rPr>
              <a:t>By: Dr. Afshan Hashmi</a:t>
            </a:r>
            <a:endParaRPr sz="1400" b="1"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3"/>
          <p:cNvSpPr txBox="1"/>
          <p:nvPr/>
        </p:nvSpPr>
        <p:spPr>
          <a:xfrm>
            <a:off x="1063886" y="1224736"/>
            <a:ext cx="6634716" cy="2308284"/>
          </a:xfrm>
          <a:prstGeom prst="rect">
            <a:avLst/>
          </a:prstGeom>
          <a:noFill/>
          <a:ln>
            <a:noFill/>
          </a:ln>
        </p:spPr>
        <p:txBody>
          <a:bodyPr spcFirstLastPara="1" wrap="square" lIns="91425" tIns="45700" rIns="91425" bIns="45700" anchor="t" anchorCtr="0">
            <a:spAutoFit/>
          </a:bodyPr>
          <a:lstStyle/>
          <a:p>
            <a:pPr marL="0" marR="0" lvl="0" indent="0" algn="just" rtl="0">
              <a:lnSpc>
                <a:spcPct val="125000"/>
              </a:lnSpc>
              <a:spcBef>
                <a:spcPts val="0"/>
              </a:spcBef>
              <a:spcAft>
                <a:spcPts val="0"/>
              </a:spcAft>
              <a:buNone/>
            </a:pPr>
            <a:r>
              <a:rPr lang="en-US" sz="2400" b="1" i="0" u="none" strike="noStrike" cap="none" dirty="0">
                <a:solidFill>
                  <a:srgbClr val="7030A0"/>
                </a:solidFill>
                <a:latin typeface="Arial"/>
                <a:ea typeface="Arial"/>
                <a:cs typeface="Arial"/>
                <a:sym typeface="Arial"/>
              </a:rPr>
              <a:t>Course Objectives:</a:t>
            </a:r>
            <a:endParaRPr dirty="0"/>
          </a:p>
          <a:p>
            <a:pPr marL="342900" indent="-342900">
              <a:buFont typeface="+mj-lt"/>
              <a:buAutoNum type="arabicPeriod"/>
            </a:pPr>
            <a:r>
              <a:rPr lang="en-GB" sz="2000" dirty="0">
                <a:effectLst/>
              </a:rPr>
              <a:t>Understanding the popular CNN Architectures</a:t>
            </a:r>
          </a:p>
          <a:p>
            <a:pPr marL="342900" indent="-342900">
              <a:buFont typeface="+mj-lt"/>
              <a:buAutoNum type="arabicPeriod"/>
            </a:pPr>
            <a:r>
              <a:rPr lang="en-GB" sz="2000" dirty="0"/>
              <a:t>Explaining LeNet Architecture and Its Layers</a:t>
            </a:r>
            <a:r>
              <a:rPr lang="en-GB" sz="2000" dirty="0">
                <a:effectLst/>
              </a:rPr>
              <a:t>.</a:t>
            </a:r>
          </a:p>
          <a:p>
            <a:pPr marL="342900" indent="-342900">
              <a:buFont typeface="+mj-lt"/>
              <a:buAutoNum type="arabicPeriod"/>
            </a:pPr>
            <a:r>
              <a:rPr lang="en-GB" sz="2000" dirty="0"/>
              <a:t>Explaining </a:t>
            </a:r>
            <a:r>
              <a:rPr lang="en-GB" sz="2000" dirty="0" err="1"/>
              <a:t>AlexNet</a:t>
            </a:r>
            <a:r>
              <a:rPr lang="en-GB" sz="2000" dirty="0"/>
              <a:t> Architecture and Its Layers</a:t>
            </a:r>
            <a:r>
              <a:rPr lang="en-GB" sz="2000" dirty="0">
                <a:effectLst/>
              </a:rPr>
              <a:t>.</a:t>
            </a:r>
          </a:p>
          <a:p>
            <a:pPr marL="342900" indent="-342900">
              <a:buFont typeface="+mj-lt"/>
              <a:buAutoNum type="arabicPeriod"/>
            </a:pPr>
            <a:r>
              <a:rPr lang="en-GB" sz="2000" dirty="0">
                <a:effectLst/>
              </a:rPr>
              <a:t>Implementing  LeNet and </a:t>
            </a:r>
            <a:r>
              <a:rPr lang="en-GB" sz="2000" dirty="0" err="1">
                <a:effectLst/>
              </a:rPr>
              <a:t>AlexNet</a:t>
            </a:r>
            <a:r>
              <a:rPr lang="en-GB" sz="2000" dirty="0">
                <a:effectLst/>
              </a:rPr>
              <a:t> Architecture on Google </a:t>
            </a:r>
            <a:r>
              <a:rPr lang="en-GB" sz="2000" dirty="0" err="1">
                <a:effectLst/>
              </a:rPr>
              <a:t>Colab</a:t>
            </a:r>
            <a:endParaRPr lang="en-GB" sz="2000" dirty="0">
              <a:effectLst/>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44EF5623-6B09-C586-D026-E1815682342B}"/>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1B8CE39D-1BAA-9EAF-5C66-19BBE6DD2056}"/>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200" b="1" i="0" u="none" strike="noStrike" dirty="0">
                <a:solidFill>
                  <a:srgbClr val="7030A0"/>
                </a:solidFill>
                <a:effectLst/>
                <a:latin typeface="+mj-lt"/>
              </a:rPr>
              <a:t>Introduction to CNN Architectures</a:t>
            </a:r>
            <a:br>
              <a:rPr lang="en-GB" sz="3200" b="1" i="0" u="none" strike="noStrike" dirty="0">
                <a:solidFill>
                  <a:srgbClr val="7030A0"/>
                </a:solidFill>
                <a:effectLst/>
                <a:latin typeface="+mj-lt"/>
              </a:rPr>
            </a:br>
            <a:br>
              <a:rPr lang="en-GB" sz="3100" b="1" i="0" u="none" strike="noStrike" dirty="0">
                <a:solidFill>
                  <a:srgbClr val="7030A0"/>
                </a:solidFill>
                <a:effectLst/>
                <a:latin typeface="+mj-lt"/>
              </a:rPr>
            </a:br>
            <a:br>
              <a:rPr lang="en-GB" b="1" i="0" u="none" strike="noStrike" dirty="0">
                <a:solidFill>
                  <a:srgbClr val="7030A0"/>
                </a:solidFill>
                <a:effectLst/>
                <a:latin typeface="+mj-lt"/>
              </a:rPr>
            </a:br>
            <a:br>
              <a:rPr lang="en-GB" b="1" i="0" u="none" strike="noStrike" dirty="0">
                <a:solidFill>
                  <a:srgbClr val="7030A0"/>
                </a:solidFill>
                <a:effectLst/>
                <a:latin typeface="+mj-lt"/>
              </a:rPr>
            </a:br>
            <a:endParaRPr lang="en-GB"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A4482F75-B306-CAB6-0919-E013D5E5A039}"/>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C1E7B443-016B-2F0F-23AA-504B7B468665}"/>
              </a:ext>
            </a:extLst>
          </p:cNvPr>
          <p:cNvSpPr txBox="1"/>
          <p:nvPr/>
        </p:nvSpPr>
        <p:spPr>
          <a:xfrm>
            <a:off x="174929" y="850790"/>
            <a:ext cx="8841850" cy="3570208"/>
          </a:xfrm>
          <a:prstGeom prst="rect">
            <a:avLst/>
          </a:prstGeom>
          <a:noFill/>
        </p:spPr>
        <p:txBody>
          <a:bodyPr wrap="square">
            <a:spAutoFit/>
          </a:bodyPr>
          <a:lstStyle/>
          <a:p>
            <a:pPr algn="l">
              <a:buNone/>
            </a:pPr>
            <a:r>
              <a:rPr lang="en-GB" sz="2000" b="0" i="0" u="none" strike="noStrike" dirty="0">
                <a:solidFill>
                  <a:srgbClr val="404040"/>
                </a:solidFill>
                <a:effectLst/>
                <a:latin typeface="+mj-lt"/>
              </a:rPr>
              <a:t>Convolutional Neural Networks (CNNs) are the backbone of modern computer vision. Different architectures have been developed over time, each improving upon the previous ones in terms of accuracy, efficiency, and depth. This covers:</a:t>
            </a:r>
          </a:p>
          <a:p>
            <a:pPr marL="457200" indent="-457200" algn="l">
              <a:buFont typeface="+mj-lt"/>
              <a:buAutoNum type="arabicPeriod"/>
            </a:pPr>
            <a:r>
              <a:rPr lang="en-GB" sz="2000" b="1" i="0" u="none" strike="noStrike" dirty="0">
                <a:solidFill>
                  <a:srgbClr val="404040"/>
                </a:solidFill>
                <a:effectLst/>
                <a:latin typeface="+mj-lt"/>
              </a:rPr>
              <a:t>LeNet-5</a:t>
            </a:r>
            <a:r>
              <a:rPr lang="en-GB" sz="2000" b="0" i="0" u="none" strike="noStrike" dirty="0">
                <a:solidFill>
                  <a:srgbClr val="404040"/>
                </a:solidFill>
                <a:effectLst/>
                <a:latin typeface="+mj-lt"/>
              </a:rPr>
              <a:t> (1998) – The first successful CNN</a:t>
            </a:r>
          </a:p>
          <a:p>
            <a:pPr marL="457200" indent="-457200" algn="l">
              <a:spcBef>
                <a:spcPts val="300"/>
              </a:spcBef>
              <a:buFont typeface="+mj-lt"/>
              <a:buAutoNum type="arabicPeriod"/>
            </a:pPr>
            <a:r>
              <a:rPr lang="en-GB" sz="2000" b="1" i="0" u="none" strike="noStrike" dirty="0" err="1">
                <a:solidFill>
                  <a:srgbClr val="404040"/>
                </a:solidFill>
                <a:effectLst/>
                <a:latin typeface="+mj-lt"/>
              </a:rPr>
              <a:t>AlexNet</a:t>
            </a:r>
            <a:r>
              <a:rPr lang="en-GB" sz="2000" b="0" i="0" u="none" strike="noStrike" dirty="0">
                <a:solidFill>
                  <a:srgbClr val="404040"/>
                </a:solidFill>
                <a:effectLst/>
                <a:latin typeface="+mj-lt"/>
              </a:rPr>
              <a:t> (2012) – Revolutionized deep learning</a:t>
            </a:r>
          </a:p>
          <a:p>
            <a:pPr marL="457200" indent="-457200" algn="l">
              <a:spcBef>
                <a:spcPts val="300"/>
              </a:spcBef>
              <a:buFont typeface="+mj-lt"/>
              <a:buAutoNum type="arabicPeriod"/>
            </a:pPr>
            <a:r>
              <a:rPr lang="en-GB" sz="2000" b="1" i="0" u="none" strike="noStrike" dirty="0">
                <a:solidFill>
                  <a:srgbClr val="404040"/>
                </a:solidFill>
                <a:effectLst/>
                <a:latin typeface="+mj-lt"/>
              </a:rPr>
              <a:t>VGG</a:t>
            </a:r>
            <a:r>
              <a:rPr lang="en-GB" sz="2000" b="0" i="0" u="none" strike="noStrike" dirty="0">
                <a:solidFill>
                  <a:srgbClr val="404040"/>
                </a:solidFill>
                <a:effectLst/>
                <a:latin typeface="+mj-lt"/>
              </a:rPr>
              <a:t> (2014) – Standardized deep CNNs</a:t>
            </a:r>
          </a:p>
          <a:p>
            <a:pPr marL="457200" indent="-457200" algn="l">
              <a:spcBef>
                <a:spcPts val="300"/>
              </a:spcBef>
              <a:buFont typeface="+mj-lt"/>
              <a:buAutoNum type="arabicPeriod"/>
            </a:pPr>
            <a:r>
              <a:rPr lang="en-GB" sz="2000" b="1" i="0" u="none" strike="noStrike" dirty="0" err="1">
                <a:solidFill>
                  <a:srgbClr val="404040"/>
                </a:solidFill>
                <a:effectLst/>
                <a:latin typeface="+mj-lt"/>
              </a:rPr>
              <a:t>ResNet</a:t>
            </a:r>
            <a:r>
              <a:rPr lang="en-GB" sz="2000" b="0" i="0" u="none" strike="noStrike" dirty="0">
                <a:solidFill>
                  <a:srgbClr val="404040"/>
                </a:solidFill>
                <a:effectLst/>
                <a:latin typeface="+mj-lt"/>
              </a:rPr>
              <a:t> (2015) – Introduced skip connections</a:t>
            </a:r>
          </a:p>
          <a:p>
            <a:pPr marL="457200" indent="-457200" algn="l">
              <a:spcBef>
                <a:spcPts val="300"/>
              </a:spcBef>
              <a:buFont typeface="+mj-lt"/>
              <a:buAutoNum type="arabicPeriod"/>
            </a:pPr>
            <a:r>
              <a:rPr lang="en-GB" sz="2000" b="1" i="0" u="none" strike="noStrike" dirty="0">
                <a:solidFill>
                  <a:srgbClr val="404040"/>
                </a:solidFill>
                <a:effectLst/>
                <a:latin typeface="+mj-lt"/>
              </a:rPr>
              <a:t>Inception</a:t>
            </a:r>
            <a:r>
              <a:rPr lang="en-GB" sz="2000" b="0" i="0" u="none" strike="noStrike" dirty="0">
                <a:solidFill>
                  <a:srgbClr val="404040"/>
                </a:solidFill>
                <a:effectLst/>
                <a:latin typeface="+mj-lt"/>
              </a:rPr>
              <a:t> (2014) – Used parallel convolutions</a:t>
            </a:r>
          </a:p>
          <a:p>
            <a:pPr>
              <a:buNone/>
            </a:pPr>
            <a:br>
              <a:rPr lang="en-GB" sz="2000" dirty="0">
                <a:latin typeface="+mj-lt"/>
              </a:rPr>
            </a:br>
            <a:endParaRPr lang="en-GB" sz="1600" i="0" u="none" strike="noStrike" dirty="0">
              <a:solidFill>
                <a:srgbClr val="000000"/>
              </a:solidFill>
              <a:effectLst/>
              <a:latin typeface="+mj-lt"/>
            </a:endParaRPr>
          </a:p>
        </p:txBody>
      </p:sp>
    </p:spTree>
    <p:extLst>
      <p:ext uri="{BB962C8B-B14F-4D97-AF65-F5344CB8AC3E}">
        <p14:creationId xmlns:p14="http://schemas.microsoft.com/office/powerpoint/2010/main" val="23771768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B3DBC826-BC4E-FDF2-F328-F4310975588B}"/>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58A64D47-451B-23ED-95BB-59B289E16DB4}"/>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200" b="1" i="0" u="none" strike="noStrike" dirty="0">
                <a:solidFill>
                  <a:srgbClr val="7030A0"/>
                </a:solidFill>
                <a:effectLst/>
                <a:latin typeface="Source Sans 3"/>
              </a:rPr>
              <a:t>What is LeNet?</a:t>
            </a:r>
            <a:br>
              <a:rPr lang="en-GB" sz="3200" b="1" i="0" u="none" strike="noStrike" dirty="0">
                <a:solidFill>
                  <a:srgbClr val="7030A0"/>
                </a:solidFill>
                <a:effectLst/>
                <a:latin typeface="Source Sans 3"/>
              </a:rPr>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993AB7DD-8F27-9CBE-D7F9-ADCC3CB2C0D3}"/>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09A4F231-4332-F87D-13D0-06E76CA253E2}"/>
              </a:ext>
            </a:extLst>
          </p:cNvPr>
          <p:cNvSpPr txBox="1"/>
          <p:nvPr/>
        </p:nvSpPr>
        <p:spPr>
          <a:xfrm>
            <a:off x="487445" y="715209"/>
            <a:ext cx="7124368" cy="1569660"/>
          </a:xfrm>
          <a:prstGeom prst="rect">
            <a:avLst/>
          </a:prstGeom>
          <a:noFill/>
        </p:spPr>
        <p:txBody>
          <a:bodyPr wrap="square">
            <a:spAutoFit/>
          </a:bodyPr>
          <a:lstStyle/>
          <a:p>
            <a:pPr algn="l"/>
            <a:r>
              <a:rPr lang="en-GB" sz="1600" b="0" i="0" u="none" strike="noStrike" dirty="0">
                <a:solidFill>
                  <a:srgbClr val="273239"/>
                </a:solidFill>
                <a:effectLst/>
                <a:latin typeface="+mj-lt"/>
              </a:rPr>
              <a:t>LeNet is a seminal convolutional neural network architecture developed by Yann LeCun and colleagues, pivotal in revolutionizing image recognition through its innovative design and influential principles. The article provides a comprehensive exploration of LeNet, elucidating its architecture, historical context, significance in deep learning, and diverse applications across various domains.</a:t>
            </a:r>
            <a:endParaRPr lang="en-GB" sz="1600" i="0" u="none" strike="noStrike" dirty="0">
              <a:solidFill>
                <a:srgbClr val="000000"/>
              </a:solidFill>
              <a:effectLst/>
              <a:latin typeface="+mj-lt"/>
            </a:endParaRPr>
          </a:p>
        </p:txBody>
      </p:sp>
      <p:pic>
        <p:nvPicPr>
          <p:cNvPr id="2" name="Picture 1">
            <a:extLst>
              <a:ext uri="{FF2B5EF4-FFF2-40B4-BE49-F238E27FC236}">
                <a16:creationId xmlns:a16="http://schemas.microsoft.com/office/drawing/2014/main" id="{563426FF-130F-32F7-ACDB-C30ED4954062}"/>
              </a:ext>
            </a:extLst>
          </p:cNvPr>
          <p:cNvPicPr>
            <a:picLocks noChangeAspect="1"/>
          </p:cNvPicPr>
          <p:nvPr/>
        </p:nvPicPr>
        <p:blipFill>
          <a:blip r:embed="rId3"/>
          <a:stretch>
            <a:fillRect/>
          </a:stretch>
        </p:blipFill>
        <p:spPr>
          <a:xfrm>
            <a:off x="793487" y="2273708"/>
            <a:ext cx="6818326" cy="2527806"/>
          </a:xfrm>
          <a:prstGeom prst="rect">
            <a:avLst/>
          </a:prstGeom>
        </p:spPr>
      </p:pic>
    </p:spTree>
    <p:extLst>
      <p:ext uri="{BB962C8B-B14F-4D97-AF65-F5344CB8AC3E}">
        <p14:creationId xmlns:p14="http://schemas.microsoft.com/office/powerpoint/2010/main" val="28305534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CFF5452A-080C-4003-C98E-0830A14DEDA4}"/>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23F34580-052E-046C-9F0C-B024EF07D99F}"/>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100" b="1" i="0" u="none" strike="noStrike" dirty="0">
                <a:solidFill>
                  <a:srgbClr val="7030A0"/>
                </a:solidFill>
                <a:effectLst/>
                <a:latin typeface="Nunito" pitchFamily="2" charset="77"/>
              </a:rPr>
              <a:t>Understanding LeNet </a:t>
            </a:r>
            <a:br>
              <a:rPr lang="en-GB" sz="3100" b="1" i="0" u="none" strike="noStrike" dirty="0">
                <a:solidFill>
                  <a:srgbClr val="7030A0"/>
                </a:solidFill>
                <a:effectLst/>
                <a:latin typeface="Nunito" pitchFamily="2" charset="77"/>
              </a:rPr>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CCF8A11C-F730-F67F-7CD8-90370F3DBAA6}"/>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06531081-5F6E-B37E-770F-19FC2381CD48}"/>
              </a:ext>
            </a:extLst>
          </p:cNvPr>
          <p:cNvSpPr txBox="1"/>
          <p:nvPr/>
        </p:nvSpPr>
        <p:spPr>
          <a:xfrm>
            <a:off x="182880" y="779228"/>
            <a:ext cx="8778240" cy="2800767"/>
          </a:xfrm>
          <a:prstGeom prst="rect">
            <a:avLst/>
          </a:prstGeom>
          <a:noFill/>
        </p:spPr>
        <p:txBody>
          <a:bodyPr wrap="square">
            <a:spAutoFit/>
          </a:bodyPr>
          <a:lstStyle/>
          <a:p>
            <a:pPr>
              <a:buNone/>
            </a:pPr>
            <a:endParaRPr lang="en-GB" sz="1600" b="1" dirty="0"/>
          </a:p>
          <a:p>
            <a:pPr>
              <a:buNone/>
            </a:pPr>
            <a:endParaRPr lang="en-GB" sz="1600" b="1" dirty="0"/>
          </a:p>
          <a:p>
            <a:pPr>
              <a:buNone/>
            </a:pPr>
            <a:endParaRPr lang="en-GB" sz="1600" b="1" dirty="0"/>
          </a:p>
          <a:p>
            <a:pPr>
              <a:buNone/>
            </a:pPr>
            <a:endParaRPr lang="en-GB" sz="1600" b="1" dirty="0"/>
          </a:p>
          <a:p>
            <a:pPr>
              <a:buNone/>
            </a:pPr>
            <a:endParaRPr lang="en-GB" sz="1600" b="1" dirty="0"/>
          </a:p>
          <a:p>
            <a:pPr>
              <a:buNone/>
            </a:pPr>
            <a:endParaRPr lang="en-GB" sz="1600" b="1" dirty="0"/>
          </a:p>
          <a:p>
            <a:pPr>
              <a:buNone/>
            </a:pPr>
            <a:endParaRPr lang="en-GB" sz="1600" b="1" dirty="0"/>
          </a:p>
          <a:p>
            <a:pPr>
              <a:buNone/>
            </a:pPr>
            <a:endParaRPr lang="en-GB" sz="1600" b="1" dirty="0"/>
          </a:p>
          <a:p>
            <a:pPr>
              <a:buNone/>
            </a:pPr>
            <a:endParaRPr lang="en-GB" sz="1600" b="1" dirty="0"/>
          </a:p>
          <a:p>
            <a:pPr>
              <a:buNone/>
            </a:pPr>
            <a:endParaRPr lang="en-GB" sz="1600" b="1" dirty="0"/>
          </a:p>
          <a:p>
            <a:pPr algn="l"/>
            <a:endParaRPr lang="en-GB" sz="1600" i="0" u="none" strike="noStrike" dirty="0">
              <a:solidFill>
                <a:srgbClr val="000000"/>
              </a:solidFill>
              <a:effectLst/>
            </a:endParaRPr>
          </a:p>
        </p:txBody>
      </p:sp>
      <p:sp>
        <p:nvSpPr>
          <p:cNvPr id="6" name="TextBox 5">
            <a:extLst>
              <a:ext uri="{FF2B5EF4-FFF2-40B4-BE49-F238E27FC236}">
                <a16:creationId xmlns:a16="http://schemas.microsoft.com/office/drawing/2014/main" id="{0EDA44C9-3049-2F2C-21B7-2CF5303F1481}"/>
              </a:ext>
            </a:extLst>
          </p:cNvPr>
          <p:cNvSpPr txBox="1"/>
          <p:nvPr/>
        </p:nvSpPr>
        <p:spPr>
          <a:xfrm>
            <a:off x="635191" y="722249"/>
            <a:ext cx="7337469" cy="3539430"/>
          </a:xfrm>
          <a:prstGeom prst="rect">
            <a:avLst/>
          </a:prstGeom>
          <a:noFill/>
        </p:spPr>
        <p:txBody>
          <a:bodyPr wrap="square">
            <a:spAutoFit/>
          </a:bodyPr>
          <a:lstStyle/>
          <a:p>
            <a:pPr marL="285750" indent="-285750" algn="l">
              <a:buFont typeface="Wingdings" pitchFamily="2" charset="2"/>
              <a:buChar char="Ø"/>
            </a:pPr>
            <a:endParaRPr lang="en-GB" sz="1600" b="0" i="0" u="none" strike="noStrike" dirty="0">
              <a:solidFill>
                <a:srgbClr val="000000"/>
              </a:solidFill>
              <a:effectLst/>
            </a:endParaRPr>
          </a:p>
          <a:p>
            <a:pPr marL="285750" indent="-285750" algn="l">
              <a:buFont typeface="Wingdings" pitchFamily="2" charset="2"/>
              <a:buChar char="Ø"/>
            </a:pPr>
            <a:r>
              <a:rPr lang="en-GB" sz="1600" b="0" i="0" u="none" strike="noStrike" dirty="0">
                <a:solidFill>
                  <a:srgbClr val="000000"/>
                </a:solidFill>
                <a:effectLst/>
              </a:rPr>
              <a:t>LeNet was developed by Yann LeCun and his colleagues in the late 1980s and early 1990s.</a:t>
            </a:r>
          </a:p>
          <a:p>
            <a:pPr marL="285750" indent="-285750" algn="l">
              <a:buFont typeface="Wingdings" pitchFamily="2" charset="2"/>
              <a:buChar char="Ø"/>
            </a:pPr>
            <a:r>
              <a:rPr lang="en-GB" sz="1600" b="0" i="0" u="none" strike="noStrike" dirty="0">
                <a:solidFill>
                  <a:srgbClr val="000000"/>
                </a:solidFill>
                <a:effectLst/>
              </a:rPr>
              <a:t>It is one of the earliest convolutional neural networks and significantly influenced deep learning, especially in image recognition.</a:t>
            </a:r>
          </a:p>
          <a:p>
            <a:pPr marL="285750" indent="-285750" algn="l">
              <a:buFont typeface="Wingdings" pitchFamily="2" charset="2"/>
              <a:buChar char="Ø"/>
            </a:pPr>
            <a:r>
              <a:rPr lang="en-GB" sz="1600" b="0" i="0" u="none" strike="noStrike" dirty="0">
                <a:solidFill>
                  <a:srgbClr val="000000"/>
                </a:solidFill>
                <a:effectLst/>
              </a:rPr>
              <a:t>It was originally designed to recognize handwritten and machine-printed characters.</a:t>
            </a:r>
          </a:p>
          <a:p>
            <a:pPr marL="285750" indent="-285750" algn="l">
              <a:buFont typeface="Wingdings" pitchFamily="2" charset="2"/>
              <a:buChar char="Ø"/>
            </a:pPr>
            <a:r>
              <a:rPr lang="en-GB" sz="1600" b="0" i="0" u="none" strike="noStrike" dirty="0">
                <a:solidFill>
                  <a:srgbClr val="000000"/>
                </a:solidFill>
                <a:effectLst/>
              </a:rPr>
              <a:t>The LeNet-5 architecture includes convolutional layers, followed by subsampling, and then fully connected layers.</a:t>
            </a:r>
          </a:p>
          <a:p>
            <a:pPr marL="285750" indent="-285750" algn="l">
              <a:buFont typeface="Wingdings" pitchFamily="2" charset="2"/>
              <a:buChar char="Ø"/>
            </a:pPr>
            <a:r>
              <a:rPr lang="en-GB" sz="1600" b="0" i="0" u="none" strike="noStrike" dirty="0">
                <a:solidFill>
                  <a:srgbClr val="000000"/>
                </a:solidFill>
                <a:effectLst/>
              </a:rPr>
              <a:t>It culminates in a </a:t>
            </a:r>
            <a:r>
              <a:rPr lang="en-GB" sz="1600" b="0" i="0" u="none" strike="noStrike" dirty="0" err="1">
                <a:solidFill>
                  <a:srgbClr val="000000"/>
                </a:solidFill>
                <a:effectLst/>
              </a:rPr>
              <a:t>softmax</a:t>
            </a:r>
            <a:r>
              <a:rPr lang="en-GB" sz="1600" b="0" i="0" u="none" strike="noStrike" dirty="0">
                <a:solidFill>
                  <a:srgbClr val="000000"/>
                </a:solidFill>
                <a:effectLst/>
              </a:rPr>
              <a:t> output layer.</a:t>
            </a:r>
          </a:p>
          <a:p>
            <a:pPr marL="285750" indent="-285750" algn="l">
              <a:buFont typeface="Wingdings" pitchFamily="2" charset="2"/>
              <a:buChar char="Ø"/>
            </a:pPr>
            <a:r>
              <a:rPr lang="en-GB" sz="1600" b="0" i="0" u="none" strike="noStrike" dirty="0">
                <a:solidFill>
                  <a:srgbClr val="000000"/>
                </a:solidFill>
                <a:effectLst/>
              </a:rPr>
              <a:t>This layer arrangement was designed for automatic feature learning from input images, moving away from manual feature engineering.</a:t>
            </a:r>
          </a:p>
          <a:p>
            <a:pPr marL="285750" indent="-285750" algn="l">
              <a:buFont typeface="Wingdings" pitchFamily="2" charset="2"/>
              <a:buChar char="Ø"/>
            </a:pPr>
            <a:r>
              <a:rPr lang="en-GB" sz="1600" b="0" i="0" u="none" strike="noStrike" dirty="0">
                <a:solidFill>
                  <a:srgbClr val="000000"/>
                </a:solidFill>
                <a:effectLst/>
              </a:rPr>
              <a:t>LeNet set a new standard for machine learning applications in image recognition.</a:t>
            </a:r>
          </a:p>
        </p:txBody>
      </p:sp>
    </p:spTree>
    <p:extLst>
      <p:ext uri="{BB962C8B-B14F-4D97-AF65-F5344CB8AC3E}">
        <p14:creationId xmlns:p14="http://schemas.microsoft.com/office/powerpoint/2010/main" val="39073721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DFB73C57-71D7-DB2C-C67C-BDC92827CB58}"/>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38AC77D1-4899-4A25-BC96-71902B1608F5}"/>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200" b="1" dirty="0"/>
              <a:t>Significance of LeNet</a:t>
            </a: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A1A7BF3D-9C75-9C3D-FB70-DFC043042EEA}"/>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110E8206-3CEF-B2A8-B1A0-5DDF4CACEC20}"/>
              </a:ext>
            </a:extLst>
          </p:cNvPr>
          <p:cNvSpPr txBox="1"/>
          <p:nvPr/>
        </p:nvSpPr>
        <p:spPr>
          <a:xfrm>
            <a:off x="182880" y="779228"/>
            <a:ext cx="8778240" cy="3785652"/>
          </a:xfrm>
          <a:prstGeom prst="rect">
            <a:avLst/>
          </a:prstGeom>
          <a:noFill/>
        </p:spPr>
        <p:txBody>
          <a:bodyPr wrap="square">
            <a:spAutoFit/>
          </a:bodyPr>
          <a:lstStyle/>
          <a:p>
            <a:pPr marL="285750" indent="-285750">
              <a:buFont typeface="Wingdings" pitchFamily="2" charset="2"/>
              <a:buChar char="Ø"/>
            </a:pPr>
            <a:r>
              <a:rPr lang="en-GB" sz="1600" dirty="0"/>
              <a:t>LeNet was a groundbreaking early demonstration of the successful application of Convolutional Neural Networks (CNNs) to visual pattern recognition.</a:t>
            </a:r>
          </a:p>
          <a:p>
            <a:pPr marL="285750" indent="-285750">
              <a:buFont typeface="Wingdings" pitchFamily="2" charset="2"/>
              <a:buChar char="Ø"/>
            </a:pPr>
            <a:r>
              <a:rPr lang="en-GB" sz="1600" dirty="0"/>
              <a:t>It introduced fundamental CNN concepts that are now standard, </a:t>
            </a:r>
            <a:r>
              <a:rPr lang="en-GB" sz="1600" dirty="0" err="1"/>
              <a:t>including:Multiple</a:t>
            </a:r>
            <a:r>
              <a:rPr lang="en-GB" sz="1600" dirty="0"/>
              <a:t> convolutional layers.</a:t>
            </a:r>
          </a:p>
          <a:p>
            <a:pPr marL="342900" indent="-342900">
              <a:buFont typeface="+mj-lt"/>
              <a:buAutoNum type="alphaLcPeriod"/>
            </a:pPr>
            <a:r>
              <a:rPr lang="en-GB" sz="1600" dirty="0"/>
              <a:t>Multiple pooling layers.</a:t>
            </a:r>
          </a:p>
          <a:p>
            <a:pPr marL="342900" indent="-342900">
              <a:buFont typeface="+mj-lt"/>
              <a:buAutoNum type="alphaLcPeriod"/>
            </a:pPr>
            <a:r>
              <a:rPr lang="en-GB" sz="1600" dirty="0"/>
              <a:t>Local receptive fields.</a:t>
            </a:r>
          </a:p>
          <a:p>
            <a:pPr marL="342900" indent="-342900">
              <a:buFont typeface="+mj-lt"/>
              <a:buAutoNum type="alphaLcPeriod"/>
            </a:pPr>
            <a:r>
              <a:rPr lang="en-GB" sz="1600" dirty="0"/>
              <a:t>Shared weights.</a:t>
            </a:r>
          </a:p>
          <a:p>
            <a:pPr marL="342900" indent="-342900">
              <a:buFont typeface="+mj-lt"/>
              <a:buAutoNum type="alphaLcPeriod"/>
            </a:pPr>
            <a:r>
              <a:rPr lang="en-GB" sz="1600" dirty="0"/>
              <a:t>The backpropagation algorithm for network training.</a:t>
            </a:r>
          </a:p>
          <a:p>
            <a:pPr marL="285750" indent="-285750">
              <a:buFont typeface="Wingdings" pitchFamily="2" charset="2"/>
              <a:buChar char="Ø"/>
            </a:pPr>
            <a:r>
              <a:rPr lang="en-GB" sz="1600" dirty="0"/>
              <a:t>LeNet's innovations were foundational for the development of more intricate and deeper networks.</a:t>
            </a:r>
          </a:p>
          <a:p>
            <a:pPr marL="285750" indent="-285750">
              <a:buFont typeface="Wingdings" pitchFamily="2" charset="2"/>
              <a:buChar char="Ø"/>
            </a:pPr>
            <a:r>
              <a:rPr lang="en-GB" sz="1600" dirty="0"/>
              <a:t>These deeper networks are now essential to modern AI systems across diverse applications, from self-driving cars to medical diagnosis.</a:t>
            </a:r>
          </a:p>
          <a:p>
            <a:pPr marL="285750" indent="-285750">
              <a:buFont typeface="Wingdings" pitchFamily="2" charset="2"/>
              <a:buChar char="Ø"/>
            </a:pPr>
            <a:r>
              <a:rPr lang="en-GB" sz="1600" dirty="0"/>
              <a:t>The core principles established by LeNet have endured and been built upon.</a:t>
            </a:r>
          </a:p>
          <a:p>
            <a:pPr marL="285750" indent="-285750">
              <a:buFont typeface="Wingdings" pitchFamily="2" charset="2"/>
              <a:buChar char="Ø"/>
            </a:pPr>
            <a:r>
              <a:rPr lang="en-GB" sz="1600" dirty="0"/>
              <a:t>This has led to the creation of more advanced deep learning frameworks that continue to expand the capabilities of machine learning.</a:t>
            </a:r>
            <a:endParaRPr lang="en-GB" sz="1600" i="0" u="none" strike="noStrike" dirty="0">
              <a:solidFill>
                <a:srgbClr val="000000"/>
              </a:solidFill>
              <a:effectLst/>
            </a:endParaRPr>
          </a:p>
        </p:txBody>
      </p:sp>
    </p:spTree>
    <p:extLst>
      <p:ext uri="{BB962C8B-B14F-4D97-AF65-F5344CB8AC3E}">
        <p14:creationId xmlns:p14="http://schemas.microsoft.com/office/powerpoint/2010/main" val="5061721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530ADD72-F288-4D94-3D22-B1F5884E3271}"/>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8B940C89-7522-536E-FD65-F91B9EC73C2D}"/>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Autofit/>
          </a:bodyPr>
          <a:lstStyle/>
          <a:p>
            <a:r>
              <a:rPr lang="en-GB" sz="2000" dirty="0">
                <a:solidFill>
                  <a:srgbClr val="7030A0"/>
                </a:solidFill>
              </a:rPr>
              <a:t>C</a:t>
            </a:r>
            <a:r>
              <a:rPr lang="en-GB" sz="2000" i="0" u="none" strike="noStrike" dirty="0">
                <a:solidFill>
                  <a:srgbClr val="7030A0"/>
                </a:solidFill>
                <a:effectLst/>
              </a:rPr>
              <a:t>hronological summary of the LeNet architecture's development:</a:t>
            </a:r>
            <a:br>
              <a:rPr lang="en-GB" sz="2000" i="0" u="none" strike="noStrike" dirty="0">
                <a:solidFill>
                  <a:srgbClr val="7030A0"/>
                </a:solidFill>
                <a:effectLst/>
              </a:rPr>
            </a:br>
            <a:br>
              <a:rPr lang="en-GB" sz="2000" dirty="0">
                <a:solidFill>
                  <a:srgbClr val="7030A0"/>
                </a:solidFill>
              </a:rPr>
            </a:br>
            <a:br>
              <a:rPr lang="en-GB" sz="2000" i="0" u="none" strike="noStrike" dirty="0">
                <a:solidFill>
                  <a:srgbClr val="7030A0"/>
                </a:solidFill>
                <a:effectLst/>
                <a:latin typeface="Inter" panose="02000503000000020004" pitchFamily="2" charset="0"/>
              </a:rPr>
            </a:br>
            <a:br>
              <a:rPr lang="en-GB" sz="2000" i="0" u="none" strike="noStrike" dirty="0">
                <a:solidFill>
                  <a:srgbClr val="7030A0"/>
                </a:solidFill>
                <a:effectLst/>
              </a:rPr>
            </a:br>
            <a:br>
              <a:rPr lang="en-GB" sz="2000" i="0" u="none" strike="noStrike" dirty="0">
                <a:solidFill>
                  <a:srgbClr val="7030A0"/>
                </a:solidFill>
                <a:effectLst/>
              </a:rPr>
            </a:br>
            <a:endParaRPr lang="en-GB" sz="200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353A1197-150A-717B-84F4-802427D23F9E}"/>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140D11F4-6A38-8F13-13F2-E68E3402DEE4}"/>
              </a:ext>
            </a:extLst>
          </p:cNvPr>
          <p:cNvSpPr txBox="1"/>
          <p:nvPr/>
        </p:nvSpPr>
        <p:spPr>
          <a:xfrm>
            <a:off x="598517" y="925145"/>
            <a:ext cx="7442158" cy="3293209"/>
          </a:xfrm>
          <a:prstGeom prst="rect">
            <a:avLst/>
          </a:prstGeom>
          <a:noFill/>
        </p:spPr>
        <p:txBody>
          <a:bodyPr wrap="square">
            <a:spAutoFit/>
          </a:bodyPr>
          <a:lstStyle/>
          <a:p>
            <a:pPr marL="342900" indent="-342900" algn="l">
              <a:buFont typeface="+mj-lt"/>
              <a:buAutoNum type="arabicPeriod"/>
            </a:pPr>
            <a:r>
              <a:rPr lang="en-GB" sz="1600" b="1" i="0" u="none" strike="noStrike" dirty="0">
                <a:solidFill>
                  <a:srgbClr val="000000"/>
                </a:solidFill>
                <a:effectLst/>
              </a:rPr>
              <a:t>Late 1980s:</a:t>
            </a:r>
            <a:r>
              <a:rPr lang="en-GB" sz="1600" b="0" i="0" u="none" strike="noStrike" dirty="0">
                <a:solidFill>
                  <a:srgbClr val="000000"/>
                </a:solidFill>
                <a:effectLst/>
              </a:rPr>
              <a:t> Yann LeCun starts foundational work on CNNs at AT&amp;T Bell Labs, leading to initial LeNet models.</a:t>
            </a:r>
          </a:p>
          <a:p>
            <a:pPr marL="342900" indent="-342900" algn="l">
              <a:buFont typeface="+mj-lt"/>
              <a:buAutoNum type="arabicPeriod"/>
            </a:pPr>
            <a:r>
              <a:rPr lang="en-GB" sz="1600" b="1" i="0" u="none" strike="noStrike" dirty="0">
                <a:solidFill>
                  <a:srgbClr val="000000"/>
                </a:solidFill>
                <a:effectLst/>
              </a:rPr>
              <a:t>1989:</a:t>
            </a:r>
            <a:r>
              <a:rPr lang="en-GB" sz="1600" b="0" i="0" u="none" strike="noStrike" dirty="0">
                <a:solidFill>
                  <a:srgbClr val="000000"/>
                </a:solidFill>
                <a:effectLst/>
              </a:rPr>
              <a:t> LeNet-1, the first version, is introduced, using backpropagation for training convolutional layers.</a:t>
            </a:r>
          </a:p>
          <a:p>
            <a:pPr marL="342900" indent="-342900" algn="l">
              <a:buFont typeface="+mj-lt"/>
              <a:buAutoNum type="arabicPeriod"/>
            </a:pPr>
            <a:r>
              <a:rPr lang="en-GB" sz="1600" b="1" i="0" u="none" strike="noStrike" dirty="0">
                <a:solidFill>
                  <a:srgbClr val="000000"/>
                </a:solidFill>
                <a:effectLst/>
              </a:rPr>
              <a:t>1998:</a:t>
            </a:r>
            <a:r>
              <a:rPr lang="en-GB" sz="1600" b="0" i="0" u="none" strike="noStrike" dirty="0">
                <a:solidFill>
                  <a:srgbClr val="000000"/>
                </a:solidFill>
                <a:effectLst/>
              </a:rPr>
              <a:t> LeNet-5, the most significant version, is detailed in "Gradient-Based Learning Applied to Document Recognition," optimized for digit recognition and showing practical uses.</a:t>
            </a:r>
          </a:p>
          <a:p>
            <a:pPr marL="342900" indent="-342900" algn="l">
              <a:buFont typeface="+mj-lt"/>
              <a:buAutoNum type="arabicPeriod"/>
            </a:pPr>
            <a:r>
              <a:rPr lang="en-GB" sz="1600" b="1" i="0" u="none" strike="noStrike" dirty="0">
                <a:solidFill>
                  <a:srgbClr val="000000"/>
                </a:solidFill>
                <a:effectLst/>
              </a:rPr>
              <a:t>2000s:</a:t>
            </a:r>
            <a:r>
              <a:rPr lang="en-GB" sz="1600" b="0" i="0" u="none" strike="noStrike" dirty="0">
                <a:solidFill>
                  <a:srgbClr val="000000"/>
                </a:solidFill>
                <a:effectLst/>
              </a:rPr>
              <a:t> LeNet's success inspires further research and adaptations in fields beyond digit recognition, such as medical imaging and object recognition.</a:t>
            </a:r>
          </a:p>
          <a:p>
            <a:pPr marL="342900" indent="-342900" algn="l">
              <a:buFont typeface="+mj-lt"/>
              <a:buAutoNum type="arabicPeriod"/>
            </a:pPr>
            <a:r>
              <a:rPr lang="en-GB" sz="1600" b="1" i="0" u="none" strike="noStrike" dirty="0">
                <a:solidFill>
                  <a:srgbClr val="000000"/>
                </a:solidFill>
                <a:effectLst/>
              </a:rPr>
              <a:t>2010s and Beyond:</a:t>
            </a:r>
            <a:r>
              <a:rPr lang="en-GB" sz="1600" b="0" i="0" u="none" strike="noStrike" dirty="0">
                <a:solidFill>
                  <a:srgbClr val="000000"/>
                </a:solidFill>
                <a:effectLst/>
              </a:rPr>
              <a:t> LeNet's principles influence the creation of more advanced CNN architectures like </a:t>
            </a:r>
            <a:r>
              <a:rPr lang="en-GB" sz="1600" b="0" i="0" u="none" strike="noStrike" dirty="0" err="1">
                <a:solidFill>
                  <a:srgbClr val="000000"/>
                </a:solidFill>
                <a:effectLst/>
              </a:rPr>
              <a:t>AlexNet</a:t>
            </a:r>
            <a:r>
              <a:rPr lang="en-GB" sz="1600" b="0" i="0" u="none" strike="noStrike" dirty="0">
                <a:solidFill>
                  <a:srgbClr val="000000"/>
                </a:solidFill>
                <a:effectLst/>
              </a:rPr>
              <a:t> and </a:t>
            </a:r>
            <a:r>
              <a:rPr lang="en-GB" sz="1600" b="0" i="0" u="none" strike="noStrike" dirty="0" err="1">
                <a:solidFill>
                  <a:srgbClr val="000000"/>
                </a:solidFill>
                <a:effectLst/>
              </a:rPr>
              <a:t>ResNet</a:t>
            </a:r>
            <a:r>
              <a:rPr lang="en-GB" sz="1600" b="0" i="0" u="none" strike="noStrike" dirty="0">
                <a:solidFill>
                  <a:srgbClr val="000000"/>
                </a:solidFill>
                <a:effectLst/>
              </a:rPr>
              <a:t>, establishing its lasting impact on deep learning.</a:t>
            </a:r>
          </a:p>
          <a:p>
            <a:pPr marL="342900" indent="-342900" algn="l">
              <a:buFont typeface="+mj-lt"/>
              <a:buAutoNum type="arabicPeriod"/>
            </a:pPr>
            <a:endParaRPr lang="en-GB" sz="1600" i="0" u="none" strike="noStrike" dirty="0">
              <a:solidFill>
                <a:srgbClr val="000000"/>
              </a:solidFill>
              <a:effectLst/>
            </a:endParaRPr>
          </a:p>
        </p:txBody>
      </p:sp>
    </p:spTree>
    <p:extLst>
      <p:ext uri="{BB962C8B-B14F-4D97-AF65-F5344CB8AC3E}">
        <p14:creationId xmlns:p14="http://schemas.microsoft.com/office/powerpoint/2010/main" val="27878272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59D610E6-B2A8-E07C-99B3-6BD7CA6C4B17}"/>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40798D20-F1A5-B7E3-9153-34FD0E276DC1}"/>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2700" dirty="0"/>
              <a:t>B</a:t>
            </a:r>
            <a:r>
              <a:rPr lang="en-GB" sz="2700" b="1" dirty="0"/>
              <a:t>reakdown of the LeNet architecture's layers:</a:t>
            </a:r>
            <a:br>
              <a:rPr lang="en-GB" sz="2700" b="1" dirty="0"/>
            </a:br>
            <a:br>
              <a:rPr lang="en-GB" sz="1600" b="1" dirty="0"/>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589973A6-5246-EA38-A370-365B84B6B83F}"/>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5314CE50-2B87-FA89-32DF-D7E5B3A2954B}"/>
              </a:ext>
            </a:extLst>
          </p:cNvPr>
          <p:cNvSpPr txBox="1"/>
          <p:nvPr/>
        </p:nvSpPr>
        <p:spPr>
          <a:xfrm>
            <a:off x="182880" y="779228"/>
            <a:ext cx="8076948" cy="4549964"/>
          </a:xfrm>
          <a:prstGeom prst="rect">
            <a:avLst/>
          </a:prstGeom>
          <a:noFill/>
        </p:spPr>
        <p:txBody>
          <a:bodyPr wrap="square">
            <a:spAutoFit/>
          </a:bodyPr>
          <a:lstStyle/>
          <a:p>
            <a:pPr algn="l" rtl="0" fontAlgn="base">
              <a:spcAft>
                <a:spcPts val="750"/>
              </a:spcAft>
              <a:buNone/>
            </a:pPr>
            <a:r>
              <a:rPr lang="en-GB" sz="1600" b="0" i="0" u="none" strike="noStrike" dirty="0">
                <a:solidFill>
                  <a:srgbClr val="273239"/>
                </a:solidFill>
                <a:effectLst/>
                <a:latin typeface="+mj-lt"/>
              </a:rPr>
              <a:t>The architecture of LeNet 5 contains 7 layers excluding the input layer. </a:t>
            </a:r>
          </a:p>
          <a:p>
            <a:pPr algn="l" fontAlgn="base">
              <a:spcBef>
                <a:spcPts val="1800"/>
              </a:spcBef>
              <a:spcAft>
                <a:spcPts val="1800"/>
              </a:spcAft>
              <a:buNone/>
            </a:pPr>
            <a:r>
              <a:rPr lang="en-GB" sz="1600" b="1" i="0" u="none" strike="noStrike" dirty="0">
                <a:solidFill>
                  <a:srgbClr val="273239"/>
                </a:solidFill>
                <a:effectLst/>
                <a:latin typeface="+mj-lt"/>
              </a:rPr>
              <a:t>1. Input Layer </a:t>
            </a:r>
          </a:p>
          <a:p>
            <a:pPr algn="l" fontAlgn="base">
              <a:spcAft>
                <a:spcPts val="1800"/>
              </a:spcAft>
              <a:buFont typeface="Arial" panose="020B0604020202020204" pitchFamily="34" charset="0"/>
              <a:buChar char="•"/>
            </a:pPr>
            <a:r>
              <a:rPr lang="en-GB" sz="1600" b="1" i="0" u="none" strike="noStrike" dirty="0">
                <a:solidFill>
                  <a:srgbClr val="273239"/>
                </a:solidFill>
                <a:effectLst/>
                <a:latin typeface="+mj-lt"/>
              </a:rPr>
              <a:t>Input Size</a:t>
            </a:r>
            <a:r>
              <a:rPr lang="en-GB" sz="1600" b="0" i="0" u="none" strike="noStrike" dirty="0">
                <a:solidFill>
                  <a:srgbClr val="273239"/>
                </a:solidFill>
                <a:effectLst/>
                <a:latin typeface="+mj-lt"/>
              </a:rPr>
              <a:t>: 32x32 pixels.</a:t>
            </a:r>
          </a:p>
          <a:p>
            <a:pPr algn="l" fontAlgn="base">
              <a:spcAft>
                <a:spcPts val="1800"/>
              </a:spcAft>
              <a:buFont typeface="Arial" panose="020B0604020202020204" pitchFamily="34" charset="0"/>
              <a:buChar char="•"/>
            </a:pPr>
            <a:r>
              <a:rPr lang="en-GB" sz="1600" b="0" i="0" u="none" strike="noStrike" dirty="0">
                <a:solidFill>
                  <a:srgbClr val="273239"/>
                </a:solidFill>
                <a:effectLst/>
                <a:latin typeface="+mj-lt"/>
              </a:rPr>
              <a:t>The input is larger than the largest character in the database, which is at most 20x20 pixels, </a:t>
            </a:r>
            <a:r>
              <a:rPr lang="en-GB" sz="1600" b="0" i="0" u="none" strike="noStrike" dirty="0" err="1">
                <a:solidFill>
                  <a:srgbClr val="273239"/>
                </a:solidFill>
                <a:effectLst/>
                <a:latin typeface="+mj-lt"/>
              </a:rPr>
              <a:t>centered</a:t>
            </a:r>
            <a:r>
              <a:rPr lang="en-GB" sz="1600" b="0" i="0" u="none" strike="noStrike" dirty="0">
                <a:solidFill>
                  <a:srgbClr val="273239"/>
                </a:solidFill>
                <a:effectLst/>
                <a:latin typeface="+mj-lt"/>
              </a:rPr>
              <a:t> in a 28x28 field. The larger input size ensures that distinctive features such as stroke endpoints or corners can appear in the </a:t>
            </a:r>
            <a:r>
              <a:rPr lang="en-GB" sz="1600" b="0" i="0" u="none" strike="noStrike" dirty="0" err="1">
                <a:solidFill>
                  <a:srgbClr val="273239"/>
                </a:solidFill>
                <a:effectLst/>
                <a:latin typeface="+mj-lt"/>
              </a:rPr>
              <a:t>center</a:t>
            </a:r>
            <a:r>
              <a:rPr lang="en-GB" sz="1600" b="0" i="0" u="none" strike="noStrike" dirty="0">
                <a:solidFill>
                  <a:srgbClr val="273239"/>
                </a:solidFill>
                <a:effectLst/>
                <a:latin typeface="+mj-lt"/>
              </a:rPr>
              <a:t> of the receptive field of the highest-level feature detectors.</a:t>
            </a:r>
          </a:p>
          <a:p>
            <a:pPr algn="l" fontAlgn="base">
              <a:spcAft>
                <a:spcPts val="1800"/>
              </a:spcAft>
              <a:buFont typeface="Arial" panose="020B0604020202020204" pitchFamily="34" charset="0"/>
              <a:buChar char="•"/>
            </a:pPr>
            <a:r>
              <a:rPr lang="en-GB" sz="1600" b="1" i="0" u="none" strike="noStrike" dirty="0">
                <a:solidFill>
                  <a:srgbClr val="273239"/>
                </a:solidFill>
                <a:effectLst/>
                <a:latin typeface="+mj-lt"/>
              </a:rPr>
              <a:t>Normalization</a:t>
            </a:r>
            <a:r>
              <a:rPr lang="en-GB" sz="1600" b="0" i="0" u="none" strike="noStrike" dirty="0">
                <a:solidFill>
                  <a:srgbClr val="273239"/>
                </a:solidFill>
                <a:effectLst/>
                <a:latin typeface="+mj-lt"/>
              </a:rPr>
              <a:t>: Input pixel values are normalized such that the background (white) corresponds to a value of 0, and the foreground (black) corresponds to a value of 1. This normalization makes the mean input roughly 0 and the variance roughly 1, which accelerates the learning process.</a:t>
            </a:r>
          </a:p>
          <a:p>
            <a:pPr>
              <a:buNone/>
            </a:pPr>
            <a:br>
              <a:rPr lang="en-GB" sz="1600" dirty="0">
                <a:latin typeface="+mj-lt"/>
              </a:rPr>
            </a:br>
            <a:endParaRPr lang="en-GB" sz="1600" i="0" u="none" strike="noStrike" dirty="0">
              <a:solidFill>
                <a:srgbClr val="000000"/>
              </a:solidFill>
              <a:effectLst/>
              <a:latin typeface="+mj-lt"/>
            </a:endParaRPr>
          </a:p>
        </p:txBody>
      </p:sp>
    </p:spTree>
    <p:extLst>
      <p:ext uri="{BB962C8B-B14F-4D97-AF65-F5344CB8AC3E}">
        <p14:creationId xmlns:p14="http://schemas.microsoft.com/office/powerpoint/2010/main" val="26372748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9BB3386C-EB34-7E00-465C-C1B021F96902}"/>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D23E4E29-B289-0DBC-D826-9C149BE96459}"/>
              </a:ext>
            </a:extLst>
          </p:cNvPr>
          <p:cNvSpPr txBox="1">
            <a:spLocks noGrp="1"/>
          </p:cNvSpPr>
          <p:nvPr>
            <p:ph type="title"/>
          </p:nvPr>
        </p:nvSpPr>
        <p:spPr>
          <a:xfrm>
            <a:off x="596100" y="-57519"/>
            <a:ext cx="8329650" cy="627900"/>
          </a:xfrm>
          <a:prstGeom prst="rect">
            <a:avLst/>
          </a:prstGeom>
          <a:noFill/>
          <a:ln>
            <a:noFill/>
          </a:ln>
        </p:spPr>
        <p:txBody>
          <a:bodyPr spcFirstLastPara="1" wrap="square" lIns="91425" tIns="91425" rIns="91425" bIns="91425" anchor="t" anchorCtr="0">
            <a:normAutofit fontScale="90000"/>
          </a:bodyPr>
          <a:lstStyle/>
          <a:p>
            <a:r>
              <a:rPr lang="en-GB" sz="2700" dirty="0"/>
              <a:t>B</a:t>
            </a:r>
            <a:r>
              <a:rPr lang="en-GB" sz="2700" b="1" dirty="0"/>
              <a:t>reakdown of the LeNet architecture's layers:</a:t>
            </a:r>
            <a:br>
              <a:rPr lang="en-GB" sz="2700" b="1" dirty="0"/>
            </a:br>
            <a:br>
              <a:rPr lang="en-GB" sz="1600" b="1" dirty="0"/>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DD4FEEDA-591B-AED8-FC99-E28A850238C8}"/>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85F18FC0-FC3C-08B6-D9EE-A2E4F47B55FF}"/>
              </a:ext>
            </a:extLst>
          </p:cNvPr>
          <p:cNvSpPr txBox="1"/>
          <p:nvPr/>
        </p:nvSpPr>
        <p:spPr>
          <a:xfrm>
            <a:off x="470952" y="386262"/>
            <a:ext cx="8076948" cy="5786199"/>
          </a:xfrm>
          <a:prstGeom prst="rect">
            <a:avLst/>
          </a:prstGeom>
          <a:noFill/>
        </p:spPr>
        <p:txBody>
          <a:bodyPr wrap="square">
            <a:spAutoFit/>
          </a:bodyPr>
          <a:lstStyle/>
          <a:p>
            <a:pPr algn="l" fontAlgn="base">
              <a:spcBef>
                <a:spcPts val="1800"/>
              </a:spcBef>
              <a:spcAft>
                <a:spcPts val="1800"/>
              </a:spcAft>
              <a:buNone/>
            </a:pPr>
            <a:r>
              <a:rPr lang="en-GB" sz="1600" b="1" i="0" u="none" strike="noStrike" dirty="0">
                <a:solidFill>
                  <a:srgbClr val="273239"/>
                </a:solidFill>
                <a:effectLst/>
                <a:latin typeface="+mj-lt"/>
              </a:rPr>
              <a:t>2. Layer C1 (Convolutional Layer)</a:t>
            </a:r>
          </a:p>
          <a:p>
            <a:pPr algn="l" fontAlgn="base">
              <a:spcAft>
                <a:spcPts val="1800"/>
              </a:spcAft>
              <a:buFont typeface="Arial" panose="020B0604020202020204" pitchFamily="34" charset="0"/>
              <a:buChar char="•"/>
            </a:pPr>
            <a:r>
              <a:rPr lang="en-GB" sz="1600" b="1" i="0" u="none" strike="noStrike" dirty="0">
                <a:solidFill>
                  <a:srgbClr val="273239"/>
                </a:solidFill>
                <a:effectLst/>
                <a:latin typeface="+mj-lt"/>
              </a:rPr>
              <a:t>Feature Maps</a:t>
            </a:r>
            <a:r>
              <a:rPr lang="en-GB" sz="1600" b="0" i="0" u="none" strike="noStrike" dirty="0">
                <a:solidFill>
                  <a:srgbClr val="273239"/>
                </a:solidFill>
                <a:effectLst/>
                <a:latin typeface="+mj-lt"/>
              </a:rPr>
              <a:t>: 6 feature maps.</a:t>
            </a:r>
          </a:p>
          <a:p>
            <a:pPr algn="l" fontAlgn="base">
              <a:spcAft>
                <a:spcPts val="1800"/>
              </a:spcAft>
              <a:buFont typeface="Arial" panose="020B0604020202020204" pitchFamily="34" charset="0"/>
              <a:buChar char="•"/>
            </a:pPr>
            <a:r>
              <a:rPr lang="en-GB" sz="1600" b="1" i="0" u="none" strike="noStrike" dirty="0">
                <a:solidFill>
                  <a:srgbClr val="273239"/>
                </a:solidFill>
                <a:effectLst/>
                <a:latin typeface="+mj-lt"/>
              </a:rPr>
              <a:t>Connections</a:t>
            </a:r>
            <a:r>
              <a:rPr lang="en-GB" sz="1600" b="0" i="0" u="none" strike="noStrike" dirty="0">
                <a:solidFill>
                  <a:srgbClr val="273239"/>
                </a:solidFill>
                <a:effectLst/>
                <a:latin typeface="+mj-lt"/>
              </a:rPr>
              <a:t>: Each unit is connected to a 5x5 </a:t>
            </a:r>
            <a:r>
              <a:rPr lang="en-GB" sz="1600" b="0" i="0" u="none" strike="noStrike" dirty="0" err="1">
                <a:solidFill>
                  <a:srgbClr val="273239"/>
                </a:solidFill>
                <a:effectLst/>
                <a:latin typeface="+mj-lt"/>
              </a:rPr>
              <a:t>neighborhood</a:t>
            </a:r>
            <a:r>
              <a:rPr lang="en-GB" sz="1600" b="0" i="0" u="none" strike="noStrike" dirty="0">
                <a:solidFill>
                  <a:srgbClr val="273239"/>
                </a:solidFill>
                <a:effectLst/>
                <a:latin typeface="+mj-lt"/>
              </a:rPr>
              <a:t> in the input, producing 28x28 feature maps to prevent boundary effects.</a:t>
            </a:r>
          </a:p>
          <a:p>
            <a:pPr algn="l" fontAlgn="base">
              <a:spcAft>
                <a:spcPts val="1800"/>
              </a:spcAft>
              <a:buFont typeface="Arial" panose="020B0604020202020204" pitchFamily="34" charset="0"/>
              <a:buChar char="•"/>
            </a:pPr>
            <a:r>
              <a:rPr lang="en-GB" sz="1600" b="1" i="0" u="none" strike="noStrike" dirty="0">
                <a:solidFill>
                  <a:srgbClr val="273239"/>
                </a:solidFill>
                <a:effectLst/>
                <a:latin typeface="+mj-lt"/>
              </a:rPr>
              <a:t>Parameters</a:t>
            </a:r>
            <a:r>
              <a:rPr lang="en-GB" sz="1600" b="0" i="0" u="none" strike="noStrike" dirty="0">
                <a:solidFill>
                  <a:srgbClr val="273239"/>
                </a:solidFill>
                <a:effectLst/>
                <a:latin typeface="+mj-lt"/>
              </a:rPr>
              <a:t>: 156 trainable parameters and 117,600 connections.</a:t>
            </a:r>
          </a:p>
          <a:p>
            <a:pPr algn="l" fontAlgn="base">
              <a:spcAft>
                <a:spcPts val="1800"/>
              </a:spcAft>
              <a:buFont typeface="Arial" panose="020B0604020202020204" pitchFamily="34" charset="0"/>
              <a:buChar char="•"/>
            </a:pPr>
            <a:r>
              <a:rPr lang="en-GB" sz="1600" b="1" i="0" u="none" strike="noStrike" dirty="0">
                <a:solidFill>
                  <a:srgbClr val="273239"/>
                </a:solidFill>
                <a:effectLst/>
                <a:latin typeface="+mj-lt"/>
              </a:rPr>
              <a:t>3. Layer S2 (Subsampling Layer)</a:t>
            </a:r>
          </a:p>
          <a:p>
            <a:pPr algn="l" fontAlgn="base">
              <a:spcAft>
                <a:spcPts val="1800"/>
              </a:spcAft>
              <a:buFont typeface="Arial" panose="020B0604020202020204" pitchFamily="34" charset="0"/>
              <a:buChar char="•"/>
            </a:pPr>
            <a:r>
              <a:rPr lang="en-GB" sz="1600" b="1" i="0" u="none" strike="noStrike" dirty="0">
                <a:solidFill>
                  <a:srgbClr val="273239"/>
                </a:solidFill>
                <a:effectLst/>
                <a:latin typeface="+mj-lt"/>
              </a:rPr>
              <a:t>Feature Maps</a:t>
            </a:r>
            <a:r>
              <a:rPr lang="en-GB" sz="1600" b="0" i="0" u="none" strike="noStrike" dirty="0">
                <a:solidFill>
                  <a:srgbClr val="273239"/>
                </a:solidFill>
                <a:effectLst/>
                <a:latin typeface="+mj-lt"/>
              </a:rPr>
              <a:t>: 6 feature maps.</a:t>
            </a:r>
          </a:p>
          <a:p>
            <a:pPr algn="l" fontAlgn="base">
              <a:spcAft>
                <a:spcPts val="1800"/>
              </a:spcAft>
              <a:buFont typeface="Arial" panose="020B0604020202020204" pitchFamily="34" charset="0"/>
              <a:buChar char="•"/>
            </a:pPr>
            <a:r>
              <a:rPr lang="en-GB" sz="1600" b="1" i="0" u="none" strike="noStrike" dirty="0">
                <a:solidFill>
                  <a:srgbClr val="273239"/>
                </a:solidFill>
                <a:effectLst/>
                <a:latin typeface="+mj-lt"/>
              </a:rPr>
              <a:t>Size</a:t>
            </a:r>
            <a:r>
              <a:rPr lang="en-GB" sz="1600" b="0" i="0" u="none" strike="noStrike" dirty="0">
                <a:solidFill>
                  <a:srgbClr val="273239"/>
                </a:solidFill>
                <a:effectLst/>
                <a:latin typeface="+mj-lt"/>
              </a:rPr>
              <a:t>: 14x14 (each unit connected to a 2x2 </a:t>
            </a:r>
            <a:r>
              <a:rPr lang="en-GB" sz="1600" b="0" i="0" u="none" strike="noStrike" dirty="0" err="1">
                <a:solidFill>
                  <a:srgbClr val="273239"/>
                </a:solidFill>
                <a:effectLst/>
                <a:latin typeface="+mj-lt"/>
              </a:rPr>
              <a:t>neighborhood</a:t>
            </a:r>
            <a:r>
              <a:rPr lang="en-GB" sz="1600" b="0" i="0" u="none" strike="noStrike" dirty="0">
                <a:solidFill>
                  <a:srgbClr val="273239"/>
                </a:solidFill>
                <a:effectLst/>
                <a:latin typeface="+mj-lt"/>
              </a:rPr>
              <a:t> in C1).</a:t>
            </a:r>
          </a:p>
          <a:p>
            <a:pPr algn="l" fontAlgn="base">
              <a:spcAft>
                <a:spcPts val="1800"/>
              </a:spcAft>
              <a:buFont typeface="Arial" panose="020B0604020202020204" pitchFamily="34" charset="0"/>
              <a:buChar char="•"/>
            </a:pPr>
            <a:r>
              <a:rPr lang="en-GB" sz="1600" b="1" i="0" u="none" strike="noStrike" dirty="0">
                <a:solidFill>
                  <a:srgbClr val="273239"/>
                </a:solidFill>
                <a:effectLst/>
                <a:latin typeface="+mj-lt"/>
              </a:rPr>
              <a:t>Operation</a:t>
            </a:r>
            <a:r>
              <a:rPr lang="en-GB" sz="1600" b="0" i="0" u="none" strike="noStrike" dirty="0">
                <a:solidFill>
                  <a:srgbClr val="273239"/>
                </a:solidFill>
                <a:effectLst/>
                <a:latin typeface="+mj-lt"/>
              </a:rPr>
              <a:t>: Each unit adds four inputs, multiplies by a trainable coefficient, adds a bias, and applies a sigmoid function.</a:t>
            </a:r>
          </a:p>
          <a:p>
            <a:pPr algn="l" fontAlgn="base">
              <a:spcAft>
                <a:spcPts val="1800"/>
              </a:spcAft>
              <a:buFont typeface="Arial" panose="020B0604020202020204" pitchFamily="34" charset="0"/>
              <a:buChar char="•"/>
            </a:pPr>
            <a:r>
              <a:rPr lang="en-GB" sz="1600" b="1" i="0" u="none" strike="noStrike" dirty="0">
                <a:solidFill>
                  <a:srgbClr val="273239"/>
                </a:solidFill>
                <a:effectLst/>
                <a:latin typeface="+mj-lt"/>
              </a:rPr>
              <a:t>Parameters</a:t>
            </a:r>
            <a:r>
              <a:rPr lang="en-GB" sz="1600" b="0" i="0" u="none" strike="noStrike" dirty="0">
                <a:solidFill>
                  <a:srgbClr val="273239"/>
                </a:solidFill>
                <a:effectLst/>
                <a:latin typeface="+mj-lt"/>
              </a:rPr>
              <a:t>: 12 trainable parameters and 5,880 connections.</a:t>
            </a:r>
          </a:p>
          <a:p>
            <a:pPr algn="l" fontAlgn="base">
              <a:spcAft>
                <a:spcPts val="1800"/>
              </a:spcAft>
              <a:buFont typeface="Arial" panose="020B0604020202020204" pitchFamily="34" charset="0"/>
              <a:buChar char="•"/>
            </a:pPr>
            <a:endParaRPr lang="en-GB" b="0" i="0" u="none" strike="noStrike" dirty="0">
              <a:solidFill>
                <a:srgbClr val="273239"/>
              </a:solidFill>
              <a:effectLst/>
              <a:latin typeface="Nunito" pitchFamily="2" charset="77"/>
            </a:endParaRPr>
          </a:p>
          <a:p>
            <a:pPr>
              <a:buNone/>
            </a:pPr>
            <a:br>
              <a:rPr lang="en-GB" dirty="0"/>
            </a:br>
            <a:endParaRPr lang="en-GB" sz="1600" i="0" u="none" strike="noStrike" dirty="0">
              <a:solidFill>
                <a:srgbClr val="000000"/>
              </a:solidFill>
              <a:effectLst/>
            </a:endParaRPr>
          </a:p>
        </p:txBody>
      </p:sp>
    </p:spTree>
    <p:extLst>
      <p:ext uri="{BB962C8B-B14F-4D97-AF65-F5344CB8AC3E}">
        <p14:creationId xmlns:p14="http://schemas.microsoft.com/office/powerpoint/2010/main" val="17719141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51C6D9DA-291A-EE33-B175-DE9AA2FE0532}"/>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83E8E60E-CEB8-7CC4-0151-9885F1A08D4F}"/>
              </a:ext>
            </a:extLst>
          </p:cNvPr>
          <p:cNvSpPr txBox="1">
            <a:spLocks noGrp="1"/>
          </p:cNvSpPr>
          <p:nvPr>
            <p:ph type="title"/>
          </p:nvPr>
        </p:nvSpPr>
        <p:spPr>
          <a:xfrm>
            <a:off x="596100" y="-57519"/>
            <a:ext cx="8329650" cy="627900"/>
          </a:xfrm>
          <a:prstGeom prst="rect">
            <a:avLst/>
          </a:prstGeom>
          <a:noFill/>
          <a:ln>
            <a:noFill/>
          </a:ln>
        </p:spPr>
        <p:txBody>
          <a:bodyPr spcFirstLastPara="1" wrap="square" lIns="91425" tIns="91425" rIns="91425" bIns="91425" anchor="t" anchorCtr="0">
            <a:normAutofit fontScale="90000"/>
          </a:bodyPr>
          <a:lstStyle/>
          <a:p>
            <a:r>
              <a:rPr lang="en-GB" sz="2700" dirty="0"/>
              <a:t>B</a:t>
            </a:r>
            <a:r>
              <a:rPr lang="en-GB" sz="2700" b="1" dirty="0"/>
              <a:t>reakdown of the LeNet architecture's layers:</a:t>
            </a:r>
            <a:br>
              <a:rPr lang="en-GB" sz="2700" b="1" dirty="0"/>
            </a:br>
            <a:br>
              <a:rPr lang="en-GB" sz="1600" b="1" dirty="0"/>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0DA043AE-DCED-0675-20B4-FA629AAE7BAA}"/>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0166B036-8320-BF0E-4C84-558BD554A29D}"/>
              </a:ext>
            </a:extLst>
          </p:cNvPr>
          <p:cNvSpPr txBox="1"/>
          <p:nvPr/>
        </p:nvSpPr>
        <p:spPr>
          <a:xfrm>
            <a:off x="470952" y="386262"/>
            <a:ext cx="8076948" cy="5216813"/>
          </a:xfrm>
          <a:prstGeom prst="rect">
            <a:avLst/>
          </a:prstGeom>
          <a:noFill/>
        </p:spPr>
        <p:txBody>
          <a:bodyPr wrap="square">
            <a:spAutoFit/>
          </a:bodyPr>
          <a:lstStyle/>
          <a:p>
            <a:pPr algn="l" fontAlgn="base">
              <a:spcBef>
                <a:spcPts val="1800"/>
              </a:spcBef>
              <a:spcAft>
                <a:spcPts val="1800"/>
              </a:spcAft>
              <a:buNone/>
            </a:pPr>
            <a:r>
              <a:rPr lang="en-GB" b="1" i="0" u="none" strike="noStrike" dirty="0">
                <a:solidFill>
                  <a:srgbClr val="273239"/>
                </a:solidFill>
                <a:effectLst/>
                <a:latin typeface="Nunito" pitchFamily="2" charset="77"/>
              </a:rPr>
              <a:t>4. Layer C3 (Convolutional Layer)</a:t>
            </a:r>
          </a:p>
          <a:p>
            <a:pPr algn="l" fontAlgn="base">
              <a:spcAft>
                <a:spcPts val="1800"/>
              </a:spcAft>
              <a:buFont typeface="Arial" panose="020B0604020202020204" pitchFamily="34" charset="0"/>
              <a:buChar char="•"/>
            </a:pPr>
            <a:r>
              <a:rPr lang="en-GB" b="1" i="0" u="none" strike="noStrike" dirty="0">
                <a:solidFill>
                  <a:srgbClr val="273239"/>
                </a:solidFill>
                <a:effectLst/>
                <a:latin typeface="Nunito" pitchFamily="2" charset="77"/>
              </a:rPr>
              <a:t>Feature Maps</a:t>
            </a:r>
            <a:r>
              <a:rPr lang="en-GB" b="0" i="0" u="none" strike="noStrike" dirty="0">
                <a:solidFill>
                  <a:srgbClr val="273239"/>
                </a:solidFill>
                <a:effectLst/>
                <a:latin typeface="Nunito" pitchFamily="2" charset="77"/>
              </a:rPr>
              <a:t>: 16 feature maps.</a:t>
            </a:r>
          </a:p>
          <a:p>
            <a:pPr algn="l" fontAlgn="base">
              <a:spcAft>
                <a:spcPts val="1800"/>
              </a:spcAft>
              <a:buFont typeface="Arial" panose="020B0604020202020204" pitchFamily="34" charset="0"/>
              <a:buChar char="•"/>
            </a:pPr>
            <a:r>
              <a:rPr lang="en-GB" b="1" i="0" u="none" strike="noStrike" dirty="0">
                <a:solidFill>
                  <a:srgbClr val="273239"/>
                </a:solidFill>
                <a:effectLst/>
                <a:latin typeface="Nunito" pitchFamily="2" charset="77"/>
              </a:rPr>
              <a:t>Connections</a:t>
            </a:r>
            <a:r>
              <a:rPr lang="en-GB" b="0" i="0" u="none" strike="noStrike" dirty="0">
                <a:solidFill>
                  <a:srgbClr val="273239"/>
                </a:solidFill>
                <a:effectLst/>
                <a:latin typeface="Nunito" pitchFamily="2" charset="77"/>
              </a:rPr>
              <a:t>: Each unit is connected to several 5x5 </a:t>
            </a:r>
            <a:r>
              <a:rPr lang="en-GB" b="0" i="0" u="none" strike="noStrike" dirty="0" err="1">
                <a:solidFill>
                  <a:srgbClr val="273239"/>
                </a:solidFill>
                <a:effectLst/>
                <a:latin typeface="Nunito" pitchFamily="2" charset="77"/>
              </a:rPr>
              <a:t>neighborhoods</a:t>
            </a:r>
            <a:r>
              <a:rPr lang="en-GB" b="0" i="0" u="none" strike="noStrike" dirty="0">
                <a:solidFill>
                  <a:srgbClr val="273239"/>
                </a:solidFill>
                <a:effectLst/>
                <a:latin typeface="Nunito" pitchFamily="2" charset="77"/>
              </a:rPr>
              <a:t> at identical locations in a subset of S2’s feature maps.</a:t>
            </a:r>
          </a:p>
          <a:p>
            <a:pPr algn="l" fontAlgn="base">
              <a:spcAft>
                <a:spcPts val="1800"/>
              </a:spcAft>
              <a:buFont typeface="Arial" panose="020B0604020202020204" pitchFamily="34" charset="0"/>
              <a:buChar char="•"/>
            </a:pPr>
            <a:r>
              <a:rPr lang="en-GB" b="1" i="0" u="none" strike="noStrike" dirty="0">
                <a:solidFill>
                  <a:srgbClr val="273239"/>
                </a:solidFill>
                <a:effectLst/>
                <a:latin typeface="Nunito" pitchFamily="2" charset="77"/>
              </a:rPr>
              <a:t>Parameters and Connections</a:t>
            </a:r>
            <a:r>
              <a:rPr lang="en-GB" b="0" i="0" u="none" strike="noStrike" dirty="0">
                <a:solidFill>
                  <a:srgbClr val="273239"/>
                </a:solidFill>
                <a:effectLst/>
                <a:latin typeface="Nunito" pitchFamily="2" charset="77"/>
              </a:rPr>
              <a:t>: Connections are partially connected to force feature maps to learn different features, with 1,516 trainable parameters and 151,600 connections.</a:t>
            </a:r>
          </a:p>
          <a:p>
            <a:pPr algn="l" fontAlgn="base">
              <a:spcBef>
                <a:spcPts val="1800"/>
              </a:spcBef>
              <a:spcAft>
                <a:spcPts val="1800"/>
              </a:spcAft>
              <a:buNone/>
            </a:pPr>
            <a:r>
              <a:rPr lang="en-GB" b="1" i="0" u="none" strike="noStrike" dirty="0">
                <a:solidFill>
                  <a:srgbClr val="273239"/>
                </a:solidFill>
                <a:effectLst/>
                <a:latin typeface="Nunito" pitchFamily="2" charset="77"/>
              </a:rPr>
              <a:t>5. Layer S4 (Subsampling Layer)</a:t>
            </a:r>
          </a:p>
          <a:p>
            <a:pPr algn="l" fontAlgn="base">
              <a:spcAft>
                <a:spcPts val="1800"/>
              </a:spcAft>
              <a:buFont typeface="Arial" panose="020B0604020202020204" pitchFamily="34" charset="0"/>
              <a:buChar char="•"/>
            </a:pPr>
            <a:r>
              <a:rPr lang="en-GB" b="1" i="0" u="none" strike="noStrike" dirty="0">
                <a:solidFill>
                  <a:srgbClr val="273239"/>
                </a:solidFill>
                <a:effectLst/>
                <a:latin typeface="Nunito" pitchFamily="2" charset="77"/>
              </a:rPr>
              <a:t>Feature Maps</a:t>
            </a:r>
            <a:r>
              <a:rPr lang="en-GB" b="0" i="0" u="none" strike="noStrike" dirty="0">
                <a:solidFill>
                  <a:srgbClr val="273239"/>
                </a:solidFill>
                <a:effectLst/>
                <a:latin typeface="Nunito" pitchFamily="2" charset="77"/>
              </a:rPr>
              <a:t>: 16 feature maps.</a:t>
            </a:r>
          </a:p>
          <a:p>
            <a:pPr algn="l" fontAlgn="base">
              <a:spcAft>
                <a:spcPts val="1800"/>
              </a:spcAft>
              <a:buFont typeface="Arial" panose="020B0604020202020204" pitchFamily="34" charset="0"/>
              <a:buChar char="•"/>
            </a:pPr>
            <a:r>
              <a:rPr lang="en-GB" b="1" i="0" u="none" strike="noStrike" dirty="0">
                <a:solidFill>
                  <a:srgbClr val="273239"/>
                </a:solidFill>
                <a:effectLst/>
                <a:latin typeface="Nunito" pitchFamily="2" charset="77"/>
              </a:rPr>
              <a:t>Size</a:t>
            </a:r>
            <a:r>
              <a:rPr lang="en-GB" b="0" i="0" u="none" strike="noStrike" dirty="0">
                <a:solidFill>
                  <a:srgbClr val="273239"/>
                </a:solidFill>
                <a:effectLst/>
                <a:latin typeface="Nunito" pitchFamily="2" charset="77"/>
              </a:rPr>
              <a:t>: 7x7 (each unit connected to a 2x2 </a:t>
            </a:r>
            <a:r>
              <a:rPr lang="en-GB" b="0" i="0" u="none" strike="noStrike" dirty="0" err="1">
                <a:solidFill>
                  <a:srgbClr val="273239"/>
                </a:solidFill>
                <a:effectLst/>
                <a:latin typeface="Nunito" pitchFamily="2" charset="77"/>
              </a:rPr>
              <a:t>neighborhood</a:t>
            </a:r>
            <a:r>
              <a:rPr lang="en-GB" b="0" i="0" u="none" strike="noStrike" dirty="0">
                <a:solidFill>
                  <a:srgbClr val="273239"/>
                </a:solidFill>
                <a:effectLst/>
                <a:latin typeface="Nunito" pitchFamily="2" charset="77"/>
              </a:rPr>
              <a:t> in C3).</a:t>
            </a:r>
          </a:p>
          <a:p>
            <a:pPr algn="l" fontAlgn="base">
              <a:spcAft>
                <a:spcPts val="1800"/>
              </a:spcAft>
              <a:buFont typeface="Arial" panose="020B0604020202020204" pitchFamily="34" charset="0"/>
              <a:buChar char="•"/>
            </a:pPr>
            <a:r>
              <a:rPr lang="en-GB" b="1" i="0" u="none" strike="noStrike" dirty="0">
                <a:solidFill>
                  <a:srgbClr val="273239"/>
                </a:solidFill>
                <a:effectLst/>
                <a:latin typeface="Nunito" pitchFamily="2" charset="77"/>
              </a:rPr>
              <a:t>Parameters</a:t>
            </a:r>
            <a:r>
              <a:rPr lang="en-GB" b="0" i="0" u="none" strike="noStrike" dirty="0">
                <a:solidFill>
                  <a:srgbClr val="273239"/>
                </a:solidFill>
                <a:effectLst/>
                <a:latin typeface="Nunito" pitchFamily="2" charset="77"/>
              </a:rPr>
              <a:t>: 32 trainable parameters and 2,744 connections.</a:t>
            </a:r>
          </a:p>
          <a:p>
            <a:pPr>
              <a:buNone/>
            </a:pPr>
            <a:br>
              <a:rPr lang="en-GB" dirty="0"/>
            </a:br>
            <a:endParaRPr lang="en-GB" b="0" i="0" u="none" strike="noStrike" dirty="0">
              <a:solidFill>
                <a:srgbClr val="273239"/>
              </a:solidFill>
              <a:effectLst/>
              <a:latin typeface="Nunito" pitchFamily="2" charset="77"/>
            </a:endParaRPr>
          </a:p>
          <a:p>
            <a:pPr>
              <a:buNone/>
            </a:pPr>
            <a:br>
              <a:rPr lang="en-GB" dirty="0"/>
            </a:br>
            <a:endParaRPr lang="en-GB" sz="1600" i="0" u="none" strike="noStrike" dirty="0">
              <a:solidFill>
                <a:srgbClr val="000000"/>
              </a:solidFill>
              <a:effectLst/>
            </a:endParaRPr>
          </a:p>
        </p:txBody>
      </p:sp>
    </p:spTree>
    <p:extLst>
      <p:ext uri="{BB962C8B-B14F-4D97-AF65-F5344CB8AC3E}">
        <p14:creationId xmlns:p14="http://schemas.microsoft.com/office/powerpoint/2010/main" val="22537050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319A0B1A-06AB-E173-C500-41B237F19B06}"/>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1D53BF19-37D2-AA74-F82B-0EDBFEFE0B34}"/>
              </a:ext>
            </a:extLst>
          </p:cNvPr>
          <p:cNvSpPr txBox="1">
            <a:spLocks noGrp="1"/>
          </p:cNvSpPr>
          <p:nvPr>
            <p:ph type="title"/>
          </p:nvPr>
        </p:nvSpPr>
        <p:spPr>
          <a:xfrm>
            <a:off x="596100" y="-57519"/>
            <a:ext cx="8329650" cy="627900"/>
          </a:xfrm>
          <a:prstGeom prst="rect">
            <a:avLst/>
          </a:prstGeom>
          <a:noFill/>
          <a:ln>
            <a:noFill/>
          </a:ln>
        </p:spPr>
        <p:txBody>
          <a:bodyPr spcFirstLastPara="1" wrap="square" lIns="91425" tIns="91425" rIns="91425" bIns="91425" anchor="t" anchorCtr="0">
            <a:normAutofit fontScale="90000"/>
          </a:bodyPr>
          <a:lstStyle/>
          <a:p>
            <a:r>
              <a:rPr lang="en-GB" sz="2700" dirty="0"/>
              <a:t>B</a:t>
            </a:r>
            <a:r>
              <a:rPr lang="en-GB" sz="2700" b="1" dirty="0"/>
              <a:t>reakdown of the LeNet architecture's layers:</a:t>
            </a:r>
            <a:br>
              <a:rPr lang="en-GB" sz="2700" b="1" dirty="0"/>
            </a:br>
            <a:br>
              <a:rPr lang="en-GB" sz="1600" b="1" dirty="0"/>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A3464C76-61F7-5473-9C83-38C25885F04A}"/>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D371A868-8ADD-3373-6C4C-E508E1EFA2B2}"/>
              </a:ext>
            </a:extLst>
          </p:cNvPr>
          <p:cNvSpPr txBox="1"/>
          <p:nvPr/>
        </p:nvSpPr>
        <p:spPr>
          <a:xfrm>
            <a:off x="470952" y="386262"/>
            <a:ext cx="8076948" cy="5863144"/>
          </a:xfrm>
          <a:prstGeom prst="rect">
            <a:avLst/>
          </a:prstGeom>
          <a:noFill/>
        </p:spPr>
        <p:txBody>
          <a:bodyPr wrap="square">
            <a:spAutoFit/>
          </a:bodyPr>
          <a:lstStyle/>
          <a:p>
            <a:pPr algn="l" fontAlgn="base">
              <a:spcBef>
                <a:spcPts val="1800"/>
              </a:spcBef>
              <a:spcAft>
                <a:spcPts val="1800"/>
              </a:spcAft>
              <a:buNone/>
            </a:pPr>
            <a:r>
              <a:rPr lang="en-GB" sz="1600" b="1" i="0" u="none" strike="noStrike" dirty="0">
                <a:solidFill>
                  <a:srgbClr val="273239"/>
                </a:solidFill>
                <a:effectLst/>
                <a:latin typeface="+mj-lt"/>
              </a:rPr>
              <a:t>6. Layer C5 (Convolutional Layer)</a:t>
            </a:r>
          </a:p>
          <a:p>
            <a:pPr algn="l" fontAlgn="base">
              <a:spcAft>
                <a:spcPts val="1800"/>
              </a:spcAft>
              <a:buFont typeface="Arial" panose="020B0604020202020204" pitchFamily="34" charset="0"/>
              <a:buChar char="•"/>
            </a:pPr>
            <a:r>
              <a:rPr lang="en-GB" sz="1600" b="1" i="0" u="none" strike="noStrike" dirty="0">
                <a:solidFill>
                  <a:srgbClr val="273239"/>
                </a:solidFill>
                <a:effectLst/>
                <a:latin typeface="+mj-lt"/>
              </a:rPr>
              <a:t>Feature Maps</a:t>
            </a:r>
            <a:r>
              <a:rPr lang="en-GB" sz="1600" b="0" i="0" u="none" strike="noStrike" dirty="0">
                <a:solidFill>
                  <a:srgbClr val="273239"/>
                </a:solidFill>
                <a:effectLst/>
                <a:latin typeface="+mj-lt"/>
              </a:rPr>
              <a:t>: 120 feature maps.</a:t>
            </a:r>
          </a:p>
          <a:p>
            <a:pPr algn="l" fontAlgn="base">
              <a:spcAft>
                <a:spcPts val="1800"/>
              </a:spcAft>
              <a:buFont typeface="Arial" panose="020B0604020202020204" pitchFamily="34" charset="0"/>
              <a:buChar char="•"/>
            </a:pPr>
            <a:r>
              <a:rPr lang="en-GB" sz="1600" b="1" i="0" u="none" strike="noStrike" dirty="0">
                <a:solidFill>
                  <a:srgbClr val="273239"/>
                </a:solidFill>
                <a:effectLst/>
                <a:latin typeface="+mj-lt"/>
              </a:rPr>
              <a:t>Size</a:t>
            </a:r>
            <a:r>
              <a:rPr lang="en-GB" sz="1600" b="0" i="0" u="none" strike="noStrike" dirty="0">
                <a:solidFill>
                  <a:srgbClr val="273239"/>
                </a:solidFill>
                <a:effectLst/>
                <a:latin typeface="+mj-lt"/>
              </a:rPr>
              <a:t>: 1x1 (each unit connected to a 5x5 </a:t>
            </a:r>
            <a:r>
              <a:rPr lang="en-GB" sz="1600" b="0" i="0" u="none" strike="noStrike" dirty="0" err="1">
                <a:solidFill>
                  <a:srgbClr val="273239"/>
                </a:solidFill>
                <a:effectLst/>
                <a:latin typeface="+mj-lt"/>
              </a:rPr>
              <a:t>neighborhood</a:t>
            </a:r>
            <a:r>
              <a:rPr lang="en-GB" sz="1600" b="0" i="0" u="none" strike="noStrike" dirty="0">
                <a:solidFill>
                  <a:srgbClr val="273239"/>
                </a:solidFill>
                <a:effectLst/>
                <a:latin typeface="+mj-lt"/>
              </a:rPr>
              <a:t> on all 16 of S4’s feature maps, effectively fully connected due to input size).</a:t>
            </a:r>
          </a:p>
          <a:p>
            <a:pPr algn="l" fontAlgn="base">
              <a:spcAft>
                <a:spcPts val="1800"/>
              </a:spcAft>
              <a:buFont typeface="Arial" panose="020B0604020202020204" pitchFamily="34" charset="0"/>
              <a:buChar char="•"/>
            </a:pPr>
            <a:r>
              <a:rPr lang="en-GB" sz="1600" b="1" i="0" u="none" strike="noStrike" dirty="0">
                <a:solidFill>
                  <a:srgbClr val="273239"/>
                </a:solidFill>
                <a:effectLst/>
                <a:latin typeface="+mj-lt"/>
              </a:rPr>
              <a:t>Parameters</a:t>
            </a:r>
            <a:r>
              <a:rPr lang="en-GB" sz="1600" b="0" i="0" u="none" strike="noStrike" dirty="0">
                <a:solidFill>
                  <a:srgbClr val="273239"/>
                </a:solidFill>
                <a:effectLst/>
                <a:latin typeface="+mj-lt"/>
              </a:rPr>
              <a:t>: 48,000 trainable parameters and 48,000 connections.</a:t>
            </a:r>
          </a:p>
          <a:p>
            <a:pPr algn="l" fontAlgn="base">
              <a:spcBef>
                <a:spcPts val="1800"/>
              </a:spcBef>
              <a:spcAft>
                <a:spcPts val="1800"/>
              </a:spcAft>
              <a:buNone/>
            </a:pPr>
            <a:r>
              <a:rPr lang="en-GB" sz="1600" b="1" i="0" u="none" strike="noStrike" dirty="0">
                <a:solidFill>
                  <a:srgbClr val="273239"/>
                </a:solidFill>
                <a:effectLst/>
                <a:latin typeface="+mj-lt"/>
              </a:rPr>
              <a:t>7. Layer F6 (Fully Connected Layer)</a:t>
            </a:r>
          </a:p>
          <a:p>
            <a:pPr algn="l" fontAlgn="base">
              <a:spcAft>
                <a:spcPts val="1800"/>
              </a:spcAft>
              <a:buFont typeface="Arial" panose="020B0604020202020204" pitchFamily="34" charset="0"/>
              <a:buChar char="•"/>
            </a:pPr>
            <a:r>
              <a:rPr lang="en-GB" sz="1600" b="1" i="0" u="none" strike="noStrike" dirty="0">
                <a:solidFill>
                  <a:srgbClr val="273239"/>
                </a:solidFill>
                <a:effectLst/>
                <a:latin typeface="+mj-lt"/>
              </a:rPr>
              <a:t>Units</a:t>
            </a:r>
            <a:r>
              <a:rPr lang="en-GB" sz="1600" b="0" i="0" u="none" strike="noStrike" dirty="0">
                <a:solidFill>
                  <a:srgbClr val="273239"/>
                </a:solidFill>
                <a:effectLst/>
                <a:latin typeface="+mj-lt"/>
              </a:rPr>
              <a:t>: 84 units.</a:t>
            </a:r>
          </a:p>
          <a:p>
            <a:pPr algn="l" fontAlgn="base">
              <a:spcAft>
                <a:spcPts val="1800"/>
              </a:spcAft>
              <a:buFont typeface="Arial" panose="020B0604020202020204" pitchFamily="34" charset="0"/>
              <a:buChar char="•"/>
            </a:pPr>
            <a:r>
              <a:rPr lang="en-GB" sz="1600" b="1" i="0" u="none" strike="noStrike" dirty="0">
                <a:solidFill>
                  <a:srgbClr val="273239"/>
                </a:solidFill>
                <a:effectLst/>
                <a:latin typeface="+mj-lt"/>
              </a:rPr>
              <a:t>Connections</a:t>
            </a:r>
            <a:r>
              <a:rPr lang="en-GB" sz="1600" b="0" i="0" u="none" strike="noStrike" dirty="0">
                <a:solidFill>
                  <a:srgbClr val="273239"/>
                </a:solidFill>
                <a:effectLst/>
                <a:latin typeface="+mj-lt"/>
              </a:rPr>
              <a:t>: Each unit is fully connected to C5, resulting in 10,164 trainable parameters.</a:t>
            </a:r>
          </a:p>
          <a:p>
            <a:pPr algn="l" fontAlgn="base">
              <a:spcAft>
                <a:spcPts val="1800"/>
              </a:spcAft>
              <a:buFont typeface="Arial" panose="020B0604020202020204" pitchFamily="34" charset="0"/>
              <a:buChar char="•"/>
            </a:pPr>
            <a:r>
              <a:rPr lang="en-GB" sz="1600" b="1" i="0" u="none" strike="noStrike" dirty="0">
                <a:solidFill>
                  <a:srgbClr val="273239"/>
                </a:solidFill>
                <a:effectLst/>
                <a:latin typeface="+mj-lt"/>
              </a:rPr>
              <a:t>Activation</a:t>
            </a:r>
            <a:r>
              <a:rPr lang="en-GB" sz="1600" b="0" i="0" u="none" strike="noStrike" dirty="0">
                <a:solidFill>
                  <a:srgbClr val="273239"/>
                </a:solidFill>
                <a:effectLst/>
                <a:latin typeface="+mj-lt"/>
              </a:rPr>
              <a:t>: Uses a scaled hyperbolic tangent function f(a)=Atan⁡(Sa)</a:t>
            </a:r>
            <a:r>
              <a:rPr lang="en-GB" sz="1600" b="0" i="1" u="none" strike="noStrike" dirty="0">
                <a:solidFill>
                  <a:srgbClr val="273239"/>
                </a:solidFill>
                <a:effectLst/>
                <a:latin typeface="+mj-lt"/>
              </a:rPr>
              <a:t>f</a:t>
            </a:r>
            <a:r>
              <a:rPr lang="en-GB" sz="1600" b="0" i="0" u="none" strike="noStrike" dirty="0">
                <a:solidFill>
                  <a:srgbClr val="273239"/>
                </a:solidFill>
                <a:effectLst/>
                <a:latin typeface="+mj-lt"/>
              </a:rPr>
              <a:t>(</a:t>
            </a:r>
            <a:r>
              <a:rPr lang="en-GB" sz="1600" b="0" i="1" u="none" strike="noStrike" dirty="0">
                <a:solidFill>
                  <a:srgbClr val="273239"/>
                </a:solidFill>
                <a:effectLst/>
                <a:latin typeface="+mj-lt"/>
              </a:rPr>
              <a:t>a</a:t>
            </a:r>
            <a:r>
              <a:rPr lang="en-GB" sz="1600" b="0" i="0" u="none" strike="noStrike" dirty="0">
                <a:solidFill>
                  <a:srgbClr val="273239"/>
                </a:solidFill>
                <a:effectLst/>
                <a:latin typeface="+mj-lt"/>
              </a:rPr>
              <a:t>)=</a:t>
            </a:r>
            <a:r>
              <a:rPr lang="en-GB" sz="1600" b="0" i="1" u="none" strike="noStrike" dirty="0">
                <a:solidFill>
                  <a:srgbClr val="273239"/>
                </a:solidFill>
                <a:effectLst/>
                <a:latin typeface="+mj-lt"/>
              </a:rPr>
              <a:t>A</a:t>
            </a:r>
            <a:r>
              <a:rPr lang="en-GB" sz="1600" b="0" i="0" u="none" strike="noStrike" dirty="0">
                <a:solidFill>
                  <a:srgbClr val="273239"/>
                </a:solidFill>
                <a:effectLst/>
                <a:latin typeface="+mj-lt"/>
              </a:rPr>
              <a:t>tan(</a:t>
            </a:r>
            <a:r>
              <a:rPr lang="en-GB" sz="1600" b="0" i="1" u="none" strike="noStrike" dirty="0">
                <a:solidFill>
                  <a:srgbClr val="273239"/>
                </a:solidFill>
                <a:effectLst/>
                <a:latin typeface="+mj-lt"/>
              </a:rPr>
              <a:t>Sa</a:t>
            </a:r>
            <a:r>
              <a:rPr lang="en-GB" sz="1600" b="0" i="0" u="none" strike="noStrike" dirty="0">
                <a:solidFill>
                  <a:srgbClr val="273239"/>
                </a:solidFill>
                <a:effectLst/>
                <a:latin typeface="+mj-lt"/>
              </a:rPr>
              <a:t>), where A = 1.7159 and S = 2/3</a:t>
            </a:r>
          </a:p>
          <a:p>
            <a:pPr>
              <a:buNone/>
            </a:pPr>
            <a:br>
              <a:rPr lang="en-GB" sz="1600" dirty="0">
                <a:latin typeface="+mj-lt"/>
              </a:rPr>
            </a:br>
            <a:endParaRPr lang="en-GB" sz="1600" b="0" i="0" u="none" strike="noStrike" dirty="0">
              <a:solidFill>
                <a:srgbClr val="273239"/>
              </a:solidFill>
              <a:effectLst/>
              <a:latin typeface="+mj-lt"/>
            </a:endParaRPr>
          </a:p>
          <a:p>
            <a:pPr>
              <a:buNone/>
            </a:pPr>
            <a:br>
              <a:rPr lang="en-GB" sz="1600" dirty="0">
                <a:latin typeface="+mj-lt"/>
              </a:rPr>
            </a:br>
            <a:endParaRPr lang="en-GB" sz="1600" i="0" u="none" strike="noStrike" dirty="0">
              <a:solidFill>
                <a:srgbClr val="000000"/>
              </a:solidFill>
              <a:effectLst/>
              <a:latin typeface="+mj-lt"/>
            </a:endParaRPr>
          </a:p>
        </p:txBody>
      </p:sp>
    </p:spTree>
    <p:extLst>
      <p:ext uri="{BB962C8B-B14F-4D97-AF65-F5344CB8AC3E}">
        <p14:creationId xmlns:p14="http://schemas.microsoft.com/office/powerpoint/2010/main" val="29006650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16A3517B-A391-59CB-BA5A-C65D4CF6B5F3}"/>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7200B97E-685D-0FAF-DA0F-40BC1D38FF3D}"/>
              </a:ext>
            </a:extLst>
          </p:cNvPr>
          <p:cNvSpPr txBox="1">
            <a:spLocks noGrp="1"/>
          </p:cNvSpPr>
          <p:nvPr>
            <p:ph type="title"/>
          </p:nvPr>
        </p:nvSpPr>
        <p:spPr>
          <a:xfrm>
            <a:off x="596100" y="-57519"/>
            <a:ext cx="8329650" cy="627900"/>
          </a:xfrm>
          <a:prstGeom prst="rect">
            <a:avLst/>
          </a:prstGeom>
          <a:noFill/>
          <a:ln>
            <a:noFill/>
          </a:ln>
        </p:spPr>
        <p:txBody>
          <a:bodyPr spcFirstLastPara="1" wrap="square" lIns="91425" tIns="91425" rIns="91425" bIns="91425" anchor="t" anchorCtr="0">
            <a:normAutofit fontScale="90000"/>
          </a:bodyPr>
          <a:lstStyle/>
          <a:p>
            <a:r>
              <a:rPr lang="en-GB" sz="2700" dirty="0"/>
              <a:t>B</a:t>
            </a:r>
            <a:r>
              <a:rPr lang="en-GB" sz="2700" b="1" dirty="0"/>
              <a:t>reakdown of the LeNet architecture's layers:</a:t>
            </a:r>
            <a:br>
              <a:rPr lang="en-GB" sz="2700" b="1" dirty="0"/>
            </a:br>
            <a:br>
              <a:rPr lang="en-GB" sz="1600" b="1" dirty="0"/>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363B4295-F130-F813-4DA2-C7ECA2672D43}"/>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FD8206F5-A51B-3FB1-D629-EF99AD714824}"/>
              </a:ext>
            </a:extLst>
          </p:cNvPr>
          <p:cNvSpPr txBox="1"/>
          <p:nvPr/>
        </p:nvSpPr>
        <p:spPr>
          <a:xfrm>
            <a:off x="83127" y="386262"/>
            <a:ext cx="8962631" cy="5611793"/>
          </a:xfrm>
          <a:prstGeom prst="rect">
            <a:avLst/>
          </a:prstGeom>
          <a:noFill/>
        </p:spPr>
        <p:txBody>
          <a:bodyPr wrap="square">
            <a:spAutoFit/>
          </a:bodyPr>
          <a:lstStyle/>
          <a:p>
            <a:pPr algn="l" fontAlgn="base">
              <a:spcBef>
                <a:spcPts val="1800"/>
              </a:spcBef>
              <a:spcAft>
                <a:spcPts val="1800"/>
              </a:spcAft>
              <a:buNone/>
            </a:pPr>
            <a:r>
              <a:rPr lang="en-GB" sz="1600" b="1" i="0" u="none" strike="noStrike" dirty="0">
                <a:solidFill>
                  <a:srgbClr val="273239"/>
                </a:solidFill>
                <a:effectLst/>
                <a:latin typeface="Nunito" pitchFamily="2" charset="77"/>
              </a:rPr>
              <a:t>8. Output Layer</a:t>
            </a:r>
          </a:p>
          <a:p>
            <a:pPr algn="l" rtl="0" fontAlgn="base">
              <a:spcAft>
                <a:spcPts val="750"/>
              </a:spcAft>
              <a:buNone/>
            </a:pPr>
            <a:r>
              <a:rPr lang="en-GB" sz="1600" b="0" i="0" u="none" strike="noStrike" dirty="0">
                <a:solidFill>
                  <a:srgbClr val="273239"/>
                </a:solidFill>
                <a:effectLst/>
                <a:latin typeface="Nunito" pitchFamily="2" charset="77"/>
              </a:rPr>
              <a:t>In the output layer of LeNet, each class is represented by an Euclidean Radial Basis Function (RBF) unit. Here's how the output of each RBF unit </a:t>
            </a:r>
            <a:r>
              <a:rPr lang="en-GB" sz="1600" b="0" i="0" u="none" strike="noStrike" dirty="0" err="1">
                <a:solidFill>
                  <a:srgbClr val="273239"/>
                </a:solidFill>
                <a:effectLst/>
                <a:latin typeface="KaTeX_Main"/>
              </a:rPr>
              <a:t>yi</a:t>
            </a:r>
            <a:r>
              <a:rPr lang="en-GB" sz="1600" b="0" i="1" u="none" strike="noStrike" dirty="0" err="1">
                <a:solidFill>
                  <a:srgbClr val="273239"/>
                </a:solidFill>
                <a:effectLst/>
                <a:latin typeface="KaTeX_Math"/>
              </a:rPr>
              <a:t>yi</a:t>
            </a:r>
            <a:r>
              <a:rPr lang="en-GB" sz="1600" b="0" i="0" u="none" strike="noStrike" dirty="0">
                <a:solidFill>
                  <a:srgbClr val="273239"/>
                </a:solidFill>
                <a:effectLst/>
                <a:latin typeface="KaTeX_Main"/>
              </a:rPr>
              <a:t>​</a:t>
            </a:r>
            <a:r>
              <a:rPr lang="en-GB" sz="1600" b="0" i="0" u="none" strike="noStrike" dirty="0">
                <a:solidFill>
                  <a:srgbClr val="273239"/>
                </a:solidFill>
                <a:effectLst/>
                <a:latin typeface="Nunito" pitchFamily="2" charset="77"/>
              </a:rPr>
              <a:t>is computed:</a:t>
            </a:r>
          </a:p>
          <a:p>
            <a:pPr algn="l" fontAlgn="base">
              <a:spcAft>
                <a:spcPts val="750"/>
              </a:spcAft>
              <a:buNone/>
            </a:pPr>
            <a:r>
              <a:rPr lang="en-GB" sz="1600" b="0" i="1" u="none" strike="noStrike" dirty="0" err="1">
                <a:solidFill>
                  <a:srgbClr val="273239"/>
                </a:solidFill>
                <a:effectLst/>
                <a:latin typeface="KaTeX_Main"/>
              </a:rPr>
              <a:t>yi</a:t>
            </a:r>
            <a:r>
              <a:rPr lang="en-GB" sz="1600" b="0" i="1" u="none" strike="noStrike" dirty="0">
                <a:solidFill>
                  <a:srgbClr val="273239"/>
                </a:solidFill>
                <a:effectLst/>
                <a:latin typeface="KaTeX_Main"/>
              </a:rPr>
              <a:t>=∑</a:t>
            </a:r>
            <a:r>
              <a:rPr lang="en-GB" sz="1600" b="0" i="1" u="none" strike="noStrike" dirty="0" err="1">
                <a:solidFill>
                  <a:srgbClr val="273239"/>
                </a:solidFill>
                <a:effectLst/>
                <a:latin typeface="KaTeX_Main"/>
              </a:rPr>
              <a:t>xj.wij</a:t>
            </a:r>
            <a:endParaRPr lang="en-GB" sz="1600" b="0" i="1" u="none" strike="noStrike" dirty="0">
              <a:solidFill>
                <a:srgbClr val="273239"/>
              </a:solidFill>
              <a:effectLst/>
              <a:latin typeface="KaTeX_Main"/>
            </a:endParaRPr>
          </a:p>
          <a:p>
            <a:pPr algn="l" fontAlgn="base">
              <a:spcAft>
                <a:spcPts val="750"/>
              </a:spcAft>
              <a:buNone/>
            </a:pPr>
            <a:r>
              <a:rPr lang="en-GB" sz="1600" b="0" i="0" u="none" strike="noStrike" dirty="0">
                <a:solidFill>
                  <a:srgbClr val="273239"/>
                </a:solidFill>
                <a:effectLst/>
                <a:latin typeface="Nunito" pitchFamily="2" charset="77"/>
              </a:rPr>
              <a:t>In this equation:</a:t>
            </a:r>
          </a:p>
          <a:p>
            <a:pPr algn="l" fontAlgn="base">
              <a:spcAft>
                <a:spcPts val="1800"/>
              </a:spcAft>
              <a:buFont typeface="Arial" panose="020B0604020202020204" pitchFamily="34" charset="0"/>
              <a:buChar char="•"/>
            </a:pPr>
            <a:r>
              <a:rPr lang="en-GB" sz="1600" b="0" i="1" u="none" strike="noStrike" dirty="0" err="1">
                <a:solidFill>
                  <a:srgbClr val="273239"/>
                </a:solidFill>
                <a:effectLst/>
                <a:latin typeface="KaTeX_Main"/>
              </a:rPr>
              <a:t>xj</a:t>
            </a:r>
            <a:r>
              <a:rPr lang="en-GB" sz="1600" b="0" i="0" u="none" strike="noStrike" dirty="0">
                <a:solidFill>
                  <a:srgbClr val="273239"/>
                </a:solidFill>
                <a:effectLst/>
                <a:latin typeface="Nunito" pitchFamily="2" charset="77"/>
              </a:rPr>
              <a:t> represents the inputs to the RBF unit.</a:t>
            </a:r>
          </a:p>
          <a:p>
            <a:pPr algn="l" fontAlgn="base">
              <a:spcAft>
                <a:spcPts val="1800"/>
              </a:spcAft>
              <a:buFont typeface="Arial" panose="020B0604020202020204" pitchFamily="34" charset="0"/>
              <a:buChar char="•"/>
            </a:pPr>
            <a:r>
              <a:rPr lang="en-GB" sz="1600" b="0" i="1" u="none" strike="noStrike" dirty="0" err="1">
                <a:solidFill>
                  <a:srgbClr val="273239"/>
                </a:solidFill>
                <a:effectLst/>
                <a:latin typeface="KaTeX_Main"/>
              </a:rPr>
              <a:t>Wij</a:t>
            </a:r>
            <a:r>
              <a:rPr lang="en-GB" sz="1600" b="0" i="0" u="none" strike="noStrike" dirty="0">
                <a:solidFill>
                  <a:srgbClr val="273239"/>
                </a:solidFill>
                <a:effectLst/>
                <a:latin typeface="KaTeX_Main"/>
              </a:rPr>
              <a:t> </a:t>
            </a:r>
            <a:r>
              <a:rPr lang="en-GB" sz="1600" b="0" i="0" u="none" strike="noStrike" dirty="0">
                <a:solidFill>
                  <a:srgbClr val="273239"/>
                </a:solidFill>
                <a:effectLst/>
                <a:latin typeface="Nunito" pitchFamily="2" charset="77"/>
              </a:rPr>
              <a:t>represents the weights associated with each input.</a:t>
            </a:r>
          </a:p>
          <a:p>
            <a:pPr algn="l" fontAlgn="base">
              <a:spcAft>
                <a:spcPts val="1800"/>
              </a:spcAft>
              <a:buFont typeface="Arial" panose="020B0604020202020204" pitchFamily="34" charset="0"/>
              <a:buChar char="•"/>
            </a:pPr>
            <a:r>
              <a:rPr lang="en-GB" sz="1600" b="0" i="0" u="none" strike="noStrike" dirty="0">
                <a:solidFill>
                  <a:srgbClr val="273239"/>
                </a:solidFill>
                <a:effectLst/>
                <a:latin typeface="Nunito" pitchFamily="2" charset="77"/>
              </a:rPr>
              <a:t>The summation is over all inputs to the RBF unit.</a:t>
            </a:r>
          </a:p>
          <a:p>
            <a:pPr algn="l" rtl="0" fontAlgn="base">
              <a:spcAft>
                <a:spcPts val="750"/>
              </a:spcAft>
            </a:pPr>
            <a:r>
              <a:rPr lang="en-GB" sz="1600" b="0" i="0" u="none" strike="noStrike" dirty="0">
                <a:solidFill>
                  <a:srgbClr val="273239"/>
                </a:solidFill>
                <a:effectLst/>
                <a:latin typeface="Nunito" pitchFamily="2" charset="77"/>
              </a:rPr>
              <a:t>In essence, the output of each RBF unit is determined by the Euclidean distance between its input vector and its parameter vector. The larger the distance between the input pattern and the parameter vector, the larger the RBF output. This output can be interpreted as a penalty term measuring the fit between the input pattern and the model of the class associated with the RBF unit.</a:t>
            </a:r>
          </a:p>
          <a:p>
            <a:pPr>
              <a:buNone/>
            </a:pPr>
            <a:br>
              <a:rPr lang="en-GB" sz="1600" dirty="0">
                <a:latin typeface="+mj-lt"/>
              </a:rPr>
            </a:br>
            <a:endParaRPr lang="en-GB" sz="1600" b="0" i="0" u="none" strike="noStrike" dirty="0">
              <a:solidFill>
                <a:srgbClr val="273239"/>
              </a:solidFill>
              <a:effectLst/>
              <a:latin typeface="+mj-lt"/>
            </a:endParaRPr>
          </a:p>
          <a:p>
            <a:pPr>
              <a:buNone/>
            </a:pPr>
            <a:br>
              <a:rPr lang="en-GB" sz="1600" dirty="0">
                <a:latin typeface="+mj-lt"/>
              </a:rPr>
            </a:br>
            <a:endParaRPr lang="en-GB" sz="1600" i="0" u="none" strike="noStrike" dirty="0">
              <a:solidFill>
                <a:srgbClr val="000000"/>
              </a:solidFill>
              <a:effectLst/>
              <a:latin typeface="+mj-lt"/>
            </a:endParaRPr>
          </a:p>
        </p:txBody>
      </p:sp>
    </p:spTree>
    <p:extLst>
      <p:ext uri="{BB962C8B-B14F-4D97-AF65-F5344CB8AC3E}">
        <p14:creationId xmlns:p14="http://schemas.microsoft.com/office/powerpoint/2010/main" val="39642425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655C1F0E-1CB1-16D0-AEC6-27582E07C593}"/>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03BDE603-8145-3D61-5A21-0D21CA6BA043}"/>
              </a:ext>
            </a:extLst>
          </p:cNvPr>
          <p:cNvSpPr txBox="1">
            <a:spLocks noGrp="1"/>
          </p:cNvSpPr>
          <p:nvPr>
            <p:ph type="title"/>
          </p:nvPr>
        </p:nvSpPr>
        <p:spPr>
          <a:xfrm>
            <a:off x="596100" y="-57519"/>
            <a:ext cx="8329650" cy="627900"/>
          </a:xfrm>
          <a:prstGeom prst="rect">
            <a:avLst/>
          </a:prstGeom>
          <a:noFill/>
          <a:ln>
            <a:noFill/>
          </a:ln>
        </p:spPr>
        <p:txBody>
          <a:bodyPr spcFirstLastPara="1" wrap="square" lIns="91425" tIns="91425" rIns="91425" bIns="91425" anchor="t" anchorCtr="0">
            <a:normAutofit fontScale="90000"/>
          </a:bodyPr>
          <a:lstStyle/>
          <a:p>
            <a:r>
              <a:rPr lang="en-GB" sz="2800" b="1" i="0" u="none" strike="noStrike" dirty="0">
                <a:solidFill>
                  <a:srgbClr val="7030A0"/>
                </a:solidFill>
                <a:effectLst/>
                <a:latin typeface="+mj-lt"/>
              </a:rPr>
              <a:t>Detailed Explanation of the Layers</a:t>
            </a:r>
            <a:br>
              <a:rPr lang="en-GB" sz="2800" b="1" i="0" u="none" strike="noStrike" dirty="0">
                <a:solidFill>
                  <a:srgbClr val="7030A0"/>
                </a:solidFill>
                <a:effectLst/>
                <a:latin typeface="+mj-lt"/>
              </a:rPr>
            </a:br>
            <a:r>
              <a:rPr lang="en-GB" sz="2700" b="1" dirty="0"/>
              <a:t>:</a:t>
            </a:r>
            <a:br>
              <a:rPr lang="en-GB" sz="2700" b="1" dirty="0"/>
            </a:br>
            <a:br>
              <a:rPr lang="en-GB" sz="1600" b="1" dirty="0"/>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DE351B46-8627-BA24-C169-9021E5A866ED}"/>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342C4EC9-A6F6-5214-8FBC-8920510B382F}"/>
              </a:ext>
            </a:extLst>
          </p:cNvPr>
          <p:cNvSpPr txBox="1"/>
          <p:nvPr/>
        </p:nvSpPr>
        <p:spPr>
          <a:xfrm>
            <a:off x="83127" y="386262"/>
            <a:ext cx="8962631" cy="5565626"/>
          </a:xfrm>
          <a:prstGeom prst="rect">
            <a:avLst/>
          </a:prstGeom>
          <a:noFill/>
        </p:spPr>
        <p:txBody>
          <a:bodyPr wrap="square">
            <a:spAutoFit/>
          </a:bodyPr>
          <a:lstStyle/>
          <a:p>
            <a:pPr marL="342900" indent="-342900" algn="l" fontAlgn="base">
              <a:spcAft>
                <a:spcPts val="1800"/>
              </a:spcAft>
              <a:buFont typeface="+mj-lt"/>
              <a:buAutoNum type="arabicPeriod"/>
            </a:pPr>
            <a:r>
              <a:rPr lang="en-GB" sz="1600" b="1" i="0" u="none" strike="noStrike" dirty="0">
                <a:solidFill>
                  <a:srgbClr val="273239"/>
                </a:solidFill>
                <a:effectLst/>
                <a:latin typeface="+mj-lt"/>
              </a:rPr>
              <a:t>Convolutional Layers (</a:t>
            </a:r>
            <a:r>
              <a:rPr lang="en-GB" sz="1600" b="1" i="0" u="none" strike="noStrike" dirty="0" err="1">
                <a:solidFill>
                  <a:srgbClr val="273239"/>
                </a:solidFill>
                <a:effectLst/>
                <a:latin typeface="+mj-lt"/>
              </a:rPr>
              <a:t>Cx</a:t>
            </a:r>
            <a:r>
              <a:rPr lang="en-GB" sz="1600" b="1" i="0" u="none" strike="noStrike" dirty="0">
                <a:solidFill>
                  <a:srgbClr val="273239"/>
                </a:solidFill>
                <a:effectLst/>
                <a:latin typeface="+mj-lt"/>
              </a:rPr>
              <a:t>)</a:t>
            </a:r>
            <a:r>
              <a:rPr lang="en-GB" sz="1600" b="0" i="0" u="none" strike="noStrike" dirty="0">
                <a:solidFill>
                  <a:srgbClr val="273239"/>
                </a:solidFill>
                <a:effectLst/>
                <a:latin typeface="+mj-lt"/>
              </a:rPr>
              <a:t>: These layers apply convolution operations to the input, using multiple filters to extract different features. The filters slide over the input image, computing the dot product between the filter weights and the input pixels. This process captures spatial hierarchies of features, such as edges and textures.</a:t>
            </a:r>
          </a:p>
          <a:p>
            <a:pPr marL="342900" indent="-342900" algn="l" fontAlgn="base">
              <a:spcAft>
                <a:spcPts val="1800"/>
              </a:spcAft>
              <a:buFont typeface="+mj-lt"/>
              <a:buAutoNum type="arabicPeriod"/>
            </a:pPr>
            <a:r>
              <a:rPr lang="en-GB" sz="1600" b="1" i="0" u="none" strike="noStrike" dirty="0">
                <a:solidFill>
                  <a:srgbClr val="273239"/>
                </a:solidFill>
                <a:effectLst/>
                <a:latin typeface="+mj-lt"/>
              </a:rPr>
              <a:t>Subsampling Layers (</a:t>
            </a:r>
            <a:r>
              <a:rPr lang="en-GB" sz="1600" b="1" i="0" u="none" strike="noStrike" dirty="0" err="1">
                <a:solidFill>
                  <a:srgbClr val="273239"/>
                </a:solidFill>
                <a:effectLst/>
                <a:latin typeface="+mj-lt"/>
              </a:rPr>
              <a:t>Sx</a:t>
            </a:r>
            <a:r>
              <a:rPr lang="en-GB" sz="1600" b="1" i="0" u="none" strike="noStrike" dirty="0">
                <a:solidFill>
                  <a:srgbClr val="273239"/>
                </a:solidFill>
                <a:effectLst/>
                <a:latin typeface="+mj-lt"/>
              </a:rPr>
              <a:t>)</a:t>
            </a:r>
            <a:r>
              <a:rPr lang="en-GB" sz="1600" b="0" i="0" u="none" strike="noStrike" dirty="0">
                <a:solidFill>
                  <a:srgbClr val="273239"/>
                </a:solidFill>
                <a:effectLst/>
                <a:latin typeface="+mj-lt"/>
              </a:rPr>
              <a:t>: These layers perform pooling operations (average pooling in the case of LeNet-5) to reduce the spatial dimensions of the feature maps. This helps to control overfitting, reduce the computational load, and make the representation more compact.</a:t>
            </a:r>
          </a:p>
          <a:p>
            <a:pPr marL="342900" indent="-342900" algn="l" fontAlgn="base">
              <a:spcAft>
                <a:spcPts val="1800"/>
              </a:spcAft>
              <a:buFont typeface="+mj-lt"/>
              <a:buAutoNum type="arabicPeriod"/>
            </a:pPr>
            <a:r>
              <a:rPr lang="en-GB" sz="1600" b="1" i="0" u="none" strike="noStrike" dirty="0">
                <a:solidFill>
                  <a:srgbClr val="273239"/>
                </a:solidFill>
                <a:effectLst/>
                <a:latin typeface="+mj-lt"/>
              </a:rPr>
              <a:t>Fully Connected Layers (</a:t>
            </a:r>
            <a:r>
              <a:rPr lang="en-GB" sz="1600" b="1" i="0" u="none" strike="noStrike" dirty="0" err="1">
                <a:solidFill>
                  <a:srgbClr val="273239"/>
                </a:solidFill>
                <a:effectLst/>
                <a:latin typeface="+mj-lt"/>
              </a:rPr>
              <a:t>Fx</a:t>
            </a:r>
            <a:r>
              <a:rPr lang="en-GB" sz="1600" b="1" i="0" u="none" strike="noStrike" dirty="0">
                <a:solidFill>
                  <a:srgbClr val="273239"/>
                </a:solidFill>
                <a:effectLst/>
                <a:latin typeface="+mj-lt"/>
              </a:rPr>
              <a:t>)</a:t>
            </a:r>
            <a:r>
              <a:rPr lang="en-GB" sz="1600" b="0" i="0" u="none" strike="noStrike" dirty="0">
                <a:solidFill>
                  <a:srgbClr val="273239"/>
                </a:solidFill>
                <a:effectLst/>
                <a:latin typeface="+mj-lt"/>
              </a:rPr>
              <a:t>: These layers are densely connected, meaning each neuron in these layers is connected to every neuron in the previous layer. This allows the network to combine features learned in previous layers to make final predictions.</a:t>
            </a:r>
          </a:p>
          <a:p>
            <a:pPr algn="l" rtl="0" fontAlgn="base">
              <a:spcAft>
                <a:spcPts val="750"/>
              </a:spcAft>
            </a:pPr>
            <a:r>
              <a:rPr lang="en-GB" sz="1600" b="0" i="0" u="none" strike="noStrike" dirty="0">
                <a:solidFill>
                  <a:srgbClr val="273239"/>
                </a:solidFill>
                <a:effectLst/>
                <a:latin typeface="+mj-lt"/>
              </a:rPr>
              <a:t>The overall architecture of LeNet-5, with its combination of convolutional, subsampling, and fully connected layers, was designed to be both computationally efficient and effective at capturing the hierarchical structure of handwritten digit images. The careful normalization of input values and the structured layout of receptive fields contribute to the network's ability to learn and generalize from the training data effectively.</a:t>
            </a:r>
          </a:p>
          <a:p>
            <a:pPr>
              <a:buNone/>
            </a:pPr>
            <a:br>
              <a:rPr lang="en-GB" sz="1600" dirty="0">
                <a:latin typeface="+mj-lt"/>
              </a:rPr>
            </a:br>
            <a:endParaRPr lang="en-GB" sz="1600" b="0" i="0" u="none" strike="noStrike" dirty="0">
              <a:solidFill>
                <a:srgbClr val="273239"/>
              </a:solidFill>
              <a:effectLst/>
              <a:latin typeface="+mj-lt"/>
            </a:endParaRPr>
          </a:p>
          <a:p>
            <a:pPr>
              <a:buNone/>
            </a:pPr>
            <a:br>
              <a:rPr lang="en-GB" sz="1600" dirty="0">
                <a:latin typeface="+mj-lt"/>
              </a:rPr>
            </a:br>
            <a:endParaRPr lang="en-GB" sz="1600" i="0" u="none" strike="noStrike" dirty="0">
              <a:solidFill>
                <a:srgbClr val="000000"/>
              </a:solidFill>
              <a:effectLst/>
              <a:latin typeface="+mj-lt"/>
            </a:endParaRPr>
          </a:p>
        </p:txBody>
      </p:sp>
    </p:spTree>
    <p:extLst>
      <p:ext uri="{BB962C8B-B14F-4D97-AF65-F5344CB8AC3E}">
        <p14:creationId xmlns:p14="http://schemas.microsoft.com/office/powerpoint/2010/main" val="31127358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8D01E30E-0B28-05EB-8596-220032997508}"/>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679C8FBE-FBA9-4E23-4AF0-A8A602794AF2}"/>
              </a:ext>
            </a:extLst>
          </p:cNvPr>
          <p:cNvSpPr txBox="1">
            <a:spLocks noGrp="1"/>
          </p:cNvSpPr>
          <p:nvPr>
            <p:ph type="title"/>
          </p:nvPr>
        </p:nvSpPr>
        <p:spPr>
          <a:xfrm>
            <a:off x="1114366" y="-23331"/>
            <a:ext cx="7811383" cy="593712"/>
          </a:xfrm>
          <a:prstGeom prst="rect">
            <a:avLst/>
          </a:prstGeom>
          <a:noFill/>
          <a:ln>
            <a:noFill/>
          </a:ln>
        </p:spPr>
        <p:txBody>
          <a:bodyPr spcFirstLastPara="1" wrap="square" lIns="91425" tIns="91425" rIns="91425" bIns="91425" anchor="t" anchorCtr="0">
            <a:normAutofit fontScale="90000"/>
          </a:bodyPr>
          <a:lstStyle/>
          <a:p>
            <a:r>
              <a:rPr lang="en-GB" sz="2800" dirty="0">
                <a:solidFill>
                  <a:srgbClr val="7030A0"/>
                </a:solidFill>
                <a:latin typeface="+mj-lt"/>
              </a:rPr>
              <a:t>Summary of LeNet Architecture</a:t>
            </a:r>
            <a:br>
              <a:rPr lang="en-GB" sz="2800" b="1" i="0" u="none" strike="noStrike" dirty="0">
                <a:solidFill>
                  <a:srgbClr val="7030A0"/>
                </a:solidFill>
                <a:effectLst/>
                <a:latin typeface="+mj-lt"/>
              </a:rPr>
            </a:br>
            <a:br>
              <a:rPr lang="en-GB" sz="2700" b="1" dirty="0"/>
            </a:br>
            <a:br>
              <a:rPr lang="en-GB" sz="1600" b="1" dirty="0"/>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FF060C71-151E-318A-33AF-CFA4FD471EBA}"/>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26" name="Picture 2">
            <a:extLst>
              <a:ext uri="{FF2B5EF4-FFF2-40B4-BE49-F238E27FC236}">
                <a16:creationId xmlns:a16="http://schemas.microsoft.com/office/drawing/2014/main" id="{668B4144-E99C-ACFD-C380-66C60BC3A5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263" y="878889"/>
            <a:ext cx="8265580" cy="42154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34801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4C031FB4-9FA0-00EF-49D0-69F84166E7CC}"/>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7E054F9D-5F2F-DB84-6FF6-310FD86C3271}"/>
              </a:ext>
            </a:extLst>
          </p:cNvPr>
          <p:cNvSpPr txBox="1">
            <a:spLocks noGrp="1"/>
          </p:cNvSpPr>
          <p:nvPr>
            <p:ph type="title"/>
          </p:nvPr>
        </p:nvSpPr>
        <p:spPr>
          <a:xfrm>
            <a:off x="497858" y="0"/>
            <a:ext cx="8329650" cy="627900"/>
          </a:xfrm>
          <a:prstGeom prst="rect">
            <a:avLst/>
          </a:prstGeom>
          <a:noFill/>
          <a:ln>
            <a:noFill/>
          </a:ln>
        </p:spPr>
        <p:txBody>
          <a:bodyPr spcFirstLastPara="1" wrap="square" lIns="91425" tIns="91425" rIns="91425" bIns="91425" anchor="t" anchorCtr="0">
            <a:normAutofit fontScale="90000"/>
          </a:bodyPr>
          <a:lstStyle/>
          <a:p>
            <a:r>
              <a:rPr lang="en-GB" sz="2800" dirty="0" err="1"/>
              <a:t>AlexNet</a:t>
            </a:r>
            <a:r>
              <a:rPr lang="en-GB" sz="2800" dirty="0"/>
              <a:t> Convolutional Neural Network</a:t>
            </a:r>
            <a:br>
              <a:rPr lang="en-GB" sz="2800" b="1" i="0" u="none" strike="noStrike" dirty="0">
                <a:solidFill>
                  <a:srgbClr val="7030A0"/>
                </a:solidFill>
                <a:effectLst/>
                <a:latin typeface="+mj-lt"/>
              </a:rPr>
            </a:br>
            <a:br>
              <a:rPr lang="en-GB" sz="2700" b="1" dirty="0"/>
            </a:br>
            <a:br>
              <a:rPr lang="en-GB" sz="1600" b="1" dirty="0"/>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39FC4A57-1B3C-5AD9-F4FF-7A8DF53EFDC4}"/>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TextBox 8">
            <a:extLst>
              <a:ext uri="{FF2B5EF4-FFF2-40B4-BE49-F238E27FC236}">
                <a16:creationId xmlns:a16="http://schemas.microsoft.com/office/drawing/2014/main" id="{D1A678F8-52CA-8910-9C2F-FEC3D8B4DC41}"/>
              </a:ext>
            </a:extLst>
          </p:cNvPr>
          <p:cNvSpPr txBox="1"/>
          <p:nvPr/>
        </p:nvSpPr>
        <p:spPr>
          <a:xfrm>
            <a:off x="680131" y="778926"/>
            <a:ext cx="6591615" cy="3785652"/>
          </a:xfrm>
          <a:prstGeom prst="rect">
            <a:avLst/>
          </a:prstGeom>
          <a:noFill/>
        </p:spPr>
        <p:txBody>
          <a:bodyPr wrap="square">
            <a:spAutoFit/>
          </a:bodyPr>
          <a:lstStyle/>
          <a:p>
            <a:pPr marL="342900" indent="-342900">
              <a:buFont typeface="Wingdings" pitchFamily="2" charset="2"/>
              <a:buChar char="Ø"/>
            </a:pPr>
            <a:r>
              <a:rPr lang="en-GB" sz="1600" dirty="0" err="1"/>
              <a:t>AlexNet</a:t>
            </a:r>
            <a:r>
              <a:rPr lang="en-GB" sz="1600" dirty="0"/>
              <a:t> is a convolutional neural network designed for image classification.</a:t>
            </a:r>
          </a:p>
          <a:p>
            <a:pPr marL="342900" indent="-342900">
              <a:buFont typeface="Wingdings" pitchFamily="2" charset="2"/>
              <a:buChar char="Ø"/>
            </a:pPr>
            <a:r>
              <a:rPr lang="en-GB" sz="1600" dirty="0"/>
              <a:t>It gained significant recognition for its performance in the ImageNet Large Scale Visual Recognition Challenge (ILSVRC).</a:t>
            </a:r>
          </a:p>
          <a:p>
            <a:pPr marL="342900" indent="-342900">
              <a:buFont typeface="Wingdings" pitchFamily="2" charset="2"/>
              <a:buChar char="Ø"/>
            </a:pPr>
            <a:r>
              <a:rPr lang="en-GB" sz="1600" dirty="0"/>
              <a:t>It can classify images into 1,000 different object categories.</a:t>
            </a:r>
          </a:p>
          <a:p>
            <a:pPr marL="342900" indent="-342900">
              <a:buFont typeface="Wingdings" pitchFamily="2" charset="2"/>
              <a:buChar char="Ø"/>
            </a:pPr>
            <a:r>
              <a:rPr lang="en-GB" sz="1600" dirty="0"/>
              <a:t>It is considered the first widely acknowledged successful application of deep convolutional networks for large-scale visual recognition.</a:t>
            </a:r>
          </a:p>
          <a:p>
            <a:pPr marL="342900" indent="-342900">
              <a:buFont typeface="Wingdings" pitchFamily="2" charset="2"/>
              <a:buChar char="Ø"/>
            </a:pPr>
            <a:r>
              <a:rPr lang="en-GB" sz="1600" dirty="0"/>
              <a:t>Developed in 2012 by Alex </a:t>
            </a:r>
            <a:r>
              <a:rPr lang="en-GB" sz="1600" dirty="0" err="1"/>
              <a:t>Krizhevsky</a:t>
            </a:r>
            <a:r>
              <a:rPr lang="en-GB" sz="1600" dirty="0"/>
              <a:t>, Ilya </a:t>
            </a:r>
            <a:r>
              <a:rPr lang="en-GB" sz="1600" dirty="0" err="1"/>
              <a:t>Sutskever</a:t>
            </a:r>
            <a:r>
              <a:rPr lang="en-GB" sz="1600" dirty="0"/>
              <a:t>, and Geoffrey Hinton at the University of Toronto.</a:t>
            </a:r>
          </a:p>
          <a:p>
            <a:pPr marL="342900" indent="-342900">
              <a:buFont typeface="Wingdings" pitchFamily="2" charset="2"/>
              <a:buChar char="Ø"/>
            </a:pPr>
            <a:r>
              <a:rPr lang="en-GB" sz="1600" dirty="0"/>
              <a:t>The model contains 60 million parameters and 650,000 neurons.</a:t>
            </a:r>
          </a:p>
          <a:p>
            <a:pPr marL="342900" indent="-342900">
              <a:buFont typeface="Wingdings" pitchFamily="2" charset="2"/>
              <a:buChar char="Ø"/>
            </a:pPr>
            <a:r>
              <a:rPr lang="en-GB" sz="1600" dirty="0"/>
              <a:t>A key finding of the original research was the crucial role of the model's depth in achieving high performance.</a:t>
            </a:r>
          </a:p>
          <a:p>
            <a:pPr marL="342900" indent="-342900">
              <a:buFont typeface="Wingdings" pitchFamily="2" charset="2"/>
              <a:buChar char="Ø"/>
            </a:pPr>
            <a:r>
              <a:rPr lang="en-GB" sz="1600" dirty="0"/>
              <a:t>Training was computationally intensive but made possible by using Graphics Processing Units (GPUs).</a:t>
            </a:r>
            <a:endParaRPr lang="en-US" sz="1600" dirty="0"/>
          </a:p>
        </p:txBody>
      </p:sp>
    </p:spTree>
    <p:extLst>
      <p:ext uri="{BB962C8B-B14F-4D97-AF65-F5344CB8AC3E}">
        <p14:creationId xmlns:p14="http://schemas.microsoft.com/office/powerpoint/2010/main" val="9932266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06D893F7-42CC-A798-3663-0709A112C538}"/>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C08F7D76-49CF-B416-A403-7FF0248CC5E5}"/>
              </a:ext>
            </a:extLst>
          </p:cNvPr>
          <p:cNvSpPr txBox="1">
            <a:spLocks noGrp="1"/>
          </p:cNvSpPr>
          <p:nvPr>
            <p:ph type="title"/>
          </p:nvPr>
        </p:nvSpPr>
        <p:spPr>
          <a:xfrm>
            <a:off x="497858" y="0"/>
            <a:ext cx="8329650" cy="627900"/>
          </a:xfrm>
          <a:prstGeom prst="rect">
            <a:avLst/>
          </a:prstGeom>
          <a:noFill/>
          <a:ln>
            <a:noFill/>
          </a:ln>
        </p:spPr>
        <p:txBody>
          <a:bodyPr spcFirstLastPara="1" wrap="square" lIns="91425" tIns="91425" rIns="91425" bIns="91425" anchor="t" anchorCtr="0">
            <a:normAutofit fontScale="90000"/>
          </a:bodyPr>
          <a:lstStyle/>
          <a:p>
            <a:r>
              <a:rPr lang="en-GB" sz="2800" dirty="0" err="1"/>
              <a:t>AlexNet</a:t>
            </a:r>
            <a:r>
              <a:rPr lang="en-GB" sz="2800" dirty="0"/>
              <a:t> Convolutional Architecture</a:t>
            </a:r>
            <a:br>
              <a:rPr lang="en-GB" sz="2800" b="1" i="0" u="none" strike="noStrike" dirty="0">
                <a:solidFill>
                  <a:srgbClr val="7030A0"/>
                </a:solidFill>
                <a:effectLst/>
                <a:latin typeface="+mj-lt"/>
              </a:rPr>
            </a:br>
            <a:br>
              <a:rPr lang="en-GB" sz="2700" b="1" dirty="0"/>
            </a:br>
            <a:br>
              <a:rPr lang="en-GB" sz="1600" b="1" dirty="0"/>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80DDD206-DA21-F289-5B29-E2B8789B25BB}"/>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TextBox 8">
            <a:extLst>
              <a:ext uri="{FF2B5EF4-FFF2-40B4-BE49-F238E27FC236}">
                <a16:creationId xmlns:a16="http://schemas.microsoft.com/office/drawing/2014/main" id="{4E48BE75-FFDC-4A5E-3B5C-E614917264F4}"/>
              </a:ext>
            </a:extLst>
          </p:cNvPr>
          <p:cNvSpPr txBox="1"/>
          <p:nvPr/>
        </p:nvSpPr>
        <p:spPr>
          <a:xfrm>
            <a:off x="680131" y="778926"/>
            <a:ext cx="6591615" cy="4585871"/>
          </a:xfrm>
          <a:prstGeom prst="rect">
            <a:avLst/>
          </a:prstGeom>
          <a:noFill/>
        </p:spPr>
        <p:txBody>
          <a:bodyPr wrap="square">
            <a:spAutoFit/>
          </a:bodyPr>
          <a:lstStyle/>
          <a:p>
            <a:pPr marL="342900" indent="-342900" algn="l">
              <a:lnSpc>
                <a:spcPts val="2400"/>
              </a:lnSpc>
              <a:buFont typeface="Wingdings" pitchFamily="2" charset="2"/>
              <a:buChar char="Ø"/>
            </a:pPr>
            <a:r>
              <a:rPr lang="en-GB" sz="1600" b="0" i="0" u="none" strike="noStrike" dirty="0">
                <a:solidFill>
                  <a:srgbClr val="242424"/>
                </a:solidFill>
                <a:effectLst/>
                <a:latin typeface="+mj-lt"/>
              </a:rPr>
              <a:t>This was the first architecture that used GPU to boost the training performance. </a:t>
            </a:r>
          </a:p>
          <a:p>
            <a:pPr marL="342900" indent="-342900" algn="l">
              <a:lnSpc>
                <a:spcPts val="2400"/>
              </a:lnSpc>
              <a:buFont typeface="Wingdings" pitchFamily="2" charset="2"/>
              <a:buChar char="Ø"/>
            </a:pPr>
            <a:r>
              <a:rPr lang="en-GB" sz="1600" b="0" i="0" u="none" strike="noStrike" dirty="0" err="1">
                <a:solidFill>
                  <a:srgbClr val="242424"/>
                </a:solidFill>
                <a:effectLst/>
                <a:latin typeface="+mj-lt"/>
              </a:rPr>
              <a:t>AlexNet</a:t>
            </a:r>
            <a:r>
              <a:rPr lang="en-GB" sz="1600" b="0" i="0" u="none" strike="noStrike" dirty="0">
                <a:solidFill>
                  <a:srgbClr val="242424"/>
                </a:solidFill>
                <a:effectLst/>
                <a:latin typeface="+mj-lt"/>
              </a:rPr>
              <a:t> consists of 5 convolution layers, 3 max-pooling layers, 2 Normalized layers, 2 fully connected layers and 1 SoftMax layer. </a:t>
            </a:r>
          </a:p>
          <a:p>
            <a:pPr marL="342900" indent="-342900" algn="l">
              <a:lnSpc>
                <a:spcPts val="2400"/>
              </a:lnSpc>
              <a:buFont typeface="Wingdings" pitchFamily="2" charset="2"/>
              <a:buChar char="Ø"/>
            </a:pPr>
            <a:r>
              <a:rPr lang="en-GB" sz="1600" b="0" i="0" u="none" strike="noStrike" dirty="0">
                <a:solidFill>
                  <a:srgbClr val="242424"/>
                </a:solidFill>
                <a:effectLst/>
                <a:latin typeface="+mj-lt"/>
              </a:rPr>
              <a:t>Each convolution layer consists of a convolution filter and a non-linear activation function called “</a:t>
            </a:r>
            <a:r>
              <a:rPr lang="en-GB" sz="1600" b="0" i="0" u="none" strike="noStrike" dirty="0" err="1">
                <a:solidFill>
                  <a:srgbClr val="242424"/>
                </a:solidFill>
                <a:effectLst/>
                <a:latin typeface="+mj-lt"/>
              </a:rPr>
              <a:t>ReLU</a:t>
            </a:r>
            <a:r>
              <a:rPr lang="en-GB" sz="1600" b="0" i="0" u="none" strike="noStrike" dirty="0">
                <a:solidFill>
                  <a:srgbClr val="242424"/>
                </a:solidFill>
                <a:effectLst/>
                <a:latin typeface="+mj-lt"/>
              </a:rPr>
              <a:t>”. </a:t>
            </a:r>
          </a:p>
          <a:p>
            <a:pPr marL="342900" indent="-342900" algn="l">
              <a:lnSpc>
                <a:spcPts val="2400"/>
              </a:lnSpc>
              <a:buFont typeface="Wingdings" pitchFamily="2" charset="2"/>
              <a:buChar char="Ø"/>
            </a:pPr>
            <a:r>
              <a:rPr lang="en-GB" sz="1600" b="0" i="0" u="none" strike="noStrike" dirty="0">
                <a:solidFill>
                  <a:srgbClr val="242424"/>
                </a:solidFill>
                <a:effectLst/>
                <a:latin typeface="+mj-lt"/>
              </a:rPr>
              <a:t>The pooling layers are used to perform the max-pooling function and the input size is fixed due to the presence of fully connected layers. </a:t>
            </a:r>
          </a:p>
          <a:p>
            <a:pPr marL="342900" indent="-342900" algn="l">
              <a:lnSpc>
                <a:spcPts val="2400"/>
              </a:lnSpc>
              <a:buFont typeface="Wingdings" pitchFamily="2" charset="2"/>
              <a:buChar char="Ø"/>
            </a:pPr>
            <a:r>
              <a:rPr lang="en-GB" sz="1600" b="0" i="0" u="none" strike="noStrike" dirty="0">
                <a:solidFill>
                  <a:srgbClr val="242424"/>
                </a:solidFill>
                <a:effectLst/>
                <a:latin typeface="+mj-lt"/>
              </a:rPr>
              <a:t>The input size is mentioned at most of the places as 224x224x3 but due to some padding which happens it works out to be 227x227x3.</a:t>
            </a:r>
          </a:p>
          <a:p>
            <a:pPr marL="342900" indent="-342900" algn="l">
              <a:lnSpc>
                <a:spcPts val="2400"/>
              </a:lnSpc>
              <a:buFont typeface="Wingdings" pitchFamily="2" charset="2"/>
              <a:buChar char="Ø"/>
            </a:pPr>
            <a:r>
              <a:rPr lang="en-GB" sz="1600" b="0" i="0" u="none" strike="noStrike" dirty="0">
                <a:solidFill>
                  <a:srgbClr val="242424"/>
                </a:solidFill>
                <a:effectLst/>
                <a:latin typeface="+mj-lt"/>
              </a:rPr>
              <a:t> Above all this </a:t>
            </a:r>
            <a:r>
              <a:rPr lang="en-GB" sz="1600" b="0" i="0" u="none" strike="noStrike" dirty="0" err="1">
                <a:solidFill>
                  <a:srgbClr val="242424"/>
                </a:solidFill>
                <a:effectLst/>
                <a:latin typeface="+mj-lt"/>
              </a:rPr>
              <a:t>AlexNet</a:t>
            </a:r>
            <a:r>
              <a:rPr lang="en-GB" sz="1600" b="0" i="0" u="none" strike="noStrike" dirty="0">
                <a:solidFill>
                  <a:srgbClr val="242424"/>
                </a:solidFill>
                <a:effectLst/>
                <a:latin typeface="+mj-lt"/>
              </a:rPr>
              <a:t> has over 60 million parameters.</a:t>
            </a:r>
          </a:p>
          <a:p>
            <a:br>
              <a:rPr lang="en-GB" sz="1600" dirty="0">
                <a:latin typeface="+mj-lt"/>
              </a:rPr>
            </a:br>
            <a:endParaRPr lang="en-US" sz="1600" dirty="0">
              <a:latin typeface="+mj-lt"/>
            </a:endParaRPr>
          </a:p>
        </p:txBody>
      </p:sp>
    </p:spTree>
    <p:extLst>
      <p:ext uri="{BB962C8B-B14F-4D97-AF65-F5344CB8AC3E}">
        <p14:creationId xmlns:p14="http://schemas.microsoft.com/office/powerpoint/2010/main" val="16828663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4B9CA365-90DD-7CA9-CD11-C2625777AA23}"/>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7EE90396-FEF8-90E9-1FEC-925562CF4DB3}"/>
              </a:ext>
            </a:extLst>
          </p:cNvPr>
          <p:cNvSpPr txBox="1">
            <a:spLocks noGrp="1"/>
          </p:cNvSpPr>
          <p:nvPr>
            <p:ph type="title"/>
          </p:nvPr>
        </p:nvSpPr>
        <p:spPr>
          <a:xfrm>
            <a:off x="497858" y="0"/>
            <a:ext cx="8329650" cy="627900"/>
          </a:xfrm>
          <a:prstGeom prst="rect">
            <a:avLst/>
          </a:prstGeom>
          <a:noFill/>
          <a:ln>
            <a:noFill/>
          </a:ln>
        </p:spPr>
        <p:txBody>
          <a:bodyPr spcFirstLastPara="1" wrap="square" lIns="91425" tIns="91425" rIns="91425" bIns="91425" anchor="t" anchorCtr="0">
            <a:normAutofit fontScale="90000"/>
          </a:bodyPr>
          <a:lstStyle/>
          <a:p>
            <a:r>
              <a:rPr lang="en-GB" sz="2800" dirty="0" err="1"/>
              <a:t>AlexNet</a:t>
            </a:r>
            <a:r>
              <a:rPr lang="en-GB" sz="2800" dirty="0"/>
              <a:t> Convolutional Architecture</a:t>
            </a:r>
            <a:br>
              <a:rPr lang="en-GB" sz="2800" b="1" i="0" u="none" strike="noStrike" dirty="0">
                <a:solidFill>
                  <a:srgbClr val="7030A0"/>
                </a:solidFill>
                <a:effectLst/>
                <a:latin typeface="+mj-lt"/>
              </a:rPr>
            </a:br>
            <a:br>
              <a:rPr lang="en-GB" sz="2700" b="1" dirty="0"/>
            </a:br>
            <a:br>
              <a:rPr lang="en-GB" sz="1600" b="1" dirty="0"/>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9B27D068-F6C5-C435-7CEC-86C3DF961D45}"/>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TextBox 8">
            <a:extLst>
              <a:ext uri="{FF2B5EF4-FFF2-40B4-BE49-F238E27FC236}">
                <a16:creationId xmlns:a16="http://schemas.microsoft.com/office/drawing/2014/main" id="{CE6BCED9-6FCE-8981-01E9-DDF1A0BD7FAD}"/>
              </a:ext>
            </a:extLst>
          </p:cNvPr>
          <p:cNvSpPr txBox="1"/>
          <p:nvPr/>
        </p:nvSpPr>
        <p:spPr>
          <a:xfrm>
            <a:off x="237141" y="3212098"/>
            <a:ext cx="8851083" cy="2431435"/>
          </a:xfrm>
          <a:prstGeom prst="rect">
            <a:avLst/>
          </a:prstGeom>
          <a:noFill/>
        </p:spPr>
        <p:txBody>
          <a:bodyPr wrap="square">
            <a:spAutoFit/>
          </a:bodyPr>
          <a:lstStyle/>
          <a:p>
            <a:pPr marL="342900" indent="-342900" algn="l">
              <a:lnSpc>
                <a:spcPts val="2400"/>
              </a:lnSpc>
              <a:buFont typeface="Wingdings" pitchFamily="2" charset="2"/>
              <a:buChar char="Ø"/>
            </a:pPr>
            <a:r>
              <a:rPr lang="en-GB" sz="1600" b="0" i="0" u="none" strike="noStrike" dirty="0">
                <a:solidFill>
                  <a:srgbClr val="242424"/>
                </a:solidFill>
                <a:effectLst/>
                <a:latin typeface="source-serif-pro"/>
              </a:rPr>
              <a:t>‘</a:t>
            </a:r>
            <a:r>
              <a:rPr lang="en-GB" sz="1600" b="0" i="0" u="none" strike="noStrike" dirty="0" err="1">
                <a:solidFill>
                  <a:srgbClr val="242424"/>
                </a:solidFill>
                <a:effectLst/>
                <a:latin typeface="source-serif-pro"/>
              </a:rPr>
              <a:t>ReLU</a:t>
            </a:r>
            <a:r>
              <a:rPr lang="en-GB" sz="1600" b="0" i="0" u="none" strike="noStrike" dirty="0">
                <a:solidFill>
                  <a:srgbClr val="242424"/>
                </a:solidFill>
                <a:effectLst/>
                <a:latin typeface="source-serif-pro"/>
              </a:rPr>
              <a:t>’ is used as an activation function rather than ‘tanh’</a:t>
            </a:r>
          </a:p>
          <a:p>
            <a:pPr marL="342900" indent="-342900" algn="l">
              <a:lnSpc>
                <a:spcPts val="2400"/>
              </a:lnSpc>
              <a:buFont typeface="Wingdings" pitchFamily="2" charset="2"/>
              <a:buChar char="Ø"/>
            </a:pPr>
            <a:r>
              <a:rPr lang="en-GB" sz="1600" b="0" i="0" u="none" strike="noStrike" dirty="0">
                <a:solidFill>
                  <a:srgbClr val="242424"/>
                </a:solidFill>
                <a:effectLst/>
                <a:latin typeface="source-serif-pro"/>
              </a:rPr>
              <a:t>Batch size of 128</a:t>
            </a:r>
          </a:p>
          <a:p>
            <a:pPr marL="342900" indent="-342900" algn="l">
              <a:lnSpc>
                <a:spcPts val="2400"/>
              </a:lnSpc>
              <a:buFont typeface="Wingdings" pitchFamily="2" charset="2"/>
              <a:buChar char="Ø"/>
            </a:pPr>
            <a:r>
              <a:rPr lang="en-GB" sz="1600" b="0" i="0" u="none" strike="noStrike" dirty="0">
                <a:solidFill>
                  <a:srgbClr val="242424"/>
                </a:solidFill>
                <a:effectLst/>
                <a:latin typeface="source-serif-pro"/>
              </a:rPr>
              <a:t>SGD Momentum is used as a learning algorithm</a:t>
            </a:r>
          </a:p>
          <a:p>
            <a:pPr marL="342900" indent="-342900" algn="l">
              <a:lnSpc>
                <a:spcPts val="2400"/>
              </a:lnSpc>
              <a:buFont typeface="Wingdings" pitchFamily="2" charset="2"/>
              <a:buChar char="Ø"/>
            </a:pPr>
            <a:r>
              <a:rPr lang="en-GB" sz="1600" b="0" i="0" u="none" strike="noStrike" dirty="0">
                <a:solidFill>
                  <a:srgbClr val="242424"/>
                </a:solidFill>
                <a:effectLst/>
                <a:latin typeface="source-serif-pro"/>
              </a:rPr>
              <a:t>Data Augmentation is been carried out like flipping, jittering, cropping, colour normalization, etc.</a:t>
            </a:r>
          </a:p>
          <a:p>
            <a:pPr algn="l">
              <a:lnSpc>
                <a:spcPts val="2400"/>
              </a:lnSpc>
            </a:pPr>
            <a:r>
              <a:rPr lang="en-GB" sz="1600" b="0" i="1" u="none" strike="noStrike" dirty="0" err="1">
                <a:solidFill>
                  <a:srgbClr val="242424"/>
                </a:solidFill>
                <a:effectLst/>
                <a:latin typeface="source-serif-pro"/>
              </a:rPr>
              <a:t>AlexNet</a:t>
            </a:r>
            <a:r>
              <a:rPr lang="en-GB" sz="1600" b="0" i="1" u="none" strike="noStrike" dirty="0">
                <a:solidFill>
                  <a:srgbClr val="242424"/>
                </a:solidFill>
                <a:effectLst/>
                <a:latin typeface="source-serif-pro"/>
              </a:rPr>
              <a:t> was trained on a GTX 580 GPU with only 3 GB of memory which couldn’t fit the entire network. So the network was split across 2 GPUs, with half of the neurons(feature maps) on each GPU.</a:t>
            </a:r>
            <a:endParaRPr lang="en-GB" sz="1600" b="0" i="0" u="none" strike="noStrike" dirty="0">
              <a:solidFill>
                <a:srgbClr val="242424"/>
              </a:solidFill>
              <a:effectLst/>
              <a:latin typeface="source-serif-pro"/>
            </a:endParaRPr>
          </a:p>
          <a:p>
            <a:br>
              <a:rPr lang="en-GB" sz="1600" dirty="0">
                <a:latin typeface="+mj-lt"/>
              </a:rPr>
            </a:br>
            <a:endParaRPr lang="en-US" sz="1600" dirty="0">
              <a:latin typeface="+mj-lt"/>
            </a:endParaRPr>
          </a:p>
        </p:txBody>
      </p:sp>
      <p:pic>
        <p:nvPicPr>
          <p:cNvPr id="2050" name="Picture 2">
            <a:extLst>
              <a:ext uri="{FF2B5EF4-FFF2-40B4-BE49-F238E27FC236}">
                <a16:creationId xmlns:a16="http://schemas.microsoft.com/office/drawing/2014/main" id="{98480690-BD4A-0210-DABE-5A3A540589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2413" y="517478"/>
            <a:ext cx="5894481" cy="26946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32184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8360E284-5CF9-54FD-31F7-D7E138E5ECB3}"/>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EC4D4394-DEB4-E8D3-1C0C-20840AEE8EBD}"/>
              </a:ext>
            </a:extLst>
          </p:cNvPr>
          <p:cNvSpPr txBox="1">
            <a:spLocks noGrp="1"/>
          </p:cNvSpPr>
          <p:nvPr>
            <p:ph type="title"/>
          </p:nvPr>
        </p:nvSpPr>
        <p:spPr>
          <a:xfrm>
            <a:off x="497858" y="0"/>
            <a:ext cx="8329650" cy="627900"/>
          </a:xfrm>
          <a:prstGeom prst="rect">
            <a:avLst/>
          </a:prstGeom>
          <a:noFill/>
          <a:ln>
            <a:noFill/>
          </a:ln>
        </p:spPr>
        <p:txBody>
          <a:bodyPr spcFirstLastPara="1" wrap="square" lIns="91425" tIns="91425" rIns="91425" bIns="91425" anchor="t" anchorCtr="0">
            <a:normAutofit fontScale="90000"/>
          </a:bodyPr>
          <a:lstStyle/>
          <a:p>
            <a:r>
              <a:rPr lang="en-GB" sz="2800" dirty="0"/>
              <a:t>Max Pooling Layers</a:t>
            </a:r>
            <a:br>
              <a:rPr lang="en-GB" sz="2800" b="1" i="0" u="none" strike="noStrike" dirty="0">
                <a:solidFill>
                  <a:srgbClr val="7030A0"/>
                </a:solidFill>
                <a:effectLst/>
                <a:latin typeface="+mj-lt"/>
              </a:rPr>
            </a:br>
            <a:br>
              <a:rPr lang="en-GB" sz="2700" b="1" dirty="0"/>
            </a:br>
            <a:br>
              <a:rPr lang="en-GB" sz="1600" b="1" dirty="0"/>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08C5ACD5-DE92-A2B9-2A16-FC97F2D14070}"/>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TextBox 8">
            <a:extLst>
              <a:ext uri="{FF2B5EF4-FFF2-40B4-BE49-F238E27FC236}">
                <a16:creationId xmlns:a16="http://schemas.microsoft.com/office/drawing/2014/main" id="{262FB6BD-2AD1-7DBE-B7CB-29D921FE8FDF}"/>
              </a:ext>
            </a:extLst>
          </p:cNvPr>
          <p:cNvSpPr txBox="1"/>
          <p:nvPr/>
        </p:nvSpPr>
        <p:spPr>
          <a:xfrm>
            <a:off x="-75571" y="152886"/>
            <a:ext cx="9219571" cy="4031873"/>
          </a:xfrm>
          <a:prstGeom prst="rect">
            <a:avLst/>
          </a:prstGeom>
          <a:noFill/>
        </p:spPr>
        <p:txBody>
          <a:bodyPr wrap="square">
            <a:spAutoFit/>
          </a:bodyPr>
          <a:lstStyle/>
          <a:p>
            <a:pPr marL="285750" indent="-285750" algn="l">
              <a:buFont typeface="Wingdings" pitchFamily="2" charset="2"/>
              <a:buChar char="Ø"/>
            </a:pPr>
            <a:endParaRPr lang="en-GB" sz="1600" b="0" i="0" u="none" strike="noStrike" dirty="0">
              <a:solidFill>
                <a:srgbClr val="000000"/>
              </a:solidFill>
              <a:effectLst/>
              <a:latin typeface="+mj-lt"/>
            </a:endParaRPr>
          </a:p>
          <a:p>
            <a:pPr marL="285750" indent="-285750" algn="l">
              <a:buFont typeface="Wingdings" pitchFamily="2" charset="2"/>
              <a:buChar char="Ø"/>
            </a:pPr>
            <a:r>
              <a:rPr lang="en-GB" sz="1600" b="1" i="0" u="none" strike="noStrike" dirty="0">
                <a:solidFill>
                  <a:srgbClr val="000000"/>
                </a:solidFill>
                <a:effectLst/>
                <a:latin typeface="+mj-lt"/>
              </a:rPr>
              <a:t>Purpose of Pooling Layers:</a:t>
            </a:r>
            <a:r>
              <a:rPr lang="en-GB" sz="1600" b="0" i="0" u="none" strike="noStrike" dirty="0">
                <a:solidFill>
                  <a:srgbClr val="000000"/>
                </a:solidFill>
                <a:effectLst/>
                <a:latin typeface="+mj-lt"/>
              </a:rPr>
              <a:t> To "accumulate" features from convolutional layers, </a:t>
            </a:r>
          </a:p>
          <a:p>
            <a:pPr algn="l"/>
            <a:r>
              <a:rPr lang="en-GB" sz="1600" b="0" i="0" u="none" strike="noStrike" dirty="0">
                <a:solidFill>
                  <a:srgbClr val="000000"/>
                </a:solidFill>
                <a:effectLst/>
                <a:latin typeface="+mj-lt"/>
              </a:rPr>
              <a:t>progressively reducing the spatial size of feature maps.</a:t>
            </a:r>
          </a:p>
          <a:p>
            <a:pPr marL="285750" indent="-285750" algn="l">
              <a:buFont typeface="Wingdings" pitchFamily="2" charset="2"/>
              <a:buChar char="Ø"/>
            </a:pPr>
            <a:r>
              <a:rPr lang="en-GB" sz="1600" b="1" i="0" u="none" strike="noStrike" dirty="0">
                <a:solidFill>
                  <a:srgbClr val="000000"/>
                </a:solidFill>
                <a:effectLst/>
                <a:latin typeface="+mj-lt"/>
              </a:rPr>
              <a:t>Benefits of Max Pooling:</a:t>
            </a:r>
            <a:endParaRPr lang="en-GB" sz="1600" b="0" i="0" u="none" strike="noStrike" dirty="0">
              <a:solidFill>
                <a:srgbClr val="000000"/>
              </a:solidFill>
              <a:effectLst/>
              <a:latin typeface="+mj-lt"/>
            </a:endParaRPr>
          </a:p>
          <a:p>
            <a:pPr marL="800100" lvl="1" indent="-342900" algn="l">
              <a:buFont typeface="+mj-lt"/>
              <a:buAutoNum type="alphaLcPeriod"/>
            </a:pPr>
            <a:r>
              <a:rPr lang="en-GB" sz="1600" b="0" i="0" u="none" strike="noStrike" dirty="0">
                <a:solidFill>
                  <a:srgbClr val="000000"/>
                </a:solidFill>
                <a:effectLst/>
                <a:latin typeface="+mj-lt"/>
              </a:rPr>
              <a:t>Reduces the number of parameters and computations in the network.</a:t>
            </a:r>
          </a:p>
          <a:p>
            <a:pPr marL="800100" lvl="1" indent="-342900" algn="l">
              <a:buFont typeface="+mj-lt"/>
              <a:buAutoNum type="alphaLcPeriod"/>
            </a:pPr>
            <a:r>
              <a:rPr lang="en-GB" sz="1600" b="0" i="0" u="none" strike="noStrike" dirty="0">
                <a:solidFill>
                  <a:srgbClr val="000000"/>
                </a:solidFill>
                <a:effectLst/>
                <a:latin typeface="+mj-lt"/>
              </a:rPr>
              <a:t>Helps to mitigate overfitting by providing a more abstract representation.</a:t>
            </a:r>
          </a:p>
          <a:p>
            <a:pPr marL="800100" lvl="1" indent="-342900" algn="l">
              <a:buFont typeface="+mj-lt"/>
              <a:buAutoNum type="alphaLcPeriod"/>
            </a:pPr>
            <a:r>
              <a:rPr lang="en-GB" sz="1600" b="0" i="0" u="none" strike="noStrike" dirty="0">
                <a:solidFill>
                  <a:srgbClr val="000000"/>
                </a:solidFill>
                <a:effectLst/>
                <a:latin typeface="+mj-lt"/>
              </a:rPr>
              <a:t>Lowers computational cost by decreasing the number of learnable parameters.</a:t>
            </a:r>
          </a:p>
          <a:p>
            <a:pPr marL="800100" lvl="1" indent="-342900" algn="l">
              <a:buFont typeface="+mj-lt"/>
              <a:buAutoNum type="alphaLcPeriod"/>
            </a:pPr>
            <a:r>
              <a:rPr lang="en-GB" sz="1600" b="0" i="0" u="none" strike="noStrike" dirty="0">
                <a:solidFill>
                  <a:srgbClr val="000000"/>
                </a:solidFill>
                <a:effectLst/>
                <a:latin typeface="+mj-lt"/>
              </a:rPr>
              <a:t>Provides basic translation invariance to the internal representation.</a:t>
            </a:r>
          </a:p>
          <a:p>
            <a:pPr marL="285750" indent="-285750" algn="l">
              <a:buFont typeface="Wingdings" pitchFamily="2" charset="2"/>
              <a:buChar char="Ø"/>
            </a:pPr>
            <a:r>
              <a:rPr lang="en-GB" sz="1600" b="1" i="0" u="none" strike="noStrike" dirty="0">
                <a:solidFill>
                  <a:srgbClr val="000000"/>
                </a:solidFill>
                <a:effectLst/>
                <a:latin typeface="+mj-lt"/>
              </a:rPr>
              <a:t>Mechanism of Max Pooling:</a:t>
            </a:r>
            <a:r>
              <a:rPr lang="en-GB" sz="1600" b="0" i="0" u="none" strike="noStrike" dirty="0">
                <a:solidFill>
                  <a:srgbClr val="000000"/>
                </a:solidFill>
                <a:effectLst/>
                <a:latin typeface="+mj-lt"/>
              </a:rPr>
              <a:t> Applies a "max filter" to (usually) non-overlapping sub-regions of the input representation.</a:t>
            </a:r>
          </a:p>
          <a:p>
            <a:pPr marL="285750" indent="-285750" algn="l">
              <a:buFont typeface="Wingdings" pitchFamily="2" charset="2"/>
              <a:buChar char="Ø"/>
            </a:pPr>
            <a:r>
              <a:rPr lang="en-GB" sz="1600" b="1" i="0" u="none" strike="noStrike" dirty="0" err="1">
                <a:solidFill>
                  <a:srgbClr val="000000"/>
                </a:solidFill>
                <a:effectLst/>
                <a:latin typeface="+mj-lt"/>
              </a:rPr>
              <a:t>AlexNet's</a:t>
            </a:r>
            <a:r>
              <a:rPr lang="en-GB" sz="1600" b="1" i="0" u="none" strike="noStrike" dirty="0">
                <a:solidFill>
                  <a:srgbClr val="000000"/>
                </a:solidFill>
                <a:effectLst/>
                <a:latin typeface="+mj-lt"/>
              </a:rPr>
              <a:t> Approach:</a:t>
            </a:r>
            <a:r>
              <a:rPr lang="en-GB" sz="1600" b="0" i="0" u="none" strike="noStrike" dirty="0">
                <a:solidFill>
                  <a:srgbClr val="000000"/>
                </a:solidFill>
                <a:effectLst/>
                <a:latin typeface="+mj-lt"/>
              </a:rPr>
              <a:t> Used overlapping max pooling with 3x3 windows and a stride of 2.</a:t>
            </a:r>
          </a:p>
          <a:p>
            <a:pPr marL="285750" indent="-285750" algn="l">
              <a:buFont typeface="Wingdings" pitchFamily="2" charset="2"/>
              <a:buChar char="Ø"/>
            </a:pPr>
            <a:r>
              <a:rPr lang="en-GB" sz="1600" b="1" i="0" u="none" strike="noStrike" dirty="0">
                <a:solidFill>
                  <a:srgbClr val="000000"/>
                </a:solidFill>
                <a:effectLst/>
                <a:latin typeface="+mj-lt"/>
              </a:rPr>
              <a:t>Impact of Overlapping Pooling in </a:t>
            </a:r>
            <a:r>
              <a:rPr lang="en-GB" sz="1600" b="1" i="0" u="none" strike="noStrike" dirty="0" err="1">
                <a:solidFill>
                  <a:srgbClr val="000000"/>
                </a:solidFill>
                <a:effectLst/>
                <a:latin typeface="+mj-lt"/>
              </a:rPr>
              <a:t>AlexNet</a:t>
            </a:r>
            <a:r>
              <a:rPr lang="en-GB" sz="1600" b="1" i="0" u="none" strike="noStrike" dirty="0">
                <a:solidFill>
                  <a:srgbClr val="000000"/>
                </a:solidFill>
                <a:effectLst/>
                <a:latin typeface="+mj-lt"/>
              </a:rPr>
              <a:t>:</a:t>
            </a:r>
            <a:r>
              <a:rPr lang="en-GB" sz="1600" b="0" i="0" u="none" strike="noStrike" dirty="0">
                <a:solidFill>
                  <a:srgbClr val="000000"/>
                </a:solidFill>
                <a:effectLst/>
                <a:latin typeface="+mj-lt"/>
              </a:rPr>
              <a:t> Resulted in a reduction of the top-1 error rate by 0.4% and the top-5 error rate by 0.3% compared to non-overlapping pooling (2x2 windows with a stride of 2, yielding the same output dimensions).</a:t>
            </a:r>
          </a:p>
          <a:p>
            <a:br>
              <a:rPr lang="en-GB" sz="1600" dirty="0">
                <a:latin typeface="+mj-lt"/>
              </a:rPr>
            </a:br>
            <a:endParaRPr lang="en-US" sz="1600" dirty="0">
              <a:latin typeface="+mj-lt"/>
            </a:endParaRPr>
          </a:p>
        </p:txBody>
      </p:sp>
      <p:pic>
        <p:nvPicPr>
          <p:cNvPr id="4098" name="Picture 2">
            <a:extLst>
              <a:ext uri="{FF2B5EF4-FFF2-40B4-BE49-F238E27FC236}">
                <a16:creationId xmlns:a16="http://schemas.microsoft.com/office/drawing/2014/main" id="{83333798-3FF8-F6D5-B576-FF8EA3DABD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10532" y="3412240"/>
            <a:ext cx="4067973" cy="16949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07367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1467516A-1664-2402-005A-7F9748331A0C}"/>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A0DEB424-AD99-13E2-AC34-311988C0D476}"/>
              </a:ext>
            </a:extLst>
          </p:cNvPr>
          <p:cNvSpPr txBox="1">
            <a:spLocks noGrp="1"/>
          </p:cNvSpPr>
          <p:nvPr>
            <p:ph type="title"/>
          </p:nvPr>
        </p:nvSpPr>
        <p:spPr>
          <a:xfrm>
            <a:off x="497858" y="0"/>
            <a:ext cx="8329650" cy="627900"/>
          </a:xfrm>
          <a:prstGeom prst="rect">
            <a:avLst/>
          </a:prstGeom>
          <a:noFill/>
          <a:ln>
            <a:noFill/>
          </a:ln>
        </p:spPr>
        <p:txBody>
          <a:bodyPr spcFirstLastPara="1" wrap="square" lIns="91425" tIns="91425" rIns="91425" bIns="91425" anchor="t" anchorCtr="0">
            <a:normAutofit fontScale="90000"/>
          </a:bodyPr>
          <a:lstStyle/>
          <a:p>
            <a:r>
              <a:rPr lang="en-GB" sz="2800" dirty="0" err="1"/>
              <a:t>ReLU</a:t>
            </a:r>
            <a:r>
              <a:rPr lang="en-GB" sz="2800" dirty="0"/>
              <a:t> non-linearity in </a:t>
            </a:r>
            <a:r>
              <a:rPr lang="en-GB" sz="2800" dirty="0" err="1"/>
              <a:t>AlexNet</a:t>
            </a:r>
            <a:r>
              <a:rPr lang="en-GB" sz="2800" dirty="0"/>
              <a:t>:</a:t>
            </a:r>
            <a:br>
              <a:rPr lang="en-GB" sz="2800" dirty="0"/>
            </a:br>
            <a:br>
              <a:rPr lang="en-GB" sz="2800" b="1" i="0" u="none" strike="noStrike" dirty="0">
                <a:solidFill>
                  <a:srgbClr val="7030A0"/>
                </a:solidFill>
                <a:effectLst/>
                <a:latin typeface="+mj-lt"/>
              </a:rPr>
            </a:br>
            <a:br>
              <a:rPr lang="en-GB" sz="2700" b="1" dirty="0"/>
            </a:br>
            <a:br>
              <a:rPr lang="en-GB" sz="1600" b="1" dirty="0"/>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F37708C1-9A89-06EF-A973-EDC965B9917A}"/>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TextBox 8">
            <a:extLst>
              <a:ext uri="{FF2B5EF4-FFF2-40B4-BE49-F238E27FC236}">
                <a16:creationId xmlns:a16="http://schemas.microsoft.com/office/drawing/2014/main" id="{5906A4ED-C692-FAFE-A656-F4823A1FB8DA}"/>
              </a:ext>
            </a:extLst>
          </p:cNvPr>
          <p:cNvSpPr txBox="1"/>
          <p:nvPr/>
        </p:nvSpPr>
        <p:spPr>
          <a:xfrm>
            <a:off x="-219154" y="278741"/>
            <a:ext cx="9219571" cy="830997"/>
          </a:xfrm>
          <a:prstGeom prst="rect">
            <a:avLst/>
          </a:prstGeom>
          <a:noFill/>
        </p:spPr>
        <p:txBody>
          <a:bodyPr wrap="square">
            <a:spAutoFit/>
          </a:bodyPr>
          <a:lstStyle/>
          <a:p>
            <a:pPr marL="285750" indent="-285750" algn="l">
              <a:buFont typeface="Wingdings" pitchFamily="2" charset="2"/>
              <a:buChar char="Ø"/>
            </a:pPr>
            <a:endParaRPr lang="en-GB" sz="1600" b="0" i="0" u="none" strike="noStrike" dirty="0">
              <a:solidFill>
                <a:srgbClr val="000000"/>
              </a:solidFill>
              <a:effectLst/>
              <a:latin typeface="+mj-lt"/>
            </a:endParaRPr>
          </a:p>
          <a:p>
            <a:br>
              <a:rPr lang="en-GB" sz="1600" dirty="0">
                <a:latin typeface="+mj-lt"/>
              </a:rPr>
            </a:br>
            <a:endParaRPr lang="en-US" sz="1600" dirty="0">
              <a:latin typeface="+mj-lt"/>
            </a:endParaRPr>
          </a:p>
        </p:txBody>
      </p:sp>
      <p:sp>
        <p:nvSpPr>
          <p:cNvPr id="3" name="TextBox 2">
            <a:extLst>
              <a:ext uri="{FF2B5EF4-FFF2-40B4-BE49-F238E27FC236}">
                <a16:creationId xmlns:a16="http://schemas.microsoft.com/office/drawing/2014/main" id="{F77A60F1-A2EA-DDCF-9CA2-1B2AAA11D550}"/>
              </a:ext>
            </a:extLst>
          </p:cNvPr>
          <p:cNvSpPr txBox="1"/>
          <p:nvPr/>
        </p:nvSpPr>
        <p:spPr>
          <a:xfrm>
            <a:off x="289057" y="1173883"/>
            <a:ext cx="4689134" cy="3046988"/>
          </a:xfrm>
          <a:prstGeom prst="rect">
            <a:avLst/>
          </a:prstGeom>
          <a:noFill/>
        </p:spPr>
        <p:txBody>
          <a:bodyPr wrap="square">
            <a:spAutoFit/>
          </a:bodyPr>
          <a:lstStyle/>
          <a:p>
            <a:pPr marL="285750" indent="-285750" algn="l">
              <a:buFont typeface="Wingdings" pitchFamily="2" charset="2"/>
              <a:buChar char="Ø"/>
            </a:pPr>
            <a:r>
              <a:rPr lang="en-GB" sz="1600" b="0" i="0" u="none" strike="noStrike" dirty="0" err="1">
                <a:solidFill>
                  <a:srgbClr val="000000"/>
                </a:solidFill>
                <a:effectLst/>
              </a:rPr>
              <a:t>AlexNet</a:t>
            </a:r>
            <a:r>
              <a:rPr lang="en-GB" sz="1600" b="0" i="0" u="none" strike="noStrike" dirty="0">
                <a:solidFill>
                  <a:srgbClr val="000000"/>
                </a:solidFill>
                <a:effectLst/>
              </a:rPr>
              <a:t> showed that using non-saturating activation functions like </a:t>
            </a:r>
            <a:r>
              <a:rPr lang="en-GB" sz="1600" b="0" i="0" u="none" strike="noStrike" dirty="0" err="1">
                <a:solidFill>
                  <a:srgbClr val="000000"/>
                </a:solidFill>
                <a:effectLst/>
              </a:rPr>
              <a:t>ReLU</a:t>
            </a:r>
            <a:r>
              <a:rPr lang="en-GB" sz="1600" b="0" i="0" u="none" strike="noStrike" dirty="0">
                <a:solidFill>
                  <a:srgbClr val="000000"/>
                </a:solidFill>
                <a:effectLst/>
              </a:rPr>
              <a:t> allows for significantly faster training of deep CNNs compared to saturating functions like Tanh or Sigmoid.</a:t>
            </a:r>
          </a:p>
          <a:p>
            <a:pPr marL="285750" indent="-285750" algn="l">
              <a:buFont typeface="Wingdings" pitchFamily="2" charset="2"/>
              <a:buChar char="Ø"/>
            </a:pPr>
            <a:r>
              <a:rPr lang="en-GB" sz="1600" b="0" i="0" u="none" strike="noStrike" dirty="0">
                <a:solidFill>
                  <a:srgbClr val="000000"/>
                </a:solidFill>
                <a:effectLst/>
              </a:rPr>
              <a:t>The text mentions that </a:t>
            </a:r>
            <a:r>
              <a:rPr lang="en-GB" sz="1600" b="0" i="0" u="none" strike="noStrike" dirty="0" err="1">
                <a:solidFill>
                  <a:srgbClr val="000000"/>
                </a:solidFill>
                <a:effectLst/>
              </a:rPr>
              <a:t>AlexNet</a:t>
            </a:r>
            <a:r>
              <a:rPr lang="en-GB" sz="1600" b="0" i="0" u="none" strike="noStrike" dirty="0">
                <a:solidFill>
                  <a:srgbClr val="000000"/>
                </a:solidFill>
                <a:effectLst/>
              </a:rPr>
              <a:t> achieved a 25% training error rate much quicker with </a:t>
            </a:r>
            <a:r>
              <a:rPr lang="en-GB" sz="1600" b="0" i="0" u="none" strike="noStrike" dirty="0" err="1">
                <a:solidFill>
                  <a:srgbClr val="000000"/>
                </a:solidFill>
                <a:effectLst/>
              </a:rPr>
              <a:t>ReLU</a:t>
            </a:r>
            <a:r>
              <a:rPr lang="en-GB" sz="1600" b="0" i="0" u="none" strike="noStrike" dirty="0">
                <a:solidFill>
                  <a:srgbClr val="000000"/>
                </a:solidFill>
                <a:effectLst/>
              </a:rPr>
              <a:t> (solid curve in an implied image).</a:t>
            </a:r>
          </a:p>
          <a:p>
            <a:pPr marL="285750" indent="-285750" algn="l">
              <a:buFont typeface="Wingdings" pitchFamily="2" charset="2"/>
              <a:buChar char="Ø"/>
            </a:pPr>
            <a:r>
              <a:rPr lang="en-GB" sz="1600" b="0" i="0" u="none" strike="noStrike" dirty="0">
                <a:solidFill>
                  <a:srgbClr val="000000"/>
                </a:solidFill>
                <a:effectLst/>
              </a:rPr>
              <a:t>Specifically, training with </a:t>
            </a:r>
            <a:r>
              <a:rPr lang="en-GB" sz="1600" b="0" i="0" u="none" strike="noStrike" dirty="0" err="1">
                <a:solidFill>
                  <a:srgbClr val="000000"/>
                </a:solidFill>
                <a:effectLst/>
              </a:rPr>
              <a:t>ReLU</a:t>
            </a:r>
            <a:r>
              <a:rPr lang="en-GB" sz="1600" b="0" i="0" u="none" strike="noStrike" dirty="0">
                <a:solidFill>
                  <a:srgbClr val="000000"/>
                </a:solidFill>
                <a:effectLst/>
              </a:rPr>
              <a:t> was approximately six times faster than with Tanh (dotted curve in the implied image), based on an evaluation on the CIFAR-10 dataset.</a:t>
            </a:r>
          </a:p>
        </p:txBody>
      </p:sp>
      <p:pic>
        <p:nvPicPr>
          <p:cNvPr id="6146" name="Picture 2">
            <a:extLst>
              <a:ext uri="{FF2B5EF4-FFF2-40B4-BE49-F238E27FC236}">
                <a16:creationId xmlns:a16="http://schemas.microsoft.com/office/drawing/2014/main" id="{358A379D-B26A-C114-B23C-9640B48F01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05180" y="1173883"/>
            <a:ext cx="4159668" cy="34398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52056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2260BF40-9BE2-643E-37FB-81A0A6E25C11}"/>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265405BF-6E8A-364D-0290-3FABE54B7975}"/>
              </a:ext>
            </a:extLst>
          </p:cNvPr>
          <p:cNvSpPr txBox="1">
            <a:spLocks noGrp="1"/>
          </p:cNvSpPr>
          <p:nvPr>
            <p:ph type="title"/>
          </p:nvPr>
        </p:nvSpPr>
        <p:spPr>
          <a:xfrm>
            <a:off x="497858" y="0"/>
            <a:ext cx="8329650" cy="627900"/>
          </a:xfrm>
          <a:prstGeom prst="rect">
            <a:avLst/>
          </a:prstGeom>
          <a:noFill/>
          <a:ln>
            <a:noFill/>
          </a:ln>
        </p:spPr>
        <p:txBody>
          <a:bodyPr spcFirstLastPara="1" wrap="square" lIns="91425" tIns="91425" rIns="91425" bIns="91425" anchor="t" anchorCtr="0">
            <a:normAutofit fontScale="90000"/>
          </a:bodyPr>
          <a:lstStyle/>
          <a:p>
            <a:r>
              <a:rPr lang="en-GB" sz="2800" dirty="0">
                <a:solidFill>
                  <a:srgbClr val="7030A0"/>
                </a:solidFill>
              </a:rPr>
              <a:t>D</a:t>
            </a:r>
            <a:r>
              <a:rPr lang="en-GB" sz="2800" i="0" u="none" strike="noStrike" dirty="0">
                <a:solidFill>
                  <a:srgbClr val="7030A0"/>
                </a:solidFill>
                <a:effectLst/>
              </a:rPr>
              <a:t>ata Augmentation techniques used in </a:t>
            </a:r>
            <a:r>
              <a:rPr lang="en-GB" sz="2800" i="0" u="none" strike="noStrike" dirty="0" err="1">
                <a:solidFill>
                  <a:srgbClr val="7030A0"/>
                </a:solidFill>
                <a:effectLst/>
              </a:rPr>
              <a:t>AlexNet</a:t>
            </a:r>
            <a:r>
              <a:rPr lang="en-GB" sz="2800" i="0" u="none" strike="noStrike" dirty="0">
                <a:solidFill>
                  <a:srgbClr val="7030A0"/>
                </a:solidFill>
                <a:effectLst/>
              </a:rPr>
              <a:t>:</a:t>
            </a:r>
            <a:br>
              <a:rPr lang="en-GB" sz="2800" i="0" u="none" strike="noStrike" dirty="0">
                <a:solidFill>
                  <a:srgbClr val="7030A0"/>
                </a:solidFill>
                <a:effectLst/>
              </a:rPr>
            </a:br>
            <a:br>
              <a:rPr lang="en-GB" sz="2800" dirty="0">
                <a:solidFill>
                  <a:srgbClr val="7030A0"/>
                </a:solidFill>
              </a:rPr>
            </a:br>
            <a:br>
              <a:rPr lang="en-GB" sz="2800" i="0" u="none" strike="noStrike" dirty="0">
                <a:solidFill>
                  <a:srgbClr val="7030A0"/>
                </a:solidFill>
                <a:effectLst/>
                <a:latin typeface="+mj-lt"/>
              </a:rPr>
            </a:br>
            <a:br>
              <a:rPr lang="en-GB" sz="2700" dirty="0">
                <a:solidFill>
                  <a:srgbClr val="7030A0"/>
                </a:solidFill>
              </a:rPr>
            </a:br>
            <a:br>
              <a:rPr lang="en-GB" sz="1600" dirty="0">
                <a:solidFill>
                  <a:srgbClr val="7030A0"/>
                </a:solidFill>
              </a:rPr>
            </a:br>
            <a:br>
              <a:rPr lang="en-GB" sz="3100" i="0" u="none" strike="noStrike" dirty="0">
                <a:solidFill>
                  <a:srgbClr val="7030A0"/>
                </a:solidFill>
                <a:effectLst/>
                <a:latin typeface="Inter" panose="02000503000000020004" pitchFamily="2" charset="0"/>
              </a:rPr>
            </a:br>
            <a:br>
              <a:rPr lang="en-GB" i="0" u="none" strike="noStrike" dirty="0">
                <a:solidFill>
                  <a:srgbClr val="7030A0"/>
                </a:solidFill>
                <a:effectLst/>
              </a:rPr>
            </a:br>
            <a:br>
              <a:rPr lang="en-GB" i="0" u="none" strike="noStrike" dirty="0">
                <a:solidFill>
                  <a:srgbClr val="7030A0"/>
                </a:solidFill>
                <a:effectLst/>
              </a:rPr>
            </a:br>
            <a:endParaRPr lang="en-GB"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89697618-BDE6-C1EE-6668-23E4EB3597CD}"/>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TextBox 8">
            <a:extLst>
              <a:ext uri="{FF2B5EF4-FFF2-40B4-BE49-F238E27FC236}">
                <a16:creationId xmlns:a16="http://schemas.microsoft.com/office/drawing/2014/main" id="{04E05659-825D-BEDC-8460-98FED59E508E}"/>
              </a:ext>
            </a:extLst>
          </p:cNvPr>
          <p:cNvSpPr txBox="1"/>
          <p:nvPr/>
        </p:nvSpPr>
        <p:spPr>
          <a:xfrm>
            <a:off x="-219154" y="278741"/>
            <a:ext cx="9219571" cy="830997"/>
          </a:xfrm>
          <a:prstGeom prst="rect">
            <a:avLst/>
          </a:prstGeom>
          <a:noFill/>
        </p:spPr>
        <p:txBody>
          <a:bodyPr wrap="square">
            <a:spAutoFit/>
          </a:bodyPr>
          <a:lstStyle/>
          <a:p>
            <a:pPr marL="285750" indent="-285750" algn="l">
              <a:buFont typeface="Wingdings" pitchFamily="2" charset="2"/>
              <a:buChar char="Ø"/>
            </a:pPr>
            <a:endParaRPr lang="en-GB" sz="1600" b="0" i="0" u="none" strike="noStrike" dirty="0">
              <a:solidFill>
                <a:srgbClr val="000000"/>
              </a:solidFill>
              <a:effectLst/>
              <a:latin typeface="+mj-lt"/>
            </a:endParaRPr>
          </a:p>
          <a:p>
            <a:br>
              <a:rPr lang="en-GB" sz="1600" dirty="0">
                <a:latin typeface="+mj-lt"/>
              </a:rPr>
            </a:br>
            <a:endParaRPr lang="en-US" sz="1600" dirty="0">
              <a:latin typeface="+mj-lt"/>
            </a:endParaRPr>
          </a:p>
        </p:txBody>
      </p:sp>
      <p:sp>
        <p:nvSpPr>
          <p:cNvPr id="3" name="TextBox 2">
            <a:extLst>
              <a:ext uri="{FF2B5EF4-FFF2-40B4-BE49-F238E27FC236}">
                <a16:creationId xmlns:a16="http://schemas.microsoft.com/office/drawing/2014/main" id="{4CAE9320-5774-5A6C-2587-DDB0FD4E940D}"/>
              </a:ext>
            </a:extLst>
          </p:cNvPr>
          <p:cNvSpPr txBox="1"/>
          <p:nvPr/>
        </p:nvSpPr>
        <p:spPr>
          <a:xfrm>
            <a:off x="216046" y="645558"/>
            <a:ext cx="8013554" cy="2308324"/>
          </a:xfrm>
          <a:prstGeom prst="rect">
            <a:avLst/>
          </a:prstGeom>
          <a:noFill/>
        </p:spPr>
        <p:txBody>
          <a:bodyPr wrap="square">
            <a:spAutoFit/>
          </a:bodyPr>
          <a:lstStyle/>
          <a:p>
            <a:pPr marL="342900" indent="-342900" algn="l">
              <a:buFont typeface="+mj-lt"/>
              <a:buAutoNum type="arabicPeriod"/>
            </a:pPr>
            <a:r>
              <a:rPr lang="en-GB" sz="1600" b="1" i="0" u="none" strike="noStrike" dirty="0">
                <a:solidFill>
                  <a:srgbClr val="000000"/>
                </a:solidFill>
                <a:effectLst/>
              </a:rPr>
              <a:t>Purpose of Data Augmentation:</a:t>
            </a:r>
            <a:r>
              <a:rPr lang="en-GB" sz="1600" b="0" i="0" u="none" strike="noStrike" dirty="0">
                <a:solidFill>
                  <a:srgbClr val="000000"/>
                </a:solidFill>
                <a:effectLst/>
              </a:rPr>
              <a:t> To prevent overfitting by exposing the neural network to different variations of the training images. It also effectively increases the size of the training data and forces the network to learn essential features rather than memorizing specific instances.</a:t>
            </a:r>
          </a:p>
          <a:p>
            <a:pPr marL="342900" indent="-342900" algn="l">
              <a:buFont typeface="+mj-lt"/>
              <a:buAutoNum type="arabicPeriod"/>
            </a:pPr>
            <a:endParaRPr lang="en-GB" sz="1600" b="0" i="0" u="none" strike="noStrike" dirty="0">
              <a:solidFill>
                <a:srgbClr val="000000"/>
              </a:solidFill>
              <a:effectLst/>
            </a:endParaRPr>
          </a:p>
          <a:p>
            <a:pPr marL="342900" indent="-342900" algn="l">
              <a:buFont typeface="+mj-lt"/>
              <a:buAutoNum type="arabicPeriod"/>
            </a:pPr>
            <a:r>
              <a:rPr lang="en-GB" sz="1600" b="1" i="0" u="none" strike="noStrike" dirty="0">
                <a:solidFill>
                  <a:srgbClr val="000000"/>
                </a:solidFill>
                <a:effectLst/>
              </a:rPr>
              <a:t>Augmentation by Mirroring:</a:t>
            </a:r>
            <a:r>
              <a:rPr lang="en-GB" sz="1600" b="0" i="0" u="none" strike="noStrike" dirty="0">
                <a:solidFill>
                  <a:srgbClr val="000000"/>
                </a:solidFill>
                <a:effectLst/>
              </a:rPr>
              <a:t> Flipping images (e.g., horizontally) creates new, but related, data points, effectively doubling the dataset size in the case of a simple vertical flip.</a:t>
            </a:r>
          </a:p>
          <a:p>
            <a:pPr marL="342900" indent="-342900" algn="l">
              <a:buFont typeface="+mj-lt"/>
              <a:buAutoNum type="arabicPeriod"/>
            </a:pPr>
            <a:endParaRPr lang="en-GB" sz="1600" b="0" i="0" u="none" strike="noStrike" dirty="0">
              <a:solidFill>
                <a:srgbClr val="000000"/>
              </a:solidFill>
              <a:effectLst/>
            </a:endParaRPr>
          </a:p>
        </p:txBody>
      </p:sp>
      <p:pic>
        <p:nvPicPr>
          <p:cNvPr id="8194" name="Picture 2">
            <a:extLst>
              <a:ext uri="{FF2B5EF4-FFF2-40B4-BE49-F238E27FC236}">
                <a16:creationId xmlns:a16="http://schemas.microsoft.com/office/drawing/2014/main" id="{7AF73B48-116B-596E-4A7A-6C3FBFD205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8962" y="2707661"/>
            <a:ext cx="5942340" cy="23997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97232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B81C3A05-7AF0-E6A5-C369-70E126C63AAB}"/>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DE2A9BA8-53DE-058C-ED2F-D9C0CF7CF888}"/>
              </a:ext>
            </a:extLst>
          </p:cNvPr>
          <p:cNvSpPr txBox="1">
            <a:spLocks noGrp="1"/>
          </p:cNvSpPr>
          <p:nvPr>
            <p:ph type="title"/>
          </p:nvPr>
        </p:nvSpPr>
        <p:spPr>
          <a:xfrm>
            <a:off x="497858" y="0"/>
            <a:ext cx="8329650" cy="627900"/>
          </a:xfrm>
          <a:prstGeom prst="rect">
            <a:avLst/>
          </a:prstGeom>
          <a:noFill/>
          <a:ln>
            <a:noFill/>
          </a:ln>
        </p:spPr>
        <p:txBody>
          <a:bodyPr spcFirstLastPara="1" wrap="square" lIns="91425" tIns="91425" rIns="91425" bIns="91425" anchor="t" anchorCtr="0">
            <a:normAutofit fontScale="90000"/>
          </a:bodyPr>
          <a:lstStyle/>
          <a:p>
            <a:r>
              <a:rPr lang="en-GB" sz="2800" dirty="0">
                <a:solidFill>
                  <a:srgbClr val="7030A0"/>
                </a:solidFill>
              </a:rPr>
              <a:t>D</a:t>
            </a:r>
            <a:r>
              <a:rPr lang="en-GB" sz="2800" i="0" u="none" strike="noStrike" dirty="0">
                <a:solidFill>
                  <a:srgbClr val="7030A0"/>
                </a:solidFill>
                <a:effectLst/>
              </a:rPr>
              <a:t>ata Augmentation techniques used in </a:t>
            </a:r>
            <a:r>
              <a:rPr lang="en-GB" sz="2800" i="0" u="none" strike="noStrike" dirty="0" err="1">
                <a:solidFill>
                  <a:srgbClr val="7030A0"/>
                </a:solidFill>
                <a:effectLst/>
              </a:rPr>
              <a:t>AlexNet</a:t>
            </a:r>
            <a:r>
              <a:rPr lang="en-GB" sz="2800" i="0" u="none" strike="noStrike" dirty="0">
                <a:solidFill>
                  <a:srgbClr val="7030A0"/>
                </a:solidFill>
                <a:effectLst/>
              </a:rPr>
              <a:t>:</a:t>
            </a:r>
            <a:br>
              <a:rPr lang="en-GB" sz="2800" i="0" u="none" strike="noStrike" dirty="0">
                <a:solidFill>
                  <a:srgbClr val="7030A0"/>
                </a:solidFill>
                <a:effectLst/>
              </a:rPr>
            </a:br>
            <a:br>
              <a:rPr lang="en-GB" sz="2800" dirty="0">
                <a:solidFill>
                  <a:srgbClr val="7030A0"/>
                </a:solidFill>
              </a:rPr>
            </a:br>
            <a:br>
              <a:rPr lang="en-GB" sz="2800" i="0" u="none" strike="noStrike" dirty="0">
                <a:solidFill>
                  <a:srgbClr val="7030A0"/>
                </a:solidFill>
                <a:effectLst/>
                <a:latin typeface="+mj-lt"/>
              </a:rPr>
            </a:br>
            <a:br>
              <a:rPr lang="en-GB" sz="2700" dirty="0">
                <a:solidFill>
                  <a:srgbClr val="7030A0"/>
                </a:solidFill>
              </a:rPr>
            </a:br>
            <a:br>
              <a:rPr lang="en-GB" sz="1600" dirty="0">
                <a:solidFill>
                  <a:srgbClr val="7030A0"/>
                </a:solidFill>
              </a:rPr>
            </a:br>
            <a:br>
              <a:rPr lang="en-GB" sz="3100" i="0" u="none" strike="noStrike" dirty="0">
                <a:solidFill>
                  <a:srgbClr val="7030A0"/>
                </a:solidFill>
                <a:effectLst/>
                <a:latin typeface="Inter" panose="02000503000000020004" pitchFamily="2" charset="0"/>
              </a:rPr>
            </a:br>
            <a:br>
              <a:rPr lang="en-GB" i="0" u="none" strike="noStrike" dirty="0">
                <a:solidFill>
                  <a:srgbClr val="7030A0"/>
                </a:solidFill>
                <a:effectLst/>
              </a:rPr>
            </a:br>
            <a:br>
              <a:rPr lang="en-GB" i="0" u="none" strike="noStrike" dirty="0">
                <a:solidFill>
                  <a:srgbClr val="7030A0"/>
                </a:solidFill>
                <a:effectLst/>
              </a:rPr>
            </a:br>
            <a:endParaRPr lang="en-GB"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459A0C7B-4A2A-EEC2-6486-9F9E81115137}"/>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TextBox 8">
            <a:extLst>
              <a:ext uri="{FF2B5EF4-FFF2-40B4-BE49-F238E27FC236}">
                <a16:creationId xmlns:a16="http://schemas.microsoft.com/office/drawing/2014/main" id="{1E750563-5DC2-6B33-20BE-7406C676736E}"/>
              </a:ext>
            </a:extLst>
          </p:cNvPr>
          <p:cNvSpPr txBox="1"/>
          <p:nvPr/>
        </p:nvSpPr>
        <p:spPr>
          <a:xfrm>
            <a:off x="-219154" y="278741"/>
            <a:ext cx="9219571" cy="830997"/>
          </a:xfrm>
          <a:prstGeom prst="rect">
            <a:avLst/>
          </a:prstGeom>
          <a:noFill/>
        </p:spPr>
        <p:txBody>
          <a:bodyPr wrap="square">
            <a:spAutoFit/>
          </a:bodyPr>
          <a:lstStyle/>
          <a:p>
            <a:pPr marL="285750" indent="-285750" algn="l">
              <a:buFont typeface="Wingdings" pitchFamily="2" charset="2"/>
              <a:buChar char="Ø"/>
            </a:pPr>
            <a:endParaRPr lang="en-GB" sz="1600" b="0" i="0" u="none" strike="noStrike" dirty="0">
              <a:solidFill>
                <a:srgbClr val="000000"/>
              </a:solidFill>
              <a:effectLst/>
              <a:latin typeface="+mj-lt"/>
            </a:endParaRPr>
          </a:p>
          <a:p>
            <a:br>
              <a:rPr lang="en-GB" sz="1600" dirty="0">
                <a:latin typeface="+mj-lt"/>
              </a:rPr>
            </a:br>
            <a:endParaRPr lang="en-US" sz="1600" dirty="0">
              <a:latin typeface="+mj-lt"/>
            </a:endParaRPr>
          </a:p>
        </p:txBody>
      </p:sp>
      <p:sp>
        <p:nvSpPr>
          <p:cNvPr id="3" name="TextBox 2">
            <a:extLst>
              <a:ext uri="{FF2B5EF4-FFF2-40B4-BE49-F238E27FC236}">
                <a16:creationId xmlns:a16="http://schemas.microsoft.com/office/drawing/2014/main" id="{241EE805-5480-0A12-0C5F-A4DBFD37C972}"/>
              </a:ext>
            </a:extLst>
          </p:cNvPr>
          <p:cNvSpPr txBox="1"/>
          <p:nvPr/>
        </p:nvSpPr>
        <p:spPr>
          <a:xfrm>
            <a:off x="216046" y="645558"/>
            <a:ext cx="7393878" cy="1323439"/>
          </a:xfrm>
          <a:prstGeom prst="rect">
            <a:avLst/>
          </a:prstGeom>
          <a:noFill/>
        </p:spPr>
        <p:txBody>
          <a:bodyPr wrap="square">
            <a:spAutoFit/>
          </a:bodyPr>
          <a:lstStyle/>
          <a:p>
            <a:pPr algn="l"/>
            <a:r>
              <a:rPr lang="en-GB" sz="1600" b="1" i="0" u="none" strike="noStrike" dirty="0">
                <a:solidFill>
                  <a:srgbClr val="000000"/>
                </a:solidFill>
                <a:effectLst/>
              </a:rPr>
              <a:t>3. Augmentation by Random Cropping:</a:t>
            </a:r>
            <a:r>
              <a:rPr lang="en-GB" sz="1600" b="0" i="0" u="none" strike="noStrike" dirty="0">
                <a:solidFill>
                  <a:srgbClr val="000000"/>
                </a:solidFill>
                <a:effectLst/>
              </a:rPr>
              <a:t> Randomly cropping portions of the original images generates shifted versions of the data. </a:t>
            </a:r>
          </a:p>
          <a:p>
            <a:pPr algn="l"/>
            <a:r>
              <a:rPr lang="en-GB" sz="1600" b="0" i="0" u="none" strike="noStrike" dirty="0" err="1">
                <a:solidFill>
                  <a:srgbClr val="000000"/>
                </a:solidFill>
                <a:effectLst/>
              </a:rPr>
              <a:t>AlexNet</a:t>
            </a:r>
            <a:r>
              <a:rPr lang="en-GB" sz="1600" b="0" i="0" u="none" strike="noStrike" dirty="0">
                <a:solidFill>
                  <a:srgbClr val="000000"/>
                </a:solidFill>
                <a:effectLst/>
              </a:rPr>
              <a:t> creators used this to extract 227x227 crops from the 256x256 image boundaries, increasing the dataset size by a factor of 2048.</a:t>
            </a:r>
          </a:p>
          <a:p>
            <a:pPr marL="342900" indent="-342900" algn="l">
              <a:buFont typeface="+mj-lt"/>
              <a:buAutoNum type="arabicPeriod"/>
            </a:pPr>
            <a:endParaRPr lang="en-GB" sz="1600" b="0" i="0" u="none" strike="noStrike" dirty="0">
              <a:solidFill>
                <a:srgbClr val="000000"/>
              </a:solidFill>
              <a:effectLst/>
            </a:endParaRPr>
          </a:p>
        </p:txBody>
      </p:sp>
      <p:pic>
        <p:nvPicPr>
          <p:cNvPr id="8196" name="Picture 4">
            <a:extLst>
              <a:ext uri="{FF2B5EF4-FFF2-40B4-BE49-F238E27FC236}">
                <a16:creationId xmlns:a16="http://schemas.microsoft.com/office/drawing/2014/main" id="{961E2B21-63B3-CD0A-7EE4-7615CD17E8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1610" y="1986655"/>
            <a:ext cx="5573534" cy="31351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90888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DA9DC126-2136-6625-EECF-BBFE2C06DE1E}"/>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0C51F163-DD80-32E1-9909-FD6856C1CDA7}"/>
              </a:ext>
            </a:extLst>
          </p:cNvPr>
          <p:cNvSpPr txBox="1">
            <a:spLocks noGrp="1"/>
          </p:cNvSpPr>
          <p:nvPr>
            <p:ph type="title"/>
          </p:nvPr>
        </p:nvSpPr>
        <p:spPr>
          <a:xfrm>
            <a:off x="801045" y="58669"/>
            <a:ext cx="8955977" cy="627900"/>
          </a:xfrm>
          <a:prstGeom prst="rect">
            <a:avLst/>
          </a:prstGeom>
          <a:noFill/>
          <a:ln>
            <a:noFill/>
          </a:ln>
        </p:spPr>
        <p:txBody>
          <a:bodyPr spcFirstLastPara="1" wrap="square" lIns="91425" tIns="91425" rIns="91425" bIns="91425" anchor="t" anchorCtr="0">
            <a:normAutofit fontScale="90000"/>
          </a:bodyPr>
          <a:lstStyle/>
          <a:p>
            <a:r>
              <a:rPr lang="en-GB" sz="2800" dirty="0">
                <a:solidFill>
                  <a:srgbClr val="7030A0"/>
                </a:solidFill>
              </a:rPr>
              <a:t>D</a:t>
            </a:r>
            <a:r>
              <a:rPr lang="en-GB" sz="2800" dirty="0">
                <a:solidFill>
                  <a:srgbClr val="7030A0"/>
                </a:solidFill>
                <a:effectLst/>
              </a:rPr>
              <a:t>ropout Technique:</a:t>
            </a:r>
            <a:r>
              <a:rPr lang="en-GB" sz="2800" dirty="0">
                <a:solidFill>
                  <a:srgbClr val="7030A0"/>
                </a:solidFill>
              </a:rPr>
              <a:t> </a:t>
            </a:r>
            <a:r>
              <a:rPr lang="en-GB" sz="2800" i="0" u="none" strike="noStrike" dirty="0">
                <a:solidFill>
                  <a:srgbClr val="7030A0"/>
                </a:solidFill>
                <a:effectLst/>
              </a:rPr>
              <a:t>in </a:t>
            </a:r>
            <a:r>
              <a:rPr lang="en-GB" sz="2800" i="0" u="none" strike="noStrike" dirty="0" err="1">
                <a:solidFill>
                  <a:srgbClr val="7030A0"/>
                </a:solidFill>
                <a:effectLst/>
              </a:rPr>
              <a:t>AlexNet</a:t>
            </a:r>
            <a:br>
              <a:rPr lang="en-GB" sz="2800" i="0" u="none" strike="noStrike" dirty="0">
                <a:solidFill>
                  <a:srgbClr val="7030A0"/>
                </a:solidFill>
                <a:effectLst/>
              </a:rPr>
            </a:br>
            <a:br>
              <a:rPr lang="en-GB" sz="2800" dirty="0">
                <a:solidFill>
                  <a:srgbClr val="7030A0"/>
                </a:solidFill>
              </a:rPr>
            </a:br>
            <a:br>
              <a:rPr lang="en-GB" sz="2800" i="0" u="none" strike="noStrike" dirty="0">
                <a:solidFill>
                  <a:srgbClr val="7030A0"/>
                </a:solidFill>
                <a:effectLst/>
                <a:latin typeface="+mj-lt"/>
              </a:rPr>
            </a:br>
            <a:br>
              <a:rPr lang="en-GB" sz="2700" dirty="0">
                <a:solidFill>
                  <a:srgbClr val="7030A0"/>
                </a:solidFill>
              </a:rPr>
            </a:br>
            <a:br>
              <a:rPr lang="en-GB" sz="1600" dirty="0">
                <a:solidFill>
                  <a:srgbClr val="7030A0"/>
                </a:solidFill>
              </a:rPr>
            </a:br>
            <a:br>
              <a:rPr lang="en-GB" sz="3100" i="0" u="none" strike="noStrike" dirty="0">
                <a:solidFill>
                  <a:srgbClr val="7030A0"/>
                </a:solidFill>
                <a:effectLst/>
                <a:latin typeface="Inter" panose="02000503000000020004" pitchFamily="2" charset="0"/>
              </a:rPr>
            </a:br>
            <a:br>
              <a:rPr lang="en-GB" i="0" u="none" strike="noStrike" dirty="0">
                <a:solidFill>
                  <a:srgbClr val="7030A0"/>
                </a:solidFill>
                <a:effectLst/>
              </a:rPr>
            </a:br>
            <a:br>
              <a:rPr lang="en-GB" i="0" u="none" strike="noStrike" dirty="0">
                <a:solidFill>
                  <a:srgbClr val="7030A0"/>
                </a:solidFill>
                <a:effectLst/>
              </a:rPr>
            </a:br>
            <a:endParaRPr lang="en-GB"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F371854B-5C20-0E7E-4017-F4307731ED9E}"/>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TextBox 8">
            <a:extLst>
              <a:ext uri="{FF2B5EF4-FFF2-40B4-BE49-F238E27FC236}">
                <a16:creationId xmlns:a16="http://schemas.microsoft.com/office/drawing/2014/main" id="{82CC923D-3FF3-0038-B627-12857C0BC2F9}"/>
              </a:ext>
            </a:extLst>
          </p:cNvPr>
          <p:cNvSpPr txBox="1"/>
          <p:nvPr/>
        </p:nvSpPr>
        <p:spPr>
          <a:xfrm>
            <a:off x="801045" y="372619"/>
            <a:ext cx="9219571" cy="830997"/>
          </a:xfrm>
          <a:prstGeom prst="rect">
            <a:avLst/>
          </a:prstGeom>
          <a:noFill/>
        </p:spPr>
        <p:txBody>
          <a:bodyPr wrap="square">
            <a:spAutoFit/>
          </a:bodyPr>
          <a:lstStyle/>
          <a:p>
            <a:pPr marL="285750" indent="-285750" algn="l">
              <a:buFont typeface="Wingdings" pitchFamily="2" charset="2"/>
              <a:buChar char="Ø"/>
            </a:pPr>
            <a:endParaRPr lang="en-GB" sz="1600" b="0" i="0" u="none" strike="noStrike" dirty="0">
              <a:solidFill>
                <a:srgbClr val="000000"/>
              </a:solidFill>
              <a:effectLst/>
              <a:latin typeface="+mj-lt"/>
            </a:endParaRPr>
          </a:p>
          <a:p>
            <a:br>
              <a:rPr lang="en-GB" sz="1600" dirty="0">
                <a:latin typeface="+mj-lt"/>
              </a:rPr>
            </a:br>
            <a:endParaRPr lang="en-US" sz="1600" dirty="0">
              <a:latin typeface="+mj-lt"/>
            </a:endParaRPr>
          </a:p>
        </p:txBody>
      </p:sp>
      <p:sp>
        <p:nvSpPr>
          <p:cNvPr id="3" name="TextBox 2">
            <a:extLst>
              <a:ext uri="{FF2B5EF4-FFF2-40B4-BE49-F238E27FC236}">
                <a16:creationId xmlns:a16="http://schemas.microsoft.com/office/drawing/2014/main" id="{186A4568-71E4-161F-845C-D3DDF45F0759}"/>
              </a:ext>
            </a:extLst>
          </p:cNvPr>
          <p:cNvSpPr txBox="1"/>
          <p:nvPr/>
        </p:nvSpPr>
        <p:spPr>
          <a:xfrm>
            <a:off x="155591" y="689561"/>
            <a:ext cx="8504760" cy="2308324"/>
          </a:xfrm>
          <a:prstGeom prst="rect">
            <a:avLst/>
          </a:prstGeom>
          <a:noFill/>
        </p:spPr>
        <p:txBody>
          <a:bodyPr wrap="square">
            <a:spAutoFit/>
          </a:bodyPr>
          <a:lstStyle/>
          <a:p>
            <a:pPr marL="285750" indent="-285750" rtl="0">
              <a:buFont typeface="Wingdings" pitchFamily="2" charset="2"/>
              <a:buChar char="Ø"/>
            </a:pPr>
            <a:r>
              <a:rPr lang="en-GB" sz="1600" b="1" dirty="0">
                <a:effectLst/>
              </a:rPr>
              <a:t>Mechanism:</a:t>
            </a:r>
            <a:r>
              <a:rPr lang="en-GB" sz="1600" dirty="0">
                <a:effectLst/>
              </a:rPr>
              <a:t> During training, dropout randomly removes neurons from the neural network with a certain probability (e.g., 0.5).</a:t>
            </a:r>
          </a:p>
          <a:p>
            <a:pPr marL="285750" indent="-285750" rtl="0">
              <a:buFont typeface="Wingdings" pitchFamily="2" charset="2"/>
              <a:buChar char="Ø"/>
            </a:pPr>
            <a:r>
              <a:rPr lang="en-GB" sz="1600" b="1" dirty="0">
                <a:effectLst/>
              </a:rPr>
              <a:t>Impact:</a:t>
            </a:r>
            <a:r>
              <a:rPr lang="en-GB" sz="1600" dirty="0">
                <a:effectLst/>
              </a:rPr>
              <a:t> Dropped-out neurons do not participate in the forward or backward propagation passes for that particular training iteration.</a:t>
            </a:r>
          </a:p>
          <a:p>
            <a:pPr marL="285750" indent="-285750" rtl="0">
              <a:buFont typeface="Wingdings" pitchFamily="2" charset="2"/>
              <a:buChar char="Ø"/>
            </a:pPr>
            <a:r>
              <a:rPr lang="en-GB" sz="1600" b="1" dirty="0">
                <a:effectLst/>
              </a:rPr>
              <a:t>Effect:</a:t>
            </a:r>
            <a:r>
              <a:rPr lang="en-GB" sz="1600" dirty="0">
                <a:effectLst/>
              </a:rPr>
              <a:t> This forces the network to learn more robust features, as each input is effectively processed by a slightly different network architecture in each pass.</a:t>
            </a:r>
          </a:p>
          <a:p>
            <a:pPr marL="285750" indent="-285750" rtl="0">
              <a:buFont typeface="Wingdings" pitchFamily="2" charset="2"/>
              <a:buChar char="Ø"/>
            </a:pPr>
            <a:r>
              <a:rPr lang="en-GB" sz="1600" b="1" dirty="0">
                <a:effectLst/>
              </a:rPr>
              <a:t>Benefit:</a:t>
            </a:r>
            <a:r>
              <a:rPr lang="en-GB" sz="1600" dirty="0">
                <a:effectLst/>
              </a:rPr>
              <a:t> The acquired weight parameters become more reliable and the model is less susceptible to overfitting the training data.</a:t>
            </a:r>
          </a:p>
          <a:p>
            <a:pPr algn="l"/>
            <a:endParaRPr lang="en-GB" sz="1600" b="0" i="0" u="none" strike="noStrike" dirty="0">
              <a:solidFill>
                <a:srgbClr val="000000"/>
              </a:solidFill>
              <a:effectLst/>
            </a:endParaRPr>
          </a:p>
        </p:txBody>
      </p:sp>
      <p:pic>
        <p:nvPicPr>
          <p:cNvPr id="11266" name="Picture 2">
            <a:extLst>
              <a:ext uri="{FF2B5EF4-FFF2-40B4-BE49-F238E27FC236}">
                <a16:creationId xmlns:a16="http://schemas.microsoft.com/office/drawing/2014/main" id="{05C1EF64-1CC4-2E43-D7CB-7B3EEFA00B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90552" y="2775299"/>
            <a:ext cx="5488919" cy="23682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71679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F5F7C5E3-85A2-F2F7-2A58-357554B476C4}"/>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6A565672-EBDA-B0D5-0CF9-91DDC816CFBE}"/>
              </a:ext>
            </a:extLst>
          </p:cNvPr>
          <p:cNvSpPr txBox="1">
            <a:spLocks noGrp="1"/>
          </p:cNvSpPr>
          <p:nvPr>
            <p:ph type="title"/>
          </p:nvPr>
        </p:nvSpPr>
        <p:spPr>
          <a:xfrm>
            <a:off x="801045" y="58669"/>
            <a:ext cx="8955977" cy="627900"/>
          </a:xfrm>
          <a:prstGeom prst="rect">
            <a:avLst/>
          </a:prstGeom>
          <a:noFill/>
          <a:ln>
            <a:noFill/>
          </a:ln>
        </p:spPr>
        <p:txBody>
          <a:bodyPr spcFirstLastPara="1" wrap="square" lIns="91425" tIns="91425" rIns="91425" bIns="91425" anchor="t" anchorCtr="0">
            <a:normAutofit fontScale="90000"/>
          </a:bodyPr>
          <a:lstStyle/>
          <a:p>
            <a:r>
              <a:rPr lang="en-GB" sz="2800" i="0" u="none" strike="noStrike" dirty="0" err="1">
                <a:solidFill>
                  <a:srgbClr val="7030A0"/>
                </a:solidFill>
                <a:effectLst/>
              </a:rPr>
              <a:t>AlexNet</a:t>
            </a:r>
            <a:r>
              <a:rPr lang="en-GB" sz="2800" i="0" u="none" strike="noStrike" dirty="0">
                <a:solidFill>
                  <a:srgbClr val="7030A0"/>
                </a:solidFill>
                <a:effectLst/>
              </a:rPr>
              <a:t> Summary</a:t>
            </a:r>
            <a:br>
              <a:rPr lang="en-GB" sz="2800" i="0" u="none" strike="noStrike" dirty="0">
                <a:solidFill>
                  <a:srgbClr val="7030A0"/>
                </a:solidFill>
                <a:effectLst/>
              </a:rPr>
            </a:br>
            <a:br>
              <a:rPr lang="en-GB" sz="2800" dirty="0">
                <a:solidFill>
                  <a:srgbClr val="7030A0"/>
                </a:solidFill>
              </a:rPr>
            </a:br>
            <a:br>
              <a:rPr lang="en-GB" sz="2800" i="0" u="none" strike="noStrike" dirty="0">
                <a:solidFill>
                  <a:srgbClr val="7030A0"/>
                </a:solidFill>
                <a:effectLst/>
                <a:latin typeface="+mj-lt"/>
              </a:rPr>
            </a:br>
            <a:br>
              <a:rPr lang="en-GB" sz="2700" dirty="0">
                <a:solidFill>
                  <a:srgbClr val="7030A0"/>
                </a:solidFill>
              </a:rPr>
            </a:br>
            <a:br>
              <a:rPr lang="en-GB" sz="1600" dirty="0">
                <a:solidFill>
                  <a:srgbClr val="7030A0"/>
                </a:solidFill>
              </a:rPr>
            </a:br>
            <a:br>
              <a:rPr lang="en-GB" sz="3100" i="0" u="none" strike="noStrike" dirty="0">
                <a:solidFill>
                  <a:srgbClr val="7030A0"/>
                </a:solidFill>
                <a:effectLst/>
                <a:latin typeface="Inter" panose="02000503000000020004" pitchFamily="2" charset="0"/>
              </a:rPr>
            </a:br>
            <a:br>
              <a:rPr lang="en-GB" i="0" u="none" strike="noStrike" dirty="0">
                <a:solidFill>
                  <a:srgbClr val="7030A0"/>
                </a:solidFill>
                <a:effectLst/>
              </a:rPr>
            </a:br>
            <a:br>
              <a:rPr lang="en-GB" i="0" u="none" strike="noStrike" dirty="0">
                <a:solidFill>
                  <a:srgbClr val="7030A0"/>
                </a:solidFill>
                <a:effectLst/>
              </a:rPr>
            </a:br>
            <a:endParaRPr lang="en-GB"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FDD0F608-5CB6-CA63-5DE8-2C952109D169}"/>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TextBox 8">
            <a:extLst>
              <a:ext uri="{FF2B5EF4-FFF2-40B4-BE49-F238E27FC236}">
                <a16:creationId xmlns:a16="http://schemas.microsoft.com/office/drawing/2014/main" id="{7F298CC7-E32E-CB6A-6762-FA8E6C374D66}"/>
              </a:ext>
            </a:extLst>
          </p:cNvPr>
          <p:cNvSpPr txBox="1"/>
          <p:nvPr/>
        </p:nvSpPr>
        <p:spPr>
          <a:xfrm>
            <a:off x="801045" y="372619"/>
            <a:ext cx="9219571" cy="830997"/>
          </a:xfrm>
          <a:prstGeom prst="rect">
            <a:avLst/>
          </a:prstGeom>
          <a:noFill/>
        </p:spPr>
        <p:txBody>
          <a:bodyPr wrap="square">
            <a:spAutoFit/>
          </a:bodyPr>
          <a:lstStyle/>
          <a:p>
            <a:pPr marL="285750" indent="-285750" algn="l">
              <a:buFont typeface="Wingdings" pitchFamily="2" charset="2"/>
              <a:buChar char="Ø"/>
            </a:pPr>
            <a:endParaRPr lang="en-GB" sz="1600" b="0" i="0" u="none" strike="noStrike" dirty="0">
              <a:solidFill>
                <a:srgbClr val="000000"/>
              </a:solidFill>
              <a:effectLst/>
              <a:latin typeface="+mj-lt"/>
            </a:endParaRPr>
          </a:p>
          <a:p>
            <a:br>
              <a:rPr lang="en-GB" sz="1600" dirty="0">
                <a:latin typeface="+mj-lt"/>
              </a:rPr>
            </a:br>
            <a:endParaRPr lang="en-US" sz="1600" dirty="0">
              <a:latin typeface="+mj-lt"/>
            </a:endParaRPr>
          </a:p>
        </p:txBody>
      </p:sp>
      <p:sp>
        <p:nvSpPr>
          <p:cNvPr id="3" name="TextBox 2">
            <a:extLst>
              <a:ext uri="{FF2B5EF4-FFF2-40B4-BE49-F238E27FC236}">
                <a16:creationId xmlns:a16="http://schemas.microsoft.com/office/drawing/2014/main" id="{0C650295-E7A8-8399-D7FD-FDB680B24930}"/>
              </a:ext>
            </a:extLst>
          </p:cNvPr>
          <p:cNvSpPr txBox="1"/>
          <p:nvPr/>
        </p:nvSpPr>
        <p:spPr>
          <a:xfrm>
            <a:off x="1024161" y="762833"/>
            <a:ext cx="7636190" cy="265282"/>
          </a:xfrm>
          <a:prstGeom prst="rect">
            <a:avLst/>
          </a:prstGeom>
          <a:noFill/>
        </p:spPr>
        <p:txBody>
          <a:bodyPr wrap="square">
            <a:spAutoFit/>
          </a:bodyPr>
          <a:lstStyle/>
          <a:p>
            <a:pPr algn="l"/>
            <a:endParaRPr lang="en-GB" sz="1600" b="0" i="0" u="none" strike="noStrike" dirty="0">
              <a:solidFill>
                <a:srgbClr val="000000"/>
              </a:solidFill>
              <a:effectLst/>
            </a:endParaRPr>
          </a:p>
        </p:txBody>
      </p:sp>
      <p:pic>
        <p:nvPicPr>
          <p:cNvPr id="13314" name="Picture 2">
            <a:extLst>
              <a:ext uri="{FF2B5EF4-FFF2-40B4-BE49-F238E27FC236}">
                <a16:creationId xmlns:a16="http://schemas.microsoft.com/office/drawing/2014/main" id="{A26DA57A-FDE4-AF19-FCA9-0F295E8BDD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7233" y="614596"/>
            <a:ext cx="7318782" cy="44749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58648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859D2881-9E0C-0700-5E7F-A2E020397FFE}"/>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B51AB6C0-8E5C-63B4-24FC-E6D67FE12639}"/>
              </a:ext>
            </a:extLst>
          </p:cNvPr>
          <p:cNvSpPr txBox="1">
            <a:spLocks noGrp="1"/>
          </p:cNvSpPr>
          <p:nvPr>
            <p:ph type="title"/>
          </p:nvPr>
        </p:nvSpPr>
        <p:spPr>
          <a:xfrm>
            <a:off x="-98241" y="69847"/>
            <a:ext cx="8955977" cy="627900"/>
          </a:xfrm>
          <a:prstGeom prst="rect">
            <a:avLst/>
          </a:prstGeom>
          <a:noFill/>
          <a:ln>
            <a:noFill/>
          </a:ln>
        </p:spPr>
        <p:txBody>
          <a:bodyPr spcFirstLastPara="1" wrap="square" lIns="91425" tIns="91425" rIns="91425" bIns="91425" anchor="t" anchorCtr="0">
            <a:normAutofit fontScale="90000"/>
          </a:bodyPr>
          <a:lstStyle/>
          <a:p>
            <a:r>
              <a:rPr lang="en-GB" sz="2800" i="0" u="none" strike="noStrike" dirty="0">
                <a:solidFill>
                  <a:srgbClr val="7030A0"/>
                </a:solidFill>
                <a:effectLst/>
              </a:rPr>
              <a:t>Key Differences of LeNet and </a:t>
            </a:r>
            <a:r>
              <a:rPr lang="en-GB" sz="2800" i="0" u="none" strike="noStrike" dirty="0" err="1">
                <a:solidFill>
                  <a:srgbClr val="7030A0"/>
                </a:solidFill>
                <a:effectLst/>
              </a:rPr>
              <a:t>AlexNet</a:t>
            </a:r>
            <a:r>
              <a:rPr lang="en-GB" sz="2800" i="0" u="none" strike="noStrike" dirty="0">
                <a:solidFill>
                  <a:srgbClr val="7030A0"/>
                </a:solidFill>
                <a:effectLst/>
              </a:rPr>
              <a:t> Implementation</a:t>
            </a:r>
            <a:br>
              <a:rPr lang="en-GB" sz="2800" i="0" u="none" strike="noStrike" dirty="0">
                <a:solidFill>
                  <a:srgbClr val="7030A0"/>
                </a:solidFill>
                <a:effectLst/>
              </a:rPr>
            </a:br>
            <a:br>
              <a:rPr lang="en-GB" sz="2800" i="0" u="none" strike="noStrike" dirty="0">
                <a:solidFill>
                  <a:srgbClr val="7030A0"/>
                </a:solidFill>
                <a:effectLst/>
              </a:rPr>
            </a:br>
            <a:br>
              <a:rPr lang="en-GB" sz="2800" dirty="0">
                <a:solidFill>
                  <a:srgbClr val="7030A0"/>
                </a:solidFill>
              </a:rPr>
            </a:br>
            <a:br>
              <a:rPr lang="en-GB" sz="2800" i="0" u="none" strike="noStrike" dirty="0">
                <a:solidFill>
                  <a:srgbClr val="7030A0"/>
                </a:solidFill>
                <a:effectLst/>
                <a:latin typeface="+mj-lt"/>
              </a:rPr>
            </a:br>
            <a:br>
              <a:rPr lang="en-GB" sz="2700" dirty="0">
                <a:solidFill>
                  <a:srgbClr val="7030A0"/>
                </a:solidFill>
              </a:rPr>
            </a:br>
            <a:br>
              <a:rPr lang="en-GB" sz="1600" dirty="0">
                <a:solidFill>
                  <a:srgbClr val="7030A0"/>
                </a:solidFill>
              </a:rPr>
            </a:br>
            <a:br>
              <a:rPr lang="en-GB" sz="3100" i="0" u="none" strike="noStrike" dirty="0">
                <a:solidFill>
                  <a:srgbClr val="7030A0"/>
                </a:solidFill>
                <a:effectLst/>
                <a:latin typeface="Inter" panose="02000503000000020004" pitchFamily="2" charset="0"/>
              </a:rPr>
            </a:br>
            <a:br>
              <a:rPr lang="en-GB" i="0" u="none" strike="noStrike" dirty="0">
                <a:solidFill>
                  <a:srgbClr val="7030A0"/>
                </a:solidFill>
                <a:effectLst/>
              </a:rPr>
            </a:br>
            <a:br>
              <a:rPr lang="en-GB" i="0" u="none" strike="noStrike" dirty="0">
                <a:solidFill>
                  <a:srgbClr val="7030A0"/>
                </a:solidFill>
                <a:effectLst/>
              </a:rPr>
            </a:br>
            <a:endParaRPr lang="en-GB"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118BBE95-CB10-709B-529E-6573377AFD04}"/>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TextBox 8">
            <a:extLst>
              <a:ext uri="{FF2B5EF4-FFF2-40B4-BE49-F238E27FC236}">
                <a16:creationId xmlns:a16="http://schemas.microsoft.com/office/drawing/2014/main" id="{5B2C9D67-1734-A6A3-F07A-2302CE96CD41}"/>
              </a:ext>
            </a:extLst>
          </p:cNvPr>
          <p:cNvSpPr txBox="1"/>
          <p:nvPr/>
        </p:nvSpPr>
        <p:spPr>
          <a:xfrm>
            <a:off x="-559220" y="347334"/>
            <a:ext cx="9219571" cy="830997"/>
          </a:xfrm>
          <a:prstGeom prst="rect">
            <a:avLst/>
          </a:prstGeom>
          <a:noFill/>
        </p:spPr>
        <p:txBody>
          <a:bodyPr wrap="square">
            <a:spAutoFit/>
          </a:bodyPr>
          <a:lstStyle/>
          <a:p>
            <a:pPr marL="285750" indent="-285750" algn="l">
              <a:buFont typeface="Wingdings" pitchFamily="2" charset="2"/>
              <a:buChar char="Ø"/>
            </a:pPr>
            <a:endParaRPr lang="en-GB" sz="1600" b="0" i="0" u="none" strike="noStrike" dirty="0">
              <a:solidFill>
                <a:srgbClr val="000000"/>
              </a:solidFill>
              <a:effectLst/>
              <a:latin typeface="+mj-lt"/>
            </a:endParaRPr>
          </a:p>
          <a:p>
            <a:br>
              <a:rPr lang="en-GB" sz="1600" dirty="0">
                <a:latin typeface="+mj-lt"/>
              </a:rPr>
            </a:br>
            <a:endParaRPr lang="en-US" sz="1600" dirty="0">
              <a:latin typeface="+mj-lt"/>
            </a:endParaRPr>
          </a:p>
        </p:txBody>
      </p:sp>
      <p:sp>
        <p:nvSpPr>
          <p:cNvPr id="3" name="TextBox 2">
            <a:extLst>
              <a:ext uri="{FF2B5EF4-FFF2-40B4-BE49-F238E27FC236}">
                <a16:creationId xmlns:a16="http://schemas.microsoft.com/office/drawing/2014/main" id="{3444E993-598D-F126-484E-D52309E677A2}"/>
              </a:ext>
            </a:extLst>
          </p:cNvPr>
          <p:cNvSpPr txBox="1"/>
          <p:nvPr/>
        </p:nvSpPr>
        <p:spPr>
          <a:xfrm>
            <a:off x="1024161" y="762833"/>
            <a:ext cx="7636190" cy="265282"/>
          </a:xfrm>
          <a:prstGeom prst="rect">
            <a:avLst/>
          </a:prstGeom>
          <a:noFill/>
        </p:spPr>
        <p:txBody>
          <a:bodyPr wrap="square">
            <a:spAutoFit/>
          </a:bodyPr>
          <a:lstStyle/>
          <a:p>
            <a:pPr algn="l"/>
            <a:endParaRPr lang="en-GB" sz="1600" b="0" i="0" u="none" strike="noStrike" dirty="0">
              <a:solidFill>
                <a:srgbClr val="000000"/>
              </a:solidFill>
              <a:effectLst/>
            </a:endParaRPr>
          </a:p>
        </p:txBody>
      </p:sp>
      <p:graphicFrame>
        <p:nvGraphicFramePr>
          <p:cNvPr id="2" name="Table 1">
            <a:extLst>
              <a:ext uri="{FF2B5EF4-FFF2-40B4-BE49-F238E27FC236}">
                <a16:creationId xmlns:a16="http://schemas.microsoft.com/office/drawing/2014/main" id="{7A06EDB1-E864-605A-6D1D-4C151D43322C}"/>
              </a:ext>
            </a:extLst>
          </p:cNvPr>
          <p:cNvGraphicFramePr>
            <a:graphicFrameLocks noGrp="1"/>
          </p:cNvGraphicFramePr>
          <p:nvPr>
            <p:extLst>
              <p:ext uri="{D42A27DB-BD31-4B8C-83A1-F6EECF244321}">
                <p14:modId xmlns:p14="http://schemas.microsoft.com/office/powerpoint/2010/main" val="3339806014"/>
              </p:ext>
            </p:extLst>
          </p:nvPr>
        </p:nvGraphicFramePr>
        <p:xfrm>
          <a:off x="790700" y="1015301"/>
          <a:ext cx="6519730" cy="3469140"/>
        </p:xfrm>
        <a:graphic>
          <a:graphicData uri="http://schemas.openxmlformats.org/drawingml/2006/table">
            <a:tbl>
              <a:tblPr>
                <a:tableStyleId>{35758FB7-9AC5-4552-8A53-C91805E547FA}</a:tableStyleId>
              </a:tblPr>
              <a:tblGrid>
                <a:gridCol w="2147524">
                  <a:extLst>
                    <a:ext uri="{9D8B030D-6E8A-4147-A177-3AD203B41FA5}">
                      <a16:colId xmlns:a16="http://schemas.microsoft.com/office/drawing/2014/main" val="924746552"/>
                    </a:ext>
                  </a:extLst>
                </a:gridCol>
                <a:gridCol w="2186103">
                  <a:extLst>
                    <a:ext uri="{9D8B030D-6E8A-4147-A177-3AD203B41FA5}">
                      <a16:colId xmlns:a16="http://schemas.microsoft.com/office/drawing/2014/main" val="945307462"/>
                    </a:ext>
                  </a:extLst>
                </a:gridCol>
                <a:gridCol w="2186103">
                  <a:extLst>
                    <a:ext uri="{9D8B030D-6E8A-4147-A177-3AD203B41FA5}">
                      <a16:colId xmlns:a16="http://schemas.microsoft.com/office/drawing/2014/main" val="1757631137"/>
                    </a:ext>
                  </a:extLst>
                </a:gridCol>
              </a:tblGrid>
              <a:tr h="308983">
                <a:tc>
                  <a:txBody>
                    <a:bodyPr/>
                    <a:lstStyle/>
                    <a:p>
                      <a:pPr algn="l"/>
                      <a:r>
                        <a:rPr lang="en-GB" sz="1100" b="1">
                          <a:effectLst/>
                        </a:rPr>
                        <a:t>Feature</a:t>
                      </a:r>
                    </a:p>
                  </a:txBody>
                  <a:tcPr marL="69958" marR="72873" marT="72873" marB="72873" anchor="ctr"/>
                </a:tc>
                <a:tc>
                  <a:txBody>
                    <a:bodyPr/>
                    <a:lstStyle/>
                    <a:p>
                      <a:pPr algn="l"/>
                      <a:r>
                        <a:rPr lang="en-GB" sz="1100" b="1">
                          <a:effectLst/>
                        </a:rPr>
                        <a:t>LeNet-5</a:t>
                      </a:r>
                    </a:p>
                  </a:txBody>
                  <a:tcPr marL="72873" marR="72873" marT="72873" marB="72873" anchor="ctr"/>
                </a:tc>
                <a:tc>
                  <a:txBody>
                    <a:bodyPr/>
                    <a:lstStyle/>
                    <a:p>
                      <a:pPr algn="l"/>
                      <a:r>
                        <a:rPr lang="en-GB" sz="1100" b="1">
                          <a:effectLst/>
                        </a:rPr>
                        <a:t>AlexNet</a:t>
                      </a:r>
                    </a:p>
                  </a:txBody>
                  <a:tcPr marL="72873" marR="72873" marT="72873" marB="72873" anchor="ctr"/>
                </a:tc>
                <a:extLst>
                  <a:ext uri="{0D108BD9-81ED-4DB2-BD59-A6C34878D82A}">
                    <a16:rowId xmlns:a16="http://schemas.microsoft.com/office/drawing/2014/main" val="4077729717"/>
                  </a:ext>
                </a:extLst>
              </a:tr>
              <a:tr h="308983">
                <a:tc>
                  <a:txBody>
                    <a:bodyPr/>
                    <a:lstStyle/>
                    <a:p>
                      <a:r>
                        <a:rPr lang="en-GB" sz="1100" b="1">
                          <a:effectLst/>
                        </a:rPr>
                        <a:t>Input Size</a:t>
                      </a:r>
                      <a:endParaRPr lang="en-GB" sz="1100">
                        <a:effectLst/>
                      </a:endParaRPr>
                    </a:p>
                  </a:txBody>
                  <a:tcPr marL="69958" marR="72873" marT="72873" marB="72873" anchor="ctr"/>
                </a:tc>
                <a:tc>
                  <a:txBody>
                    <a:bodyPr/>
                    <a:lstStyle/>
                    <a:p>
                      <a:r>
                        <a:rPr lang="en-GB" sz="1100" dirty="0">
                          <a:effectLst/>
                        </a:rPr>
                        <a:t>28x28 (MNIST original)</a:t>
                      </a:r>
                    </a:p>
                  </a:txBody>
                  <a:tcPr marL="72873" marR="72873" marT="72873" marB="72873" anchor="ctr"/>
                </a:tc>
                <a:tc>
                  <a:txBody>
                    <a:bodyPr/>
                    <a:lstStyle/>
                    <a:p>
                      <a:r>
                        <a:rPr lang="en-GB" sz="1100">
                          <a:effectLst/>
                        </a:rPr>
                        <a:t>227x227 (upscaled from 28x28)</a:t>
                      </a:r>
                    </a:p>
                  </a:txBody>
                  <a:tcPr marL="72873" marR="72873" marT="72873" marB="72873" anchor="ctr"/>
                </a:tc>
                <a:extLst>
                  <a:ext uri="{0D108BD9-81ED-4DB2-BD59-A6C34878D82A}">
                    <a16:rowId xmlns:a16="http://schemas.microsoft.com/office/drawing/2014/main" val="3805046634"/>
                  </a:ext>
                </a:extLst>
              </a:tr>
              <a:tr h="308983">
                <a:tc>
                  <a:txBody>
                    <a:bodyPr/>
                    <a:lstStyle/>
                    <a:p>
                      <a:r>
                        <a:rPr lang="en-GB" sz="1100" b="1">
                          <a:effectLst/>
                        </a:rPr>
                        <a:t>Activation</a:t>
                      </a:r>
                      <a:endParaRPr lang="en-GB" sz="1100">
                        <a:effectLst/>
                      </a:endParaRPr>
                    </a:p>
                  </a:txBody>
                  <a:tcPr marL="69958" marR="72873" marT="72873" marB="72873" anchor="ctr"/>
                </a:tc>
                <a:tc>
                  <a:txBody>
                    <a:bodyPr/>
                    <a:lstStyle/>
                    <a:p>
                      <a:r>
                        <a:rPr lang="en-GB" sz="1100">
                          <a:effectLst/>
                        </a:rPr>
                        <a:t>Tanh</a:t>
                      </a:r>
                    </a:p>
                  </a:txBody>
                  <a:tcPr marL="72873" marR="72873" marT="72873" marB="72873" anchor="ctr"/>
                </a:tc>
                <a:tc>
                  <a:txBody>
                    <a:bodyPr/>
                    <a:lstStyle/>
                    <a:p>
                      <a:r>
                        <a:rPr lang="en-GB" sz="1100">
                          <a:effectLst/>
                        </a:rPr>
                        <a:t>ReLU (faster convergence)</a:t>
                      </a:r>
                    </a:p>
                  </a:txBody>
                  <a:tcPr marL="72873" marR="72873" marT="72873" marB="72873" anchor="ctr"/>
                </a:tc>
                <a:extLst>
                  <a:ext uri="{0D108BD9-81ED-4DB2-BD59-A6C34878D82A}">
                    <a16:rowId xmlns:a16="http://schemas.microsoft.com/office/drawing/2014/main" val="2183753850"/>
                  </a:ext>
                </a:extLst>
              </a:tr>
              <a:tr h="308983">
                <a:tc>
                  <a:txBody>
                    <a:bodyPr/>
                    <a:lstStyle/>
                    <a:p>
                      <a:r>
                        <a:rPr lang="en-GB" sz="1100" b="1">
                          <a:effectLst/>
                        </a:rPr>
                        <a:t>Pooling</a:t>
                      </a:r>
                      <a:endParaRPr lang="en-GB" sz="1100">
                        <a:effectLst/>
                      </a:endParaRPr>
                    </a:p>
                  </a:txBody>
                  <a:tcPr marL="69958" marR="72873" marT="72873" marB="72873" anchor="ctr"/>
                </a:tc>
                <a:tc>
                  <a:txBody>
                    <a:bodyPr/>
                    <a:lstStyle/>
                    <a:p>
                      <a:r>
                        <a:rPr lang="en-GB" sz="1100">
                          <a:effectLst/>
                        </a:rPr>
                        <a:t>Average Pooling</a:t>
                      </a:r>
                    </a:p>
                  </a:txBody>
                  <a:tcPr marL="72873" marR="72873" marT="72873" marB="72873" anchor="ctr"/>
                </a:tc>
                <a:tc>
                  <a:txBody>
                    <a:bodyPr/>
                    <a:lstStyle/>
                    <a:p>
                      <a:r>
                        <a:rPr lang="en-GB" sz="1100">
                          <a:effectLst/>
                        </a:rPr>
                        <a:t>Max Pooling</a:t>
                      </a:r>
                    </a:p>
                  </a:txBody>
                  <a:tcPr marL="72873" marR="72873" marT="72873" marB="72873" anchor="ctr"/>
                </a:tc>
                <a:extLst>
                  <a:ext uri="{0D108BD9-81ED-4DB2-BD59-A6C34878D82A}">
                    <a16:rowId xmlns:a16="http://schemas.microsoft.com/office/drawing/2014/main" val="3955719420"/>
                  </a:ext>
                </a:extLst>
              </a:tr>
              <a:tr h="308983">
                <a:tc>
                  <a:txBody>
                    <a:bodyPr/>
                    <a:lstStyle/>
                    <a:p>
                      <a:r>
                        <a:rPr lang="en-GB" sz="1100" b="1">
                          <a:effectLst/>
                        </a:rPr>
                        <a:t>Convolutional Layers</a:t>
                      </a:r>
                      <a:endParaRPr lang="en-GB" sz="1100">
                        <a:effectLst/>
                      </a:endParaRPr>
                    </a:p>
                  </a:txBody>
                  <a:tcPr marL="69958" marR="72873" marT="72873" marB="72873" anchor="ctr"/>
                </a:tc>
                <a:tc>
                  <a:txBody>
                    <a:bodyPr/>
                    <a:lstStyle/>
                    <a:p>
                      <a:r>
                        <a:rPr lang="en-GB" sz="1100">
                          <a:effectLst/>
                        </a:rPr>
                        <a:t>2 layers</a:t>
                      </a:r>
                    </a:p>
                  </a:txBody>
                  <a:tcPr marL="72873" marR="72873" marT="72873" marB="72873" anchor="ctr"/>
                </a:tc>
                <a:tc>
                  <a:txBody>
                    <a:bodyPr/>
                    <a:lstStyle/>
                    <a:p>
                      <a:r>
                        <a:rPr lang="en-GB" sz="1100">
                          <a:effectLst/>
                        </a:rPr>
                        <a:t>5 layers</a:t>
                      </a:r>
                    </a:p>
                  </a:txBody>
                  <a:tcPr marL="72873" marR="72873" marT="72873" marB="72873" anchor="ctr"/>
                </a:tc>
                <a:extLst>
                  <a:ext uri="{0D108BD9-81ED-4DB2-BD59-A6C34878D82A}">
                    <a16:rowId xmlns:a16="http://schemas.microsoft.com/office/drawing/2014/main" val="3612652052"/>
                  </a:ext>
                </a:extLst>
              </a:tr>
              <a:tr h="472219">
                <a:tc>
                  <a:txBody>
                    <a:bodyPr/>
                    <a:lstStyle/>
                    <a:p>
                      <a:r>
                        <a:rPr lang="en-GB" sz="1100" b="1">
                          <a:effectLst/>
                        </a:rPr>
                        <a:t>Filters</a:t>
                      </a:r>
                      <a:endParaRPr lang="en-GB" sz="1100">
                        <a:effectLst/>
                      </a:endParaRPr>
                    </a:p>
                  </a:txBody>
                  <a:tcPr marL="69958" marR="72873" marT="72873" marB="72873" anchor="ctr"/>
                </a:tc>
                <a:tc>
                  <a:txBody>
                    <a:bodyPr/>
                    <a:lstStyle/>
                    <a:p>
                      <a:r>
                        <a:rPr lang="en-GB" sz="1100" dirty="0">
                          <a:effectLst/>
                        </a:rPr>
                        <a:t>6 → 16 filters</a:t>
                      </a:r>
                    </a:p>
                  </a:txBody>
                  <a:tcPr marL="72873" marR="72873" marT="72873" marB="72873" anchor="ctr"/>
                </a:tc>
                <a:tc>
                  <a:txBody>
                    <a:bodyPr/>
                    <a:lstStyle/>
                    <a:p>
                      <a:r>
                        <a:rPr lang="en-GB" sz="1100">
                          <a:effectLst/>
                        </a:rPr>
                        <a:t>96 → 256 → 384 → 384 → 256 filters</a:t>
                      </a:r>
                    </a:p>
                  </a:txBody>
                  <a:tcPr marL="72873" marR="72873" marT="72873" marB="72873" anchor="ctr"/>
                </a:tc>
                <a:extLst>
                  <a:ext uri="{0D108BD9-81ED-4DB2-BD59-A6C34878D82A}">
                    <a16:rowId xmlns:a16="http://schemas.microsoft.com/office/drawing/2014/main" val="2902202360"/>
                  </a:ext>
                </a:extLst>
              </a:tr>
              <a:tr h="472219">
                <a:tc>
                  <a:txBody>
                    <a:bodyPr/>
                    <a:lstStyle/>
                    <a:p>
                      <a:r>
                        <a:rPr lang="en-GB" sz="1100" b="1">
                          <a:effectLst/>
                        </a:rPr>
                        <a:t>Dropout</a:t>
                      </a:r>
                      <a:endParaRPr lang="en-GB" sz="1100">
                        <a:effectLst/>
                      </a:endParaRPr>
                    </a:p>
                  </a:txBody>
                  <a:tcPr marL="69958" marR="72873" marT="72873" marB="72873" anchor="ctr"/>
                </a:tc>
                <a:tc>
                  <a:txBody>
                    <a:bodyPr/>
                    <a:lstStyle/>
                    <a:p>
                      <a:r>
                        <a:rPr lang="en-GB" sz="1100">
                          <a:effectLst/>
                        </a:rPr>
                        <a:t>Not used</a:t>
                      </a:r>
                    </a:p>
                  </a:txBody>
                  <a:tcPr marL="72873" marR="72873" marT="72873" marB="72873" anchor="ctr"/>
                </a:tc>
                <a:tc>
                  <a:txBody>
                    <a:bodyPr/>
                    <a:lstStyle/>
                    <a:p>
                      <a:r>
                        <a:rPr lang="en-GB" sz="1100">
                          <a:effectLst/>
                        </a:rPr>
                        <a:t>Used in FC layers (0.5 dropout rate)</a:t>
                      </a:r>
                    </a:p>
                  </a:txBody>
                  <a:tcPr marL="72873" marR="72873" marT="72873" marB="72873" anchor="ctr"/>
                </a:tc>
                <a:extLst>
                  <a:ext uri="{0D108BD9-81ED-4DB2-BD59-A6C34878D82A}">
                    <a16:rowId xmlns:a16="http://schemas.microsoft.com/office/drawing/2014/main" val="2477615909"/>
                  </a:ext>
                </a:extLst>
              </a:tr>
              <a:tr h="308983">
                <a:tc>
                  <a:txBody>
                    <a:bodyPr/>
                    <a:lstStyle/>
                    <a:p>
                      <a:r>
                        <a:rPr lang="en-GB" sz="1100" b="1">
                          <a:effectLst/>
                        </a:rPr>
                        <a:t>Optimizer</a:t>
                      </a:r>
                      <a:endParaRPr lang="en-GB" sz="1100">
                        <a:effectLst/>
                      </a:endParaRPr>
                    </a:p>
                  </a:txBody>
                  <a:tcPr marL="69958" marR="72873" marT="72873" marB="72873" anchor="ctr"/>
                </a:tc>
                <a:tc>
                  <a:txBody>
                    <a:bodyPr/>
                    <a:lstStyle/>
                    <a:p>
                      <a:r>
                        <a:rPr lang="en-GB" sz="1100">
                          <a:effectLst/>
                        </a:rPr>
                        <a:t>SGD</a:t>
                      </a:r>
                    </a:p>
                  </a:txBody>
                  <a:tcPr marL="72873" marR="72873" marT="72873" marB="72873" anchor="ctr"/>
                </a:tc>
                <a:tc>
                  <a:txBody>
                    <a:bodyPr/>
                    <a:lstStyle/>
                    <a:p>
                      <a:r>
                        <a:rPr lang="en-GB" sz="1100">
                          <a:effectLst/>
                        </a:rPr>
                        <a:t>Adam (better for deep nets)</a:t>
                      </a:r>
                    </a:p>
                  </a:txBody>
                  <a:tcPr marL="72873" marR="72873" marT="72873" marB="72873" anchor="ctr"/>
                </a:tc>
                <a:extLst>
                  <a:ext uri="{0D108BD9-81ED-4DB2-BD59-A6C34878D82A}">
                    <a16:rowId xmlns:a16="http://schemas.microsoft.com/office/drawing/2014/main" val="42771461"/>
                  </a:ext>
                </a:extLst>
              </a:tr>
              <a:tr h="308983">
                <a:tc>
                  <a:txBody>
                    <a:bodyPr/>
                    <a:lstStyle/>
                    <a:p>
                      <a:r>
                        <a:rPr lang="en-GB" sz="1100" b="1">
                          <a:effectLst/>
                        </a:rPr>
                        <a:t>Kernel Sizes</a:t>
                      </a:r>
                      <a:endParaRPr lang="en-GB" sz="1100">
                        <a:effectLst/>
                      </a:endParaRPr>
                    </a:p>
                  </a:txBody>
                  <a:tcPr marL="69958" marR="72873" marT="72873" marB="72873" anchor="ctr"/>
                </a:tc>
                <a:tc>
                  <a:txBody>
                    <a:bodyPr/>
                    <a:lstStyle/>
                    <a:p>
                      <a:r>
                        <a:rPr lang="en-GB" sz="1100">
                          <a:effectLst/>
                        </a:rPr>
                        <a:t>5x5</a:t>
                      </a:r>
                    </a:p>
                  </a:txBody>
                  <a:tcPr marL="72873" marR="72873" marT="72873" marB="72873" anchor="ctr"/>
                </a:tc>
                <a:tc>
                  <a:txBody>
                    <a:bodyPr/>
                    <a:lstStyle/>
                    <a:p>
                      <a:r>
                        <a:rPr lang="en-GB" sz="1100">
                          <a:effectLst/>
                        </a:rPr>
                        <a:t>11x11, 5x5, 3x3</a:t>
                      </a:r>
                    </a:p>
                  </a:txBody>
                  <a:tcPr marL="72873" marR="72873" marT="72873" marB="72873" anchor="ctr"/>
                </a:tc>
                <a:extLst>
                  <a:ext uri="{0D108BD9-81ED-4DB2-BD59-A6C34878D82A}">
                    <a16:rowId xmlns:a16="http://schemas.microsoft.com/office/drawing/2014/main" val="3322161991"/>
                  </a:ext>
                </a:extLst>
              </a:tr>
              <a:tr h="308983">
                <a:tc>
                  <a:txBody>
                    <a:bodyPr/>
                    <a:lstStyle/>
                    <a:p>
                      <a:r>
                        <a:rPr lang="en-GB" sz="1100" b="1">
                          <a:effectLst/>
                        </a:rPr>
                        <a:t>Strides</a:t>
                      </a:r>
                      <a:endParaRPr lang="en-GB" sz="1100">
                        <a:effectLst/>
                      </a:endParaRPr>
                    </a:p>
                  </a:txBody>
                  <a:tcPr marL="69958" marR="72873" marT="72873" marB="72873" anchor="ctr"/>
                </a:tc>
                <a:tc>
                  <a:txBody>
                    <a:bodyPr/>
                    <a:lstStyle/>
                    <a:p>
                      <a:r>
                        <a:rPr lang="en-GB" sz="1100">
                          <a:effectLst/>
                        </a:rPr>
                        <a:t>1 (conv), 2 (pooling)</a:t>
                      </a:r>
                    </a:p>
                  </a:txBody>
                  <a:tcPr marL="72873" marR="72873" marT="72873" marB="72873" anchor="ctr"/>
                </a:tc>
                <a:tc>
                  <a:txBody>
                    <a:bodyPr/>
                    <a:lstStyle/>
                    <a:p>
                      <a:r>
                        <a:rPr lang="en-GB" sz="1100" dirty="0">
                          <a:effectLst/>
                        </a:rPr>
                        <a:t>4 (first conv), 2 (pooling)</a:t>
                      </a:r>
                    </a:p>
                  </a:txBody>
                  <a:tcPr marL="72873" marR="72873" marT="72873" marB="72873" anchor="ctr"/>
                </a:tc>
                <a:extLst>
                  <a:ext uri="{0D108BD9-81ED-4DB2-BD59-A6C34878D82A}">
                    <a16:rowId xmlns:a16="http://schemas.microsoft.com/office/drawing/2014/main" val="1972968460"/>
                  </a:ext>
                </a:extLst>
              </a:tr>
            </a:tbl>
          </a:graphicData>
        </a:graphic>
      </p:graphicFrame>
    </p:spTree>
    <p:extLst>
      <p:ext uri="{BB962C8B-B14F-4D97-AF65-F5344CB8AC3E}">
        <p14:creationId xmlns:p14="http://schemas.microsoft.com/office/powerpoint/2010/main" val="35248395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83"/>
        <p:cNvGrpSpPr/>
        <p:nvPr/>
      </p:nvGrpSpPr>
      <p:grpSpPr>
        <a:xfrm>
          <a:off x="0" y="0"/>
          <a:ext cx="0" cy="0"/>
          <a:chOff x="0" y="0"/>
          <a:chExt cx="0" cy="0"/>
        </a:xfrm>
      </p:grpSpPr>
      <p:pic>
        <p:nvPicPr>
          <p:cNvPr id="84" name="Google Shape;84;p7"/>
          <p:cNvPicPr preferRelativeResize="0"/>
          <p:nvPr/>
        </p:nvPicPr>
        <p:blipFill rotWithShape="1">
          <a:blip r:embed="rId3">
            <a:alphaModFix amt="60000"/>
          </a:blip>
          <a:srcRect/>
          <a:stretch/>
        </p:blipFill>
        <p:spPr>
          <a:xfrm>
            <a:off x="3080321" y="122160"/>
            <a:ext cx="5408998" cy="2939569"/>
          </a:xfrm>
          <a:prstGeom prst="rect">
            <a:avLst/>
          </a:prstGeom>
          <a:noFill/>
          <a:ln>
            <a:noFill/>
          </a:ln>
        </p:spPr>
      </p:pic>
      <p:sp>
        <p:nvSpPr>
          <p:cNvPr id="85" name="Google Shape;85;p7"/>
          <p:cNvSpPr txBox="1">
            <a:spLocks noGrp="1"/>
          </p:cNvSpPr>
          <p:nvPr>
            <p:ph type="title"/>
          </p:nvPr>
        </p:nvSpPr>
        <p:spPr>
          <a:xfrm>
            <a:off x="872950" y="122160"/>
            <a:ext cx="6707400" cy="494528"/>
          </a:xfrm>
          <a:prstGeom prst="rect">
            <a:avLst/>
          </a:prstGeom>
          <a:noFill/>
          <a:ln>
            <a:noFill/>
          </a:ln>
        </p:spPr>
        <p:txBody>
          <a:bodyPr spcFirstLastPara="1" wrap="square" lIns="91425" tIns="91425" rIns="91425" bIns="91425" anchor="t" anchorCtr="0">
            <a:noAutofit/>
          </a:bodyPr>
          <a:lstStyle/>
          <a:p>
            <a:pPr rtl="0"/>
            <a:r>
              <a:rPr lang="en-GB" sz="3200" dirty="0"/>
              <a:t>Hands On Exercise </a:t>
            </a:r>
            <a:br>
              <a:rPr lang="en-GB" sz="3200" dirty="0"/>
            </a:br>
            <a:endParaRPr lang="en-GB" sz="3200" dirty="0"/>
          </a:p>
        </p:txBody>
      </p:sp>
      <p:sp>
        <p:nvSpPr>
          <p:cNvPr id="3" name="TextBox 2">
            <a:extLst>
              <a:ext uri="{FF2B5EF4-FFF2-40B4-BE49-F238E27FC236}">
                <a16:creationId xmlns:a16="http://schemas.microsoft.com/office/drawing/2014/main" id="{FD29B7B1-87C3-1A19-1CD5-4DC342054D89}"/>
              </a:ext>
            </a:extLst>
          </p:cNvPr>
          <p:cNvSpPr txBox="1"/>
          <p:nvPr/>
        </p:nvSpPr>
        <p:spPr>
          <a:xfrm>
            <a:off x="182139" y="1334239"/>
            <a:ext cx="4649490" cy="707886"/>
          </a:xfrm>
          <a:prstGeom prst="rect">
            <a:avLst/>
          </a:prstGeom>
          <a:noFill/>
        </p:spPr>
        <p:txBody>
          <a:bodyPr wrap="square">
            <a:spAutoFit/>
          </a:bodyPr>
          <a:lstStyle/>
          <a:p>
            <a:pPr marL="457200" indent="-457200" algn="ctr">
              <a:buFont typeface="+mj-lt"/>
              <a:buAutoNum type="arabicPeriod"/>
            </a:pPr>
            <a:r>
              <a:rPr lang="en-GB" sz="2000" dirty="0">
                <a:hlinkClick r:id="rId4"/>
              </a:rPr>
              <a:t>Click Here For The Implementation on Google Colab</a:t>
            </a:r>
            <a:endParaRPr lang="en-GB" sz="2000" dirty="0"/>
          </a:p>
        </p:txBody>
      </p:sp>
      <p:pic>
        <p:nvPicPr>
          <p:cNvPr id="4" name="Picture 3" descr="A computer with a screen on it&#10;&#10;AI-generated content may be incorrect.">
            <a:extLst>
              <a:ext uri="{FF2B5EF4-FFF2-40B4-BE49-F238E27FC236}">
                <a16:creationId xmlns:a16="http://schemas.microsoft.com/office/drawing/2014/main" id="{DFCACE6B-93A9-2C0B-6504-0868FF90065B}"/>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4572000" y="1890944"/>
            <a:ext cx="4311517" cy="2871186"/>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83">
          <a:extLst>
            <a:ext uri="{FF2B5EF4-FFF2-40B4-BE49-F238E27FC236}">
              <a16:creationId xmlns:a16="http://schemas.microsoft.com/office/drawing/2014/main" id="{C7073A23-177A-F380-4E2C-BCE5184CC92A}"/>
            </a:ext>
          </a:extLst>
        </p:cNvPr>
        <p:cNvGrpSpPr/>
        <p:nvPr/>
      </p:nvGrpSpPr>
      <p:grpSpPr>
        <a:xfrm>
          <a:off x="0" y="0"/>
          <a:ext cx="0" cy="0"/>
          <a:chOff x="0" y="0"/>
          <a:chExt cx="0" cy="0"/>
        </a:xfrm>
      </p:grpSpPr>
      <p:pic>
        <p:nvPicPr>
          <p:cNvPr id="84" name="Google Shape;84;p7">
            <a:extLst>
              <a:ext uri="{FF2B5EF4-FFF2-40B4-BE49-F238E27FC236}">
                <a16:creationId xmlns:a16="http://schemas.microsoft.com/office/drawing/2014/main" id="{E3B61B0B-C8A6-4063-AA38-0D213B633718}"/>
              </a:ext>
            </a:extLst>
          </p:cNvPr>
          <p:cNvPicPr preferRelativeResize="0"/>
          <p:nvPr/>
        </p:nvPicPr>
        <p:blipFill rotWithShape="1">
          <a:blip r:embed="rId3">
            <a:alphaModFix amt="60000"/>
          </a:blip>
          <a:srcRect/>
          <a:stretch/>
        </p:blipFill>
        <p:spPr>
          <a:xfrm>
            <a:off x="3080321" y="122160"/>
            <a:ext cx="5408998" cy="2939569"/>
          </a:xfrm>
          <a:prstGeom prst="rect">
            <a:avLst/>
          </a:prstGeom>
          <a:noFill/>
          <a:ln>
            <a:noFill/>
          </a:ln>
        </p:spPr>
      </p:pic>
      <p:sp>
        <p:nvSpPr>
          <p:cNvPr id="85" name="Google Shape;85;p7">
            <a:extLst>
              <a:ext uri="{FF2B5EF4-FFF2-40B4-BE49-F238E27FC236}">
                <a16:creationId xmlns:a16="http://schemas.microsoft.com/office/drawing/2014/main" id="{CC369EC6-6544-C062-953A-68234137BAFF}"/>
              </a:ext>
            </a:extLst>
          </p:cNvPr>
          <p:cNvSpPr txBox="1">
            <a:spLocks noGrp="1"/>
          </p:cNvSpPr>
          <p:nvPr>
            <p:ph type="title"/>
          </p:nvPr>
        </p:nvSpPr>
        <p:spPr>
          <a:xfrm>
            <a:off x="872950" y="122160"/>
            <a:ext cx="6707400" cy="494528"/>
          </a:xfrm>
          <a:prstGeom prst="rect">
            <a:avLst/>
          </a:prstGeom>
          <a:noFill/>
          <a:ln>
            <a:noFill/>
          </a:ln>
        </p:spPr>
        <p:txBody>
          <a:bodyPr spcFirstLastPara="1" wrap="square" lIns="91425" tIns="91425" rIns="91425" bIns="91425" anchor="t" anchorCtr="0">
            <a:noAutofit/>
          </a:bodyPr>
          <a:lstStyle/>
          <a:p>
            <a:pPr rtl="0"/>
            <a:r>
              <a:rPr lang="en-GB" sz="3200" dirty="0"/>
              <a:t>Books and References</a:t>
            </a:r>
            <a:br>
              <a:rPr lang="en-GB" sz="3200" dirty="0"/>
            </a:br>
            <a:endParaRPr lang="en-GB" sz="3200" dirty="0"/>
          </a:p>
        </p:txBody>
      </p:sp>
      <p:sp>
        <p:nvSpPr>
          <p:cNvPr id="3" name="TextBox 2">
            <a:extLst>
              <a:ext uri="{FF2B5EF4-FFF2-40B4-BE49-F238E27FC236}">
                <a16:creationId xmlns:a16="http://schemas.microsoft.com/office/drawing/2014/main" id="{BD36E5C5-A4EC-A514-661D-B1E7567D531F}"/>
              </a:ext>
            </a:extLst>
          </p:cNvPr>
          <p:cNvSpPr txBox="1"/>
          <p:nvPr/>
        </p:nvSpPr>
        <p:spPr>
          <a:xfrm>
            <a:off x="755575" y="1098322"/>
            <a:ext cx="5408997" cy="3631763"/>
          </a:xfrm>
          <a:prstGeom prst="rect">
            <a:avLst/>
          </a:prstGeom>
          <a:noFill/>
        </p:spPr>
        <p:txBody>
          <a:bodyPr wrap="square">
            <a:spAutoFit/>
          </a:bodyPr>
          <a:lstStyle/>
          <a:p>
            <a:pPr marL="457200" indent="-457200" algn="l">
              <a:buFont typeface="+mj-lt"/>
              <a:buAutoNum type="arabicPeriod"/>
            </a:pPr>
            <a:r>
              <a:rPr lang="en-GB" sz="2000" b="0" i="0" u="none" strike="noStrike" dirty="0">
                <a:solidFill>
                  <a:srgbClr val="404040"/>
                </a:solidFill>
                <a:effectLst/>
                <a:latin typeface="Inter" panose="02000503000000020004" pitchFamily="2" charset="0"/>
              </a:rPr>
              <a:t>"Deep Learning" (Ian Goodfellow et al.)</a:t>
            </a:r>
          </a:p>
          <a:p>
            <a:pPr marL="457200" indent="-457200" algn="l">
              <a:spcBef>
                <a:spcPts val="300"/>
              </a:spcBef>
              <a:buFont typeface="+mj-lt"/>
              <a:buAutoNum type="arabicPeriod"/>
            </a:pPr>
            <a:r>
              <a:rPr lang="en-GB" sz="2000" b="0" i="0" u="none" strike="noStrike" dirty="0">
                <a:solidFill>
                  <a:srgbClr val="404040"/>
                </a:solidFill>
                <a:effectLst/>
                <a:latin typeface="Inter" panose="02000503000000020004" pitchFamily="2" charset="0"/>
              </a:rPr>
              <a:t>"Neural Networks and Deep Learning" (Michael Nielsen)</a:t>
            </a:r>
          </a:p>
          <a:p>
            <a:pPr algn="l"/>
            <a:r>
              <a:rPr lang="en-GB" sz="2000" b="1" i="0" u="none" strike="noStrike" dirty="0">
                <a:solidFill>
                  <a:srgbClr val="404040"/>
                </a:solidFill>
                <a:effectLst/>
                <a:latin typeface="Inter" panose="02000503000000020004" pitchFamily="2" charset="0"/>
              </a:rPr>
              <a:t>Courses</a:t>
            </a:r>
          </a:p>
          <a:p>
            <a:pPr marL="457200" indent="-457200" algn="l">
              <a:buFont typeface="+mj-lt"/>
              <a:buAutoNum type="arabicPeriod"/>
            </a:pPr>
            <a:r>
              <a:rPr lang="en-GB" sz="2000" b="0" i="0" u="none" strike="noStrike" dirty="0">
                <a:solidFill>
                  <a:srgbClr val="404040"/>
                </a:solidFill>
                <a:effectLst/>
                <a:latin typeface="Inter" panose="02000503000000020004" pitchFamily="2" charset="0"/>
                <a:hlinkClick r:id="rId4"/>
              </a:rPr>
              <a:t>Deep Learning Specialization (Andrew Ng, Coursera)</a:t>
            </a:r>
            <a:endParaRPr lang="en-GB" sz="2000" b="0" i="0" u="none" strike="noStrike" dirty="0">
              <a:solidFill>
                <a:srgbClr val="404040"/>
              </a:solidFill>
              <a:effectLst/>
              <a:latin typeface="Inter" panose="02000503000000020004" pitchFamily="2" charset="0"/>
            </a:endParaRPr>
          </a:p>
          <a:p>
            <a:pPr marL="457200" indent="-457200" algn="l">
              <a:spcBef>
                <a:spcPts val="300"/>
              </a:spcBef>
              <a:buFont typeface="+mj-lt"/>
              <a:buAutoNum type="arabicPeriod"/>
            </a:pPr>
            <a:r>
              <a:rPr lang="en-GB" sz="2000" b="0" i="0" u="none" strike="noStrike" dirty="0">
                <a:solidFill>
                  <a:srgbClr val="404040"/>
                </a:solidFill>
                <a:effectLst/>
                <a:latin typeface="Inter" panose="02000503000000020004" pitchFamily="2" charset="0"/>
                <a:hlinkClick r:id="rId5"/>
              </a:rPr>
              <a:t>Fast.ai Practical Deep Learning</a:t>
            </a:r>
            <a:endParaRPr lang="en-GB" sz="2000" b="0" i="0" u="none" strike="noStrike" dirty="0">
              <a:solidFill>
                <a:srgbClr val="404040"/>
              </a:solidFill>
              <a:effectLst/>
              <a:latin typeface="Inter" panose="02000503000000020004" pitchFamily="2" charset="0"/>
            </a:endParaRPr>
          </a:p>
          <a:p>
            <a:pPr algn="l"/>
            <a:r>
              <a:rPr lang="en-GB" sz="2000" b="1" i="0" u="none" strike="noStrike" dirty="0">
                <a:solidFill>
                  <a:srgbClr val="404040"/>
                </a:solidFill>
                <a:effectLst/>
                <a:latin typeface="Inter" panose="02000503000000020004" pitchFamily="2" charset="0"/>
              </a:rPr>
              <a:t>Datasets for Practice</a:t>
            </a:r>
          </a:p>
          <a:p>
            <a:pPr marL="457200" indent="-457200" algn="l">
              <a:buFont typeface="+mj-lt"/>
              <a:buAutoNum type="arabicPeriod"/>
            </a:pPr>
            <a:r>
              <a:rPr lang="en-GB" sz="2000" b="0" i="0" u="none" strike="noStrike" dirty="0">
                <a:solidFill>
                  <a:srgbClr val="404040"/>
                </a:solidFill>
                <a:effectLst/>
                <a:latin typeface="Inter" panose="02000503000000020004" pitchFamily="2" charset="0"/>
              </a:rPr>
              <a:t>MNIST (Handwritten digits)</a:t>
            </a:r>
          </a:p>
          <a:p>
            <a:pPr marL="457200" indent="-457200" algn="l">
              <a:spcBef>
                <a:spcPts val="300"/>
              </a:spcBef>
              <a:buFont typeface="+mj-lt"/>
              <a:buAutoNum type="arabicPeriod"/>
            </a:pPr>
            <a:r>
              <a:rPr lang="en-GB" sz="2000" b="0" i="0" u="none" strike="noStrike" dirty="0">
                <a:solidFill>
                  <a:srgbClr val="404040"/>
                </a:solidFill>
                <a:effectLst/>
                <a:latin typeface="Inter" panose="02000503000000020004" pitchFamily="2" charset="0"/>
              </a:rPr>
              <a:t>CIFAR-10 (Image classification)</a:t>
            </a:r>
          </a:p>
          <a:p>
            <a:pPr marL="457200" indent="-457200" algn="l">
              <a:spcBef>
                <a:spcPts val="300"/>
              </a:spcBef>
              <a:buFont typeface="+mj-lt"/>
              <a:buAutoNum type="arabicPeriod"/>
            </a:pPr>
            <a:r>
              <a:rPr lang="en-GB" sz="2000" b="0" i="0" u="none" strike="noStrike" dirty="0">
                <a:solidFill>
                  <a:srgbClr val="404040"/>
                </a:solidFill>
                <a:effectLst/>
                <a:latin typeface="Inter" panose="02000503000000020004" pitchFamily="2" charset="0"/>
              </a:rPr>
              <a:t>IMDB Reviews (Sentiment analysis)</a:t>
            </a:r>
          </a:p>
        </p:txBody>
      </p:sp>
    </p:spTree>
    <p:extLst>
      <p:ext uri="{BB962C8B-B14F-4D97-AF65-F5344CB8AC3E}">
        <p14:creationId xmlns:p14="http://schemas.microsoft.com/office/powerpoint/2010/main" val="3740398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93"/>
        <p:cNvGrpSpPr/>
        <p:nvPr/>
      </p:nvGrpSpPr>
      <p:grpSpPr>
        <a:xfrm>
          <a:off x="0" y="0"/>
          <a:ext cx="0" cy="0"/>
          <a:chOff x="0" y="0"/>
          <a:chExt cx="0" cy="0"/>
        </a:xfrm>
      </p:grpSpPr>
      <p:pic>
        <p:nvPicPr>
          <p:cNvPr id="194" name="Google Shape;194;p20"/>
          <p:cNvPicPr preferRelativeResize="0"/>
          <p:nvPr/>
        </p:nvPicPr>
        <p:blipFill rotWithShape="1">
          <a:blip r:embed="rId3">
            <a:alphaModFix/>
          </a:blip>
          <a:srcRect l="8508"/>
          <a:stretch/>
        </p:blipFill>
        <p:spPr>
          <a:xfrm>
            <a:off x="6248550" y="1551586"/>
            <a:ext cx="1357692" cy="509366"/>
          </a:xfrm>
          <a:prstGeom prst="rect">
            <a:avLst/>
          </a:prstGeom>
          <a:noFill/>
          <a:ln>
            <a:noFill/>
          </a:ln>
        </p:spPr>
      </p:pic>
      <p:pic>
        <p:nvPicPr>
          <p:cNvPr id="195" name="Google Shape;195;p20"/>
          <p:cNvPicPr preferRelativeResize="0"/>
          <p:nvPr/>
        </p:nvPicPr>
        <p:blipFill rotWithShape="1">
          <a:blip r:embed="rId4">
            <a:alphaModFix/>
          </a:blip>
          <a:srcRect/>
          <a:stretch/>
        </p:blipFill>
        <p:spPr>
          <a:xfrm>
            <a:off x="1647216" y="2992069"/>
            <a:ext cx="995950" cy="405885"/>
          </a:xfrm>
          <a:prstGeom prst="rect">
            <a:avLst/>
          </a:prstGeom>
          <a:noFill/>
          <a:ln>
            <a:noFill/>
          </a:ln>
        </p:spPr>
      </p:pic>
      <p:pic>
        <p:nvPicPr>
          <p:cNvPr id="196" name="Google Shape;196;p20"/>
          <p:cNvPicPr preferRelativeResize="0"/>
          <p:nvPr/>
        </p:nvPicPr>
        <p:blipFill rotWithShape="1">
          <a:blip r:embed="rId5">
            <a:alphaModFix/>
          </a:blip>
          <a:srcRect/>
          <a:stretch/>
        </p:blipFill>
        <p:spPr>
          <a:xfrm>
            <a:off x="6319974" y="3081645"/>
            <a:ext cx="1214843" cy="226732"/>
          </a:xfrm>
          <a:prstGeom prst="rect">
            <a:avLst/>
          </a:prstGeom>
          <a:noFill/>
          <a:ln>
            <a:noFill/>
          </a:ln>
        </p:spPr>
      </p:pic>
      <p:pic>
        <p:nvPicPr>
          <p:cNvPr id="197" name="Google Shape;197;p20"/>
          <p:cNvPicPr preferRelativeResize="0"/>
          <p:nvPr/>
        </p:nvPicPr>
        <p:blipFill rotWithShape="1">
          <a:blip r:embed="rId6">
            <a:alphaModFix/>
          </a:blip>
          <a:srcRect l="11047" t="22524" r="11047" b="22523"/>
          <a:stretch/>
        </p:blipFill>
        <p:spPr>
          <a:xfrm>
            <a:off x="3316327" y="2249012"/>
            <a:ext cx="688702" cy="395541"/>
          </a:xfrm>
          <a:prstGeom prst="rect">
            <a:avLst/>
          </a:prstGeom>
          <a:noFill/>
          <a:ln>
            <a:noFill/>
          </a:ln>
        </p:spPr>
      </p:pic>
      <p:pic>
        <p:nvPicPr>
          <p:cNvPr id="198" name="Google Shape;198;p20"/>
          <p:cNvPicPr preferRelativeResize="0"/>
          <p:nvPr/>
        </p:nvPicPr>
        <p:blipFill rotWithShape="1">
          <a:blip r:embed="rId7">
            <a:alphaModFix/>
          </a:blip>
          <a:srcRect/>
          <a:stretch/>
        </p:blipFill>
        <p:spPr>
          <a:xfrm>
            <a:off x="6360782" y="2325188"/>
            <a:ext cx="1133228" cy="243189"/>
          </a:xfrm>
          <a:prstGeom prst="rect">
            <a:avLst/>
          </a:prstGeom>
          <a:noFill/>
          <a:ln>
            <a:noFill/>
          </a:ln>
        </p:spPr>
      </p:pic>
      <p:pic>
        <p:nvPicPr>
          <p:cNvPr id="199" name="Google Shape;199;p20"/>
          <p:cNvPicPr preferRelativeResize="0"/>
          <p:nvPr/>
        </p:nvPicPr>
        <p:blipFill rotWithShape="1">
          <a:blip r:embed="rId8">
            <a:alphaModFix/>
          </a:blip>
          <a:srcRect l="2114" t="19776" b="19777"/>
          <a:stretch/>
        </p:blipFill>
        <p:spPr>
          <a:xfrm>
            <a:off x="3094065" y="1608499"/>
            <a:ext cx="1133226" cy="395540"/>
          </a:xfrm>
          <a:prstGeom prst="rect">
            <a:avLst/>
          </a:prstGeom>
          <a:noFill/>
          <a:ln>
            <a:noFill/>
          </a:ln>
        </p:spPr>
      </p:pic>
      <p:pic>
        <p:nvPicPr>
          <p:cNvPr id="200" name="Google Shape;200;p20"/>
          <p:cNvPicPr preferRelativeResize="0"/>
          <p:nvPr/>
        </p:nvPicPr>
        <p:blipFill rotWithShape="1">
          <a:blip r:embed="rId9">
            <a:alphaModFix/>
          </a:blip>
          <a:srcRect/>
          <a:stretch/>
        </p:blipFill>
        <p:spPr>
          <a:xfrm>
            <a:off x="3183573" y="3074674"/>
            <a:ext cx="954210" cy="240673"/>
          </a:xfrm>
          <a:prstGeom prst="rect">
            <a:avLst/>
          </a:prstGeom>
          <a:noFill/>
          <a:ln>
            <a:noFill/>
          </a:ln>
        </p:spPr>
      </p:pic>
      <p:pic>
        <p:nvPicPr>
          <p:cNvPr id="201" name="Google Shape;201;p20" descr="Text&#10;&#10;Description automatically generated with low confidence"/>
          <p:cNvPicPr preferRelativeResize="0"/>
          <p:nvPr/>
        </p:nvPicPr>
        <p:blipFill rotWithShape="1">
          <a:blip r:embed="rId10">
            <a:alphaModFix/>
          </a:blip>
          <a:srcRect/>
          <a:stretch/>
        </p:blipFill>
        <p:spPr>
          <a:xfrm>
            <a:off x="4992620" y="3040838"/>
            <a:ext cx="750589" cy="308346"/>
          </a:xfrm>
          <a:prstGeom prst="rect">
            <a:avLst/>
          </a:prstGeom>
          <a:noFill/>
          <a:ln>
            <a:noFill/>
          </a:ln>
        </p:spPr>
      </p:pic>
      <p:pic>
        <p:nvPicPr>
          <p:cNvPr id="202" name="Google Shape;202;p20" descr="A red and black sign&#10;&#10;Description automatically generated with low confidence"/>
          <p:cNvPicPr preferRelativeResize="0"/>
          <p:nvPr/>
        </p:nvPicPr>
        <p:blipFill rotWithShape="1">
          <a:blip r:embed="rId11">
            <a:alphaModFix/>
          </a:blip>
          <a:srcRect/>
          <a:stretch/>
        </p:blipFill>
        <p:spPr>
          <a:xfrm>
            <a:off x="3183572" y="3696038"/>
            <a:ext cx="954213" cy="202631"/>
          </a:xfrm>
          <a:prstGeom prst="rect">
            <a:avLst/>
          </a:prstGeom>
          <a:noFill/>
          <a:ln>
            <a:noFill/>
          </a:ln>
        </p:spPr>
      </p:pic>
      <p:pic>
        <p:nvPicPr>
          <p:cNvPr id="203" name="Google Shape;203;p20" descr="A picture containing text, clipart, vector graphics&#10;&#10;Description automatically generated"/>
          <p:cNvPicPr preferRelativeResize="0"/>
          <p:nvPr/>
        </p:nvPicPr>
        <p:blipFill rotWithShape="1">
          <a:blip r:embed="rId12">
            <a:alphaModFix/>
          </a:blip>
          <a:srcRect/>
          <a:stretch/>
        </p:blipFill>
        <p:spPr>
          <a:xfrm>
            <a:off x="5018971" y="3677016"/>
            <a:ext cx="697888" cy="240674"/>
          </a:xfrm>
          <a:prstGeom prst="rect">
            <a:avLst/>
          </a:prstGeom>
          <a:noFill/>
          <a:ln>
            <a:noFill/>
          </a:ln>
        </p:spPr>
      </p:pic>
      <p:pic>
        <p:nvPicPr>
          <p:cNvPr id="204" name="Google Shape;204;p20"/>
          <p:cNvPicPr preferRelativeResize="0"/>
          <p:nvPr/>
        </p:nvPicPr>
        <p:blipFill rotWithShape="1">
          <a:blip r:embed="rId13">
            <a:alphaModFix/>
          </a:blip>
          <a:srcRect b="18915"/>
          <a:stretch/>
        </p:blipFill>
        <p:spPr>
          <a:xfrm>
            <a:off x="6450290" y="3643177"/>
            <a:ext cx="954212" cy="308352"/>
          </a:xfrm>
          <a:prstGeom prst="rect">
            <a:avLst/>
          </a:prstGeom>
          <a:noFill/>
          <a:ln>
            <a:noFill/>
          </a:ln>
        </p:spPr>
      </p:pic>
      <p:pic>
        <p:nvPicPr>
          <p:cNvPr id="205" name="Google Shape;205;p20"/>
          <p:cNvPicPr preferRelativeResize="0"/>
          <p:nvPr/>
        </p:nvPicPr>
        <p:blipFill rotWithShape="1">
          <a:blip r:embed="rId14">
            <a:alphaModFix/>
          </a:blip>
          <a:srcRect l="12270" t="12270" r="12262" b="12262"/>
          <a:stretch/>
        </p:blipFill>
        <p:spPr>
          <a:xfrm>
            <a:off x="3885746" y="4245539"/>
            <a:ext cx="1133228" cy="382770"/>
          </a:xfrm>
          <a:prstGeom prst="rect">
            <a:avLst/>
          </a:prstGeom>
          <a:noFill/>
          <a:ln>
            <a:noFill/>
          </a:ln>
        </p:spPr>
      </p:pic>
      <p:pic>
        <p:nvPicPr>
          <p:cNvPr id="206" name="Google Shape;206;p20"/>
          <p:cNvPicPr preferRelativeResize="0"/>
          <p:nvPr/>
        </p:nvPicPr>
        <p:blipFill rotWithShape="1">
          <a:blip r:embed="rId15">
            <a:alphaModFix/>
          </a:blip>
          <a:srcRect/>
          <a:stretch/>
        </p:blipFill>
        <p:spPr>
          <a:xfrm>
            <a:off x="1798086" y="3621493"/>
            <a:ext cx="694210" cy="351721"/>
          </a:xfrm>
          <a:prstGeom prst="rect">
            <a:avLst/>
          </a:prstGeom>
          <a:noFill/>
          <a:ln>
            <a:noFill/>
          </a:ln>
        </p:spPr>
      </p:pic>
      <p:pic>
        <p:nvPicPr>
          <p:cNvPr id="207" name="Google Shape;207;p20"/>
          <p:cNvPicPr preferRelativeResize="0"/>
          <p:nvPr/>
        </p:nvPicPr>
        <p:blipFill rotWithShape="1">
          <a:blip r:embed="rId16">
            <a:alphaModFix/>
          </a:blip>
          <a:srcRect t="18905" b="18904"/>
          <a:stretch/>
        </p:blipFill>
        <p:spPr>
          <a:xfrm>
            <a:off x="1537771" y="1614885"/>
            <a:ext cx="1214840" cy="382767"/>
          </a:xfrm>
          <a:prstGeom prst="rect">
            <a:avLst/>
          </a:prstGeom>
          <a:noFill/>
          <a:ln>
            <a:noFill/>
          </a:ln>
        </p:spPr>
      </p:pic>
      <p:pic>
        <p:nvPicPr>
          <p:cNvPr id="208" name="Google Shape;208;p20"/>
          <p:cNvPicPr preferRelativeResize="0"/>
          <p:nvPr/>
        </p:nvPicPr>
        <p:blipFill rotWithShape="1">
          <a:blip r:embed="rId17">
            <a:alphaModFix/>
          </a:blip>
          <a:srcRect l="2114" t="28897" b="28892"/>
          <a:stretch/>
        </p:blipFill>
        <p:spPr>
          <a:xfrm>
            <a:off x="4740627" y="1652095"/>
            <a:ext cx="1254574" cy="308347"/>
          </a:xfrm>
          <a:prstGeom prst="rect">
            <a:avLst/>
          </a:prstGeom>
          <a:noFill/>
          <a:ln>
            <a:noFill/>
          </a:ln>
        </p:spPr>
      </p:pic>
      <p:pic>
        <p:nvPicPr>
          <p:cNvPr id="209" name="Google Shape;209;p20"/>
          <p:cNvPicPr preferRelativeResize="0"/>
          <p:nvPr/>
        </p:nvPicPr>
        <p:blipFill rotWithShape="1">
          <a:blip r:embed="rId18">
            <a:alphaModFix/>
          </a:blip>
          <a:srcRect/>
          <a:stretch/>
        </p:blipFill>
        <p:spPr>
          <a:xfrm>
            <a:off x="4760495" y="2253777"/>
            <a:ext cx="1214839" cy="386012"/>
          </a:xfrm>
          <a:prstGeom prst="rect">
            <a:avLst/>
          </a:prstGeom>
          <a:noFill/>
          <a:ln>
            <a:noFill/>
          </a:ln>
        </p:spPr>
      </p:pic>
      <p:pic>
        <p:nvPicPr>
          <p:cNvPr id="210" name="Google Shape;210;p20"/>
          <p:cNvPicPr preferRelativeResize="0"/>
          <p:nvPr/>
        </p:nvPicPr>
        <p:blipFill rotWithShape="1">
          <a:blip r:embed="rId19">
            <a:alphaModFix/>
          </a:blip>
          <a:srcRect/>
          <a:stretch/>
        </p:blipFill>
        <p:spPr>
          <a:xfrm>
            <a:off x="1647215" y="2294778"/>
            <a:ext cx="995952" cy="304010"/>
          </a:xfrm>
          <a:prstGeom prst="rect">
            <a:avLst/>
          </a:prstGeom>
          <a:noFill/>
          <a:ln>
            <a:noFill/>
          </a:ln>
        </p:spPr>
      </p:pic>
      <p:sp>
        <p:nvSpPr>
          <p:cNvPr id="211" name="Google Shape;211;p20"/>
          <p:cNvSpPr txBox="1">
            <a:spLocks noGrp="1"/>
          </p:cNvSpPr>
          <p:nvPr>
            <p:ph type="title" idx="4294967295"/>
          </p:nvPr>
        </p:nvSpPr>
        <p:spPr>
          <a:xfrm>
            <a:off x="2079450" y="745725"/>
            <a:ext cx="6373800" cy="511500"/>
          </a:xfrm>
          <a:prstGeom prst="rect">
            <a:avLst/>
          </a:prstGeom>
          <a:noFill/>
          <a:ln>
            <a:noFill/>
          </a:ln>
        </p:spPr>
        <p:txBody>
          <a:bodyPr spcFirstLastPara="1" wrap="square" lIns="91425" tIns="91425" rIns="91425" bIns="91425" anchor="t" anchorCtr="0">
            <a:noAutofit/>
          </a:bodyPr>
          <a:lstStyle/>
          <a:p>
            <a:pPr marL="0" lvl="0" indent="0" algn="r" rtl="1">
              <a:lnSpc>
                <a:spcPct val="100000"/>
              </a:lnSpc>
              <a:spcBef>
                <a:spcPts val="0"/>
              </a:spcBef>
              <a:spcAft>
                <a:spcPts val="0"/>
              </a:spcAft>
              <a:buSzPts val="990"/>
              <a:buNone/>
            </a:pPr>
            <a:r>
              <a:rPr lang="en-US">
                <a:solidFill>
                  <a:srgbClr val="4F29B6"/>
                </a:solidFill>
                <a:latin typeface="IBM Plex Sans Arabic SemiBold"/>
                <a:ea typeface="IBM Plex Sans Arabic SemiBold"/>
                <a:cs typeface="IBM Plex Sans Arabic SemiBold"/>
                <a:sym typeface="IBM Plex Sans Arabic SemiBold"/>
              </a:rPr>
              <a:t>الشراكات العالمية</a:t>
            </a:r>
            <a:endParaRPr>
              <a:solidFill>
                <a:srgbClr val="4F29B6"/>
              </a:solidFill>
              <a:latin typeface="IBM Plex Sans Arabic SemiBold"/>
              <a:ea typeface="IBM Plex Sans Arabic SemiBold"/>
              <a:cs typeface="IBM Plex Sans Arabic SemiBold"/>
              <a:sym typeface="IBM Plex Sans Arabic SemiBo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1"/>
          <p:cNvSpPr txBox="1">
            <a:spLocks noGrp="1"/>
          </p:cNvSpPr>
          <p:nvPr>
            <p:ph type="title"/>
          </p:nvPr>
        </p:nvSpPr>
        <p:spPr>
          <a:xfrm>
            <a:off x="5548225" y="2230950"/>
            <a:ext cx="3062100" cy="681600"/>
          </a:xfrm>
          <a:prstGeom prst="rect">
            <a:avLst/>
          </a:prstGeom>
          <a:noFill/>
          <a:ln>
            <a:noFill/>
          </a:ln>
        </p:spPr>
        <p:txBody>
          <a:bodyPr spcFirstLastPara="1" wrap="square" lIns="91425" tIns="91425" rIns="91425" bIns="91425" anchor="b" anchorCtr="0">
            <a:normAutofit fontScale="90000"/>
          </a:bodyPr>
          <a:lstStyle/>
          <a:p>
            <a:pPr marL="0" lvl="0" indent="0" algn="r" rtl="0">
              <a:lnSpc>
                <a:spcPct val="100000"/>
              </a:lnSpc>
              <a:spcBef>
                <a:spcPts val="0"/>
              </a:spcBef>
              <a:spcAft>
                <a:spcPts val="0"/>
              </a:spcAft>
              <a:buSzPct val="333333"/>
              <a:buNone/>
            </a:pPr>
            <a:r>
              <a:rPr lang="en-US" sz="4000" b="1">
                <a:solidFill>
                  <a:schemeClr val="lt1"/>
                </a:solidFill>
                <a:latin typeface="IBM Plex Sans Arabic"/>
                <a:ea typeface="IBM Plex Sans Arabic"/>
                <a:cs typeface="IBM Plex Sans Arabic"/>
                <a:sym typeface="IBM Plex Sans Arabic"/>
              </a:rPr>
              <a:t>شــــــكــــرًا لكــــــم</a:t>
            </a:r>
            <a:endParaRPr sz="4000" b="1">
              <a:solidFill>
                <a:schemeClr val="lt1"/>
              </a:solidFill>
              <a:latin typeface="IBM Plex Sans Arabic"/>
              <a:ea typeface="IBM Plex Sans Arabic"/>
              <a:cs typeface="IBM Plex Sans Arabic"/>
              <a:sym typeface="IBM Plex Sans Arabic"/>
            </a:endParaRPr>
          </a:p>
        </p:txBody>
      </p:sp>
      <p:sp>
        <p:nvSpPr>
          <p:cNvPr id="217" name="Google Shape;217;p21"/>
          <p:cNvSpPr txBox="1">
            <a:spLocks noGrp="1"/>
          </p:cNvSpPr>
          <p:nvPr>
            <p:ph type="ctrTitle" idx="4294967295"/>
          </p:nvPr>
        </p:nvSpPr>
        <p:spPr>
          <a:xfrm>
            <a:off x="4166050" y="2870075"/>
            <a:ext cx="4444200" cy="576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4F29B7"/>
              </a:buClr>
              <a:buSzPts val="990"/>
              <a:buFont typeface="IBM Plex Sans Arabic Medium"/>
              <a:buNone/>
            </a:pPr>
            <a:r>
              <a:rPr lang="en-US" sz="2900" b="1" i="0" u="none" strike="noStrike" cap="none">
                <a:solidFill>
                  <a:schemeClr val="lt1"/>
                </a:solidFill>
                <a:latin typeface="IBM Plex Sans Arabic"/>
                <a:ea typeface="IBM Plex Sans Arabic"/>
                <a:cs typeface="IBM Plex Sans Arabic"/>
                <a:sym typeface="IBM Plex Sans Arabic"/>
              </a:rPr>
              <a:t>THANK YOU</a:t>
            </a:r>
            <a:endParaRPr sz="2900" b="1" i="0" u="none" strike="noStrike" cap="none">
              <a:solidFill>
                <a:schemeClr val="lt1"/>
              </a:solidFill>
              <a:latin typeface="IBM Plex Sans Arabic"/>
              <a:ea typeface="IBM Plex Sans Arabic"/>
              <a:cs typeface="IBM Plex Sans Arabic"/>
              <a:sym typeface="IBM Plex Sans Arabic"/>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4658</TotalTime>
  <Words>2571</Words>
  <Application>Microsoft Macintosh PowerPoint</Application>
  <PresentationFormat>On-screen Show (16:9)</PresentationFormat>
  <Paragraphs>227</Paragraphs>
  <Slides>29</Slides>
  <Notes>29</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29</vt:i4>
      </vt:variant>
    </vt:vector>
  </HeadingPairs>
  <TitlesOfParts>
    <vt:vector size="44" baseType="lpstr">
      <vt:lpstr>Calibri</vt:lpstr>
      <vt:lpstr>Nunito</vt:lpstr>
      <vt:lpstr>Wingdings</vt:lpstr>
      <vt:lpstr>Inter</vt:lpstr>
      <vt:lpstr>IBM Plex Sans Arabic</vt:lpstr>
      <vt:lpstr>Tajawal</vt:lpstr>
      <vt:lpstr>KaTeX_Main</vt:lpstr>
      <vt:lpstr>source-serif-pro</vt:lpstr>
      <vt:lpstr>IBM Plex Sans Arabic SemiBold</vt:lpstr>
      <vt:lpstr>Times New Roman</vt:lpstr>
      <vt:lpstr>Arial</vt:lpstr>
      <vt:lpstr>KaTeX_Math</vt:lpstr>
      <vt:lpstr>Source Sans 3</vt:lpstr>
      <vt:lpstr>IBM Plex Sans Arabic Medium</vt:lpstr>
      <vt:lpstr>Simple Light</vt:lpstr>
      <vt:lpstr>أكـــــاديميــــة طــــويـــق</vt:lpstr>
      <vt:lpstr>Popular CNN Architectures    </vt:lpstr>
      <vt:lpstr>PowerPoint Presentation</vt:lpstr>
      <vt:lpstr>Introduction to CNN Architectures    </vt:lpstr>
      <vt:lpstr>What is LeNet?    </vt:lpstr>
      <vt:lpstr>Understanding LeNet     </vt:lpstr>
      <vt:lpstr>Significance of LeNet   </vt:lpstr>
      <vt:lpstr>Chronological summary of the LeNet architecture's development:     </vt:lpstr>
      <vt:lpstr>Breakdown of the LeNet architecture's layers:     </vt:lpstr>
      <vt:lpstr>Breakdown of the LeNet architecture's layers:     </vt:lpstr>
      <vt:lpstr>Breakdown of the LeNet architecture's layers:     </vt:lpstr>
      <vt:lpstr>Breakdown of the LeNet architecture's layers:     </vt:lpstr>
      <vt:lpstr>Breakdown of the LeNet architecture's layers:     </vt:lpstr>
      <vt:lpstr>Detailed Explanation of the Layers :     </vt:lpstr>
      <vt:lpstr>Summary of LeNet Architecture      </vt:lpstr>
      <vt:lpstr>AlexNet Convolutional Neural Network      </vt:lpstr>
      <vt:lpstr>AlexNet Convolutional Architecture      </vt:lpstr>
      <vt:lpstr>AlexNet Convolutional Architecture      </vt:lpstr>
      <vt:lpstr>Max Pooling Layers      </vt:lpstr>
      <vt:lpstr>ReLU non-linearity in AlexNet:       </vt:lpstr>
      <vt:lpstr>Data Augmentation techniques used in AlexNet:        </vt:lpstr>
      <vt:lpstr>Data Augmentation techniques used in AlexNet:        </vt:lpstr>
      <vt:lpstr>Dropout Technique: in AlexNet        </vt:lpstr>
      <vt:lpstr>AlexNet Summary        </vt:lpstr>
      <vt:lpstr>Key Differences of LeNet and AlexNet Implementation         </vt:lpstr>
      <vt:lpstr>Hands On Exercise  </vt:lpstr>
      <vt:lpstr>Books and References </vt:lpstr>
      <vt:lpstr>الشراكات العالمية</vt:lpstr>
      <vt:lpstr>شــــــكــــرًا لكــــــم</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asus</dc:creator>
  <cp:lastModifiedBy>Afshan Hashmi</cp:lastModifiedBy>
  <cp:revision>29</cp:revision>
  <dcterms:modified xsi:type="dcterms:W3CDTF">2025-05-04T12:21:04Z</dcterms:modified>
</cp:coreProperties>
</file>